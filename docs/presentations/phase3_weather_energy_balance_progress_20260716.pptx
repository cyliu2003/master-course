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目標25秒</a:t>
            </a:r>
          </a:p>
          <a:p>
            <a:r>
              <a:t>本日は、Phase 3の最適化システムに加えた修正、実際に計算へ投入した時間・費用・設備条件、そのうえで得られた晴天と雨天の比較結果を報告します。先生から確認を求められた蓄電池の日末SOC、EV使用台数、電力需給、燃料整合も結果スライドで順に示します。数値は7月16日時点の計算成果物と保存されたsolver入力から再監査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目標45秒</a:t>
            </a:r>
          </a:p>
          <a:p>
            <a:r>
              <a:t>主要な確認結果を表にまとめます。蓄電池は両日とも300キロワット時で始まり、300キロワット時で終了しました。晴天のEV使用は16台、雨天は15台で、晴天でも在庫35台すべては使用していません。EV担当便は晴天が141便、雨天が119便です。PV配分、バス充電源、BESS遷移の最大残差はいずれも許容値以下でした。燃料費は運行距離と一致しますが、給油イベントを含む実績台帳ではなく距離に基づく仮勘定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目標55秒</a:t>
            </a:r>
          </a:p>
          <a:p>
            <a:r>
              <a:t>比較条件です。両日とも264便、EV35台、ICE25台、同じ車両・便・単価・充電器・BESS条件で、主な差はPV時系列です。ここで大切なのは、先生のメモにあるICE26台と、実際にモデルへ入った25台が一致していないことです。この資料では実入力の25台として報告し、26台条件は再計算課題とします。またStage 1は制限時間終了で約13パーセントのギャップが残るため、大域最適とは言わず、Stage 2が最適かつ全ハード制約を満たす可行解として扱います。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目標70秒</a:t>
            </a:r>
          </a:p>
          <a:p>
            <a:r>
              <a:t>今回の主な修正は六点です。第一に、Stage 1にもEVの外部充電費の下界を入れ、PVが多い日の効果が運行割当に反映されるようにしました。第二に、車庫外で充電したことになる不可行解を防ぐため、車庫内で利用できる充電枠だけを使う累積SOC必要条件を875本追加しました。第三に、同一車両の運行を一日一つの連続仕業に限定しました。第四に帰庫回送のSOC差引時刻を修正しました。第五に研究用実行ではfallbackと後処理修復を停止し、検証合格を必須にしました。第六に、電力源別フローとsolver情報を成果物へ残しました。便同士を接続できるかという基礎条件は変更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目標75秒</a:t>
            </a:r>
          </a:p>
          <a:p>
            <a:r>
              <a:t>モデルは二段階です。Stage 1で便と車両の割当を決め、その割当を固定してStage 2で充電と電力需給を決めます。修正前のStage 1はEV充電費とPV効果を評価していなかったため、天候差が割当に出にくい構造でした。そこで、走行、回送、終端SOCから必要な外部充電量の下界を計算し、PV、初期BESS余剰、系統の順に費用へ割り当てました。これは充電時刻や充電器競合を無視する下界です。厳密な充電実現性はStage 2で確認します。そのため、本結果を同時最適化の大域最適解とは呼びません。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目標75秒</a:t>
            </a:r>
          </a:p>
          <a:p>
            <a:r>
              <a:t>計算条件を明記します。総制限時間は両日とも1500秒で、実装上はStage 1とStage 2へ最大750秒ずつ配分します。今回、Stage 1は両日とも約750秒を使い、晴天13.1パーセント、雨天12.9パーセントのギャップで終了しました。Stage 2は0.05秒未満で最適になりました。MIPGap設定は10パーセント、seedは42、60分24枠です。設備は90キロワット5基と50キロワット5基、受電上限1000キロワット、PV101.5キロワット、BESS600キロワット時・300キロワットです。なお保存された実入力はICE25台で、依頼文の26台とは一致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目標70秒</a:t>
            </a:r>
          </a:p>
          <a:p>
            <a:r>
              <a:t>費用条件です。系統電力は5時から15時が18円、16時と17時が22円、18時から23時が19円、その後5時までは18円です。需要料金は月1200円毎キロワットを一日40円毎キロワットへ換算し、系統受電の最大値に掛けます。軽油は150円毎リットル、CO2は1円毎キログラム、系統排出係数は0.5キログラム毎キロワット時、使用車両費は一台一日2万円です。PV限界単価、PV抑制、BESSサイクル費は今回すべてゼロです。これらは今回のシナリオ条件であり、モデルが常にゼロと決めてい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目標50秒</a:t>
            </a:r>
          </a:p>
          <a:p>
            <a:r>
              <a:t>晴天ではEV16台、エンジン16台を使い、EVが141便を担当しました。雨天はEV15台、エンジン17台で、EV担当は119便です。したがって期待した方向、つまり晴天の方がEV利用が多いことは確認できます。ただし晴天でも19台のEVは未使用です。理由はPV単価だけではなく、各便の時間接続、SOC、充電可能時刻、そして一台二万円の車両使用費が同時に効くため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目標35秒</a:t>
            </a:r>
          </a:p>
          <a:p>
            <a:r>
              <a:t>この図は各60分枠で営業運行中の車両数です。日合計の使用台数だけでなく、いつEVとエンジン車が稼働しているかを比較しています。回送、充電、待機はこの図には含めていません。系統ピークや充電時刻を説明するときは、運行側の時間分布と組み合わせて見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目標45秒</a:t>
            </a:r>
          </a:p>
          <a:p>
            <a:r>
              <a:t>蓄電池SOCは5時の300キロワット時から始まります。晴天は朝に120まで放電し、昼のPVで480まで充電し、夜に300へ戻します。雨天はPVが少ないため変動幅が小さく、約227から322の範囲です。どちらも日末は300で、変化量は数値誤差を除きゼロです。これは偶然ではなく、終端SOC目標300キロワット時をハード制約として置いた結果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目標45秒</a:t>
            </a:r>
          </a:p>
          <a:p>
            <a:r>
              <a:t>正側がBESSへの充電入力、負側がバスへの放電供給です。系統からBESSへの充電は設定で禁止されており、両日ゼロです。晴天ではPVから378.9キロワット時を入力し342.0をバスへ供給します。差はSOCに残るのではなく、充放電効率95パーセントによる往復損失36.9キロワット時です。雨天も同じ式で約9.8キロワット時の損失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目標45秒</a:t>
            </a:r>
          </a:p>
          <a:p>
            <a:r>
              <a:t>PVの行き先を発電量と重ねました。晴天は614.7キロワット時のうち、163.8を直接バスへ、378.9をBESSへ、71.9を出力抑制しています。雨天は101.1のほぼ全量を使い、主にBESSへ入れています。各時間枠で発電量イコール三つの行き先となり、最大残差は10のマイナス15乗オーダーです。晴天で余るPVがある一方、EV全車使用にならないことも確認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目標50秒</a:t>
            </a:r>
          </a:p>
          <a:p>
            <a:r>
              <a:t>EVバス充電の電力源です。晴天の充電入力は1521.4キロワット時で、系統1015.6、PV直接163.8、BESS342.0です。雨天は総充電入力が1092.0まで減り、系統1000.7、PV直接1.0、BESS90.3です。雨天でPVが減っても系統購入日量が大きく増えないのは、EV担当便が22便減って充電需要そのものも小さくなるためです。電源合計と充電入力の差は数値誤差内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目標45秒</a:t>
            </a:r>
          </a:p>
          <a:p>
            <a:r>
              <a:t>系統購入を60分平均電力で示しています。晴天の日量は1015.6キロワット時、雨天は1000.7で、雨天の方が14.9少ないです。一方、ピークは晴天95.4キロワット、雨天120.2で、雨天が24.8高くなります。需要料金はエネルギー総量ではなく最大電力で決まるため、雨天の需要料金が約992円高いことと整合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目標55秒</a:t>
            </a:r>
          </a:p>
          <a:p>
            <a:r>
              <a:t>ここは帳尻を一枚にまとめた図です。上段でPV発電を直接バス、BESS、抑制へ分け、系統購入を示しています。中段でBESSからの供給と、バス充電入力の三電源合計を示します。BESSは初期300から終端300へ戻り、効率損失も別に数えています。PV式、充電源式、BESS遷移式の最大残差はいずれも許容値10のマイナス6乗キロワット時より十分小さく、数理上の需給帳尻は成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目標55秒</a:t>
            </a:r>
          </a:p>
          <a:p>
            <a:r>
              <a:t>エンジンバスの担当便から営業距離と便間回送距離を再集計しました。晴天は合計1287.2キロメートルから284.773リットル、雨天は1538.4キロメートルから340.364リットルとなり、150円毎リットルを掛けた燃料費は報告値と実質ゼロ円差です。ただし、給油イベントは両日ゼロです。したがって、運行距離との整合は確認できましたが、燃料タンク残量と給油タイミングの実現可能性までは今回の結果から主張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目標45秒</a:t>
            </a:r>
          </a:p>
          <a:p>
            <a:r>
              <a:t>会計総額は晴天71万3032円、雨天72万2511円で、雨天が9479円、1.33パーセント高いです。車両使用費64万円が共通で大きいため、右側で変動要因を拡大しています。雨天増加の主因は燃料費8339円と需要料金992円です。電力費がほぼ同額なのは、PV減少と同時にEV担当便も減って系統購入日量が減るため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目標55秒</a:t>
            </a:r>
          </a:p>
          <a:p>
            <a:r>
              <a:t>まとめです。BESSの日末SOC、EV使用台数、電力需給、燃料距離整合という先生の確認事項には、現結果から定量的に答えられます。一方で、現入力はICE25台であり26台ではありません。また燃料は給油計画ではなく距離仮勘定、Stage 1は約13パーセントのギャップが残る暫定可行解です。次はICE台数の正本確認、燃料タンクと給油の実現台帳化、clean commit後の同条件再実行、そしてEV全車使用を含む感度分析を行います。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5" name="TextBox 4"/>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6" name="Rectangle 5"/>
          <p:cNvSpPr/>
          <p:nvPr/>
        </p:nvSpPr>
        <p:spPr>
          <a:xfrm>
            <a:off x="365760" y="1828800"/>
            <a:ext cx="11155680" cy="1481328"/>
          </a:xfrm>
          <a:prstGeom prst="rect">
            <a:avLst/>
          </a:prstGeom>
          <a:solidFill>
            <a:srgbClr val="003667"/>
          </a:solidFill>
          <a:ln>
            <a:solidFill>
              <a:srgbClr val="0036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29968"/>
            <a:ext cx="10570464" cy="475488"/>
          </a:xfrm>
          <a:prstGeom prst="rect">
            <a:avLst/>
          </a:prstGeom>
          <a:noFill/>
        </p:spPr>
        <p:txBody>
          <a:bodyPr wrap="square" lIns="36576" rIns="36576" tIns="36576" bIns="36576" anchor="ctr">
            <a:spAutoFit/>
          </a:bodyPr>
          <a:lstStyle/>
          <a:p>
            <a:pPr algn="ctr">
              <a:defRPr sz="3000" b="1">
                <a:solidFill>
                  <a:srgbClr val="FFFFFF"/>
                </a:solidFill>
                <a:latin typeface="Meiryo"/>
              </a:defRPr>
            </a:pPr>
            <a:r>
              <a:t>EVバス運用最適化 Phase 3</a:t>
            </a:r>
          </a:p>
        </p:txBody>
      </p:sp>
      <p:sp>
        <p:nvSpPr>
          <p:cNvPr id="8" name="TextBox 7"/>
          <p:cNvSpPr txBox="1"/>
          <p:nvPr/>
        </p:nvSpPr>
        <p:spPr>
          <a:xfrm>
            <a:off x="658368" y="2578608"/>
            <a:ext cx="10570464" cy="402336"/>
          </a:xfrm>
          <a:prstGeom prst="rect">
            <a:avLst/>
          </a:prstGeom>
          <a:noFill/>
        </p:spPr>
        <p:txBody>
          <a:bodyPr wrap="square" lIns="36576" rIns="36576" tIns="36576" bIns="36576" anchor="t">
            <a:spAutoFit/>
          </a:bodyPr>
          <a:lstStyle/>
          <a:p>
            <a:pPr algn="ctr">
              <a:defRPr sz="2000" b="1">
                <a:solidFill>
                  <a:srgbClr val="FFFFFF"/>
                </a:solidFill>
                <a:latin typeface="Meiryo"/>
              </a:defRPr>
            </a:pPr>
            <a:r>
              <a:t>モデル修正・実験条件・晴天／雨天比較</a:t>
            </a:r>
          </a:p>
        </p:txBody>
      </p:sp>
      <p:sp>
        <p:nvSpPr>
          <p:cNvPr id="9" name="TextBox 8"/>
          <p:cNvSpPr txBox="1"/>
          <p:nvPr/>
        </p:nvSpPr>
        <p:spPr>
          <a:xfrm>
            <a:off x="685800" y="3822191"/>
            <a:ext cx="10515600" cy="365760"/>
          </a:xfrm>
          <a:prstGeom prst="rect">
            <a:avLst/>
          </a:prstGeom>
          <a:noFill/>
        </p:spPr>
        <p:txBody>
          <a:bodyPr wrap="square" lIns="36576" rIns="36576" tIns="36576" bIns="36576" anchor="t">
            <a:spAutoFit/>
          </a:bodyPr>
          <a:lstStyle/>
          <a:p>
            <a:pPr algn="ctr">
              <a:defRPr sz="1900" b="1">
                <a:solidFill>
                  <a:srgbClr val="003667"/>
                </a:solidFill>
                <a:latin typeface="Meiryo"/>
              </a:defRPr>
            </a:pPr>
            <a:r>
              <a:t>2026年7月16日　進捗報告</a:t>
            </a:r>
          </a:p>
        </p:txBody>
      </p:sp>
      <p:sp>
        <p:nvSpPr>
          <p:cNvPr id="10" name="TextBox 9"/>
          <p:cNvSpPr txBox="1"/>
          <p:nvPr/>
        </p:nvSpPr>
        <p:spPr>
          <a:xfrm>
            <a:off x="685800" y="4251960"/>
            <a:ext cx="10515600" cy="320040"/>
          </a:xfrm>
          <a:prstGeom prst="rect">
            <a:avLst/>
          </a:prstGeom>
          <a:noFill/>
        </p:spPr>
        <p:txBody>
          <a:bodyPr wrap="square" lIns="36576" rIns="36576" tIns="36576" bIns="36576" anchor="t">
            <a:spAutoFit/>
          </a:bodyPr>
          <a:lstStyle/>
          <a:p>
            <a:pPr algn="ctr">
              <a:defRPr sz="1600" b="0">
                <a:solidFill>
                  <a:srgbClr val="191F24"/>
                </a:solidFill>
                <a:latin typeface="Meiryo"/>
              </a:defRPr>
            </a:pPr>
            <a:r>
              <a:t>刘 承洋　東京都市大学</a:t>
            </a:r>
          </a:p>
        </p:txBody>
      </p:sp>
      <p:sp>
        <p:nvSpPr>
          <p:cNvPr id="11" name="TextBox 10"/>
          <p:cNvSpPr txBox="1"/>
          <p:nvPr/>
        </p:nvSpPr>
        <p:spPr>
          <a:xfrm>
            <a:off x="685800" y="4983480"/>
            <a:ext cx="10515600" cy="310896"/>
          </a:xfrm>
          <a:prstGeom prst="rect">
            <a:avLst/>
          </a:prstGeom>
          <a:noFill/>
        </p:spPr>
        <p:txBody>
          <a:bodyPr wrap="square" lIns="36576" rIns="36576" tIns="36576" bIns="36576" anchor="t">
            <a:spAutoFit/>
          </a:bodyPr>
          <a:lstStyle/>
          <a:p>
            <a:pPr algn="ctr">
              <a:defRPr sz="1400" b="0">
                <a:solidFill>
                  <a:srgbClr val="5C6670"/>
                </a:solidFill>
                <a:latin typeface="Meiryo"/>
              </a:defRPr>
            </a:pPr>
            <a:r>
              <a:t>比較日：晴天 2025-08-05 ／ 雨天 2025-08-10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結論：先生の確認事項への回答</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2/18</a:t>
            </a:r>
          </a:p>
        </p:txBody>
      </p:sp>
      <p:graphicFrame>
        <p:nvGraphicFramePr>
          <p:cNvPr id="9" name="Table 8"/>
          <p:cNvGraphicFramePr>
            <a:graphicFrameLocks noGrp="1"/>
          </p:cNvGraphicFramePr>
          <p:nvPr/>
        </p:nvGraphicFramePr>
        <p:xfrm>
          <a:off x="411480" y="941832"/>
          <a:ext cx="11365992" cy="4553712"/>
        </p:xfrm>
        <a:graphic>
          <a:graphicData uri="http://schemas.openxmlformats.org/drawingml/2006/table">
            <a:tbl>
              <a:tblPr firstRow="1" bandRow="1">
                <a:tableStyleId>{5C22544A-7EE6-4342-B048-85BDC9FD1C3A}</a:tableStyleId>
              </a:tblPr>
              <a:tblGrid>
                <a:gridCol w="2331720"/>
                <a:gridCol w="2423160"/>
                <a:gridCol w="2423160"/>
                <a:gridCol w="4187952"/>
              </a:tblGrid>
              <a:tr h="758952">
                <a:tc>
                  <a:txBody>
                    <a:bodyPr/>
                    <a:lstStyle/>
                    <a:p>
                      <a:pPr algn="l">
                        <a:defRPr sz="1350" b="1">
                          <a:solidFill>
                            <a:srgbClr val="FFFFFF"/>
                          </a:solidFill>
                          <a:latin typeface="Meiryo"/>
                        </a:defRPr>
                      </a:pPr>
                      <a:r>
                        <a:t>確認項目</a:t>
                      </a:r>
                    </a:p>
                  </a:txBody>
                  <a:tcPr anchor="ctr" marL="73152" marR="73152" marT="36576" marB="36576">
                    <a:solidFill>
                      <a:srgbClr val="003667"/>
                    </a:solidFill>
                  </a:tcPr>
                </a:tc>
                <a:tc>
                  <a:txBody>
                    <a:bodyPr/>
                    <a:lstStyle/>
                    <a:p>
                      <a:pPr algn="ctr">
                        <a:defRPr sz="1350" b="1">
                          <a:solidFill>
                            <a:srgbClr val="FFFFFF"/>
                          </a:solidFill>
                          <a:latin typeface="Meiryo"/>
                        </a:defRPr>
                      </a:pPr>
                      <a:r>
                        <a:t>晴天 2025-08-05</a:t>
                      </a:r>
                    </a:p>
                  </a:txBody>
                  <a:tcPr anchor="ctr" marL="73152" marR="73152" marT="36576" marB="36576">
                    <a:solidFill>
                      <a:srgbClr val="003667"/>
                    </a:solidFill>
                  </a:tcPr>
                </a:tc>
                <a:tc>
                  <a:txBody>
                    <a:bodyPr/>
                    <a:lstStyle/>
                    <a:p>
                      <a:pPr algn="ctr">
                        <a:defRPr sz="1350" b="1">
                          <a:solidFill>
                            <a:srgbClr val="FFFFFF"/>
                          </a:solidFill>
                          <a:latin typeface="Meiryo"/>
                        </a:defRPr>
                      </a:pPr>
                      <a:r>
                        <a:t>雨天 2025-08-10</a:t>
                      </a:r>
                    </a:p>
                  </a:txBody>
                  <a:tcPr anchor="ctr" marL="73152" marR="73152" marT="36576" marB="36576">
                    <a:solidFill>
                      <a:srgbClr val="003667"/>
                    </a:solidFill>
                  </a:tcPr>
                </a:tc>
                <a:tc>
                  <a:txBody>
                    <a:bodyPr/>
                    <a:lstStyle/>
                    <a:p>
                      <a:pPr algn="ctr">
                        <a:defRPr sz="1350" b="1">
                          <a:solidFill>
                            <a:srgbClr val="FFFFFF"/>
                          </a:solidFill>
                          <a:latin typeface="Meiryo"/>
                        </a:defRPr>
                      </a:pPr>
                      <a:r>
                        <a:t>判定・解釈</a:t>
                      </a:r>
                    </a:p>
                  </a:txBody>
                  <a:tcPr anchor="ctr" marL="73152" marR="73152" marT="36576" marB="36576">
                    <a:solidFill>
                      <a:srgbClr val="003667"/>
                    </a:solidFill>
                  </a:tcPr>
                </a:tc>
              </a:tr>
              <a:tr h="758952">
                <a:tc>
                  <a:txBody>
                    <a:bodyPr/>
                    <a:lstStyle/>
                    <a:p>
                      <a:pPr algn="l">
                        <a:defRPr sz="1300" b="1">
                          <a:solidFill>
                            <a:srgbClr val="191F24"/>
                          </a:solidFill>
                          <a:latin typeface="Meiryo"/>
                        </a:defRPr>
                      </a:pPr>
                      <a:r>
                        <a:t>BESS日末SOC</a:t>
                      </a:r>
                    </a:p>
                  </a:txBody>
                  <a:tcPr anchor="ctr" marL="73152" marR="73152" marT="36576" marB="36576">
                    <a:solidFill>
                      <a:srgbClr val="FFFFFF"/>
                    </a:solidFill>
                  </a:tcPr>
                </a:tc>
                <a:tc>
                  <a:txBody>
                    <a:bodyPr/>
                    <a:lstStyle/>
                    <a:p>
                      <a:pPr algn="ctr">
                        <a:defRPr sz="1300" b="0">
                          <a:solidFill>
                            <a:srgbClr val="191F24"/>
                          </a:solidFill>
                          <a:latin typeface="Meiryo"/>
                        </a:defRPr>
                      </a:pPr>
                      <a:r>
                        <a:t>300 → 300 kWh</a:t>
                      </a:r>
                    </a:p>
                  </a:txBody>
                  <a:tcPr anchor="ctr" marL="73152" marR="73152" marT="36576" marB="36576">
                    <a:solidFill>
                      <a:srgbClr val="FFFFFF"/>
                    </a:solidFill>
                  </a:tcPr>
                </a:tc>
                <a:tc>
                  <a:txBody>
                    <a:bodyPr/>
                    <a:lstStyle/>
                    <a:p>
                      <a:pPr algn="ctr">
                        <a:defRPr sz="1300" b="0">
                          <a:solidFill>
                            <a:srgbClr val="191F24"/>
                          </a:solidFill>
                          <a:latin typeface="Meiryo"/>
                        </a:defRPr>
                      </a:pPr>
                      <a:r>
                        <a:t>300 → 300 kWh</a:t>
                      </a:r>
                    </a:p>
                  </a:txBody>
                  <a:tcPr anchor="ctr" marL="73152" marR="73152" marT="36576" marB="36576">
                    <a:solidFill>
                      <a:srgbClr val="FFFFFF"/>
                    </a:solidFill>
                  </a:tcPr>
                </a:tc>
                <a:tc>
                  <a:txBody>
                    <a:bodyPr/>
                    <a:lstStyle/>
                    <a:p>
                      <a:pPr algn="ctr">
                        <a:defRPr sz="1300" b="0">
                          <a:solidFill>
                            <a:srgbClr val="191F24"/>
                          </a:solidFill>
                          <a:latin typeface="Meiryo"/>
                        </a:defRPr>
                      </a:pPr>
                      <a:r>
                        <a:t>終端300 kWhのハード制約を満足</a:t>
                      </a:r>
                    </a:p>
                  </a:txBody>
                  <a:tcPr anchor="ctr" marL="73152" marR="73152" marT="36576" marB="36576">
                    <a:solidFill>
                      <a:srgbClr val="FFFFFF"/>
                    </a:solidFill>
                  </a:tcPr>
                </a:tc>
              </a:tr>
              <a:tr h="758952">
                <a:tc>
                  <a:txBody>
                    <a:bodyPr/>
                    <a:lstStyle/>
                    <a:p>
                      <a:pPr algn="l">
                        <a:defRPr sz="1300" b="1">
                          <a:solidFill>
                            <a:srgbClr val="191F24"/>
                          </a:solidFill>
                          <a:latin typeface="Meiryo"/>
                        </a:defRPr>
                      </a:pPr>
                      <a:r>
                        <a:t>使用EV台数</a:t>
                      </a:r>
                    </a:p>
                  </a:txBody>
                  <a:tcPr anchor="ctr" marL="73152" marR="73152" marT="36576" marB="36576">
                    <a:solidFill>
                      <a:srgbClr val="F2F4F6"/>
                    </a:solidFill>
                  </a:tcPr>
                </a:tc>
                <a:tc>
                  <a:txBody>
                    <a:bodyPr/>
                    <a:lstStyle/>
                    <a:p>
                      <a:pPr algn="ctr">
                        <a:defRPr sz="1300" b="0">
                          <a:solidFill>
                            <a:srgbClr val="191F24"/>
                          </a:solidFill>
                          <a:latin typeface="Meiryo"/>
                        </a:defRPr>
                      </a:pPr>
                      <a:r>
                        <a:t>16 / 35台</a:t>
                      </a:r>
                    </a:p>
                  </a:txBody>
                  <a:tcPr anchor="ctr" marL="73152" marR="73152" marT="36576" marB="36576">
                    <a:solidFill>
                      <a:srgbClr val="F2F4F6"/>
                    </a:solidFill>
                  </a:tcPr>
                </a:tc>
                <a:tc>
                  <a:txBody>
                    <a:bodyPr/>
                    <a:lstStyle/>
                    <a:p>
                      <a:pPr algn="ctr">
                        <a:defRPr sz="1300" b="0">
                          <a:solidFill>
                            <a:srgbClr val="191F24"/>
                          </a:solidFill>
                          <a:latin typeface="Meiryo"/>
                        </a:defRPr>
                      </a:pPr>
                      <a:r>
                        <a:t>15 / 35台</a:t>
                      </a:r>
                    </a:p>
                  </a:txBody>
                  <a:tcPr anchor="ctr" marL="73152" marR="73152" marT="36576" marB="36576">
                    <a:solidFill>
                      <a:srgbClr val="F2F4F6"/>
                    </a:solidFill>
                  </a:tcPr>
                </a:tc>
                <a:tc>
                  <a:txBody>
                    <a:bodyPr/>
                    <a:lstStyle/>
                    <a:p>
                      <a:pPr algn="ctr">
                        <a:defRPr sz="1300" b="0">
                          <a:solidFill>
                            <a:srgbClr val="191F24"/>
                          </a:solidFill>
                          <a:latin typeface="Meiryo"/>
                        </a:defRPr>
                      </a:pPr>
                      <a:r>
                        <a:t>晴天でも全35台は使用しない</a:t>
                      </a:r>
                    </a:p>
                  </a:txBody>
                  <a:tcPr anchor="ctr" marL="73152" marR="73152" marT="36576" marB="36576">
                    <a:solidFill>
                      <a:srgbClr val="F2F4F6"/>
                    </a:solidFill>
                  </a:tcPr>
                </a:tc>
              </a:tr>
              <a:tr h="758952">
                <a:tc>
                  <a:txBody>
                    <a:bodyPr/>
                    <a:lstStyle/>
                    <a:p>
                      <a:pPr algn="l">
                        <a:defRPr sz="1300" b="1">
                          <a:solidFill>
                            <a:srgbClr val="191F24"/>
                          </a:solidFill>
                          <a:latin typeface="Meiryo"/>
                        </a:defRPr>
                      </a:pPr>
                      <a:r>
                        <a:t>EV担当便</a:t>
                      </a:r>
                    </a:p>
                  </a:txBody>
                  <a:tcPr anchor="ctr" marL="73152" marR="73152" marT="36576" marB="36576">
                    <a:solidFill>
                      <a:srgbClr val="FFFFFF"/>
                    </a:solidFill>
                  </a:tcPr>
                </a:tc>
                <a:tc>
                  <a:txBody>
                    <a:bodyPr/>
                    <a:lstStyle/>
                    <a:p>
                      <a:pPr algn="ctr">
                        <a:defRPr sz="1300" b="0">
                          <a:solidFill>
                            <a:srgbClr val="191F24"/>
                          </a:solidFill>
                          <a:latin typeface="Meiryo"/>
                        </a:defRPr>
                      </a:pPr>
                      <a:r>
                        <a:t>141 / 264便</a:t>
                      </a:r>
                    </a:p>
                  </a:txBody>
                  <a:tcPr anchor="ctr" marL="73152" marR="73152" marT="36576" marB="36576">
                    <a:solidFill>
                      <a:srgbClr val="FFFFFF"/>
                    </a:solidFill>
                  </a:tcPr>
                </a:tc>
                <a:tc>
                  <a:txBody>
                    <a:bodyPr/>
                    <a:lstStyle/>
                    <a:p>
                      <a:pPr algn="ctr">
                        <a:defRPr sz="1300" b="0">
                          <a:solidFill>
                            <a:srgbClr val="191F24"/>
                          </a:solidFill>
                          <a:latin typeface="Meiryo"/>
                        </a:defRPr>
                      </a:pPr>
                      <a:r>
                        <a:t>119 / 264便</a:t>
                      </a:r>
                    </a:p>
                  </a:txBody>
                  <a:tcPr anchor="ctr" marL="73152" marR="73152" marT="36576" marB="36576">
                    <a:solidFill>
                      <a:srgbClr val="FFFFFF"/>
                    </a:solidFill>
                  </a:tcPr>
                </a:tc>
                <a:tc>
                  <a:txBody>
                    <a:bodyPr/>
                    <a:lstStyle/>
                    <a:p>
                      <a:pPr algn="ctr">
                        <a:defRPr sz="1300" b="0">
                          <a:solidFill>
                            <a:srgbClr val="191F24"/>
                          </a:solidFill>
                          <a:latin typeface="Meiryo"/>
                        </a:defRPr>
                      </a:pPr>
                      <a:r>
                        <a:t>晴天は雨天より22便多い</a:t>
                      </a:r>
                    </a:p>
                  </a:txBody>
                  <a:tcPr anchor="ctr" marL="73152" marR="73152" marT="36576" marB="36576">
                    <a:solidFill>
                      <a:srgbClr val="FFFFFF"/>
                    </a:solidFill>
                  </a:tcPr>
                </a:tc>
              </a:tr>
              <a:tr h="758952">
                <a:tc>
                  <a:txBody>
                    <a:bodyPr/>
                    <a:lstStyle/>
                    <a:p>
                      <a:pPr algn="l">
                        <a:defRPr sz="1300" b="1">
                          <a:solidFill>
                            <a:srgbClr val="191F24"/>
                          </a:solidFill>
                          <a:latin typeface="Meiryo"/>
                        </a:defRPr>
                      </a:pPr>
                      <a:r>
                        <a:t>電力需給の最大残差</a:t>
                      </a:r>
                    </a:p>
                  </a:txBody>
                  <a:tcPr anchor="ctr" marL="73152" marR="73152" marT="36576" marB="36576">
                    <a:solidFill>
                      <a:srgbClr val="F2F4F6"/>
                    </a:solidFill>
                  </a:tcPr>
                </a:tc>
                <a:tc>
                  <a:txBody>
                    <a:bodyPr/>
                    <a:lstStyle/>
                    <a:p>
                      <a:pPr algn="ctr">
                        <a:defRPr sz="1300" b="0">
                          <a:solidFill>
                            <a:srgbClr val="191F24"/>
                          </a:solidFill>
                          <a:latin typeface="Meiryo"/>
                        </a:defRPr>
                      </a:pPr>
                      <a:r>
                        <a:t>3.41e-12 kWh</a:t>
                      </a:r>
                    </a:p>
                  </a:txBody>
                  <a:tcPr anchor="ctr" marL="73152" marR="73152" marT="36576" marB="36576">
                    <a:solidFill>
                      <a:srgbClr val="F2F4F6"/>
                    </a:solidFill>
                  </a:tcPr>
                </a:tc>
                <a:tc>
                  <a:txBody>
                    <a:bodyPr/>
                    <a:lstStyle/>
                    <a:p>
                      <a:pPr algn="ctr">
                        <a:defRPr sz="1300" b="0">
                          <a:solidFill>
                            <a:srgbClr val="191F24"/>
                          </a:solidFill>
                          <a:latin typeface="Meiryo"/>
                        </a:defRPr>
                      </a:pPr>
                      <a:r>
                        <a:t>1.98e-12 kWh</a:t>
                      </a:r>
                    </a:p>
                  </a:txBody>
                  <a:tcPr anchor="ctr" marL="73152" marR="73152" marT="36576" marB="36576">
                    <a:solidFill>
                      <a:srgbClr val="F2F4F6"/>
                    </a:solidFill>
                  </a:tcPr>
                </a:tc>
                <a:tc>
                  <a:txBody>
                    <a:bodyPr/>
                    <a:lstStyle/>
                    <a:p>
                      <a:pPr algn="ctr">
                        <a:defRPr sz="1300" b="0">
                          <a:solidFill>
                            <a:srgbClr val="191F24"/>
                          </a:solidFill>
                          <a:latin typeface="Meiryo"/>
                        </a:defRPr>
                      </a:pPr>
                      <a:r>
                        <a:t>許容値1.0e-6 kWh以内</a:t>
                      </a:r>
                    </a:p>
                  </a:txBody>
                  <a:tcPr anchor="ctr" marL="73152" marR="73152" marT="36576" marB="36576">
                    <a:solidFill>
                      <a:srgbClr val="F2F4F6"/>
                    </a:solidFill>
                  </a:tcPr>
                </a:tc>
              </a:tr>
              <a:tr h="758952">
                <a:tc>
                  <a:txBody>
                    <a:bodyPr/>
                    <a:lstStyle/>
                    <a:p>
                      <a:pPr algn="l">
                        <a:defRPr sz="1300" b="1">
                          <a:solidFill>
                            <a:srgbClr val="191F24"/>
                          </a:solidFill>
                          <a:latin typeface="Meiryo"/>
                        </a:defRPr>
                      </a:pPr>
                      <a:r>
                        <a:t>燃料使用量 / 燃料費</a:t>
                      </a:r>
                    </a:p>
                  </a:txBody>
                  <a:tcPr anchor="ctr" marL="73152" marR="73152" marT="36576" marB="36576">
                    <a:solidFill>
                      <a:srgbClr val="FFFFFF"/>
                    </a:solidFill>
                  </a:tcPr>
                </a:tc>
                <a:tc>
                  <a:txBody>
                    <a:bodyPr/>
                    <a:lstStyle/>
                    <a:p>
                      <a:pPr algn="ctr">
                        <a:defRPr sz="1300" b="0">
                          <a:solidFill>
                            <a:srgbClr val="191F24"/>
                          </a:solidFill>
                          <a:latin typeface="Meiryo"/>
                        </a:defRPr>
                      </a:pPr>
                      <a:r>
                        <a:t>284.773 L / 42,716円</a:t>
                      </a:r>
                    </a:p>
                  </a:txBody>
                  <a:tcPr anchor="ctr" marL="73152" marR="73152" marT="36576" marB="36576">
                    <a:solidFill>
                      <a:srgbClr val="FFFFFF"/>
                    </a:solidFill>
                  </a:tcPr>
                </a:tc>
                <a:tc>
                  <a:txBody>
                    <a:bodyPr/>
                    <a:lstStyle/>
                    <a:p>
                      <a:pPr algn="ctr">
                        <a:defRPr sz="1300" b="0">
                          <a:solidFill>
                            <a:srgbClr val="191F24"/>
                          </a:solidFill>
                          <a:latin typeface="Meiryo"/>
                        </a:defRPr>
                      </a:pPr>
                      <a:r>
                        <a:t>340.364 L / 51,055円</a:t>
                      </a:r>
                    </a:p>
                  </a:txBody>
                  <a:tcPr anchor="ctr" marL="73152" marR="73152" marT="36576" marB="36576">
                    <a:solidFill>
                      <a:srgbClr val="FFFFFF"/>
                    </a:solidFill>
                  </a:tcPr>
                </a:tc>
                <a:tc>
                  <a:txBody>
                    <a:bodyPr/>
                    <a:lstStyle/>
                    <a:p>
                      <a:pPr algn="ctr">
                        <a:defRPr sz="1300" b="0">
                          <a:solidFill>
                            <a:srgbClr val="191F24"/>
                          </a:solidFill>
                          <a:latin typeface="Meiryo"/>
                        </a:defRPr>
                      </a:pPr>
                      <a:r>
                        <a:t>営業＋便間回送距離による仮勘定</a:t>
                      </a:r>
                    </a:p>
                  </a:txBody>
                  <a:tcPr anchor="ctr" marL="73152" marR="73152" marT="36576" marB="36576">
                    <a:solidFill>
                      <a:srgbClr val="FFFFFF"/>
                    </a:solidFill>
                  </a:tcPr>
                </a:tc>
              </a:tr>
            </a:tbl>
          </a:graphicData>
        </a:graphic>
      </p:graphicFrame>
      <p:sp>
        <p:nvSpPr>
          <p:cNvPr id="10" name="Rectangle 9"/>
          <p:cNvSpPr/>
          <p:nvPr/>
        </p:nvSpPr>
        <p:spPr>
          <a:xfrm>
            <a:off x="320040" y="5943600"/>
            <a:ext cx="11548872" cy="493776"/>
          </a:xfrm>
          <a:prstGeom prst="rect">
            <a:avLst/>
          </a:prstGeom>
          <a:solidFill>
            <a:srgbClr val="E1EFFA"/>
          </a:solidFill>
          <a:ln>
            <a:solidFill>
              <a:srgbClr val="E1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要点｜主要な整合条件は満足した。ICE在庫数と燃料台帳は正式KPI化前の確認事項として残る。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比較条件と解釈上の注意</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3/18</a:t>
            </a:r>
          </a:p>
        </p:txBody>
      </p:sp>
      <p:graphicFrame>
        <p:nvGraphicFramePr>
          <p:cNvPr id="9" name="Table 8"/>
          <p:cNvGraphicFramePr>
            <a:graphicFrameLocks noGrp="1"/>
          </p:cNvGraphicFramePr>
          <p:nvPr/>
        </p:nvGraphicFramePr>
        <p:xfrm>
          <a:off x="502920" y="960120"/>
          <a:ext cx="7452360" cy="4526280"/>
        </p:xfrm>
        <a:graphic>
          <a:graphicData uri="http://schemas.openxmlformats.org/drawingml/2006/table">
            <a:tbl>
              <a:tblPr firstRow="1" bandRow="1">
                <a:tableStyleId>{5C22544A-7EE6-4342-B048-85BDC9FD1C3A}</a:tableStyleId>
              </a:tblPr>
              <a:tblGrid>
                <a:gridCol w="2057400"/>
                <a:gridCol w="2697480"/>
                <a:gridCol w="2697480"/>
              </a:tblGrid>
              <a:tr h="754380">
                <a:tc>
                  <a:txBody>
                    <a:bodyPr/>
                    <a:lstStyle/>
                    <a:p>
                      <a:pPr algn="l">
                        <a:defRPr sz="1400" b="1">
                          <a:solidFill>
                            <a:srgbClr val="FFFFFF"/>
                          </a:solidFill>
                          <a:latin typeface="Meiryo"/>
                        </a:defRPr>
                      </a:pPr>
                      <a:r>
                        <a:t>項目</a:t>
                      </a:r>
                    </a:p>
                  </a:txBody>
                  <a:tcPr anchor="ctr">
                    <a:solidFill>
                      <a:srgbClr val="003667"/>
                    </a:solidFill>
                  </a:tcPr>
                </a:tc>
                <a:tc>
                  <a:txBody>
                    <a:bodyPr/>
                    <a:lstStyle/>
                    <a:p>
                      <a:pPr algn="ctr">
                        <a:defRPr sz="1400" b="1">
                          <a:solidFill>
                            <a:srgbClr val="FFFFFF"/>
                          </a:solidFill>
                          <a:latin typeface="Meiryo"/>
                        </a:defRPr>
                      </a:pPr>
                      <a:r>
                        <a:t>晴天</a:t>
                      </a:r>
                    </a:p>
                  </a:txBody>
                  <a:tcPr anchor="ctr">
                    <a:solidFill>
                      <a:srgbClr val="003667"/>
                    </a:solidFill>
                  </a:tcPr>
                </a:tc>
                <a:tc>
                  <a:txBody>
                    <a:bodyPr/>
                    <a:lstStyle/>
                    <a:p>
                      <a:pPr algn="ctr">
                        <a:defRPr sz="1400" b="1">
                          <a:solidFill>
                            <a:srgbClr val="FFFFFF"/>
                          </a:solidFill>
                          <a:latin typeface="Meiryo"/>
                        </a:defRPr>
                      </a:pPr>
                      <a:r>
                        <a:t>雨天</a:t>
                      </a:r>
                    </a:p>
                  </a:txBody>
                  <a:tcPr anchor="ctr">
                    <a:solidFill>
                      <a:srgbClr val="003667"/>
                    </a:solidFill>
                  </a:tcPr>
                </a:tc>
              </a:tr>
              <a:tr h="754380">
                <a:tc>
                  <a:txBody>
                    <a:bodyPr/>
                    <a:lstStyle/>
                    <a:p>
                      <a:pPr algn="l">
                        <a:defRPr sz="1300" b="1">
                          <a:solidFill>
                            <a:srgbClr val="191F24"/>
                          </a:solidFill>
                          <a:latin typeface="Meiryo"/>
                        </a:defRPr>
                      </a:pPr>
                      <a:r>
                        <a:t>日付 / scenario</a:t>
                      </a:r>
                    </a:p>
                  </a:txBody>
                  <a:tcPr anchor="ctr">
                    <a:solidFill>
                      <a:srgbClr val="FFFFFF"/>
                    </a:solidFill>
                  </a:tcPr>
                </a:tc>
                <a:tc>
                  <a:txBody>
                    <a:bodyPr/>
                    <a:lstStyle/>
                    <a:p>
                      <a:pPr algn="ctr">
                        <a:defRPr sz="1300" b="0">
                          <a:solidFill>
                            <a:srgbClr val="191F24"/>
                          </a:solidFill>
                          <a:latin typeface="Meiryo"/>
                        </a:defRPr>
                      </a:pPr>
                      <a:r>
                        <a:t>2025-08-05</a:t>
                      </a:r>
                    </a:p>
                    <a:p>
                      <a:pPr algn="ctr">
                        <a:defRPr sz="1300" b="0">
                          <a:solidFill>
                            <a:srgbClr val="191F24"/>
                          </a:solidFill>
                          <a:latin typeface="Meiryo"/>
                        </a:defRPr>
                      </a:pPr>
                      <a:r>
                        <a:t>771d115b…</a:t>
                      </a:r>
                    </a:p>
                  </a:txBody>
                  <a:tcPr anchor="ctr">
                    <a:solidFill>
                      <a:srgbClr val="FFFFFF"/>
                    </a:solidFill>
                  </a:tcPr>
                </a:tc>
                <a:tc>
                  <a:txBody>
                    <a:bodyPr/>
                    <a:lstStyle/>
                    <a:p>
                      <a:pPr algn="ctr">
                        <a:defRPr sz="1300" b="0">
                          <a:solidFill>
                            <a:srgbClr val="191F24"/>
                          </a:solidFill>
                          <a:latin typeface="Meiryo"/>
                        </a:defRPr>
                      </a:pPr>
                      <a:r>
                        <a:t>2025-08-10</a:t>
                      </a:r>
                    </a:p>
                    <a:p>
                      <a:pPr algn="ctr">
                        <a:defRPr sz="1300" b="0">
                          <a:solidFill>
                            <a:srgbClr val="191F24"/>
                          </a:solidFill>
                          <a:latin typeface="Meiryo"/>
                        </a:defRPr>
                      </a:pPr>
                      <a:r>
                        <a:t>b23fd26c…</a:t>
                      </a:r>
                    </a:p>
                  </a:txBody>
                  <a:tcPr anchor="ctr">
                    <a:solidFill>
                      <a:srgbClr val="FFFFFF"/>
                    </a:solidFill>
                  </a:tcPr>
                </a:tc>
              </a:tr>
              <a:tr h="754380">
                <a:tc>
                  <a:txBody>
                    <a:bodyPr/>
                    <a:lstStyle/>
                    <a:p>
                      <a:pPr algn="l">
                        <a:defRPr sz="1300" b="1">
                          <a:solidFill>
                            <a:srgbClr val="191F24"/>
                          </a:solidFill>
                          <a:latin typeface="Meiryo"/>
                        </a:defRPr>
                      </a:pPr>
                      <a:r>
                        <a:t>対象便・在庫</a:t>
                      </a:r>
                    </a:p>
                  </a:txBody>
                  <a:tcPr anchor="ctr">
                    <a:solidFill>
                      <a:srgbClr val="F2F4F6"/>
                    </a:solidFill>
                  </a:tcPr>
                </a:tc>
                <a:tc>
                  <a:txBody>
                    <a:bodyPr/>
                    <a:lstStyle/>
                    <a:p>
                      <a:pPr algn="ctr">
                        <a:defRPr sz="1300" b="0">
                          <a:solidFill>
                            <a:srgbClr val="191F24"/>
                          </a:solidFill>
                          <a:latin typeface="Meiryo"/>
                        </a:defRPr>
                      </a:pPr>
                      <a:r>
                        <a:t>264便 / EV35・ICE25</a:t>
                      </a:r>
                    </a:p>
                  </a:txBody>
                  <a:tcPr anchor="ctr">
                    <a:solidFill>
                      <a:srgbClr val="F2F4F6"/>
                    </a:solidFill>
                  </a:tcPr>
                </a:tc>
                <a:tc>
                  <a:txBody>
                    <a:bodyPr/>
                    <a:lstStyle/>
                    <a:p>
                      <a:pPr algn="ctr">
                        <a:defRPr sz="1300" b="0">
                          <a:solidFill>
                            <a:srgbClr val="191F24"/>
                          </a:solidFill>
                          <a:latin typeface="Meiryo"/>
                        </a:defRPr>
                      </a:pPr>
                      <a:r>
                        <a:t>264便 / EV35・ICE25</a:t>
                      </a:r>
                    </a:p>
                  </a:txBody>
                  <a:tcPr anchor="ctr">
                    <a:solidFill>
                      <a:srgbClr val="F2F4F6"/>
                    </a:solidFill>
                  </a:tcPr>
                </a:tc>
              </a:tr>
              <a:tr h="754380">
                <a:tc>
                  <a:txBody>
                    <a:bodyPr/>
                    <a:lstStyle/>
                    <a:p>
                      <a:pPr algn="l">
                        <a:defRPr sz="1300" b="1">
                          <a:solidFill>
                            <a:srgbClr val="191F24"/>
                          </a:solidFill>
                          <a:latin typeface="Meiryo"/>
                        </a:defRPr>
                      </a:pPr>
                      <a:r>
                        <a:t>PV発電</a:t>
                      </a:r>
                    </a:p>
                  </a:txBody>
                  <a:tcPr anchor="ctr">
                    <a:solidFill>
                      <a:srgbClr val="FFFFFF"/>
                    </a:solidFill>
                  </a:tcPr>
                </a:tc>
                <a:tc>
                  <a:txBody>
                    <a:bodyPr/>
                    <a:lstStyle/>
                    <a:p>
                      <a:pPr algn="ctr">
                        <a:defRPr sz="1300" b="0">
                          <a:solidFill>
                            <a:srgbClr val="191F24"/>
                          </a:solidFill>
                          <a:latin typeface="Meiryo"/>
                        </a:defRPr>
                      </a:pPr>
                      <a:r>
                        <a:t>614.7 kWh</a:t>
                      </a:r>
                    </a:p>
                  </a:txBody>
                  <a:tcPr anchor="ctr">
                    <a:solidFill>
                      <a:srgbClr val="FFFFFF"/>
                    </a:solidFill>
                  </a:tcPr>
                </a:tc>
                <a:tc>
                  <a:txBody>
                    <a:bodyPr/>
                    <a:lstStyle/>
                    <a:p>
                      <a:pPr algn="ctr">
                        <a:defRPr sz="1300" b="0">
                          <a:solidFill>
                            <a:srgbClr val="191F24"/>
                          </a:solidFill>
                          <a:latin typeface="Meiryo"/>
                        </a:defRPr>
                      </a:pPr>
                      <a:r>
                        <a:t>101.1 kWh</a:t>
                      </a:r>
                    </a:p>
                  </a:txBody>
                  <a:tcPr anchor="ctr">
                    <a:solidFill>
                      <a:srgbClr val="FFFFFF"/>
                    </a:solidFill>
                  </a:tcPr>
                </a:tc>
              </a:tr>
              <a:tr h="754380">
                <a:tc>
                  <a:txBody>
                    <a:bodyPr/>
                    <a:lstStyle/>
                    <a:p>
                      <a:pPr algn="l">
                        <a:defRPr sz="1300" b="1">
                          <a:solidFill>
                            <a:srgbClr val="191F24"/>
                          </a:solidFill>
                          <a:latin typeface="Meiryo"/>
                        </a:defRPr>
                      </a:pPr>
                      <a:r>
                        <a:t>計算状態</a:t>
                      </a:r>
                    </a:p>
                  </a:txBody>
                  <a:tcPr anchor="ctr">
                    <a:solidFill>
                      <a:srgbClr val="F2F4F6"/>
                    </a:solidFill>
                  </a:tcPr>
                </a:tc>
                <a:tc>
                  <a:txBody>
                    <a:bodyPr/>
                    <a:lstStyle/>
                    <a:p>
                      <a:pPr algn="ctr">
                        <a:defRPr sz="1300" b="0">
                          <a:solidFill>
                            <a:srgbClr val="191F24"/>
                          </a:solidFill>
                          <a:latin typeface="Meiryo"/>
                        </a:defRPr>
                      </a:pPr>
                      <a:r>
                        <a:t>Stage 1: time limit</a:t>
                      </a:r>
                    </a:p>
                    <a:p>
                      <a:pPr algn="ctr">
                        <a:defRPr sz="1300" b="0">
                          <a:solidFill>
                            <a:srgbClr val="191F24"/>
                          </a:solidFill>
                          <a:latin typeface="Meiryo"/>
                        </a:defRPr>
                      </a:pPr>
                      <a:r>
                        <a:t>gap 13.1%</a:t>
                      </a:r>
                    </a:p>
                  </a:txBody>
                  <a:tcPr anchor="ctr">
                    <a:solidFill>
                      <a:srgbClr val="F2F4F6"/>
                    </a:solidFill>
                  </a:tcPr>
                </a:tc>
                <a:tc>
                  <a:txBody>
                    <a:bodyPr/>
                    <a:lstStyle/>
                    <a:p>
                      <a:pPr algn="ctr">
                        <a:defRPr sz="1300" b="0">
                          <a:solidFill>
                            <a:srgbClr val="191F24"/>
                          </a:solidFill>
                          <a:latin typeface="Meiryo"/>
                        </a:defRPr>
                      </a:pPr>
                      <a:r>
                        <a:t>Stage 1: time limit</a:t>
                      </a:r>
                    </a:p>
                    <a:p>
                      <a:pPr algn="ctr">
                        <a:defRPr sz="1300" b="0">
                          <a:solidFill>
                            <a:srgbClr val="191F24"/>
                          </a:solidFill>
                          <a:latin typeface="Meiryo"/>
                        </a:defRPr>
                      </a:pPr>
                      <a:r>
                        <a:t>gap 12.9%</a:t>
                      </a:r>
                    </a:p>
                  </a:txBody>
                  <a:tcPr anchor="ctr">
                    <a:solidFill>
                      <a:srgbClr val="F2F4F6"/>
                    </a:solidFill>
                  </a:tcPr>
                </a:tc>
              </a:tr>
              <a:tr h="754380">
                <a:tc>
                  <a:txBody>
                    <a:bodyPr/>
                    <a:lstStyle/>
                    <a:p>
                      <a:pPr algn="l">
                        <a:defRPr sz="1300" b="1">
                          <a:solidFill>
                            <a:srgbClr val="191F24"/>
                          </a:solidFill>
                          <a:latin typeface="Meiryo"/>
                        </a:defRPr>
                      </a:pPr>
                      <a:r>
                        <a:t>Stage 2 / hard validation</a:t>
                      </a:r>
                    </a:p>
                  </a:txBody>
                  <a:tcPr anchor="ctr">
                    <a:solidFill>
                      <a:srgbClr val="FFFFFF"/>
                    </a:solidFill>
                  </a:tcPr>
                </a:tc>
                <a:tc>
                  <a:txBody>
                    <a:bodyPr/>
                    <a:lstStyle/>
                    <a:p>
                      <a:pPr algn="ctr">
                        <a:defRPr sz="1300" b="0">
                          <a:solidFill>
                            <a:srgbClr val="191F24"/>
                          </a:solidFill>
                          <a:latin typeface="Meiryo"/>
                        </a:defRPr>
                      </a:pPr>
                      <a:r>
                        <a:t>optimal / 全違反0</a:t>
                      </a:r>
                    </a:p>
                  </a:txBody>
                  <a:tcPr anchor="ctr">
                    <a:solidFill>
                      <a:srgbClr val="FFFFFF"/>
                    </a:solidFill>
                  </a:tcPr>
                </a:tc>
                <a:tc>
                  <a:txBody>
                    <a:bodyPr/>
                    <a:lstStyle/>
                    <a:p>
                      <a:pPr algn="ctr">
                        <a:defRPr sz="1300" b="0">
                          <a:solidFill>
                            <a:srgbClr val="191F24"/>
                          </a:solidFill>
                          <a:latin typeface="Meiryo"/>
                        </a:defRPr>
                      </a:pPr>
                      <a:r>
                        <a:t>optimal / 全違反0</a:t>
                      </a:r>
                    </a:p>
                  </a:txBody>
                  <a:tcPr anchor="ctr">
                    <a:solidFill>
                      <a:srgbClr val="FFFFFF"/>
                    </a:solidFill>
                  </a:tcPr>
                </a:tc>
              </a:tr>
            </a:tbl>
          </a:graphicData>
        </a:graphic>
      </p:graphicFrame>
      <p:sp>
        <p:nvSpPr>
          <p:cNvPr id="10" name="Rectangle 9"/>
          <p:cNvSpPr/>
          <p:nvPr/>
        </p:nvSpPr>
        <p:spPr>
          <a:xfrm>
            <a:off x="8275320" y="960120"/>
            <a:ext cx="3474720" cy="1938528"/>
          </a:xfrm>
          <a:prstGeom prst="rect">
            <a:avLst/>
          </a:prstGeom>
          <a:solidFill>
            <a:srgbClr val="FCE8E8"/>
          </a:solidFill>
          <a:ln>
            <a:solidFill>
              <a:srgbClr val="C2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85632" y="1161288"/>
            <a:ext cx="3063240" cy="320040"/>
          </a:xfrm>
          <a:prstGeom prst="rect">
            <a:avLst/>
          </a:prstGeom>
          <a:noFill/>
        </p:spPr>
        <p:txBody>
          <a:bodyPr wrap="square" lIns="36576" rIns="36576" tIns="36576" bIns="36576" anchor="t">
            <a:spAutoFit/>
          </a:bodyPr>
          <a:lstStyle/>
          <a:p>
            <a:pPr algn="ctr">
              <a:defRPr sz="1700" b="1">
                <a:solidFill>
                  <a:srgbClr val="C23737"/>
                </a:solidFill>
                <a:latin typeface="Meiryo"/>
              </a:defRPr>
            </a:pPr>
            <a:r>
              <a:t>入力台数の不一致</a:t>
            </a:r>
          </a:p>
        </p:txBody>
      </p:sp>
      <p:sp>
        <p:nvSpPr>
          <p:cNvPr id="12" name="TextBox 11"/>
          <p:cNvSpPr txBox="1"/>
          <p:nvPr/>
        </p:nvSpPr>
        <p:spPr>
          <a:xfrm>
            <a:off x="8485632" y="1609344"/>
            <a:ext cx="3063240" cy="685800"/>
          </a:xfrm>
          <a:prstGeom prst="rect">
            <a:avLst/>
          </a:prstGeom>
          <a:noFill/>
        </p:spPr>
        <p:txBody>
          <a:bodyPr wrap="square" lIns="36576" rIns="36576" tIns="36576" bIns="36576" anchor="ctr">
            <a:spAutoFit/>
          </a:bodyPr>
          <a:lstStyle/>
          <a:p>
            <a:pPr algn="ctr">
              <a:defRPr sz="1800" b="1">
                <a:solidFill>
                  <a:srgbClr val="191F24"/>
                </a:solidFill>
                <a:latin typeface="Meiryo"/>
              </a:defRPr>
            </a:pPr>
            <a:r>
              <a:t>依頼文：EV35・ICE26</a:t>
            </a:r>
            <a:br/>
            <a:r>
              <a:t>現モデル：EV35・ICE25</a:t>
            </a:r>
          </a:p>
        </p:txBody>
      </p:sp>
      <p:sp>
        <p:nvSpPr>
          <p:cNvPr id="13" name="TextBox 12"/>
          <p:cNvSpPr txBox="1"/>
          <p:nvPr/>
        </p:nvSpPr>
        <p:spPr>
          <a:xfrm>
            <a:off x="8485632" y="2350008"/>
            <a:ext cx="3063240" cy="347472"/>
          </a:xfrm>
          <a:prstGeom prst="rect">
            <a:avLst/>
          </a:prstGeom>
          <a:noFill/>
        </p:spPr>
        <p:txBody>
          <a:bodyPr wrap="square" lIns="36576" rIns="36576" tIns="36576" bIns="36576" anchor="t">
            <a:spAutoFit/>
          </a:bodyPr>
          <a:lstStyle/>
          <a:p>
            <a:pPr algn="ctr">
              <a:defRPr sz="1150" b="0">
                <a:solidFill>
                  <a:srgbClr val="C23737"/>
                </a:solidFill>
                <a:latin typeface="Meiryo"/>
              </a:defRPr>
            </a:pPr>
            <a:r>
              <a:t>26台条件の主張には、scenario修正後の再計算が必要。</a:t>
            </a:r>
          </a:p>
        </p:txBody>
      </p:sp>
      <p:sp>
        <p:nvSpPr>
          <p:cNvPr id="14" name="Rectangle 13"/>
          <p:cNvSpPr/>
          <p:nvPr/>
        </p:nvSpPr>
        <p:spPr>
          <a:xfrm>
            <a:off x="8275320" y="3172968"/>
            <a:ext cx="3474720" cy="2313432"/>
          </a:xfrm>
          <a:prstGeom prst="rect">
            <a:avLst/>
          </a:prstGeom>
          <a:solidFill>
            <a:srgbClr val="FFF4DB"/>
          </a:solidFill>
          <a:ln>
            <a:solidFill>
              <a:srgbClr val="E99A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85632" y="3383280"/>
            <a:ext cx="3063240" cy="320040"/>
          </a:xfrm>
          <a:prstGeom prst="rect">
            <a:avLst/>
          </a:prstGeom>
          <a:noFill/>
        </p:spPr>
        <p:txBody>
          <a:bodyPr wrap="square" lIns="36576" rIns="36576" tIns="36576" bIns="36576" anchor="t">
            <a:spAutoFit/>
          </a:bodyPr>
          <a:lstStyle/>
          <a:p>
            <a:pPr algn="ctr">
              <a:defRPr sz="1700" b="1">
                <a:solidFill>
                  <a:srgbClr val="003667"/>
                </a:solidFill>
                <a:latin typeface="Meiryo"/>
              </a:defRPr>
            </a:pPr>
            <a:r>
              <a:t>この資料の位置づけ</a:t>
            </a:r>
          </a:p>
        </p:txBody>
      </p:sp>
      <p:sp>
        <p:nvSpPr>
          <p:cNvPr id="16" name="TextBox 15"/>
          <p:cNvSpPr txBox="1"/>
          <p:nvPr/>
        </p:nvSpPr>
        <p:spPr>
          <a:xfrm>
            <a:off x="8485632" y="3813048"/>
            <a:ext cx="2971800" cy="1417320"/>
          </a:xfrm>
          <a:prstGeom prst="rect">
            <a:avLst/>
          </a:prstGeom>
          <a:noFill/>
        </p:spPr>
        <p:txBody>
          <a:bodyPr wrap="square">
            <a:spAutoFit/>
          </a:bodyPr>
          <a:lstStyle/>
          <a:p>
            <a:pPr>
              <a:spcAft>
                <a:spcPts val="900"/>
              </a:spcAft>
              <a:defRPr sz="1250">
                <a:solidFill>
                  <a:srgbClr val="191F24"/>
                </a:solidFill>
                <a:latin typeface="Meiryo"/>
              </a:defRPr>
            </a:pPr>
            <a:r>
              <a:t>● 二段階モデルの可行解</a:t>
            </a:r>
          </a:p>
          <a:p>
            <a:pPr>
              <a:spcAft>
                <a:spcPts val="900"/>
              </a:spcAft>
              <a:defRPr sz="1250">
                <a:solidFill>
                  <a:srgbClr val="191F24"/>
                </a:solidFill>
                <a:latin typeface="Meiryo"/>
              </a:defRPr>
            </a:pPr>
            <a:r>
              <a:t>● 総費用の大域最適解ではない</a:t>
            </a:r>
          </a:p>
          <a:p>
            <a:pPr>
              <a:spcAft>
                <a:spcPts val="900"/>
              </a:spcAft>
              <a:defRPr sz="1250">
                <a:solidFill>
                  <a:srgbClr val="191F24"/>
                </a:solidFill>
                <a:latin typeface="Meiryo"/>
              </a:defRPr>
            </a:pPr>
            <a:r>
              <a:t>● 未コミット変更を含む暫定結果</a:t>
            </a:r>
          </a:p>
          <a:p>
            <a:pPr>
              <a:spcAft>
                <a:spcPts val="900"/>
              </a:spcAft>
              <a:defRPr sz="1250">
                <a:solidFill>
                  <a:srgbClr val="191F24"/>
                </a:solidFill>
                <a:latin typeface="Meiryo"/>
              </a:defRPr>
            </a:pPr>
            <a:r>
              <a:t>● trip/vehicle hashは再照合済み</a:t>
            </a:r>
          </a:p>
        </p:txBody>
      </p:sp>
      <p:sp>
        <p:nvSpPr>
          <p:cNvPr id="17" name="Rectangle 16"/>
          <p:cNvSpPr/>
          <p:nvPr/>
        </p:nvSpPr>
        <p:spPr>
          <a:xfrm>
            <a:off x="320040" y="5943600"/>
            <a:ext cx="11548872" cy="493776"/>
          </a:xfrm>
          <a:prstGeom prst="rect">
            <a:avLst/>
          </a:prstGeom>
          <a:solidFill>
            <a:srgbClr val="FFF4DB"/>
          </a:solidFill>
          <a:ln>
            <a:solidFill>
              <a:srgbClr val="FFF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要点｜以降は“暫定可行解の内部整合”として解釈する。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最適化システムに加えた修正</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4/18</a:t>
            </a:r>
          </a:p>
        </p:txBody>
      </p:sp>
      <p:graphicFrame>
        <p:nvGraphicFramePr>
          <p:cNvPr id="9" name="Table 8"/>
          <p:cNvGraphicFramePr>
            <a:graphicFrameLocks noGrp="1"/>
          </p:cNvGraphicFramePr>
          <p:nvPr/>
        </p:nvGraphicFramePr>
        <p:xfrm>
          <a:off x="475488" y="859536"/>
          <a:ext cx="11237976" cy="4892040"/>
        </p:xfrm>
        <a:graphic>
          <a:graphicData uri="http://schemas.openxmlformats.org/drawingml/2006/table">
            <a:tbl>
              <a:tblPr firstRow="1" bandRow="1">
                <a:tableStyleId>{5C22544A-7EE6-4342-B048-85BDC9FD1C3A}</a:tableStyleId>
              </a:tblPr>
              <a:tblGrid>
                <a:gridCol w="1938528"/>
                <a:gridCol w="3986784"/>
                <a:gridCol w="5312664"/>
              </a:tblGrid>
              <a:tr h="698862">
                <a:tc>
                  <a:txBody>
                    <a:bodyPr/>
                    <a:lstStyle/>
                    <a:p>
                      <a:pPr algn="l">
                        <a:defRPr sz="1300" b="1">
                          <a:solidFill>
                            <a:srgbClr val="FFFFFF"/>
                          </a:solidFill>
                          <a:latin typeface="Meiryo"/>
                        </a:defRPr>
                      </a:pPr>
                      <a:r>
                        <a:t>対象</a:t>
                      </a:r>
                    </a:p>
                  </a:txBody>
                  <a:tcPr anchor="ctr" marL="73152" marR="73152" marT="36576" marB="36576">
                    <a:solidFill>
                      <a:srgbClr val="003667"/>
                    </a:solidFill>
                  </a:tcPr>
                </a:tc>
                <a:tc>
                  <a:txBody>
                    <a:bodyPr/>
                    <a:lstStyle/>
                    <a:p>
                      <a:pPr algn="ctr">
                        <a:defRPr sz="1300" b="1">
                          <a:solidFill>
                            <a:srgbClr val="FFFFFF"/>
                          </a:solidFill>
                          <a:latin typeface="Meiryo"/>
                        </a:defRPr>
                      </a:pPr>
                      <a:r>
                        <a:t>修正前に生じた問題</a:t>
                      </a:r>
                    </a:p>
                  </a:txBody>
                  <a:tcPr anchor="ctr" marL="73152" marR="73152" marT="36576" marB="36576">
                    <a:solidFill>
                      <a:srgbClr val="003667"/>
                    </a:solidFill>
                  </a:tcPr>
                </a:tc>
                <a:tc>
                  <a:txBody>
                    <a:bodyPr/>
                    <a:lstStyle/>
                    <a:p>
                      <a:pPr algn="ctr">
                        <a:defRPr sz="1300" b="1">
                          <a:solidFill>
                            <a:srgbClr val="FFFFFF"/>
                          </a:solidFill>
                          <a:latin typeface="Meiryo"/>
                        </a:defRPr>
                      </a:pPr>
                      <a:r>
                        <a:t>今回の修正</a:t>
                      </a:r>
                    </a:p>
                  </a:txBody>
                  <a:tcPr anchor="ctr" marL="73152" marR="73152" marT="36576" marB="36576">
                    <a:solidFill>
                      <a:srgbClr val="003667"/>
                    </a:solidFill>
                  </a:tcPr>
                </a:tc>
              </a:tr>
              <a:tr h="698862">
                <a:tc>
                  <a:txBody>
                    <a:bodyPr/>
                    <a:lstStyle/>
                    <a:p>
                      <a:pPr algn="l">
                        <a:defRPr sz="1150" b="1">
                          <a:solidFill>
                            <a:srgbClr val="191F24"/>
                          </a:solidFill>
                          <a:latin typeface="Meiryo"/>
                        </a:defRPr>
                      </a:pPr>
                      <a:r>
                        <a:t>Stage 1費用評価</a:t>
                      </a:r>
                    </a:p>
                  </a:txBody>
                  <a:tcPr anchor="ctr" marL="73152" marR="73152" marT="36576" marB="36576">
                    <a:solidFill>
                      <a:srgbClr val="FFFFFF"/>
                    </a:solidFill>
                  </a:tcPr>
                </a:tc>
                <a:tc>
                  <a:txBody>
                    <a:bodyPr/>
                    <a:lstStyle/>
                    <a:p>
                      <a:pPr algn="ctr">
                        <a:defRPr sz="1150" b="0">
                          <a:solidFill>
                            <a:srgbClr val="191F24"/>
                          </a:solidFill>
                          <a:latin typeface="Meiryo"/>
                        </a:defRPr>
                      </a:pPr>
                      <a:r>
                        <a:t>EV充電費とPV効果を見ず、天候が変わっても同じ割当を選びやすい</a:t>
                      </a:r>
                    </a:p>
                  </a:txBody>
                  <a:tcPr anchor="ctr" marL="73152" marR="73152" marT="36576" marB="36576">
                    <a:solidFill>
                      <a:srgbClr val="FFFFFF"/>
                    </a:solidFill>
                  </a:tcPr>
                </a:tc>
                <a:tc>
                  <a:txBody>
                    <a:bodyPr/>
                    <a:lstStyle/>
                    <a:p>
                      <a:pPr algn="ctr">
                        <a:defRPr sz="1150" b="0">
                          <a:solidFill>
                            <a:srgbClr val="191F24"/>
                          </a:solidFill>
                          <a:latin typeface="Meiryo"/>
                        </a:defRPr>
                      </a:pPr>
                      <a:r>
                        <a:t>EV外部充電量の下界を計算し、PV・初期BESS余剰・系統の順に費用評価へ反映</a:t>
                      </a:r>
                    </a:p>
                  </a:txBody>
                  <a:tcPr anchor="ctr" marL="73152" marR="73152" marT="36576" marB="36576">
                    <a:solidFill>
                      <a:srgbClr val="FFFFFF"/>
                    </a:solidFill>
                  </a:tcPr>
                </a:tc>
              </a:tr>
              <a:tr h="698862">
                <a:tc>
                  <a:txBody>
                    <a:bodyPr/>
                    <a:lstStyle/>
                    <a:p>
                      <a:pPr algn="l">
                        <a:defRPr sz="1150" b="1">
                          <a:solidFill>
                            <a:srgbClr val="191F24"/>
                          </a:solidFill>
                          <a:latin typeface="Meiryo"/>
                        </a:defRPr>
                      </a:pPr>
                      <a:r>
                        <a:t>充電場所とSOC</a:t>
                      </a:r>
                    </a:p>
                  </a:txBody>
                  <a:tcPr anchor="ctr" marL="73152" marR="73152" marT="36576" marB="36576">
                    <a:solidFill>
                      <a:srgbClr val="F2F4F6"/>
                    </a:solidFill>
                  </a:tcPr>
                </a:tc>
                <a:tc>
                  <a:txBody>
                    <a:bodyPr/>
                    <a:lstStyle/>
                    <a:p>
                      <a:pPr algn="ctr">
                        <a:defRPr sz="1150" b="0">
                          <a:solidFill>
                            <a:srgbClr val="191F24"/>
                          </a:solidFill>
                          <a:latin typeface="Meiryo"/>
                        </a:defRPr>
                      </a:pPr>
                      <a:r>
                        <a:t>車庫外の待機時間にも充電できる前提を暗黙に置き、Stage 2で不可行になる</a:t>
                      </a:r>
                    </a:p>
                  </a:txBody>
                  <a:tcPr anchor="ctr" marL="73152" marR="73152" marT="36576" marB="36576">
                    <a:solidFill>
                      <a:srgbClr val="F2F4F6"/>
                    </a:solidFill>
                  </a:tcPr>
                </a:tc>
                <a:tc>
                  <a:txBody>
                    <a:bodyPr/>
                    <a:lstStyle/>
                    <a:p>
                      <a:pPr algn="ctr">
                        <a:defRPr sz="1150" b="0">
                          <a:solidFill>
                            <a:srgbClr val="191F24"/>
                          </a:solidFill>
                          <a:latin typeface="Meiryo"/>
                        </a:defRPr>
                      </a:pPr>
                      <a:r>
                        <a:t>車庫内充電可能枠だけを使う累積SOC必要条件をStage 1へ875本追加</a:t>
                      </a:r>
                    </a:p>
                  </a:txBody>
                  <a:tcPr anchor="ctr" marL="73152" marR="73152" marT="36576" marB="36576">
                    <a:solidFill>
                      <a:srgbClr val="F2F4F6"/>
                    </a:solidFill>
                  </a:tcPr>
                </a:tc>
              </a:tr>
              <a:tr h="698862">
                <a:tc>
                  <a:txBody>
                    <a:bodyPr/>
                    <a:lstStyle/>
                    <a:p>
                      <a:pPr algn="l">
                        <a:defRPr sz="1150" b="1">
                          <a:solidFill>
                            <a:srgbClr val="191F24"/>
                          </a:solidFill>
                          <a:latin typeface="Meiryo"/>
                        </a:defRPr>
                      </a:pPr>
                      <a:r>
                        <a:t>車両運用の連続性</a:t>
                      </a:r>
                    </a:p>
                  </a:txBody>
                  <a:tcPr anchor="ctr" marL="73152" marR="73152" marT="36576" marB="36576">
                    <a:solidFill>
                      <a:srgbClr val="FFFFFF"/>
                    </a:solidFill>
                  </a:tcPr>
                </a:tc>
                <a:tc>
                  <a:txBody>
                    <a:bodyPr/>
                    <a:lstStyle/>
                    <a:p>
                      <a:pPr algn="ctr">
                        <a:defRPr sz="1150" b="0">
                          <a:solidFill>
                            <a:srgbClr val="191F24"/>
                          </a:solidFill>
                          <a:latin typeface="Meiryo"/>
                        </a:defRPr>
                      </a:pPr>
                      <a:r>
                        <a:t>同一車両に離れた運行断片を割り当て、Stage 2で位置・SOCを接続できない</a:t>
                      </a:r>
                    </a:p>
                  </a:txBody>
                  <a:tcPr anchor="ctr" marL="73152" marR="73152" marT="36576" marB="36576">
                    <a:solidFill>
                      <a:srgbClr val="FFFFFF"/>
                    </a:solidFill>
                  </a:tcPr>
                </a:tc>
                <a:tc>
                  <a:txBody>
                    <a:bodyPr/>
                    <a:lstStyle/>
                    <a:p>
                      <a:pPr algn="ctr">
                        <a:defRPr sz="1150" b="0">
                          <a:solidFill>
                            <a:srgbClr val="191F24"/>
                          </a:solidFill>
                          <a:latin typeface="Meiryo"/>
                        </a:defRPr>
                      </a:pPr>
                      <a:r>
                        <a:t>1車両1日1連続仕業に限定し、Stage 1とStage 2の運行表現を一致</a:t>
                      </a:r>
                    </a:p>
                  </a:txBody>
                  <a:tcPr anchor="ctr" marL="73152" marR="73152" marT="36576" marB="36576">
                    <a:solidFill>
                      <a:srgbClr val="FFFFFF"/>
                    </a:solidFill>
                  </a:tcPr>
                </a:tc>
              </a:tr>
              <a:tr h="698862">
                <a:tc>
                  <a:txBody>
                    <a:bodyPr/>
                    <a:lstStyle/>
                    <a:p>
                      <a:pPr algn="l">
                        <a:defRPr sz="1150" b="1">
                          <a:solidFill>
                            <a:srgbClr val="191F24"/>
                          </a:solidFill>
                          <a:latin typeface="Meiryo"/>
                        </a:defRPr>
                      </a:pPr>
                      <a:r>
                        <a:t>帰庫回送のSOC</a:t>
                      </a:r>
                    </a:p>
                  </a:txBody>
                  <a:tcPr anchor="ctr" marL="73152" marR="73152" marT="36576" marB="36576">
                    <a:solidFill>
                      <a:srgbClr val="F2F4F6"/>
                    </a:solidFill>
                  </a:tcPr>
                </a:tc>
                <a:tc>
                  <a:txBody>
                    <a:bodyPr/>
                    <a:lstStyle/>
                    <a:p>
                      <a:pPr algn="ctr">
                        <a:defRPr sz="1150" b="0">
                          <a:solidFill>
                            <a:srgbClr val="191F24"/>
                          </a:solidFill>
                          <a:latin typeface="Meiryo"/>
                        </a:defRPr>
                      </a:pPr>
                      <a:r>
                        <a:t>帰庫完了より1枠遅れて回送消費を差し引く時刻ずれ</a:t>
                      </a:r>
                    </a:p>
                  </a:txBody>
                  <a:tcPr anchor="ctr" marL="73152" marR="73152" marT="36576" marB="36576">
                    <a:solidFill>
                      <a:srgbClr val="F2F4F6"/>
                    </a:solidFill>
                  </a:tcPr>
                </a:tc>
                <a:tc>
                  <a:txBody>
                    <a:bodyPr/>
                    <a:lstStyle/>
                    <a:p>
                      <a:pPr algn="ctr">
                        <a:defRPr sz="1150" b="0">
                          <a:solidFill>
                            <a:srgbClr val="191F24"/>
                          </a:solidFill>
                          <a:latin typeface="Meiryo"/>
                        </a:defRPr>
                      </a:pPr>
                      <a:r>
                        <a:t>帰庫完了直後のSOC遷移で回送消費を差し引くよう修正</a:t>
                      </a:r>
                    </a:p>
                  </a:txBody>
                  <a:tcPr anchor="ctr" marL="73152" marR="73152" marT="36576" marB="36576">
                    <a:solidFill>
                      <a:srgbClr val="F2F4F6"/>
                    </a:solidFill>
                  </a:tcPr>
                </a:tc>
              </a:tr>
              <a:tr h="698862">
                <a:tc>
                  <a:txBody>
                    <a:bodyPr/>
                    <a:lstStyle/>
                    <a:p>
                      <a:pPr algn="l">
                        <a:defRPr sz="1150" b="1">
                          <a:solidFill>
                            <a:srgbClr val="191F24"/>
                          </a:solidFill>
                          <a:latin typeface="Meiryo"/>
                        </a:defRPr>
                      </a:pPr>
                      <a:r>
                        <a:t>研究用実行経路</a:t>
                      </a:r>
                    </a:p>
                  </a:txBody>
                  <a:tcPr anchor="ctr" marL="73152" marR="73152" marT="36576" marB="36576">
                    <a:solidFill>
                      <a:srgbClr val="FFFFFF"/>
                    </a:solidFill>
                  </a:tcPr>
                </a:tc>
                <a:tc>
                  <a:txBody>
                    <a:bodyPr/>
                    <a:lstStyle/>
                    <a:p>
                      <a:pPr algn="ctr">
                        <a:defRPr sz="1150" b="0">
                          <a:solidFill>
                            <a:srgbClr val="191F24"/>
                          </a:solidFill>
                          <a:latin typeface="Meiryo"/>
                        </a:defRPr>
                      </a:pPr>
                      <a:r>
                        <a:t>fallbackや後処理がMILP出力と報告値の対応を不明瞭にする可能性</a:t>
                      </a:r>
                    </a:p>
                  </a:txBody>
                  <a:tcPr anchor="ctr" marL="73152" marR="73152" marT="36576" marB="36576">
                    <a:solidFill>
                      <a:srgbClr val="FFFFFF"/>
                    </a:solidFill>
                  </a:tcPr>
                </a:tc>
                <a:tc>
                  <a:txBody>
                    <a:bodyPr/>
                    <a:lstStyle/>
                    <a:p>
                      <a:pPr algn="ctr">
                        <a:defRPr sz="1150" b="0">
                          <a:solidFill>
                            <a:srgbClr val="191F24"/>
                          </a:solidFill>
                          <a:latin typeface="Meiryo"/>
                        </a:defRPr>
                      </a:pPr>
                      <a:r>
                        <a:t>fallback・postsolve repairを停止し、全便・重複・SOC・需給の検証を合格条件化</a:t>
                      </a:r>
                    </a:p>
                  </a:txBody>
                  <a:tcPr anchor="ctr" marL="73152" marR="73152" marT="36576" marB="36576">
                    <a:solidFill>
                      <a:srgbClr val="FFFFFF"/>
                    </a:solidFill>
                  </a:tcPr>
                </a:tc>
              </a:tr>
              <a:tr h="698868">
                <a:tc>
                  <a:txBody>
                    <a:bodyPr/>
                    <a:lstStyle/>
                    <a:p>
                      <a:pPr algn="l">
                        <a:defRPr sz="1150" b="1">
                          <a:solidFill>
                            <a:srgbClr val="191F24"/>
                          </a:solidFill>
                          <a:latin typeface="Meiryo"/>
                        </a:defRPr>
                      </a:pPr>
                      <a:r>
                        <a:t>結果の保存</a:t>
                      </a:r>
                    </a:p>
                  </a:txBody>
                  <a:tcPr anchor="ctr" marL="73152" marR="73152" marT="36576" marB="36576">
                    <a:solidFill>
                      <a:srgbClr val="F2F4F6"/>
                    </a:solidFill>
                  </a:tcPr>
                </a:tc>
                <a:tc>
                  <a:txBody>
                    <a:bodyPr/>
                    <a:lstStyle/>
                    <a:p>
                      <a:pPr algn="ctr">
                        <a:defRPr sz="1150" b="0">
                          <a:solidFill>
                            <a:srgbClr val="191F24"/>
                          </a:solidFill>
                          <a:latin typeface="Meiryo"/>
                        </a:defRPr>
                      </a:pPr>
                      <a:r>
                        <a:t>PV・BESS・系統の出所と二段階モデルの意味が成果物だけでは不明確</a:t>
                      </a:r>
                    </a:p>
                  </a:txBody>
                  <a:tcPr anchor="ctr" marL="73152" marR="73152" marT="36576" marB="36576">
                    <a:solidFill>
                      <a:srgbClr val="F2F4F6"/>
                    </a:solidFill>
                  </a:tcPr>
                </a:tc>
                <a:tc>
                  <a:txBody>
                    <a:bodyPr/>
                    <a:lstStyle/>
                    <a:p>
                      <a:pPr algn="ctr">
                        <a:defRPr sz="1150" b="0">
                          <a:solidFill>
                            <a:srgbClr val="191F24"/>
                          </a:solidFill>
                          <a:latin typeface="Meiryo"/>
                        </a:defRPr>
                      </a:pPr>
                      <a:r>
                        <a:t>電力源別フロー、solver状態、入力hash、目的関数の意味を監査JSONへ保存</a:t>
                      </a:r>
                    </a:p>
                  </a:txBody>
                  <a:tcPr anchor="ctr" marL="73152" marR="73152" marT="36576" marB="36576">
                    <a:solidFill>
                      <a:srgbClr val="F2F4F6"/>
                    </a:solidFill>
                  </a:tcPr>
                </a:tc>
              </a:tr>
            </a:tbl>
          </a:graphicData>
        </a:graphic>
      </p:graphicFrame>
      <p:sp>
        <p:nvSpPr>
          <p:cNvPr id="10" name="Rectangle 9"/>
          <p:cNvSpPr/>
          <p:nvPr/>
        </p:nvSpPr>
        <p:spPr>
          <a:xfrm>
            <a:off x="320040" y="5943600"/>
            <a:ext cx="11548872" cy="493776"/>
          </a:xfrm>
          <a:prstGeom prst="rect">
            <a:avLst/>
          </a:prstGeom>
          <a:solidFill>
            <a:srgbClr val="E3F6ED"/>
          </a:solidFill>
          <a:ln>
            <a:solidFill>
              <a:srgbClr val="E3F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238E5E"/>
                </a:solidFill>
                <a:latin typeface="Meiryo"/>
              </a:defRPr>
            </a:pPr>
            <a:r>
              <a:t>要点｜便接続条件 arrival + turnaround + deadhead ≤ next departure は変更していない。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二段階モデルの役割と目的関数</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5/18</a:t>
            </a:r>
          </a:p>
        </p:txBody>
      </p:sp>
      <p:sp>
        <p:nvSpPr>
          <p:cNvPr id="9" name="Rectangle 8"/>
          <p:cNvSpPr/>
          <p:nvPr/>
        </p:nvSpPr>
        <p:spPr>
          <a:xfrm>
            <a:off x="502920" y="932688"/>
            <a:ext cx="4892040" cy="1920240"/>
          </a:xfrm>
          <a:prstGeom prst="rect">
            <a:avLst/>
          </a:prstGeom>
          <a:solidFill>
            <a:srgbClr val="E1EFFA"/>
          </a:solidFill>
          <a:ln>
            <a:solidFill>
              <a:srgbClr val="00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097280"/>
            <a:ext cx="4480560" cy="329184"/>
          </a:xfrm>
          <a:prstGeom prst="rect">
            <a:avLst/>
          </a:prstGeom>
          <a:noFill/>
        </p:spPr>
        <p:txBody>
          <a:bodyPr wrap="square" lIns="36576" rIns="36576" tIns="36576" bIns="36576" anchor="t">
            <a:spAutoFit/>
          </a:bodyPr>
          <a:lstStyle/>
          <a:p>
            <a:pPr algn="ctr">
              <a:defRPr sz="1800" b="1">
                <a:solidFill>
                  <a:srgbClr val="003667"/>
                </a:solidFill>
                <a:latin typeface="Meiryo"/>
              </a:defRPr>
            </a:pPr>
            <a:r>
              <a:t>Stage 1：車両運用・動力選択</a:t>
            </a:r>
          </a:p>
        </p:txBody>
      </p:sp>
      <p:sp>
        <p:nvSpPr>
          <p:cNvPr id="11" name="TextBox 10"/>
          <p:cNvSpPr txBox="1"/>
          <p:nvPr/>
        </p:nvSpPr>
        <p:spPr>
          <a:xfrm>
            <a:off x="749808" y="1554480"/>
            <a:ext cx="4407408" cy="1033271"/>
          </a:xfrm>
          <a:prstGeom prst="rect">
            <a:avLst/>
          </a:prstGeom>
          <a:noFill/>
        </p:spPr>
        <p:txBody>
          <a:bodyPr wrap="square" lIns="36576" rIns="36576" tIns="36576" bIns="36576" anchor="t">
            <a:spAutoFit/>
          </a:bodyPr>
          <a:lstStyle/>
          <a:p>
            <a:pPr algn="l">
              <a:defRPr sz="1300" b="0">
                <a:solidFill>
                  <a:srgbClr val="191F24"/>
                </a:solidFill>
                <a:latin typeface="Meiryo"/>
              </a:defRPr>
            </a:pPr>
            <a:r>
              <a:t>決定：各便をどのEV／ICEへ割り当てるか</a:t>
            </a:r>
            <a:br/>
            <a:r>
              <a:t>評価：ICE燃料・CO₂、使用車両費、EV外部充電費の下界</a:t>
            </a:r>
            <a:br/>
            <a:r>
              <a:t>制約：全便、時刻重複、便接続、連続仕業、EV累積SOC必要条件</a:t>
            </a:r>
          </a:p>
        </p:txBody>
      </p:sp>
      <p:sp>
        <p:nvSpPr>
          <p:cNvPr id="12" name="TextBox 11"/>
          <p:cNvSpPr txBox="1"/>
          <p:nvPr/>
        </p:nvSpPr>
        <p:spPr>
          <a:xfrm>
            <a:off x="5596128" y="1563624"/>
            <a:ext cx="804672" cy="438912"/>
          </a:xfrm>
          <a:prstGeom prst="rect">
            <a:avLst/>
          </a:prstGeom>
          <a:noFill/>
        </p:spPr>
        <p:txBody>
          <a:bodyPr wrap="square" lIns="36576" rIns="36576" tIns="36576" bIns="36576" anchor="t">
            <a:spAutoFit/>
          </a:bodyPr>
          <a:lstStyle/>
          <a:p>
            <a:pPr algn="ctr">
              <a:defRPr sz="3400" b="1">
                <a:solidFill>
                  <a:srgbClr val="005CAA"/>
                </a:solidFill>
                <a:latin typeface="Meiryo"/>
              </a:defRPr>
            </a:pPr>
            <a:r>
              <a:t>→</a:t>
            </a:r>
          </a:p>
        </p:txBody>
      </p:sp>
      <p:sp>
        <p:nvSpPr>
          <p:cNvPr id="13" name="TextBox 12"/>
          <p:cNvSpPr txBox="1"/>
          <p:nvPr/>
        </p:nvSpPr>
        <p:spPr>
          <a:xfrm>
            <a:off x="5513832" y="2039112"/>
            <a:ext cx="950976" cy="256032"/>
          </a:xfrm>
          <a:prstGeom prst="rect">
            <a:avLst/>
          </a:prstGeom>
          <a:noFill/>
        </p:spPr>
        <p:txBody>
          <a:bodyPr wrap="square" lIns="36576" rIns="36576" tIns="36576" bIns="36576" anchor="t">
            <a:spAutoFit/>
          </a:bodyPr>
          <a:lstStyle/>
          <a:p>
            <a:pPr algn="ctr">
              <a:defRPr sz="1050" b="0">
                <a:solidFill>
                  <a:srgbClr val="5C6670"/>
                </a:solidFill>
                <a:latin typeface="Meiryo"/>
              </a:defRPr>
            </a:pPr>
            <a:r>
              <a:t>割当を固定</a:t>
            </a:r>
          </a:p>
        </p:txBody>
      </p:sp>
      <p:sp>
        <p:nvSpPr>
          <p:cNvPr id="14" name="Rectangle 13"/>
          <p:cNvSpPr/>
          <p:nvPr/>
        </p:nvSpPr>
        <p:spPr>
          <a:xfrm>
            <a:off x="6656832" y="932688"/>
            <a:ext cx="5029200" cy="1920240"/>
          </a:xfrm>
          <a:prstGeom prst="rect">
            <a:avLst/>
          </a:prstGeom>
          <a:solidFill>
            <a:srgbClr val="E3F6ED"/>
          </a:solidFill>
          <a:ln>
            <a:solidFill>
              <a:srgbClr val="238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76288" y="1097280"/>
            <a:ext cx="4590288" cy="329184"/>
          </a:xfrm>
          <a:prstGeom prst="rect">
            <a:avLst/>
          </a:prstGeom>
          <a:noFill/>
        </p:spPr>
        <p:txBody>
          <a:bodyPr wrap="square" lIns="36576" rIns="36576" tIns="36576" bIns="36576" anchor="t">
            <a:spAutoFit/>
          </a:bodyPr>
          <a:lstStyle/>
          <a:p>
            <a:pPr algn="ctr">
              <a:defRPr sz="1800" b="1">
                <a:solidFill>
                  <a:srgbClr val="238E5E"/>
                </a:solidFill>
                <a:latin typeface="Meiryo"/>
              </a:defRPr>
            </a:pPr>
            <a:r>
              <a:t>Stage 2：充電・電力需給</a:t>
            </a:r>
          </a:p>
        </p:txBody>
      </p:sp>
      <p:sp>
        <p:nvSpPr>
          <p:cNvPr id="16" name="TextBox 15"/>
          <p:cNvSpPr txBox="1"/>
          <p:nvPr/>
        </p:nvSpPr>
        <p:spPr>
          <a:xfrm>
            <a:off x="6903720" y="1554480"/>
            <a:ext cx="4535424" cy="1033271"/>
          </a:xfrm>
          <a:prstGeom prst="rect">
            <a:avLst/>
          </a:prstGeom>
          <a:noFill/>
        </p:spPr>
        <p:txBody>
          <a:bodyPr wrap="square" lIns="36576" rIns="36576" tIns="36576" bIns="36576" anchor="t">
            <a:spAutoFit/>
          </a:bodyPr>
          <a:lstStyle/>
          <a:p>
            <a:pPr algn="l">
              <a:defRPr sz="1300" b="0">
                <a:solidFill>
                  <a:srgbClr val="191F24"/>
                </a:solidFill>
                <a:latin typeface="Meiryo"/>
              </a:defRPr>
            </a:pPr>
            <a:r>
              <a:t>決定：充電時刻、系統・PV・BESS配分、系統ピーク</a:t>
            </a:r>
            <a:br/>
            <a:r>
              <a:t>評価：電力費、需要料金、CO₂、BESS費用</a:t>
            </a:r>
            <a:br/>
            <a:r>
              <a:t>制約：車両SOC、充電器、受電上限、PV収支、BESS SOC・終端条件</a:t>
            </a:r>
          </a:p>
        </p:txBody>
      </p:sp>
      <p:sp>
        <p:nvSpPr>
          <p:cNvPr id="17" name="Rectangle 16"/>
          <p:cNvSpPr/>
          <p:nvPr/>
        </p:nvSpPr>
        <p:spPr>
          <a:xfrm>
            <a:off x="502920" y="3108960"/>
            <a:ext cx="11183112" cy="2359152"/>
          </a:xfrm>
          <a:prstGeom prst="rect">
            <a:avLst/>
          </a:prstGeom>
          <a:solidFill>
            <a:srgbClr val="FFFFFF"/>
          </a:solidFill>
          <a:ln>
            <a:solidFill>
              <a:srgbClr val="5C6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310128"/>
            <a:ext cx="4754880" cy="310896"/>
          </a:xfrm>
          <a:prstGeom prst="rect">
            <a:avLst/>
          </a:prstGeom>
          <a:noFill/>
        </p:spPr>
        <p:txBody>
          <a:bodyPr wrap="square" lIns="36576" rIns="36576" tIns="36576" bIns="36576" anchor="t">
            <a:spAutoFit/>
          </a:bodyPr>
          <a:lstStyle/>
          <a:p>
            <a:pPr algn="l">
              <a:defRPr sz="1600" b="1">
                <a:solidFill>
                  <a:srgbClr val="003667"/>
                </a:solidFill>
                <a:latin typeface="Meiryo"/>
              </a:defRPr>
            </a:pPr>
            <a:r>
              <a:t>Stage 1で用いるEV外部充電量の下界</a:t>
            </a:r>
          </a:p>
        </p:txBody>
      </p:sp>
      <p:sp>
        <p:nvSpPr>
          <p:cNvPr id="19" name="TextBox 18"/>
          <p:cNvSpPr txBox="1"/>
          <p:nvPr/>
        </p:nvSpPr>
        <p:spPr>
          <a:xfrm>
            <a:off x="868680" y="3721608"/>
            <a:ext cx="5212080" cy="786384"/>
          </a:xfrm>
          <a:prstGeom prst="rect">
            <a:avLst/>
          </a:prstGeom>
          <a:noFill/>
        </p:spPr>
        <p:txBody>
          <a:bodyPr wrap="square" lIns="36576" rIns="36576" tIns="36576" bIns="36576" anchor="ctr">
            <a:spAutoFit/>
          </a:bodyPr>
          <a:lstStyle/>
          <a:p>
            <a:pPr algn="ctr">
              <a:defRPr sz="1650" b="1">
                <a:solidFill>
                  <a:srgbClr val="191F24"/>
                </a:solidFill>
                <a:latin typeface="Meiryo"/>
              </a:defRPr>
            </a:pPr>
            <a:r>
              <a:t>E_ext,v = max{0, E_trip + E_start + E_between + E_return</a:t>
            </a:r>
            <a:br/>
            <a:r>
              <a:t>　　　　　　　 + E_terminal − E_initial} / η_charge</a:t>
            </a:r>
          </a:p>
        </p:txBody>
      </p:sp>
      <p:sp>
        <p:nvSpPr>
          <p:cNvPr id="20" name="TextBox 19"/>
          <p:cNvSpPr txBox="1"/>
          <p:nvPr/>
        </p:nvSpPr>
        <p:spPr>
          <a:xfrm>
            <a:off x="6263640" y="3401568"/>
            <a:ext cx="5074920" cy="1673352"/>
          </a:xfrm>
          <a:prstGeom prst="rect">
            <a:avLst/>
          </a:prstGeom>
          <a:noFill/>
        </p:spPr>
        <p:txBody>
          <a:bodyPr wrap="square" lIns="36576" rIns="36576" tIns="36576" bIns="36576" anchor="t">
            <a:spAutoFit/>
          </a:bodyPr>
          <a:lstStyle/>
          <a:p>
            <a:pPr algn="l">
              <a:defRPr sz="1300" b="0">
                <a:solidFill>
                  <a:srgbClr val="191F24"/>
                </a:solidFill>
                <a:latin typeface="Meiryo"/>
              </a:defRPr>
            </a:pPr>
            <a:r>
              <a:t>下界の費用配分：PV（0円）→ 初期BESS余剰 → 最安の系統電力</a:t>
            </a:r>
            <a:br/>
            <a:r>
              <a:t>含める：天候別PV量、走行エネルギー、初期・終端SOC</a:t>
            </a:r>
            <a:br/>
            <a:r>
              <a:t>含めない：充電時刻、充電器競合、需要料金の厳密値</a:t>
            </a:r>
            <a:br/>
            <a:r>
              <a:t>　　　　　これらはStage 2で厳密に決定する</a:t>
            </a:r>
          </a:p>
        </p:txBody>
      </p:sp>
      <p:sp>
        <p:nvSpPr>
          <p:cNvPr id="21" name="Rectangle 20"/>
          <p:cNvSpPr/>
          <p:nvPr/>
        </p:nvSpPr>
        <p:spPr>
          <a:xfrm>
            <a:off x="320040" y="5943600"/>
            <a:ext cx="11548872" cy="493776"/>
          </a:xfrm>
          <a:prstGeom prst="rect">
            <a:avLst/>
          </a:prstGeom>
          <a:solidFill>
            <a:srgbClr val="FFF4DB"/>
          </a:solidFill>
          <a:ln>
            <a:solidFill>
              <a:srgbClr val="FFF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要点｜本結果は二段階モデルの可行解であり、運行と充電を同時に解く総費用の大域最適解ではない。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シナリオ・計算・設備条件</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6/18</a:t>
            </a:r>
          </a:p>
        </p:txBody>
      </p:sp>
      <p:graphicFrame>
        <p:nvGraphicFramePr>
          <p:cNvPr id="9" name="Table 8"/>
          <p:cNvGraphicFramePr>
            <a:graphicFrameLocks noGrp="1"/>
          </p:cNvGraphicFramePr>
          <p:nvPr/>
        </p:nvGraphicFramePr>
        <p:xfrm>
          <a:off x="438912" y="886968"/>
          <a:ext cx="5577840" cy="5001768"/>
        </p:xfrm>
        <a:graphic>
          <a:graphicData uri="http://schemas.openxmlformats.org/drawingml/2006/table">
            <a:tbl>
              <a:tblPr firstRow="1" bandRow="1">
                <a:tableStyleId>{5C22544A-7EE6-4342-B048-85BDC9FD1C3A}</a:tableStyleId>
              </a:tblPr>
              <a:tblGrid>
                <a:gridCol w="1947672"/>
                <a:gridCol w="3630168"/>
              </a:tblGrid>
              <a:tr h="555752">
                <a:tc>
                  <a:txBody>
                    <a:bodyPr/>
                    <a:lstStyle/>
                    <a:p>
                      <a:pPr algn="l">
                        <a:defRPr sz="1300" b="1">
                          <a:solidFill>
                            <a:srgbClr val="FFFFFF"/>
                          </a:solidFill>
                          <a:latin typeface="Meiryo"/>
                        </a:defRPr>
                      </a:pPr>
                      <a:r>
                        <a:t>計算条件</a:t>
                      </a:r>
                    </a:p>
                  </a:txBody>
                  <a:tcPr anchor="ctr" marL="73152" marR="73152" marT="36576" marB="36576">
                    <a:solidFill>
                      <a:srgbClr val="003667"/>
                    </a:solidFill>
                  </a:tcPr>
                </a:tc>
                <a:tc>
                  <a:txBody>
                    <a:bodyPr/>
                    <a:lstStyle/>
                    <a:p>
                      <a:pPr algn="ctr">
                        <a:defRPr sz="1300" b="1">
                          <a:solidFill>
                            <a:srgbClr val="FFFFFF"/>
                          </a:solidFill>
                          <a:latin typeface="Meiryo"/>
                        </a:defRPr>
                      </a:pPr>
                      <a:r>
                        <a:t>設定値</a:t>
                      </a:r>
                    </a:p>
                  </a:txBody>
                  <a:tcPr anchor="ctr" marL="73152" marR="73152" marT="36576" marB="36576">
                    <a:solidFill>
                      <a:srgbClr val="003667"/>
                    </a:solidFill>
                  </a:tcPr>
                </a:tc>
              </a:tr>
              <a:tr h="555752">
                <a:tc>
                  <a:txBody>
                    <a:bodyPr/>
                    <a:lstStyle/>
                    <a:p>
                      <a:pPr algn="l">
                        <a:defRPr sz="1140" b="1">
                          <a:solidFill>
                            <a:srgbClr val="191F24"/>
                          </a:solidFill>
                          <a:latin typeface="Meiryo"/>
                        </a:defRPr>
                      </a:pPr>
                      <a:r>
                        <a:t>モデル / backend</a:t>
                      </a:r>
                    </a:p>
                  </a:txBody>
                  <a:tcPr anchor="ctr" marL="73152" marR="73152" marT="36576" marB="36576">
                    <a:solidFill>
                      <a:srgbClr val="FFFFFF"/>
                    </a:solidFill>
                  </a:tcPr>
                </a:tc>
                <a:tc>
                  <a:txBody>
                    <a:bodyPr/>
                    <a:lstStyle/>
                    <a:p>
                      <a:pPr algn="ctr">
                        <a:defRPr sz="1140" b="0">
                          <a:solidFill>
                            <a:srgbClr val="191F24"/>
                          </a:solidFill>
                          <a:latin typeface="Meiryo"/>
                        </a:defRPr>
                      </a:pPr>
                      <a:r>
                        <a:t>phase3_two_stage / gurobi_two_stage</a:t>
                      </a:r>
                    </a:p>
                  </a:txBody>
                  <a:tcPr anchor="ctr" marL="73152" marR="73152" marT="36576" marB="36576">
                    <a:solidFill>
                      <a:srgbClr val="FFFFFF"/>
                    </a:solidFill>
                  </a:tcPr>
                </a:tc>
              </a:tr>
              <a:tr h="555752">
                <a:tc>
                  <a:txBody>
                    <a:bodyPr/>
                    <a:lstStyle/>
                    <a:p>
                      <a:pPr algn="l">
                        <a:defRPr sz="1140" b="1">
                          <a:solidFill>
                            <a:srgbClr val="191F24"/>
                          </a:solidFill>
                          <a:latin typeface="Meiryo"/>
                        </a:defRPr>
                      </a:pPr>
                      <a:r>
                        <a:t>総制限時間</a:t>
                      </a:r>
                    </a:p>
                  </a:txBody>
                  <a:tcPr anchor="ctr" marL="73152" marR="73152" marT="36576" marB="36576">
                    <a:solidFill>
                      <a:srgbClr val="F2F4F6"/>
                    </a:solidFill>
                  </a:tcPr>
                </a:tc>
                <a:tc>
                  <a:txBody>
                    <a:bodyPr/>
                    <a:lstStyle/>
                    <a:p>
                      <a:pPr algn="ctr">
                        <a:defRPr sz="1140" b="0">
                          <a:solidFill>
                            <a:srgbClr val="191F24"/>
                          </a:solidFill>
                          <a:latin typeface="Meiryo"/>
                        </a:defRPr>
                      </a:pPr>
                      <a:r>
                        <a:t>1500秒</a:t>
                      </a:r>
                    </a:p>
                  </a:txBody>
                  <a:tcPr anchor="ctr" marL="73152" marR="73152" marT="36576" marB="36576">
                    <a:solidFill>
                      <a:srgbClr val="F2F4F6"/>
                    </a:solidFill>
                  </a:tcPr>
                </a:tc>
              </a:tr>
              <a:tr h="555752">
                <a:tc>
                  <a:txBody>
                    <a:bodyPr/>
                    <a:lstStyle/>
                    <a:p>
                      <a:pPr algn="l">
                        <a:defRPr sz="1140" b="1">
                          <a:solidFill>
                            <a:srgbClr val="191F24"/>
                          </a:solidFill>
                          <a:latin typeface="Meiryo"/>
                        </a:defRPr>
                      </a:pPr>
                      <a:r>
                        <a:t>段階別上限</a:t>
                      </a:r>
                    </a:p>
                  </a:txBody>
                  <a:tcPr anchor="ctr" marL="73152" marR="73152" marT="36576" marB="36576">
                    <a:solidFill>
                      <a:srgbClr val="FFFFFF"/>
                    </a:solidFill>
                  </a:tcPr>
                </a:tc>
                <a:tc>
                  <a:txBody>
                    <a:bodyPr/>
                    <a:lstStyle/>
                    <a:p>
                      <a:pPr algn="ctr">
                        <a:defRPr sz="1140" b="0">
                          <a:solidFill>
                            <a:srgbClr val="191F24"/>
                          </a:solidFill>
                          <a:latin typeface="Meiryo"/>
                        </a:defRPr>
                      </a:pPr>
                      <a:r>
                        <a:t>Stage 1 最大750秒、Stage 2 最大750秒</a:t>
                      </a:r>
                    </a:p>
                  </a:txBody>
                  <a:tcPr anchor="ctr" marL="73152" marR="73152" marT="36576" marB="36576">
                    <a:solidFill>
                      <a:srgbClr val="FFFFFF"/>
                    </a:solidFill>
                  </a:tcPr>
                </a:tc>
              </a:tr>
              <a:tr h="555752">
                <a:tc>
                  <a:txBody>
                    <a:bodyPr/>
                    <a:lstStyle/>
                    <a:p>
                      <a:pPr algn="l">
                        <a:defRPr sz="1140" b="1">
                          <a:solidFill>
                            <a:srgbClr val="191F24"/>
                          </a:solidFill>
                          <a:latin typeface="Meiryo"/>
                        </a:defRPr>
                      </a:pPr>
                      <a:r>
                        <a:t>実測時間（晴天）</a:t>
                      </a:r>
                    </a:p>
                  </a:txBody>
                  <a:tcPr anchor="ctr" marL="73152" marR="73152" marT="36576" marB="36576">
                    <a:solidFill>
                      <a:srgbClr val="F2F4F6"/>
                    </a:solidFill>
                  </a:tcPr>
                </a:tc>
                <a:tc>
                  <a:txBody>
                    <a:bodyPr/>
                    <a:lstStyle/>
                    <a:p>
                      <a:pPr algn="ctr">
                        <a:defRPr sz="1140" b="0">
                          <a:solidFill>
                            <a:srgbClr val="191F24"/>
                          </a:solidFill>
                          <a:latin typeface="Meiryo"/>
                        </a:defRPr>
                      </a:pPr>
                      <a:r>
                        <a:t>Stage 1 750.235秒 / Stage 2 0.046秒</a:t>
                      </a:r>
                    </a:p>
                  </a:txBody>
                  <a:tcPr anchor="ctr" marL="73152" marR="73152" marT="36576" marB="36576">
                    <a:solidFill>
                      <a:srgbClr val="F2F4F6"/>
                    </a:solidFill>
                  </a:tcPr>
                </a:tc>
              </a:tr>
              <a:tr h="555752">
                <a:tc>
                  <a:txBody>
                    <a:bodyPr/>
                    <a:lstStyle/>
                    <a:p>
                      <a:pPr algn="l">
                        <a:defRPr sz="1140" b="1">
                          <a:solidFill>
                            <a:srgbClr val="191F24"/>
                          </a:solidFill>
                          <a:latin typeface="Meiryo"/>
                        </a:defRPr>
                      </a:pPr>
                      <a:r>
                        <a:t>実測時間（雨天）</a:t>
                      </a:r>
                    </a:p>
                  </a:txBody>
                  <a:tcPr anchor="ctr" marL="73152" marR="73152" marT="36576" marB="36576">
                    <a:solidFill>
                      <a:srgbClr val="FFFFFF"/>
                    </a:solidFill>
                  </a:tcPr>
                </a:tc>
                <a:tc>
                  <a:txBody>
                    <a:bodyPr/>
                    <a:lstStyle/>
                    <a:p>
                      <a:pPr algn="ctr">
                        <a:defRPr sz="1140" b="0">
                          <a:solidFill>
                            <a:srgbClr val="191F24"/>
                          </a:solidFill>
                          <a:latin typeface="Meiryo"/>
                        </a:defRPr>
                      </a:pPr>
                      <a:r>
                        <a:t>Stage 1 750.220秒 / Stage 2 0.049秒</a:t>
                      </a:r>
                    </a:p>
                  </a:txBody>
                  <a:tcPr anchor="ctr" marL="73152" marR="73152" marT="36576" marB="36576">
                    <a:solidFill>
                      <a:srgbClr val="FFFFFF"/>
                    </a:solidFill>
                  </a:tcPr>
                </a:tc>
              </a:tr>
              <a:tr h="555752">
                <a:tc>
                  <a:txBody>
                    <a:bodyPr/>
                    <a:lstStyle/>
                    <a:p>
                      <a:pPr algn="l">
                        <a:defRPr sz="1140" b="1">
                          <a:solidFill>
                            <a:srgbClr val="191F24"/>
                          </a:solidFill>
                          <a:latin typeface="Meiryo"/>
                        </a:defRPr>
                      </a:pPr>
                      <a:r>
                        <a:t>MIPGap / seed</a:t>
                      </a:r>
                    </a:p>
                  </a:txBody>
                  <a:tcPr anchor="ctr" marL="73152" marR="73152" marT="36576" marB="36576">
                    <a:solidFill>
                      <a:srgbClr val="F2F4F6"/>
                    </a:solidFill>
                  </a:tcPr>
                </a:tc>
                <a:tc>
                  <a:txBody>
                    <a:bodyPr/>
                    <a:lstStyle/>
                    <a:p>
                      <a:pPr algn="ctr">
                        <a:defRPr sz="1140" b="0">
                          <a:solidFill>
                            <a:srgbClr val="191F24"/>
                          </a:solidFill>
                          <a:latin typeface="Meiryo"/>
                        </a:defRPr>
                      </a:pPr>
                      <a:r>
                        <a:t>10% / 42</a:t>
                      </a:r>
                    </a:p>
                  </a:txBody>
                  <a:tcPr anchor="ctr" marL="73152" marR="73152" marT="36576" marB="36576">
                    <a:solidFill>
                      <a:srgbClr val="F2F4F6"/>
                    </a:solidFill>
                  </a:tcPr>
                </a:tc>
              </a:tr>
              <a:tr h="555752">
                <a:tc>
                  <a:txBody>
                    <a:bodyPr/>
                    <a:lstStyle/>
                    <a:p>
                      <a:pPr algn="l">
                        <a:defRPr sz="1140" b="1">
                          <a:solidFill>
                            <a:srgbClr val="191F24"/>
                          </a:solidFill>
                          <a:latin typeface="Meiryo"/>
                        </a:defRPr>
                      </a:pPr>
                      <a:r>
                        <a:t>時間離散化</a:t>
                      </a:r>
                    </a:p>
                  </a:txBody>
                  <a:tcPr anchor="ctr" marL="73152" marR="73152" marT="36576" marB="36576">
                    <a:solidFill>
                      <a:srgbClr val="FFFFFF"/>
                    </a:solidFill>
                  </a:tcPr>
                </a:tc>
                <a:tc>
                  <a:txBody>
                    <a:bodyPr/>
                    <a:lstStyle/>
                    <a:p>
                      <a:pPr algn="ctr">
                        <a:defRPr sz="1140" b="0">
                          <a:solidFill>
                            <a:srgbClr val="191F24"/>
                          </a:solidFill>
                          <a:latin typeface="Meiryo"/>
                        </a:defRPr>
                      </a:pPr>
                      <a:r>
                        <a:t>60分×24枠、05:00開始</a:t>
                      </a:r>
                    </a:p>
                  </a:txBody>
                  <a:tcPr anchor="ctr" marL="73152" marR="73152" marT="36576" marB="36576">
                    <a:solidFill>
                      <a:srgbClr val="FFFFFF"/>
                    </a:solidFill>
                  </a:tcPr>
                </a:tc>
              </a:tr>
              <a:tr h="555752">
                <a:tc>
                  <a:txBody>
                    <a:bodyPr/>
                    <a:lstStyle/>
                    <a:p>
                      <a:pPr algn="l">
                        <a:defRPr sz="1140" b="1">
                          <a:solidFill>
                            <a:srgbClr val="191F24"/>
                          </a:solidFill>
                          <a:latin typeface="Meiryo"/>
                        </a:defRPr>
                      </a:pPr>
                      <a:r>
                        <a:t>研究用実行</a:t>
                      </a:r>
                    </a:p>
                  </a:txBody>
                  <a:tcPr anchor="ctr" marL="73152" marR="73152" marT="36576" marB="36576">
                    <a:solidFill>
                      <a:srgbClr val="F2F4F6"/>
                    </a:solidFill>
                  </a:tcPr>
                </a:tc>
                <a:tc>
                  <a:txBody>
                    <a:bodyPr/>
                    <a:lstStyle/>
                    <a:p>
                      <a:pPr algn="ctr">
                        <a:defRPr sz="1140" b="0">
                          <a:solidFill>
                            <a:srgbClr val="191F24"/>
                          </a:solidFill>
                          <a:latin typeface="Meiryo"/>
                        </a:defRPr>
                      </a:pPr>
                      <a:r>
                        <a:t>fallbackなし、postsolve repairなし</a:t>
                      </a:r>
                    </a:p>
                  </a:txBody>
                  <a:tcPr anchor="ctr" marL="73152" marR="73152" marT="36576" marB="36576">
                    <a:solidFill>
                      <a:srgbClr val="F2F4F6"/>
                    </a:solidFill>
                  </a:tcPr>
                </a:tc>
              </a:tr>
            </a:tbl>
          </a:graphicData>
        </a:graphic>
      </p:graphicFrame>
      <p:graphicFrame>
        <p:nvGraphicFramePr>
          <p:cNvPr id="10" name="Table 9"/>
          <p:cNvGraphicFramePr>
            <a:graphicFrameLocks noGrp="1"/>
          </p:cNvGraphicFramePr>
          <p:nvPr/>
        </p:nvGraphicFramePr>
        <p:xfrm>
          <a:off x="6172200" y="886968"/>
          <a:ext cx="5577839" cy="5001768"/>
        </p:xfrm>
        <a:graphic>
          <a:graphicData uri="http://schemas.openxmlformats.org/drawingml/2006/table">
            <a:tbl>
              <a:tblPr firstRow="1" bandRow="1">
                <a:tableStyleId>{5C22544A-7EE6-4342-B048-85BDC9FD1C3A}</a:tableStyleId>
              </a:tblPr>
              <a:tblGrid>
                <a:gridCol w="1901952"/>
                <a:gridCol w="3675887"/>
              </a:tblGrid>
              <a:tr h="500176">
                <a:tc>
                  <a:txBody>
                    <a:bodyPr/>
                    <a:lstStyle/>
                    <a:p>
                      <a:pPr algn="l">
                        <a:defRPr sz="1300" b="1">
                          <a:solidFill>
                            <a:srgbClr val="FFFFFF"/>
                          </a:solidFill>
                          <a:latin typeface="Meiryo"/>
                        </a:defRPr>
                      </a:pPr>
                      <a:r>
                        <a:t>運行・設備条件</a:t>
                      </a:r>
                    </a:p>
                  </a:txBody>
                  <a:tcPr anchor="ctr" marL="73152" marR="73152" marT="36576" marB="36576">
                    <a:solidFill>
                      <a:srgbClr val="003667"/>
                    </a:solidFill>
                  </a:tcPr>
                </a:tc>
                <a:tc>
                  <a:txBody>
                    <a:bodyPr/>
                    <a:lstStyle/>
                    <a:p>
                      <a:pPr algn="ctr">
                        <a:defRPr sz="1300" b="1">
                          <a:solidFill>
                            <a:srgbClr val="FFFFFF"/>
                          </a:solidFill>
                          <a:latin typeface="Meiryo"/>
                        </a:defRPr>
                      </a:pPr>
                      <a:r>
                        <a:t>設定値</a:t>
                      </a:r>
                    </a:p>
                  </a:txBody>
                  <a:tcPr anchor="ctr" marL="73152" marR="73152" marT="36576" marB="36576">
                    <a:solidFill>
                      <a:srgbClr val="003667"/>
                    </a:solidFill>
                  </a:tcPr>
                </a:tc>
              </a:tr>
              <a:tr h="500176">
                <a:tc>
                  <a:txBody>
                    <a:bodyPr/>
                    <a:lstStyle/>
                    <a:p>
                      <a:pPr algn="l">
                        <a:defRPr sz="1120" b="1">
                          <a:solidFill>
                            <a:srgbClr val="191F24"/>
                          </a:solidFill>
                          <a:latin typeface="Meiryo"/>
                        </a:defRPr>
                      </a:pPr>
                      <a:r>
                        <a:t>対象便 / 在庫</a:t>
                      </a:r>
                    </a:p>
                  </a:txBody>
                  <a:tcPr anchor="ctr" marL="73152" marR="73152" marT="36576" marB="36576">
                    <a:solidFill>
                      <a:srgbClr val="FFFFFF"/>
                    </a:solidFill>
                  </a:tcPr>
                </a:tc>
                <a:tc>
                  <a:txBody>
                    <a:bodyPr/>
                    <a:lstStyle/>
                    <a:p>
                      <a:pPr algn="ctr">
                        <a:defRPr sz="1120" b="0">
                          <a:solidFill>
                            <a:srgbClr val="191F24"/>
                          </a:solidFill>
                          <a:latin typeface="Meiryo"/>
                        </a:defRPr>
                      </a:pPr>
                      <a:r>
                        <a:t>264便 / EV35台・ICE25台</a:t>
                      </a:r>
                    </a:p>
                  </a:txBody>
                  <a:tcPr anchor="ctr" marL="73152" marR="73152" marT="36576" marB="36576">
                    <a:solidFill>
                      <a:srgbClr val="FFFFFF"/>
                    </a:solidFill>
                  </a:tcPr>
                </a:tc>
              </a:tr>
              <a:tr h="500176">
                <a:tc>
                  <a:txBody>
                    <a:bodyPr/>
                    <a:lstStyle/>
                    <a:p>
                      <a:pPr algn="l">
                        <a:defRPr sz="1120" b="1">
                          <a:solidFill>
                            <a:srgbClr val="191F24"/>
                          </a:solidFill>
                          <a:latin typeface="Meiryo"/>
                        </a:defRPr>
                      </a:pPr>
                      <a:r>
                        <a:t>仕業断片</a:t>
                      </a:r>
                    </a:p>
                  </a:txBody>
                  <a:tcPr anchor="ctr" marL="73152" marR="73152" marT="36576" marB="36576">
                    <a:solidFill>
                      <a:srgbClr val="F2F4F6"/>
                    </a:solidFill>
                  </a:tcPr>
                </a:tc>
                <a:tc>
                  <a:txBody>
                    <a:bodyPr/>
                    <a:lstStyle/>
                    <a:p>
                      <a:pPr algn="ctr">
                        <a:defRPr sz="1120" b="0">
                          <a:solidFill>
                            <a:srgbClr val="191F24"/>
                          </a:solidFill>
                          <a:latin typeface="Meiryo"/>
                        </a:defRPr>
                      </a:pPr>
                      <a:r>
                        <a:t>1車両1日1連続仕業</a:t>
                      </a:r>
                    </a:p>
                  </a:txBody>
                  <a:tcPr anchor="ctr" marL="73152" marR="73152" marT="36576" marB="36576">
                    <a:solidFill>
                      <a:srgbClr val="F2F4F6"/>
                    </a:solidFill>
                  </a:tcPr>
                </a:tc>
              </a:tr>
              <a:tr h="500176">
                <a:tc>
                  <a:txBody>
                    <a:bodyPr/>
                    <a:lstStyle/>
                    <a:p>
                      <a:pPr algn="l">
                        <a:defRPr sz="1120" b="1">
                          <a:solidFill>
                            <a:srgbClr val="191F24"/>
                          </a:solidFill>
                          <a:latin typeface="Meiryo"/>
                        </a:defRPr>
                      </a:pPr>
                      <a:r>
                        <a:t>充電器</a:t>
                      </a:r>
                    </a:p>
                  </a:txBody>
                  <a:tcPr anchor="ctr" marL="73152" marR="73152" marT="36576" marB="36576">
                    <a:solidFill>
                      <a:srgbClr val="FFFFFF"/>
                    </a:solidFill>
                  </a:tcPr>
                </a:tc>
                <a:tc>
                  <a:txBody>
                    <a:bodyPr/>
                    <a:lstStyle/>
                    <a:p>
                      <a:pPr algn="ctr">
                        <a:defRPr sz="1120" b="0">
                          <a:solidFill>
                            <a:srgbClr val="191F24"/>
                          </a:solidFill>
                          <a:latin typeface="Meiryo"/>
                        </a:defRPr>
                      </a:pPr>
                      <a:r>
                        <a:t>90 kW×5基、50 kW×5基（各1口）</a:t>
                      </a:r>
                    </a:p>
                  </a:txBody>
                  <a:tcPr anchor="ctr" marL="73152" marR="73152" marT="36576" marB="36576">
                    <a:solidFill>
                      <a:srgbClr val="FFFFFF"/>
                    </a:solidFill>
                  </a:tcPr>
                </a:tc>
              </a:tr>
              <a:tr h="500176">
                <a:tc>
                  <a:txBody>
                    <a:bodyPr/>
                    <a:lstStyle/>
                    <a:p>
                      <a:pPr algn="l">
                        <a:defRPr sz="1120" b="1">
                          <a:solidFill>
                            <a:srgbClr val="191F24"/>
                          </a:solidFill>
                          <a:latin typeface="Meiryo"/>
                        </a:defRPr>
                      </a:pPr>
                      <a:r>
                        <a:t>車庫受電上限</a:t>
                      </a:r>
                    </a:p>
                  </a:txBody>
                  <a:tcPr anchor="ctr" marL="73152" marR="73152" marT="36576" marB="36576">
                    <a:solidFill>
                      <a:srgbClr val="F2F4F6"/>
                    </a:solidFill>
                  </a:tcPr>
                </a:tc>
                <a:tc>
                  <a:txBody>
                    <a:bodyPr/>
                    <a:lstStyle/>
                    <a:p>
                      <a:pPr algn="ctr">
                        <a:defRPr sz="1120" b="0">
                          <a:solidFill>
                            <a:srgbClr val="191F24"/>
                          </a:solidFill>
                          <a:latin typeface="Meiryo"/>
                        </a:defRPr>
                      </a:pPr>
                      <a:r>
                        <a:t>1000 kW</a:t>
                      </a:r>
                    </a:p>
                  </a:txBody>
                  <a:tcPr anchor="ctr" marL="73152" marR="73152" marT="36576" marB="36576">
                    <a:solidFill>
                      <a:srgbClr val="F2F4F6"/>
                    </a:solidFill>
                  </a:tcPr>
                </a:tc>
              </a:tr>
              <a:tr h="500176">
                <a:tc>
                  <a:txBody>
                    <a:bodyPr/>
                    <a:lstStyle/>
                    <a:p>
                      <a:pPr algn="l">
                        <a:defRPr sz="1120" b="1">
                          <a:solidFill>
                            <a:srgbClr val="191F24"/>
                          </a:solidFill>
                          <a:latin typeface="Meiryo"/>
                        </a:defRPr>
                      </a:pPr>
                      <a:r>
                        <a:t>PV</a:t>
                      </a:r>
                    </a:p>
                  </a:txBody>
                  <a:tcPr anchor="ctr" marL="73152" marR="73152" marT="36576" marB="36576">
                    <a:solidFill>
                      <a:srgbClr val="FFFFFF"/>
                    </a:solidFill>
                  </a:tcPr>
                </a:tc>
                <a:tc>
                  <a:txBody>
                    <a:bodyPr/>
                    <a:lstStyle/>
                    <a:p>
                      <a:pPr algn="ctr">
                        <a:defRPr sz="1120" b="0">
                          <a:solidFill>
                            <a:srgbClr val="191F24"/>
                          </a:solidFill>
                          <a:latin typeface="Meiryo"/>
                        </a:defRPr>
                      </a:pPr>
                      <a:r>
                        <a:t>101.5 kW：晴天614.7 / 雨天101.1 kWh</a:t>
                      </a:r>
                    </a:p>
                  </a:txBody>
                  <a:tcPr anchor="ctr" marL="73152" marR="73152" marT="36576" marB="36576">
                    <a:solidFill>
                      <a:srgbClr val="FFFFFF"/>
                    </a:solidFill>
                  </a:tcPr>
                </a:tc>
              </a:tr>
              <a:tr h="500176">
                <a:tc>
                  <a:txBody>
                    <a:bodyPr/>
                    <a:lstStyle/>
                    <a:p>
                      <a:pPr algn="l">
                        <a:defRPr sz="1120" b="1">
                          <a:solidFill>
                            <a:srgbClr val="191F24"/>
                          </a:solidFill>
                          <a:latin typeface="Meiryo"/>
                        </a:defRPr>
                      </a:pPr>
                      <a:r>
                        <a:t>BESS</a:t>
                      </a:r>
                    </a:p>
                  </a:txBody>
                  <a:tcPr anchor="ctr" marL="73152" marR="73152" marT="36576" marB="36576">
                    <a:solidFill>
                      <a:srgbClr val="F2F4F6"/>
                    </a:solidFill>
                  </a:tcPr>
                </a:tc>
                <a:tc>
                  <a:txBody>
                    <a:bodyPr/>
                    <a:lstStyle/>
                    <a:p>
                      <a:pPr algn="ctr">
                        <a:defRPr sz="1120" b="0">
                          <a:solidFill>
                            <a:srgbClr val="191F24"/>
                          </a:solidFill>
                          <a:latin typeface="Meiryo"/>
                        </a:defRPr>
                      </a:pPr>
                      <a:r>
                        <a:t>600 kWh / 300 kW</a:t>
                      </a:r>
                    </a:p>
                  </a:txBody>
                  <a:tcPr anchor="ctr" marL="73152" marR="73152" marT="36576" marB="36576">
                    <a:solidFill>
                      <a:srgbClr val="F2F4F6"/>
                    </a:solidFill>
                  </a:tcPr>
                </a:tc>
              </a:tr>
              <a:tr h="500176">
                <a:tc>
                  <a:txBody>
                    <a:bodyPr/>
                    <a:lstStyle/>
                    <a:p>
                      <a:pPr algn="l">
                        <a:defRPr sz="1120" b="1">
                          <a:solidFill>
                            <a:srgbClr val="191F24"/>
                          </a:solidFill>
                          <a:latin typeface="Meiryo"/>
                        </a:defRPr>
                      </a:pPr>
                      <a:r>
                        <a:t>BESS SOC</a:t>
                      </a:r>
                    </a:p>
                  </a:txBody>
                  <a:tcPr anchor="ctr" marL="73152" marR="73152" marT="36576" marB="36576">
                    <a:solidFill>
                      <a:srgbClr val="FFFFFF"/>
                    </a:solidFill>
                  </a:tcPr>
                </a:tc>
                <a:tc>
                  <a:txBody>
                    <a:bodyPr/>
                    <a:lstStyle/>
                    <a:p>
                      <a:pPr algn="ctr">
                        <a:defRPr sz="1120" b="0">
                          <a:solidFill>
                            <a:srgbClr val="191F24"/>
                          </a:solidFill>
                          <a:latin typeface="Meiryo"/>
                        </a:defRPr>
                      </a:pPr>
                      <a:r>
                        <a:t>初期・終端300、範囲120–480 kWh</a:t>
                      </a:r>
                    </a:p>
                  </a:txBody>
                  <a:tcPr anchor="ctr" marL="73152" marR="73152" marT="36576" marB="36576">
                    <a:solidFill>
                      <a:srgbClr val="FFFFFF"/>
                    </a:solidFill>
                  </a:tcPr>
                </a:tc>
              </a:tr>
              <a:tr h="500176">
                <a:tc>
                  <a:txBody>
                    <a:bodyPr/>
                    <a:lstStyle/>
                    <a:p>
                      <a:pPr algn="l">
                        <a:defRPr sz="1120" b="1">
                          <a:solidFill>
                            <a:srgbClr val="191F24"/>
                          </a:solidFill>
                          <a:latin typeface="Meiryo"/>
                        </a:defRPr>
                      </a:pPr>
                      <a:r>
                        <a:t>BESS効率 / 経路</a:t>
                      </a:r>
                    </a:p>
                  </a:txBody>
                  <a:tcPr anchor="ctr" marL="73152" marR="73152" marT="36576" marB="36576">
                    <a:solidFill>
                      <a:srgbClr val="F2F4F6"/>
                    </a:solidFill>
                  </a:tcPr>
                </a:tc>
                <a:tc>
                  <a:txBody>
                    <a:bodyPr/>
                    <a:lstStyle/>
                    <a:p>
                      <a:pPr algn="ctr">
                        <a:defRPr sz="1120" b="0">
                          <a:solidFill>
                            <a:srgbClr val="191F24"/>
                          </a:solidFill>
                          <a:latin typeface="Meiryo"/>
                        </a:defRPr>
                      </a:pPr>
                      <a:r>
                        <a:t>充放電各95% / PV→BESS可、系統→BESS不可</a:t>
                      </a:r>
                    </a:p>
                  </a:txBody>
                  <a:tcPr anchor="ctr" marL="73152" marR="73152" marT="36576" marB="36576">
                    <a:solidFill>
                      <a:srgbClr val="F2F4F6"/>
                    </a:solidFill>
                  </a:tcPr>
                </a:tc>
              </a:tr>
              <a:tr h="500184">
                <a:tc>
                  <a:txBody>
                    <a:bodyPr/>
                    <a:lstStyle/>
                    <a:p>
                      <a:pPr algn="l">
                        <a:defRPr sz="1120" b="1">
                          <a:solidFill>
                            <a:srgbClr val="191F24"/>
                          </a:solidFill>
                          <a:latin typeface="Meiryo"/>
                        </a:defRPr>
                      </a:pPr>
                      <a:r>
                        <a:t>車両終端SOC</a:t>
                      </a:r>
                    </a:p>
                  </a:txBody>
                  <a:tcPr anchor="ctr" marL="73152" marR="73152" marT="36576" marB="36576">
                    <a:solidFill>
                      <a:srgbClr val="FFFFFF"/>
                    </a:solidFill>
                  </a:tcPr>
                </a:tc>
                <a:tc>
                  <a:txBody>
                    <a:bodyPr/>
                    <a:lstStyle/>
                    <a:p>
                      <a:pPr algn="ctr">
                        <a:defRPr sz="1120" b="0">
                          <a:solidFill>
                            <a:srgbClr val="191F24"/>
                          </a:solidFill>
                          <a:latin typeface="Meiryo"/>
                        </a:defRPr>
                      </a:pPr>
                      <a:r>
                        <a:t>下限20%、目標80%±20%（実効下限60%）</a:t>
                      </a:r>
                    </a:p>
                  </a:txBody>
                  <a:tcPr anchor="ctr" marL="73152" marR="73152" marT="36576" marB="36576">
                    <a:solidFill>
                      <a:srgbClr val="FFFFFF"/>
                    </a:solidFill>
                  </a:tcPr>
                </a:tc>
              </a:tr>
            </a:tbl>
          </a:graphicData>
        </a:graphic>
      </p:graphicFrame>
      <p:sp>
        <p:nvSpPr>
          <p:cNvPr id="11" name="Rectangle 10"/>
          <p:cNvSpPr/>
          <p:nvPr/>
        </p:nvSpPr>
        <p:spPr>
          <a:xfrm>
            <a:off x="320040" y="5943600"/>
            <a:ext cx="11548872" cy="493776"/>
          </a:xfrm>
          <a:prstGeom prst="rect">
            <a:avLst/>
          </a:prstGeom>
          <a:solidFill>
            <a:srgbClr val="FCE8E8"/>
          </a:solidFill>
          <a:ln>
            <a:solidFill>
              <a:srgbClr val="FC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C23737"/>
                </a:solidFill>
                <a:latin typeface="Meiryo"/>
              </a:defRPr>
            </a:pPr>
            <a:r>
              <a:t>要点｜依頼文のICE26台に対し、保存された実入力はICE25台。26台条件の結果は別途再計算が必要。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費用・環境パラメータ</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7/18</a:t>
            </a:r>
          </a:p>
        </p:txBody>
      </p:sp>
      <p:graphicFrame>
        <p:nvGraphicFramePr>
          <p:cNvPr id="9" name="Table 8"/>
          <p:cNvGraphicFramePr>
            <a:graphicFrameLocks noGrp="1"/>
          </p:cNvGraphicFramePr>
          <p:nvPr/>
        </p:nvGraphicFramePr>
        <p:xfrm>
          <a:off x="438912" y="914400"/>
          <a:ext cx="3127247" cy="4352544"/>
        </p:xfrm>
        <a:graphic>
          <a:graphicData uri="http://schemas.openxmlformats.org/drawingml/2006/table">
            <a:tbl>
              <a:tblPr firstRow="1" bandRow="1">
                <a:tableStyleId>{5C22544A-7EE6-4342-B048-85BDC9FD1C3A}</a:tableStyleId>
              </a:tblPr>
              <a:tblGrid>
                <a:gridCol w="1874519"/>
                <a:gridCol w="1252728"/>
              </a:tblGrid>
              <a:tr h="621792">
                <a:tc>
                  <a:txBody>
                    <a:bodyPr/>
                    <a:lstStyle/>
                    <a:p>
                      <a:pPr algn="l">
                        <a:defRPr sz="1300" b="1">
                          <a:solidFill>
                            <a:srgbClr val="FFFFFF"/>
                          </a:solidFill>
                          <a:latin typeface="Meiryo"/>
                        </a:defRPr>
                      </a:pPr>
                      <a:r>
                        <a:t>系統電力単価</a:t>
                      </a:r>
                    </a:p>
                  </a:txBody>
                  <a:tcPr anchor="ctr" marL="73152" marR="73152" marT="36576" marB="36576">
                    <a:solidFill>
                      <a:srgbClr val="003667"/>
                    </a:solidFill>
                  </a:tcPr>
                </a:tc>
                <a:tc>
                  <a:txBody>
                    <a:bodyPr/>
                    <a:lstStyle/>
                    <a:p>
                      <a:pPr algn="ctr">
                        <a:defRPr sz="1300" b="1">
                          <a:solidFill>
                            <a:srgbClr val="FFFFFF"/>
                          </a:solidFill>
                          <a:latin typeface="Meiryo"/>
                        </a:defRPr>
                      </a:pPr>
                      <a:r>
                        <a:t>円/kWh</a:t>
                      </a:r>
                    </a:p>
                  </a:txBody>
                  <a:tcPr anchor="ctr" marL="73152" marR="73152" marT="36576" marB="36576">
                    <a:solidFill>
                      <a:srgbClr val="003667"/>
                    </a:solidFill>
                  </a:tcPr>
                </a:tc>
              </a:tr>
              <a:tr h="621792">
                <a:tc>
                  <a:txBody>
                    <a:bodyPr/>
                    <a:lstStyle/>
                    <a:p>
                      <a:pPr algn="l">
                        <a:defRPr sz="1200" b="1">
                          <a:solidFill>
                            <a:srgbClr val="191F24"/>
                          </a:solidFill>
                          <a:latin typeface="Meiryo"/>
                        </a:defRPr>
                      </a:pPr>
                      <a:r>
                        <a:t>05:00–15:00</a:t>
                      </a:r>
                    </a:p>
                  </a:txBody>
                  <a:tcPr anchor="ctr" marL="73152" marR="73152" marT="36576" marB="36576">
                    <a:solidFill>
                      <a:srgbClr val="FFFFFF"/>
                    </a:solidFill>
                  </a:tcPr>
                </a:tc>
                <a:tc>
                  <a:txBody>
                    <a:bodyPr/>
                    <a:lstStyle/>
                    <a:p>
                      <a:pPr algn="ctr">
                        <a:defRPr sz="1200" b="0">
                          <a:solidFill>
                            <a:srgbClr val="191F24"/>
                          </a:solidFill>
                          <a:latin typeface="Meiryo"/>
                        </a:defRPr>
                      </a:pPr>
                      <a:r>
                        <a:t>18</a:t>
                      </a:r>
                    </a:p>
                  </a:txBody>
                  <a:tcPr anchor="ctr" marL="73152" marR="73152" marT="36576" marB="36576">
                    <a:solidFill>
                      <a:srgbClr val="FFFFFF"/>
                    </a:solidFill>
                  </a:tcPr>
                </a:tc>
              </a:tr>
              <a:tr h="621792">
                <a:tc>
                  <a:txBody>
                    <a:bodyPr/>
                    <a:lstStyle/>
                    <a:p>
                      <a:pPr algn="l">
                        <a:defRPr sz="1200" b="1">
                          <a:solidFill>
                            <a:srgbClr val="191F24"/>
                          </a:solidFill>
                          <a:latin typeface="Meiryo"/>
                        </a:defRPr>
                      </a:pPr>
                      <a:r>
                        <a:t>16:00–17:00</a:t>
                      </a:r>
                    </a:p>
                  </a:txBody>
                  <a:tcPr anchor="ctr" marL="73152" marR="73152" marT="36576" marB="36576">
                    <a:solidFill>
                      <a:srgbClr val="F2F4F6"/>
                    </a:solidFill>
                  </a:tcPr>
                </a:tc>
                <a:tc>
                  <a:txBody>
                    <a:bodyPr/>
                    <a:lstStyle/>
                    <a:p>
                      <a:pPr algn="ctr">
                        <a:defRPr sz="1200" b="0">
                          <a:solidFill>
                            <a:srgbClr val="191F24"/>
                          </a:solidFill>
                          <a:latin typeface="Meiryo"/>
                        </a:defRPr>
                      </a:pPr>
                      <a:r>
                        <a:t>22</a:t>
                      </a:r>
                    </a:p>
                  </a:txBody>
                  <a:tcPr anchor="ctr" marL="73152" marR="73152" marT="36576" marB="36576">
                    <a:solidFill>
                      <a:srgbClr val="F2F4F6"/>
                    </a:solidFill>
                  </a:tcPr>
                </a:tc>
              </a:tr>
              <a:tr h="621792">
                <a:tc>
                  <a:txBody>
                    <a:bodyPr/>
                    <a:lstStyle/>
                    <a:p>
                      <a:pPr algn="l">
                        <a:defRPr sz="1200" b="1">
                          <a:solidFill>
                            <a:srgbClr val="191F24"/>
                          </a:solidFill>
                          <a:latin typeface="Meiryo"/>
                        </a:defRPr>
                      </a:pPr>
                      <a:r>
                        <a:t>18:00–23:00</a:t>
                      </a:r>
                    </a:p>
                  </a:txBody>
                  <a:tcPr anchor="ctr" marL="73152" marR="73152" marT="36576" marB="36576">
                    <a:solidFill>
                      <a:srgbClr val="FFFFFF"/>
                    </a:solidFill>
                  </a:tcPr>
                </a:tc>
                <a:tc>
                  <a:txBody>
                    <a:bodyPr/>
                    <a:lstStyle/>
                    <a:p>
                      <a:pPr algn="ctr">
                        <a:defRPr sz="1200" b="0">
                          <a:solidFill>
                            <a:srgbClr val="191F24"/>
                          </a:solidFill>
                          <a:latin typeface="Meiryo"/>
                        </a:defRPr>
                      </a:pPr>
                      <a:r>
                        <a:t>19</a:t>
                      </a:r>
                    </a:p>
                  </a:txBody>
                  <a:tcPr anchor="ctr" marL="73152" marR="73152" marT="36576" marB="36576">
                    <a:solidFill>
                      <a:srgbClr val="FFFFFF"/>
                    </a:solidFill>
                  </a:tcPr>
                </a:tc>
              </a:tr>
              <a:tr h="621792">
                <a:tc>
                  <a:txBody>
                    <a:bodyPr/>
                    <a:lstStyle/>
                    <a:p>
                      <a:pPr algn="l">
                        <a:defRPr sz="1200" b="1">
                          <a:solidFill>
                            <a:srgbClr val="191F24"/>
                          </a:solidFill>
                          <a:latin typeface="Meiryo"/>
                        </a:defRPr>
                      </a:pPr>
                      <a:r>
                        <a:t>00:00–04:00</a:t>
                      </a:r>
                    </a:p>
                  </a:txBody>
                  <a:tcPr anchor="ctr" marL="73152" marR="73152" marT="36576" marB="36576">
                    <a:solidFill>
                      <a:srgbClr val="F2F4F6"/>
                    </a:solidFill>
                  </a:tcPr>
                </a:tc>
                <a:tc>
                  <a:txBody>
                    <a:bodyPr/>
                    <a:lstStyle/>
                    <a:p>
                      <a:pPr algn="ctr">
                        <a:defRPr sz="1200" b="0">
                          <a:solidFill>
                            <a:srgbClr val="191F24"/>
                          </a:solidFill>
                          <a:latin typeface="Meiryo"/>
                        </a:defRPr>
                      </a:pPr>
                      <a:r>
                        <a:t>18</a:t>
                      </a:r>
                    </a:p>
                  </a:txBody>
                  <a:tcPr anchor="ctr" marL="73152" marR="73152" marT="36576" marB="36576">
                    <a:solidFill>
                      <a:srgbClr val="F2F4F6"/>
                    </a:solidFill>
                  </a:tcPr>
                </a:tc>
              </a:tr>
              <a:tr h="621792">
                <a:tc>
                  <a:txBody>
                    <a:bodyPr/>
                    <a:lstStyle/>
                    <a:p>
                      <a:pPr algn="l">
                        <a:defRPr sz="1200" b="1">
                          <a:solidFill>
                            <a:srgbClr val="191F24"/>
                          </a:solidFill>
                          <a:latin typeface="Meiryo"/>
                        </a:defRPr>
                      </a:pPr>
                      <a:r>
                        <a:t>需要料金</a:t>
                      </a:r>
                    </a:p>
                  </a:txBody>
                  <a:tcPr anchor="ctr" marL="73152" marR="73152" marT="36576" marB="36576">
                    <a:solidFill>
                      <a:srgbClr val="FFFFFF"/>
                    </a:solidFill>
                  </a:tcPr>
                </a:tc>
                <a:tc>
                  <a:txBody>
                    <a:bodyPr/>
                    <a:lstStyle/>
                    <a:p>
                      <a:pPr algn="ctr">
                        <a:defRPr sz="1200" b="0">
                          <a:solidFill>
                            <a:srgbClr val="191F24"/>
                          </a:solidFill>
                          <a:latin typeface="Meiryo"/>
                        </a:defRPr>
                      </a:pPr>
                      <a:r>
                        <a:t>1,200円/kW・月</a:t>
                      </a:r>
                    </a:p>
                  </a:txBody>
                  <a:tcPr anchor="ctr" marL="73152" marR="73152" marT="36576" marB="36576">
                    <a:solidFill>
                      <a:srgbClr val="FFFFFF"/>
                    </a:solidFill>
                  </a:tcPr>
                </a:tc>
              </a:tr>
              <a:tr h="621792">
                <a:tc>
                  <a:txBody>
                    <a:bodyPr/>
                    <a:lstStyle/>
                    <a:p>
                      <a:pPr algn="l">
                        <a:defRPr sz="1200" b="1">
                          <a:solidFill>
                            <a:srgbClr val="191F24"/>
                          </a:solidFill>
                          <a:latin typeface="Meiryo"/>
                        </a:defRPr>
                      </a:pPr>
                      <a:r>
                        <a:t>1日換算</a:t>
                      </a:r>
                    </a:p>
                  </a:txBody>
                  <a:tcPr anchor="ctr" marL="73152" marR="73152" marT="36576" marB="36576">
                    <a:solidFill>
                      <a:srgbClr val="F2F4F6"/>
                    </a:solidFill>
                  </a:tcPr>
                </a:tc>
                <a:tc>
                  <a:txBody>
                    <a:bodyPr/>
                    <a:lstStyle/>
                    <a:p>
                      <a:pPr algn="ctr">
                        <a:defRPr sz="1200" b="0">
                          <a:solidFill>
                            <a:srgbClr val="191F24"/>
                          </a:solidFill>
                          <a:latin typeface="Meiryo"/>
                        </a:defRPr>
                      </a:pPr>
                      <a:r>
                        <a:t>40円/kW</a:t>
                      </a:r>
                    </a:p>
                  </a:txBody>
                  <a:tcPr anchor="ctr" marL="73152" marR="73152" marT="36576" marB="36576">
                    <a:solidFill>
                      <a:srgbClr val="F2F4F6"/>
                    </a:solidFill>
                  </a:tcPr>
                </a:tc>
              </a:tr>
            </a:tbl>
          </a:graphicData>
        </a:graphic>
      </p:graphicFrame>
      <p:graphicFrame>
        <p:nvGraphicFramePr>
          <p:cNvPr id="10" name="Table 9"/>
          <p:cNvGraphicFramePr>
            <a:graphicFrameLocks noGrp="1"/>
          </p:cNvGraphicFramePr>
          <p:nvPr/>
        </p:nvGraphicFramePr>
        <p:xfrm>
          <a:off x="3749039" y="914400"/>
          <a:ext cx="3429000" cy="4352544"/>
        </p:xfrm>
        <a:graphic>
          <a:graphicData uri="http://schemas.openxmlformats.org/drawingml/2006/table">
            <a:tbl>
              <a:tblPr firstRow="1" bandRow="1">
                <a:tableStyleId>{5C22544A-7EE6-4342-B048-85BDC9FD1C3A}</a:tableStyleId>
              </a:tblPr>
              <a:tblGrid>
                <a:gridCol w="1847088"/>
                <a:gridCol w="1581912"/>
              </a:tblGrid>
              <a:tr h="544068">
                <a:tc>
                  <a:txBody>
                    <a:bodyPr/>
                    <a:lstStyle/>
                    <a:p>
                      <a:pPr algn="l">
                        <a:defRPr sz="1300" b="1">
                          <a:solidFill>
                            <a:srgbClr val="FFFFFF"/>
                          </a:solidFill>
                          <a:latin typeface="Meiryo"/>
                        </a:defRPr>
                      </a:pPr>
                      <a:r>
                        <a:t>その他の単価</a:t>
                      </a:r>
                    </a:p>
                  </a:txBody>
                  <a:tcPr anchor="ctr" marL="73152" marR="73152" marT="36576" marB="36576">
                    <a:solidFill>
                      <a:srgbClr val="003667"/>
                    </a:solidFill>
                  </a:tcPr>
                </a:tc>
                <a:tc>
                  <a:txBody>
                    <a:bodyPr/>
                    <a:lstStyle/>
                    <a:p>
                      <a:pPr algn="ctr">
                        <a:defRPr sz="1300" b="1">
                          <a:solidFill>
                            <a:srgbClr val="FFFFFF"/>
                          </a:solidFill>
                          <a:latin typeface="Meiryo"/>
                        </a:defRPr>
                      </a:pPr>
                      <a:r>
                        <a:t>設定値</a:t>
                      </a:r>
                    </a:p>
                  </a:txBody>
                  <a:tcPr anchor="ctr" marL="73152" marR="73152" marT="36576" marB="36576">
                    <a:solidFill>
                      <a:srgbClr val="003667"/>
                    </a:solidFill>
                  </a:tcPr>
                </a:tc>
              </a:tr>
              <a:tr h="544068">
                <a:tc>
                  <a:txBody>
                    <a:bodyPr/>
                    <a:lstStyle/>
                    <a:p>
                      <a:pPr algn="l">
                        <a:defRPr sz="1180" b="1">
                          <a:solidFill>
                            <a:srgbClr val="191F24"/>
                          </a:solidFill>
                          <a:latin typeface="Meiryo"/>
                        </a:defRPr>
                      </a:pPr>
                      <a:r>
                        <a:t>軽油</a:t>
                      </a:r>
                    </a:p>
                  </a:txBody>
                  <a:tcPr anchor="ctr" marL="73152" marR="73152" marT="36576" marB="36576">
                    <a:solidFill>
                      <a:srgbClr val="FFFFFF"/>
                    </a:solidFill>
                  </a:tcPr>
                </a:tc>
                <a:tc>
                  <a:txBody>
                    <a:bodyPr/>
                    <a:lstStyle/>
                    <a:p>
                      <a:pPr algn="ctr">
                        <a:defRPr sz="1180" b="0">
                          <a:solidFill>
                            <a:srgbClr val="191F24"/>
                          </a:solidFill>
                          <a:latin typeface="Meiryo"/>
                        </a:defRPr>
                      </a:pPr>
                      <a:r>
                        <a:t>150円/L</a:t>
                      </a:r>
                    </a:p>
                  </a:txBody>
                  <a:tcPr anchor="ctr" marL="73152" marR="73152" marT="36576" marB="36576">
                    <a:solidFill>
                      <a:srgbClr val="FFFFFF"/>
                    </a:solidFill>
                  </a:tcPr>
                </a:tc>
              </a:tr>
              <a:tr h="544068">
                <a:tc>
                  <a:txBody>
                    <a:bodyPr/>
                    <a:lstStyle/>
                    <a:p>
                      <a:pPr algn="l">
                        <a:defRPr sz="1180" b="1">
                          <a:solidFill>
                            <a:srgbClr val="191F24"/>
                          </a:solidFill>
                          <a:latin typeface="Meiryo"/>
                        </a:defRPr>
                      </a:pPr>
                      <a:r>
                        <a:t>CO₂価格</a:t>
                      </a:r>
                    </a:p>
                  </a:txBody>
                  <a:tcPr anchor="ctr" marL="73152" marR="73152" marT="36576" marB="36576">
                    <a:solidFill>
                      <a:srgbClr val="F2F4F6"/>
                    </a:solidFill>
                  </a:tcPr>
                </a:tc>
                <a:tc>
                  <a:txBody>
                    <a:bodyPr/>
                    <a:lstStyle/>
                    <a:p>
                      <a:pPr algn="ctr">
                        <a:defRPr sz="1180" b="0">
                          <a:solidFill>
                            <a:srgbClr val="191F24"/>
                          </a:solidFill>
                          <a:latin typeface="Meiryo"/>
                        </a:defRPr>
                      </a:pPr>
                      <a:r>
                        <a:t>1円/kg-CO₂</a:t>
                      </a:r>
                    </a:p>
                  </a:txBody>
                  <a:tcPr anchor="ctr" marL="73152" marR="73152" marT="36576" marB="36576">
                    <a:solidFill>
                      <a:srgbClr val="F2F4F6"/>
                    </a:solidFill>
                  </a:tcPr>
                </a:tc>
              </a:tr>
              <a:tr h="544068">
                <a:tc>
                  <a:txBody>
                    <a:bodyPr/>
                    <a:lstStyle/>
                    <a:p>
                      <a:pPr algn="l">
                        <a:defRPr sz="1180" b="1">
                          <a:solidFill>
                            <a:srgbClr val="191F24"/>
                          </a:solidFill>
                          <a:latin typeface="Meiryo"/>
                        </a:defRPr>
                      </a:pPr>
                      <a:r>
                        <a:t>系統CO₂係数</a:t>
                      </a:r>
                    </a:p>
                  </a:txBody>
                  <a:tcPr anchor="ctr" marL="73152" marR="73152" marT="36576" marB="36576">
                    <a:solidFill>
                      <a:srgbClr val="FFFFFF"/>
                    </a:solidFill>
                  </a:tcPr>
                </a:tc>
                <a:tc>
                  <a:txBody>
                    <a:bodyPr/>
                    <a:lstStyle/>
                    <a:p>
                      <a:pPr algn="ctr">
                        <a:defRPr sz="1180" b="0">
                          <a:solidFill>
                            <a:srgbClr val="191F24"/>
                          </a:solidFill>
                          <a:latin typeface="Meiryo"/>
                        </a:defRPr>
                      </a:pPr>
                      <a:r>
                        <a:t>0.5 kg-CO₂/kWh</a:t>
                      </a:r>
                    </a:p>
                  </a:txBody>
                  <a:tcPr anchor="ctr" marL="73152" marR="73152" marT="36576" marB="36576">
                    <a:solidFill>
                      <a:srgbClr val="FFFFFF"/>
                    </a:solidFill>
                  </a:tcPr>
                </a:tc>
              </a:tr>
              <a:tr h="544068">
                <a:tc>
                  <a:txBody>
                    <a:bodyPr/>
                    <a:lstStyle/>
                    <a:p>
                      <a:pPr algn="l">
                        <a:defRPr sz="1180" b="1">
                          <a:solidFill>
                            <a:srgbClr val="191F24"/>
                          </a:solidFill>
                          <a:latin typeface="Meiryo"/>
                        </a:defRPr>
                      </a:pPr>
                      <a:r>
                        <a:t>使用車両費</a:t>
                      </a:r>
                    </a:p>
                  </a:txBody>
                  <a:tcPr anchor="ctr" marL="73152" marR="73152" marT="36576" marB="36576">
                    <a:solidFill>
                      <a:srgbClr val="F2F4F6"/>
                    </a:solidFill>
                  </a:tcPr>
                </a:tc>
                <a:tc>
                  <a:txBody>
                    <a:bodyPr/>
                    <a:lstStyle/>
                    <a:p>
                      <a:pPr algn="ctr">
                        <a:defRPr sz="1180" b="0">
                          <a:solidFill>
                            <a:srgbClr val="191F24"/>
                          </a:solidFill>
                          <a:latin typeface="Meiryo"/>
                        </a:defRPr>
                      </a:pPr>
                      <a:r>
                        <a:t>20,000円/台・日</a:t>
                      </a:r>
                    </a:p>
                  </a:txBody>
                  <a:tcPr anchor="ctr" marL="73152" marR="73152" marT="36576" marB="36576">
                    <a:solidFill>
                      <a:srgbClr val="F2F4F6"/>
                    </a:solidFill>
                  </a:tcPr>
                </a:tc>
              </a:tr>
              <a:tr h="544068">
                <a:tc>
                  <a:txBody>
                    <a:bodyPr/>
                    <a:lstStyle/>
                    <a:p>
                      <a:pPr algn="l">
                        <a:defRPr sz="1180" b="1">
                          <a:solidFill>
                            <a:srgbClr val="191F24"/>
                          </a:solidFill>
                          <a:latin typeface="Meiryo"/>
                        </a:defRPr>
                      </a:pPr>
                      <a:r>
                        <a:t>PV限界単価</a:t>
                      </a:r>
                    </a:p>
                  </a:txBody>
                  <a:tcPr anchor="ctr" marL="73152" marR="73152" marT="36576" marB="36576">
                    <a:solidFill>
                      <a:srgbClr val="FFFFFF"/>
                    </a:solidFill>
                  </a:tcPr>
                </a:tc>
                <a:tc>
                  <a:txBody>
                    <a:bodyPr/>
                    <a:lstStyle/>
                    <a:p>
                      <a:pPr algn="ctr">
                        <a:defRPr sz="1180" b="0">
                          <a:solidFill>
                            <a:srgbClr val="191F24"/>
                          </a:solidFill>
                          <a:latin typeface="Meiryo"/>
                        </a:defRPr>
                      </a:pPr>
                      <a:r>
                        <a:t>0円/kWh</a:t>
                      </a:r>
                    </a:p>
                  </a:txBody>
                  <a:tcPr anchor="ctr" marL="73152" marR="73152" marT="36576" marB="36576">
                    <a:solidFill>
                      <a:srgbClr val="FFFFFF"/>
                    </a:solidFill>
                  </a:tcPr>
                </a:tc>
              </a:tr>
              <a:tr h="544068">
                <a:tc>
                  <a:txBody>
                    <a:bodyPr/>
                    <a:lstStyle/>
                    <a:p>
                      <a:pPr algn="l">
                        <a:defRPr sz="1180" b="1">
                          <a:solidFill>
                            <a:srgbClr val="191F24"/>
                          </a:solidFill>
                          <a:latin typeface="Meiryo"/>
                        </a:defRPr>
                      </a:pPr>
                      <a:r>
                        <a:t>PV抑制</a:t>
                      </a:r>
                    </a:p>
                  </a:txBody>
                  <a:tcPr anchor="ctr" marL="73152" marR="73152" marT="36576" marB="36576">
                    <a:solidFill>
                      <a:srgbClr val="F2F4F6"/>
                    </a:solidFill>
                  </a:tcPr>
                </a:tc>
                <a:tc>
                  <a:txBody>
                    <a:bodyPr/>
                    <a:lstStyle/>
                    <a:p>
                      <a:pPr algn="ctr">
                        <a:defRPr sz="1180" b="0">
                          <a:solidFill>
                            <a:srgbClr val="191F24"/>
                          </a:solidFill>
                          <a:latin typeface="Meiryo"/>
                        </a:defRPr>
                      </a:pPr>
                      <a:r>
                        <a:t>0円/kWh</a:t>
                      </a:r>
                    </a:p>
                  </a:txBody>
                  <a:tcPr anchor="ctr" marL="73152" marR="73152" marT="36576" marB="36576">
                    <a:solidFill>
                      <a:srgbClr val="F2F4F6"/>
                    </a:solidFill>
                  </a:tcPr>
                </a:tc>
              </a:tr>
              <a:tr h="544068">
                <a:tc>
                  <a:txBody>
                    <a:bodyPr/>
                    <a:lstStyle/>
                    <a:p>
                      <a:pPr algn="l">
                        <a:defRPr sz="1180" b="1">
                          <a:solidFill>
                            <a:srgbClr val="191F24"/>
                          </a:solidFill>
                          <a:latin typeface="Meiryo"/>
                        </a:defRPr>
                      </a:pPr>
                      <a:r>
                        <a:t>BESSサイクル費</a:t>
                      </a:r>
                    </a:p>
                  </a:txBody>
                  <a:tcPr anchor="ctr" marL="73152" marR="73152" marT="36576" marB="36576">
                    <a:solidFill>
                      <a:srgbClr val="FFFFFF"/>
                    </a:solidFill>
                  </a:tcPr>
                </a:tc>
                <a:tc>
                  <a:txBody>
                    <a:bodyPr/>
                    <a:lstStyle/>
                    <a:p>
                      <a:pPr algn="ctr">
                        <a:defRPr sz="1180" b="0">
                          <a:solidFill>
                            <a:srgbClr val="191F24"/>
                          </a:solidFill>
                          <a:latin typeface="Meiryo"/>
                        </a:defRPr>
                      </a:pPr>
                      <a:r>
                        <a:t>0円/kWh</a:t>
                      </a:r>
                    </a:p>
                  </a:txBody>
                  <a:tcPr anchor="ctr" marL="73152" marR="73152" marT="36576" marB="36576">
                    <a:solidFill>
                      <a:srgbClr val="FFFFFF"/>
                    </a:solidFill>
                  </a:tcPr>
                </a:tc>
              </a:tr>
            </a:tbl>
          </a:graphicData>
        </a:graphic>
      </p:graphicFrame>
      <p:sp>
        <p:nvSpPr>
          <p:cNvPr id="11" name="Rectangle 10"/>
          <p:cNvSpPr/>
          <p:nvPr/>
        </p:nvSpPr>
        <p:spPr>
          <a:xfrm>
            <a:off x="7388352" y="914400"/>
            <a:ext cx="4361688" cy="4352544"/>
          </a:xfrm>
          <a:prstGeom prst="rect">
            <a:avLst/>
          </a:prstGeom>
          <a:solidFill>
            <a:srgbClr val="FFFFFF"/>
          </a:solidFill>
          <a:ln>
            <a:solidFill>
              <a:srgbClr val="00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35240" y="1143000"/>
            <a:ext cx="3867912" cy="347472"/>
          </a:xfrm>
          <a:prstGeom prst="rect">
            <a:avLst/>
          </a:prstGeom>
          <a:noFill/>
        </p:spPr>
        <p:txBody>
          <a:bodyPr wrap="square" lIns="36576" rIns="36576" tIns="36576" bIns="36576" anchor="t">
            <a:spAutoFit/>
          </a:bodyPr>
          <a:lstStyle/>
          <a:p>
            <a:pPr algn="ctr">
              <a:defRPr sz="1700" b="1">
                <a:solidFill>
                  <a:srgbClr val="003667"/>
                </a:solidFill>
                <a:latin typeface="Meiryo"/>
              </a:defRPr>
            </a:pPr>
            <a:r>
              <a:t>費用比較で用いる内訳</a:t>
            </a:r>
          </a:p>
        </p:txBody>
      </p:sp>
      <p:sp>
        <p:nvSpPr>
          <p:cNvPr id="13" name="TextBox 12"/>
          <p:cNvSpPr txBox="1"/>
          <p:nvPr/>
        </p:nvSpPr>
        <p:spPr>
          <a:xfrm>
            <a:off x="7708392" y="1682496"/>
            <a:ext cx="3712463" cy="804672"/>
          </a:xfrm>
          <a:prstGeom prst="rect">
            <a:avLst/>
          </a:prstGeom>
          <a:noFill/>
        </p:spPr>
        <p:txBody>
          <a:bodyPr wrap="square" lIns="36576" rIns="36576" tIns="36576" bIns="36576" anchor="ctr">
            <a:spAutoFit/>
          </a:bodyPr>
          <a:lstStyle/>
          <a:p>
            <a:pPr algn="ctr">
              <a:defRPr sz="1650" b="1">
                <a:solidFill>
                  <a:srgbClr val="191F24"/>
                </a:solidFill>
                <a:latin typeface="Meiryo"/>
              </a:defRPr>
            </a:pPr>
            <a:r>
              <a:t>C総 = C電力 + C燃料 + C需要</a:t>
            </a:r>
            <a:br/>
            <a:r>
              <a:t>　　+ CCO₂ + C使用車両</a:t>
            </a:r>
          </a:p>
        </p:txBody>
      </p:sp>
      <p:sp>
        <p:nvSpPr>
          <p:cNvPr id="14" name="TextBox 13"/>
          <p:cNvSpPr txBox="1"/>
          <p:nvPr/>
        </p:nvSpPr>
        <p:spPr>
          <a:xfrm>
            <a:off x="7699248" y="2761488"/>
            <a:ext cx="3694176" cy="2048256"/>
          </a:xfrm>
          <a:prstGeom prst="rect">
            <a:avLst/>
          </a:prstGeom>
          <a:noFill/>
        </p:spPr>
        <p:txBody>
          <a:bodyPr wrap="square" lIns="36576" rIns="36576" tIns="36576" bIns="36576" anchor="t">
            <a:spAutoFit/>
          </a:bodyPr>
          <a:lstStyle/>
          <a:p>
            <a:pPr algn="l">
              <a:defRPr sz="1250" b="0">
                <a:solidFill>
                  <a:srgbClr val="191F24"/>
                </a:solidFill>
                <a:latin typeface="Meiryo"/>
              </a:defRPr>
            </a:pPr>
            <a:r>
              <a:t>有効：電力・燃料・需要料金・CO₂・使用車両費</a:t>
            </a:r>
            <a:br/>
            <a:r>
              <a:t>重み：energy=1、fuel=1、demand=1、usage=1</a:t>
            </a:r>
            <a:br/>
            <a:r>
              <a:t>　　　vehicle fixed=0、degradation=0</a:t>
            </a:r>
            <a:br/>
            <a:br/>
            <a:r>
              <a:t>PV単価、PV抑制、BESSサイクル費が0円なのは、今回のシナリオ設定であり、システム固有の定数ではない。</a:t>
            </a:r>
          </a:p>
        </p:txBody>
      </p:sp>
      <p:sp>
        <p:nvSpPr>
          <p:cNvPr id="15" name="Rectangle 14"/>
          <p:cNvSpPr/>
          <p:nvPr/>
        </p:nvSpPr>
        <p:spPr>
          <a:xfrm>
            <a:off x="320040" y="5943600"/>
            <a:ext cx="11548872" cy="493776"/>
          </a:xfrm>
          <a:prstGeom prst="rect">
            <a:avLst/>
          </a:prstGeom>
          <a:solidFill>
            <a:srgbClr val="E1EFFA"/>
          </a:solidFill>
          <a:ln>
            <a:solidFill>
              <a:srgbClr val="E1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要点｜需要料金は購入電力量の合計ではなく、1日の最大系統受電電力[kW]に40円/kWを乗じる。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EV・エンジンバスの使用結果</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8/18</a:t>
            </a:r>
          </a:p>
        </p:txBody>
      </p:sp>
      <p:pic>
        <p:nvPicPr>
          <p:cNvPr id="9" name="Picture 8" descr="vehicle_use_comparison.png"/>
          <p:cNvPicPr>
            <a:picLocks noChangeAspect="1"/>
          </p:cNvPicPr>
          <p:nvPr/>
        </p:nvPicPr>
        <p:blipFill>
          <a:blip r:embed="rId2"/>
          <a:stretch>
            <a:fillRect/>
          </a:stretch>
        </p:blipFill>
        <p:spPr>
          <a:xfrm>
            <a:off x="502920" y="841248"/>
            <a:ext cx="7818120" cy="4526280"/>
          </a:xfrm>
          <a:prstGeom prst="rect">
            <a:avLst/>
          </a:prstGeom>
        </p:spPr>
      </p:pic>
      <p:sp>
        <p:nvSpPr>
          <p:cNvPr id="10" name="Rectangle 9"/>
          <p:cNvSpPr/>
          <p:nvPr/>
        </p:nvSpPr>
        <p:spPr>
          <a:xfrm>
            <a:off x="8549640" y="1042415"/>
            <a:ext cx="3182112" cy="4041648"/>
          </a:xfrm>
          <a:prstGeom prst="rect">
            <a:avLst/>
          </a:prstGeom>
          <a:solidFill>
            <a:srgbClr val="E1EFFA"/>
          </a:solidFill>
          <a:ln>
            <a:solidFill>
              <a:srgbClr val="00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0" y="1261872"/>
            <a:ext cx="2724912" cy="329184"/>
          </a:xfrm>
          <a:prstGeom prst="rect">
            <a:avLst/>
          </a:prstGeom>
          <a:noFill/>
        </p:spPr>
        <p:txBody>
          <a:bodyPr wrap="square" lIns="36576" rIns="36576" tIns="36576" bIns="36576" anchor="t">
            <a:spAutoFit/>
          </a:bodyPr>
          <a:lstStyle/>
          <a:p>
            <a:pPr algn="ctr">
              <a:defRPr sz="1800" b="1">
                <a:solidFill>
                  <a:srgbClr val="003667"/>
                </a:solidFill>
                <a:latin typeface="Meiryo"/>
              </a:defRPr>
            </a:pPr>
            <a:r>
              <a:t>確認結果</a:t>
            </a:r>
          </a:p>
        </p:txBody>
      </p:sp>
      <p:sp>
        <p:nvSpPr>
          <p:cNvPr id="12" name="TextBox 11"/>
          <p:cNvSpPr txBox="1"/>
          <p:nvPr/>
        </p:nvSpPr>
        <p:spPr>
          <a:xfrm>
            <a:off x="8805672" y="1783080"/>
            <a:ext cx="2670048" cy="2304288"/>
          </a:xfrm>
          <a:prstGeom prst="rect">
            <a:avLst/>
          </a:prstGeom>
          <a:noFill/>
        </p:spPr>
        <p:txBody>
          <a:bodyPr wrap="square">
            <a:spAutoFit/>
          </a:bodyPr>
          <a:lstStyle/>
          <a:p>
            <a:pPr>
              <a:spcAft>
                <a:spcPts val="900"/>
              </a:spcAft>
              <a:defRPr sz="1420">
                <a:solidFill>
                  <a:srgbClr val="191F24"/>
                </a:solidFill>
                <a:latin typeface="Meiryo"/>
              </a:defRPr>
            </a:pPr>
            <a:r>
              <a:t>● 晴天：EV16台・ICE16台</a:t>
            </a:r>
          </a:p>
          <a:p>
            <a:pPr>
              <a:spcAft>
                <a:spcPts val="900"/>
              </a:spcAft>
              <a:defRPr sz="1420">
                <a:solidFill>
                  <a:srgbClr val="191F24"/>
                </a:solidFill>
                <a:latin typeface="Meiryo"/>
              </a:defRPr>
            </a:pPr>
            <a:r>
              <a:t>● 雨天：EV15台・ICE17台</a:t>
            </a:r>
          </a:p>
          <a:p>
            <a:pPr>
              <a:spcAft>
                <a:spcPts val="900"/>
              </a:spcAft>
              <a:defRPr sz="1420">
                <a:solidFill>
                  <a:srgbClr val="191F24"/>
                </a:solidFill>
                <a:latin typeface="Meiryo"/>
              </a:defRPr>
            </a:pPr>
            <a:r>
              <a:t>● 晴天EV便 141 / 264便</a:t>
            </a:r>
          </a:p>
          <a:p>
            <a:pPr>
              <a:spcAft>
                <a:spcPts val="900"/>
              </a:spcAft>
              <a:defRPr sz="1420">
                <a:solidFill>
                  <a:srgbClr val="191F24"/>
                </a:solidFill>
                <a:latin typeface="Meiryo"/>
              </a:defRPr>
            </a:pPr>
            <a:r>
              <a:t>● 雨天EV便 119 / 264便</a:t>
            </a:r>
          </a:p>
          <a:p>
            <a:pPr>
              <a:spcAft>
                <a:spcPts val="900"/>
              </a:spcAft>
              <a:defRPr sz="1420">
                <a:solidFill>
                  <a:srgbClr val="191F24"/>
                </a:solidFill>
                <a:latin typeface="Meiryo"/>
              </a:defRPr>
            </a:pPr>
            <a:r>
              <a:t>● 晴天でもEV19台が未使用</a:t>
            </a:r>
          </a:p>
        </p:txBody>
      </p:sp>
      <p:sp>
        <p:nvSpPr>
          <p:cNvPr id="13" name="TextBox 12"/>
          <p:cNvSpPr txBox="1"/>
          <p:nvPr/>
        </p:nvSpPr>
        <p:spPr>
          <a:xfrm>
            <a:off x="8805672" y="4160520"/>
            <a:ext cx="2670048" cy="685800"/>
          </a:xfrm>
          <a:prstGeom prst="rect">
            <a:avLst/>
          </a:prstGeom>
          <a:noFill/>
        </p:spPr>
        <p:txBody>
          <a:bodyPr wrap="square" lIns="36576" rIns="36576" tIns="36576" bIns="36576" anchor="t">
            <a:spAutoFit/>
          </a:bodyPr>
          <a:lstStyle/>
          <a:p>
            <a:pPr algn="ctr">
              <a:defRPr sz="1150" b="1">
                <a:solidFill>
                  <a:srgbClr val="C23737"/>
                </a:solidFill>
                <a:latin typeface="Meiryo"/>
              </a:defRPr>
            </a:pPr>
            <a:r>
              <a:t>PV限界単価が0円でも、接続可能性・SOC・使用車両費・充電時刻の制約によりEV全車使用にはならない。</a:t>
            </a:r>
          </a:p>
        </p:txBody>
      </p:sp>
      <p:sp>
        <p:nvSpPr>
          <p:cNvPr id="14" name="Rectangle 13"/>
          <p:cNvSpPr/>
          <p:nvPr/>
        </p:nvSpPr>
        <p:spPr>
          <a:xfrm>
            <a:off x="320040" y="5943600"/>
            <a:ext cx="11548872" cy="493776"/>
          </a:xfrm>
          <a:prstGeom prst="rect">
            <a:avLst/>
          </a:prstGeom>
          <a:solidFill>
            <a:srgbClr val="E1EFFA"/>
          </a:solidFill>
          <a:ln>
            <a:solidFill>
              <a:srgbClr val="E1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要点｜晴天ではEV利用が増えるが、増加は1台・22便であり全35台使用ではない。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時刻別の運行状況</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9/18</a:t>
            </a:r>
          </a:p>
        </p:txBody>
      </p:sp>
      <p:pic>
        <p:nvPicPr>
          <p:cNvPr id="9" name="Picture 8" descr="active_operation_comparison.png"/>
          <p:cNvPicPr>
            <a:picLocks noChangeAspect="1"/>
          </p:cNvPicPr>
          <p:nvPr/>
        </p:nvPicPr>
        <p:blipFill>
          <a:blip r:embed="rId2"/>
          <a:stretch>
            <a:fillRect/>
          </a:stretch>
        </p:blipFill>
        <p:spPr>
          <a:xfrm>
            <a:off x="457200" y="804672"/>
            <a:ext cx="8778240" cy="4892040"/>
          </a:xfrm>
          <a:prstGeom prst="rect">
            <a:avLst/>
          </a:prstGeom>
        </p:spPr>
      </p:pic>
      <p:sp>
        <p:nvSpPr>
          <p:cNvPr id="10" name="Rectangle 9"/>
          <p:cNvSpPr/>
          <p:nvPr/>
        </p:nvSpPr>
        <p:spPr>
          <a:xfrm>
            <a:off x="9464040" y="1051560"/>
            <a:ext cx="2267712" cy="4297680"/>
          </a:xfrm>
          <a:prstGeom prst="rect">
            <a:avLst/>
          </a:prstGeom>
          <a:solidFill>
            <a:srgbClr val="F2F4F6"/>
          </a:solidFill>
          <a:ln>
            <a:solidFill>
              <a:srgbClr val="5C6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65208" y="1261872"/>
            <a:ext cx="1865376" cy="310896"/>
          </a:xfrm>
          <a:prstGeom prst="rect">
            <a:avLst/>
          </a:prstGeom>
          <a:noFill/>
        </p:spPr>
        <p:txBody>
          <a:bodyPr wrap="square" lIns="36576" rIns="36576" tIns="36576" bIns="36576" anchor="t">
            <a:spAutoFit/>
          </a:bodyPr>
          <a:lstStyle/>
          <a:p>
            <a:pPr algn="ctr">
              <a:defRPr sz="1700" b="1">
                <a:solidFill>
                  <a:srgbClr val="003667"/>
                </a:solidFill>
                <a:latin typeface="Meiryo"/>
              </a:defRPr>
            </a:pPr>
            <a:r>
              <a:t>読み方</a:t>
            </a:r>
          </a:p>
        </p:txBody>
      </p:sp>
      <p:sp>
        <p:nvSpPr>
          <p:cNvPr id="12" name="TextBox 11"/>
          <p:cNvSpPr txBox="1"/>
          <p:nvPr/>
        </p:nvSpPr>
        <p:spPr>
          <a:xfrm>
            <a:off x="9674352" y="1773936"/>
            <a:ext cx="1828800" cy="1920240"/>
          </a:xfrm>
          <a:prstGeom prst="rect">
            <a:avLst/>
          </a:prstGeom>
          <a:noFill/>
        </p:spPr>
        <p:txBody>
          <a:bodyPr wrap="square">
            <a:spAutoFit/>
          </a:bodyPr>
          <a:lstStyle/>
          <a:p>
            <a:pPr>
              <a:spcAft>
                <a:spcPts val="900"/>
              </a:spcAft>
              <a:defRPr sz="1250">
                <a:solidFill>
                  <a:srgbClr val="191F24"/>
                </a:solidFill>
                <a:latin typeface="Meiryo"/>
              </a:defRPr>
            </a:pPr>
            <a:r>
              <a:t>● 営業運行中の実車数</a:t>
            </a:r>
          </a:p>
          <a:p>
            <a:pPr>
              <a:spcAft>
                <a:spcPts val="900"/>
              </a:spcAft>
              <a:defRPr sz="1250">
                <a:solidFill>
                  <a:srgbClr val="191F24"/>
                </a:solidFill>
                <a:latin typeface="Meiryo"/>
              </a:defRPr>
            </a:pPr>
            <a:r>
              <a:t>● 回送・充電・待機は含めない</a:t>
            </a:r>
          </a:p>
          <a:p>
            <a:pPr>
              <a:spcAft>
                <a:spcPts val="900"/>
              </a:spcAft>
              <a:defRPr sz="1250">
                <a:solidFill>
                  <a:srgbClr val="191F24"/>
                </a:solidFill>
                <a:latin typeface="Meiryo"/>
              </a:defRPr>
            </a:pPr>
            <a:r>
              <a:t>● 両日を同じ縦軸で表示</a:t>
            </a:r>
          </a:p>
          <a:p>
            <a:pPr>
              <a:spcAft>
                <a:spcPts val="900"/>
              </a:spcAft>
              <a:defRPr sz="1250">
                <a:solidFill>
                  <a:srgbClr val="191F24"/>
                </a:solidFill>
                <a:latin typeface="Meiryo"/>
              </a:defRPr>
            </a:pPr>
            <a:r>
              <a:t>● 差は便割当の時間分布にも現れる</a:t>
            </a:r>
          </a:p>
        </p:txBody>
      </p:sp>
      <p:sp>
        <p:nvSpPr>
          <p:cNvPr id="13" name="TextBox 12"/>
          <p:cNvSpPr txBox="1"/>
          <p:nvPr/>
        </p:nvSpPr>
        <p:spPr>
          <a:xfrm>
            <a:off x="9674352" y="4160520"/>
            <a:ext cx="1828800" cy="658368"/>
          </a:xfrm>
          <a:prstGeom prst="rect">
            <a:avLst/>
          </a:prstGeom>
          <a:noFill/>
        </p:spPr>
        <p:txBody>
          <a:bodyPr wrap="square" lIns="36576" rIns="36576" tIns="36576" bIns="36576" anchor="t">
            <a:spAutoFit/>
          </a:bodyPr>
          <a:lstStyle/>
          <a:p>
            <a:pPr algn="ctr">
              <a:defRPr sz="1200" b="1">
                <a:solidFill>
                  <a:srgbClr val="003667"/>
                </a:solidFill>
                <a:latin typeface="Meiryo"/>
              </a:defRPr>
            </a:pPr>
            <a:r>
              <a:t>日合計だけでなく、ピーク時にどの動力車が稼働するかを確認する。</a:t>
            </a:r>
          </a:p>
        </p:txBody>
      </p:sp>
      <p:sp>
        <p:nvSpPr>
          <p:cNvPr id="14" name="Rectangle 13"/>
          <p:cNvSpPr/>
          <p:nvPr/>
        </p:nvSpPr>
        <p:spPr>
          <a:xfrm>
            <a:off x="320040" y="5943600"/>
            <a:ext cx="11548872" cy="493776"/>
          </a:xfrm>
          <a:prstGeom prst="rect">
            <a:avLst/>
          </a:prstGeom>
          <a:solidFill>
            <a:srgbClr val="E1EFFA"/>
          </a:solidFill>
          <a:ln>
            <a:solidFill>
              <a:srgbClr val="E1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要点｜晴天・雨天の差は、使用台数だけでなく時間帯別の動力分担として評価する。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蓄電池SOC：日末変化量は0</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10/18</a:t>
            </a:r>
          </a:p>
        </p:txBody>
      </p:sp>
      <p:pic>
        <p:nvPicPr>
          <p:cNvPr id="9" name="Picture 8" descr="bess_soc_comparison.png"/>
          <p:cNvPicPr>
            <a:picLocks noChangeAspect="1"/>
          </p:cNvPicPr>
          <p:nvPr/>
        </p:nvPicPr>
        <p:blipFill>
          <a:blip r:embed="rId2"/>
          <a:stretch>
            <a:fillRect/>
          </a:stretch>
        </p:blipFill>
        <p:spPr>
          <a:xfrm>
            <a:off x="502920" y="841248"/>
            <a:ext cx="8686800" cy="4480560"/>
          </a:xfrm>
          <a:prstGeom prst="rect">
            <a:avLst/>
          </a:prstGeom>
        </p:spPr>
      </p:pic>
      <p:sp>
        <p:nvSpPr>
          <p:cNvPr id="10" name="Rectangle 9"/>
          <p:cNvSpPr/>
          <p:nvPr/>
        </p:nvSpPr>
        <p:spPr>
          <a:xfrm>
            <a:off x="9418320" y="1024128"/>
            <a:ext cx="2331720" cy="1325880"/>
          </a:xfrm>
          <a:prstGeom prst="rect">
            <a:avLst/>
          </a:prstGeom>
          <a:solidFill>
            <a:srgbClr val="FFF4DB"/>
          </a:solidFill>
          <a:ln>
            <a:solidFill>
              <a:srgbClr val="E99A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82912" y="1161288"/>
            <a:ext cx="2002536" cy="320040"/>
          </a:xfrm>
          <a:prstGeom prst="rect">
            <a:avLst/>
          </a:prstGeom>
          <a:noFill/>
        </p:spPr>
        <p:txBody>
          <a:bodyPr wrap="square" lIns="36576" rIns="36576" tIns="36576" bIns="36576" anchor="t">
            <a:spAutoFit/>
          </a:bodyPr>
          <a:lstStyle/>
          <a:p>
            <a:pPr algn="l">
              <a:defRPr sz="1300" b="1">
                <a:solidFill>
                  <a:srgbClr val="E99A23"/>
                </a:solidFill>
                <a:latin typeface="Meiryo"/>
              </a:defRPr>
            </a:pPr>
            <a:r>
              <a:t>晴天</a:t>
            </a:r>
          </a:p>
        </p:txBody>
      </p:sp>
      <p:sp>
        <p:nvSpPr>
          <p:cNvPr id="12" name="TextBox 11"/>
          <p:cNvSpPr txBox="1"/>
          <p:nvPr/>
        </p:nvSpPr>
        <p:spPr>
          <a:xfrm>
            <a:off x="9582912" y="1499616"/>
            <a:ext cx="2002536" cy="566928"/>
          </a:xfrm>
          <a:prstGeom prst="rect">
            <a:avLst/>
          </a:prstGeom>
          <a:noFill/>
        </p:spPr>
        <p:txBody>
          <a:bodyPr wrap="square" lIns="36576" rIns="36576" tIns="36576" bIns="36576" anchor="ctr">
            <a:spAutoFit/>
          </a:bodyPr>
          <a:lstStyle/>
          <a:p>
            <a:pPr algn="l">
              <a:defRPr sz="2500" b="1">
                <a:solidFill>
                  <a:srgbClr val="191F24"/>
                </a:solidFill>
                <a:latin typeface="Meiryo"/>
              </a:defRPr>
            </a:pPr>
            <a:r>
              <a:t>300 → 300</a:t>
            </a:r>
          </a:p>
        </p:txBody>
      </p:sp>
      <p:sp>
        <p:nvSpPr>
          <p:cNvPr id="13" name="TextBox 12"/>
          <p:cNvSpPr txBox="1"/>
          <p:nvPr/>
        </p:nvSpPr>
        <p:spPr>
          <a:xfrm>
            <a:off x="9582912" y="2084832"/>
            <a:ext cx="2002536" cy="155447"/>
          </a:xfrm>
          <a:prstGeom prst="rect">
            <a:avLst/>
          </a:prstGeom>
          <a:noFill/>
        </p:spPr>
        <p:txBody>
          <a:bodyPr wrap="square" lIns="36576" rIns="36576" tIns="36576" bIns="36576" anchor="t">
            <a:spAutoFit/>
          </a:bodyPr>
          <a:lstStyle/>
          <a:p>
            <a:pPr algn="l">
              <a:defRPr sz="1150" b="0">
                <a:solidFill>
                  <a:srgbClr val="5C6670"/>
                </a:solidFill>
                <a:latin typeface="Meiryo"/>
              </a:defRPr>
            </a:pPr>
            <a:r>
              <a:t>範囲 120–480 kWh</a:t>
            </a:r>
          </a:p>
        </p:txBody>
      </p:sp>
      <p:sp>
        <p:nvSpPr>
          <p:cNvPr id="14" name="Rectangle 13"/>
          <p:cNvSpPr/>
          <p:nvPr/>
        </p:nvSpPr>
        <p:spPr>
          <a:xfrm>
            <a:off x="9418320" y="2578608"/>
            <a:ext cx="2331720" cy="1325880"/>
          </a:xfrm>
          <a:prstGeom prst="rect">
            <a:avLst/>
          </a:prstGeom>
          <a:solidFill>
            <a:srgbClr val="E5EDF9"/>
          </a:solidFill>
          <a:ln>
            <a:solidFill>
              <a:srgbClr val="3F6D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82912" y="2715768"/>
            <a:ext cx="2002536" cy="320040"/>
          </a:xfrm>
          <a:prstGeom prst="rect">
            <a:avLst/>
          </a:prstGeom>
          <a:noFill/>
        </p:spPr>
        <p:txBody>
          <a:bodyPr wrap="square" lIns="36576" rIns="36576" tIns="36576" bIns="36576" anchor="t">
            <a:spAutoFit/>
          </a:bodyPr>
          <a:lstStyle/>
          <a:p>
            <a:pPr algn="l">
              <a:defRPr sz="1300" b="1">
                <a:solidFill>
                  <a:srgbClr val="3F6DB4"/>
                </a:solidFill>
                <a:latin typeface="Meiryo"/>
              </a:defRPr>
            </a:pPr>
            <a:r>
              <a:t>雨天</a:t>
            </a:r>
          </a:p>
        </p:txBody>
      </p:sp>
      <p:sp>
        <p:nvSpPr>
          <p:cNvPr id="16" name="TextBox 15"/>
          <p:cNvSpPr txBox="1"/>
          <p:nvPr/>
        </p:nvSpPr>
        <p:spPr>
          <a:xfrm>
            <a:off x="9582912" y="3054096"/>
            <a:ext cx="2002536" cy="566928"/>
          </a:xfrm>
          <a:prstGeom prst="rect">
            <a:avLst/>
          </a:prstGeom>
          <a:noFill/>
        </p:spPr>
        <p:txBody>
          <a:bodyPr wrap="square" lIns="36576" rIns="36576" tIns="36576" bIns="36576" anchor="ctr">
            <a:spAutoFit/>
          </a:bodyPr>
          <a:lstStyle/>
          <a:p>
            <a:pPr algn="l">
              <a:defRPr sz="2500" b="1">
                <a:solidFill>
                  <a:srgbClr val="191F24"/>
                </a:solidFill>
                <a:latin typeface="Meiryo"/>
              </a:defRPr>
            </a:pPr>
            <a:r>
              <a:t>300 → 300</a:t>
            </a:r>
          </a:p>
        </p:txBody>
      </p:sp>
      <p:sp>
        <p:nvSpPr>
          <p:cNvPr id="17" name="TextBox 16"/>
          <p:cNvSpPr txBox="1"/>
          <p:nvPr/>
        </p:nvSpPr>
        <p:spPr>
          <a:xfrm>
            <a:off x="9582912" y="3639311"/>
            <a:ext cx="2002536" cy="155447"/>
          </a:xfrm>
          <a:prstGeom prst="rect">
            <a:avLst/>
          </a:prstGeom>
          <a:noFill/>
        </p:spPr>
        <p:txBody>
          <a:bodyPr wrap="square" lIns="36576" rIns="36576" tIns="36576" bIns="36576" anchor="t">
            <a:spAutoFit/>
          </a:bodyPr>
          <a:lstStyle/>
          <a:p>
            <a:pPr algn="l">
              <a:defRPr sz="1150" b="0">
                <a:solidFill>
                  <a:srgbClr val="5C6670"/>
                </a:solidFill>
                <a:latin typeface="Meiryo"/>
              </a:defRPr>
            </a:pPr>
            <a:r>
              <a:t>範囲 227.0–322.0 kWh</a:t>
            </a:r>
          </a:p>
        </p:txBody>
      </p:sp>
      <p:sp>
        <p:nvSpPr>
          <p:cNvPr id="18" name="Rectangle 17"/>
          <p:cNvSpPr/>
          <p:nvPr/>
        </p:nvSpPr>
        <p:spPr>
          <a:xfrm>
            <a:off x="9418320" y="4151376"/>
            <a:ext cx="2331720" cy="1078992"/>
          </a:xfrm>
          <a:prstGeom prst="rect">
            <a:avLst/>
          </a:prstGeom>
          <a:solidFill>
            <a:srgbClr val="E3F6ED"/>
          </a:solidFill>
          <a:ln>
            <a:solidFill>
              <a:srgbClr val="238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0" y="4315968"/>
            <a:ext cx="1965960" cy="274320"/>
          </a:xfrm>
          <a:prstGeom prst="rect">
            <a:avLst/>
          </a:prstGeom>
          <a:noFill/>
        </p:spPr>
        <p:txBody>
          <a:bodyPr wrap="square" lIns="36576" rIns="36576" tIns="36576" bIns="36576" anchor="t">
            <a:spAutoFit/>
          </a:bodyPr>
          <a:lstStyle/>
          <a:p>
            <a:pPr algn="ctr">
              <a:defRPr sz="1300" b="1">
                <a:solidFill>
                  <a:srgbClr val="238E5E"/>
                </a:solidFill>
                <a:latin typeface="Meiryo"/>
              </a:defRPr>
            </a:pPr>
            <a:r>
              <a:t>終端偏差</a:t>
            </a:r>
          </a:p>
        </p:txBody>
      </p:sp>
      <p:sp>
        <p:nvSpPr>
          <p:cNvPr id="20" name="TextBox 19"/>
          <p:cNvSpPr txBox="1"/>
          <p:nvPr/>
        </p:nvSpPr>
        <p:spPr>
          <a:xfrm>
            <a:off x="9582912" y="4645152"/>
            <a:ext cx="2002536" cy="320040"/>
          </a:xfrm>
          <a:prstGeom prst="rect">
            <a:avLst/>
          </a:prstGeom>
          <a:noFill/>
        </p:spPr>
        <p:txBody>
          <a:bodyPr wrap="square" lIns="36576" rIns="36576" tIns="36576" bIns="36576" anchor="t">
            <a:spAutoFit/>
          </a:bodyPr>
          <a:lstStyle/>
          <a:p>
            <a:pPr algn="ctr">
              <a:defRPr sz="1600" b="1">
                <a:solidFill>
                  <a:srgbClr val="191F24"/>
                </a:solidFill>
                <a:latin typeface="Meiryo"/>
              </a:defRPr>
            </a:pPr>
            <a:r>
              <a:t>≤ 5.7×10⁻¹⁴ kWh</a:t>
            </a:r>
          </a:p>
        </p:txBody>
      </p:sp>
      <p:sp>
        <p:nvSpPr>
          <p:cNvPr id="21" name="Rectangle 20"/>
          <p:cNvSpPr/>
          <p:nvPr/>
        </p:nvSpPr>
        <p:spPr>
          <a:xfrm>
            <a:off x="320040" y="5943600"/>
            <a:ext cx="11548872" cy="493776"/>
          </a:xfrm>
          <a:prstGeom prst="rect">
            <a:avLst/>
          </a:prstGeom>
          <a:solidFill>
            <a:srgbClr val="E1EFFA"/>
          </a:solidFill>
          <a:ln>
            <a:solidFill>
              <a:srgbClr val="E1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要点｜日末SOC同値は評価結果ではなく、300 kWhの終端ハード制約により保証される。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蓄電池の充放電と損失</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11/18</a:t>
            </a:r>
          </a:p>
        </p:txBody>
      </p:sp>
      <p:pic>
        <p:nvPicPr>
          <p:cNvPr id="9" name="Picture 8" descr="bess_flow_comparison.png"/>
          <p:cNvPicPr>
            <a:picLocks noChangeAspect="1"/>
          </p:cNvPicPr>
          <p:nvPr/>
        </p:nvPicPr>
        <p:blipFill>
          <a:blip r:embed="rId2"/>
          <a:stretch>
            <a:fillRect/>
          </a:stretch>
        </p:blipFill>
        <p:spPr>
          <a:xfrm>
            <a:off x="438912" y="804672"/>
            <a:ext cx="8732520" cy="4892040"/>
          </a:xfrm>
          <a:prstGeom prst="rect">
            <a:avLst/>
          </a:prstGeom>
        </p:spPr>
      </p:pic>
      <p:sp>
        <p:nvSpPr>
          <p:cNvPr id="10" name="Rectangle 9"/>
          <p:cNvSpPr/>
          <p:nvPr/>
        </p:nvSpPr>
        <p:spPr>
          <a:xfrm>
            <a:off x="9400032" y="1005840"/>
            <a:ext cx="2350008" cy="1417320"/>
          </a:xfrm>
          <a:prstGeom prst="rect">
            <a:avLst/>
          </a:prstGeom>
          <a:solidFill>
            <a:srgbClr val="FFF4DB"/>
          </a:solidFill>
          <a:ln>
            <a:solidFill>
              <a:srgbClr val="E99A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64624" y="1143000"/>
            <a:ext cx="2020824" cy="320040"/>
          </a:xfrm>
          <a:prstGeom prst="rect">
            <a:avLst/>
          </a:prstGeom>
          <a:noFill/>
        </p:spPr>
        <p:txBody>
          <a:bodyPr wrap="square" lIns="36576" rIns="36576" tIns="36576" bIns="36576" anchor="t">
            <a:spAutoFit/>
          </a:bodyPr>
          <a:lstStyle/>
          <a:p>
            <a:pPr algn="l">
              <a:defRPr sz="1300" b="1">
                <a:solidFill>
                  <a:srgbClr val="E99A23"/>
                </a:solidFill>
                <a:latin typeface="Meiryo"/>
              </a:defRPr>
            </a:pPr>
            <a:r>
              <a:t>晴天</a:t>
            </a:r>
          </a:p>
        </p:txBody>
      </p:sp>
      <p:sp>
        <p:nvSpPr>
          <p:cNvPr id="12" name="TextBox 11"/>
          <p:cNvSpPr txBox="1"/>
          <p:nvPr/>
        </p:nvSpPr>
        <p:spPr>
          <a:xfrm>
            <a:off x="9564624" y="1481328"/>
            <a:ext cx="2020824" cy="566928"/>
          </a:xfrm>
          <a:prstGeom prst="rect">
            <a:avLst/>
          </a:prstGeom>
          <a:noFill/>
        </p:spPr>
        <p:txBody>
          <a:bodyPr wrap="square" lIns="36576" rIns="36576" tIns="36576" bIns="36576" anchor="ctr">
            <a:spAutoFit/>
          </a:bodyPr>
          <a:lstStyle/>
          <a:p>
            <a:pPr algn="l">
              <a:defRPr sz="2500" b="1">
                <a:solidFill>
                  <a:srgbClr val="191F24"/>
                </a:solidFill>
                <a:latin typeface="Meiryo"/>
              </a:defRPr>
            </a:pPr>
            <a:r>
              <a:t>入力 378.9</a:t>
            </a:r>
          </a:p>
        </p:txBody>
      </p:sp>
      <p:sp>
        <p:nvSpPr>
          <p:cNvPr id="13" name="TextBox 12"/>
          <p:cNvSpPr txBox="1"/>
          <p:nvPr/>
        </p:nvSpPr>
        <p:spPr>
          <a:xfrm>
            <a:off x="9564624" y="2066543"/>
            <a:ext cx="2020824" cy="246888"/>
          </a:xfrm>
          <a:prstGeom prst="rect">
            <a:avLst/>
          </a:prstGeom>
          <a:noFill/>
        </p:spPr>
        <p:txBody>
          <a:bodyPr wrap="square" lIns="36576" rIns="36576" tIns="36576" bIns="36576" anchor="t">
            <a:spAutoFit/>
          </a:bodyPr>
          <a:lstStyle/>
          <a:p>
            <a:pPr algn="l">
              <a:defRPr sz="1150" b="0">
                <a:solidFill>
                  <a:srgbClr val="5C6670"/>
                </a:solidFill>
                <a:latin typeface="Meiryo"/>
              </a:defRPr>
            </a:pPr>
            <a:r>
              <a:t>供給342.0 / 損失 36.9 kWh</a:t>
            </a:r>
          </a:p>
        </p:txBody>
      </p:sp>
      <p:sp>
        <p:nvSpPr>
          <p:cNvPr id="14" name="Rectangle 13"/>
          <p:cNvSpPr/>
          <p:nvPr/>
        </p:nvSpPr>
        <p:spPr>
          <a:xfrm>
            <a:off x="9400032" y="2697480"/>
            <a:ext cx="2350008" cy="1417320"/>
          </a:xfrm>
          <a:prstGeom prst="rect">
            <a:avLst/>
          </a:prstGeom>
          <a:solidFill>
            <a:srgbClr val="E5EDF9"/>
          </a:solidFill>
          <a:ln>
            <a:solidFill>
              <a:srgbClr val="3F6D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64624" y="2834640"/>
            <a:ext cx="2020824" cy="320040"/>
          </a:xfrm>
          <a:prstGeom prst="rect">
            <a:avLst/>
          </a:prstGeom>
          <a:noFill/>
        </p:spPr>
        <p:txBody>
          <a:bodyPr wrap="square" lIns="36576" rIns="36576" tIns="36576" bIns="36576" anchor="t">
            <a:spAutoFit/>
          </a:bodyPr>
          <a:lstStyle/>
          <a:p>
            <a:pPr algn="l">
              <a:defRPr sz="1300" b="1">
                <a:solidFill>
                  <a:srgbClr val="3F6DB4"/>
                </a:solidFill>
                <a:latin typeface="Meiryo"/>
              </a:defRPr>
            </a:pPr>
            <a:r>
              <a:t>雨天</a:t>
            </a:r>
          </a:p>
        </p:txBody>
      </p:sp>
      <p:sp>
        <p:nvSpPr>
          <p:cNvPr id="16" name="TextBox 15"/>
          <p:cNvSpPr txBox="1"/>
          <p:nvPr/>
        </p:nvSpPr>
        <p:spPr>
          <a:xfrm>
            <a:off x="9564624" y="3172968"/>
            <a:ext cx="2020824" cy="566928"/>
          </a:xfrm>
          <a:prstGeom prst="rect">
            <a:avLst/>
          </a:prstGeom>
          <a:noFill/>
        </p:spPr>
        <p:txBody>
          <a:bodyPr wrap="square" lIns="36576" rIns="36576" tIns="36576" bIns="36576" anchor="ctr">
            <a:spAutoFit/>
          </a:bodyPr>
          <a:lstStyle/>
          <a:p>
            <a:pPr algn="l">
              <a:defRPr sz="2500" b="1">
                <a:solidFill>
                  <a:srgbClr val="191F24"/>
                </a:solidFill>
                <a:latin typeface="Meiryo"/>
              </a:defRPr>
            </a:pPr>
            <a:r>
              <a:t>入力 100.1</a:t>
            </a:r>
          </a:p>
        </p:txBody>
      </p:sp>
      <p:sp>
        <p:nvSpPr>
          <p:cNvPr id="17" name="TextBox 16"/>
          <p:cNvSpPr txBox="1"/>
          <p:nvPr/>
        </p:nvSpPr>
        <p:spPr>
          <a:xfrm>
            <a:off x="9564624" y="3758184"/>
            <a:ext cx="2020824" cy="246888"/>
          </a:xfrm>
          <a:prstGeom prst="rect">
            <a:avLst/>
          </a:prstGeom>
          <a:noFill/>
        </p:spPr>
        <p:txBody>
          <a:bodyPr wrap="square" lIns="36576" rIns="36576" tIns="36576" bIns="36576" anchor="t">
            <a:spAutoFit/>
          </a:bodyPr>
          <a:lstStyle/>
          <a:p>
            <a:pPr algn="l">
              <a:defRPr sz="1150" b="0">
                <a:solidFill>
                  <a:srgbClr val="5C6670"/>
                </a:solidFill>
                <a:latin typeface="Meiryo"/>
              </a:defRPr>
            </a:pPr>
            <a:r>
              <a:t>供給90.3 / 損失 9.8 kWh</a:t>
            </a:r>
          </a:p>
        </p:txBody>
      </p:sp>
      <p:sp>
        <p:nvSpPr>
          <p:cNvPr id="18" name="TextBox 17"/>
          <p:cNvSpPr txBox="1"/>
          <p:nvPr/>
        </p:nvSpPr>
        <p:spPr>
          <a:xfrm>
            <a:off x="9473184" y="4480560"/>
            <a:ext cx="2185416" cy="566928"/>
          </a:xfrm>
          <a:prstGeom prst="rect">
            <a:avLst/>
          </a:prstGeom>
          <a:noFill/>
        </p:spPr>
        <p:txBody>
          <a:bodyPr wrap="square" lIns="36576" rIns="36576" tIns="36576" bIns="36576" anchor="t">
            <a:spAutoFit/>
          </a:bodyPr>
          <a:lstStyle/>
          <a:p>
            <a:pPr algn="ctr">
              <a:defRPr sz="1400" b="1">
                <a:solidFill>
                  <a:srgbClr val="C23737"/>
                </a:solidFill>
                <a:latin typeface="Meiryo"/>
              </a:defRPr>
            </a:pPr>
            <a:r>
              <a:t>系統→BESS = 0 kWh</a:t>
            </a:r>
            <a:br/>
            <a:r>
              <a:t>（両日、設定で禁止）</a:t>
            </a:r>
          </a:p>
        </p:txBody>
      </p:sp>
      <p:sp>
        <p:nvSpPr>
          <p:cNvPr id="19" name="Rectangle 18"/>
          <p:cNvSpPr/>
          <p:nvPr/>
        </p:nvSpPr>
        <p:spPr>
          <a:xfrm>
            <a:off x="320040" y="5943600"/>
            <a:ext cx="11548872" cy="493776"/>
          </a:xfrm>
          <a:prstGeom prst="rect">
            <a:avLst/>
          </a:prstGeom>
          <a:solidFill>
            <a:srgbClr val="E1EFFA"/>
          </a:solidFill>
          <a:ln>
            <a:solidFill>
              <a:srgbClr val="E1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要点｜SOC同値でも、効率95%のため入力量とバス供給量は一致せず、損失を含めて帳尻を取る。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PV発電出力の行き先</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12/18</a:t>
            </a:r>
          </a:p>
        </p:txBody>
      </p:sp>
      <p:pic>
        <p:nvPicPr>
          <p:cNvPr id="9" name="Picture 8" descr="pv_destinations_comparison.png"/>
          <p:cNvPicPr>
            <a:picLocks noChangeAspect="1"/>
          </p:cNvPicPr>
          <p:nvPr/>
        </p:nvPicPr>
        <p:blipFill>
          <a:blip r:embed="rId2"/>
          <a:stretch>
            <a:fillRect/>
          </a:stretch>
        </p:blipFill>
        <p:spPr>
          <a:xfrm>
            <a:off x="457200" y="804672"/>
            <a:ext cx="8732520" cy="4892040"/>
          </a:xfrm>
          <a:prstGeom prst="rect">
            <a:avLst/>
          </a:prstGeom>
        </p:spPr>
      </p:pic>
      <p:sp>
        <p:nvSpPr>
          <p:cNvPr id="10" name="Rectangle 9"/>
          <p:cNvSpPr/>
          <p:nvPr/>
        </p:nvSpPr>
        <p:spPr>
          <a:xfrm>
            <a:off x="9400032" y="1005840"/>
            <a:ext cx="2350008" cy="1572768"/>
          </a:xfrm>
          <a:prstGeom prst="rect">
            <a:avLst/>
          </a:prstGeom>
          <a:solidFill>
            <a:srgbClr val="FFF4DB"/>
          </a:solidFill>
          <a:ln>
            <a:solidFill>
              <a:srgbClr val="E99A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64624" y="1143000"/>
            <a:ext cx="2020824" cy="320040"/>
          </a:xfrm>
          <a:prstGeom prst="rect">
            <a:avLst/>
          </a:prstGeom>
          <a:noFill/>
        </p:spPr>
        <p:txBody>
          <a:bodyPr wrap="square" lIns="36576" rIns="36576" tIns="36576" bIns="36576" anchor="t">
            <a:spAutoFit/>
          </a:bodyPr>
          <a:lstStyle/>
          <a:p>
            <a:pPr algn="l">
              <a:defRPr sz="1300" b="1">
                <a:solidFill>
                  <a:srgbClr val="E99A23"/>
                </a:solidFill>
                <a:latin typeface="Meiryo"/>
              </a:defRPr>
            </a:pPr>
            <a:r>
              <a:t>晴天 614.7 kWh</a:t>
            </a:r>
          </a:p>
        </p:txBody>
      </p:sp>
      <p:sp>
        <p:nvSpPr>
          <p:cNvPr id="12" name="TextBox 11"/>
          <p:cNvSpPr txBox="1"/>
          <p:nvPr/>
        </p:nvSpPr>
        <p:spPr>
          <a:xfrm>
            <a:off x="9564624" y="1481328"/>
            <a:ext cx="2020824" cy="566928"/>
          </a:xfrm>
          <a:prstGeom prst="rect">
            <a:avLst/>
          </a:prstGeom>
          <a:noFill/>
        </p:spPr>
        <p:txBody>
          <a:bodyPr wrap="square" lIns="36576" rIns="36576" tIns="36576" bIns="36576" anchor="ctr">
            <a:spAutoFit/>
          </a:bodyPr>
          <a:lstStyle/>
          <a:p>
            <a:pPr algn="l">
              <a:defRPr sz="2500" b="1">
                <a:solidFill>
                  <a:srgbClr val="191F24"/>
                </a:solidFill>
                <a:latin typeface="Meiryo"/>
              </a:defRPr>
            </a:pPr>
            <a:r>
              <a:t>88.3%利用</a:t>
            </a:r>
          </a:p>
        </p:txBody>
      </p:sp>
      <p:sp>
        <p:nvSpPr>
          <p:cNvPr id="13" name="TextBox 12"/>
          <p:cNvSpPr txBox="1"/>
          <p:nvPr/>
        </p:nvSpPr>
        <p:spPr>
          <a:xfrm>
            <a:off x="9564624" y="2066543"/>
            <a:ext cx="2020824" cy="402335"/>
          </a:xfrm>
          <a:prstGeom prst="rect">
            <a:avLst/>
          </a:prstGeom>
          <a:noFill/>
        </p:spPr>
        <p:txBody>
          <a:bodyPr wrap="square" lIns="36576" rIns="36576" tIns="36576" bIns="36576" anchor="t">
            <a:spAutoFit/>
          </a:bodyPr>
          <a:lstStyle/>
          <a:p>
            <a:pPr algn="l">
              <a:defRPr sz="1150" b="0">
                <a:solidFill>
                  <a:srgbClr val="5C6670"/>
                </a:solidFill>
                <a:latin typeface="Meiryo"/>
              </a:defRPr>
            </a:pPr>
            <a:r>
              <a:t>バス163.8 / BESS378.9 / 抑制71.9 kWh</a:t>
            </a:r>
          </a:p>
        </p:txBody>
      </p:sp>
      <p:sp>
        <p:nvSpPr>
          <p:cNvPr id="14" name="Rectangle 13"/>
          <p:cNvSpPr/>
          <p:nvPr/>
        </p:nvSpPr>
        <p:spPr>
          <a:xfrm>
            <a:off x="9400032" y="2889504"/>
            <a:ext cx="2350008" cy="1572768"/>
          </a:xfrm>
          <a:prstGeom prst="rect">
            <a:avLst/>
          </a:prstGeom>
          <a:solidFill>
            <a:srgbClr val="E5EDF9"/>
          </a:solidFill>
          <a:ln>
            <a:solidFill>
              <a:srgbClr val="3F6D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64624" y="3026664"/>
            <a:ext cx="2020824" cy="320040"/>
          </a:xfrm>
          <a:prstGeom prst="rect">
            <a:avLst/>
          </a:prstGeom>
          <a:noFill/>
        </p:spPr>
        <p:txBody>
          <a:bodyPr wrap="square" lIns="36576" rIns="36576" tIns="36576" bIns="36576" anchor="t">
            <a:spAutoFit/>
          </a:bodyPr>
          <a:lstStyle/>
          <a:p>
            <a:pPr algn="l">
              <a:defRPr sz="1300" b="1">
                <a:solidFill>
                  <a:srgbClr val="3F6DB4"/>
                </a:solidFill>
                <a:latin typeface="Meiryo"/>
              </a:defRPr>
            </a:pPr>
            <a:r>
              <a:t>雨天 101.1 kWh</a:t>
            </a:r>
          </a:p>
        </p:txBody>
      </p:sp>
      <p:sp>
        <p:nvSpPr>
          <p:cNvPr id="16" name="TextBox 15"/>
          <p:cNvSpPr txBox="1"/>
          <p:nvPr/>
        </p:nvSpPr>
        <p:spPr>
          <a:xfrm>
            <a:off x="9564624" y="3364992"/>
            <a:ext cx="2020824" cy="566928"/>
          </a:xfrm>
          <a:prstGeom prst="rect">
            <a:avLst/>
          </a:prstGeom>
          <a:noFill/>
        </p:spPr>
        <p:txBody>
          <a:bodyPr wrap="square" lIns="36576" rIns="36576" tIns="36576" bIns="36576" anchor="ctr">
            <a:spAutoFit/>
          </a:bodyPr>
          <a:lstStyle/>
          <a:p>
            <a:pPr algn="l">
              <a:defRPr sz="2500" b="1">
                <a:solidFill>
                  <a:srgbClr val="191F24"/>
                </a:solidFill>
                <a:latin typeface="Meiryo"/>
              </a:defRPr>
            </a:pPr>
            <a:r>
              <a:t>100%利用</a:t>
            </a:r>
          </a:p>
        </p:txBody>
      </p:sp>
      <p:sp>
        <p:nvSpPr>
          <p:cNvPr id="17" name="TextBox 16"/>
          <p:cNvSpPr txBox="1"/>
          <p:nvPr/>
        </p:nvSpPr>
        <p:spPr>
          <a:xfrm>
            <a:off x="9564624" y="3950208"/>
            <a:ext cx="2020824" cy="402335"/>
          </a:xfrm>
          <a:prstGeom prst="rect">
            <a:avLst/>
          </a:prstGeom>
          <a:noFill/>
        </p:spPr>
        <p:txBody>
          <a:bodyPr wrap="square" lIns="36576" rIns="36576" tIns="36576" bIns="36576" anchor="t">
            <a:spAutoFit/>
          </a:bodyPr>
          <a:lstStyle/>
          <a:p>
            <a:pPr algn="l">
              <a:defRPr sz="1150" b="0">
                <a:solidFill>
                  <a:srgbClr val="5C6670"/>
                </a:solidFill>
                <a:latin typeface="Meiryo"/>
              </a:defRPr>
            </a:pPr>
            <a:r>
              <a:t>バス1.0 / BESS100.1 / 抑制0.0 kWh</a:t>
            </a:r>
          </a:p>
        </p:txBody>
      </p:sp>
      <p:sp>
        <p:nvSpPr>
          <p:cNvPr id="18" name="TextBox 17"/>
          <p:cNvSpPr txBox="1"/>
          <p:nvPr/>
        </p:nvSpPr>
        <p:spPr>
          <a:xfrm>
            <a:off x="9491472" y="4800600"/>
            <a:ext cx="2148840" cy="347472"/>
          </a:xfrm>
          <a:prstGeom prst="rect">
            <a:avLst/>
          </a:prstGeom>
          <a:noFill/>
        </p:spPr>
        <p:txBody>
          <a:bodyPr wrap="square" lIns="36576" rIns="36576" tIns="36576" bIns="36576" anchor="t">
            <a:spAutoFit/>
          </a:bodyPr>
          <a:lstStyle/>
          <a:p>
            <a:pPr algn="ctr">
              <a:defRPr sz="1250" b="1">
                <a:solidFill>
                  <a:srgbClr val="238E5E"/>
                </a:solidFill>
                <a:latin typeface="Meiryo"/>
              </a:defRPr>
            </a:pPr>
            <a:r>
              <a:t>PV残差：最大2.7×10⁻¹⁵ kWh</a:t>
            </a:r>
          </a:p>
        </p:txBody>
      </p:sp>
      <p:sp>
        <p:nvSpPr>
          <p:cNvPr id="19" name="Rectangle 18"/>
          <p:cNvSpPr/>
          <p:nvPr/>
        </p:nvSpPr>
        <p:spPr>
          <a:xfrm>
            <a:off x="320040" y="5943600"/>
            <a:ext cx="11548872" cy="493776"/>
          </a:xfrm>
          <a:prstGeom prst="rect">
            <a:avLst/>
          </a:prstGeom>
          <a:solidFill>
            <a:srgbClr val="E1EFFA"/>
          </a:solidFill>
          <a:ln>
            <a:solidFill>
              <a:srgbClr val="E1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要点｜晴天PVはEV全車投入ではなく、主にBESS充電と一部直接充電へ配分され、71.9 kWhを抑制。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EVバス充電の電力源</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13/18</a:t>
            </a:r>
          </a:p>
        </p:txBody>
      </p:sp>
      <p:pic>
        <p:nvPicPr>
          <p:cNvPr id="9" name="Picture 8" descr="bus_charging_sources_comparison.png"/>
          <p:cNvPicPr>
            <a:picLocks noChangeAspect="1"/>
          </p:cNvPicPr>
          <p:nvPr/>
        </p:nvPicPr>
        <p:blipFill>
          <a:blip r:embed="rId2"/>
          <a:stretch>
            <a:fillRect/>
          </a:stretch>
        </p:blipFill>
        <p:spPr>
          <a:xfrm>
            <a:off x="457200" y="804672"/>
            <a:ext cx="8732520" cy="4892040"/>
          </a:xfrm>
          <a:prstGeom prst="rect">
            <a:avLst/>
          </a:prstGeom>
        </p:spPr>
      </p:pic>
      <p:sp>
        <p:nvSpPr>
          <p:cNvPr id="10" name="Rectangle 9"/>
          <p:cNvSpPr/>
          <p:nvPr/>
        </p:nvSpPr>
        <p:spPr>
          <a:xfrm>
            <a:off x="9400032" y="1005840"/>
            <a:ext cx="2350008" cy="1572768"/>
          </a:xfrm>
          <a:prstGeom prst="rect">
            <a:avLst/>
          </a:prstGeom>
          <a:solidFill>
            <a:srgbClr val="FFF4DB"/>
          </a:solidFill>
          <a:ln>
            <a:solidFill>
              <a:srgbClr val="E99A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64624" y="1143000"/>
            <a:ext cx="2020824" cy="320040"/>
          </a:xfrm>
          <a:prstGeom prst="rect">
            <a:avLst/>
          </a:prstGeom>
          <a:noFill/>
        </p:spPr>
        <p:txBody>
          <a:bodyPr wrap="square" lIns="36576" rIns="36576" tIns="36576" bIns="36576" anchor="t">
            <a:spAutoFit/>
          </a:bodyPr>
          <a:lstStyle/>
          <a:p>
            <a:pPr algn="l">
              <a:defRPr sz="1300" b="1">
                <a:solidFill>
                  <a:srgbClr val="E99A23"/>
                </a:solidFill>
                <a:latin typeface="Meiryo"/>
              </a:defRPr>
            </a:pPr>
            <a:r>
              <a:t>晴天 充電入力</a:t>
            </a:r>
          </a:p>
        </p:txBody>
      </p:sp>
      <p:sp>
        <p:nvSpPr>
          <p:cNvPr id="12" name="TextBox 11"/>
          <p:cNvSpPr txBox="1"/>
          <p:nvPr/>
        </p:nvSpPr>
        <p:spPr>
          <a:xfrm>
            <a:off x="9564624" y="1481328"/>
            <a:ext cx="2020824" cy="566928"/>
          </a:xfrm>
          <a:prstGeom prst="rect">
            <a:avLst/>
          </a:prstGeom>
          <a:noFill/>
        </p:spPr>
        <p:txBody>
          <a:bodyPr wrap="square" lIns="36576" rIns="36576" tIns="36576" bIns="36576" anchor="ctr">
            <a:spAutoFit/>
          </a:bodyPr>
          <a:lstStyle/>
          <a:p>
            <a:pPr algn="l">
              <a:defRPr sz="2500" b="1">
                <a:solidFill>
                  <a:srgbClr val="191F24"/>
                </a:solidFill>
                <a:latin typeface="Meiryo"/>
              </a:defRPr>
            </a:pPr>
            <a:r>
              <a:t>1521.4 kWh</a:t>
            </a:r>
          </a:p>
        </p:txBody>
      </p:sp>
      <p:sp>
        <p:nvSpPr>
          <p:cNvPr id="13" name="TextBox 12"/>
          <p:cNvSpPr txBox="1"/>
          <p:nvPr/>
        </p:nvSpPr>
        <p:spPr>
          <a:xfrm>
            <a:off x="9564624" y="2066543"/>
            <a:ext cx="2020824" cy="402335"/>
          </a:xfrm>
          <a:prstGeom prst="rect">
            <a:avLst/>
          </a:prstGeom>
          <a:noFill/>
        </p:spPr>
        <p:txBody>
          <a:bodyPr wrap="square" lIns="36576" rIns="36576" tIns="36576" bIns="36576" anchor="t">
            <a:spAutoFit/>
          </a:bodyPr>
          <a:lstStyle/>
          <a:p>
            <a:pPr algn="l">
              <a:defRPr sz="1150" b="0">
                <a:solidFill>
                  <a:srgbClr val="5C6670"/>
                </a:solidFill>
                <a:latin typeface="Meiryo"/>
              </a:defRPr>
            </a:pPr>
            <a:r>
              <a:t>系統1015.6 / PV163.8 / BESS342.0</a:t>
            </a:r>
          </a:p>
        </p:txBody>
      </p:sp>
      <p:sp>
        <p:nvSpPr>
          <p:cNvPr id="14" name="Rectangle 13"/>
          <p:cNvSpPr/>
          <p:nvPr/>
        </p:nvSpPr>
        <p:spPr>
          <a:xfrm>
            <a:off x="9400032" y="2889504"/>
            <a:ext cx="2350008" cy="1572768"/>
          </a:xfrm>
          <a:prstGeom prst="rect">
            <a:avLst/>
          </a:prstGeom>
          <a:solidFill>
            <a:srgbClr val="E5EDF9"/>
          </a:solidFill>
          <a:ln>
            <a:solidFill>
              <a:srgbClr val="3F6D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64624" y="3026664"/>
            <a:ext cx="2020824" cy="320040"/>
          </a:xfrm>
          <a:prstGeom prst="rect">
            <a:avLst/>
          </a:prstGeom>
          <a:noFill/>
        </p:spPr>
        <p:txBody>
          <a:bodyPr wrap="square" lIns="36576" rIns="36576" tIns="36576" bIns="36576" anchor="t">
            <a:spAutoFit/>
          </a:bodyPr>
          <a:lstStyle/>
          <a:p>
            <a:pPr algn="l">
              <a:defRPr sz="1300" b="1">
                <a:solidFill>
                  <a:srgbClr val="3F6DB4"/>
                </a:solidFill>
                <a:latin typeface="Meiryo"/>
              </a:defRPr>
            </a:pPr>
            <a:r>
              <a:t>雨天 充電入力</a:t>
            </a:r>
          </a:p>
        </p:txBody>
      </p:sp>
      <p:sp>
        <p:nvSpPr>
          <p:cNvPr id="16" name="TextBox 15"/>
          <p:cNvSpPr txBox="1"/>
          <p:nvPr/>
        </p:nvSpPr>
        <p:spPr>
          <a:xfrm>
            <a:off x="9564624" y="3364992"/>
            <a:ext cx="2020824" cy="566928"/>
          </a:xfrm>
          <a:prstGeom prst="rect">
            <a:avLst/>
          </a:prstGeom>
          <a:noFill/>
        </p:spPr>
        <p:txBody>
          <a:bodyPr wrap="square" lIns="36576" rIns="36576" tIns="36576" bIns="36576" anchor="ctr">
            <a:spAutoFit/>
          </a:bodyPr>
          <a:lstStyle/>
          <a:p>
            <a:pPr algn="l">
              <a:defRPr sz="2500" b="1">
                <a:solidFill>
                  <a:srgbClr val="191F24"/>
                </a:solidFill>
                <a:latin typeface="Meiryo"/>
              </a:defRPr>
            </a:pPr>
            <a:r>
              <a:t>1092.0 kWh</a:t>
            </a:r>
          </a:p>
        </p:txBody>
      </p:sp>
      <p:sp>
        <p:nvSpPr>
          <p:cNvPr id="17" name="TextBox 16"/>
          <p:cNvSpPr txBox="1"/>
          <p:nvPr/>
        </p:nvSpPr>
        <p:spPr>
          <a:xfrm>
            <a:off x="9564624" y="3950208"/>
            <a:ext cx="2020824" cy="402335"/>
          </a:xfrm>
          <a:prstGeom prst="rect">
            <a:avLst/>
          </a:prstGeom>
          <a:noFill/>
        </p:spPr>
        <p:txBody>
          <a:bodyPr wrap="square" lIns="36576" rIns="36576" tIns="36576" bIns="36576" anchor="t">
            <a:spAutoFit/>
          </a:bodyPr>
          <a:lstStyle/>
          <a:p>
            <a:pPr algn="l">
              <a:defRPr sz="1150" b="0">
                <a:solidFill>
                  <a:srgbClr val="5C6670"/>
                </a:solidFill>
                <a:latin typeface="Meiryo"/>
              </a:defRPr>
            </a:pPr>
            <a:r>
              <a:t>系統1000.7 / PV1.0 / BESS90.3</a:t>
            </a:r>
          </a:p>
        </p:txBody>
      </p:sp>
      <p:sp>
        <p:nvSpPr>
          <p:cNvPr id="18" name="TextBox 17"/>
          <p:cNvSpPr txBox="1"/>
          <p:nvPr/>
        </p:nvSpPr>
        <p:spPr>
          <a:xfrm>
            <a:off x="9464040" y="4736592"/>
            <a:ext cx="2212848" cy="502920"/>
          </a:xfrm>
          <a:prstGeom prst="rect">
            <a:avLst/>
          </a:prstGeom>
          <a:noFill/>
        </p:spPr>
        <p:txBody>
          <a:bodyPr wrap="square" lIns="36576" rIns="36576" tIns="36576" bIns="36576" anchor="t">
            <a:spAutoFit/>
          </a:bodyPr>
          <a:lstStyle/>
          <a:p>
            <a:pPr algn="ctr">
              <a:defRPr sz="1250" b="1">
                <a:solidFill>
                  <a:srgbClr val="238E5E"/>
                </a:solidFill>
                <a:latin typeface="Meiryo"/>
              </a:defRPr>
            </a:pPr>
            <a:r>
              <a:t>電源合計−充電入力残差</a:t>
            </a:r>
            <a:br/>
            <a:r>
              <a:t>最大3.41×10⁻¹² kWh</a:t>
            </a:r>
          </a:p>
        </p:txBody>
      </p:sp>
      <p:sp>
        <p:nvSpPr>
          <p:cNvPr id="19" name="Rectangle 18"/>
          <p:cNvSpPr/>
          <p:nvPr/>
        </p:nvSpPr>
        <p:spPr>
          <a:xfrm>
            <a:off x="320040" y="5943600"/>
            <a:ext cx="11548872" cy="493776"/>
          </a:xfrm>
          <a:prstGeom prst="rect">
            <a:avLst/>
          </a:prstGeom>
          <a:solidFill>
            <a:srgbClr val="E1EFFA"/>
          </a:solidFill>
          <a:ln>
            <a:solidFill>
              <a:srgbClr val="E1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要点｜PV減少とEV担当便減少が同時に起きるため、雨天の系統購入日量は単純には増えない。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系統購入電力とピーク</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14/18</a:t>
            </a:r>
          </a:p>
        </p:txBody>
      </p:sp>
      <p:pic>
        <p:nvPicPr>
          <p:cNvPr id="9" name="Picture 8" descr="grid_import_comparison.png"/>
          <p:cNvPicPr>
            <a:picLocks noChangeAspect="1"/>
          </p:cNvPicPr>
          <p:nvPr/>
        </p:nvPicPr>
        <p:blipFill>
          <a:blip r:embed="rId2"/>
          <a:stretch>
            <a:fillRect/>
          </a:stretch>
        </p:blipFill>
        <p:spPr>
          <a:xfrm>
            <a:off x="502920" y="868680"/>
            <a:ext cx="8641080" cy="4389120"/>
          </a:xfrm>
          <a:prstGeom prst="rect">
            <a:avLst/>
          </a:prstGeom>
        </p:spPr>
      </p:pic>
      <p:sp>
        <p:nvSpPr>
          <p:cNvPr id="10" name="Rectangle 9"/>
          <p:cNvSpPr/>
          <p:nvPr/>
        </p:nvSpPr>
        <p:spPr>
          <a:xfrm>
            <a:off x="9400032" y="1024128"/>
            <a:ext cx="2350008" cy="1371600"/>
          </a:xfrm>
          <a:prstGeom prst="rect">
            <a:avLst/>
          </a:prstGeom>
          <a:solidFill>
            <a:srgbClr val="FFF4DB"/>
          </a:solidFill>
          <a:ln>
            <a:solidFill>
              <a:srgbClr val="E99A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64624" y="1161288"/>
            <a:ext cx="2020824" cy="320040"/>
          </a:xfrm>
          <a:prstGeom prst="rect">
            <a:avLst/>
          </a:prstGeom>
          <a:noFill/>
        </p:spPr>
        <p:txBody>
          <a:bodyPr wrap="square" lIns="36576" rIns="36576" tIns="36576" bIns="36576" anchor="t">
            <a:spAutoFit/>
          </a:bodyPr>
          <a:lstStyle/>
          <a:p>
            <a:pPr algn="l">
              <a:defRPr sz="1300" b="1">
                <a:solidFill>
                  <a:srgbClr val="E99A23"/>
                </a:solidFill>
                <a:latin typeface="Meiryo"/>
              </a:defRPr>
            </a:pPr>
            <a:r>
              <a:t>晴天</a:t>
            </a:r>
          </a:p>
        </p:txBody>
      </p:sp>
      <p:sp>
        <p:nvSpPr>
          <p:cNvPr id="12" name="TextBox 11"/>
          <p:cNvSpPr txBox="1"/>
          <p:nvPr/>
        </p:nvSpPr>
        <p:spPr>
          <a:xfrm>
            <a:off x="9564624" y="1499616"/>
            <a:ext cx="2020824" cy="566928"/>
          </a:xfrm>
          <a:prstGeom prst="rect">
            <a:avLst/>
          </a:prstGeom>
          <a:noFill/>
        </p:spPr>
        <p:txBody>
          <a:bodyPr wrap="square" lIns="36576" rIns="36576" tIns="36576" bIns="36576" anchor="ctr">
            <a:spAutoFit/>
          </a:bodyPr>
          <a:lstStyle/>
          <a:p>
            <a:pPr algn="l">
              <a:defRPr sz="2500" b="1">
                <a:solidFill>
                  <a:srgbClr val="191F24"/>
                </a:solidFill>
                <a:latin typeface="Meiryo"/>
              </a:defRPr>
            </a:pPr>
            <a:r>
              <a:t>1015.6 kWh</a:t>
            </a:r>
          </a:p>
        </p:txBody>
      </p:sp>
      <p:sp>
        <p:nvSpPr>
          <p:cNvPr id="13" name="TextBox 12"/>
          <p:cNvSpPr txBox="1"/>
          <p:nvPr/>
        </p:nvSpPr>
        <p:spPr>
          <a:xfrm>
            <a:off x="9564624" y="2084832"/>
            <a:ext cx="2020824" cy="201167"/>
          </a:xfrm>
          <a:prstGeom prst="rect">
            <a:avLst/>
          </a:prstGeom>
          <a:noFill/>
        </p:spPr>
        <p:txBody>
          <a:bodyPr wrap="square" lIns="36576" rIns="36576" tIns="36576" bIns="36576" anchor="t">
            <a:spAutoFit/>
          </a:bodyPr>
          <a:lstStyle/>
          <a:p>
            <a:pPr algn="l">
              <a:defRPr sz="1150" b="0">
                <a:solidFill>
                  <a:srgbClr val="5C6670"/>
                </a:solidFill>
                <a:latin typeface="Meiryo"/>
              </a:defRPr>
            </a:pPr>
            <a:r>
              <a:t>ピーク 95.4 kW</a:t>
            </a:r>
          </a:p>
        </p:txBody>
      </p:sp>
      <p:sp>
        <p:nvSpPr>
          <p:cNvPr id="14" name="Rectangle 13"/>
          <p:cNvSpPr/>
          <p:nvPr/>
        </p:nvSpPr>
        <p:spPr>
          <a:xfrm>
            <a:off x="9400032" y="2670048"/>
            <a:ext cx="2350008" cy="1371600"/>
          </a:xfrm>
          <a:prstGeom prst="rect">
            <a:avLst/>
          </a:prstGeom>
          <a:solidFill>
            <a:srgbClr val="E5EDF9"/>
          </a:solidFill>
          <a:ln>
            <a:solidFill>
              <a:srgbClr val="3F6D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64624" y="2807208"/>
            <a:ext cx="2020824" cy="320040"/>
          </a:xfrm>
          <a:prstGeom prst="rect">
            <a:avLst/>
          </a:prstGeom>
          <a:noFill/>
        </p:spPr>
        <p:txBody>
          <a:bodyPr wrap="square" lIns="36576" rIns="36576" tIns="36576" bIns="36576" anchor="t">
            <a:spAutoFit/>
          </a:bodyPr>
          <a:lstStyle/>
          <a:p>
            <a:pPr algn="l">
              <a:defRPr sz="1300" b="1">
                <a:solidFill>
                  <a:srgbClr val="3F6DB4"/>
                </a:solidFill>
                <a:latin typeface="Meiryo"/>
              </a:defRPr>
            </a:pPr>
            <a:r>
              <a:t>雨天</a:t>
            </a:r>
          </a:p>
        </p:txBody>
      </p:sp>
      <p:sp>
        <p:nvSpPr>
          <p:cNvPr id="16" name="TextBox 15"/>
          <p:cNvSpPr txBox="1"/>
          <p:nvPr/>
        </p:nvSpPr>
        <p:spPr>
          <a:xfrm>
            <a:off x="9564624" y="3145536"/>
            <a:ext cx="2020824" cy="566928"/>
          </a:xfrm>
          <a:prstGeom prst="rect">
            <a:avLst/>
          </a:prstGeom>
          <a:noFill/>
        </p:spPr>
        <p:txBody>
          <a:bodyPr wrap="square" lIns="36576" rIns="36576" tIns="36576" bIns="36576" anchor="ctr">
            <a:spAutoFit/>
          </a:bodyPr>
          <a:lstStyle/>
          <a:p>
            <a:pPr algn="l">
              <a:defRPr sz="2500" b="1">
                <a:solidFill>
                  <a:srgbClr val="191F24"/>
                </a:solidFill>
                <a:latin typeface="Meiryo"/>
              </a:defRPr>
            </a:pPr>
            <a:r>
              <a:t>1000.7 kWh</a:t>
            </a:r>
          </a:p>
        </p:txBody>
      </p:sp>
      <p:sp>
        <p:nvSpPr>
          <p:cNvPr id="17" name="TextBox 16"/>
          <p:cNvSpPr txBox="1"/>
          <p:nvPr/>
        </p:nvSpPr>
        <p:spPr>
          <a:xfrm>
            <a:off x="9564624" y="3730752"/>
            <a:ext cx="2020824" cy="201167"/>
          </a:xfrm>
          <a:prstGeom prst="rect">
            <a:avLst/>
          </a:prstGeom>
          <a:noFill/>
        </p:spPr>
        <p:txBody>
          <a:bodyPr wrap="square" lIns="36576" rIns="36576" tIns="36576" bIns="36576" anchor="t">
            <a:spAutoFit/>
          </a:bodyPr>
          <a:lstStyle/>
          <a:p>
            <a:pPr algn="l">
              <a:defRPr sz="1150" b="0">
                <a:solidFill>
                  <a:srgbClr val="5C6670"/>
                </a:solidFill>
                <a:latin typeface="Meiryo"/>
              </a:defRPr>
            </a:pPr>
            <a:r>
              <a:t>ピーク 120.2 kW</a:t>
            </a:r>
          </a:p>
        </p:txBody>
      </p:sp>
      <p:sp>
        <p:nvSpPr>
          <p:cNvPr id="18" name="TextBox 17"/>
          <p:cNvSpPr txBox="1"/>
          <p:nvPr/>
        </p:nvSpPr>
        <p:spPr>
          <a:xfrm>
            <a:off x="9528048" y="4352544"/>
            <a:ext cx="2084831" cy="749808"/>
          </a:xfrm>
          <a:prstGeom prst="rect">
            <a:avLst/>
          </a:prstGeom>
          <a:noFill/>
        </p:spPr>
        <p:txBody>
          <a:bodyPr wrap="square" lIns="36576" rIns="36576" tIns="36576" bIns="36576" anchor="t">
            <a:spAutoFit/>
          </a:bodyPr>
          <a:lstStyle/>
          <a:p>
            <a:pPr algn="ctr">
              <a:defRPr sz="1400" b="1">
                <a:solidFill>
                  <a:srgbClr val="C23737"/>
                </a:solidFill>
                <a:latin typeface="Meiryo"/>
              </a:defRPr>
            </a:pPr>
            <a:r>
              <a:t>雨天−晴天</a:t>
            </a:r>
            <a:br/>
            <a:r>
              <a:t>日量 −14.9 kWh</a:t>
            </a:r>
            <a:br/>
            <a:r>
              <a:t>ピーク +24.8 kW</a:t>
            </a:r>
          </a:p>
        </p:txBody>
      </p:sp>
      <p:sp>
        <p:nvSpPr>
          <p:cNvPr id="19" name="Rectangle 18"/>
          <p:cNvSpPr/>
          <p:nvPr/>
        </p:nvSpPr>
        <p:spPr>
          <a:xfrm>
            <a:off x="320040" y="5943600"/>
            <a:ext cx="11548872" cy="493776"/>
          </a:xfrm>
          <a:prstGeom prst="rect">
            <a:avLst/>
          </a:prstGeom>
          <a:solidFill>
            <a:srgbClr val="E1EFFA"/>
          </a:solidFill>
          <a:ln>
            <a:solidFill>
              <a:srgbClr val="E1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要点｜需要料金は日量ではなく最大kWで決まるため、雨天は系統日量が少なくても需要料金が高い。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電力需給帳尻の監査</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15/18</a:t>
            </a:r>
          </a:p>
        </p:txBody>
      </p:sp>
      <p:sp>
        <p:nvSpPr>
          <p:cNvPr id="9" name="Rectangle 8"/>
          <p:cNvSpPr/>
          <p:nvPr/>
        </p:nvSpPr>
        <p:spPr>
          <a:xfrm>
            <a:off x="438912" y="960120"/>
            <a:ext cx="5440680" cy="4553712"/>
          </a:xfrm>
          <a:prstGeom prst="rect">
            <a:avLst/>
          </a:prstGeom>
          <a:solidFill>
            <a:srgbClr val="FFFFFF"/>
          </a:solidFill>
          <a:ln>
            <a:solidFill>
              <a:srgbClr val="E99A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3" y="1051560"/>
            <a:ext cx="5102352" cy="347472"/>
          </a:xfrm>
          <a:prstGeom prst="rect">
            <a:avLst/>
          </a:prstGeom>
          <a:noFill/>
        </p:spPr>
        <p:txBody>
          <a:bodyPr wrap="square" lIns="36576" rIns="36576" tIns="36576" bIns="36576" anchor="t">
            <a:spAutoFit/>
          </a:bodyPr>
          <a:lstStyle/>
          <a:p>
            <a:pPr algn="ctr">
              <a:defRPr sz="1800" b="1">
                <a:solidFill>
                  <a:srgbClr val="E99A23"/>
                </a:solidFill>
                <a:latin typeface="Meiryo"/>
              </a:defRPr>
            </a:pPr>
            <a:r>
              <a:t>晴天  2025-08-05</a:t>
            </a:r>
          </a:p>
        </p:txBody>
      </p:sp>
      <p:sp>
        <p:nvSpPr>
          <p:cNvPr id="11" name="Rectangle 10"/>
          <p:cNvSpPr/>
          <p:nvPr/>
        </p:nvSpPr>
        <p:spPr>
          <a:xfrm>
            <a:off x="667512" y="1554480"/>
            <a:ext cx="1234440" cy="621792"/>
          </a:xfrm>
          <a:prstGeom prst="rect">
            <a:avLst/>
          </a:prstGeom>
          <a:solidFill>
            <a:srgbClr val="FFF4DB"/>
          </a:solidFill>
          <a:ln>
            <a:solidFill>
              <a:srgbClr val="E99A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627632"/>
            <a:ext cx="1143000" cy="457200"/>
          </a:xfrm>
          <a:prstGeom prst="rect">
            <a:avLst/>
          </a:prstGeom>
          <a:noFill/>
        </p:spPr>
        <p:txBody>
          <a:bodyPr wrap="square" lIns="36576" rIns="36576" tIns="36576" bIns="36576" anchor="ctr">
            <a:spAutoFit/>
          </a:bodyPr>
          <a:lstStyle/>
          <a:p>
            <a:pPr algn="ctr">
              <a:defRPr sz="1300" b="1">
                <a:solidFill>
                  <a:srgbClr val="003667"/>
                </a:solidFill>
                <a:latin typeface="Meiryo"/>
              </a:defRPr>
            </a:pPr>
            <a:r>
              <a:t>PV</a:t>
            </a:r>
            <a:br/>
            <a:r>
              <a:t>614.7</a:t>
            </a:r>
          </a:p>
        </p:txBody>
      </p:sp>
      <p:sp>
        <p:nvSpPr>
          <p:cNvPr id="13" name="TextBox 12"/>
          <p:cNvSpPr txBox="1"/>
          <p:nvPr/>
        </p:nvSpPr>
        <p:spPr>
          <a:xfrm>
            <a:off x="1947672" y="1719072"/>
            <a:ext cx="310896" cy="274320"/>
          </a:xfrm>
          <a:prstGeom prst="rect">
            <a:avLst/>
          </a:prstGeom>
          <a:noFill/>
        </p:spPr>
        <p:txBody>
          <a:bodyPr wrap="square" lIns="36576" rIns="36576" tIns="36576" bIns="36576" anchor="t">
            <a:spAutoFit/>
          </a:bodyPr>
          <a:lstStyle/>
          <a:p>
            <a:pPr algn="ctr">
              <a:defRPr sz="2000" b="1">
                <a:solidFill>
                  <a:srgbClr val="E99A23"/>
                </a:solidFill>
                <a:latin typeface="Meiryo"/>
              </a:defRPr>
            </a:pPr>
            <a:r>
              <a:t>→</a:t>
            </a:r>
          </a:p>
        </p:txBody>
      </p:sp>
      <p:sp>
        <p:nvSpPr>
          <p:cNvPr id="14" name="TextBox 13"/>
          <p:cNvSpPr txBox="1"/>
          <p:nvPr/>
        </p:nvSpPr>
        <p:spPr>
          <a:xfrm>
            <a:off x="2286000" y="1517904"/>
            <a:ext cx="1572768" cy="749808"/>
          </a:xfrm>
          <a:prstGeom prst="rect">
            <a:avLst/>
          </a:prstGeom>
          <a:noFill/>
        </p:spPr>
        <p:txBody>
          <a:bodyPr wrap="square" lIns="36576" rIns="36576" tIns="36576" bIns="36576" anchor="ctr">
            <a:spAutoFit/>
          </a:bodyPr>
          <a:lstStyle/>
          <a:p>
            <a:pPr algn="l">
              <a:defRPr sz="1250" b="1">
                <a:solidFill>
                  <a:srgbClr val="191F24"/>
                </a:solidFill>
                <a:latin typeface="Meiryo"/>
              </a:defRPr>
            </a:pPr>
            <a:r>
              <a:t>バス 163.8</a:t>
            </a:r>
            <a:br/>
            <a:r>
              <a:t>BESS 378.9</a:t>
            </a:r>
            <a:br/>
            <a:r>
              <a:t>抑制 71.9 kWh</a:t>
            </a:r>
          </a:p>
        </p:txBody>
      </p:sp>
      <p:sp>
        <p:nvSpPr>
          <p:cNvPr id="15" name="Rectangle 14"/>
          <p:cNvSpPr/>
          <p:nvPr/>
        </p:nvSpPr>
        <p:spPr>
          <a:xfrm>
            <a:off x="4059935" y="1554480"/>
            <a:ext cx="1508760" cy="621792"/>
          </a:xfrm>
          <a:prstGeom prst="rect">
            <a:avLst/>
          </a:prstGeom>
          <a:solidFill>
            <a:srgbClr val="E1EFFA"/>
          </a:solidFill>
          <a:ln>
            <a:solidFill>
              <a:srgbClr val="00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33087" y="1627632"/>
            <a:ext cx="1371600" cy="457200"/>
          </a:xfrm>
          <a:prstGeom prst="rect">
            <a:avLst/>
          </a:prstGeom>
          <a:noFill/>
        </p:spPr>
        <p:txBody>
          <a:bodyPr wrap="square" lIns="36576" rIns="36576" tIns="36576" bIns="36576" anchor="ctr">
            <a:spAutoFit/>
          </a:bodyPr>
          <a:lstStyle/>
          <a:p>
            <a:pPr algn="ctr">
              <a:defRPr sz="1250" b="1">
                <a:solidFill>
                  <a:srgbClr val="003667"/>
                </a:solidFill>
                <a:latin typeface="Meiryo"/>
              </a:defRPr>
            </a:pPr>
            <a:r>
              <a:t>系統購入</a:t>
            </a:r>
            <a:br/>
            <a:r>
              <a:t>1015.6 kWh</a:t>
            </a:r>
          </a:p>
        </p:txBody>
      </p:sp>
      <p:sp>
        <p:nvSpPr>
          <p:cNvPr id="17" name="Rectangle 16"/>
          <p:cNvSpPr/>
          <p:nvPr/>
        </p:nvSpPr>
        <p:spPr>
          <a:xfrm>
            <a:off x="667512" y="2487168"/>
            <a:ext cx="2103120" cy="1005840"/>
          </a:xfrm>
          <a:prstGeom prst="rect">
            <a:avLst/>
          </a:prstGeom>
          <a:solidFill>
            <a:srgbClr val="E3F6ED"/>
          </a:solidFill>
          <a:ln>
            <a:solidFill>
              <a:srgbClr val="238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2660904"/>
            <a:ext cx="658368" cy="256032"/>
          </a:xfrm>
          <a:prstGeom prst="rect">
            <a:avLst/>
          </a:prstGeom>
          <a:noFill/>
        </p:spPr>
        <p:txBody>
          <a:bodyPr wrap="square" lIns="36576" rIns="36576" tIns="36576" bIns="36576" anchor="t">
            <a:spAutoFit/>
          </a:bodyPr>
          <a:lstStyle/>
          <a:p>
            <a:pPr algn="l">
              <a:defRPr sz="1400" b="1">
                <a:solidFill>
                  <a:srgbClr val="238E5E"/>
                </a:solidFill>
                <a:latin typeface="Meiryo"/>
              </a:defRPr>
            </a:pPr>
            <a:r>
              <a:t>BESS</a:t>
            </a:r>
          </a:p>
        </p:txBody>
      </p:sp>
      <p:sp>
        <p:nvSpPr>
          <p:cNvPr id="19" name="TextBox 18"/>
          <p:cNvSpPr txBox="1"/>
          <p:nvPr/>
        </p:nvSpPr>
        <p:spPr>
          <a:xfrm>
            <a:off x="1517904" y="2551176"/>
            <a:ext cx="1124712" cy="713232"/>
          </a:xfrm>
          <a:prstGeom prst="rect">
            <a:avLst/>
          </a:prstGeom>
          <a:noFill/>
        </p:spPr>
        <p:txBody>
          <a:bodyPr wrap="square" lIns="36576" rIns="36576" tIns="36576" bIns="36576" anchor="t">
            <a:spAutoFit/>
          </a:bodyPr>
          <a:lstStyle/>
          <a:p>
            <a:pPr algn="l">
              <a:defRPr sz="1150" b="1">
                <a:solidFill>
                  <a:srgbClr val="191F24"/>
                </a:solidFill>
                <a:latin typeface="Meiryo"/>
              </a:defRPr>
            </a:pPr>
            <a:r>
              <a:t>入力 378.9</a:t>
            </a:r>
            <a:br/>
            <a:r>
              <a:t>バス供給 342.0 kWh</a:t>
            </a:r>
          </a:p>
        </p:txBody>
      </p:sp>
      <p:sp>
        <p:nvSpPr>
          <p:cNvPr id="20" name="TextBox 19"/>
          <p:cNvSpPr txBox="1"/>
          <p:nvPr/>
        </p:nvSpPr>
        <p:spPr>
          <a:xfrm>
            <a:off x="2834640" y="2816352"/>
            <a:ext cx="310896" cy="274320"/>
          </a:xfrm>
          <a:prstGeom prst="rect">
            <a:avLst/>
          </a:prstGeom>
          <a:noFill/>
        </p:spPr>
        <p:txBody>
          <a:bodyPr wrap="square" lIns="36576" rIns="36576" tIns="36576" bIns="36576" anchor="t">
            <a:spAutoFit/>
          </a:bodyPr>
          <a:lstStyle/>
          <a:p>
            <a:pPr algn="ctr">
              <a:defRPr sz="2000" b="1">
                <a:solidFill>
                  <a:srgbClr val="E99A23"/>
                </a:solidFill>
                <a:latin typeface="Meiryo"/>
              </a:defRPr>
            </a:pPr>
            <a:r>
              <a:t>→</a:t>
            </a:r>
          </a:p>
        </p:txBody>
      </p:sp>
      <p:sp>
        <p:nvSpPr>
          <p:cNvPr id="21" name="Rectangle 20"/>
          <p:cNvSpPr/>
          <p:nvPr/>
        </p:nvSpPr>
        <p:spPr>
          <a:xfrm>
            <a:off x="3200400" y="2487168"/>
            <a:ext cx="2368296" cy="1005840"/>
          </a:xfrm>
          <a:prstGeom prst="rect">
            <a:avLst/>
          </a:prstGeom>
          <a:solidFill>
            <a:srgbClr val="F2F4F6"/>
          </a:solidFill>
          <a:ln>
            <a:solidFill>
              <a:srgbClr val="5C6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0" y="2560320"/>
            <a:ext cx="2176272" cy="749808"/>
          </a:xfrm>
          <a:prstGeom prst="rect">
            <a:avLst/>
          </a:prstGeom>
          <a:noFill/>
        </p:spPr>
        <p:txBody>
          <a:bodyPr wrap="square" lIns="36576" rIns="36576" tIns="36576" bIns="36576" anchor="ctr">
            <a:spAutoFit/>
          </a:bodyPr>
          <a:lstStyle/>
          <a:p>
            <a:pPr algn="ctr">
              <a:defRPr sz="1200" b="1">
                <a:solidFill>
                  <a:srgbClr val="191F24"/>
                </a:solidFill>
                <a:latin typeface="Meiryo"/>
              </a:defRPr>
            </a:pPr>
            <a:r>
              <a:t>充電入力合計</a:t>
            </a:r>
            <a:br/>
            <a:r>
              <a:t>1521.4 kWh</a:t>
            </a:r>
            <a:br/>
            <a:r>
              <a:t>= 系統 + PV + BESS</a:t>
            </a:r>
          </a:p>
        </p:txBody>
      </p:sp>
      <p:sp>
        <p:nvSpPr>
          <p:cNvPr id="23" name="TextBox 22"/>
          <p:cNvSpPr txBox="1"/>
          <p:nvPr/>
        </p:nvSpPr>
        <p:spPr>
          <a:xfrm>
            <a:off x="694944" y="3776472"/>
            <a:ext cx="4882896" cy="347472"/>
          </a:xfrm>
          <a:prstGeom prst="rect">
            <a:avLst/>
          </a:prstGeom>
          <a:noFill/>
        </p:spPr>
        <p:txBody>
          <a:bodyPr wrap="square" lIns="36576" rIns="36576" tIns="36576" bIns="36576" anchor="t">
            <a:spAutoFit/>
          </a:bodyPr>
          <a:lstStyle/>
          <a:p>
            <a:pPr algn="ctr">
              <a:defRPr sz="1350" b="1">
                <a:solidFill>
                  <a:srgbClr val="003667"/>
                </a:solidFill>
                <a:latin typeface="Meiryo"/>
              </a:defRPr>
            </a:pPr>
            <a:r>
              <a:t>BESS: 300 → 300 kWh　往復損失 36.9 kWh</a:t>
            </a:r>
          </a:p>
        </p:txBody>
      </p:sp>
      <p:sp>
        <p:nvSpPr>
          <p:cNvPr id="24" name="TextBox 23"/>
          <p:cNvSpPr txBox="1"/>
          <p:nvPr/>
        </p:nvSpPr>
        <p:spPr>
          <a:xfrm>
            <a:off x="923544" y="4297680"/>
            <a:ext cx="4425696" cy="658368"/>
          </a:xfrm>
          <a:prstGeom prst="rect">
            <a:avLst/>
          </a:prstGeom>
          <a:noFill/>
        </p:spPr>
        <p:txBody>
          <a:bodyPr wrap="square" lIns="36576" rIns="36576" tIns="36576" bIns="36576" anchor="ctr">
            <a:spAutoFit/>
          </a:bodyPr>
          <a:lstStyle/>
          <a:p>
            <a:pPr algn="ctr">
              <a:defRPr sz="1400" b="1">
                <a:solidFill>
                  <a:srgbClr val="238E5E"/>
                </a:solidFill>
                <a:latin typeface="Meiryo"/>
              </a:defRPr>
            </a:pPr>
            <a:r>
              <a:t>PV・充電源・BESS式の最大残差</a:t>
            </a:r>
            <a:br/>
            <a:r>
              <a:t>3.41e-12 kWh  ≤  1.0e-6 kWh</a:t>
            </a:r>
          </a:p>
        </p:txBody>
      </p:sp>
      <p:sp>
        <p:nvSpPr>
          <p:cNvPr id="25" name="Rectangle 24"/>
          <p:cNvSpPr/>
          <p:nvPr/>
        </p:nvSpPr>
        <p:spPr>
          <a:xfrm>
            <a:off x="6309360" y="960120"/>
            <a:ext cx="5440680" cy="4553712"/>
          </a:xfrm>
          <a:prstGeom prst="rect">
            <a:avLst/>
          </a:prstGeom>
          <a:solidFill>
            <a:srgbClr val="FFFFFF"/>
          </a:solidFill>
          <a:ln>
            <a:solidFill>
              <a:srgbClr val="3F6D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1051560"/>
            <a:ext cx="5102352" cy="347472"/>
          </a:xfrm>
          <a:prstGeom prst="rect">
            <a:avLst/>
          </a:prstGeom>
          <a:noFill/>
        </p:spPr>
        <p:txBody>
          <a:bodyPr wrap="square" lIns="36576" rIns="36576" tIns="36576" bIns="36576" anchor="t">
            <a:spAutoFit/>
          </a:bodyPr>
          <a:lstStyle/>
          <a:p>
            <a:pPr algn="ctr">
              <a:defRPr sz="1800" b="1">
                <a:solidFill>
                  <a:srgbClr val="3F6DB4"/>
                </a:solidFill>
                <a:latin typeface="Meiryo"/>
              </a:defRPr>
            </a:pPr>
            <a:r>
              <a:t>雨天  2025-08-10</a:t>
            </a:r>
          </a:p>
        </p:txBody>
      </p:sp>
      <p:sp>
        <p:nvSpPr>
          <p:cNvPr id="27" name="Rectangle 26"/>
          <p:cNvSpPr/>
          <p:nvPr/>
        </p:nvSpPr>
        <p:spPr>
          <a:xfrm>
            <a:off x="6537960" y="1554480"/>
            <a:ext cx="1234440" cy="621792"/>
          </a:xfrm>
          <a:prstGeom prst="rect">
            <a:avLst/>
          </a:prstGeom>
          <a:solidFill>
            <a:srgbClr val="E5EDF9"/>
          </a:solidFill>
          <a:ln>
            <a:solidFill>
              <a:srgbClr val="3F6D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1627632"/>
            <a:ext cx="1143000" cy="457200"/>
          </a:xfrm>
          <a:prstGeom prst="rect">
            <a:avLst/>
          </a:prstGeom>
          <a:noFill/>
        </p:spPr>
        <p:txBody>
          <a:bodyPr wrap="square" lIns="36576" rIns="36576" tIns="36576" bIns="36576" anchor="ctr">
            <a:spAutoFit/>
          </a:bodyPr>
          <a:lstStyle/>
          <a:p>
            <a:pPr algn="ctr">
              <a:defRPr sz="1300" b="1">
                <a:solidFill>
                  <a:srgbClr val="003667"/>
                </a:solidFill>
                <a:latin typeface="Meiryo"/>
              </a:defRPr>
            </a:pPr>
            <a:r>
              <a:t>PV</a:t>
            </a:r>
            <a:br/>
            <a:r>
              <a:t>101.1</a:t>
            </a:r>
          </a:p>
        </p:txBody>
      </p:sp>
      <p:sp>
        <p:nvSpPr>
          <p:cNvPr id="29" name="TextBox 28"/>
          <p:cNvSpPr txBox="1"/>
          <p:nvPr/>
        </p:nvSpPr>
        <p:spPr>
          <a:xfrm>
            <a:off x="7818120" y="1719072"/>
            <a:ext cx="310896" cy="274320"/>
          </a:xfrm>
          <a:prstGeom prst="rect">
            <a:avLst/>
          </a:prstGeom>
          <a:noFill/>
        </p:spPr>
        <p:txBody>
          <a:bodyPr wrap="square" lIns="36576" rIns="36576" tIns="36576" bIns="36576" anchor="t">
            <a:spAutoFit/>
          </a:bodyPr>
          <a:lstStyle/>
          <a:p>
            <a:pPr algn="ctr">
              <a:defRPr sz="2000" b="1">
                <a:solidFill>
                  <a:srgbClr val="3F6DB4"/>
                </a:solidFill>
                <a:latin typeface="Meiryo"/>
              </a:defRPr>
            </a:pPr>
            <a:r>
              <a:t>→</a:t>
            </a:r>
          </a:p>
        </p:txBody>
      </p:sp>
      <p:sp>
        <p:nvSpPr>
          <p:cNvPr id="30" name="TextBox 29"/>
          <p:cNvSpPr txBox="1"/>
          <p:nvPr/>
        </p:nvSpPr>
        <p:spPr>
          <a:xfrm>
            <a:off x="8156448" y="1517904"/>
            <a:ext cx="1572768" cy="749808"/>
          </a:xfrm>
          <a:prstGeom prst="rect">
            <a:avLst/>
          </a:prstGeom>
          <a:noFill/>
        </p:spPr>
        <p:txBody>
          <a:bodyPr wrap="square" lIns="36576" rIns="36576" tIns="36576" bIns="36576" anchor="ctr">
            <a:spAutoFit/>
          </a:bodyPr>
          <a:lstStyle/>
          <a:p>
            <a:pPr algn="l">
              <a:defRPr sz="1250" b="1">
                <a:solidFill>
                  <a:srgbClr val="191F24"/>
                </a:solidFill>
                <a:latin typeface="Meiryo"/>
              </a:defRPr>
            </a:pPr>
            <a:r>
              <a:t>バス 1.0</a:t>
            </a:r>
            <a:br/>
            <a:r>
              <a:t>BESS 100.1</a:t>
            </a:r>
            <a:br/>
            <a:r>
              <a:t>抑制 0.0 kWh</a:t>
            </a:r>
          </a:p>
        </p:txBody>
      </p:sp>
      <p:sp>
        <p:nvSpPr>
          <p:cNvPr id="31" name="Rectangle 30"/>
          <p:cNvSpPr/>
          <p:nvPr/>
        </p:nvSpPr>
        <p:spPr>
          <a:xfrm>
            <a:off x="9930384" y="1554480"/>
            <a:ext cx="1508760" cy="621792"/>
          </a:xfrm>
          <a:prstGeom prst="rect">
            <a:avLst/>
          </a:prstGeom>
          <a:solidFill>
            <a:srgbClr val="E1EFFA"/>
          </a:solidFill>
          <a:ln>
            <a:solidFill>
              <a:srgbClr val="00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03536" y="1627632"/>
            <a:ext cx="1371600" cy="457200"/>
          </a:xfrm>
          <a:prstGeom prst="rect">
            <a:avLst/>
          </a:prstGeom>
          <a:noFill/>
        </p:spPr>
        <p:txBody>
          <a:bodyPr wrap="square" lIns="36576" rIns="36576" tIns="36576" bIns="36576" anchor="ctr">
            <a:spAutoFit/>
          </a:bodyPr>
          <a:lstStyle/>
          <a:p>
            <a:pPr algn="ctr">
              <a:defRPr sz="1250" b="1">
                <a:solidFill>
                  <a:srgbClr val="003667"/>
                </a:solidFill>
                <a:latin typeface="Meiryo"/>
              </a:defRPr>
            </a:pPr>
            <a:r>
              <a:t>系統購入</a:t>
            </a:r>
            <a:br/>
            <a:r>
              <a:t>1000.7 kWh</a:t>
            </a:r>
          </a:p>
        </p:txBody>
      </p:sp>
      <p:sp>
        <p:nvSpPr>
          <p:cNvPr id="33" name="Rectangle 32"/>
          <p:cNvSpPr/>
          <p:nvPr/>
        </p:nvSpPr>
        <p:spPr>
          <a:xfrm>
            <a:off x="6537960" y="2487168"/>
            <a:ext cx="2103120" cy="1005840"/>
          </a:xfrm>
          <a:prstGeom prst="rect">
            <a:avLst/>
          </a:prstGeom>
          <a:solidFill>
            <a:srgbClr val="E3F6ED"/>
          </a:solidFill>
          <a:ln>
            <a:solidFill>
              <a:srgbClr val="238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56832" y="2660904"/>
            <a:ext cx="658368" cy="256032"/>
          </a:xfrm>
          <a:prstGeom prst="rect">
            <a:avLst/>
          </a:prstGeom>
          <a:noFill/>
        </p:spPr>
        <p:txBody>
          <a:bodyPr wrap="square" lIns="36576" rIns="36576" tIns="36576" bIns="36576" anchor="t">
            <a:spAutoFit/>
          </a:bodyPr>
          <a:lstStyle/>
          <a:p>
            <a:pPr algn="l">
              <a:defRPr sz="1400" b="1">
                <a:solidFill>
                  <a:srgbClr val="238E5E"/>
                </a:solidFill>
                <a:latin typeface="Meiryo"/>
              </a:defRPr>
            </a:pPr>
            <a:r>
              <a:t>BESS</a:t>
            </a:r>
          </a:p>
        </p:txBody>
      </p:sp>
      <p:sp>
        <p:nvSpPr>
          <p:cNvPr id="35" name="TextBox 34"/>
          <p:cNvSpPr txBox="1"/>
          <p:nvPr/>
        </p:nvSpPr>
        <p:spPr>
          <a:xfrm>
            <a:off x="7388352" y="2551176"/>
            <a:ext cx="1124712" cy="713232"/>
          </a:xfrm>
          <a:prstGeom prst="rect">
            <a:avLst/>
          </a:prstGeom>
          <a:noFill/>
        </p:spPr>
        <p:txBody>
          <a:bodyPr wrap="square" lIns="36576" rIns="36576" tIns="36576" bIns="36576" anchor="t">
            <a:spAutoFit/>
          </a:bodyPr>
          <a:lstStyle/>
          <a:p>
            <a:pPr algn="l">
              <a:defRPr sz="1150" b="1">
                <a:solidFill>
                  <a:srgbClr val="191F24"/>
                </a:solidFill>
                <a:latin typeface="Meiryo"/>
              </a:defRPr>
            </a:pPr>
            <a:r>
              <a:t>入力 100.1</a:t>
            </a:r>
            <a:br/>
            <a:r>
              <a:t>バス供給 90.3 kWh</a:t>
            </a:r>
          </a:p>
        </p:txBody>
      </p:sp>
      <p:sp>
        <p:nvSpPr>
          <p:cNvPr id="36" name="TextBox 35"/>
          <p:cNvSpPr txBox="1"/>
          <p:nvPr/>
        </p:nvSpPr>
        <p:spPr>
          <a:xfrm>
            <a:off x="8705088" y="2816352"/>
            <a:ext cx="310896" cy="274320"/>
          </a:xfrm>
          <a:prstGeom prst="rect">
            <a:avLst/>
          </a:prstGeom>
          <a:noFill/>
        </p:spPr>
        <p:txBody>
          <a:bodyPr wrap="square" lIns="36576" rIns="36576" tIns="36576" bIns="36576" anchor="t">
            <a:spAutoFit/>
          </a:bodyPr>
          <a:lstStyle/>
          <a:p>
            <a:pPr algn="ctr">
              <a:defRPr sz="2000" b="1">
                <a:solidFill>
                  <a:srgbClr val="3F6DB4"/>
                </a:solidFill>
                <a:latin typeface="Meiryo"/>
              </a:defRPr>
            </a:pPr>
            <a:r>
              <a:t>→</a:t>
            </a:r>
          </a:p>
        </p:txBody>
      </p:sp>
      <p:sp>
        <p:nvSpPr>
          <p:cNvPr id="37" name="Rectangle 36"/>
          <p:cNvSpPr/>
          <p:nvPr/>
        </p:nvSpPr>
        <p:spPr>
          <a:xfrm>
            <a:off x="9070848" y="2487168"/>
            <a:ext cx="2368296" cy="1005840"/>
          </a:xfrm>
          <a:prstGeom prst="rect">
            <a:avLst/>
          </a:prstGeom>
          <a:solidFill>
            <a:srgbClr val="F2F4F6"/>
          </a:solidFill>
          <a:ln>
            <a:solidFill>
              <a:srgbClr val="5C6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62288" y="2560320"/>
            <a:ext cx="2176272" cy="749808"/>
          </a:xfrm>
          <a:prstGeom prst="rect">
            <a:avLst/>
          </a:prstGeom>
          <a:noFill/>
        </p:spPr>
        <p:txBody>
          <a:bodyPr wrap="square" lIns="36576" rIns="36576" tIns="36576" bIns="36576" anchor="ctr">
            <a:spAutoFit/>
          </a:bodyPr>
          <a:lstStyle/>
          <a:p>
            <a:pPr algn="ctr">
              <a:defRPr sz="1200" b="1">
                <a:solidFill>
                  <a:srgbClr val="191F24"/>
                </a:solidFill>
                <a:latin typeface="Meiryo"/>
              </a:defRPr>
            </a:pPr>
            <a:r>
              <a:t>充電入力合計</a:t>
            </a:r>
            <a:br/>
            <a:r>
              <a:t>1092.0 kWh</a:t>
            </a:r>
            <a:br/>
            <a:r>
              <a:t>= 系統 + PV + BESS</a:t>
            </a:r>
          </a:p>
        </p:txBody>
      </p:sp>
      <p:sp>
        <p:nvSpPr>
          <p:cNvPr id="39" name="TextBox 38"/>
          <p:cNvSpPr txBox="1"/>
          <p:nvPr/>
        </p:nvSpPr>
        <p:spPr>
          <a:xfrm>
            <a:off x="6565392" y="3776472"/>
            <a:ext cx="4882896" cy="347472"/>
          </a:xfrm>
          <a:prstGeom prst="rect">
            <a:avLst/>
          </a:prstGeom>
          <a:noFill/>
        </p:spPr>
        <p:txBody>
          <a:bodyPr wrap="square" lIns="36576" rIns="36576" tIns="36576" bIns="36576" anchor="t">
            <a:spAutoFit/>
          </a:bodyPr>
          <a:lstStyle/>
          <a:p>
            <a:pPr algn="ctr">
              <a:defRPr sz="1350" b="1">
                <a:solidFill>
                  <a:srgbClr val="003667"/>
                </a:solidFill>
                <a:latin typeface="Meiryo"/>
              </a:defRPr>
            </a:pPr>
            <a:r>
              <a:t>BESS: 300 → 300 kWh　往復損失 9.8 kWh</a:t>
            </a:r>
          </a:p>
        </p:txBody>
      </p:sp>
      <p:sp>
        <p:nvSpPr>
          <p:cNvPr id="40" name="TextBox 39"/>
          <p:cNvSpPr txBox="1"/>
          <p:nvPr/>
        </p:nvSpPr>
        <p:spPr>
          <a:xfrm>
            <a:off x="6793992" y="4297680"/>
            <a:ext cx="4425696" cy="658368"/>
          </a:xfrm>
          <a:prstGeom prst="rect">
            <a:avLst/>
          </a:prstGeom>
          <a:noFill/>
        </p:spPr>
        <p:txBody>
          <a:bodyPr wrap="square" lIns="36576" rIns="36576" tIns="36576" bIns="36576" anchor="ctr">
            <a:spAutoFit/>
          </a:bodyPr>
          <a:lstStyle/>
          <a:p>
            <a:pPr algn="ctr">
              <a:defRPr sz="1400" b="1">
                <a:solidFill>
                  <a:srgbClr val="238E5E"/>
                </a:solidFill>
                <a:latin typeface="Meiryo"/>
              </a:defRPr>
            </a:pPr>
            <a:r>
              <a:t>PV・充電源・BESS式の最大残差</a:t>
            </a:r>
            <a:br/>
            <a:r>
              <a:t>1.98e-12 kWh  ≤  1.0e-6 kWh</a:t>
            </a:r>
          </a:p>
        </p:txBody>
      </p:sp>
      <p:sp>
        <p:nvSpPr>
          <p:cNvPr id="41" name="Rectangle 40"/>
          <p:cNvSpPr/>
          <p:nvPr/>
        </p:nvSpPr>
        <p:spPr>
          <a:xfrm>
            <a:off x="320040" y="5943600"/>
            <a:ext cx="11548872" cy="493776"/>
          </a:xfrm>
          <a:prstGeom prst="rect">
            <a:avLst/>
          </a:prstGeom>
          <a:solidFill>
            <a:srgbClr val="E3F6ED"/>
          </a:solidFill>
          <a:ln>
            <a:solidFill>
              <a:srgbClr val="E3F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238E5E"/>
                </a:solidFill>
                <a:latin typeface="Meiryo"/>
              </a:defRPr>
            </a:pPr>
            <a:r>
              <a:t>要点｜PV式・充電源式・BESS遷移式は、両日とも1.0×10⁻⁶ kWh以下で成立。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エンジンバス燃料と運行の整合</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16/18</a:t>
            </a:r>
          </a:p>
        </p:txBody>
      </p:sp>
      <p:pic>
        <p:nvPicPr>
          <p:cNvPr id="9" name="Picture 8" descr="fuel_operation_comparison.png"/>
          <p:cNvPicPr>
            <a:picLocks noChangeAspect="1"/>
          </p:cNvPicPr>
          <p:nvPr/>
        </p:nvPicPr>
        <p:blipFill>
          <a:blip r:embed="rId2"/>
          <a:stretch>
            <a:fillRect/>
          </a:stretch>
        </p:blipFill>
        <p:spPr>
          <a:xfrm>
            <a:off x="457200" y="841248"/>
            <a:ext cx="8092440" cy="4526280"/>
          </a:xfrm>
          <a:prstGeom prst="rect">
            <a:avLst/>
          </a:prstGeom>
        </p:spPr>
      </p:pic>
      <p:sp>
        <p:nvSpPr>
          <p:cNvPr id="10" name="Rectangle 9"/>
          <p:cNvSpPr/>
          <p:nvPr/>
        </p:nvSpPr>
        <p:spPr>
          <a:xfrm>
            <a:off x="8796528" y="1024128"/>
            <a:ext cx="2944368" cy="4160520"/>
          </a:xfrm>
          <a:prstGeom prst="rect">
            <a:avLst/>
          </a:prstGeom>
          <a:solidFill>
            <a:srgbClr val="F2F4F6"/>
          </a:solidFill>
          <a:ln>
            <a:solidFill>
              <a:srgbClr val="5C6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97696" y="1234440"/>
            <a:ext cx="2542032" cy="320040"/>
          </a:xfrm>
          <a:prstGeom prst="rect">
            <a:avLst/>
          </a:prstGeom>
          <a:noFill/>
        </p:spPr>
        <p:txBody>
          <a:bodyPr wrap="square" lIns="36576" rIns="36576" tIns="36576" bIns="36576" anchor="t">
            <a:spAutoFit/>
          </a:bodyPr>
          <a:lstStyle/>
          <a:p>
            <a:pPr algn="ctr">
              <a:defRPr sz="1700" b="1">
                <a:solidFill>
                  <a:srgbClr val="003667"/>
                </a:solidFill>
                <a:latin typeface="Meiryo"/>
              </a:defRPr>
            </a:pPr>
            <a:r>
              <a:t>距離ベース再計算</a:t>
            </a:r>
          </a:p>
        </p:txBody>
      </p:sp>
      <p:sp>
        <p:nvSpPr>
          <p:cNvPr id="12" name="TextBox 11"/>
          <p:cNvSpPr txBox="1"/>
          <p:nvPr/>
        </p:nvSpPr>
        <p:spPr>
          <a:xfrm>
            <a:off x="9034272" y="1755648"/>
            <a:ext cx="2468880" cy="1188720"/>
          </a:xfrm>
          <a:prstGeom prst="rect">
            <a:avLst/>
          </a:prstGeom>
          <a:noFill/>
        </p:spPr>
        <p:txBody>
          <a:bodyPr wrap="square" lIns="36576" rIns="36576" tIns="36576" bIns="36576" anchor="t">
            <a:spAutoFit/>
          </a:bodyPr>
          <a:lstStyle/>
          <a:p>
            <a:pPr algn="ctr">
              <a:defRPr sz="1350" b="1">
                <a:solidFill>
                  <a:srgbClr val="191F24"/>
                </a:solidFill>
                <a:latin typeface="Meiryo"/>
              </a:defRPr>
            </a:pPr>
            <a:r>
              <a:t>晴天</a:t>
            </a:r>
            <a:br/>
            <a:r>
              <a:t>1162.7 + 124.5 km</a:t>
            </a:r>
            <a:br/>
            <a:r>
              <a:t>→ 284.773 L</a:t>
            </a:r>
            <a:br/>
            <a:r>
              <a:t>→ 42,716円</a:t>
            </a:r>
          </a:p>
        </p:txBody>
      </p:sp>
      <p:sp>
        <p:nvSpPr>
          <p:cNvPr id="13" name="TextBox 12"/>
          <p:cNvSpPr txBox="1"/>
          <p:nvPr/>
        </p:nvSpPr>
        <p:spPr>
          <a:xfrm>
            <a:off x="9034272" y="3063240"/>
            <a:ext cx="2468880" cy="1188720"/>
          </a:xfrm>
          <a:prstGeom prst="rect">
            <a:avLst/>
          </a:prstGeom>
          <a:noFill/>
        </p:spPr>
        <p:txBody>
          <a:bodyPr wrap="square" lIns="36576" rIns="36576" tIns="36576" bIns="36576" anchor="t">
            <a:spAutoFit/>
          </a:bodyPr>
          <a:lstStyle/>
          <a:p>
            <a:pPr algn="ctr">
              <a:defRPr sz="1350" b="1">
                <a:solidFill>
                  <a:srgbClr val="191F24"/>
                </a:solidFill>
                <a:latin typeface="Meiryo"/>
              </a:defRPr>
            </a:pPr>
            <a:r>
              <a:t>雨天</a:t>
            </a:r>
            <a:br/>
            <a:r>
              <a:t>1404.0 + 134.4 km</a:t>
            </a:r>
            <a:br/>
            <a:r>
              <a:t>→ 340.364 L</a:t>
            </a:r>
            <a:br/>
            <a:r>
              <a:t>→ 51,055円</a:t>
            </a:r>
          </a:p>
        </p:txBody>
      </p:sp>
      <p:sp>
        <p:nvSpPr>
          <p:cNvPr id="14" name="TextBox 13"/>
          <p:cNvSpPr txBox="1"/>
          <p:nvPr/>
        </p:nvSpPr>
        <p:spPr>
          <a:xfrm>
            <a:off x="9052560" y="4453128"/>
            <a:ext cx="2432304" cy="530352"/>
          </a:xfrm>
          <a:prstGeom prst="rect">
            <a:avLst/>
          </a:prstGeom>
          <a:noFill/>
        </p:spPr>
        <p:txBody>
          <a:bodyPr wrap="square" lIns="36576" rIns="36576" tIns="36576" bIns="36576" anchor="t">
            <a:spAutoFit/>
          </a:bodyPr>
          <a:lstStyle/>
          <a:p>
            <a:pPr algn="ctr">
              <a:defRPr sz="1250" b="1">
                <a:solidFill>
                  <a:srgbClr val="238E5E"/>
                </a:solidFill>
                <a:latin typeface="Meiryo"/>
              </a:defRPr>
            </a:pPr>
            <a:r>
              <a:t>燃料単価150円/L</a:t>
            </a:r>
            <a:br/>
            <a:r>
              <a:t>再計算残差 &lt; 2×10⁻¹⁰円</a:t>
            </a:r>
          </a:p>
        </p:txBody>
      </p:sp>
      <p:sp>
        <p:nvSpPr>
          <p:cNvPr id="15" name="Rectangle 14"/>
          <p:cNvSpPr/>
          <p:nvPr/>
        </p:nvSpPr>
        <p:spPr>
          <a:xfrm>
            <a:off x="320040" y="5943600"/>
            <a:ext cx="11548872" cy="493776"/>
          </a:xfrm>
          <a:prstGeom prst="rect">
            <a:avLst/>
          </a:prstGeom>
          <a:solidFill>
            <a:srgbClr val="FCE8E8"/>
          </a:solidFill>
          <a:ln>
            <a:solidFill>
              <a:srgbClr val="FC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C23737"/>
                </a:solidFill>
                <a:latin typeface="Meiryo"/>
              </a:defRPr>
            </a:pPr>
            <a:r>
              <a:t>要点｜運行距離とは整合するが、給油イベント0件のため“実現給油量”ではなく距離ベース仮勘定。</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費用比較：晴天と雨天</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17/18</a:t>
            </a:r>
          </a:p>
        </p:txBody>
      </p:sp>
      <p:pic>
        <p:nvPicPr>
          <p:cNvPr id="9" name="Picture 8" descr="cost_comparison.png"/>
          <p:cNvPicPr>
            <a:picLocks noChangeAspect="1"/>
          </p:cNvPicPr>
          <p:nvPr/>
        </p:nvPicPr>
        <p:blipFill>
          <a:blip r:embed="rId2"/>
          <a:stretch>
            <a:fillRect/>
          </a:stretch>
        </p:blipFill>
        <p:spPr>
          <a:xfrm>
            <a:off x="502920" y="841248"/>
            <a:ext cx="8549640" cy="4526280"/>
          </a:xfrm>
          <a:prstGeom prst="rect">
            <a:avLst/>
          </a:prstGeom>
        </p:spPr>
      </p:pic>
      <p:sp>
        <p:nvSpPr>
          <p:cNvPr id="10" name="Rectangle 9"/>
          <p:cNvSpPr/>
          <p:nvPr/>
        </p:nvSpPr>
        <p:spPr>
          <a:xfrm>
            <a:off x="9308592" y="1024128"/>
            <a:ext cx="2441448" cy="1444752"/>
          </a:xfrm>
          <a:prstGeom prst="rect">
            <a:avLst/>
          </a:prstGeom>
          <a:solidFill>
            <a:srgbClr val="FCE8E8"/>
          </a:solidFill>
          <a:ln>
            <a:solidFill>
              <a:srgbClr val="C2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73184" y="1161288"/>
            <a:ext cx="2112264" cy="320040"/>
          </a:xfrm>
          <a:prstGeom prst="rect">
            <a:avLst/>
          </a:prstGeom>
          <a:noFill/>
        </p:spPr>
        <p:txBody>
          <a:bodyPr wrap="square" lIns="36576" rIns="36576" tIns="36576" bIns="36576" anchor="t">
            <a:spAutoFit/>
          </a:bodyPr>
          <a:lstStyle/>
          <a:p>
            <a:pPr algn="l">
              <a:defRPr sz="1300" b="1">
                <a:solidFill>
                  <a:srgbClr val="C23737"/>
                </a:solidFill>
                <a:latin typeface="Meiryo"/>
              </a:defRPr>
            </a:pPr>
            <a:r>
              <a:t>総費用差</a:t>
            </a:r>
          </a:p>
        </p:txBody>
      </p:sp>
      <p:sp>
        <p:nvSpPr>
          <p:cNvPr id="12" name="TextBox 11"/>
          <p:cNvSpPr txBox="1"/>
          <p:nvPr/>
        </p:nvSpPr>
        <p:spPr>
          <a:xfrm>
            <a:off x="9473184" y="1499616"/>
            <a:ext cx="2112264" cy="566928"/>
          </a:xfrm>
          <a:prstGeom prst="rect">
            <a:avLst/>
          </a:prstGeom>
          <a:noFill/>
        </p:spPr>
        <p:txBody>
          <a:bodyPr wrap="square" lIns="36576" rIns="36576" tIns="36576" bIns="36576" anchor="ctr">
            <a:spAutoFit/>
          </a:bodyPr>
          <a:lstStyle/>
          <a:p>
            <a:pPr algn="l">
              <a:defRPr sz="2500" b="1">
                <a:solidFill>
                  <a:srgbClr val="191F24"/>
                </a:solidFill>
                <a:latin typeface="Meiryo"/>
              </a:defRPr>
            </a:pPr>
            <a:r>
              <a:t>+9,479円</a:t>
            </a:r>
          </a:p>
        </p:txBody>
      </p:sp>
      <p:sp>
        <p:nvSpPr>
          <p:cNvPr id="13" name="TextBox 12"/>
          <p:cNvSpPr txBox="1"/>
          <p:nvPr/>
        </p:nvSpPr>
        <p:spPr>
          <a:xfrm>
            <a:off x="9473184" y="2084832"/>
            <a:ext cx="2112264" cy="274320"/>
          </a:xfrm>
          <a:prstGeom prst="rect">
            <a:avLst/>
          </a:prstGeom>
          <a:noFill/>
        </p:spPr>
        <p:txBody>
          <a:bodyPr wrap="square" lIns="36576" rIns="36576" tIns="36576" bIns="36576" anchor="t">
            <a:spAutoFit/>
          </a:bodyPr>
          <a:lstStyle/>
          <a:p>
            <a:pPr algn="l">
              <a:defRPr sz="1150" b="0">
                <a:solidFill>
                  <a:srgbClr val="5C6670"/>
                </a:solidFill>
                <a:latin typeface="Meiryo"/>
              </a:defRPr>
            </a:pPr>
            <a:r>
              <a:t>雨天は晴天比 +1.33%</a:t>
            </a:r>
          </a:p>
        </p:txBody>
      </p:sp>
      <p:sp>
        <p:nvSpPr>
          <p:cNvPr id="14" name="TextBox 13"/>
          <p:cNvSpPr txBox="1"/>
          <p:nvPr/>
        </p:nvSpPr>
        <p:spPr>
          <a:xfrm>
            <a:off x="9491472" y="2788920"/>
            <a:ext cx="2075688" cy="914400"/>
          </a:xfrm>
          <a:prstGeom prst="rect">
            <a:avLst/>
          </a:prstGeom>
          <a:noFill/>
        </p:spPr>
        <p:txBody>
          <a:bodyPr wrap="square" lIns="36576" rIns="36576" tIns="36576" bIns="36576" anchor="t">
            <a:spAutoFit/>
          </a:bodyPr>
          <a:lstStyle/>
          <a:p>
            <a:pPr algn="ctr">
              <a:defRPr sz="1500" b="1">
                <a:solidFill>
                  <a:srgbClr val="191F24"/>
                </a:solidFill>
                <a:latin typeface="Meiryo"/>
              </a:defRPr>
            </a:pPr>
            <a:r>
              <a:t>主な増加要因</a:t>
            </a:r>
            <a:br/>
            <a:r>
              <a:t>燃料 +8,339円</a:t>
            </a:r>
            <a:br/>
            <a:r>
              <a:t>需要料金 +992円</a:t>
            </a:r>
          </a:p>
        </p:txBody>
      </p:sp>
      <p:sp>
        <p:nvSpPr>
          <p:cNvPr id="15" name="TextBox 14"/>
          <p:cNvSpPr txBox="1"/>
          <p:nvPr/>
        </p:nvSpPr>
        <p:spPr>
          <a:xfrm>
            <a:off x="9491472" y="4087368"/>
            <a:ext cx="2075688" cy="685800"/>
          </a:xfrm>
          <a:prstGeom prst="rect">
            <a:avLst/>
          </a:prstGeom>
          <a:noFill/>
        </p:spPr>
        <p:txBody>
          <a:bodyPr wrap="square" lIns="36576" rIns="36576" tIns="36576" bIns="36576" anchor="t">
            <a:spAutoFit/>
          </a:bodyPr>
          <a:lstStyle/>
          <a:p>
            <a:pPr algn="ctr">
              <a:defRPr sz="1250" b="1">
                <a:solidFill>
                  <a:srgbClr val="003667"/>
                </a:solidFill>
                <a:latin typeface="Meiryo"/>
              </a:defRPr>
            </a:pPr>
            <a:r>
              <a:t>電力費はほぼ同額</a:t>
            </a:r>
            <a:br/>
            <a:r>
              <a:t>EV便数の差とピーク時刻を同時に見る必要</a:t>
            </a:r>
          </a:p>
        </p:txBody>
      </p:sp>
      <p:sp>
        <p:nvSpPr>
          <p:cNvPr id="16" name="Rectangle 15"/>
          <p:cNvSpPr/>
          <p:nvPr/>
        </p:nvSpPr>
        <p:spPr>
          <a:xfrm>
            <a:off x="320040" y="5943600"/>
            <a:ext cx="11548872" cy="493776"/>
          </a:xfrm>
          <a:prstGeom prst="rect">
            <a:avLst/>
          </a:prstGeom>
          <a:solidFill>
            <a:srgbClr val="E1EFFA"/>
          </a:solidFill>
          <a:ln>
            <a:solidFill>
              <a:srgbClr val="E1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要点｜雨天コスト増の中心は、EV便減少による燃料費と高い系統ピークによる需要料金。</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09728"/>
            <a:ext cx="9784080" cy="438912"/>
          </a:xfrm>
          <a:prstGeom prst="rect">
            <a:avLst/>
          </a:prstGeom>
          <a:noFill/>
        </p:spPr>
        <p:txBody>
          <a:bodyPr wrap="square" lIns="36576" rIns="36576" tIns="36576" bIns="36576" anchor="ctr">
            <a:spAutoFit/>
          </a:bodyPr>
          <a:lstStyle/>
          <a:p>
            <a:pPr algn="l">
              <a:defRPr sz="2400" b="1">
                <a:solidFill>
                  <a:srgbClr val="003667"/>
                </a:solidFill>
                <a:latin typeface="Meiryo"/>
              </a:defRPr>
            </a:pPr>
            <a:r>
              <a:t>まとめと次の検証</a:t>
            </a:r>
          </a:p>
        </p:txBody>
      </p:sp>
      <p:cxnSp>
        <p:nvCxnSpPr>
          <p:cNvPr id="3" name="Connector 2"/>
          <p:cNvCxnSpPr/>
          <p:nvPr/>
        </p:nvCxnSpPr>
        <p:spPr>
          <a:xfrm>
            <a:off x="0" y="612648"/>
            <a:ext cx="12191695" cy="0"/>
          </a:xfrm>
          <a:prstGeom prst="line">
            <a:avLst/>
          </a:prstGeom>
          <a:ln w="25400">
            <a:solidFill>
              <a:srgbClr val="005CA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0588752" y="137160"/>
            <a:ext cx="283464" cy="16459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43616" y="347472"/>
            <a:ext cx="73152" cy="73152"/>
          </a:xfrm>
          <a:prstGeom prst="rect">
            <a:avLst/>
          </a:prstGeom>
          <a:solidFill>
            <a:srgbClr val="00A4DE"/>
          </a:solidFill>
          <a:ln>
            <a:solidFill>
              <a:srgbClr val="00A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91440"/>
            <a:ext cx="987552" cy="228600"/>
          </a:xfrm>
          <a:prstGeom prst="rect">
            <a:avLst/>
          </a:prstGeom>
          <a:noFill/>
        </p:spPr>
        <p:txBody>
          <a:bodyPr wrap="square" lIns="0" rIns="0" tIns="0" bIns="0" anchor="ctr">
            <a:spAutoFit/>
          </a:bodyPr>
          <a:lstStyle/>
          <a:p>
            <a:pPr algn="l">
              <a:defRPr sz="1050" b="1">
                <a:solidFill>
                  <a:srgbClr val="191F24"/>
                </a:solidFill>
                <a:latin typeface="Meiryo"/>
              </a:defRPr>
            </a:pPr>
            <a:r>
              <a:t>東京都市大学</a:t>
            </a:r>
          </a:p>
        </p:txBody>
      </p:sp>
      <p:sp>
        <p:nvSpPr>
          <p:cNvPr id="7" name="TextBox 6"/>
          <p:cNvSpPr txBox="1"/>
          <p:nvPr/>
        </p:nvSpPr>
        <p:spPr>
          <a:xfrm>
            <a:off x="10927080" y="320040"/>
            <a:ext cx="987552" cy="109728"/>
          </a:xfrm>
          <a:prstGeom prst="rect">
            <a:avLst/>
          </a:prstGeom>
          <a:noFill/>
        </p:spPr>
        <p:txBody>
          <a:bodyPr wrap="square" lIns="0" rIns="0" tIns="0" bIns="0" anchor="ctr">
            <a:spAutoFit/>
          </a:bodyPr>
          <a:lstStyle/>
          <a:p>
            <a:pPr algn="l">
              <a:defRPr sz="470" b="0">
                <a:solidFill>
                  <a:srgbClr val="191F24"/>
                </a:solidFill>
                <a:latin typeface="Meiryo"/>
              </a:defRPr>
            </a:pPr>
            <a:r>
              <a:t>TOKYO CITY UNIVERSITY</a:t>
            </a:r>
          </a:p>
        </p:txBody>
      </p:sp>
      <p:sp>
        <p:nvSpPr>
          <p:cNvPr id="8" name="TextBox 7"/>
          <p:cNvSpPr txBox="1"/>
          <p:nvPr/>
        </p:nvSpPr>
        <p:spPr>
          <a:xfrm>
            <a:off x="274320" y="6565392"/>
            <a:ext cx="11612880" cy="201168"/>
          </a:xfrm>
          <a:prstGeom prst="rect">
            <a:avLst/>
          </a:prstGeom>
          <a:noFill/>
        </p:spPr>
        <p:txBody>
          <a:bodyPr wrap="square" lIns="36576" rIns="36576" tIns="36576" bIns="36576" anchor="t">
            <a:spAutoFit/>
          </a:bodyPr>
          <a:lstStyle/>
          <a:p>
            <a:pPr algn="r">
              <a:defRPr sz="850" b="0">
                <a:solidFill>
                  <a:srgbClr val="5C6670"/>
                </a:solidFill>
                <a:latin typeface="Meiryo"/>
              </a:defRPr>
            </a:pPr>
            <a:r>
              <a:t>EVバスPhase 3進捗　2026-07-16　18/18</a:t>
            </a:r>
          </a:p>
        </p:txBody>
      </p:sp>
      <p:sp>
        <p:nvSpPr>
          <p:cNvPr id="9" name="Rectangle 8"/>
          <p:cNvSpPr/>
          <p:nvPr/>
        </p:nvSpPr>
        <p:spPr>
          <a:xfrm>
            <a:off x="438912" y="914400"/>
            <a:ext cx="5532120" cy="4553712"/>
          </a:xfrm>
          <a:prstGeom prst="rect">
            <a:avLst/>
          </a:prstGeom>
          <a:solidFill>
            <a:srgbClr val="E1EFFA"/>
          </a:solidFill>
          <a:ln>
            <a:solidFill>
              <a:srgbClr val="00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1170432"/>
            <a:ext cx="5010912" cy="365760"/>
          </a:xfrm>
          <a:prstGeom prst="rect">
            <a:avLst/>
          </a:prstGeom>
          <a:noFill/>
        </p:spPr>
        <p:txBody>
          <a:bodyPr wrap="square" lIns="36576" rIns="36576" tIns="36576" bIns="36576" anchor="t">
            <a:spAutoFit/>
          </a:bodyPr>
          <a:lstStyle/>
          <a:p>
            <a:pPr algn="ctr">
              <a:defRPr sz="2000" b="1">
                <a:solidFill>
                  <a:srgbClr val="003667"/>
                </a:solidFill>
                <a:latin typeface="Meiryo"/>
              </a:defRPr>
            </a:pPr>
            <a:r>
              <a:t>今回答えられること</a:t>
            </a:r>
          </a:p>
        </p:txBody>
      </p:sp>
      <p:sp>
        <p:nvSpPr>
          <p:cNvPr id="11" name="TextBox 10"/>
          <p:cNvSpPr txBox="1"/>
          <p:nvPr/>
        </p:nvSpPr>
        <p:spPr>
          <a:xfrm>
            <a:off x="749808" y="1755648"/>
            <a:ext cx="4901184" cy="3063240"/>
          </a:xfrm>
          <a:prstGeom prst="rect">
            <a:avLst/>
          </a:prstGeom>
          <a:noFill/>
        </p:spPr>
        <p:txBody>
          <a:bodyPr wrap="square">
            <a:spAutoFit/>
          </a:bodyPr>
          <a:lstStyle/>
          <a:p>
            <a:pPr>
              <a:spcAft>
                <a:spcPts val="900"/>
              </a:spcAft>
              <a:defRPr sz="1520">
                <a:solidFill>
                  <a:srgbClr val="191F24"/>
                </a:solidFill>
                <a:latin typeface="Meiryo"/>
              </a:defRPr>
            </a:pPr>
            <a:r>
              <a:t>● BESSは両日とも日末ΔSOC=0 kWh</a:t>
            </a:r>
          </a:p>
          <a:p>
            <a:pPr>
              <a:spcAft>
                <a:spcPts val="900"/>
              </a:spcAft>
              <a:defRPr sz="1520">
                <a:solidFill>
                  <a:srgbClr val="191F24"/>
                </a:solidFill>
                <a:latin typeface="Meiryo"/>
              </a:defRPr>
            </a:pPr>
            <a:r>
              <a:t>● 晴天でもEVは16/35台で、全車使用ではない</a:t>
            </a:r>
          </a:p>
          <a:p>
            <a:pPr>
              <a:spcAft>
                <a:spcPts val="900"/>
              </a:spcAft>
              <a:defRPr sz="1520">
                <a:solidFill>
                  <a:srgbClr val="191F24"/>
                </a:solidFill>
                <a:latin typeface="Meiryo"/>
              </a:defRPr>
            </a:pPr>
            <a:r>
              <a:t>● PV・充電源・BESSの需給式は許容誤差内</a:t>
            </a:r>
          </a:p>
          <a:p>
            <a:pPr>
              <a:spcAft>
                <a:spcPts val="900"/>
              </a:spcAft>
              <a:defRPr sz="1520">
                <a:solidFill>
                  <a:srgbClr val="191F24"/>
                </a:solidFill>
                <a:latin typeface="Meiryo"/>
              </a:defRPr>
            </a:pPr>
            <a:r>
              <a:t>● 燃料費は営業＋便間回送距離と整合</a:t>
            </a:r>
          </a:p>
          <a:p>
            <a:pPr>
              <a:spcAft>
                <a:spcPts val="900"/>
              </a:spcAft>
              <a:defRPr sz="1520">
                <a:solidFill>
                  <a:srgbClr val="191F24"/>
                </a:solidFill>
                <a:latin typeface="Meiryo"/>
              </a:defRPr>
            </a:pPr>
            <a:r>
              <a:t>● 晴天はEV便が22便多く、総費用が9,479円低い</a:t>
            </a:r>
          </a:p>
        </p:txBody>
      </p:sp>
      <p:sp>
        <p:nvSpPr>
          <p:cNvPr id="12" name="Rectangle 11"/>
          <p:cNvSpPr/>
          <p:nvPr/>
        </p:nvSpPr>
        <p:spPr>
          <a:xfrm>
            <a:off x="6236208" y="914400"/>
            <a:ext cx="5513832" cy="4553712"/>
          </a:xfrm>
          <a:prstGeom prst="rect">
            <a:avLst/>
          </a:prstGeom>
          <a:solidFill>
            <a:srgbClr val="FFF4DB"/>
          </a:solidFill>
          <a:ln>
            <a:solidFill>
              <a:srgbClr val="E99A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170432"/>
            <a:ext cx="5001768" cy="365760"/>
          </a:xfrm>
          <a:prstGeom prst="rect">
            <a:avLst/>
          </a:prstGeom>
          <a:noFill/>
        </p:spPr>
        <p:txBody>
          <a:bodyPr wrap="square" lIns="36576" rIns="36576" tIns="36576" bIns="36576" anchor="t">
            <a:spAutoFit/>
          </a:bodyPr>
          <a:lstStyle/>
          <a:p>
            <a:pPr algn="ctr">
              <a:defRPr sz="2000" b="1">
                <a:solidFill>
                  <a:srgbClr val="003667"/>
                </a:solidFill>
                <a:latin typeface="Meiryo"/>
              </a:defRPr>
            </a:pPr>
            <a:r>
              <a:t>今後の検証課題</a:t>
            </a:r>
          </a:p>
        </p:txBody>
      </p:sp>
      <p:sp>
        <p:nvSpPr>
          <p:cNvPr id="14" name="TextBox 13"/>
          <p:cNvSpPr txBox="1"/>
          <p:nvPr/>
        </p:nvSpPr>
        <p:spPr>
          <a:xfrm>
            <a:off x="6547104" y="1755648"/>
            <a:ext cx="4882896" cy="3063240"/>
          </a:xfrm>
          <a:prstGeom prst="rect">
            <a:avLst/>
          </a:prstGeom>
          <a:noFill/>
        </p:spPr>
        <p:txBody>
          <a:bodyPr wrap="square">
            <a:spAutoFit/>
          </a:bodyPr>
          <a:lstStyle/>
          <a:p>
            <a:pPr>
              <a:spcAft>
                <a:spcPts val="900"/>
              </a:spcAft>
              <a:defRPr sz="1520">
                <a:solidFill>
                  <a:srgbClr val="191F24"/>
                </a:solidFill>
                <a:latin typeface="Meiryo"/>
              </a:defRPr>
            </a:pPr>
            <a:r>
              <a:t>● ICE26台が正ならscenarioを修正し再計算</a:t>
            </a:r>
          </a:p>
          <a:p>
            <a:pPr>
              <a:spcAft>
                <a:spcPts val="900"/>
              </a:spcAft>
              <a:defRPr sz="1520">
                <a:solidFill>
                  <a:srgbClr val="191F24"/>
                </a:solidFill>
                <a:latin typeface="Meiryo"/>
              </a:defRPr>
            </a:pPr>
            <a:r>
              <a:t>● 燃料タンクSOC・給油時間・給油設備を実現台帳化</a:t>
            </a:r>
          </a:p>
          <a:p>
            <a:pPr>
              <a:spcAft>
                <a:spcPts val="900"/>
              </a:spcAft>
              <a:defRPr sz="1520">
                <a:solidFill>
                  <a:srgbClr val="191F24"/>
                </a:solidFill>
                <a:latin typeface="Meiryo"/>
              </a:defRPr>
            </a:pPr>
            <a:r>
              <a:t>● 変更内容を整理した版で両日を同条件再実行</a:t>
            </a:r>
          </a:p>
          <a:p>
            <a:pPr>
              <a:spcAft>
                <a:spcPts val="900"/>
              </a:spcAft>
              <a:defRPr sz="1520">
                <a:solidFill>
                  <a:srgbClr val="191F24"/>
                </a:solidFill>
                <a:latin typeface="Meiryo"/>
              </a:defRPr>
            </a:pPr>
            <a:r>
              <a:t>● Stage 1 gapを縮め、複数seedで頑健性を確認</a:t>
            </a:r>
          </a:p>
          <a:p>
            <a:pPr>
              <a:spcAft>
                <a:spcPts val="900"/>
              </a:spcAft>
              <a:defRPr sz="1520">
                <a:solidFill>
                  <a:srgbClr val="191F24"/>
                </a:solidFill>
                <a:latin typeface="Meiryo"/>
              </a:defRPr>
            </a:pPr>
            <a:r>
              <a:t>● EV全車使用／EV台数制約の感度分析を別実験化</a:t>
            </a:r>
          </a:p>
        </p:txBody>
      </p:sp>
      <p:sp>
        <p:nvSpPr>
          <p:cNvPr id="15" name="Rectangle 14"/>
          <p:cNvSpPr/>
          <p:nvPr/>
        </p:nvSpPr>
        <p:spPr>
          <a:xfrm>
            <a:off x="320040" y="5943600"/>
            <a:ext cx="11548872" cy="493776"/>
          </a:xfrm>
          <a:prstGeom prst="rect">
            <a:avLst/>
          </a:prstGeom>
          <a:solidFill>
            <a:srgbClr val="E1EFFA"/>
          </a:solidFill>
          <a:ln>
            <a:solidFill>
              <a:srgbClr val="E1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035040"/>
            <a:ext cx="11155680" cy="274320"/>
          </a:xfrm>
          <a:prstGeom prst="rect">
            <a:avLst/>
          </a:prstGeom>
          <a:noFill/>
        </p:spPr>
        <p:txBody>
          <a:bodyPr wrap="square" lIns="36576" rIns="36576" tIns="36576" bIns="36576" anchor="ctr">
            <a:spAutoFit/>
          </a:bodyPr>
          <a:lstStyle/>
          <a:p>
            <a:pPr algn="l">
              <a:defRPr sz="1450" b="1">
                <a:solidFill>
                  <a:srgbClr val="003667"/>
                </a:solidFill>
                <a:latin typeface="Meiryo"/>
              </a:defRPr>
            </a:pPr>
            <a:r>
              <a:t>要点｜現時点の成果は“内部整合したPhase 3可行解”。正式KPI化には入力台数と最適性の残課題を解消する。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