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B8C4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5852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16B8C4"/>
                </a:solidFill>
                <a:latin typeface="Meiryo UI"/>
              </a:defRPr>
            </a:pPr>
            <a:r>
              <a:t>MASTER’S THESIS •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4241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eiryo UI"/>
              </a:defRPr>
            </a:pPr>
            <a:r>
              <a:t>EVバス運用最適化モデル</a:t>
            </a:r>
            <a:br/>
            <a:r>
              <a:t>復旧・天候差反映の進捗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8595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CADAE7"/>
                </a:solidFill>
                <a:latin typeface="Meiryo UI"/>
              </a:defRPr>
            </a:pPr>
            <a:r>
              <a:t>2026年7月11日–16日｜実フロント入力・Gurobi Phase 3検証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22191"/>
            <a:ext cx="10698480" cy="1143000"/>
          </a:xfrm>
          <a:prstGeom prst="roundRect">
            <a:avLst/>
          </a:prstGeom>
          <a:solidFill>
            <a:srgbClr val="17344D"/>
          </a:solidFill>
          <a:ln>
            <a:solidFill>
              <a:srgbClr val="2E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096512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16B8C4"/>
                </a:solidFill>
                <a:latin typeface="Meiryo UI"/>
              </a:defRPr>
            </a:pPr>
            <a:r>
              <a:t>研究の主張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4005072"/>
            <a:ext cx="8823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eiryo UI"/>
              </a:defRPr>
            </a:pPr>
            <a:r>
              <a:t>「最適な表」ではなく、EV運用の成立条件と支配制約を定量化する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089904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B2C7D9"/>
                </a:solidFill>
                <a:latin typeface="Meiryo UI"/>
              </a:defRPr>
            </a:pPr>
            <a:r>
              <a:t>対象：鶴巻営業所・264便・BEV 35台 / ICE 25台・晴天 2025-08-05 / 雨天 2025-08-10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01 /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研究の軸を「制約構造の説明」へ戻す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5E6F80"/>
                </a:solidFill>
                <a:latin typeface="Meiryo UI"/>
              </a:rPr>
              <a:t>最適化 = </a:t>
            </a:r>
            <a:r>
              <a:rPr sz="2300" b="1">
                <a:solidFill>
                  <a:srgbClr val="0B1F33"/>
                </a:solidFill>
                <a:latin typeface="Meiryo UI"/>
              </a:rPr>
              <a:t>成立条件とボトルネックを調べる実験装置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76272"/>
            <a:ext cx="3401568" cy="2514600"/>
          </a:xfrm>
          <a:prstGeom prst="roundRect">
            <a:avLst/>
          </a:prstGeom>
          <a:solidFill>
            <a:srgbClr val="E1F6ED"/>
          </a:solidFill>
          <a:ln>
            <a:solidFill>
              <a:srgbClr val="28A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32304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28A879"/>
                </a:solidFill>
                <a:latin typeface="Meiryo UI"/>
              </a:defRPr>
            </a:pPr>
            <a:r>
              <a:t>可行性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834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0B1F33"/>
                </a:solidFill>
                <a:latin typeface="Meiryo UI"/>
              </a:defRPr>
            </a:pPr>
            <a:r>
              <a:t>既存264便を</a:t>
            </a:r>
            <a:br/>
            <a:r>
              <a:t>全便維持できるか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788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E6F80"/>
                </a:solidFill>
                <a:latin typeface="Meiryo UI"/>
              </a:defRPr>
            </a:pPr>
            <a:r>
              <a:t>全便・接続・SOC・充電器・契約電力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176272"/>
            <a:ext cx="3401568" cy="2514600"/>
          </a:xfrm>
          <a:prstGeom prst="roundRect">
            <a:avLst/>
          </a:prstGeom>
          <a:solidFill>
            <a:srgbClr val="FFF5DB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432304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F5B941"/>
                </a:solidFill>
                <a:latin typeface="Meiryo UI"/>
              </a:defRPr>
            </a:pPr>
            <a:r>
              <a:t>支配制約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834640"/>
            <a:ext cx="2834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0B1F33"/>
                </a:solidFill>
                <a:latin typeface="Meiryo UI"/>
              </a:defRPr>
            </a:pPr>
            <a:r>
              <a:t>何がEV化を</a:t>
            </a:r>
            <a:br/>
            <a:r>
              <a:t>止めているか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931920"/>
            <a:ext cx="2788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E6F80"/>
                </a:solidFill>
                <a:latin typeface="Meiryo UI"/>
              </a:defRPr>
            </a:pPr>
            <a:r>
              <a:t>車両数 / 充電窓 / 初期SOC / PV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2176272"/>
            <a:ext cx="3401568" cy="2514600"/>
          </a:xfrm>
          <a:prstGeom prst="roundRect">
            <a:avLst/>
          </a:prstGeom>
          <a:solidFill>
            <a:srgbClr val="E2EBFB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432304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4D78CC"/>
                </a:solidFill>
                <a:latin typeface="Meiryo UI"/>
              </a:defRPr>
            </a:pPr>
            <a:r>
              <a:t>介入効果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834640"/>
            <a:ext cx="2834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0B1F33"/>
                </a:solidFill>
                <a:latin typeface="Meiryo UI"/>
              </a:defRPr>
            </a:pPr>
            <a:r>
              <a:t>PV・BESS・契約を</a:t>
            </a:r>
            <a:br/>
            <a:r>
              <a:t>変えると何が動くか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3931920"/>
            <a:ext cx="2788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E6F80"/>
                </a:solidFill>
                <a:latin typeface="Meiryo UI"/>
              </a:defRPr>
            </a:pPr>
            <a:r>
              <a:t>台数・担当便・買電・ピーク・費用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7008" y="5166360"/>
            <a:ext cx="97840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5413248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E35D6A"/>
                </a:solidFill>
                <a:latin typeface="Meiryo UI"/>
              </a:defRPr>
            </a:pPr>
            <a:r>
              <a:t>今回の焦点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5330952"/>
            <a:ext cx="79552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E2A36"/>
                </a:solidFill>
                <a:latin typeface="Meiryo UI"/>
              </a:defRPr>
            </a:pPr>
            <a:r>
              <a:t>PV発電量の差がStage 1のBEV/ICE割当に届いていなかった構造を修正し、Stage 2で物理可行性を再検証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02 / VERIFIED CALL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検証済みの実行経路：二段階を混同しない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56231"/>
            <a:ext cx="2487168" cy="2066543"/>
          </a:xfrm>
          <a:prstGeom prst="roundRect">
            <a:avLst/>
          </a:prstGeom>
          <a:solidFill>
            <a:srgbClr val="FFFFFF"/>
          </a:solidFill>
          <a:ln>
            <a:solidFill>
              <a:srgbClr val="17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56231"/>
            <a:ext cx="2487168" cy="146304"/>
          </a:xfrm>
          <a:prstGeom prst="rect">
            <a:avLst/>
          </a:prstGeom>
          <a:solidFill>
            <a:srgbClr val="17344D"/>
          </a:solidFill>
          <a:ln>
            <a:solidFill>
              <a:srgbClr val="17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7344D"/>
                </a:solidFill>
                <a:latin typeface="Meiryo UI"/>
              </a:defRPr>
            </a:pPr>
            <a:r>
              <a:t>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23744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0B1F33"/>
                </a:solidFill>
                <a:latin typeface="Meiryo UI"/>
              </a:defRPr>
            </a:pPr>
            <a:r>
              <a:t>Frontend scenario</a:t>
            </a:r>
            <a:br/>
            <a:r>
              <a:t>+ prepared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82112"/>
            <a:ext cx="20116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E6F80"/>
                </a:solidFill>
                <a:latin typeface="Meiryo UI"/>
              </a:defRPr>
            </a:pPr>
            <a:r>
              <a:t>料金・在庫・SOC</a:t>
            </a:r>
            <a:br/>
            <a:r>
              <a:t>PV/BESS・日付</a:t>
            </a:r>
          </a:p>
        </p:txBody>
      </p:sp>
      <p:sp>
        <p:nvSpPr>
          <p:cNvPr id="11" name="Chevron 10"/>
          <p:cNvSpPr/>
          <p:nvPr/>
        </p:nvSpPr>
        <p:spPr>
          <a:xfrm>
            <a:off x="3054096" y="2670048"/>
            <a:ext cx="301752" cy="384048"/>
          </a:xfrm>
          <a:prstGeom prst="chevron">
            <a:avLst/>
          </a:prstGeom>
          <a:solidFill>
            <a:srgbClr val="D7DEE5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1856231"/>
            <a:ext cx="2487168" cy="2066543"/>
          </a:xfrm>
          <a:prstGeom prst="roundRect">
            <a:avLst/>
          </a:prstGeom>
          <a:solidFill>
            <a:srgbClr val="FFFFFF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56231"/>
            <a:ext cx="2487168" cy="146304"/>
          </a:xfrm>
          <a:prstGeom prst="rect">
            <a:avLst/>
          </a:prstGeom>
          <a:solidFill>
            <a:srgbClr val="16B8C4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2128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23744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0B1F33"/>
                </a:solidFill>
                <a:latin typeface="Meiryo UI"/>
              </a:defRPr>
            </a:pPr>
            <a:r>
              <a:t>運行割当 MILP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82112"/>
            <a:ext cx="20116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E6F80"/>
                </a:solidFill>
                <a:latin typeface="Meiryo UI"/>
              </a:defRPr>
            </a:pPr>
            <a:r>
              <a:t>全便・接続・車両</a:t>
            </a:r>
            <a:br/>
            <a:r>
              <a:t>SOC必要条件・費用代理</a:t>
            </a:r>
          </a:p>
        </p:txBody>
      </p:sp>
      <p:sp>
        <p:nvSpPr>
          <p:cNvPr id="17" name="Chevron 16"/>
          <p:cNvSpPr/>
          <p:nvPr/>
        </p:nvSpPr>
        <p:spPr>
          <a:xfrm>
            <a:off x="5980176" y="2670048"/>
            <a:ext cx="301752" cy="384048"/>
          </a:xfrm>
          <a:prstGeom prst="chevron">
            <a:avLst/>
          </a:prstGeom>
          <a:solidFill>
            <a:srgbClr val="D7DEE5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1856231"/>
            <a:ext cx="2487168" cy="2066543"/>
          </a:xfrm>
          <a:prstGeom prst="roundRect">
            <a:avLst/>
          </a:prstGeom>
          <a:solidFill>
            <a:srgbClr val="FFFFFF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856231"/>
            <a:ext cx="2487168" cy="146304"/>
          </a:xfrm>
          <a:prstGeom prst="rect">
            <a:avLst/>
          </a:prstGeom>
          <a:solidFill>
            <a:srgbClr val="4D78CC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2128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4D78CC"/>
                </a:solidFill>
                <a:latin typeface="Meiryo UI"/>
              </a:defRPr>
            </a:pPr>
            <a: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23744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0B1F33"/>
                </a:solidFill>
                <a:latin typeface="Meiryo UI"/>
              </a:defRPr>
            </a:pPr>
            <a:r>
              <a:t>固定割当の充電 MILP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82112"/>
            <a:ext cx="20116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E6F80"/>
                </a:solidFill>
                <a:latin typeface="Meiryo UI"/>
              </a:defRPr>
            </a:pPr>
            <a:r>
              <a:t>SOC・充電器・PV/BESS</a:t>
            </a:r>
            <a:br/>
            <a:r>
              <a:t>契約電力・時刻別費用</a:t>
            </a:r>
          </a:p>
        </p:txBody>
      </p:sp>
      <p:sp>
        <p:nvSpPr>
          <p:cNvPr id="23" name="Chevron 22"/>
          <p:cNvSpPr/>
          <p:nvPr/>
        </p:nvSpPr>
        <p:spPr>
          <a:xfrm>
            <a:off x="8906256" y="2670048"/>
            <a:ext cx="301752" cy="384048"/>
          </a:xfrm>
          <a:prstGeom prst="chevron">
            <a:avLst/>
          </a:prstGeom>
          <a:solidFill>
            <a:srgbClr val="D7DEE5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81160" y="1856231"/>
            <a:ext cx="2487168" cy="2066543"/>
          </a:xfrm>
          <a:prstGeom prst="roundRect">
            <a:avLst/>
          </a:prstGeom>
          <a:solidFill>
            <a:srgbClr val="FFFFFF"/>
          </a:solidFill>
          <a:ln>
            <a:solidFill>
              <a:srgbClr val="28A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1856231"/>
            <a:ext cx="2487168" cy="146304"/>
          </a:xfrm>
          <a:prstGeom prst="rect">
            <a:avLst/>
          </a:prstGeom>
          <a:solidFill>
            <a:srgbClr val="28A879"/>
          </a:solidFill>
          <a:ln>
            <a:solidFill>
              <a:srgbClr val="28A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2128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8A879"/>
                </a:solidFill>
                <a:latin typeface="Meiryo UI"/>
              </a:defRPr>
            </a:pPr>
            <a:r>
              <a:t>受入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523744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0B1F33"/>
                </a:solidFill>
                <a:latin typeface="Meiryo UI"/>
              </a:defRPr>
            </a:pPr>
            <a:r>
              <a:t>独立validation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182112"/>
            <a:ext cx="20116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E6F80"/>
                </a:solidFill>
                <a:latin typeface="Meiryo UI"/>
              </a:defRPr>
            </a:pPr>
            <a:r>
              <a:t>違反0・fallbackなし</a:t>
            </a:r>
            <a:br/>
            <a:r>
              <a:t>会計ledger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617720"/>
            <a:ext cx="10744200" cy="941832"/>
          </a:xfrm>
          <a:prstGeom prst="roundRect">
            <a:avLst/>
          </a:prstGeom>
          <a:solidFill>
            <a:srgbClr val="FDE7E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892040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E35D6A"/>
                </a:solidFill>
                <a:latin typeface="Meiryo UI"/>
              </a:defRPr>
            </a:pPr>
            <a:r>
              <a:t>重要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4809744"/>
            <a:ext cx="9235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Meiryo UI"/>
              </a:defRPr>
            </a:pPr>
            <a:r>
              <a:t>Stage 1の割当をStage 2で固定するため、現行Phase 3はglobal simultaneous total-cost optimumではない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8" y="5193792"/>
            <a:ext cx="8595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E6F80"/>
                </a:solidFill>
                <a:latin typeface="Meiryo UI"/>
              </a:defRPr>
            </a:pPr>
            <a:r>
              <a:t>可行スケジュールの比較は可能。最適費用・一意な最適構成という主張は不可。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03 / RECOVERY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1週間でつぶした問題：見かけの解から研究用モデルへ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2880360"/>
            <a:ext cx="10497312" cy="0"/>
          </a:xfrm>
          <a:prstGeom prst="line">
            <a:avLst/>
          </a:prstGeom>
          <a:ln w="254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15568" y="2706624"/>
            <a:ext cx="347472" cy="347472"/>
          </a:xfrm>
          <a:prstGeom prst="ellipse">
            <a:avLst/>
          </a:prstGeom>
          <a:solidFill>
            <a:srgbClr val="E35D6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335024"/>
            <a:ext cx="1755648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46304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E35D6A"/>
                </a:solidFill>
                <a:latin typeface="Meiryo UI"/>
              </a:defRPr>
            </a:pPr>
            <a:r>
              <a:t>7/11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728216"/>
            <a:ext cx="14630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0B1F33"/>
                </a:solidFill>
                <a:latin typeface="Meiryo UI"/>
              </a:defRPr>
            </a:pPr>
            <a:r>
              <a:t>偽の最終出力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048256"/>
            <a:ext cx="14630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70" b="0">
                <a:solidFill>
                  <a:srgbClr val="5E6F80"/>
                </a:solidFill>
                <a:latin typeface="Meiryo UI"/>
              </a:defRPr>
            </a:pPr>
            <a:r>
              <a:t>Stage 2不可行候補を隔離</a:t>
            </a:r>
            <a:br/>
            <a:r>
              <a:t>fallback / repairを研究結果から排除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9304" y="2468880"/>
            <a:ext cx="0" cy="237744"/>
          </a:xfrm>
          <a:prstGeom prst="line">
            <a:avLst/>
          </a:prstGeom>
          <a:ln w="12700">
            <a:solidFill>
              <a:srgbClr val="E35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054096" y="2706624"/>
            <a:ext cx="347472" cy="347472"/>
          </a:xfrm>
          <a:prstGeom prst="ellipse">
            <a:avLst/>
          </a:prstGeom>
          <a:solidFill>
            <a:srgbClr val="F5B941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50008" y="3319272"/>
            <a:ext cx="1755648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2" y="3447288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F5B941"/>
                </a:solidFill>
                <a:latin typeface="Meiryo UI"/>
              </a:defRPr>
            </a:pPr>
            <a:r>
              <a:t>7/12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3712463"/>
            <a:ext cx="14630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0B1F33"/>
                </a:solidFill>
                <a:latin typeface="Meiryo UI"/>
              </a:defRPr>
            </a:pPr>
            <a:r>
              <a:t>比較条件の交絡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4032504"/>
            <a:ext cx="14630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70" b="0">
                <a:solidFill>
                  <a:srgbClr val="5E6F80"/>
                </a:solidFill>
                <a:latin typeface="Meiryo UI"/>
              </a:defRPr>
            </a:pPr>
            <a:r>
              <a:t>車両費・BESS終端・PV provenanceを同期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27832" y="3054096"/>
            <a:ext cx="0" cy="265176"/>
          </a:xfrm>
          <a:prstGeom prst="line">
            <a:avLst/>
          </a:prstGeom>
          <a:ln w="12700">
            <a:solidFill>
              <a:srgbClr val="F5B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992624" y="2706624"/>
            <a:ext cx="347472" cy="347472"/>
          </a:xfrm>
          <a:prstGeom prst="ellipse">
            <a:avLst/>
          </a:prstGeom>
          <a:solidFill>
            <a:srgbClr val="16B8C4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88536" y="1335024"/>
            <a:ext cx="1755648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46304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7/13–14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728216"/>
            <a:ext cx="14630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0B1F33"/>
                </a:solidFill>
                <a:latin typeface="Meiryo UI"/>
              </a:defRPr>
            </a:pPr>
            <a:r>
              <a:t>SOC・回送の欠落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048256"/>
            <a:ext cx="14630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70" b="0">
                <a:solidFill>
                  <a:srgbClr val="5E6F80"/>
                </a:solidFill>
                <a:latin typeface="Meiryo UI"/>
              </a:defRPr>
            </a:pPr>
            <a:r>
              <a:t>始発 / 便間 / 帰庫 / 終端SOCを厳密化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66360" y="2468880"/>
            <a:ext cx="0" cy="237744"/>
          </a:xfrm>
          <a:prstGeom prst="line">
            <a:avLst/>
          </a:prstGeom>
          <a:ln w="12700">
            <a:solidFill>
              <a:srgbClr val="16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931152" y="2706624"/>
            <a:ext cx="347472" cy="347472"/>
          </a:xfrm>
          <a:prstGeom prst="ellipse">
            <a:avLst/>
          </a:prstGeom>
          <a:solidFill>
            <a:srgbClr val="4D78CC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27064" y="3319272"/>
            <a:ext cx="1755648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3447288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4D78CC"/>
                </a:solidFill>
                <a:latin typeface="Meiryo UI"/>
              </a:defRPr>
            </a:pPr>
            <a:r>
              <a:t>7/14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712463"/>
            <a:ext cx="14630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0B1F33"/>
                </a:solidFill>
                <a:latin typeface="Meiryo UI"/>
              </a:defRPr>
            </a:pPr>
            <a:r>
              <a:t>料金式の不一致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32504"/>
            <a:ext cx="14630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70" b="0">
                <a:solidFill>
                  <a:srgbClr val="5E6F80"/>
                </a:solidFill>
                <a:latin typeface="Meiryo UI"/>
              </a:defRPr>
            </a:pPr>
            <a:r>
              <a:t>TOU実時刻・PV 0円・需要料金日割りを統一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104888" y="3054096"/>
            <a:ext cx="0" cy="265176"/>
          </a:xfrm>
          <a:prstGeom prst="line">
            <a:avLst/>
          </a:prstGeom>
          <a:ln w="12700">
            <a:solidFill>
              <a:srgbClr val="4D7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869680" y="2706624"/>
            <a:ext cx="347472" cy="347472"/>
          </a:xfrm>
          <a:prstGeom prst="ellipse">
            <a:avLst/>
          </a:prstGeom>
          <a:solidFill>
            <a:srgbClr val="28A879"/>
          </a:solidFill>
          <a:ln>
            <a:solidFill>
              <a:srgbClr val="28A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65592" y="1335024"/>
            <a:ext cx="1755648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28A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1463040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8A879"/>
                </a:solidFill>
                <a:latin typeface="Meiryo UI"/>
              </a:defRPr>
            </a:pPr>
            <a:r>
              <a:t>7/15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1728216"/>
            <a:ext cx="14630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0B1F33"/>
                </a:solidFill>
                <a:latin typeface="Meiryo UI"/>
              </a:defRPr>
            </a:pPr>
            <a:r>
              <a:t>台数比の感度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2048256"/>
            <a:ext cx="14630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70" b="0">
                <a:solidFill>
                  <a:srgbClr val="5E6F80"/>
                </a:solidFill>
                <a:latin typeface="Meiryo UI"/>
              </a:defRPr>
            </a:pPr>
            <a:r>
              <a:t>利用可能BEV台数感度 + 帰庫直後SOC境界修正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43416" y="2468880"/>
            <a:ext cx="0" cy="237744"/>
          </a:xfrm>
          <a:prstGeom prst="line">
            <a:avLst/>
          </a:prstGeom>
          <a:ln w="12700">
            <a:solidFill>
              <a:srgbClr val="28A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808208" y="2706624"/>
            <a:ext cx="347472" cy="347472"/>
          </a:xfrm>
          <a:prstGeom prst="ellipse">
            <a:avLst/>
          </a:prstGeom>
          <a:solidFill>
            <a:srgbClr val="17344D"/>
          </a:solidFill>
          <a:ln>
            <a:solidFill>
              <a:srgbClr val="17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4120" y="3319272"/>
            <a:ext cx="1755648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17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50424" y="3447288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7344D"/>
                </a:solidFill>
                <a:latin typeface="Meiryo UI"/>
              </a:defRPr>
            </a:pPr>
            <a:r>
              <a:t>7/16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0424" y="3712463"/>
            <a:ext cx="14630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0B1F33"/>
                </a:solidFill>
                <a:latin typeface="Meiryo UI"/>
              </a:defRPr>
            </a:pPr>
            <a:r>
              <a:t>PVが割当に届かない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0424" y="4032504"/>
            <a:ext cx="14630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70" b="0">
                <a:solidFill>
                  <a:srgbClr val="5E6F80"/>
                </a:solidFill>
                <a:latin typeface="Meiryo UI"/>
              </a:defRPr>
            </a:pPr>
            <a:r>
              <a:t>Stage 1費用代理 + 所在地対応必要条件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10981944" y="3054096"/>
            <a:ext cx="0" cy="265176"/>
          </a:xfrm>
          <a:prstGeom prst="line">
            <a:avLst/>
          </a:prstGeom>
          <a:ln w="12700">
            <a:solidFill>
              <a:srgbClr val="17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50" b="0">
                <a:solidFill>
                  <a:srgbClr val="5E6F80"/>
                </a:solidFill>
                <a:latin typeface="Meiryo UI"/>
              </a:defRPr>
            </a:pPr>
            <a:r>
              <a:t>変更のたびにhard constraint、料金単位、fallback、成果物契約、回帰テストを再確認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04 / EXPERIMENTAL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晴天・雨天の比較契約：PV以外を固定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417320"/>
          <a:ext cx="7726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697480"/>
                <a:gridCol w="2697480"/>
              </a:tblGrid>
              <a:tr h="60742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固定・操作項目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晴天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雨天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Service 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2025-08-05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2025-08-10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Scenario ID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771d115b-75b0…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b23fd26c-1233…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全便 / Fleet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264便 / BEV35・ICE25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264便 / BEV35・ICE25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Time / seed / gap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1500秒 / 42 / 0.1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1500秒 / 42 / 0.1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PV marginal price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0.0円/kWh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0.0円/kWh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PV availability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614.7 kWh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101.1 kWh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1080" y="1417320"/>
            <a:ext cx="29260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24544" y="1691640"/>
            <a:ext cx="1097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16B8C4"/>
                </a:solidFill>
                <a:latin typeface="Meiryo UI"/>
              </a:defRPr>
            </a:pPr>
            <a:r>
              <a:t>操作変数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24544" y="2002536"/>
            <a:ext cx="201168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1">
                <a:solidFill>
                  <a:srgbClr val="0B1F33"/>
                </a:solidFill>
                <a:latin typeface="Meiryo UI"/>
              </a:defRPr>
            </a:pPr>
            <a:r>
              <a:t>PV発電可能量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24544" y="2743200"/>
            <a:ext cx="502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1E2A36"/>
                </a:solidFill>
                <a:latin typeface="Meiryo UI"/>
              </a:defRPr>
            </a:pPr>
            <a:r>
              <a:t>晴天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8048" y="2743200"/>
            <a:ext cx="1572768" cy="274320"/>
          </a:xfrm>
          <a:prstGeom prst="rect">
            <a:avLst/>
          </a:prstGeom>
          <a:solidFill>
            <a:srgbClr val="F5B941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2779776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 UI"/>
              </a:defRPr>
            </a:pPr>
            <a:r>
              <a:t>614.7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24544" y="3657600"/>
            <a:ext cx="502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1E2A36"/>
                </a:solidFill>
                <a:latin typeface="Meiryo UI"/>
              </a:defRPr>
            </a:pPr>
            <a:r>
              <a:t>雨天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28048" y="3657600"/>
            <a:ext cx="258706" cy="274320"/>
          </a:xfrm>
          <a:prstGeom prst="rect">
            <a:avLst/>
          </a:prstGeom>
          <a:solidFill>
            <a:srgbClr val="4D78CC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59906" y="3694176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4D78CC"/>
                </a:solidFill>
                <a:latin typeface="Meiryo UI"/>
              </a:defRPr>
            </a:pPr>
            <a:r>
              <a:t>101.1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4526280"/>
            <a:ext cx="237744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4526280"/>
            <a:ext cx="73152" cy="1261872"/>
          </a:xfrm>
          <a:prstGeom prst="rect">
            <a:avLst/>
          </a:prstGeom>
          <a:solidFill>
            <a:srgbClr val="4D78CC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4672584"/>
            <a:ext cx="20482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雨天のPV減少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4965192"/>
            <a:ext cx="204825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−83.6%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5422392"/>
            <a:ext cx="20482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他の料金・車両・SOC・充電器は固定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50" b="0">
                <a:solidFill>
                  <a:srgbClr val="5E6F80"/>
                </a:solidFill>
                <a:latin typeface="Meiryo UI"/>
              </a:defRPr>
            </a:pPr>
            <a:r>
              <a:t>比較対象の実効weather profileはoperation_mode以外中立。BEV/ICE biasやSOC上書きは使わない。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05 / ROOT CAUSE &amp; MODEL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根本原因：天候別PVがStage 1の割当に入っていなかった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3657600" cy="4526280"/>
          </a:xfrm>
          <a:prstGeom prst="roundRect">
            <a:avLst/>
          </a:prstGeom>
          <a:solidFill>
            <a:srgbClr val="FDE7E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8249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E35D6A"/>
                </a:solidFill>
                <a:latin typeface="Meiryo UI"/>
              </a:defRPr>
            </a:pPr>
            <a:r>
              <a:t>修正前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1828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0B1F33"/>
                </a:solidFill>
                <a:latin typeface="Meiryo UI"/>
              </a:defRPr>
            </a:pPr>
            <a: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15184"/>
            <a:ext cx="3063240" cy="14173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A36"/>
                </a:solidFill>
                <a:latin typeface="Meiryo UI"/>
              </a:defRPr>
            </a:pPr>
            <a:r>
              <a:t>• ICE燃料・CO₂・車両使用費だけで割当</a:t>
            </a:r>
          </a:p>
          <a:p>
            <a:pPr>
              <a:spcAft>
                <a:spcPts val="500"/>
              </a:spcAft>
              <a:defRPr sz="1200">
                <a:solidFill>
                  <a:srgbClr val="1E2A36"/>
                </a:solidFill>
                <a:latin typeface="Meiryo UI"/>
              </a:defRPr>
            </a:pPr>
            <a:r>
              <a:t>• PV量はStage 2にしか存在しない</a:t>
            </a:r>
          </a:p>
          <a:p>
            <a:pPr>
              <a:spcAft>
                <a:spcPts val="500"/>
              </a:spcAft>
              <a:defRPr sz="1200">
                <a:solidFill>
                  <a:srgbClr val="1E2A36"/>
                </a:solidFill>
                <a:latin typeface="Meiryo UI"/>
              </a:defRPr>
            </a:pPr>
            <a:r>
              <a:t>• 晴雨で同一割当になるのはモデル上自然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681728"/>
            <a:ext cx="29992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E35D6A"/>
                </a:solidFill>
                <a:latin typeface="Cascadia Mono"/>
              </a:defRPr>
            </a:pPr>
            <a:r>
              <a:t>FStage1(weather) = constant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66360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0">
                <a:solidFill>
                  <a:srgbClr val="5E6F80"/>
                </a:solidFill>
                <a:latin typeface="Meiryo UI"/>
              </a:defRPr>
            </a:pPr>
            <a:r>
              <a:t>割当探索から見れば晴天も雨天も同じ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408176"/>
            <a:ext cx="7022592" cy="4526280"/>
          </a:xfrm>
          <a:prstGeom prst="roundRect">
            <a:avLst/>
          </a:prstGeom>
          <a:solidFill>
            <a:srgbClr val="E1F6ED"/>
          </a:solidFill>
          <a:ln>
            <a:solidFill>
              <a:srgbClr val="28A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682496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28A879"/>
                </a:solidFill>
                <a:latin typeface="Meiryo UI"/>
              </a:defRPr>
            </a:pPr>
            <a:r>
              <a:t>修正後：営業所別の集約充電費用下界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12848"/>
            <a:ext cx="6263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900" b="1">
                <a:solidFill>
                  <a:srgbClr val="0B1F33"/>
                </a:solidFill>
                <a:latin typeface="Cascadia Mono"/>
              </a:defRPr>
            </a:pPr>
            <a:r>
              <a:t>Cproxy = cPV·EPV + cBESS·EBESS + cgrid,min·Egrid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16352"/>
            <a:ext cx="6263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0">
                <a:solidFill>
                  <a:srgbClr val="17344D"/>
                </a:solidFill>
                <a:latin typeface="Cascadia Mono"/>
              </a:defRPr>
            </a:pPr>
            <a:r>
              <a:t>Esource ≥ max{0, Etrip + Edeadhead + Eterminal − Einitial} / ηcharge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529584"/>
            <a:ext cx="5943600" cy="14173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E2A36"/>
                </a:solidFill>
                <a:latin typeface="Meiryo UI"/>
              </a:defRPr>
            </a:pPr>
            <a:r>
              <a:t>• PV限界費用はフロント設定どおり0円/kWh</a:t>
            </a:r>
          </a:p>
          <a:p>
            <a:pPr>
              <a:spcAft>
                <a:spcPts val="500"/>
              </a:spcAft>
              <a:defRPr sz="1100">
                <a:solidFill>
                  <a:srgbClr val="1E2A36"/>
                </a:solidFill>
                <a:latin typeface="Meiryo UI"/>
              </a:defRPr>
            </a:pPr>
            <a:r>
              <a:t>• 天候別PV上限を超えた分だけ系統単価で評価</a:t>
            </a:r>
          </a:p>
          <a:p>
            <a:pPr>
              <a:spcAft>
                <a:spcPts val="500"/>
              </a:spcAft>
              <a:defRPr sz="1100">
                <a:solidFill>
                  <a:srgbClr val="1E2A36"/>
                </a:solidFill>
                <a:latin typeface="Meiryo UI"/>
              </a:defRPr>
            </a:pPr>
            <a:r>
              <a:t>• 始発・便間・帰庫回送、実効終端SOCを含む</a:t>
            </a:r>
          </a:p>
          <a:p>
            <a:pPr>
              <a:spcAft>
                <a:spcPts val="500"/>
              </a:spcAft>
              <a:defRPr sz="1100">
                <a:solidFill>
                  <a:srgbClr val="1E2A36"/>
                </a:solidFill>
                <a:latin typeface="Meiryo UI"/>
              </a:defRPr>
            </a:pPr>
            <a:r>
              <a:t>• 充電時刻・需要料金・競合はStage 2に残す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5330952"/>
            <a:ext cx="6309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>
                <a:solidFill>
                  <a:srgbClr val="28A879"/>
                </a:solidFill>
                <a:latin typeface="Meiryo UI"/>
              </a:defRPr>
            </a:pPr>
            <a:r>
              <a:t>目的：PVの価値を割当に伝える。実現費用を近似したと主張しない。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06 / UNIT OF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短時間probeで確認：同じ割当でも天候費用は変わる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90472"/>
            <a:ext cx="340156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90472"/>
            <a:ext cx="73152" cy="1261872"/>
          </a:xfrm>
          <a:prstGeom prst="rect">
            <a:avLst/>
          </a:prstGeom>
          <a:solidFill>
            <a:srgbClr val="16B8C4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36775"/>
            <a:ext cx="30723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必要外部充電量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29384"/>
            <a:ext cx="307238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616.4 kWh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86584"/>
            <a:ext cx="30723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同一割当：BEV 17台・54便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490472"/>
            <a:ext cx="340156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490472"/>
            <a:ext cx="73152" cy="1261872"/>
          </a:xfrm>
          <a:prstGeom prst="rect">
            <a:avLst/>
          </a:prstGeom>
          <a:solidFill>
            <a:srgbClr val="F5B941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636775"/>
            <a:ext cx="30723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晴天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1929384"/>
            <a:ext cx="307238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31円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386584"/>
            <a:ext cx="30723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PV 614.7 / grid 1.7 kWh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90472"/>
            <a:ext cx="340156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90472"/>
            <a:ext cx="73152" cy="1261872"/>
          </a:xfrm>
          <a:prstGeom prst="rect">
            <a:avLst/>
          </a:prstGeom>
          <a:solidFill>
            <a:srgbClr val="4D78CC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636775"/>
            <a:ext cx="30723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雨天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929384"/>
            <a:ext cx="307238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9,533円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386584"/>
            <a:ext cx="30723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PV 101.1 / grid 515.3 kWh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163824"/>
            <a:ext cx="10881360" cy="2322576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456432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16B8C4"/>
                </a:solidFill>
                <a:latin typeface="Meiryo UI"/>
              </a:defRPr>
            </a:pPr>
            <a:r>
              <a:t>意味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822191"/>
            <a:ext cx="99212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0B1F33"/>
                </a:solidFill>
                <a:latin typeface="Meiryo UI"/>
              </a:defRPr>
            </a:pPr>
            <a:r>
              <a:t>PV 0円の設定は正しくStage 1目的へ入り、晴天のBEV充電必要量をほぼ無償と評価した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541264" y="4407408"/>
            <a:ext cx="502920" cy="530352"/>
          </a:xfrm>
          <a:prstGeom prst="downArrow">
            <a:avLst/>
          </a:prstGeom>
          <a:solidFill>
            <a:srgbClr val="16B8C4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4956048"/>
            <a:ext cx="810158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5E6F80"/>
                </a:solidFill>
                <a:latin typeface="Meiryo UI"/>
              </a:defRPr>
            </a:pPr>
            <a:r>
              <a:t>次の検証：この費用差で割当自体が変わり、固定割当のStage 2も可行か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50" b="0">
                <a:solidFill>
                  <a:srgbClr val="5E6F80"/>
                </a:solidFill>
                <a:latin typeface="Meiryo UI"/>
              </a:defRPr>
            </a:pPr>
            <a:r>
              <a:t>probeは数理反応の診断。正式な晴雨比較は各1500秒runで評価。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07 / IIS-DRIVEN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自分で発見した副作用：Stage 1が営業所外充電を発明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3246120" cy="4416552"/>
          </a:xfrm>
          <a:prstGeom prst="roundRect">
            <a:avLst/>
          </a:prstGeom>
          <a:solidFill>
            <a:srgbClr val="FDE7E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0784"/>
            <a:ext cx="2286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E35D6A"/>
                </a:solidFill>
                <a:latin typeface="Meiryo UI"/>
              </a:defRPr>
            </a:pPr>
            <a:r>
              <a:t>1500秒・初回修正版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1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1">
                <a:solidFill>
                  <a:srgbClr val="0B1F33"/>
                </a:solidFill>
                <a:latin typeface="Meiryo UI"/>
              </a:defRPr>
            </a:pPr>
            <a: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E35D6A"/>
                </a:solidFill>
                <a:latin typeface="Meiryo UI"/>
              </a:defRPr>
            </a:pPr>
            <a:r>
              <a:t>BEV 190便を選択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907792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E35D6A"/>
                </a:solidFill>
                <a:latin typeface="Meiryo UI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328416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E35D6A"/>
                </a:solidFill>
                <a:latin typeface="Meiryo UI"/>
              </a:defRPr>
            </a:pPr>
            <a:r>
              <a:t>Stage 2 infeasible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40480"/>
            <a:ext cx="2606040" cy="11430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E2A36"/>
                </a:solidFill>
                <a:latin typeface="Meiryo UI"/>
              </a:defRPr>
            </a:pPr>
            <a:r>
              <a:t>• IIS：始発回送後、slot 1–18は非在庫</a:t>
            </a:r>
          </a:p>
          <a:p>
            <a:pPr>
              <a:spcAft>
                <a:spcPts val="500"/>
              </a:spcAft>
              <a:defRPr sz="1000">
                <a:solidFill>
                  <a:srgbClr val="1E2A36"/>
                </a:solidFill>
                <a:latin typeface="Meiryo UI"/>
              </a:defRPr>
            </a:pPr>
            <a:r>
              <a:t>• 旧緩和はidleならどこでも充電</a:t>
            </a:r>
          </a:p>
          <a:p>
            <a:pPr>
              <a:spcAft>
                <a:spcPts val="500"/>
              </a:spcAft>
              <a:defRPr sz="1000">
                <a:solidFill>
                  <a:srgbClr val="1E2A36"/>
                </a:solidFill>
                <a:latin typeface="Meiryo UI"/>
              </a:defRPr>
            </a:pPr>
            <a:r>
              <a:t>• 偽のSOC可行性をStage 1が許容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417320"/>
            <a:ext cx="3401568" cy="4416552"/>
          </a:xfrm>
          <a:prstGeom prst="roundRect">
            <a:avLst/>
          </a:prstGeom>
          <a:solidFill>
            <a:srgbClr val="FFF5DB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700784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F5B941"/>
                </a:solidFill>
                <a:latin typeface="Meiryo UI"/>
              </a:defRPr>
            </a:pPr>
            <a:r>
              <a:t>第1案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075688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1">
                <a:solidFill>
                  <a:srgbClr val="0B1F33"/>
                </a:solidFill>
                <a:latin typeface="Meiryo UI"/>
              </a:defRPr>
            </a:pPr>
            <a:r>
              <a:t>slot別所在地制約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2743200"/>
            <a:ext cx="283464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3984" y="2743200"/>
            <a:ext cx="73152" cy="1261872"/>
          </a:xfrm>
          <a:prstGeom prst="rect">
            <a:avLst/>
          </a:prstGeom>
          <a:solidFill>
            <a:srgbClr val="F5B941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2889504"/>
            <a:ext cx="25054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制約数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182112"/>
            <a:ext cx="250545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69,300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639312"/>
            <a:ext cx="25054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正しいがLP緩和が重すぎる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4443984"/>
            <a:ext cx="224028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E35D6A"/>
                </a:solidFill>
                <a:latin typeface="Meiryo UI"/>
              </a:defRPr>
            </a:pPr>
            <a:r>
              <a:t>750秒でbound 0</a:t>
            </a:r>
            <a:br/>
            <a:r>
              <a:t>探索性能を失う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417320"/>
            <a:ext cx="3703320" cy="4416552"/>
          </a:xfrm>
          <a:prstGeom prst="roundRect">
            <a:avLst/>
          </a:prstGeom>
          <a:solidFill>
            <a:srgbClr val="E1F6ED"/>
          </a:solidFill>
          <a:ln>
            <a:solidFill>
              <a:srgbClr val="28A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700784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28A879"/>
                </a:solidFill>
                <a:latin typeface="Meiryo UI"/>
              </a:defRPr>
            </a:pPr>
            <a:r>
              <a:t>採用案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075688"/>
            <a:ext cx="29260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0B1F33"/>
                </a:solidFill>
                <a:latin typeface="Meiryo UI"/>
              </a:defRPr>
            </a:pPr>
            <a:r>
              <a:t>累積ホームデポ</a:t>
            </a:r>
            <a:br/>
            <a:r>
              <a:t>充電可能量の必要条件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35808"/>
            <a:ext cx="3127248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035808"/>
            <a:ext cx="73152" cy="1261872"/>
          </a:xfrm>
          <a:prstGeom prst="rect">
            <a:avLst/>
          </a:prstGeom>
          <a:solidFill>
            <a:srgbClr val="28A879"/>
          </a:solidFill>
          <a:ln>
            <a:solidFill>
              <a:srgbClr val="28A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3182112"/>
            <a:ext cx="27980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制約数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474720"/>
            <a:ext cx="279806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875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3931920"/>
            <a:ext cx="2798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69,300比 −98.7%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517136"/>
            <a:ext cx="288036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E2A36"/>
                </a:solidFill>
                <a:latin typeface="Meiryo UI"/>
              </a:defRPr>
            </a:pPr>
            <a:r>
              <a:t>• 割当に裏付けられた在庫窓だけ計上</a:t>
            </a:r>
          </a:p>
          <a:p>
            <a:pPr>
              <a:spcAft>
                <a:spcPts val="500"/>
              </a:spcAft>
              <a:defRPr sz="950">
                <a:solidFill>
                  <a:srgbClr val="1E2A36"/>
                </a:solidFill>
                <a:latin typeface="Meiryo UI"/>
              </a:defRPr>
            </a:pPr>
            <a:r>
              <a:t>• 始発・便間・帰庫loadを時系列累積</a:t>
            </a:r>
          </a:p>
          <a:p>
            <a:pPr>
              <a:spcAft>
                <a:spcPts val="500"/>
              </a:spcAft>
              <a:defRPr sz="950">
                <a:solidFill>
                  <a:srgbClr val="1E2A36"/>
                </a:solidFill>
                <a:latin typeface="Meiryo UI"/>
              </a:defRPr>
            </a:pPr>
            <a:r>
              <a:t>• 共有充電器等はStage 2で厳密化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08 / ASSIGNMENT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1500秒結果：天候差がBEV担当便数へ反映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82496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1E2A36"/>
                </a:solidFill>
                <a:latin typeface="Meiryo UI"/>
              </a:defRPr>
            </a:pPr>
            <a:r>
              <a:t>旧モデル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2002536" y="1691640"/>
            <a:ext cx="1804900" cy="274320"/>
          </a:xfrm>
          <a:prstGeom prst="rect">
            <a:avLst/>
          </a:prstGeom>
          <a:solidFill>
            <a:srgbClr val="16B8C4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7436" y="1691640"/>
            <a:ext cx="7019059" cy="274320"/>
          </a:xfrm>
          <a:prstGeom prst="rect">
            <a:avLst/>
          </a:prstGeom>
          <a:solidFill>
            <a:srgbClr val="6D7683"/>
          </a:solidFill>
          <a:ln>
            <a:solidFill>
              <a:srgbClr val="6D76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737360"/>
            <a:ext cx="16951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 UI"/>
              </a:defRPr>
            </a:pPr>
            <a:r>
              <a:t>BEV 54便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2300" y="1737360"/>
            <a:ext cx="6909331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 UI"/>
              </a:defRPr>
            </a:pPr>
            <a:r>
              <a:t>ICE 210便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441448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1E2A36"/>
                </a:solidFill>
                <a:latin typeface="Meiryo UI"/>
              </a:defRPr>
            </a:pPr>
            <a:r>
              <a:t>晴天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2536" y="2450591"/>
            <a:ext cx="4712796" cy="274320"/>
          </a:xfrm>
          <a:prstGeom prst="rect">
            <a:avLst/>
          </a:prstGeom>
          <a:solidFill>
            <a:srgbClr val="F5B941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15332" y="2450591"/>
            <a:ext cx="4111163" cy="274320"/>
          </a:xfrm>
          <a:prstGeom prst="rect">
            <a:avLst/>
          </a:prstGeom>
          <a:solidFill>
            <a:srgbClr val="6D7683"/>
          </a:solidFill>
          <a:ln>
            <a:solidFill>
              <a:srgbClr val="6D76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496312"/>
            <a:ext cx="46030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 UI"/>
              </a:defRPr>
            </a:pPr>
            <a:r>
              <a:t>BEV 141便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0196" y="2496312"/>
            <a:ext cx="400143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 UI"/>
              </a:defRPr>
            </a:pPr>
            <a:r>
              <a:t>ICE 123便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200400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1E2A36"/>
                </a:solidFill>
                <a:latin typeface="Meiryo UI"/>
              </a:defRPr>
            </a:pPr>
            <a:r>
              <a:t>雨天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02536" y="3209544"/>
            <a:ext cx="3977466" cy="274320"/>
          </a:xfrm>
          <a:prstGeom prst="rect">
            <a:avLst/>
          </a:prstGeom>
          <a:solidFill>
            <a:srgbClr val="4D78CC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0002" y="3209544"/>
            <a:ext cx="4846493" cy="274320"/>
          </a:xfrm>
          <a:prstGeom prst="rect">
            <a:avLst/>
          </a:prstGeom>
          <a:solidFill>
            <a:srgbClr val="6D7683"/>
          </a:solidFill>
          <a:ln>
            <a:solidFill>
              <a:srgbClr val="6D76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3255264"/>
            <a:ext cx="386773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 UI"/>
              </a:defRPr>
            </a:pPr>
            <a:r>
              <a:t>BEV 119便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4866" y="3255264"/>
            <a:ext cx="473676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 UI"/>
              </a:defRPr>
            </a:pPr>
            <a:r>
              <a:t>ICE 145便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76656" y="4041648"/>
          <a:ext cx="9893807" cy="149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240280"/>
                <a:gridCol w="2971800"/>
                <a:gridCol w="1892807"/>
              </a:tblGrid>
              <a:tr h="37261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ケース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使用BEV / ICE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担当BEV / ICE便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BEV便率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旧モデル（晴雨同一）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17 / 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54 / 210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20.5%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晴天・新モデル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16 / 16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141 / 123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53.4%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</a:tr>
              <a:tr h="37261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雨天・新モデル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15 / 17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119 / 145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45.1%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9692640" y="1463040"/>
            <a:ext cx="1783080" cy="2212848"/>
          </a:xfrm>
          <a:prstGeom prst="roundRect">
            <a:avLst/>
          </a:prstGeom>
          <a:solidFill>
            <a:srgbClr val="FFF5DB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755648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>
                <a:solidFill>
                  <a:srgbClr val="F5B941"/>
                </a:solidFill>
                <a:latin typeface="Meiryo UI"/>
              </a:defRPr>
            </a:pPr>
            <a:r>
              <a:t>晴天効果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167128"/>
            <a:ext cx="13258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800" b="1">
                <a:solidFill>
                  <a:srgbClr val="0B1F33"/>
                </a:solidFill>
                <a:latin typeface="Meiryo UI"/>
              </a:defRPr>
            </a:pPr>
            <a:r>
              <a:t>+22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761488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>
                <a:solidFill>
                  <a:srgbClr val="5E6F80"/>
                </a:solidFill>
                <a:latin typeface="Meiryo UI"/>
              </a:defRPr>
            </a:pPr>
            <a:r>
              <a:t>BEV担当便</a:t>
            </a:r>
            <a:br/>
            <a:r>
              <a:t>（雨天比）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50" b="0">
                <a:solidFill>
                  <a:srgbClr val="5E6F80"/>
                </a:solidFill>
                <a:latin typeface="Meiryo UI"/>
              </a:defRPr>
            </a:pPr>
            <a:r>
              <a:t>同じ使用台数でも担当便数は異なる。電動化率は『台数』と『便数』を分けて報告する。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09 / REALIZED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実現エネルギー・会計費用：Stage 2で再計算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389888"/>
          <a:ext cx="7882128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19072"/>
                <a:gridCol w="1719072"/>
                <a:gridCol w="2157984"/>
              </a:tblGrid>
              <a:tr h="6244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指標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晴天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雨天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雨天 − 晴天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PV発電量 [kWh]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614.7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101.1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-513.6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系統買電 [kWh]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1,015.6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1,000.7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-14.9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ピーク [kW]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95.4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120.2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+24.8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電力費 [円]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25,254.2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25,266.4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+12.2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燃料費 [円]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42,716.0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51,054.6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+8,338.7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会計総費用 [円]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713,032.2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722,511.3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+9,479.2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796528" y="1389888"/>
            <a:ext cx="25146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96528" y="1389888"/>
            <a:ext cx="73152" cy="1261872"/>
          </a:xfrm>
          <a:prstGeom prst="rect">
            <a:avLst/>
          </a:prstGeom>
          <a:solidFill>
            <a:srgbClr val="4D78CC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97696" y="1536192"/>
            <a:ext cx="21854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雨天の会計総費用差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7696" y="1828800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+9,479円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7696" y="2286000"/>
            <a:ext cx="21854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晴天比 +1.33%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2944368"/>
            <a:ext cx="25146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96528" y="2944368"/>
            <a:ext cx="73152" cy="1261872"/>
          </a:xfrm>
          <a:prstGeom prst="rect">
            <a:avLst/>
          </a:prstGeom>
          <a:solidFill>
            <a:srgbClr val="4D78CC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3090672"/>
            <a:ext cx="21854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雨天の買電差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3383280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-14.9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3840480"/>
            <a:ext cx="21854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kWh（BEV担当便−22で相殺）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96528" y="4498848"/>
            <a:ext cx="25146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96528" y="4498848"/>
            <a:ext cx="73152" cy="1261872"/>
          </a:xfrm>
          <a:prstGeom prst="rect">
            <a:avLst/>
          </a:prstGeom>
          <a:solidFill>
            <a:srgbClr val="F5B941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4645152"/>
            <a:ext cx="21854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雨天の燃料費差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4937760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+8,339円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5394960"/>
            <a:ext cx="21854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BEV担当便差の影響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50" b="0">
                <a:solidFill>
                  <a:srgbClr val="5E6F80"/>
                </a:solidFill>
                <a:latin typeface="Meiryo UI"/>
              </a:defRPr>
            </a:pPr>
            <a:r>
              <a:t>会計総費用は可行スケジュールの評価値。Stage 1 gap未収束のためglobal optimumとして扱わない。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10 / VALIDITY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研究妥当性：何が言えて、何がまだ言えないか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371600"/>
          <a:ext cx="6345936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29968"/>
                <a:gridCol w="2029968"/>
              </a:tblGrid>
              <a:tr h="63354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判定項目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晴天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雨天</a:t>
                      </a:r>
                    </a:p>
                  </a:txBody>
                  <a:tcPr marL="73152" marR="73152" marT="36576" marB="36576" anchor="ctr">
                    <a:solidFill>
                      <a:srgbClr val="17344D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全便担当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264/264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264/264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Stage 1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time_limit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time_limit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Stage 1 gap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13.11%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12.94%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Stage 2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optimal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optimal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Hard validation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全項目0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全項目0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Fallback / repair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なし / なし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E2A36"/>
                          </a:solidFill>
                          <a:latin typeface="Meiryo UI"/>
                        </a:defRPr>
                      </a:pPr>
                      <a:r>
                        <a:t>なし / なし</a:t>
                      </a:r>
                    </a:p>
                  </a:txBody>
                  <a:tcPr marL="73152" marR="73152" marT="36576" marB="36576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71231" y="1371600"/>
            <a:ext cx="3986784" cy="1920240"/>
          </a:xfrm>
          <a:prstGeom prst="roundRect">
            <a:avLst/>
          </a:prstGeom>
          <a:solidFill>
            <a:srgbClr val="E1F6ED"/>
          </a:solidFill>
          <a:ln>
            <a:solidFill>
              <a:srgbClr val="28A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664208"/>
            <a:ext cx="685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28A879"/>
                </a:solidFill>
                <a:latin typeface="Meiryo UI"/>
              </a:defRPr>
            </a:pPr>
            <a:r>
              <a:t>言える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011680"/>
            <a:ext cx="329184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E2A36"/>
                </a:solidFill>
                <a:latin typeface="Meiryo UI"/>
              </a:defRPr>
            </a:pPr>
            <a:r>
              <a:t>• hard constraints下で全264便が運用可能</a:t>
            </a:r>
          </a:p>
          <a:p>
            <a:pPr>
              <a:spcAft>
                <a:spcPts val="500"/>
              </a:spcAft>
              <a:defRPr sz="1000">
                <a:solidFill>
                  <a:srgbClr val="1E2A36"/>
                </a:solidFill>
                <a:latin typeface="Meiryo UI"/>
              </a:defRPr>
            </a:pPr>
            <a:r>
              <a:t>• PV量を変えると可行な割当・費用が変化</a:t>
            </a:r>
          </a:p>
          <a:p>
            <a:pPr>
              <a:spcAft>
                <a:spcPts val="500"/>
              </a:spcAft>
              <a:defRPr sz="1000">
                <a:solidFill>
                  <a:srgbClr val="1E2A36"/>
                </a:solidFill>
                <a:latin typeface="Meiryo UI"/>
              </a:defRPr>
            </a:pPr>
            <a:r>
              <a:t>• Stage 2でSOC/充電器/契約違反ゼロ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3566160"/>
            <a:ext cx="3986784" cy="2240280"/>
          </a:xfrm>
          <a:prstGeom prst="roundRect">
            <a:avLst/>
          </a:prstGeom>
          <a:solidFill>
            <a:srgbClr val="FDE7E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858768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E35D6A"/>
                </a:solidFill>
                <a:latin typeface="Meiryo UI"/>
              </a:defRPr>
            </a:pPr>
            <a:r>
              <a:t>まだ言えない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206240"/>
            <a:ext cx="3291840" cy="11887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E2A36"/>
                </a:solidFill>
                <a:latin typeface="Meiryo UI"/>
              </a:defRPr>
            </a:pPr>
            <a:r>
              <a:t>• 晴雨それぞれの大域最適費用</a:t>
            </a:r>
          </a:p>
          <a:p>
            <a:pPr>
              <a:spcAft>
                <a:spcPts val="500"/>
              </a:spcAft>
              <a:defRPr sz="1000">
                <a:solidFill>
                  <a:srgbClr val="1E2A36"/>
                </a:solidFill>
                <a:latin typeface="Meiryo UI"/>
              </a:defRPr>
            </a:pPr>
            <a:r>
              <a:t>• 一意な最適BEV/ICE構成</a:t>
            </a:r>
          </a:p>
          <a:p>
            <a:pPr>
              <a:spcAft>
                <a:spcPts val="500"/>
              </a:spcAft>
              <a:defRPr sz="1000">
                <a:solidFill>
                  <a:srgbClr val="1E2A36"/>
                </a:solidFill>
                <a:latin typeface="Meiryo UI"/>
              </a:defRPr>
            </a:pPr>
            <a:r>
              <a:t>• Phase 4同時最適化との優劣</a:t>
            </a:r>
          </a:p>
          <a:p>
            <a:pPr>
              <a:spcAft>
                <a:spcPts val="500"/>
              </a:spcAft>
              <a:defRPr sz="1000">
                <a:solidFill>
                  <a:srgbClr val="1E2A36"/>
                </a:solidFill>
                <a:latin typeface="Meiryo UI"/>
              </a:defRPr>
            </a:pPr>
            <a:r>
              <a:t>• dirty worktree成果物の正式採択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50" b="0">
                <a:solidFill>
                  <a:srgbClr val="5E6F80"/>
                </a:solidFill>
                <a:latin typeface="Meiryo UI"/>
              </a:defRPr>
            </a:pPr>
            <a:r>
              <a:t>現在の1500秒成果物はcommit候補コードのprovisional evidence。clean commitからの再実行後に正式比較へ昇格。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11 / ENGINEERING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0B1F33"/>
                </a:solidFill>
                <a:latin typeface="Meiryo UI"/>
              </a:defRPr>
            </a:pPr>
            <a:r>
              <a:t>実装・再現性：修正を成果物契約とテストまで閉じる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651052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>
                <a:solidFill>
                  <a:srgbClr val="5E6F80"/>
                </a:solidFill>
                <a:latin typeface="Meiryo UI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09928"/>
            <a:ext cx="1325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16B8C4"/>
                </a:solidFill>
                <a:latin typeface="Meiryo UI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84248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Meiryo UI"/>
              </a:defRPr>
            </a:pPr>
            <a:r>
              <a:t>Stage 1費用代理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32304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天候別PV上限・0円単価・grid下界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481328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28A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709928"/>
            <a:ext cx="1325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28A879"/>
                </a:solidFill>
                <a:latin typeface="Meiryo UI"/>
              </a:defRPr>
            </a:pPr>
            <a:r>
              <a:t>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1984248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Meiryo UI"/>
              </a:defRPr>
            </a:pPr>
            <a:r>
              <a:t>累積所在地必要条件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432304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始発/便間/帰庫 + home-depot窓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481328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1709928"/>
            <a:ext cx="1325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4D78CC"/>
                </a:solidFill>
                <a:latin typeface="Meiryo UI"/>
              </a:defRPr>
            </a:pPr>
            <a:r>
              <a:t>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1984248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Meiryo UI"/>
              </a:defRPr>
            </a:pPr>
            <a:r>
              <a:t>summary / comparator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432304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代理の設定・入力・結果を別フィールド化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7" y="1481328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7463" y="1709928"/>
            <a:ext cx="1325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>
                <a:solidFill>
                  <a:srgbClr val="F5B941"/>
                </a:solidFill>
                <a:latin typeface="Meiryo UI"/>
              </a:defRPr>
            </a:pPr>
            <a:r>
              <a:t>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3" y="1984248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Meiryo UI"/>
              </a:defRPr>
            </a:pPr>
            <a:r>
              <a:t>BEV 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3" y="2432304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在庫を壊さず使用可能台数を操作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01568"/>
            <a:ext cx="10908792" cy="2048256"/>
          </a:xfrm>
          <a:prstGeom prst="roundRect">
            <a:avLst/>
          </a:prstGeom>
          <a:solidFill>
            <a:srgbClr val="17344D"/>
          </a:solidFill>
          <a:ln>
            <a:solidFill>
              <a:srgbClr val="17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685032"/>
            <a:ext cx="397763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16B8C4"/>
                </a:solidFill>
                <a:latin typeface="Meiryo UI"/>
              </a:defRPr>
            </a:pPr>
            <a:r>
              <a:t>再現コマンド（両ケースとも同じsolver control）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096512"/>
            <a:ext cx="9646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scadia Mono"/>
              </a:defRPr>
            </a:pPr>
            <a:r>
              <a:t>$env:GRB_LICENSE_FILE='C:\Users\RTDS_admin\gurobi.lic'</a:t>
            </a:r>
            <a:br/>
            <a:r>
              <a:t>python scripts/run_research_phase3_frontend_weather.py --time-limit-sec 1500 --mip-gap 0.1 --random-seed 42 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937760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16B8C4"/>
                </a:solidFill>
                <a:latin typeface="Meiryo UI"/>
              </a:defRPr>
            </a:pPr>
            <a:r>
              <a:t>最終確認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901184"/>
            <a:ext cx="8915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D8E4EE"/>
                </a:solidFill>
                <a:latin typeface="Meiryo UI"/>
              </a:defRPr>
            </a:pPr>
            <a:r>
              <a:t>focused / full pytest、compileall、git diff --check、PPTレンダリング、MIT-style self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B8C4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4864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16B8C4"/>
                </a:solidFill>
                <a:latin typeface="Meiryo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10515600" cy="10241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Meiryo UI"/>
              </a:defRPr>
            </a:pPr>
            <a:r>
              <a:t>PVの価値を割当に伝えつつ、</a:t>
            </a:r>
            <a:br/>
            <a:r>
              <a:t>物理可行性はStage 2で守れた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32461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880360"/>
            <a:ext cx="73152" cy="1261872"/>
          </a:xfrm>
          <a:prstGeom prst="rect">
            <a:avLst/>
          </a:prstGeom>
          <a:solidFill>
            <a:srgbClr val="F5B941"/>
          </a:solidFill>
          <a:ln>
            <a:solidFill>
              <a:srgbClr val="F5B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26664"/>
            <a:ext cx="29169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晴天のBEV担当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319272"/>
            <a:ext cx="2916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141便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76472"/>
            <a:ext cx="29169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全264便中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1416" y="2880360"/>
            <a:ext cx="32461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71416" y="2880360"/>
            <a:ext cx="73152" cy="1261872"/>
          </a:xfrm>
          <a:prstGeom prst="rect">
            <a:avLst/>
          </a:prstGeom>
          <a:solidFill>
            <a:srgbClr val="4D78CC"/>
          </a:solidFill>
          <a:ln>
            <a:solidFill>
              <a:srgbClr val="4D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3" y="3026664"/>
            <a:ext cx="29169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雨天のBEV担当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3" y="3319272"/>
            <a:ext cx="2916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119便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3776472"/>
            <a:ext cx="29169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全264便中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2880360"/>
            <a:ext cx="32461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2" y="2880360"/>
            <a:ext cx="73152" cy="1261872"/>
          </a:xfrm>
          <a:prstGeom prst="rect">
            <a:avLst/>
          </a:prstGeom>
          <a:solidFill>
            <a:srgbClr val="16B8C4"/>
          </a:solidFill>
          <a:ln>
            <a:solidFill>
              <a:srgbClr val="16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026664"/>
            <a:ext cx="29169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5E6F80"/>
                </a:solidFill>
                <a:latin typeface="Meiryo UI"/>
              </a:defRPr>
            </a:pPr>
            <a:r>
              <a:t>天候差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19272"/>
            <a:ext cx="2916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>
                <a:solidFill>
                  <a:srgbClr val="0B1F33"/>
                </a:solidFill>
                <a:latin typeface="Meiryo UI"/>
              </a:defRPr>
            </a:pPr>
            <a:r>
              <a:t>+22便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76472"/>
            <a:ext cx="29169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5E6F80"/>
                </a:solidFill>
                <a:latin typeface="Meiryo UI"/>
              </a:defRPr>
            </a:pPr>
            <a:r>
              <a:t>晴天 − 雨天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87375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16B8C4"/>
                </a:solidFill>
                <a:latin typeface="Meiryo UI"/>
              </a:defRPr>
            </a:pPr>
            <a:r>
              <a:t>次の一手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4791456"/>
            <a:ext cx="9601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eiryo UI"/>
              </a:defRPr>
            </a:pPr>
            <a:r>
              <a:t>clean commitから晴雨を再実行 → strict comparatorで正式化 → Phase 4同時最適化を発展課題として比較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980176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>
                <a:solidFill>
                  <a:srgbClr val="BED3E3"/>
                </a:solidFill>
                <a:latin typeface="Meiryo UI"/>
              </a:defRPr>
            </a:pPr>
            <a:r>
              <a:t>修論の芯：どの制約がEVバス運用の成立条件を支配するかを、再現可能な最適化実験で示す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EVバスPhase 3モデル復旧・天候差反映の進捗</dc:title>
  <dc:subject>2026-07-11〜2026-07-16 修士論文研究進捗</dc:subject>
  <dc:creator>master-course research project</dc:creator>
  <cp:keywords/>
  <dc:description>Generated from immutable Phase 3 summary artifacts. Two-stage results are not labeled global optima.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