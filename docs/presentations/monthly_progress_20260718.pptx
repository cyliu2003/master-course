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e2a704f7ab4263" /><Relationship Type="http://schemas.openxmlformats.org/officeDocument/2006/relationships/extended-properties" Target="/docProps/app.xml" Id="Rd3912ae135b0426d" /><Relationship Type="http://schemas.openxmlformats.org/officeDocument/2006/relationships/officeDocument" Target="/ppt/presentation.xml" Id="R64c4a87613c44dbc" /></Relationships>
</file>

<file path=ppt/presentation.xml><?xml version="1.0" encoding="utf-8"?>
<p:presentation xmlns:p="http://schemas.openxmlformats.org/presentationml/2006/main">
  <p:sldMasterIdLst>
    <p:sldMasterId xmlns:r="http://schemas.openxmlformats.org/officeDocument/2006/relationships" id="2147483648" r:id="Raea9715019cc45c7"/>
  </p:sldMasterIdLst>
  <p:notesMasterIdLst>
    <p:notesMasterId xmlns:r="http://schemas.openxmlformats.org/officeDocument/2006/relationships" r:id="R03931d9f59c542a6"/>
  </p:notesMasterIdLst>
  <p:sldIdLst>
    <p:sldId xmlns:r="http://schemas.openxmlformats.org/officeDocument/2006/relationships" id="256" r:id="R316658c50dfd4d2d"/>
    <p:sldId xmlns:r="http://schemas.openxmlformats.org/officeDocument/2006/relationships" id="257" r:id="R85712402be5f474f"/>
    <p:sldId xmlns:r="http://schemas.openxmlformats.org/officeDocument/2006/relationships" id="258" r:id="R21b7d2cd161b4260"/>
    <p:sldId xmlns:r="http://schemas.openxmlformats.org/officeDocument/2006/relationships" id="259" r:id="Ra9f14236baed40f5"/>
    <p:sldId xmlns:r="http://schemas.openxmlformats.org/officeDocument/2006/relationships" id="260" r:id="Rac8d22384fb147e8"/>
    <p:sldId xmlns:r="http://schemas.openxmlformats.org/officeDocument/2006/relationships" id="261" r:id="R3f8a445cdc3f417a"/>
    <p:sldId xmlns:r="http://schemas.openxmlformats.org/officeDocument/2006/relationships" id="262" r:id="R1a69e6e817684876"/>
    <p:sldId xmlns:r="http://schemas.openxmlformats.org/officeDocument/2006/relationships" id="263" r:id="R02958ecdc6ef4b53"/>
    <p:sldId xmlns:r="http://schemas.openxmlformats.org/officeDocument/2006/relationships" id="264" r:id="Rd8a96211a9964cf6"/>
    <p:sldId xmlns:r="http://schemas.openxmlformats.org/officeDocument/2006/relationships" id="265" r:id="R5382d512e57d430a"/>
    <p:sldId xmlns:r="http://schemas.openxmlformats.org/officeDocument/2006/relationships" id="266" r:id="R53338072cfce4703"/>
    <p:sldId xmlns:r="http://schemas.openxmlformats.org/officeDocument/2006/relationships" id="267" r:id="Rba3bfb24a892437a"/>
    <p:sldId xmlns:r="http://schemas.openxmlformats.org/officeDocument/2006/relationships" id="268" r:id="Rf288269fba314eab"/>
    <p:sldId xmlns:r="http://schemas.openxmlformats.org/officeDocument/2006/relationships" id="269" r:id="Rc7854c38dd004681"/>
    <p:sldId xmlns:r="http://schemas.openxmlformats.org/officeDocument/2006/relationships" id="270" r:id="R6fb9329b57eb48bb"/>
    <p:sldId xmlns:r="http://schemas.openxmlformats.org/officeDocument/2006/relationships" id="271" r:id="R4ca046647bd743a0"/>
    <p:sldId xmlns:r="http://schemas.openxmlformats.org/officeDocument/2006/relationships" id="272" r:id="R37cba29ed9f245be"/>
    <p:sldId xmlns:r="http://schemas.openxmlformats.org/officeDocument/2006/relationships" id="273" r:id="Ra3cfd9d8846b49d4"/>
  </p:sldIdLst>
  <p:sldSz cx="12191695"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890ae8090514c67" /><Relationship Type="http://schemas.openxmlformats.org/officeDocument/2006/relationships/slideMaster" Target="/ppt/slideMasters/slideMaster1.xml" Id="Raea9715019cc45c7" /><Relationship Type="http://schemas.openxmlformats.org/officeDocument/2006/relationships/notesMaster" Target="/ppt/notesMasters/notesMaster1.xml" Id="R03931d9f59c542a6" /><Relationship Type="http://schemas.openxmlformats.org/officeDocument/2006/relationships/presProps" Target="/ppt/presProps.xml" Id="Rf2c65971ad8248fc" /><Relationship Type="http://schemas.openxmlformats.org/officeDocument/2006/relationships/viewProps" Target="/ppt/viewProps.xml" Id="R38ca27e802324cf0" /><Relationship Type="http://schemas.openxmlformats.org/officeDocument/2006/relationships/tableStyles" Target="/ppt/tableStyles.xml" Id="R5335d0aa2b824283" /><Relationship Type="http://schemas.openxmlformats.org/officeDocument/2006/relationships/slide" Target="/ppt/slides/slide1.xml" Id="R316658c50dfd4d2d" /><Relationship Type="http://schemas.openxmlformats.org/officeDocument/2006/relationships/slide" Target="/ppt/slides/slide2.xml" Id="R85712402be5f474f" /><Relationship Type="http://schemas.openxmlformats.org/officeDocument/2006/relationships/slide" Target="/ppt/slides/slide3.xml" Id="R21b7d2cd161b4260" /><Relationship Type="http://schemas.openxmlformats.org/officeDocument/2006/relationships/slide" Target="/ppt/slides/slide4.xml" Id="Ra9f14236baed40f5" /><Relationship Type="http://schemas.openxmlformats.org/officeDocument/2006/relationships/slide" Target="/ppt/slides/slide5.xml" Id="Rac8d22384fb147e8" /><Relationship Type="http://schemas.openxmlformats.org/officeDocument/2006/relationships/slide" Target="/ppt/slides/slide6.xml" Id="R3f8a445cdc3f417a" /><Relationship Type="http://schemas.openxmlformats.org/officeDocument/2006/relationships/slide" Target="/ppt/slides/slide7.xml" Id="R1a69e6e817684876" /><Relationship Type="http://schemas.openxmlformats.org/officeDocument/2006/relationships/slide" Target="/ppt/slides/slide8.xml" Id="R02958ecdc6ef4b53" /><Relationship Type="http://schemas.openxmlformats.org/officeDocument/2006/relationships/slide" Target="/ppt/slides/slide9.xml" Id="Rd8a96211a9964cf6" /><Relationship Type="http://schemas.openxmlformats.org/officeDocument/2006/relationships/slide" Target="/ppt/slides/slide10.xml" Id="R5382d512e57d430a" /><Relationship Type="http://schemas.openxmlformats.org/officeDocument/2006/relationships/slide" Target="/ppt/slides/slide11.xml" Id="R53338072cfce4703" /><Relationship Type="http://schemas.openxmlformats.org/officeDocument/2006/relationships/slide" Target="/ppt/slides/slide12.xml" Id="Rba3bfb24a892437a" /><Relationship Type="http://schemas.openxmlformats.org/officeDocument/2006/relationships/slide" Target="/ppt/slides/slide13.xml" Id="Rf288269fba314eab" /><Relationship Type="http://schemas.openxmlformats.org/officeDocument/2006/relationships/slide" Target="/ppt/slides/slide14.xml" Id="Rc7854c38dd004681" /><Relationship Type="http://schemas.openxmlformats.org/officeDocument/2006/relationships/slide" Target="/ppt/slides/slide15.xml" Id="R6fb9329b57eb48bb" /><Relationship Type="http://schemas.openxmlformats.org/officeDocument/2006/relationships/slide" Target="/ppt/slides/slide16.xml" Id="R4ca046647bd743a0" /><Relationship Type="http://schemas.openxmlformats.org/officeDocument/2006/relationships/slide" Target="/ppt/slides/slide17.xml" Id="R37cba29ed9f245be" /><Relationship Type="http://schemas.openxmlformats.org/officeDocument/2006/relationships/slide" Target="/ppt/slides/slide18.xml" Id="Ra3cfd9d8846b49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24e39b5fbc43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e88c12fed84b33" /><Relationship Type="http://schemas.openxmlformats.org/officeDocument/2006/relationships/notesMaster" Target="/ppt/notesMasters/notesMaster1.xml" Id="R7173942a37db406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6e81aae0164ef5" /><Relationship Type="http://schemas.openxmlformats.org/officeDocument/2006/relationships/notesMaster" Target="/ppt/notesMasters/notesMaster1.xml" Id="R47a4c936a10845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804afc41054c54" /><Relationship Type="http://schemas.openxmlformats.org/officeDocument/2006/relationships/notesMaster" Target="/ppt/notesMasters/notesMaster1.xml" Id="R9b6fed2a180e4be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6945b890ab4bd9" /><Relationship Type="http://schemas.openxmlformats.org/officeDocument/2006/relationships/notesMaster" Target="/ppt/notesMasters/notesMaster1.xml" Id="Rbd89eef4dbd246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7164d7e8494967" /><Relationship Type="http://schemas.openxmlformats.org/officeDocument/2006/relationships/notesMaster" Target="/ppt/notesMasters/notesMaster1.xml" Id="R481b5fa4202a4e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e1f4d2705a4f01" /><Relationship Type="http://schemas.openxmlformats.org/officeDocument/2006/relationships/notesMaster" Target="/ppt/notesMasters/notesMaster1.xml" Id="R49d263e3ad9d44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cf8d8a9de54776" /><Relationship Type="http://schemas.openxmlformats.org/officeDocument/2006/relationships/notesMaster" Target="/ppt/notesMasters/notesMaster1.xml" Id="R32d4855c6a584d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658973239d4880" /><Relationship Type="http://schemas.openxmlformats.org/officeDocument/2006/relationships/notesMaster" Target="/ppt/notesMasters/notesMaster1.xml" Id="Ra8fd07ed50ff44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5bc427fdfe4021" /><Relationship Type="http://schemas.openxmlformats.org/officeDocument/2006/relationships/notesMaster" Target="/ppt/notesMasters/notesMaster1.xml" Id="R99f0ff51ad6e43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b600a277204277" /><Relationship Type="http://schemas.openxmlformats.org/officeDocument/2006/relationships/notesMaster" Target="/ppt/notesMasters/notesMaster1.xml" Id="R025028b3bec0450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63b136b56284c79" /><Relationship Type="http://schemas.openxmlformats.org/officeDocument/2006/relationships/notesMaster" Target="/ppt/notesMasters/notesMaster1.xml" Id="R7e2e94dba8df4e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94f09aa8dbc46d7" /><Relationship Type="http://schemas.openxmlformats.org/officeDocument/2006/relationships/notesMaster" Target="/ppt/notesMasters/notesMaster1.xml" Id="R1cfe997472204e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bac22a9e2b47b0" /><Relationship Type="http://schemas.openxmlformats.org/officeDocument/2006/relationships/notesMaster" Target="/ppt/notesMasters/notesMaster1.xml" Id="R567e6070747d45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31e1cf46574624" /><Relationship Type="http://schemas.openxmlformats.org/officeDocument/2006/relationships/notesMaster" Target="/ppt/notesMasters/notesMaster1.xml" Id="Rd9200d8730f340f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9daf416fb34c7d" /><Relationship Type="http://schemas.openxmlformats.org/officeDocument/2006/relationships/notesMaster" Target="/ppt/notesMasters/notesMaster1.xml" Id="R0572fb10356140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78e44fc27544be" /><Relationship Type="http://schemas.openxmlformats.org/officeDocument/2006/relationships/notesMaster" Target="/ppt/notesMasters/notesMaster1.xml" Id="Rd3561f0f29524a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d25d291ba0f44cc" /><Relationship Type="http://schemas.openxmlformats.org/officeDocument/2006/relationships/notesMaster" Target="/ppt/notesMasters/notesMaster1.xml" Id="R18c156790b1446b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cda2ea0649e4971" /><Relationship Type="http://schemas.openxmlformats.org/officeDocument/2006/relationships/notesMaster" Target="/ppt/notesMasters/notesMaster1.xml" Id="Rf9b3176754294c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話すポイント：専門知識がなくても流れが分かるよう、社会背景から方法、対策、結果、次の課題の順で説明する。</a:t>
            </a:r>
          </a:p>
          <a:p xmlns:a="http://schemas.openxmlformats.org/drawingml/2006/main">
            <a:r>
              <a:t>対象データ：C:\master-course\output\2026-07-17</a:t>
            </a:r>
          </a:p>
          <a:p xmlns:a="http://schemas.openxmlformats.org/drawingml/2006/main">
            <a:r>
              <a:t>構成参考：https://note.com/memsblack/n/n85103b886694</a:t>
            </a:r>
          </a:p>
          <a:p xmlns:a="http://schemas.openxmlformats.org/drawingml/2006/main">
            <a:r>
              <a:t>構成参考：https://tadanaohakasenoblog.com/progress-report-template/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話すポイント：電気バスは、車両だけでなく充電に使う電気まで含めて考える必要がある。</a:t>
            </a:r>
          </a:p>
          <a:p xmlns:a="http://schemas.openxmlformats.org/drawingml/2006/main">
            <a:r>
              <a:t>文献：C:\Users\RTDS_admin\iCloudDrive\Research\M1&amp;2_電力需要\先行研究\修士論文_九蘭_提出版.pdf、都市の太陽光地域余剰電力活用と運行の低炭素化を目的とした電気バス充電計画法の検.pdf。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話すポイント：時刻表、車両の電池、天候、充電器の台数が互いに影響する。前日計画だけでは当日の変化に対応しにくい。</a:t>
            </a:r>
          </a:p>
          <a:p xmlns:a="http://schemas.openxmlformats.org/drawingml/2006/main">
            <a:r>
              <a:t>文献：C:\Users\RTDS_admin\iCloudDrive\Research\M1&amp;2_電力需要\先行研究\電気バスの低炭素運用に向けたモデル予測型逐次充電計画の導入評価.pdf。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話すポイント：費用が安いだけでは採用しない。全便運行、電池残量、設備上限、結果表示の一致を同時に確認する。</a:t>
            </a:r>
          </a:p>
          <a:p xmlns:a="http://schemas.openxmlformats.org/drawingml/2006/main">
            <a:r>
              <a:t>研究上の成功条件はスライド16で具体化する。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話すポイント：本研究は、一日全体の基本計画を作り、毎正時にその日残りの充電計画を更新し、次の1時間だけ実行する。</a:t>
            </a:r>
          </a:p>
          <a:p xmlns:a="http://schemas.openxmlformats.org/drawingml/2006/main">
            <a:r>
              <a:t>『最低限必要な充電量』は時刻や充電器混雑を無視した早期確認値であり、実際の充電実績ではない。</a:t>
            </a:r>
          </a:p>
          <a:p xmlns:a="http://schemas.openxmlformats.org/drawingml/2006/main">
            <a:r>
              <a:t>『朝の営業所蓄電池で使える余分』は終業時目標を超える部分だけ。朝と終業時が同じ300 kWhなら0 kWh。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話すポイント：一日計画では、時刻表・車両・設備・電池・太陽光予測を入力し、担当車両と充電予定を決める。候補を作った後、実際に走れるかまで確認する。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話すポイント：毎正時に最新の電池残量と太陽光予測を入れる。担当便は固定し、実行済み区間を二重に数えず、残りの充電だけを見直す。</a:t>
            </a:r>
          </a:p>
          <a:p xmlns:a="http://schemas.openxmlformats.org/drawingml/2006/main">
            <a:r>
              <a:t>先行文献は二日計画の日次更新。本研究はその逐次更新の考え方を一日計画・毎正時更新へ応用しており、時間幅は同一ではない。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話すポイント：正式判定では264便が未担当なのに、集計では0便と表示された。失敗時は費用を0円とせず、評価不可として資料作成も止める。</a:t>
            </a:r>
          </a:p>
          <a:p xmlns:a="http://schemas.openxmlformats.org/drawingml/2006/main">
            <a:r>
              <a:t>根拠：C:\master-course\output\2026-07-17\run_20260717_0003 と run_20260717_1240。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話すポイント：最初に264便の担当候補は作れたが、充電器・電池残量まで含めると成立しなかった。候補を正式結果として使わない。</a:t>
            </a:r>
          </a:p>
          <a:p xmlns:a="http://schemas.openxmlformats.org/drawingml/2006/main">
            <a:r>
              <a:t>根拠：正式判定ファイルの候補264便、正式担当0便。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話すポイント：48.37%は、計算がまだどの程度絞り切れていないかを示す値。目標10%に届いていないので、最もよい計画とは言わない。</a:t>
            </a:r>
          </a:p>
          <a:p xmlns:a="http://schemas.openxmlformats.org/drawingml/2006/main">
            <a:r>
              <a:t>根拠：両runの計算記録。</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話すポイント：太陽光の入力は614.7 kWhと101.1 kWhで異なる。ただし両方とも充電計画が成立していないため、費用や利用量の差は比較しない。</a:t>
            </a:r>
          </a:p>
          <a:p xmlns:a="http://schemas.openxmlformats.org/drawingml/2006/main">
            <a:r>
              <a:t>根拠：C:\master-course\output\monthly_progress_202607\run_audit_20260717.csv。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話すポイント：計算を速くするため、各便の次候補を最大8本に絞った。良い候補を消す可能性があるため、8・16・32・無制限で比較する。</a:t>
            </a:r>
          </a:p>
          <a:p xmlns:a="http://schemas.openxmlformats.org/drawingml/2006/main">
            <a:r>
              <a:t>根拠：便のつなぎ候補678,600本から113,712本へ削減。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話すポイント：運行、充電、電池残量の明細は0行だった。明細がない場合、0円や0kWhではなく結果なしとして扱う。</a:t>
            </a:r>
          </a:p>
          <a:p xmlns:a="http://schemas.openxmlformats.org/drawingml/2006/main">
            <a:r>
              <a:t>根拠：C:\master-course\output\monthly_progress_202607\artifact_row_counts_20260717.csv。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話すポイント：今回載せられるのは、計算状況、便数の食い違い、太陽光入力の確認図だけ。先行研究にある運行・電池・電力・費用・CO₂図は正式結果後に作る。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話すポイント：今回の2回は修正箇所を示す確認用データ。毎正時の見直し効果を示す実験結果ではない。入力条件と運用結果を混同しない。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話すポイント：6条件をすべて満たした場合だけ研究結果として採用する。7月17日の2回は0項目で、費用やCO₂の比較には使わない。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話すポイント：正式判定、集計、研究指標、画面、資料作成を一つの判定へそろえた。7月17日の保存結果は、同じ不具合が戻らないか確かめるために残す。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話すポイント：不足しているのは新機能ではなく、結果を信頼するための証拠である。7月19日から25日は、走れない原因を保存し、設備条件を緩めた状態から一つずつ戻して、15分刻み・264便・違反0の正式な基準結果を1本固定する。7月26日から31日は、その割当を使って毎時間の見直しを24回つなぎ、一日計画との違いを比較する。予測誤差、晴雨、便のつなぎ候補数の比較は、この2条件を満たした場合だけ行う。</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6f68c48dde4b2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8c7e3ef66447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a25f75c09a454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d639616160411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6daca6b8d8044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06adcab8854b7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87c7dd7dfb7491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463c9a90b634d8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84b36f3431b455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bf773dc81b047b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4ff29fa190c489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20CA2B-ADD3-46ED-8B2E-74F31F86E5B4}"/>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EA85E1F-57E5-4987-A0D6-C2570FB92764}"/>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FF2082F-BB56-44D9-AF69-4D4F4F2944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9F1A68B2-A951-4405-B15E-5AE3AF9A89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ECFAFC-B821-42B5-81EB-405F2445F25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AE2467-5748-4D1F-8047-91EFB157B8F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EEFD9C4-0885-4B9B-970C-3A6934E42B6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B14C432-A362-482F-B1AC-778DC09DBB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633875EA-9C4B-45F9-AD40-3823DA22F6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2DCDD9B-B006-4CBD-9BEF-D3337091F6C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4FF4AA-B8CE-467F-A657-1ABE11C5C7EA}"/>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15660B7-9339-43DA-ACF3-1FD625C1AF0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3AA0248-091A-41A6-89F0-A50C2AEE1E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ABF9B9CC-8CE9-4EDB-BF7A-93E3121522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52E6E10B-093C-467E-9EF2-E36992DDC2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D6CB16A-42E1-4193-A6F7-A88465ACA33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F7285CC0-6F4A-47C5-9931-21BEDF20BC70}"/>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73836418-0F80-4135-BA12-72CAB375AE0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F252DE1D-A1BC-4A76-8A9D-8EF1DF715D5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2DBA64A7-65C5-4B78-9CC4-2D22D12861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3BFFB67F-DB37-4862-99E3-453E3D04A3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54C1D6B-5AEB-4A38-84C5-EB6BEB24EE8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FCCBB52-D999-4955-9A28-4D3CC193BEB9}"/>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1F269C07-8636-4130-905B-74EA833FCF15}"/>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4EB2C6AD-CFEF-4DD5-B1B8-96E9D7137AFF}"/>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E86E5DB9-A326-4D86-95B7-32B0FCFE10EE}"/>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B09E403D-B8E9-43F7-85A7-80B4BB2D3D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8" name="Footer Placeholder 7">
            <a:extLst xmlns:a="http://schemas.openxmlformats.org/drawingml/2006/main">
              <a:ext uri="{FF2B5EF4-FFF2-40B4-BE49-F238E27FC236}">
                <a16:creationId xmlns:a16="http://schemas.microsoft.com/office/drawing/2014/main" id="{C141DCB2-6FA1-4871-AD90-B7EF738465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C1BC806-A0D5-4B4A-AFF5-E49D5E6768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3D183BE-9A2A-46A6-92BB-A04BC442CE3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A5932795-AB65-4481-A1E5-56A91E6A26D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4" name="Footer Placeholder 3">
            <a:extLst xmlns:a="http://schemas.openxmlformats.org/drawingml/2006/main">
              <a:ext uri="{FF2B5EF4-FFF2-40B4-BE49-F238E27FC236}">
                <a16:creationId xmlns:a16="http://schemas.microsoft.com/office/drawing/2014/main" id="{2F78C709-E805-4DB5-8D56-95CCAD1451F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9A1E9FA1-1E1C-4732-9C06-9C0E3C5B10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79AF95C-C513-4FDD-A409-2E1801B01E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3" name="Footer Placeholder 2">
            <a:extLst xmlns:a="http://schemas.openxmlformats.org/drawingml/2006/main">
              <a:ext uri="{FF2B5EF4-FFF2-40B4-BE49-F238E27FC236}">
                <a16:creationId xmlns:a16="http://schemas.microsoft.com/office/drawing/2014/main" id="{109F93D0-0D58-4791-B69D-62FACDD2F8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BE5DC126-1C85-4148-BB5E-B7453D2C1EB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52C3CC-28A8-439D-BBBF-A35D92F59F82}"/>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896301E-6D21-4229-A64B-BE4932082FE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3E066665-218E-4FCF-8E5F-5ACC431E2F7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2DB9752-FA61-4C11-BFAC-BA4C0827E9D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D9893D94-8C06-4A49-B9F6-E1B737BC4F6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9FE095F8-8C3E-4CA1-8734-9FD59414E9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8DCDB7-F4AA-41E7-B096-008573C8159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8CD59E16-01F8-4DC1-A4C2-D080742A028E}"/>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3A462657-2A19-4221-B8D2-BDE92D192F1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A1D90FE-E4A9-49E0-8BD4-9519746415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6" name="Footer Placeholder 5">
            <a:extLst xmlns:a="http://schemas.openxmlformats.org/drawingml/2006/main">
              <a:ext uri="{FF2B5EF4-FFF2-40B4-BE49-F238E27FC236}">
                <a16:creationId xmlns:a16="http://schemas.microsoft.com/office/drawing/2014/main" id="{8918D61E-B877-4511-825F-A3E201B2D4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44CF97E2-5A95-491F-B078-D065419802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6BF07A9-C738-4713-91C3-CC12F6AE328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A8611FB-F657-43EF-8003-F41B0E9517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D277F3DE-4C6F-447C-9F5B-46895197D4C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F73492C7-2B26-41ED-88C5-553D4295282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6AC77593-2B54-4B7B-8739-5AB4FCC465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34336F1-1E0D-49AE-A3F3-5E8AE1BD93E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1D03DF6-8150-4110-94DB-30BD3C02469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20E5DE49-DF7C-4FF7-B7EA-FD38F08B4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A14E18DC-89E3-4EC9-B499-57B031115B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CC306590-38EC-49E3-8616-7086D6E6569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2a0b633a6049a1" /><Relationship Type="http://schemas.openxmlformats.org/officeDocument/2006/relationships/slideLayout" Target="/ppt/slideLayouts/slideLayout1.xml" Id="Rae4a612fc14b460a" /><Relationship Type="http://schemas.openxmlformats.org/officeDocument/2006/relationships/slideLayout" Target="/ppt/slideLayouts/slideLayout2.xml" Id="Rac2acb33292f46fc" /><Relationship Type="http://schemas.openxmlformats.org/officeDocument/2006/relationships/slideLayout" Target="/ppt/slideLayouts/slideLayout3.xml" Id="Rf30d8206e2ff46e9" /><Relationship Type="http://schemas.openxmlformats.org/officeDocument/2006/relationships/slideLayout" Target="/ppt/slideLayouts/slideLayout4.xml" Id="R396290e9ea16475d" /><Relationship Type="http://schemas.openxmlformats.org/officeDocument/2006/relationships/slideLayout" Target="/ppt/slideLayouts/slideLayout5.xml" Id="Re4aa70fdc1984f31" /><Relationship Type="http://schemas.openxmlformats.org/officeDocument/2006/relationships/slideLayout" Target="/ppt/slideLayouts/slideLayout6.xml" Id="R2f26a56c64de4ea8" /><Relationship Type="http://schemas.openxmlformats.org/officeDocument/2006/relationships/slideLayout" Target="/ppt/slideLayouts/slideLayout7.xml" Id="R40c7bdda69694c39" /><Relationship Type="http://schemas.openxmlformats.org/officeDocument/2006/relationships/slideLayout" Target="/ppt/slideLayouts/slideLayout8.xml" Id="Rd1a7e7d342d44f34" /><Relationship Type="http://schemas.openxmlformats.org/officeDocument/2006/relationships/slideLayout" Target="/ppt/slideLayouts/slideLayout9.xml" Id="Rdaa06dc13b7b47b1" /><Relationship Type="http://schemas.openxmlformats.org/officeDocument/2006/relationships/slideLayout" Target="/ppt/slideLayouts/slideLayout10.xml" Id="Rc4da7260c94e4c16" /><Relationship Type="http://schemas.openxmlformats.org/officeDocument/2006/relationships/slideLayout" Target="/ppt/slideLayouts/slideLayout11.xml" Id="Rca79acb8e0994ab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1F0E9BC7-ADEA-432C-AB93-AFE836B5B553}"/>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933F1AB-FB4F-40EC-9BF9-DADEEFA626B0}"/>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56135DE5-60B1-4274-BD45-E53230EA7F9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p>
        </p:txBody>
      </p:sp>
      <p:sp>
        <p:nvSpPr>
          <p:cNvPr id="5" name="Footer Placeholder 4">
            <a:extLst xmlns:a="http://schemas.openxmlformats.org/drawingml/2006/main">
              <a:ext uri="{FF2B5EF4-FFF2-40B4-BE49-F238E27FC236}">
                <a16:creationId xmlns:a16="http://schemas.microsoft.com/office/drawing/2014/main" id="{C53A720B-400C-4D97-9973-568E5112E172}"/>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BC943C06-AD13-4479-AB81-96EF0C8121D4}"/>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4a612fc14b460a"/>
    <p:sldLayoutId xmlns:r="http://schemas.openxmlformats.org/officeDocument/2006/relationships" id="2147483650" r:id="Rac2acb33292f46fc"/>
    <p:sldLayoutId xmlns:r="http://schemas.openxmlformats.org/officeDocument/2006/relationships" id="2147483651" r:id="Rf30d8206e2ff46e9"/>
    <p:sldLayoutId xmlns:r="http://schemas.openxmlformats.org/officeDocument/2006/relationships" id="2147483652" r:id="R396290e9ea16475d"/>
    <p:sldLayoutId xmlns:r="http://schemas.openxmlformats.org/officeDocument/2006/relationships" id="2147483653" r:id="Re4aa70fdc1984f31"/>
    <p:sldLayoutId xmlns:r="http://schemas.openxmlformats.org/officeDocument/2006/relationships" id="2147483654" r:id="R2f26a56c64de4ea8"/>
    <p:sldLayoutId xmlns:r="http://schemas.openxmlformats.org/officeDocument/2006/relationships" id="2147483655" r:id="R40c7bdda69694c39"/>
    <p:sldLayoutId xmlns:r="http://schemas.openxmlformats.org/officeDocument/2006/relationships" id="2147483656" r:id="Rd1a7e7d342d44f34"/>
    <p:sldLayoutId xmlns:r="http://schemas.openxmlformats.org/officeDocument/2006/relationships" id="2147483657" r:id="Rdaa06dc13b7b47b1"/>
    <p:sldLayoutId xmlns:r="http://schemas.openxmlformats.org/officeDocument/2006/relationships" id="2147483658" r:id="Rc4da7260c94e4c16"/>
    <p:sldLayoutId xmlns:r="http://schemas.openxmlformats.org/officeDocument/2006/relationships" id="2147483659" r:id="Rca79acb8e0994ab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111ac14423744c0" /><Relationship Type="http://schemas.openxmlformats.org/officeDocument/2006/relationships/notesSlide" Target="/ppt/notesSlides/notesSlide1.xml" Id="R4a9035d74b054a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1f51ee12d3a4138" /><Relationship Type="http://schemas.openxmlformats.org/officeDocument/2006/relationships/notesSlide" Target="/ppt/notesSlides/notesSlide2.xml" Id="Ra4b4914da2b14e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2e4b9092dd814e04" /><Relationship Type="http://schemas.openxmlformats.org/officeDocument/2006/relationships/notesSlide" Target="/ppt/notesSlides/notesSlide3.xml" Id="Rae3a04be250344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66cd3f0132d43e3" /><Relationship Type="http://schemas.openxmlformats.org/officeDocument/2006/relationships/notesSlide" Target="/ppt/notesSlides/notesSlide4.xml" Id="Rca6b1c3c5a1c4d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b52e08e31a44258" /><Relationship Type="http://schemas.openxmlformats.org/officeDocument/2006/relationships/notesSlide" Target="/ppt/notesSlides/notesSlide5.xml" Id="Rfcf1ec5baa2841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b1cb9618ab8f47a5" /><Relationship Type="http://schemas.openxmlformats.org/officeDocument/2006/relationships/notesSlide" Target="/ppt/notesSlides/notesSlide6.xml" Id="Rf6c8fc1ca19546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491ab92f8d75486e" /><Relationship Type="http://schemas.openxmlformats.org/officeDocument/2006/relationships/notesSlide" Target="/ppt/notesSlides/notesSlide7.xml" Id="Ra9e5851744034e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3255c30210c84631" /><Relationship Type="http://schemas.openxmlformats.org/officeDocument/2006/relationships/image" Target="/ppt/media/image.png" Id="R8a525e63a8224c70" /><Relationship Type="http://schemas.openxmlformats.org/officeDocument/2006/relationships/notesSlide" Target="/ppt/notesSlides/notesSlide8.xml" Id="R6ffdab6098ba45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d8d42dd9405e41a3" /><Relationship Type="http://schemas.openxmlformats.org/officeDocument/2006/relationships/image" Target="/ppt/media/image2.png" Id="R7fd5c64388424fa6" /><Relationship Type="http://schemas.openxmlformats.org/officeDocument/2006/relationships/notesSlide" Target="/ppt/notesSlides/notesSlide9.xml" Id="R1d7851c4c7fb43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9d33efa500b74a99" /><Relationship Type="http://schemas.openxmlformats.org/officeDocument/2006/relationships/image" Target="/ppt/media/image3.png" Id="R6af577c9ac2549a1" /><Relationship Type="http://schemas.openxmlformats.org/officeDocument/2006/relationships/notesSlide" Target="/ppt/notesSlides/notesSlide10.xml" Id="Ra98687093726466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35fbfff7fda04d0f" /><Relationship Type="http://schemas.openxmlformats.org/officeDocument/2006/relationships/image" Target="/ppt/media/image4.png" Id="R2bc803222334404e" /><Relationship Type="http://schemas.openxmlformats.org/officeDocument/2006/relationships/notesSlide" Target="/ppt/notesSlides/notesSlide11.xml" Id="Rdba8254107224de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4d283d585d144bfc" /><Relationship Type="http://schemas.openxmlformats.org/officeDocument/2006/relationships/image" Target="/ppt/media/image5.png" Id="Ra72a34409d5c42e2" /><Relationship Type="http://schemas.openxmlformats.org/officeDocument/2006/relationships/notesSlide" Target="/ppt/notesSlides/notesSlide12.xml" Id="R652d2d48b78d436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53e0f7b1c1484528" /><Relationship Type="http://schemas.openxmlformats.org/officeDocument/2006/relationships/image" Target="/ppt/media/image6.png" Id="Rc86d8023ede9467a" /><Relationship Type="http://schemas.openxmlformats.org/officeDocument/2006/relationships/notesSlide" Target="/ppt/notesSlides/notesSlide13.xml" Id="Rd7425af92a2b42c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b647bca926d64dbb" /><Relationship Type="http://schemas.openxmlformats.org/officeDocument/2006/relationships/image" Target="/ppt/media/image7.png" Id="Re7bc9bb6f7b34379" /><Relationship Type="http://schemas.openxmlformats.org/officeDocument/2006/relationships/notesSlide" Target="/ppt/notesSlides/notesSlide14.xml" Id="R1e57fdfd83414c4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342080e1bcef4270" /><Relationship Type="http://schemas.openxmlformats.org/officeDocument/2006/relationships/notesSlide" Target="/ppt/notesSlides/notesSlide15.xml" Id="R9271adc68ccc43c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71149d9977f84d87" /><Relationship Type="http://schemas.openxmlformats.org/officeDocument/2006/relationships/image" Target="/ppt/media/image8.png" Id="R624f840275dc4944" /><Relationship Type="http://schemas.openxmlformats.org/officeDocument/2006/relationships/notesSlide" Target="/ppt/notesSlides/notesSlide16.xml" Id="Rab6f43b4736e404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4aaa83d675724e6d" /><Relationship Type="http://schemas.openxmlformats.org/officeDocument/2006/relationships/image" Target="/ppt/media/image9.png" Id="R5d2e689f3ba842cb" /><Relationship Type="http://schemas.openxmlformats.org/officeDocument/2006/relationships/notesSlide" Target="/ppt/notesSlides/notesSlide17.xml" Id="Rd1376c96a0c5476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1b9a1cb43a254d25" /><Relationship Type="http://schemas.openxmlformats.org/officeDocument/2006/relationships/notesSlide" Target="/ppt/notesSlides/notesSlide18.xml" Id="Re7105701902d4ac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A76CAD8-3884-4451-BAF7-D77268D45C29}"/>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E1809958-8415-4A42-95BD-7095DAFE592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5F878CE0-7BD0-4A70-B039-2B7B86D46CE9}"/>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5" name="TextBox 4">
            <a:extLst xmlns:a="http://schemas.openxmlformats.org/drawingml/2006/main">
              <a:ext uri="{FF2B5EF4-FFF2-40B4-BE49-F238E27FC236}">
                <a16:creationId xmlns:a16="http://schemas.microsoft.com/office/drawing/2014/main" id="{CDACA092-784E-4AB4-ADE6-FA8110AF8991}"/>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6" name="Rectangle 5">
            <a:extLst xmlns:a="http://schemas.openxmlformats.org/drawingml/2006/main">
              <a:ext uri="{FF2B5EF4-FFF2-40B4-BE49-F238E27FC236}">
                <a16:creationId xmlns:a16="http://schemas.microsoft.com/office/drawing/2014/main" id="{69FE3B4B-9CBA-47D3-97D5-F63A7B3374B8}"/>
              </a:ext>
            </a:extLst>
          </p:cNvPr>
          <p:cNvSpPr>
            <a:spLocks xmlns:a="http://schemas.openxmlformats.org/drawingml/2006/main" noGrp="1"/>
          </p:cNvSpPr>
          <p:nvPr/>
        </p:nvSpPr>
        <p:spPr>
          <a:xfrm xmlns:a="http://schemas.openxmlformats.org/drawingml/2006/main">
            <a:off x="365760" y="1828800"/>
            <a:ext cx="11155680" cy="1481328"/>
          </a:xfrm>
          <a:prstGeom xmlns:a="http://schemas.openxmlformats.org/drawingml/2006/main" prst="rect">
            <a:avLst/>
          </a:prstGeom>
          <a:solidFill xmlns:a="http://schemas.openxmlformats.org/drawingml/2006/main">
            <a:srgbClr val="003667"/>
          </a:solidFill>
          <a:ln xmlns:a="http://schemas.openxmlformats.org/drawingml/2006/main">
            <a:solidFill>
              <a:srgbClr val="00366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5A09426B-3A38-4832-B1C6-721767177476}"/>
              </a:ext>
            </a:extLst>
          </p:cNvPr>
          <p:cNvSpPr>
            <a:spLocks xmlns:a="http://schemas.openxmlformats.org/drawingml/2006/main" noGrp="1"/>
          </p:cNvSpPr>
          <p:nvPr/>
        </p:nvSpPr>
        <p:spPr>
          <a:xfrm xmlns:a="http://schemas.openxmlformats.org/drawingml/2006/main">
            <a:off x="658368" y="2029968"/>
            <a:ext cx="10570464" cy="5303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3000" b="1">
                <a:solidFill>
                  <a:srgbClr val="FFFFFF"/>
                </a:solidFill>
                <a:latin typeface="Meiryo"/>
                <a:ea typeface="Meiryo"/>
                <a:cs typeface="Meiryo"/>
              </a:defRPr>
            </a:pPr>
            <a:r>
              <a:t>7月 月間進捗報告</a:t>
            </a:r>
          </a:p>
        </p:txBody>
      </p:sp>
      <p:sp>
        <p:nvSpPr>
          <p:cNvPr id="8" name="TextBox 7">
            <a:extLst xmlns:a="http://schemas.openxmlformats.org/drawingml/2006/main">
              <a:ext uri="{FF2B5EF4-FFF2-40B4-BE49-F238E27FC236}">
                <a16:creationId xmlns:a16="http://schemas.microsoft.com/office/drawing/2014/main" id="{C1283CC6-0160-4C51-8DEF-9A01DF9130A1}"/>
              </a:ext>
            </a:extLst>
          </p:cNvPr>
          <p:cNvSpPr>
            <a:spLocks xmlns:a="http://schemas.openxmlformats.org/drawingml/2006/main" noGrp="1"/>
          </p:cNvSpPr>
          <p:nvPr/>
        </p:nvSpPr>
        <p:spPr>
          <a:xfrm xmlns:a="http://schemas.openxmlformats.org/drawingml/2006/main">
            <a:off x="658368" y="2578608"/>
            <a:ext cx="10570464" cy="40233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FFFFFF"/>
                </a:solidFill>
                <a:latin typeface="Meiryo"/>
                <a:ea typeface="Meiryo"/>
                <a:cs typeface="Meiryo"/>
              </a:defRPr>
            </a:pPr>
            <a:r>
              <a:t>電気バスを止めずに、太陽光を活かして充電するための計画づくり</a:t>
            </a:r>
          </a:p>
        </p:txBody>
      </p:sp>
      <p:sp>
        <p:nvSpPr>
          <p:cNvPr id="9" name="TextBox 8">
            <a:extLst xmlns:a="http://schemas.openxmlformats.org/drawingml/2006/main">
              <a:ext uri="{FF2B5EF4-FFF2-40B4-BE49-F238E27FC236}">
                <a16:creationId xmlns:a16="http://schemas.microsoft.com/office/drawing/2014/main" id="{F39FE758-1839-42B8-A0A1-E3F9E45F0232}"/>
              </a:ext>
            </a:extLst>
          </p:cNvPr>
          <p:cNvSpPr>
            <a:spLocks xmlns:a="http://schemas.openxmlformats.org/drawingml/2006/main" noGrp="1"/>
          </p:cNvSpPr>
          <p:nvPr/>
        </p:nvSpPr>
        <p:spPr>
          <a:xfrm xmlns:a="http://schemas.openxmlformats.org/drawingml/2006/main">
            <a:off x="685800" y="3822191"/>
            <a:ext cx="10515600" cy="36576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900" b="1">
                <a:solidFill>
                  <a:srgbClr val="003667"/>
                </a:solidFill>
                <a:latin typeface="Meiryo"/>
                <a:ea typeface="Meiryo"/>
                <a:cs typeface="Meiryo"/>
              </a:defRPr>
            </a:pPr>
            <a:r>
              <a:t>2026年7月18日　月間進捗報告</a:t>
            </a:r>
          </a:p>
        </p:txBody>
      </p:sp>
      <p:sp>
        <p:nvSpPr>
          <p:cNvPr id="10" name="TextBox 9">
            <a:extLst xmlns:a="http://schemas.openxmlformats.org/drawingml/2006/main">
              <a:ext uri="{FF2B5EF4-FFF2-40B4-BE49-F238E27FC236}">
                <a16:creationId xmlns:a16="http://schemas.microsoft.com/office/drawing/2014/main" id="{5C013902-1EA5-4FB7-A1DC-FCFED037A351}"/>
              </a:ext>
            </a:extLst>
          </p:cNvPr>
          <p:cNvSpPr>
            <a:spLocks xmlns:a="http://schemas.openxmlformats.org/drawingml/2006/main" noGrp="1"/>
          </p:cNvSpPr>
          <p:nvPr/>
        </p:nvSpPr>
        <p:spPr>
          <a:xfrm xmlns:a="http://schemas.openxmlformats.org/drawingml/2006/main">
            <a:off x="685800" y="4251960"/>
            <a:ext cx="10515600"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600" b="0">
                <a:solidFill>
                  <a:srgbClr val="191F24"/>
                </a:solidFill>
                <a:latin typeface="Meiryo"/>
                <a:ea typeface="Meiryo"/>
                <a:cs typeface="Meiryo"/>
              </a:defRPr>
            </a:pPr>
            <a:r>
              <a:t>刘 承洋　東京都市大学</a:t>
            </a:r>
          </a:p>
        </p:txBody>
      </p:sp>
      <p:sp>
        <p:nvSpPr>
          <p:cNvPr id="11" name="TextBox 10">
            <a:extLst xmlns:a="http://schemas.openxmlformats.org/drawingml/2006/main">
              <a:ext uri="{FF2B5EF4-FFF2-40B4-BE49-F238E27FC236}">
                <a16:creationId xmlns:a16="http://schemas.microsoft.com/office/drawing/2014/main" id="{3848A8E4-3847-49C8-B8FA-45DC7AC60234}"/>
              </a:ext>
            </a:extLst>
          </p:cNvPr>
          <p:cNvSpPr>
            <a:spLocks xmlns:a="http://schemas.openxmlformats.org/drawingml/2006/main" noGrp="1"/>
          </p:cNvSpPr>
          <p:nvPr/>
        </p:nvSpPr>
        <p:spPr>
          <a:xfrm xmlns:a="http://schemas.openxmlformats.org/drawingml/2006/main">
            <a:off x="685800" y="4983480"/>
            <a:ext cx="10515600" cy="31089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400" b="0">
                <a:solidFill>
                  <a:srgbClr val="5C6670"/>
                </a:solidFill>
                <a:latin typeface="Meiryo"/>
                <a:ea typeface="Meiryo"/>
                <a:cs typeface="Meiryo"/>
              </a:defRPr>
            </a:pPr>
            <a:r>
              <a:t>進捗結果は output/2026-07-17 の2回の計算に限定</a:t>
            </a:r>
          </a:p>
        </p:txBody>
      </p:sp>
    </p:spTree>
    <p:extLst>
      <p:ext uri="{BB962C8B-B14F-4D97-AF65-F5344CB8AC3E}">
        <p14:creationId xmlns:p14="http://schemas.microsoft.com/office/powerpoint/2010/main" val="800099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629784D-FD2D-40EB-955A-7EC0DA60B4A1}"/>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電気バスは、交通と電力の両方を変える取り組み</a:t>
            </a:r>
          </a:p>
        </p:txBody>
      </p:sp>
      <p:sp>
        <p:nvSpPr>
          <p:cNvPr id="3" name="Connector 2">
            <a:extLst xmlns:a="http://schemas.openxmlformats.org/drawingml/2006/main">
              <a:ext uri="{FF2B5EF4-FFF2-40B4-BE49-F238E27FC236}">
                <a16:creationId xmlns:a16="http://schemas.microsoft.com/office/drawing/2014/main" id="{FB60B7E4-910F-4890-AB78-A43259B3CC06}"/>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7EFE053B-95DE-4337-BCC5-A0E44CF43123}"/>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07E270FB-1E66-4A6F-AA87-3038EF712A84}"/>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DAB9AAD9-5646-4349-883E-D94E295B9992}"/>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40EE6352-9769-418C-B622-014E0B48717B}"/>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3031BBE4-EB77-4892-B026-320935EF205E}"/>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2/18</a:t>
            </a:r>
          </a:p>
        </p:txBody>
      </p:sp>
      <p:graphicFrame>
        <p:nvGraphicFramePr>
          <p:cNvPr id="20" name="Table 8"/>
          <p:cNvGraphicFramePr/>
          <p:nvPr/>
        </p:nvGraphicFramePr>
        <p:xfrm>
          <a:off xmlns:a="http://schemas.openxmlformats.org/drawingml/2006/main" x="411480" y="941832"/>
          <a:ext xmlns:a="http://schemas.openxmlformats.org/drawingml/2006/main" cx="11365992" cy="4553712"/>
        </p:xfrm>
        <a:graphic xmlns:a="http://schemas.openxmlformats.org/drawingml/2006/main">
          <a:graphicData uri="http://schemas.openxmlformats.org/drawingml/2006/table">
            <a:tbl>
              <a:tblPr firstRow="1" bandRow="1">
                <a:tableStyleId>{5C22544A-7EE6-4342-B048-85BDC9FD1C3A}</a:tableStyleId>
              </a:tblPr>
              <a:tblGrid>
                <a:gridCol w="2331720"/>
                <a:gridCol w="2423160"/>
                <a:gridCol w="2423160"/>
                <a:gridCol w="4187952"/>
              </a:tblGrid>
              <a:tr h="758952">
                <a:tc>
                  <a:txBody>
                    <a:bodyPr/>
                    <a:lstStyle/>
                    <a:p>
                      <a:pPr algn="l">
                        <a:buNone/>
                      </a:pPr>
                      <a:r>
                        <a:rPr sz="1350" b="1">
                          <a:solidFill>
                            <a:srgbClr val="FFFFFF"/>
                          </a:solidFill>
                          <a:latin typeface="Meiryo"/>
                          <a:ea typeface="Meiryo"/>
                          <a:cs typeface="Meiryo"/>
                        </a:rPr>
                        <a:t>社会の変化</a:t>
                      </a:r>
                    </a:p>
                  </a:txBody>
                  <a:tcPr marL="73152" marR="73152" marT="36576" marB="36576" anchor="ctr">
                    <a:solidFill>
                      <a:srgbClr val="003667"/>
                    </a:solidFill>
                  </a:tcPr>
                </a:tc>
                <a:tc>
                  <a:txBody>
                    <a:bodyPr/>
                    <a:lstStyle/>
                    <a:p>
                      <a:pPr algn="ctr">
                        <a:buNone/>
                      </a:pPr>
                      <a:r>
                        <a:rPr sz="1350" b="1">
                          <a:solidFill>
                            <a:srgbClr val="FFFFFF"/>
                          </a:solidFill>
                          <a:latin typeface="Meiryo"/>
                          <a:ea typeface="Meiryo"/>
                          <a:cs typeface="Meiryo"/>
                        </a:rPr>
                        <a:t>必要な対応</a:t>
                      </a:r>
                    </a:p>
                  </a:txBody>
                  <a:tcPr marL="73152" marR="73152" marT="36576" marB="36576" anchor="ctr">
                    <a:solidFill>
                      <a:srgbClr val="003667"/>
                    </a:solidFill>
                  </a:tcPr>
                </a:tc>
                <a:tc>
                  <a:txBody>
                    <a:bodyPr/>
                    <a:lstStyle/>
                    <a:p>
                      <a:pPr algn="ctr">
                        <a:buNone/>
                      </a:pPr>
                      <a:r>
                        <a:rPr sz="1350" b="1">
                          <a:solidFill>
                            <a:srgbClr val="FFFFFF"/>
                          </a:solidFill>
                          <a:latin typeface="Meiryo"/>
                          <a:ea typeface="Meiryo"/>
                          <a:cs typeface="Meiryo"/>
                        </a:rPr>
                        <a:t>電気バスとの関係</a:t>
                      </a:r>
                    </a:p>
                  </a:txBody>
                  <a:tcPr marL="73152" marR="73152" marT="36576" marB="36576" anchor="ctr">
                    <a:solidFill>
                      <a:srgbClr val="003667"/>
                    </a:solidFill>
                  </a:tcPr>
                </a:tc>
                <a:tc>
                  <a:txBody>
                    <a:bodyPr/>
                    <a:lstStyle/>
                    <a:p>
                      <a:pPr algn="ctr">
                        <a:buNone/>
                      </a:pPr>
                      <a:r>
                        <a:rPr sz="1350" b="1">
                          <a:solidFill>
                            <a:srgbClr val="FFFFFF"/>
                          </a:solidFill>
                          <a:latin typeface="Meiryo"/>
                          <a:ea typeface="Meiryo"/>
                          <a:cs typeface="Meiryo"/>
                        </a:rPr>
                        <a:t>本研究で扱うこと</a:t>
                      </a:r>
                    </a:p>
                  </a:txBody>
                  <a:tcPr marL="73152" marR="73152" marT="36576" marB="36576" anchor="ctr">
                    <a:solidFill>
                      <a:srgbClr val="003667"/>
                    </a:solidFill>
                  </a:tcPr>
                </a:tc>
              </a:tr>
              <a:tr h="758952">
                <a:tc>
                  <a:txBody>
                    <a:bodyPr/>
                    <a:lstStyle/>
                    <a:p>
                      <a:pPr algn="l">
                        <a:buNone/>
                      </a:pPr>
                      <a:r>
                        <a:rPr sz="1300" b="1">
                          <a:solidFill>
                            <a:srgbClr val="191F24"/>
                          </a:solidFill>
                          <a:latin typeface="Meiryo"/>
                          <a:ea typeface="Meiryo"/>
                          <a:cs typeface="Meiryo"/>
                        </a:rPr>
                        <a:t>脱炭素</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交通と電力の排出を減らす</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ディーゼル車から電気へ</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運行時の電力も評価</a:t>
                      </a:r>
                    </a:p>
                  </a:txBody>
                  <a:tcPr marL="73152" marR="73152" marT="36576" marB="36576" anchor="ctr">
                    <a:solidFill>
                      <a:srgbClr val="FFFFFF"/>
                    </a:solidFill>
                  </a:tcPr>
                </a:tc>
              </a:tr>
              <a:tr h="758952">
                <a:tc>
                  <a:txBody>
                    <a:bodyPr/>
                    <a:lstStyle/>
                    <a:p>
                      <a:pPr algn="l">
                        <a:buNone/>
                      </a:pPr>
                      <a:r>
                        <a:rPr sz="1300" b="1">
                          <a:solidFill>
                            <a:srgbClr val="191F24"/>
                          </a:solidFill>
                          <a:latin typeface="Meiryo"/>
                          <a:ea typeface="Meiryo"/>
                          <a:cs typeface="Meiryo"/>
                        </a:rPr>
                        <a:t>再生可能エネルギー</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太陽光を地域で使う</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昼間の充電に活用できる</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発電時刻と充電を合わせる</a:t>
                      </a:r>
                    </a:p>
                  </a:txBody>
                  <a:tcPr marL="73152" marR="73152" marT="36576" marB="36576" anchor="ctr">
                    <a:solidFill>
                      <a:srgbClr val="F2F4F6"/>
                    </a:solidFill>
                  </a:tcPr>
                </a:tc>
              </a:tr>
              <a:tr h="758952">
                <a:tc>
                  <a:txBody>
                    <a:bodyPr/>
                    <a:lstStyle/>
                    <a:p>
                      <a:pPr algn="l">
                        <a:buNone/>
                      </a:pPr>
                      <a:r>
                        <a:rPr sz="1300" b="1">
                          <a:solidFill>
                            <a:srgbClr val="191F24"/>
                          </a:solidFill>
                          <a:latin typeface="Meiryo"/>
                          <a:ea typeface="Meiryo"/>
                          <a:cs typeface="Meiryo"/>
                        </a:rPr>
                        <a:t>電力の変動</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晴天・雨天の差に備える</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使える太陽光が毎日変わる</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予測を更新して充電を見直す</a:t>
                      </a:r>
                    </a:p>
                  </a:txBody>
                  <a:tcPr marL="73152" marR="73152" marT="36576" marB="36576" anchor="ctr">
                    <a:solidFill>
                      <a:srgbClr val="FFFFFF"/>
                    </a:solidFill>
                  </a:tcPr>
                </a:tc>
              </a:tr>
              <a:tr h="758952">
                <a:tc>
                  <a:txBody>
                    <a:bodyPr/>
                    <a:lstStyle/>
                    <a:p>
                      <a:pPr algn="l">
                        <a:buNone/>
                      </a:pPr>
                      <a:r>
                        <a:rPr sz="1300" b="1">
                          <a:solidFill>
                            <a:srgbClr val="191F24"/>
                          </a:solidFill>
                          <a:latin typeface="Meiryo"/>
                          <a:ea typeface="Meiryo"/>
                          <a:cs typeface="Meiryo"/>
                        </a:rPr>
                        <a:t>公共交通の責任</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決めた便を止めない</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充電不足が運休につながる</a:t>
                      </a:r>
                    </a:p>
                  </a:txBody>
                  <a:tcPr marL="73152" marR="73152" marT="36576" marB="36576" anchor="ctr">
                    <a:solidFill>
                      <a:srgbClr val="F2F4F6"/>
                    </a:solidFill>
                  </a:tcPr>
                </a:tc>
                <a:tc>
                  <a:txBody>
                    <a:bodyPr/>
                    <a:lstStyle/>
                    <a:p>
                      <a:pPr algn="ctr">
                        <a:buNone/>
                      </a:pPr>
                      <a:r>
                        <a:rPr sz="1300" b="0">
                          <a:solidFill>
                            <a:srgbClr val="191F24"/>
                          </a:solidFill>
                          <a:latin typeface="Meiryo"/>
                          <a:ea typeface="Meiryo"/>
                          <a:cs typeface="Meiryo"/>
                        </a:rPr>
                        <a:t>全便を走れるか確認する</a:t>
                      </a:r>
                    </a:p>
                  </a:txBody>
                  <a:tcPr marL="73152" marR="73152" marT="36576" marB="36576" anchor="ctr">
                    <a:solidFill>
                      <a:srgbClr val="F2F4F6"/>
                    </a:solidFill>
                  </a:tcPr>
                </a:tc>
              </a:tr>
              <a:tr h="758952">
                <a:tc>
                  <a:txBody>
                    <a:bodyPr/>
                    <a:lstStyle/>
                    <a:p>
                      <a:pPr algn="l">
                        <a:buNone/>
                      </a:pPr>
                      <a:r>
                        <a:rPr sz="1300" b="1">
                          <a:solidFill>
                            <a:srgbClr val="191F24"/>
                          </a:solidFill>
                          <a:latin typeface="Meiryo"/>
                          <a:ea typeface="Meiryo"/>
                          <a:cs typeface="Meiryo"/>
                        </a:rPr>
                        <a:t>設備の制約</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充電器と受電量を守る</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同時充電には上限がある</a:t>
                      </a:r>
                    </a:p>
                  </a:txBody>
                  <a:tcPr marL="73152" marR="73152" marT="36576" marB="36576" anchor="ctr">
                    <a:solidFill>
                      <a:srgbClr val="FFFFFF"/>
                    </a:solidFill>
                  </a:tcPr>
                </a:tc>
                <a:tc>
                  <a:txBody>
                    <a:bodyPr/>
                    <a:lstStyle/>
                    <a:p>
                      <a:pPr algn="ctr">
                        <a:buNone/>
                      </a:pPr>
                      <a:r>
                        <a:rPr sz="1300" b="0">
                          <a:solidFill>
                            <a:srgbClr val="191F24"/>
                          </a:solidFill>
                          <a:latin typeface="Meiryo"/>
                          <a:ea typeface="Meiryo"/>
                          <a:cs typeface="Meiryo"/>
                        </a:rPr>
                        <a:t>混雑しない時間を選ぶ</a:t>
                      </a:r>
                    </a:p>
                  </a:txBody>
                  <a:tcPr marL="73152" marR="73152" marT="36576" marB="36576" anchor="ctr">
                    <a:solidFill>
                      <a:srgbClr val="FFFFFF"/>
                    </a:solidFill>
                  </a:tcPr>
                </a:tc>
              </a:tr>
            </a:tbl>
          </a:graphicData>
        </a:graphic>
      </p:graphicFrame>
      <p:sp>
        <p:nvSpPr>
          <p:cNvPr id="10" name="Rectangle 9">
            <a:extLst xmlns:a="http://schemas.openxmlformats.org/drawingml/2006/main">
              <a:ext uri="{FF2B5EF4-FFF2-40B4-BE49-F238E27FC236}">
                <a16:creationId xmlns:a16="http://schemas.microsoft.com/office/drawing/2014/main" id="{6428CA59-FD10-45A2-B4FA-90EB754E563D}"/>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3267717-5E87-41A7-B3D3-23C4ACCD1EAA}"/>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要点｜電気バスは、車両を電動化するだけでなく、いつ・どの電気で充電するかまで考える必要がある。</a:t>
            </a:r>
          </a:p>
        </p:txBody>
      </p:sp>
    </p:spTree>
    <p:extLst>
      <p:ext uri="{BB962C8B-B14F-4D97-AF65-F5344CB8AC3E}">
        <p14:creationId xmlns:p14="http://schemas.microsoft.com/office/powerpoint/2010/main" val="6098951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F3AE7B8-9D76-456B-BDA6-DF851E905532}"/>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研究背景：運行と充電は別々には決められない</a:t>
            </a:r>
          </a:p>
        </p:txBody>
      </p:sp>
      <p:sp>
        <p:nvSpPr>
          <p:cNvPr id="3" name="Connector 2">
            <a:extLst xmlns:a="http://schemas.openxmlformats.org/drawingml/2006/main">
              <a:ext uri="{FF2B5EF4-FFF2-40B4-BE49-F238E27FC236}">
                <a16:creationId xmlns:a16="http://schemas.microsoft.com/office/drawing/2014/main" id="{28911993-A5FD-4E8C-9602-4BE6BE9C52F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0AB65831-AFA8-40AB-86FB-09B0FA2F73ED}"/>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6690EB0-2227-4752-AC0B-A585EA909C13}"/>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5FE3863-DC00-4144-873C-0CBA5510C93E}"/>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90F64B27-3F71-44E5-B8E8-81989D73242F}"/>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401028F5-9581-4582-B220-E2276F7061F1}"/>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3/18</a:t>
            </a:r>
          </a:p>
        </p:txBody>
      </p:sp>
      <p:graphicFrame>
        <p:nvGraphicFramePr>
          <p:cNvPr id="27" name="Table 8"/>
          <p:cNvGraphicFramePr/>
          <p:nvPr/>
        </p:nvGraphicFramePr>
        <p:xfrm>
          <a:off xmlns:a="http://schemas.openxmlformats.org/drawingml/2006/main" x="502920" y="960120"/>
          <a:ext xmlns:a="http://schemas.openxmlformats.org/drawingml/2006/main" cx="7452360" cy="4526280"/>
        </p:xfrm>
        <a:graphic xmlns:a="http://schemas.openxmlformats.org/drawingml/2006/main">
          <a:graphicData uri="http://schemas.openxmlformats.org/drawingml/2006/table">
            <a:tbl>
              <a:tblPr firstRow="1" bandRow="1">
                <a:tableStyleId>{5C22544A-7EE6-4342-B048-85BDC9FD1C3A}</a:tableStyleId>
              </a:tblPr>
              <a:tblGrid>
                <a:gridCol w="2057400"/>
                <a:gridCol w="2697480"/>
                <a:gridCol w="2697480"/>
              </a:tblGrid>
              <a:tr h="754380">
                <a:tc>
                  <a:txBody>
                    <a:bodyPr/>
                    <a:lstStyle/>
                    <a:p>
                      <a:pPr algn="l">
                        <a:buNone/>
                      </a:pPr>
                      <a:r>
                        <a:rPr sz="1400" b="1">
                          <a:solidFill>
                            <a:srgbClr val="FFFFFF"/>
                          </a:solidFill>
                          <a:latin typeface="Meiryo"/>
                          <a:ea typeface="Meiryo"/>
                          <a:cs typeface="Meiryo"/>
                        </a:rPr>
                        <a:t>現場で起こること</a:t>
                      </a:r>
                    </a:p>
                  </a:txBody>
                  <a:tcPr marL="91440" marR="91440" marT="45720" marB="45720" anchor="ctr">
                    <a:solidFill>
                      <a:srgbClr val="003667"/>
                    </a:solidFill>
                  </a:tcPr>
                </a:tc>
                <a:tc>
                  <a:txBody>
                    <a:bodyPr/>
                    <a:lstStyle/>
                    <a:p>
                      <a:pPr algn="ctr">
                        <a:buNone/>
                      </a:pPr>
                      <a:r>
                        <a:rPr sz="1400" b="1">
                          <a:solidFill>
                            <a:srgbClr val="FFFFFF"/>
                          </a:solidFill>
                          <a:latin typeface="Meiryo"/>
                          <a:ea typeface="Meiryo"/>
                          <a:cs typeface="Meiryo"/>
                        </a:rPr>
                        <a:t>単純に決められない理由</a:t>
                      </a:r>
                    </a:p>
                  </a:txBody>
                  <a:tcPr marL="91440" marR="91440" marT="45720" marB="45720" anchor="ctr">
                    <a:solidFill>
                      <a:srgbClr val="003667"/>
                    </a:solidFill>
                  </a:tcPr>
                </a:tc>
                <a:tc>
                  <a:txBody>
                    <a:bodyPr/>
                    <a:lstStyle/>
                    <a:p>
                      <a:pPr algn="ctr">
                        <a:buNone/>
                      </a:pPr>
                      <a:r>
                        <a:rPr sz="1400" b="1">
                          <a:solidFill>
                            <a:srgbClr val="FFFFFF"/>
                          </a:solidFill>
                          <a:latin typeface="Meiryo"/>
                          <a:ea typeface="Meiryo"/>
                          <a:cs typeface="Meiryo"/>
                        </a:rPr>
                        <a:t>必要な対応</a:t>
                      </a:r>
                    </a:p>
                  </a:txBody>
                  <a:tcPr marL="91440" marR="91440" marT="45720" marB="45720" anchor="ctr">
                    <a:solidFill>
                      <a:srgbClr val="003667"/>
                    </a:solidFill>
                  </a:tcPr>
                </a:tc>
              </a:tr>
              <a:tr h="754380">
                <a:tc>
                  <a:txBody>
                    <a:bodyPr/>
                    <a:lstStyle/>
                    <a:p>
                      <a:pPr algn="l">
                        <a:buNone/>
                      </a:pPr>
                      <a:r>
                        <a:rPr sz="1300" b="1">
                          <a:solidFill>
                            <a:srgbClr val="191F24"/>
                          </a:solidFill>
                          <a:latin typeface="Meiryo"/>
                          <a:ea typeface="Meiryo"/>
                          <a:cs typeface="Meiryo"/>
                        </a:rPr>
                        <a:t>バスは決まった時刻に走る</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運行中は営業所で充電できない</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停車時間だけを充電候補にする</a:t>
                      </a:r>
                    </a:p>
                  </a:txBody>
                  <a:tcPr marL="91440" marR="91440" marT="45720" marB="45720" anchor="ctr">
                    <a:solidFill>
                      <a:srgbClr val="FFFFFF"/>
                    </a:solidFill>
                  </a:tcPr>
                </a:tc>
              </a:tr>
              <a:tr h="754380">
                <a:tc>
                  <a:txBody>
                    <a:bodyPr/>
                    <a:lstStyle/>
                    <a:p>
                      <a:pPr algn="l">
                        <a:buNone/>
                      </a:pPr>
                      <a:r>
                        <a:rPr sz="1300" b="1">
                          <a:solidFill>
                            <a:srgbClr val="191F24"/>
                          </a:solidFill>
                          <a:latin typeface="Meiryo"/>
                          <a:ea typeface="Meiryo"/>
                          <a:cs typeface="Meiryo"/>
                        </a:rPr>
                        <a:t>電池容量には限りがある</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次の便までに必要量を確保する</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車両ごとの残量を追跡する</a:t>
                      </a:r>
                    </a:p>
                  </a:txBody>
                  <a:tcPr marL="91440" marR="91440" marT="45720" marB="45720" anchor="ctr">
                    <a:solidFill>
                      <a:srgbClr val="F2F4F6"/>
                    </a:solidFill>
                  </a:tcPr>
                </a:tc>
              </a:tr>
              <a:tr h="754380">
                <a:tc>
                  <a:txBody>
                    <a:bodyPr/>
                    <a:lstStyle/>
                    <a:p>
                      <a:pPr algn="l">
                        <a:buNone/>
                      </a:pPr>
                      <a:r>
                        <a:rPr sz="1300" b="1">
                          <a:solidFill>
                            <a:srgbClr val="191F24"/>
                          </a:solidFill>
                          <a:latin typeface="Meiryo"/>
                          <a:ea typeface="Meiryo"/>
                          <a:cs typeface="Meiryo"/>
                        </a:rPr>
                        <a:t>太陽光は天候で変わる</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前日の予測どおりとは限らない</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当日に予測を更新する</a:t>
                      </a:r>
                    </a:p>
                  </a:txBody>
                  <a:tcPr marL="91440" marR="91440" marT="45720" marB="45720" anchor="ctr">
                    <a:solidFill>
                      <a:srgbClr val="FFFFFF"/>
                    </a:solidFill>
                  </a:tcPr>
                </a:tc>
              </a:tr>
              <a:tr h="754380">
                <a:tc>
                  <a:txBody>
                    <a:bodyPr/>
                    <a:lstStyle/>
                    <a:p>
                      <a:pPr algn="l">
                        <a:buNone/>
                      </a:pPr>
                      <a:r>
                        <a:rPr sz="1300" b="1">
                          <a:solidFill>
                            <a:srgbClr val="191F24"/>
                          </a:solidFill>
                          <a:latin typeface="Meiryo"/>
                          <a:ea typeface="Meiryo"/>
                          <a:cs typeface="Meiryo"/>
                        </a:rPr>
                        <a:t>充電器の台数は限られる</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同じ時間に集中すると使えない</a:t>
                      </a:r>
                    </a:p>
                  </a:txBody>
                  <a:tcPr marL="91440" marR="91440" marT="45720" marB="45720" anchor="ctr">
                    <a:solidFill>
                      <a:srgbClr val="F2F4F6"/>
                    </a:solidFill>
                  </a:tcPr>
                </a:tc>
                <a:tc>
                  <a:txBody>
                    <a:bodyPr/>
                    <a:lstStyle/>
                    <a:p>
                      <a:pPr algn="ctr">
                        <a:buNone/>
                      </a:pPr>
                      <a:r>
                        <a:rPr sz="1300" b="0">
                          <a:solidFill>
                            <a:srgbClr val="191F24"/>
                          </a:solidFill>
                          <a:latin typeface="Meiryo"/>
                          <a:ea typeface="Meiryo"/>
                          <a:cs typeface="Meiryo"/>
                        </a:rPr>
                        <a:t>充電時間を分散する</a:t>
                      </a:r>
                    </a:p>
                  </a:txBody>
                  <a:tcPr marL="91440" marR="91440" marT="45720" marB="45720" anchor="ctr">
                    <a:solidFill>
                      <a:srgbClr val="F2F4F6"/>
                    </a:solidFill>
                  </a:tcPr>
                </a:tc>
              </a:tr>
              <a:tr h="754380">
                <a:tc>
                  <a:txBody>
                    <a:bodyPr/>
                    <a:lstStyle/>
                    <a:p>
                      <a:pPr algn="l">
                        <a:buNone/>
                      </a:pPr>
                      <a:r>
                        <a:rPr sz="1300" b="1">
                          <a:solidFill>
                            <a:srgbClr val="191F24"/>
                          </a:solidFill>
                          <a:latin typeface="Meiryo"/>
                          <a:ea typeface="Meiryo"/>
                          <a:cs typeface="Meiryo"/>
                        </a:rPr>
                        <a:t>電気料金は時間で変わる</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充電時刻で費用が変わる</a:t>
                      </a:r>
                    </a:p>
                  </a:txBody>
                  <a:tcPr marL="91440" marR="91440" marT="45720" marB="45720" anchor="ctr">
                    <a:solidFill>
                      <a:srgbClr val="FFFFFF"/>
                    </a:solidFill>
                  </a:tcPr>
                </a:tc>
                <a:tc>
                  <a:txBody>
                    <a:bodyPr/>
                    <a:lstStyle/>
                    <a:p>
                      <a:pPr algn="ctr">
                        <a:buNone/>
                      </a:pPr>
                      <a:r>
                        <a:rPr sz="1300" b="0">
                          <a:solidFill>
                            <a:srgbClr val="191F24"/>
                          </a:solidFill>
                          <a:latin typeface="Meiryo"/>
                          <a:ea typeface="Meiryo"/>
                          <a:cs typeface="Meiryo"/>
                        </a:rPr>
                        <a:t>安い時間と最大電力を考える</a:t>
                      </a:r>
                    </a:p>
                  </a:txBody>
                  <a:tcPr marL="91440" marR="91440" marT="45720" marB="45720" anchor="ctr">
                    <a:solidFill>
                      <a:srgbClr val="FFFFFF"/>
                    </a:solidFill>
                  </a:tcPr>
                </a:tc>
              </a:tr>
            </a:tbl>
          </a:graphicData>
        </a:graphic>
      </p:graphicFrame>
      <p:sp>
        <p:nvSpPr>
          <p:cNvPr id="10" name="Rectangle 9">
            <a:extLst xmlns:a="http://schemas.openxmlformats.org/drawingml/2006/main">
              <a:ext uri="{FF2B5EF4-FFF2-40B4-BE49-F238E27FC236}">
                <a16:creationId xmlns:a16="http://schemas.microsoft.com/office/drawing/2014/main" id="{9CC32FFE-5CE2-4B28-A345-844992793351}"/>
              </a:ext>
            </a:extLst>
          </p:cNvPr>
          <p:cNvSpPr>
            <a:spLocks xmlns:a="http://schemas.openxmlformats.org/drawingml/2006/main" noGrp="1"/>
          </p:cNvSpPr>
          <p:nvPr/>
        </p:nvSpPr>
        <p:spPr>
          <a:xfrm xmlns:a="http://schemas.openxmlformats.org/drawingml/2006/main">
            <a:off x="8275320" y="960120"/>
            <a:ext cx="3474720" cy="1938528"/>
          </a:xfrm>
          <a:prstGeom xmlns:a="http://schemas.openxmlformats.org/drawingml/2006/main" prst="rect">
            <a:avLst/>
          </a:prstGeom>
          <a:solidFill xmlns:a="http://schemas.openxmlformats.org/drawingml/2006/main">
            <a:srgbClr val="FCE8E8"/>
          </a:solidFill>
          <a:ln xmlns:a="http://schemas.openxmlformats.org/drawingml/2006/main">
            <a:solidFill>
              <a:srgbClr val="C2373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C84F1AAB-6AD2-4AFD-84B3-6109FE4E6D80}"/>
              </a:ext>
            </a:extLst>
          </p:cNvPr>
          <p:cNvSpPr>
            <a:spLocks xmlns:a="http://schemas.openxmlformats.org/drawingml/2006/main" noGrp="1"/>
          </p:cNvSpPr>
          <p:nvPr/>
        </p:nvSpPr>
        <p:spPr>
          <a:xfrm xmlns:a="http://schemas.openxmlformats.org/drawingml/2006/main">
            <a:off x="8485632" y="1161288"/>
            <a:ext cx="3063240" cy="332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C23737"/>
                </a:solidFill>
                <a:latin typeface="Meiryo"/>
                <a:ea typeface="Meiryo"/>
                <a:cs typeface="Meiryo"/>
              </a:defRPr>
            </a:pPr>
            <a:r>
              <a:t>研究上の課題</a:t>
            </a:r>
          </a:p>
        </p:txBody>
      </p:sp>
      <p:sp>
        <p:nvSpPr>
          <p:cNvPr id="12" name="TextBox 11">
            <a:extLst xmlns:a="http://schemas.openxmlformats.org/drawingml/2006/main">
              <a:ext uri="{FF2B5EF4-FFF2-40B4-BE49-F238E27FC236}">
                <a16:creationId xmlns:a16="http://schemas.microsoft.com/office/drawing/2014/main" id="{444E63EA-D92B-4CD5-A065-45B6E1213E73}"/>
              </a:ext>
            </a:extLst>
          </p:cNvPr>
          <p:cNvSpPr>
            <a:spLocks xmlns:a="http://schemas.openxmlformats.org/drawingml/2006/main" noGrp="1"/>
          </p:cNvSpPr>
          <p:nvPr/>
        </p:nvSpPr>
        <p:spPr>
          <a:xfrm xmlns:a="http://schemas.openxmlformats.org/drawingml/2006/main">
            <a:off x="8485632" y="1609344"/>
            <a:ext cx="3063240" cy="6858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800" b="1">
                <a:solidFill>
                  <a:srgbClr val="191F24"/>
                </a:solidFill>
                <a:latin typeface="Meiryo"/>
                <a:ea typeface="Meiryo"/>
                <a:cs typeface="Meiryo"/>
              </a:defRPr>
            </a:pPr>
            <a:r>
              <a:t>前日に決めた計画だけでは</a:t>
            </a:r>
          </a:p>
        </p:txBody>
      </p:sp>
      <p:sp>
        <p:nvSpPr>
          <p:cNvPr id="13" name="TextBox 12">
            <a:extLst xmlns:a="http://schemas.openxmlformats.org/drawingml/2006/main">
              <a:ext uri="{FF2B5EF4-FFF2-40B4-BE49-F238E27FC236}">
                <a16:creationId xmlns:a16="http://schemas.microsoft.com/office/drawing/2014/main" id="{62737A48-5E2C-48C9-9B2E-BC3FBBE8DD2B}"/>
              </a:ext>
            </a:extLst>
          </p:cNvPr>
          <p:cNvSpPr>
            <a:spLocks xmlns:a="http://schemas.openxmlformats.org/drawingml/2006/main" noGrp="1"/>
          </p:cNvSpPr>
          <p:nvPr/>
        </p:nvSpPr>
        <p:spPr>
          <a:xfrm xmlns:a="http://schemas.openxmlformats.org/drawingml/2006/main">
            <a:off x="8485632" y="2350008"/>
            <a:ext cx="3063240"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150" b="0">
                <a:solidFill>
                  <a:srgbClr val="C23737"/>
                </a:solidFill>
                <a:latin typeface="Meiryo"/>
                <a:ea typeface="Meiryo"/>
                <a:cs typeface="Meiryo"/>
              </a:defRPr>
            </a:pPr>
            <a:r>
              <a:t>当日の変化</a:t>
            </a:r>
          </a:p>
        </p:txBody>
      </p:sp>
      <p:sp>
        <p:nvSpPr>
          <p:cNvPr id="14" name="Rectangle 13">
            <a:extLst xmlns:a="http://schemas.openxmlformats.org/drawingml/2006/main">
              <a:ext uri="{FF2B5EF4-FFF2-40B4-BE49-F238E27FC236}">
                <a16:creationId xmlns:a16="http://schemas.microsoft.com/office/drawing/2014/main" id="{11D491BD-57E5-476F-9C6F-F599277A3953}"/>
              </a:ext>
            </a:extLst>
          </p:cNvPr>
          <p:cNvSpPr>
            <a:spLocks xmlns:a="http://schemas.openxmlformats.org/drawingml/2006/main" noGrp="1"/>
          </p:cNvSpPr>
          <p:nvPr/>
        </p:nvSpPr>
        <p:spPr>
          <a:xfrm xmlns:a="http://schemas.openxmlformats.org/drawingml/2006/main">
            <a:off x="8275320" y="3172968"/>
            <a:ext cx="3474720" cy="2313432"/>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02AD40F0-B6A4-46FC-B93A-6299E8F3652C}"/>
              </a:ext>
            </a:extLst>
          </p:cNvPr>
          <p:cNvSpPr>
            <a:spLocks xmlns:a="http://schemas.openxmlformats.org/drawingml/2006/main" noGrp="1"/>
          </p:cNvSpPr>
          <p:nvPr/>
        </p:nvSpPr>
        <p:spPr>
          <a:xfrm xmlns:a="http://schemas.openxmlformats.org/drawingml/2006/main">
            <a:off x="8485632" y="3383280"/>
            <a:ext cx="3063240" cy="332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に対応しにくい</a:t>
            </a:r>
          </a:p>
        </p:txBody>
      </p:sp>
      <p:sp>
        <p:nvSpPr>
          <p:cNvPr id="16" name="TextBox 15">
            <a:extLst xmlns:a="http://schemas.openxmlformats.org/drawingml/2006/main">
              <a:ext uri="{FF2B5EF4-FFF2-40B4-BE49-F238E27FC236}">
                <a16:creationId xmlns:a16="http://schemas.microsoft.com/office/drawing/2014/main" id="{78D7488D-7F89-4387-9875-87FE4BB1B689}"/>
              </a:ext>
            </a:extLst>
          </p:cNvPr>
          <p:cNvSpPr>
            <a:spLocks xmlns:a="http://schemas.openxmlformats.org/drawingml/2006/main" noGrp="1"/>
          </p:cNvSpPr>
          <p:nvPr/>
        </p:nvSpPr>
        <p:spPr>
          <a:xfrm xmlns:a="http://schemas.openxmlformats.org/drawingml/2006/main">
            <a:off x="8485632" y="3813048"/>
            <a:ext cx="2971800" cy="1417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250">
                <a:solidFill>
                  <a:srgbClr val="191F24"/>
                </a:solidFill>
                <a:latin typeface="Meiryo"/>
                <a:ea typeface="Meiryo"/>
                <a:cs typeface="Meiryo"/>
              </a:defRPr>
            </a:pPr>
            <a:r>
              <a:t>そこで、一日全体を計画した後、毎時間充電を見直す</a:t>
            </a:r>
          </a:p>
        </p:txBody>
      </p:sp>
      <p:sp>
        <p:nvSpPr>
          <p:cNvPr id="17" name="Rectangle 16">
            <a:extLst xmlns:a="http://schemas.openxmlformats.org/drawingml/2006/main">
              <a:ext uri="{FF2B5EF4-FFF2-40B4-BE49-F238E27FC236}">
                <a16:creationId xmlns:a16="http://schemas.microsoft.com/office/drawing/2014/main" id="{F2EF339D-E6EC-4F4F-8043-1AE6AA8CD76F}"/>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FF4DB"/>
          </a:solidFill>
          <a:ln xmlns:a="http://schemas.openxmlformats.org/drawingml/2006/main">
            <a:solidFill>
              <a:srgbClr val="FFF4D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E927EEBE-2858-47B5-9C07-8DFA89C8C809}"/>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要点｜運行予定を守りながら、最新の発電量と電池残量に合わせて充電を調整する。</a:t>
            </a:r>
          </a:p>
        </p:txBody>
      </p:sp>
    </p:spTree>
    <p:extLst>
      <p:ext uri="{BB962C8B-B14F-4D97-AF65-F5344CB8AC3E}">
        <p14:creationId xmlns:p14="http://schemas.microsoft.com/office/powerpoint/2010/main" val="16239705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7EF7847-084E-476E-B5BD-6DC466EF2036}"/>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研究目的：止めない・無駄にしない・説明できる</a:t>
            </a:r>
          </a:p>
        </p:txBody>
      </p:sp>
      <p:sp>
        <p:nvSpPr>
          <p:cNvPr id="3" name="Connector 2">
            <a:extLst xmlns:a="http://schemas.openxmlformats.org/drawingml/2006/main">
              <a:ext uri="{FF2B5EF4-FFF2-40B4-BE49-F238E27FC236}">
                <a16:creationId xmlns:a16="http://schemas.microsoft.com/office/drawing/2014/main" id="{E7C3320A-99A3-455B-818F-551EB5057647}"/>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C1EB9CD0-7C0E-4191-8DE6-511B49595EDD}"/>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E1FA9859-CDDD-41C3-9F39-442EDB31389B}"/>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55A67705-7238-431B-A760-E026E2EEAD49}"/>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37B6467F-9F5C-442C-8473-4A191BF07BB4}"/>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92A41F4E-DDE4-4270-B3A2-3CAA81101267}"/>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4/18</a:t>
            </a:r>
          </a:p>
        </p:txBody>
      </p:sp>
      <p:graphicFrame>
        <p:nvGraphicFramePr>
          <p:cNvPr id="20" name="Table 8"/>
          <p:cNvGraphicFramePr/>
          <p:nvPr/>
        </p:nvGraphicFramePr>
        <p:xfrm>
          <a:off xmlns:a="http://schemas.openxmlformats.org/drawingml/2006/main" x="475488" y="859536"/>
          <a:ext xmlns:a="http://schemas.openxmlformats.org/drawingml/2006/main" cx="11237976" cy="4892040"/>
        </p:xfrm>
        <a:graphic xmlns:a="http://schemas.openxmlformats.org/drawingml/2006/main">
          <a:graphicData uri="http://schemas.openxmlformats.org/drawingml/2006/table">
            <a:tbl>
              <a:tblPr firstRow="1" bandRow="1">
                <a:tableStyleId>{5C22544A-7EE6-4342-B048-85BDC9FD1C3A}</a:tableStyleId>
              </a:tblPr>
              <a:tblGrid>
                <a:gridCol w="1938528"/>
                <a:gridCol w="3986784"/>
                <a:gridCol w="5312664"/>
              </a:tblGrid>
              <a:tr h="698862">
                <a:tc>
                  <a:txBody>
                    <a:bodyPr/>
                    <a:lstStyle/>
                    <a:p>
                      <a:pPr algn="l">
                        <a:buNone/>
                      </a:pPr>
                      <a:r>
                        <a:rPr sz="1300" b="1">
                          <a:solidFill>
                            <a:srgbClr val="FFFFFF"/>
                          </a:solidFill>
                          <a:latin typeface="Meiryo"/>
                          <a:ea typeface="Meiryo"/>
                          <a:cs typeface="Meiryo"/>
                        </a:rPr>
                        <a:t>目標</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具体的に行うこと</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成功の判断</a:t>
                      </a:r>
                    </a:p>
                  </a:txBody>
                  <a:tcPr marL="73152" marR="73152" marT="36576" marB="36576" anchor="ctr">
                    <a:solidFill>
                      <a:srgbClr val="003667"/>
                    </a:solidFill>
                  </a:tcPr>
                </a:tc>
              </a:tr>
              <a:tr h="698862">
                <a:tc>
                  <a:txBody>
                    <a:bodyPr/>
                    <a:lstStyle/>
                    <a:p>
                      <a:pPr algn="l">
                        <a:buNone/>
                      </a:pPr>
                      <a:r>
                        <a:rPr sz="1150" b="1">
                          <a:solidFill>
                            <a:srgbClr val="191F24"/>
                          </a:solidFill>
                          <a:latin typeface="Meiryo"/>
                          <a:ea typeface="Meiryo"/>
                          <a:cs typeface="Meiryo"/>
                        </a:rPr>
                        <a:t>運行を止めない</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全便に車両を割り当てる</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未担当便が0便</a:t>
                      </a:r>
                    </a:p>
                  </a:txBody>
                  <a:tcPr marL="73152" marR="73152" marT="36576" marB="36576" anchor="ctr">
                    <a:solidFill>
                      <a:srgbClr val="FFFFFF"/>
                    </a:solidFill>
                  </a:tcPr>
                </a:tc>
              </a:tr>
              <a:tr h="698862">
                <a:tc>
                  <a:txBody>
                    <a:bodyPr/>
                    <a:lstStyle/>
                    <a:p>
                      <a:pPr algn="l">
                        <a:buNone/>
                      </a:pPr>
                      <a:r>
                        <a:rPr sz="1150" b="1">
                          <a:solidFill>
                            <a:srgbClr val="191F24"/>
                          </a:solidFill>
                          <a:latin typeface="Meiryo"/>
                          <a:ea typeface="Meiryo"/>
                          <a:cs typeface="Meiryo"/>
                        </a:rPr>
                        <a:t>充電切れを防ぐ</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各車両の電池残量を追う</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最低残量を下回らない</a:t>
                      </a:r>
                    </a:p>
                  </a:txBody>
                  <a:tcPr marL="73152" marR="73152" marT="36576" marB="36576" anchor="ctr">
                    <a:solidFill>
                      <a:srgbClr val="F2F4F6"/>
                    </a:solidFill>
                  </a:tcPr>
                </a:tc>
              </a:tr>
              <a:tr h="698862">
                <a:tc>
                  <a:txBody>
                    <a:bodyPr/>
                    <a:lstStyle/>
                    <a:p>
                      <a:pPr algn="l">
                        <a:buNone/>
                      </a:pPr>
                      <a:r>
                        <a:rPr sz="1150" b="1">
                          <a:solidFill>
                            <a:srgbClr val="191F24"/>
                          </a:solidFill>
                          <a:latin typeface="Meiryo"/>
                          <a:ea typeface="Meiryo"/>
                          <a:cs typeface="Meiryo"/>
                        </a:rPr>
                        <a:t>太陽光を活かす</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発電中に充電または蓄電する</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電気の行き先を説明できる</a:t>
                      </a:r>
                    </a:p>
                  </a:txBody>
                  <a:tcPr marL="73152" marR="73152" marT="36576" marB="36576" anchor="ctr">
                    <a:solidFill>
                      <a:srgbClr val="FFFFFF"/>
                    </a:solidFill>
                  </a:tcPr>
                </a:tc>
              </a:tr>
              <a:tr h="698862">
                <a:tc>
                  <a:txBody>
                    <a:bodyPr/>
                    <a:lstStyle/>
                    <a:p>
                      <a:pPr algn="l">
                        <a:buNone/>
                      </a:pPr>
                      <a:r>
                        <a:rPr sz="1150" b="1">
                          <a:solidFill>
                            <a:srgbClr val="191F24"/>
                          </a:solidFill>
                          <a:latin typeface="Meiryo"/>
                          <a:ea typeface="Meiryo"/>
                          <a:cs typeface="Meiryo"/>
                        </a:rPr>
                        <a:t>設備を守る</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充電器台数と受電上限を確認する</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設備違反が0件</a:t>
                      </a:r>
                    </a:p>
                  </a:txBody>
                  <a:tcPr marL="73152" marR="73152" marT="36576" marB="36576" anchor="ctr">
                    <a:solidFill>
                      <a:srgbClr val="F2F4F6"/>
                    </a:solidFill>
                  </a:tcPr>
                </a:tc>
              </a:tr>
              <a:tr h="698862">
                <a:tc>
                  <a:txBody>
                    <a:bodyPr/>
                    <a:lstStyle/>
                    <a:p>
                      <a:pPr algn="l">
                        <a:buNone/>
                      </a:pPr>
                      <a:r>
                        <a:rPr sz="1150" b="1">
                          <a:solidFill>
                            <a:srgbClr val="191F24"/>
                          </a:solidFill>
                          <a:latin typeface="Meiryo"/>
                          <a:ea typeface="Meiryo"/>
                          <a:cs typeface="Meiryo"/>
                        </a:rPr>
                        <a:t>費用とCO₂を減らす</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電源と充電時刻を選ぶ</a:t>
                      </a:r>
                    </a:p>
                  </a:txBody>
                  <a:tcPr marL="73152" marR="73152" marT="36576" marB="36576" anchor="ctr">
                    <a:solidFill>
                      <a:srgbClr val="FFFFFF"/>
                    </a:solidFill>
                  </a:tcPr>
                </a:tc>
                <a:tc>
                  <a:txBody>
                    <a:bodyPr/>
                    <a:lstStyle/>
                    <a:p>
                      <a:pPr algn="ctr">
                        <a:buNone/>
                      </a:pPr>
                      <a:r>
                        <a:rPr sz="1150" b="0">
                          <a:solidFill>
                            <a:srgbClr val="191F24"/>
                          </a:solidFill>
                          <a:latin typeface="Meiryo"/>
                          <a:ea typeface="Meiryo"/>
                          <a:cs typeface="Meiryo"/>
                        </a:rPr>
                        <a:t>同じ条件で比較できる</a:t>
                      </a:r>
                    </a:p>
                  </a:txBody>
                  <a:tcPr marL="73152" marR="73152" marT="36576" marB="36576" anchor="ctr">
                    <a:solidFill>
                      <a:srgbClr val="FFFFFF"/>
                    </a:solidFill>
                  </a:tcPr>
                </a:tc>
              </a:tr>
              <a:tr h="698868">
                <a:tc>
                  <a:txBody>
                    <a:bodyPr/>
                    <a:lstStyle/>
                    <a:p>
                      <a:pPr algn="l">
                        <a:buNone/>
                      </a:pPr>
                      <a:r>
                        <a:rPr sz="1150" b="1">
                          <a:solidFill>
                            <a:srgbClr val="191F24"/>
                          </a:solidFill>
                          <a:latin typeface="Meiryo"/>
                          <a:ea typeface="Meiryo"/>
                          <a:cs typeface="Meiryo"/>
                        </a:rPr>
                        <a:t>結果を信頼できる形にする</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別計算で運行と電力を再確認する</a:t>
                      </a:r>
                    </a:p>
                  </a:txBody>
                  <a:tcPr marL="73152" marR="73152" marT="36576" marB="36576" anchor="ctr">
                    <a:solidFill>
                      <a:srgbClr val="F2F4F6"/>
                    </a:solidFill>
                  </a:tcPr>
                </a:tc>
                <a:tc>
                  <a:txBody>
                    <a:bodyPr/>
                    <a:lstStyle/>
                    <a:p>
                      <a:pPr algn="ctr">
                        <a:buNone/>
                      </a:pPr>
                      <a:r>
                        <a:rPr sz="1150" b="0">
                          <a:solidFill>
                            <a:srgbClr val="191F24"/>
                          </a:solidFill>
                          <a:latin typeface="Meiryo"/>
                          <a:ea typeface="Meiryo"/>
                          <a:cs typeface="Meiryo"/>
                        </a:rPr>
                        <a:t>全出力の数値が一致する</a:t>
                      </a:r>
                    </a:p>
                  </a:txBody>
                  <a:tcPr marL="73152" marR="73152" marT="36576" marB="36576" anchor="ctr">
                    <a:solidFill>
                      <a:srgbClr val="F2F4F6"/>
                    </a:solidFill>
                  </a:tcPr>
                </a:tc>
              </a:tr>
            </a:tbl>
          </a:graphicData>
        </a:graphic>
      </p:graphicFrame>
      <p:sp>
        <p:nvSpPr>
          <p:cNvPr id="10" name="Rectangle 9">
            <a:extLst xmlns:a="http://schemas.openxmlformats.org/drawingml/2006/main">
              <a:ext uri="{FF2B5EF4-FFF2-40B4-BE49-F238E27FC236}">
                <a16:creationId xmlns:a16="http://schemas.microsoft.com/office/drawing/2014/main" id="{8C9B0282-15AF-46CA-A646-17350A60C84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3F6ED"/>
          </a:solidFill>
          <a:ln xmlns:a="http://schemas.openxmlformats.org/drawingml/2006/main">
            <a:solidFill>
              <a:srgbClr val="E3F6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9B8E9DCA-1866-4AFE-B56D-EC441BCA4FBC}"/>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238E5E"/>
                </a:solidFill>
                <a:latin typeface="Meiryo"/>
                <a:ea typeface="Meiryo"/>
                <a:cs typeface="Meiryo"/>
              </a:defRPr>
            </a:pPr>
            <a:r>
              <a:t>要点｜安さだけではなく、全便運行・電池残量・設備上限を守った結果だけを採用する。</a:t>
            </a:r>
          </a:p>
        </p:txBody>
      </p:sp>
    </p:spTree>
    <p:extLst>
      <p:ext uri="{BB962C8B-B14F-4D97-AF65-F5344CB8AC3E}">
        <p14:creationId xmlns:p14="http://schemas.microsoft.com/office/powerpoint/2010/main" val="12822279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9483BE7-2268-4820-B890-76E003943312}"/>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手法：一日全体を計画し、毎時間充電を見直す</a:t>
            </a:r>
          </a:p>
        </p:txBody>
      </p:sp>
      <p:sp>
        <p:nvSpPr>
          <p:cNvPr id="3" name="Connector 2">
            <a:extLst xmlns:a="http://schemas.openxmlformats.org/drawingml/2006/main">
              <a:ext uri="{FF2B5EF4-FFF2-40B4-BE49-F238E27FC236}">
                <a16:creationId xmlns:a16="http://schemas.microsoft.com/office/drawing/2014/main" id="{F82E5312-5033-491C-8FAF-6EF54DF5C308}"/>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02D48FFC-456E-4BD8-98DB-458079FC87DF}"/>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894EB54-8601-478C-A601-852A4AABED15}"/>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B2671B6E-61FE-435A-926A-7B4520C570B7}"/>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613384DD-5DA4-4819-A020-8B7843C64367}"/>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96AA6B92-EA05-47D9-8382-5E5F0E2BD907}"/>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5/18</a:t>
            </a:r>
          </a:p>
        </p:txBody>
      </p:sp>
      <p:sp>
        <p:nvSpPr>
          <p:cNvPr id="9" name="Rectangle 8">
            <a:extLst xmlns:a="http://schemas.openxmlformats.org/drawingml/2006/main">
              <a:ext uri="{FF2B5EF4-FFF2-40B4-BE49-F238E27FC236}">
                <a16:creationId xmlns:a16="http://schemas.microsoft.com/office/drawing/2014/main" id="{12B720A5-0BA3-4E32-A01C-32A2B8CDA7DB}"/>
              </a:ext>
            </a:extLst>
          </p:cNvPr>
          <p:cNvSpPr>
            <a:spLocks xmlns:a="http://schemas.openxmlformats.org/drawingml/2006/main" noGrp="1"/>
          </p:cNvSpPr>
          <p:nvPr/>
        </p:nvSpPr>
        <p:spPr>
          <a:xfrm xmlns:a="http://schemas.openxmlformats.org/drawingml/2006/main">
            <a:off x="502920" y="932688"/>
            <a:ext cx="4892040" cy="1920240"/>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4F648B1D-B0E3-47CF-BBAC-702DE564F40A}"/>
              </a:ext>
            </a:extLst>
          </p:cNvPr>
          <p:cNvSpPr>
            <a:spLocks xmlns:a="http://schemas.openxmlformats.org/drawingml/2006/main" noGrp="1"/>
          </p:cNvSpPr>
          <p:nvPr/>
        </p:nvSpPr>
        <p:spPr>
          <a:xfrm xmlns:a="http://schemas.openxmlformats.org/drawingml/2006/main">
            <a:off x="713232" y="1097280"/>
            <a:ext cx="4480560"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003667"/>
                </a:solidFill>
                <a:latin typeface="Meiryo"/>
                <a:ea typeface="Meiryo"/>
                <a:cs typeface="Meiryo"/>
              </a:defRPr>
            </a:pPr>
            <a:r>
              <a:t>① 運行前：一日全体の計画</a:t>
            </a:r>
          </a:p>
        </p:txBody>
      </p:sp>
      <p:sp>
        <p:nvSpPr>
          <p:cNvPr id="11" name="TextBox 10">
            <a:extLst xmlns:a="http://schemas.openxmlformats.org/drawingml/2006/main">
              <a:ext uri="{FF2B5EF4-FFF2-40B4-BE49-F238E27FC236}">
                <a16:creationId xmlns:a16="http://schemas.microsoft.com/office/drawing/2014/main" id="{09BE7640-A435-46B0-9BE6-AA73EB6F9138}"/>
              </a:ext>
            </a:extLst>
          </p:cNvPr>
          <p:cNvSpPr>
            <a:spLocks xmlns:a="http://schemas.openxmlformats.org/drawingml/2006/main" noGrp="1"/>
          </p:cNvSpPr>
          <p:nvPr/>
        </p:nvSpPr>
        <p:spPr>
          <a:xfrm xmlns:a="http://schemas.openxmlformats.org/drawingml/2006/main">
            <a:off x="749808" y="1554480"/>
            <a:ext cx="4407408" cy="10637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0">
                <a:solidFill>
                  <a:srgbClr val="191F24"/>
                </a:solidFill>
                <a:latin typeface="Meiryo"/>
                <a:ea typeface="Meiryo"/>
                <a:cs typeface="Meiryo"/>
              </a:defRPr>
            </a:pPr>
            <a:r>
              <a:t>どのバスがどの便を走るかを決める</a:t>
            </a:r>
          </a:p>
          <a:p xmlns:a="http://schemas.openxmlformats.org/drawingml/2006/main">
            <a:pPr algn="l">
              <a:buNone/>
              <a:defRPr sz="1300" b="0">
                <a:solidFill>
                  <a:srgbClr val="191F24"/>
                </a:solidFill>
                <a:latin typeface="Meiryo"/>
                <a:ea typeface="Meiryo"/>
                <a:cs typeface="Meiryo"/>
              </a:defRPr>
            </a:pPr>
            <a:r>
              <a:t>一日分の充電予定を作る</a:t>
            </a:r>
          </a:p>
          <a:p xmlns:a="http://schemas.openxmlformats.org/drawingml/2006/main">
            <a:pPr algn="l">
              <a:buNone/>
              <a:defRPr sz="1300" b="0">
                <a:solidFill>
                  <a:srgbClr val="191F24"/>
                </a:solidFill>
                <a:latin typeface="Meiryo"/>
                <a:ea typeface="Meiryo"/>
                <a:cs typeface="Meiryo"/>
              </a:defRPr>
            </a:pPr>
            <a:r>
              <a:t>前日の太陽光予測と料金を使う</a:t>
            </a:r>
          </a:p>
        </p:txBody>
      </p:sp>
      <p:sp>
        <p:nvSpPr>
          <p:cNvPr id="12" name="TextBox 11">
            <a:extLst xmlns:a="http://schemas.openxmlformats.org/drawingml/2006/main">
              <a:ext uri="{FF2B5EF4-FFF2-40B4-BE49-F238E27FC236}">
                <a16:creationId xmlns:a16="http://schemas.microsoft.com/office/drawing/2014/main" id="{23274E26-3685-458A-95FD-FA5C5AA41BE3}"/>
              </a:ext>
            </a:extLst>
          </p:cNvPr>
          <p:cNvSpPr>
            <a:spLocks xmlns:a="http://schemas.openxmlformats.org/drawingml/2006/main" noGrp="1"/>
          </p:cNvSpPr>
          <p:nvPr/>
        </p:nvSpPr>
        <p:spPr>
          <a:xfrm xmlns:a="http://schemas.openxmlformats.org/drawingml/2006/main">
            <a:off x="5596128" y="1563624"/>
            <a:ext cx="804672"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3400" b="1">
                <a:solidFill>
                  <a:srgbClr val="005CAA"/>
                </a:solidFill>
                <a:latin typeface="Meiryo"/>
                <a:ea typeface="Meiryo"/>
                <a:cs typeface="Meiryo"/>
              </a:defRPr>
            </a:pPr>
            <a:r>
              <a:t>→</a:t>
            </a:r>
          </a:p>
        </p:txBody>
      </p:sp>
      <p:sp>
        <p:nvSpPr>
          <p:cNvPr id="13" name="TextBox 12">
            <a:extLst xmlns:a="http://schemas.openxmlformats.org/drawingml/2006/main">
              <a:ext uri="{FF2B5EF4-FFF2-40B4-BE49-F238E27FC236}">
                <a16:creationId xmlns:a16="http://schemas.microsoft.com/office/drawing/2014/main" id="{923A18D3-AD8D-44E0-B966-9E6A99D051D5}"/>
              </a:ext>
            </a:extLst>
          </p:cNvPr>
          <p:cNvSpPr>
            <a:spLocks xmlns:a="http://schemas.openxmlformats.org/drawingml/2006/main" noGrp="1"/>
          </p:cNvSpPr>
          <p:nvPr/>
        </p:nvSpPr>
        <p:spPr>
          <a:xfrm xmlns:a="http://schemas.openxmlformats.org/drawingml/2006/main">
            <a:off x="5513832" y="2039112"/>
            <a:ext cx="950976" cy="2560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050" b="0">
                <a:solidFill>
                  <a:srgbClr val="5C6670"/>
                </a:solidFill>
                <a:latin typeface="Meiryo"/>
                <a:ea typeface="Meiryo"/>
                <a:cs typeface="Meiryo"/>
              </a:defRPr>
            </a:pPr>
            <a:r>
              <a:t>割当を固定</a:t>
            </a:r>
          </a:p>
        </p:txBody>
      </p:sp>
      <p:sp>
        <p:nvSpPr>
          <p:cNvPr id="14" name="Rectangle 13">
            <a:extLst xmlns:a="http://schemas.openxmlformats.org/drawingml/2006/main">
              <a:ext uri="{FF2B5EF4-FFF2-40B4-BE49-F238E27FC236}">
                <a16:creationId xmlns:a16="http://schemas.microsoft.com/office/drawing/2014/main" id="{6302C3CF-9477-4CB7-9FC9-C97ADE94861C}"/>
              </a:ext>
            </a:extLst>
          </p:cNvPr>
          <p:cNvSpPr>
            <a:spLocks xmlns:a="http://schemas.openxmlformats.org/drawingml/2006/main" noGrp="1"/>
          </p:cNvSpPr>
          <p:nvPr/>
        </p:nvSpPr>
        <p:spPr>
          <a:xfrm xmlns:a="http://schemas.openxmlformats.org/drawingml/2006/main">
            <a:off x="6656832" y="932688"/>
            <a:ext cx="5029200" cy="1920240"/>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FBC97C4-3FC2-4084-A1DC-57187FE96D7B}"/>
              </a:ext>
            </a:extLst>
          </p:cNvPr>
          <p:cNvSpPr>
            <a:spLocks xmlns:a="http://schemas.openxmlformats.org/drawingml/2006/main" noGrp="1"/>
          </p:cNvSpPr>
          <p:nvPr/>
        </p:nvSpPr>
        <p:spPr>
          <a:xfrm xmlns:a="http://schemas.openxmlformats.org/drawingml/2006/main">
            <a:off x="6876288" y="1097280"/>
            <a:ext cx="4590288"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238E5E"/>
                </a:solidFill>
                <a:latin typeface="Meiryo"/>
                <a:ea typeface="Meiryo"/>
                <a:cs typeface="Meiryo"/>
              </a:defRPr>
            </a:pPr>
            <a:r>
              <a:t>② 運行中：1時間ごとの見直し</a:t>
            </a:r>
          </a:p>
        </p:txBody>
      </p:sp>
      <p:sp>
        <p:nvSpPr>
          <p:cNvPr id="16" name="TextBox 15">
            <a:extLst xmlns:a="http://schemas.openxmlformats.org/drawingml/2006/main">
              <a:ext uri="{FF2B5EF4-FFF2-40B4-BE49-F238E27FC236}">
                <a16:creationId xmlns:a16="http://schemas.microsoft.com/office/drawing/2014/main" id="{98B59F5A-A84C-479B-A84F-605410B96C66}"/>
              </a:ext>
            </a:extLst>
          </p:cNvPr>
          <p:cNvSpPr>
            <a:spLocks xmlns:a="http://schemas.openxmlformats.org/drawingml/2006/main" noGrp="1"/>
          </p:cNvSpPr>
          <p:nvPr/>
        </p:nvSpPr>
        <p:spPr>
          <a:xfrm xmlns:a="http://schemas.openxmlformats.org/drawingml/2006/main">
            <a:off x="6903720" y="1554480"/>
            <a:ext cx="4535424" cy="1033271"/>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0">
                <a:solidFill>
                  <a:srgbClr val="191F24"/>
                </a:solidFill>
                <a:latin typeface="Meiryo"/>
                <a:ea typeface="Meiryo"/>
                <a:cs typeface="Meiryo"/>
              </a:defRPr>
            </a:pPr>
            <a:r>
              <a:t>車両の担当便は変えない</a:t>
            </a:r>
          </a:p>
          <a:p xmlns:a="http://schemas.openxmlformats.org/drawingml/2006/main">
            <a:pPr algn="l">
              <a:buNone/>
              <a:defRPr sz="1300" b="0">
                <a:solidFill>
                  <a:srgbClr val="191F24"/>
                </a:solidFill>
                <a:latin typeface="Meiryo"/>
                <a:ea typeface="Meiryo"/>
                <a:cs typeface="Meiryo"/>
              </a:defRPr>
            </a:pPr>
            <a:r>
              <a:t>最新の電池残量と太陽光予測を入れる</a:t>
            </a:r>
          </a:p>
          <a:p xmlns:a="http://schemas.openxmlformats.org/drawingml/2006/main">
            <a:pPr algn="l">
              <a:buNone/>
              <a:defRPr sz="1300" b="0">
                <a:solidFill>
                  <a:srgbClr val="191F24"/>
                </a:solidFill>
                <a:latin typeface="Meiryo"/>
                <a:ea typeface="Meiryo"/>
                <a:cs typeface="Meiryo"/>
              </a:defRPr>
            </a:pPr>
            <a:r>
              <a:t>残り時間の充電予定を作り直す</a:t>
            </a:r>
          </a:p>
        </p:txBody>
      </p:sp>
      <p:sp>
        <p:nvSpPr>
          <p:cNvPr id="17" name="Rectangle 16">
            <a:extLst xmlns:a="http://schemas.openxmlformats.org/drawingml/2006/main">
              <a:ext uri="{FF2B5EF4-FFF2-40B4-BE49-F238E27FC236}">
                <a16:creationId xmlns:a16="http://schemas.microsoft.com/office/drawing/2014/main" id="{B5F098F1-13D1-4EFA-B19B-C12BECED7928}"/>
              </a:ext>
            </a:extLst>
          </p:cNvPr>
          <p:cNvSpPr>
            <a:spLocks xmlns:a="http://schemas.openxmlformats.org/drawingml/2006/main" noGrp="1"/>
          </p:cNvSpPr>
          <p:nvPr/>
        </p:nvSpPr>
        <p:spPr>
          <a:xfrm xmlns:a="http://schemas.openxmlformats.org/drawingml/2006/main">
            <a:off x="502920" y="3108960"/>
            <a:ext cx="11183112" cy="2359152"/>
          </a:xfrm>
          <a:prstGeom xmlns:a="http://schemas.openxmlformats.org/drawingml/2006/main" prst="rect">
            <a:avLst/>
          </a:prstGeom>
          <a:solidFill xmlns:a="http://schemas.openxmlformats.org/drawingml/2006/main">
            <a:srgbClr val="FFFFFF"/>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D4F6F546-C821-4D5A-AAC4-414B88A4AE2C}"/>
              </a:ext>
            </a:extLst>
          </p:cNvPr>
          <p:cNvSpPr>
            <a:spLocks xmlns:a="http://schemas.openxmlformats.org/drawingml/2006/main" noGrp="1"/>
          </p:cNvSpPr>
          <p:nvPr/>
        </p:nvSpPr>
        <p:spPr>
          <a:xfrm xmlns:a="http://schemas.openxmlformats.org/drawingml/2006/main">
            <a:off x="749808" y="3310128"/>
            <a:ext cx="4754880" cy="3169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600" b="1">
                <a:solidFill>
                  <a:srgbClr val="003667"/>
                </a:solidFill>
                <a:latin typeface="Meiryo"/>
                <a:ea typeface="Meiryo"/>
                <a:cs typeface="Meiryo"/>
              </a:defRPr>
            </a:pPr>
            <a:r>
              <a:t>分かりにくい言葉を日常語に置き換える</a:t>
            </a:r>
          </a:p>
        </p:txBody>
      </p:sp>
      <p:sp>
        <p:nvSpPr>
          <p:cNvPr id="19" name="TextBox 18">
            <a:extLst xmlns:a="http://schemas.openxmlformats.org/drawingml/2006/main">
              <a:ext uri="{FF2B5EF4-FFF2-40B4-BE49-F238E27FC236}">
                <a16:creationId xmlns:a16="http://schemas.microsoft.com/office/drawing/2014/main" id="{D2475A73-13CC-41FB-BC6B-C9734ADB21EB}"/>
              </a:ext>
            </a:extLst>
          </p:cNvPr>
          <p:cNvSpPr>
            <a:spLocks xmlns:a="http://schemas.openxmlformats.org/drawingml/2006/main" noGrp="1"/>
          </p:cNvSpPr>
          <p:nvPr/>
        </p:nvSpPr>
        <p:spPr>
          <a:xfrm xmlns:a="http://schemas.openxmlformats.org/drawingml/2006/main">
            <a:off x="868680" y="3721608"/>
            <a:ext cx="5212080" cy="786384"/>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650" b="1">
                <a:solidFill>
                  <a:srgbClr val="191F24"/>
                </a:solidFill>
                <a:latin typeface="Meiryo"/>
                <a:ea typeface="Meiryo"/>
                <a:cs typeface="Meiryo"/>
              </a:defRPr>
            </a:pPr>
            <a:r>
              <a:t>『充電量の下界』＝ 走り切るために、少なくとも必要と見積もった充電量</a:t>
            </a:r>
          </a:p>
        </p:txBody>
      </p:sp>
      <p:sp>
        <p:nvSpPr>
          <p:cNvPr id="20" name="TextBox 19">
            <a:extLst xmlns:a="http://schemas.openxmlformats.org/drawingml/2006/main">
              <a:ext uri="{FF2B5EF4-FFF2-40B4-BE49-F238E27FC236}">
                <a16:creationId xmlns:a16="http://schemas.microsoft.com/office/drawing/2014/main" id="{57C1A762-FB1E-4D3D-9B30-B2AA6373D058}"/>
              </a:ext>
            </a:extLst>
          </p:cNvPr>
          <p:cNvSpPr>
            <a:spLocks xmlns:a="http://schemas.openxmlformats.org/drawingml/2006/main" noGrp="1"/>
          </p:cNvSpPr>
          <p:nvPr/>
        </p:nvSpPr>
        <p:spPr>
          <a:xfrm xmlns:a="http://schemas.openxmlformats.org/drawingml/2006/main">
            <a:off x="6263640" y="3401568"/>
            <a:ext cx="5074920" cy="16733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0">
                <a:solidFill>
                  <a:srgbClr val="191F24"/>
                </a:solidFill>
                <a:latin typeface="Meiryo"/>
                <a:ea typeface="Meiryo"/>
                <a:cs typeface="Meiryo"/>
              </a:defRPr>
            </a:pPr>
            <a:r>
              <a:t>朝の車両電池を差し引いて見積もる。ただし、充電時刻や充電器の混雑はまだ確認していない。</a:t>
            </a:r>
          </a:p>
          <a:p xmlns:a="http://schemas.openxmlformats.org/drawingml/2006/main">
            <a:pPr algn="l">
              <a:buNone/>
              <a:defRPr sz="1300" b="0">
                <a:solidFill>
                  <a:srgbClr val="191F24"/>
                </a:solidFill>
                <a:latin typeface="Meiryo"/>
                <a:ea typeface="Meiryo"/>
                <a:cs typeface="Meiryo"/>
              </a:defRPr>
            </a:pPr>
            <a:r>
              <a:t/>
            </a:r>
          </a:p>
          <a:p xmlns:a="http://schemas.openxmlformats.org/drawingml/2006/main">
            <a:pPr algn="l">
              <a:buNone/>
              <a:defRPr sz="1300" b="0">
                <a:solidFill>
                  <a:srgbClr val="191F24"/>
                </a:solidFill>
                <a:latin typeface="Meiryo"/>
                <a:ea typeface="Meiryo"/>
                <a:cs typeface="Meiryo"/>
              </a:defRPr>
            </a:pPr>
            <a:r>
              <a:t>『初期BESS余剰』＝ 朝の営業所蓄電池のうち、終業時に残す目標を超える部分。朝300 kWh・終業時300 kWhなら0 kWh。</a:t>
            </a:r>
          </a:p>
        </p:txBody>
      </p:sp>
      <p:sp>
        <p:nvSpPr>
          <p:cNvPr id="21" name="Rectangle 20">
            <a:extLst xmlns:a="http://schemas.openxmlformats.org/drawingml/2006/main">
              <a:ext uri="{FF2B5EF4-FFF2-40B4-BE49-F238E27FC236}">
                <a16:creationId xmlns:a16="http://schemas.microsoft.com/office/drawing/2014/main" id="{313A6B4E-6381-43A9-8842-B8DC0C556462}"/>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FF4DB"/>
          </a:solidFill>
          <a:ln xmlns:a="http://schemas.openxmlformats.org/drawingml/2006/main">
            <a:solidFill>
              <a:srgbClr val="FFF4D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48AFDB03-00DB-429F-8030-9170CC483CB6}"/>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要点｜最初の計画を土台にし、毎時間変えるのは充電予定だけ。運行便を途中で入れ替えない。</a:t>
            </a:r>
          </a:p>
        </p:txBody>
      </p:sp>
    </p:spTree>
    <p:extLst>
      <p:ext uri="{BB962C8B-B14F-4D97-AF65-F5344CB8AC3E}">
        <p14:creationId xmlns:p14="http://schemas.microsoft.com/office/powerpoint/2010/main" val="12572548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CD8DE99-1A8F-4E58-892B-6180366A3743}"/>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① 一日全体の計画で、何を入力し何を決めるか</a:t>
            </a:r>
          </a:p>
        </p:txBody>
      </p:sp>
      <p:sp>
        <p:nvSpPr>
          <p:cNvPr id="3" name="Connector 2">
            <a:extLst xmlns:a="http://schemas.openxmlformats.org/drawingml/2006/main">
              <a:ext uri="{FF2B5EF4-FFF2-40B4-BE49-F238E27FC236}">
                <a16:creationId xmlns:a16="http://schemas.microsoft.com/office/drawing/2014/main" id="{5E4AEDF6-295F-433A-85C2-54790E463F6E}"/>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A4752D8C-B560-44A5-92D0-7C5BDF27B496}"/>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A70422AC-E7F5-4D59-BAC4-FE7C81EDB05C}"/>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0A7F29F-1DA5-4640-8203-D85684E0F33F}"/>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E005042C-3251-4F23-9EE1-2A05DA732EEA}"/>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7D374F07-8078-4B3E-9444-A2DCFBC9438E}"/>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6/18</a:t>
            </a:r>
          </a:p>
        </p:txBody>
      </p:sp>
      <p:graphicFrame>
        <p:nvGraphicFramePr>
          <p:cNvPr id="22" name="Table 8"/>
          <p:cNvGraphicFramePr/>
          <p:nvPr/>
        </p:nvGraphicFramePr>
        <p:xfrm>
          <a:off xmlns:a="http://schemas.openxmlformats.org/drawingml/2006/main" x="438912" y="886968"/>
          <a:ext xmlns:a="http://schemas.openxmlformats.org/drawingml/2006/main" cx="5577840" cy="5001768"/>
        </p:xfrm>
        <a:graphic xmlns:a="http://schemas.openxmlformats.org/drawingml/2006/main">
          <a:graphicData uri="http://schemas.openxmlformats.org/drawingml/2006/table">
            <a:tbl>
              <a:tblPr firstRow="1" bandRow="1">
                <a:tableStyleId>{5C22544A-7EE6-4342-B048-85BDC9FD1C3A}</a:tableStyleId>
              </a:tblPr>
              <a:tblGrid>
                <a:gridCol w="1947672"/>
                <a:gridCol w="3630168"/>
              </a:tblGrid>
              <a:tr h="555752">
                <a:tc>
                  <a:txBody>
                    <a:bodyPr/>
                    <a:lstStyle/>
                    <a:p>
                      <a:pPr algn="l">
                        <a:buNone/>
                      </a:pPr>
                      <a:r>
                        <a:rPr sz="1300" b="1">
                          <a:solidFill>
                            <a:srgbClr val="FFFFFF"/>
                          </a:solidFill>
                          <a:latin typeface="Meiryo"/>
                          <a:ea typeface="Meiryo"/>
                          <a:cs typeface="Meiryo"/>
                        </a:rPr>
                        <a:t>入力する情報</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内容</a:t>
                      </a:r>
                    </a:p>
                  </a:txBody>
                  <a:tcPr marL="73152" marR="73152" marT="36576" marB="36576" anchor="ctr">
                    <a:solidFill>
                      <a:srgbClr val="003667"/>
                    </a:solidFill>
                  </a:tcPr>
                </a:tc>
              </a:tr>
              <a:tr h="555752">
                <a:tc>
                  <a:txBody>
                    <a:bodyPr/>
                    <a:lstStyle/>
                    <a:p>
                      <a:pPr algn="l">
                        <a:buNone/>
                      </a:pPr>
                      <a:r>
                        <a:rPr sz="1140" b="1">
                          <a:solidFill>
                            <a:srgbClr val="191F24"/>
                          </a:solidFill>
                          <a:latin typeface="Meiryo"/>
                          <a:ea typeface="Meiryo"/>
                          <a:cs typeface="Meiryo"/>
                        </a:rPr>
                        <a:t>時刻表</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出発・到着時刻と運行区間</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車両</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電気バス・ディーゼルバスの台数</a:t>
                      </a:r>
                    </a:p>
                  </a:txBody>
                  <a:tcPr marL="73152" marR="73152" marT="36576" marB="36576" anchor="ctr">
                    <a:solidFill>
                      <a:srgbClr val="F2F4F6"/>
                    </a:solidFill>
                  </a:tcPr>
                </a:tc>
              </a:tr>
              <a:tr h="555752">
                <a:tc>
                  <a:txBody>
                    <a:bodyPr/>
                    <a:lstStyle/>
                    <a:p>
                      <a:pPr algn="l">
                        <a:buNone/>
                      </a:pPr>
                      <a:r>
                        <a:rPr sz="1140" b="1">
                          <a:solidFill>
                            <a:srgbClr val="191F24"/>
                          </a:solidFill>
                          <a:latin typeface="Meiryo"/>
                          <a:ea typeface="Meiryo"/>
                          <a:cs typeface="Meiryo"/>
                        </a:rPr>
                        <a:t>車両の電池</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朝の残量・使える範囲</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営業所設備</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充電器・受電上限・蓄電池</a:t>
                      </a:r>
                    </a:p>
                  </a:txBody>
                  <a:tcPr marL="73152" marR="73152" marT="36576" marB="36576" anchor="ctr">
                    <a:solidFill>
                      <a:srgbClr val="F2F4F6"/>
                    </a:solidFill>
                  </a:tcPr>
                </a:tc>
              </a:tr>
              <a:tr h="555752">
                <a:tc>
                  <a:txBody>
                    <a:bodyPr/>
                    <a:lstStyle/>
                    <a:p>
                      <a:pPr algn="l">
                        <a:buNone/>
                      </a:pPr>
                      <a:r>
                        <a:rPr sz="1140" b="1">
                          <a:solidFill>
                            <a:srgbClr val="191F24"/>
                          </a:solidFill>
                          <a:latin typeface="Meiryo"/>
                          <a:ea typeface="Meiryo"/>
                          <a:cs typeface="Meiryo"/>
                        </a:rPr>
                        <a:t>太陽光予測</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時間ごとの発電見込み</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料金・CO₂</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電気と燃料の評価条件</a:t>
                      </a:r>
                    </a:p>
                  </a:txBody>
                  <a:tcPr marL="73152" marR="73152" marT="36576" marB="36576" anchor="ctr">
                    <a:solidFill>
                      <a:srgbClr val="F2F4F6"/>
                    </a:solidFill>
                  </a:tcPr>
                </a:tc>
              </a:tr>
              <a:tr h="555752">
                <a:tc>
                  <a:txBody>
                    <a:bodyPr/>
                    <a:lstStyle/>
                    <a:p>
                      <a:pPr algn="l">
                        <a:buNone/>
                      </a:pPr>
                      <a:r>
                        <a:rPr sz="1140" b="1">
                          <a:solidFill>
                            <a:srgbClr val="191F24"/>
                          </a:solidFill>
                          <a:latin typeface="Meiryo"/>
                          <a:ea typeface="Meiryo"/>
                          <a:cs typeface="Meiryo"/>
                        </a:rPr>
                        <a:t>終業時の目標</a:t>
                      </a:r>
                    </a:p>
                  </a:txBody>
                  <a:tcPr marL="73152" marR="73152" marT="36576" marB="36576" anchor="ctr">
                    <a:solidFill>
                      <a:srgbClr val="FFFFFF"/>
                    </a:solidFill>
                  </a:tcPr>
                </a:tc>
                <a:tc>
                  <a:txBody>
                    <a:bodyPr/>
                    <a:lstStyle/>
                    <a:p>
                      <a:pPr algn="ctr">
                        <a:buNone/>
                      </a:pPr>
                      <a:r>
                        <a:rPr sz="1140" b="0">
                          <a:solidFill>
                            <a:srgbClr val="191F24"/>
                          </a:solidFill>
                          <a:latin typeface="Meiryo"/>
                          <a:ea typeface="Meiryo"/>
                          <a:cs typeface="Meiryo"/>
                        </a:rPr>
                        <a:t>翌日に残す電池量</a:t>
                      </a:r>
                    </a:p>
                  </a:txBody>
                  <a:tcPr marL="73152" marR="73152" marT="36576" marB="36576" anchor="ctr">
                    <a:solidFill>
                      <a:srgbClr val="FFFFFF"/>
                    </a:solidFill>
                  </a:tcPr>
                </a:tc>
              </a:tr>
              <a:tr h="555752">
                <a:tc>
                  <a:txBody>
                    <a:bodyPr/>
                    <a:lstStyle/>
                    <a:p>
                      <a:pPr algn="l">
                        <a:buNone/>
                      </a:pPr>
                      <a:r>
                        <a:rPr sz="1140" b="1">
                          <a:solidFill>
                            <a:srgbClr val="191F24"/>
                          </a:solidFill>
                          <a:latin typeface="Meiryo"/>
                          <a:ea typeface="Meiryo"/>
                          <a:cs typeface="Meiryo"/>
                        </a:rPr>
                        <a:t>時間の細かさ</a:t>
                      </a:r>
                    </a:p>
                  </a:txBody>
                  <a:tcPr marL="73152" marR="73152" marT="36576" marB="36576" anchor="ctr">
                    <a:solidFill>
                      <a:srgbClr val="F2F4F6"/>
                    </a:solidFill>
                  </a:tcPr>
                </a:tc>
                <a:tc>
                  <a:txBody>
                    <a:bodyPr/>
                    <a:lstStyle/>
                    <a:p>
                      <a:pPr algn="ctr">
                        <a:buNone/>
                      </a:pPr>
                      <a:r>
                        <a:rPr sz="1140" b="0">
                          <a:solidFill>
                            <a:srgbClr val="191F24"/>
                          </a:solidFill>
                          <a:latin typeface="Meiryo"/>
                          <a:ea typeface="Meiryo"/>
                          <a:cs typeface="Meiryo"/>
                        </a:rPr>
                        <a:t>何分ごとに判断するか</a:t>
                      </a:r>
                    </a:p>
                  </a:txBody>
                  <a:tcPr marL="73152" marR="73152" marT="36576" marB="36576" anchor="ctr">
                    <a:solidFill>
                      <a:srgbClr val="F2F4F6"/>
                    </a:solidFill>
                  </a:tcPr>
                </a:tc>
              </a:tr>
            </a:tbl>
          </a:graphicData>
        </a:graphic>
      </p:graphicFrame>
      <p:graphicFrame>
        <p:nvGraphicFramePr>
          <p:cNvPr id="23" name="Table 9"/>
          <p:cNvGraphicFramePr/>
          <p:nvPr/>
        </p:nvGraphicFramePr>
        <p:xfrm>
          <a:off xmlns:a="http://schemas.openxmlformats.org/drawingml/2006/main" x="6172200" y="886968"/>
          <a:ext xmlns:a="http://schemas.openxmlformats.org/drawingml/2006/main" cx="5577839" cy="5001768"/>
        </p:xfrm>
        <a:graphic xmlns:a="http://schemas.openxmlformats.org/drawingml/2006/main">
          <a:graphicData uri="http://schemas.openxmlformats.org/drawingml/2006/table">
            <a:tbl>
              <a:tblPr firstRow="1" bandRow="1">
                <a:tableStyleId>{5C22544A-7EE6-4342-B048-85BDC9FD1C3A}</a:tableStyleId>
              </a:tblPr>
              <a:tblGrid>
                <a:gridCol w="1901952"/>
                <a:gridCol w="3675887"/>
              </a:tblGrid>
              <a:tr h="500176">
                <a:tc>
                  <a:txBody>
                    <a:bodyPr/>
                    <a:lstStyle/>
                    <a:p>
                      <a:pPr algn="l">
                        <a:buNone/>
                      </a:pPr>
                      <a:r>
                        <a:rPr sz="1300" b="1">
                          <a:solidFill>
                            <a:srgbClr val="FFFFFF"/>
                          </a:solidFill>
                          <a:latin typeface="Meiryo"/>
                          <a:ea typeface="Meiryo"/>
                          <a:cs typeface="Meiryo"/>
                        </a:rPr>
                        <a:t>決めること</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内容</a:t>
                      </a:r>
                    </a:p>
                  </a:txBody>
                  <a:tcPr marL="73152" marR="73152" marT="36576" marB="36576" anchor="ctr">
                    <a:solidFill>
                      <a:srgbClr val="003667"/>
                    </a:solidFill>
                  </a:tcPr>
                </a:tc>
              </a:tr>
              <a:tr h="500176">
                <a:tc>
                  <a:txBody>
                    <a:bodyPr/>
                    <a:lstStyle/>
                    <a:p>
                      <a:pPr algn="l">
                        <a:buNone/>
                      </a:pPr>
                      <a:r>
                        <a:rPr sz="1120" b="1">
                          <a:solidFill>
                            <a:srgbClr val="191F24"/>
                          </a:solidFill>
                          <a:latin typeface="Meiryo"/>
                          <a:ea typeface="Meiryo"/>
                          <a:cs typeface="Meiryo"/>
                        </a:rPr>
                        <a:t>担当車両</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各便をどの車両が走るか</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車両の使い分け</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電気・ディーゼルのどちらを使うか</a:t>
                      </a:r>
                    </a:p>
                  </a:txBody>
                  <a:tcPr marL="73152" marR="73152" marT="36576" marB="36576" anchor="ctr">
                    <a:solidFill>
                      <a:srgbClr val="F2F4F6"/>
                    </a:solidFill>
                  </a:tcPr>
                </a:tc>
              </a:tr>
              <a:tr h="500176">
                <a:tc>
                  <a:txBody>
                    <a:bodyPr/>
                    <a:lstStyle/>
                    <a:p>
                      <a:pPr algn="l">
                        <a:buNone/>
                      </a:pPr>
                      <a:r>
                        <a:rPr sz="1120" b="1">
                          <a:solidFill>
                            <a:srgbClr val="191F24"/>
                          </a:solidFill>
                          <a:latin typeface="Meiryo"/>
                          <a:ea typeface="Meiryo"/>
                          <a:cs typeface="Meiryo"/>
                        </a:rPr>
                        <a:t>充電時刻</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営業所にいる間のいつ充電するか</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充電量</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出発前にどれだけ充電するか</a:t>
                      </a:r>
                    </a:p>
                  </a:txBody>
                  <a:tcPr marL="73152" marR="73152" marT="36576" marB="36576" anchor="ctr">
                    <a:solidFill>
                      <a:srgbClr val="F2F4F6"/>
                    </a:solidFill>
                  </a:tcPr>
                </a:tc>
              </a:tr>
              <a:tr h="500176">
                <a:tc>
                  <a:txBody>
                    <a:bodyPr/>
                    <a:lstStyle/>
                    <a:p>
                      <a:pPr algn="l">
                        <a:buNone/>
                      </a:pPr>
                      <a:r>
                        <a:rPr sz="1120" b="1">
                          <a:solidFill>
                            <a:srgbClr val="191F24"/>
                          </a:solidFill>
                          <a:latin typeface="Meiryo"/>
                          <a:ea typeface="Meiryo"/>
                          <a:cs typeface="Meiryo"/>
                        </a:rPr>
                        <a:t>電気の出どころ</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太陽光・系統・蓄電池の使い分け</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同時充電</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充電器の台数を超えない組合せ</a:t>
                      </a:r>
                    </a:p>
                  </a:txBody>
                  <a:tcPr marL="73152" marR="73152" marT="36576" marB="36576" anchor="ctr">
                    <a:solidFill>
                      <a:srgbClr val="F2F4F6"/>
                    </a:solidFill>
                  </a:tcPr>
                </a:tc>
              </a:tr>
              <a:tr h="500176">
                <a:tc>
                  <a:txBody>
                    <a:bodyPr/>
                    <a:lstStyle/>
                    <a:p>
                      <a:pPr algn="l">
                        <a:buNone/>
                      </a:pPr>
                      <a:r>
                        <a:rPr sz="1120" b="1">
                          <a:solidFill>
                            <a:srgbClr val="191F24"/>
                          </a:solidFill>
                          <a:latin typeface="Meiryo"/>
                          <a:ea typeface="Meiryo"/>
                          <a:cs typeface="Meiryo"/>
                        </a:rPr>
                        <a:t>最大受電</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電力が集中しすぎない計画</a:t>
                      </a:r>
                    </a:p>
                  </a:txBody>
                  <a:tcPr marL="73152" marR="73152" marT="36576" marB="36576" anchor="ctr">
                    <a:solidFill>
                      <a:srgbClr val="FFFFFF"/>
                    </a:solidFill>
                  </a:tcPr>
                </a:tc>
              </a:tr>
              <a:tr h="500176">
                <a:tc>
                  <a:txBody>
                    <a:bodyPr/>
                    <a:lstStyle/>
                    <a:p>
                      <a:pPr algn="l">
                        <a:buNone/>
                      </a:pPr>
                      <a:r>
                        <a:rPr sz="1120" b="1">
                          <a:solidFill>
                            <a:srgbClr val="191F24"/>
                          </a:solidFill>
                          <a:latin typeface="Meiryo"/>
                          <a:ea typeface="Meiryo"/>
                          <a:cs typeface="Meiryo"/>
                        </a:rPr>
                        <a:t>一日の費用</a:t>
                      </a:r>
                    </a:p>
                  </a:txBody>
                  <a:tcPr marL="73152" marR="73152" marT="36576" marB="36576" anchor="ctr">
                    <a:solidFill>
                      <a:srgbClr val="F2F4F6"/>
                    </a:solidFill>
                  </a:tcPr>
                </a:tc>
                <a:tc>
                  <a:txBody>
                    <a:bodyPr/>
                    <a:lstStyle/>
                    <a:p>
                      <a:pPr algn="ctr">
                        <a:buNone/>
                      </a:pPr>
                      <a:r>
                        <a:rPr sz="1120" b="0">
                          <a:solidFill>
                            <a:srgbClr val="191F24"/>
                          </a:solidFill>
                          <a:latin typeface="Meiryo"/>
                          <a:ea typeface="Meiryo"/>
                          <a:cs typeface="Meiryo"/>
                        </a:rPr>
                        <a:t>電気・燃料・車両利用の合計</a:t>
                      </a:r>
                    </a:p>
                  </a:txBody>
                  <a:tcPr marL="73152" marR="73152" marT="36576" marB="36576" anchor="ctr">
                    <a:solidFill>
                      <a:srgbClr val="F2F4F6"/>
                    </a:solidFill>
                  </a:tcPr>
                </a:tc>
              </a:tr>
              <a:tr h="500184">
                <a:tc>
                  <a:txBody>
                    <a:bodyPr/>
                    <a:lstStyle/>
                    <a:p>
                      <a:pPr algn="l">
                        <a:buNone/>
                      </a:pPr>
                      <a:r>
                        <a:rPr sz="1120" b="1">
                          <a:solidFill>
                            <a:srgbClr val="191F24"/>
                          </a:solidFill>
                          <a:latin typeface="Meiryo"/>
                          <a:ea typeface="Meiryo"/>
                          <a:cs typeface="Meiryo"/>
                        </a:rPr>
                        <a:t>確認結果</a:t>
                      </a:r>
                    </a:p>
                  </a:txBody>
                  <a:tcPr marL="73152" marR="73152" marT="36576" marB="36576" anchor="ctr">
                    <a:solidFill>
                      <a:srgbClr val="FFFFFF"/>
                    </a:solidFill>
                  </a:tcPr>
                </a:tc>
                <a:tc>
                  <a:txBody>
                    <a:bodyPr/>
                    <a:lstStyle/>
                    <a:p>
                      <a:pPr algn="ctr">
                        <a:buNone/>
                      </a:pPr>
                      <a:r>
                        <a:rPr sz="1120" b="0">
                          <a:solidFill>
                            <a:srgbClr val="191F24"/>
                          </a:solidFill>
                          <a:latin typeface="Meiryo"/>
                          <a:ea typeface="Meiryo"/>
                          <a:cs typeface="Meiryo"/>
                        </a:rPr>
                        <a:t>全便を実際に走れるか</a:t>
                      </a:r>
                    </a:p>
                  </a:txBody>
                  <a:tcPr marL="73152" marR="73152" marT="36576" marB="36576" anchor="ctr">
                    <a:solidFill>
                      <a:srgbClr val="FFFFFF"/>
                    </a:solidFill>
                  </a:tcPr>
                </a:tc>
              </a:tr>
            </a:tbl>
          </a:graphicData>
        </a:graphic>
      </p:graphicFrame>
      <p:sp>
        <p:nvSpPr>
          <p:cNvPr id="11" name="Rectangle 10">
            <a:extLst xmlns:a="http://schemas.openxmlformats.org/drawingml/2006/main">
              <a:ext uri="{FF2B5EF4-FFF2-40B4-BE49-F238E27FC236}">
                <a16:creationId xmlns:a16="http://schemas.microsoft.com/office/drawing/2014/main" id="{4AE375A4-274C-47C9-9B9D-8E5CA946B95D}"/>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CE8E8"/>
          </a:solidFill>
          <a:ln xmlns:a="http://schemas.openxmlformats.org/drawingml/2006/main">
            <a:solidFill>
              <a:srgbClr val="FCE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E20A3BE-90B2-4103-9CEE-7B8CFEC3E1D7}"/>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C23737"/>
                </a:solidFill>
                <a:latin typeface="Meiryo"/>
                <a:ea typeface="Meiryo"/>
                <a:cs typeface="Meiryo"/>
              </a:defRPr>
            </a:pPr>
            <a:r>
              <a:t>要点｜車両の担当と充電を同じ一日の中で確認し、走れない計画は結果として採用しない。</a:t>
            </a:r>
          </a:p>
        </p:txBody>
      </p:sp>
    </p:spTree>
    <p:extLst>
      <p:ext uri="{BB962C8B-B14F-4D97-AF65-F5344CB8AC3E}">
        <p14:creationId xmlns:p14="http://schemas.microsoft.com/office/powerpoint/2010/main" val="189518205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042C639-6A4E-4DA8-86AB-A1797EC4D8AB}"/>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② 1時間ごとの見直しで、何を更新し何を固定するか</a:t>
            </a:r>
          </a:p>
        </p:txBody>
      </p:sp>
      <p:sp>
        <p:nvSpPr>
          <p:cNvPr id="3" name="Connector 2">
            <a:extLst xmlns:a="http://schemas.openxmlformats.org/drawingml/2006/main">
              <a:ext uri="{FF2B5EF4-FFF2-40B4-BE49-F238E27FC236}">
                <a16:creationId xmlns:a16="http://schemas.microsoft.com/office/drawing/2014/main" id="{69A4BA32-FAED-4D56-9F08-30203542EDF8}"/>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B909A90E-D258-4E28-9545-017B10ED2A91}"/>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1F4AF887-6728-433B-A2E9-DC65A762D08D}"/>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FFB5ACF-58CA-43AA-A82E-B39C0B766E8B}"/>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2818B743-553E-4418-A0F4-896BC4BB89E4}"/>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77022C70-DAB4-492B-9A5A-57E9AEB95AC3}"/>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7/18</a:t>
            </a:r>
          </a:p>
        </p:txBody>
      </p:sp>
      <p:graphicFrame>
        <p:nvGraphicFramePr>
          <p:cNvPr id="26" name="Table 8"/>
          <p:cNvGraphicFramePr/>
          <p:nvPr/>
        </p:nvGraphicFramePr>
        <p:xfrm>
          <a:off xmlns:a="http://schemas.openxmlformats.org/drawingml/2006/main" x="438912" y="914400"/>
          <a:ext xmlns:a="http://schemas.openxmlformats.org/drawingml/2006/main" cx="3127247" cy="4352544"/>
        </p:xfrm>
        <a:graphic xmlns:a="http://schemas.openxmlformats.org/drawingml/2006/main">
          <a:graphicData uri="http://schemas.openxmlformats.org/drawingml/2006/table">
            <a:tbl>
              <a:tblPr firstRow="1" bandRow="1">
                <a:tableStyleId>{5C22544A-7EE6-4342-B048-85BDC9FD1C3A}</a:tableStyleId>
              </a:tblPr>
              <a:tblGrid>
                <a:gridCol w="1874519"/>
                <a:gridCol w="1252728"/>
              </a:tblGrid>
              <a:tr h="621792">
                <a:tc>
                  <a:txBody>
                    <a:bodyPr/>
                    <a:lstStyle/>
                    <a:p>
                      <a:pPr algn="l">
                        <a:buNone/>
                      </a:pPr>
                      <a:r>
                        <a:rPr sz="1300" b="1">
                          <a:solidFill>
                            <a:srgbClr val="FFFFFF"/>
                          </a:solidFill>
                          <a:latin typeface="Meiryo"/>
                          <a:ea typeface="Meiryo"/>
                          <a:cs typeface="Meiryo"/>
                        </a:rPr>
                        <a:t>毎正時に更新する情報</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具体例</a:t>
                      </a:r>
                    </a:p>
                  </a:txBody>
                  <a:tcPr marL="73152" marR="73152" marT="36576" marB="36576" anchor="ctr">
                    <a:solidFill>
                      <a:srgbClr val="003667"/>
                    </a:solidFill>
                  </a:tcPr>
                </a:tc>
              </a:tr>
              <a:tr h="621792">
                <a:tc>
                  <a:txBody>
                    <a:bodyPr/>
                    <a:lstStyle/>
                    <a:p>
                      <a:pPr algn="l">
                        <a:buNone/>
                      </a:pPr>
                      <a:r>
                        <a:rPr sz="1200" b="1">
                          <a:solidFill>
                            <a:srgbClr val="191F24"/>
                          </a:solidFill>
                          <a:latin typeface="Meiryo"/>
                          <a:ea typeface="Meiryo"/>
                          <a:cs typeface="Meiryo"/>
                        </a:rPr>
                        <a:t>車両の電池残量</a:t>
                      </a:r>
                    </a:p>
                  </a:txBody>
                  <a:tcPr marL="73152" marR="73152" marT="36576" marB="36576" anchor="ctr">
                    <a:solidFill>
                      <a:srgbClr val="FFFFFF"/>
                    </a:solidFill>
                  </a:tcPr>
                </a:tc>
                <a:tc>
                  <a:txBody>
                    <a:bodyPr/>
                    <a:lstStyle/>
                    <a:p>
                      <a:pPr algn="ctr">
                        <a:buNone/>
                      </a:pPr>
                      <a:r>
                        <a:rPr sz="1200" b="0">
                          <a:solidFill>
                            <a:srgbClr val="191F24"/>
                          </a:solidFill>
                          <a:latin typeface="Meiryo"/>
                          <a:ea typeface="Meiryo"/>
                          <a:cs typeface="Meiryo"/>
                        </a:rPr>
                        <a:t>実際に残っている量</a:t>
                      </a:r>
                    </a:p>
                  </a:txBody>
                  <a:tcPr marL="73152" marR="73152" marT="36576" marB="36576" anchor="ctr">
                    <a:solidFill>
                      <a:srgbClr val="FFFFFF"/>
                    </a:solidFill>
                  </a:tcPr>
                </a:tc>
              </a:tr>
              <a:tr h="621792">
                <a:tc>
                  <a:txBody>
                    <a:bodyPr/>
                    <a:lstStyle/>
                    <a:p>
                      <a:pPr algn="l">
                        <a:buNone/>
                      </a:pPr>
                      <a:r>
                        <a:rPr sz="1200" b="1">
                          <a:solidFill>
                            <a:srgbClr val="191F24"/>
                          </a:solidFill>
                          <a:latin typeface="Meiryo"/>
                          <a:ea typeface="Meiryo"/>
                          <a:cs typeface="Meiryo"/>
                        </a:rPr>
                        <a:t>営業所蓄電池の残量</a:t>
                      </a:r>
                    </a:p>
                  </a:txBody>
                  <a:tcPr marL="73152" marR="73152" marT="36576" marB="36576" anchor="ctr">
                    <a:solidFill>
                      <a:srgbClr val="F2F4F6"/>
                    </a:solidFill>
                  </a:tcPr>
                </a:tc>
                <a:tc>
                  <a:txBody>
                    <a:bodyPr/>
                    <a:lstStyle/>
                    <a:p>
                      <a:pPr algn="ctr">
                        <a:buNone/>
                      </a:pPr>
                      <a:r>
                        <a:rPr sz="1200" b="0">
                          <a:solidFill>
                            <a:srgbClr val="191F24"/>
                          </a:solidFill>
                          <a:latin typeface="Meiryo"/>
                          <a:ea typeface="Meiryo"/>
                          <a:cs typeface="Meiryo"/>
                        </a:rPr>
                        <a:t>現在使える量</a:t>
                      </a:r>
                    </a:p>
                  </a:txBody>
                  <a:tcPr marL="73152" marR="73152" marT="36576" marB="36576" anchor="ctr">
                    <a:solidFill>
                      <a:srgbClr val="F2F4F6"/>
                    </a:solidFill>
                  </a:tcPr>
                </a:tc>
              </a:tr>
              <a:tr h="621792">
                <a:tc>
                  <a:txBody>
                    <a:bodyPr/>
                    <a:lstStyle/>
                    <a:p>
                      <a:pPr algn="l">
                        <a:buNone/>
                      </a:pPr>
                      <a:r>
                        <a:rPr sz="1200" b="1">
                          <a:solidFill>
                            <a:srgbClr val="191F24"/>
                          </a:solidFill>
                          <a:latin typeface="Meiryo"/>
                          <a:ea typeface="Meiryo"/>
                          <a:cs typeface="Meiryo"/>
                        </a:rPr>
                        <a:t>太陽光の予測</a:t>
                      </a:r>
                    </a:p>
                  </a:txBody>
                  <a:tcPr marL="73152" marR="73152" marT="36576" marB="36576" anchor="ctr">
                    <a:solidFill>
                      <a:srgbClr val="FFFFFF"/>
                    </a:solidFill>
                  </a:tcPr>
                </a:tc>
                <a:tc>
                  <a:txBody>
                    <a:bodyPr/>
                    <a:lstStyle/>
                    <a:p>
                      <a:pPr algn="ctr">
                        <a:buNone/>
                      </a:pPr>
                      <a:r>
                        <a:rPr sz="1200" b="0">
                          <a:solidFill>
                            <a:srgbClr val="191F24"/>
                          </a:solidFill>
                          <a:latin typeface="Meiryo"/>
                          <a:ea typeface="Meiryo"/>
                          <a:cs typeface="Meiryo"/>
                        </a:rPr>
                        <a:t>最新の天気予報</a:t>
                      </a:r>
                    </a:p>
                  </a:txBody>
                  <a:tcPr marL="73152" marR="73152" marT="36576" marB="36576" anchor="ctr">
                    <a:solidFill>
                      <a:srgbClr val="FFFFFF"/>
                    </a:solidFill>
                  </a:tcPr>
                </a:tc>
              </a:tr>
              <a:tr h="621792">
                <a:tc>
                  <a:txBody>
                    <a:bodyPr/>
                    <a:lstStyle/>
                    <a:p>
                      <a:pPr algn="l">
                        <a:buNone/>
                      </a:pPr>
                      <a:r>
                        <a:rPr sz="1200" b="1">
                          <a:solidFill>
                            <a:srgbClr val="191F24"/>
                          </a:solidFill>
                          <a:latin typeface="Meiryo"/>
                          <a:ea typeface="Meiryo"/>
                          <a:cs typeface="Meiryo"/>
                        </a:rPr>
                        <a:t>すでに使った最大電力</a:t>
                      </a:r>
                    </a:p>
                  </a:txBody>
                  <a:tcPr marL="73152" marR="73152" marT="36576" marB="36576" anchor="ctr">
                    <a:solidFill>
                      <a:srgbClr val="F2F4F6"/>
                    </a:solidFill>
                  </a:tcPr>
                </a:tc>
                <a:tc>
                  <a:txBody>
                    <a:bodyPr/>
                    <a:lstStyle/>
                    <a:p>
                      <a:pPr algn="ctr">
                        <a:buNone/>
                      </a:pPr>
                      <a:r>
                        <a:rPr sz="1200" b="0">
                          <a:solidFill>
                            <a:srgbClr val="191F24"/>
                          </a:solidFill>
                          <a:latin typeface="Meiryo"/>
                          <a:ea typeface="Meiryo"/>
                          <a:cs typeface="Meiryo"/>
                        </a:rPr>
                        <a:t>その日ここまでの記録</a:t>
                      </a:r>
                    </a:p>
                  </a:txBody>
                  <a:tcPr marL="73152" marR="73152" marT="36576" marB="36576" anchor="ctr">
                    <a:solidFill>
                      <a:srgbClr val="F2F4F6"/>
                    </a:solidFill>
                  </a:tcPr>
                </a:tc>
              </a:tr>
              <a:tr h="621792">
                <a:tc>
                  <a:txBody>
                    <a:bodyPr/>
                    <a:lstStyle/>
                    <a:p>
                      <a:pPr algn="l">
                        <a:buNone/>
                      </a:pPr>
                      <a:r>
                        <a:rPr sz="1200" b="1">
                          <a:solidFill>
                            <a:srgbClr val="191F24"/>
                          </a:solidFill>
                          <a:latin typeface="Meiryo"/>
                          <a:ea typeface="Meiryo"/>
                          <a:cs typeface="Meiryo"/>
                        </a:rPr>
                        <a:t>現在時刻</a:t>
                      </a:r>
                    </a:p>
                  </a:txBody>
                  <a:tcPr marL="73152" marR="73152" marT="36576" marB="36576" anchor="ctr">
                    <a:solidFill>
                      <a:srgbClr val="FFFFFF"/>
                    </a:solidFill>
                  </a:tcPr>
                </a:tc>
                <a:tc>
                  <a:txBody>
                    <a:bodyPr/>
                    <a:lstStyle/>
                    <a:p>
                      <a:pPr algn="ctr">
                        <a:buNone/>
                      </a:pPr>
                      <a:r>
                        <a:rPr sz="1200" b="0">
                          <a:solidFill>
                            <a:srgbClr val="191F24"/>
                          </a:solidFill>
                          <a:latin typeface="Meiryo"/>
                          <a:ea typeface="Meiryo"/>
                          <a:cs typeface="Meiryo"/>
                        </a:rPr>
                        <a:t>実行済みと未実行を分ける</a:t>
                      </a:r>
                    </a:p>
                  </a:txBody>
                  <a:tcPr marL="73152" marR="73152" marT="36576" marB="36576" anchor="ctr">
                    <a:solidFill>
                      <a:srgbClr val="FFFFFF"/>
                    </a:solidFill>
                  </a:tcPr>
                </a:tc>
              </a:tr>
              <a:tr h="621792">
                <a:tc>
                  <a:txBody>
                    <a:bodyPr/>
                    <a:lstStyle/>
                    <a:p>
                      <a:pPr algn="l">
                        <a:buNone/>
                      </a:pPr>
                      <a:r>
                        <a:rPr sz="1200" b="1">
                          <a:solidFill>
                            <a:srgbClr val="191F24"/>
                          </a:solidFill>
                          <a:latin typeface="Meiryo"/>
                          <a:ea typeface="Meiryo"/>
                          <a:cs typeface="Meiryo"/>
                        </a:rPr>
                        <a:t>運行状況</a:t>
                      </a:r>
                    </a:p>
                  </a:txBody>
                  <a:tcPr marL="73152" marR="73152" marT="36576" marB="36576" anchor="ctr">
                    <a:solidFill>
                      <a:srgbClr val="F2F4F6"/>
                    </a:solidFill>
                  </a:tcPr>
                </a:tc>
                <a:tc>
                  <a:txBody>
                    <a:bodyPr/>
                    <a:lstStyle/>
                    <a:p>
                      <a:pPr algn="ctr">
                        <a:buNone/>
                      </a:pPr>
                      <a:r>
                        <a:rPr sz="1200" b="0">
                          <a:solidFill>
                            <a:srgbClr val="191F24"/>
                          </a:solidFill>
                          <a:latin typeface="Meiryo"/>
                          <a:ea typeface="Meiryo"/>
                          <a:cs typeface="Meiryo"/>
                        </a:rPr>
                        <a:t>遅れや実績を確認する</a:t>
                      </a:r>
                    </a:p>
                  </a:txBody>
                  <a:tcPr marL="73152" marR="73152" marT="36576" marB="36576" anchor="ctr">
                    <a:solidFill>
                      <a:srgbClr val="F2F4F6"/>
                    </a:solidFill>
                  </a:tcPr>
                </a:tc>
              </a:tr>
            </a:tbl>
          </a:graphicData>
        </a:graphic>
      </p:graphicFrame>
      <p:graphicFrame>
        <p:nvGraphicFramePr>
          <p:cNvPr id="27" name="Table 9"/>
          <p:cNvGraphicFramePr/>
          <p:nvPr/>
        </p:nvGraphicFramePr>
        <p:xfrm>
          <a:off xmlns:a="http://schemas.openxmlformats.org/drawingml/2006/main" x="3749039" y="914400"/>
          <a:ext xmlns:a="http://schemas.openxmlformats.org/drawingml/2006/main" cx="3429000" cy="4352544"/>
        </p:xfrm>
        <a:graphic xmlns:a="http://schemas.openxmlformats.org/drawingml/2006/main">
          <a:graphicData uri="http://schemas.openxmlformats.org/drawingml/2006/table">
            <a:tbl>
              <a:tblPr firstRow="1" bandRow="1">
                <a:tableStyleId>{5C22544A-7EE6-4342-B048-85BDC9FD1C3A}</a:tableStyleId>
              </a:tblPr>
              <a:tblGrid>
                <a:gridCol w="1847088"/>
                <a:gridCol w="1581912"/>
              </a:tblGrid>
              <a:tr h="544068">
                <a:tc>
                  <a:txBody>
                    <a:bodyPr/>
                    <a:lstStyle/>
                    <a:p>
                      <a:pPr algn="l">
                        <a:buNone/>
                      </a:pPr>
                      <a:r>
                        <a:rPr sz="1300" b="1">
                          <a:solidFill>
                            <a:srgbClr val="FFFFFF"/>
                          </a:solidFill>
                          <a:latin typeface="Meiryo"/>
                          <a:ea typeface="Meiryo"/>
                          <a:cs typeface="Meiryo"/>
                        </a:rPr>
                        <a:t>途中で変えないもの</a:t>
                      </a:r>
                    </a:p>
                  </a:txBody>
                  <a:tcPr marL="73152" marR="73152" marT="36576" marB="36576" anchor="ctr">
                    <a:solidFill>
                      <a:srgbClr val="003667"/>
                    </a:solidFill>
                  </a:tcPr>
                </a:tc>
                <a:tc>
                  <a:txBody>
                    <a:bodyPr/>
                    <a:lstStyle/>
                    <a:p>
                      <a:pPr algn="ctr">
                        <a:buNone/>
                      </a:pPr>
                      <a:r>
                        <a:rPr sz="1300" b="1">
                          <a:solidFill>
                            <a:srgbClr val="FFFFFF"/>
                          </a:solidFill>
                          <a:latin typeface="Meiryo"/>
                          <a:ea typeface="Meiryo"/>
                          <a:cs typeface="Meiryo"/>
                        </a:rPr>
                        <a:t>理由</a:t>
                      </a:r>
                    </a:p>
                  </a:txBody>
                  <a:tcPr marL="73152" marR="73152" marT="36576" marB="36576" anchor="ctr">
                    <a:solidFill>
                      <a:srgbClr val="003667"/>
                    </a:solidFill>
                  </a:tcPr>
                </a:tc>
              </a:tr>
              <a:tr h="544068">
                <a:tc>
                  <a:txBody>
                    <a:bodyPr/>
                    <a:lstStyle/>
                    <a:p>
                      <a:pPr algn="l">
                        <a:buNone/>
                      </a:pPr>
                      <a:r>
                        <a:rPr sz="1180" b="1">
                          <a:solidFill>
                            <a:srgbClr val="191F24"/>
                          </a:solidFill>
                          <a:latin typeface="Meiryo"/>
                          <a:ea typeface="Meiryo"/>
                          <a:cs typeface="Meiryo"/>
                        </a:rPr>
                        <a:t>時刻表</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乗客サービスを守るため</a:t>
                      </a:r>
                    </a:p>
                  </a:txBody>
                  <a:tcPr marL="73152" marR="73152" marT="36576" marB="36576" anchor="ctr">
                    <a:solidFill>
                      <a:srgbClr val="FFFFFF"/>
                    </a:solidFill>
                  </a:tcPr>
                </a:tc>
              </a:tr>
              <a:tr h="544068">
                <a:tc>
                  <a:txBody>
                    <a:bodyPr/>
                    <a:lstStyle/>
                    <a:p>
                      <a:pPr algn="l">
                        <a:buNone/>
                      </a:pPr>
                      <a:r>
                        <a:rPr sz="1180" b="1">
                          <a:solidFill>
                            <a:srgbClr val="191F24"/>
                          </a:solidFill>
                          <a:latin typeface="Meiryo"/>
                          <a:ea typeface="Meiryo"/>
                          <a:cs typeface="Meiryo"/>
                        </a:rPr>
                        <a:t>担当車両</a:t>
                      </a:r>
                    </a:p>
                  </a:txBody>
                  <a:tcPr marL="73152" marR="73152" marT="36576" marB="36576" anchor="ctr">
                    <a:solidFill>
                      <a:srgbClr val="F2F4F6"/>
                    </a:solidFill>
                  </a:tcPr>
                </a:tc>
                <a:tc>
                  <a:txBody>
                    <a:bodyPr/>
                    <a:lstStyle/>
                    <a:p>
                      <a:pPr algn="ctr">
                        <a:buNone/>
                      </a:pPr>
                      <a:r>
                        <a:rPr sz="1180" b="0">
                          <a:solidFill>
                            <a:srgbClr val="191F24"/>
                          </a:solidFill>
                          <a:latin typeface="Meiryo"/>
                          <a:ea typeface="Meiryo"/>
                          <a:cs typeface="Meiryo"/>
                        </a:rPr>
                        <a:t>日中の急な入替えを避けるため</a:t>
                      </a:r>
                    </a:p>
                  </a:txBody>
                  <a:tcPr marL="73152" marR="73152" marT="36576" marB="36576" anchor="ctr">
                    <a:solidFill>
                      <a:srgbClr val="F2F4F6"/>
                    </a:solidFill>
                  </a:tcPr>
                </a:tc>
              </a:tr>
              <a:tr h="544068">
                <a:tc>
                  <a:txBody>
                    <a:bodyPr/>
                    <a:lstStyle/>
                    <a:p>
                      <a:pPr algn="l">
                        <a:buNone/>
                      </a:pPr>
                      <a:r>
                        <a:rPr sz="1180" b="1">
                          <a:solidFill>
                            <a:srgbClr val="191F24"/>
                          </a:solidFill>
                          <a:latin typeface="Meiryo"/>
                          <a:ea typeface="Meiryo"/>
                          <a:cs typeface="Meiryo"/>
                        </a:rPr>
                        <a:t>終了した運行</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二重に数えないため</a:t>
                      </a:r>
                    </a:p>
                  </a:txBody>
                  <a:tcPr marL="73152" marR="73152" marT="36576" marB="36576" anchor="ctr">
                    <a:solidFill>
                      <a:srgbClr val="FFFFFF"/>
                    </a:solidFill>
                  </a:tcPr>
                </a:tc>
              </a:tr>
              <a:tr h="544068">
                <a:tc>
                  <a:txBody>
                    <a:bodyPr/>
                    <a:lstStyle/>
                    <a:p>
                      <a:pPr algn="l">
                        <a:buNone/>
                      </a:pPr>
                      <a:r>
                        <a:rPr sz="1180" b="1">
                          <a:solidFill>
                            <a:srgbClr val="191F24"/>
                          </a:solidFill>
                          <a:latin typeface="Meiryo"/>
                          <a:ea typeface="Meiryo"/>
                          <a:cs typeface="Meiryo"/>
                        </a:rPr>
                        <a:t>終了した充電</a:t>
                      </a:r>
                    </a:p>
                  </a:txBody>
                  <a:tcPr marL="73152" marR="73152" marT="36576" marB="36576" anchor="ctr">
                    <a:solidFill>
                      <a:srgbClr val="F2F4F6"/>
                    </a:solidFill>
                  </a:tcPr>
                </a:tc>
                <a:tc>
                  <a:txBody>
                    <a:bodyPr/>
                    <a:lstStyle/>
                    <a:p>
                      <a:pPr algn="ctr">
                        <a:buNone/>
                      </a:pPr>
                      <a:r>
                        <a:rPr sz="1180" b="0">
                          <a:solidFill>
                            <a:srgbClr val="191F24"/>
                          </a:solidFill>
                          <a:latin typeface="Meiryo"/>
                          <a:ea typeface="Meiryo"/>
                          <a:cs typeface="Meiryo"/>
                        </a:rPr>
                        <a:t>費用と電池量を二重計上しないため</a:t>
                      </a:r>
                    </a:p>
                  </a:txBody>
                  <a:tcPr marL="73152" marR="73152" marT="36576" marB="36576" anchor="ctr">
                    <a:solidFill>
                      <a:srgbClr val="F2F4F6"/>
                    </a:solidFill>
                  </a:tcPr>
                </a:tc>
              </a:tr>
              <a:tr h="544068">
                <a:tc>
                  <a:txBody>
                    <a:bodyPr/>
                    <a:lstStyle/>
                    <a:p>
                      <a:pPr algn="l">
                        <a:buNone/>
                      </a:pPr>
                      <a:r>
                        <a:rPr sz="1180" b="1">
                          <a:solidFill>
                            <a:srgbClr val="191F24"/>
                          </a:solidFill>
                          <a:latin typeface="Meiryo"/>
                          <a:ea typeface="Meiryo"/>
                          <a:cs typeface="Meiryo"/>
                        </a:rPr>
                        <a:t>設備の台数</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現場の条件を変えないため</a:t>
                      </a:r>
                    </a:p>
                  </a:txBody>
                  <a:tcPr marL="73152" marR="73152" marT="36576" marB="36576" anchor="ctr">
                    <a:solidFill>
                      <a:srgbClr val="FFFFFF"/>
                    </a:solidFill>
                  </a:tcPr>
                </a:tc>
              </a:tr>
              <a:tr h="544068">
                <a:tc>
                  <a:txBody>
                    <a:bodyPr/>
                    <a:lstStyle/>
                    <a:p>
                      <a:pPr algn="l">
                        <a:buNone/>
                      </a:pPr>
                      <a:r>
                        <a:rPr sz="1180" b="1">
                          <a:solidFill>
                            <a:srgbClr val="191F24"/>
                          </a:solidFill>
                          <a:latin typeface="Meiryo"/>
                          <a:ea typeface="Meiryo"/>
                          <a:cs typeface="Meiryo"/>
                        </a:rPr>
                        <a:t>電池の安全範囲</a:t>
                      </a:r>
                    </a:p>
                  </a:txBody>
                  <a:tcPr marL="73152" marR="73152" marT="36576" marB="36576" anchor="ctr">
                    <a:solidFill>
                      <a:srgbClr val="F2F4F6"/>
                    </a:solidFill>
                  </a:tcPr>
                </a:tc>
                <a:tc>
                  <a:txBody>
                    <a:bodyPr/>
                    <a:lstStyle/>
                    <a:p>
                      <a:pPr algn="ctr">
                        <a:buNone/>
                      </a:pPr>
                      <a:r>
                        <a:rPr sz="1180" b="0">
                          <a:solidFill>
                            <a:srgbClr val="191F24"/>
                          </a:solidFill>
                          <a:latin typeface="Meiryo"/>
                          <a:ea typeface="Meiryo"/>
                          <a:cs typeface="Meiryo"/>
                        </a:rPr>
                        <a:t>故障や運休を防ぐため</a:t>
                      </a:r>
                    </a:p>
                  </a:txBody>
                  <a:tcPr marL="73152" marR="73152" marT="36576" marB="36576" anchor="ctr">
                    <a:solidFill>
                      <a:srgbClr val="F2F4F6"/>
                    </a:solidFill>
                  </a:tcPr>
                </a:tc>
              </a:tr>
              <a:tr h="544068">
                <a:tc>
                  <a:txBody>
                    <a:bodyPr/>
                    <a:lstStyle/>
                    <a:p>
                      <a:pPr algn="l">
                        <a:buNone/>
                      </a:pPr>
                      <a:r>
                        <a:rPr sz="1180" b="1">
                          <a:solidFill>
                            <a:srgbClr val="191F24"/>
                          </a:solidFill>
                          <a:latin typeface="Meiryo"/>
                          <a:ea typeface="Meiryo"/>
                          <a:cs typeface="Meiryo"/>
                        </a:rPr>
                        <a:t>一日の終了時刻</a:t>
                      </a:r>
                    </a:p>
                  </a:txBody>
                  <a:tcPr marL="73152" marR="73152" marT="36576" marB="36576" anchor="ctr">
                    <a:solidFill>
                      <a:srgbClr val="FFFFFF"/>
                    </a:solidFill>
                  </a:tcPr>
                </a:tc>
                <a:tc>
                  <a:txBody>
                    <a:bodyPr/>
                    <a:lstStyle/>
                    <a:p>
                      <a:pPr algn="ctr">
                        <a:buNone/>
                      </a:pPr>
                      <a:r>
                        <a:rPr sz="1180" b="0">
                          <a:solidFill>
                            <a:srgbClr val="191F24"/>
                          </a:solidFill>
                          <a:latin typeface="Meiryo"/>
                          <a:ea typeface="Meiryo"/>
                          <a:cs typeface="Meiryo"/>
                        </a:rPr>
                        <a:t>同じ評価範囲を保つため</a:t>
                      </a:r>
                    </a:p>
                  </a:txBody>
                  <a:tcPr marL="73152" marR="73152" marT="36576" marB="36576" anchor="ctr">
                    <a:solidFill>
                      <a:srgbClr val="FFFFFF"/>
                    </a:solidFill>
                  </a:tcPr>
                </a:tc>
              </a:tr>
            </a:tbl>
          </a:graphicData>
        </a:graphic>
      </p:graphicFrame>
      <p:sp>
        <p:nvSpPr>
          <p:cNvPr id="11" name="Rectangle 10">
            <a:extLst xmlns:a="http://schemas.openxmlformats.org/drawingml/2006/main">
              <a:ext uri="{FF2B5EF4-FFF2-40B4-BE49-F238E27FC236}">
                <a16:creationId xmlns:a16="http://schemas.microsoft.com/office/drawing/2014/main" id="{200A876D-F271-4989-8EA6-D6B510150CCF}"/>
              </a:ext>
            </a:extLst>
          </p:cNvPr>
          <p:cNvSpPr>
            <a:spLocks xmlns:a="http://schemas.openxmlformats.org/drawingml/2006/main" noGrp="1"/>
          </p:cNvSpPr>
          <p:nvPr/>
        </p:nvSpPr>
        <p:spPr>
          <a:xfrm xmlns:a="http://schemas.openxmlformats.org/drawingml/2006/main">
            <a:off x="7388352" y="914400"/>
            <a:ext cx="4361688" cy="4352544"/>
          </a:xfrm>
          <a:prstGeom xmlns:a="http://schemas.openxmlformats.org/drawingml/2006/main" prst="rect">
            <a:avLst/>
          </a:prstGeom>
          <a:solidFill xmlns:a="http://schemas.openxmlformats.org/drawingml/2006/main">
            <a:srgbClr val="FFFFFF"/>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D8F8C41E-945C-47BF-9E73-F2D4019150C3}"/>
              </a:ext>
            </a:extLst>
          </p:cNvPr>
          <p:cNvSpPr>
            <a:spLocks xmlns:a="http://schemas.openxmlformats.org/drawingml/2006/main" noGrp="1"/>
          </p:cNvSpPr>
          <p:nvPr/>
        </p:nvSpPr>
        <p:spPr>
          <a:xfrm xmlns:a="http://schemas.openxmlformats.org/drawingml/2006/main">
            <a:off x="7635240" y="1143000"/>
            <a:ext cx="3867912"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1時間ごとの動き</a:t>
            </a:r>
          </a:p>
        </p:txBody>
      </p:sp>
      <p:sp>
        <p:nvSpPr>
          <p:cNvPr id="13" name="TextBox 12">
            <a:extLst xmlns:a="http://schemas.openxmlformats.org/drawingml/2006/main">
              <a:ext uri="{FF2B5EF4-FFF2-40B4-BE49-F238E27FC236}">
                <a16:creationId xmlns:a16="http://schemas.microsoft.com/office/drawing/2014/main" id="{6E9A840D-E2CE-4485-82D0-A55036C55961}"/>
              </a:ext>
            </a:extLst>
          </p:cNvPr>
          <p:cNvSpPr>
            <a:spLocks xmlns:a="http://schemas.openxmlformats.org/drawingml/2006/main" noGrp="1"/>
          </p:cNvSpPr>
          <p:nvPr/>
        </p:nvSpPr>
        <p:spPr>
          <a:xfrm xmlns:a="http://schemas.openxmlformats.org/drawingml/2006/main">
            <a:off x="7708392" y="1682496"/>
            <a:ext cx="3712463" cy="8046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650" b="1">
                <a:solidFill>
                  <a:srgbClr val="191F24"/>
                </a:solidFill>
                <a:latin typeface="Meiryo"/>
                <a:ea typeface="Meiryo"/>
                <a:cs typeface="Meiryo"/>
              </a:defRPr>
            </a:pPr>
            <a:r>
              <a:t>残りの一日を計算し直す</a:t>
            </a:r>
          </a:p>
        </p:txBody>
      </p:sp>
      <p:sp>
        <p:nvSpPr>
          <p:cNvPr id="14" name="TextBox 13">
            <a:extLst xmlns:a="http://schemas.openxmlformats.org/drawingml/2006/main">
              <a:ext uri="{FF2B5EF4-FFF2-40B4-BE49-F238E27FC236}">
                <a16:creationId xmlns:a16="http://schemas.microsoft.com/office/drawing/2014/main" id="{0301AF3E-6D76-4D21-ABAF-0218328E838E}"/>
              </a:ext>
            </a:extLst>
          </p:cNvPr>
          <p:cNvSpPr>
            <a:spLocks xmlns:a="http://schemas.openxmlformats.org/drawingml/2006/main" noGrp="1"/>
          </p:cNvSpPr>
          <p:nvPr/>
        </p:nvSpPr>
        <p:spPr>
          <a:xfrm xmlns:a="http://schemas.openxmlformats.org/drawingml/2006/main">
            <a:off x="7699248" y="2761488"/>
            <a:ext cx="3694176" cy="2048256"/>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250" b="0">
                <a:solidFill>
                  <a:srgbClr val="191F24"/>
                </a:solidFill>
                <a:latin typeface="Meiryo"/>
                <a:ea typeface="Meiryo"/>
                <a:cs typeface="Meiryo"/>
              </a:defRPr>
            </a:pPr>
            <a:r>
              <a:t>次の1時間だけ実行し、また最新情報で見直す</a:t>
            </a:r>
          </a:p>
        </p:txBody>
      </p:sp>
      <p:sp>
        <p:nvSpPr>
          <p:cNvPr id="15" name="Rectangle 14">
            <a:extLst xmlns:a="http://schemas.openxmlformats.org/drawingml/2006/main">
              <a:ext uri="{FF2B5EF4-FFF2-40B4-BE49-F238E27FC236}">
                <a16:creationId xmlns:a16="http://schemas.microsoft.com/office/drawing/2014/main" id="{5EAFEC6C-244D-4957-A9DE-02CB7DAB437C}"/>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C799E5E5-EEC6-4463-82A3-FA46B33616A1}"/>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要点｜『1時間の最適化』とは、毎時間、残りの充電計画を更新して次の1時間だけ実行すること。</a:t>
            </a:r>
          </a:p>
        </p:txBody>
      </p:sp>
    </p:spTree>
    <p:extLst>
      <p:ext uri="{BB962C8B-B14F-4D97-AF65-F5344CB8AC3E}">
        <p14:creationId xmlns:p14="http://schemas.microsoft.com/office/powerpoint/2010/main" val="82235368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AC30043-CAF0-4CE7-8ABE-91E55CCC5883}"/>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対策① 失敗した計算を、正常な結果として見せない</a:t>
            </a:r>
          </a:p>
        </p:txBody>
      </p:sp>
      <p:sp>
        <p:nvSpPr>
          <p:cNvPr id="3" name="Connector 2">
            <a:extLst xmlns:a="http://schemas.openxmlformats.org/drawingml/2006/main">
              <a:ext uri="{FF2B5EF4-FFF2-40B4-BE49-F238E27FC236}">
                <a16:creationId xmlns:a16="http://schemas.microsoft.com/office/drawing/2014/main" id="{3B517108-358C-44AE-B59C-1496B92B7BA9}"/>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F3695080-4106-4D61-8BD8-220BE884F85A}"/>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E0E9F36D-4CE7-4E80-AA15-99A4F81646A9}"/>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DFAA732-4DBA-4EAA-A54C-A50965A4D35C}"/>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E4DD6B9E-0588-472B-80C4-DC17A8513D52}"/>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889E3423-5C81-4E91-A10B-23BC95C6ACC0}"/>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8/18</a:t>
            </a:r>
          </a:p>
        </p:txBody>
      </p:sp>
      <p:pic>
        <p:nvPicPr>
          <p:cNvPr id="24" name="Picture 8"/>
          <p:cNvPicPr>
            <a:picLocks xmlns:a="http://schemas.openxmlformats.org/drawingml/2006/main" noChangeAspect="1"/>
          </p:cNvPicPr>
          <p:nvPr/>
        </p:nvPicPr>
        <p:blipFill>
          <a:blip xmlns:r="http://schemas.openxmlformats.org/officeDocument/2006/relationships" xmlns:a="http://schemas.openxmlformats.org/drawingml/2006/main" r:embed="R8a525e63a8224c70"/>
          <a:stretch xmlns:a="http://schemas.openxmlformats.org/drawingml/2006/main">
            <a:fillRect l="0" t="0" r="0" b="0"/>
          </a:stretch>
        </p:blipFill>
        <p:spPr>
          <a:xfrm xmlns:a="http://schemas.openxmlformats.org/drawingml/2006/main" flipH="0" flipV="0">
            <a:off x="502920" y="841248"/>
            <a:ext cx="7818120" cy="452628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8EDFC32F-E569-482F-B315-E26E38188D14}"/>
              </a:ext>
            </a:extLst>
          </p:cNvPr>
          <p:cNvSpPr>
            <a:spLocks xmlns:a="http://schemas.openxmlformats.org/drawingml/2006/main" noGrp="1"/>
          </p:cNvSpPr>
          <p:nvPr/>
        </p:nvSpPr>
        <p:spPr>
          <a:xfrm xmlns:a="http://schemas.openxmlformats.org/drawingml/2006/main">
            <a:off x="8549640" y="1042415"/>
            <a:ext cx="3182112" cy="4041648"/>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419F0BE4-E9E4-4F37-9F16-CDECDCE618BD}"/>
              </a:ext>
            </a:extLst>
          </p:cNvPr>
          <p:cNvSpPr>
            <a:spLocks xmlns:a="http://schemas.openxmlformats.org/drawingml/2006/main" noGrp="1"/>
          </p:cNvSpPr>
          <p:nvPr/>
        </p:nvSpPr>
        <p:spPr>
          <a:xfrm xmlns:a="http://schemas.openxmlformats.org/drawingml/2006/main">
            <a:off x="8778240" y="1261872"/>
            <a:ext cx="2724912"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003667"/>
                </a:solidFill>
                <a:latin typeface="Meiryo"/>
                <a:ea typeface="Meiryo"/>
                <a:cs typeface="Meiryo"/>
              </a:defRPr>
            </a:pPr>
            <a:r>
              <a:t>見つかった問題</a:t>
            </a:r>
          </a:p>
        </p:txBody>
      </p:sp>
      <p:sp>
        <p:nvSpPr>
          <p:cNvPr id="12" name="TextBox 11">
            <a:extLst xmlns:a="http://schemas.openxmlformats.org/drawingml/2006/main">
              <a:ext uri="{FF2B5EF4-FFF2-40B4-BE49-F238E27FC236}">
                <a16:creationId xmlns:a16="http://schemas.microsoft.com/office/drawing/2014/main" id="{37C80248-E4DE-4D08-9A2A-DB8693FE3B9E}"/>
              </a:ext>
            </a:extLst>
          </p:cNvPr>
          <p:cNvSpPr>
            <a:spLocks xmlns:a="http://schemas.openxmlformats.org/drawingml/2006/main" noGrp="1"/>
          </p:cNvSpPr>
          <p:nvPr/>
        </p:nvSpPr>
        <p:spPr>
          <a:xfrm xmlns:a="http://schemas.openxmlformats.org/drawingml/2006/main">
            <a:off x="8805672" y="1783080"/>
            <a:ext cx="2670048" cy="23042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420">
                <a:solidFill>
                  <a:srgbClr val="191F24"/>
                </a:solidFill>
                <a:latin typeface="Meiryo"/>
                <a:ea typeface="Meiryo"/>
                <a:cs typeface="Meiryo"/>
              </a:defRPr>
            </a:pPr>
            <a:r>
              <a:t>正式判定：264便走れない</a:t>
            </a:r>
          </a:p>
          <a:p xmlns:a="http://schemas.openxmlformats.org/drawingml/2006/main">
            <a:pPr>
              <a:spcAft>
                <a:spcPts val="900"/>
              </a:spcAft>
              <a:buNone/>
              <a:defRPr sz="1420">
                <a:solidFill>
                  <a:srgbClr val="191F24"/>
                </a:solidFill>
                <a:latin typeface="Meiryo"/>
                <a:ea typeface="Meiryo"/>
                <a:cs typeface="Meiryo"/>
              </a:defRPr>
            </a:pPr>
            <a:r>
              <a:t>集計表示：0便</a:t>
            </a:r>
          </a:p>
          <a:p xmlns:a="http://schemas.openxmlformats.org/drawingml/2006/main">
            <a:pPr>
              <a:spcAft>
                <a:spcPts val="900"/>
              </a:spcAft>
              <a:buNone/>
              <a:defRPr sz="1420">
                <a:solidFill>
                  <a:srgbClr val="191F24"/>
                </a:solidFill>
                <a:latin typeface="Meiryo"/>
                <a:ea typeface="Meiryo"/>
                <a:cs typeface="Meiryo"/>
              </a:defRPr>
            </a:pPr>
            <a:r>
              <a:t>2回とも同じ食い違い</a:t>
            </a:r>
          </a:p>
        </p:txBody>
      </p:sp>
      <p:sp>
        <p:nvSpPr>
          <p:cNvPr id="13" name="TextBox 12">
            <a:extLst xmlns:a="http://schemas.openxmlformats.org/drawingml/2006/main">
              <a:ext uri="{FF2B5EF4-FFF2-40B4-BE49-F238E27FC236}">
                <a16:creationId xmlns:a16="http://schemas.microsoft.com/office/drawing/2014/main" id="{EDA87B21-9802-45EF-9DCB-8D67DA91D7AB}"/>
              </a:ext>
            </a:extLst>
          </p:cNvPr>
          <p:cNvSpPr>
            <a:spLocks xmlns:a="http://schemas.openxmlformats.org/drawingml/2006/main" noGrp="1"/>
          </p:cNvSpPr>
          <p:nvPr/>
        </p:nvSpPr>
        <p:spPr>
          <a:xfrm xmlns:a="http://schemas.openxmlformats.org/drawingml/2006/main">
            <a:off x="8805672" y="4160520"/>
            <a:ext cx="2670048" cy="6858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150" b="1">
                <a:solidFill>
                  <a:srgbClr val="C23737"/>
                </a:solidFill>
                <a:latin typeface="Meiryo"/>
                <a:ea typeface="Meiryo"/>
                <a:cs typeface="Meiryo"/>
              </a:defRPr>
            </a:pPr>
            <a:r>
              <a:t>走れない場合、費用を0円と表示せず『評価できない』とする。</a:t>
            </a:r>
          </a:p>
        </p:txBody>
      </p:sp>
      <p:sp>
        <p:nvSpPr>
          <p:cNvPr id="14" name="Rectangle 13">
            <a:extLst xmlns:a="http://schemas.openxmlformats.org/drawingml/2006/main">
              <a:ext uri="{FF2B5EF4-FFF2-40B4-BE49-F238E27FC236}">
                <a16:creationId xmlns:a16="http://schemas.microsoft.com/office/drawing/2014/main" id="{4B21C982-0B8F-4C41-A3DD-143344176FC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C0FC3602-0583-4271-A653-E510D1ECE5C4}"/>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要点｜正式判定を基準に、運行結果・費用・資料の表示をすべて同じ判定へそろえた。</a:t>
            </a:r>
          </a:p>
        </p:txBody>
      </p:sp>
    </p:spTree>
    <p:extLst>
      <p:ext uri="{BB962C8B-B14F-4D97-AF65-F5344CB8AC3E}">
        <p14:creationId xmlns:p14="http://schemas.microsoft.com/office/powerpoint/2010/main" val="17174075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0D88019-C57E-4327-BE32-71C86C2B2E86}"/>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対策② 候補を作った後、本当に走れるかを再確認する</a:t>
            </a:r>
          </a:p>
        </p:txBody>
      </p:sp>
      <p:sp>
        <p:nvSpPr>
          <p:cNvPr id="3" name="Connector 2">
            <a:extLst xmlns:a="http://schemas.openxmlformats.org/drawingml/2006/main">
              <a:ext uri="{FF2B5EF4-FFF2-40B4-BE49-F238E27FC236}">
                <a16:creationId xmlns:a16="http://schemas.microsoft.com/office/drawing/2014/main" id="{A1C41365-8767-4C1F-B959-38E1D0C00B2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5D03478C-CD28-47D6-862B-F630FFBDFD55}"/>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B3533B62-8987-410E-ADF7-17D8E97F986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A9B509A-857B-4BE9-BA11-6AB0966C4B2B}"/>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03E60EE0-FAC0-4CB9-BB80-79ACA08A48A0}"/>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038B5B7B-4E36-4318-B9AF-C12A70816F09}"/>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9/18</a:t>
            </a:r>
          </a:p>
        </p:txBody>
      </p:sp>
      <p:pic>
        <p:nvPicPr>
          <p:cNvPr id="24" name="Picture 8"/>
          <p:cNvPicPr>
            <a:picLocks xmlns:a="http://schemas.openxmlformats.org/drawingml/2006/main" noChangeAspect="1"/>
          </p:cNvPicPr>
          <p:nvPr/>
        </p:nvPicPr>
        <p:blipFill>
          <a:blip xmlns:r="http://schemas.openxmlformats.org/officeDocument/2006/relationships" xmlns:a="http://schemas.openxmlformats.org/drawingml/2006/main" r:embed="R7fd5c64388424fa6"/>
          <a:stretch xmlns:a="http://schemas.openxmlformats.org/drawingml/2006/main">
            <a:fillRect l="0" t="0" r="0" b="0"/>
          </a:stretch>
        </p:blipFill>
        <p:spPr>
          <a:xfrm xmlns:a="http://schemas.openxmlformats.org/drawingml/2006/main" flipH="0" flipV="0">
            <a:off x="457200" y="804672"/>
            <a:ext cx="877824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5D31206C-FB0E-4130-AE23-38DD6CD18D11}"/>
              </a:ext>
            </a:extLst>
          </p:cNvPr>
          <p:cNvSpPr>
            <a:spLocks xmlns:a="http://schemas.openxmlformats.org/drawingml/2006/main" noGrp="1"/>
          </p:cNvSpPr>
          <p:nvPr/>
        </p:nvSpPr>
        <p:spPr>
          <a:xfrm xmlns:a="http://schemas.openxmlformats.org/drawingml/2006/main">
            <a:off x="9464040" y="1051560"/>
            <a:ext cx="2267712" cy="429768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F2A4657F-DBAF-43D0-8424-4912231272E1}"/>
              </a:ext>
            </a:extLst>
          </p:cNvPr>
          <p:cNvSpPr>
            <a:spLocks xmlns:a="http://schemas.openxmlformats.org/drawingml/2006/main" noGrp="1"/>
          </p:cNvSpPr>
          <p:nvPr/>
        </p:nvSpPr>
        <p:spPr>
          <a:xfrm xmlns:a="http://schemas.openxmlformats.org/drawingml/2006/main">
            <a:off x="9665208" y="1261872"/>
            <a:ext cx="1865376" cy="332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読み方</a:t>
            </a:r>
          </a:p>
        </p:txBody>
      </p:sp>
      <p:sp>
        <p:nvSpPr>
          <p:cNvPr id="12" name="TextBox 11">
            <a:extLst xmlns:a="http://schemas.openxmlformats.org/drawingml/2006/main">
              <a:ext uri="{FF2B5EF4-FFF2-40B4-BE49-F238E27FC236}">
                <a16:creationId xmlns:a16="http://schemas.microsoft.com/office/drawing/2014/main" id="{76DF0D8B-90CD-4163-A0A3-F4F9C9087121}"/>
              </a:ext>
            </a:extLst>
          </p:cNvPr>
          <p:cNvSpPr>
            <a:spLocks xmlns:a="http://schemas.openxmlformats.org/drawingml/2006/main" noGrp="1"/>
          </p:cNvSpPr>
          <p:nvPr/>
        </p:nvSpPr>
        <p:spPr>
          <a:xfrm xmlns:a="http://schemas.openxmlformats.org/drawingml/2006/main">
            <a:off x="9674352" y="1773936"/>
            <a:ext cx="1828800" cy="1920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250">
                <a:solidFill>
                  <a:srgbClr val="191F24"/>
                </a:solidFill>
                <a:latin typeface="Meiryo"/>
                <a:ea typeface="Meiryo"/>
                <a:cs typeface="Meiryo"/>
              </a:defRPr>
            </a:pPr>
            <a:r>
              <a:t>候補づくり：264便</a:t>
            </a:r>
          </a:p>
          <a:p xmlns:a="http://schemas.openxmlformats.org/drawingml/2006/main">
            <a:pPr>
              <a:spcAft>
                <a:spcPts val="900"/>
              </a:spcAft>
              <a:buNone/>
              <a:defRPr sz="1250">
                <a:solidFill>
                  <a:srgbClr val="191F24"/>
                </a:solidFill>
                <a:latin typeface="Meiryo"/>
                <a:ea typeface="Meiryo"/>
                <a:cs typeface="Meiryo"/>
              </a:defRPr>
            </a:pPr>
            <a:r>
              <a:t>充電確認：成立せず</a:t>
            </a:r>
          </a:p>
          <a:p xmlns:a="http://schemas.openxmlformats.org/drawingml/2006/main">
            <a:pPr>
              <a:spcAft>
                <a:spcPts val="900"/>
              </a:spcAft>
              <a:buNone/>
              <a:defRPr sz="1250">
                <a:solidFill>
                  <a:srgbClr val="191F24"/>
                </a:solidFill>
                <a:latin typeface="Meiryo"/>
                <a:ea typeface="Meiryo"/>
                <a:cs typeface="Meiryo"/>
              </a:defRPr>
            </a:pPr>
            <a:r>
              <a:t>正式結果：0便</a:t>
            </a:r>
          </a:p>
        </p:txBody>
      </p:sp>
      <p:sp>
        <p:nvSpPr>
          <p:cNvPr id="13" name="TextBox 12">
            <a:extLst xmlns:a="http://schemas.openxmlformats.org/drawingml/2006/main">
              <a:ext uri="{FF2B5EF4-FFF2-40B4-BE49-F238E27FC236}">
                <a16:creationId xmlns:a16="http://schemas.microsoft.com/office/drawing/2014/main" id="{4B99FD37-D270-4B0D-954C-F9E6F43FA8B3}"/>
              </a:ext>
            </a:extLst>
          </p:cNvPr>
          <p:cNvSpPr>
            <a:spLocks xmlns:a="http://schemas.openxmlformats.org/drawingml/2006/main" noGrp="1"/>
          </p:cNvSpPr>
          <p:nvPr/>
        </p:nvSpPr>
        <p:spPr>
          <a:xfrm xmlns:a="http://schemas.openxmlformats.org/drawingml/2006/main">
            <a:off x="9674352" y="4160520"/>
            <a:ext cx="1828800" cy="6583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00" b="1">
                <a:solidFill>
                  <a:srgbClr val="003667"/>
                </a:solidFill>
                <a:latin typeface="Meiryo"/>
                <a:ea typeface="Meiryo"/>
                <a:cs typeface="Meiryo"/>
              </a:defRPr>
            </a:pPr>
            <a:r>
              <a:t>候補だけを、運行できた結果として使わない。</a:t>
            </a:r>
          </a:p>
        </p:txBody>
      </p:sp>
      <p:sp>
        <p:nvSpPr>
          <p:cNvPr id="14" name="Rectangle 13">
            <a:extLst xmlns:a="http://schemas.openxmlformats.org/drawingml/2006/main">
              <a:ext uri="{FF2B5EF4-FFF2-40B4-BE49-F238E27FC236}">
                <a16:creationId xmlns:a16="http://schemas.microsoft.com/office/drawing/2014/main" id="{CBF96F7B-3843-44F1-892B-28CC3C74531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10D3412-01AD-45EE-8690-D79BD66DD7E7}"/>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要点｜『便を割り当てられた』だけでは不十分。充電器と電池残量まで確認して初めて正式結果になる。</a:t>
            </a:r>
          </a:p>
        </p:txBody>
      </p:sp>
    </p:spTree>
    <p:extLst>
      <p:ext uri="{BB962C8B-B14F-4D97-AF65-F5344CB8AC3E}">
        <p14:creationId xmlns:p14="http://schemas.microsoft.com/office/powerpoint/2010/main" val="16665263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F6CEDDB-6510-4890-9C43-4B3A737BBCFB}"/>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対策③ 計算がどこまで絞り込めたかを表示する</a:t>
            </a:r>
          </a:p>
        </p:txBody>
      </p:sp>
      <p:sp>
        <p:nvSpPr>
          <p:cNvPr id="3" name="Connector 2">
            <a:extLst xmlns:a="http://schemas.openxmlformats.org/drawingml/2006/main">
              <a:ext uri="{FF2B5EF4-FFF2-40B4-BE49-F238E27FC236}">
                <a16:creationId xmlns:a16="http://schemas.microsoft.com/office/drawing/2014/main" id="{07FB484C-EA69-45EA-8639-6D1A51B00EB4}"/>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A913CF19-C126-42D1-AF93-5D15755610C0}"/>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186F45D5-E668-4878-B61D-8F99C3B8D64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F58C6D7C-CCF7-4D0D-9DC0-6B71B15AE2DA}"/>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1F900AF0-261B-4BC7-8B7F-5EE0D3D54A3A}"/>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46F07122-7C65-4E78-A8CE-41A46206818C}"/>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10/18</a:t>
            </a:r>
          </a:p>
        </p:txBody>
      </p:sp>
      <p:pic>
        <p:nvPicPr>
          <p:cNvPr id="31" name="Picture 8"/>
          <p:cNvPicPr>
            <a:picLocks xmlns:a="http://schemas.openxmlformats.org/drawingml/2006/main" noChangeAspect="1"/>
          </p:cNvPicPr>
          <p:nvPr/>
        </p:nvPicPr>
        <p:blipFill>
          <a:blip xmlns:r="http://schemas.openxmlformats.org/officeDocument/2006/relationships" xmlns:a="http://schemas.openxmlformats.org/drawingml/2006/main" r:embed="R6af577c9ac2549a1"/>
          <a:stretch xmlns:a="http://schemas.openxmlformats.org/drawingml/2006/main">
            <a:fillRect l="0" t="0" r="0" b="0"/>
          </a:stretch>
        </p:blipFill>
        <p:spPr>
          <a:xfrm xmlns:a="http://schemas.openxmlformats.org/drawingml/2006/main" flipH="0" flipV="0">
            <a:off x="502920" y="841248"/>
            <a:ext cx="8686800" cy="448056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730C04F3-8349-43FD-BE84-0D9378BA756D}"/>
              </a:ext>
            </a:extLst>
          </p:cNvPr>
          <p:cNvSpPr>
            <a:spLocks xmlns:a="http://schemas.openxmlformats.org/drawingml/2006/main" noGrp="1"/>
          </p:cNvSpPr>
          <p:nvPr/>
        </p:nvSpPr>
        <p:spPr>
          <a:xfrm xmlns:a="http://schemas.openxmlformats.org/drawingml/2006/main">
            <a:off x="9418320" y="1024128"/>
            <a:ext cx="2331720" cy="1325880"/>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5C3AA945-274C-4909-A577-1EE1805CF50F}"/>
              </a:ext>
            </a:extLst>
          </p:cNvPr>
          <p:cNvSpPr>
            <a:spLocks xmlns:a="http://schemas.openxmlformats.org/drawingml/2006/main" noGrp="1"/>
          </p:cNvSpPr>
          <p:nvPr/>
        </p:nvSpPr>
        <p:spPr>
          <a:xfrm xmlns:a="http://schemas.openxmlformats.org/drawingml/2006/main">
            <a:off x="9582912" y="1161288"/>
            <a:ext cx="2002536"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目標の残り幅</a:t>
            </a:r>
          </a:p>
        </p:txBody>
      </p:sp>
      <p:sp>
        <p:nvSpPr>
          <p:cNvPr id="12" name="TextBox 11">
            <a:extLst xmlns:a="http://schemas.openxmlformats.org/drawingml/2006/main">
              <a:ext uri="{FF2B5EF4-FFF2-40B4-BE49-F238E27FC236}">
                <a16:creationId xmlns:a16="http://schemas.microsoft.com/office/drawing/2014/main" id="{A677BF57-91CD-4037-966D-C4CFDCA64BA1}"/>
              </a:ext>
            </a:extLst>
          </p:cNvPr>
          <p:cNvSpPr>
            <a:spLocks xmlns:a="http://schemas.openxmlformats.org/drawingml/2006/main" noGrp="1"/>
          </p:cNvSpPr>
          <p:nvPr/>
        </p:nvSpPr>
        <p:spPr>
          <a:xfrm xmlns:a="http://schemas.openxmlformats.org/drawingml/2006/main">
            <a:off x="9582912" y="1499616"/>
            <a:ext cx="2002536"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10%</a:t>
            </a:r>
          </a:p>
        </p:txBody>
      </p:sp>
      <p:sp>
        <p:nvSpPr>
          <p:cNvPr id="13" name="TextBox 12">
            <a:extLst xmlns:a="http://schemas.openxmlformats.org/drawingml/2006/main">
              <a:ext uri="{FF2B5EF4-FFF2-40B4-BE49-F238E27FC236}">
                <a16:creationId xmlns:a16="http://schemas.microsoft.com/office/drawing/2014/main" id="{9B9D656F-534D-4165-B729-2875513B93A9}"/>
              </a:ext>
            </a:extLst>
          </p:cNvPr>
          <p:cNvSpPr>
            <a:spLocks xmlns:a="http://schemas.openxmlformats.org/drawingml/2006/main" noGrp="1"/>
          </p:cNvSpPr>
          <p:nvPr/>
        </p:nvSpPr>
        <p:spPr>
          <a:xfrm xmlns:a="http://schemas.openxmlformats.org/drawingml/2006/main">
            <a:off x="9582912" y="2084832"/>
            <a:ext cx="2002536"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目標値</a:t>
            </a:r>
          </a:p>
        </p:txBody>
      </p:sp>
      <p:sp>
        <p:nvSpPr>
          <p:cNvPr id="14" name="Rectangle 13">
            <a:extLst xmlns:a="http://schemas.openxmlformats.org/drawingml/2006/main">
              <a:ext uri="{FF2B5EF4-FFF2-40B4-BE49-F238E27FC236}">
                <a16:creationId xmlns:a16="http://schemas.microsoft.com/office/drawing/2014/main" id="{87C4917D-08C4-4502-A53B-B9E849CD93E4}"/>
              </a:ext>
            </a:extLst>
          </p:cNvPr>
          <p:cNvSpPr>
            <a:spLocks xmlns:a="http://schemas.openxmlformats.org/drawingml/2006/main" noGrp="1"/>
          </p:cNvSpPr>
          <p:nvPr/>
        </p:nvSpPr>
        <p:spPr>
          <a:xfrm xmlns:a="http://schemas.openxmlformats.org/drawingml/2006/main">
            <a:off x="9418320" y="2578608"/>
            <a:ext cx="2331720" cy="1325880"/>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B48C3428-75D8-411B-A3EA-DF3B0D0DAD92}"/>
              </a:ext>
            </a:extLst>
          </p:cNvPr>
          <p:cNvSpPr>
            <a:spLocks xmlns:a="http://schemas.openxmlformats.org/drawingml/2006/main" noGrp="1"/>
          </p:cNvSpPr>
          <p:nvPr/>
        </p:nvSpPr>
        <p:spPr>
          <a:xfrm xmlns:a="http://schemas.openxmlformats.org/drawingml/2006/main">
            <a:off x="9582912" y="2715768"/>
            <a:ext cx="2002536"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今回の残り幅</a:t>
            </a:r>
          </a:p>
        </p:txBody>
      </p:sp>
      <p:sp>
        <p:nvSpPr>
          <p:cNvPr id="16" name="TextBox 15">
            <a:extLst xmlns:a="http://schemas.openxmlformats.org/drawingml/2006/main">
              <a:ext uri="{FF2B5EF4-FFF2-40B4-BE49-F238E27FC236}">
                <a16:creationId xmlns:a16="http://schemas.microsoft.com/office/drawing/2014/main" id="{9E4ABF67-896F-4B76-9161-8DC75752FB88}"/>
              </a:ext>
            </a:extLst>
          </p:cNvPr>
          <p:cNvSpPr>
            <a:spLocks xmlns:a="http://schemas.openxmlformats.org/drawingml/2006/main" noGrp="1"/>
          </p:cNvSpPr>
          <p:nvPr/>
        </p:nvSpPr>
        <p:spPr>
          <a:xfrm xmlns:a="http://schemas.openxmlformats.org/drawingml/2006/main">
            <a:off x="9582912" y="3054096"/>
            <a:ext cx="2002536"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48.37%</a:t>
            </a:r>
          </a:p>
        </p:txBody>
      </p:sp>
      <p:sp>
        <p:nvSpPr>
          <p:cNvPr id="17" name="TextBox 16">
            <a:extLst xmlns:a="http://schemas.openxmlformats.org/drawingml/2006/main">
              <a:ext uri="{FF2B5EF4-FFF2-40B4-BE49-F238E27FC236}">
                <a16:creationId xmlns:a16="http://schemas.microsoft.com/office/drawing/2014/main" id="{7CBFA76C-A11D-4DD4-894A-818176BE9FE0}"/>
              </a:ext>
            </a:extLst>
          </p:cNvPr>
          <p:cNvSpPr>
            <a:spLocks xmlns:a="http://schemas.openxmlformats.org/drawingml/2006/main" noGrp="1"/>
          </p:cNvSpPr>
          <p:nvPr/>
        </p:nvSpPr>
        <p:spPr>
          <a:xfrm xmlns:a="http://schemas.openxmlformats.org/drawingml/2006/main">
            <a:off x="9582912" y="3639311"/>
            <a:ext cx="2002536"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2回とも同じ</a:t>
            </a:r>
          </a:p>
        </p:txBody>
      </p:sp>
      <p:sp>
        <p:nvSpPr>
          <p:cNvPr id="18" name="Rectangle 17">
            <a:extLst xmlns:a="http://schemas.openxmlformats.org/drawingml/2006/main">
              <a:ext uri="{FF2B5EF4-FFF2-40B4-BE49-F238E27FC236}">
                <a16:creationId xmlns:a16="http://schemas.microsoft.com/office/drawing/2014/main" id="{DEF1F974-D778-4E1A-8796-46445CF15622}"/>
              </a:ext>
            </a:extLst>
          </p:cNvPr>
          <p:cNvSpPr>
            <a:spLocks xmlns:a="http://schemas.openxmlformats.org/drawingml/2006/main" noGrp="1"/>
          </p:cNvSpPr>
          <p:nvPr/>
        </p:nvSpPr>
        <p:spPr>
          <a:xfrm xmlns:a="http://schemas.openxmlformats.org/drawingml/2006/main">
            <a:off x="9418320" y="4151376"/>
            <a:ext cx="2331720" cy="1078992"/>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6A7E9008-A041-4C0E-A115-CDFFAD3AA779}"/>
              </a:ext>
            </a:extLst>
          </p:cNvPr>
          <p:cNvSpPr>
            <a:spLocks xmlns:a="http://schemas.openxmlformats.org/drawingml/2006/main" noGrp="1"/>
          </p:cNvSpPr>
          <p:nvPr/>
        </p:nvSpPr>
        <p:spPr>
          <a:xfrm xmlns:a="http://schemas.openxmlformats.org/drawingml/2006/main">
            <a:off x="9601200" y="4315968"/>
            <a:ext cx="1965960"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00" b="1">
                <a:solidFill>
                  <a:srgbClr val="238E5E"/>
                </a:solidFill>
                <a:latin typeface="Meiryo"/>
                <a:ea typeface="Meiryo"/>
                <a:cs typeface="Meiryo"/>
              </a:defRPr>
            </a:pPr>
            <a:r>
              <a:t>計算時間</a:t>
            </a:r>
          </a:p>
        </p:txBody>
      </p:sp>
      <p:sp>
        <p:nvSpPr>
          <p:cNvPr id="20" name="TextBox 19">
            <a:extLst xmlns:a="http://schemas.openxmlformats.org/drawingml/2006/main">
              <a:ext uri="{FF2B5EF4-FFF2-40B4-BE49-F238E27FC236}">
                <a16:creationId xmlns:a16="http://schemas.microsoft.com/office/drawing/2014/main" id="{93325806-164F-4139-9724-46FFA966B42A}"/>
              </a:ext>
            </a:extLst>
          </p:cNvPr>
          <p:cNvSpPr>
            <a:spLocks xmlns:a="http://schemas.openxmlformats.org/drawingml/2006/main" noGrp="1"/>
          </p:cNvSpPr>
          <p:nvPr/>
        </p:nvSpPr>
        <p:spPr>
          <a:xfrm xmlns:a="http://schemas.openxmlformats.org/drawingml/2006/main">
            <a:off x="9582912" y="4645152"/>
            <a:ext cx="2002536"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600" b="1">
                <a:solidFill>
                  <a:srgbClr val="191F24"/>
                </a:solidFill>
                <a:latin typeface="Meiryo"/>
                <a:ea typeface="Meiryo"/>
                <a:cs typeface="Meiryo"/>
              </a:defRPr>
            </a:pPr>
            <a:r>
              <a:t>候補づくり 約750秒</a:t>
            </a:r>
          </a:p>
        </p:txBody>
      </p:sp>
      <p:sp>
        <p:nvSpPr>
          <p:cNvPr id="21" name="Rectangle 20">
            <a:extLst xmlns:a="http://schemas.openxmlformats.org/drawingml/2006/main">
              <a:ext uri="{FF2B5EF4-FFF2-40B4-BE49-F238E27FC236}">
                <a16:creationId xmlns:a16="http://schemas.microsoft.com/office/drawing/2014/main" id="{8CAE032A-A643-4982-8EC3-C9B5274B7F7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97F11ED0-3BB0-4701-8753-1C67882B3249}"/>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要点｜目標10%に対して48.37%残っており、『最もよい計画』まで絞れたとは言えない。</a:t>
            </a:r>
          </a:p>
        </p:txBody>
      </p:sp>
    </p:spTree>
    <p:extLst>
      <p:ext uri="{BB962C8B-B14F-4D97-AF65-F5344CB8AC3E}">
        <p14:creationId xmlns:p14="http://schemas.microsoft.com/office/powerpoint/2010/main" val="753917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1CC2F31-527B-481A-A812-A6FFFD11BE79}"/>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太陽光の条件は違うが、効果はまだ比べられない</a:t>
            </a:r>
          </a:p>
        </p:txBody>
      </p:sp>
      <p:sp>
        <p:nvSpPr>
          <p:cNvPr id="3" name="Connector 2">
            <a:extLst xmlns:a="http://schemas.openxmlformats.org/drawingml/2006/main">
              <a:ext uri="{FF2B5EF4-FFF2-40B4-BE49-F238E27FC236}">
                <a16:creationId xmlns:a16="http://schemas.microsoft.com/office/drawing/2014/main" id="{1AB9D6EC-1AD9-4B32-AD34-44F143311AE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5CAFD1BD-6AE2-44CA-97CC-21AFD555578A}"/>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FD5D49C5-8781-4F5E-9A48-04B598F990AE}"/>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D8AF37D-16D0-4992-B564-FB1182030C7B}"/>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AFAB8AA3-BE36-4B0E-B407-130D68ECB323}"/>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F7D854AC-08A1-48B5-A7CF-601B3AF75339}"/>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11/18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2bc803222334404e"/>
          <a:stretch xmlns:a="http://schemas.openxmlformats.org/drawingml/2006/main">
            <a:fillRect l="0" t="0" r="0" b="0"/>
          </a:stretch>
        </p:blipFill>
        <p:spPr>
          <a:xfrm xmlns:a="http://schemas.openxmlformats.org/drawingml/2006/main" flipH="0" flipV="0">
            <a:off x="438912" y="804672"/>
            <a:ext cx="873252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C47735B6-09C8-4ED7-A04F-72542DD2F9F6}"/>
              </a:ext>
            </a:extLst>
          </p:cNvPr>
          <p:cNvSpPr>
            <a:spLocks xmlns:a="http://schemas.openxmlformats.org/drawingml/2006/main" noGrp="1"/>
          </p:cNvSpPr>
          <p:nvPr/>
        </p:nvSpPr>
        <p:spPr>
          <a:xfrm xmlns:a="http://schemas.openxmlformats.org/drawingml/2006/main">
            <a:off x="9400032" y="1005840"/>
            <a:ext cx="2350008" cy="1417320"/>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397648D2-4BAC-4507-88B7-11AEECD8D7A4}"/>
              </a:ext>
            </a:extLst>
          </p:cNvPr>
          <p:cNvSpPr>
            <a:spLocks xmlns:a="http://schemas.openxmlformats.org/drawingml/2006/main" noGrp="1"/>
          </p:cNvSpPr>
          <p:nvPr/>
        </p:nvSpPr>
        <p:spPr>
          <a:xfrm xmlns:a="http://schemas.openxmlformats.org/drawingml/2006/main">
            <a:off x="9564624" y="114300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PV発電見込み高</a:t>
            </a:r>
          </a:p>
        </p:txBody>
      </p:sp>
      <p:sp>
        <p:nvSpPr>
          <p:cNvPr id="12" name="TextBox 11">
            <a:extLst xmlns:a="http://schemas.openxmlformats.org/drawingml/2006/main">
              <a:ext uri="{FF2B5EF4-FFF2-40B4-BE49-F238E27FC236}">
                <a16:creationId xmlns:a16="http://schemas.microsoft.com/office/drawing/2014/main" id="{8A5ABF96-F2CC-4D41-8F8C-9E1295AEC8B8}"/>
              </a:ext>
            </a:extLst>
          </p:cNvPr>
          <p:cNvSpPr>
            <a:spLocks xmlns:a="http://schemas.openxmlformats.org/drawingml/2006/main" noGrp="1"/>
          </p:cNvSpPr>
          <p:nvPr/>
        </p:nvSpPr>
        <p:spPr>
          <a:xfrm xmlns:a="http://schemas.openxmlformats.org/drawingml/2006/main">
            <a:off x="9564624" y="148132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614.7</a:t>
            </a:r>
          </a:p>
        </p:txBody>
      </p:sp>
      <p:sp>
        <p:nvSpPr>
          <p:cNvPr id="13" name="TextBox 12">
            <a:extLst xmlns:a="http://schemas.openxmlformats.org/drawingml/2006/main">
              <a:ext uri="{FF2B5EF4-FFF2-40B4-BE49-F238E27FC236}">
                <a16:creationId xmlns:a16="http://schemas.microsoft.com/office/drawing/2014/main" id="{0C5AB149-8A6E-4B3C-B6D8-2C92F6F7610F}"/>
              </a:ext>
            </a:extLst>
          </p:cNvPr>
          <p:cNvSpPr>
            <a:spLocks xmlns:a="http://schemas.openxmlformats.org/drawingml/2006/main" noGrp="1"/>
          </p:cNvSpPr>
          <p:nvPr/>
        </p:nvSpPr>
        <p:spPr>
          <a:xfrm xmlns:a="http://schemas.openxmlformats.org/drawingml/2006/main">
            <a:off x="9564624" y="2066543"/>
            <a:ext cx="2020824"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kWh/日・最大81.3 kW</a:t>
            </a:r>
          </a:p>
        </p:txBody>
      </p:sp>
      <p:sp>
        <p:nvSpPr>
          <p:cNvPr id="14" name="Rectangle 13">
            <a:extLst xmlns:a="http://schemas.openxmlformats.org/drawingml/2006/main">
              <a:ext uri="{FF2B5EF4-FFF2-40B4-BE49-F238E27FC236}">
                <a16:creationId xmlns:a16="http://schemas.microsoft.com/office/drawing/2014/main" id="{327F02E1-2FDC-4830-92AE-0C4B50C44847}"/>
              </a:ext>
            </a:extLst>
          </p:cNvPr>
          <p:cNvSpPr>
            <a:spLocks xmlns:a="http://schemas.openxmlformats.org/drawingml/2006/main" noGrp="1"/>
          </p:cNvSpPr>
          <p:nvPr/>
        </p:nvSpPr>
        <p:spPr>
          <a:xfrm xmlns:a="http://schemas.openxmlformats.org/drawingml/2006/main">
            <a:off x="9400032" y="2697480"/>
            <a:ext cx="2350008" cy="1417320"/>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2123D027-1A08-4DB4-8F17-A9268560FE2A}"/>
              </a:ext>
            </a:extLst>
          </p:cNvPr>
          <p:cNvSpPr>
            <a:spLocks xmlns:a="http://schemas.openxmlformats.org/drawingml/2006/main" noGrp="1"/>
          </p:cNvSpPr>
          <p:nvPr/>
        </p:nvSpPr>
        <p:spPr>
          <a:xfrm xmlns:a="http://schemas.openxmlformats.org/drawingml/2006/main">
            <a:off x="9564624" y="283464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PV発電見込み低</a:t>
            </a:r>
          </a:p>
        </p:txBody>
      </p:sp>
      <p:sp>
        <p:nvSpPr>
          <p:cNvPr id="16" name="TextBox 15">
            <a:extLst xmlns:a="http://schemas.openxmlformats.org/drawingml/2006/main">
              <a:ext uri="{FF2B5EF4-FFF2-40B4-BE49-F238E27FC236}">
                <a16:creationId xmlns:a16="http://schemas.microsoft.com/office/drawing/2014/main" id="{21B7C548-08C7-460B-823B-14C1733C82DE}"/>
              </a:ext>
            </a:extLst>
          </p:cNvPr>
          <p:cNvSpPr>
            <a:spLocks xmlns:a="http://schemas.openxmlformats.org/drawingml/2006/main" noGrp="1"/>
          </p:cNvSpPr>
          <p:nvPr/>
        </p:nvSpPr>
        <p:spPr>
          <a:xfrm xmlns:a="http://schemas.openxmlformats.org/drawingml/2006/main">
            <a:off x="9564624" y="317296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101.1</a:t>
            </a:r>
          </a:p>
        </p:txBody>
      </p:sp>
      <p:sp>
        <p:nvSpPr>
          <p:cNvPr id="17" name="TextBox 16">
            <a:extLst xmlns:a="http://schemas.openxmlformats.org/drawingml/2006/main">
              <a:ext uri="{FF2B5EF4-FFF2-40B4-BE49-F238E27FC236}">
                <a16:creationId xmlns:a16="http://schemas.microsoft.com/office/drawing/2014/main" id="{365BF0A1-88CA-4DA6-AA66-95675F9AF6A8}"/>
              </a:ext>
            </a:extLst>
          </p:cNvPr>
          <p:cNvSpPr>
            <a:spLocks xmlns:a="http://schemas.openxmlformats.org/drawingml/2006/main" noGrp="1"/>
          </p:cNvSpPr>
          <p:nvPr/>
        </p:nvSpPr>
        <p:spPr>
          <a:xfrm xmlns:a="http://schemas.openxmlformats.org/drawingml/2006/main">
            <a:off x="9564624" y="3758184"/>
            <a:ext cx="2020824"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kWh/日・最大12.9 kW</a:t>
            </a:r>
          </a:p>
        </p:txBody>
      </p:sp>
      <p:sp>
        <p:nvSpPr>
          <p:cNvPr id="18" name="TextBox 17">
            <a:extLst xmlns:a="http://schemas.openxmlformats.org/drawingml/2006/main">
              <a:ext uri="{FF2B5EF4-FFF2-40B4-BE49-F238E27FC236}">
                <a16:creationId xmlns:a16="http://schemas.microsoft.com/office/drawing/2014/main" id="{88595EB5-A547-4A6B-B11C-354F86F49AAC}"/>
              </a:ext>
            </a:extLst>
          </p:cNvPr>
          <p:cNvSpPr>
            <a:spLocks xmlns:a="http://schemas.openxmlformats.org/drawingml/2006/main" noGrp="1"/>
          </p:cNvSpPr>
          <p:nvPr/>
        </p:nvSpPr>
        <p:spPr>
          <a:xfrm xmlns:a="http://schemas.openxmlformats.org/drawingml/2006/main">
            <a:off x="9473184" y="4480560"/>
            <a:ext cx="2185416"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400" b="1">
                <a:solidFill>
                  <a:srgbClr val="C23737"/>
                </a:solidFill>
                <a:latin typeface="Meiryo"/>
                <a:ea typeface="Meiryo"/>
                <a:cs typeface="Meiryo"/>
              </a:defRPr>
            </a:pPr>
            <a:r>
              <a:t>天候補正に必要な</a:t>
            </a:r>
          </a:p>
          <a:p xmlns:a="http://schemas.openxmlformats.org/drawingml/2006/main">
            <a:pPr algn="ctr">
              <a:buNone/>
              <a:defRPr sz="1400" b="1">
                <a:solidFill>
                  <a:srgbClr val="C23737"/>
                </a:solidFill>
                <a:latin typeface="Meiryo"/>
                <a:ea typeface="Meiryo"/>
                <a:cs typeface="Meiryo"/>
              </a:defRPr>
            </a:pPr>
            <a:r>
              <a:t>時間別データが不足</a:t>
            </a:r>
          </a:p>
        </p:txBody>
      </p:sp>
      <p:sp>
        <p:nvSpPr>
          <p:cNvPr id="19" name="Rectangle 18">
            <a:extLst xmlns:a="http://schemas.openxmlformats.org/drawingml/2006/main">
              <a:ext uri="{FF2B5EF4-FFF2-40B4-BE49-F238E27FC236}">
                <a16:creationId xmlns:a16="http://schemas.microsoft.com/office/drawing/2014/main" id="{08D27354-E30B-4619-9247-A652310646B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28423528-01B5-47A0-9B91-0AEEDC369144}"/>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要点｜示せるのは発電見込みの違いまで。バスや営業所蓄電池へ何kWh使えたかは未評価。</a:t>
            </a:r>
          </a:p>
        </p:txBody>
      </p:sp>
    </p:spTree>
    <p:extLst>
      <p:ext uri="{BB962C8B-B14F-4D97-AF65-F5344CB8AC3E}">
        <p14:creationId xmlns:p14="http://schemas.microsoft.com/office/powerpoint/2010/main" val="208181509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5E95D3C-2376-4E8E-9718-CEA42EEBA73F}"/>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対策④ 計算を速くするため、便のつなぎ候補を減らした</a:t>
            </a:r>
          </a:p>
        </p:txBody>
      </p:sp>
      <p:sp>
        <p:nvSpPr>
          <p:cNvPr id="3" name="Connector 2">
            <a:extLst xmlns:a="http://schemas.openxmlformats.org/drawingml/2006/main">
              <a:ext uri="{FF2B5EF4-FFF2-40B4-BE49-F238E27FC236}">
                <a16:creationId xmlns:a16="http://schemas.microsoft.com/office/drawing/2014/main" id="{20386761-859F-4D5A-983B-1908A10EE8BF}"/>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97114F78-8DCA-4C1D-8AEE-F0B3C903D7BC}"/>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3D6F6A4F-3468-4CEF-A1E0-657B6F42E228}"/>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23B7B50-2AA0-4C11-9D18-2AB1E8AFE913}"/>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B2D83646-8184-43B3-AE66-FD04376F518D}"/>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2E94FB57-B1CB-4327-A160-ED048587B4F9}"/>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12/18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a72a34409d5c42e2"/>
          <a:stretch xmlns:a="http://schemas.openxmlformats.org/drawingml/2006/main">
            <a:fillRect l="0" t="0" r="0" b="0"/>
          </a:stretch>
        </p:blipFill>
        <p:spPr>
          <a:xfrm xmlns:a="http://schemas.openxmlformats.org/drawingml/2006/main" flipH="0" flipV="0">
            <a:off x="457200" y="804672"/>
            <a:ext cx="873252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21D58734-3FE9-4F0B-ABAA-9A2E6413D354}"/>
              </a:ext>
            </a:extLst>
          </p:cNvPr>
          <p:cNvSpPr>
            <a:spLocks xmlns:a="http://schemas.openxmlformats.org/drawingml/2006/main" noGrp="1"/>
          </p:cNvSpPr>
          <p:nvPr/>
        </p:nvSpPr>
        <p:spPr>
          <a:xfrm xmlns:a="http://schemas.openxmlformats.org/drawingml/2006/main">
            <a:off x="9400032" y="1005840"/>
            <a:ext cx="2350008" cy="1572768"/>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C3B4350C-6A13-4C09-A334-99AC882B092A}"/>
              </a:ext>
            </a:extLst>
          </p:cNvPr>
          <p:cNvSpPr>
            <a:spLocks xmlns:a="http://schemas.openxmlformats.org/drawingml/2006/main" noGrp="1"/>
          </p:cNvSpPr>
          <p:nvPr/>
        </p:nvSpPr>
        <p:spPr>
          <a:xfrm xmlns:a="http://schemas.openxmlformats.org/drawingml/2006/main">
            <a:off x="9564624" y="114300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すべての候補</a:t>
            </a:r>
          </a:p>
        </p:txBody>
      </p:sp>
      <p:sp>
        <p:nvSpPr>
          <p:cNvPr id="12" name="TextBox 11">
            <a:extLst xmlns:a="http://schemas.openxmlformats.org/drawingml/2006/main">
              <a:ext uri="{FF2B5EF4-FFF2-40B4-BE49-F238E27FC236}">
                <a16:creationId xmlns:a16="http://schemas.microsoft.com/office/drawing/2014/main" id="{1FDEB4CC-60BE-4806-825C-051CDC8F3BF3}"/>
              </a:ext>
            </a:extLst>
          </p:cNvPr>
          <p:cNvSpPr>
            <a:spLocks xmlns:a="http://schemas.openxmlformats.org/drawingml/2006/main" noGrp="1"/>
          </p:cNvSpPr>
          <p:nvPr/>
        </p:nvSpPr>
        <p:spPr>
          <a:xfrm xmlns:a="http://schemas.openxmlformats.org/drawingml/2006/main">
            <a:off x="9564624" y="148132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678,600本</a:t>
            </a:r>
          </a:p>
        </p:txBody>
      </p:sp>
      <p:sp>
        <p:nvSpPr>
          <p:cNvPr id="13" name="TextBox 12">
            <a:extLst xmlns:a="http://schemas.openxmlformats.org/drawingml/2006/main">
              <a:ext uri="{FF2B5EF4-FFF2-40B4-BE49-F238E27FC236}">
                <a16:creationId xmlns:a16="http://schemas.microsoft.com/office/drawing/2014/main" id="{A0C9DF72-BA45-44E2-AA48-3E7632460E5C}"/>
              </a:ext>
            </a:extLst>
          </p:cNvPr>
          <p:cNvSpPr>
            <a:spLocks xmlns:a="http://schemas.openxmlformats.org/drawingml/2006/main" noGrp="1"/>
          </p:cNvSpPr>
          <p:nvPr/>
        </p:nvSpPr>
        <p:spPr>
          <a:xfrm xmlns:a="http://schemas.openxmlformats.org/drawingml/2006/main">
            <a:off x="9564624" y="2066543"/>
            <a:ext cx="2020824" cy="402335"/>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便から次の便への組合せ</a:t>
            </a:r>
          </a:p>
        </p:txBody>
      </p:sp>
      <p:sp>
        <p:nvSpPr>
          <p:cNvPr id="14" name="Rectangle 13">
            <a:extLst xmlns:a="http://schemas.openxmlformats.org/drawingml/2006/main">
              <a:ext uri="{FF2B5EF4-FFF2-40B4-BE49-F238E27FC236}">
                <a16:creationId xmlns:a16="http://schemas.microsoft.com/office/drawing/2014/main" id="{4B4846C0-5BC8-402A-820C-C0C3A614DA34}"/>
              </a:ext>
            </a:extLst>
          </p:cNvPr>
          <p:cNvSpPr>
            <a:spLocks xmlns:a="http://schemas.openxmlformats.org/drawingml/2006/main" noGrp="1"/>
          </p:cNvSpPr>
          <p:nvPr/>
        </p:nvSpPr>
        <p:spPr>
          <a:xfrm xmlns:a="http://schemas.openxmlformats.org/drawingml/2006/main">
            <a:off x="9400032" y="2889504"/>
            <a:ext cx="2350008" cy="1572768"/>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D12F9F0C-0A9E-43C9-A98A-F951F90247F8}"/>
              </a:ext>
            </a:extLst>
          </p:cNvPr>
          <p:cNvSpPr>
            <a:spLocks xmlns:a="http://schemas.openxmlformats.org/drawingml/2006/main" noGrp="1"/>
          </p:cNvSpPr>
          <p:nvPr/>
        </p:nvSpPr>
        <p:spPr>
          <a:xfrm xmlns:a="http://schemas.openxmlformats.org/drawingml/2006/main">
            <a:off x="9564624" y="3026664"/>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計算に残した候補</a:t>
            </a:r>
          </a:p>
        </p:txBody>
      </p:sp>
      <p:sp>
        <p:nvSpPr>
          <p:cNvPr id="16" name="TextBox 15">
            <a:extLst xmlns:a="http://schemas.openxmlformats.org/drawingml/2006/main">
              <a:ext uri="{FF2B5EF4-FFF2-40B4-BE49-F238E27FC236}">
                <a16:creationId xmlns:a16="http://schemas.microsoft.com/office/drawing/2014/main" id="{B365B639-F98C-4213-A82F-37F9118DBE35}"/>
              </a:ext>
            </a:extLst>
          </p:cNvPr>
          <p:cNvSpPr>
            <a:spLocks xmlns:a="http://schemas.openxmlformats.org/drawingml/2006/main" noGrp="1"/>
          </p:cNvSpPr>
          <p:nvPr/>
        </p:nvSpPr>
        <p:spPr>
          <a:xfrm xmlns:a="http://schemas.openxmlformats.org/drawingml/2006/main">
            <a:off x="9564624" y="3364992"/>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113,712本</a:t>
            </a:r>
          </a:p>
        </p:txBody>
      </p:sp>
      <p:sp>
        <p:nvSpPr>
          <p:cNvPr id="17" name="TextBox 16">
            <a:extLst xmlns:a="http://schemas.openxmlformats.org/drawingml/2006/main">
              <a:ext uri="{FF2B5EF4-FFF2-40B4-BE49-F238E27FC236}">
                <a16:creationId xmlns:a16="http://schemas.microsoft.com/office/drawing/2014/main" id="{13839B98-E2F2-4539-8A4A-EF75E29296DF}"/>
              </a:ext>
            </a:extLst>
          </p:cNvPr>
          <p:cNvSpPr>
            <a:spLocks xmlns:a="http://schemas.openxmlformats.org/drawingml/2006/main" noGrp="1"/>
          </p:cNvSpPr>
          <p:nvPr/>
        </p:nvSpPr>
        <p:spPr>
          <a:xfrm xmlns:a="http://schemas.openxmlformats.org/drawingml/2006/main">
            <a:off x="9564624" y="3950208"/>
            <a:ext cx="2020824" cy="4236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各便の次候補を最大8本に制限</a:t>
            </a:r>
          </a:p>
        </p:txBody>
      </p:sp>
      <p:sp>
        <p:nvSpPr>
          <p:cNvPr id="18" name="TextBox 17">
            <a:extLst xmlns:a="http://schemas.openxmlformats.org/drawingml/2006/main">
              <a:ext uri="{FF2B5EF4-FFF2-40B4-BE49-F238E27FC236}">
                <a16:creationId xmlns:a16="http://schemas.microsoft.com/office/drawing/2014/main" id="{3E3DD595-35A0-4DD0-A53A-E06EDC4716E4}"/>
              </a:ext>
            </a:extLst>
          </p:cNvPr>
          <p:cNvSpPr>
            <a:spLocks xmlns:a="http://schemas.openxmlformats.org/drawingml/2006/main" noGrp="1"/>
          </p:cNvSpPr>
          <p:nvPr/>
        </p:nvSpPr>
        <p:spPr>
          <a:xfrm xmlns:a="http://schemas.openxmlformats.org/drawingml/2006/main">
            <a:off x="9491472" y="4800600"/>
            <a:ext cx="2148840" cy="4541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238E5E"/>
                </a:solidFill>
                <a:latin typeface="Meiryo"/>
                <a:ea typeface="Meiryo"/>
                <a:cs typeface="Meiryo"/>
              </a:defRPr>
            </a:pPr>
            <a:r>
              <a:t>83.2%削減／元の計画にある12本は残した</a:t>
            </a:r>
          </a:p>
        </p:txBody>
      </p:sp>
      <p:sp>
        <p:nvSpPr>
          <p:cNvPr id="19" name="Rectangle 18">
            <a:extLst xmlns:a="http://schemas.openxmlformats.org/drawingml/2006/main">
              <a:ext uri="{FF2B5EF4-FFF2-40B4-BE49-F238E27FC236}">
                <a16:creationId xmlns:a16="http://schemas.microsoft.com/office/drawing/2014/main" id="{27DD7F78-34F6-4ACF-B1F3-976111223AD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FE72A756-206F-421B-B6E1-C1AC40F46D3A}"/>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要点｜速くなる一方、より良い組合せを消す可能性があるため、候補数を変えて結果を比較する。</a:t>
            </a:r>
          </a:p>
        </p:txBody>
      </p:sp>
    </p:spTree>
    <p:extLst>
      <p:ext uri="{BB962C8B-B14F-4D97-AF65-F5344CB8AC3E}">
        <p14:creationId xmlns:p14="http://schemas.microsoft.com/office/powerpoint/2010/main" val="6084264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BC7E564-58C1-4260-BDE1-B14114087C02}"/>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対策⑤ 結果の明細があるか確認する</a:t>
            </a:r>
          </a:p>
        </p:txBody>
      </p:sp>
      <p:sp>
        <p:nvSpPr>
          <p:cNvPr id="3" name="Connector 2">
            <a:extLst xmlns:a="http://schemas.openxmlformats.org/drawingml/2006/main">
              <a:ext uri="{FF2B5EF4-FFF2-40B4-BE49-F238E27FC236}">
                <a16:creationId xmlns:a16="http://schemas.microsoft.com/office/drawing/2014/main" id="{12AF6413-208A-4BB7-BBAB-1E70081264FD}"/>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7D49456A-5FA1-42C8-A979-AF2E7C61574B}"/>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F1E2A20E-7999-425E-A1EC-27E1D7470616}"/>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FAD582F-0690-4456-BDFD-0D70DB8C1BD5}"/>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F26688E6-FA95-49F6-AB7C-3D321F7241AE}"/>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1CB2FB21-6CB2-4D4C-A487-C370047F75D9}"/>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13/18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c86d8023ede9467a"/>
          <a:stretch xmlns:a="http://schemas.openxmlformats.org/drawingml/2006/main">
            <a:fillRect l="0" t="0" r="0" b="0"/>
          </a:stretch>
        </p:blipFill>
        <p:spPr>
          <a:xfrm xmlns:a="http://schemas.openxmlformats.org/drawingml/2006/main" flipH="0" flipV="0">
            <a:off x="457200" y="804672"/>
            <a:ext cx="8732520" cy="489204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6E8BBA3E-7F88-415C-9439-5E1511799B05}"/>
              </a:ext>
            </a:extLst>
          </p:cNvPr>
          <p:cNvSpPr>
            <a:spLocks xmlns:a="http://schemas.openxmlformats.org/drawingml/2006/main" noGrp="1"/>
          </p:cNvSpPr>
          <p:nvPr/>
        </p:nvSpPr>
        <p:spPr>
          <a:xfrm xmlns:a="http://schemas.openxmlformats.org/drawingml/2006/main">
            <a:off x="9400032" y="1005840"/>
            <a:ext cx="2350008" cy="1572768"/>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106FF817-3DD1-47B0-AD0E-78FE332DA520}"/>
              </a:ext>
            </a:extLst>
          </p:cNvPr>
          <p:cNvSpPr>
            <a:spLocks xmlns:a="http://schemas.openxmlformats.org/drawingml/2006/main" noGrp="1"/>
          </p:cNvSpPr>
          <p:nvPr/>
        </p:nvSpPr>
        <p:spPr>
          <a:xfrm xmlns:a="http://schemas.openxmlformats.org/drawingml/2006/main">
            <a:off x="9564624" y="1143000"/>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運行・充電の明細</a:t>
            </a:r>
          </a:p>
        </p:txBody>
      </p:sp>
      <p:sp>
        <p:nvSpPr>
          <p:cNvPr id="12" name="TextBox 11">
            <a:extLst xmlns:a="http://schemas.openxmlformats.org/drawingml/2006/main">
              <a:ext uri="{FF2B5EF4-FFF2-40B4-BE49-F238E27FC236}">
                <a16:creationId xmlns:a16="http://schemas.microsoft.com/office/drawing/2014/main" id="{39520456-D4B7-4A77-8D60-0B8A8B048E24}"/>
              </a:ext>
            </a:extLst>
          </p:cNvPr>
          <p:cNvSpPr>
            <a:spLocks xmlns:a="http://schemas.openxmlformats.org/drawingml/2006/main" noGrp="1"/>
          </p:cNvSpPr>
          <p:nvPr/>
        </p:nvSpPr>
        <p:spPr>
          <a:xfrm xmlns:a="http://schemas.openxmlformats.org/drawingml/2006/main">
            <a:off x="9564624" y="1481328"/>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0行</a:t>
            </a:r>
          </a:p>
        </p:txBody>
      </p:sp>
      <p:sp>
        <p:nvSpPr>
          <p:cNvPr id="13" name="TextBox 12">
            <a:extLst xmlns:a="http://schemas.openxmlformats.org/drawingml/2006/main">
              <a:ext uri="{FF2B5EF4-FFF2-40B4-BE49-F238E27FC236}">
                <a16:creationId xmlns:a16="http://schemas.microsoft.com/office/drawing/2014/main" id="{71F46586-9507-4DFD-9FF8-887FA78604F0}"/>
              </a:ext>
            </a:extLst>
          </p:cNvPr>
          <p:cNvSpPr>
            <a:spLocks xmlns:a="http://schemas.openxmlformats.org/drawingml/2006/main" noGrp="1"/>
          </p:cNvSpPr>
          <p:nvPr/>
        </p:nvSpPr>
        <p:spPr>
          <a:xfrm xmlns:a="http://schemas.openxmlformats.org/drawingml/2006/main">
            <a:off x="9564624" y="2066543"/>
            <a:ext cx="2020824" cy="4236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車両担当・充電・電池残量の記録なし</a:t>
            </a:r>
          </a:p>
        </p:txBody>
      </p:sp>
      <p:sp>
        <p:nvSpPr>
          <p:cNvPr id="14" name="Rectangle 13">
            <a:extLst xmlns:a="http://schemas.openxmlformats.org/drawingml/2006/main">
              <a:ext uri="{FF2B5EF4-FFF2-40B4-BE49-F238E27FC236}">
                <a16:creationId xmlns:a16="http://schemas.microsoft.com/office/drawing/2014/main" id="{D13CFF9C-F6BF-4891-850C-DD5570D2053C}"/>
              </a:ext>
            </a:extLst>
          </p:cNvPr>
          <p:cNvSpPr>
            <a:spLocks xmlns:a="http://schemas.openxmlformats.org/drawingml/2006/main" noGrp="1"/>
          </p:cNvSpPr>
          <p:nvPr/>
        </p:nvSpPr>
        <p:spPr>
          <a:xfrm xmlns:a="http://schemas.openxmlformats.org/drawingml/2006/main">
            <a:off x="9400032" y="2889504"/>
            <a:ext cx="2350008" cy="1572768"/>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23794F6-794A-4F4F-BAD6-2D5BDD5CF613}"/>
              </a:ext>
            </a:extLst>
          </p:cNvPr>
          <p:cNvSpPr>
            <a:spLocks xmlns:a="http://schemas.openxmlformats.org/drawingml/2006/main" noGrp="1"/>
          </p:cNvSpPr>
          <p:nvPr/>
        </p:nvSpPr>
        <p:spPr>
          <a:xfrm xmlns:a="http://schemas.openxmlformats.org/drawingml/2006/main">
            <a:off x="9564624" y="3026664"/>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入力／失敗の明細</a:t>
            </a:r>
          </a:p>
        </p:txBody>
      </p:sp>
      <p:sp>
        <p:nvSpPr>
          <p:cNvPr id="16" name="TextBox 15">
            <a:extLst xmlns:a="http://schemas.openxmlformats.org/drawingml/2006/main">
              <a:ext uri="{FF2B5EF4-FFF2-40B4-BE49-F238E27FC236}">
                <a16:creationId xmlns:a16="http://schemas.microsoft.com/office/drawing/2014/main" id="{6E6AE0AD-38BF-4E50-9655-6026D6B577F3}"/>
              </a:ext>
            </a:extLst>
          </p:cNvPr>
          <p:cNvSpPr>
            <a:spLocks xmlns:a="http://schemas.openxmlformats.org/drawingml/2006/main" noGrp="1"/>
          </p:cNvSpPr>
          <p:nvPr/>
        </p:nvSpPr>
        <p:spPr>
          <a:xfrm xmlns:a="http://schemas.openxmlformats.org/drawingml/2006/main">
            <a:off x="9564624" y="3364992"/>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24／264行</a:t>
            </a:r>
          </a:p>
        </p:txBody>
      </p:sp>
      <p:sp>
        <p:nvSpPr>
          <p:cNvPr id="17" name="TextBox 16">
            <a:extLst xmlns:a="http://schemas.openxmlformats.org/drawingml/2006/main">
              <a:ext uri="{FF2B5EF4-FFF2-40B4-BE49-F238E27FC236}">
                <a16:creationId xmlns:a16="http://schemas.microsoft.com/office/drawing/2014/main" id="{BF31D793-E823-4445-BF2C-E9BA8A99683C}"/>
              </a:ext>
            </a:extLst>
          </p:cNvPr>
          <p:cNvSpPr>
            <a:spLocks xmlns:a="http://schemas.openxmlformats.org/drawingml/2006/main" noGrp="1"/>
          </p:cNvSpPr>
          <p:nvPr/>
        </p:nvSpPr>
        <p:spPr>
          <a:xfrm xmlns:a="http://schemas.openxmlformats.org/drawingml/2006/main">
            <a:off x="9564624" y="3950208"/>
            <a:ext cx="2020824" cy="402335"/>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PV入力24・未充足便264</a:t>
            </a:r>
          </a:p>
        </p:txBody>
      </p:sp>
      <p:sp>
        <p:nvSpPr>
          <p:cNvPr id="18" name="TextBox 17">
            <a:extLst xmlns:a="http://schemas.openxmlformats.org/drawingml/2006/main">
              <a:ext uri="{FF2B5EF4-FFF2-40B4-BE49-F238E27FC236}">
                <a16:creationId xmlns:a16="http://schemas.microsoft.com/office/drawing/2014/main" id="{280BED92-6E21-4EBD-9DF2-5F94F66D827A}"/>
              </a:ext>
            </a:extLst>
          </p:cNvPr>
          <p:cNvSpPr>
            <a:spLocks xmlns:a="http://schemas.openxmlformats.org/drawingml/2006/main" noGrp="1"/>
          </p:cNvSpPr>
          <p:nvPr/>
        </p:nvSpPr>
        <p:spPr>
          <a:xfrm xmlns:a="http://schemas.openxmlformats.org/drawingml/2006/main">
            <a:off x="9464040" y="4736592"/>
            <a:ext cx="2212848" cy="5029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238E5E"/>
                </a:solidFill>
                <a:latin typeface="Meiryo"/>
                <a:ea typeface="Meiryo"/>
                <a:cs typeface="Meiryo"/>
              </a:defRPr>
            </a:pPr>
            <a:r>
              <a:t>2回とも同じ</a:t>
            </a:r>
          </a:p>
          <a:p xmlns:a="http://schemas.openxmlformats.org/drawingml/2006/main">
            <a:pPr algn="ctr">
              <a:buNone/>
              <a:defRPr sz="1250" b="1">
                <a:solidFill>
                  <a:srgbClr val="238E5E"/>
                </a:solidFill>
                <a:latin typeface="Meiryo"/>
                <a:ea typeface="Meiryo"/>
                <a:cs typeface="Meiryo"/>
              </a:defRPr>
            </a:pPr>
            <a:r>
              <a:t>運行の指標は作れない</a:t>
            </a:r>
          </a:p>
        </p:txBody>
      </p:sp>
      <p:sp>
        <p:nvSpPr>
          <p:cNvPr id="19" name="Rectangle 18">
            <a:extLst xmlns:a="http://schemas.openxmlformats.org/drawingml/2006/main">
              <a:ext uri="{FF2B5EF4-FFF2-40B4-BE49-F238E27FC236}">
                <a16:creationId xmlns:a16="http://schemas.microsoft.com/office/drawing/2014/main" id="{BD4CC8EB-FF97-4299-A33D-E1E0EAFBA49A}"/>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D3B1E466-C62C-4D7C-812D-74F61C1FAB95}"/>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要点｜明細0行は『実績が0』ではなく『結果が作られていない』。0円や0kWhへ置き換えない。</a:t>
            </a:r>
          </a:p>
        </p:txBody>
      </p:sp>
    </p:spTree>
    <p:extLst>
      <p:ext uri="{BB962C8B-B14F-4D97-AF65-F5344CB8AC3E}">
        <p14:creationId xmlns:p14="http://schemas.microsoft.com/office/powerpoint/2010/main" val="6298680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8751C3A-B3B6-4837-88EB-2083659448A7}"/>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先行研究のような図は、正式な結果がそろってから作る</a:t>
            </a:r>
          </a:p>
        </p:txBody>
      </p:sp>
      <p:sp>
        <p:nvSpPr>
          <p:cNvPr id="3" name="Connector 2">
            <a:extLst xmlns:a="http://schemas.openxmlformats.org/drawingml/2006/main">
              <a:ext uri="{FF2B5EF4-FFF2-40B4-BE49-F238E27FC236}">
                <a16:creationId xmlns:a16="http://schemas.microsoft.com/office/drawing/2014/main" id="{1DD1BF75-597B-499A-B229-64BDD498A165}"/>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193D0F6E-31FC-44E2-BBFA-D2E44D27C415}"/>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A3C4E118-6251-40C2-B34D-6D647AAB08D7}"/>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E4E6B2D-A2F2-4219-BA4A-07CA5D239383}"/>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BD43B88B-903F-4749-A2D7-88D2FE05E133}"/>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85C1C212-DE42-431D-8EFE-179782030917}"/>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14/18</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e7bc9bb6f7b34379"/>
          <a:stretch xmlns:a="http://schemas.openxmlformats.org/drawingml/2006/main">
            <a:fillRect l="0" t="0" r="0" b="0"/>
          </a:stretch>
        </p:blipFill>
        <p:spPr>
          <a:xfrm xmlns:a="http://schemas.openxmlformats.org/drawingml/2006/main" flipH="0" flipV="0">
            <a:off x="502920" y="868680"/>
            <a:ext cx="8641080" cy="438912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B16B5CEA-82C4-4962-93CF-FF904115AAAB}"/>
              </a:ext>
            </a:extLst>
          </p:cNvPr>
          <p:cNvSpPr>
            <a:spLocks xmlns:a="http://schemas.openxmlformats.org/drawingml/2006/main" noGrp="1"/>
          </p:cNvSpPr>
          <p:nvPr/>
        </p:nvSpPr>
        <p:spPr>
          <a:xfrm xmlns:a="http://schemas.openxmlformats.org/drawingml/2006/main">
            <a:off x="9400032" y="1024128"/>
            <a:ext cx="2350008" cy="1371600"/>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964C2FEE-C825-4ACC-B4CB-7F01F0239A54}"/>
              </a:ext>
            </a:extLst>
          </p:cNvPr>
          <p:cNvSpPr>
            <a:spLocks xmlns:a="http://schemas.openxmlformats.org/drawingml/2006/main" noGrp="1"/>
          </p:cNvSpPr>
          <p:nvPr/>
        </p:nvSpPr>
        <p:spPr>
          <a:xfrm xmlns:a="http://schemas.openxmlformats.org/drawingml/2006/main">
            <a:off x="9564624" y="1161288"/>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E99A23"/>
                </a:solidFill>
                <a:latin typeface="Meiryo"/>
                <a:ea typeface="Meiryo"/>
                <a:cs typeface="Meiryo"/>
              </a:defRPr>
            </a:pPr>
            <a:r>
              <a:t>今回載せられる確認図</a:t>
            </a:r>
          </a:p>
        </p:txBody>
      </p:sp>
      <p:sp>
        <p:nvSpPr>
          <p:cNvPr id="12" name="TextBox 11">
            <a:extLst xmlns:a="http://schemas.openxmlformats.org/drawingml/2006/main">
              <a:ext uri="{FF2B5EF4-FFF2-40B4-BE49-F238E27FC236}">
                <a16:creationId xmlns:a16="http://schemas.microsoft.com/office/drawing/2014/main" id="{19DB7A12-8BDF-484A-908B-127E2D819E5E}"/>
              </a:ext>
            </a:extLst>
          </p:cNvPr>
          <p:cNvSpPr>
            <a:spLocks xmlns:a="http://schemas.openxmlformats.org/drawingml/2006/main" noGrp="1"/>
          </p:cNvSpPr>
          <p:nvPr/>
        </p:nvSpPr>
        <p:spPr>
          <a:xfrm xmlns:a="http://schemas.openxmlformats.org/drawingml/2006/main">
            <a:off x="9564624" y="1499616"/>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3種類</a:t>
            </a:r>
          </a:p>
        </p:txBody>
      </p:sp>
      <p:sp>
        <p:nvSpPr>
          <p:cNvPr id="13" name="TextBox 12">
            <a:extLst xmlns:a="http://schemas.openxmlformats.org/drawingml/2006/main">
              <a:ext uri="{FF2B5EF4-FFF2-40B4-BE49-F238E27FC236}">
                <a16:creationId xmlns:a16="http://schemas.microsoft.com/office/drawing/2014/main" id="{9FFCD514-769C-4098-B51E-5DF73E8A730A}"/>
              </a:ext>
            </a:extLst>
          </p:cNvPr>
          <p:cNvSpPr>
            <a:spLocks xmlns:a="http://schemas.openxmlformats.org/drawingml/2006/main" noGrp="1"/>
          </p:cNvSpPr>
          <p:nvPr/>
        </p:nvSpPr>
        <p:spPr>
          <a:xfrm xmlns:a="http://schemas.openxmlformats.org/drawingml/2006/main">
            <a:off x="9564624" y="2084832"/>
            <a:ext cx="2020824" cy="2484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計算状況・便数・PV入力</a:t>
            </a:r>
          </a:p>
        </p:txBody>
      </p:sp>
      <p:sp>
        <p:nvSpPr>
          <p:cNvPr id="14" name="Rectangle 13">
            <a:extLst xmlns:a="http://schemas.openxmlformats.org/drawingml/2006/main">
              <a:ext uri="{FF2B5EF4-FFF2-40B4-BE49-F238E27FC236}">
                <a16:creationId xmlns:a16="http://schemas.microsoft.com/office/drawing/2014/main" id="{B28ACADA-AE22-40D9-A970-106742A6D96B}"/>
              </a:ext>
            </a:extLst>
          </p:cNvPr>
          <p:cNvSpPr>
            <a:spLocks xmlns:a="http://schemas.openxmlformats.org/drawingml/2006/main" noGrp="1"/>
          </p:cNvSpPr>
          <p:nvPr/>
        </p:nvSpPr>
        <p:spPr>
          <a:xfrm xmlns:a="http://schemas.openxmlformats.org/drawingml/2006/main">
            <a:off x="9400032" y="2670048"/>
            <a:ext cx="2350008" cy="1371600"/>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5BF14825-0312-42B3-A5C1-F1D4DE6A5EB6}"/>
              </a:ext>
            </a:extLst>
          </p:cNvPr>
          <p:cNvSpPr>
            <a:spLocks xmlns:a="http://schemas.openxmlformats.org/drawingml/2006/main" noGrp="1"/>
          </p:cNvSpPr>
          <p:nvPr/>
        </p:nvSpPr>
        <p:spPr>
          <a:xfrm xmlns:a="http://schemas.openxmlformats.org/drawingml/2006/main">
            <a:off x="9564624" y="2807208"/>
            <a:ext cx="202082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3F6DB4"/>
                </a:solidFill>
                <a:latin typeface="Meiryo"/>
                <a:ea typeface="Meiryo"/>
                <a:cs typeface="Meiryo"/>
              </a:defRPr>
            </a:pPr>
            <a:r>
              <a:t>まだ載せられない結果図</a:t>
            </a:r>
          </a:p>
        </p:txBody>
      </p:sp>
      <p:sp>
        <p:nvSpPr>
          <p:cNvPr id="16" name="TextBox 15">
            <a:extLst xmlns:a="http://schemas.openxmlformats.org/drawingml/2006/main">
              <a:ext uri="{FF2B5EF4-FFF2-40B4-BE49-F238E27FC236}">
                <a16:creationId xmlns:a16="http://schemas.microsoft.com/office/drawing/2014/main" id="{922CCC61-EAF8-40B6-A78A-6B81E87ECD94}"/>
              </a:ext>
            </a:extLst>
          </p:cNvPr>
          <p:cNvSpPr>
            <a:spLocks xmlns:a="http://schemas.openxmlformats.org/drawingml/2006/main" noGrp="1"/>
          </p:cNvSpPr>
          <p:nvPr/>
        </p:nvSpPr>
        <p:spPr>
          <a:xfrm xmlns:a="http://schemas.openxmlformats.org/drawingml/2006/main">
            <a:off x="9564624" y="3145536"/>
            <a:ext cx="202082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5種類</a:t>
            </a:r>
          </a:p>
        </p:txBody>
      </p:sp>
      <p:sp>
        <p:nvSpPr>
          <p:cNvPr id="17" name="TextBox 16">
            <a:extLst xmlns:a="http://schemas.openxmlformats.org/drawingml/2006/main">
              <a:ext uri="{FF2B5EF4-FFF2-40B4-BE49-F238E27FC236}">
                <a16:creationId xmlns:a16="http://schemas.microsoft.com/office/drawing/2014/main" id="{171679C4-577E-4840-AF72-A835B0643FA5}"/>
              </a:ext>
            </a:extLst>
          </p:cNvPr>
          <p:cNvSpPr>
            <a:spLocks xmlns:a="http://schemas.openxmlformats.org/drawingml/2006/main" noGrp="1"/>
          </p:cNvSpPr>
          <p:nvPr/>
        </p:nvSpPr>
        <p:spPr>
          <a:xfrm xmlns:a="http://schemas.openxmlformats.org/drawingml/2006/main">
            <a:off x="9564624" y="3730752"/>
            <a:ext cx="2020824" cy="4236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運行／電池残量／電力</a:t>
            </a:r>
          </a:p>
          <a:p xmlns:a="http://schemas.openxmlformats.org/drawingml/2006/main">
            <a:pPr algn="l">
              <a:buNone/>
              <a:defRPr sz="1150" b="0">
                <a:solidFill>
                  <a:srgbClr val="5C6670"/>
                </a:solidFill>
                <a:latin typeface="Meiryo"/>
                <a:ea typeface="Meiryo"/>
                <a:cs typeface="Meiryo"/>
              </a:defRPr>
            </a:pPr>
            <a:r>
              <a:t>費用／CO₂</a:t>
            </a:r>
          </a:p>
        </p:txBody>
      </p:sp>
      <p:sp>
        <p:nvSpPr>
          <p:cNvPr id="18" name="TextBox 17">
            <a:extLst xmlns:a="http://schemas.openxmlformats.org/drawingml/2006/main">
              <a:ext uri="{FF2B5EF4-FFF2-40B4-BE49-F238E27FC236}">
                <a16:creationId xmlns:a16="http://schemas.microsoft.com/office/drawing/2014/main" id="{A27B6A4D-BFE2-4468-8262-5C0D1E3D5C73}"/>
              </a:ext>
            </a:extLst>
          </p:cNvPr>
          <p:cNvSpPr>
            <a:spLocks xmlns:a="http://schemas.openxmlformats.org/drawingml/2006/main" noGrp="1"/>
          </p:cNvSpPr>
          <p:nvPr/>
        </p:nvSpPr>
        <p:spPr>
          <a:xfrm xmlns:a="http://schemas.openxmlformats.org/drawingml/2006/main">
            <a:off x="9528048" y="4352544"/>
            <a:ext cx="2084831"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400" b="1">
                <a:solidFill>
                  <a:srgbClr val="C23737"/>
                </a:solidFill>
                <a:latin typeface="Meiryo"/>
                <a:ea typeface="Meiryo"/>
                <a:cs typeface="Meiryo"/>
              </a:defRPr>
            </a:pPr>
            <a:r>
              <a:t>全便を走れる計画ができた後に</a:t>
            </a:r>
          </a:p>
          <a:p xmlns:a="http://schemas.openxmlformats.org/drawingml/2006/main">
            <a:pPr algn="ctr">
              <a:buNone/>
              <a:defRPr sz="1400" b="1">
                <a:solidFill>
                  <a:srgbClr val="C23737"/>
                </a:solidFill>
                <a:latin typeface="Meiryo"/>
                <a:ea typeface="Meiryo"/>
                <a:cs typeface="Meiryo"/>
              </a:defRPr>
            </a:pPr>
            <a:r>
              <a:t>明細を出して作成する</a:t>
            </a:r>
          </a:p>
        </p:txBody>
      </p:sp>
      <p:sp>
        <p:nvSpPr>
          <p:cNvPr id="19" name="Rectangle 18">
            <a:extLst xmlns:a="http://schemas.openxmlformats.org/drawingml/2006/main">
              <a:ext uri="{FF2B5EF4-FFF2-40B4-BE49-F238E27FC236}">
                <a16:creationId xmlns:a16="http://schemas.microsoft.com/office/drawing/2014/main" id="{7292710D-AD00-44B5-AAE2-F3D60622513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7111D86B-7209-4AC7-8338-EB2CCEEE271B}"/>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要点｜見栄えのよい図を先に作らず、車両・電池・電力の明細がそろった結果だけを図にする。</a:t>
            </a:r>
          </a:p>
        </p:txBody>
      </p:sp>
    </p:spTree>
    <p:extLst>
      <p:ext uri="{BB962C8B-B14F-4D97-AF65-F5344CB8AC3E}">
        <p14:creationId xmlns:p14="http://schemas.microsoft.com/office/powerpoint/2010/main" val="75526997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337FE6-4D07-4DB6-B442-CB1F37E889F9}"/>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7月17日の計算で分かったこと、まだ分からないこと</a:t>
            </a:r>
          </a:p>
        </p:txBody>
      </p:sp>
      <p:sp>
        <p:nvSpPr>
          <p:cNvPr id="3" name="Connector 2">
            <a:extLst xmlns:a="http://schemas.openxmlformats.org/drawingml/2006/main">
              <a:ext uri="{FF2B5EF4-FFF2-40B4-BE49-F238E27FC236}">
                <a16:creationId xmlns:a16="http://schemas.microsoft.com/office/drawing/2014/main" id="{90F0FBE7-2B9D-48F2-9FAD-6A7EA0C59852}"/>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3440E0B5-EF9A-43CC-8308-6397E68578F0}"/>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01765B54-A9F1-45F3-AB0C-108377EB5C13}"/>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2954A419-F82B-46F4-B73C-B4D5B1D59627}"/>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1DBB3B30-8426-40F9-B780-B2CFF5DCD00C}"/>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68BD1B69-F489-4E66-9CAE-853F02D513A5}"/>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15/18</a:t>
            </a:r>
          </a:p>
        </p:txBody>
      </p:sp>
      <p:sp>
        <p:nvSpPr>
          <p:cNvPr id="9" name="Rectangle 8">
            <a:extLst xmlns:a="http://schemas.openxmlformats.org/drawingml/2006/main">
              <a:ext uri="{FF2B5EF4-FFF2-40B4-BE49-F238E27FC236}">
                <a16:creationId xmlns:a16="http://schemas.microsoft.com/office/drawing/2014/main" id="{6F594D01-D648-47CA-B443-0B52AA2AA589}"/>
              </a:ext>
            </a:extLst>
          </p:cNvPr>
          <p:cNvSpPr>
            <a:spLocks xmlns:a="http://schemas.openxmlformats.org/drawingml/2006/main" noGrp="1"/>
          </p:cNvSpPr>
          <p:nvPr/>
        </p:nvSpPr>
        <p:spPr>
          <a:xfrm xmlns:a="http://schemas.openxmlformats.org/drawingml/2006/main">
            <a:off x="438912" y="960120"/>
            <a:ext cx="5440680" cy="4553712"/>
          </a:xfrm>
          <a:prstGeom xmlns:a="http://schemas.openxmlformats.org/drawingml/2006/main" prst="rect">
            <a:avLst/>
          </a:prstGeom>
          <a:solidFill xmlns:a="http://schemas.openxmlformats.org/drawingml/2006/main">
            <a:srgbClr val="FFFFFF"/>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780AE649-5525-4D87-B132-0423559F9336}"/>
              </a:ext>
            </a:extLst>
          </p:cNvPr>
          <p:cNvSpPr>
            <a:spLocks xmlns:a="http://schemas.openxmlformats.org/drawingml/2006/main" noGrp="1"/>
          </p:cNvSpPr>
          <p:nvPr/>
        </p:nvSpPr>
        <p:spPr>
          <a:xfrm xmlns:a="http://schemas.openxmlformats.org/drawingml/2006/main">
            <a:off x="603503" y="1051560"/>
            <a:ext cx="5102352"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E99A23"/>
                </a:solidFill>
                <a:latin typeface="Meiryo"/>
                <a:ea typeface="Meiryo"/>
                <a:cs typeface="Meiryo"/>
              </a:defRPr>
            </a:pPr>
            <a:r>
              <a:t>今回の計算から言えること</a:t>
            </a:r>
          </a:p>
        </p:txBody>
      </p:sp>
      <p:sp>
        <p:nvSpPr>
          <p:cNvPr id="11" name="Rectangle 10">
            <a:extLst xmlns:a="http://schemas.openxmlformats.org/drawingml/2006/main">
              <a:ext uri="{FF2B5EF4-FFF2-40B4-BE49-F238E27FC236}">
                <a16:creationId xmlns:a16="http://schemas.microsoft.com/office/drawing/2014/main" id="{59624A65-29F9-4DC2-9D28-64C4930EAB3F}"/>
              </a:ext>
            </a:extLst>
          </p:cNvPr>
          <p:cNvSpPr>
            <a:spLocks xmlns:a="http://schemas.openxmlformats.org/drawingml/2006/main" noGrp="1"/>
          </p:cNvSpPr>
          <p:nvPr/>
        </p:nvSpPr>
        <p:spPr>
          <a:xfrm xmlns:a="http://schemas.openxmlformats.org/drawingml/2006/main">
            <a:off x="667512" y="1554480"/>
            <a:ext cx="1234440" cy="621792"/>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6F4D07AB-6770-4F7B-9918-C7C3EA9F2C64}"/>
              </a:ext>
            </a:extLst>
          </p:cNvPr>
          <p:cNvSpPr>
            <a:spLocks xmlns:a="http://schemas.openxmlformats.org/drawingml/2006/main" noGrp="1"/>
          </p:cNvSpPr>
          <p:nvPr/>
        </p:nvSpPr>
        <p:spPr>
          <a:xfrm xmlns:a="http://schemas.openxmlformats.org/drawingml/2006/main">
            <a:off x="713232" y="1627632"/>
            <a:ext cx="1143000" cy="4693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300" b="1">
                <a:solidFill>
                  <a:srgbClr val="003667"/>
                </a:solidFill>
                <a:latin typeface="Meiryo"/>
                <a:ea typeface="Meiryo"/>
                <a:cs typeface="Meiryo"/>
              </a:defRPr>
            </a:pPr>
            <a:r>
              <a:t>確認した</a:t>
            </a:r>
          </a:p>
          <a:p xmlns:a="http://schemas.openxmlformats.org/drawingml/2006/main">
            <a:pPr algn="ctr">
              <a:buNone/>
              <a:defRPr sz="1300" b="1">
                <a:solidFill>
                  <a:srgbClr val="003667"/>
                </a:solidFill>
                <a:latin typeface="Meiryo"/>
                <a:ea typeface="Meiryo"/>
                <a:cs typeface="Meiryo"/>
              </a:defRPr>
            </a:pPr>
            <a:r>
              <a:t>2回</a:t>
            </a:r>
          </a:p>
        </p:txBody>
      </p:sp>
      <p:sp>
        <p:nvSpPr>
          <p:cNvPr id="13" name="TextBox 12">
            <a:extLst xmlns:a="http://schemas.openxmlformats.org/drawingml/2006/main">
              <a:ext uri="{FF2B5EF4-FFF2-40B4-BE49-F238E27FC236}">
                <a16:creationId xmlns:a16="http://schemas.microsoft.com/office/drawing/2014/main" id="{D4137D3C-8C11-47D2-A62E-1839A9DA23CE}"/>
              </a:ext>
            </a:extLst>
          </p:cNvPr>
          <p:cNvSpPr>
            <a:spLocks xmlns:a="http://schemas.openxmlformats.org/drawingml/2006/main" noGrp="1"/>
          </p:cNvSpPr>
          <p:nvPr/>
        </p:nvSpPr>
        <p:spPr>
          <a:xfrm xmlns:a="http://schemas.openxmlformats.org/drawingml/2006/main">
            <a:off x="1947672" y="1719072"/>
            <a:ext cx="310896" cy="3779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E99A23"/>
                </a:solidFill>
                <a:latin typeface="Meiryo"/>
                <a:ea typeface="Meiryo"/>
                <a:cs typeface="Meiryo"/>
              </a:defRPr>
            </a:pPr>
            <a:r>
              <a:t>→</a:t>
            </a:r>
          </a:p>
        </p:txBody>
      </p:sp>
      <p:sp>
        <p:nvSpPr>
          <p:cNvPr id="14" name="TextBox 13">
            <a:extLst xmlns:a="http://schemas.openxmlformats.org/drawingml/2006/main">
              <a:ext uri="{FF2B5EF4-FFF2-40B4-BE49-F238E27FC236}">
                <a16:creationId xmlns:a16="http://schemas.microsoft.com/office/drawing/2014/main" id="{8EB239D3-DF8B-4CF1-83DC-60898DBDD0D5}"/>
              </a:ext>
            </a:extLst>
          </p:cNvPr>
          <p:cNvSpPr>
            <a:spLocks xmlns:a="http://schemas.openxmlformats.org/drawingml/2006/main" noGrp="1"/>
          </p:cNvSpPr>
          <p:nvPr/>
        </p:nvSpPr>
        <p:spPr>
          <a:xfrm xmlns:a="http://schemas.openxmlformats.org/drawingml/2006/main">
            <a:off x="2286000" y="1517904"/>
            <a:ext cx="1572768"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250" b="1">
                <a:solidFill>
                  <a:srgbClr val="191F24"/>
                </a:solidFill>
                <a:latin typeface="Meiryo"/>
                <a:ea typeface="Meiryo"/>
                <a:cs typeface="Meiryo"/>
              </a:defRPr>
            </a:pPr>
            <a:r>
              <a:t>計算の成否</a:t>
            </a:r>
          </a:p>
          <a:p xmlns:a="http://schemas.openxmlformats.org/drawingml/2006/main">
            <a:pPr algn="l">
              <a:buNone/>
              <a:defRPr sz="1250" b="1">
                <a:solidFill>
                  <a:srgbClr val="191F24"/>
                </a:solidFill>
                <a:latin typeface="Meiryo"/>
                <a:ea typeface="Meiryo"/>
                <a:cs typeface="Meiryo"/>
              </a:defRPr>
            </a:pPr>
            <a:r>
              <a:t>PV入力／候補削減</a:t>
            </a:r>
          </a:p>
        </p:txBody>
      </p:sp>
      <p:sp>
        <p:nvSpPr>
          <p:cNvPr id="15" name="Rectangle 14">
            <a:extLst xmlns:a="http://schemas.openxmlformats.org/drawingml/2006/main">
              <a:ext uri="{FF2B5EF4-FFF2-40B4-BE49-F238E27FC236}">
                <a16:creationId xmlns:a16="http://schemas.microsoft.com/office/drawing/2014/main" id="{E54840AE-EF1A-4077-B371-AD5BAD60263A}"/>
              </a:ext>
            </a:extLst>
          </p:cNvPr>
          <p:cNvSpPr>
            <a:spLocks xmlns:a="http://schemas.openxmlformats.org/drawingml/2006/main" noGrp="1"/>
          </p:cNvSpPr>
          <p:nvPr/>
        </p:nvSpPr>
        <p:spPr>
          <a:xfrm xmlns:a="http://schemas.openxmlformats.org/drawingml/2006/main">
            <a:off x="4059935" y="1554480"/>
            <a:ext cx="1508760" cy="621792"/>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6B0A65E4-B799-4D2C-9413-84A5F7A07BE2}"/>
              </a:ext>
            </a:extLst>
          </p:cNvPr>
          <p:cNvSpPr>
            <a:spLocks xmlns:a="http://schemas.openxmlformats.org/drawingml/2006/main" noGrp="1"/>
          </p:cNvSpPr>
          <p:nvPr/>
        </p:nvSpPr>
        <p:spPr>
          <a:xfrm xmlns:a="http://schemas.openxmlformats.org/drawingml/2006/main">
            <a:off x="4133087" y="1627632"/>
            <a:ext cx="1371600" cy="6446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50" b="1">
                <a:solidFill>
                  <a:srgbClr val="003667"/>
                </a:solidFill>
                <a:latin typeface="Meiryo"/>
                <a:ea typeface="Meiryo"/>
                <a:cs typeface="Meiryo"/>
              </a:defRPr>
            </a:pPr>
            <a:r>
              <a:t>問題を見つける証拠</a:t>
            </a:r>
          </a:p>
          <a:p xmlns:a="http://schemas.openxmlformats.org/drawingml/2006/main">
            <a:pPr algn="ctr">
              <a:buNone/>
              <a:defRPr sz="1250" b="1">
                <a:solidFill>
                  <a:srgbClr val="003667"/>
                </a:solidFill>
                <a:latin typeface="Meiryo"/>
                <a:ea typeface="Meiryo"/>
                <a:cs typeface="Meiryo"/>
              </a:defRPr>
            </a:pPr>
            <a:r>
              <a:t>として使用</a:t>
            </a:r>
          </a:p>
        </p:txBody>
      </p:sp>
      <p:sp>
        <p:nvSpPr>
          <p:cNvPr id="17" name="Rectangle 16">
            <a:extLst xmlns:a="http://schemas.openxmlformats.org/drawingml/2006/main">
              <a:ext uri="{FF2B5EF4-FFF2-40B4-BE49-F238E27FC236}">
                <a16:creationId xmlns:a16="http://schemas.microsoft.com/office/drawing/2014/main" id="{6A27CE2B-8BAB-4860-8834-6E886DB368EB}"/>
              </a:ext>
            </a:extLst>
          </p:cNvPr>
          <p:cNvSpPr>
            <a:spLocks xmlns:a="http://schemas.openxmlformats.org/drawingml/2006/main" noGrp="1"/>
          </p:cNvSpPr>
          <p:nvPr/>
        </p:nvSpPr>
        <p:spPr>
          <a:xfrm xmlns:a="http://schemas.openxmlformats.org/drawingml/2006/main">
            <a:off x="667512" y="2487168"/>
            <a:ext cx="2103120" cy="1005840"/>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07EA3AF5-57AF-4FEE-B77D-F0FBDF19AA3F}"/>
              </a:ext>
            </a:extLst>
          </p:cNvPr>
          <p:cNvSpPr>
            <a:spLocks xmlns:a="http://schemas.openxmlformats.org/drawingml/2006/main" noGrp="1"/>
          </p:cNvSpPr>
          <p:nvPr/>
        </p:nvSpPr>
        <p:spPr>
          <a:xfrm xmlns:a="http://schemas.openxmlformats.org/drawingml/2006/main">
            <a:off x="786384" y="2660904"/>
            <a:ext cx="658368" cy="4998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400" b="1">
                <a:solidFill>
                  <a:srgbClr val="238E5E"/>
                </a:solidFill>
                <a:latin typeface="Meiryo"/>
                <a:ea typeface="Meiryo"/>
                <a:cs typeface="Meiryo"/>
              </a:defRPr>
            </a:pPr>
            <a:r>
              <a:t>確認結果</a:t>
            </a:r>
          </a:p>
        </p:txBody>
      </p:sp>
      <p:sp>
        <p:nvSpPr>
          <p:cNvPr id="19" name="TextBox 18">
            <a:extLst xmlns:a="http://schemas.openxmlformats.org/drawingml/2006/main">
              <a:ext uri="{FF2B5EF4-FFF2-40B4-BE49-F238E27FC236}">
                <a16:creationId xmlns:a16="http://schemas.microsoft.com/office/drawing/2014/main" id="{5330B466-B6BD-4748-BCE2-651727F68AB8}"/>
              </a:ext>
            </a:extLst>
          </p:cNvPr>
          <p:cNvSpPr>
            <a:spLocks xmlns:a="http://schemas.openxmlformats.org/drawingml/2006/main" noGrp="1"/>
          </p:cNvSpPr>
          <p:nvPr/>
        </p:nvSpPr>
        <p:spPr>
          <a:xfrm xmlns:a="http://schemas.openxmlformats.org/drawingml/2006/main">
            <a:off x="1517904" y="2551176"/>
            <a:ext cx="1124712" cy="713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1">
                <a:solidFill>
                  <a:srgbClr val="191F24"/>
                </a:solidFill>
                <a:latin typeface="Meiryo"/>
                <a:ea typeface="Meiryo"/>
                <a:cs typeface="Meiryo"/>
              </a:defRPr>
            </a:pPr>
            <a:r>
              <a:t>割当候補264便</a:t>
            </a:r>
          </a:p>
          <a:p xmlns:a="http://schemas.openxmlformats.org/drawingml/2006/main">
            <a:pPr algn="l">
              <a:buNone/>
              <a:defRPr sz="1150" b="1">
                <a:solidFill>
                  <a:srgbClr val="191F24"/>
                </a:solidFill>
                <a:latin typeface="Meiryo"/>
                <a:ea typeface="Meiryo"/>
                <a:cs typeface="Meiryo"/>
              </a:defRPr>
            </a:pPr>
            <a:r>
              <a:t>充電計画は成立せず</a:t>
            </a:r>
          </a:p>
        </p:txBody>
      </p:sp>
      <p:sp>
        <p:nvSpPr>
          <p:cNvPr id="20" name="TextBox 19">
            <a:extLst xmlns:a="http://schemas.openxmlformats.org/drawingml/2006/main">
              <a:ext uri="{FF2B5EF4-FFF2-40B4-BE49-F238E27FC236}">
                <a16:creationId xmlns:a16="http://schemas.microsoft.com/office/drawing/2014/main" id="{55FF720C-7800-4978-9B34-B53D0769FAC7}"/>
              </a:ext>
            </a:extLst>
          </p:cNvPr>
          <p:cNvSpPr>
            <a:spLocks xmlns:a="http://schemas.openxmlformats.org/drawingml/2006/main" noGrp="1"/>
          </p:cNvSpPr>
          <p:nvPr/>
        </p:nvSpPr>
        <p:spPr>
          <a:xfrm xmlns:a="http://schemas.openxmlformats.org/drawingml/2006/main">
            <a:off x="2834640" y="2816352"/>
            <a:ext cx="310896" cy="3779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E99A23"/>
                </a:solidFill>
                <a:latin typeface="Meiryo"/>
                <a:ea typeface="Meiryo"/>
                <a:cs typeface="Meiryo"/>
              </a:defRPr>
            </a:pPr>
            <a:r>
              <a:t>→</a:t>
            </a:r>
          </a:p>
        </p:txBody>
      </p:sp>
      <p:sp>
        <p:nvSpPr>
          <p:cNvPr id="21" name="Rectangle 20">
            <a:extLst xmlns:a="http://schemas.openxmlformats.org/drawingml/2006/main">
              <a:ext uri="{FF2B5EF4-FFF2-40B4-BE49-F238E27FC236}">
                <a16:creationId xmlns:a16="http://schemas.microsoft.com/office/drawing/2014/main" id="{883D8E3C-4663-4FE6-AACD-2143606C0467}"/>
              </a:ext>
            </a:extLst>
          </p:cNvPr>
          <p:cNvSpPr>
            <a:spLocks xmlns:a="http://schemas.openxmlformats.org/drawingml/2006/main" noGrp="1"/>
          </p:cNvSpPr>
          <p:nvPr/>
        </p:nvSpPr>
        <p:spPr>
          <a:xfrm xmlns:a="http://schemas.openxmlformats.org/drawingml/2006/main">
            <a:off x="3200400" y="2487168"/>
            <a:ext cx="2368296" cy="100584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462C8672-BD8C-41EB-9592-01C0E861ED6F}"/>
              </a:ext>
            </a:extLst>
          </p:cNvPr>
          <p:cNvSpPr>
            <a:spLocks xmlns:a="http://schemas.openxmlformats.org/drawingml/2006/main" noGrp="1"/>
          </p:cNvSpPr>
          <p:nvPr/>
        </p:nvSpPr>
        <p:spPr>
          <a:xfrm xmlns:a="http://schemas.openxmlformats.org/drawingml/2006/main">
            <a:off x="3291840" y="2560320"/>
            <a:ext cx="2176272"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00" b="1">
                <a:solidFill>
                  <a:srgbClr val="191F24"/>
                </a:solidFill>
                <a:latin typeface="Meiryo"/>
                <a:ea typeface="Meiryo"/>
                <a:cs typeface="Meiryo"/>
              </a:defRPr>
            </a:pPr>
            <a:r>
              <a:t>正式結果</a:t>
            </a:r>
          </a:p>
          <a:p xmlns:a="http://schemas.openxmlformats.org/drawingml/2006/main">
            <a:pPr algn="ctr">
              <a:buNone/>
              <a:defRPr sz="1200" b="1">
                <a:solidFill>
                  <a:srgbClr val="191F24"/>
                </a:solidFill>
                <a:latin typeface="Meiryo"/>
                <a:ea typeface="Meiryo"/>
                <a:cs typeface="Meiryo"/>
              </a:defRPr>
            </a:pPr>
            <a:r>
              <a:t>担当0便</a:t>
            </a:r>
          </a:p>
          <a:p xmlns:a="http://schemas.openxmlformats.org/drawingml/2006/main">
            <a:pPr algn="ctr">
              <a:buNone/>
              <a:defRPr sz="1200" b="1">
                <a:solidFill>
                  <a:srgbClr val="191F24"/>
                </a:solidFill>
                <a:latin typeface="Meiryo"/>
                <a:ea typeface="Meiryo"/>
                <a:cs typeface="Meiryo"/>
              </a:defRPr>
            </a:pPr>
            <a:r>
              <a:t>未担当264便</a:t>
            </a:r>
          </a:p>
        </p:txBody>
      </p:sp>
      <p:sp>
        <p:nvSpPr>
          <p:cNvPr id="23" name="TextBox 22">
            <a:extLst xmlns:a="http://schemas.openxmlformats.org/drawingml/2006/main">
              <a:ext uri="{FF2B5EF4-FFF2-40B4-BE49-F238E27FC236}">
                <a16:creationId xmlns:a16="http://schemas.microsoft.com/office/drawing/2014/main" id="{431A2960-C3E6-435E-A11F-5B25618591EF}"/>
              </a:ext>
            </a:extLst>
          </p:cNvPr>
          <p:cNvSpPr>
            <a:spLocks xmlns:a="http://schemas.openxmlformats.org/drawingml/2006/main" noGrp="1"/>
          </p:cNvSpPr>
          <p:nvPr/>
        </p:nvSpPr>
        <p:spPr>
          <a:xfrm xmlns:a="http://schemas.openxmlformats.org/drawingml/2006/main">
            <a:off x="694944" y="3776472"/>
            <a:ext cx="4882896"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003667"/>
                </a:solidFill>
                <a:latin typeface="Meiryo"/>
                <a:ea typeface="Meiryo"/>
                <a:cs typeface="Meiryo"/>
              </a:defRPr>
            </a:pPr>
            <a:r>
              <a:t>研究用の指標には使わない</a:t>
            </a:r>
          </a:p>
        </p:txBody>
      </p:sp>
      <p:sp>
        <p:nvSpPr>
          <p:cNvPr id="24" name="TextBox 23">
            <a:extLst xmlns:a="http://schemas.openxmlformats.org/drawingml/2006/main">
              <a:ext uri="{FF2B5EF4-FFF2-40B4-BE49-F238E27FC236}">
                <a16:creationId xmlns:a16="http://schemas.microsoft.com/office/drawing/2014/main" id="{CBA1C8C9-48AE-42B3-9605-93EC02BDFE01}"/>
              </a:ext>
            </a:extLst>
          </p:cNvPr>
          <p:cNvSpPr>
            <a:spLocks xmlns:a="http://schemas.openxmlformats.org/drawingml/2006/main" noGrp="1"/>
          </p:cNvSpPr>
          <p:nvPr/>
        </p:nvSpPr>
        <p:spPr>
          <a:xfrm xmlns:a="http://schemas.openxmlformats.org/drawingml/2006/main">
            <a:off x="923544" y="4297680"/>
            <a:ext cx="4425696" cy="6583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400" b="1">
                <a:solidFill>
                  <a:srgbClr val="238E5E"/>
                </a:solidFill>
                <a:latin typeface="Meiryo"/>
                <a:ea typeface="Meiryo"/>
                <a:cs typeface="Meiryo"/>
              </a:defRPr>
            </a:pPr>
            <a:r>
              <a:t>費用・電池残量・電力・CO₂は</a:t>
            </a:r>
          </a:p>
          <a:p xmlns:a="http://schemas.openxmlformats.org/drawingml/2006/main">
            <a:pPr algn="ctr">
              <a:buNone/>
              <a:defRPr sz="1400" b="1">
                <a:solidFill>
                  <a:srgbClr val="238E5E"/>
                </a:solidFill>
                <a:latin typeface="Meiryo"/>
                <a:ea typeface="Meiryo"/>
                <a:cs typeface="Meiryo"/>
              </a:defRPr>
            </a:pPr>
            <a:r>
              <a:t>まだ評価しない</a:t>
            </a:r>
          </a:p>
        </p:txBody>
      </p:sp>
      <p:sp>
        <p:nvSpPr>
          <p:cNvPr id="25" name="Rectangle 24">
            <a:extLst xmlns:a="http://schemas.openxmlformats.org/drawingml/2006/main">
              <a:ext uri="{FF2B5EF4-FFF2-40B4-BE49-F238E27FC236}">
                <a16:creationId xmlns:a16="http://schemas.microsoft.com/office/drawing/2014/main" id="{93DC6474-1EAC-458C-97B7-2750C90E00CC}"/>
              </a:ext>
            </a:extLst>
          </p:cNvPr>
          <p:cNvSpPr>
            <a:spLocks xmlns:a="http://schemas.openxmlformats.org/drawingml/2006/main" noGrp="1"/>
          </p:cNvSpPr>
          <p:nvPr/>
        </p:nvSpPr>
        <p:spPr>
          <a:xfrm xmlns:a="http://schemas.openxmlformats.org/drawingml/2006/main">
            <a:off x="6309360" y="960120"/>
            <a:ext cx="5440680" cy="4553712"/>
          </a:xfrm>
          <a:prstGeom xmlns:a="http://schemas.openxmlformats.org/drawingml/2006/main" prst="rect">
            <a:avLst/>
          </a:prstGeom>
          <a:solidFill xmlns:a="http://schemas.openxmlformats.org/drawingml/2006/main">
            <a:srgbClr val="FFFFFF"/>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TextBox 25">
            <a:extLst xmlns:a="http://schemas.openxmlformats.org/drawingml/2006/main">
              <a:ext uri="{FF2B5EF4-FFF2-40B4-BE49-F238E27FC236}">
                <a16:creationId xmlns:a16="http://schemas.microsoft.com/office/drawing/2014/main" id="{E13C32E5-AD0D-4FC8-AE0B-B41EC69AF994}"/>
              </a:ext>
            </a:extLst>
          </p:cNvPr>
          <p:cNvSpPr>
            <a:spLocks xmlns:a="http://schemas.openxmlformats.org/drawingml/2006/main" noGrp="1"/>
          </p:cNvSpPr>
          <p:nvPr/>
        </p:nvSpPr>
        <p:spPr>
          <a:xfrm xmlns:a="http://schemas.openxmlformats.org/drawingml/2006/main">
            <a:off x="6473952" y="1051560"/>
            <a:ext cx="5102352"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800" b="1">
                <a:solidFill>
                  <a:srgbClr val="3F6DB4"/>
                </a:solidFill>
                <a:latin typeface="Meiryo"/>
                <a:ea typeface="Meiryo"/>
                <a:cs typeface="Meiryo"/>
              </a:defRPr>
            </a:pPr>
            <a:r>
              <a:t>次の計算で確認すること</a:t>
            </a:r>
          </a:p>
        </p:txBody>
      </p:sp>
      <p:sp>
        <p:nvSpPr>
          <p:cNvPr id="27" name="Rectangle 26">
            <a:extLst xmlns:a="http://schemas.openxmlformats.org/drawingml/2006/main">
              <a:ext uri="{FF2B5EF4-FFF2-40B4-BE49-F238E27FC236}">
                <a16:creationId xmlns:a16="http://schemas.microsoft.com/office/drawing/2014/main" id="{59CE544A-38C2-405B-849A-65990DAD118A}"/>
              </a:ext>
            </a:extLst>
          </p:cNvPr>
          <p:cNvSpPr>
            <a:spLocks xmlns:a="http://schemas.openxmlformats.org/drawingml/2006/main" noGrp="1"/>
          </p:cNvSpPr>
          <p:nvPr/>
        </p:nvSpPr>
        <p:spPr>
          <a:xfrm xmlns:a="http://schemas.openxmlformats.org/drawingml/2006/main">
            <a:off x="6537960" y="1554480"/>
            <a:ext cx="1234440" cy="621792"/>
          </a:xfrm>
          <a:prstGeom xmlns:a="http://schemas.openxmlformats.org/drawingml/2006/main" prst="rect">
            <a:avLst/>
          </a:prstGeom>
          <a:solidFill xmlns:a="http://schemas.openxmlformats.org/drawingml/2006/main">
            <a:srgbClr val="E5EDF9"/>
          </a:solidFill>
          <a:ln xmlns:a="http://schemas.openxmlformats.org/drawingml/2006/main">
            <a:solidFill>
              <a:srgbClr val="3F6DB4"/>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B9BE1782-6DF6-4E73-8935-0A86A2A2AB32}"/>
              </a:ext>
            </a:extLst>
          </p:cNvPr>
          <p:cNvSpPr>
            <a:spLocks xmlns:a="http://schemas.openxmlformats.org/drawingml/2006/main" noGrp="1"/>
          </p:cNvSpPr>
          <p:nvPr/>
        </p:nvSpPr>
        <p:spPr>
          <a:xfrm xmlns:a="http://schemas.openxmlformats.org/drawingml/2006/main">
            <a:off x="6583680" y="1627632"/>
            <a:ext cx="1143000" cy="4693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300" b="1">
                <a:solidFill>
                  <a:srgbClr val="003667"/>
                </a:solidFill>
                <a:latin typeface="Meiryo"/>
                <a:ea typeface="Meiryo"/>
                <a:cs typeface="Meiryo"/>
              </a:defRPr>
            </a:pPr>
            <a:r>
              <a:t>採用条件</a:t>
            </a:r>
          </a:p>
          <a:p xmlns:a="http://schemas.openxmlformats.org/drawingml/2006/main">
            <a:pPr algn="ctr">
              <a:buNone/>
              <a:defRPr sz="1300" b="1">
                <a:solidFill>
                  <a:srgbClr val="003667"/>
                </a:solidFill>
                <a:latin typeface="Meiryo"/>
                <a:ea typeface="Meiryo"/>
                <a:cs typeface="Meiryo"/>
              </a:defRPr>
            </a:pPr>
            <a:r>
              <a:t>6項目</a:t>
            </a:r>
          </a:p>
        </p:txBody>
      </p:sp>
      <p:sp>
        <p:nvSpPr>
          <p:cNvPr id="29" name="TextBox 28">
            <a:extLst xmlns:a="http://schemas.openxmlformats.org/drawingml/2006/main">
              <a:ext uri="{FF2B5EF4-FFF2-40B4-BE49-F238E27FC236}">
                <a16:creationId xmlns:a16="http://schemas.microsoft.com/office/drawing/2014/main" id="{67B7682D-DB73-4D57-AE79-2A6C7A6386E8}"/>
              </a:ext>
            </a:extLst>
          </p:cNvPr>
          <p:cNvSpPr>
            <a:spLocks xmlns:a="http://schemas.openxmlformats.org/drawingml/2006/main" noGrp="1"/>
          </p:cNvSpPr>
          <p:nvPr/>
        </p:nvSpPr>
        <p:spPr>
          <a:xfrm xmlns:a="http://schemas.openxmlformats.org/drawingml/2006/main">
            <a:off x="7818120" y="1719072"/>
            <a:ext cx="310896" cy="3779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3F6DB4"/>
                </a:solidFill>
                <a:latin typeface="Meiryo"/>
                <a:ea typeface="Meiryo"/>
                <a:cs typeface="Meiryo"/>
              </a:defRPr>
            </a:pPr>
            <a:r>
              <a:t>→</a:t>
            </a:r>
          </a:p>
        </p:txBody>
      </p:sp>
      <p:sp>
        <p:nvSpPr>
          <p:cNvPr id="30" name="TextBox 29">
            <a:extLst xmlns:a="http://schemas.openxmlformats.org/drawingml/2006/main">
              <a:ext uri="{FF2B5EF4-FFF2-40B4-BE49-F238E27FC236}">
                <a16:creationId xmlns:a16="http://schemas.microsoft.com/office/drawing/2014/main" id="{DD277E41-DC02-4369-B855-77AAD17C2735}"/>
              </a:ext>
            </a:extLst>
          </p:cNvPr>
          <p:cNvSpPr>
            <a:spLocks xmlns:a="http://schemas.openxmlformats.org/drawingml/2006/main" noGrp="1"/>
          </p:cNvSpPr>
          <p:nvPr/>
        </p:nvSpPr>
        <p:spPr>
          <a:xfrm xmlns:a="http://schemas.openxmlformats.org/drawingml/2006/main">
            <a:off x="8156448" y="1517904"/>
            <a:ext cx="1572768"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250" b="1">
                <a:solidFill>
                  <a:srgbClr val="191F24"/>
                </a:solidFill>
                <a:latin typeface="Meiryo"/>
                <a:ea typeface="Meiryo"/>
                <a:cs typeface="Meiryo"/>
              </a:defRPr>
            </a:pPr>
            <a:r>
              <a:t>全便担当</a:t>
            </a:r>
          </a:p>
          <a:p xmlns:a="http://schemas.openxmlformats.org/drawingml/2006/main">
            <a:pPr algn="l">
              <a:buNone/>
              <a:defRPr sz="1250" b="1">
                <a:solidFill>
                  <a:srgbClr val="191F24"/>
                </a:solidFill>
                <a:latin typeface="Meiryo"/>
                <a:ea typeface="Meiryo"/>
                <a:cs typeface="Meiryo"/>
              </a:defRPr>
            </a:pPr>
            <a:r>
              <a:t>違反0</a:t>
            </a:r>
          </a:p>
          <a:p xmlns:a="http://schemas.openxmlformats.org/drawingml/2006/main">
            <a:pPr algn="l">
              <a:buNone/>
              <a:defRPr sz="1250" b="1">
                <a:solidFill>
                  <a:srgbClr val="191F24"/>
                </a:solidFill>
                <a:latin typeface="Meiryo"/>
                <a:ea typeface="Meiryo"/>
                <a:cs typeface="Meiryo"/>
              </a:defRPr>
            </a:pPr>
            <a:r>
              <a:t>表示一致</a:t>
            </a:r>
          </a:p>
        </p:txBody>
      </p:sp>
      <p:sp>
        <p:nvSpPr>
          <p:cNvPr id="31" name="Rectangle 30">
            <a:extLst xmlns:a="http://schemas.openxmlformats.org/drawingml/2006/main">
              <a:ext uri="{FF2B5EF4-FFF2-40B4-BE49-F238E27FC236}">
                <a16:creationId xmlns:a16="http://schemas.microsoft.com/office/drawing/2014/main" id="{CA6CEF28-6881-4993-8A01-545FCB74D052}"/>
              </a:ext>
            </a:extLst>
          </p:cNvPr>
          <p:cNvSpPr>
            <a:spLocks xmlns:a="http://schemas.openxmlformats.org/drawingml/2006/main" noGrp="1"/>
          </p:cNvSpPr>
          <p:nvPr/>
        </p:nvSpPr>
        <p:spPr>
          <a:xfrm xmlns:a="http://schemas.openxmlformats.org/drawingml/2006/main">
            <a:off x="9930384" y="1554480"/>
            <a:ext cx="1508760" cy="621792"/>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76E00AB9-21ED-416D-9C2C-D4A10FBFBFF7}"/>
              </a:ext>
            </a:extLst>
          </p:cNvPr>
          <p:cNvSpPr>
            <a:spLocks xmlns:a="http://schemas.openxmlformats.org/drawingml/2006/main" noGrp="1"/>
          </p:cNvSpPr>
          <p:nvPr/>
        </p:nvSpPr>
        <p:spPr>
          <a:xfrm xmlns:a="http://schemas.openxmlformats.org/drawingml/2006/main">
            <a:off x="10003536" y="1627632"/>
            <a:ext cx="1371600" cy="45720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50" b="1">
                <a:solidFill>
                  <a:srgbClr val="003667"/>
                </a:solidFill>
                <a:latin typeface="Meiryo"/>
                <a:ea typeface="Meiryo"/>
                <a:cs typeface="Meiryo"/>
              </a:defRPr>
            </a:pPr>
            <a:r>
              <a:t>正式な基準結果</a:t>
            </a:r>
          </a:p>
          <a:p xmlns:a="http://schemas.openxmlformats.org/drawingml/2006/main">
            <a:pPr algn="ctr">
              <a:buNone/>
              <a:defRPr sz="1250" b="1">
                <a:solidFill>
                  <a:srgbClr val="003667"/>
                </a:solidFill>
                <a:latin typeface="Meiryo"/>
                <a:ea typeface="Meiryo"/>
                <a:cs typeface="Meiryo"/>
              </a:defRPr>
            </a:pPr>
            <a:r>
              <a:t>として採用</a:t>
            </a:r>
          </a:p>
        </p:txBody>
      </p:sp>
      <p:sp>
        <p:nvSpPr>
          <p:cNvPr id="33" name="Rectangle 32">
            <a:extLst xmlns:a="http://schemas.openxmlformats.org/drawingml/2006/main">
              <a:ext uri="{FF2B5EF4-FFF2-40B4-BE49-F238E27FC236}">
                <a16:creationId xmlns:a16="http://schemas.microsoft.com/office/drawing/2014/main" id="{984F0C27-7571-4F26-A03F-03840DAFC49D}"/>
              </a:ext>
            </a:extLst>
          </p:cNvPr>
          <p:cNvSpPr>
            <a:spLocks xmlns:a="http://schemas.openxmlformats.org/drawingml/2006/main" noGrp="1"/>
          </p:cNvSpPr>
          <p:nvPr/>
        </p:nvSpPr>
        <p:spPr>
          <a:xfrm xmlns:a="http://schemas.openxmlformats.org/drawingml/2006/main">
            <a:off x="6537960" y="2487168"/>
            <a:ext cx="2103120" cy="1005840"/>
          </a:xfrm>
          <a:prstGeom xmlns:a="http://schemas.openxmlformats.org/drawingml/2006/main" prst="rect">
            <a:avLst/>
          </a:prstGeom>
          <a:solidFill xmlns:a="http://schemas.openxmlformats.org/drawingml/2006/main">
            <a:srgbClr val="E3F6ED"/>
          </a:solidFill>
          <a:ln xmlns:a="http://schemas.openxmlformats.org/drawingml/2006/main">
            <a:solidFill>
              <a:srgbClr val="238E5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TextBox 33">
            <a:extLst xmlns:a="http://schemas.openxmlformats.org/drawingml/2006/main">
              <a:ext uri="{FF2B5EF4-FFF2-40B4-BE49-F238E27FC236}">
                <a16:creationId xmlns:a16="http://schemas.microsoft.com/office/drawing/2014/main" id="{7A47B643-65D5-41A5-BBFE-FEB0070FA80B}"/>
              </a:ext>
            </a:extLst>
          </p:cNvPr>
          <p:cNvSpPr>
            <a:spLocks xmlns:a="http://schemas.openxmlformats.org/drawingml/2006/main" noGrp="1"/>
          </p:cNvSpPr>
          <p:nvPr/>
        </p:nvSpPr>
        <p:spPr>
          <a:xfrm xmlns:a="http://schemas.openxmlformats.org/drawingml/2006/main">
            <a:off x="6656832" y="2660904"/>
            <a:ext cx="658368" cy="4998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400" b="1">
                <a:solidFill>
                  <a:srgbClr val="238E5E"/>
                </a:solidFill>
                <a:latin typeface="Meiryo"/>
                <a:ea typeface="Meiryo"/>
                <a:cs typeface="Meiryo"/>
              </a:defRPr>
            </a:pPr>
            <a:r>
              <a:t>時間の細かさ</a:t>
            </a:r>
          </a:p>
        </p:txBody>
      </p:sp>
      <p:sp>
        <p:nvSpPr>
          <p:cNvPr id="35" name="TextBox 34">
            <a:extLst xmlns:a="http://schemas.openxmlformats.org/drawingml/2006/main">
              <a:ext uri="{FF2B5EF4-FFF2-40B4-BE49-F238E27FC236}">
                <a16:creationId xmlns:a16="http://schemas.microsoft.com/office/drawing/2014/main" id="{4F94B3AC-FA9B-44F3-8204-F6D0AA50FA56}"/>
              </a:ext>
            </a:extLst>
          </p:cNvPr>
          <p:cNvSpPr>
            <a:spLocks xmlns:a="http://schemas.openxmlformats.org/drawingml/2006/main" noGrp="1"/>
          </p:cNvSpPr>
          <p:nvPr/>
        </p:nvSpPr>
        <p:spPr>
          <a:xfrm xmlns:a="http://schemas.openxmlformats.org/drawingml/2006/main">
            <a:off x="7388352" y="2551176"/>
            <a:ext cx="1124712" cy="713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1">
                <a:solidFill>
                  <a:srgbClr val="191F24"/>
                </a:solidFill>
                <a:latin typeface="Meiryo"/>
                <a:ea typeface="Meiryo"/>
                <a:cs typeface="Meiryo"/>
              </a:defRPr>
            </a:pPr>
            <a:r>
              <a:t>15分を中心に</a:t>
            </a:r>
          </a:p>
          <a:p xmlns:a="http://schemas.openxmlformats.org/drawingml/2006/main">
            <a:pPr algn="l">
              <a:buNone/>
              <a:defRPr sz="1150" b="1">
                <a:solidFill>
                  <a:srgbClr val="191F24"/>
                </a:solidFill>
                <a:latin typeface="Meiryo"/>
                <a:ea typeface="Meiryo"/>
                <a:cs typeface="Meiryo"/>
              </a:defRPr>
            </a:pPr>
            <a:r>
              <a:t>30分・60分とも比較</a:t>
            </a:r>
          </a:p>
        </p:txBody>
      </p:sp>
      <p:sp>
        <p:nvSpPr>
          <p:cNvPr id="36" name="TextBox 35">
            <a:extLst xmlns:a="http://schemas.openxmlformats.org/drawingml/2006/main">
              <a:ext uri="{FF2B5EF4-FFF2-40B4-BE49-F238E27FC236}">
                <a16:creationId xmlns:a16="http://schemas.microsoft.com/office/drawing/2014/main" id="{A56B2A5C-663A-4022-80F0-3C8633C6DE92}"/>
              </a:ext>
            </a:extLst>
          </p:cNvPr>
          <p:cNvSpPr>
            <a:spLocks xmlns:a="http://schemas.openxmlformats.org/drawingml/2006/main" noGrp="1"/>
          </p:cNvSpPr>
          <p:nvPr/>
        </p:nvSpPr>
        <p:spPr>
          <a:xfrm xmlns:a="http://schemas.openxmlformats.org/drawingml/2006/main">
            <a:off x="8705088" y="2816352"/>
            <a:ext cx="310896" cy="3779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3F6DB4"/>
                </a:solidFill>
                <a:latin typeface="Meiryo"/>
                <a:ea typeface="Meiryo"/>
                <a:cs typeface="Meiryo"/>
              </a:defRPr>
            </a:pPr>
            <a:r>
              <a:t>→</a:t>
            </a:r>
          </a:p>
        </p:txBody>
      </p:sp>
      <p:sp>
        <p:nvSpPr>
          <p:cNvPr id="37" name="Rectangle 36">
            <a:extLst xmlns:a="http://schemas.openxmlformats.org/drawingml/2006/main">
              <a:ext uri="{FF2B5EF4-FFF2-40B4-BE49-F238E27FC236}">
                <a16:creationId xmlns:a16="http://schemas.microsoft.com/office/drawing/2014/main" id="{42FBCFC9-EA28-4474-8501-19B52BD26966}"/>
              </a:ext>
            </a:extLst>
          </p:cNvPr>
          <p:cNvSpPr>
            <a:spLocks xmlns:a="http://schemas.openxmlformats.org/drawingml/2006/main" noGrp="1"/>
          </p:cNvSpPr>
          <p:nvPr/>
        </p:nvSpPr>
        <p:spPr>
          <a:xfrm xmlns:a="http://schemas.openxmlformats.org/drawingml/2006/main">
            <a:off x="9070848" y="2487168"/>
            <a:ext cx="2368296" cy="100584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TextBox 37">
            <a:extLst xmlns:a="http://schemas.openxmlformats.org/drawingml/2006/main">
              <a:ext uri="{FF2B5EF4-FFF2-40B4-BE49-F238E27FC236}">
                <a16:creationId xmlns:a16="http://schemas.microsoft.com/office/drawing/2014/main" id="{55EB2A93-C5C6-491B-8407-0B47D315F40D}"/>
              </a:ext>
            </a:extLst>
          </p:cNvPr>
          <p:cNvSpPr>
            <a:spLocks xmlns:a="http://schemas.openxmlformats.org/drawingml/2006/main" noGrp="1"/>
          </p:cNvSpPr>
          <p:nvPr/>
        </p:nvSpPr>
        <p:spPr>
          <a:xfrm xmlns:a="http://schemas.openxmlformats.org/drawingml/2006/main">
            <a:off x="9162288" y="2560320"/>
            <a:ext cx="2176272" cy="74980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200" b="1">
                <a:solidFill>
                  <a:srgbClr val="191F24"/>
                </a:solidFill>
                <a:latin typeface="Meiryo"/>
                <a:ea typeface="Meiryo"/>
                <a:cs typeface="Meiryo"/>
              </a:defRPr>
            </a:pPr>
            <a:r>
              <a:t>比較実験</a:t>
            </a:r>
          </a:p>
          <a:p xmlns:a="http://schemas.openxmlformats.org/drawingml/2006/main">
            <a:pPr algn="ctr">
              <a:buNone/>
              <a:defRPr sz="1200" b="1">
                <a:solidFill>
                  <a:srgbClr val="191F24"/>
                </a:solidFill>
                <a:latin typeface="Meiryo"/>
                <a:ea typeface="Meiryo"/>
                <a:cs typeface="Meiryo"/>
              </a:defRPr>
            </a:pPr>
            <a:r>
              <a:t>天候差</a:t>
            </a:r>
          </a:p>
          <a:p xmlns:a="http://schemas.openxmlformats.org/drawingml/2006/main">
            <a:pPr algn="ctr">
              <a:buNone/>
              <a:defRPr sz="1200" b="1">
                <a:solidFill>
                  <a:srgbClr val="191F24"/>
                </a:solidFill>
                <a:latin typeface="Meiryo"/>
                <a:ea typeface="Meiryo"/>
                <a:cs typeface="Meiryo"/>
              </a:defRPr>
            </a:pPr>
            <a:r>
              <a:t>毎時間の見直し</a:t>
            </a:r>
          </a:p>
        </p:txBody>
      </p:sp>
      <p:sp>
        <p:nvSpPr>
          <p:cNvPr id="39" name="TextBox 38">
            <a:extLst xmlns:a="http://schemas.openxmlformats.org/drawingml/2006/main">
              <a:ext uri="{FF2B5EF4-FFF2-40B4-BE49-F238E27FC236}">
                <a16:creationId xmlns:a16="http://schemas.microsoft.com/office/drawing/2014/main" id="{E20473D0-6DE7-4E3C-A3B9-B7D386AFD28F}"/>
              </a:ext>
            </a:extLst>
          </p:cNvPr>
          <p:cNvSpPr>
            <a:spLocks xmlns:a="http://schemas.openxmlformats.org/drawingml/2006/main" noGrp="1"/>
          </p:cNvSpPr>
          <p:nvPr/>
        </p:nvSpPr>
        <p:spPr>
          <a:xfrm xmlns:a="http://schemas.openxmlformats.org/drawingml/2006/main">
            <a:off x="6565392" y="3776472"/>
            <a:ext cx="4882896" cy="34747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003667"/>
                </a:solidFill>
                <a:latin typeface="Meiryo"/>
                <a:ea typeface="Meiryo"/>
                <a:cs typeface="Meiryo"/>
              </a:defRPr>
            </a:pPr>
            <a:r>
              <a:t>同じコード・同じ入力・失敗原因を保存</a:t>
            </a:r>
          </a:p>
        </p:txBody>
      </p:sp>
      <p:sp>
        <p:nvSpPr>
          <p:cNvPr id="40" name="TextBox 39">
            <a:extLst xmlns:a="http://schemas.openxmlformats.org/drawingml/2006/main">
              <a:ext uri="{FF2B5EF4-FFF2-40B4-BE49-F238E27FC236}">
                <a16:creationId xmlns:a16="http://schemas.microsoft.com/office/drawing/2014/main" id="{A047664A-D1DB-4E96-92C5-6EEB1D4D4DC1}"/>
              </a:ext>
            </a:extLst>
          </p:cNvPr>
          <p:cNvSpPr>
            <a:spLocks xmlns:a="http://schemas.openxmlformats.org/drawingml/2006/main" noGrp="1"/>
          </p:cNvSpPr>
          <p:nvPr/>
        </p:nvSpPr>
        <p:spPr>
          <a:xfrm xmlns:a="http://schemas.openxmlformats.org/drawingml/2006/main">
            <a:off x="6793992" y="4297680"/>
            <a:ext cx="4425696" cy="65836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ctr">
              <a:buNone/>
              <a:defRPr sz="1400" b="1">
                <a:solidFill>
                  <a:srgbClr val="238E5E"/>
                </a:solidFill>
                <a:latin typeface="Meiryo"/>
                <a:ea typeface="Meiryo"/>
                <a:cs typeface="Meiryo"/>
              </a:defRPr>
            </a:pPr>
            <a:r>
              <a:t>運行・電池残量・電力・費用・CO₂の</a:t>
            </a:r>
          </a:p>
          <a:p xmlns:a="http://schemas.openxmlformats.org/drawingml/2006/main">
            <a:pPr algn="ctr">
              <a:buNone/>
              <a:defRPr sz="1400" b="1">
                <a:solidFill>
                  <a:srgbClr val="238E5E"/>
                </a:solidFill>
                <a:latin typeface="Meiryo"/>
                <a:ea typeface="Meiryo"/>
                <a:cs typeface="Meiryo"/>
              </a:defRPr>
            </a:pPr>
            <a:r>
              <a:t>先行研究に対応する図を作る</a:t>
            </a:r>
          </a:p>
        </p:txBody>
      </p:sp>
      <p:sp>
        <p:nvSpPr>
          <p:cNvPr id="41" name="Rectangle 40">
            <a:extLst xmlns:a="http://schemas.openxmlformats.org/drawingml/2006/main">
              <a:ext uri="{FF2B5EF4-FFF2-40B4-BE49-F238E27FC236}">
                <a16:creationId xmlns:a16="http://schemas.microsoft.com/office/drawing/2014/main" id="{919FA02E-C4EB-4690-8922-87AB91A0BCCF}"/>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3F6ED"/>
          </a:solidFill>
          <a:ln xmlns:a="http://schemas.openxmlformats.org/drawingml/2006/main">
            <a:solidFill>
              <a:srgbClr val="E3F6ED"/>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TextBox 41">
            <a:extLst xmlns:a="http://schemas.openxmlformats.org/drawingml/2006/main">
              <a:ext uri="{FF2B5EF4-FFF2-40B4-BE49-F238E27FC236}">
                <a16:creationId xmlns:a16="http://schemas.microsoft.com/office/drawing/2014/main" id="{90E88ED6-464A-4FA4-A670-E8397466BED0}"/>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238E5E"/>
                </a:solidFill>
                <a:latin typeface="Meiryo"/>
                <a:ea typeface="Meiryo"/>
                <a:cs typeface="Meiryo"/>
              </a:defRPr>
            </a:pPr>
            <a:r>
              <a:t>要点｜今回の計算は、効果を示す結果ではなく、どこを直すべきかを示す確認結果として使う。</a:t>
            </a:r>
          </a:p>
        </p:txBody>
      </p:sp>
    </p:spTree>
    <p:extLst>
      <p:ext uri="{BB962C8B-B14F-4D97-AF65-F5344CB8AC3E}">
        <p14:creationId xmlns:p14="http://schemas.microsoft.com/office/powerpoint/2010/main" val="185021153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FBB256D-8E5D-4F20-96B4-9C1E7F863ECD}"/>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正式な研究結果として採用するための6条件</a:t>
            </a:r>
          </a:p>
        </p:txBody>
      </p:sp>
      <p:sp>
        <p:nvSpPr>
          <p:cNvPr id="3" name="Connector 2">
            <a:extLst xmlns:a="http://schemas.openxmlformats.org/drawingml/2006/main">
              <a:ext uri="{FF2B5EF4-FFF2-40B4-BE49-F238E27FC236}">
                <a16:creationId xmlns:a16="http://schemas.microsoft.com/office/drawing/2014/main" id="{DBCEB8BE-E5C2-4999-BAD5-AB8F2D9DB5F4}"/>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5713F8A0-F508-483F-98EC-CAB8A5D213F3}"/>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55A89D3E-D5F2-4B2F-AADC-2A7E3C71C070}"/>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EF2D9BB4-37BB-4108-BF34-C981CE634EB6}"/>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0975A045-7534-4CD5-82C7-2B258A3801D9}"/>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18989BE6-2C6E-43EC-AA74-DD63E726C833}"/>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16/18</a:t>
            </a:r>
          </a:p>
        </p:txBody>
      </p:sp>
      <p:pic>
        <p:nvPicPr>
          <p:cNvPr id="25" name="Picture 8"/>
          <p:cNvPicPr>
            <a:picLocks xmlns:a="http://schemas.openxmlformats.org/drawingml/2006/main" noChangeAspect="1"/>
          </p:cNvPicPr>
          <p:nvPr/>
        </p:nvPicPr>
        <p:blipFill>
          <a:blip xmlns:r="http://schemas.openxmlformats.org/officeDocument/2006/relationships" xmlns:a="http://schemas.openxmlformats.org/drawingml/2006/main" r:embed="R624f840275dc4944"/>
          <a:stretch xmlns:a="http://schemas.openxmlformats.org/drawingml/2006/main">
            <a:fillRect l="0" t="0" r="0" b="0"/>
          </a:stretch>
        </p:blipFill>
        <p:spPr>
          <a:xfrm xmlns:a="http://schemas.openxmlformats.org/drawingml/2006/main" flipH="0" flipV="0">
            <a:off x="457200" y="841248"/>
            <a:ext cx="8092440" cy="452628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87C03EC7-AF72-47F8-9817-11651FEED00D}"/>
              </a:ext>
            </a:extLst>
          </p:cNvPr>
          <p:cNvSpPr>
            <a:spLocks xmlns:a="http://schemas.openxmlformats.org/drawingml/2006/main" noGrp="1"/>
          </p:cNvSpPr>
          <p:nvPr/>
        </p:nvSpPr>
        <p:spPr>
          <a:xfrm xmlns:a="http://schemas.openxmlformats.org/drawingml/2006/main">
            <a:off x="8796528" y="1024128"/>
            <a:ext cx="2944368" cy="4160520"/>
          </a:xfrm>
          <a:prstGeom xmlns:a="http://schemas.openxmlformats.org/drawingml/2006/main" prst="rect">
            <a:avLst/>
          </a:prstGeom>
          <a:solidFill xmlns:a="http://schemas.openxmlformats.org/drawingml/2006/main">
            <a:srgbClr val="F2F4F6"/>
          </a:solidFill>
          <a:ln xmlns:a="http://schemas.openxmlformats.org/drawingml/2006/main">
            <a:solidFill>
              <a:srgbClr val="5C667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D6A6972C-D3E4-493A-95C0-29CFFACDE411}"/>
              </a:ext>
            </a:extLst>
          </p:cNvPr>
          <p:cNvSpPr>
            <a:spLocks xmlns:a="http://schemas.openxmlformats.org/drawingml/2006/main" noGrp="1"/>
          </p:cNvSpPr>
          <p:nvPr/>
        </p:nvSpPr>
        <p:spPr>
          <a:xfrm xmlns:a="http://schemas.openxmlformats.org/drawingml/2006/main">
            <a:off x="8997696" y="1234440"/>
            <a:ext cx="2542032" cy="3322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700" b="1">
                <a:solidFill>
                  <a:srgbClr val="003667"/>
                </a:solidFill>
                <a:latin typeface="Meiryo"/>
                <a:ea typeface="Meiryo"/>
                <a:cs typeface="Meiryo"/>
              </a:defRPr>
            </a:pPr>
            <a:r>
              <a:t>採用条件</a:t>
            </a:r>
          </a:p>
        </p:txBody>
      </p:sp>
      <p:sp>
        <p:nvSpPr>
          <p:cNvPr id="12" name="TextBox 11">
            <a:extLst xmlns:a="http://schemas.openxmlformats.org/drawingml/2006/main">
              <a:ext uri="{FF2B5EF4-FFF2-40B4-BE49-F238E27FC236}">
                <a16:creationId xmlns:a16="http://schemas.microsoft.com/office/drawing/2014/main" id="{9CDD7E6B-3C98-40C3-8B61-6D5FFCA4CA20}"/>
              </a:ext>
            </a:extLst>
          </p:cNvPr>
          <p:cNvSpPr>
            <a:spLocks xmlns:a="http://schemas.openxmlformats.org/drawingml/2006/main" noGrp="1"/>
          </p:cNvSpPr>
          <p:nvPr/>
        </p:nvSpPr>
        <p:spPr>
          <a:xfrm xmlns:a="http://schemas.openxmlformats.org/drawingml/2006/main">
            <a:off x="9034272" y="1755648"/>
            <a:ext cx="2468880" cy="11887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191F24"/>
                </a:solidFill>
                <a:latin typeface="Meiryo"/>
                <a:ea typeface="Meiryo"/>
                <a:cs typeface="Meiryo"/>
              </a:defRPr>
            </a:pPr>
            <a:r>
              <a:t>全264便を担当</a:t>
            </a:r>
          </a:p>
          <a:p xmlns:a="http://schemas.openxmlformats.org/drawingml/2006/main">
            <a:pPr algn="ctr">
              <a:buNone/>
              <a:defRPr sz="1350" b="1">
                <a:solidFill>
                  <a:srgbClr val="191F24"/>
                </a:solidFill>
                <a:latin typeface="Meiryo"/>
                <a:ea typeface="Meiryo"/>
                <a:cs typeface="Meiryo"/>
              </a:defRPr>
            </a:pPr>
            <a:r>
              <a:t>充電計画が成立</a:t>
            </a:r>
          </a:p>
          <a:p xmlns:a="http://schemas.openxmlformats.org/drawingml/2006/main">
            <a:pPr algn="ctr">
              <a:buNone/>
              <a:defRPr sz="1350" b="1">
                <a:solidFill>
                  <a:srgbClr val="191F24"/>
                </a:solidFill>
                <a:latin typeface="Meiryo"/>
                <a:ea typeface="Meiryo"/>
                <a:cs typeface="Meiryo"/>
              </a:defRPr>
            </a:pPr>
            <a:r>
              <a:t>別の確認でも違反0</a:t>
            </a:r>
          </a:p>
        </p:txBody>
      </p:sp>
      <p:sp>
        <p:nvSpPr>
          <p:cNvPr id="13" name="TextBox 12">
            <a:extLst xmlns:a="http://schemas.openxmlformats.org/drawingml/2006/main">
              <a:ext uri="{FF2B5EF4-FFF2-40B4-BE49-F238E27FC236}">
                <a16:creationId xmlns:a16="http://schemas.microsoft.com/office/drawing/2014/main" id="{467A5396-CFB5-4CFB-8338-AA420336AFA5}"/>
              </a:ext>
            </a:extLst>
          </p:cNvPr>
          <p:cNvSpPr>
            <a:spLocks xmlns:a="http://schemas.openxmlformats.org/drawingml/2006/main" noGrp="1"/>
          </p:cNvSpPr>
          <p:nvPr/>
        </p:nvSpPr>
        <p:spPr>
          <a:xfrm xmlns:a="http://schemas.openxmlformats.org/drawingml/2006/main">
            <a:off x="9034272" y="3063240"/>
            <a:ext cx="2468880" cy="11887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350" b="1">
                <a:solidFill>
                  <a:srgbClr val="191F24"/>
                </a:solidFill>
                <a:latin typeface="Meiryo"/>
                <a:ea typeface="Meiryo"/>
                <a:cs typeface="Meiryo"/>
              </a:defRPr>
            </a:pPr>
            <a:r>
              <a:t>研究指標を利用可能</a:t>
            </a:r>
          </a:p>
          <a:p xmlns:a="http://schemas.openxmlformats.org/drawingml/2006/main">
            <a:pPr algn="ctr">
              <a:buNone/>
              <a:defRPr sz="1350" b="1">
                <a:solidFill>
                  <a:srgbClr val="191F24"/>
                </a:solidFill>
                <a:latin typeface="Meiryo"/>
                <a:ea typeface="Meiryo"/>
                <a:cs typeface="Meiryo"/>
              </a:defRPr>
            </a:pPr>
            <a:r>
              <a:t>計算の残り幅10%以下</a:t>
            </a:r>
          </a:p>
          <a:p xmlns:a="http://schemas.openxmlformats.org/drawingml/2006/main">
            <a:pPr algn="ctr">
              <a:buNone/>
              <a:defRPr sz="1350" b="1">
                <a:solidFill>
                  <a:srgbClr val="191F24"/>
                </a:solidFill>
                <a:latin typeface="Meiryo"/>
                <a:ea typeface="Meiryo"/>
                <a:cs typeface="Meiryo"/>
              </a:defRPr>
            </a:pPr>
            <a:r>
              <a:t>運行・充電の明細あり</a:t>
            </a:r>
          </a:p>
        </p:txBody>
      </p:sp>
      <p:sp>
        <p:nvSpPr>
          <p:cNvPr id="14" name="TextBox 13">
            <a:extLst xmlns:a="http://schemas.openxmlformats.org/drawingml/2006/main">
              <a:ext uri="{FF2B5EF4-FFF2-40B4-BE49-F238E27FC236}">
                <a16:creationId xmlns:a16="http://schemas.microsoft.com/office/drawing/2014/main" id="{D8C5E160-20D7-4321-9644-1A83EF9E17DE}"/>
              </a:ext>
            </a:extLst>
          </p:cNvPr>
          <p:cNvSpPr>
            <a:spLocks xmlns:a="http://schemas.openxmlformats.org/drawingml/2006/main" noGrp="1"/>
          </p:cNvSpPr>
          <p:nvPr/>
        </p:nvSpPr>
        <p:spPr>
          <a:xfrm xmlns:a="http://schemas.openxmlformats.org/drawingml/2006/main">
            <a:off x="9052560" y="4453128"/>
            <a:ext cx="2432304" cy="5303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238E5E"/>
                </a:solidFill>
                <a:latin typeface="Meiryo"/>
                <a:ea typeface="Meiryo"/>
                <a:cs typeface="Meiryo"/>
              </a:defRPr>
            </a:pPr>
            <a:r>
              <a:t>7月17日の計算：0／6項目合格</a:t>
            </a:r>
          </a:p>
        </p:txBody>
      </p:sp>
      <p:sp>
        <p:nvSpPr>
          <p:cNvPr id="15" name="Rectangle 14">
            <a:extLst xmlns:a="http://schemas.openxmlformats.org/drawingml/2006/main">
              <a:ext uri="{FF2B5EF4-FFF2-40B4-BE49-F238E27FC236}">
                <a16:creationId xmlns:a16="http://schemas.microsoft.com/office/drawing/2014/main" id="{8EC82019-15C3-4E3A-B0A5-14103E80C917}"/>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FCE8E8"/>
          </a:solidFill>
          <a:ln xmlns:a="http://schemas.openxmlformats.org/drawingml/2006/main">
            <a:solidFill>
              <a:srgbClr val="FCE8E8"/>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A4D8191-9F28-4180-B410-408F9C12F0E9}"/>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C23737"/>
                </a:solidFill>
                <a:latin typeface="Meiryo"/>
                <a:ea typeface="Meiryo"/>
                <a:cs typeface="Meiryo"/>
              </a:defRPr>
            </a:pPr>
            <a:r>
              <a:t>要点｜6項目をすべて満たすまで、費用・電力・CO₂を『研究成果』として掲載しない。</a:t>
            </a:r>
          </a:p>
        </p:txBody>
      </p:sp>
    </p:spTree>
    <p:extLst>
      <p:ext uri="{BB962C8B-B14F-4D97-AF65-F5344CB8AC3E}">
        <p14:creationId xmlns:p14="http://schemas.microsoft.com/office/powerpoint/2010/main" val="13736951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403E434-5D9B-4DD9-9A17-0B3B29B179DE}"/>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修正内容：すべての画面とファイルを同じ判定へそろえる</a:t>
            </a:r>
          </a:p>
        </p:txBody>
      </p:sp>
      <p:sp>
        <p:nvSpPr>
          <p:cNvPr id="3" name="Connector 2">
            <a:extLst xmlns:a="http://schemas.openxmlformats.org/drawingml/2006/main">
              <a:ext uri="{FF2B5EF4-FFF2-40B4-BE49-F238E27FC236}">
                <a16:creationId xmlns:a16="http://schemas.microsoft.com/office/drawing/2014/main" id="{787172DD-683D-4BD6-9B3B-B34A4A2EF560}"/>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1B0E9922-2697-40C5-B638-F6FCD3930656}"/>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EB5E3794-05E3-4D75-8A50-00B68CD35B56}"/>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444F0DF-B840-41AF-A777-37EE6DBBE981}"/>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7F6B68CF-792C-4848-B32A-DD8680A42141}"/>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97942750-01B7-4CCB-88AB-49AA97157E35}"/>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17/18</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5d2e689f3ba842cb"/>
          <a:stretch xmlns:a="http://schemas.openxmlformats.org/drawingml/2006/main">
            <a:fillRect l="0" t="0" r="0" b="0"/>
          </a:stretch>
        </p:blipFill>
        <p:spPr>
          <a:xfrm xmlns:a="http://schemas.openxmlformats.org/drawingml/2006/main" flipH="0" flipV="0">
            <a:off x="502920" y="841248"/>
            <a:ext cx="8549640" cy="4526280"/>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FE461FA-1A92-412E-9D36-BE9D1FC7AE30}"/>
              </a:ext>
            </a:extLst>
          </p:cNvPr>
          <p:cNvSpPr>
            <a:spLocks xmlns:a="http://schemas.openxmlformats.org/drawingml/2006/main" noGrp="1"/>
          </p:cNvSpPr>
          <p:nvPr/>
        </p:nvSpPr>
        <p:spPr>
          <a:xfrm xmlns:a="http://schemas.openxmlformats.org/drawingml/2006/main">
            <a:off x="9308592" y="1024128"/>
            <a:ext cx="2441448" cy="1444752"/>
          </a:xfrm>
          <a:prstGeom xmlns:a="http://schemas.openxmlformats.org/drawingml/2006/main" prst="rect">
            <a:avLst/>
          </a:prstGeom>
          <a:solidFill xmlns:a="http://schemas.openxmlformats.org/drawingml/2006/main">
            <a:srgbClr val="FCE8E8"/>
          </a:solidFill>
          <a:ln xmlns:a="http://schemas.openxmlformats.org/drawingml/2006/main">
            <a:solidFill>
              <a:srgbClr val="C2373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ACDC280-823C-4122-86A4-53DF33003EE5}"/>
              </a:ext>
            </a:extLst>
          </p:cNvPr>
          <p:cNvSpPr>
            <a:spLocks xmlns:a="http://schemas.openxmlformats.org/drawingml/2006/main" noGrp="1"/>
          </p:cNvSpPr>
          <p:nvPr/>
        </p:nvSpPr>
        <p:spPr>
          <a:xfrm xmlns:a="http://schemas.openxmlformats.org/drawingml/2006/main">
            <a:off x="9473184" y="1161288"/>
            <a:ext cx="2112264" cy="32004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300" b="1">
                <a:solidFill>
                  <a:srgbClr val="C23737"/>
                </a:solidFill>
                <a:latin typeface="Meiryo"/>
                <a:ea typeface="Meiryo"/>
                <a:cs typeface="Meiryo"/>
              </a:defRPr>
            </a:pPr>
            <a:r>
              <a:t>修正前の食い違い</a:t>
            </a:r>
          </a:p>
        </p:txBody>
      </p:sp>
      <p:sp>
        <p:nvSpPr>
          <p:cNvPr id="12" name="TextBox 11">
            <a:extLst xmlns:a="http://schemas.openxmlformats.org/drawingml/2006/main">
              <a:ext uri="{FF2B5EF4-FFF2-40B4-BE49-F238E27FC236}">
                <a16:creationId xmlns:a16="http://schemas.microsoft.com/office/drawing/2014/main" id="{6D5B4DF7-9F1E-4817-B876-B2C9639DC58A}"/>
              </a:ext>
            </a:extLst>
          </p:cNvPr>
          <p:cNvSpPr>
            <a:spLocks xmlns:a="http://schemas.openxmlformats.org/drawingml/2006/main" noGrp="1"/>
          </p:cNvSpPr>
          <p:nvPr/>
        </p:nvSpPr>
        <p:spPr>
          <a:xfrm xmlns:a="http://schemas.openxmlformats.org/drawingml/2006/main">
            <a:off x="9473184" y="1499616"/>
            <a:ext cx="2112264" cy="566928"/>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500" b="1">
                <a:solidFill>
                  <a:srgbClr val="191F24"/>
                </a:solidFill>
                <a:latin typeface="Meiryo"/>
                <a:ea typeface="Meiryo"/>
                <a:cs typeface="Meiryo"/>
              </a:defRPr>
            </a:pPr>
            <a:r>
              <a:t>264便 ↔ 0便</a:t>
            </a:r>
          </a:p>
        </p:txBody>
      </p:sp>
      <p:sp>
        <p:nvSpPr>
          <p:cNvPr id="13" name="TextBox 12">
            <a:extLst xmlns:a="http://schemas.openxmlformats.org/drawingml/2006/main">
              <a:ext uri="{FF2B5EF4-FFF2-40B4-BE49-F238E27FC236}">
                <a16:creationId xmlns:a16="http://schemas.microsoft.com/office/drawing/2014/main" id="{6E6B8214-14C7-4F91-AF25-B6675BCDF232}"/>
              </a:ext>
            </a:extLst>
          </p:cNvPr>
          <p:cNvSpPr>
            <a:spLocks xmlns:a="http://schemas.openxmlformats.org/drawingml/2006/main" noGrp="1"/>
          </p:cNvSpPr>
          <p:nvPr/>
        </p:nvSpPr>
        <p:spPr>
          <a:xfrm xmlns:a="http://schemas.openxmlformats.org/drawingml/2006/main">
            <a:off x="9473184" y="2084832"/>
            <a:ext cx="2112264" cy="274320"/>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l">
              <a:buNone/>
              <a:defRPr sz="1150" b="0">
                <a:solidFill>
                  <a:srgbClr val="5C6670"/>
                </a:solidFill>
                <a:latin typeface="Meiryo"/>
                <a:ea typeface="Meiryo"/>
                <a:cs typeface="Meiryo"/>
              </a:defRPr>
            </a:pPr>
            <a:r>
              <a:t>評価不能 ↔ 0円</a:t>
            </a:r>
          </a:p>
        </p:txBody>
      </p:sp>
      <p:sp>
        <p:nvSpPr>
          <p:cNvPr id="14" name="TextBox 13">
            <a:extLst xmlns:a="http://schemas.openxmlformats.org/drawingml/2006/main">
              <a:ext uri="{FF2B5EF4-FFF2-40B4-BE49-F238E27FC236}">
                <a16:creationId xmlns:a16="http://schemas.microsoft.com/office/drawing/2014/main" id="{39EC0039-535D-4AB0-B7CC-F26D8EC24595}"/>
              </a:ext>
            </a:extLst>
          </p:cNvPr>
          <p:cNvSpPr>
            <a:spLocks xmlns:a="http://schemas.openxmlformats.org/drawingml/2006/main" noGrp="1"/>
          </p:cNvSpPr>
          <p:nvPr/>
        </p:nvSpPr>
        <p:spPr>
          <a:xfrm xmlns:a="http://schemas.openxmlformats.org/drawingml/2006/main">
            <a:off x="9491472" y="2788920"/>
            <a:ext cx="2075688" cy="9875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500" b="1">
                <a:solidFill>
                  <a:srgbClr val="191F24"/>
                </a:solidFill>
                <a:latin typeface="Meiryo"/>
                <a:ea typeface="Meiryo"/>
                <a:cs typeface="Meiryo"/>
              </a:defRPr>
            </a:pPr>
            <a:r>
              <a:t>行った修正</a:t>
            </a:r>
          </a:p>
          <a:p xmlns:a="http://schemas.openxmlformats.org/drawingml/2006/main">
            <a:pPr algn="ctr">
              <a:buNone/>
              <a:defRPr sz="1500" b="1">
                <a:solidFill>
                  <a:srgbClr val="191F24"/>
                </a:solidFill>
                <a:latin typeface="Meiryo"/>
                <a:ea typeface="Meiryo"/>
                <a:cs typeface="Meiryo"/>
              </a:defRPr>
            </a:pPr>
            <a:r>
              <a:t>正式判定を一つに統一</a:t>
            </a:r>
          </a:p>
          <a:p xmlns:a="http://schemas.openxmlformats.org/drawingml/2006/main">
            <a:pPr algn="ctr">
              <a:buNone/>
              <a:defRPr sz="1500" b="1">
                <a:solidFill>
                  <a:srgbClr val="191F24"/>
                </a:solidFill>
                <a:latin typeface="Meiryo"/>
                <a:ea typeface="Meiryo"/>
                <a:cs typeface="Meiryo"/>
              </a:defRPr>
            </a:pPr>
            <a:r>
              <a:t>費用は評価不可／資料作成を停止</a:t>
            </a:r>
          </a:p>
        </p:txBody>
      </p:sp>
      <p:sp>
        <p:nvSpPr>
          <p:cNvPr id="15" name="TextBox 14">
            <a:extLst xmlns:a="http://schemas.openxmlformats.org/drawingml/2006/main">
              <a:ext uri="{FF2B5EF4-FFF2-40B4-BE49-F238E27FC236}">
                <a16:creationId xmlns:a16="http://schemas.microsoft.com/office/drawing/2014/main" id="{F8EEAB2E-CB8E-4230-BBBF-55AA186F691E}"/>
              </a:ext>
            </a:extLst>
          </p:cNvPr>
          <p:cNvSpPr>
            <a:spLocks xmlns:a="http://schemas.openxmlformats.org/drawingml/2006/main" noGrp="1"/>
          </p:cNvSpPr>
          <p:nvPr/>
        </p:nvSpPr>
        <p:spPr>
          <a:xfrm xmlns:a="http://schemas.openxmlformats.org/drawingml/2006/main">
            <a:off x="9491472" y="4087368"/>
            <a:ext cx="2075688" cy="8351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1250" b="1">
                <a:solidFill>
                  <a:srgbClr val="003667"/>
                </a:solidFill>
                <a:latin typeface="Meiryo"/>
                <a:ea typeface="Meiryo"/>
                <a:cs typeface="Meiryo"/>
              </a:defRPr>
            </a:pPr>
            <a:r>
              <a:t>現在のコードに採用判定を追加</a:t>
            </a:r>
          </a:p>
          <a:p xmlns:a="http://schemas.openxmlformats.org/drawingml/2006/main">
            <a:pPr algn="ctr">
              <a:buNone/>
              <a:defRPr sz="1250" b="1">
                <a:solidFill>
                  <a:srgbClr val="003667"/>
                </a:solidFill>
                <a:latin typeface="Meiryo"/>
                <a:ea typeface="Meiryo"/>
                <a:cs typeface="Meiryo"/>
              </a:defRPr>
            </a:pPr>
            <a:r>
              <a:t>7月17日の保存結果は再発防止の確認に使う</a:t>
            </a:r>
          </a:p>
        </p:txBody>
      </p:sp>
      <p:sp>
        <p:nvSpPr>
          <p:cNvPr id="16" name="Rectangle 15">
            <a:extLst xmlns:a="http://schemas.openxmlformats.org/drawingml/2006/main">
              <a:ext uri="{FF2B5EF4-FFF2-40B4-BE49-F238E27FC236}">
                <a16:creationId xmlns:a16="http://schemas.microsoft.com/office/drawing/2014/main" id="{6F3C676B-CF80-4A82-8C02-991E3CB4D419}"/>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EADB1E54-166B-4C09-A4FC-B08B51B7A26C}"/>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要点｜正式判定・集計・研究指標・画面・資料を、すべて同じ『採用できる／できない』へそろえた。</a:t>
            </a:r>
          </a:p>
        </p:txBody>
      </p:sp>
    </p:spTree>
    <p:extLst>
      <p:ext uri="{BB962C8B-B14F-4D97-AF65-F5344CB8AC3E}">
        <p14:creationId xmlns:p14="http://schemas.microsoft.com/office/powerpoint/2010/main" val="115406651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5E9CCAB-08D7-44F5-AD47-3005F0F76464}"/>
              </a:ext>
            </a:extLst>
          </p:cNvPr>
          <p:cNvSpPr>
            <a:spLocks xmlns:a="http://schemas.openxmlformats.org/drawingml/2006/main" noGrp="1"/>
          </p:cNvSpPr>
          <p:nvPr/>
        </p:nvSpPr>
        <p:spPr>
          <a:xfrm xmlns:a="http://schemas.openxmlformats.org/drawingml/2006/main">
            <a:off x="274320" y="109728"/>
            <a:ext cx="9784080" cy="43891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2400" b="1">
                <a:solidFill>
                  <a:srgbClr val="003667"/>
                </a:solidFill>
                <a:latin typeface="Meiryo"/>
                <a:ea typeface="Meiryo"/>
                <a:cs typeface="Meiryo"/>
              </a:defRPr>
            </a:pPr>
            <a:r>
              <a:t>残り2週間：足りない証拠を順番にそろえる</a:t>
            </a:r>
          </a:p>
        </p:txBody>
      </p:sp>
      <p:sp>
        <p:nvSpPr>
          <p:cNvPr id="3" name="Connector 2">
            <a:extLst xmlns:a="http://schemas.openxmlformats.org/drawingml/2006/main">
              <a:ext uri="{FF2B5EF4-FFF2-40B4-BE49-F238E27FC236}">
                <a16:creationId xmlns:a16="http://schemas.microsoft.com/office/drawing/2014/main" id="{8A2E4404-D842-484F-B44A-369B363A63F4}"/>
              </a:ext>
            </a:extLst>
          </p:cNvPr>
          <p:cNvSpPr>
            <a:spLocks xmlns:a="http://schemas.openxmlformats.org/drawingml/2006/main" noGrp="1"/>
          </p:cNvSpPr>
          <p:nvPr/>
        </p:nvSpPr>
        <p:spPr>
          <a:xfrm xmlns:a="http://schemas.openxmlformats.org/drawingml/2006/main">
            <a:off x="0" y="612648"/>
            <a:ext cx="12191695" cy="0"/>
          </a:xfrm>
          <a:prstGeom xmlns:a="http://schemas.openxmlformats.org/drawingml/2006/main" prst="line">
            <a:avLst/>
          </a:prstGeom>
          <a:ln xmlns:a="http://schemas.openxmlformats.org/drawingml/2006/main" w="25400">
            <a:solidFill>
              <a:srgbClr val="005CA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 name="Rectangle 3">
            <a:extLst xmlns:a="http://schemas.openxmlformats.org/drawingml/2006/main">
              <a:ext uri="{FF2B5EF4-FFF2-40B4-BE49-F238E27FC236}">
                <a16:creationId xmlns:a16="http://schemas.microsoft.com/office/drawing/2014/main" id="{A4AED936-3FA1-43ED-9316-FB6315EDF9B3}"/>
              </a:ext>
            </a:extLst>
          </p:cNvPr>
          <p:cNvSpPr>
            <a:spLocks xmlns:a="http://schemas.openxmlformats.org/drawingml/2006/main" noGrp="1"/>
          </p:cNvSpPr>
          <p:nvPr/>
        </p:nvSpPr>
        <p:spPr>
          <a:xfrm xmlns:a="http://schemas.openxmlformats.org/drawingml/2006/main">
            <a:off x="10588752" y="137160"/>
            <a:ext cx="283464" cy="16459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ectangle 4">
            <a:extLst xmlns:a="http://schemas.openxmlformats.org/drawingml/2006/main">
              <a:ext uri="{FF2B5EF4-FFF2-40B4-BE49-F238E27FC236}">
                <a16:creationId xmlns:a16="http://schemas.microsoft.com/office/drawing/2014/main" id="{01DF229F-29AC-4C72-BB79-56C338475F22}"/>
              </a:ext>
            </a:extLst>
          </p:cNvPr>
          <p:cNvSpPr>
            <a:spLocks xmlns:a="http://schemas.openxmlformats.org/drawingml/2006/main" noGrp="1"/>
          </p:cNvSpPr>
          <p:nvPr/>
        </p:nvSpPr>
        <p:spPr>
          <a:xfrm xmlns:a="http://schemas.openxmlformats.org/drawingml/2006/main">
            <a:off x="10643616" y="347472"/>
            <a:ext cx="73152" cy="73152"/>
          </a:xfrm>
          <a:prstGeom xmlns:a="http://schemas.openxmlformats.org/drawingml/2006/main" prst="rect">
            <a:avLst/>
          </a:prstGeom>
          <a:solidFill xmlns:a="http://schemas.openxmlformats.org/drawingml/2006/main">
            <a:srgbClr val="00A4DE"/>
          </a:solidFill>
          <a:ln xmlns:a="http://schemas.openxmlformats.org/drawingml/2006/main">
            <a:solidFill>
              <a:srgbClr val="00A4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1824B35F-EC47-4DB0-97DC-46D3AE939B3C}"/>
              </a:ext>
            </a:extLst>
          </p:cNvPr>
          <p:cNvSpPr>
            <a:spLocks xmlns:a="http://schemas.openxmlformats.org/drawingml/2006/main" noGrp="1"/>
          </p:cNvSpPr>
          <p:nvPr/>
        </p:nvSpPr>
        <p:spPr>
          <a:xfrm xmlns:a="http://schemas.openxmlformats.org/drawingml/2006/main">
            <a:off x="10927080" y="91440"/>
            <a:ext cx="987552"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1050" b="1">
                <a:solidFill>
                  <a:srgbClr val="191F24"/>
                </a:solidFill>
                <a:latin typeface="Meiryo"/>
                <a:ea typeface="Meiryo"/>
                <a:cs typeface="Meiryo"/>
              </a:defRPr>
            </a:pPr>
            <a:r>
              <a:t>東京都市大学</a:t>
            </a:r>
          </a:p>
        </p:txBody>
      </p:sp>
      <p:sp>
        <p:nvSpPr>
          <p:cNvPr id="7" name="TextBox 6">
            <a:extLst xmlns:a="http://schemas.openxmlformats.org/drawingml/2006/main">
              <a:ext uri="{FF2B5EF4-FFF2-40B4-BE49-F238E27FC236}">
                <a16:creationId xmlns:a16="http://schemas.microsoft.com/office/drawing/2014/main" id="{92BF5EDF-842F-446C-9B2A-5C79317203C7}"/>
              </a:ext>
            </a:extLst>
          </p:cNvPr>
          <p:cNvSpPr>
            <a:spLocks xmlns:a="http://schemas.openxmlformats.org/drawingml/2006/main" noGrp="1"/>
          </p:cNvSpPr>
          <p:nvPr/>
        </p:nvSpPr>
        <p:spPr>
          <a:xfrm xmlns:a="http://schemas.openxmlformats.org/drawingml/2006/main">
            <a:off x="10927080" y="320040"/>
            <a:ext cx="987552"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spAutoFit/>
          </a:bodyPr>
          <a:lstStyle xmlns:a="http://schemas.openxmlformats.org/drawingml/2006/main"/>
          <a:p xmlns:a="http://schemas.openxmlformats.org/drawingml/2006/main">
            <a:pPr algn="l">
              <a:buNone/>
              <a:defRPr sz="470" b="0">
                <a:solidFill>
                  <a:srgbClr val="191F24"/>
                </a:solidFill>
                <a:latin typeface="Meiryo"/>
                <a:ea typeface="Meiryo"/>
                <a:cs typeface="Meiryo"/>
              </a:defRPr>
            </a:pPr>
            <a:r>
              <a:t>TOKYO CITY UNIVERSITY</a:t>
            </a:r>
          </a:p>
        </p:txBody>
      </p:sp>
      <p:sp>
        <p:nvSpPr>
          <p:cNvPr id="8" name="TextBox 7">
            <a:extLst xmlns:a="http://schemas.openxmlformats.org/drawingml/2006/main">
              <a:ext uri="{FF2B5EF4-FFF2-40B4-BE49-F238E27FC236}">
                <a16:creationId xmlns:a16="http://schemas.microsoft.com/office/drawing/2014/main" id="{2DA784D4-D773-4952-B6C8-0ADCBA661D10}"/>
              </a:ext>
            </a:extLst>
          </p:cNvPr>
          <p:cNvSpPr>
            <a:spLocks xmlns:a="http://schemas.openxmlformats.org/drawingml/2006/main" noGrp="1"/>
          </p:cNvSpPr>
          <p:nvPr/>
        </p:nvSpPr>
        <p:spPr>
          <a:xfrm xmlns:a="http://schemas.openxmlformats.org/drawingml/2006/main">
            <a:off x="274320" y="6565392"/>
            <a:ext cx="11612880" cy="20269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r">
              <a:buNone/>
              <a:defRPr sz="850" b="0">
                <a:solidFill>
                  <a:srgbClr val="5C6670"/>
                </a:solidFill>
                <a:latin typeface="Meiryo"/>
                <a:ea typeface="Meiryo"/>
                <a:cs typeface="Meiryo"/>
              </a:defRPr>
            </a:pPr>
            <a:r>
              <a:t>EVバス月間進捗　2026-07-18　18/18</a:t>
            </a:r>
          </a:p>
        </p:txBody>
      </p:sp>
      <p:sp>
        <p:nvSpPr>
          <p:cNvPr id="9" name="Rectangle 8">
            <a:extLst xmlns:a="http://schemas.openxmlformats.org/drawingml/2006/main">
              <a:ext uri="{FF2B5EF4-FFF2-40B4-BE49-F238E27FC236}">
                <a16:creationId xmlns:a16="http://schemas.microsoft.com/office/drawing/2014/main" id="{70B74F9F-1C55-4799-A3E7-64C1126ED0FB}"/>
              </a:ext>
            </a:extLst>
          </p:cNvPr>
          <p:cNvSpPr>
            <a:spLocks xmlns:a="http://schemas.openxmlformats.org/drawingml/2006/main" noGrp="1"/>
          </p:cNvSpPr>
          <p:nvPr/>
        </p:nvSpPr>
        <p:spPr>
          <a:xfrm xmlns:a="http://schemas.openxmlformats.org/drawingml/2006/main">
            <a:off x="438912" y="914400"/>
            <a:ext cx="5532120" cy="4553712"/>
          </a:xfrm>
          <a:prstGeom xmlns:a="http://schemas.openxmlformats.org/drawingml/2006/main" prst="rect">
            <a:avLst/>
          </a:prstGeom>
          <a:solidFill xmlns:a="http://schemas.openxmlformats.org/drawingml/2006/main">
            <a:srgbClr val="E1EFFA"/>
          </a:solidFill>
          <a:ln xmlns:a="http://schemas.openxmlformats.org/drawingml/2006/main">
            <a:solidFill>
              <a:srgbClr val="005CA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06D81D6E-C9D1-4460-9B5C-D4A755FEFFBF}"/>
              </a:ext>
            </a:extLst>
          </p:cNvPr>
          <p:cNvSpPr>
            <a:spLocks xmlns:a="http://schemas.openxmlformats.org/drawingml/2006/main" noGrp="1"/>
          </p:cNvSpPr>
          <p:nvPr/>
        </p:nvSpPr>
        <p:spPr>
          <a:xfrm xmlns:a="http://schemas.openxmlformats.org/drawingml/2006/main">
            <a:off x="694944" y="1170432"/>
            <a:ext cx="5010912" cy="3779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003667"/>
                </a:solidFill>
                <a:latin typeface="Meiryo"/>
                <a:ea typeface="Meiryo"/>
                <a:cs typeface="Meiryo"/>
              </a:defRPr>
            </a:pPr>
            <a:r>
              <a:t>今、足りないもの</a:t>
            </a:r>
          </a:p>
        </p:txBody>
      </p:sp>
      <p:sp>
        <p:nvSpPr>
          <p:cNvPr id="11" name="TextBox 10">
            <a:extLst xmlns:a="http://schemas.openxmlformats.org/drawingml/2006/main">
              <a:ext uri="{FF2B5EF4-FFF2-40B4-BE49-F238E27FC236}">
                <a16:creationId xmlns:a16="http://schemas.microsoft.com/office/drawing/2014/main" id="{BC46A7AE-73F4-41ED-84A6-2E0927F10000}"/>
              </a:ext>
            </a:extLst>
          </p:cNvPr>
          <p:cNvSpPr>
            <a:spLocks xmlns:a="http://schemas.openxmlformats.org/drawingml/2006/main" noGrp="1"/>
          </p:cNvSpPr>
          <p:nvPr/>
        </p:nvSpPr>
        <p:spPr>
          <a:xfrm xmlns:a="http://schemas.openxmlformats.org/drawingml/2006/main">
            <a:off x="749808" y="1755648"/>
            <a:ext cx="4901184" cy="3063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520">
                <a:solidFill>
                  <a:srgbClr val="191F24"/>
                </a:solidFill>
                <a:latin typeface="Meiryo"/>
                <a:ea typeface="Meiryo"/>
                <a:cs typeface="Meiryo"/>
              </a:defRPr>
            </a:pPr>
            <a:r>
              <a:t>① 走れなかった原因を残す診断記録</a:t>
            </a:r>
          </a:p>
          <a:p xmlns:a="http://schemas.openxmlformats.org/drawingml/2006/main">
            <a:pPr>
              <a:spcAft>
                <a:spcPts val="900"/>
              </a:spcAft>
              <a:buNone/>
              <a:defRPr sz="1520">
                <a:solidFill>
                  <a:srgbClr val="191F24"/>
                </a:solidFill>
                <a:latin typeface="Meiryo"/>
                <a:ea typeface="Meiryo"/>
                <a:cs typeface="Meiryo"/>
              </a:defRPr>
            </a:pPr>
            <a:r>
              <a:t>② 15分刻みで264便すべてを走らせた基準結果</a:t>
            </a:r>
          </a:p>
          <a:p xmlns:a="http://schemas.openxmlformats.org/drawingml/2006/main">
            <a:pPr>
              <a:spcAft>
                <a:spcPts val="900"/>
              </a:spcAft>
              <a:buNone/>
              <a:defRPr sz="1520">
                <a:solidFill>
                  <a:srgbClr val="191F24"/>
                </a:solidFill>
                <a:latin typeface="Meiryo"/>
                <a:ea typeface="Meiryo"/>
                <a:cs typeface="Meiryo"/>
              </a:defRPr>
            </a:pPr>
            <a:r>
              <a:t>③ 違反ゼロ・費用一致・再現条件の証拠</a:t>
            </a:r>
          </a:p>
          <a:p xmlns:a="http://schemas.openxmlformats.org/drawingml/2006/main">
            <a:pPr>
              <a:spcAft>
                <a:spcPts val="900"/>
              </a:spcAft>
              <a:buNone/>
              <a:defRPr sz="1520">
                <a:solidFill>
                  <a:srgbClr val="191F24"/>
                </a:solidFill>
                <a:latin typeface="Meiryo"/>
                <a:ea typeface="Meiryo"/>
                <a:cs typeface="Meiryo"/>
              </a:defRPr>
            </a:pPr>
            <a:r>
              <a:t>④ 毎時間の見直しを24回つないだ確認</a:t>
            </a:r>
          </a:p>
          <a:p xmlns:a="http://schemas.openxmlformats.org/drawingml/2006/main">
            <a:pPr>
              <a:spcAft>
                <a:spcPts val="900"/>
              </a:spcAft>
              <a:buNone/>
              <a:defRPr sz="1520">
                <a:solidFill>
                  <a:srgbClr val="191F24"/>
                </a:solidFill>
                <a:latin typeface="Meiryo"/>
                <a:ea typeface="Meiryo"/>
                <a:cs typeface="Meiryo"/>
              </a:defRPr>
            </a:pPr>
            <a:r>
              <a:t>⑤ 太陽光予測の外れ・便のつなぎ候補数の影響</a:t>
            </a:r>
          </a:p>
        </p:txBody>
      </p:sp>
      <p:sp>
        <p:nvSpPr>
          <p:cNvPr id="12" name="Rectangle 11">
            <a:extLst xmlns:a="http://schemas.openxmlformats.org/drawingml/2006/main">
              <a:ext uri="{FF2B5EF4-FFF2-40B4-BE49-F238E27FC236}">
                <a16:creationId xmlns:a16="http://schemas.microsoft.com/office/drawing/2014/main" id="{DD5CB5D7-5BFF-4B13-ADAD-2405161ADC62}"/>
              </a:ext>
            </a:extLst>
          </p:cNvPr>
          <p:cNvSpPr>
            <a:spLocks xmlns:a="http://schemas.openxmlformats.org/drawingml/2006/main" noGrp="1"/>
          </p:cNvSpPr>
          <p:nvPr/>
        </p:nvSpPr>
        <p:spPr>
          <a:xfrm xmlns:a="http://schemas.openxmlformats.org/drawingml/2006/main">
            <a:off x="6236208" y="914400"/>
            <a:ext cx="5513832" cy="4553712"/>
          </a:xfrm>
          <a:prstGeom xmlns:a="http://schemas.openxmlformats.org/drawingml/2006/main" prst="rect">
            <a:avLst/>
          </a:prstGeom>
          <a:solidFill xmlns:a="http://schemas.openxmlformats.org/drawingml/2006/main">
            <a:srgbClr val="FFF4DB"/>
          </a:solidFill>
          <a:ln xmlns:a="http://schemas.openxmlformats.org/drawingml/2006/main">
            <a:solidFill>
              <a:srgbClr val="E99A2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55F3B2F3-6DFC-49BF-B35C-ABDD02EDC9E1}"/>
              </a:ext>
            </a:extLst>
          </p:cNvPr>
          <p:cNvSpPr>
            <a:spLocks xmlns:a="http://schemas.openxmlformats.org/drawingml/2006/main" noGrp="1"/>
          </p:cNvSpPr>
          <p:nvPr/>
        </p:nvSpPr>
        <p:spPr>
          <a:xfrm xmlns:a="http://schemas.openxmlformats.org/drawingml/2006/main">
            <a:off x="6492240" y="1170432"/>
            <a:ext cx="5001768" cy="37795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t">
            <a:spAutoFit/>
          </a:bodyPr>
          <a:lstStyle xmlns:a="http://schemas.openxmlformats.org/drawingml/2006/main"/>
          <a:p xmlns:a="http://schemas.openxmlformats.org/drawingml/2006/main">
            <a:pPr algn="ctr">
              <a:buNone/>
              <a:defRPr sz="2000" b="1">
                <a:solidFill>
                  <a:srgbClr val="003667"/>
                </a:solidFill>
                <a:latin typeface="Meiryo"/>
                <a:ea typeface="Meiryo"/>
                <a:cs typeface="Meiryo"/>
              </a:defRPr>
            </a:pPr>
            <a:r>
              <a:t>7月19日～31日の優先順</a:t>
            </a:r>
          </a:p>
        </p:txBody>
      </p:sp>
      <p:sp>
        <p:nvSpPr>
          <p:cNvPr id="14" name="TextBox 13">
            <a:extLst xmlns:a="http://schemas.openxmlformats.org/drawingml/2006/main">
              <a:ext uri="{FF2B5EF4-FFF2-40B4-BE49-F238E27FC236}">
                <a16:creationId xmlns:a16="http://schemas.microsoft.com/office/drawing/2014/main" id="{25B9C990-CA6E-4E8C-BE18-B6182AAE2AAD}"/>
              </a:ext>
            </a:extLst>
          </p:cNvPr>
          <p:cNvSpPr>
            <a:spLocks xmlns:a="http://schemas.openxmlformats.org/drawingml/2006/main" noGrp="1"/>
          </p:cNvSpPr>
          <p:nvPr/>
        </p:nvSpPr>
        <p:spPr>
          <a:xfrm xmlns:a="http://schemas.openxmlformats.org/drawingml/2006/main">
            <a:off x="6547104" y="1755648"/>
            <a:ext cx="4882896" cy="30632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Aft>
                <a:spcPts val="900"/>
              </a:spcAft>
              <a:buNone/>
              <a:defRPr sz="1520">
                <a:solidFill>
                  <a:srgbClr val="191F24"/>
                </a:solidFill>
                <a:latin typeface="Meiryo"/>
                <a:ea typeface="Meiryo"/>
                <a:cs typeface="Meiryo"/>
              </a:defRPr>
            </a:pPr>
            <a:r>
              <a:t>【必須｜7月19日～25日】</a:t>
            </a:r>
          </a:p>
          <a:p xmlns:a="http://schemas.openxmlformats.org/drawingml/2006/main">
            <a:pPr>
              <a:spcAft>
                <a:spcPts val="900"/>
              </a:spcAft>
              <a:buNone/>
              <a:defRPr sz="1520">
                <a:solidFill>
                  <a:srgbClr val="191F24"/>
                </a:solidFill>
                <a:latin typeface="Meiryo"/>
                <a:ea typeface="Meiryo"/>
                <a:cs typeface="Meiryo"/>
              </a:defRPr>
            </a:pPr>
            <a:r>
              <a:t>● 診断記録を自動保存し、原因を分類</a:t>
            </a:r>
          </a:p>
          <a:p xmlns:a="http://schemas.openxmlformats.org/drawingml/2006/main">
            <a:pPr>
              <a:spcAft>
                <a:spcPts val="900"/>
              </a:spcAft>
              <a:buNone/>
              <a:defRPr sz="1520">
                <a:solidFill>
                  <a:srgbClr val="191F24"/>
                </a:solidFill>
                <a:latin typeface="Meiryo"/>
                <a:ea typeface="Meiryo"/>
                <a:cs typeface="Meiryo"/>
              </a:defRPr>
            </a:pPr>
            <a:r>
              <a:t>● 電力会社の電気だけで確認し、条件を一つずつ戻す</a:t>
            </a:r>
          </a:p>
          <a:p xmlns:a="http://schemas.openxmlformats.org/drawingml/2006/main">
            <a:pPr>
              <a:spcAft>
                <a:spcPts val="900"/>
              </a:spcAft>
              <a:buNone/>
              <a:defRPr sz="1520">
                <a:solidFill>
                  <a:srgbClr val="191F24"/>
                </a:solidFill>
                <a:latin typeface="Meiryo"/>
                <a:ea typeface="Meiryo"/>
                <a:cs typeface="Meiryo"/>
              </a:defRPr>
            </a:pPr>
            <a:r>
              <a:t>● 15分刻みの基準結果を再現できる形で保存</a:t>
            </a:r>
          </a:p>
          <a:p xmlns:a="http://schemas.openxmlformats.org/drawingml/2006/main">
            <a:pPr>
              <a:spcAft>
                <a:spcPts val="900"/>
              </a:spcAft>
              <a:buNone/>
              <a:defRPr sz="1520">
                <a:solidFill>
                  <a:srgbClr val="191F24"/>
                </a:solidFill>
                <a:latin typeface="Meiryo"/>
                <a:ea typeface="Meiryo"/>
                <a:cs typeface="Meiryo"/>
              </a:defRPr>
            </a:pPr>
            <a:r>
              <a:t/>
            </a:r>
          </a:p>
          <a:p xmlns:a="http://schemas.openxmlformats.org/drawingml/2006/main">
            <a:pPr>
              <a:spcAft>
                <a:spcPts val="900"/>
              </a:spcAft>
              <a:buNone/>
              <a:defRPr sz="1520">
                <a:solidFill>
                  <a:srgbClr val="191F24"/>
                </a:solidFill>
                <a:latin typeface="Meiryo"/>
                <a:ea typeface="Meiryo"/>
                <a:cs typeface="Meiryo"/>
              </a:defRPr>
            </a:pPr>
            <a:r>
              <a:t>【次点｜7月26日～31日】</a:t>
            </a:r>
          </a:p>
          <a:p xmlns:a="http://schemas.openxmlformats.org/drawingml/2006/main">
            <a:pPr>
              <a:spcAft>
                <a:spcPts val="900"/>
              </a:spcAft>
              <a:buNone/>
              <a:defRPr sz="1520">
                <a:solidFill>
                  <a:srgbClr val="191F24"/>
                </a:solidFill>
                <a:latin typeface="Meiryo"/>
                <a:ea typeface="Meiryo"/>
                <a:cs typeface="Meiryo"/>
              </a:defRPr>
            </a:pPr>
            <a:r>
              <a:t>● 毎時間の見直しを24回つなげる</a:t>
            </a:r>
          </a:p>
          <a:p xmlns:a="http://schemas.openxmlformats.org/drawingml/2006/main">
            <a:pPr>
              <a:spcAft>
                <a:spcPts val="900"/>
              </a:spcAft>
              <a:buNone/>
              <a:defRPr sz="1520">
                <a:solidFill>
                  <a:srgbClr val="191F24"/>
                </a:solidFill>
                <a:latin typeface="Meiryo"/>
                <a:ea typeface="Meiryo"/>
                <a:cs typeface="Meiryo"/>
              </a:defRPr>
            </a:pPr>
            <a:r>
              <a:t>● 一日計画との費用・電力・電池残量を比較</a:t>
            </a:r>
          </a:p>
          <a:p xmlns:a="http://schemas.openxmlformats.org/drawingml/2006/main">
            <a:pPr>
              <a:spcAft>
                <a:spcPts val="900"/>
              </a:spcAft>
              <a:buNone/>
              <a:defRPr sz="1520">
                <a:solidFill>
                  <a:srgbClr val="191F24"/>
                </a:solidFill>
                <a:latin typeface="Meiryo"/>
                <a:ea typeface="Meiryo"/>
                <a:cs typeface="Meiryo"/>
              </a:defRPr>
            </a:pPr>
            <a:r>
              <a:t/>
            </a:r>
          </a:p>
          <a:p xmlns:a="http://schemas.openxmlformats.org/drawingml/2006/main">
            <a:pPr>
              <a:spcAft>
                <a:spcPts val="900"/>
              </a:spcAft>
              <a:buNone/>
              <a:defRPr sz="1520">
                <a:solidFill>
                  <a:srgbClr val="191F24"/>
                </a:solidFill>
                <a:latin typeface="Meiryo"/>
                <a:ea typeface="Meiryo"/>
                <a:cs typeface="Meiryo"/>
              </a:defRPr>
            </a:pPr>
            <a:r>
              <a:t>【余力】予測の外れ・晴雨・つなぎ候補数を比較</a:t>
            </a:r>
          </a:p>
        </p:txBody>
      </p:sp>
      <p:sp>
        <p:nvSpPr>
          <p:cNvPr id="15" name="Rectangle 14">
            <a:extLst xmlns:a="http://schemas.openxmlformats.org/drawingml/2006/main">
              <a:ext uri="{FF2B5EF4-FFF2-40B4-BE49-F238E27FC236}">
                <a16:creationId xmlns:a16="http://schemas.microsoft.com/office/drawing/2014/main" id="{7C904329-3AE9-470F-B691-AEE4A6A34984}"/>
              </a:ext>
            </a:extLst>
          </p:cNvPr>
          <p:cNvSpPr>
            <a:spLocks xmlns:a="http://schemas.openxmlformats.org/drawingml/2006/main" noGrp="1"/>
          </p:cNvSpPr>
          <p:nvPr/>
        </p:nvSpPr>
        <p:spPr>
          <a:xfrm xmlns:a="http://schemas.openxmlformats.org/drawingml/2006/main">
            <a:off x="320040" y="5943600"/>
            <a:ext cx="11548872" cy="493776"/>
          </a:xfrm>
          <a:prstGeom xmlns:a="http://schemas.openxmlformats.org/drawingml/2006/main" prst="rect">
            <a:avLst/>
          </a:prstGeom>
          <a:solidFill xmlns:a="http://schemas.openxmlformats.org/drawingml/2006/main">
            <a:srgbClr val="E1EFFA"/>
          </a:solidFill>
          <a:ln xmlns:a="http://schemas.openxmlformats.org/drawingml/2006/main">
            <a:solidFill>
              <a:srgbClr val="E1EFFA"/>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A17C8D0A-891E-4DC7-B7FF-B71931344346}"/>
              </a:ext>
            </a:extLst>
          </p:cNvPr>
          <p:cNvSpPr>
            <a:spLocks xmlns:a="http://schemas.openxmlformats.org/drawingml/2006/main" noGrp="1"/>
          </p:cNvSpPr>
          <p:nvPr/>
        </p:nvSpPr>
        <p:spPr>
          <a:xfrm xmlns:a="http://schemas.openxmlformats.org/drawingml/2006/main">
            <a:off x="502920" y="6035040"/>
            <a:ext cx="11155680" cy="294132"/>
          </a:xfrm>
          <a:prstGeom xmlns:a="http://schemas.openxmlformats.org/drawingml/2006/main" prst="rect">
            <a:avLst/>
          </a:prstGeom>
          <a:noFill xmlns:a="http://schemas.openxmlformats.org/drawingml/2006/main"/>
        </p:spPr>
        <p:txBody>
          <a:bodyPr xmlns:a="http://schemas.openxmlformats.org/drawingml/2006/main" wrap="square" lIns="36576" tIns="36576" rIns="36576" bIns="36576" anchor="ctr">
            <a:spAutoFit/>
          </a:bodyPr>
          <a:lstStyle xmlns:a="http://schemas.openxmlformats.org/drawingml/2006/main"/>
          <a:p xmlns:a="http://schemas.openxmlformats.org/drawingml/2006/main">
            <a:pPr algn="l">
              <a:buNone/>
              <a:defRPr sz="1450" b="1">
                <a:solidFill>
                  <a:srgbClr val="003667"/>
                </a:solidFill>
                <a:latin typeface="Meiryo"/>
                <a:ea typeface="Meiryo"/>
                <a:cs typeface="Meiryo"/>
              </a:defRPr>
            </a:pPr>
            <a:r>
              <a:t>要点｜2週間の完了条件は、正式な基準結果を1本作り、毎時間の見直しを24回つないだ1ケースを確認すること。</a:t>
            </a:r>
          </a:p>
        </p:txBody>
      </p:sp>
    </p:spTree>
    <p:extLst>
      <p:ext uri="{BB962C8B-B14F-4D97-AF65-F5344CB8AC3E}">
        <p14:creationId xmlns:p14="http://schemas.microsoft.com/office/powerpoint/2010/main" val="68408076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2026-07-18T07:57:11.8540000Z</dcterms:created>
  <dcterms:modified xsi:type="dcterms:W3CDTF">2026-07-18T07:57:11.8540000Z</dcterms:modified>
</coreProperties>
</file>