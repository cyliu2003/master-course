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9366ade7e048e9" /><Relationship Type="http://schemas.openxmlformats.org/officeDocument/2006/relationships/extended-properties" Target="/docProps/app.xml" Id="Rc42d76918b0441e3" /><Relationship Type="http://schemas.openxmlformats.org/officeDocument/2006/relationships/officeDocument" Target="/ppt/presentation.xml" Id="R00c21e10a9be4bde" /></Relationships>
</file>

<file path=ppt/presentation.xml><?xml version="1.0" encoding="utf-8"?>
<p:presentation xmlns:p="http://schemas.openxmlformats.org/presentationml/2006/main">
  <p:sldMasterIdLst>
    <p:sldMasterId xmlns:r="http://schemas.openxmlformats.org/officeDocument/2006/relationships" id="2147483648" r:id="Rbbc85fb720d1463d"/>
  </p:sldMasterIdLst>
  <p:notesMasterIdLst>
    <p:notesMasterId xmlns:r="http://schemas.openxmlformats.org/officeDocument/2006/relationships" r:id="Rec2b0d7cf0eb4dc3"/>
  </p:notesMasterIdLst>
  <p:sldIdLst>
    <p:sldId xmlns:r="http://schemas.openxmlformats.org/officeDocument/2006/relationships" id="256" r:id="Rea4754fd14674972"/>
    <p:sldId xmlns:r="http://schemas.openxmlformats.org/officeDocument/2006/relationships" id="257" r:id="R7567f1282b7945c6"/>
    <p:sldId xmlns:r="http://schemas.openxmlformats.org/officeDocument/2006/relationships" id="258" r:id="R234e8e4e5c7f4051"/>
    <p:sldId xmlns:r="http://schemas.openxmlformats.org/officeDocument/2006/relationships" id="259" r:id="R85d96e5882cc47e0"/>
    <p:sldId xmlns:r="http://schemas.openxmlformats.org/officeDocument/2006/relationships" id="260" r:id="Rdaae0bd415034257"/>
    <p:sldId xmlns:r="http://schemas.openxmlformats.org/officeDocument/2006/relationships" id="261" r:id="Re214abbc914740ec"/>
    <p:sldId xmlns:r="http://schemas.openxmlformats.org/officeDocument/2006/relationships" id="262" r:id="Rf3eda77a4364440f"/>
    <p:sldId xmlns:r="http://schemas.openxmlformats.org/officeDocument/2006/relationships" id="263" r:id="R670ffedd036b4224"/>
    <p:sldId xmlns:r="http://schemas.openxmlformats.org/officeDocument/2006/relationships" id="264" r:id="R2e49dcfbc83d4418"/>
    <p:sldId xmlns:r="http://schemas.openxmlformats.org/officeDocument/2006/relationships" id="265" r:id="R204b654403c34cea"/>
    <p:sldId xmlns:r="http://schemas.openxmlformats.org/officeDocument/2006/relationships" id="266" r:id="R19f3fcb872e64fc9"/>
    <p:sldId xmlns:r="http://schemas.openxmlformats.org/officeDocument/2006/relationships" id="267" r:id="R6194dd326b124b28"/>
    <p:sldId xmlns:r="http://schemas.openxmlformats.org/officeDocument/2006/relationships" id="268" r:id="R3e0562391ab349f9"/>
    <p:sldId xmlns:r="http://schemas.openxmlformats.org/officeDocument/2006/relationships" id="269" r:id="R2be8555fb75b4692"/>
    <p:sldId xmlns:r="http://schemas.openxmlformats.org/officeDocument/2006/relationships" id="270" r:id="R71cef048c21a46cd"/>
    <p:sldId xmlns:r="http://schemas.openxmlformats.org/officeDocument/2006/relationships" id="271" r:id="R0cefb7a0a3a5427c"/>
    <p:sldId xmlns:r="http://schemas.openxmlformats.org/officeDocument/2006/relationships" id="272" r:id="R8a4d281f1b5d4c3d"/>
    <p:sldId xmlns:r="http://schemas.openxmlformats.org/officeDocument/2006/relationships" id="273" r:id="R0e0e1a9d2af64e31"/>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bf5f9d7b65547a0" /><Relationship Type="http://schemas.openxmlformats.org/officeDocument/2006/relationships/slideMaster" Target="/ppt/slideMasters/slideMaster1.xml" Id="Rbbc85fb720d1463d" /><Relationship Type="http://schemas.openxmlformats.org/officeDocument/2006/relationships/notesMaster" Target="/ppt/notesMasters/notesMaster1.xml" Id="Rec2b0d7cf0eb4dc3" /><Relationship Type="http://schemas.openxmlformats.org/officeDocument/2006/relationships/presProps" Target="/ppt/presProps.xml" Id="Rf9a8bded40ea4472" /><Relationship Type="http://schemas.openxmlformats.org/officeDocument/2006/relationships/viewProps" Target="/ppt/viewProps.xml" Id="R7b79530cacb04b0b" /><Relationship Type="http://schemas.openxmlformats.org/officeDocument/2006/relationships/tableStyles" Target="/ppt/tableStyles.xml" Id="R45792dba43904ee3" /><Relationship Type="http://schemas.openxmlformats.org/officeDocument/2006/relationships/slide" Target="/ppt/slides/slide1.xml" Id="Rea4754fd14674972" /><Relationship Type="http://schemas.openxmlformats.org/officeDocument/2006/relationships/slide" Target="/ppt/slides/slide2.xml" Id="R7567f1282b7945c6" /><Relationship Type="http://schemas.openxmlformats.org/officeDocument/2006/relationships/slide" Target="/ppt/slides/slide3.xml" Id="R234e8e4e5c7f4051" /><Relationship Type="http://schemas.openxmlformats.org/officeDocument/2006/relationships/slide" Target="/ppt/slides/slide4.xml" Id="R85d96e5882cc47e0" /><Relationship Type="http://schemas.openxmlformats.org/officeDocument/2006/relationships/slide" Target="/ppt/slides/slide5.xml" Id="Rdaae0bd415034257" /><Relationship Type="http://schemas.openxmlformats.org/officeDocument/2006/relationships/slide" Target="/ppt/slides/slide6.xml" Id="Re214abbc914740ec" /><Relationship Type="http://schemas.openxmlformats.org/officeDocument/2006/relationships/slide" Target="/ppt/slides/slide7.xml" Id="Rf3eda77a4364440f" /><Relationship Type="http://schemas.openxmlformats.org/officeDocument/2006/relationships/slide" Target="/ppt/slides/slide8.xml" Id="R670ffedd036b4224" /><Relationship Type="http://schemas.openxmlformats.org/officeDocument/2006/relationships/slide" Target="/ppt/slides/slide9.xml" Id="R2e49dcfbc83d4418" /><Relationship Type="http://schemas.openxmlformats.org/officeDocument/2006/relationships/slide" Target="/ppt/slides/slide10.xml" Id="R204b654403c34cea" /><Relationship Type="http://schemas.openxmlformats.org/officeDocument/2006/relationships/slide" Target="/ppt/slides/slide11.xml" Id="R19f3fcb872e64fc9" /><Relationship Type="http://schemas.openxmlformats.org/officeDocument/2006/relationships/slide" Target="/ppt/slides/slide12.xml" Id="R6194dd326b124b28" /><Relationship Type="http://schemas.openxmlformats.org/officeDocument/2006/relationships/slide" Target="/ppt/slides/slide13.xml" Id="R3e0562391ab349f9" /><Relationship Type="http://schemas.openxmlformats.org/officeDocument/2006/relationships/slide" Target="/ppt/slides/slide14.xml" Id="R2be8555fb75b4692" /><Relationship Type="http://schemas.openxmlformats.org/officeDocument/2006/relationships/slide" Target="/ppt/slides/slide15.xml" Id="R71cef048c21a46cd" /><Relationship Type="http://schemas.openxmlformats.org/officeDocument/2006/relationships/slide" Target="/ppt/slides/slide16.xml" Id="R0cefb7a0a3a5427c" /><Relationship Type="http://schemas.openxmlformats.org/officeDocument/2006/relationships/slide" Target="/ppt/slides/slide17.xml" Id="R8a4d281f1b5d4c3d" /><Relationship Type="http://schemas.openxmlformats.org/officeDocument/2006/relationships/slide" Target="/ppt/slides/slide18.xml" Id="R0e0e1a9d2af64e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a780218db84c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36b5d4e77345ff" /><Relationship Type="http://schemas.openxmlformats.org/officeDocument/2006/relationships/notesMaster" Target="/ppt/notesMasters/notesMaster1.xml" Id="R3b9ba1f61b3646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0c36b80af04534" /><Relationship Type="http://schemas.openxmlformats.org/officeDocument/2006/relationships/notesMaster" Target="/ppt/notesMasters/notesMaster1.xml" Id="Re3d7be28963c4b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ff51b0c90d47ba" /><Relationship Type="http://schemas.openxmlformats.org/officeDocument/2006/relationships/notesMaster" Target="/ppt/notesMasters/notesMaster1.xml" Id="R9df43e1399cb43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f75b890ed6482d" /><Relationship Type="http://schemas.openxmlformats.org/officeDocument/2006/relationships/notesMaster" Target="/ppt/notesMasters/notesMaster1.xml" Id="Re1ddfe47752746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fa36374cfe4317" /><Relationship Type="http://schemas.openxmlformats.org/officeDocument/2006/relationships/notesMaster" Target="/ppt/notesMasters/notesMaster1.xml" Id="R77954ba15eac40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076f50f1bd4c9f" /><Relationship Type="http://schemas.openxmlformats.org/officeDocument/2006/relationships/notesMaster" Target="/ppt/notesMasters/notesMaster1.xml" Id="R4569d89728a64b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0183a58c46480d" /><Relationship Type="http://schemas.openxmlformats.org/officeDocument/2006/relationships/notesMaster" Target="/ppt/notesMasters/notesMaster1.xml" Id="R83ebe832842e48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6dafeb2ec44b17" /><Relationship Type="http://schemas.openxmlformats.org/officeDocument/2006/relationships/notesMaster" Target="/ppt/notesMasters/notesMaster1.xml" Id="Rcc49b184cb5042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412571ba9740b1" /><Relationship Type="http://schemas.openxmlformats.org/officeDocument/2006/relationships/notesMaster" Target="/ppt/notesMasters/notesMaster1.xml" Id="R151617e254304d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4d75153a6d43fb" /><Relationship Type="http://schemas.openxmlformats.org/officeDocument/2006/relationships/notesMaster" Target="/ppt/notesMasters/notesMaster1.xml" Id="R0f50c8f4c7da45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f3cc4a99e14c3a" /><Relationship Type="http://schemas.openxmlformats.org/officeDocument/2006/relationships/notesMaster" Target="/ppt/notesMasters/notesMaster1.xml" Id="Ra5e7db2bb71341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a415de4c174935" /><Relationship Type="http://schemas.openxmlformats.org/officeDocument/2006/relationships/notesMaster" Target="/ppt/notesMasters/notesMaster1.xml" Id="R8841a2328d4e4d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1dd574cc54409e" /><Relationship Type="http://schemas.openxmlformats.org/officeDocument/2006/relationships/notesMaster" Target="/ppt/notesMasters/notesMaster1.xml" Id="R20d9b1993baa4a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33f76753914dfe" /><Relationship Type="http://schemas.openxmlformats.org/officeDocument/2006/relationships/notesMaster" Target="/ppt/notesMasters/notesMaster1.xml" Id="R8407ee00d5eb47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c1e8bec7ef4302" /><Relationship Type="http://schemas.openxmlformats.org/officeDocument/2006/relationships/notesMaster" Target="/ppt/notesMasters/notesMaster1.xml" Id="Ree4ba64c100b4d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57f3fa77a34e1b" /><Relationship Type="http://schemas.openxmlformats.org/officeDocument/2006/relationships/notesMaster" Target="/ppt/notesMasters/notesMaster1.xml" Id="R1cb95d7308c247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10fe2aaa534d28" /><Relationship Type="http://schemas.openxmlformats.org/officeDocument/2006/relationships/notesMaster" Target="/ppt/notesMasters/notesMaster1.xml" Id="R5b9a5f77ddf441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41141664214414" /><Relationship Type="http://schemas.openxmlformats.org/officeDocument/2006/relationships/notesMaster" Target="/ppt/notesMasters/notesMaster1.xml" Id="Rbcc69060107d49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目標25秒</a:t>
            </a:r>
          </a:p>
          <a:p xmlns:a="http://schemas.openxmlformats.org/drawingml/2006/main">
            <a:r>
              <a:t>本日は、Phase 3の最適化システムに加えた修正、実際に計算へ投入した時間・費用・設備条件、そのうえで得られた晴天と雨天の比較結果を報告します。先生から確認を求められた蓄電池の日末SOC、EV使用台数、電力需給、燃料整合も結果スライドで順に示します。数値は7月16日時点の計算成果物と保存されたsolver入力から再監査し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目標45秒</a:t>
            </a:r>
          </a:p>
          <a:p xmlns:a="http://schemas.openxmlformats.org/drawingml/2006/main">
            <a:r>
              <a:t>主要な確認結果を表にまとめます。蓄電池は両日とも300キロワット時で始まり、300キロワット時で終了しました。晴天のEV使用は16台、雨天は15台で、晴天でも在庫35台すべては使用していません。EV担当便は晴天が141便、雨天が119便です。PV配分、バス充電源、BESS遷移の最大残差はいずれも許容値以下でした。燃料費は運行距離と一致しますが、給油イベントを含む実績台帳ではなく距離に基づく仮勘定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目標55秒</a:t>
            </a:r>
          </a:p>
          <a:p xmlns:a="http://schemas.openxmlformats.org/drawingml/2006/main">
            <a:r>
              <a:t>比較条件です。両日とも264便、EV35台、ICE25台、同じ車両・便・単価・充電器・BESS条件で、主な差はPV時系列です。ここで大切なのは、先生のメモにあるICE26台と、実際にモデルへ入った25台が一致していないことです。この資料では実入力の25台として報告し、26台条件は再計算課題とします。またStage 1は制限時間終了で約13パーセントのギャップが残るため、大域最適とは言わず、Stage 2が最適かつ全ハード制約を満たす可行解として扱います。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目標55秒</a:t>
            </a:r>
          </a:p>
          <a:p xmlns:a="http://schemas.openxmlformats.org/drawingml/2006/main">
            <a:r>
              <a:t>ここでは、今回追加・修正した処理をコード上の役割で整理します。第一に、Stage 1で使う下界とBESS控除の意味を数式とmetadataに残しました。第二に、日次割当を毎回解き直さず、割当を固定した毎時充電再最適化を追加しました。実測EV SOC、BESS SOC、当日ここまでの需要ピークを受け取り、残り時間だけを解きます。第三に、Stage別時間上限、絶対時刻のPV参照、車両SOC時系列を成果物へ保存しました。便接続条件と時刻表は変更していません。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目標60秒</a:t>
            </a:r>
          </a:p>
          <a:p xmlns:a="http://schemas.openxmlformats.org/drawingml/2006/main">
            <a:r>
              <a:t>『EV外部充電量の下界』は、実際の充電量や充電計画ではありません。選択した便と回送の消費、終端SOC要求、初期EV SOCから計算した、時刻と設備制約を外した最低充電器入力です。PV控除も日量集約であり、実際にその時刻にPVをバスへ入れられることを意味しません。BESS控除は、初期SOCが終端要求を上回る部分だけを放電効率込みで数える値です。現比較では初期も終端要求も300キロワット時なのでゼロです。時刻整合、充電器、系統上限、需要料金はStage 2で初めて厳密に決まります。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目標55秒</a:t>
            </a:r>
          </a:p>
          <a:p xmlns:a="http://schemas.openxmlformats.org/drawingml/2006/main">
            <a:r>
              <a:t>日次Phase 3は総制限1500秒で、従来どおりStage 1とStage 2へ最大750秒ずつ配分しました。実測は晴天775.530秒、雨天776.519秒です。120秒と30秒へ短縮する案も試しましたが、Stage 1 gapが100パーセントとなり、晴雨とも同じ粗い割当になったため不採用です。計算短縮は、日次割当を一度確定した後、毎正時に充電と電力需給だけを解き直す方法で行います。入力と接続の契約確認を含む5時時点の再実行は晴天1.964秒、雨天2.021秒、MILP solveは約0.06秒でした。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目標70秒</a:t>
            </a:r>
          </a:p>
          <a:p xmlns:a="http://schemas.openxmlformats.org/drawingml/2006/main">
            <a:r>
              <a:t>費用条件です。系統電力は5時から15時が18円、16時と17時が22円、18時から23時が19円、その後5時までは18円です。需要料金は月1200円毎キロワットを一日40円毎キロワットへ換算し、系統受電の最大値に掛けます。軽油は150円毎リットル、CO2は1円毎キログラム、系統排出係数は0.5キログラム毎キロワット時、使用車両費は一台一日2万円です。PV限界単価、PV抑制、BESSサイクル費は今回すべてゼロです。これらは今回のシナリオ条件であり、モデルが常にゼロと決めているわけ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目標50秒</a:t>
            </a:r>
          </a:p>
          <a:p xmlns:a="http://schemas.openxmlformats.org/drawingml/2006/main">
            <a:r>
              <a:t>晴天ではEV16台、エンジン16台を使い、EVが141便を担当しました。雨天はEV15台、エンジン17台で、EV担当は119便です。したがって期待した方向、つまり晴天の方がEV利用が多いことは確認できます。ただし晴天でも19台のEVは未使用です。理由はPV単価だけではなく、各便の時間接続、SOC、充電可能時刻、そして一台二万円の車両使用費が同時に効くた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目標35秒</a:t>
            </a:r>
          </a:p>
          <a:p xmlns:a="http://schemas.openxmlformats.org/drawingml/2006/main">
            <a:r>
              <a:t>この図は各60分枠で営業運行中の車両数です。日合計の使用台数だけでなく、いつEVとエンジン車が稼働しているかを比較しています。回送、充電、待機はこの図には含めていません。系統ピークや充電時刻を説明するときは、運行側の時間分布と組み合わせて見る必要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目標65秒</a:t>
            </a:r>
          </a:p>
          <a:p xmlns:a="http://schemas.openxmlformats.org/drawingml/2006/main">
            <a:r>
              <a:t>この図の300から300は自然に得られた最適運用ではなく、晴雨比較で蓄電池在庫の持ち出し量を揃えるため、終端300キロワット時をハード制約にした結果です。文献では三つの扱いがあります。上條ほか2024とQinほか2016は代表日を繰り返すため初期と終端を一致させます。中野ほか2024は終端を初期値の近傍に置きます。中野ほか2025は終端SOCを翌日の初期SOCへ引き継ぎます。したがって、定めた運用範囲内であれば物理的には運用可能です。ただし単日費用比較で終端を自由にすると初期在庫を使い切る方向へ有利になるため、300固定ケースと120下限感度は経済性を直接比較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目標45秒</a:t>
            </a:r>
          </a:p>
          <a:p xmlns:a="http://schemas.openxmlformats.org/drawingml/2006/main">
            <a:r>
              <a:t>正側がBESSへの充電入力、負側がバスへの放電供給です。系統からBESSへの充電は設定で禁止されており、両日ゼロです。晴天ではPVから378.9キロワット時を入力し342.0をバスへ供給します。差はSOCに残るのではなく、充放電効率95パーセントによる往復損失36.9キロワット時です。雨天も同じ式で約9.8キロワット時の損失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目標45秒</a:t>
            </a:r>
          </a:p>
          <a:p xmlns:a="http://schemas.openxmlformats.org/drawingml/2006/main">
            <a:r>
              <a:t>PVの行き先を発電量と重ねました。晴天は614.7キロワット時のうち、163.8を直接バスへ、378.9をBESSへ、71.9を出力抑制しています。雨天は101.1のほぼ全量を使い、主にBESSへ入れています。各時間枠で発電量イコール三つの行き先となり、最大残差は10のマイナス15乗オーダーです。晴天で余るPVがある一方、EV全車使用にならないことも確認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目標50秒</a:t>
            </a:r>
          </a:p>
          <a:p xmlns:a="http://schemas.openxmlformats.org/drawingml/2006/main">
            <a:r>
              <a:t>EVバス充電の電力源です。晴天の充電入力は1521.4キロワット時で、系統1015.6、PV直接163.8、BESS342.0です。雨天は総充電入力が1092.0まで減り、系統1000.7、PV直接1.0、BESS90.3です。雨天でPVが減っても系統購入日量が大きく増えないのは、EV担当便が22便減って充電需要そのものも小さくなるためです。電源合計と充電入力の差は数値誤差内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目標45秒</a:t>
            </a:r>
          </a:p>
          <a:p xmlns:a="http://schemas.openxmlformats.org/drawingml/2006/main">
            <a:r>
              <a:t>系統購入を60分平均電力で示しています。晴天の日量は1015.6キロワット時、雨天は1000.7で、雨天の方が14.9少ないです。一方、ピークは晴天95.4キロワット、雨天120.2で、雨天が24.8高くなります。需要料金はエネルギー総量ではなく最大電力で決まるため、雨天の需要料金が約992円高いことと整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目標55秒</a:t>
            </a:r>
          </a:p>
          <a:p xmlns:a="http://schemas.openxmlformats.org/drawingml/2006/main">
            <a:r>
              <a:t>ここは帳尻を一枚にまとめた図です。上段でPV発電を直接バス、BESS、抑制へ分け、系統購入を示しています。中段でBESSからの供給と、バス充電入力の三電源合計を示します。BESSは初期300から終端300へ戻り、効率損失も別に数えています。PV式、充電源式、BESS遷移式の最大残差はいずれも許容値10のマイナス6乗キロワット時より十分小さく、数理上の需給帳尻は成立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目標55秒</a:t>
            </a:r>
          </a:p>
          <a:p xmlns:a="http://schemas.openxmlformats.org/drawingml/2006/main">
            <a:r>
              <a:t>エンジンバスの担当便から営業距離と便間回送距離を再集計しました。晴天は合計1287.2キロメートルから284.773リットル、雨天は1538.4キロメートルから340.364リットルとなり、150円毎リットルを掛けた燃料費は報告値と実質ゼロ円差です。ただし、給油イベントは両日ゼロです。したがって、運行距離との整合は確認できましたが、燃料タンク残量と給油タイミングの実現可能性までは今回の結果から主張でき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目標45秒</a:t>
            </a:r>
          </a:p>
          <a:p xmlns:a="http://schemas.openxmlformats.org/drawingml/2006/main">
            <a:r>
              <a:t>会計総額は晴天71万3032円、雨天72万2511円で、雨天が9479円、1.33パーセント高いです。車両使用費64万円が共通で大きいため、右側で変動要因を拡大しています。雨天増加の主因は燃料費8339円と需要料金992円です。電力費がほぼ同額なのは、PV減少と同時にEV担当便も減って系統購入日量が減るた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目標55秒</a:t>
            </a:r>
          </a:p>
          <a:p xmlns:a="http://schemas.openxmlformats.org/drawingml/2006/main">
            <a:r>
              <a:t>結論です。晴雨比較では終端300キロワット時を共通境界として置き、電力需給と燃料費の内部整合を確認しました。晴天でもEV全車使用ではありません。一方、計算時間については、日次の割当品質を維持しながら、固定割当下の充電再最適化を約2秒まで短縮できました。5時結果のEVとBESSのSOC、既発生需要ピークを6時へ引き継ぐ連鎖も、晴雨とも可行です。次は24回すべての状態連鎖にPV予測誤差を入れます。BESS終端条件は複数日又は終端エネルギー価値を導入して、固定、近傍、翌日引継ぎを比較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05d4540bef4c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99e7516fae44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2763b0611e48a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ee80343cef46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368a7dd9f340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32a74a61dc424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00e7a483d7d4b0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98e27ba08a24e8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e1c15402b2542f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10517985cfe4e6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98ed0d8b5b5450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20CA2B-ADD3-46ED-8B2E-74F31F86E5B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EA85E1F-57E5-4987-A0D6-C2570FB9276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FF2082F-BB56-44D9-AF69-4D4F4F2944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9F1A68B2-A951-4405-B15E-5AE3AF9A89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ECFAFC-B821-42B5-81EB-405F2445F2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AE2467-5748-4D1F-8047-91EFB157B8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EEFD9C4-0885-4B9B-970C-3A6934E42B6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B14C432-A362-482F-B1AC-778DC09DBB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633875EA-9C4B-45F9-AD40-3823DA22F6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2DCDD9B-B006-4CBD-9BEF-D3337091F6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4FF4AA-B8CE-467F-A657-1ABE11C5C7EA}"/>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15660B7-9339-43DA-ACF3-1FD625C1AF0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3AA0248-091A-41A6-89F0-A50C2AEE1E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ABF9B9CC-8CE9-4EDB-BF7A-93E3121522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2E6E10B-093C-467E-9EF2-E36992DDC2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6CB16A-42E1-4193-A6F7-A88465ACA33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7285CC0-6F4A-47C5-9931-21BEDF20BC7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73836418-0F80-4135-BA12-72CAB375AE0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F252DE1D-A1BC-4A76-8A9D-8EF1DF715D5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2DBA64A7-65C5-4B78-9CC4-2D22D12861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3BFFB67F-DB37-4862-99E3-453E3D04A3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4C1D6B-5AEB-4A38-84C5-EB6BEB24EE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FCCBB52-D999-4955-9A28-4D3CC193BEB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F269C07-8636-4130-905B-74EA833FCF1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4EB2C6AD-CFEF-4DD5-B1B8-96E9D7137AFF}"/>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86E5DB9-A326-4D86-95B7-32B0FCFE10EE}"/>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B09E403D-B8E9-43F7-85A7-80B4BB2D3D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C141DCB2-6FA1-4871-AD90-B7EF738465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C1BC806-A0D5-4B4A-AFF5-E49D5E6768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D183BE-9A2A-46A6-92BB-A04BC442CE3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A5932795-AB65-4481-A1E5-56A91E6A26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2F78C709-E805-4DB5-8D56-95CCAD1451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9A1E9FA1-1E1C-4732-9C06-9C0E3C5B10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79AF95C-C513-4FDD-A409-2E1801B01E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109F93D0-0D58-4791-B69D-62FACDD2F8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BE5DC126-1C85-4148-BB5E-B7453D2C1E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52C3CC-28A8-439D-BBBF-A35D92F59F8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896301E-6D21-4229-A64B-BE4932082FE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3E066665-218E-4FCF-8E5F-5ACC431E2F7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2DB9752-FA61-4C11-BFAC-BA4C0827E9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D9893D94-8C06-4A49-B9F6-E1B737BC4F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9FE095F8-8C3E-4CA1-8734-9FD59414E9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8DCDB7-F4AA-41E7-B096-008573C8159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CD59E16-01F8-4DC1-A4C2-D080742A028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3A462657-2A19-4221-B8D2-BDE92D192F1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A1D90FE-E4A9-49E0-8BD4-9519746415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8918D61E-B877-4511-825F-A3E201B2D4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44CF97E2-5A95-491F-B078-D065419802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BF07A9-C738-4713-91C3-CC12F6AE32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A8611FB-F657-43EF-8003-F41B0E9517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D277F3DE-4C6F-447C-9F5B-46895197D4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F73492C7-2B26-41ED-88C5-553D429528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AC77593-2B54-4B7B-8739-5AB4FCC465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34336F1-1E0D-49AE-A3F3-5E8AE1BD93E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1D03DF6-8150-4110-94DB-30BD3C02469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20E5DE49-DF7C-4FF7-B7EA-FD38F08B4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A14E18DC-89E3-4EC9-B499-57B031115B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C306590-38EC-49E3-8616-7086D6E656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d9343924514088" /><Relationship Type="http://schemas.openxmlformats.org/officeDocument/2006/relationships/slideLayout" Target="/ppt/slideLayouts/slideLayout1.xml" Id="R3ae10770fdf14048" /><Relationship Type="http://schemas.openxmlformats.org/officeDocument/2006/relationships/slideLayout" Target="/ppt/slideLayouts/slideLayout2.xml" Id="Rf658d92936e2489a" /><Relationship Type="http://schemas.openxmlformats.org/officeDocument/2006/relationships/slideLayout" Target="/ppt/slideLayouts/slideLayout3.xml" Id="R2d364d6f6d964a8f" /><Relationship Type="http://schemas.openxmlformats.org/officeDocument/2006/relationships/slideLayout" Target="/ppt/slideLayouts/slideLayout4.xml" Id="R3da0a9e505bf4d4e" /><Relationship Type="http://schemas.openxmlformats.org/officeDocument/2006/relationships/slideLayout" Target="/ppt/slideLayouts/slideLayout5.xml" Id="Rf16d739f64bd4962" /><Relationship Type="http://schemas.openxmlformats.org/officeDocument/2006/relationships/slideLayout" Target="/ppt/slideLayouts/slideLayout6.xml" Id="R2832f42d17a14bac" /><Relationship Type="http://schemas.openxmlformats.org/officeDocument/2006/relationships/slideLayout" Target="/ppt/slideLayouts/slideLayout7.xml" Id="R9fc55db5e8ec4636" /><Relationship Type="http://schemas.openxmlformats.org/officeDocument/2006/relationships/slideLayout" Target="/ppt/slideLayouts/slideLayout8.xml" Id="R690dfb26297c47fd" /><Relationship Type="http://schemas.openxmlformats.org/officeDocument/2006/relationships/slideLayout" Target="/ppt/slideLayouts/slideLayout9.xml" Id="Rcfad7a45a450401a" /><Relationship Type="http://schemas.openxmlformats.org/officeDocument/2006/relationships/slideLayout" Target="/ppt/slideLayouts/slideLayout10.xml" Id="R0b99fbf8c3fb4a4e" /><Relationship Type="http://schemas.openxmlformats.org/officeDocument/2006/relationships/slideLayout" Target="/ppt/slideLayouts/slideLayout11.xml" Id="R6452f123f825433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F0E9BC7-ADEA-432C-AB93-AFE836B5B55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933F1AB-FB4F-40EC-9BF9-DADEEFA626B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56135DE5-60B1-4274-BD45-E53230EA7F9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C53A720B-400C-4D97-9973-568E5112E17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C943C06-AD13-4479-AB81-96EF0C8121D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e10770fdf14048"/>
    <p:sldLayoutId xmlns:r="http://schemas.openxmlformats.org/officeDocument/2006/relationships" id="2147483650" r:id="Rf658d92936e2489a"/>
    <p:sldLayoutId xmlns:r="http://schemas.openxmlformats.org/officeDocument/2006/relationships" id="2147483651" r:id="R2d364d6f6d964a8f"/>
    <p:sldLayoutId xmlns:r="http://schemas.openxmlformats.org/officeDocument/2006/relationships" id="2147483652" r:id="R3da0a9e505bf4d4e"/>
    <p:sldLayoutId xmlns:r="http://schemas.openxmlformats.org/officeDocument/2006/relationships" id="2147483653" r:id="Rf16d739f64bd4962"/>
    <p:sldLayoutId xmlns:r="http://schemas.openxmlformats.org/officeDocument/2006/relationships" id="2147483654" r:id="R2832f42d17a14bac"/>
    <p:sldLayoutId xmlns:r="http://schemas.openxmlformats.org/officeDocument/2006/relationships" id="2147483655" r:id="R9fc55db5e8ec4636"/>
    <p:sldLayoutId xmlns:r="http://schemas.openxmlformats.org/officeDocument/2006/relationships" id="2147483656" r:id="R690dfb26297c47fd"/>
    <p:sldLayoutId xmlns:r="http://schemas.openxmlformats.org/officeDocument/2006/relationships" id="2147483657" r:id="Rcfad7a45a450401a"/>
    <p:sldLayoutId xmlns:r="http://schemas.openxmlformats.org/officeDocument/2006/relationships" id="2147483658" r:id="R0b99fbf8c3fb4a4e"/>
    <p:sldLayoutId xmlns:r="http://schemas.openxmlformats.org/officeDocument/2006/relationships" id="2147483659" r:id="R6452f123f8254337"/>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335ac1a4c3364d7d" /><Relationship Type="http://schemas.openxmlformats.org/officeDocument/2006/relationships/notesSlide" Target="/ppt/notesSlides/notesSlide1.xml" Id="R87a48717fcae41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6024bf91158469d" /><Relationship Type="http://schemas.openxmlformats.org/officeDocument/2006/relationships/notesSlide" Target="/ppt/notesSlides/notesSlide2.xml" Id="R5a7f215beaf444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8fd94c14d1884a0f" /><Relationship Type="http://schemas.openxmlformats.org/officeDocument/2006/relationships/notesSlide" Target="/ppt/notesSlides/notesSlide3.xml" Id="Rf89926d4998c41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74917a9f16246c8" /><Relationship Type="http://schemas.openxmlformats.org/officeDocument/2006/relationships/notesSlide" Target="/ppt/notesSlides/notesSlide4.xml" Id="R4c784e1efa834c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ea14eac967c54b80" /><Relationship Type="http://schemas.openxmlformats.org/officeDocument/2006/relationships/notesSlide" Target="/ppt/notesSlides/notesSlide5.xml" Id="Re7a17bc001c24a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4d29983854e4ea0" /><Relationship Type="http://schemas.openxmlformats.org/officeDocument/2006/relationships/notesSlide" Target="/ppt/notesSlides/notesSlide6.xml" Id="Rc48013491dc449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5598ad43d1b455d" /><Relationship Type="http://schemas.openxmlformats.org/officeDocument/2006/relationships/notesSlide" Target="/ppt/notesSlides/notesSlide7.xml" Id="Rcb914fa936b24f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7f1031eaa554282" /><Relationship Type="http://schemas.openxmlformats.org/officeDocument/2006/relationships/image" Target="/ppt/media/image.png" Id="Rdeb63d64f9e24009" /><Relationship Type="http://schemas.openxmlformats.org/officeDocument/2006/relationships/notesSlide" Target="/ppt/notesSlides/notesSlide8.xml" Id="R3b237cff450a44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b6c293e8a8c48c6" /><Relationship Type="http://schemas.openxmlformats.org/officeDocument/2006/relationships/image" Target="/ppt/media/image2.png" Id="Rfbfe1550ecdd42d9" /><Relationship Type="http://schemas.openxmlformats.org/officeDocument/2006/relationships/notesSlide" Target="/ppt/notesSlides/notesSlide9.xml" Id="R4655ca2c39a245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939cac0d285477a" /><Relationship Type="http://schemas.openxmlformats.org/officeDocument/2006/relationships/image" Target="/ppt/media/image3.png" Id="R4633c3d0c4a04c21" /><Relationship Type="http://schemas.openxmlformats.org/officeDocument/2006/relationships/notesSlide" Target="/ppt/notesSlides/notesSlide10.xml" Id="R890e3ce804a542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ba95b92a55f468a" /><Relationship Type="http://schemas.openxmlformats.org/officeDocument/2006/relationships/image" Target="/ppt/media/image4.png" Id="Rb2cf3616fafe4ee6" /><Relationship Type="http://schemas.openxmlformats.org/officeDocument/2006/relationships/notesSlide" Target="/ppt/notesSlides/notesSlide11.xml" Id="R9e7ccbe1fc9449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e37d67efc7b24d69" /><Relationship Type="http://schemas.openxmlformats.org/officeDocument/2006/relationships/image" Target="/ppt/media/image5.png" Id="R0cd8391197b34a36" /><Relationship Type="http://schemas.openxmlformats.org/officeDocument/2006/relationships/notesSlide" Target="/ppt/notesSlides/notesSlide12.xml" Id="Rf829105015854f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dbe1709843a4abd" /><Relationship Type="http://schemas.openxmlformats.org/officeDocument/2006/relationships/image" Target="/ppt/media/image6.png" Id="R611300e46d814705" /><Relationship Type="http://schemas.openxmlformats.org/officeDocument/2006/relationships/notesSlide" Target="/ppt/notesSlides/notesSlide13.xml" Id="R952aa25346544e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cbdfc2ceb0374bea" /><Relationship Type="http://schemas.openxmlformats.org/officeDocument/2006/relationships/image" Target="/ppt/media/image7.png" Id="Rf26827b77f074aff" /><Relationship Type="http://schemas.openxmlformats.org/officeDocument/2006/relationships/notesSlide" Target="/ppt/notesSlides/notesSlide14.xml" Id="Rb818ba6460344e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3050a61e159432f" /><Relationship Type="http://schemas.openxmlformats.org/officeDocument/2006/relationships/notesSlide" Target="/ppt/notesSlides/notesSlide15.xml" Id="R4aef6de5c79444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34555cf5ae144113" /><Relationship Type="http://schemas.openxmlformats.org/officeDocument/2006/relationships/image" Target="/ppt/media/image8.png" Id="Ra66690e0080b4f3c" /><Relationship Type="http://schemas.openxmlformats.org/officeDocument/2006/relationships/notesSlide" Target="/ppt/notesSlides/notesSlide16.xml" Id="Rb655e17725654c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ce396012b33948e3" /><Relationship Type="http://schemas.openxmlformats.org/officeDocument/2006/relationships/image" Target="/ppt/media/image9.png" Id="R71d5f764da274cce" /><Relationship Type="http://schemas.openxmlformats.org/officeDocument/2006/relationships/notesSlide" Target="/ppt/notesSlides/notesSlide17.xml" Id="R4e2289588c384f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3423835c2780492c" /><Relationship Type="http://schemas.openxmlformats.org/officeDocument/2006/relationships/notesSlide" Target="/ppt/notesSlides/notesSlide18.xml" Id="R88e1751aa380407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A76CAD8-3884-4451-BAF7-D77268D45C29}"/>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E1809958-8415-4A42-95BD-7095DAFE592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F878CE0-7BD0-4A70-B039-2B7B86D46CE9}"/>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5" name="TextBox 4">
            <a:extLst xmlns:a="http://schemas.openxmlformats.org/drawingml/2006/main">
              <a:ext uri="{FF2B5EF4-FFF2-40B4-BE49-F238E27FC236}">
                <a16:creationId xmlns:a16="http://schemas.microsoft.com/office/drawing/2014/main" id="{CDACA092-784E-4AB4-ADE6-FA8110AF8991}"/>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6" name="Rectangle 5">
            <a:extLst xmlns:a="http://schemas.openxmlformats.org/drawingml/2006/main">
              <a:ext uri="{FF2B5EF4-FFF2-40B4-BE49-F238E27FC236}">
                <a16:creationId xmlns:a16="http://schemas.microsoft.com/office/drawing/2014/main" id="{69FE3B4B-9CBA-47D3-97D5-F63A7B3374B8}"/>
              </a:ext>
            </a:extLst>
          </p:cNvPr>
          <p:cNvSpPr>
            <a:spLocks xmlns:a="http://schemas.openxmlformats.org/drawingml/2006/main" noGrp="1"/>
          </p:cNvSpPr>
          <p:nvPr/>
        </p:nvSpPr>
        <p:spPr>
          <a:xfrm xmlns:a="http://schemas.openxmlformats.org/drawingml/2006/main">
            <a:off x="365760" y="1828800"/>
            <a:ext cx="11155680" cy="1481328"/>
          </a:xfrm>
          <a:prstGeom xmlns:a="http://schemas.openxmlformats.org/drawingml/2006/main" prst="rect">
            <a:avLst/>
          </a:prstGeom>
          <a:solidFill xmlns:a="http://schemas.openxmlformats.org/drawingml/2006/main">
            <a:srgbClr val="003667"/>
          </a:solidFill>
          <a:ln xmlns:a="http://schemas.openxmlformats.org/drawingml/2006/main">
            <a:solidFill>
              <a:srgbClr val="00366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A09426B-3A38-4832-B1C6-721767177476}"/>
              </a:ext>
            </a:extLst>
          </p:cNvPr>
          <p:cNvSpPr>
            <a:spLocks xmlns:a="http://schemas.openxmlformats.org/drawingml/2006/main" noGrp="1"/>
          </p:cNvSpPr>
          <p:nvPr/>
        </p:nvSpPr>
        <p:spPr>
          <a:xfrm xmlns:a="http://schemas.openxmlformats.org/drawingml/2006/main">
            <a:off x="658368" y="2029968"/>
            <a:ext cx="10570464"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3000" b="1">
                <a:solidFill>
                  <a:srgbClr val="FFFFFF"/>
                </a:solidFill>
                <a:latin typeface="Meiryo"/>
                <a:ea typeface="Meiryo"/>
                <a:cs typeface="Meiryo"/>
              </a:defRPr>
            </a:pPr>
            <a:r>
              <a:t>EVバス運用最適化 Phase 3</a:t>
            </a:r>
          </a:p>
        </p:txBody>
      </p:sp>
      <p:sp>
        <p:nvSpPr>
          <p:cNvPr id="8" name="TextBox 7">
            <a:extLst xmlns:a="http://schemas.openxmlformats.org/drawingml/2006/main">
              <a:ext uri="{FF2B5EF4-FFF2-40B4-BE49-F238E27FC236}">
                <a16:creationId xmlns:a16="http://schemas.microsoft.com/office/drawing/2014/main" id="{C1283CC6-0160-4C51-8DEF-9A01DF9130A1}"/>
              </a:ext>
            </a:extLst>
          </p:cNvPr>
          <p:cNvSpPr>
            <a:spLocks xmlns:a="http://schemas.openxmlformats.org/drawingml/2006/main" noGrp="1"/>
          </p:cNvSpPr>
          <p:nvPr/>
        </p:nvSpPr>
        <p:spPr>
          <a:xfrm xmlns:a="http://schemas.openxmlformats.org/drawingml/2006/main">
            <a:off x="658368" y="2578608"/>
            <a:ext cx="10570464" cy="40233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FFFFFF"/>
                </a:solidFill>
                <a:latin typeface="Meiryo"/>
                <a:ea typeface="Meiryo"/>
                <a:cs typeface="Meiryo"/>
              </a:defRPr>
            </a:pPr>
            <a:r>
              <a:t>モデル修正・実験条件・晴天／雨天比較</a:t>
            </a:r>
          </a:p>
        </p:txBody>
      </p:sp>
      <p:sp>
        <p:nvSpPr>
          <p:cNvPr id="9" name="TextBox 8">
            <a:extLst xmlns:a="http://schemas.openxmlformats.org/drawingml/2006/main">
              <a:ext uri="{FF2B5EF4-FFF2-40B4-BE49-F238E27FC236}">
                <a16:creationId xmlns:a16="http://schemas.microsoft.com/office/drawing/2014/main" id="{F39FE758-1839-42B8-A0A1-E3F9E45F0232}"/>
              </a:ext>
            </a:extLst>
          </p:cNvPr>
          <p:cNvSpPr>
            <a:spLocks xmlns:a="http://schemas.openxmlformats.org/drawingml/2006/main" noGrp="1"/>
          </p:cNvSpPr>
          <p:nvPr/>
        </p:nvSpPr>
        <p:spPr>
          <a:xfrm xmlns:a="http://schemas.openxmlformats.org/drawingml/2006/main">
            <a:off x="685800" y="3822191"/>
            <a:ext cx="1051560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900" b="1">
                <a:solidFill>
                  <a:srgbClr val="003667"/>
                </a:solidFill>
                <a:latin typeface="Meiryo"/>
                <a:ea typeface="Meiryo"/>
                <a:cs typeface="Meiryo"/>
              </a:defRPr>
            </a:pPr>
            <a:r>
              <a:t>2026年7月16日　進捗報告</a:t>
            </a:r>
          </a:p>
        </p:txBody>
      </p:sp>
      <p:sp>
        <p:nvSpPr>
          <p:cNvPr id="10" name="TextBox 9">
            <a:extLst xmlns:a="http://schemas.openxmlformats.org/drawingml/2006/main">
              <a:ext uri="{FF2B5EF4-FFF2-40B4-BE49-F238E27FC236}">
                <a16:creationId xmlns:a16="http://schemas.microsoft.com/office/drawing/2014/main" id="{5C013902-1EA5-4FB7-A1DC-FCFED037A351}"/>
              </a:ext>
            </a:extLst>
          </p:cNvPr>
          <p:cNvSpPr>
            <a:spLocks xmlns:a="http://schemas.openxmlformats.org/drawingml/2006/main" noGrp="1"/>
          </p:cNvSpPr>
          <p:nvPr/>
        </p:nvSpPr>
        <p:spPr>
          <a:xfrm xmlns:a="http://schemas.openxmlformats.org/drawingml/2006/main">
            <a:off x="685800" y="4251960"/>
            <a:ext cx="10515600"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600" b="0">
                <a:solidFill>
                  <a:srgbClr val="191F24"/>
                </a:solidFill>
                <a:latin typeface="Meiryo"/>
                <a:ea typeface="Meiryo"/>
                <a:cs typeface="Meiryo"/>
              </a:defRPr>
            </a:pPr>
            <a:r>
              <a:t>刘 承洋　東京都市大学</a:t>
            </a:r>
          </a:p>
        </p:txBody>
      </p:sp>
      <p:sp>
        <p:nvSpPr>
          <p:cNvPr id="11" name="TextBox 10">
            <a:extLst xmlns:a="http://schemas.openxmlformats.org/drawingml/2006/main">
              <a:ext uri="{FF2B5EF4-FFF2-40B4-BE49-F238E27FC236}">
                <a16:creationId xmlns:a16="http://schemas.microsoft.com/office/drawing/2014/main" id="{3848A8E4-3847-49C8-B8FA-45DC7AC60234}"/>
              </a:ext>
            </a:extLst>
          </p:cNvPr>
          <p:cNvSpPr>
            <a:spLocks xmlns:a="http://schemas.openxmlformats.org/drawingml/2006/main" noGrp="1"/>
          </p:cNvSpPr>
          <p:nvPr/>
        </p:nvSpPr>
        <p:spPr>
          <a:xfrm xmlns:a="http://schemas.openxmlformats.org/drawingml/2006/main">
            <a:off x="685800" y="4983480"/>
            <a:ext cx="10515600" cy="3108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400" b="0">
                <a:solidFill>
                  <a:srgbClr val="5C6670"/>
                </a:solidFill>
                <a:latin typeface="Meiryo"/>
                <a:ea typeface="Meiryo"/>
                <a:cs typeface="Meiryo"/>
              </a:defRPr>
            </a:pPr>
            <a:r>
              <a:t>比較日：晴天 2025-08-05 ／ 雨天 2025-08-10</a:t>
            </a:r>
          </a:p>
        </p:txBody>
      </p:sp>
    </p:spTree>
    <p:extLst>
      <p:ext uri="{BB962C8B-B14F-4D97-AF65-F5344CB8AC3E}">
        <p14:creationId xmlns:p14="http://schemas.microsoft.com/office/powerpoint/2010/main" val="800099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629784D-FD2D-40EB-955A-7EC0DA60B4A1}"/>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結論：先生の確認事項への回答</a:t>
            </a:r>
          </a:p>
        </p:txBody>
      </p:sp>
      <p:sp>
        <p:nvSpPr>
          <p:cNvPr id="3" name="Connector 2">
            <a:extLst xmlns:a="http://schemas.openxmlformats.org/drawingml/2006/main">
              <a:ext uri="{FF2B5EF4-FFF2-40B4-BE49-F238E27FC236}">
                <a16:creationId xmlns:a16="http://schemas.microsoft.com/office/drawing/2014/main" id="{FB60B7E4-910F-4890-AB78-A43259B3CC06}"/>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7EFE053B-95DE-4337-BCC5-A0E44CF43123}"/>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07E270FB-1E66-4A6F-AA87-3038EF712A84}"/>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AB9AAD9-5646-4349-883E-D94E295B9992}"/>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40EE6352-9769-418C-B622-014E0B48717B}"/>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3031BBE4-EB77-4892-B026-320935EF205E}"/>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2/18</a:t>
            </a:r>
          </a:p>
        </p:txBody>
      </p:sp>
      <p:graphicFrame>
        <p:nvGraphicFramePr>
          <p:cNvPr id="20" name="Table 8"/>
          <p:cNvGraphicFramePr/>
          <p:nvPr/>
        </p:nvGraphicFramePr>
        <p:xfrm>
          <a:off xmlns:a="http://schemas.openxmlformats.org/drawingml/2006/main" x="411480" y="941832"/>
          <a:ext xmlns:a="http://schemas.openxmlformats.org/drawingml/2006/main" cx="11365992" cy="4553712"/>
        </p:xfrm>
        <a:graphic xmlns:a="http://schemas.openxmlformats.org/drawingml/2006/main">
          <a:graphicData uri="http://schemas.openxmlformats.org/drawingml/2006/table">
            <a:tbl>
              <a:tblPr firstRow="1" bandRow="1">
                <a:tableStyleId>{5C22544A-7EE6-4342-B048-85BDC9FD1C3A}</a:tableStyleId>
              </a:tblPr>
              <a:tblGrid>
                <a:gridCol w="2331720"/>
                <a:gridCol w="2423160"/>
                <a:gridCol w="2423160"/>
                <a:gridCol w="4187952"/>
              </a:tblGrid>
              <a:tr h="758952">
                <a:tc>
                  <a:txBody>
                    <a:bodyPr/>
                    <a:lstStyle/>
                    <a:p>
                      <a:pPr algn="l">
                        <a:buNone/>
                      </a:pPr>
                      <a:r>
                        <a:rPr sz="1350" b="1">
                          <a:solidFill>
                            <a:srgbClr val="FFFFFF"/>
                          </a:solidFill>
                          <a:latin typeface="Meiryo"/>
                          <a:ea typeface="Meiryo"/>
                          <a:cs typeface="Meiryo"/>
                        </a:rPr>
                        <a:t>確認項目</a:t>
                      </a:r>
                    </a:p>
                  </a:txBody>
                  <a:tcPr marL="73152" marR="73152" marT="36576" marB="36576" anchor="ctr">
                    <a:solidFill>
                      <a:srgbClr val="003667"/>
                    </a:solidFill>
                  </a:tcPr>
                </a:tc>
                <a:tc>
                  <a:txBody>
                    <a:bodyPr/>
                    <a:lstStyle/>
                    <a:p>
                      <a:pPr algn="ctr">
                        <a:buNone/>
                      </a:pPr>
                      <a:r>
                        <a:rPr sz="1350" b="1">
                          <a:solidFill>
                            <a:srgbClr val="FFFFFF"/>
                          </a:solidFill>
                          <a:latin typeface="Meiryo"/>
                          <a:ea typeface="Meiryo"/>
                          <a:cs typeface="Meiryo"/>
                        </a:rPr>
                        <a:t>晴天 2025-08-05</a:t>
                      </a:r>
                    </a:p>
                  </a:txBody>
                  <a:tcPr marL="73152" marR="73152" marT="36576" marB="36576" anchor="ctr">
                    <a:solidFill>
                      <a:srgbClr val="003667"/>
                    </a:solidFill>
                  </a:tcPr>
                </a:tc>
                <a:tc>
                  <a:txBody>
                    <a:bodyPr/>
                    <a:lstStyle/>
                    <a:p>
                      <a:pPr algn="ctr">
                        <a:buNone/>
                      </a:pPr>
                      <a:r>
                        <a:rPr sz="1350" b="1">
                          <a:solidFill>
                            <a:srgbClr val="FFFFFF"/>
                          </a:solidFill>
                          <a:latin typeface="Meiryo"/>
                          <a:ea typeface="Meiryo"/>
                          <a:cs typeface="Meiryo"/>
                        </a:rPr>
                        <a:t>雨天 2025-08-10</a:t>
                      </a:r>
                    </a:p>
                  </a:txBody>
                  <a:tcPr marL="73152" marR="73152" marT="36576" marB="36576" anchor="ctr">
                    <a:solidFill>
                      <a:srgbClr val="003667"/>
                    </a:solidFill>
                  </a:tcPr>
                </a:tc>
                <a:tc>
                  <a:txBody>
                    <a:bodyPr/>
                    <a:lstStyle/>
                    <a:p>
                      <a:pPr algn="ctr">
                        <a:buNone/>
                      </a:pPr>
                      <a:r>
                        <a:rPr sz="1350" b="1">
                          <a:solidFill>
                            <a:srgbClr val="FFFFFF"/>
                          </a:solidFill>
                          <a:latin typeface="Meiryo"/>
                          <a:ea typeface="Meiryo"/>
                          <a:cs typeface="Meiryo"/>
                        </a:rPr>
                        <a:t>判定・解釈</a:t>
                      </a:r>
                    </a:p>
                  </a:txBody>
                  <a:tcPr marL="73152" marR="73152" marT="36576" marB="36576" anchor="ctr">
                    <a:solidFill>
                      <a:srgbClr val="003667"/>
                    </a:solidFill>
                  </a:tcPr>
                </a:tc>
              </a:tr>
              <a:tr h="758952">
                <a:tc>
                  <a:txBody>
                    <a:bodyPr/>
                    <a:lstStyle/>
                    <a:p>
                      <a:pPr algn="l">
                        <a:buNone/>
                      </a:pPr>
                      <a:r>
                        <a:rPr sz="1300" b="1">
                          <a:solidFill>
                            <a:srgbClr val="191F24"/>
                          </a:solidFill>
                          <a:latin typeface="Meiryo"/>
                          <a:ea typeface="Meiryo"/>
                          <a:cs typeface="Meiryo"/>
                        </a:rPr>
                        <a:t>BESS日末SOC</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300 → 300 kWh</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300 → 300 kWh</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終端300 kWhのハード制約を満足</a:t>
                      </a:r>
                    </a:p>
                  </a:txBody>
                  <a:tcPr marL="73152" marR="73152" marT="36576" marB="36576" anchor="ctr">
                    <a:solidFill>
                      <a:srgbClr val="FFFFFF"/>
                    </a:solidFill>
                  </a:tcPr>
                </a:tc>
              </a:tr>
              <a:tr h="758952">
                <a:tc>
                  <a:txBody>
                    <a:bodyPr/>
                    <a:lstStyle/>
                    <a:p>
                      <a:pPr algn="l">
                        <a:buNone/>
                      </a:pPr>
                      <a:r>
                        <a:rPr sz="1300" b="1">
                          <a:solidFill>
                            <a:srgbClr val="191F24"/>
                          </a:solidFill>
                          <a:latin typeface="Meiryo"/>
                          <a:ea typeface="Meiryo"/>
                          <a:cs typeface="Meiryo"/>
                        </a:rPr>
                        <a:t>使用EV台数</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16 / 35台</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15 / 35台</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晴天でも全35台は使用しない</a:t>
                      </a:r>
                    </a:p>
                  </a:txBody>
                  <a:tcPr marL="73152" marR="73152" marT="36576" marB="36576" anchor="ctr">
                    <a:solidFill>
                      <a:srgbClr val="F2F4F6"/>
                    </a:solidFill>
                  </a:tcPr>
                </a:tc>
              </a:tr>
              <a:tr h="758952">
                <a:tc>
                  <a:txBody>
                    <a:bodyPr/>
                    <a:lstStyle/>
                    <a:p>
                      <a:pPr algn="l">
                        <a:buNone/>
                      </a:pPr>
                      <a:r>
                        <a:rPr sz="1300" b="1">
                          <a:solidFill>
                            <a:srgbClr val="191F24"/>
                          </a:solidFill>
                          <a:latin typeface="Meiryo"/>
                          <a:ea typeface="Meiryo"/>
                          <a:cs typeface="Meiryo"/>
                        </a:rPr>
                        <a:t>EV担当便</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141 / 264便</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119 / 264便</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晴天は雨天より22便多い</a:t>
                      </a:r>
                    </a:p>
                  </a:txBody>
                  <a:tcPr marL="73152" marR="73152" marT="36576" marB="36576" anchor="ctr">
                    <a:solidFill>
                      <a:srgbClr val="FFFFFF"/>
                    </a:solidFill>
                  </a:tcPr>
                </a:tc>
              </a:tr>
              <a:tr h="758952">
                <a:tc>
                  <a:txBody>
                    <a:bodyPr/>
                    <a:lstStyle/>
                    <a:p>
                      <a:pPr algn="l">
                        <a:buNone/>
                      </a:pPr>
                      <a:r>
                        <a:rPr sz="1300" b="1">
                          <a:solidFill>
                            <a:srgbClr val="191F24"/>
                          </a:solidFill>
                          <a:latin typeface="Meiryo"/>
                          <a:ea typeface="Meiryo"/>
                          <a:cs typeface="Meiryo"/>
                        </a:rPr>
                        <a:t>電力需給の最大残差</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3.41e-12 kWh</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1.98e-12 kWh</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許容値1.0e-6 kWh以内</a:t>
                      </a:r>
                    </a:p>
                  </a:txBody>
                  <a:tcPr marL="73152" marR="73152" marT="36576" marB="36576" anchor="ctr">
                    <a:solidFill>
                      <a:srgbClr val="F2F4F6"/>
                    </a:solidFill>
                  </a:tcPr>
                </a:tc>
              </a:tr>
              <a:tr h="758952">
                <a:tc>
                  <a:txBody>
                    <a:bodyPr/>
                    <a:lstStyle/>
                    <a:p>
                      <a:pPr algn="l">
                        <a:buNone/>
                      </a:pPr>
                      <a:r>
                        <a:rPr sz="1300" b="1">
                          <a:solidFill>
                            <a:srgbClr val="191F24"/>
                          </a:solidFill>
                          <a:latin typeface="Meiryo"/>
                          <a:ea typeface="Meiryo"/>
                          <a:cs typeface="Meiryo"/>
                        </a:rPr>
                        <a:t>燃料使用量 / 燃料費</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284.773 L / 42,716円</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340.364 L / 51,055円</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営業＋便間回送距離による仮勘定</a:t>
                      </a:r>
                    </a:p>
                  </a:txBody>
                  <a:tcPr marL="73152" marR="73152" marT="36576" marB="36576" anchor="ctr">
                    <a:solidFill>
                      <a:srgbClr val="FFFFFF"/>
                    </a:solidFill>
                  </a:tcPr>
                </a:tc>
              </a:tr>
            </a:tbl>
          </a:graphicData>
        </a:graphic>
      </p:graphicFrame>
      <p:sp>
        <p:nvSpPr>
          <p:cNvPr id="10" name="Rectangle 9">
            <a:extLst xmlns:a="http://schemas.openxmlformats.org/drawingml/2006/main">
              <a:ext uri="{FF2B5EF4-FFF2-40B4-BE49-F238E27FC236}">
                <a16:creationId xmlns:a16="http://schemas.microsoft.com/office/drawing/2014/main" id="{6428CA59-FD10-45A2-B4FA-90EB754E563D}"/>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3267717-5E87-41A7-B3D3-23C4ACCD1EAA}"/>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要点｜主要な整合条件は満足した。ICE在庫数と燃料台帳は正式KPI化前の確認事項として残る。</a:t>
            </a:r>
          </a:p>
        </p:txBody>
      </p:sp>
    </p:spTree>
    <p:extLst>
      <p:ext uri="{BB962C8B-B14F-4D97-AF65-F5344CB8AC3E}">
        <p14:creationId xmlns:p14="http://schemas.microsoft.com/office/powerpoint/2010/main" val="6098951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F3AE7B8-9D76-456B-BDA6-DF851E905532}"/>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比較条件と解釈上の注意</a:t>
            </a:r>
          </a:p>
        </p:txBody>
      </p:sp>
      <p:sp>
        <p:nvSpPr>
          <p:cNvPr id="3" name="Connector 2">
            <a:extLst xmlns:a="http://schemas.openxmlformats.org/drawingml/2006/main">
              <a:ext uri="{FF2B5EF4-FFF2-40B4-BE49-F238E27FC236}">
                <a16:creationId xmlns:a16="http://schemas.microsoft.com/office/drawing/2014/main" id="{28911993-A5FD-4E8C-9602-4BE6BE9C52F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0AB65831-AFA8-40AB-86FB-09B0FA2F73ED}"/>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6690EB0-2227-4752-AC0B-A585EA909C13}"/>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5FE3863-DC00-4144-873C-0CBA5510C93E}"/>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90F64B27-3F71-44E5-B8E8-81989D73242F}"/>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401028F5-9581-4582-B220-E2276F7061F1}"/>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3/18</a:t>
            </a:r>
          </a:p>
        </p:txBody>
      </p:sp>
      <p:graphicFrame>
        <p:nvGraphicFramePr>
          <p:cNvPr id="27" name="Table 8"/>
          <p:cNvGraphicFramePr/>
          <p:nvPr/>
        </p:nvGraphicFramePr>
        <p:xfrm>
          <a:off xmlns:a="http://schemas.openxmlformats.org/drawingml/2006/main" x="502920" y="960120"/>
          <a:ext xmlns:a="http://schemas.openxmlformats.org/drawingml/2006/main" cx="7452360" cy="4526280"/>
        </p:xfrm>
        <a:graphic xmlns:a="http://schemas.openxmlformats.org/drawingml/2006/main">
          <a:graphicData uri="http://schemas.openxmlformats.org/drawingml/2006/table">
            <a:tbl>
              <a:tblPr firstRow="1" bandRow="1">
                <a:tableStyleId>{5C22544A-7EE6-4342-B048-85BDC9FD1C3A}</a:tableStyleId>
              </a:tblPr>
              <a:tblGrid>
                <a:gridCol w="2057400"/>
                <a:gridCol w="2697480"/>
                <a:gridCol w="2697480"/>
              </a:tblGrid>
              <a:tr h="754380">
                <a:tc>
                  <a:txBody>
                    <a:bodyPr/>
                    <a:lstStyle/>
                    <a:p>
                      <a:pPr algn="l">
                        <a:buNone/>
                      </a:pPr>
                      <a:r>
                        <a:rPr sz="1400" b="1">
                          <a:solidFill>
                            <a:srgbClr val="FFFFFF"/>
                          </a:solidFill>
                          <a:latin typeface="Meiryo"/>
                          <a:ea typeface="Meiryo"/>
                          <a:cs typeface="Meiryo"/>
                        </a:rPr>
                        <a:t>項目</a:t>
                      </a:r>
                    </a:p>
                  </a:txBody>
                  <a:tcPr marL="91440" marR="91440" marT="45720" marB="45720" anchor="ctr">
                    <a:solidFill>
                      <a:srgbClr val="003667"/>
                    </a:solidFill>
                  </a:tcPr>
                </a:tc>
                <a:tc>
                  <a:txBody>
                    <a:bodyPr/>
                    <a:lstStyle/>
                    <a:p>
                      <a:pPr algn="ctr">
                        <a:buNone/>
                      </a:pPr>
                      <a:r>
                        <a:rPr sz="1400" b="1">
                          <a:solidFill>
                            <a:srgbClr val="FFFFFF"/>
                          </a:solidFill>
                          <a:latin typeface="Meiryo"/>
                          <a:ea typeface="Meiryo"/>
                          <a:cs typeface="Meiryo"/>
                        </a:rPr>
                        <a:t>晴天</a:t>
                      </a:r>
                    </a:p>
                  </a:txBody>
                  <a:tcPr marL="91440" marR="91440" marT="45720" marB="45720" anchor="ctr">
                    <a:solidFill>
                      <a:srgbClr val="003667"/>
                    </a:solidFill>
                  </a:tcPr>
                </a:tc>
                <a:tc>
                  <a:txBody>
                    <a:bodyPr/>
                    <a:lstStyle/>
                    <a:p>
                      <a:pPr algn="ctr">
                        <a:buNone/>
                      </a:pPr>
                      <a:r>
                        <a:rPr sz="1400" b="1">
                          <a:solidFill>
                            <a:srgbClr val="FFFFFF"/>
                          </a:solidFill>
                          <a:latin typeface="Meiryo"/>
                          <a:ea typeface="Meiryo"/>
                          <a:cs typeface="Meiryo"/>
                        </a:rPr>
                        <a:t>雨天</a:t>
                      </a:r>
                    </a:p>
                  </a:txBody>
                  <a:tcPr marL="91440" marR="91440" marT="45720" marB="45720" anchor="ctr">
                    <a:solidFill>
                      <a:srgbClr val="003667"/>
                    </a:solidFill>
                  </a:tcPr>
                </a:tc>
              </a:tr>
              <a:tr h="754380">
                <a:tc>
                  <a:txBody>
                    <a:bodyPr/>
                    <a:lstStyle/>
                    <a:p>
                      <a:pPr algn="l">
                        <a:buNone/>
                      </a:pPr>
                      <a:r>
                        <a:rPr sz="1300" b="1">
                          <a:solidFill>
                            <a:srgbClr val="191F24"/>
                          </a:solidFill>
                          <a:latin typeface="Meiryo"/>
                          <a:ea typeface="Meiryo"/>
                          <a:cs typeface="Meiryo"/>
                        </a:rPr>
                        <a:t>日付 / scenario</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2025-08-05</a:t>
                      </a:r>
                    </a:p>
                    <a:p>
                      <a:pPr algn="ctr">
                        <a:buNone/>
                      </a:pPr>
                      <a:r>
                        <a:rPr sz="1300" b="0">
                          <a:solidFill>
                            <a:srgbClr val="191F24"/>
                          </a:solidFill>
                          <a:latin typeface="Meiryo"/>
                          <a:ea typeface="Meiryo"/>
                          <a:cs typeface="Meiryo"/>
                        </a:rPr>
                        <a:t>771d115b…</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2025-08-10</a:t>
                      </a:r>
                    </a:p>
                    <a:p>
                      <a:pPr algn="ctr">
                        <a:buNone/>
                      </a:pPr>
                      <a:r>
                        <a:rPr sz="1300" b="0">
                          <a:solidFill>
                            <a:srgbClr val="191F24"/>
                          </a:solidFill>
                          <a:latin typeface="Meiryo"/>
                          <a:ea typeface="Meiryo"/>
                          <a:cs typeface="Meiryo"/>
                        </a:rPr>
                        <a:t>b23fd26c…</a:t>
                      </a:r>
                    </a:p>
                  </a:txBody>
                  <a:tcPr marL="91440" marR="91440" marT="45720" marB="45720" anchor="ctr">
                    <a:solidFill>
                      <a:srgbClr val="FFFFFF"/>
                    </a:solidFill>
                  </a:tcPr>
                </a:tc>
              </a:tr>
              <a:tr h="754380">
                <a:tc>
                  <a:txBody>
                    <a:bodyPr/>
                    <a:lstStyle/>
                    <a:p>
                      <a:pPr algn="l">
                        <a:buNone/>
                      </a:pPr>
                      <a:r>
                        <a:rPr sz="1300" b="1">
                          <a:solidFill>
                            <a:srgbClr val="191F24"/>
                          </a:solidFill>
                          <a:latin typeface="Meiryo"/>
                          <a:ea typeface="Meiryo"/>
                          <a:cs typeface="Meiryo"/>
                        </a:rPr>
                        <a:t>対象便・在庫</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264便 / EV35・ICE25</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264便 / EV35・ICE25</a:t>
                      </a:r>
                    </a:p>
                  </a:txBody>
                  <a:tcPr marL="91440" marR="91440" marT="45720" marB="45720" anchor="ctr">
                    <a:solidFill>
                      <a:srgbClr val="F2F4F6"/>
                    </a:solidFill>
                  </a:tcPr>
                </a:tc>
              </a:tr>
              <a:tr h="754380">
                <a:tc>
                  <a:txBody>
                    <a:bodyPr/>
                    <a:lstStyle/>
                    <a:p>
                      <a:pPr algn="l">
                        <a:buNone/>
                      </a:pPr>
                      <a:r>
                        <a:rPr sz="1300" b="1">
                          <a:solidFill>
                            <a:srgbClr val="191F24"/>
                          </a:solidFill>
                          <a:latin typeface="Meiryo"/>
                          <a:ea typeface="Meiryo"/>
                          <a:cs typeface="Meiryo"/>
                        </a:rPr>
                        <a:t>PV発電</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614.7 kWh</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101.1 kWh</a:t>
                      </a:r>
                    </a:p>
                  </a:txBody>
                  <a:tcPr marL="91440" marR="91440" marT="45720" marB="45720" anchor="ctr">
                    <a:solidFill>
                      <a:srgbClr val="FFFFFF"/>
                    </a:solidFill>
                  </a:tcPr>
                </a:tc>
              </a:tr>
              <a:tr h="754380">
                <a:tc>
                  <a:txBody>
                    <a:bodyPr/>
                    <a:lstStyle/>
                    <a:p>
                      <a:pPr algn="l">
                        <a:buNone/>
                      </a:pPr>
                      <a:r>
                        <a:rPr sz="1300" b="1">
                          <a:solidFill>
                            <a:srgbClr val="191F24"/>
                          </a:solidFill>
                          <a:latin typeface="Meiryo"/>
                          <a:ea typeface="Meiryo"/>
                          <a:cs typeface="Meiryo"/>
                        </a:rPr>
                        <a:t>計算状態</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Stage 1: time limit</a:t>
                      </a:r>
                    </a:p>
                    <a:p>
                      <a:pPr algn="ctr">
                        <a:buNone/>
                      </a:pPr>
                      <a:r>
                        <a:rPr sz="1300" b="0">
                          <a:solidFill>
                            <a:srgbClr val="191F24"/>
                          </a:solidFill>
                          <a:latin typeface="Meiryo"/>
                          <a:ea typeface="Meiryo"/>
                          <a:cs typeface="Meiryo"/>
                        </a:rPr>
                        <a:t>gap 13.1%</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Stage 1: time limit</a:t>
                      </a:r>
                    </a:p>
                    <a:p>
                      <a:pPr algn="ctr">
                        <a:buNone/>
                      </a:pPr>
                      <a:r>
                        <a:rPr sz="1300" b="0">
                          <a:solidFill>
                            <a:srgbClr val="191F24"/>
                          </a:solidFill>
                          <a:latin typeface="Meiryo"/>
                          <a:ea typeface="Meiryo"/>
                          <a:cs typeface="Meiryo"/>
                        </a:rPr>
                        <a:t>gap 12.9%</a:t>
                      </a:r>
                    </a:p>
                  </a:txBody>
                  <a:tcPr marL="91440" marR="91440" marT="45720" marB="45720" anchor="ctr">
                    <a:solidFill>
                      <a:srgbClr val="F2F4F6"/>
                    </a:solidFill>
                  </a:tcPr>
                </a:tc>
              </a:tr>
              <a:tr h="754380">
                <a:tc>
                  <a:txBody>
                    <a:bodyPr/>
                    <a:lstStyle/>
                    <a:p>
                      <a:pPr algn="l">
                        <a:buNone/>
                      </a:pPr>
                      <a:r>
                        <a:rPr sz="1300" b="1">
                          <a:solidFill>
                            <a:srgbClr val="191F24"/>
                          </a:solidFill>
                          <a:latin typeface="Meiryo"/>
                          <a:ea typeface="Meiryo"/>
                          <a:cs typeface="Meiryo"/>
                        </a:rPr>
                        <a:t>Stage 2 / hard validation</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optimal / 全違反0</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optimal / 全違反0</a:t>
                      </a:r>
                    </a:p>
                  </a:txBody>
                  <a:tcPr marL="91440" marR="91440" marT="45720" marB="45720" anchor="ctr">
                    <a:solidFill>
                      <a:srgbClr val="FFFFFF"/>
                    </a:solidFill>
                  </a:tcPr>
                </a:tc>
              </a:tr>
            </a:tbl>
          </a:graphicData>
        </a:graphic>
      </p:graphicFrame>
      <p:sp>
        <p:nvSpPr>
          <p:cNvPr id="10" name="Rectangle 9">
            <a:extLst xmlns:a="http://schemas.openxmlformats.org/drawingml/2006/main">
              <a:ext uri="{FF2B5EF4-FFF2-40B4-BE49-F238E27FC236}">
                <a16:creationId xmlns:a16="http://schemas.microsoft.com/office/drawing/2014/main" id="{9CC32FFE-5CE2-4B28-A345-844992793351}"/>
              </a:ext>
            </a:extLst>
          </p:cNvPr>
          <p:cNvSpPr>
            <a:spLocks xmlns:a="http://schemas.openxmlformats.org/drawingml/2006/main" noGrp="1"/>
          </p:cNvSpPr>
          <p:nvPr/>
        </p:nvSpPr>
        <p:spPr>
          <a:xfrm xmlns:a="http://schemas.openxmlformats.org/drawingml/2006/main">
            <a:off x="8275320" y="960120"/>
            <a:ext cx="3474720" cy="1938528"/>
          </a:xfrm>
          <a:prstGeom xmlns:a="http://schemas.openxmlformats.org/drawingml/2006/main" prst="rect">
            <a:avLst/>
          </a:prstGeom>
          <a:solidFill xmlns:a="http://schemas.openxmlformats.org/drawingml/2006/main">
            <a:srgbClr val="FCE8E8"/>
          </a:solidFill>
          <a:ln xmlns:a="http://schemas.openxmlformats.org/drawingml/2006/main">
            <a:solidFill>
              <a:srgbClr val="C2373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C84F1AAB-6AD2-4AFD-84B3-6109FE4E6D80}"/>
              </a:ext>
            </a:extLst>
          </p:cNvPr>
          <p:cNvSpPr>
            <a:spLocks xmlns:a="http://schemas.openxmlformats.org/drawingml/2006/main" noGrp="1"/>
          </p:cNvSpPr>
          <p:nvPr/>
        </p:nvSpPr>
        <p:spPr>
          <a:xfrm xmlns:a="http://schemas.openxmlformats.org/drawingml/2006/main">
            <a:off x="8485632" y="1161288"/>
            <a:ext cx="3063240"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C23737"/>
                </a:solidFill>
                <a:latin typeface="Meiryo"/>
                <a:ea typeface="Meiryo"/>
                <a:cs typeface="Meiryo"/>
              </a:defRPr>
            </a:pPr>
            <a:r>
              <a:t>入力台数の不一致</a:t>
            </a:r>
          </a:p>
        </p:txBody>
      </p:sp>
      <p:sp>
        <p:nvSpPr>
          <p:cNvPr id="12" name="TextBox 11">
            <a:extLst xmlns:a="http://schemas.openxmlformats.org/drawingml/2006/main">
              <a:ext uri="{FF2B5EF4-FFF2-40B4-BE49-F238E27FC236}">
                <a16:creationId xmlns:a16="http://schemas.microsoft.com/office/drawing/2014/main" id="{444E63EA-D92B-4CD5-A065-45B6E1213E73}"/>
              </a:ext>
            </a:extLst>
          </p:cNvPr>
          <p:cNvSpPr>
            <a:spLocks xmlns:a="http://schemas.openxmlformats.org/drawingml/2006/main" noGrp="1"/>
          </p:cNvSpPr>
          <p:nvPr/>
        </p:nvSpPr>
        <p:spPr>
          <a:xfrm xmlns:a="http://schemas.openxmlformats.org/drawingml/2006/main">
            <a:off x="8485632" y="1609344"/>
            <a:ext cx="3063240" cy="6858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800" b="1">
                <a:solidFill>
                  <a:srgbClr val="191F24"/>
                </a:solidFill>
                <a:latin typeface="Meiryo"/>
                <a:ea typeface="Meiryo"/>
                <a:cs typeface="Meiryo"/>
              </a:defRPr>
            </a:pPr>
            <a:r>
              <a:t>依頼文：EV35・ICE26</a:t>
            </a:r>
            <a:br/>
            <a:r>
              <a:t>現モデル：EV35・ICE25</a:t>
            </a:r>
          </a:p>
        </p:txBody>
      </p:sp>
      <p:sp>
        <p:nvSpPr>
          <p:cNvPr id="13" name="TextBox 12">
            <a:extLst xmlns:a="http://schemas.openxmlformats.org/drawingml/2006/main">
              <a:ext uri="{FF2B5EF4-FFF2-40B4-BE49-F238E27FC236}">
                <a16:creationId xmlns:a16="http://schemas.microsoft.com/office/drawing/2014/main" id="{62737A48-5E2C-48C9-9B2E-BC3FBBE8DD2B}"/>
              </a:ext>
            </a:extLst>
          </p:cNvPr>
          <p:cNvSpPr>
            <a:spLocks xmlns:a="http://schemas.openxmlformats.org/drawingml/2006/main" noGrp="1"/>
          </p:cNvSpPr>
          <p:nvPr/>
        </p:nvSpPr>
        <p:spPr>
          <a:xfrm xmlns:a="http://schemas.openxmlformats.org/drawingml/2006/main">
            <a:off x="8485632" y="2350008"/>
            <a:ext cx="3063240"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150" b="0">
                <a:solidFill>
                  <a:srgbClr val="C23737"/>
                </a:solidFill>
                <a:latin typeface="Meiryo"/>
                <a:ea typeface="Meiryo"/>
                <a:cs typeface="Meiryo"/>
              </a:defRPr>
            </a:pPr>
            <a:r>
              <a:t>26台条件の主張には、scenario修正後の再計算が必要。</a:t>
            </a:r>
          </a:p>
        </p:txBody>
      </p:sp>
      <p:sp>
        <p:nvSpPr>
          <p:cNvPr id="14" name="Rectangle 13">
            <a:extLst xmlns:a="http://schemas.openxmlformats.org/drawingml/2006/main">
              <a:ext uri="{FF2B5EF4-FFF2-40B4-BE49-F238E27FC236}">
                <a16:creationId xmlns:a16="http://schemas.microsoft.com/office/drawing/2014/main" id="{11D491BD-57E5-476F-9C6F-F599277A3953}"/>
              </a:ext>
            </a:extLst>
          </p:cNvPr>
          <p:cNvSpPr>
            <a:spLocks xmlns:a="http://schemas.openxmlformats.org/drawingml/2006/main" noGrp="1"/>
          </p:cNvSpPr>
          <p:nvPr/>
        </p:nvSpPr>
        <p:spPr>
          <a:xfrm xmlns:a="http://schemas.openxmlformats.org/drawingml/2006/main">
            <a:off x="8275320" y="3172968"/>
            <a:ext cx="3474720" cy="2313432"/>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2AD40F0-B6A4-46FC-B93A-6299E8F3652C}"/>
              </a:ext>
            </a:extLst>
          </p:cNvPr>
          <p:cNvSpPr>
            <a:spLocks xmlns:a="http://schemas.openxmlformats.org/drawingml/2006/main" noGrp="1"/>
          </p:cNvSpPr>
          <p:nvPr/>
        </p:nvSpPr>
        <p:spPr>
          <a:xfrm xmlns:a="http://schemas.openxmlformats.org/drawingml/2006/main">
            <a:off x="8485632" y="3383280"/>
            <a:ext cx="3063240"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この資料の位置づけ</a:t>
            </a:r>
          </a:p>
        </p:txBody>
      </p:sp>
      <p:sp>
        <p:nvSpPr>
          <p:cNvPr id="16" name="TextBox 15">
            <a:extLst xmlns:a="http://schemas.openxmlformats.org/drawingml/2006/main">
              <a:ext uri="{FF2B5EF4-FFF2-40B4-BE49-F238E27FC236}">
                <a16:creationId xmlns:a16="http://schemas.microsoft.com/office/drawing/2014/main" id="{78D7488D-7F89-4387-9875-87FE4BB1B689}"/>
              </a:ext>
            </a:extLst>
          </p:cNvPr>
          <p:cNvSpPr>
            <a:spLocks xmlns:a="http://schemas.openxmlformats.org/drawingml/2006/main" noGrp="1"/>
          </p:cNvSpPr>
          <p:nvPr/>
        </p:nvSpPr>
        <p:spPr>
          <a:xfrm xmlns:a="http://schemas.openxmlformats.org/drawingml/2006/main">
            <a:off x="8485632" y="3813048"/>
            <a:ext cx="2971800" cy="1417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250">
                <a:solidFill>
                  <a:srgbClr val="191F24"/>
                </a:solidFill>
                <a:latin typeface="Meiryo"/>
                <a:ea typeface="Meiryo"/>
                <a:cs typeface="Meiryo"/>
              </a:defRPr>
            </a:pPr>
            <a:r>
              <a:t>● 二段階モデルの可行解</a:t>
            </a:r>
          </a:p>
          <a:p xmlns:a="http://schemas.openxmlformats.org/drawingml/2006/main">
            <a:pPr>
              <a:spcAft>
                <a:spcPts val="900"/>
              </a:spcAft>
              <a:buNone/>
              <a:defRPr sz="1250">
                <a:solidFill>
                  <a:srgbClr val="191F24"/>
                </a:solidFill>
                <a:latin typeface="Meiryo"/>
                <a:ea typeface="Meiryo"/>
                <a:cs typeface="Meiryo"/>
              </a:defRPr>
            </a:pPr>
            <a:r>
              <a:t>● 総費用の大域最適解ではない</a:t>
            </a:r>
          </a:p>
          <a:p xmlns:a="http://schemas.openxmlformats.org/drawingml/2006/main">
            <a:pPr>
              <a:spcAft>
                <a:spcPts val="900"/>
              </a:spcAft>
              <a:buNone/>
              <a:defRPr sz="1250">
                <a:solidFill>
                  <a:srgbClr val="191F24"/>
                </a:solidFill>
                <a:latin typeface="Meiryo"/>
                <a:ea typeface="Meiryo"/>
                <a:cs typeface="Meiryo"/>
              </a:defRPr>
            </a:pPr>
            <a:r>
              <a:t>● 未コミット変更を含む暫定結果</a:t>
            </a:r>
          </a:p>
          <a:p xmlns:a="http://schemas.openxmlformats.org/drawingml/2006/main">
            <a:pPr>
              <a:spcAft>
                <a:spcPts val="900"/>
              </a:spcAft>
              <a:buNone/>
              <a:defRPr sz="1250">
                <a:solidFill>
                  <a:srgbClr val="191F24"/>
                </a:solidFill>
                <a:latin typeface="Meiryo"/>
                <a:ea typeface="Meiryo"/>
                <a:cs typeface="Meiryo"/>
              </a:defRPr>
            </a:pPr>
            <a:r>
              <a:t>● trip/vehicle hashは再照合済み</a:t>
            </a:r>
          </a:p>
        </p:txBody>
      </p:sp>
      <p:sp>
        <p:nvSpPr>
          <p:cNvPr id="17" name="Rectangle 16">
            <a:extLst xmlns:a="http://schemas.openxmlformats.org/drawingml/2006/main">
              <a:ext uri="{FF2B5EF4-FFF2-40B4-BE49-F238E27FC236}">
                <a16:creationId xmlns:a16="http://schemas.microsoft.com/office/drawing/2014/main" id="{F2EF339D-E6EC-4F4F-8043-1AE6AA8CD76F}"/>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FF4DB"/>
          </a:solidFill>
          <a:ln xmlns:a="http://schemas.openxmlformats.org/drawingml/2006/main">
            <a:solidFill>
              <a:srgbClr val="FFF4D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927EEBE-2858-47B5-9C07-8DFA89C8C809}"/>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要点｜以降は“暫定可行解の内部整合”として解釈する。</a:t>
            </a:r>
          </a:p>
        </p:txBody>
      </p:sp>
    </p:spTree>
    <p:extLst>
      <p:ext uri="{BB962C8B-B14F-4D97-AF65-F5344CB8AC3E}">
        <p14:creationId xmlns:p14="http://schemas.microsoft.com/office/powerpoint/2010/main" val="16239705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7EF7847-084E-476E-B5BD-6DC466EF2036}"/>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最適化システムに加えた修正</a:t>
            </a:r>
          </a:p>
        </p:txBody>
      </p:sp>
      <p:sp>
        <p:nvSpPr>
          <p:cNvPr id="3" name="Connector 2">
            <a:extLst xmlns:a="http://schemas.openxmlformats.org/drawingml/2006/main">
              <a:ext uri="{FF2B5EF4-FFF2-40B4-BE49-F238E27FC236}">
                <a16:creationId xmlns:a16="http://schemas.microsoft.com/office/drawing/2014/main" id="{E7C3320A-99A3-455B-818F-551EB5057647}"/>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C1EB9CD0-7C0E-4191-8DE6-511B49595EDD}"/>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E1FA9859-CDDD-41C3-9F39-442EDB31389B}"/>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5A67705-7238-431B-A760-E026E2EEAD49}"/>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37B6467F-9F5C-442C-8473-4A191BF07BB4}"/>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92A41F4E-DDE4-4270-B3A2-3CAA81101267}"/>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4/18</a:t>
            </a:r>
          </a:p>
        </p:txBody>
      </p:sp>
      <p:graphicFrame>
        <p:nvGraphicFramePr>
          <p:cNvPr id="20" name="Table 8"/>
          <p:cNvGraphicFramePr/>
          <p:nvPr/>
        </p:nvGraphicFramePr>
        <p:xfrm>
          <a:off xmlns:a="http://schemas.openxmlformats.org/drawingml/2006/main" x="475488" y="859536"/>
          <a:ext xmlns:a="http://schemas.openxmlformats.org/drawingml/2006/main" cx="11237976" cy="4892040"/>
        </p:xfrm>
        <a:graphic xmlns:a="http://schemas.openxmlformats.org/drawingml/2006/main">
          <a:graphicData uri="http://schemas.openxmlformats.org/drawingml/2006/table">
            <a:tbl>
              <a:tblPr firstRow="1" bandRow="1">
                <a:tableStyleId>{5C22544A-7EE6-4342-B048-85BDC9FD1C3A}</a:tableStyleId>
              </a:tblPr>
              <a:tblGrid>
                <a:gridCol w="1938528"/>
                <a:gridCol w="3986784"/>
                <a:gridCol w="5312664"/>
              </a:tblGrid>
              <a:tr h="698862">
                <a:tc>
                  <a:txBody>
                    <a:bodyPr/>
                    <a:lstStyle/>
                    <a:p>
                      <a:pPr algn="l">
                        <a:buNone/>
                      </a:pPr>
                      <a:r>
                        <a:rPr sz="1300" b="1">
                          <a:solidFill>
                            <a:srgbClr val="FFFFFF"/>
                          </a:solidFill>
                          <a:latin typeface="Meiryo"/>
                          <a:ea typeface="Meiryo"/>
                          <a:cs typeface="Meiryo"/>
                        </a:rPr>
                        <a:t>対象</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修正前に生じた問題</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今回の修正</a:t>
                      </a:r>
                    </a:p>
                  </a:txBody>
                  <a:tcPr marL="73152" marR="73152" marT="36576" marB="36576" anchor="ctr">
                    <a:solidFill>
                      <a:srgbClr val="003667"/>
                    </a:solidFill>
                  </a:tcPr>
                </a:tc>
              </a:tr>
              <a:tr h="698862">
                <a:tc>
                  <a:txBody>
                    <a:bodyPr/>
                    <a:lstStyle/>
                    <a:p>
                      <a:pPr algn="l">
                        <a:buNone/>
                      </a:pPr>
                      <a:r>
                        <a:rPr sz="1150" b="1">
                          <a:solidFill>
                            <a:srgbClr val="191F24"/>
                          </a:solidFill>
                          <a:latin typeface="Meiryo"/>
                          <a:ea typeface="Meiryo"/>
                          <a:cs typeface="Meiryo"/>
                        </a:rPr>
                        <a:t>Stage 1費用代理</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「充電量の下界」「初期BESS余剰」の定義が不明確</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最低充電器入力とBESS控除式を定義し、監査情報へ保存</a:t>
                      </a:r>
                    </a:p>
                  </a:txBody>
                  <a:tcPr marL="73152" marR="73152" marT="36576" marB="36576" anchor="ctr">
                    <a:solidFill>
                      <a:srgbClr val="FFFFFF"/>
                    </a:solidFill>
                  </a:tcPr>
                </a:tc>
              </a:tr>
              <a:tr h="698862">
                <a:tc>
                  <a:txBody>
                    <a:bodyPr/>
                    <a:lstStyle/>
                    <a:p>
                      <a:pPr algn="l">
                        <a:buNone/>
                      </a:pPr>
                      <a:r>
                        <a:rPr sz="1150" b="1">
                          <a:solidFill>
                            <a:srgbClr val="191F24"/>
                          </a:solidFill>
                          <a:latin typeface="Meiryo"/>
                          <a:ea typeface="Meiryo"/>
                          <a:cs typeface="Meiryo"/>
                        </a:rPr>
                        <a:t>充電場所とSOC</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車庫外の待機時間にも充電できる前提を暗黙に置き、Stage 2で不可行になる</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車庫内充電可能枠だけを使う累積SOC必要条件をStage 1へ875本追加</a:t>
                      </a:r>
                    </a:p>
                  </a:txBody>
                  <a:tcPr marL="73152" marR="73152" marT="36576" marB="36576" anchor="ctr">
                    <a:solidFill>
                      <a:srgbClr val="F2F4F6"/>
                    </a:solidFill>
                  </a:tcPr>
                </a:tc>
              </a:tr>
              <a:tr h="698862">
                <a:tc>
                  <a:txBody>
                    <a:bodyPr/>
                    <a:lstStyle/>
                    <a:p>
                      <a:pPr algn="l">
                        <a:buNone/>
                      </a:pPr>
                      <a:r>
                        <a:rPr sz="1150" b="1">
                          <a:solidFill>
                            <a:srgbClr val="191F24"/>
                          </a:solidFill>
                          <a:latin typeface="Meiryo"/>
                          <a:ea typeface="Meiryo"/>
                          <a:cs typeface="Meiryo"/>
                        </a:rPr>
                        <a:t>車両運用の連続性</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同一車両に離れた運行断片を割り当て、Stage 2で位置・SOCを接続できない</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1車両1日1連続仕業に限定し、Stage 1とStage 2の運行表現を一致</a:t>
                      </a:r>
                    </a:p>
                  </a:txBody>
                  <a:tcPr marL="73152" marR="73152" marT="36576" marB="36576" anchor="ctr">
                    <a:solidFill>
                      <a:srgbClr val="FFFFFF"/>
                    </a:solidFill>
                  </a:tcPr>
                </a:tc>
              </a:tr>
              <a:tr h="698862">
                <a:tc>
                  <a:txBody>
                    <a:bodyPr/>
                    <a:lstStyle/>
                    <a:p>
                      <a:pPr algn="l">
                        <a:buNone/>
                      </a:pPr>
                      <a:r>
                        <a:rPr sz="1150" b="1">
                          <a:solidFill>
                            <a:srgbClr val="191F24"/>
                          </a:solidFill>
                          <a:latin typeface="Meiryo"/>
                          <a:ea typeface="Meiryo"/>
                          <a:cs typeface="Meiryo"/>
                        </a:rPr>
                        <a:t>帰庫回送のSOC</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帰庫完了より1枠遅れて回送消費を差し引く時刻ずれ</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帰庫完了直後のSOC遷移で回送消費を差し引くよう修正</a:t>
                      </a:r>
                    </a:p>
                  </a:txBody>
                  <a:tcPr marL="73152" marR="73152" marT="36576" marB="36576" anchor="ctr">
                    <a:solidFill>
                      <a:srgbClr val="F2F4F6"/>
                    </a:solidFill>
                  </a:tcPr>
                </a:tc>
              </a:tr>
              <a:tr h="698862">
                <a:tc>
                  <a:txBody>
                    <a:bodyPr/>
                    <a:lstStyle/>
                    <a:p>
                      <a:pPr algn="l">
                        <a:buNone/>
                      </a:pPr>
                      <a:r>
                        <a:rPr sz="1150" b="1">
                          <a:solidFill>
                            <a:srgbClr val="191F24"/>
                          </a:solidFill>
                          <a:latin typeface="Meiryo"/>
                          <a:ea typeface="Meiryo"/>
                          <a:cs typeface="Meiryo"/>
                        </a:rPr>
                        <a:t>毎時再最適化</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毎時も車両割当から解くと遅く、計画が変動</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日次割当を固定し、実測SOCと既発生ピークから残り日の充電だけ更新</a:t>
                      </a:r>
                    </a:p>
                  </a:txBody>
                  <a:tcPr marL="73152" marR="73152" marT="36576" marB="36576" anchor="ctr">
                    <a:solidFill>
                      <a:srgbClr val="FFFFFF"/>
                    </a:solidFill>
                  </a:tcPr>
                </a:tc>
              </a:tr>
              <a:tr h="698868">
                <a:tc>
                  <a:txBody>
                    <a:bodyPr/>
                    <a:lstStyle/>
                    <a:p>
                      <a:pPr algn="l">
                        <a:buNone/>
                      </a:pPr>
                      <a:r>
                        <a:rPr sz="1150" b="1">
                          <a:solidFill>
                            <a:srgbClr val="191F24"/>
                          </a:solidFill>
                          <a:latin typeface="Meiryo"/>
                          <a:ea typeface="Meiryo"/>
                          <a:cs typeface="Meiryo"/>
                        </a:rPr>
                        <a:t>再現性</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段階別時間と時点状態が成果物だけでは不足</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Stage別上限、PV絶対時刻、車両SOC時系列、毎時条件を保存</a:t>
                      </a:r>
                    </a:p>
                  </a:txBody>
                  <a:tcPr marL="73152" marR="73152" marT="36576" marB="36576" anchor="ctr">
                    <a:solidFill>
                      <a:srgbClr val="F2F4F6"/>
                    </a:solidFill>
                  </a:tcPr>
                </a:tc>
              </a:tr>
            </a:tbl>
          </a:graphicData>
        </a:graphic>
      </p:graphicFrame>
      <p:sp>
        <p:nvSpPr>
          <p:cNvPr id="10" name="Rectangle 9">
            <a:extLst xmlns:a="http://schemas.openxmlformats.org/drawingml/2006/main">
              <a:ext uri="{FF2B5EF4-FFF2-40B4-BE49-F238E27FC236}">
                <a16:creationId xmlns:a16="http://schemas.microsoft.com/office/drawing/2014/main" id="{8C9B0282-15AF-46CA-A646-17350A60C84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3F6ED"/>
          </a:solidFill>
          <a:ln xmlns:a="http://schemas.openxmlformats.org/drawingml/2006/main">
            <a:solidFill>
              <a:srgbClr val="E3F6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9B8E9DCA-1866-4AFE-B56D-EC441BCA4FBC}"/>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238E5E"/>
                </a:solidFill>
                <a:latin typeface="Meiryo"/>
                <a:ea typeface="Meiryo"/>
                <a:cs typeface="Meiryo"/>
              </a:defRPr>
            </a:pPr>
            <a:r>
              <a:t>要点｜運行制約は維持し、計算短縮は固定割当下の充電再最適化で行う。</a:t>
            </a:r>
          </a:p>
        </p:txBody>
      </p:sp>
    </p:spTree>
    <p:extLst>
      <p:ext uri="{BB962C8B-B14F-4D97-AF65-F5344CB8AC3E}">
        <p14:creationId xmlns:p14="http://schemas.microsoft.com/office/powerpoint/2010/main" val="12822279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9483BE7-2268-4820-B890-76E003943312}"/>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二段階モデルの役割と目的関数</a:t>
            </a:r>
          </a:p>
        </p:txBody>
      </p:sp>
      <p:sp>
        <p:nvSpPr>
          <p:cNvPr id="3" name="Connector 2">
            <a:extLst xmlns:a="http://schemas.openxmlformats.org/drawingml/2006/main">
              <a:ext uri="{FF2B5EF4-FFF2-40B4-BE49-F238E27FC236}">
                <a16:creationId xmlns:a16="http://schemas.microsoft.com/office/drawing/2014/main" id="{F82E5312-5033-491C-8FAF-6EF54DF5C308}"/>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02D48FFC-456E-4BD8-98DB-458079FC87DF}"/>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894EB54-8601-478C-A601-852A4AABED15}"/>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2671B6E-61FE-435A-926A-7B4520C570B7}"/>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613384DD-5DA4-4819-A020-8B7843C64367}"/>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96AA6B92-EA05-47D9-8382-5E5F0E2BD907}"/>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5/18</a:t>
            </a:r>
          </a:p>
        </p:txBody>
      </p:sp>
      <p:sp>
        <p:nvSpPr>
          <p:cNvPr id="9" name="Rectangle 8">
            <a:extLst xmlns:a="http://schemas.openxmlformats.org/drawingml/2006/main">
              <a:ext uri="{FF2B5EF4-FFF2-40B4-BE49-F238E27FC236}">
                <a16:creationId xmlns:a16="http://schemas.microsoft.com/office/drawing/2014/main" id="{12B720A5-0BA3-4E32-A01C-32A2B8CDA7DB}"/>
              </a:ext>
            </a:extLst>
          </p:cNvPr>
          <p:cNvSpPr>
            <a:spLocks xmlns:a="http://schemas.openxmlformats.org/drawingml/2006/main" noGrp="1"/>
          </p:cNvSpPr>
          <p:nvPr/>
        </p:nvSpPr>
        <p:spPr>
          <a:xfrm xmlns:a="http://schemas.openxmlformats.org/drawingml/2006/main">
            <a:off x="502920" y="932688"/>
            <a:ext cx="4892040" cy="1920240"/>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F648B1D-B0E3-47CF-BBAC-702DE564F40A}"/>
              </a:ext>
            </a:extLst>
          </p:cNvPr>
          <p:cNvSpPr>
            <a:spLocks xmlns:a="http://schemas.openxmlformats.org/drawingml/2006/main" noGrp="1"/>
          </p:cNvSpPr>
          <p:nvPr/>
        </p:nvSpPr>
        <p:spPr>
          <a:xfrm xmlns:a="http://schemas.openxmlformats.org/drawingml/2006/main">
            <a:off x="713232" y="1097280"/>
            <a:ext cx="4480560" cy="3291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003667"/>
                </a:solidFill>
                <a:latin typeface="Meiryo"/>
                <a:ea typeface="Meiryo"/>
                <a:cs typeface="Meiryo"/>
              </a:defRPr>
            </a:pPr>
            <a:r>
              <a:t>Stage 1：車両運用・動力選択</a:t>
            </a:r>
          </a:p>
        </p:txBody>
      </p:sp>
      <p:sp>
        <p:nvSpPr>
          <p:cNvPr id="11" name="TextBox 10">
            <a:extLst xmlns:a="http://schemas.openxmlformats.org/drawingml/2006/main">
              <a:ext uri="{FF2B5EF4-FFF2-40B4-BE49-F238E27FC236}">
                <a16:creationId xmlns:a16="http://schemas.microsoft.com/office/drawing/2014/main" id="{09BE7640-A435-46B0-9BE6-AA73EB6F9138}"/>
              </a:ext>
            </a:extLst>
          </p:cNvPr>
          <p:cNvSpPr>
            <a:spLocks xmlns:a="http://schemas.openxmlformats.org/drawingml/2006/main" noGrp="1"/>
          </p:cNvSpPr>
          <p:nvPr/>
        </p:nvSpPr>
        <p:spPr>
          <a:xfrm xmlns:a="http://schemas.openxmlformats.org/drawingml/2006/main">
            <a:off x="749808" y="1554480"/>
            <a:ext cx="4407408" cy="10637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0">
                <a:solidFill>
                  <a:srgbClr val="191F24"/>
                </a:solidFill>
                <a:latin typeface="Meiryo"/>
                <a:ea typeface="Meiryo"/>
                <a:cs typeface="Meiryo"/>
              </a:defRPr>
            </a:pPr>
            <a:r>
              <a:t>決定：各便をどのEV／ICEへ割り当てるか</a:t>
            </a:r>
            <a:br/>
            <a:r>
              <a:t>評価：ICE燃料・CO₂、使用車両費、</a:t>
            </a:r>
            <a:r>
              <a:t>外部充電入力の楽観的費用代理</a:t>
            </a:r>
            <a:br/>
            <a:r>
              <a:t>制約：全便、時刻重複、便接続、連続仕業、EV累積SOC必要条件</a:t>
            </a:r>
          </a:p>
        </p:txBody>
      </p:sp>
      <p:sp>
        <p:nvSpPr>
          <p:cNvPr id="12" name="TextBox 11">
            <a:extLst xmlns:a="http://schemas.openxmlformats.org/drawingml/2006/main">
              <a:ext uri="{FF2B5EF4-FFF2-40B4-BE49-F238E27FC236}">
                <a16:creationId xmlns:a16="http://schemas.microsoft.com/office/drawing/2014/main" id="{23274E26-3685-458A-95FD-FA5C5AA41BE3}"/>
              </a:ext>
            </a:extLst>
          </p:cNvPr>
          <p:cNvSpPr>
            <a:spLocks xmlns:a="http://schemas.openxmlformats.org/drawingml/2006/main" noGrp="1"/>
          </p:cNvSpPr>
          <p:nvPr/>
        </p:nvSpPr>
        <p:spPr>
          <a:xfrm xmlns:a="http://schemas.openxmlformats.org/drawingml/2006/main">
            <a:off x="5596128" y="1563624"/>
            <a:ext cx="804672"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3400" b="1">
                <a:solidFill>
                  <a:srgbClr val="005CAA"/>
                </a:solidFill>
                <a:latin typeface="Meiryo"/>
                <a:ea typeface="Meiryo"/>
                <a:cs typeface="Meiryo"/>
              </a:defRPr>
            </a:pPr>
            <a:r>
              <a:t>→</a:t>
            </a:r>
          </a:p>
        </p:txBody>
      </p:sp>
      <p:sp>
        <p:nvSpPr>
          <p:cNvPr id="13" name="TextBox 12">
            <a:extLst xmlns:a="http://schemas.openxmlformats.org/drawingml/2006/main">
              <a:ext uri="{FF2B5EF4-FFF2-40B4-BE49-F238E27FC236}">
                <a16:creationId xmlns:a16="http://schemas.microsoft.com/office/drawing/2014/main" id="{923A18D3-AD8D-44E0-B966-9E6A99D051D5}"/>
              </a:ext>
            </a:extLst>
          </p:cNvPr>
          <p:cNvSpPr>
            <a:spLocks xmlns:a="http://schemas.openxmlformats.org/drawingml/2006/main" noGrp="1"/>
          </p:cNvSpPr>
          <p:nvPr/>
        </p:nvSpPr>
        <p:spPr>
          <a:xfrm xmlns:a="http://schemas.openxmlformats.org/drawingml/2006/main">
            <a:off x="5513832" y="2039112"/>
            <a:ext cx="950976"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050" b="0">
                <a:solidFill>
                  <a:srgbClr val="5C6670"/>
                </a:solidFill>
                <a:latin typeface="Meiryo"/>
                <a:ea typeface="Meiryo"/>
                <a:cs typeface="Meiryo"/>
              </a:defRPr>
            </a:pPr>
            <a:r>
              <a:t>割当を固定</a:t>
            </a:r>
          </a:p>
        </p:txBody>
      </p:sp>
      <p:sp>
        <p:nvSpPr>
          <p:cNvPr id="14" name="Rectangle 13">
            <a:extLst xmlns:a="http://schemas.openxmlformats.org/drawingml/2006/main">
              <a:ext uri="{FF2B5EF4-FFF2-40B4-BE49-F238E27FC236}">
                <a16:creationId xmlns:a16="http://schemas.microsoft.com/office/drawing/2014/main" id="{6302C3CF-9477-4CB7-9FC9-C97ADE94861C}"/>
              </a:ext>
            </a:extLst>
          </p:cNvPr>
          <p:cNvSpPr>
            <a:spLocks xmlns:a="http://schemas.openxmlformats.org/drawingml/2006/main" noGrp="1"/>
          </p:cNvSpPr>
          <p:nvPr/>
        </p:nvSpPr>
        <p:spPr>
          <a:xfrm xmlns:a="http://schemas.openxmlformats.org/drawingml/2006/main">
            <a:off x="6656832" y="932688"/>
            <a:ext cx="5029200" cy="1920240"/>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FBC97C4-3FC2-4084-A1DC-57187FE96D7B}"/>
              </a:ext>
            </a:extLst>
          </p:cNvPr>
          <p:cNvSpPr>
            <a:spLocks xmlns:a="http://schemas.openxmlformats.org/drawingml/2006/main" noGrp="1"/>
          </p:cNvSpPr>
          <p:nvPr/>
        </p:nvSpPr>
        <p:spPr>
          <a:xfrm xmlns:a="http://schemas.openxmlformats.org/drawingml/2006/main">
            <a:off x="6876288" y="1097280"/>
            <a:ext cx="4590288" cy="3291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238E5E"/>
                </a:solidFill>
                <a:latin typeface="Meiryo"/>
                <a:ea typeface="Meiryo"/>
                <a:cs typeface="Meiryo"/>
              </a:defRPr>
            </a:pPr>
            <a:r>
              <a:t>Stage 2：充電・電力需給</a:t>
            </a:r>
          </a:p>
        </p:txBody>
      </p:sp>
      <p:sp>
        <p:nvSpPr>
          <p:cNvPr id="16" name="TextBox 15">
            <a:extLst xmlns:a="http://schemas.openxmlformats.org/drawingml/2006/main">
              <a:ext uri="{FF2B5EF4-FFF2-40B4-BE49-F238E27FC236}">
                <a16:creationId xmlns:a16="http://schemas.microsoft.com/office/drawing/2014/main" id="{98B59F5A-A84C-479B-A84F-605410B96C66}"/>
              </a:ext>
            </a:extLst>
          </p:cNvPr>
          <p:cNvSpPr>
            <a:spLocks xmlns:a="http://schemas.openxmlformats.org/drawingml/2006/main" noGrp="1"/>
          </p:cNvSpPr>
          <p:nvPr/>
        </p:nvSpPr>
        <p:spPr>
          <a:xfrm xmlns:a="http://schemas.openxmlformats.org/drawingml/2006/main">
            <a:off x="6903720" y="1554480"/>
            <a:ext cx="4535424" cy="1033271"/>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0">
                <a:solidFill>
                  <a:srgbClr val="191F24"/>
                </a:solidFill>
                <a:latin typeface="Meiryo"/>
                <a:ea typeface="Meiryo"/>
                <a:cs typeface="Meiryo"/>
              </a:defRPr>
            </a:pPr>
            <a:r>
              <a:t>決定：充電時刻、系統・PV・BESS配分、系統ピーク</a:t>
            </a:r>
            <a:br/>
            <a:r>
              <a:t>評価：電力費、需要料金、CO₂、BESS費用</a:t>
            </a:r>
            <a:br/>
            <a:r>
              <a:t>制約：車両SOC、充電器、受電上限、PV収支、BESS SOC・終端条件</a:t>
            </a:r>
          </a:p>
        </p:txBody>
      </p:sp>
      <p:sp>
        <p:nvSpPr>
          <p:cNvPr id="17" name="Rectangle 16">
            <a:extLst xmlns:a="http://schemas.openxmlformats.org/drawingml/2006/main">
              <a:ext uri="{FF2B5EF4-FFF2-40B4-BE49-F238E27FC236}">
                <a16:creationId xmlns:a16="http://schemas.microsoft.com/office/drawing/2014/main" id="{B5F098F1-13D1-4EFA-B19B-C12BECED7928}"/>
              </a:ext>
            </a:extLst>
          </p:cNvPr>
          <p:cNvSpPr>
            <a:spLocks xmlns:a="http://schemas.openxmlformats.org/drawingml/2006/main" noGrp="1"/>
          </p:cNvSpPr>
          <p:nvPr/>
        </p:nvSpPr>
        <p:spPr>
          <a:xfrm xmlns:a="http://schemas.openxmlformats.org/drawingml/2006/main">
            <a:off x="502920" y="3108960"/>
            <a:ext cx="11183112" cy="2359152"/>
          </a:xfrm>
          <a:prstGeom xmlns:a="http://schemas.openxmlformats.org/drawingml/2006/main" prst="rect">
            <a:avLst/>
          </a:prstGeom>
          <a:solidFill xmlns:a="http://schemas.openxmlformats.org/drawingml/2006/main">
            <a:srgbClr val="FFFFFF"/>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D4F6F546-C821-4D5A-AAC4-414B88A4AE2C}"/>
              </a:ext>
            </a:extLst>
          </p:cNvPr>
          <p:cNvSpPr>
            <a:spLocks xmlns:a="http://schemas.openxmlformats.org/drawingml/2006/main" noGrp="1"/>
          </p:cNvSpPr>
          <p:nvPr/>
        </p:nvSpPr>
        <p:spPr>
          <a:xfrm xmlns:a="http://schemas.openxmlformats.org/drawingml/2006/main">
            <a:off x="749808" y="3310128"/>
            <a:ext cx="4754880" cy="3108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600" b="1">
                <a:solidFill>
                  <a:srgbClr val="003667"/>
                </a:solidFill>
                <a:latin typeface="Meiryo"/>
                <a:ea typeface="Meiryo"/>
                <a:cs typeface="Meiryo"/>
              </a:defRPr>
            </a:pPr>
            <a:r>
              <a:t>Stage 1で用いるEV外部充電量の下界</a:t>
            </a:r>
          </a:p>
        </p:txBody>
      </p:sp>
      <p:sp>
        <p:nvSpPr>
          <p:cNvPr id="19" name="TextBox 18">
            <a:extLst xmlns:a="http://schemas.openxmlformats.org/drawingml/2006/main">
              <a:ext uri="{FF2B5EF4-FFF2-40B4-BE49-F238E27FC236}">
                <a16:creationId xmlns:a16="http://schemas.microsoft.com/office/drawing/2014/main" id="{D2475A73-13CC-41FB-BC6B-C9734ADB21EB}"/>
              </a:ext>
            </a:extLst>
          </p:cNvPr>
          <p:cNvSpPr>
            <a:spLocks xmlns:a="http://schemas.openxmlformats.org/drawingml/2006/main" noGrp="1"/>
          </p:cNvSpPr>
          <p:nvPr/>
        </p:nvSpPr>
        <p:spPr>
          <a:xfrm xmlns:a="http://schemas.openxmlformats.org/drawingml/2006/main">
            <a:off x="868680" y="3721608"/>
            <a:ext cx="5212080" cy="7863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650" b="1">
                <a:solidFill>
                  <a:srgbClr val="191F24"/>
                </a:solidFill>
                <a:latin typeface="Meiryo"/>
                <a:ea typeface="Meiryo"/>
                <a:cs typeface="Meiryo"/>
              </a:defRPr>
            </a:pPr>
            <a:r>
              <a:t>E_ext,v = max{0, E_trip + E_start + E_between + E_return</a:t>
            </a:r>
            <a:br/>
            <a:r>
              <a:t>　　　　　　　 + E_terminal − E_initial} / η_charge</a:t>
            </a:r>
          </a:p>
        </p:txBody>
      </p:sp>
      <p:sp>
        <p:nvSpPr>
          <p:cNvPr id="20" name="TextBox 19">
            <a:extLst xmlns:a="http://schemas.openxmlformats.org/drawingml/2006/main">
              <a:ext uri="{FF2B5EF4-FFF2-40B4-BE49-F238E27FC236}">
                <a16:creationId xmlns:a16="http://schemas.microsoft.com/office/drawing/2014/main" id="{57C1A762-FB1E-4D3D-9B30-B2AA6373D058}"/>
              </a:ext>
            </a:extLst>
          </p:cNvPr>
          <p:cNvSpPr>
            <a:spLocks xmlns:a="http://schemas.openxmlformats.org/drawingml/2006/main" noGrp="1"/>
          </p:cNvSpPr>
          <p:nvPr/>
        </p:nvSpPr>
        <p:spPr>
          <a:xfrm xmlns:a="http://schemas.openxmlformats.org/drawingml/2006/main">
            <a:off x="6263640" y="3401568"/>
            <a:ext cx="5074920" cy="16733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0">
                <a:solidFill>
                  <a:srgbClr val="191F24"/>
                </a:solidFill>
                <a:latin typeface="Meiryo"/>
                <a:ea typeface="Meiryo"/>
                <a:cs typeface="Meiryo"/>
              </a:defRPr>
            </a:pPr>
            <a:r>
              <a:t>意味：時刻・設備制約を外した最低充電器入力
PV控除：日量集約であり、実際のPV→busではない
BESS控除：max(SOC初期−SOC終端要求, 0)×η放電
現行：max(300−300, 0)×0.95＝0 kWh</a:t>
            </a:r>
          </a:p>
        </p:txBody>
      </p:sp>
      <p:sp>
        <p:nvSpPr>
          <p:cNvPr id="21" name="Rectangle 20">
            <a:extLst xmlns:a="http://schemas.openxmlformats.org/drawingml/2006/main">
              <a:ext uri="{FF2B5EF4-FFF2-40B4-BE49-F238E27FC236}">
                <a16:creationId xmlns:a16="http://schemas.microsoft.com/office/drawing/2014/main" id="{313A6B4E-6381-43A9-8842-B8DC0C556462}"/>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FF4DB"/>
          </a:solidFill>
          <a:ln xmlns:a="http://schemas.openxmlformats.org/drawingml/2006/main">
            <a:solidFill>
              <a:srgbClr val="FFF4D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48AFDB03-00DB-429F-8030-9170CC483CB6}"/>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要点｜Stage 1の下界は割当探索用の費用代理。実際の充電・PV・BESS運用はStage 2で決める。</a:t>
            </a:r>
          </a:p>
        </p:txBody>
      </p:sp>
    </p:spTree>
    <p:extLst>
      <p:ext uri="{BB962C8B-B14F-4D97-AF65-F5344CB8AC3E}">
        <p14:creationId xmlns:p14="http://schemas.microsoft.com/office/powerpoint/2010/main" val="12572548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CD8DE99-1A8F-4E58-892B-6180366A3743}"/>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シナリオ・計算・設備条件</a:t>
            </a:r>
          </a:p>
        </p:txBody>
      </p:sp>
      <p:sp>
        <p:nvSpPr>
          <p:cNvPr id="3" name="Connector 2">
            <a:extLst xmlns:a="http://schemas.openxmlformats.org/drawingml/2006/main">
              <a:ext uri="{FF2B5EF4-FFF2-40B4-BE49-F238E27FC236}">
                <a16:creationId xmlns:a16="http://schemas.microsoft.com/office/drawing/2014/main" id="{5E4AEDF6-295F-433A-85C2-54790E463F6E}"/>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A4752D8C-B560-44A5-92D0-7C5BDF27B496}"/>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A70422AC-E7F5-4D59-BAC4-FE7C81EDB05C}"/>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0A7F29F-1DA5-4640-8203-D85684E0F33F}"/>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E005042C-3251-4F23-9EE1-2A05DA732EEA}"/>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7D374F07-8078-4B3E-9444-A2DCFBC9438E}"/>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6/18</a:t>
            </a:r>
          </a:p>
        </p:txBody>
      </p:sp>
      <p:graphicFrame>
        <p:nvGraphicFramePr>
          <p:cNvPr id="22" name="Table 8"/>
          <p:cNvGraphicFramePr/>
          <p:nvPr/>
        </p:nvGraphicFramePr>
        <p:xfrm>
          <a:off xmlns:a="http://schemas.openxmlformats.org/drawingml/2006/main" x="438912" y="886968"/>
          <a:ext xmlns:a="http://schemas.openxmlformats.org/drawingml/2006/main" cx="5577840" cy="5001768"/>
        </p:xfrm>
        <a:graphic xmlns:a="http://schemas.openxmlformats.org/drawingml/2006/main">
          <a:graphicData uri="http://schemas.openxmlformats.org/drawingml/2006/table">
            <a:tbl>
              <a:tblPr firstRow="1" bandRow="1">
                <a:tableStyleId>{5C22544A-7EE6-4342-B048-85BDC9FD1C3A}</a:tableStyleId>
              </a:tblPr>
              <a:tblGrid>
                <a:gridCol w="1947672"/>
                <a:gridCol w="3630168"/>
              </a:tblGrid>
              <a:tr h="555752">
                <a:tc>
                  <a:txBody>
                    <a:bodyPr/>
                    <a:lstStyle/>
                    <a:p>
                      <a:pPr algn="l">
                        <a:buNone/>
                      </a:pPr>
                      <a:r>
                        <a:rPr sz="1300" b="1">
                          <a:solidFill>
                            <a:srgbClr val="FFFFFF"/>
                          </a:solidFill>
                          <a:latin typeface="Meiryo"/>
                          <a:ea typeface="Meiryo"/>
                          <a:cs typeface="Meiryo"/>
                        </a:rPr>
                        <a:t>計算条件</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設定値</a:t>
                      </a:r>
                    </a:p>
                  </a:txBody>
                  <a:tcPr marL="73152" marR="73152" marT="36576" marB="36576" anchor="ctr">
                    <a:solidFill>
                      <a:srgbClr val="003667"/>
                    </a:solidFill>
                  </a:tcPr>
                </a:tc>
              </a:tr>
              <a:tr h="555752">
                <a:tc>
                  <a:txBody>
                    <a:bodyPr/>
                    <a:lstStyle/>
                    <a:p>
                      <a:pPr algn="l">
                        <a:buNone/>
                      </a:pPr>
                      <a:r>
                        <a:rPr sz="1140" b="1">
                          <a:solidFill>
                            <a:srgbClr val="191F24"/>
                          </a:solidFill>
                          <a:latin typeface="Meiryo"/>
                          <a:ea typeface="Meiryo"/>
                          <a:cs typeface="Meiryo"/>
                        </a:rPr>
                        <a:t>モデル / backend</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phase3_two_stage / gurobi_two_stage</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日次計画の上限</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1500秒（Stage 1/2 最大750秒ずつ）</a:t>
                      </a:r>
                    </a:p>
                  </a:txBody>
                  <a:tcPr marL="73152" marR="73152" marT="36576" marB="36576" anchor="ctr">
                    <a:solidFill>
                      <a:srgbClr val="F2F4F6"/>
                    </a:solidFill>
                  </a:tcPr>
                </a:tc>
              </a:tr>
              <a:tr h="555752">
                <a:tc>
                  <a:txBody>
                    <a:bodyPr/>
                    <a:lstStyle/>
                    <a:p>
                      <a:pPr algn="l">
                        <a:buNone/>
                      </a:pPr>
                      <a:r>
                        <a:rPr sz="1140" b="1">
                          <a:solidFill>
                            <a:srgbClr val="191F24"/>
                          </a:solidFill>
                          <a:latin typeface="Meiryo"/>
                          <a:ea typeface="Meiryo"/>
                          <a:cs typeface="Meiryo"/>
                        </a:rPr>
                        <a:t>日次計画の実測</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晴775.530秒 / 雨776.519秒</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短縮案（不採用）</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120/30秒：145–146秒、gap 100%</a:t>
                      </a:r>
                    </a:p>
                  </a:txBody>
                  <a:tcPr marL="73152" marR="73152" marT="36576" marB="36576" anchor="ctr">
                    <a:solidFill>
                      <a:srgbClr val="F2F4F6"/>
                    </a:solidFill>
                  </a:tcPr>
                </a:tc>
              </a:tr>
              <a:tr h="555752">
                <a:tc>
                  <a:txBody>
                    <a:bodyPr/>
                    <a:lstStyle/>
                    <a:p>
                      <a:pPr algn="l">
                        <a:buNone/>
                      </a:pPr>
                      <a:r>
                        <a:rPr sz="1140" b="1">
                          <a:solidFill>
                            <a:srgbClr val="191F24"/>
                          </a:solidFill>
                          <a:latin typeface="Meiryo"/>
                          <a:ea typeface="Meiryo"/>
                          <a:cs typeface="Meiryo"/>
                        </a:rPr>
                        <a:t>毎時充電再最適化</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固定割当：総約2.0秒 / MILP約0.06秒</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MIPGap / seed</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10% / 42</a:t>
                      </a:r>
                    </a:p>
                  </a:txBody>
                  <a:tcPr marL="73152" marR="73152" marT="36576" marB="36576" anchor="ctr">
                    <a:solidFill>
                      <a:srgbClr val="F2F4F6"/>
                    </a:solidFill>
                  </a:tcPr>
                </a:tc>
              </a:tr>
              <a:tr h="555752">
                <a:tc>
                  <a:txBody>
                    <a:bodyPr/>
                    <a:lstStyle/>
                    <a:p>
                      <a:pPr algn="l">
                        <a:buNone/>
                      </a:pPr>
                      <a:r>
                        <a:rPr sz="1140" b="1">
                          <a:solidFill>
                            <a:srgbClr val="191F24"/>
                          </a:solidFill>
                          <a:latin typeface="Meiryo"/>
                          <a:ea typeface="Meiryo"/>
                          <a:cs typeface="Meiryo"/>
                        </a:rPr>
                        <a:t>時間離散化</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60分×24枠、05:00開始</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研究用実行</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fallbackなし、postsolve repairなし</a:t>
                      </a:r>
                    </a:p>
                  </a:txBody>
                  <a:tcPr marL="73152" marR="73152" marT="36576" marB="36576" anchor="ctr">
                    <a:solidFill>
                      <a:srgbClr val="F2F4F6"/>
                    </a:solidFill>
                  </a:tcPr>
                </a:tc>
              </a:tr>
            </a:tbl>
          </a:graphicData>
        </a:graphic>
      </p:graphicFrame>
      <p:graphicFrame>
        <p:nvGraphicFramePr>
          <p:cNvPr id="23" name="Table 9"/>
          <p:cNvGraphicFramePr/>
          <p:nvPr/>
        </p:nvGraphicFramePr>
        <p:xfrm>
          <a:off xmlns:a="http://schemas.openxmlformats.org/drawingml/2006/main" x="6172200" y="886968"/>
          <a:ext xmlns:a="http://schemas.openxmlformats.org/drawingml/2006/main" cx="5577839" cy="5001768"/>
        </p:xfrm>
        <a:graphic xmlns:a="http://schemas.openxmlformats.org/drawingml/2006/main">
          <a:graphicData uri="http://schemas.openxmlformats.org/drawingml/2006/table">
            <a:tbl>
              <a:tblPr firstRow="1" bandRow="1">
                <a:tableStyleId>{5C22544A-7EE6-4342-B048-85BDC9FD1C3A}</a:tableStyleId>
              </a:tblPr>
              <a:tblGrid>
                <a:gridCol w="1901952"/>
                <a:gridCol w="3675887"/>
              </a:tblGrid>
              <a:tr h="500176">
                <a:tc>
                  <a:txBody>
                    <a:bodyPr/>
                    <a:lstStyle/>
                    <a:p>
                      <a:pPr algn="l">
                        <a:buNone/>
                      </a:pPr>
                      <a:r>
                        <a:rPr sz="1300" b="1">
                          <a:solidFill>
                            <a:srgbClr val="FFFFFF"/>
                          </a:solidFill>
                          <a:latin typeface="Meiryo"/>
                          <a:ea typeface="Meiryo"/>
                          <a:cs typeface="Meiryo"/>
                        </a:rPr>
                        <a:t>運行・設備条件</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設定値</a:t>
                      </a:r>
                    </a:p>
                  </a:txBody>
                  <a:tcPr marL="73152" marR="73152" marT="36576" marB="36576" anchor="ctr">
                    <a:solidFill>
                      <a:srgbClr val="003667"/>
                    </a:solidFill>
                  </a:tcPr>
                </a:tc>
              </a:tr>
              <a:tr h="500176">
                <a:tc>
                  <a:txBody>
                    <a:bodyPr/>
                    <a:lstStyle/>
                    <a:p>
                      <a:pPr algn="l">
                        <a:buNone/>
                      </a:pPr>
                      <a:r>
                        <a:rPr sz="1120" b="1">
                          <a:solidFill>
                            <a:srgbClr val="191F24"/>
                          </a:solidFill>
                          <a:latin typeface="Meiryo"/>
                          <a:ea typeface="Meiryo"/>
                          <a:cs typeface="Meiryo"/>
                        </a:rPr>
                        <a:t>対象便 / 在庫</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264便 / EV35台・ICE25台</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仕業断片</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1車両1日1連続仕業</a:t>
                      </a:r>
                    </a:p>
                  </a:txBody>
                  <a:tcPr marL="73152" marR="73152" marT="36576" marB="36576" anchor="ctr">
                    <a:solidFill>
                      <a:srgbClr val="F2F4F6"/>
                    </a:solidFill>
                  </a:tcPr>
                </a:tc>
              </a:tr>
              <a:tr h="500176">
                <a:tc>
                  <a:txBody>
                    <a:bodyPr/>
                    <a:lstStyle/>
                    <a:p>
                      <a:pPr algn="l">
                        <a:buNone/>
                      </a:pPr>
                      <a:r>
                        <a:rPr sz="1120" b="1">
                          <a:solidFill>
                            <a:srgbClr val="191F24"/>
                          </a:solidFill>
                          <a:latin typeface="Meiryo"/>
                          <a:ea typeface="Meiryo"/>
                          <a:cs typeface="Meiryo"/>
                        </a:rPr>
                        <a:t>充電器</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90 kW×5基、50 kW×5基（各1口）</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車庫受電上限</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1000 kW</a:t>
                      </a:r>
                    </a:p>
                  </a:txBody>
                  <a:tcPr marL="73152" marR="73152" marT="36576" marB="36576" anchor="ctr">
                    <a:solidFill>
                      <a:srgbClr val="F2F4F6"/>
                    </a:solidFill>
                  </a:tcPr>
                </a:tc>
              </a:tr>
              <a:tr h="500176">
                <a:tc>
                  <a:txBody>
                    <a:bodyPr/>
                    <a:lstStyle/>
                    <a:p>
                      <a:pPr algn="l">
                        <a:buNone/>
                      </a:pPr>
                      <a:r>
                        <a:rPr sz="1120" b="1">
                          <a:solidFill>
                            <a:srgbClr val="191F24"/>
                          </a:solidFill>
                          <a:latin typeface="Meiryo"/>
                          <a:ea typeface="Meiryo"/>
                          <a:cs typeface="Meiryo"/>
                        </a:rPr>
                        <a:t>PV</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101.5 kW：晴天614.7 / 雨天101.1 kWh</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BESS</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600 kWh / 300 kW</a:t>
                      </a:r>
                    </a:p>
                  </a:txBody>
                  <a:tcPr marL="73152" marR="73152" marT="36576" marB="36576" anchor="ctr">
                    <a:solidFill>
                      <a:srgbClr val="F2F4F6"/>
                    </a:solidFill>
                  </a:tcPr>
                </a:tc>
              </a:tr>
              <a:tr h="500176">
                <a:tc>
                  <a:txBody>
                    <a:bodyPr/>
                    <a:lstStyle/>
                    <a:p>
                      <a:pPr algn="l">
                        <a:buNone/>
                      </a:pPr>
                      <a:r>
                        <a:rPr sz="1120" b="1">
                          <a:solidFill>
                            <a:srgbClr val="191F24"/>
                          </a:solidFill>
                          <a:latin typeface="Meiryo"/>
                          <a:ea typeface="Meiryo"/>
                          <a:cs typeface="Meiryo"/>
                        </a:rPr>
                        <a:t>BESS SOC</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初期300 / 比較終端300 / 運用範囲120–480 kWh</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BESS効率 / 経路</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充放電各95% / PV→BESS可、系統→BESS不可</a:t>
                      </a:r>
                    </a:p>
                  </a:txBody>
                  <a:tcPr marL="73152" marR="73152" marT="36576" marB="36576" anchor="ctr">
                    <a:solidFill>
                      <a:srgbClr val="F2F4F6"/>
                    </a:solidFill>
                  </a:tcPr>
                </a:tc>
              </a:tr>
              <a:tr h="500184">
                <a:tc>
                  <a:txBody>
                    <a:bodyPr/>
                    <a:lstStyle/>
                    <a:p>
                      <a:pPr algn="l">
                        <a:buNone/>
                      </a:pPr>
                      <a:r>
                        <a:rPr sz="1120" b="1">
                          <a:solidFill>
                            <a:srgbClr val="191F24"/>
                          </a:solidFill>
                          <a:latin typeface="Meiryo"/>
                          <a:ea typeface="Meiryo"/>
                          <a:cs typeface="Meiryo"/>
                        </a:rPr>
                        <a:t>車両終端SOC</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下限20%、目標80%±20%（実効下限60%）</a:t>
                      </a:r>
                    </a:p>
                  </a:txBody>
                  <a:tcPr marL="73152" marR="73152" marT="36576" marB="36576" anchor="ctr">
                    <a:solidFill>
                      <a:srgbClr val="FFFFFF"/>
                    </a:solidFill>
                  </a:tcPr>
                </a:tc>
              </a:tr>
            </a:tbl>
          </a:graphicData>
        </a:graphic>
      </p:graphicFrame>
      <p:sp>
        <p:nvSpPr>
          <p:cNvPr id="11" name="Rectangle 10">
            <a:extLst xmlns:a="http://schemas.openxmlformats.org/drawingml/2006/main">
              <a:ext uri="{FF2B5EF4-FFF2-40B4-BE49-F238E27FC236}">
                <a16:creationId xmlns:a16="http://schemas.microsoft.com/office/drawing/2014/main" id="{4AE375A4-274C-47C9-9B9D-8E5CA946B95D}"/>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CE8E8"/>
          </a:solidFill>
          <a:ln xmlns:a="http://schemas.openxmlformats.org/drawingml/2006/main">
            <a:solidFill>
              <a:srgbClr val="FCE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E20A3BE-90B2-4103-9CEE-7B8CFEC3E1D7}"/>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C23737"/>
                </a:solidFill>
                <a:latin typeface="Meiryo"/>
                <a:ea typeface="Meiryo"/>
                <a:cs typeface="Meiryo"/>
              </a:defRPr>
            </a:pPr>
            <a:r>
              <a:t>要点｜120/30秒の日次短縮は割当品質が崩れた。短縮は固定割当下の毎時Stage 2で実現する。</a:t>
            </a:r>
          </a:p>
        </p:txBody>
      </p:sp>
    </p:spTree>
    <p:extLst>
      <p:ext uri="{BB962C8B-B14F-4D97-AF65-F5344CB8AC3E}">
        <p14:creationId xmlns:p14="http://schemas.microsoft.com/office/powerpoint/2010/main" val="18951820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042C639-6A4E-4DA8-86AB-A1797EC4D8AB}"/>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費用・環境パラメータ</a:t>
            </a:r>
          </a:p>
        </p:txBody>
      </p:sp>
      <p:sp>
        <p:nvSpPr>
          <p:cNvPr id="3" name="Connector 2">
            <a:extLst xmlns:a="http://schemas.openxmlformats.org/drawingml/2006/main">
              <a:ext uri="{FF2B5EF4-FFF2-40B4-BE49-F238E27FC236}">
                <a16:creationId xmlns:a16="http://schemas.microsoft.com/office/drawing/2014/main" id="{69A4BA32-FAED-4D56-9F08-30203542EDF8}"/>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B909A90E-D258-4E28-9545-017B10ED2A91}"/>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1F4AF887-6728-433B-A2E9-DC65A762D08D}"/>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FFB5ACF-58CA-43AA-A82E-B39C0B766E8B}"/>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2818B743-553E-4418-A0F4-896BC4BB89E4}"/>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77022C70-DAB4-492B-9A5A-57E9AEB95AC3}"/>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7/18</a:t>
            </a:r>
          </a:p>
        </p:txBody>
      </p:sp>
      <p:graphicFrame>
        <p:nvGraphicFramePr>
          <p:cNvPr id="26" name="Table 8"/>
          <p:cNvGraphicFramePr/>
          <p:nvPr/>
        </p:nvGraphicFramePr>
        <p:xfrm>
          <a:off xmlns:a="http://schemas.openxmlformats.org/drawingml/2006/main" x="438912" y="914400"/>
          <a:ext xmlns:a="http://schemas.openxmlformats.org/drawingml/2006/main" cx="3127247" cy="4352544"/>
        </p:xfrm>
        <a:graphic xmlns:a="http://schemas.openxmlformats.org/drawingml/2006/main">
          <a:graphicData uri="http://schemas.openxmlformats.org/drawingml/2006/table">
            <a:tbl>
              <a:tblPr firstRow="1" bandRow="1">
                <a:tableStyleId>{5C22544A-7EE6-4342-B048-85BDC9FD1C3A}</a:tableStyleId>
              </a:tblPr>
              <a:tblGrid>
                <a:gridCol w="1874519"/>
                <a:gridCol w="1252728"/>
              </a:tblGrid>
              <a:tr h="621792">
                <a:tc>
                  <a:txBody>
                    <a:bodyPr/>
                    <a:lstStyle/>
                    <a:p>
                      <a:pPr algn="l">
                        <a:buNone/>
                      </a:pPr>
                      <a:r>
                        <a:rPr sz="1300" b="1">
                          <a:solidFill>
                            <a:srgbClr val="FFFFFF"/>
                          </a:solidFill>
                          <a:latin typeface="Meiryo"/>
                          <a:ea typeface="Meiryo"/>
                          <a:cs typeface="Meiryo"/>
                        </a:rPr>
                        <a:t>系統電力単価</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円/kWh</a:t>
                      </a:r>
                    </a:p>
                  </a:txBody>
                  <a:tcPr marL="73152" marR="73152" marT="36576" marB="36576" anchor="ctr">
                    <a:solidFill>
                      <a:srgbClr val="003667"/>
                    </a:solidFill>
                  </a:tcPr>
                </a:tc>
              </a:tr>
              <a:tr h="621792">
                <a:tc>
                  <a:txBody>
                    <a:bodyPr/>
                    <a:lstStyle/>
                    <a:p>
                      <a:pPr algn="l">
                        <a:buNone/>
                      </a:pPr>
                      <a:r>
                        <a:rPr sz="1200" b="1">
                          <a:solidFill>
                            <a:srgbClr val="191F24"/>
                          </a:solidFill>
                          <a:latin typeface="Meiryo"/>
                          <a:ea typeface="Meiryo"/>
                          <a:cs typeface="Meiryo"/>
                        </a:rPr>
                        <a:t>05:00–15:00</a:t>
                      </a:r>
                    </a:p>
                  </a:txBody>
                  <a:tcPr marL="73152" marR="73152" marT="36576" marB="36576" anchor="ctr">
                    <a:solidFill>
                      <a:srgbClr val="FFFFFF"/>
                    </a:solidFill>
                  </a:tcPr>
                </a:tc>
                <a:tc>
                  <a:txBody>
                    <a:bodyPr/>
                    <a:lstStyle/>
                    <a:p>
                      <a:pPr algn="ctr">
                        <a:buNone/>
                      </a:pPr>
                      <a:r>
                        <a:rPr sz="1200" b="0">
                          <a:solidFill>
                            <a:srgbClr val="191F24"/>
                          </a:solidFill>
                          <a:latin typeface="Meiryo"/>
                          <a:ea typeface="Meiryo"/>
                          <a:cs typeface="Meiryo"/>
                        </a:rPr>
                        <a:t>18</a:t>
                      </a:r>
                    </a:p>
                  </a:txBody>
                  <a:tcPr marL="73152" marR="73152" marT="36576" marB="36576" anchor="ctr">
                    <a:solidFill>
                      <a:srgbClr val="FFFFFF"/>
                    </a:solidFill>
                  </a:tcPr>
                </a:tc>
              </a:tr>
              <a:tr h="621792">
                <a:tc>
                  <a:txBody>
                    <a:bodyPr/>
                    <a:lstStyle/>
                    <a:p>
                      <a:pPr algn="l">
                        <a:buNone/>
                      </a:pPr>
                      <a:r>
                        <a:rPr sz="1200" b="1">
                          <a:solidFill>
                            <a:srgbClr val="191F24"/>
                          </a:solidFill>
                          <a:latin typeface="Meiryo"/>
                          <a:ea typeface="Meiryo"/>
                          <a:cs typeface="Meiryo"/>
                        </a:rPr>
                        <a:t>16:00–17:00</a:t>
                      </a:r>
                    </a:p>
                  </a:txBody>
                  <a:tcPr marL="73152" marR="73152" marT="36576" marB="36576" anchor="ctr">
                    <a:solidFill>
                      <a:srgbClr val="F2F4F6"/>
                    </a:solidFill>
                  </a:tcPr>
                </a:tc>
                <a:tc>
                  <a:txBody>
                    <a:bodyPr/>
                    <a:lstStyle/>
                    <a:p>
                      <a:pPr algn="ctr">
                        <a:buNone/>
                      </a:pPr>
                      <a:r>
                        <a:rPr sz="1200" b="0">
                          <a:solidFill>
                            <a:srgbClr val="191F24"/>
                          </a:solidFill>
                          <a:latin typeface="Meiryo"/>
                          <a:ea typeface="Meiryo"/>
                          <a:cs typeface="Meiryo"/>
                        </a:rPr>
                        <a:t>22</a:t>
                      </a:r>
                    </a:p>
                  </a:txBody>
                  <a:tcPr marL="73152" marR="73152" marT="36576" marB="36576" anchor="ctr">
                    <a:solidFill>
                      <a:srgbClr val="F2F4F6"/>
                    </a:solidFill>
                  </a:tcPr>
                </a:tc>
              </a:tr>
              <a:tr h="621792">
                <a:tc>
                  <a:txBody>
                    <a:bodyPr/>
                    <a:lstStyle/>
                    <a:p>
                      <a:pPr algn="l">
                        <a:buNone/>
                      </a:pPr>
                      <a:r>
                        <a:rPr sz="1200" b="1">
                          <a:solidFill>
                            <a:srgbClr val="191F24"/>
                          </a:solidFill>
                          <a:latin typeface="Meiryo"/>
                          <a:ea typeface="Meiryo"/>
                          <a:cs typeface="Meiryo"/>
                        </a:rPr>
                        <a:t>18:00–23:00</a:t>
                      </a:r>
                    </a:p>
                  </a:txBody>
                  <a:tcPr marL="73152" marR="73152" marT="36576" marB="36576" anchor="ctr">
                    <a:solidFill>
                      <a:srgbClr val="FFFFFF"/>
                    </a:solidFill>
                  </a:tcPr>
                </a:tc>
                <a:tc>
                  <a:txBody>
                    <a:bodyPr/>
                    <a:lstStyle/>
                    <a:p>
                      <a:pPr algn="ctr">
                        <a:buNone/>
                      </a:pPr>
                      <a:r>
                        <a:rPr sz="1200" b="0">
                          <a:solidFill>
                            <a:srgbClr val="191F24"/>
                          </a:solidFill>
                          <a:latin typeface="Meiryo"/>
                          <a:ea typeface="Meiryo"/>
                          <a:cs typeface="Meiryo"/>
                        </a:rPr>
                        <a:t>19</a:t>
                      </a:r>
                    </a:p>
                  </a:txBody>
                  <a:tcPr marL="73152" marR="73152" marT="36576" marB="36576" anchor="ctr">
                    <a:solidFill>
                      <a:srgbClr val="FFFFFF"/>
                    </a:solidFill>
                  </a:tcPr>
                </a:tc>
              </a:tr>
              <a:tr h="621792">
                <a:tc>
                  <a:txBody>
                    <a:bodyPr/>
                    <a:lstStyle/>
                    <a:p>
                      <a:pPr algn="l">
                        <a:buNone/>
                      </a:pPr>
                      <a:r>
                        <a:rPr sz="1200" b="1">
                          <a:solidFill>
                            <a:srgbClr val="191F24"/>
                          </a:solidFill>
                          <a:latin typeface="Meiryo"/>
                          <a:ea typeface="Meiryo"/>
                          <a:cs typeface="Meiryo"/>
                        </a:rPr>
                        <a:t>00:00–04:00</a:t>
                      </a:r>
                    </a:p>
                  </a:txBody>
                  <a:tcPr marL="73152" marR="73152" marT="36576" marB="36576" anchor="ctr">
                    <a:solidFill>
                      <a:srgbClr val="F2F4F6"/>
                    </a:solidFill>
                  </a:tcPr>
                </a:tc>
                <a:tc>
                  <a:txBody>
                    <a:bodyPr/>
                    <a:lstStyle/>
                    <a:p>
                      <a:pPr algn="ctr">
                        <a:buNone/>
                      </a:pPr>
                      <a:r>
                        <a:rPr sz="1200" b="0">
                          <a:solidFill>
                            <a:srgbClr val="191F24"/>
                          </a:solidFill>
                          <a:latin typeface="Meiryo"/>
                          <a:ea typeface="Meiryo"/>
                          <a:cs typeface="Meiryo"/>
                        </a:rPr>
                        <a:t>18</a:t>
                      </a:r>
                    </a:p>
                  </a:txBody>
                  <a:tcPr marL="73152" marR="73152" marT="36576" marB="36576" anchor="ctr">
                    <a:solidFill>
                      <a:srgbClr val="F2F4F6"/>
                    </a:solidFill>
                  </a:tcPr>
                </a:tc>
              </a:tr>
              <a:tr h="621792">
                <a:tc>
                  <a:txBody>
                    <a:bodyPr/>
                    <a:lstStyle/>
                    <a:p>
                      <a:pPr algn="l">
                        <a:buNone/>
                      </a:pPr>
                      <a:r>
                        <a:rPr sz="1200" b="1">
                          <a:solidFill>
                            <a:srgbClr val="191F24"/>
                          </a:solidFill>
                          <a:latin typeface="Meiryo"/>
                          <a:ea typeface="Meiryo"/>
                          <a:cs typeface="Meiryo"/>
                        </a:rPr>
                        <a:t>需要料金</a:t>
                      </a:r>
                    </a:p>
                  </a:txBody>
                  <a:tcPr marL="73152" marR="73152" marT="36576" marB="36576" anchor="ctr">
                    <a:solidFill>
                      <a:srgbClr val="FFFFFF"/>
                    </a:solidFill>
                  </a:tcPr>
                </a:tc>
                <a:tc>
                  <a:txBody>
                    <a:bodyPr/>
                    <a:lstStyle/>
                    <a:p>
                      <a:pPr algn="ctr">
                        <a:buNone/>
                      </a:pPr>
                      <a:r>
                        <a:rPr sz="1200" b="0">
                          <a:solidFill>
                            <a:srgbClr val="191F24"/>
                          </a:solidFill>
                          <a:latin typeface="Meiryo"/>
                          <a:ea typeface="Meiryo"/>
                          <a:cs typeface="Meiryo"/>
                        </a:rPr>
                        <a:t>1,200円/kW・月</a:t>
                      </a:r>
                    </a:p>
                  </a:txBody>
                  <a:tcPr marL="73152" marR="73152" marT="36576" marB="36576" anchor="ctr">
                    <a:solidFill>
                      <a:srgbClr val="FFFFFF"/>
                    </a:solidFill>
                  </a:tcPr>
                </a:tc>
              </a:tr>
              <a:tr h="621792">
                <a:tc>
                  <a:txBody>
                    <a:bodyPr/>
                    <a:lstStyle/>
                    <a:p>
                      <a:pPr algn="l">
                        <a:buNone/>
                      </a:pPr>
                      <a:r>
                        <a:rPr sz="1200" b="1">
                          <a:solidFill>
                            <a:srgbClr val="191F24"/>
                          </a:solidFill>
                          <a:latin typeface="Meiryo"/>
                          <a:ea typeface="Meiryo"/>
                          <a:cs typeface="Meiryo"/>
                        </a:rPr>
                        <a:t>1日換算</a:t>
                      </a:r>
                    </a:p>
                  </a:txBody>
                  <a:tcPr marL="73152" marR="73152" marT="36576" marB="36576" anchor="ctr">
                    <a:solidFill>
                      <a:srgbClr val="F2F4F6"/>
                    </a:solidFill>
                  </a:tcPr>
                </a:tc>
                <a:tc>
                  <a:txBody>
                    <a:bodyPr/>
                    <a:lstStyle/>
                    <a:p>
                      <a:pPr algn="ctr">
                        <a:buNone/>
                      </a:pPr>
                      <a:r>
                        <a:rPr sz="1200" b="0">
                          <a:solidFill>
                            <a:srgbClr val="191F24"/>
                          </a:solidFill>
                          <a:latin typeface="Meiryo"/>
                          <a:ea typeface="Meiryo"/>
                          <a:cs typeface="Meiryo"/>
                        </a:rPr>
                        <a:t>40円/kW</a:t>
                      </a:r>
                    </a:p>
                  </a:txBody>
                  <a:tcPr marL="73152" marR="73152" marT="36576" marB="36576" anchor="ctr">
                    <a:solidFill>
                      <a:srgbClr val="F2F4F6"/>
                    </a:solidFill>
                  </a:tcPr>
                </a:tc>
              </a:tr>
            </a:tbl>
          </a:graphicData>
        </a:graphic>
      </p:graphicFrame>
      <p:graphicFrame>
        <p:nvGraphicFramePr>
          <p:cNvPr id="27" name="Table 9"/>
          <p:cNvGraphicFramePr/>
          <p:nvPr/>
        </p:nvGraphicFramePr>
        <p:xfrm>
          <a:off xmlns:a="http://schemas.openxmlformats.org/drawingml/2006/main" x="3749039" y="914400"/>
          <a:ext xmlns:a="http://schemas.openxmlformats.org/drawingml/2006/main" cx="3429000" cy="4352544"/>
        </p:xfrm>
        <a:graphic xmlns:a="http://schemas.openxmlformats.org/drawingml/2006/main">
          <a:graphicData uri="http://schemas.openxmlformats.org/drawingml/2006/table">
            <a:tbl>
              <a:tblPr firstRow="1" bandRow="1">
                <a:tableStyleId>{5C22544A-7EE6-4342-B048-85BDC9FD1C3A}</a:tableStyleId>
              </a:tblPr>
              <a:tblGrid>
                <a:gridCol w="1847088"/>
                <a:gridCol w="1581912"/>
              </a:tblGrid>
              <a:tr h="544068">
                <a:tc>
                  <a:txBody>
                    <a:bodyPr/>
                    <a:lstStyle/>
                    <a:p>
                      <a:pPr algn="l">
                        <a:buNone/>
                      </a:pPr>
                      <a:r>
                        <a:rPr sz="1300" b="1">
                          <a:solidFill>
                            <a:srgbClr val="FFFFFF"/>
                          </a:solidFill>
                          <a:latin typeface="Meiryo"/>
                          <a:ea typeface="Meiryo"/>
                          <a:cs typeface="Meiryo"/>
                        </a:rPr>
                        <a:t>その他の単価</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設定値</a:t>
                      </a:r>
                    </a:p>
                  </a:txBody>
                  <a:tcPr marL="73152" marR="73152" marT="36576" marB="36576" anchor="ctr">
                    <a:solidFill>
                      <a:srgbClr val="003667"/>
                    </a:solidFill>
                  </a:tcPr>
                </a:tc>
              </a:tr>
              <a:tr h="544068">
                <a:tc>
                  <a:txBody>
                    <a:bodyPr/>
                    <a:lstStyle/>
                    <a:p>
                      <a:pPr algn="l">
                        <a:buNone/>
                      </a:pPr>
                      <a:r>
                        <a:rPr sz="1180" b="1">
                          <a:solidFill>
                            <a:srgbClr val="191F24"/>
                          </a:solidFill>
                          <a:latin typeface="Meiryo"/>
                          <a:ea typeface="Meiryo"/>
                          <a:cs typeface="Meiryo"/>
                        </a:rPr>
                        <a:t>軽油</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150円/L</a:t>
                      </a:r>
                    </a:p>
                  </a:txBody>
                  <a:tcPr marL="73152" marR="73152" marT="36576" marB="36576" anchor="ctr">
                    <a:solidFill>
                      <a:srgbClr val="FFFFFF"/>
                    </a:solidFill>
                  </a:tcPr>
                </a:tc>
              </a:tr>
              <a:tr h="544068">
                <a:tc>
                  <a:txBody>
                    <a:bodyPr/>
                    <a:lstStyle/>
                    <a:p>
                      <a:pPr algn="l">
                        <a:buNone/>
                      </a:pPr>
                      <a:r>
                        <a:rPr sz="1180" b="1">
                          <a:solidFill>
                            <a:srgbClr val="191F24"/>
                          </a:solidFill>
                          <a:latin typeface="Meiryo"/>
                          <a:ea typeface="Meiryo"/>
                          <a:cs typeface="Meiryo"/>
                        </a:rPr>
                        <a:t>CO₂価格</a:t>
                      </a:r>
                    </a:p>
                  </a:txBody>
                  <a:tcPr marL="73152" marR="73152" marT="36576" marB="36576" anchor="ctr">
                    <a:solidFill>
                      <a:srgbClr val="F2F4F6"/>
                    </a:solidFill>
                  </a:tcPr>
                </a:tc>
                <a:tc>
                  <a:txBody>
                    <a:bodyPr/>
                    <a:lstStyle/>
                    <a:p>
                      <a:pPr algn="ctr">
                        <a:buNone/>
                      </a:pPr>
                      <a:r>
                        <a:rPr sz="1180" b="0">
                          <a:solidFill>
                            <a:srgbClr val="191F24"/>
                          </a:solidFill>
                          <a:latin typeface="Meiryo"/>
                          <a:ea typeface="Meiryo"/>
                          <a:cs typeface="Meiryo"/>
                        </a:rPr>
                        <a:t>1円/kg-CO₂</a:t>
                      </a:r>
                    </a:p>
                  </a:txBody>
                  <a:tcPr marL="73152" marR="73152" marT="36576" marB="36576" anchor="ctr">
                    <a:solidFill>
                      <a:srgbClr val="F2F4F6"/>
                    </a:solidFill>
                  </a:tcPr>
                </a:tc>
              </a:tr>
              <a:tr h="544068">
                <a:tc>
                  <a:txBody>
                    <a:bodyPr/>
                    <a:lstStyle/>
                    <a:p>
                      <a:pPr algn="l">
                        <a:buNone/>
                      </a:pPr>
                      <a:r>
                        <a:rPr sz="1180" b="1">
                          <a:solidFill>
                            <a:srgbClr val="191F24"/>
                          </a:solidFill>
                          <a:latin typeface="Meiryo"/>
                          <a:ea typeface="Meiryo"/>
                          <a:cs typeface="Meiryo"/>
                        </a:rPr>
                        <a:t>系統CO₂係数</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0.5 kg-CO₂/kWh</a:t>
                      </a:r>
                    </a:p>
                  </a:txBody>
                  <a:tcPr marL="73152" marR="73152" marT="36576" marB="36576" anchor="ctr">
                    <a:solidFill>
                      <a:srgbClr val="FFFFFF"/>
                    </a:solidFill>
                  </a:tcPr>
                </a:tc>
              </a:tr>
              <a:tr h="544068">
                <a:tc>
                  <a:txBody>
                    <a:bodyPr/>
                    <a:lstStyle/>
                    <a:p>
                      <a:pPr algn="l">
                        <a:buNone/>
                      </a:pPr>
                      <a:r>
                        <a:rPr sz="1180" b="1">
                          <a:solidFill>
                            <a:srgbClr val="191F24"/>
                          </a:solidFill>
                          <a:latin typeface="Meiryo"/>
                          <a:ea typeface="Meiryo"/>
                          <a:cs typeface="Meiryo"/>
                        </a:rPr>
                        <a:t>使用車両費</a:t>
                      </a:r>
                    </a:p>
                  </a:txBody>
                  <a:tcPr marL="73152" marR="73152" marT="36576" marB="36576" anchor="ctr">
                    <a:solidFill>
                      <a:srgbClr val="F2F4F6"/>
                    </a:solidFill>
                  </a:tcPr>
                </a:tc>
                <a:tc>
                  <a:txBody>
                    <a:bodyPr/>
                    <a:lstStyle/>
                    <a:p>
                      <a:pPr algn="ctr">
                        <a:buNone/>
                      </a:pPr>
                      <a:r>
                        <a:rPr sz="1180" b="0">
                          <a:solidFill>
                            <a:srgbClr val="191F24"/>
                          </a:solidFill>
                          <a:latin typeface="Meiryo"/>
                          <a:ea typeface="Meiryo"/>
                          <a:cs typeface="Meiryo"/>
                        </a:rPr>
                        <a:t>20,000円/台・日</a:t>
                      </a:r>
                    </a:p>
                  </a:txBody>
                  <a:tcPr marL="73152" marR="73152" marT="36576" marB="36576" anchor="ctr">
                    <a:solidFill>
                      <a:srgbClr val="F2F4F6"/>
                    </a:solidFill>
                  </a:tcPr>
                </a:tc>
              </a:tr>
              <a:tr h="544068">
                <a:tc>
                  <a:txBody>
                    <a:bodyPr/>
                    <a:lstStyle/>
                    <a:p>
                      <a:pPr algn="l">
                        <a:buNone/>
                      </a:pPr>
                      <a:r>
                        <a:rPr sz="1180" b="1">
                          <a:solidFill>
                            <a:srgbClr val="191F24"/>
                          </a:solidFill>
                          <a:latin typeface="Meiryo"/>
                          <a:ea typeface="Meiryo"/>
                          <a:cs typeface="Meiryo"/>
                        </a:rPr>
                        <a:t>PV限界単価</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0円/kWh</a:t>
                      </a:r>
                    </a:p>
                  </a:txBody>
                  <a:tcPr marL="73152" marR="73152" marT="36576" marB="36576" anchor="ctr">
                    <a:solidFill>
                      <a:srgbClr val="FFFFFF"/>
                    </a:solidFill>
                  </a:tcPr>
                </a:tc>
              </a:tr>
              <a:tr h="544068">
                <a:tc>
                  <a:txBody>
                    <a:bodyPr/>
                    <a:lstStyle/>
                    <a:p>
                      <a:pPr algn="l">
                        <a:buNone/>
                      </a:pPr>
                      <a:r>
                        <a:rPr sz="1180" b="1">
                          <a:solidFill>
                            <a:srgbClr val="191F24"/>
                          </a:solidFill>
                          <a:latin typeface="Meiryo"/>
                          <a:ea typeface="Meiryo"/>
                          <a:cs typeface="Meiryo"/>
                        </a:rPr>
                        <a:t>PV抑制</a:t>
                      </a:r>
                    </a:p>
                  </a:txBody>
                  <a:tcPr marL="73152" marR="73152" marT="36576" marB="36576" anchor="ctr">
                    <a:solidFill>
                      <a:srgbClr val="F2F4F6"/>
                    </a:solidFill>
                  </a:tcPr>
                </a:tc>
                <a:tc>
                  <a:txBody>
                    <a:bodyPr/>
                    <a:lstStyle/>
                    <a:p>
                      <a:pPr algn="ctr">
                        <a:buNone/>
                      </a:pPr>
                      <a:r>
                        <a:rPr sz="1180" b="0">
                          <a:solidFill>
                            <a:srgbClr val="191F24"/>
                          </a:solidFill>
                          <a:latin typeface="Meiryo"/>
                          <a:ea typeface="Meiryo"/>
                          <a:cs typeface="Meiryo"/>
                        </a:rPr>
                        <a:t>0円/kWh</a:t>
                      </a:r>
                    </a:p>
                  </a:txBody>
                  <a:tcPr marL="73152" marR="73152" marT="36576" marB="36576" anchor="ctr">
                    <a:solidFill>
                      <a:srgbClr val="F2F4F6"/>
                    </a:solidFill>
                  </a:tcPr>
                </a:tc>
              </a:tr>
              <a:tr h="544068">
                <a:tc>
                  <a:txBody>
                    <a:bodyPr/>
                    <a:lstStyle/>
                    <a:p>
                      <a:pPr algn="l">
                        <a:buNone/>
                      </a:pPr>
                      <a:r>
                        <a:rPr sz="1180" b="1">
                          <a:solidFill>
                            <a:srgbClr val="191F24"/>
                          </a:solidFill>
                          <a:latin typeface="Meiryo"/>
                          <a:ea typeface="Meiryo"/>
                          <a:cs typeface="Meiryo"/>
                        </a:rPr>
                        <a:t>BESSサイクル費</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0円/kWh</a:t>
                      </a:r>
                    </a:p>
                  </a:txBody>
                  <a:tcPr marL="73152" marR="73152" marT="36576" marB="36576" anchor="ctr">
                    <a:solidFill>
                      <a:srgbClr val="FFFFFF"/>
                    </a:solidFill>
                  </a:tcPr>
                </a:tc>
              </a:tr>
            </a:tbl>
          </a:graphicData>
        </a:graphic>
      </p:graphicFrame>
      <p:sp>
        <p:nvSpPr>
          <p:cNvPr id="11" name="Rectangle 10">
            <a:extLst xmlns:a="http://schemas.openxmlformats.org/drawingml/2006/main">
              <a:ext uri="{FF2B5EF4-FFF2-40B4-BE49-F238E27FC236}">
                <a16:creationId xmlns:a16="http://schemas.microsoft.com/office/drawing/2014/main" id="{200A876D-F271-4989-8EA6-D6B510150CCF}"/>
              </a:ext>
            </a:extLst>
          </p:cNvPr>
          <p:cNvSpPr>
            <a:spLocks xmlns:a="http://schemas.openxmlformats.org/drawingml/2006/main" noGrp="1"/>
          </p:cNvSpPr>
          <p:nvPr/>
        </p:nvSpPr>
        <p:spPr>
          <a:xfrm xmlns:a="http://schemas.openxmlformats.org/drawingml/2006/main">
            <a:off x="7388352" y="914400"/>
            <a:ext cx="4361688" cy="4352544"/>
          </a:xfrm>
          <a:prstGeom xmlns:a="http://schemas.openxmlformats.org/drawingml/2006/main" prst="rect">
            <a:avLst/>
          </a:prstGeom>
          <a:solidFill xmlns:a="http://schemas.openxmlformats.org/drawingml/2006/main">
            <a:srgbClr val="FFFFFF"/>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D8F8C41E-945C-47BF-9E73-F2D4019150C3}"/>
              </a:ext>
            </a:extLst>
          </p:cNvPr>
          <p:cNvSpPr>
            <a:spLocks xmlns:a="http://schemas.openxmlformats.org/drawingml/2006/main" noGrp="1"/>
          </p:cNvSpPr>
          <p:nvPr/>
        </p:nvSpPr>
        <p:spPr>
          <a:xfrm xmlns:a="http://schemas.openxmlformats.org/drawingml/2006/main">
            <a:off x="7635240" y="1143000"/>
            <a:ext cx="3867912"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費用比較で用いる内訳</a:t>
            </a:r>
          </a:p>
        </p:txBody>
      </p:sp>
      <p:sp>
        <p:nvSpPr>
          <p:cNvPr id="13" name="TextBox 12">
            <a:extLst xmlns:a="http://schemas.openxmlformats.org/drawingml/2006/main">
              <a:ext uri="{FF2B5EF4-FFF2-40B4-BE49-F238E27FC236}">
                <a16:creationId xmlns:a16="http://schemas.microsoft.com/office/drawing/2014/main" id="{6E9A840D-E2CE-4485-82D0-A55036C55961}"/>
              </a:ext>
            </a:extLst>
          </p:cNvPr>
          <p:cNvSpPr>
            <a:spLocks xmlns:a="http://schemas.openxmlformats.org/drawingml/2006/main" noGrp="1"/>
          </p:cNvSpPr>
          <p:nvPr/>
        </p:nvSpPr>
        <p:spPr>
          <a:xfrm xmlns:a="http://schemas.openxmlformats.org/drawingml/2006/main">
            <a:off x="7708392" y="1682496"/>
            <a:ext cx="3712463" cy="8046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650" b="1">
                <a:solidFill>
                  <a:srgbClr val="191F24"/>
                </a:solidFill>
                <a:latin typeface="Meiryo"/>
                <a:ea typeface="Meiryo"/>
                <a:cs typeface="Meiryo"/>
              </a:defRPr>
            </a:pPr>
            <a:r>
              <a:t>C総 = C電力 + C燃料 + C需要</a:t>
            </a:r>
            <a:br/>
            <a:r>
              <a:t>　　+ CCO₂ + C使用車両</a:t>
            </a:r>
          </a:p>
        </p:txBody>
      </p:sp>
      <p:sp>
        <p:nvSpPr>
          <p:cNvPr id="14" name="TextBox 13">
            <a:extLst xmlns:a="http://schemas.openxmlformats.org/drawingml/2006/main">
              <a:ext uri="{FF2B5EF4-FFF2-40B4-BE49-F238E27FC236}">
                <a16:creationId xmlns:a16="http://schemas.microsoft.com/office/drawing/2014/main" id="{0301AF3E-6D76-4D21-ABAF-0218328E838E}"/>
              </a:ext>
            </a:extLst>
          </p:cNvPr>
          <p:cNvSpPr>
            <a:spLocks xmlns:a="http://schemas.openxmlformats.org/drawingml/2006/main" noGrp="1"/>
          </p:cNvSpPr>
          <p:nvPr/>
        </p:nvSpPr>
        <p:spPr>
          <a:xfrm xmlns:a="http://schemas.openxmlformats.org/drawingml/2006/main">
            <a:off x="7699248" y="2761488"/>
            <a:ext cx="3694176" cy="20482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250" b="0">
                <a:solidFill>
                  <a:srgbClr val="191F24"/>
                </a:solidFill>
                <a:latin typeface="Meiryo"/>
                <a:ea typeface="Meiryo"/>
                <a:cs typeface="Meiryo"/>
              </a:defRPr>
            </a:pPr>
            <a:r>
              <a:t>有効：電力・燃料・需要料金・CO₂・使用車両費</a:t>
            </a:r>
            <a:br/>
            <a:r>
              <a:t>重み：energy=1、fuel=1、demand=1、usage=1</a:t>
            </a:r>
            <a:br/>
            <a:r>
              <a:t>　　　vehicle fixed=0、degradation=0</a:t>
            </a:r>
            <a:br/>
            <a:br/>
            <a:r>
              <a:t>PV単価、PV抑制、BESSサイクル費が0円なのは、今回のシナリオ設定であり、システム固有の定数ではない。</a:t>
            </a:r>
          </a:p>
        </p:txBody>
      </p:sp>
      <p:sp>
        <p:nvSpPr>
          <p:cNvPr id="15" name="Rectangle 14">
            <a:extLst xmlns:a="http://schemas.openxmlformats.org/drawingml/2006/main">
              <a:ext uri="{FF2B5EF4-FFF2-40B4-BE49-F238E27FC236}">
                <a16:creationId xmlns:a16="http://schemas.microsoft.com/office/drawing/2014/main" id="{5EAFEC6C-244D-4957-A9DE-02CB7DAB437C}"/>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799E5E5-EEC6-4463-82A3-FA46B33616A1}"/>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要点｜需要料金は購入電力量の合計ではなく、1日の最大系統受電電力[kW]に40円/kWを乗じる。</a:t>
            </a:r>
          </a:p>
        </p:txBody>
      </p:sp>
    </p:spTree>
    <p:extLst>
      <p:ext uri="{BB962C8B-B14F-4D97-AF65-F5344CB8AC3E}">
        <p14:creationId xmlns:p14="http://schemas.microsoft.com/office/powerpoint/2010/main" val="8223536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AC30043-CAF0-4CE7-8ABE-91E55CCC5883}"/>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EV・エンジンバスの使用結果</a:t>
            </a:r>
          </a:p>
        </p:txBody>
      </p:sp>
      <p:sp>
        <p:nvSpPr>
          <p:cNvPr id="3" name="Connector 2">
            <a:extLst xmlns:a="http://schemas.openxmlformats.org/drawingml/2006/main">
              <a:ext uri="{FF2B5EF4-FFF2-40B4-BE49-F238E27FC236}">
                <a16:creationId xmlns:a16="http://schemas.microsoft.com/office/drawing/2014/main" id="{3B517108-358C-44AE-B59C-1496B92B7BA9}"/>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F3695080-4106-4D61-8BD8-220BE884F85A}"/>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E0E9F36D-4CE7-4E80-AA15-99A4F81646A9}"/>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DFAA732-4DBA-4EAA-A54C-A50965A4D35C}"/>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E4DD6B9E-0588-472B-80C4-DC17A8513D52}"/>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889E3423-5C81-4E91-A10B-23BC95C6ACC0}"/>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8/18</a:t>
            </a:r>
          </a:p>
        </p:txBody>
      </p:sp>
      <p:pic>
        <p:nvPicPr>
          <p:cNvPr id="24" name="Picture 8"/>
          <p:cNvPicPr>
            <a:picLocks xmlns:a="http://schemas.openxmlformats.org/drawingml/2006/main" noChangeAspect="1"/>
          </p:cNvPicPr>
          <p:nvPr/>
        </p:nvPicPr>
        <p:blipFill>
          <a:blip xmlns:r="http://schemas.openxmlformats.org/officeDocument/2006/relationships" xmlns:a="http://schemas.openxmlformats.org/drawingml/2006/main" r:embed="Rdeb63d64f9e24009"/>
          <a:stretch xmlns:a="http://schemas.openxmlformats.org/drawingml/2006/main">
            <a:fillRect l="0" t="0" r="0" b="0"/>
          </a:stretch>
        </p:blipFill>
        <p:spPr>
          <a:xfrm xmlns:a="http://schemas.openxmlformats.org/drawingml/2006/main">
            <a:off x="502920" y="841248"/>
            <a:ext cx="7818120" cy="452628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8EDFC32F-E569-482F-B315-E26E38188D14}"/>
              </a:ext>
            </a:extLst>
          </p:cNvPr>
          <p:cNvSpPr>
            <a:spLocks xmlns:a="http://schemas.openxmlformats.org/drawingml/2006/main" noGrp="1"/>
          </p:cNvSpPr>
          <p:nvPr/>
        </p:nvSpPr>
        <p:spPr>
          <a:xfrm xmlns:a="http://schemas.openxmlformats.org/drawingml/2006/main">
            <a:off x="8549640" y="1042415"/>
            <a:ext cx="3182112" cy="4041648"/>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419F0BE4-E9E4-4F37-9F16-CDECDCE618BD}"/>
              </a:ext>
            </a:extLst>
          </p:cNvPr>
          <p:cNvSpPr>
            <a:spLocks xmlns:a="http://schemas.openxmlformats.org/drawingml/2006/main" noGrp="1"/>
          </p:cNvSpPr>
          <p:nvPr/>
        </p:nvSpPr>
        <p:spPr>
          <a:xfrm xmlns:a="http://schemas.openxmlformats.org/drawingml/2006/main">
            <a:off x="8778240" y="1261872"/>
            <a:ext cx="2724912" cy="3291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003667"/>
                </a:solidFill>
                <a:latin typeface="Meiryo"/>
                <a:ea typeface="Meiryo"/>
                <a:cs typeface="Meiryo"/>
              </a:defRPr>
            </a:pPr>
            <a:r>
              <a:t>確認結果</a:t>
            </a:r>
          </a:p>
        </p:txBody>
      </p:sp>
      <p:sp>
        <p:nvSpPr>
          <p:cNvPr id="12" name="TextBox 11">
            <a:extLst xmlns:a="http://schemas.openxmlformats.org/drawingml/2006/main">
              <a:ext uri="{FF2B5EF4-FFF2-40B4-BE49-F238E27FC236}">
                <a16:creationId xmlns:a16="http://schemas.microsoft.com/office/drawing/2014/main" id="{37C80248-E4DE-4D08-9A2A-DB8693FE3B9E}"/>
              </a:ext>
            </a:extLst>
          </p:cNvPr>
          <p:cNvSpPr>
            <a:spLocks xmlns:a="http://schemas.openxmlformats.org/drawingml/2006/main" noGrp="1"/>
          </p:cNvSpPr>
          <p:nvPr/>
        </p:nvSpPr>
        <p:spPr>
          <a:xfrm xmlns:a="http://schemas.openxmlformats.org/drawingml/2006/main">
            <a:off x="8805672" y="1783080"/>
            <a:ext cx="2670048" cy="23042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420">
                <a:solidFill>
                  <a:srgbClr val="191F24"/>
                </a:solidFill>
                <a:latin typeface="Meiryo"/>
                <a:ea typeface="Meiryo"/>
                <a:cs typeface="Meiryo"/>
              </a:defRPr>
            </a:pPr>
            <a:r>
              <a:t>● 晴天：EV16台・ICE16台</a:t>
            </a:r>
          </a:p>
          <a:p xmlns:a="http://schemas.openxmlformats.org/drawingml/2006/main">
            <a:pPr>
              <a:spcAft>
                <a:spcPts val="900"/>
              </a:spcAft>
              <a:buNone/>
              <a:defRPr sz="1420">
                <a:solidFill>
                  <a:srgbClr val="191F24"/>
                </a:solidFill>
                <a:latin typeface="Meiryo"/>
                <a:ea typeface="Meiryo"/>
                <a:cs typeface="Meiryo"/>
              </a:defRPr>
            </a:pPr>
            <a:r>
              <a:t>● 雨天：EV15台・ICE17台</a:t>
            </a:r>
          </a:p>
          <a:p xmlns:a="http://schemas.openxmlformats.org/drawingml/2006/main">
            <a:pPr>
              <a:spcAft>
                <a:spcPts val="900"/>
              </a:spcAft>
              <a:buNone/>
              <a:defRPr sz="1420">
                <a:solidFill>
                  <a:srgbClr val="191F24"/>
                </a:solidFill>
                <a:latin typeface="Meiryo"/>
                <a:ea typeface="Meiryo"/>
                <a:cs typeface="Meiryo"/>
              </a:defRPr>
            </a:pPr>
            <a:r>
              <a:t>● 晴天EV便 141 / 264便</a:t>
            </a:r>
          </a:p>
          <a:p xmlns:a="http://schemas.openxmlformats.org/drawingml/2006/main">
            <a:pPr>
              <a:spcAft>
                <a:spcPts val="900"/>
              </a:spcAft>
              <a:buNone/>
              <a:defRPr sz="1420">
                <a:solidFill>
                  <a:srgbClr val="191F24"/>
                </a:solidFill>
                <a:latin typeface="Meiryo"/>
                <a:ea typeface="Meiryo"/>
                <a:cs typeface="Meiryo"/>
              </a:defRPr>
            </a:pPr>
            <a:r>
              <a:t>● 雨天EV便 119 / 264便</a:t>
            </a:r>
          </a:p>
          <a:p xmlns:a="http://schemas.openxmlformats.org/drawingml/2006/main">
            <a:pPr>
              <a:spcAft>
                <a:spcPts val="900"/>
              </a:spcAft>
              <a:buNone/>
              <a:defRPr sz="1420">
                <a:solidFill>
                  <a:srgbClr val="191F24"/>
                </a:solidFill>
                <a:latin typeface="Meiryo"/>
                <a:ea typeface="Meiryo"/>
                <a:cs typeface="Meiryo"/>
              </a:defRPr>
            </a:pPr>
            <a:r>
              <a:t>● 晴天でもEV19台が未使用</a:t>
            </a:r>
          </a:p>
        </p:txBody>
      </p:sp>
      <p:sp>
        <p:nvSpPr>
          <p:cNvPr id="13" name="TextBox 12">
            <a:extLst xmlns:a="http://schemas.openxmlformats.org/drawingml/2006/main">
              <a:ext uri="{FF2B5EF4-FFF2-40B4-BE49-F238E27FC236}">
                <a16:creationId xmlns:a16="http://schemas.microsoft.com/office/drawing/2014/main" id="{EDA87B21-9802-45EF-9DCB-8D67DA91D7AB}"/>
              </a:ext>
            </a:extLst>
          </p:cNvPr>
          <p:cNvSpPr>
            <a:spLocks xmlns:a="http://schemas.openxmlformats.org/drawingml/2006/main" noGrp="1"/>
          </p:cNvSpPr>
          <p:nvPr/>
        </p:nvSpPr>
        <p:spPr>
          <a:xfrm xmlns:a="http://schemas.openxmlformats.org/drawingml/2006/main">
            <a:off x="8805672" y="4160520"/>
            <a:ext cx="2670048" cy="6858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150" b="1">
                <a:solidFill>
                  <a:srgbClr val="C23737"/>
                </a:solidFill>
                <a:latin typeface="Meiryo"/>
                <a:ea typeface="Meiryo"/>
                <a:cs typeface="Meiryo"/>
              </a:defRPr>
            </a:pPr>
            <a:r>
              <a:t>PV限界単価が0円でも、接続可能性・SOC・使用車両費・充電時刻の制約によりEV全車使用にはならない。</a:t>
            </a:r>
          </a:p>
        </p:txBody>
      </p:sp>
      <p:sp>
        <p:nvSpPr>
          <p:cNvPr id="14" name="Rectangle 13">
            <a:extLst xmlns:a="http://schemas.openxmlformats.org/drawingml/2006/main">
              <a:ext uri="{FF2B5EF4-FFF2-40B4-BE49-F238E27FC236}">
                <a16:creationId xmlns:a16="http://schemas.microsoft.com/office/drawing/2014/main" id="{4B21C982-0B8F-4C41-A3DD-143344176FC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C0FC3602-0583-4271-A653-E510D1ECE5C4}"/>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要点｜晴天ではEV利用が増えるが、増加は1台・22便であり全35台使用ではない。</a:t>
            </a:r>
          </a:p>
        </p:txBody>
      </p:sp>
    </p:spTree>
    <p:extLst>
      <p:ext uri="{BB962C8B-B14F-4D97-AF65-F5344CB8AC3E}">
        <p14:creationId xmlns:p14="http://schemas.microsoft.com/office/powerpoint/2010/main" val="17174075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0D88019-C57E-4327-BE32-71C86C2B2E86}"/>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時刻別の運行状況</a:t>
            </a:r>
          </a:p>
        </p:txBody>
      </p:sp>
      <p:sp>
        <p:nvSpPr>
          <p:cNvPr id="3" name="Connector 2">
            <a:extLst xmlns:a="http://schemas.openxmlformats.org/drawingml/2006/main">
              <a:ext uri="{FF2B5EF4-FFF2-40B4-BE49-F238E27FC236}">
                <a16:creationId xmlns:a16="http://schemas.microsoft.com/office/drawing/2014/main" id="{A1C41365-8767-4C1F-B959-38E1D0C00B2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5D03478C-CD28-47D6-862B-F630FFBDFD55}"/>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B3533B62-8987-410E-ADF7-17D8E97F986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A9B509A-857B-4BE9-BA11-6AB0966C4B2B}"/>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03E60EE0-FAC0-4CB9-BB80-79ACA08A48A0}"/>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038B5B7B-4E36-4318-B9AF-C12A70816F09}"/>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9/18</a:t>
            </a:r>
          </a:p>
        </p:txBody>
      </p:sp>
      <p:pic>
        <p:nvPicPr>
          <p:cNvPr id="24" name="Picture 8"/>
          <p:cNvPicPr>
            <a:picLocks xmlns:a="http://schemas.openxmlformats.org/drawingml/2006/main" noChangeAspect="1"/>
          </p:cNvPicPr>
          <p:nvPr/>
        </p:nvPicPr>
        <p:blipFill>
          <a:blip xmlns:r="http://schemas.openxmlformats.org/officeDocument/2006/relationships" xmlns:a="http://schemas.openxmlformats.org/drawingml/2006/main" r:embed="Rfbfe1550ecdd42d9"/>
          <a:stretch xmlns:a="http://schemas.openxmlformats.org/drawingml/2006/main">
            <a:fillRect l="0" t="0" r="0" b="0"/>
          </a:stretch>
        </p:blipFill>
        <p:spPr>
          <a:xfrm xmlns:a="http://schemas.openxmlformats.org/drawingml/2006/main">
            <a:off x="457200" y="804672"/>
            <a:ext cx="877824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5D31206C-FB0E-4130-AE23-38DD6CD18D11}"/>
              </a:ext>
            </a:extLst>
          </p:cNvPr>
          <p:cNvSpPr>
            <a:spLocks xmlns:a="http://schemas.openxmlformats.org/drawingml/2006/main" noGrp="1"/>
          </p:cNvSpPr>
          <p:nvPr/>
        </p:nvSpPr>
        <p:spPr>
          <a:xfrm xmlns:a="http://schemas.openxmlformats.org/drawingml/2006/main">
            <a:off x="9464040" y="1051560"/>
            <a:ext cx="2267712" cy="429768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2A4657F-DBAF-43D0-8424-4912231272E1}"/>
              </a:ext>
            </a:extLst>
          </p:cNvPr>
          <p:cNvSpPr>
            <a:spLocks xmlns:a="http://schemas.openxmlformats.org/drawingml/2006/main" noGrp="1"/>
          </p:cNvSpPr>
          <p:nvPr/>
        </p:nvSpPr>
        <p:spPr>
          <a:xfrm xmlns:a="http://schemas.openxmlformats.org/drawingml/2006/main">
            <a:off x="9665208" y="1261872"/>
            <a:ext cx="1865376" cy="3108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読み方</a:t>
            </a:r>
          </a:p>
        </p:txBody>
      </p:sp>
      <p:sp>
        <p:nvSpPr>
          <p:cNvPr id="12" name="TextBox 11">
            <a:extLst xmlns:a="http://schemas.openxmlformats.org/drawingml/2006/main">
              <a:ext uri="{FF2B5EF4-FFF2-40B4-BE49-F238E27FC236}">
                <a16:creationId xmlns:a16="http://schemas.microsoft.com/office/drawing/2014/main" id="{76DF0D8B-90CD-4163-A0A3-F4F9C9087121}"/>
              </a:ext>
            </a:extLst>
          </p:cNvPr>
          <p:cNvSpPr>
            <a:spLocks xmlns:a="http://schemas.openxmlformats.org/drawingml/2006/main" noGrp="1"/>
          </p:cNvSpPr>
          <p:nvPr/>
        </p:nvSpPr>
        <p:spPr>
          <a:xfrm xmlns:a="http://schemas.openxmlformats.org/drawingml/2006/main">
            <a:off x="9674352" y="1773936"/>
            <a:ext cx="1828800" cy="1920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250">
                <a:solidFill>
                  <a:srgbClr val="191F24"/>
                </a:solidFill>
                <a:latin typeface="Meiryo"/>
                <a:ea typeface="Meiryo"/>
                <a:cs typeface="Meiryo"/>
              </a:defRPr>
            </a:pPr>
            <a:r>
              <a:t>● 営業運行中の実車数</a:t>
            </a:r>
          </a:p>
          <a:p xmlns:a="http://schemas.openxmlformats.org/drawingml/2006/main">
            <a:pPr>
              <a:spcAft>
                <a:spcPts val="900"/>
              </a:spcAft>
              <a:buNone/>
              <a:defRPr sz="1250">
                <a:solidFill>
                  <a:srgbClr val="191F24"/>
                </a:solidFill>
                <a:latin typeface="Meiryo"/>
                <a:ea typeface="Meiryo"/>
                <a:cs typeface="Meiryo"/>
              </a:defRPr>
            </a:pPr>
            <a:r>
              <a:t>● 回送・充電・待機は含めない</a:t>
            </a:r>
          </a:p>
          <a:p xmlns:a="http://schemas.openxmlformats.org/drawingml/2006/main">
            <a:pPr>
              <a:spcAft>
                <a:spcPts val="900"/>
              </a:spcAft>
              <a:buNone/>
              <a:defRPr sz="1250">
                <a:solidFill>
                  <a:srgbClr val="191F24"/>
                </a:solidFill>
                <a:latin typeface="Meiryo"/>
                <a:ea typeface="Meiryo"/>
                <a:cs typeface="Meiryo"/>
              </a:defRPr>
            </a:pPr>
            <a:r>
              <a:t>● 両日を同じ縦軸で表示</a:t>
            </a:r>
          </a:p>
          <a:p xmlns:a="http://schemas.openxmlformats.org/drawingml/2006/main">
            <a:pPr>
              <a:spcAft>
                <a:spcPts val="900"/>
              </a:spcAft>
              <a:buNone/>
              <a:defRPr sz="1250">
                <a:solidFill>
                  <a:srgbClr val="191F24"/>
                </a:solidFill>
                <a:latin typeface="Meiryo"/>
                <a:ea typeface="Meiryo"/>
                <a:cs typeface="Meiryo"/>
              </a:defRPr>
            </a:pPr>
            <a:r>
              <a:t>● 差は便割当の時間分布にも現れる</a:t>
            </a:r>
          </a:p>
        </p:txBody>
      </p:sp>
      <p:sp>
        <p:nvSpPr>
          <p:cNvPr id="13" name="TextBox 12">
            <a:extLst xmlns:a="http://schemas.openxmlformats.org/drawingml/2006/main">
              <a:ext uri="{FF2B5EF4-FFF2-40B4-BE49-F238E27FC236}">
                <a16:creationId xmlns:a16="http://schemas.microsoft.com/office/drawing/2014/main" id="{4B99FD37-D270-4B0D-954C-F9E6F43FA8B3}"/>
              </a:ext>
            </a:extLst>
          </p:cNvPr>
          <p:cNvSpPr>
            <a:spLocks xmlns:a="http://schemas.openxmlformats.org/drawingml/2006/main" noGrp="1"/>
          </p:cNvSpPr>
          <p:nvPr/>
        </p:nvSpPr>
        <p:spPr>
          <a:xfrm xmlns:a="http://schemas.openxmlformats.org/drawingml/2006/main">
            <a:off x="9674352" y="4160520"/>
            <a:ext cx="1828800" cy="6583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00" b="1">
                <a:solidFill>
                  <a:srgbClr val="003667"/>
                </a:solidFill>
                <a:latin typeface="Meiryo"/>
                <a:ea typeface="Meiryo"/>
                <a:cs typeface="Meiryo"/>
              </a:defRPr>
            </a:pPr>
            <a:r>
              <a:t>日合計だけでなく、ピーク時にどの動力車が稼働するかを確認する。</a:t>
            </a:r>
          </a:p>
        </p:txBody>
      </p:sp>
      <p:sp>
        <p:nvSpPr>
          <p:cNvPr id="14" name="Rectangle 13">
            <a:extLst xmlns:a="http://schemas.openxmlformats.org/drawingml/2006/main">
              <a:ext uri="{FF2B5EF4-FFF2-40B4-BE49-F238E27FC236}">
                <a16:creationId xmlns:a16="http://schemas.microsoft.com/office/drawing/2014/main" id="{CBF96F7B-3843-44F1-892B-28CC3C74531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10D3412-01AD-45EE-8690-D79BD66DD7E7}"/>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要点｜晴天・雨天の差は、使用台数だけでなく時間帯別の動力分担として評価する。</a:t>
            </a:r>
          </a:p>
        </p:txBody>
      </p:sp>
    </p:spTree>
    <p:extLst>
      <p:ext uri="{BB962C8B-B14F-4D97-AF65-F5344CB8AC3E}">
        <p14:creationId xmlns:p14="http://schemas.microsoft.com/office/powerpoint/2010/main" val="16665263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F6CEDDB-6510-4890-9C43-4B3A737BBCFB}"/>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蓄電池SOC：終端300 kWhは比較条件</a:t>
            </a:r>
          </a:p>
        </p:txBody>
      </p:sp>
      <p:sp>
        <p:nvSpPr>
          <p:cNvPr id="3" name="Connector 2">
            <a:extLst xmlns:a="http://schemas.openxmlformats.org/drawingml/2006/main">
              <a:ext uri="{FF2B5EF4-FFF2-40B4-BE49-F238E27FC236}">
                <a16:creationId xmlns:a16="http://schemas.microsoft.com/office/drawing/2014/main" id="{07FB484C-EA69-45EA-8639-6D1A51B00EB4}"/>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A913CF19-C126-42D1-AF93-5D15755610C0}"/>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186F45D5-E668-4878-B61D-8F99C3B8D64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58C6D7C-CCF7-4D0D-9DC0-6B71B15AE2DA}"/>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1F900AF0-261B-4BC7-8B7F-5EE0D3D54A3A}"/>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46F07122-7C65-4E78-A8CE-41A46206818C}"/>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10/18</a:t>
            </a:r>
          </a:p>
        </p:txBody>
      </p:sp>
      <p:pic>
        <p:nvPicPr>
          <p:cNvPr id="31" name="Picture 8"/>
          <p:cNvPicPr>
            <a:picLocks xmlns:a="http://schemas.openxmlformats.org/drawingml/2006/main" noChangeAspect="1"/>
          </p:cNvPicPr>
          <p:nvPr/>
        </p:nvPicPr>
        <p:blipFill>
          <a:blip xmlns:r="http://schemas.openxmlformats.org/officeDocument/2006/relationships" xmlns:a="http://schemas.openxmlformats.org/drawingml/2006/main" r:embed="R4633c3d0c4a04c21"/>
          <a:stretch xmlns:a="http://schemas.openxmlformats.org/drawingml/2006/main">
            <a:fillRect l="0" t="0" r="0" b="0"/>
          </a:stretch>
        </p:blipFill>
        <p:spPr>
          <a:xfrm xmlns:a="http://schemas.openxmlformats.org/drawingml/2006/main">
            <a:off x="502920" y="841248"/>
            <a:ext cx="8686800" cy="448056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730C04F3-8349-43FD-BE84-0D9378BA756D}"/>
              </a:ext>
            </a:extLst>
          </p:cNvPr>
          <p:cNvSpPr>
            <a:spLocks xmlns:a="http://schemas.openxmlformats.org/drawingml/2006/main" noGrp="1"/>
          </p:cNvSpPr>
          <p:nvPr/>
        </p:nvSpPr>
        <p:spPr>
          <a:xfrm xmlns:a="http://schemas.openxmlformats.org/drawingml/2006/main">
            <a:off x="9418320" y="1024128"/>
            <a:ext cx="2331720" cy="1325880"/>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C3AA945-274C-4909-A577-1EE1805CF50F}"/>
              </a:ext>
            </a:extLst>
          </p:cNvPr>
          <p:cNvSpPr>
            <a:spLocks xmlns:a="http://schemas.openxmlformats.org/drawingml/2006/main" noGrp="1"/>
          </p:cNvSpPr>
          <p:nvPr/>
        </p:nvSpPr>
        <p:spPr>
          <a:xfrm xmlns:a="http://schemas.openxmlformats.org/drawingml/2006/main">
            <a:off x="9582912" y="1161288"/>
            <a:ext cx="2002536"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晴天</a:t>
            </a:r>
          </a:p>
        </p:txBody>
      </p:sp>
      <p:sp>
        <p:nvSpPr>
          <p:cNvPr id="12" name="TextBox 11">
            <a:extLst xmlns:a="http://schemas.openxmlformats.org/drawingml/2006/main">
              <a:ext uri="{FF2B5EF4-FFF2-40B4-BE49-F238E27FC236}">
                <a16:creationId xmlns:a16="http://schemas.microsoft.com/office/drawing/2014/main" id="{A677BF57-91CD-4037-966D-C4CFDCA64BA1}"/>
              </a:ext>
            </a:extLst>
          </p:cNvPr>
          <p:cNvSpPr>
            <a:spLocks xmlns:a="http://schemas.openxmlformats.org/drawingml/2006/main" noGrp="1"/>
          </p:cNvSpPr>
          <p:nvPr/>
        </p:nvSpPr>
        <p:spPr>
          <a:xfrm xmlns:a="http://schemas.openxmlformats.org/drawingml/2006/main">
            <a:off x="9582912" y="1499616"/>
            <a:ext cx="2002536"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300 → 300</a:t>
            </a:r>
          </a:p>
        </p:txBody>
      </p:sp>
      <p:sp>
        <p:nvSpPr>
          <p:cNvPr id="13" name="TextBox 12">
            <a:extLst xmlns:a="http://schemas.openxmlformats.org/drawingml/2006/main">
              <a:ext uri="{FF2B5EF4-FFF2-40B4-BE49-F238E27FC236}">
                <a16:creationId xmlns:a16="http://schemas.microsoft.com/office/drawing/2014/main" id="{9B9D656F-534D-4165-B729-2875513B93A9}"/>
              </a:ext>
            </a:extLst>
          </p:cNvPr>
          <p:cNvSpPr>
            <a:spLocks xmlns:a="http://schemas.openxmlformats.org/drawingml/2006/main" noGrp="1"/>
          </p:cNvSpPr>
          <p:nvPr/>
        </p:nvSpPr>
        <p:spPr>
          <a:xfrm xmlns:a="http://schemas.openxmlformats.org/drawingml/2006/main">
            <a:off x="9582912" y="2084832"/>
            <a:ext cx="2002536" cy="15544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範囲 120–480 kWh</a:t>
            </a:r>
          </a:p>
        </p:txBody>
      </p:sp>
      <p:sp>
        <p:nvSpPr>
          <p:cNvPr id="14" name="Rectangle 13">
            <a:extLst xmlns:a="http://schemas.openxmlformats.org/drawingml/2006/main">
              <a:ext uri="{FF2B5EF4-FFF2-40B4-BE49-F238E27FC236}">
                <a16:creationId xmlns:a16="http://schemas.microsoft.com/office/drawing/2014/main" id="{87C4917D-08C4-4502-A53B-B9E849CD93E4}"/>
              </a:ext>
            </a:extLst>
          </p:cNvPr>
          <p:cNvSpPr>
            <a:spLocks xmlns:a="http://schemas.openxmlformats.org/drawingml/2006/main" noGrp="1"/>
          </p:cNvSpPr>
          <p:nvPr/>
        </p:nvSpPr>
        <p:spPr>
          <a:xfrm xmlns:a="http://schemas.openxmlformats.org/drawingml/2006/main">
            <a:off x="9418320" y="2578608"/>
            <a:ext cx="2331720" cy="1325880"/>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48C3428-75D8-411B-A3EA-DF3B0D0DAD92}"/>
              </a:ext>
            </a:extLst>
          </p:cNvPr>
          <p:cNvSpPr>
            <a:spLocks xmlns:a="http://schemas.openxmlformats.org/drawingml/2006/main" noGrp="1"/>
          </p:cNvSpPr>
          <p:nvPr/>
        </p:nvSpPr>
        <p:spPr>
          <a:xfrm xmlns:a="http://schemas.openxmlformats.org/drawingml/2006/main">
            <a:off x="9582912" y="2715768"/>
            <a:ext cx="2002536"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雨天</a:t>
            </a:r>
          </a:p>
        </p:txBody>
      </p:sp>
      <p:sp>
        <p:nvSpPr>
          <p:cNvPr id="16" name="TextBox 15">
            <a:extLst xmlns:a="http://schemas.openxmlformats.org/drawingml/2006/main">
              <a:ext uri="{FF2B5EF4-FFF2-40B4-BE49-F238E27FC236}">
                <a16:creationId xmlns:a16="http://schemas.microsoft.com/office/drawing/2014/main" id="{9E4ABF67-896F-4B76-9161-8DC75752FB88}"/>
              </a:ext>
            </a:extLst>
          </p:cNvPr>
          <p:cNvSpPr>
            <a:spLocks xmlns:a="http://schemas.openxmlformats.org/drawingml/2006/main" noGrp="1"/>
          </p:cNvSpPr>
          <p:nvPr/>
        </p:nvSpPr>
        <p:spPr>
          <a:xfrm xmlns:a="http://schemas.openxmlformats.org/drawingml/2006/main">
            <a:off x="9582912" y="3054096"/>
            <a:ext cx="2002536"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300 → 300</a:t>
            </a:r>
          </a:p>
        </p:txBody>
      </p:sp>
      <p:sp>
        <p:nvSpPr>
          <p:cNvPr id="17" name="TextBox 16">
            <a:extLst xmlns:a="http://schemas.openxmlformats.org/drawingml/2006/main">
              <a:ext uri="{FF2B5EF4-FFF2-40B4-BE49-F238E27FC236}">
                <a16:creationId xmlns:a16="http://schemas.microsoft.com/office/drawing/2014/main" id="{7CBFA76C-A11D-4DD4-894A-818176BE9FE0}"/>
              </a:ext>
            </a:extLst>
          </p:cNvPr>
          <p:cNvSpPr>
            <a:spLocks xmlns:a="http://schemas.openxmlformats.org/drawingml/2006/main" noGrp="1"/>
          </p:cNvSpPr>
          <p:nvPr/>
        </p:nvSpPr>
        <p:spPr>
          <a:xfrm xmlns:a="http://schemas.openxmlformats.org/drawingml/2006/main">
            <a:off x="9582912" y="3639311"/>
            <a:ext cx="2002536" cy="15544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範囲 227.0–322.0 kWh</a:t>
            </a:r>
          </a:p>
        </p:txBody>
      </p:sp>
      <p:sp>
        <p:nvSpPr>
          <p:cNvPr id="18" name="Rectangle 17">
            <a:extLst xmlns:a="http://schemas.openxmlformats.org/drawingml/2006/main">
              <a:ext uri="{FF2B5EF4-FFF2-40B4-BE49-F238E27FC236}">
                <a16:creationId xmlns:a16="http://schemas.microsoft.com/office/drawing/2014/main" id="{DEF1F974-D778-4E1A-8796-46445CF15622}"/>
              </a:ext>
            </a:extLst>
          </p:cNvPr>
          <p:cNvSpPr>
            <a:spLocks xmlns:a="http://schemas.openxmlformats.org/drawingml/2006/main" noGrp="1"/>
          </p:cNvSpPr>
          <p:nvPr/>
        </p:nvSpPr>
        <p:spPr>
          <a:xfrm xmlns:a="http://schemas.openxmlformats.org/drawingml/2006/main">
            <a:off x="9418320" y="4151376"/>
            <a:ext cx="2331720" cy="1078992"/>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6A7E9008-A041-4C0E-A115-CDFFAD3AA779}"/>
              </a:ext>
            </a:extLst>
          </p:cNvPr>
          <p:cNvSpPr>
            <a:spLocks xmlns:a="http://schemas.openxmlformats.org/drawingml/2006/main" noGrp="1"/>
          </p:cNvSpPr>
          <p:nvPr/>
        </p:nvSpPr>
        <p:spPr>
          <a:xfrm xmlns:a="http://schemas.openxmlformats.org/drawingml/2006/main">
            <a:off x="9601200" y="4315968"/>
            <a:ext cx="196596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00" b="1">
                <a:solidFill>
                  <a:srgbClr val="238E5E"/>
                </a:solidFill>
                <a:latin typeface="Meiryo"/>
                <a:ea typeface="Meiryo"/>
                <a:cs typeface="Meiryo"/>
              </a:defRPr>
            </a:pPr>
            <a:r>
              <a:t>比較 / 感度</a:t>
            </a:r>
          </a:p>
        </p:txBody>
      </p:sp>
      <p:sp>
        <p:nvSpPr>
          <p:cNvPr id="20" name="TextBox 19">
            <a:extLst xmlns:a="http://schemas.openxmlformats.org/drawingml/2006/main">
              <a:ext uri="{FF2B5EF4-FFF2-40B4-BE49-F238E27FC236}">
                <a16:creationId xmlns:a16="http://schemas.microsoft.com/office/drawing/2014/main" id="{93325806-164F-4139-9724-46FFA966B42A}"/>
              </a:ext>
            </a:extLst>
          </p:cNvPr>
          <p:cNvSpPr>
            <a:spLocks xmlns:a="http://schemas.openxmlformats.org/drawingml/2006/main" noGrp="1"/>
          </p:cNvSpPr>
          <p:nvPr/>
        </p:nvSpPr>
        <p:spPr>
          <a:xfrm xmlns:a="http://schemas.openxmlformats.org/drawingml/2006/main">
            <a:off x="9582912" y="4645152"/>
            <a:ext cx="2002536"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600" b="1">
                <a:solidFill>
                  <a:srgbClr val="191F24"/>
                </a:solidFill>
                <a:latin typeface="Meiryo"/>
                <a:ea typeface="Meiryo"/>
                <a:cs typeface="Meiryo"/>
              </a:defRPr>
            </a:pPr>
            <a:r>
              <a:t>300固定 / 120下限</a:t>
            </a:r>
          </a:p>
        </p:txBody>
      </p:sp>
      <p:sp>
        <p:nvSpPr>
          <p:cNvPr id="21" name="Rectangle 20">
            <a:extLst xmlns:a="http://schemas.openxmlformats.org/drawingml/2006/main">
              <a:ext uri="{FF2B5EF4-FFF2-40B4-BE49-F238E27FC236}">
                <a16:creationId xmlns:a16="http://schemas.microsoft.com/office/drawing/2014/main" id="{8CAE032A-A643-4982-8EC3-C9B5274B7F7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97F11ED0-3BB0-4701-8753-1C67882B3249}"/>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根拠｜文献では同値・近傍・翌日引継ぎが併存。300固定は在庫持ち出しを揃える比較境界。</a:t>
            </a:r>
          </a:p>
        </p:txBody>
      </p:sp>
    </p:spTree>
    <p:extLst>
      <p:ext uri="{BB962C8B-B14F-4D97-AF65-F5344CB8AC3E}">
        <p14:creationId xmlns:p14="http://schemas.microsoft.com/office/powerpoint/2010/main" val="753917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1CC2F31-527B-481A-A812-A6FFFD11BE79}"/>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蓄電池の充放電と損失</a:t>
            </a:r>
          </a:p>
        </p:txBody>
      </p:sp>
      <p:sp>
        <p:nvSpPr>
          <p:cNvPr id="3" name="Connector 2">
            <a:extLst xmlns:a="http://schemas.openxmlformats.org/drawingml/2006/main">
              <a:ext uri="{FF2B5EF4-FFF2-40B4-BE49-F238E27FC236}">
                <a16:creationId xmlns:a16="http://schemas.microsoft.com/office/drawing/2014/main" id="{1AB9D6EC-1AD9-4B32-AD34-44F143311AE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5CAFD1BD-6AE2-44CA-97CC-21AFD555578A}"/>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FD5D49C5-8781-4F5E-9A48-04B598F990AE}"/>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D8AF37D-16D0-4992-B564-FB1182030C7B}"/>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AFAB8AA3-BE36-4B0E-B407-130D68ECB323}"/>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F7D854AC-08A1-48B5-A7CF-601B3AF75339}"/>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11/18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b2cf3616fafe4ee6"/>
          <a:stretch xmlns:a="http://schemas.openxmlformats.org/drawingml/2006/main">
            <a:fillRect l="0" t="0" r="0" b="0"/>
          </a:stretch>
        </p:blipFill>
        <p:spPr>
          <a:xfrm xmlns:a="http://schemas.openxmlformats.org/drawingml/2006/main">
            <a:off x="438912" y="804672"/>
            <a:ext cx="873252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C47735B6-09C8-4ED7-A04F-72542DD2F9F6}"/>
              </a:ext>
            </a:extLst>
          </p:cNvPr>
          <p:cNvSpPr>
            <a:spLocks xmlns:a="http://schemas.openxmlformats.org/drawingml/2006/main" noGrp="1"/>
          </p:cNvSpPr>
          <p:nvPr/>
        </p:nvSpPr>
        <p:spPr>
          <a:xfrm xmlns:a="http://schemas.openxmlformats.org/drawingml/2006/main">
            <a:off x="9400032" y="1005840"/>
            <a:ext cx="2350008" cy="1417320"/>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397648D2-4BAC-4507-88B7-11AEECD8D7A4}"/>
              </a:ext>
            </a:extLst>
          </p:cNvPr>
          <p:cNvSpPr>
            <a:spLocks xmlns:a="http://schemas.openxmlformats.org/drawingml/2006/main" noGrp="1"/>
          </p:cNvSpPr>
          <p:nvPr/>
        </p:nvSpPr>
        <p:spPr>
          <a:xfrm xmlns:a="http://schemas.openxmlformats.org/drawingml/2006/main">
            <a:off x="9564624" y="114300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晴天</a:t>
            </a:r>
          </a:p>
        </p:txBody>
      </p:sp>
      <p:sp>
        <p:nvSpPr>
          <p:cNvPr id="12" name="TextBox 11">
            <a:extLst xmlns:a="http://schemas.openxmlformats.org/drawingml/2006/main">
              <a:ext uri="{FF2B5EF4-FFF2-40B4-BE49-F238E27FC236}">
                <a16:creationId xmlns:a16="http://schemas.microsoft.com/office/drawing/2014/main" id="{8A5ABF96-F2CC-4D41-8F8C-9E1295AEC8B8}"/>
              </a:ext>
            </a:extLst>
          </p:cNvPr>
          <p:cNvSpPr>
            <a:spLocks xmlns:a="http://schemas.openxmlformats.org/drawingml/2006/main" noGrp="1"/>
          </p:cNvSpPr>
          <p:nvPr/>
        </p:nvSpPr>
        <p:spPr>
          <a:xfrm xmlns:a="http://schemas.openxmlformats.org/drawingml/2006/main">
            <a:off x="9564624" y="148132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入力 378.9</a:t>
            </a:r>
          </a:p>
        </p:txBody>
      </p:sp>
      <p:sp>
        <p:nvSpPr>
          <p:cNvPr id="13" name="TextBox 12">
            <a:extLst xmlns:a="http://schemas.openxmlformats.org/drawingml/2006/main">
              <a:ext uri="{FF2B5EF4-FFF2-40B4-BE49-F238E27FC236}">
                <a16:creationId xmlns:a16="http://schemas.microsoft.com/office/drawing/2014/main" id="{0C5AB149-8A6E-4B3C-B6D8-2C92F6F7610F}"/>
              </a:ext>
            </a:extLst>
          </p:cNvPr>
          <p:cNvSpPr>
            <a:spLocks xmlns:a="http://schemas.openxmlformats.org/drawingml/2006/main" noGrp="1"/>
          </p:cNvSpPr>
          <p:nvPr/>
        </p:nvSpPr>
        <p:spPr>
          <a:xfrm xmlns:a="http://schemas.openxmlformats.org/drawingml/2006/main">
            <a:off x="9564624" y="2066543"/>
            <a:ext cx="2020824" cy="2468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供給342.0 / 損失 36.9 kWh</a:t>
            </a:r>
          </a:p>
        </p:txBody>
      </p:sp>
      <p:sp>
        <p:nvSpPr>
          <p:cNvPr id="14" name="Rectangle 13">
            <a:extLst xmlns:a="http://schemas.openxmlformats.org/drawingml/2006/main">
              <a:ext uri="{FF2B5EF4-FFF2-40B4-BE49-F238E27FC236}">
                <a16:creationId xmlns:a16="http://schemas.microsoft.com/office/drawing/2014/main" id="{327F02E1-2FDC-4830-92AE-0C4B50C44847}"/>
              </a:ext>
            </a:extLst>
          </p:cNvPr>
          <p:cNvSpPr>
            <a:spLocks xmlns:a="http://schemas.openxmlformats.org/drawingml/2006/main" noGrp="1"/>
          </p:cNvSpPr>
          <p:nvPr/>
        </p:nvSpPr>
        <p:spPr>
          <a:xfrm xmlns:a="http://schemas.openxmlformats.org/drawingml/2006/main">
            <a:off x="9400032" y="2697480"/>
            <a:ext cx="2350008" cy="1417320"/>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2123D027-1A08-4DB4-8F17-A9268560FE2A}"/>
              </a:ext>
            </a:extLst>
          </p:cNvPr>
          <p:cNvSpPr>
            <a:spLocks xmlns:a="http://schemas.openxmlformats.org/drawingml/2006/main" noGrp="1"/>
          </p:cNvSpPr>
          <p:nvPr/>
        </p:nvSpPr>
        <p:spPr>
          <a:xfrm xmlns:a="http://schemas.openxmlformats.org/drawingml/2006/main">
            <a:off x="9564624" y="283464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雨天</a:t>
            </a:r>
          </a:p>
        </p:txBody>
      </p:sp>
      <p:sp>
        <p:nvSpPr>
          <p:cNvPr id="16" name="TextBox 15">
            <a:extLst xmlns:a="http://schemas.openxmlformats.org/drawingml/2006/main">
              <a:ext uri="{FF2B5EF4-FFF2-40B4-BE49-F238E27FC236}">
                <a16:creationId xmlns:a16="http://schemas.microsoft.com/office/drawing/2014/main" id="{21B7C548-08C7-460B-823B-14C1733C82DE}"/>
              </a:ext>
            </a:extLst>
          </p:cNvPr>
          <p:cNvSpPr>
            <a:spLocks xmlns:a="http://schemas.openxmlformats.org/drawingml/2006/main" noGrp="1"/>
          </p:cNvSpPr>
          <p:nvPr/>
        </p:nvSpPr>
        <p:spPr>
          <a:xfrm xmlns:a="http://schemas.openxmlformats.org/drawingml/2006/main">
            <a:off x="9564624" y="317296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入力 100.1</a:t>
            </a:r>
          </a:p>
        </p:txBody>
      </p:sp>
      <p:sp>
        <p:nvSpPr>
          <p:cNvPr id="17" name="TextBox 16">
            <a:extLst xmlns:a="http://schemas.openxmlformats.org/drawingml/2006/main">
              <a:ext uri="{FF2B5EF4-FFF2-40B4-BE49-F238E27FC236}">
                <a16:creationId xmlns:a16="http://schemas.microsoft.com/office/drawing/2014/main" id="{365BF0A1-88CA-4DA6-AA66-95675F9AF6A8}"/>
              </a:ext>
            </a:extLst>
          </p:cNvPr>
          <p:cNvSpPr>
            <a:spLocks xmlns:a="http://schemas.openxmlformats.org/drawingml/2006/main" noGrp="1"/>
          </p:cNvSpPr>
          <p:nvPr/>
        </p:nvSpPr>
        <p:spPr>
          <a:xfrm xmlns:a="http://schemas.openxmlformats.org/drawingml/2006/main">
            <a:off x="9564624" y="3758184"/>
            <a:ext cx="2020824" cy="2468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供給90.3 / 損失 9.8 kWh</a:t>
            </a:r>
          </a:p>
        </p:txBody>
      </p:sp>
      <p:sp>
        <p:nvSpPr>
          <p:cNvPr id="18" name="TextBox 17">
            <a:extLst xmlns:a="http://schemas.openxmlformats.org/drawingml/2006/main">
              <a:ext uri="{FF2B5EF4-FFF2-40B4-BE49-F238E27FC236}">
                <a16:creationId xmlns:a16="http://schemas.microsoft.com/office/drawing/2014/main" id="{88595EB5-A547-4A6B-B11C-354F86F49AAC}"/>
              </a:ext>
            </a:extLst>
          </p:cNvPr>
          <p:cNvSpPr>
            <a:spLocks xmlns:a="http://schemas.openxmlformats.org/drawingml/2006/main" noGrp="1"/>
          </p:cNvSpPr>
          <p:nvPr/>
        </p:nvSpPr>
        <p:spPr>
          <a:xfrm xmlns:a="http://schemas.openxmlformats.org/drawingml/2006/main">
            <a:off x="9473184" y="4480560"/>
            <a:ext cx="2185416"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400" b="1">
                <a:solidFill>
                  <a:srgbClr val="C23737"/>
                </a:solidFill>
                <a:latin typeface="Meiryo"/>
                <a:ea typeface="Meiryo"/>
                <a:cs typeface="Meiryo"/>
              </a:defRPr>
            </a:pPr>
            <a:r>
              <a:t>系統→BESS = 0 kWh</a:t>
            </a:r>
            <a:br/>
            <a:r>
              <a:t>（両日、設定で禁止）</a:t>
            </a:r>
          </a:p>
        </p:txBody>
      </p:sp>
      <p:sp>
        <p:nvSpPr>
          <p:cNvPr id="19" name="Rectangle 18">
            <a:extLst xmlns:a="http://schemas.openxmlformats.org/drawingml/2006/main">
              <a:ext uri="{FF2B5EF4-FFF2-40B4-BE49-F238E27FC236}">
                <a16:creationId xmlns:a16="http://schemas.microsoft.com/office/drawing/2014/main" id="{08D27354-E30B-4619-9247-A652310646B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28423528-01B5-47A0-9B91-0AEEDC369144}"/>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要点｜SOC同値でも、効率95%のため入力量とバス供給量は一致せず、損失を含めて帳尻を取る。</a:t>
            </a:r>
          </a:p>
        </p:txBody>
      </p:sp>
    </p:spTree>
    <p:extLst>
      <p:ext uri="{BB962C8B-B14F-4D97-AF65-F5344CB8AC3E}">
        <p14:creationId xmlns:p14="http://schemas.microsoft.com/office/powerpoint/2010/main" val="20818150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5E95D3C-2376-4E8E-9718-CEA42EEBA73F}"/>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PV発電出力の行き先</a:t>
            </a:r>
          </a:p>
        </p:txBody>
      </p:sp>
      <p:sp>
        <p:nvSpPr>
          <p:cNvPr id="3" name="Connector 2">
            <a:extLst xmlns:a="http://schemas.openxmlformats.org/drawingml/2006/main">
              <a:ext uri="{FF2B5EF4-FFF2-40B4-BE49-F238E27FC236}">
                <a16:creationId xmlns:a16="http://schemas.microsoft.com/office/drawing/2014/main" id="{20386761-859F-4D5A-983B-1908A10EE8BF}"/>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97114F78-8DCA-4C1D-8AEE-F0B3C903D7BC}"/>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3D6F6A4F-3468-4CEF-A1E0-657B6F42E228}"/>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23B7B50-2AA0-4C11-9D18-2AB1E8AFE913}"/>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B2D83646-8184-43B3-AE66-FD04376F518D}"/>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2E94FB57-B1CB-4327-A160-ED048587B4F9}"/>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12/18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0cd8391197b34a36"/>
          <a:stretch xmlns:a="http://schemas.openxmlformats.org/drawingml/2006/main">
            <a:fillRect l="0" t="0" r="0" b="0"/>
          </a:stretch>
        </p:blipFill>
        <p:spPr>
          <a:xfrm xmlns:a="http://schemas.openxmlformats.org/drawingml/2006/main">
            <a:off x="457200" y="804672"/>
            <a:ext cx="873252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21D58734-3FE9-4F0B-ABAA-9A2E6413D354}"/>
              </a:ext>
            </a:extLst>
          </p:cNvPr>
          <p:cNvSpPr>
            <a:spLocks xmlns:a="http://schemas.openxmlformats.org/drawingml/2006/main" noGrp="1"/>
          </p:cNvSpPr>
          <p:nvPr/>
        </p:nvSpPr>
        <p:spPr>
          <a:xfrm xmlns:a="http://schemas.openxmlformats.org/drawingml/2006/main">
            <a:off x="9400032" y="1005840"/>
            <a:ext cx="2350008" cy="1572768"/>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C3B4350C-6A13-4C09-A334-99AC882B092A}"/>
              </a:ext>
            </a:extLst>
          </p:cNvPr>
          <p:cNvSpPr>
            <a:spLocks xmlns:a="http://schemas.openxmlformats.org/drawingml/2006/main" noGrp="1"/>
          </p:cNvSpPr>
          <p:nvPr/>
        </p:nvSpPr>
        <p:spPr>
          <a:xfrm xmlns:a="http://schemas.openxmlformats.org/drawingml/2006/main">
            <a:off x="9564624" y="114300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晴天 614.7 kWh</a:t>
            </a:r>
          </a:p>
        </p:txBody>
      </p:sp>
      <p:sp>
        <p:nvSpPr>
          <p:cNvPr id="12" name="TextBox 11">
            <a:extLst xmlns:a="http://schemas.openxmlformats.org/drawingml/2006/main">
              <a:ext uri="{FF2B5EF4-FFF2-40B4-BE49-F238E27FC236}">
                <a16:creationId xmlns:a16="http://schemas.microsoft.com/office/drawing/2014/main" id="{1FDEB4CC-60BE-4806-825C-051CDC8F3BF3}"/>
              </a:ext>
            </a:extLst>
          </p:cNvPr>
          <p:cNvSpPr>
            <a:spLocks xmlns:a="http://schemas.openxmlformats.org/drawingml/2006/main" noGrp="1"/>
          </p:cNvSpPr>
          <p:nvPr/>
        </p:nvSpPr>
        <p:spPr>
          <a:xfrm xmlns:a="http://schemas.openxmlformats.org/drawingml/2006/main">
            <a:off x="9564624" y="148132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88.3%利用</a:t>
            </a:r>
          </a:p>
        </p:txBody>
      </p:sp>
      <p:sp>
        <p:nvSpPr>
          <p:cNvPr id="13" name="TextBox 12">
            <a:extLst xmlns:a="http://schemas.openxmlformats.org/drawingml/2006/main">
              <a:ext uri="{FF2B5EF4-FFF2-40B4-BE49-F238E27FC236}">
                <a16:creationId xmlns:a16="http://schemas.microsoft.com/office/drawing/2014/main" id="{A0C9DF72-BA45-44E2-AA48-3E7632460E5C}"/>
              </a:ext>
            </a:extLst>
          </p:cNvPr>
          <p:cNvSpPr>
            <a:spLocks xmlns:a="http://schemas.openxmlformats.org/drawingml/2006/main" noGrp="1"/>
          </p:cNvSpPr>
          <p:nvPr/>
        </p:nvSpPr>
        <p:spPr>
          <a:xfrm xmlns:a="http://schemas.openxmlformats.org/drawingml/2006/main">
            <a:off x="9564624" y="2066543"/>
            <a:ext cx="2020824" cy="402335"/>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バス163.8 / BESS378.9 / 抑制71.9 kWh</a:t>
            </a:r>
          </a:p>
        </p:txBody>
      </p:sp>
      <p:sp>
        <p:nvSpPr>
          <p:cNvPr id="14" name="Rectangle 13">
            <a:extLst xmlns:a="http://schemas.openxmlformats.org/drawingml/2006/main">
              <a:ext uri="{FF2B5EF4-FFF2-40B4-BE49-F238E27FC236}">
                <a16:creationId xmlns:a16="http://schemas.microsoft.com/office/drawing/2014/main" id="{4B4846C0-5BC8-402A-820C-C0C3A614DA34}"/>
              </a:ext>
            </a:extLst>
          </p:cNvPr>
          <p:cNvSpPr>
            <a:spLocks xmlns:a="http://schemas.openxmlformats.org/drawingml/2006/main" noGrp="1"/>
          </p:cNvSpPr>
          <p:nvPr/>
        </p:nvSpPr>
        <p:spPr>
          <a:xfrm xmlns:a="http://schemas.openxmlformats.org/drawingml/2006/main">
            <a:off x="9400032" y="2889504"/>
            <a:ext cx="2350008" cy="1572768"/>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D12F9F0C-0A9E-43C9-A98A-F951F90247F8}"/>
              </a:ext>
            </a:extLst>
          </p:cNvPr>
          <p:cNvSpPr>
            <a:spLocks xmlns:a="http://schemas.openxmlformats.org/drawingml/2006/main" noGrp="1"/>
          </p:cNvSpPr>
          <p:nvPr/>
        </p:nvSpPr>
        <p:spPr>
          <a:xfrm xmlns:a="http://schemas.openxmlformats.org/drawingml/2006/main">
            <a:off x="9564624" y="3026664"/>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雨天 101.1 kWh</a:t>
            </a:r>
          </a:p>
        </p:txBody>
      </p:sp>
      <p:sp>
        <p:nvSpPr>
          <p:cNvPr id="16" name="TextBox 15">
            <a:extLst xmlns:a="http://schemas.openxmlformats.org/drawingml/2006/main">
              <a:ext uri="{FF2B5EF4-FFF2-40B4-BE49-F238E27FC236}">
                <a16:creationId xmlns:a16="http://schemas.microsoft.com/office/drawing/2014/main" id="{B365B639-F98C-4213-A82F-37F9118DBE35}"/>
              </a:ext>
            </a:extLst>
          </p:cNvPr>
          <p:cNvSpPr>
            <a:spLocks xmlns:a="http://schemas.openxmlformats.org/drawingml/2006/main" noGrp="1"/>
          </p:cNvSpPr>
          <p:nvPr/>
        </p:nvSpPr>
        <p:spPr>
          <a:xfrm xmlns:a="http://schemas.openxmlformats.org/drawingml/2006/main">
            <a:off x="9564624" y="3364992"/>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100%利用</a:t>
            </a:r>
          </a:p>
        </p:txBody>
      </p:sp>
      <p:sp>
        <p:nvSpPr>
          <p:cNvPr id="17" name="TextBox 16">
            <a:extLst xmlns:a="http://schemas.openxmlformats.org/drawingml/2006/main">
              <a:ext uri="{FF2B5EF4-FFF2-40B4-BE49-F238E27FC236}">
                <a16:creationId xmlns:a16="http://schemas.microsoft.com/office/drawing/2014/main" id="{13839B98-E2F2-4539-8A4A-EF75E29296DF}"/>
              </a:ext>
            </a:extLst>
          </p:cNvPr>
          <p:cNvSpPr>
            <a:spLocks xmlns:a="http://schemas.openxmlformats.org/drawingml/2006/main" noGrp="1"/>
          </p:cNvSpPr>
          <p:nvPr/>
        </p:nvSpPr>
        <p:spPr>
          <a:xfrm xmlns:a="http://schemas.openxmlformats.org/drawingml/2006/main">
            <a:off x="9564624" y="3950208"/>
            <a:ext cx="2020824" cy="402335"/>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バス1.0 / BESS100.1 / 抑制0.0 kWh</a:t>
            </a:r>
          </a:p>
        </p:txBody>
      </p:sp>
      <p:sp>
        <p:nvSpPr>
          <p:cNvPr id="18" name="TextBox 17">
            <a:extLst xmlns:a="http://schemas.openxmlformats.org/drawingml/2006/main">
              <a:ext uri="{FF2B5EF4-FFF2-40B4-BE49-F238E27FC236}">
                <a16:creationId xmlns:a16="http://schemas.microsoft.com/office/drawing/2014/main" id="{3E3DD595-35A0-4DD0-A53A-E06EDC4716E4}"/>
              </a:ext>
            </a:extLst>
          </p:cNvPr>
          <p:cNvSpPr>
            <a:spLocks xmlns:a="http://schemas.openxmlformats.org/drawingml/2006/main" noGrp="1"/>
          </p:cNvSpPr>
          <p:nvPr/>
        </p:nvSpPr>
        <p:spPr>
          <a:xfrm xmlns:a="http://schemas.openxmlformats.org/drawingml/2006/main">
            <a:off x="9491472" y="4800600"/>
            <a:ext cx="2148840"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238E5E"/>
                </a:solidFill>
                <a:latin typeface="Meiryo"/>
                <a:ea typeface="Meiryo"/>
                <a:cs typeface="Meiryo"/>
              </a:defRPr>
            </a:pPr>
            <a:r>
              <a:t>PV残差：最大2.7×10⁻¹⁵ kWh</a:t>
            </a:r>
          </a:p>
        </p:txBody>
      </p:sp>
      <p:sp>
        <p:nvSpPr>
          <p:cNvPr id="19" name="Rectangle 18">
            <a:extLst xmlns:a="http://schemas.openxmlformats.org/drawingml/2006/main">
              <a:ext uri="{FF2B5EF4-FFF2-40B4-BE49-F238E27FC236}">
                <a16:creationId xmlns:a16="http://schemas.microsoft.com/office/drawing/2014/main" id="{27DD7F78-34F6-4ACF-B1F3-976111223AD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FE72A756-206F-421B-B6E1-C1AC40F46D3A}"/>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要点｜晴天PVはEV全車投入ではなく、主にBESS充電と一部直接充電へ配分され、71.9 kWhを抑制。</a:t>
            </a:r>
          </a:p>
        </p:txBody>
      </p:sp>
    </p:spTree>
    <p:extLst>
      <p:ext uri="{BB962C8B-B14F-4D97-AF65-F5344CB8AC3E}">
        <p14:creationId xmlns:p14="http://schemas.microsoft.com/office/powerpoint/2010/main" val="6084264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BC7E564-58C1-4260-BDE1-B14114087C02}"/>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EVバス充電の電力源</a:t>
            </a:r>
          </a:p>
        </p:txBody>
      </p:sp>
      <p:sp>
        <p:nvSpPr>
          <p:cNvPr id="3" name="Connector 2">
            <a:extLst xmlns:a="http://schemas.openxmlformats.org/drawingml/2006/main">
              <a:ext uri="{FF2B5EF4-FFF2-40B4-BE49-F238E27FC236}">
                <a16:creationId xmlns:a16="http://schemas.microsoft.com/office/drawing/2014/main" id="{12AF6413-208A-4BB7-BBAB-1E70081264FD}"/>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7D49456A-5FA1-42C8-A979-AF2E7C61574B}"/>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F1E2A20E-7999-425E-A1EC-27E1D7470616}"/>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FAD582F-0690-4456-BDFD-0D70DB8C1BD5}"/>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F26688E6-FA95-49F6-AB7C-3D321F7241AE}"/>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1CB2FB21-6CB2-4D4C-A487-C370047F75D9}"/>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13/18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611300e46d814705"/>
          <a:stretch xmlns:a="http://schemas.openxmlformats.org/drawingml/2006/main">
            <a:fillRect l="0" t="0" r="0" b="0"/>
          </a:stretch>
        </p:blipFill>
        <p:spPr>
          <a:xfrm xmlns:a="http://schemas.openxmlformats.org/drawingml/2006/main">
            <a:off x="457200" y="804672"/>
            <a:ext cx="873252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6E8BBA3E-7F88-415C-9439-5E1511799B05}"/>
              </a:ext>
            </a:extLst>
          </p:cNvPr>
          <p:cNvSpPr>
            <a:spLocks xmlns:a="http://schemas.openxmlformats.org/drawingml/2006/main" noGrp="1"/>
          </p:cNvSpPr>
          <p:nvPr/>
        </p:nvSpPr>
        <p:spPr>
          <a:xfrm xmlns:a="http://schemas.openxmlformats.org/drawingml/2006/main">
            <a:off x="9400032" y="1005840"/>
            <a:ext cx="2350008" cy="1572768"/>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106FF817-3DD1-47B0-AD0E-78FE332DA520}"/>
              </a:ext>
            </a:extLst>
          </p:cNvPr>
          <p:cNvSpPr>
            <a:spLocks xmlns:a="http://schemas.openxmlformats.org/drawingml/2006/main" noGrp="1"/>
          </p:cNvSpPr>
          <p:nvPr/>
        </p:nvSpPr>
        <p:spPr>
          <a:xfrm xmlns:a="http://schemas.openxmlformats.org/drawingml/2006/main">
            <a:off x="9564624" y="114300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晴天 充電入力</a:t>
            </a:r>
          </a:p>
        </p:txBody>
      </p:sp>
      <p:sp>
        <p:nvSpPr>
          <p:cNvPr id="12" name="TextBox 11">
            <a:extLst xmlns:a="http://schemas.openxmlformats.org/drawingml/2006/main">
              <a:ext uri="{FF2B5EF4-FFF2-40B4-BE49-F238E27FC236}">
                <a16:creationId xmlns:a16="http://schemas.microsoft.com/office/drawing/2014/main" id="{39520456-D4B7-4A77-8D60-0B8A8B048E24}"/>
              </a:ext>
            </a:extLst>
          </p:cNvPr>
          <p:cNvSpPr>
            <a:spLocks xmlns:a="http://schemas.openxmlformats.org/drawingml/2006/main" noGrp="1"/>
          </p:cNvSpPr>
          <p:nvPr/>
        </p:nvSpPr>
        <p:spPr>
          <a:xfrm xmlns:a="http://schemas.openxmlformats.org/drawingml/2006/main">
            <a:off x="9564624" y="148132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1521.4 kWh</a:t>
            </a:r>
          </a:p>
        </p:txBody>
      </p:sp>
      <p:sp>
        <p:nvSpPr>
          <p:cNvPr id="13" name="TextBox 12">
            <a:extLst xmlns:a="http://schemas.openxmlformats.org/drawingml/2006/main">
              <a:ext uri="{FF2B5EF4-FFF2-40B4-BE49-F238E27FC236}">
                <a16:creationId xmlns:a16="http://schemas.microsoft.com/office/drawing/2014/main" id="{71F46586-9507-4DFD-9FF8-887FA78604F0}"/>
              </a:ext>
            </a:extLst>
          </p:cNvPr>
          <p:cNvSpPr>
            <a:spLocks xmlns:a="http://schemas.openxmlformats.org/drawingml/2006/main" noGrp="1"/>
          </p:cNvSpPr>
          <p:nvPr/>
        </p:nvSpPr>
        <p:spPr>
          <a:xfrm xmlns:a="http://schemas.openxmlformats.org/drawingml/2006/main">
            <a:off x="9564624" y="2066543"/>
            <a:ext cx="2020824" cy="402335"/>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系統1015.6 / PV163.8 / BESS342.0</a:t>
            </a:r>
          </a:p>
        </p:txBody>
      </p:sp>
      <p:sp>
        <p:nvSpPr>
          <p:cNvPr id="14" name="Rectangle 13">
            <a:extLst xmlns:a="http://schemas.openxmlformats.org/drawingml/2006/main">
              <a:ext uri="{FF2B5EF4-FFF2-40B4-BE49-F238E27FC236}">
                <a16:creationId xmlns:a16="http://schemas.microsoft.com/office/drawing/2014/main" id="{D13CFF9C-F6BF-4891-850C-DD5570D2053C}"/>
              </a:ext>
            </a:extLst>
          </p:cNvPr>
          <p:cNvSpPr>
            <a:spLocks xmlns:a="http://schemas.openxmlformats.org/drawingml/2006/main" noGrp="1"/>
          </p:cNvSpPr>
          <p:nvPr/>
        </p:nvSpPr>
        <p:spPr>
          <a:xfrm xmlns:a="http://schemas.openxmlformats.org/drawingml/2006/main">
            <a:off x="9400032" y="2889504"/>
            <a:ext cx="2350008" cy="1572768"/>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23794F6-794A-4F4F-BAD6-2D5BDD5CF613}"/>
              </a:ext>
            </a:extLst>
          </p:cNvPr>
          <p:cNvSpPr>
            <a:spLocks xmlns:a="http://schemas.openxmlformats.org/drawingml/2006/main" noGrp="1"/>
          </p:cNvSpPr>
          <p:nvPr/>
        </p:nvSpPr>
        <p:spPr>
          <a:xfrm xmlns:a="http://schemas.openxmlformats.org/drawingml/2006/main">
            <a:off x="9564624" y="3026664"/>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雨天 充電入力</a:t>
            </a:r>
          </a:p>
        </p:txBody>
      </p:sp>
      <p:sp>
        <p:nvSpPr>
          <p:cNvPr id="16" name="TextBox 15">
            <a:extLst xmlns:a="http://schemas.openxmlformats.org/drawingml/2006/main">
              <a:ext uri="{FF2B5EF4-FFF2-40B4-BE49-F238E27FC236}">
                <a16:creationId xmlns:a16="http://schemas.microsoft.com/office/drawing/2014/main" id="{6E6AE0AD-38BF-4E50-9655-6026D6B577F3}"/>
              </a:ext>
            </a:extLst>
          </p:cNvPr>
          <p:cNvSpPr>
            <a:spLocks xmlns:a="http://schemas.openxmlformats.org/drawingml/2006/main" noGrp="1"/>
          </p:cNvSpPr>
          <p:nvPr/>
        </p:nvSpPr>
        <p:spPr>
          <a:xfrm xmlns:a="http://schemas.openxmlformats.org/drawingml/2006/main">
            <a:off x="9564624" y="3364992"/>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1092.0 kWh</a:t>
            </a:r>
          </a:p>
        </p:txBody>
      </p:sp>
      <p:sp>
        <p:nvSpPr>
          <p:cNvPr id="17" name="TextBox 16">
            <a:extLst xmlns:a="http://schemas.openxmlformats.org/drawingml/2006/main">
              <a:ext uri="{FF2B5EF4-FFF2-40B4-BE49-F238E27FC236}">
                <a16:creationId xmlns:a16="http://schemas.microsoft.com/office/drawing/2014/main" id="{BF31D793-E823-4445-BF2C-E9BA8A99683C}"/>
              </a:ext>
            </a:extLst>
          </p:cNvPr>
          <p:cNvSpPr>
            <a:spLocks xmlns:a="http://schemas.openxmlformats.org/drawingml/2006/main" noGrp="1"/>
          </p:cNvSpPr>
          <p:nvPr/>
        </p:nvSpPr>
        <p:spPr>
          <a:xfrm xmlns:a="http://schemas.openxmlformats.org/drawingml/2006/main">
            <a:off x="9564624" y="3950208"/>
            <a:ext cx="2020824" cy="402335"/>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系統1000.7 / PV1.0 / BESS90.3</a:t>
            </a:r>
          </a:p>
        </p:txBody>
      </p:sp>
      <p:sp>
        <p:nvSpPr>
          <p:cNvPr id="18" name="TextBox 17">
            <a:extLst xmlns:a="http://schemas.openxmlformats.org/drawingml/2006/main">
              <a:ext uri="{FF2B5EF4-FFF2-40B4-BE49-F238E27FC236}">
                <a16:creationId xmlns:a16="http://schemas.microsoft.com/office/drawing/2014/main" id="{280BED92-6E21-4EBD-9DF2-5F94F66D827A}"/>
              </a:ext>
            </a:extLst>
          </p:cNvPr>
          <p:cNvSpPr>
            <a:spLocks xmlns:a="http://schemas.openxmlformats.org/drawingml/2006/main" noGrp="1"/>
          </p:cNvSpPr>
          <p:nvPr/>
        </p:nvSpPr>
        <p:spPr>
          <a:xfrm xmlns:a="http://schemas.openxmlformats.org/drawingml/2006/main">
            <a:off x="9464040" y="4736592"/>
            <a:ext cx="2212848" cy="5029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238E5E"/>
                </a:solidFill>
                <a:latin typeface="Meiryo"/>
                <a:ea typeface="Meiryo"/>
                <a:cs typeface="Meiryo"/>
              </a:defRPr>
            </a:pPr>
            <a:r>
              <a:t>電源合計−充電入力残差</a:t>
            </a:r>
            <a:br/>
            <a:r>
              <a:t>最大3.41×10⁻¹² kWh</a:t>
            </a:r>
          </a:p>
        </p:txBody>
      </p:sp>
      <p:sp>
        <p:nvSpPr>
          <p:cNvPr id="19" name="Rectangle 18">
            <a:extLst xmlns:a="http://schemas.openxmlformats.org/drawingml/2006/main">
              <a:ext uri="{FF2B5EF4-FFF2-40B4-BE49-F238E27FC236}">
                <a16:creationId xmlns:a16="http://schemas.microsoft.com/office/drawing/2014/main" id="{BD4CC8EB-FF97-4299-A33D-E1E0EAFBA49A}"/>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D3B1E466-C62C-4D7C-812D-74F61C1FAB95}"/>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要点｜PV減少とEV担当便減少が同時に起きるため、雨天の系統購入日量は単純には増えない。</a:t>
            </a:r>
          </a:p>
        </p:txBody>
      </p:sp>
    </p:spTree>
    <p:extLst>
      <p:ext uri="{BB962C8B-B14F-4D97-AF65-F5344CB8AC3E}">
        <p14:creationId xmlns:p14="http://schemas.microsoft.com/office/powerpoint/2010/main" val="6298680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8751C3A-B3B6-4837-88EB-2083659448A7}"/>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系統購入電力とピーク</a:t>
            </a:r>
          </a:p>
        </p:txBody>
      </p:sp>
      <p:sp>
        <p:nvSpPr>
          <p:cNvPr id="3" name="Connector 2">
            <a:extLst xmlns:a="http://schemas.openxmlformats.org/drawingml/2006/main">
              <a:ext uri="{FF2B5EF4-FFF2-40B4-BE49-F238E27FC236}">
                <a16:creationId xmlns:a16="http://schemas.microsoft.com/office/drawing/2014/main" id="{1DD1BF75-597B-499A-B229-64BDD498A165}"/>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193D0F6E-31FC-44E2-BBFA-D2E44D27C415}"/>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A3C4E118-6251-40C2-B34D-6D647AAB08D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E4E6B2D-A2F2-4219-BA4A-07CA5D239383}"/>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BD43B88B-903F-4749-A2D7-88D2FE05E133}"/>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85C1C212-DE42-431D-8EFE-179782030917}"/>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14/18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f26827b77f074aff"/>
          <a:stretch xmlns:a="http://schemas.openxmlformats.org/drawingml/2006/main">
            <a:fillRect l="0" t="0" r="0" b="0"/>
          </a:stretch>
        </p:blipFill>
        <p:spPr>
          <a:xfrm xmlns:a="http://schemas.openxmlformats.org/drawingml/2006/main">
            <a:off x="502920" y="868680"/>
            <a:ext cx="8641080" cy="438912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B16B5CEA-82C4-4962-93CF-FF904115AAAB}"/>
              </a:ext>
            </a:extLst>
          </p:cNvPr>
          <p:cNvSpPr>
            <a:spLocks xmlns:a="http://schemas.openxmlformats.org/drawingml/2006/main" noGrp="1"/>
          </p:cNvSpPr>
          <p:nvPr/>
        </p:nvSpPr>
        <p:spPr>
          <a:xfrm xmlns:a="http://schemas.openxmlformats.org/drawingml/2006/main">
            <a:off x="9400032" y="1024128"/>
            <a:ext cx="2350008" cy="1371600"/>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964C2FEE-C825-4ACC-B4CB-7F01F0239A54}"/>
              </a:ext>
            </a:extLst>
          </p:cNvPr>
          <p:cNvSpPr>
            <a:spLocks xmlns:a="http://schemas.openxmlformats.org/drawingml/2006/main" noGrp="1"/>
          </p:cNvSpPr>
          <p:nvPr/>
        </p:nvSpPr>
        <p:spPr>
          <a:xfrm xmlns:a="http://schemas.openxmlformats.org/drawingml/2006/main">
            <a:off x="9564624" y="1161288"/>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晴天</a:t>
            </a:r>
          </a:p>
        </p:txBody>
      </p:sp>
      <p:sp>
        <p:nvSpPr>
          <p:cNvPr id="12" name="TextBox 11">
            <a:extLst xmlns:a="http://schemas.openxmlformats.org/drawingml/2006/main">
              <a:ext uri="{FF2B5EF4-FFF2-40B4-BE49-F238E27FC236}">
                <a16:creationId xmlns:a16="http://schemas.microsoft.com/office/drawing/2014/main" id="{19DB7A12-8BDF-484A-908B-127E2D819E5E}"/>
              </a:ext>
            </a:extLst>
          </p:cNvPr>
          <p:cNvSpPr>
            <a:spLocks xmlns:a="http://schemas.openxmlformats.org/drawingml/2006/main" noGrp="1"/>
          </p:cNvSpPr>
          <p:nvPr/>
        </p:nvSpPr>
        <p:spPr>
          <a:xfrm xmlns:a="http://schemas.openxmlformats.org/drawingml/2006/main">
            <a:off x="9564624" y="1499616"/>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1015.6 kWh</a:t>
            </a:r>
          </a:p>
        </p:txBody>
      </p:sp>
      <p:sp>
        <p:nvSpPr>
          <p:cNvPr id="13" name="TextBox 12">
            <a:extLst xmlns:a="http://schemas.openxmlformats.org/drawingml/2006/main">
              <a:ext uri="{FF2B5EF4-FFF2-40B4-BE49-F238E27FC236}">
                <a16:creationId xmlns:a16="http://schemas.microsoft.com/office/drawing/2014/main" id="{9FFCD514-769C-4098-B51E-5DF73E8A730A}"/>
              </a:ext>
            </a:extLst>
          </p:cNvPr>
          <p:cNvSpPr>
            <a:spLocks xmlns:a="http://schemas.openxmlformats.org/drawingml/2006/main" noGrp="1"/>
          </p:cNvSpPr>
          <p:nvPr/>
        </p:nvSpPr>
        <p:spPr>
          <a:xfrm xmlns:a="http://schemas.openxmlformats.org/drawingml/2006/main">
            <a:off x="9564624" y="2084832"/>
            <a:ext cx="2020824" cy="2011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ピーク 95.4 kW</a:t>
            </a:r>
          </a:p>
        </p:txBody>
      </p:sp>
      <p:sp>
        <p:nvSpPr>
          <p:cNvPr id="14" name="Rectangle 13">
            <a:extLst xmlns:a="http://schemas.openxmlformats.org/drawingml/2006/main">
              <a:ext uri="{FF2B5EF4-FFF2-40B4-BE49-F238E27FC236}">
                <a16:creationId xmlns:a16="http://schemas.microsoft.com/office/drawing/2014/main" id="{B28ACADA-AE22-40D9-A970-106742A6D96B}"/>
              </a:ext>
            </a:extLst>
          </p:cNvPr>
          <p:cNvSpPr>
            <a:spLocks xmlns:a="http://schemas.openxmlformats.org/drawingml/2006/main" noGrp="1"/>
          </p:cNvSpPr>
          <p:nvPr/>
        </p:nvSpPr>
        <p:spPr>
          <a:xfrm xmlns:a="http://schemas.openxmlformats.org/drawingml/2006/main">
            <a:off x="9400032" y="2670048"/>
            <a:ext cx="2350008" cy="1371600"/>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BF14825-0312-42B3-A5C1-F1D4DE6A5EB6}"/>
              </a:ext>
            </a:extLst>
          </p:cNvPr>
          <p:cNvSpPr>
            <a:spLocks xmlns:a="http://schemas.openxmlformats.org/drawingml/2006/main" noGrp="1"/>
          </p:cNvSpPr>
          <p:nvPr/>
        </p:nvSpPr>
        <p:spPr>
          <a:xfrm xmlns:a="http://schemas.openxmlformats.org/drawingml/2006/main">
            <a:off x="9564624" y="2807208"/>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雨天</a:t>
            </a:r>
          </a:p>
        </p:txBody>
      </p:sp>
      <p:sp>
        <p:nvSpPr>
          <p:cNvPr id="16" name="TextBox 15">
            <a:extLst xmlns:a="http://schemas.openxmlformats.org/drawingml/2006/main">
              <a:ext uri="{FF2B5EF4-FFF2-40B4-BE49-F238E27FC236}">
                <a16:creationId xmlns:a16="http://schemas.microsoft.com/office/drawing/2014/main" id="{922CCC61-EAF8-40B6-A78A-6B81E87ECD94}"/>
              </a:ext>
            </a:extLst>
          </p:cNvPr>
          <p:cNvSpPr>
            <a:spLocks xmlns:a="http://schemas.openxmlformats.org/drawingml/2006/main" noGrp="1"/>
          </p:cNvSpPr>
          <p:nvPr/>
        </p:nvSpPr>
        <p:spPr>
          <a:xfrm xmlns:a="http://schemas.openxmlformats.org/drawingml/2006/main">
            <a:off x="9564624" y="3145536"/>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1000.7 kWh</a:t>
            </a:r>
          </a:p>
        </p:txBody>
      </p:sp>
      <p:sp>
        <p:nvSpPr>
          <p:cNvPr id="17" name="TextBox 16">
            <a:extLst xmlns:a="http://schemas.openxmlformats.org/drawingml/2006/main">
              <a:ext uri="{FF2B5EF4-FFF2-40B4-BE49-F238E27FC236}">
                <a16:creationId xmlns:a16="http://schemas.microsoft.com/office/drawing/2014/main" id="{171679C4-577E-4840-AF72-A835B0643FA5}"/>
              </a:ext>
            </a:extLst>
          </p:cNvPr>
          <p:cNvSpPr>
            <a:spLocks xmlns:a="http://schemas.openxmlformats.org/drawingml/2006/main" noGrp="1"/>
          </p:cNvSpPr>
          <p:nvPr/>
        </p:nvSpPr>
        <p:spPr>
          <a:xfrm xmlns:a="http://schemas.openxmlformats.org/drawingml/2006/main">
            <a:off x="9564624" y="3730752"/>
            <a:ext cx="2020824" cy="2011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ピーク 120.2 kW</a:t>
            </a:r>
          </a:p>
        </p:txBody>
      </p:sp>
      <p:sp>
        <p:nvSpPr>
          <p:cNvPr id="18" name="TextBox 17">
            <a:extLst xmlns:a="http://schemas.openxmlformats.org/drawingml/2006/main">
              <a:ext uri="{FF2B5EF4-FFF2-40B4-BE49-F238E27FC236}">
                <a16:creationId xmlns:a16="http://schemas.microsoft.com/office/drawing/2014/main" id="{A27B6A4D-BFE2-4468-8262-5C0D1E3D5C73}"/>
              </a:ext>
            </a:extLst>
          </p:cNvPr>
          <p:cNvSpPr>
            <a:spLocks xmlns:a="http://schemas.openxmlformats.org/drawingml/2006/main" noGrp="1"/>
          </p:cNvSpPr>
          <p:nvPr/>
        </p:nvSpPr>
        <p:spPr>
          <a:xfrm xmlns:a="http://schemas.openxmlformats.org/drawingml/2006/main">
            <a:off x="9528048" y="4352544"/>
            <a:ext cx="2084831"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400" b="1">
                <a:solidFill>
                  <a:srgbClr val="C23737"/>
                </a:solidFill>
                <a:latin typeface="Meiryo"/>
                <a:ea typeface="Meiryo"/>
                <a:cs typeface="Meiryo"/>
              </a:defRPr>
            </a:pPr>
            <a:r>
              <a:t>雨天−晴天</a:t>
            </a:r>
            <a:br/>
            <a:r>
              <a:t>日量 −14.9 kWh</a:t>
            </a:r>
            <a:br/>
            <a:r>
              <a:t>ピーク +24.8 kW</a:t>
            </a:r>
          </a:p>
        </p:txBody>
      </p:sp>
      <p:sp>
        <p:nvSpPr>
          <p:cNvPr id="19" name="Rectangle 18">
            <a:extLst xmlns:a="http://schemas.openxmlformats.org/drawingml/2006/main">
              <a:ext uri="{FF2B5EF4-FFF2-40B4-BE49-F238E27FC236}">
                <a16:creationId xmlns:a16="http://schemas.microsoft.com/office/drawing/2014/main" id="{7292710D-AD00-44B5-AAE2-F3D60622513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7111D86B-7209-4AC7-8338-EB2CCEEE271B}"/>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要点｜需要料金は日量ではなく最大kWで決まるため、雨天は系統日量が少なくても需要料金が高い。</a:t>
            </a:r>
          </a:p>
        </p:txBody>
      </p:sp>
    </p:spTree>
    <p:extLst>
      <p:ext uri="{BB962C8B-B14F-4D97-AF65-F5344CB8AC3E}">
        <p14:creationId xmlns:p14="http://schemas.microsoft.com/office/powerpoint/2010/main" val="7552699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337FE6-4D07-4DB6-B442-CB1F37E889F9}"/>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電力需給帳尻の監査</a:t>
            </a:r>
          </a:p>
        </p:txBody>
      </p:sp>
      <p:sp>
        <p:nvSpPr>
          <p:cNvPr id="3" name="Connector 2">
            <a:extLst xmlns:a="http://schemas.openxmlformats.org/drawingml/2006/main">
              <a:ext uri="{FF2B5EF4-FFF2-40B4-BE49-F238E27FC236}">
                <a16:creationId xmlns:a16="http://schemas.microsoft.com/office/drawing/2014/main" id="{90F0FBE7-2B9D-48F2-9FAD-6A7EA0C59852}"/>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3440E0B5-EF9A-43CC-8308-6397E68578F0}"/>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01765B54-A9F1-45F3-AB0C-108377EB5C13}"/>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954A419-F82B-46F4-B73C-B4D5B1D59627}"/>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1DBB3B30-8426-40F9-B780-B2CFF5DCD00C}"/>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68BD1B69-F489-4E66-9CAE-853F02D513A5}"/>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15/18</a:t>
            </a:r>
          </a:p>
        </p:txBody>
      </p:sp>
      <p:sp>
        <p:nvSpPr>
          <p:cNvPr id="9" name="Rectangle 8">
            <a:extLst xmlns:a="http://schemas.openxmlformats.org/drawingml/2006/main">
              <a:ext uri="{FF2B5EF4-FFF2-40B4-BE49-F238E27FC236}">
                <a16:creationId xmlns:a16="http://schemas.microsoft.com/office/drawing/2014/main" id="{6F594D01-D648-47CA-B443-0B52AA2AA589}"/>
              </a:ext>
            </a:extLst>
          </p:cNvPr>
          <p:cNvSpPr>
            <a:spLocks xmlns:a="http://schemas.openxmlformats.org/drawingml/2006/main" noGrp="1"/>
          </p:cNvSpPr>
          <p:nvPr/>
        </p:nvSpPr>
        <p:spPr>
          <a:xfrm xmlns:a="http://schemas.openxmlformats.org/drawingml/2006/main">
            <a:off x="438912" y="960120"/>
            <a:ext cx="5440680" cy="4553712"/>
          </a:xfrm>
          <a:prstGeom xmlns:a="http://schemas.openxmlformats.org/drawingml/2006/main" prst="rect">
            <a:avLst/>
          </a:prstGeom>
          <a:solidFill xmlns:a="http://schemas.openxmlformats.org/drawingml/2006/main">
            <a:srgbClr val="FFFFFF"/>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80AE649-5525-4D87-B132-0423559F9336}"/>
              </a:ext>
            </a:extLst>
          </p:cNvPr>
          <p:cNvSpPr>
            <a:spLocks xmlns:a="http://schemas.openxmlformats.org/drawingml/2006/main" noGrp="1"/>
          </p:cNvSpPr>
          <p:nvPr/>
        </p:nvSpPr>
        <p:spPr>
          <a:xfrm xmlns:a="http://schemas.openxmlformats.org/drawingml/2006/main">
            <a:off x="603503" y="1051560"/>
            <a:ext cx="5102352"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E99A23"/>
                </a:solidFill>
                <a:latin typeface="Meiryo"/>
                <a:ea typeface="Meiryo"/>
                <a:cs typeface="Meiryo"/>
              </a:defRPr>
            </a:pPr>
            <a:r>
              <a:t>晴天  2025-08-05</a:t>
            </a:r>
          </a:p>
        </p:txBody>
      </p:sp>
      <p:sp>
        <p:nvSpPr>
          <p:cNvPr id="11" name="Rectangle 10">
            <a:extLst xmlns:a="http://schemas.openxmlformats.org/drawingml/2006/main">
              <a:ext uri="{FF2B5EF4-FFF2-40B4-BE49-F238E27FC236}">
                <a16:creationId xmlns:a16="http://schemas.microsoft.com/office/drawing/2014/main" id="{59624A65-29F9-4DC2-9D28-64C4930EAB3F}"/>
              </a:ext>
            </a:extLst>
          </p:cNvPr>
          <p:cNvSpPr>
            <a:spLocks xmlns:a="http://schemas.openxmlformats.org/drawingml/2006/main" noGrp="1"/>
          </p:cNvSpPr>
          <p:nvPr/>
        </p:nvSpPr>
        <p:spPr>
          <a:xfrm xmlns:a="http://schemas.openxmlformats.org/drawingml/2006/main">
            <a:off x="667512" y="1554480"/>
            <a:ext cx="1234440" cy="621792"/>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F4D07AB-6770-4F7B-9918-C7C3EA9F2C64}"/>
              </a:ext>
            </a:extLst>
          </p:cNvPr>
          <p:cNvSpPr>
            <a:spLocks xmlns:a="http://schemas.openxmlformats.org/drawingml/2006/main" noGrp="1"/>
          </p:cNvSpPr>
          <p:nvPr/>
        </p:nvSpPr>
        <p:spPr>
          <a:xfrm xmlns:a="http://schemas.openxmlformats.org/drawingml/2006/main">
            <a:off x="713232" y="1627632"/>
            <a:ext cx="1143000" cy="4572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300" b="1">
                <a:solidFill>
                  <a:srgbClr val="003667"/>
                </a:solidFill>
                <a:latin typeface="Meiryo"/>
                <a:ea typeface="Meiryo"/>
                <a:cs typeface="Meiryo"/>
              </a:defRPr>
            </a:pPr>
            <a:r>
              <a:t>PV</a:t>
            </a:r>
            <a:br/>
            <a:r>
              <a:t>614.7</a:t>
            </a:r>
          </a:p>
        </p:txBody>
      </p:sp>
      <p:sp>
        <p:nvSpPr>
          <p:cNvPr id="13" name="TextBox 12">
            <a:extLst xmlns:a="http://schemas.openxmlformats.org/drawingml/2006/main">
              <a:ext uri="{FF2B5EF4-FFF2-40B4-BE49-F238E27FC236}">
                <a16:creationId xmlns:a16="http://schemas.microsoft.com/office/drawing/2014/main" id="{D4137D3C-8C11-47D2-A62E-1839A9DA23CE}"/>
              </a:ext>
            </a:extLst>
          </p:cNvPr>
          <p:cNvSpPr>
            <a:spLocks xmlns:a="http://schemas.openxmlformats.org/drawingml/2006/main" noGrp="1"/>
          </p:cNvSpPr>
          <p:nvPr/>
        </p:nvSpPr>
        <p:spPr>
          <a:xfrm xmlns:a="http://schemas.openxmlformats.org/drawingml/2006/main">
            <a:off x="1947672" y="1719072"/>
            <a:ext cx="310896"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E99A23"/>
                </a:solidFill>
                <a:latin typeface="Meiryo"/>
                <a:ea typeface="Meiryo"/>
                <a:cs typeface="Meiryo"/>
              </a:defRPr>
            </a:pPr>
            <a:r>
              <a:t>→</a:t>
            </a:r>
          </a:p>
        </p:txBody>
      </p:sp>
      <p:sp>
        <p:nvSpPr>
          <p:cNvPr id="14" name="TextBox 13">
            <a:extLst xmlns:a="http://schemas.openxmlformats.org/drawingml/2006/main">
              <a:ext uri="{FF2B5EF4-FFF2-40B4-BE49-F238E27FC236}">
                <a16:creationId xmlns:a16="http://schemas.microsoft.com/office/drawing/2014/main" id="{8EB239D3-DF8B-4CF1-83DC-60898DBDD0D5}"/>
              </a:ext>
            </a:extLst>
          </p:cNvPr>
          <p:cNvSpPr>
            <a:spLocks xmlns:a="http://schemas.openxmlformats.org/drawingml/2006/main" noGrp="1"/>
          </p:cNvSpPr>
          <p:nvPr/>
        </p:nvSpPr>
        <p:spPr>
          <a:xfrm xmlns:a="http://schemas.openxmlformats.org/drawingml/2006/main">
            <a:off x="2286000" y="1517904"/>
            <a:ext cx="1572768"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250" b="1">
                <a:solidFill>
                  <a:srgbClr val="191F24"/>
                </a:solidFill>
                <a:latin typeface="Meiryo"/>
                <a:ea typeface="Meiryo"/>
                <a:cs typeface="Meiryo"/>
              </a:defRPr>
            </a:pPr>
            <a:r>
              <a:t>バス 163.8</a:t>
            </a:r>
            <a:br/>
            <a:r>
              <a:t>BESS 378.9</a:t>
            </a:r>
            <a:br/>
            <a:r>
              <a:t>抑制 71.9 kWh</a:t>
            </a:r>
          </a:p>
        </p:txBody>
      </p:sp>
      <p:sp>
        <p:nvSpPr>
          <p:cNvPr id="15" name="Rectangle 14">
            <a:extLst xmlns:a="http://schemas.openxmlformats.org/drawingml/2006/main">
              <a:ext uri="{FF2B5EF4-FFF2-40B4-BE49-F238E27FC236}">
                <a16:creationId xmlns:a16="http://schemas.microsoft.com/office/drawing/2014/main" id="{E54840AE-EF1A-4077-B371-AD5BAD60263A}"/>
              </a:ext>
            </a:extLst>
          </p:cNvPr>
          <p:cNvSpPr>
            <a:spLocks xmlns:a="http://schemas.openxmlformats.org/drawingml/2006/main" noGrp="1"/>
          </p:cNvSpPr>
          <p:nvPr/>
        </p:nvSpPr>
        <p:spPr>
          <a:xfrm xmlns:a="http://schemas.openxmlformats.org/drawingml/2006/main">
            <a:off x="4059935" y="1554480"/>
            <a:ext cx="1508760" cy="621792"/>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B0A65E4-B799-4D2C-9413-84A5F7A07BE2}"/>
              </a:ext>
            </a:extLst>
          </p:cNvPr>
          <p:cNvSpPr>
            <a:spLocks xmlns:a="http://schemas.openxmlformats.org/drawingml/2006/main" noGrp="1"/>
          </p:cNvSpPr>
          <p:nvPr/>
        </p:nvSpPr>
        <p:spPr>
          <a:xfrm xmlns:a="http://schemas.openxmlformats.org/drawingml/2006/main">
            <a:off x="4133087" y="1627632"/>
            <a:ext cx="1371600" cy="4572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50" b="1">
                <a:solidFill>
                  <a:srgbClr val="003667"/>
                </a:solidFill>
                <a:latin typeface="Meiryo"/>
                <a:ea typeface="Meiryo"/>
                <a:cs typeface="Meiryo"/>
              </a:defRPr>
            </a:pPr>
            <a:r>
              <a:t>系統購入</a:t>
            </a:r>
            <a:br/>
            <a:r>
              <a:t>1015.6 kWh</a:t>
            </a:r>
          </a:p>
        </p:txBody>
      </p:sp>
      <p:sp>
        <p:nvSpPr>
          <p:cNvPr id="17" name="Rectangle 16">
            <a:extLst xmlns:a="http://schemas.openxmlformats.org/drawingml/2006/main">
              <a:ext uri="{FF2B5EF4-FFF2-40B4-BE49-F238E27FC236}">
                <a16:creationId xmlns:a16="http://schemas.microsoft.com/office/drawing/2014/main" id="{6A27CE2B-8BAB-4860-8834-6E886DB368EB}"/>
              </a:ext>
            </a:extLst>
          </p:cNvPr>
          <p:cNvSpPr>
            <a:spLocks xmlns:a="http://schemas.openxmlformats.org/drawingml/2006/main" noGrp="1"/>
          </p:cNvSpPr>
          <p:nvPr/>
        </p:nvSpPr>
        <p:spPr>
          <a:xfrm xmlns:a="http://schemas.openxmlformats.org/drawingml/2006/main">
            <a:off x="667512" y="2487168"/>
            <a:ext cx="2103120" cy="1005840"/>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07EA3AF5-57AF-4FEE-B77D-F0FBDF19AA3F}"/>
              </a:ext>
            </a:extLst>
          </p:cNvPr>
          <p:cNvSpPr>
            <a:spLocks xmlns:a="http://schemas.openxmlformats.org/drawingml/2006/main" noGrp="1"/>
          </p:cNvSpPr>
          <p:nvPr/>
        </p:nvSpPr>
        <p:spPr>
          <a:xfrm xmlns:a="http://schemas.openxmlformats.org/drawingml/2006/main">
            <a:off x="786384" y="2660904"/>
            <a:ext cx="658368"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400" b="1">
                <a:solidFill>
                  <a:srgbClr val="238E5E"/>
                </a:solidFill>
                <a:latin typeface="Meiryo"/>
                <a:ea typeface="Meiryo"/>
                <a:cs typeface="Meiryo"/>
              </a:defRPr>
            </a:pPr>
            <a:r>
              <a:t>BESS</a:t>
            </a:r>
          </a:p>
        </p:txBody>
      </p:sp>
      <p:sp>
        <p:nvSpPr>
          <p:cNvPr id="19" name="TextBox 18">
            <a:extLst xmlns:a="http://schemas.openxmlformats.org/drawingml/2006/main">
              <a:ext uri="{FF2B5EF4-FFF2-40B4-BE49-F238E27FC236}">
                <a16:creationId xmlns:a16="http://schemas.microsoft.com/office/drawing/2014/main" id="{5330B466-B6BD-4748-BCE2-651727F68AB8}"/>
              </a:ext>
            </a:extLst>
          </p:cNvPr>
          <p:cNvSpPr>
            <a:spLocks xmlns:a="http://schemas.openxmlformats.org/drawingml/2006/main" noGrp="1"/>
          </p:cNvSpPr>
          <p:nvPr/>
        </p:nvSpPr>
        <p:spPr>
          <a:xfrm xmlns:a="http://schemas.openxmlformats.org/drawingml/2006/main">
            <a:off x="1517904" y="2551176"/>
            <a:ext cx="1124712" cy="713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1">
                <a:solidFill>
                  <a:srgbClr val="191F24"/>
                </a:solidFill>
                <a:latin typeface="Meiryo"/>
                <a:ea typeface="Meiryo"/>
                <a:cs typeface="Meiryo"/>
              </a:defRPr>
            </a:pPr>
            <a:r>
              <a:t>入力 378.9</a:t>
            </a:r>
            <a:br/>
            <a:r>
              <a:t>バス供給 342.0 kWh</a:t>
            </a:r>
          </a:p>
        </p:txBody>
      </p:sp>
      <p:sp>
        <p:nvSpPr>
          <p:cNvPr id="20" name="TextBox 19">
            <a:extLst xmlns:a="http://schemas.openxmlformats.org/drawingml/2006/main">
              <a:ext uri="{FF2B5EF4-FFF2-40B4-BE49-F238E27FC236}">
                <a16:creationId xmlns:a16="http://schemas.microsoft.com/office/drawing/2014/main" id="{55FF720C-7800-4978-9B34-B53D0769FAC7}"/>
              </a:ext>
            </a:extLst>
          </p:cNvPr>
          <p:cNvSpPr>
            <a:spLocks xmlns:a="http://schemas.openxmlformats.org/drawingml/2006/main" noGrp="1"/>
          </p:cNvSpPr>
          <p:nvPr/>
        </p:nvSpPr>
        <p:spPr>
          <a:xfrm xmlns:a="http://schemas.openxmlformats.org/drawingml/2006/main">
            <a:off x="2834640" y="2816352"/>
            <a:ext cx="310896"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E99A23"/>
                </a:solidFill>
                <a:latin typeface="Meiryo"/>
                <a:ea typeface="Meiryo"/>
                <a:cs typeface="Meiryo"/>
              </a:defRPr>
            </a:pPr>
            <a:r>
              <a:t>→</a:t>
            </a:r>
          </a:p>
        </p:txBody>
      </p:sp>
      <p:sp>
        <p:nvSpPr>
          <p:cNvPr id="21" name="Rectangle 20">
            <a:extLst xmlns:a="http://schemas.openxmlformats.org/drawingml/2006/main">
              <a:ext uri="{FF2B5EF4-FFF2-40B4-BE49-F238E27FC236}">
                <a16:creationId xmlns:a16="http://schemas.microsoft.com/office/drawing/2014/main" id="{883D8E3C-4663-4FE6-AACD-2143606C0467}"/>
              </a:ext>
            </a:extLst>
          </p:cNvPr>
          <p:cNvSpPr>
            <a:spLocks xmlns:a="http://schemas.openxmlformats.org/drawingml/2006/main" noGrp="1"/>
          </p:cNvSpPr>
          <p:nvPr/>
        </p:nvSpPr>
        <p:spPr>
          <a:xfrm xmlns:a="http://schemas.openxmlformats.org/drawingml/2006/main">
            <a:off x="3200400" y="2487168"/>
            <a:ext cx="2368296" cy="100584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462C8672-BD8C-41EB-9592-01C0E861ED6F}"/>
              </a:ext>
            </a:extLst>
          </p:cNvPr>
          <p:cNvSpPr>
            <a:spLocks xmlns:a="http://schemas.openxmlformats.org/drawingml/2006/main" noGrp="1"/>
          </p:cNvSpPr>
          <p:nvPr/>
        </p:nvSpPr>
        <p:spPr>
          <a:xfrm xmlns:a="http://schemas.openxmlformats.org/drawingml/2006/main">
            <a:off x="3291840" y="2560320"/>
            <a:ext cx="2176272"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00" b="1">
                <a:solidFill>
                  <a:srgbClr val="191F24"/>
                </a:solidFill>
                <a:latin typeface="Meiryo"/>
                <a:ea typeface="Meiryo"/>
                <a:cs typeface="Meiryo"/>
              </a:defRPr>
            </a:pPr>
            <a:r>
              <a:t>充電入力合計</a:t>
            </a:r>
            <a:br/>
            <a:r>
              <a:t>1521.4 kWh</a:t>
            </a:r>
            <a:br/>
            <a:r>
              <a:t>= 系統 + PV + BESS</a:t>
            </a:r>
          </a:p>
        </p:txBody>
      </p:sp>
      <p:sp>
        <p:nvSpPr>
          <p:cNvPr id="23" name="TextBox 22">
            <a:extLst xmlns:a="http://schemas.openxmlformats.org/drawingml/2006/main">
              <a:ext uri="{FF2B5EF4-FFF2-40B4-BE49-F238E27FC236}">
                <a16:creationId xmlns:a16="http://schemas.microsoft.com/office/drawing/2014/main" id="{431A2960-C3E6-435E-A11F-5B25618591EF}"/>
              </a:ext>
            </a:extLst>
          </p:cNvPr>
          <p:cNvSpPr>
            <a:spLocks xmlns:a="http://schemas.openxmlformats.org/drawingml/2006/main" noGrp="1"/>
          </p:cNvSpPr>
          <p:nvPr/>
        </p:nvSpPr>
        <p:spPr>
          <a:xfrm xmlns:a="http://schemas.openxmlformats.org/drawingml/2006/main">
            <a:off x="694944" y="3776472"/>
            <a:ext cx="4882896"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003667"/>
                </a:solidFill>
                <a:latin typeface="Meiryo"/>
                <a:ea typeface="Meiryo"/>
                <a:cs typeface="Meiryo"/>
              </a:defRPr>
            </a:pPr>
            <a:r>
              <a:t>BESS: 300 → 300 kWh　往復損失 36.9 kWh</a:t>
            </a:r>
          </a:p>
        </p:txBody>
      </p:sp>
      <p:sp>
        <p:nvSpPr>
          <p:cNvPr id="24" name="TextBox 23">
            <a:extLst xmlns:a="http://schemas.openxmlformats.org/drawingml/2006/main">
              <a:ext uri="{FF2B5EF4-FFF2-40B4-BE49-F238E27FC236}">
                <a16:creationId xmlns:a16="http://schemas.microsoft.com/office/drawing/2014/main" id="{CBA1C8C9-48AE-42B3-9605-93EC02BDFE01}"/>
              </a:ext>
            </a:extLst>
          </p:cNvPr>
          <p:cNvSpPr>
            <a:spLocks xmlns:a="http://schemas.openxmlformats.org/drawingml/2006/main" noGrp="1"/>
          </p:cNvSpPr>
          <p:nvPr/>
        </p:nvSpPr>
        <p:spPr>
          <a:xfrm xmlns:a="http://schemas.openxmlformats.org/drawingml/2006/main">
            <a:off x="923544" y="4297680"/>
            <a:ext cx="4425696" cy="6583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400" b="1">
                <a:solidFill>
                  <a:srgbClr val="238E5E"/>
                </a:solidFill>
                <a:latin typeface="Meiryo"/>
                <a:ea typeface="Meiryo"/>
                <a:cs typeface="Meiryo"/>
              </a:defRPr>
            </a:pPr>
            <a:r>
              <a:t>PV・充電源・BESS式の最大残差</a:t>
            </a:r>
            <a:br/>
            <a:r>
              <a:t>3.41e-12 kWh  ≤  1.0e-6 kWh</a:t>
            </a:r>
          </a:p>
        </p:txBody>
      </p:sp>
      <p:sp>
        <p:nvSpPr>
          <p:cNvPr id="25" name="Rectangle 24">
            <a:extLst xmlns:a="http://schemas.openxmlformats.org/drawingml/2006/main">
              <a:ext uri="{FF2B5EF4-FFF2-40B4-BE49-F238E27FC236}">
                <a16:creationId xmlns:a16="http://schemas.microsoft.com/office/drawing/2014/main" id="{93DC6474-1EAC-458C-97B7-2750C90E00CC}"/>
              </a:ext>
            </a:extLst>
          </p:cNvPr>
          <p:cNvSpPr>
            <a:spLocks xmlns:a="http://schemas.openxmlformats.org/drawingml/2006/main" noGrp="1"/>
          </p:cNvSpPr>
          <p:nvPr/>
        </p:nvSpPr>
        <p:spPr>
          <a:xfrm xmlns:a="http://schemas.openxmlformats.org/drawingml/2006/main">
            <a:off x="6309360" y="960120"/>
            <a:ext cx="5440680" cy="4553712"/>
          </a:xfrm>
          <a:prstGeom xmlns:a="http://schemas.openxmlformats.org/drawingml/2006/main" prst="rect">
            <a:avLst/>
          </a:prstGeom>
          <a:solidFill xmlns:a="http://schemas.openxmlformats.org/drawingml/2006/main">
            <a:srgbClr val="FFFFFF"/>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E13C32E5-AD0D-4FC8-AE0B-B41EC69AF994}"/>
              </a:ext>
            </a:extLst>
          </p:cNvPr>
          <p:cNvSpPr>
            <a:spLocks xmlns:a="http://schemas.openxmlformats.org/drawingml/2006/main" noGrp="1"/>
          </p:cNvSpPr>
          <p:nvPr/>
        </p:nvSpPr>
        <p:spPr>
          <a:xfrm xmlns:a="http://schemas.openxmlformats.org/drawingml/2006/main">
            <a:off x="6473952" y="1051560"/>
            <a:ext cx="5102352"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3F6DB4"/>
                </a:solidFill>
                <a:latin typeface="Meiryo"/>
                <a:ea typeface="Meiryo"/>
                <a:cs typeface="Meiryo"/>
              </a:defRPr>
            </a:pPr>
            <a:r>
              <a:t>雨天  2025-08-10</a:t>
            </a:r>
          </a:p>
        </p:txBody>
      </p:sp>
      <p:sp>
        <p:nvSpPr>
          <p:cNvPr id="27" name="Rectangle 26">
            <a:extLst xmlns:a="http://schemas.openxmlformats.org/drawingml/2006/main">
              <a:ext uri="{FF2B5EF4-FFF2-40B4-BE49-F238E27FC236}">
                <a16:creationId xmlns:a16="http://schemas.microsoft.com/office/drawing/2014/main" id="{59CE544A-38C2-405B-849A-65990DAD118A}"/>
              </a:ext>
            </a:extLst>
          </p:cNvPr>
          <p:cNvSpPr>
            <a:spLocks xmlns:a="http://schemas.openxmlformats.org/drawingml/2006/main" noGrp="1"/>
          </p:cNvSpPr>
          <p:nvPr/>
        </p:nvSpPr>
        <p:spPr>
          <a:xfrm xmlns:a="http://schemas.openxmlformats.org/drawingml/2006/main">
            <a:off x="6537960" y="1554480"/>
            <a:ext cx="1234440" cy="621792"/>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B9BE1782-6DF6-4E73-8935-0A86A2A2AB32}"/>
              </a:ext>
            </a:extLst>
          </p:cNvPr>
          <p:cNvSpPr>
            <a:spLocks xmlns:a="http://schemas.openxmlformats.org/drawingml/2006/main" noGrp="1"/>
          </p:cNvSpPr>
          <p:nvPr/>
        </p:nvSpPr>
        <p:spPr>
          <a:xfrm xmlns:a="http://schemas.openxmlformats.org/drawingml/2006/main">
            <a:off x="6583680" y="1627632"/>
            <a:ext cx="1143000" cy="4572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300" b="1">
                <a:solidFill>
                  <a:srgbClr val="003667"/>
                </a:solidFill>
                <a:latin typeface="Meiryo"/>
                <a:ea typeface="Meiryo"/>
                <a:cs typeface="Meiryo"/>
              </a:defRPr>
            </a:pPr>
            <a:r>
              <a:t>PV</a:t>
            </a:r>
            <a:br/>
            <a:r>
              <a:t>101.1</a:t>
            </a:r>
          </a:p>
        </p:txBody>
      </p:sp>
      <p:sp>
        <p:nvSpPr>
          <p:cNvPr id="29" name="TextBox 28">
            <a:extLst xmlns:a="http://schemas.openxmlformats.org/drawingml/2006/main">
              <a:ext uri="{FF2B5EF4-FFF2-40B4-BE49-F238E27FC236}">
                <a16:creationId xmlns:a16="http://schemas.microsoft.com/office/drawing/2014/main" id="{67B7682D-DB73-4D57-AE79-2A6C7A6386E8}"/>
              </a:ext>
            </a:extLst>
          </p:cNvPr>
          <p:cNvSpPr>
            <a:spLocks xmlns:a="http://schemas.openxmlformats.org/drawingml/2006/main" noGrp="1"/>
          </p:cNvSpPr>
          <p:nvPr/>
        </p:nvSpPr>
        <p:spPr>
          <a:xfrm xmlns:a="http://schemas.openxmlformats.org/drawingml/2006/main">
            <a:off x="7818120" y="1719072"/>
            <a:ext cx="310896"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3F6DB4"/>
                </a:solidFill>
                <a:latin typeface="Meiryo"/>
                <a:ea typeface="Meiryo"/>
                <a:cs typeface="Meiryo"/>
              </a:defRPr>
            </a:pPr>
            <a:r>
              <a:t>→</a:t>
            </a:r>
          </a:p>
        </p:txBody>
      </p:sp>
      <p:sp>
        <p:nvSpPr>
          <p:cNvPr id="30" name="TextBox 29">
            <a:extLst xmlns:a="http://schemas.openxmlformats.org/drawingml/2006/main">
              <a:ext uri="{FF2B5EF4-FFF2-40B4-BE49-F238E27FC236}">
                <a16:creationId xmlns:a16="http://schemas.microsoft.com/office/drawing/2014/main" id="{DD277E41-DC02-4369-B855-77AAD17C2735}"/>
              </a:ext>
            </a:extLst>
          </p:cNvPr>
          <p:cNvSpPr>
            <a:spLocks xmlns:a="http://schemas.openxmlformats.org/drawingml/2006/main" noGrp="1"/>
          </p:cNvSpPr>
          <p:nvPr/>
        </p:nvSpPr>
        <p:spPr>
          <a:xfrm xmlns:a="http://schemas.openxmlformats.org/drawingml/2006/main">
            <a:off x="8156448" y="1517904"/>
            <a:ext cx="1572768"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250" b="1">
                <a:solidFill>
                  <a:srgbClr val="191F24"/>
                </a:solidFill>
                <a:latin typeface="Meiryo"/>
                <a:ea typeface="Meiryo"/>
                <a:cs typeface="Meiryo"/>
              </a:defRPr>
            </a:pPr>
            <a:r>
              <a:t>バス 1.0</a:t>
            </a:r>
            <a:br/>
            <a:r>
              <a:t>BESS 100.1</a:t>
            </a:r>
            <a:br/>
            <a:r>
              <a:t>抑制 0.0 kWh</a:t>
            </a:r>
          </a:p>
        </p:txBody>
      </p:sp>
      <p:sp>
        <p:nvSpPr>
          <p:cNvPr id="31" name="Rectangle 30">
            <a:extLst xmlns:a="http://schemas.openxmlformats.org/drawingml/2006/main">
              <a:ext uri="{FF2B5EF4-FFF2-40B4-BE49-F238E27FC236}">
                <a16:creationId xmlns:a16="http://schemas.microsoft.com/office/drawing/2014/main" id="{CA6CEF28-6881-4993-8A01-545FCB74D052}"/>
              </a:ext>
            </a:extLst>
          </p:cNvPr>
          <p:cNvSpPr>
            <a:spLocks xmlns:a="http://schemas.openxmlformats.org/drawingml/2006/main" noGrp="1"/>
          </p:cNvSpPr>
          <p:nvPr/>
        </p:nvSpPr>
        <p:spPr>
          <a:xfrm xmlns:a="http://schemas.openxmlformats.org/drawingml/2006/main">
            <a:off x="9930384" y="1554480"/>
            <a:ext cx="1508760" cy="621792"/>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76E00AB9-21ED-416D-9C2C-D4A10FBFBFF7}"/>
              </a:ext>
            </a:extLst>
          </p:cNvPr>
          <p:cNvSpPr>
            <a:spLocks xmlns:a="http://schemas.openxmlformats.org/drawingml/2006/main" noGrp="1"/>
          </p:cNvSpPr>
          <p:nvPr/>
        </p:nvSpPr>
        <p:spPr>
          <a:xfrm xmlns:a="http://schemas.openxmlformats.org/drawingml/2006/main">
            <a:off x="10003536" y="1627632"/>
            <a:ext cx="1371600" cy="4572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50" b="1">
                <a:solidFill>
                  <a:srgbClr val="003667"/>
                </a:solidFill>
                <a:latin typeface="Meiryo"/>
                <a:ea typeface="Meiryo"/>
                <a:cs typeface="Meiryo"/>
              </a:defRPr>
            </a:pPr>
            <a:r>
              <a:t>系統購入</a:t>
            </a:r>
            <a:br/>
            <a:r>
              <a:t>1000.7 kWh</a:t>
            </a:r>
          </a:p>
        </p:txBody>
      </p:sp>
      <p:sp>
        <p:nvSpPr>
          <p:cNvPr id="33" name="Rectangle 32">
            <a:extLst xmlns:a="http://schemas.openxmlformats.org/drawingml/2006/main">
              <a:ext uri="{FF2B5EF4-FFF2-40B4-BE49-F238E27FC236}">
                <a16:creationId xmlns:a16="http://schemas.microsoft.com/office/drawing/2014/main" id="{984F0C27-7571-4F26-A03F-03840DAFC49D}"/>
              </a:ext>
            </a:extLst>
          </p:cNvPr>
          <p:cNvSpPr>
            <a:spLocks xmlns:a="http://schemas.openxmlformats.org/drawingml/2006/main" noGrp="1"/>
          </p:cNvSpPr>
          <p:nvPr/>
        </p:nvSpPr>
        <p:spPr>
          <a:xfrm xmlns:a="http://schemas.openxmlformats.org/drawingml/2006/main">
            <a:off x="6537960" y="2487168"/>
            <a:ext cx="2103120" cy="1005840"/>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7A47B643-65D5-41A5-BBFE-FEB0070FA80B}"/>
              </a:ext>
            </a:extLst>
          </p:cNvPr>
          <p:cNvSpPr>
            <a:spLocks xmlns:a="http://schemas.openxmlformats.org/drawingml/2006/main" noGrp="1"/>
          </p:cNvSpPr>
          <p:nvPr/>
        </p:nvSpPr>
        <p:spPr>
          <a:xfrm xmlns:a="http://schemas.openxmlformats.org/drawingml/2006/main">
            <a:off x="6656832" y="2660904"/>
            <a:ext cx="658368"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400" b="1">
                <a:solidFill>
                  <a:srgbClr val="238E5E"/>
                </a:solidFill>
                <a:latin typeface="Meiryo"/>
                <a:ea typeface="Meiryo"/>
                <a:cs typeface="Meiryo"/>
              </a:defRPr>
            </a:pPr>
            <a:r>
              <a:t>BESS</a:t>
            </a:r>
          </a:p>
        </p:txBody>
      </p:sp>
      <p:sp>
        <p:nvSpPr>
          <p:cNvPr id="35" name="TextBox 34">
            <a:extLst xmlns:a="http://schemas.openxmlformats.org/drawingml/2006/main">
              <a:ext uri="{FF2B5EF4-FFF2-40B4-BE49-F238E27FC236}">
                <a16:creationId xmlns:a16="http://schemas.microsoft.com/office/drawing/2014/main" id="{4F94B3AC-FA9B-44F3-8204-F6D0AA50FA56}"/>
              </a:ext>
            </a:extLst>
          </p:cNvPr>
          <p:cNvSpPr>
            <a:spLocks xmlns:a="http://schemas.openxmlformats.org/drawingml/2006/main" noGrp="1"/>
          </p:cNvSpPr>
          <p:nvPr/>
        </p:nvSpPr>
        <p:spPr>
          <a:xfrm xmlns:a="http://schemas.openxmlformats.org/drawingml/2006/main">
            <a:off x="7388352" y="2551176"/>
            <a:ext cx="1124712" cy="713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1">
                <a:solidFill>
                  <a:srgbClr val="191F24"/>
                </a:solidFill>
                <a:latin typeface="Meiryo"/>
                <a:ea typeface="Meiryo"/>
                <a:cs typeface="Meiryo"/>
              </a:defRPr>
            </a:pPr>
            <a:r>
              <a:t>入力 100.1</a:t>
            </a:r>
            <a:br/>
            <a:r>
              <a:t>バス供給 90.3 kWh</a:t>
            </a:r>
          </a:p>
        </p:txBody>
      </p:sp>
      <p:sp>
        <p:nvSpPr>
          <p:cNvPr id="36" name="TextBox 35">
            <a:extLst xmlns:a="http://schemas.openxmlformats.org/drawingml/2006/main">
              <a:ext uri="{FF2B5EF4-FFF2-40B4-BE49-F238E27FC236}">
                <a16:creationId xmlns:a16="http://schemas.microsoft.com/office/drawing/2014/main" id="{A56B2A5C-663A-4022-80F0-3C8633C6DE92}"/>
              </a:ext>
            </a:extLst>
          </p:cNvPr>
          <p:cNvSpPr>
            <a:spLocks xmlns:a="http://schemas.openxmlformats.org/drawingml/2006/main" noGrp="1"/>
          </p:cNvSpPr>
          <p:nvPr/>
        </p:nvSpPr>
        <p:spPr>
          <a:xfrm xmlns:a="http://schemas.openxmlformats.org/drawingml/2006/main">
            <a:off x="8705088" y="2816352"/>
            <a:ext cx="310896"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3F6DB4"/>
                </a:solidFill>
                <a:latin typeface="Meiryo"/>
                <a:ea typeface="Meiryo"/>
                <a:cs typeface="Meiryo"/>
              </a:defRPr>
            </a:pPr>
            <a:r>
              <a:t>→</a:t>
            </a:r>
          </a:p>
        </p:txBody>
      </p:sp>
      <p:sp>
        <p:nvSpPr>
          <p:cNvPr id="37" name="Rectangle 36">
            <a:extLst xmlns:a="http://schemas.openxmlformats.org/drawingml/2006/main">
              <a:ext uri="{FF2B5EF4-FFF2-40B4-BE49-F238E27FC236}">
                <a16:creationId xmlns:a16="http://schemas.microsoft.com/office/drawing/2014/main" id="{42FBCFC9-EA28-4474-8501-19B52BD26966}"/>
              </a:ext>
            </a:extLst>
          </p:cNvPr>
          <p:cNvSpPr>
            <a:spLocks xmlns:a="http://schemas.openxmlformats.org/drawingml/2006/main" noGrp="1"/>
          </p:cNvSpPr>
          <p:nvPr/>
        </p:nvSpPr>
        <p:spPr>
          <a:xfrm xmlns:a="http://schemas.openxmlformats.org/drawingml/2006/main">
            <a:off x="9070848" y="2487168"/>
            <a:ext cx="2368296" cy="100584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55EB2A93-C5C6-491B-8407-0B47D315F40D}"/>
              </a:ext>
            </a:extLst>
          </p:cNvPr>
          <p:cNvSpPr>
            <a:spLocks xmlns:a="http://schemas.openxmlformats.org/drawingml/2006/main" noGrp="1"/>
          </p:cNvSpPr>
          <p:nvPr/>
        </p:nvSpPr>
        <p:spPr>
          <a:xfrm xmlns:a="http://schemas.openxmlformats.org/drawingml/2006/main">
            <a:off x="9162288" y="2560320"/>
            <a:ext cx="2176272"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00" b="1">
                <a:solidFill>
                  <a:srgbClr val="191F24"/>
                </a:solidFill>
                <a:latin typeface="Meiryo"/>
                <a:ea typeface="Meiryo"/>
                <a:cs typeface="Meiryo"/>
              </a:defRPr>
            </a:pPr>
            <a:r>
              <a:t>充電入力合計</a:t>
            </a:r>
            <a:br/>
            <a:r>
              <a:t>1092.0 kWh</a:t>
            </a:r>
            <a:br/>
            <a:r>
              <a:t>= 系統 + PV + BESS</a:t>
            </a:r>
          </a:p>
        </p:txBody>
      </p:sp>
      <p:sp>
        <p:nvSpPr>
          <p:cNvPr id="39" name="TextBox 38">
            <a:extLst xmlns:a="http://schemas.openxmlformats.org/drawingml/2006/main">
              <a:ext uri="{FF2B5EF4-FFF2-40B4-BE49-F238E27FC236}">
                <a16:creationId xmlns:a16="http://schemas.microsoft.com/office/drawing/2014/main" id="{E20473D0-6DE7-4E3C-A3B9-B7D386AFD28F}"/>
              </a:ext>
            </a:extLst>
          </p:cNvPr>
          <p:cNvSpPr>
            <a:spLocks xmlns:a="http://schemas.openxmlformats.org/drawingml/2006/main" noGrp="1"/>
          </p:cNvSpPr>
          <p:nvPr/>
        </p:nvSpPr>
        <p:spPr>
          <a:xfrm xmlns:a="http://schemas.openxmlformats.org/drawingml/2006/main">
            <a:off x="6565392" y="3776472"/>
            <a:ext cx="4882896"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003667"/>
                </a:solidFill>
                <a:latin typeface="Meiryo"/>
                <a:ea typeface="Meiryo"/>
                <a:cs typeface="Meiryo"/>
              </a:defRPr>
            </a:pPr>
            <a:r>
              <a:t>BESS: 300 → 300 kWh　往復損失 9.8 kWh</a:t>
            </a:r>
          </a:p>
        </p:txBody>
      </p:sp>
      <p:sp>
        <p:nvSpPr>
          <p:cNvPr id="40" name="TextBox 39">
            <a:extLst xmlns:a="http://schemas.openxmlformats.org/drawingml/2006/main">
              <a:ext uri="{FF2B5EF4-FFF2-40B4-BE49-F238E27FC236}">
                <a16:creationId xmlns:a16="http://schemas.microsoft.com/office/drawing/2014/main" id="{A047664A-D1DB-4E96-92C5-6EEB1D4D4DC1}"/>
              </a:ext>
            </a:extLst>
          </p:cNvPr>
          <p:cNvSpPr>
            <a:spLocks xmlns:a="http://schemas.openxmlformats.org/drawingml/2006/main" noGrp="1"/>
          </p:cNvSpPr>
          <p:nvPr/>
        </p:nvSpPr>
        <p:spPr>
          <a:xfrm xmlns:a="http://schemas.openxmlformats.org/drawingml/2006/main">
            <a:off x="6793992" y="4297680"/>
            <a:ext cx="4425696" cy="6583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400" b="1">
                <a:solidFill>
                  <a:srgbClr val="238E5E"/>
                </a:solidFill>
                <a:latin typeface="Meiryo"/>
                <a:ea typeface="Meiryo"/>
                <a:cs typeface="Meiryo"/>
              </a:defRPr>
            </a:pPr>
            <a:r>
              <a:t>PV・充電源・BESS式の最大残差</a:t>
            </a:r>
            <a:br/>
            <a:r>
              <a:t>1.98e-12 kWh  ≤  1.0e-6 kWh</a:t>
            </a:r>
          </a:p>
        </p:txBody>
      </p:sp>
      <p:sp>
        <p:nvSpPr>
          <p:cNvPr id="41" name="Rectangle 40">
            <a:extLst xmlns:a="http://schemas.openxmlformats.org/drawingml/2006/main">
              <a:ext uri="{FF2B5EF4-FFF2-40B4-BE49-F238E27FC236}">
                <a16:creationId xmlns:a16="http://schemas.microsoft.com/office/drawing/2014/main" id="{919FA02E-C4EB-4690-8922-87AB91A0BCCF}"/>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3F6ED"/>
          </a:solidFill>
          <a:ln xmlns:a="http://schemas.openxmlformats.org/drawingml/2006/main">
            <a:solidFill>
              <a:srgbClr val="E3F6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90E88ED6-464A-4FA4-A670-E8397466BED0}"/>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238E5E"/>
                </a:solidFill>
                <a:latin typeface="Meiryo"/>
                <a:ea typeface="Meiryo"/>
                <a:cs typeface="Meiryo"/>
              </a:defRPr>
            </a:pPr>
            <a:r>
              <a:t>要点｜PV式・充電源式・BESS遷移式は、両日とも1.0×10⁻⁶ kWh以下で成立。</a:t>
            </a:r>
          </a:p>
        </p:txBody>
      </p:sp>
    </p:spTree>
    <p:extLst>
      <p:ext uri="{BB962C8B-B14F-4D97-AF65-F5344CB8AC3E}">
        <p14:creationId xmlns:p14="http://schemas.microsoft.com/office/powerpoint/2010/main" val="18502115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FBB256D-8E5D-4F20-96B4-9C1E7F863ECD}"/>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エンジンバス燃料と運行の整合</a:t>
            </a:r>
          </a:p>
        </p:txBody>
      </p:sp>
      <p:sp>
        <p:nvSpPr>
          <p:cNvPr id="3" name="Connector 2">
            <a:extLst xmlns:a="http://schemas.openxmlformats.org/drawingml/2006/main">
              <a:ext uri="{FF2B5EF4-FFF2-40B4-BE49-F238E27FC236}">
                <a16:creationId xmlns:a16="http://schemas.microsoft.com/office/drawing/2014/main" id="{DBCEB8BE-E5C2-4999-BAD5-AB8F2D9DB5F4}"/>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5713F8A0-F508-483F-98EC-CAB8A5D213F3}"/>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5A89D3E-D5F2-4B2F-AADC-2A7E3C71C070}"/>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F2D9BB4-37BB-4108-BF34-C981CE634EB6}"/>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0975A045-7534-4CD5-82C7-2B258A3801D9}"/>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18989BE6-2C6E-43EC-AA74-DD63E726C833}"/>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16/18</a:t>
            </a:r>
          </a:p>
        </p:txBody>
      </p:sp>
      <p:pic>
        <p:nvPicPr>
          <p:cNvPr id="25" name="Picture 8"/>
          <p:cNvPicPr>
            <a:picLocks xmlns:a="http://schemas.openxmlformats.org/drawingml/2006/main" noChangeAspect="1"/>
          </p:cNvPicPr>
          <p:nvPr/>
        </p:nvPicPr>
        <p:blipFill>
          <a:blip xmlns:r="http://schemas.openxmlformats.org/officeDocument/2006/relationships" xmlns:a="http://schemas.openxmlformats.org/drawingml/2006/main" r:embed="Ra66690e0080b4f3c"/>
          <a:stretch xmlns:a="http://schemas.openxmlformats.org/drawingml/2006/main">
            <a:fillRect l="0" t="0" r="0" b="0"/>
          </a:stretch>
        </p:blipFill>
        <p:spPr>
          <a:xfrm xmlns:a="http://schemas.openxmlformats.org/drawingml/2006/main">
            <a:off x="457200" y="841248"/>
            <a:ext cx="8092440" cy="452628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87C03EC7-AF72-47F8-9817-11651FEED00D}"/>
              </a:ext>
            </a:extLst>
          </p:cNvPr>
          <p:cNvSpPr>
            <a:spLocks xmlns:a="http://schemas.openxmlformats.org/drawingml/2006/main" noGrp="1"/>
          </p:cNvSpPr>
          <p:nvPr/>
        </p:nvSpPr>
        <p:spPr>
          <a:xfrm xmlns:a="http://schemas.openxmlformats.org/drawingml/2006/main">
            <a:off x="8796528" y="1024128"/>
            <a:ext cx="2944368" cy="416052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D6A6972C-D3E4-493A-95C0-29CFFACDE411}"/>
              </a:ext>
            </a:extLst>
          </p:cNvPr>
          <p:cNvSpPr>
            <a:spLocks xmlns:a="http://schemas.openxmlformats.org/drawingml/2006/main" noGrp="1"/>
          </p:cNvSpPr>
          <p:nvPr/>
        </p:nvSpPr>
        <p:spPr>
          <a:xfrm xmlns:a="http://schemas.openxmlformats.org/drawingml/2006/main">
            <a:off x="8997696" y="1234440"/>
            <a:ext cx="2542032"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距離ベース再計算</a:t>
            </a:r>
          </a:p>
        </p:txBody>
      </p:sp>
      <p:sp>
        <p:nvSpPr>
          <p:cNvPr id="12" name="TextBox 11">
            <a:extLst xmlns:a="http://schemas.openxmlformats.org/drawingml/2006/main">
              <a:ext uri="{FF2B5EF4-FFF2-40B4-BE49-F238E27FC236}">
                <a16:creationId xmlns:a16="http://schemas.microsoft.com/office/drawing/2014/main" id="{9CDD7E6B-3C98-40C3-8B61-6D5FFCA4CA20}"/>
              </a:ext>
            </a:extLst>
          </p:cNvPr>
          <p:cNvSpPr>
            <a:spLocks xmlns:a="http://schemas.openxmlformats.org/drawingml/2006/main" noGrp="1"/>
          </p:cNvSpPr>
          <p:nvPr/>
        </p:nvSpPr>
        <p:spPr>
          <a:xfrm xmlns:a="http://schemas.openxmlformats.org/drawingml/2006/main">
            <a:off x="9034272" y="1755648"/>
            <a:ext cx="2468880" cy="11887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191F24"/>
                </a:solidFill>
                <a:latin typeface="Meiryo"/>
                <a:ea typeface="Meiryo"/>
                <a:cs typeface="Meiryo"/>
              </a:defRPr>
            </a:pPr>
            <a:r>
              <a:t>晴天</a:t>
            </a:r>
            <a:br/>
            <a:r>
              <a:t>1162.7 + 124.5 km</a:t>
            </a:r>
            <a:br/>
            <a:r>
              <a:t>→ 284.773 L</a:t>
            </a:r>
            <a:br/>
            <a:r>
              <a:t>→ 42,716円</a:t>
            </a:r>
          </a:p>
        </p:txBody>
      </p:sp>
      <p:sp>
        <p:nvSpPr>
          <p:cNvPr id="13" name="TextBox 12">
            <a:extLst xmlns:a="http://schemas.openxmlformats.org/drawingml/2006/main">
              <a:ext uri="{FF2B5EF4-FFF2-40B4-BE49-F238E27FC236}">
                <a16:creationId xmlns:a16="http://schemas.microsoft.com/office/drawing/2014/main" id="{467A5396-CFB5-4CFB-8338-AA420336AFA5}"/>
              </a:ext>
            </a:extLst>
          </p:cNvPr>
          <p:cNvSpPr>
            <a:spLocks xmlns:a="http://schemas.openxmlformats.org/drawingml/2006/main" noGrp="1"/>
          </p:cNvSpPr>
          <p:nvPr/>
        </p:nvSpPr>
        <p:spPr>
          <a:xfrm xmlns:a="http://schemas.openxmlformats.org/drawingml/2006/main">
            <a:off x="9034272" y="3063240"/>
            <a:ext cx="2468880" cy="11887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191F24"/>
                </a:solidFill>
                <a:latin typeface="Meiryo"/>
                <a:ea typeface="Meiryo"/>
                <a:cs typeface="Meiryo"/>
              </a:defRPr>
            </a:pPr>
            <a:r>
              <a:t>雨天</a:t>
            </a:r>
            <a:br/>
            <a:r>
              <a:t>1404.0 + 134.4 km</a:t>
            </a:r>
            <a:br/>
            <a:r>
              <a:t>→ 340.364 L</a:t>
            </a:r>
            <a:br/>
            <a:r>
              <a:t>→ 51,055円</a:t>
            </a:r>
          </a:p>
        </p:txBody>
      </p:sp>
      <p:sp>
        <p:nvSpPr>
          <p:cNvPr id="14" name="TextBox 13">
            <a:extLst xmlns:a="http://schemas.openxmlformats.org/drawingml/2006/main">
              <a:ext uri="{FF2B5EF4-FFF2-40B4-BE49-F238E27FC236}">
                <a16:creationId xmlns:a16="http://schemas.microsoft.com/office/drawing/2014/main" id="{D8C5E160-20D7-4321-9644-1A83EF9E17DE}"/>
              </a:ext>
            </a:extLst>
          </p:cNvPr>
          <p:cNvSpPr>
            <a:spLocks xmlns:a="http://schemas.openxmlformats.org/drawingml/2006/main" noGrp="1"/>
          </p:cNvSpPr>
          <p:nvPr/>
        </p:nvSpPr>
        <p:spPr>
          <a:xfrm xmlns:a="http://schemas.openxmlformats.org/drawingml/2006/main">
            <a:off x="9052560" y="4453128"/>
            <a:ext cx="2432304" cy="5303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238E5E"/>
                </a:solidFill>
                <a:latin typeface="Meiryo"/>
                <a:ea typeface="Meiryo"/>
                <a:cs typeface="Meiryo"/>
              </a:defRPr>
            </a:pPr>
            <a:r>
              <a:t>燃料単価150円/L</a:t>
            </a:r>
            <a:br/>
            <a:r>
              <a:t>再計算残差 &lt; 2×10⁻¹⁰円</a:t>
            </a:r>
          </a:p>
        </p:txBody>
      </p:sp>
      <p:sp>
        <p:nvSpPr>
          <p:cNvPr id="15" name="Rectangle 14">
            <a:extLst xmlns:a="http://schemas.openxmlformats.org/drawingml/2006/main">
              <a:ext uri="{FF2B5EF4-FFF2-40B4-BE49-F238E27FC236}">
                <a16:creationId xmlns:a16="http://schemas.microsoft.com/office/drawing/2014/main" id="{8EC82019-15C3-4E3A-B0A5-14103E80C91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CE8E8"/>
          </a:solidFill>
          <a:ln xmlns:a="http://schemas.openxmlformats.org/drawingml/2006/main">
            <a:solidFill>
              <a:srgbClr val="FCE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A4D8191-9F28-4180-B410-408F9C12F0E9}"/>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C23737"/>
                </a:solidFill>
                <a:latin typeface="Meiryo"/>
                <a:ea typeface="Meiryo"/>
                <a:cs typeface="Meiryo"/>
              </a:defRPr>
            </a:pPr>
            <a:r>
              <a:t>要点｜運行距離とは整合するが、給油イベント0件のため“実現給油量”ではなく距離ベース仮勘定。</a:t>
            </a:r>
          </a:p>
        </p:txBody>
      </p:sp>
    </p:spTree>
    <p:extLst>
      <p:ext uri="{BB962C8B-B14F-4D97-AF65-F5344CB8AC3E}">
        <p14:creationId xmlns:p14="http://schemas.microsoft.com/office/powerpoint/2010/main" val="13736951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403E434-5D9B-4DD9-9A17-0B3B29B179DE}"/>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費用比較：晴天と雨天</a:t>
            </a:r>
          </a:p>
        </p:txBody>
      </p:sp>
      <p:sp>
        <p:nvSpPr>
          <p:cNvPr id="3" name="Connector 2">
            <a:extLst xmlns:a="http://schemas.openxmlformats.org/drawingml/2006/main">
              <a:ext uri="{FF2B5EF4-FFF2-40B4-BE49-F238E27FC236}">
                <a16:creationId xmlns:a16="http://schemas.microsoft.com/office/drawing/2014/main" id="{787172DD-683D-4BD6-9B3B-B34A4A2EF56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1B0E9922-2697-40C5-B638-F6FCD3930656}"/>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EB5E3794-05E3-4D75-8A50-00B68CD35B56}"/>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444F0DF-B840-41AF-A777-37EE6DBBE981}"/>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7F6B68CF-792C-4848-B32A-DD8680A42141}"/>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97942750-01B7-4CCB-88AB-49AA97157E35}"/>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17/18</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71d5f764da274cce"/>
          <a:stretch xmlns:a="http://schemas.openxmlformats.org/drawingml/2006/main">
            <a:fillRect l="0" t="0" r="0" b="0"/>
          </a:stretch>
        </p:blipFill>
        <p:spPr>
          <a:xfrm xmlns:a="http://schemas.openxmlformats.org/drawingml/2006/main">
            <a:off x="502920" y="841248"/>
            <a:ext cx="8549640" cy="452628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FE461FA-1A92-412E-9D36-BE9D1FC7AE30}"/>
              </a:ext>
            </a:extLst>
          </p:cNvPr>
          <p:cNvSpPr>
            <a:spLocks xmlns:a="http://schemas.openxmlformats.org/drawingml/2006/main" noGrp="1"/>
          </p:cNvSpPr>
          <p:nvPr/>
        </p:nvSpPr>
        <p:spPr>
          <a:xfrm xmlns:a="http://schemas.openxmlformats.org/drawingml/2006/main">
            <a:off x="9308592" y="1024128"/>
            <a:ext cx="2441448" cy="1444752"/>
          </a:xfrm>
          <a:prstGeom xmlns:a="http://schemas.openxmlformats.org/drawingml/2006/main" prst="rect">
            <a:avLst/>
          </a:prstGeom>
          <a:solidFill xmlns:a="http://schemas.openxmlformats.org/drawingml/2006/main">
            <a:srgbClr val="FCE8E8"/>
          </a:solidFill>
          <a:ln xmlns:a="http://schemas.openxmlformats.org/drawingml/2006/main">
            <a:solidFill>
              <a:srgbClr val="C2373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ACDC280-823C-4122-86A4-53DF33003EE5}"/>
              </a:ext>
            </a:extLst>
          </p:cNvPr>
          <p:cNvSpPr>
            <a:spLocks xmlns:a="http://schemas.openxmlformats.org/drawingml/2006/main" noGrp="1"/>
          </p:cNvSpPr>
          <p:nvPr/>
        </p:nvSpPr>
        <p:spPr>
          <a:xfrm xmlns:a="http://schemas.openxmlformats.org/drawingml/2006/main">
            <a:off x="9473184" y="1161288"/>
            <a:ext cx="211226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C23737"/>
                </a:solidFill>
                <a:latin typeface="Meiryo"/>
                <a:ea typeface="Meiryo"/>
                <a:cs typeface="Meiryo"/>
              </a:defRPr>
            </a:pPr>
            <a:r>
              <a:t>総費用差</a:t>
            </a:r>
          </a:p>
        </p:txBody>
      </p:sp>
      <p:sp>
        <p:nvSpPr>
          <p:cNvPr id="12" name="TextBox 11">
            <a:extLst xmlns:a="http://schemas.openxmlformats.org/drawingml/2006/main">
              <a:ext uri="{FF2B5EF4-FFF2-40B4-BE49-F238E27FC236}">
                <a16:creationId xmlns:a16="http://schemas.microsoft.com/office/drawing/2014/main" id="{6D5B4DF7-9F1E-4817-B876-B2C9639DC58A}"/>
              </a:ext>
            </a:extLst>
          </p:cNvPr>
          <p:cNvSpPr>
            <a:spLocks xmlns:a="http://schemas.openxmlformats.org/drawingml/2006/main" noGrp="1"/>
          </p:cNvSpPr>
          <p:nvPr/>
        </p:nvSpPr>
        <p:spPr>
          <a:xfrm xmlns:a="http://schemas.openxmlformats.org/drawingml/2006/main">
            <a:off x="9473184" y="1499616"/>
            <a:ext cx="211226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+9,479円</a:t>
            </a:r>
          </a:p>
        </p:txBody>
      </p:sp>
      <p:sp>
        <p:nvSpPr>
          <p:cNvPr id="13" name="TextBox 12">
            <a:extLst xmlns:a="http://schemas.openxmlformats.org/drawingml/2006/main">
              <a:ext uri="{FF2B5EF4-FFF2-40B4-BE49-F238E27FC236}">
                <a16:creationId xmlns:a16="http://schemas.microsoft.com/office/drawing/2014/main" id="{6E6B8214-14C7-4F91-AF25-B6675BCDF232}"/>
              </a:ext>
            </a:extLst>
          </p:cNvPr>
          <p:cNvSpPr>
            <a:spLocks xmlns:a="http://schemas.openxmlformats.org/drawingml/2006/main" noGrp="1"/>
          </p:cNvSpPr>
          <p:nvPr/>
        </p:nvSpPr>
        <p:spPr>
          <a:xfrm xmlns:a="http://schemas.openxmlformats.org/drawingml/2006/main">
            <a:off x="9473184" y="2084832"/>
            <a:ext cx="2112264"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雨天は晴天比 +1.33%</a:t>
            </a:r>
          </a:p>
        </p:txBody>
      </p:sp>
      <p:sp>
        <p:nvSpPr>
          <p:cNvPr id="14" name="TextBox 13">
            <a:extLst xmlns:a="http://schemas.openxmlformats.org/drawingml/2006/main">
              <a:ext uri="{FF2B5EF4-FFF2-40B4-BE49-F238E27FC236}">
                <a16:creationId xmlns:a16="http://schemas.microsoft.com/office/drawing/2014/main" id="{39EC0039-535D-4AB0-B7CC-F26D8EC24595}"/>
              </a:ext>
            </a:extLst>
          </p:cNvPr>
          <p:cNvSpPr>
            <a:spLocks xmlns:a="http://schemas.openxmlformats.org/drawingml/2006/main" noGrp="1"/>
          </p:cNvSpPr>
          <p:nvPr/>
        </p:nvSpPr>
        <p:spPr>
          <a:xfrm xmlns:a="http://schemas.openxmlformats.org/drawingml/2006/main">
            <a:off x="9491472" y="2788920"/>
            <a:ext cx="2075688" cy="9144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500" b="1">
                <a:solidFill>
                  <a:srgbClr val="191F24"/>
                </a:solidFill>
                <a:latin typeface="Meiryo"/>
                <a:ea typeface="Meiryo"/>
                <a:cs typeface="Meiryo"/>
              </a:defRPr>
            </a:pPr>
            <a:r>
              <a:t>主な増加要因</a:t>
            </a:r>
            <a:br/>
            <a:r>
              <a:t>燃料 +8,339円</a:t>
            </a:r>
            <a:br/>
            <a:r>
              <a:t>需要料金 +992円</a:t>
            </a:r>
          </a:p>
        </p:txBody>
      </p:sp>
      <p:sp>
        <p:nvSpPr>
          <p:cNvPr id="15" name="TextBox 14">
            <a:extLst xmlns:a="http://schemas.openxmlformats.org/drawingml/2006/main">
              <a:ext uri="{FF2B5EF4-FFF2-40B4-BE49-F238E27FC236}">
                <a16:creationId xmlns:a16="http://schemas.microsoft.com/office/drawing/2014/main" id="{F8EEAB2E-CB8E-4230-BBBF-55AA186F691E}"/>
              </a:ext>
            </a:extLst>
          </p:cNvPr>
          <p:cNvSpPr>
            <a:spLocks xmlns:a="http://schemas.openxmlformats.org/drawingml/2006/main" noGrp="1"/>
          </p:cNvSpPr>
          <p:nvPr/>
        </p:nvSpPr>
        <p:spPr>
          <a:xfrm xmlns:a="http://schemas.openxmlformats.org/drawingml/2006/main">
            <a:off x="9491472" y="4087368"/>
            <a:ext cx="2075688" cy="6858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003667"/>
                </a:solidFill>
                <a:latin typeface="Meiryo"/>
                <a:ea typeface="Meiryo"/>
                <a:cs typeface="Meiryo"/>
              </a:defRPr>
            </a:pPr>
            <a:r>
              <a:t>電力費はほぼ同額</a:t>
            </a:r>
            <a:br/>
            <a:r>
              <a:t>EV便数の差とピーク時刻を同時に見る必要</a:t>
            </a:r>
          </a:p>
        </p:txBody>
      </p:sp>
      <p:sp>
        <p:nvSpPr>
          <p:cNvPr id="16" name="Rectangle 15">
            <a:extLst xmlns:a="http://schemas.openxmlformats.org/drawingml/2006/main">
              <a:ext uri="{FF2B5EF4-FFF2-40B4-BE49-F238E27FC236}">
                <a16:creationId xmlns:a16="http://schemas.microsoft.com/office/drawing/2014/main" id="{6F3C676B-CF80-4A82-8C02-991E3CB4D419}"/>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EADB1E54-166B-4C09-A4FC-B08B51B7A26C}"/>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要点｜雨天コスト増の中心は、EV便減少による燃料費と高い系統ピークによる需要料金。</a:t>
            </a:r>
          </a:p>
        </p:txBody>
      </p:sp>
    </p:spTree>
    <p:extLst>
      <p:ext uri="{BB962C8B-B14F-4D97-AF65-F5344CB8AC3E}">
        <p14:creationId xmlns:p14="http://schemas.microsoft.com/office/powerpoint/2010/main" val="11540665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5E9CCAB-08D7-44F5-AD47-3005F0F76464}"/>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まとめと次の検証</a:t>
            </a:r>
          </a:p>
        </p:txBody>
      </p:sp>
      <p:sp>
        <p:nvSpPr>
          <p:cNvPr id="3" name="Connector 2">
            <a:extLst xmlns:a="http://schemas.openxmlformats.org/drawingml/2006/main">
              <a:ext uri="{FF2B5EF4-FFF2-40B4-BE49-F238E27FC236}">
                <a16:creationId xmlns:a16="http://schemas.microsoft.com/office/drawing/2014/main" id="{8A2E4404-D842-484F-B44A-369B363A63F4}"/>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A4AED936-3FA1-43ED-9316-FB6315EDF9B3}"/>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01DF229F-29AC-4C72-BB79-56C338475F22}"/>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824B35F-EC47-4DB0-97DC-46D3AE939B3C}"/>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92BF5EDF-842F-446C-9B2A-5C79317203C7}"/>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2DA784D4-D773-4952-B6C8-0ADCBA661D10}"/>
              </a:ext>
            </a:extLst>
          </p:cNvPr>
          <p:cNvSpPr>
            <a:spLocks xmlns:a="http://schemas.openxmlformats.org/drawingml/2006/main" noGrp="1"/>
          </p:cNvSpPr>
          <p:nvPr/>
        </p:nvSpPr>
        <p:spPr>
          <a:xfrm xmlns:a="http://schemas.openxmlformats.org/drawingml/2006/main">
            <a:off x="274320" y="6565392"/>
            <a:ext cx="11612880" cy="2011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EVバスPhase 3進捗　2026-07-16　18/18</a:t>
            </a:r>
          </a:p>
        </p:txBody>
      </p:sp>
      <p:sp>
        <p:nvSpPr>
          <p:cNvPr id="9" name="Rectangle 8">
            <a:extLst xmlns:a="http://schemas.openxmlformats.org/drawingml/2006/main">
              <a:ext uri="{FF2B5EF4-FFF2-40B4-BE49-F238E27FC236}">
                <a16:creationId xmlns:a16="http://schemas.microsoft.com/office/drawing/2014/main" id="{70B74F9F-1C55-4799-A3E7-64C1126ED0FB}"/>
              </a:ext>
            </a:extLst>
          </p:cNvPr>
          <p:cNvSpPr>
            <a:spLocks xmlns:a="http://schemas.openxmlformats.org/drawingml/2006/main" noGrp="1"/>
          </p:cNvSpPr>
          <p:nvPr/>
        </p:nvSpPr>
        <p:spPr>
          <a:xfrm xmlns:a="http://schemas.openxmlformats.org/drawingml/2006/main">
            <a:off x="438912" y="914400"/>
            <a:ext cx="5532120" cy="4553712"/>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06D81D6E-C9D1-4460-9B5C-D4A755FEFFBF}"/>
              </a:ext>
            </a:extLst>
          </p:cNvPr>
          <p:cNvSpPr>
            <a:spLocks xmlns:a="http://schemas.openxmlformats.org/drawingml/2006/main" noGrp="1"/>
          </p:cNvSpPr>
          <p:nvPr/>
        </p:nvSpPr>
        <p:spPr>
          <a:xfrm xmlns:a="http://schemas.openxmlformats.org/drawingml/2006/main">
            <a:off x="694944" y="1170432"/>
            <a:ext cx="5010912"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003667"/>
                </a:solidFill>
                <a:latin typeface="Meiryo"/>
                <a:ea typeface="Meiryo"/>
                <a:cs typeface="Meiryo"/>
              </a:defRPr>
            </a:pPr>
            <a:r>
              <a:t>今回答えられること</a:t>
            </a:r>
          </a:p>
        </p:txBody>
      </p:sp>
      <p:sp>
        <p:nvSpPr>
          <p:cNvPr id="11" name="TextBox 10">
            <a:extLst xmlns:a="http://schemas.openxmlformats.org/drawingml/2006/main">
              <a:ext uri="{FF2B5EF4-FFF2-40B4-BE49-F238E27FC236}">
                <a16:creationId xmlns:a16="http://schemas.microsoft.com/office/drawing/2014/main" id="{BC46A7AE-73F4-41ED-84A6-2E0927F10000}"/>
              </a:ext>
            </a:extLst>
          </p:cNvPr>
          <p:cNvSpPr>
            <a:spLocks xmlns:a="http://schemas.openxmlformats.org/drawingml/2006/main" noGrp="1"/>
          </p:cNvSpPr>
          <p:nvPr/>
        </p:nvSpPr>
        <p:spPr>
          <a:xfrm xmlns:a="http://schemas.openxmlformats.org/drawingml/2006/main">
            <a:off x="749808" y="1755648"/>
            <a:ext cx="4901184" cy="3063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520">
                <a:solidFill>
                  <a:srgbClr val="191F24"/>
                </a:solidFill>
                <a:latin typeface="Meiryo"/>
                <a:ea typeface="Meiryo"/>
                <a:cs typeface="Meiryo"/>
              </a:defRPr>
            </a:pPr>
            <a:r>
              <a:t>● </a:t>
            </a:r>
            <a:r>
              <a:t>終端300 kWhは晴雨比較用の境界条件</a:t>
            </a:r>
          </a:p>
          <a:p xmlns:a="http://schemas.openxmlformats.org/drawingml/2006/main">
            <a:pPr>
              <a:spcAft>
                <a:spcPts val="900"/>
              </a:spcAft>
              <a:buNone/>
              <a:defRPr sz="1520">
                <a:solidFill>
                  <a:srgbClr val="191F24"/>
                </a:solidFill>
                <a:latin typeface="Meiryo"/>
                <a:ea typeface="Meiryo"/>
                <a:cs typeface="Meiryo"/>
              </a:defRPr>
            </a:pPr>
            <a:r>
              <a:t>● 晴天でもEVは16/35台で、全車使用ではない</a:t>
            </a:r>
          </a:p>
          <a:p xmlns:a="http://schemas.openxmlformats.org/drawingml/2006/main">
            <a:pPr>
              <a:spcAft>
                <a:spcPts val="900"/>
              </a:spcAft>
              <a:buNone/>
              <a:defRPr sz="1520">
                <a:solidFill>
                  <a:srgbClr val="191F24"/>
                </a:solidFill>
                <a:latin typeface="Meiryo"/>
                <a:ea typeface="Meiryo"/>
                <a:cs typeface="Meiryo"/>
              </a:defRPr>
            </a:pPr>
            <a:r>
              <a:t>● PV・充電源・BESSの需給式は許容誤差内</a:t>
            </a:r>
          </a:p>
          <a:p xmlns:a="http://schemas.openxmlformats.org/drawingml/2006/main">
            <a:pPr>
              <a:spcAft>
                <a:spcPts val="900"/>
              </a:spcAft>
              <a:buNone/>
              <a:defRPr sz="1520">
                <a:solidFill>
                  <a:srgbClr val="191F24"/>
                </a:solidFill>
                <a:latin typeface="Meiryo"/>
                <a:ea typeface="Meiryo"/>
                <a:cs typeface="Meiryo"/>
              </a:defRPr>
            </a:pPr>
            <a:r>
              <a:t>● 燃料費は営業＋便間回送距離と整合</a:t>
            </a:r>
          </a:p>
          <a:p xmlns:a="http://schemas.openxmlformats.org/drawingml/2006/main">
            <a:pPr>
              <a:spcAft>
                <a:spcPts val="900"/>
              </a:spcAft>
              <a:buNone/>
              <a:defRPr sz="1520">
                <a:solidFill>
                  <a:srgbClr val="191F24"/>
                </a:solidFill>
                <a:latin typeface="Meiryo"/>
                <a:ea typeface="Meiryo"/>
                <a:cs typeface="Meiryo"/>
              </a:defRPr>
            </a:pPr>
            <a:r>
              <a:t>● </a:t>
            </a:r>
            <a:r>
              <a:t>毎時再最適化は約2.0秒、5→6時連鎖も可行</a:t>
            </a:r>
          </a:p>
        </p:txBody>
      </p:sp>
      <p:sp>
        <p:nvSpPr>
          <p:cNvPr id="12" name="Rectangle 11">
            <a:extLst xmlns:a="http://schemas.openxmlformats.org/drawingml/2006/main">
              <a:ext uri="{FF2B5EF4-FFF2-40B4-BE49-F238E27FC236}">
                <a16:creationId xmlns:a16="http://schemas.microsoft.com/office/drawing/2014/main" id="{DD5CB5D7-5BFF-4B13-ADAD-2405161ADC62}"/>
              </a:ext>
            </a:extLst>
          </p:cNvPr>
          <p:cNvSpPr>
            <a:spLocks xmlns:a="http://schemas.openxmlformats.org/drawingml/2006/main" noGrp="1"/>
          </p:cNvSpPr>
          <p:nvPr/>
        </p:nvSpPr>
        <p:spPr>
          <a:xfrm xmlns:a="http://schemas.openxmlformats.org/drawingml/2006/main">
            <a:off x="6236208" y="914400"/>
            <a:ext cx="5513832" cy="4553712"/>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5F3B2F3-6DFC-49BF-B35C-ABDD02EDC9E1}"/>
              </a:ext>
            </a:extLst>
          </p:cNvPr>
          <p:cNvSpPr>
            <a:spLocks xmlns:a="http://schemas.openxmlformats.org/drawingml/2006/main" noGrp="1"/>
          </p:cNvSpPr>
          <p:nvPr/>
        </p:nvSpPr>
        <p:spPr>
          <a:xfrm xmlns:a="http://schemas.openxmlformats.org/drawingml/2006/main">
            <a:off x="6492240" y="1170432"/>
            <a:ext cx="5001768"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003667"/>
                </a:solidFill>
                <a:latin typeface="Meiryo"/>
                <a:ea typeface="Meiryo"/>
                <a:cs typeface="Meiryo"/>
              </a:defRPr>
            </a:pPr>
            <a:r>
              <a:t>今後の検証課題</a:t>
            </a:r>
          </a:p>
        </p:txBody>
      </p:sp>
      <p:sp>
        <p:nvSpPr>
          <p:cNvPr id="14" name="TextBox 13">
            <a:extLst xmlns:a="http://schemas.openxmlformats.org/drawingml/2006/main">
              <a:ext uri="{FF2B5EF4-FFF2-40B4-BE49-F238E27FC236}">
                <a16:creationId xmlns:a16="http://schemas.microsoft.com/office/drawing/2014/main" id="{25B9C990-CA6E-4E8C-BE18-B6182AAE2AAD}"/>
              </a:ext>
            </a:extLst>
          </p:cNvPr>
          <p:cNvSpPr>
            <a:spLocks xmlns:a="http://schemas.openxmlformats.org/drawingml/2006/main" noGrp="1"/>
          </p:cNvSpPr>
          <p:nvPr/>
        </p:nvSpPr>
        <p:spPr>
          <a:xfrm xmlns:a="http://schemas.openxmlformats.org/drawingml/2006/main">
            <a:off x="6547104" y="1755648"/>
            <a:ext cx="4882896" cy="3063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520">
                <a:solidFill>
                  <a:srgbClr val="191F24"/>
                </a:solidFill>
                <a:latin typeface="Meiryo"/>
                <a:ea typeface="Meiryo"/>
                <a:cs typeface="Meiryo"/>
              </a:defRPr>
            </a:pPr>
            <a:r>
              <a:t>● </a:t>
            </a:r>
            <a:r>
              <a:t>24回の毎時状態を連鎖し、予測誤差も検証</a:t>
            </a:r>
          </a:p>
          <a:p xmlns:a="http://schemas.openxmlformats.org/drawingml/2006/main">
            <a:pPr>
              <a:spcAft>
                <a:spcPts val="900"/>
              </a:spcAft>
              <a:buNone/>
              <a:defRPr sz="1520">
                <a:solidFill>
                  <a:srgbClr val="191F24"/>
                </a:solidFill>
                <a:latin typeface="Meiryo"/>
                <a:ea typeface="Meiryo"/>
                <a:cs typeface="Meiryo"/>
              </a:defRPr>
            </a:pPr>
            <a:r>
              <a:t>● </a:t>
            </a:r>
            <a:r>
              <a:t>複数日化し、BESS終端エネルギー価値を評価</a:t>
            </a:r>
          </a:p>
          <a:p xmlns:a="http://schemas.openxmlformats.org/drawingml/2006/main">
            <a:pPr>
              <a:spcAft>
                <a:spcPts val="900"/>
              </a:spcAft>
              <a:buNone/>
              <a:defRPr sz="1520">
                <a:solidFill>
                  <a:srgbClr val="191F24"/>
                </a:solidFill>
                <a:latin typeface="Meiryo"/>
                <a:ea typeface="Meiryo"/>
                <a:cs typeface="Meiryo"/>
              </a:defRPr>
            </a:pPr>
            <a:r>
              <a:t>● </a:t>
            </a:r>
            <a:r>
              <a:t>clean版で晴雨を再実行し、gap・seedを確認</a:t>
            </a:r>
          </a:p>
          <a:p xmlns:a="http://schemas.openxmlformats.org/drawingml/2006/main">
            <a:pPr>
              <a:spcAft>
                <a:spcPts val="900"/>
              </a:spcAft>
              <a:buNone/>
              <a:defRPr sz="1520">
                <a:solidFill>
                  <a:srgbClr val="191F24"/>
                </a:solidFill>
                <a:latin typeface="Meiryo"/>
                <a:ea typeface="Meiryo"/>
                <a:cs typeface="Meiryo"/>
              </a:defRPr>
            </a:pPr>
            <a:r>
              <a:t>● </a:t>
            </a:r>
            <a:r>
              <a:t>ICE26台が正ならscenarioを修正して再計算</a:t>
            </a:r>
          </a:p>
          <a:p xmlns:a="http://schemas.openxmlformats.org/drawingml/2006/main">
            <a:pPr>
              <a:spcAft>
                <a:spcPts val="900"/>
              </a:spcAft>
              <a:buNone/>
              <a:defRPr sz="1520">
                <a:solidFill>
                  <a:srgbClr val="191F24"/>
                </a:solidFill>
                <a:latin typeface="Meiryo"/>
                <a:ea typeface="Meiryo"/>
                <a:cs typeface="Meiryo"/>
              </a:defRPr>
            </a:pPr>
            <a:r>
              <a:t>● </a:t>
            </a:r>
            <a:r>
              <a:t>燃料タンク・給油設備を実現台帳化</a:t>
            </a:r>
          </a:p>
        </p:txBody>
      </p:sp>
      <p:sp>
        <p:nvSpPr>
          <p:cNvPr id="15" name="Rectangle 14">
            <a:extLst xmlns:a="http://schemas.openxmlformats.org/drawingml/2006/main">
              <a:ext uri="{FF2B5EF4-FFF2-40B4-BE49-F238E27FC236}">
                <a16:creationId xmlns:a16="http://schemas.microsoft.com/office/drawing/2014/main" id="{7C904329-3AE9-470F-B691-AEE4A6A3498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A17C8D0A-891E-4DC7-B7FF-B71931344346}"/>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a:t>
            </a:r>
            <a:r>
              <a:t>日次割当は精度を確保し、毎時は充電だけ高速更新。BESS終端は研究目的に応じて設定する。</a:t>
            </a:r>
          </a:p>
        </p:txBody>
      </p:sp>
    </p:spTree>
    <p:extLst>
      <p:ext uri="{BB962C8B-B14F-4D97-AF65-F5344CB8AC3E}">
        <p14:creationId xmlns:p14="http://schemas.microsoft.com/office/powerpoint/2010/main" val="68408076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2026-07-16T10:59:46.7110000Z</dcterms:created>
  <dcterms:modified xsi:type="dcterms:W3CDTF">2026-07-16T10:59:46.7110000Z</dcterms:modified>
</coreProperties>
</file>