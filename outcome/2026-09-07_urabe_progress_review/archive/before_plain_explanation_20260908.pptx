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3.xml" ContentType="application/vnd.openxmlformats-officedocument.presentationml.notesSlide+xml"/>
  <Override PartName="/ppt/charts/chart5.xml" ContentType="application/vnd.openxmlformats-officedocument.drawingml.chart+xml"/>
  <Override PartName="/ppt/notesSlides/notesSlide2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5.xml" ContentType="application/vnd.openxmlformats-officedocument.presentationml.notesSlide+xml"/>
  <Override PartName="/ppt/charts/chart8.xml" ContentType="application/vnd.openxmlformats-officedocument.drawingml.chart+xml"/>
  <Override PartName="/ppt/notesSlides/notesSlide2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27.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3.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0" d="100"/>
          <a:sy n="120" d="100"/>
        </p:scale>
        <p:origin x="19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35.700000000000003</c:v>
                </c:pt>
                <c:pt idx="41">
                  <c:v>35.700000000000003</c:v>
                </c:pt>
                <c:pt idx="42">
                  <c:v>35.700000000000003</c:v>
                </c:pt>
                <c:pt idx="43">
                  <c:v>35.700000000000003</c:v>
                </c:pt>
                <c:pt idx="44">
                  <c:v>35.700000000000003</c:v>
                </c:pt>
                <c:pt idx="45">
                  <c:v>35.700000000000003</c:v>
                </c:pt>
                <c:pt idx="46">
                  <c:v>29.9999</c:v>
                </c:pt>
                <c:pt idx="47">
                  <c:v>29.9999</c:v>
                </c:pt>
                <c:pt idx="48">
                  <c:v>121.475843</c:v>
                </c:pt>
                <c:pt idx="49">
                  <c:v>121.475843</c:v>
                </c:pt>
                <c:pt idx="50">
                  <c:v>120.0001</c:v>
                </c:pt>
                <c:pt idx="51">
                  <c:v>120.0001</c:v>
                </c:pt>
                <c:pt idx="52">
                  <c:v>1E-4</c:v>
                </c:pt>
                <c:pt idx="53">
                  <c:v>1E-4</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1E-4</c:v>
                </c:pt>
                <c:pt idx="73">
                  <c:v>1E-4</c:v>
                </c:pt>
                <c:pt idx="74">
                  <c:v>29.996904000000001</c:v>
                </c:pt>
                <c:pt idx="75">
                  <c:v>29.996904000000001</c:v>
                </c:pt>
                <c:pt idx="76">
                  <c:v>1E-4</c:v>
                </c:pt>
                <c:pt idx="77">
                  <c:v>1E-4</c:v>
                </c:pt>
                <c:pt idx="78">
                  <c:v>1E-4</c:v>
                </c:pt>
                <c:pt idx="79">
                  <c:v>1E-4</c:v>
                </c:pt>
                <c:pt idx="80">
                  <c:v>15.985541</c:v>
                </c:pt>
                <c:pt idx="81">
                  <c:v>15.985541</c:v>
                </c:pt>
                <c:pt idx="82">
                  <c:v>1E-4</c:v>
                </c:pt>
                <c:pt idx="83">
                  <c:v>1E-4</c:v>
                </c:pt>
                <c:pt idx="84">
                  <c:v>1E-4</c:v>
                </c:pt>
                <c:pt idx="85">
                  <c:v>1E-4</c:v>
                </c:pt>
                <c:pt idx="86">
                  <c:v>1E-4</c:v>
                </c:pt>
                <c:pt idx="87">
                  <c:v>1E-4</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7883-4D65-86B6-7CF5BD6F9CE9}"/>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5.7000999999999999</c:v>
                </c:pt>
                <c:pt idx="47">
                  <c:v>5.7000999999999999</c:v>
                </c:pt>
                <c:pt idx="48">
                  <c:v>34.074157</c:v>
                </c:pt>
                <c:pt idx="49">
                  <c:v>34.074157</c:v>
                </c:pt>
                <c:pt idx="50">
                  <c:v>35.549900000000001</c:v>
                </c:pt>
                <c:pt idx="51">
                  <c:v>35.549900000000001</c:v>
                </c:pt>
                <c:pt idx="52">
                  <c:v>155.54990000000001</c:v>
                </c:pt>
                <c:pt idx="53">
                  <c:v>155.54990000000001</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191.45341500000001</c:v>
                </c:pt>
                <c:pt idx="67">
                  <c:v>191.45341500000001</c:v>
                </c:pt>
                <c:pt idx="68">
                  <c:v>505.75</c:v>
                </c:pt>
                <c:pt idx="69">
                  <c:v>505.75</c:v>
                </c:pt>
                <c:pt idx="70">
                  <c:v>0</c:v>
                </c:pt>
                <c:pt idx="71">
                  <c:v>0</c:v>
                </c:pt>
                <c:pt idx="72">
                  <c:v>1.11E-4</c:v>
                </c:pt>
                <c:pt idx="73">
                  <c:v>1.11E-4</c:v>
                </c:pt>
                <c:pt idx="74">
                  <c:v>0</c:v>
                </c:pt>
                <c:pt idx="75">
                  <c:v>0</c:v>
                </c:pt>
                <c:pt idx="76">
                  <c:v>0</c:v>
                </c:pt>
                <c:pt idx="77">
                  <c:v>0</c:v>
                </c:pt>
                <c:pt idx="78">
                  <c:v>0</c:v>
                </c:pt>
                <c:pt idx="79">
                  <c:v>0</c:v>
                </c:pt>
                <c:pt idx="80">
                  <c:v>737.11445900000001</c:v>
                </c:pt>
                <c:pt idx="81">
                  <c:v>737.11445900000001</c:v>
                </c:pt>
                <c:pt idx="82">
                  <c:v>753.09990000000005</c:v>
                </c:pt>
                <c:pt idx="83">
                  <c:v>753.09990000000005</c:v>
                </c:pt>
                <c:pt idx="84">
                  <c:v>753.09990000000005</c:v>
                </c:pt>
                <c:pt idx="85">
                  <c:v>753.09990000000005</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510.32214599999998</c:v>
                </c:pt>
                <c:pt idx="105">
                  <c:v>510.32214599999998</c:v>
                </c:pt>
                <c:pt idx="106">
                  <c:v>0</c:v>
                </c:pt>
                <c:pt idx="107">
                  <c:v>0</c:v>
                </c:pt>
                <c:pt idx="108">
                  <c:v>0</c:v>
                </c:pt>
                <c:pt idx="109">
                  <c:v>0</c:v>
                </c:pt>
                <c:pt idx="110">
                  <c:v>708.05</c:v>
                </c:pt>
                <c:pt idx="111">
                  <c:v>708.05</c:v>
                </c:pt>
                <c:pt idx="112">
                  <c:v>583.95000000000005</c:v>
                </c:pt>
                <c:pt idx="113">
                  <c:v>583.95000000000005</c:v>
                </c:pt>
                <c:pt idx="114">
                  <c:v>583.95000000000005</c:v>
                </c:pt>
                <c:pt idx="115">
                  <c:v>583.95000000000005</c:v>
                </c:pt>
                <c:pt idx="116">
                  <c:v>583.95000000000005</c:v>
                </c:pt>
                <c:pt idx="117">
                  <c:v>583.95000000000005</c:v>
                </c:pt>
                <c:pt idx="118">
                  <c:v>583.95000000000005</c:v>
                </c:pt>
                <c:pt idx="119">
                  <c:v>583.95000000000005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9.3946000000000002E-2</c:v>
                </c:pt>
                <c:pt idx="145">
                  <c:v>9.3946000000000002E-2</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7883-4D65-86B6-7CF5BD6F9CE9}"/>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329.8</c:v>
                </c:pt>
                <c:pt idx="57">
                  <c:v>329.8</c:v>
                </c:pt>
                <c:pt idx="58">
                  <c:v>329.8</c:v>
                </c:pt>
                <c:pt idx="59">
                  <c:v>329.8</c:v>
                </c:pt>
                <c:pt idx="60">
                  <c:v>329.8</c:v>
                </c:pt>
                <c:pt idx="61">
                  <c:v>329.8</c:v>
                </c:pt>
                <c:pt idx="62">
                  <c:v>329.8</c:v>
                </c:pt>
                <c:pt idx="63">
                  <c:v>329.8</c:v>
                </c:pt>
                <c:pt idx="64">
                  <c:v>0</c:v>
                </c:pt>
                <c:pt idx="65">
                  <c:v>0</c:v>
                </c:pt>
                <c:pt idx="66">
                  <c:v>314.29658499999999</c:v>
                </c:pt>
                <c:pt idx="67">
                  <c:v>314.29658499999999</c:v>
                </c:pt>
                <c:pt idx="68">
                  <c:v>0</c:v>
                </c:pt>
                <c:pt idx="69">
                  <c:v>0</c:v>
                </c:pt>
                <c:pt idx="70">
                  <c:v>505.75</c:v>
                </c:pt>
                <c:pt idx="71">
                  <c:v>505.75</c:v>
                </c:pt>
                <c:pt idx="72">
                  <c:v>660.44978900000001</c:v>
                </c:pt>
                <c:pt idx="73">
                  <c:v>660.44978900000001</c:v>
                </c:pt>
                <c:pt idx="74">
                  <c:v>630.45309599999996</c:v>
                </c:pt>
                <c:pt idx="75">
                  <c:v>630.45309599999996</c:v>
                </c:pt>
                <c:pt idx="76">
                  <c:v>660.44989999999996</c:v>
                </c:pt>
                <c:pt idx="77">
                  <c:v>660.44989999999996</c:v>
                </c:pt>
                <c:pt idx="78">
                  <c:v>660.44989999999996</c:v>
                </c:pt>
                <c:pt idx="79">
                  <c:v>660.44989999999996</c:v>
                </c:pt>
                <c:pt idx="80">
                  <c:v>0</c:v>
                </c:pt>
                <c:pt idx="81">
                  <c:v>0</c:v>
                </c:pt>
                <c:pt idx="82">
                  <c:v>0</c:v>
                </c:pt>
                <c:pt idx="83">
                  <c:v>0</c:v>
                </c:pt>
                <c:pt idx="84">
                  <c:v>0</c:v>
                </c:pt>
                <c:pt idx="85">
                  <c:v>0</c:v>
                </c:pt>
                <c:pt idx="86">
                  <c:v>753.09990000000005</c:v>
                </c:pt>
                <c:pt idx="87">
                  <c:v>753.09990000000005</c:v>
                </c:pt>
                <c:pt idx="88">
                  <c:v>800.7</c:v>
                </c:pt>
                <c:pt idx="89">
                  <c:v>800.7</c:v>
                </c:pt>
                <c:pt idx="90">
                  <c:v>800.7</c:v>
                </c:pt>
                <c:pt idx="91">
                  <c:v>800.7</c:v>
                </c:pt>
                <c:pt idx="92">
                  <c:v>800.7</c:v>
                </c:pt>
                <c:pt idx="93">
                  <c:v>800.7</c:v>
                </c:pt>
                <c:pt idx="94">
                  <c:v>800.7</c:v>
                </c:pt>
                <c:pt idx="95">
                  <c:v>800.7</c:v>
                </c:pt>
                <c:pt idx="96">
                  <c:v>783.7</c:v>
                </c:pt>
                <c:pt idx="97">
                  <c:v>783.7</c:v>
                </c:pt>
                <c:pt idx="98">
                  <c:v>783.7</c:v>
                </c:pt>
                <c:pt idx="99">
                  <c:v>783.7</c:v>
                </c:pt>
                <c:pt idx="100">
                  <c:v>783.7</c:v>
                </c:pt>
                <c:pt idx="101">
                  <c:v>783.7</c:v>
                </c:pt>
                <c:pt idx="102">
                  <c:v>783.7</c:v>
                </c:pt>
                <c:pt idx="103">
                  <c:v>783.7</c:v>
                </c:pt>
                <c:pt idx="104">
                  <c:v>197.72785400000001</c:v>
                </c:pt>
                <c:pt idx="105">
                  <c:v>197.72785400000001</c:v>
                </c:pt>
                <c:pt idx="106">
                  <c:v>708.05</c:v>
                </c:pt>
                <c:pt idx="107">
                  <c:v>708.05</c:v>
                </c:pt>
                <c:pt idx="108">
                  <c:v>708.05</c:v>
                </c:pt>
                <c:pt idx="109">
                  <c:v>708.05</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9.2560540000000007</c:v>
                </c:pt>
                <c:pt idx="145">
                  <c:v>9.2560540000000007</c:v>
                </c:pt>
                <c:pt idx="146">
                  <c:v>9.35</c:v>
                </c:pt>
                <c:pt idx="147">
                  <c:v>9.35</c:v>
                </c:pt>
                <c:pt idx="148">
                  <c:v>9.35</c:v>
                </c:pt>
                <c:pt idx="149">
                  <c:v>9.35</c:v>
                </c:pt>
                <c:pt idx="150">
                  <c:v>9.35</c:v>
                </c:pt>
                <c:pt idx="151">
                  <c:v>9.35</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7883-4D65-86B6-7CF5BD6F9CE9}"/>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10.199999999999999</c:v>
                </c:pt>
                <c:pt idx="41">
                  <c:v>10.199999999999999</c:v>
                </c:pt>
                <c:pt idx="42">
                  <c:v>10.199999999999999</c:v>
                </c:pt>
                <c:pt idx="43">
                  <c:v>10.199999999999999</c:v>
                </c:pt>
                <c:pt idx="44">
                  <c:v>10.199999999999999</c:v>
                </c:pt>
                <c:pt idx="45">
                  <c:v>10.199999999999999</c:v>
                </c:pt>
                <c:pt idx="46">
                  <c:v>10.199999999999999</c:v>
                </c:pt>
                <c:pt idx="47">
                  <c:v>10.199999999999999</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16.055396999999999</c:v>
                </c:pt>
                <c:pt idx="83">
                  <c:v>16.055396999999999</c:v>
                </c:pt>
                <c:pt idx="84">
                  <c:v>60.000100000000003</c:v>
                </c:pt>
                <c:pt idx="85">
                  <c:v>60.000100000000003</c:v>
                </c:pt>
                <c:pt idx="86">
                  <c:v>16.055296999999999</c:v>
                </c:pt>
                <c:pt idx="87">
                  <c:v>16.055296999999999</c:v>
                </c:pt>
                <c:pt idx="88">
                  <c:v>60</c:v>
                </c:pt>
                <c:pt idx="89">
                  <c:v>60</c:v>
                </c:pt>
                <c:pt idx="90">
                  <c:v>1E-4</c:v>
                </c:pt>
                <c:pt idx="91">
                  <c:v>1E-4</c:v>
                </c:pt>
                <c:pt idx="92">
                  <c:v>1E-4</c:v>
                </c:pt>
                <c:pt idx="93">
                  <c:v>1E-4</c:v>
                </c:pt>
                <c:pt idx="94">
                  <c:v>1E-4</c:v>
                </c:pt>
                <c:pt idx="95">
                  <c:v>1E-4</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1E-4</c:v>
                </c:pt>
                <c:pt idx="113">
                  <c:v>1E-4</c:v>
                </c:pt>
                <c:pt idx="114">
                  <c:v>0</c:v>
                </c:pt>
                <c:pt idx="115">
                  <c:v>0</c:v>
                </c:pt>
                <c:pt idx="116">
                  <c:v>1E-4</c:v>
                </c:pt>
                <c:pt idx="117">
                  <c:v>1E-4</c:v>
                </c:pt>
                <c:pt idx="118">
                  <c:v>0</c:v>
                </c:pt>
                <c:pt idx="119">
                  <c:v>0</c:v>
                </c:pt>
                <c:pt idx="120">
                  <c:v>30</c:v>
                </c:pt>
                <c:pt idx="121">
                  <c:v>30</c:v>
                </c:pt>
                <c:pt idx="122">
                  <c:v>0</c:v>
                </c:pt>
                <c:pt idx="123">
                  <c:v>0</c:v>
                </c:pt>
                <c:pt idx="124">
                  <c:v>3.6676039999999999</c:v>
                </c:pt>
                <c:pt idx="125">
                  <c:v>3.6676039999999999</c:v>
                </c:pt>
                <c:pt idx="126">
                  <c:v>0</c:v>
                </c:pt>
                <c:pt idx="127">
                  <c:v>0</c:v>
                </c:pt>
                <c:pt idx="128">
                  <c:v>0</c:v>
                </c:pt>
                <c:pt idx="129">
                  <c:v>0</c:v>
                </c:pt>
                <c:pt idx="130">
                  <c:v>30</c:v>
                </c:pt>
                <c:pt idx="131">
                  <c:v>30</c:v>
                </c:pt>
                <c:pt idx="132">
                  <c:v>0</c:v>
                </c:pt>
                <c:pt idx="133">
                  <c:v>0</c:v>
                </c:pt>
                <c:pt idx="134">
                  <c:v>29.9999</c:v>
                </c:pt>
                <c:pt idx="135">
                  <c:v>29.9999</c:v>
                </c:pt>
                <c:pt idx="136">
                  <c:v>1E-4</c:v>
                </c:pt>
                <c:pt idx="137">
                  <c:v>1E-4</c:v>
                </c:pt>
                <c:pt idx="138">
                  <c:v>1E-4</c:v>
                </c:pt>
                <c:pt idx="139">
                  <c:v>1E-4</c:v>
                </c:pt>
                <c:pt idx="140">
                  <c:v>27.199300000000001</c:v>
                </c:pt>
                <c:pt idx="141">
                  <c:v>27.199300000000001</c:v>
                </c:pt>
                <c:pt idx="142">
                  <c:v>1E-4</c:v>
                </c:pt>
                <c:pt idx="143">
                  <c:v>1E-4</c:v>
                </c:pt>
                <c:pt idx="144">
                  <c:v>1E-4</c:v>
                </c:pt>
                <c:pt idx="145">
                  <c:v>1E-4</c:v>
                </c:pt>
                <c:pt idx="146">
                  <c:v>1E-4</c:v>
                </c:pt>
                <c:pt idx="147">
                  <c:v>1E-4</c:v>
                </c:pt>
                <c:pt idx="148">
                  <c:v>1E-4</c:v>
                </c:pt>
                <c:pt idx="149">
                  <c:v>1E-4</c:v>
                </c:pt>
                <c:pt idx="150">
                  <c:v>1E-4</c:v>
                </c:pt>
                <c:pt idx="151">
                  <c:v>1E-4</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99F-40A1-8D1A-31121F74E252}"/>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43.857895999999997</c:v>
                </c:pt>
                <c:pt idx="53">
                  <c:v>43.857895999999997</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68.944603000000001</c:v>
                </c:pt>
                <c:pt idx="83">
                  <c:v>68.944603000000001</c:v>
                </c:pt>
                <c:pt idx="84">
                  <c:v>24.9999</c:v>
                </c:pt>
                <c:pt idx="85">
                  <c:v>24.9999</c:v>
                </c:pt>
                <c:pt idx="86">
                  <c:v>68.944703000000004</c:v>
                </c:pt>
                <c:pt idx="87">
                  <c:v>68.944703000000004</c:v>
                </c:pt>
                <c:pt idx="88">
                  <c:v>66.650000000000006</c:v>
                </c:pt>
                <c:pt idx="89">
                  <c:v>66.650000000000006</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85.582396000000003</c:v>
                </c:pt>
                <c:pt idx="125">
                  <c:v>85.582396000000003</c:v>
                </c:pt>
                <c:pt idx="126">
                  <c:v>89.25</c:v>
                </c:pt>
                <c:pt idx="127">
                  <c:v>89.25</c:v>
                </c:pt>
                <c:pt idx="128">
                  <c:v>58.65</c:v>
                </c:pt>
                <c:pt idx="129">
                  <c:v>58.65</c:v>
                </c:pt>
                <c:pt idx="130">
                  <c:v>28.65</c:v>
                </c:pt>
                <c:pt idx="131">
                  <c:v>28.65</c:v>
                </c:pt>
                <c:pt idx="132">
                  <c:v>58.65</c:v>
                </c:pt>
                <c:pt idx="133">
                  <c:v>58.65</c:v>
                </c:pt>
                <c:pt idx="134">
                  <c:v>28.650099999999998</c:v>
                </c:pt>
                <c:pt idx="135">
                  <c:v>28.650099999999998</c:v>
                </c:pt>
                <c:pt idx="136">
                  <c:v>27.1999</c:v>
                </c:pt>
                <c:pt idx="137">
                  <c:v>27.1999</c:v>
                </c:pt>
                <c:pt idx="138">
                  <c:v>27.1999</c:v>
                </c:pt>
                <c:pt idx="139">
                  <c:v>27.1999</c:v>
                </c:pt>
                <c:pt idx="140">
                  <c:v>6.9999999999999999E-4</c:v>
                </c:pt>
                <c:pt idx="141">
                  <c:v>6.9999999999999999E-4</c:v>
                </c:pt>
                <c:pt idx="142">
                  <c:v>27.1999</c:v>
                </c:pt>
                <c:pt idx="143">
                  <c:v>27.1999</c:v>
                </c:pt>
                <c:pt idx="144">
                  <c:v>2.5499000000000001</c:v>
                </c:pt>
                <c:pt idx="145">
                  <c:v>2.5499000000000001</c:v>
                </c:pt>
                <c:pt idx="146">
                  <c:v>2.5499000000000001</c:v>
                </c:pt>
                <c:pt idx="147">
                  <c:v>2.5499000000000001</c:v>
                </c:pt>
                <c:pt idx="148">
                  <c:v>2.5499000000000001</c:v>
                </c:pt>
                <c:pt idx="149">
                  <c:v>2.5499000000000001</c:v>
                </c:pt>
                <c:pt idx="150">
                  <c:v>2.5499000000000001</c:v>
                </c:pt>
                <c:pt idx="151">
                  <c:v>2.5499000000000001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F99F-40A1-8D1A-31121F74E252}"/>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F99F-40A1-8D1A-31121F74E252}"/>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35.700000000000003</c:v>
                </c:pt>
                <c:pt idx="41">
                  <c:v>35.700000000000003</c:v>
                </c:pt>
                <c:pt idx="42">
                  <c:v>35.700000000000003</c:v>
                </c:pt>
                <c:pt idx="43">
                  <c:v>35.700000000000003</c:v>
                </c:pt>
                <c:pt idx="44">
                  <c:v>35.700000000000003</c:v>
                </c:pt>
                <c:pt idx="45">
                  <c:v>35.700000000000003</c:v>
                </c:pt>
                <c:pt idx="46">
                  <c:v>29.9999</c:v>
                </c:pt>
                <c:pt idx="47">
                  <c:v>29.9999</c:v>
                </c:pt>
                <c:pt idx="48">
                  <c:v>121.475843</c:v>
                </c:pt>
                <c:pt idx="49">
                  <c:v>121.475843</c:v>
                </c:pt>
                <c:pt idx="50">
                  <c:v>120.0001</c:v>
                </c:pt>
                <c:pt idx="51">
                  <c:v>120.0001</c:v>
                </c:pt>
                <c:pt idx="52">
                  <c:v>1E-4</c:v>
                </c:pt>
                <c:pt idx="53">
                  <c:v>1E-4</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1E-4</c:v>
                </c:pt>
                <c:pt idx="73">
                  <c:v>1E-4</c:v>
                </c:pt>
                <c:pt idx="74">
                  <c:v>29.996904000000001</c:v>
                </c:pt>
                <c:pt idx="75">
                  <c:v>29.996904000000001</c:v>
                </c:pt>
                <c:pt idx="76">
                  <c:v>1E-4</c:v>
                </c:pt>
                <c:pt idx="77">
                  <c:v>1E-4</c:v>
                </c:pt>
                <c:pt idx="78">
                  <c:v>1E-4</c:v>
                </c:pt>
                <c:pt idx="79">
                  <c:v>1E-4</c:v>
                </c:pt>
                <c:pt idx="80">
                  <c:v>15.985541</c:v>
                </c:pt>
                <c:pt idx="81">
                  <c:v>15.985541</c:v>
                </c:pt>
                <c:pt idx="82">
                  <c:v>1E-4</c:v>
                </c:pt>
                <c:pt idx="83">
                  <c:v>1E-4</c:v>
                </c:pt>
                <c:pt idx="84">
                  <c:v>1E-4</c:v>
                </c:pt>
                <c:pt idx="85">
                  <c:v>1E-4</c:v>
                </c:pt>
                <c:pt idx="86">
                  <c:v>1E-4</c:v>
                </c:pt>
                <c:pt idx="87">
                  <c:v>1E-4</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623B-4A0D-9061-6A86C4F70476}"/>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398.29940599999998</c:v>
                </c:pt>
                <c:pt idx="3">
                  <c:v>398.29940599999998</c:v>
                </c:pt>
                <c:pt idx="4">
                  <c:v>504.435136</c:v>
                </c:pt>
                <c:pt idx="5">
                  <c:v>504.435136</c:v>
                </c:pt>
                <c:pt idx="6">
                  <c:v>487.76072499999998</c:v>
                </c:pt>
                <c:pt idx="7">
                  <c:v>487.76072499999998</c:v>
                </c:pt>
                <c:pt idx="8">
                  <c:v>450.61163299999998</c:v>
                </c:pt>
                <c:pt idx="9">
                  <c:v>450.61163299999998</c:v>
                </c:pt>
                <c:pt idx="10">
                  <c:v>473.91001199999999</c:v>
                </c:pt>
                <c:pt idx="11">
                  <c:v>473.91001199999999</c:v>
                </c:pt>
                <c:pt idx="12">
                  <c:v>480.00040000000001</c:v>
                </c:pt>
                <c:pt idx="13">
                  <c:v>480.00040000000001</c:v>
                </c:pt>
                <c:pt idx="14">
                  <c:v>586.11146599999995</c:v>
                </c:pt>
                <c:pt idx="15">
                  <c:v>586.11146599999995</c:v>
                </c:pt>
                <c:pt idx="16">
                  <c:v>285.30003099999999</c:v>
                </c:pt>
                <c:pt idx="17">
                  <c:v>285.30003099999999</c:v>
                </c:pt>
                <c:pt idx="18">
                  <c:v>297.21764100000001</c:v>
                </c:pt>
                <c:pt idx="19">
                  <c:v>297.21764100000001</c:v>
                </c:pt>
                <c:pt idx="20">
                  <c:v>359.67336499999999</c:v>
                </c:pt>
                <c:pt idx="21">
                  <c:v>359.67336499999999</c:v>
                </c:pt>
                <c:pt idx="22">
                  <c:v>227.13475</c:v>
                </c:pt>
                <c:pt idx="23">
                  <c:v>227.13475</c:v>
                </c:pt>
                <c:pt idx="24">
                  <c:v>402.56639799999999</c:v>
                </c:pt>
                <c:pt idx="25">
                  <c:v>402.56639799999999</c:v>
                </c:pt>
                <c:pt idx="26">
                  <c:v>270.00082099999997</c:v>
                </c:pt>
                <c:pt idx="27">
                  <c:v>270.00082099999997</c:v>
                </c:pt>
                <c:pt idx="28">
                  <c:v>180.00094200000001</c:v>
                </c:pt>
                <c:pt idx="29">
                  <c:v>180.00094200000001</c:v>
                </c:pt>
                <c:pt idx="30">
                  <c:v>19.165403999999999</c:v>
                </c:pt>
                <c:pt idx="31">
                  <c:v>19.165403999999999</c:v>
                </c:pt>
                <c:pt idx="32">
                  <c:v>396.52940100000001</c:v>
                </c:pt>
                <c:pt idx="33">
                  <c:v>396.52940100000001</c:v>
                </c:pt>
                <c:pt idx="34">
                  <c:v>275.45946800000002</c:v>
                </c:pt>
                <c:pt idx="35">
                  <c:v>275.45946800000002</c:v>
                </c:pt>
                <c:pt idx="36">
                  <c:v>115.99958700000001</c:v>
                </c:pt>
                <c:pt idx="37">
                  <c:v>115.99958700000001</c:v>
                </c:pt>
                <c:pt idx="38">
                  <c:v>223.76831200000001</c:v>
                </c:pt>
                <c:pt idx="39">
                  <c:v>223.76831200000001</c:v>
                </c:pt>
                <c:pt idx="40">
                  <c:v>29.999804000000001</c:v>
                </c:pt>
                <c:pt idx="41">
                  <c:v>29.999804000000001</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90.000100000000003</c:v>
                </c:pt>
                <c:pt idx="171">
                  <c:v>90.000100000000003</c:v>
                </c:pt>
                <c:pt idx="172">
                  <c:v>90.000100000000003</c:v>
                </c:pt>
                <c:pt idx="173">
                  <c:v>90.000100000000003</c:v>
                </c:pt>
                <c:pt idx="174">
                  <c:v>29.9998</c:v>
                </c:pt>
                <c:pt idx="175">
                  <c:v>29.9998</c:v>
                </c:pt>
                <c:pt idx="176">
                  <c:v>60</c:v>
                </c:pt>
                <c:pt idx="177">
                  <c:v>60</c:v>
                </c:pt>
                <c:pt idx="178">
                  <c:v>30</c:v>
                </c:pt>
                <c:pt idx="179">
                  <c:v>30</c:v>
                </c:pt>
                <c:pt idx="180">
                  <c:v>90</c:v>
                </c:pt>
                <c:pt idx="181">
                  <c:v>90</c:v>
                </c:pt>
                <c:pt idx="182">
                  <c:v>270</c:v>
                </c:pt>
                <c:pt idx="183">
                  <c:v>270</c:v>
                </c:pt>
                <c:pt idx="184">
                  <c:v>449.99990000000003</c:v>
                </c:pt>
                <c:pt idx="185">
                  <c:v>449.99990000000003</c:v>
                </c:pt>
                <c:pt idx="186">
                  <c:v>495.52477499999998</c:v>
                </c:pt>
                <c:pt idx="187">
                  <c:v>495.52477499999998</c:v>
                </c:pt>
                <c:pt idx="188">
                  <c:v>320.661744</c:v>
                </c:pt>
                <c:pt idx="189">
                  <c:v>320.661744</c:v>
                </c:pt>
                <c:pt idx="190">
                  <c:v>371.39280400000001</c:v>
                </c:pt>
                <c:pt idx="191">
                  <c:v>371.39280400000001</c:v>
                </c:pt>
              </c:numCache>
            </c:numRef>
          </c:yVal>
          <c:smooth val="1"/>
          <c:extLst>
            <c:ext xmlns:c16="http://schemas.microsoft.com/office/drawing/2014/chart" uri="{C3380CC4-5D6E-409C-BE32-E72D297353CC}">
              <c16:uniqueId val="{00000001-623B-4A0D-9061-6A86C4F70476}"/>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623B-4A0D-9061-6A86C4F70476}"/>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10.199999999999999</c:v>
                </c:pt>
                <c:pt idx="41">
                  <c:v>10.199999999999999</c:v>
                </c:pt>
                <c:pt idx="42">
                  <c:v>10.199999999999999</c:v>
                </c:pt>
                <c:pt idx="43">
                  <c:v>10.199999999999999</c:v>
                </c:pt>
                <c:pt idx="44">
                  <c:v>10.199999999999999</c:v>
                </c:pt>
                <c:pt idx="45">
                  <c:v>10.199999999999999</c:v>
                </c:pt>
                <c:pt idx="46">
                  <c:v>10.199999999999999</c:v>
                </c:pt>
                <c:pt idx="47">
                  <c:v>10.199999999999999</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16.055396999999999</c:v>
                </c:pt>
                <c:pt idx="83">
                  <c:v>16.055396999999999</c:v>
                </c:pt>
                <c:pt idx="84">
                  <c:v>60.000100000000003</c:v>
                </c:pt>
                <c:pt idx="85">
                  <c:v>60.000100000000003</c:v>
                </c:pt>
                <c:pt idx="86">
                  <c:v>16.055296999999999</c:v>
                </c:pt>
                <c:pt idx="87">
                  <c:v>16.055296999999999</c:v>
                </c:pt>
                <c:pt idx="88">
                  <c:v>60</c:v>
                </c:pt>
                <c:pt idx="89">
                  <c:v>60</c:v>
                </c:pt>
                <c:pt idx="90">
                  <c:v>1E-4</c:v>
                </c:pt>
                <c:pt idx="91">
                  <c:v>1E-4</c:v>
                </c:pt>
                <c:pt idx="92">
                  <c:v>1E-4</c:v>
                </c:pt>
                <c:pt idx="93">
                  <c:v>1E-4</c:v>
                </c:pt>
                <c:pt idx="94">
                  <c:v>1E-4</c:v>
                </c:pt>
                <c:pt idx="95">
                  <c:v>1E-4</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1E-4</c:v>
                </c:pt>
                <c:pt idx="113">
                  <c:v>1E-4</c:v>
                </c:pt>
                <c:pt idx="114">
                  <c:v>0</c:v>
                </c:pt>
                <c:pt idx="115">
                  <c:v>0</c:v>
                </c:pt>
                <c:pt idx="116">
                  <c:v>1E-4</c:v>
                </c:pt>
                <c:pt idx="117">
                  <c:v>1E-4</c:v>
                </c:pt>
                <c:pt idx="118">
                  <c:v>0</c:v>
                </c:pt>
                <c:pt idx="119">
                  <c:v>0</c:v>
                </c:pt>
                <c:pt idx="120">
                  <c:v>30</c:v>
                </c:pt>
                <c:pt idx="121">
                  <c:v>30</c:v>
                </c:pt>
                <c:pt idx="122">
                  <c:v>0</c:v>
                </c:pt>
                <c:pt idx="123">
                  <c:v>0</c:v>
                </c:pt>
                <c:pt idx="124">
                  <c:v>3.6676039999999999</c:v>
                </c:pt>
                <c:pt idx="125">
                  <c:v>3.6676039999999999</c:v>
                </c:pt>
                <c:pt idx="126">
                  <c:v>0</c:v>
                </c:pt>
                <c:pt idx="127">
                  <c:v>0</c:v>
                </c:pt>
                <c:pt idx="128">
                  <c:v>0</c:v>
                </c:pt>
                <c:pt idx="129">
                  <c:v>0</c:v>
                </c:pt>
                <c:pt idx="130">
                  <c:v>30</c:v>
                </c:pt>
                <c:pt idx="131">
                  <c:v>30</c:v>
                </c:pt>
                <c:pt idx="132">
                  <c:v>0</c:v>
                </c:pt>
                <c:pt idx="133">
                  <c:v>0</c:v>
                </c:pt>
                <c:pt idx="134">
                  <c:v>29.9999</c:v>
                </c:pt>
                <c:pt idx="135">
                  <c:v>29.9999</c:v>
                </c:pt>
                <c:pt idx="136">
                  <c:v>1E-4</c:v>
                </c:pt>
                <c:pt idx="137">
                  <c:v>1E-4</c:v>
                </c:pt>
                <c:pt idx="138">
                  <c:v>1E-4</c:v>
                </c:pt>
                <c:pt idx="139">
                  <c:v>1E-4</c:v>
                </c:pt>
                <c:pt idx="140">
                  <c:v>27.199300000000001</c:v>
                </c:pt>
                <c:pt idx="141">
                  <c:v>27.199300000000001</c:v>
                </c:pt>
                <c:pt idx="142">
                  <c:v>1E-4</c:v>
                </c:pt>
                <c:pt idx="143">
                  <c:v>1E-4</c:v>
                </c:pt>
                <c:pt idx="144">
                  <c:v>1E-4</c:v>
                </c:pt>
                <c:pt idx="145">
                  <c:v>1E-4</c:v>
                </c:pt>
                <c:pt idx="146">
                  <c:v>1E-4</c:v>
                </c:pt>
                <c:pt idx="147">
                  <c:v>1E-4</c:v>
                </c:pt>
                <c:pt idx="148">
                  <c:v>1E-4</c:v>
                </c:pt>
                <c:pt idx="149">
                  <c:v>1E-4</c:v>
                </c:pt>
                <c:pt idx="150">
                  <c:v>1E-4</c:v>
                </c:pt>
                <c:pt idx="151">
                  <c:v>1E-4</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E533-451E-9689-9394213F4B2C}"/>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199.51293799999999</c:v>
                </c:pt>
                <c:pt idx="3">
                  <c:v>199.51293799999999</c:v>
                </c:pt>
                <c:pt idx="4">
                  <c:v>179.673565</c:v>
                </c:pt>
                <c:pt idx="5">
                  <c:v>179.673565</c:v>
                </c:pt>
                <c:pt idx="6">
                  <c:v>150</c:v>
                </c:pt>
                <c:pt idx="7">
                  <c:v>150</c:v>
                </c:pt>
                <c:pt idx="8">
                  <c:v>214.06204199999999</c:v>
                </c:pt>
                <c:pt idx="9">
                  <c:v>214.06204199999999</c:v>
                </c:pt>
                <c:pt idx="10">
                  <c:v>257.27530000000002</c:v>
                </c:pt>
                <c:pt idx="11">
                  <c:v>257.27530000000002</c:v>
                </c:pt>
                <c:pt idx="12">
                  <c:v>1E-4</c:v>
                </c:pt>
                <c:pt idx="13">
                  <c:v>1E-4</c:v>
                </c:pt>
                <c:pt idx="14">
                  <c:v>0</c:v>
                </c:pt>
                <c:pt idx="15">
                  <c:v>0</c:v>
                </c:pt>
                <c:pt idx="16">
                  <c:v>150</c:v>
                </c:pt>
                <c:pt idx="17">
                  <c:v>150</c:v>
                </c:pt>
                <c:pt idx="18">
                  <c:v>10.200100000000001</c:v>
                </c:pt>
                <c:pt idx="19">
                  <c:v>10.200100000000001</c:v>
                </c:pt>
                <c:pt idx="20">
                  <c:v>1E-4</c:v>
                </c:pt>
                <c:pt idx="21">
                  <c:v>1E-4</c:v>
                </c:pt>
                <c:pt idx="22">
                  <c:v>0</c:v>
                </c:pt>
                <c:pt idx="23">
                  <c:v>0</c:v>
                </c:pt>
                <c:pt idx="24">
                  <c:v>30</c:v>
                </c:pt>
                <c:pt idx="25">
                  <c:v>30</c:v>
                </c:pt>
                <c:pt idx="26">
                  <c:v>0</c:v>
                </c:pt>
                <c:pt idx="27">
                  <c:v>0</c:v>
                </c:pt>
                <c:pt idx="28">
                  <c:v>30</c:v>
                </c:pt>
                <c:pt idx="29">
                  <c:v>30</c:v>
                </c:pt>
                <c:pt idx="30">
                  <c:v>0</c:v>
                </c:pt>
                <c:pt idx="31">
                  <c:v>0</c:v>
                </c:pt>
                <c:pt idx="32">
                  <c:v>53.062269999999998</c:v>
                </c:pt>
                <c:pt idx="33">
                  <c:v>53.062269999999998</c:v>
                </c:pt>
                <c:pt idx="34">
                  <c:v>0</c:v>
                </c:pt>
                <c:pt idx="35">
                  <c:v>0</c:v>
                </c:pt>
                <c:pt idx="36">
                  <c:v>30.000420999999999</c:v>
                </c:pt>
                <c:pt idx="37">
                  <c:v>30.000420999999999</c:v>
                </c:pt>
                <c:pt idx="38">
                  <c:v>1E-4</c:v>
                </c:pt>
                <c:pt idx="39">
                  <c:v>1E-4</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1.1999999999999999E-3</c:v>
                </c:pt>
                <c:pt idx="171">
                  <c:v>1.1999999999999999E-3</c:v>
                </c:pt>
                <c:pt idx="172">
                  <c:v>60</c:v>
                </c:pt>
                <c:pt idx="173">
                  <c:v>60</c:v>
                </c:pt>
                <c:pt idx="174">
                  <c:v>1E-4</c:v>
                </c:pt>
                <c:pt idx="175">
                  <c:v>1E-4</c:v>
                </c:pt>
                <c:pt idx="176">
                  <c:v>42.049942000000001</c:v>
                </c:pt>
                <c:pt idx="177">
                  <c:v>42.049942000000001</c:v>
                </c:pt>
                <c:pt idx="178">
                  <c:v>0</c:v>
                </c:pt>
                <c:pt idx="179">
                  <c:v>0</c:v>
                </c:pt>
                <c:pt idx="180">
                  <c:v>90</c:v>
                </c:pt>
                <c:pt idx="181">
                  <c:v>90</c:v>
                </c:pt>
                <c:pt idx="182">
                  <c:v>150</c:v>
                </c:pt>
                <c:pt idx="183">
                  <c:v>150</c:v>
                </c:pt>
                <c:pt idx="184">
                  <c:v>238.61261099999999</c:v>
                </c:pt>
                <c:pt idx="185">
                  <c:v>238.61261099999999</c:v>
                </c:pt>
                <c:pt idx="186">
                  <c:v>181.38748899999999</c:v>
                </c:pt>
                <c:pt idx="187">
                  <c:v>181.38748899999999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E533-451E-9689-9394213F4B2C}"/>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14.163909</c:v>
                </c:pt>
                <c:pt idx="3">
                  <c:v>14.163909</c:v>
                </c:pt>
                <c:pt idx="4">
                  <c:v>1E-4</c:v>
                </c:pt>
                <c:pt idx="5">
                  <c:v>1E-4</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5.2204249999999996</c:v>
                </c:pt>
                <c:pt idx="41">
                  <c:v>5.2204249999999996</c:v>
                </c:pt>
                <c:pt idx="42">
                  <c:v>0</c:v>
                </c:pt>
                <c:pt idx="43">
                  <c:v>0</c:v>
                </c:pt>
                <c:pt idx="44">
                  <c:v>15.643810999999999</c:v>
                </c:pt>
                <c:pt idx="45">
                  <c:v>15.643810999999999</c:v>
                </c:pt>
                <c:pt idx="46">
                  <c:v>17.232073</c:v>
                </c:pt>
                <c:pt idx="47">
                  <c:v>17.232073</c:v>
                </c:pt>
                <c:pt idx="48">
                  <c:v>37.351508000000003</c:v>
                </c:pt>
                <c:pt idx="49">
                  <c:v>37.351508000000003</c:v>
                </c:pt>
                <c:pt idx="50">
                  <c:v>122.301666</c:v>
                </c:pt>
                <c:pt idx="51">
                  <c:v>122.301666</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51.695610000000002</c:v>
                </c:pt>
                <c:pt idx="73">
                  <c:v>51.695610000000002</c:v>
                </c:pt>
                <c:pt idx="74">
                  <c:v>95.850200000000001</c:v>
                </c:pt>
                <c:pt idx="75">
                  <c:v>95.850200000000001</c:v>
                </c:pt>
                <c:pt idx="76">
                  <c:v>21.428667999999998</c:v>
                </c:pt>
                <c:pt idx="77">
                  <c:v>21.428667999999998</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c:v>
                </c:pt>
                <c:pt idx="169">
                  <c:v>60</c:v>
                </c:pt>
                <c:pt idx="170">
                  <c:v>0</c:v>
                </c:pt>
                <c:pt idx="171">
                  <c:v>0</c:v>
                </c:pt>
                <c:pt idx="172">
                  <c:v>0</c:v>
                </c:pt>
                <c:pt idx="173">
                  <c:v>0</c:v>
                </c:pt>
                <c:pt idx="174">
                  <c:v>0</c:v>
                </c:pt>
                <c:pt idx="175">
                  <c:v>0</c:v>
                </c:pt>
                <c:pt idx="176">
                  <c:v>47.950158000000002</c:v>
                </c:pt>
                <c:pt idx="177">
                  <c:v>47.950158000000002</c:v>
                </c:pt>
                <c:pt idx="178">
                  <c:v>3.1820569999999999</c:v>
                </c:pt>
                <c:pt idx="179">
                  <c:v>3.1820569999999999</c:v>
                </c:pt>
                <c:pt idx="180">
                  <c:v>0</c:v>
                </c:pt>
                <c:pt idx="181">
                  <c:v>0</c:v>
                </c:pt>
                <c:pt idx="182">
                  <c:v>0</c:v>
                </c:pt>
                <c:pt idx="183">
                  <c:v>0</c:v>
                </c:pt>
                <c:pt idx="184">
                  <c:v>1.387289</c:v>
                </c:pt>
                <c:pt idx="185">
                  <c:v>1.387289</c:v>
                </c:pt>
                <c:pt idx="186">
                  <c:v>0</c:v>
                </c:pt>
                <c:pt idx="187">
                  <c:v>0</c:v>
                </c:pt>
                <c:pt idx="188">
                  <c:v>1E-4</c:v>
                </c:pt>
                <c:pt idx="189">
                  <c:v>1E-4</c:v>
                </c:pt>
                <c:pt idx="190">
                  <c:v>30.0002</c:v>
                </c:pt>
                <c:pt idx="191">
                  <c:v>30.0002</c:v>
                </c:pt>
              </c:numCache>
            </c:numRef>
          </c:yVal>
          <c:smooth val="1"/>
          <c:extLst>
            <c:ext xmlns:c16="http://schemas.microsoft.com/office/drawing/2014/chart" uri="{C3380CC4-5D6E-409C-BE32-E72D297353CC}">
              <c16:uniqueId val="{00000002-E533-451E-9689-9394213F4B2C}"/>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BESSエネルギー残量</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3000</c:v>
                </c:pt>
                <c:pt idx="1">
                  <c:v>2901.0380799999998</c:v>
                </c:pt>
                <c:pt idx="2">
                  <c:v>2796.2224470000001</c:v>
                </c:pt>
                <c:pt idx="3">
                  <c:v>2663.4763579999999</c:v>
                </c:pt>
                <c:pt idx="4">
                  <c:v>2535.118273</c:v>
                </c:pt>
                <c:pt idx="5">
                  <c:v>2416.5362639999998</c:v>
                </c:pt>
                <c:pt idx="6">
                  <c:v>2291.8231030000002</c:v>
                </c:pt>
                <c:pt idx="7">
                  <c:v>2165.507208</c:v>
                </c:pt>
                <c:pt idx="8">
                  <c:v>2011.267349</c:v>
                </c:pt>
                <c:pt idx="9">
                  <c:v>1936.1883929999999</c:v>
                </c:pt>
                <c:pt idx="10">
                  <c:v>1857.9732240000001</c:v>
                </c:pt>
                <c:pt idx="11">
                  <c:v>1763.3223390000001</c:v>
                </c:pt>
                <c:pt idx="12">
                  <c:v>1703.5500360000001</c:v>
                </c:pt>
                <c:pt idx="13">
                  <c:v>1597.6115110000001</c:v>
                </c:pt>
                <c:pt idx="14">
                  <c:v>1526.558663</c:v>
                </c:pt>
                <c:pt idx="15">
                  <c:v>1479.1899940000001</c:v>
                </c:pt>
                <c:pt idx="16">
                  <c:v>1474.146467</c:v>
                </c:pt>
                <c:pt idx="17">
                  <c:v>1369.7966240000001</c:v>
                </c:pt>
                <c:pt idx="18">
                  <c:v>1297.30729</c:v>
                </c:pt>
                <c:pt idx="19">
                  <c:v>1266.7810830000001</c:v>
                </c:pt>
                <c:pt idx="20">
                  <c:v>1207.894685</c:v>
                </c:pt>
                <c:pt idx="21">
                  <c:v>1200</c:v>
                </c:pt>
                <c:pt idx="22">
                  <c:v>1200</c:v>
                </c:pt>
                <c:pt idx="23">
                  <c:v>1200</c:v>
                </c:pt>
                <c:pt idx="24">
                  <c:v>1201.3537739999999</c:v>
                </c:pt>
                <c:pt idx="25">
                  <c:v>1209.4463860000001</c:v>
                </c:pt>
                <c:pt idx="26">
                  <c:v>1217.8894869999999</c:v>
                </c:pt>
                <c:pt idx="27">
                  <c:v>1254.832588</c:v>
                </c:pt>
                <c:pt idx="28">
                  <c:v>1288.059264</c:v>
                </c:pt>
                <c:pt idx="29">
                  <c:v>1288.059264</c:v>
                </c:pt>
                <c:pt idx="30">
                  <c:v>1288.059264</c:v>
                </c:pt>
                <c:pt idx="31">
                  <c:v>1288.059264</c:v>
                </c:pt>
                <c:pt idx="32">
                  <c:v>1288.059264</c:v>
                </c:pt>
                <c:pt idx="33">
                  <c:v>1408.1748889999999</c:v>
                </c:pt>
                <c:pt idx="34">
                  <c:v>1453.6450749999999</c:v>
                </c:pt>
                <c:pt idx="35">
                  <c:v>1573.7607</c:v>
                </c:pt>
                <c:pt idx="36">
                  <c:v>1573.7607</c:v>
                </c:pt>
                <c:pt idx="37">
                  <c:v>1573.7607270000001</c:v>
                </c:pt>
                <c:pt idx="38">
                  <c:v>1573.7607270000001</c:v>
                </c:pt>
                <c:pt idx="39">
                  <c:v>1573.7607270000001</c:v>
                </c:pt>
                <c:pt idx="40">
                  <c:v>1573.7607270000001</c:v>
                </c:pt>
                <c:pt idx="41">
                  <c:v>1748.8254099999999</c:v>
                </c:pt>
                <c:pt idx="42">
                  <c:v>1927.686637</c:v>
                </c:pt>
                <c:pt idx="43">
                  <c:v>2106.5478629999998</c:v>
                </c:pt>
                <c:pt idx="44">
                  <c:v>2106.5478629999998</c:v>
                </c:pt>
                <c:pt idx="45">
                  <c:v>2106.5478629999998</c:v>
                </c:pt>
                <c:pt idx="46">
                  <c:v>2106.5478629999998</c:v>
                </c:pt>
                <c:pt idx="47">
                  <c:v>2106.5478629999998</c:v>
                </c:pt>
                <c:pt idx="48">
                  <c:v>2106.5478629999998</c:v>
                </c:pt>
                <c:pt idx="49">
                  <c:v>2106.5478629999998</c:v>
                </c:pt>
                <c:pt idx="50">
                  <c:v>2106.5478629999998</c:v>
                </c:pt>
                <c:pt idx="51">
                  <c:v>2106.5478629999998</c:v>
                </c:pt>
                <c:pt idx="52">
                  <c:v>2106.5478629999998</c:v>
                </c:pt>
                <c:pt idx="53">
                  <c:v>2227.7493730000001</c:v>
                </c:pt>
                <c:pt idx="54">
                  <c:v>2227.7493730000001</c:v>
                </c:pt>
                <c:pt idx="55">
                  <c:v>2227.7493730000001</c:v>
                </c:pt>
                <c:pt idx="56">
                  <c:v>2395.9112479999999</c:v>
                </c:pt>
                <c:pt idx="57">
                  <c:v>2534.599373</c:v>
                </c:pt>
                <c:pt idx="58">
                  <c:v>2673.2874980000001</c:v>
                </c:pt>
                <c:pt idx="59">
                  <c:v>2811.9756229999998</c:v>
                </c:pt>
                <c:pt idx="60">
                  <c:v>2950.6637479999999</c:v>
                </c:pt>
                <c:pt idx="61">
                  <c:v>3050.5918729999999</c:v>
                </c:pt>
                <c:pt idx="62">
                  <c:v>3150.5199980000002</c:v>
                </c:pt>
                <c:pt idx="63">
                  <c:v>3250.4481230000001</c:v>
                </c:pt>
                <c:pt idx="64">
                  <c:v>3350.376248</c:v>
                </c:pt>
                <c:pt idx="65">
                  <c:v>3405.6899979999998</c:v>
                </c:pt>
                <c:pt idx="66">
                  <c:v>3461.0037480000001</c:v>
                </c:pt>
                <c:pt idx="67">
                  <c:v>3516.3174979999999</c:v>
                </c:pt>
                <c:pt idx="68">
                  <c:v>3571.6312480000001</c:v>
                </c:pt>
                <c:pt idx="69">
                  <c:v>3589.799998</c:v>
                </c:pt>
                <c:pt idx="70">
                  <c:v>3607.9687479999998</c:v>
                </c:pt>
                <c:pt idx="71">
                  <c:v>3626.1374980000001</c:v>
                </c:pt>
                <c:pt idx="72">
                  <c:v>3644.3062479999999</c:v>
                </c:pt>
                <c:pt idx="73">
                  <c:v>3644.3285599999999</c:v>
                </c:pt>
                <c:pt idx="74">
                  <c:v>3644.3285599999999</c:v>
                </c:pt>
                <c:pt idx="75">
                  <c:v>3644.3285599999999</c:v>
                </c:pt>
                <c:pt idx="76">
                  <c:v>3644.3285599999999</c:v>
                </c:pt>
                <c:pt idx="77">
                  <c:v>3644.3285599999999</c:v>
                </c:pt>
                <c:pt idx="78">
                  <c:v>3644.3285599999999</c:v>
                </c:pt>
                <c:pt idx="79">
                  <c:v>3644.3285599999999</c:v>
                </c:pt>
                <c:pt idx="80">
                  <c:v>3644.3285599999999</c:v>
                </c:pt>
                <c:pt idx="81">
                  <c:v>3644.3285599999999</c:v>
                </c:pt>
                <c:pt idx="82">
                  <c:v>3644.3285599999999</c:v>
                </c:pt>
                <c:pt idx="83">
                  <c:v>3644.3285599999999</c:v>
                </c:pt>
                <c:pt idx="84">
                  <c:v>3628.5390860000002</c:v>
                </c:pt>
                <c:pt idx="85">
                  <c:v>3604.626111</c:v>
                </c:pt>
                <c:pt idx="86">
                  <c:v>3580.941875</c:v>
                </c:pt>
                <c:pt idx="87">
                  <c:v>3557.257638</c:v>
                </c:pt>
                <c:pt idx="88">
                  <c:v>3549.3629540000002</c:v>
                </c:pt>
                <c:pt idx="89">
                  <c:v>3533.57348</c:v>
                </c:pt>
                <c:pt idx="90">
                  <c:v>3525.6787429999999</c:v>
                </c:pt>
                <c:pt idx="91">
                  <c:v>3501.9945320000002</c:v>
                </c:pt>
                <c:pt idx="92">
                  <c:v>3430.9419010000001</c:v>
                </c:pt>
                <c:pt idx="93">
                  <c:v>3312.5208750000002</c:v>
                </c:pt>
                <c:pt idx="94">
                  <c:v>3182.1196180000002</c:v>
                </c:pt>
                <c:pt idx="95">
                  <c:v>3097.7349490000001</c:v>
                </c:pt>
                <c:pt idx="96">
                  <c:v>3000</c:v>
                </c:pt>
              </c:numCache>
            </c:numRef>
          </c:yVal>
          <c:smooth val="1"/>
          <c:extLst>
            <c:ext xmlns:c16="http://schemas.microsoft.com/office/drawing/2014/chart" uri="{C3380CC4-5D6E-409C-BE32-E72D297353CC}">
              <c16:uniqueId val="{00000000-0128-4C23-8930-771C9253780B}"/>
            </c:ext>
          </c:extLst>
        </c:ser>
        <c:ser>
          <c:idx val="1"/>
          <c:order val="1"/>
          <c:tx>
            <c:v>低PV（RAIN）</c:v>
          </c:tx>
          <c:spPr>
            <a:ln w="21908">
              <a:solidFill>
                <a:srgbClr val="6B54A3"/>
              </a:solidFill>
              <a:prstDash val="solid"/>
            </a:ln>
          </c:spPr>
          <c:marker>
            <c:symbol val="none"/>
          </c:marker>
          <c:xVal>
            <c:numRef>
              <c:f>'Chart Data'!$C$2:$C$98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Data'!$D$2:$D$98</c:f>
              <c:numCache>
                <c:formatCode>0</c:formatCode>
                <c:ptCount val="97"/>
                <c:pt idx="0">
                  <c:v>3000</c:v>
                </c:pt>
                <c:pt idx="1">
                  <c:v>2952.6315530000002</c:v>
                </c:pt>
                <c:pt idx="2">
                  <c:v>2900.1281479999998</c:v>
                </c:pt>
                <c:pt idx="3">
                  <c:v>2852.8456310000001</c:v>
                </c:pt>
                <c:pt idx="4">
                  <c:v>2813.3719470000001</c:v>
                </c:pt>
                <c:pt idx="5">
                  <c:v>2757.0398300000002</c:v>
                </c:pt>
                <c:pt idx="6">
                  <c:v>2689.3358039999998</c:v>
                </c:pt>
                <c:pt idx="7">
                  <c:v>2689.3357780000001</c:v>
                </c:pt>
                <c:pt idx="8">
                  <c:v>2689.3357780000001</c:v>
                </c:pt>
                <c:pt idx="9">
                  <c:v>2649.8620930000002</c:v>
                </c:pt>
                <c:pt idx="10">
                  <c:v>2647.1778570000001</c:v>
                </c:pt>
                <c:pt idx="11">
                  <c:v>2647.1778300000001</c:v>
                </c:pt>
                <c:pt idx="12">
                  <c:v>2647.1778300000001</c:v>
                </c:pt>
                <c:pt idx="13">
                  <c:v>2639.283093</c:v>
                </c:pt>
                <c:pt idx="14">
                  <c:v>2639.283093</c:v>
                </c:pt>
                <c:pt idx="15">
                  <c:v>2631.3883569999998</c:v>
                </c:pt>
                <c:pt idx="16">
                  <c:v>2631.3883569999998</c:v>
                </c:pt>
                <c:pt idx="17">
                  <c:v>2617.4246010000002</c:v>
                </c:pt>
                <c:pt idx="18">
                  <c:v>2617.4246010000002</c:v>
                </c:pt>
                <c:pt idx="19">
                  <c:v>2609.5297540000001</c:v>
                </c:pt>
                <c:pt idx="20">
                  <c:v>2609.5297270000001</c:v>
                </c:pt>
                <c:pt idx="21">
                  <c:v>2609.5297270000001</c:v>
                </c:pt>
                <c:pt idx="22">
                  <c:v>2609.5297270000001</c:v>
                </c:pt>
                <c:pt idx="23">
                  <c:v>2609.5297270000001</c:v>
                </c:pt>
                <c:pt idx="24">
                  <c:v>2609.5297270000001</c:v>
                </c:pt>
                <c:pt idx="25">
                  <c:v>2609.5297270000001</c:v>
                </c:pt>
                <c:pt idx="26">
                  <c:v>2609.5297270000001</c:v>
                </c:pt>
                <c:pt idx="27">
                  <c:v>2619.9459769999999</c:v>
                </c:pt>
                <c:pt idx="28">
                  <c:v>2633.0678520000001</c:v>
                </c:pt>
                <c:pt idx="29">
                  <c:v>2650.832852</c:v>
                </c:pt>
                <c:pt idx="30">
                  <c:v>2668.5978519999999</c:v>
                </c:pt>
                <c:pt idx="31">
                  <c:v>2686.3628520000002</c:v>
                </c:pt>
                <c:pt idx="32">
                  <c:v>2704.1278520000001</c:v>
                </c:pt>
                <c:pt idx="33">
                  <c:v>2716.2403519999998</c:v>
                </c:pt>
                <c:pt idx="34">
                  <c:v>2728.352852</c:v>
                </c:pt>
                <c:pt idx="35">
                  <c:v>2740.4653520000002</c:v>
                </c:pt>
                <c:pt idx="36">
                  <c:v>2745.4528519999999</c:v>
                </c:pt>
                <c:pt idx="37">
                  <c:v>2745.4528519999999</c:v>
                </c:pt>
                <c:pt idx="38">
                  <c:v>2745.4528519999999</c:v>
                </c:pt>
                <c:pt idx="39">
                  <c:v>2745.4528519999999</c:v>
                </c:pt>
                <c:pt idx="40">
                  <c:v>2745.4528519999999</c:v>
                </c:pt>
                <c:pt idx="41">
                  <c:v>2751.3903519999999</c:v>
                </c:pt>
                <c:pt idx="42">
                  <c:v>2767.7646960000002</c:v>
                </c:pt>
                <c:pt idx="43">
                  <c:v>2773.7021719999998</c:v>
                </c:pt>
                <c:pt idx="44">
                  <c:v>2790.0765390000001</c:v>
                </c:pt>
                <c:pt idx="45">
                  <c:v>2805.9059139999999</c:v>
                </c:pt>
                <c:pt idx="46">
                  <c:v>2835.9852649999998</c:v>
                </c:pt>
                <c:pt idx="47">
                  <c:v>2866.0646160000001</c:v>
                </c:pt>
                <c:pt idx="48">
                  <c:v>2896.1439679999999</c:v>
                </c:pt>
                <c:pt idx="49">
                  <c:v>2916.5333430000001</c:v>
                </c:pt>
                <c:pt idx="50">
                  <c:v>2936.9227179999998</c:v>
                </c:pt>
                <c:pt idx="51">
                  <c:v>2957.312093</c:v>
                </c:pt>
                <c:pt idx="52">
                  <c:v>2977.7014680000002</c:v>
                </c:pt>
                <c:pt idx="53">
                  <c:v>2998.6370929999998</c:v>
                </c:pt>
                <c:pt idx="54">
                  <c:v>3026.6977179999999</c:v>
                </c:pt>
                <c:pt idx="55">
                  <c:v>3047.633343</c:v>
                </c:pt>
                <c:pt idx="56">
                  <c:v>3075.693968</c:v>
                </c:pt>
                <c:pt idx="57">
                  <c:v>3105.9751940000001</c:v>
                </c:pt>
                <c:pt idx="58">
                  <c:v>3136.2564440000001</c:v>
                </c:pt>
                <c:pt idx="59">
                  <c:v>3166.5376700000002</c:v>
                </c:pt>
                <c:pt idx="60">
                  <c:v>3196.8189200000002</c:v>
                </c:pt>
                <c:pt idx="61">
                  <c:v>3210.8907949999998</c:v>
                </c:pt>
                <c:pt idx="62">
                  <c:v>3232.0876699999999</c:v>
                </c:pt>
                <c:pt idx="63">
                  <c:v>3252.413489</c:v>
                </c:pt>
                <c:pt idx="64">
                  <c:v>3273.6103640000001</c:v>
                </c:pt>
                <c:pt idx="65">
                  <c:v>3287.5397389999998</c:v>
                </c:pt>
                <c:pt idx="66">
                  <c:v>3294.344114</c:v>
                </c:pt>
                <c:pt idx="67">
                  <c:v>3308.2734890000002</c:v>
                </c:pt>
                <c:pt idx="68">
                  <c:v>3315.0778879999998</c:v>
                </c:pt>
                <c:pt idx="69">
                  <c:v>3321.5378639999999</c:v>
                </c:pt>
                <c:pt idx="70">
                  <c:v>3327.99784</c:v>
                </c:pt>
                <c:pt idx="71">
                  <c:v>3327.9980070000001</c:v>
                </c:pt>
                <c:pt idx="72">
                  <c:v>3334.4579829999998</c:v>
                </c:pt>
                <c:pt idx="73">
                  <c:v>3335.063584</c:v>
                </c:pt>
                <c:pt idx="74">
                  <c:v>3335.6691850000002</c:v>
                </c:pt>
                <c:pt idx="75">
                  <c:v>3336.2747869999998</c:v>
                </c:pt>
                <c:pt idx="76">
                  <c:v>3336.880388</c:v>
                </c:pt>
                <c:pt idx="77">
                  <c:v>3336.880388</c:v>
                </c:pt>
                <c:pt idx="78">
                  <c:v>3336.880388</c:v>
                </c:pt>
                <c:pt idx="79">
                  <c:v>3336.880388</c:v>
                </c:pt>
                <c:pt idx="80">
                  <c:v>3336.880388</c:v>
                </c:pt>
                <c:pt idx="81">
                  <c:v>3336.880388</c:v>
                </c:pt>
                <c:pt idx="82">
                  <c:v>3336.880388</c:v>
                </c:pt>
                <c:pt idx="83">
                  <c:v>3336.880388</c:v>
                </c:pt>
                <c:pt idx="84">
                  <c:v>3321.0909139999999</c:v>
                </c:pt>
                <c:pt idx="85">
                  <c:v>3313.1961769999998</c:v>
                </c:pt>
                <c:pt idx="86">
                  <c:v>3313.195862</c:v>
                </c:pt>
                <c:pt idx="87">
                  <c:v>3297.4063879999999</c:v>
                </c:pt>
                <c:pt idx="88">
                  <c:v>3297.4063620000002</c:v>
                </c:pt>
                <c:pt idx="89">
                  <c:v>3286.3405870000001</c:v>
                </c:pt>
                <c:pt idx="90">
                  <c:v>3286.3405870000001</c:v>
                </c:pt>
                <c:pt idx="91">
                  <c:v>3262.6563769999998</c:v>
                </c:pt>
                <c:pt idx="92">
                  <c:v>3223.1826930000002</c:v>
                </c:pt>
                <c:pt idx="93">
                  <c:v>3160.3899000000001</c:v>
                </c:pt>
                <c:pt idx="94">
                  <c:v>3112.6563500000002</c:v>
                </c:pt>
                <c:pt idx="95">
                  <c:v>3055.2631839999999</c:v>
                </c:pt>
                <c:pt idx="96">
                  <c:v>3000</c:v>
                </c:pt>
              </c:numCache>
            </c:numRef>
          </c:yVal>
          <c:smooth val="1"/>
          <c:extLst>
            <c:ext xmlns:c16="http://schemas.microsoft.com/office/drawing/2014/chart" uri="{C3380CC4-5D6E-409C-BE32-E72D297353CC}">
              <c16:uniqueId val="{00000001-0128-4C23-8930-771C9253780B}"/>
            </c:ext>
          </c:extLst>
        </c:ser>
        <c:ser>
          <c:idx val="2"/>
          <c:order val="2"/>
          <c:tx>
            <c:v>下限</c:v>
          </c:tx>
          <c:spPr>
            <a:ln w="21908">
              <a:solidFill>
                <a:srgbClr val="AAB2BC"/>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1200</c:v>
                </c:pt>
                <c:pt idx="1">
                  <c:v>1200</c:v>
                </c:pt>
              </c:numCache>
            </c:numRef>
          </c:yVal>
          <c:smooth val="1"/>
          <c:extLst>
            <c:ext xmlns:c16="http://schemas.microsoft.com/office/drawing/2014/chart" uri="{C3380CC4-5D6E-409C-BE32-E72D297353CC}">
              <c16:uniqueId val="{00000002-0128-4C23-8930-771C9253780B}"/>
            </c:ext>
          </c:extLst>
        </c:ser>
        <c:ser>
          <c:idx val="3"/>
          <c:order val="3"/>
          <c:tx>
            <c:v>上限</c:v>
          </c:tx>
          <c:spPr>
            <a:ln w="21908">
              <a:solidFill>
                <a:srgbClr val="7D8795"/>
              </a:solidFill>
              <a:prstDash val="solid"/>
            </a:ln>
          </c:spPr>
          <c:marker>
            <c:symbol val="none"/>
          </c:marker>
          <c:xVal>
            <c:numRef>
              <c:f>'Chart Data'!$G$2:$G$3</c:f>
              <c:numCache>
                <c:formatCode>General</c:formatCode>
                <c:ptCount val="2"/>
                <c:pt idx="0">
                  <c:v>0</c:v>
                </c:pt>
                <c:pt idx="1">
                  <c:v>24</c:v>
                </c:pt>
              </c:numCache>
            </c:numRef>
          </c:xVal>
          <c:yVal>
            <c:numRef>
              <c:f>'Chart Data'!$H$2:$H$3</c:f>
              <c:numCache>
                <c:formatCode>0</c:formatCode>
                <c:ptCount val="2"/>
                <c:pt idx="0">
                  <c:v>4800</c:v>
                </c:pt>
                <c:pt idx="1">
                  <c:v>4800</c:v>
                </c:pt>
              </c:numCache>
            </c:numRef>
          </c:yVal>
          <c:smooth val="1"/>
          <c:extLst>
            <c:ext xmlns:c16="http://schemas.microsoft.com/office/drawing/2014/chart" uri="{C3380CC4-5D6E-409C-BE32-E72D297353CC}">
              <c16:uniqueId val="{00000003-0128-4C23-8930-771C9253780B}"/>
            </c:ext>
          </c:extLst>
        </c:ser>
        <c:dLbls>
          <c:showLegendKey val="0"/>
          <c:showVal val="0"/>
          <c:showCatName val="0"/>
          <c:showSerName val="0"/>
          <c:showPercent val="0"/>
          <c:showBubbleSize val="0"/>
        </c:dLbls>
        <c:axId val="48650112"/>
        <c:axId val="48672768"/>
      </c:scatterChart>
      <c:valAx>
        <c:axId val="48672768"/>
        <c:scaling>
          <c:orientation val="minMax"/>
          <c:max val="6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5.7000999999999999</c:v>
                </c:pt>
                <c:pt idx="47">
                  <c:v>5.7000999999999999</c:v>
                </c:pt>
                <c:pt idx="48">
                  <c:v>34.074157</c:v>
                </c:pt>
                <c:pt idx="49">
                  <c:v>34.074157</c:v>
                </c:pt>
                <c:pt idx="50">
                  <c:v>35.549900000000001</c:v>
                </c:pt>
                <c:pt idx="51">
                  <c:v>35.549900000000001</c:v>
                </c:pt>
                <c:pt idx="52">
                  <c:v>155.54990000000001</c:v>
                </c:pt>
                <c:pt idx="53">
                  <c:v>155.54990000000001</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191.45341500000001</c:v>
                </c:pt>
                <c:pt idx="67">
                  <c:v>191.45341500000001</c:v>
                </c:pt>
                <c:pt idx="68">
                  <c:v>505.75</c:v>
                </c:pt>
                <c:pt idx="69">
                  <c:v>505.75</c:v>
                </c:pt>
                <c:pt idx="70">
                  <c:v>0</c:v>
                </c:pt>
                <c:pt idx="71">
                  <c:v>0</c:v>
                </c:pt>
                <c:pt idx="72">
                  <c:v>1.11E-4</c:v>
                </c:pt>
                <c:pt idx="73">
                  <c:v>1.11E-4</c:v>
                </c:pt>
                <c:pt idx="74">
                  <c:v>0</c:v>
                </c:pt>
                <c:pt idx="75">
                  <c:v>0</c:v>
                </c:pt>
                <c:pt idx="76">
                  <c:v>0</c:v>
                </c:pt>
                <c:pt idx="77">
                  <c:v>0</c:v>
                </c:pt>
                <c:pt idx="78">
                  <c:v>0</c:v>
                </c:pt>
                <c:pt idx="79">
                  <c:v>0</c:v>
                </c:pt>
                <c:pt idx="80">
                  <c:v>737.11445900000001</c:v>
                </c:pt>
                <c:pt idx="81">
                  <c:v>737.11445900000001</c:v>
                </c:pt>
                <c:pt idx="82">
                  <c:v>753.09990000000005</c:v>
                </c:pt>
                <c:pt idx="83">
                  <c:v>753.09990000000005</c:v>
                </c:pt>
                <c:pt idx="84">
                  <c:v>753.09990000000005</c:v>
                </c:pt>
                <c:pt idx="85">
                  <c:v>753.09990000000005</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510.32214599999998</c:v>
                </c:pt>
                <c:pt idx="105">
                  <c:v>510.32214599999998</c:v>
                </c:pt>
                <c:pt idx="106">
                  <c:v>0</c:v>
                </c:pt>
                <c:pt idx="107">
                  <c:v>0</c:v>
                </c:pt>
                <c:pt idx="108">
                  <c:v>0</c:v>
                </c:pt>
                <c:pt idx="109">
                  <c:v>0</c:v>
                </c:pt>
                <c:pt idx="110">
                  <c:v>708.05</c:v>
                </c:pt>
                <c:pt idx="111">
                  <c:v>708.05</c:v>
                </c:pt>
                <c:pt idx="112">
                  <c:v>583.95000000000005</c:v>
                </c:pt>
                <c:pt idx="113">
                  <c:v>583.95000000000005</c:v>
                </c:pt>
                <c:pt idx="114">
                  <c:v>583.95000000000005</c:v>
                </c:pt>
                <c:pt idx="115">
                  <c:v>583.95000000000005</c:v>
                </c:pt>
                <c:pt idx="116">
                  <c:v>583.95000000000005</c:v>
                </c:pt>
                <c:pt idx="117">
                  <c:v>583.95000000000005</c:v>
                </c:pt>
                <c:pt idx="118">
                  <c:v>583.95000000000005</c:v>
                </c:pt>
                <c:pt idx="119">
                  <c:v>583.95000000000005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9.3946000000000002E-2</c:v>
                </c:pt>
                <c:pt idx="145">
                  <c:v>9.3946000000000002E-2</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1DE3-4617-B284-A5A01BCA9CCE}"/>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398.29940599999998</c:v>
                </c:pt>
                <c:pt idx="3">
                  <c:v>398.29940599999998</c:v>
                </c:pt>
                <c:pt idx="4">
                  <c:v>504.435136</c:v>
                </c:pt>
                <c:pt idx="5">
                  <c:v>504.435136</c:v>
                </c:pt>
                <c:pt idx="6">
                  <c:v>487.76072499999998</c:v>
                </c:pt>
                <c:pt idx="7">
                  <c:v>487.76072499999998</c:v>
                </c:pt>
                <c:pt idx="8">
                  <c:v>450.61163299999998</c:v>
                </c:pt>
                <c:pt idx="9">
                  <c:v>450.61163299999998</c:v>
                </c:pt>
                <c:pt idx="10">
                  <c:v>473.91001199999999</c:v>
                </c:pt>
                <c:pt idx="11">
                  <c:v>473.91001199999999</c:v>
                </c:pt>
                <c:pt idx="12">
                  <c:v>480.00040000000001</c:v>
                </c:pt>
                <c:pt idx="13">
                  <c:v>480.00040000000001</c:v>
                </c:pt>
                <c:pt idx="14">
                  <c:v>586.11146599999995</c:v>
                </c:pt>
                <c:pt idx="15">
                  <c:v>586.11146599999995</c:v>
                </c:pt>
                <c:pt idx="16">
                  <c:v>285.30003099999999</c:v>
                </c:pt>
                <c:pt idx="17">
                  <c:v>285.30003099999999</c:v>
                </c:pt>
                <c:pt idx="18">
                  <c:v>297.21764100000001</c:v>
                </c:pt>
                <c:pt idx="19">
                  <c:v>297.21764100000001</c:v>
                </c:pt>
                <c:pt idx="20">
                  <c:v>359.67336499999999</c:v>
                </c:pt>
                <c:pt idx="21">
                  <c:v>359.67336499999999</c:v>
                </c:pt>
                <c:pt idx="22">
                  <c:v>227.13475</c:v>
                </c:pt>
                <c:pt idx="23">
                  <c:v>227.13475</c:v>
                </c:pt>
                <c:pt idx="24">
                  <c:v>402.56639799999999</c:v>
                </c:pt>
                <c:pt idx="25">
                  <c:v>402.56639799999999</c:v>
                </c:pt>
                <c:pt idx="26">
                  <c:v>270.00082099999997</c:v>
                </c:pt>
                <c:pt idx="27">
                  <c:v>270.00082099999997</c:v>
                </c:pt>
                <c:pt idx="28">
                  <c:v>180.00094200000001</c:v>
                </c:pt>
                <c:pt idx="29">
                  <c:v>180.00094200000001</c:v>
                </c:pt>
                <c:pt idx="30">
                  <c:v>19.165403999999999</c:v>
                </c:pt>
                <c:pt idx="31">
                  <c:v>19.165403999999999</c:v>
                </c:pt>
                <c:pt idx="32">
                  <c:v>396.52940100000001</c:v>
                </c:pt>
                <c:pt idx="33">
                  <c:v>396.52940100000001</c:v>
                </c:pt>
                <c:pt idx="34">
                  <c:v>275.45946800000002</c:v>
                </c:pt>
                <c:pt idx="35">
                  <c:v>275.45946800000002</c:v>
                </c:pt>
                <c:pt idx="36">
                  <c:v>115.99958700000001</c:v>
                </c:pt>
                <c:pt idx="37">
                  <c:v>115.99958700000001</c:v>
                </c:pt>
                <c:pt idx="38">
                  <c:v>223.76831200000001</c:v>
                </c:pt>
                <c:pt idx="39">
                  <c:v>223.76831200000001</c:v>
                </c:pt>
                <c:pt idx="40">
                  <c:v>29.999804000000001</c:v>
                </c:pt>
                <c:pt idx="41">
                  <c:v>29.999804000000001</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90.000100000000003</c:v>
                </c:pt>
                <c:pt idx="171">
                  <c:v>90.000100000000003</c:v>
                </c:pt>
                <c:pt idx="172">
                  <c:v>90.000100000000003</c:v>
                </c:pt>
                <c:pt idx="173">
                  <c:v>90.000100000000003</c:v>
                </c:pt>
                <c:pt idx="174">
                  <c:v>29.9998</c:v>
                </c:pt>
                <c:pt idx="175">
                  <c:v>29.9998</c:v>
                </c:pt>
                <c:pt idx="176">
                  <c:v>60</c:v>
                </c:pt>
                <c:pt idx="177">
                  <c:v>60</c:v>
                </c:pt>
                <c:pt idx="178">
                  <c:v>30</c:v>
                </c:pt>
                <c:pt idx="179">
                  <c:v>30</c:v>
                </c:pt>
                <c:pt idx="180">
                  <c:v>90</c:v>
                </c:pt>
                <c:pt idx="181">
                  <c:v>90</c:v>
                </c:pt>
                <c:pt idx="182">
                  <c:v>270</c:v>
                </c:pt>
                <c:pt idx="183">
                  <c:v>270</c:v>
                </c:pt>
                <c:pt idx="184">
                  <c:v>449.99990000000003</c:v>
                </c:pt>
                <c:pt idx="185">
                  <c:v>449.99990000000003</c:v>
                </c:pt>
                <c:pt idx="186">
                  <c:v>495.52477499999998</c:v>
                </c:pt>
                <c:pt idx="187">
                  <c:v>495.52477499999998</c:v>
                </c:pt>
                <c:pt idx="188">
                  <c:v>320.661744</c:v>
                </c:pt>
                <c:pt idx="189">
                  <c:v>320.661744</c:v>
                </c:pt>
                <c:pt idx="190">
                  <c:v>371.39280400000001</c:v>
                </c:pt>
                <c:pt idx="191">
                  <c:v>371.39280400000001</c:v>
                </c:pt>
              </c:numCache>
            </c:numRef>
          </c:yVal>
          <c:smooth val="1"/>
          <c:extLst>
            <c:ext xmlns:c16="http://schemas.microsoft.com/office/drawing/2014/chart" uri="{C3380CC4-5D6E-409C-BE32-E72D297353CC}">
              <c16:uniqueId val="{00000001-1DE3-4617-B284-A5A01BCA9CCE}"/>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43.857895999999997</c:v>
                </c:pt>
                <c:pt idx="53">
                  <c:v>43.857895999999997</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68.944603000000001</c:v>
                </c:pt>
                <c:pt idx="83">
                  <c:v>68.944603000000001</c:v>
                </c:pt>
                <c:pt idx="84">
                  <c:v>24.9999</c:v>
                </c:pt>
                <c:pt idx="85">
                  <c:v>24.9999</c:v>
                </c:pt>
                <c:pt idx="86">
                  <c:v>68.944703000000004</c:v>
                </c:pt>
                <c:pt idx="87">
                  <c:v>68.944703000000004</c:v>
                </c:pt>
                <c:pt idx="88">
                  <c:v>66.650000000000006</c:v>
                </c:pt>
                <c:pt idx="89">
                  <c:v>66.650000000000006</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85.582396000000003</c:v>
                </c:pt>
                <c:pt idx="125">
                  <c:v>85.582396000000003</c:v>
                </c:pt>
                <c:pt idx="126">
                  <c:v>89.25</c:v>
                </c:pt>
                <c:pt idx="127">
                  <c:v>89.25</c:v>
                </c:pt>
                <c:pt idx="128">
                  <c:v>58.65</c:v>
                </c:pt>
                <c:pt idx="129">
                  <c:v>58.65</c:v>
                </c:pt>
                <c:pt idx="130">
                  <c:v>28.65</c:v>
                </c:pt>
                <c:pt idx="131">
                  <c:v>28.65</c:v>
                </c:pt>
                <c:pt idx="132">
                  <c:v>58.65</c:v>
                </c:pt>
                <c:pt idx="133">
                  <c:v>58.65</c:v>
                </c:pt>
                <c:pt idx="134">
                  <c:v>28.650099999999998</c:v>
                </c:pt>
                <c:pt idx="135">
                  <c:v>28.650099999999998</c:v>
                </c:pt>
                <c:pt idx="136">
                  <c:v>27.1999</c:v>
                </c:pt>
                <c:pt idx="137">
                  <c:v>27.1999</c:v>
                </c:pt>
                <c:pt idx="138">
                  <c:v>27.1999</c:v>
                </c:pt>
                <c:pt idx="139">
                  <c:v>27.1999</c:v>
                </c:pt>
                <c:pt idx="140">
                  <c:v>6.9999999999999999E-4</c:v>
                </c:pt>
                <c:pt idx="141">
                  <c:v>6.9999999999999999E-4</c:v>
                </c:pt>
                <c:pt idx="142">
                  <c:v>27.1999</c:v>
                </c:pt>
                <c:pt idx="143">
                  <c:v>27.1999</c:v>
                </c:pt>
                <c:pt idx="144">
                  <c:v>2.5499000000000001</c:v>
                </c:pt>
                <c:pt idx="145">
                  <c:v>2.5499000000000001</c:v>
                </c:pt>
                <c:pt idx="146">
                  <c:v>2.5499000000000001</c:v>
                </c:pt>
                <c:pt idx="147">
                  <c:v>2.5499000000000001</c:v>
                </c:pt>
                <c:pt idx="148">
                  <c:v>2.5499000000000001</c:v>
                </c:pt>
                <c:pt idx="149">
                  <c:v>2.5499000000000001</c:v>
                </c:pt>
                <c:pt idx="150">
                  <c:v>2.5499000000000001</c:v>
                </c:pt>
                <c:pt idx="151">
                  <c:v>2.5499000000000001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1B1-4495-A78F-060BF1BE8F04}"/>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199.51293799999999</c:v>
                </c:pt>
                <c:pt idx="3">
                  <c:v>199.51293799999999</c:v>
                </c:pt>
                <c:pt idx="4">
                  <c:v>179.673565</c:v>
                </c:pt>
                <c:pt idx="5">
                  <c:v>179.673565</c:v>
                </c:pt>
                <c:pt idx="6">
                  <c:v>150</c:v>
                </c:pt>
                <c:pt idx="7">
                  <c:v>150</c:v>
                </c:pt>
                <c:pt idx="8">
                  <c:v>214.06204199999999</c:v>
                </c:pt>
                <c:pt idx="9">
                  <c:v>214.06204199999999</c:v>
                </c:pt>
                <c:pt idx="10">
                  <c:v>257.27530000000002</c:v>
                </c:pt>
                <c:pt idx="11">
                  <c:v>257.27530000000002</c:v>
                </c:pt>
                <c:pt idx="12">
                  <c:v>1E-4</c:v>
                </c:pt>
                <c:pt idx="13">
                  <c:v>1E-4</c:v>
                </c:pt>
                <c:pt idx="14">
                  <c:v>0</c:v>
                </c:pt>
                <c:pt idx="15">
                  <c:v>0</c:v>
                </c:pt>
                <c:pt idx="16">
                  <c:v>150</c:v>
                </c:pt>
                <c:pt idx="17">
                  <c:v>150</c:v>
                </c:pt>
                <c:pt idx="18">
                  <c:v>10.200100000000001</c:v>
                </c:pt>
                <c:pt idx="19">
                  <c:v>10.200100000000001</c:v>
                </c:pt>
                <c:pt idx="20">
                  <c:v>1E-4</c:v>
                </c:pt>
                <c:pt idx="21">
                  <c:v>1E-4</c:v>
                </c:pt>
                <c:pt idx="22">
                  <c:v>0</c:v>
                </c:pt>
                <c:pt idx="23">
                  <c:v>0</c:v>
                </c:pt>
                <c:pt idx="24">
                  <c:v>30</c:v>
                </c:pt>
                <c:pt idx="25">
                  <c:v>30</c:v>
                </c:pt>
                <c:pt idx="26">
                  <c:v>0</c:v>
                </c:pt>
                <c:pt idx="27">
                  <c:v>0</c:v>
                </c:pt>
                <c:pt idx="28">
                  <c:v>30</c:v>
                </c:pt>
                <c:pt idx="29">
                  <c:v>30</c:v>
                </c:pt>
                <c:pt idx="30">
                  <c:v>0</c:v>
                </c:pt>
                <c:pt idx="31">
                  <c:v>0</c:v>
                </c:pt>
                <c:pt idx="32">
                  <c:v>53.062269999999998</c:v>
                </c:pt>
                <c:pt idx="33">
                  <c:v>53.062269999999998</c:v>
                </c:pt>
                <c:pt idx="34">
                  <c:v>0</c:v>
                </c:pt>
                <c:pt idx="35">
                  <c:v>0</c:v>
                </c:pt>
                <c:pt idx="36">
                  <c:v>30.000420999999999</c:v>
                </c:pt>
                <c:pt idx="37">
                  <c:v>30.000420999999999</c:v>
                </c:pt>
                <c:pt idx="38">
                  <c:v>1E-4</c:v>
                </c:pt>
                <c:pt idx="39">
                  <c:v>1E-4</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1.1999999999999999E-3</c:v>
                </c:pt>
                <c:pt idx="171">
                  <c:v>1.1999999999999999E-3</c:v>
                </c:pt>
                <c:pt idx="172">
                  <c:v>60</c:v>
                </c:pt>
                <c:pt idx="173">
                  <c:v>60</c:v>
                </c:pt>
                <c:pt idx="174">
                  <c:v>1E-4</c:v>
                </c:pt>
                <c:pt idx="175">
                  <c:v>1E-4</c:v>
                </c:pt>
                <c:pt idx="176">
                  <c:v>42.049942000000001</c:v>
                </c:pt>
                <c:pt idx="177">
                  <c:v>42.049942000000001</c:v>
                </c:pt>
                <c:pt idx="178">
                  <c:v>0</c:v>
                </c:pt>
                <c:pt idx="179">
                  <c:v>0</c:v>
                </c:pt>
                <c:pt idx="180">
                  <c:v>90</c:v>
                </c:pt>
                <c:pt idx="181">
                  <c:v>90</c:v>
                </c:pt>
                <c:pt idx="182">
                  <c:v>150</c:v>
                </c:pt>
                <c:pt idx="183">
                  <c:v>150</c:v>
                </c:pt>
                <c:pt idx="184">
                  <c:v>238.61261099999999</c:v>
                </c:pt>
                <c:pt idx="185">
                  <c:v>238.61261099999999</c:v>
                </c:pt>
                <c:pt idx="186">
                  <c:v>181.38748899999999</c:v>
                </c:pt>
                <c:pt idx="187">
                  <c:v>181.38748899999999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F1B1-4495-A78F-060BF1BE8F0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正の電力を持つ充電セッション</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10</c:v>
                </c:pt>
                <c:pt idx="1">
                  <c:v>10</c:v>
                </c:pt>
                <c:pt idx="2">
                  <c:v>10</c:v>
                </c:pt>
                <c:pt idx="3">
                  <c:v>10</c:v>
                </c:pt>
                <c:pt idx="4">
                  <c:v>10</c:v>
                </c:pt>
                <c:pt idx="5">
                  <c:v>10</c:v>
                </c:pt>
                <c:pt idx="6">
                  <c:v>9</c:v>
                </c:pt>
                <c:pt idx="7">
                  <c:v>9</c:v>
                </c:pt>
                <c:pt idx="8">
                  <c:v>9</c:v>
                </c:pt>
                <c:pt idx="9">
                  <c:v>9</c:v>
                </c:pt>
                <c:pt idx="10">
                  <c:v>10</c:v>
                </c:pt>
                <c:pt idx="11">
                  <c:v>10</c:v>
                </c:pt>
                <c:pt idx="12">
                  <c:v>10</c:v>
                </c:pt>
                <c:pt idx="13">
                  <c:v>10</c:v>
                </c:pt>
                <c:pt idx="14">
                  <c:v>9</c:v>
                </c:pt>
                <c:pt idx="15">
                  <c:v>9</c:v>
                </c:pt>
                <c:pt idx="16">
                  <c:v>8</c:v>
                </c:pt>
                <c:pt idx="17">
                  <c:v>8</c:v>
                </c:pt>
                <c:pt idx="18">
                  <c:v>6</c:v>
                </c:pt>
                <c:pt idx="19">
                  <c:v>6</c:v>
                </c:pt>
                <c:pt idx="20">
                  <c:v>5</c:v>
                </c:pt>
                <c:pt idx="21">
                  <c:v>5</c:v>
                </c:pt>
                <c:pt idx="22">
                  <c:v>6</c:v>
                </c:pt>
                <c:pt idx="23">
                  <c:v>6</c:v>
                </c:pt>
                <c:pt idx="24">
                  <c:v>10</c:v>
                </c:pt>
                <c:pt idx="25">
                  <c:v>10</c:v>
                </c:pt>
                <c:pt idx="26">
                  <c:v>10</c:v>
                </c:pt>
                <c:pt idx="27">
                  <c:v>10</c:v>
                </c:pt>
                <c:pt idx="28">
                  <c:v>6</c:v>
                </c:pt>
                <c:pt idx="29">
                  <c:v>6</c:v>
                </c:pt>
                <c:pt idx="30">
                  <c:v>6</c:v>
                </c:pt>
                <c:pt idx="31">
                  <c:v>6</c:v>
                </c:pt>
                <c:pt idx="32">
                  <c:v>10</c:v>
                </c:pt>
                <c:pt idx="33">
                  <c:v>10</c:v>
                </c:pt>
                <c:pt idx="34">
                  <c:v>7</c:v>
                </c:pt>
                <c:pt idx="35">
                  <c:v>7</c:v>
                </c:pt>
                <c:pt idx="36">
                  <c:v>5</c:v>
                </c:pt>
                <c:pt idx="37">
                  <c:v>5</c:v>
                </c:pt>
                <c:pt idx="38">
                  <c:v>6</c:v>
                </c:pt>
                <c:pt idx="39">
                  <c:v>6</c:v>
                </c:pt>
                <c:pt idx="40">
                  <c:v>4</c:v>
                </c:pt>
                <c:pt idx="41">
                  <c:v>4</c:v>
                </c:pt>
                <c:pt idx="42">
                  <c:v>2</c:v>
                </c:pt>
                <c:pt idx="43">
                  <c:v>2</c:v>
                </c:pt>
                <c:pt idx="44">
                  <c:v>2</c:v>
                </c:pt>
                <c:pt idx="45">
                  <c:v>2</c:v>
                </c:pt>
                <c:pt idx="46">
                  <c:v>1</c:v>
                </c:pt>
                <c:pt idx="47">
                  <c:v>1</c:v>
                </c:pt>
                <c:pt idx="48">
                  <c:v>6</c:v>
                </c:pt>
                <c:pt idx="49">
                  <c:v>6</c:v>
                </c:pt>
                <c:pt idx="50">
                  <c:v>3</c:v>
                </c:pt>
                <c:pt idx="51">
                  <c:v>3</c:v>
                </c:pt>
                <c:pt idx="52">
                  <c:v>1</c:v>
                </c:pt>
                <c:pt idx="53">
                  <c:v>1</c:v>
                </c:pt>
                <c:pt idx="54">
                  <c:v>1</c:v>
                </c:pt>
                <c:pt idx="55">
                  <c:v>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c:v>
                </c:pt>
                <c:pt idx="73">
                  <c:v>1</c:v>
                </c:pt>
                <c:pt idx="74">
                  <c:v>1</c:v>
                </c:pt>
                <c:pt idx="75">
                  <c:v>1</c:v>
                </c:pt>
                <c:pt idx="76">
                  <c:v>1</c:v>
                </c:pt>
                <c:pt idx="77">
                  <c:v>1</c:v>
                </c:pt>
                <c:pt idx="78">
                  <c:v>1</c:v>
                </c:pt>
                <c:pt idx="79">
                  <c:v>1</c:v>
                </c:pt>
                <c:pt idx="80">
                  <c:v>4</c:v>
                </c:pt>
                <c:pt idx="81">
                  <c:v>4</c:v>
                </c:pt>
                <c:pt idx="82">
                  <c:v>1</c:v>
                </c:pt>
                <c:pt idx="83">
                  <c:v>1</c:v>
                </c:pt>
                <c:pt idx="84">
                  <c:v>1</c:v>
                </c:pt>
                <c:pt idx="85">
                  <c:v>1</c:v>
                </c:pt>
                <c:pt idx="86">
                  <c:v>1</c:v>
                </c:pt>
                <c:pt idx="87">
                  <c:v>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2</c:v>
                </c:pt>
                <c:pt idx="171">
                  <c:v>2</c:v>
                </c:pt>
                <c:pt idx="172">
                  <c:v>2</c:v>
                </c:pt>
                <c:pt idx="173">
                  <c:v>2</c:v>
                </c:pt>
                <c:pt idx="174">
                  <c:v>2</c:v>
                </c:pt>
                <c:pt idx="175">
                  <c:v>2</c:v>
                </c:pt>
                <c:pt idx="176">
                  <c:v>1</c:v>
                </c:pt>
                <c:pt idx="177">
                  <c:v>1</c:v>
                </c:pt>
                <c:pt idx="178">
                  <c:v>1</c:v>
                </c:pt>
                <c:pt idx="179">
                  <c:v>1</c:v>
                </c:pt>
                <c:pt idx="180">
                  <c:v>2</c:v>
                </c:pt>
                <c:pt idx="181">
                  <c:v>2</c:v>
                </c:pt>
                <c:pt idx="182">
                  <c:v>4</c:v>
                </c:pt>
                <c:pt idx="183">
                  <c:v>4</c:v>
                </c:pt>
                <c:pt idx="184">
                  <c:v>7</c:v>
                </c:pt>
                <c:pt idx="185">
                  <c:v>7</c:v>
                </c:pt>
                <c:pt idx="186">
                  <c:v>6</c:v>
                </c:pt>
                <c:pt idx="187">
                  <c:v>6</c:v>
                </c:pt>
                <c:pt idx="188">
                  <c:v>8</c:v>
                </c:pt>
                <c:pt idx="189">
                  <c:v>8</c:v>
                </c:pt>
                <c:pt idx="190">
                  <c:v>9</c:v>
                </c:pt>
                <c:pt idx="191">
                  <c:v>9</c:v>
                </c:pt>
              </c:numCache>
            </c:numRef>
          </c:yVal>
          <c:smooth val="1"/>
          <c:extLst>
            <c:ext xmlns:c16="http://schemas.microsoft.com/office/drawing/2014/chart" uri="{C3380CC4-5D6E-409C-BE32-E72D297353CC}">
              <c16:uniqueId val="{00000000-2C23-45B1-A758-9D08A603BFCB}"/>
            </c:ext>
          </c:extLst>
        </c:ser>
        <c:ser>
          <c:idx val="1"/>
          <c:order val="1"/>
          <c:tx>
            <c:v>低PV（RAIN）</c:v>
          </c:tx>
          <c:spPr>
            <a:ln w="21908">
              <a:solidFill>
                <a:srgbClr val="6B54A3"/>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4</c:v>
                </c:pt>
                <c:pt idx="1">
                  <c:v>4</c:v>
                </c:pt>
                <c:pt idx="2">
                  <c:v>7</c:v>
                </c:pt>
                <c:pt idx="3">
                  <c:v>7</c:v>
                </c:pt>
                <c:pt idx="4">
                  <c:v>4</c:v>
                </c:pt>
                <c:pt idx="5">
                  <c:v>4</c:v>
                </c:pt>
                <c:pt idx="6">
                  <c:v>2</c:v>
                </c:pt>
                <c:pt idx="7">
                  <c:v>2</c:v>
                </c:pt>
                <c:pt idx="8">
                  <c:v>8</c:v>
                </c:pt>
                <c:pt idx="9">
                  <c:v>8</c:v>
                </c:pt>
                <c:pt idx="10">
                  <c:v>7</c:v>
                </c:pt>
                <c:pt idx="11">
                  <c:v>7</c:v>
                </c:pt>
                <c:pt idx="12">
                  <c:v>1</c:v>
                </c:pt>
                <c:pt idx="13">
                  <c:v>1</c:v>
                </c:pt>
                <c:pt idx="14">
                  <c:v>0</c:v>
                </c:pt>
                <c:pt idx="15">
                  <c:v>0</c:v>
                </c:pt>
                <c:pt idx="16">
                  <c:v>3</c:v>
                </c:pt>
                <c:pt idx="17">
                  <c:v>3</c:v>
                </c:pt>
                <c:pt idx="18">
                  <c:v>2</c:v>
                </c:pt>
                <c:pt idx="19">
                  <c:v>2</c:v>
                </c:pt>
                <c:pt idx="20">
                  <c:v>1</c:v>
                </c:pt>
                <c:pt idx="21">
                  <c:v>1</c:v>
                </c:pt>
                <c:pt idx="22">
                  <c:v>0</c:v>
                </c:pt>
                <c:pt idx="23">
                  <c:v>0</c:v>
                </c:pt>
                <c:pt idx="24">
                  <c:v>1</c:v>
                </c:pt>
                <c:pt idx="25">
                  <c:v>1</c:v>
                </c:pt>
                <c:pt idx="26">
                  <c:v>0</c:v>
                </c:pt>
                <c:pt idx="27">
                  <c:v>0</c:v>
                </c:pt>
                <c:pt idx="28">
                  <c:v>1</c:v>
                </c:pt>
                <c:pt idx="29">
                  <c:v>1</c:v>
                </c:pt>
                <c:pt idx="30">
                  <c:v>0</c:v>
                </c:pt>
                <c:pt idx="31">
                  <c:v>0</c:v>
                </c:pt>
                <c:pt idx="32">
                  <c:v>4</c:v>
                </c:pt>
                <c:pt idx="33">
                  <c:v>4</c:v>
                </c:pt>
                <c:pt idx="34">
                  <c:v>0</c:v>
                </c:pt>
                <c:pt idx="35">
                  <c:v>0</c:v>
                </c:pt>
                <c:pt idx="36">
                  <c:v>2</c:v>
                </c:pt>
                <c:pt idx="37">
                  <c:v>2</c:v>
                </c:pt>
                <c:pt idx="38">
                  <c:v>1</c:v>
                </c:pt>
                <c:pt idx="39">
                  <c:v>1</c:v>
                </c:pt>
                <c:pt idx="40">
                  <c:v>1</c:v>
                </c:pt>
                <c:pt idx="41">
                  <c:v>1</c:v>
                </c:pt>
                <c:pt idx="42">
                  <c:v>1</c:v>
                </c:pt>
                <c:pt idx="43">
                  <c:v>1</c:v>
                </c:pt>
                <c:pt idx="44">
                  <c:v>4</c:v>
                </c:pt>
                <c:pt idx="45">
                  <c:v>4</c:v>
                </c:pt>
                <c:pt idx="46">
                  <c:v>4</c:v>
                </c:pt>
                <c:pt idx="47">
                  <c:v>4</c:v>
                </c:pt>
                <c:pt idx="48">
                  <c:v>5</c:v>
                </c:pt>
                <c:pt idx="49">
                  <c:v>5</c:v>
                </c:pt>
                <c:pt idx="50">
                  <c:v>4</c:v>
                </c:pt>
                <c:pt idx="51">
                  <c:v>4</c:v>
                </c:pt>
                <c:pt idx="52">
                  <c:v>1</c:v>
                </c:pt>
                <c:pt idx="53">
                  <c:v>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c:v>
                </c:pt>
                <c:pt idx="71">
                  <c:v>1</c:v>
                </c:pt>
                <c:pt idx="72">
                  <c:v>3</c:v>
                </c:pt>
                <c:pt idx="73">
                  <c:v>3</c:v>
                </c:pt>
                <c:pt idx="74">
                  <c:v>4</c:v>
                </c:pt>
                <c:pt idx="75">
                  <c:v>4</c:v>
                </c:pt>
                <c:pt idx="76">
                  <c:v>4</c:v>
                </c:pt>
                <c:pt idx="77">
                  <c:v>4</c:v>
                </c:pt>
                <c:pt idx="78">
                  <c:v>4</c:v>
                </c:pt>
                <c:pt idx="79">
                  <c:v>4</c:v>
                </c:pt>
                <c:pt idx="80">
                  <c:v>1</c:v>
                </c:pt>
                <c:pt idx="81">
                  <c:v>1</c:v>
                </c:pt>
                <c:pt idx="82">
                  <c:v>2</c:v>
                </c:pt>
                <c:pt idx="83">
                  <c:v>2</c:v>
                </c:pt>
                <c:pt idx="84">
                  <c:v>2</c:v>
                </c:pt>
                <c:pt idx="85">
                  <c:v>2</c:v>
                </c:pt>
                <c:pt idx="86">
                  <c:v>2</c:v>
                </c:pt>
                <c:pt idx="87">
                  <c:v>2</c:v>
                </c:pt>
                <c:pt idx="88">
                  <c:v>1</c:v>
                </c:pt>
                <c:pt idx="89">
                  <c:v>1</c:v>
                </c:pt>
                <c:pt idx="90">
                  <c:v>1</c:v>
                </c:pt>
                <c:pt idx="91">
                  <c:v>1</c:v>
                </c:pt>
                <c:pt idx="92">
                  <c:v>1</c:v>
                </c:pt>
                <c:pt idx="93">
                  <c:v>1</c:v>
                </c:pt>
                <c:pt idx="94">
                  <c:v>1</c:v>
                </c:pt>
                <c:pt idx="95">
                  <c:v>1</c:v>
                </c:pt>
                <c:pt idx="96">
                  <c:v>0</c:v>
                </c:pt>
                <c:pt idx="97">
                  <c:v>0</c:v>
                </c:pt>
                <c:pt idx="98">
                  <c:v>0</c:v>
                </c:pt>
                <c:pt idx="99">
                  <c:v>0</c:v>
                </c:pt>
                <c:pt idx="100">
                  <c:v>0</c:v>
                </c:pt>
                <c:pt idx="101">
                  <c:v>0</c:v>
                </c:pt>
                <c:pt idx="102">
                  <c:v>0</c:v>
                </c:pt>
                <c:pt idx="103">
                  <c:v>0</c:v>
                </c:pt>
                <c:pt idx="104">
                  <c:v>1</c:v>
                </c:pt>
                <c:pt idx="105">
                  <c:v>1</c:v>
                </c:pt>
                <c:pt idx="106">
                  <c:v>0</c:v>
                </c:pt>
                <c:pt idx="107">
                  <c:v>0</c:v>
                </c:pt>
                <c:pt idx="108">
                  <c:v>1</c:v>
                </c:pt>
                <c:pt idx="109">
                  <c:v>1</c:v>
                </c:pt>
                <c:pt idx="110">
                  <c:v>0</c:v>
                </c:pt>
                <c:pt idx="111">
                  <c:v>0</c:v>
                </c:pt>
                <c:pt idx="112">
                  <c:v>1</c:v>
                </c:pt>
                <c:pt idx="113">
                  <c:v>1</c:v>
                </c:pt>
                <c:pt idx="114">
                  <c:v>0</c:v>
                </c:pt>
                <c:pt idx="115">
                  <c:v>0</c:v>
                </c:pt>
                <c:pt idx="116">
                  <c:v>1</c:v>
                </c:pt>
                <c:pt idx="117">
                  <c:v>1</c:v>
                </c:pt>
                <c:pt idx="118">
                  <c:v>0</c:v>
                </c:pt>
                <c:pt idx="119">
                  <c:v>0</c:v>
                </c:pt>
                <c:pt idx="120">
                  <c:v>1</c:v>
                </c:pt>
                <c:pt idx="121">
                  <c:v>1</c:v>
                </c:pt>
                <c:pt idx="122">
                  <c:v>0</c:v>
                </c:pt>
                <c:pt idx="123">
                  <c:v>0</c:v>
                </c:pt>
                <c:pt idx="124">
                  <c:v>1</c:v>
                </c:pt>
                <c:pt idx="125">
                  <c:v>1</c:v>
                </c:pt>
                <c:pt idx="126">
                  <c:v>0</c:v>
                </c:pt>
                <c:pt idx="127">
                  <c:v>0</c:v>
                </c:pt>
                <c:pt idx="128">
                  <c:v>0</c:v>
                </c:pt>
                <c:pt idx="129">
                  <c:v>0</c:v>
                </c:pt>
                <c:pt idx="130">
                  <c:v>1</c:v>
                </c:pt>
                <c:pt idx="131">
                  <c:v>1</c:v>
                </c:pt>
                <c:pt idx="132">
                  <c:v>0</c:v>
                </c:pt>
                <c:pt idx="133">
                  <c:v>0</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1</c:v>
                </c:pt>
                <c:pt idx="171">
                  <c:v>1</c:v>
                </c:pt>
                <c:pt idx="172">
                  <c:v>2</c:v>
                </c:pt>
                <c:pt idx="173">
                  <c:v>2</c:v>
                </c:pt>
                <c:pt idx="174">
                  <c:v>1</c:v>
                </c:pt>
                <c:pt idx="175">
                  <c:v>1</c:v>
                </c:pt>
                <c:pt idx="176">
                  <c:v>3</c:v>
                </c:pt>
                <c:pt idx="177">
                  <c:v>3</c:v>
                </c:pt>
                <c:pt idx="178">
                  <c:v>1</c:v>
                </c:pt>
                <c:pt idx="179">
                  <c:v>1</c:v>
                </c:pt>
                <c:pt idx="180">
                  <c:v>2</c:v>
                </c:pt>
                <c:pt idx="181">
                  <c:v>2</c:v>
                </c:pt>
                <c:pt idx="182">
                  <c:v>2</c:v>
                </c:pt>
                <c:pt idx="183">
                  <c:v>2</c:v>
                </c:pt>
                <c:pt idx="184">
                  <c:v>3</c:v>
                </c:pt>
                <c:pt idx="185">
                  <c:v>3</c:v>
                </c:pt>
                <c:pt idx="186">
                  <c:v>4</c:v>
                </c:pt>
                <c:pt idx="187">
                  <c:v>4</c:v>
                </c:pt>
                <c:pt idx="188">
                  <c:v>4</c:v>
                </c:pt>
                <c:pt idx="189">
                  <c:v>4</c:v>
                </c:pt>
                <c:pt idx="190">
                  <c:v>7</c:v>
                </c:pt>
                <c:pt idx="191">
                  <c:v>7</c:v>
                </c:pt>
              </c:numCache>
            </c:numRef>
          </c:yVal>
          <c:smooth val="1"/>
          <c:extLst>
            <c:ext xmlns:c16="http://schemas.microsoft.com/office/drawing/2014/chart" uri="{C3380CC4-5D6E-409C-BE32-E72D297353CC}">
              <c16:uniqueId val="{00000001-2C23-45B1-A758-9D08A603BFCB}"/>
            </c:ext>
          </c:extLst>
        </c:ser>
        <c:dLbls>
          <c:showLegendKey val="0"/>
          <c:showVal val="0"/>
          <c:showCatName val="0"/>
          <c:showSerName val="0"/>
          <c:showPercent val="0"/>
          <c:showBubbleSize val="0"/>
        </c:dLbls>
        <c:axId val="48650112"/>
        <c:axId val="48672768"/>
      </c:scatterChart>
      <c:valAx>
        <c:axId val="48672768"/>
        <c:scaling>
          <c:orientation val="minMax"/>
          <c:max val="1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台</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212.6 kWh</a:t>
            </a:r>
          </a:p>
        </c:rich>
      </c:tx>
      <c:overlay val="0"/>
    </c:title>
    <c:autoTitleDeleted val="0"/>
    <c:plotArea>
      <c:layout/>
      <c:scatterChart>
        <c:scatterStyle val="lineMarker"/>
        <c:varyColors val="1"/>
        <c:ser>
          <c:idx val="0"/>
          <c:order val="0"/>
          <c:tx>
            <c:v>充電器入力</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60</c:v>
                </c:pt>
                <c:pt idx="3">
                  <c:v>60</c:v>
                </c:pt>
                <c:pt idx="4">
                  <c:v>0</c:v>
                </c:pt>
                <c:pt idx="5">
                  <c:v>0</c:v>
                </c:pt>
                <c:pt idx="6">
                  <c:v>60</c:v>
                </c:pt>
                <c:pt idx="7">
                  <c:v>60</c:v>
                </c:pt>
                <c:pt idx="8">
                  <c:v>43.469760999999998</c:v>
                </c:pt>
                <c:pt idx="9">
                  <c:v>43.469760999999998</c:v>
                </c:pt>
                <c:pt idx="10">
                  <c:v>90</c:v>
                </c:pt>
                <c:pt idx="11">
                  <c:v>90</c:v>
                </c:pt>
                <c:pt idx="12">
                  <c:v>90</c:v>
                </c:pt>
                <c:pt idx="13">
                  <c:v>90</c:v>
                </c:pt>
                <c:pt idx="14">
                  <c:v>90</c:v>
                </c:pt>
                <c:pt idx="15">
                  <c:v>90</c:v>
                </c:pt>
                <c:pt idx="16">
                  <c:v>0</c:v>
                </c:pt>
                <c:pt idx="17">
                  <c:v>0</c:v>
                </c:pt>
                <c:pt idx="18">
                  <c:v>0</c:v>
                </c:pt>
                <c:pt idx="19">
                  <c:v>0</c:v>
                </c:pt>
                <c:pt idx="20">
                  <c:v>0</c:v>
                </c:pt>
                <c:pt idx="21">
                  <c:v>0</c:v>
                </c:pt>
                <c:pt idx="22">
                  <c:v>0</c:v>
                </c:pt>
                <c:pt idx="23">
                  <c:v>0</c:v>
                </c:pt>
                <c:pt idx="24">
                  <c:v>0</c:v>
                </c:pt>
                <c:pt idx="25">
                  <c:v>0</c:v>
                </c:pt>
                <c:pt idx="26">
                  <c:v>0</c:v>
                </c:pt>
                <c:pt idx="27">
                  <c:v>0</c:v>
                </c:pt>
                <c:pt idx="28">
                  <c:v>60</c:v>
                </c:pt>
                <c:pt idx="29">
                  <c:v>60</c:v>
                </c:pt>
                <c:pt idx="30">
                  <c:v>1E-4</c:v>
                </c:pt>
                <c:pt idx="31">
                  <c:v>1E-4</c:v>
                </c:pt>
                <c:pt idx="32">
                  <c:v>60</c:v>
                </c:pt>
                <c:pt idx="33">
                  <c:v>60</c:v>
                </c:pt>
                <c:pt idx="34">
                  <c:v>0</c:v>
                </c:pt>
                <c:pt idx="35">
                  <c:v>0</c:v>
                </c:pt>
                <c:pt idx="36">
                  <c:v>12.210426</c:v>
                </c:pt>
                <c:pt idx="37">
                  <c:v>12.210426</c:v>
                </c:pt>
                <c:pt idx="38">
                  <c:v>60</c:v>
                </c:pt>
                <c:pt idx="39">
                  <c:v>60</c:v>
                </c:pt>
                <c:pt idx="40">
                  <c:v>0</c:v>
                </c:pt>
                <c:pt idx="41">
                  <c:v>0</c:v>
                </c:pt>
                <c:pt idx="42">
                  <c:v>0</c:v>
                </c:pt>
                <c:pt idx="43">
                  <c:v>0</c:v>
                </c:pt>
                <c:pt idx="44">
                  <c:v>28.969414</c:v>
                </c:pt>
                <c:pt idx="45">
                  <c:v>28.969414</c:v>
                </c:pt>
                <c:pt idx="46">
                  <c:v>0</c:v>
                </c:pt>
                <c:pt idx="47">
                  <c:v>0</c:v>
                </c:pt>
                <c:pt idx="48">
                  <c:v>0</c:v>
                </c:pt>
                <c:pt idx="49">
                  <c:v>0</c:v>
                </c:pt>
                <c:pt idx="50">
                  <c:v>0</c:v>
                </c:pt>
                <c:pt idx="51">
                  <c:v>0</c:v>
                </c:pt>
                <c:pt idx="52">
                  <c:v>0</c:v>
                </c:pt>
                <c:pt idx="53">
                  <c:v>0</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60</c:v>
                </c:pt>
                <c:pt idx="189">
                  <c:v>60</c:v>
                </c:pt>
                <c:pt idx="190">
                  <c:v>60</c:v>
                </c:pt>
                <c:pt idx="191">
                  <c:v>60</c:v>
                </c:pt>
              </c:numCache>
            </c:numRef>
          </c:yVal>
          <c:smooth val="1"/>
          <c:extLst>
            <c:ext xmlns:c16="http://schemas.microsoft.com/office/drawing/2014/chart" uri="{C3380CC4-5D6E-409C-BE32-E72D297353CC}">
              <c16:uniqueId val="{00000000-AC91-4640-A62C-030498B13E27}"/>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174.6 kWh</a:t>
            </a:r>
          </a:p>
        </c:rich>
      </c:tx>
      <c:overlay val="0"/>
    </c:title>
    <c:autoTitleDeleted val="0"/>
    <c:plotArea>
      <c:layout/>
      <c:scatterChart>
        <c:scatterStyle val="lineMarker"/>
        <c:varyColors val="1"/>
        <c:ser>
          <c:idx val="0"/>
          <c:order val="0"/>
          <c:tx>
            <c:v>充電器入力</c:v>
          </c:tx>
          <c:spPr>
            <a:ln w="21908">
              <a:solidFill>
                <a:srgbClr val="6B54A3"/>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90</c:v>
                </c:pt>
                <c:pt idx="3">
                  <c:v>90</c:v>
                </c:pt>
                <c:pt idx="4">
                  <c:v>60</c:v>
                </c:pt>
                <c:pt idx="5">
                  <c:v>60</c:v>
                </c:pt>
                <c:pt idx="6">
                  <c:v>0</c:v>
                </c:pt>
                <c:pt idx="7">
                  <c:v>0</c:v>
                </c:pt>
                <c:pt idx="8">
                  <c:v>4.061642</c:v>
                </c:pt>
                <c:pt idx="9">
                  <c:v>4.061642</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4.2099999999999999E-4</c:v>
                </c:pt>
                <c:pt idx="37">
                  <c:v>4.2099999999999999E-4</c:v>
                </c:pt>
                <c:pt idx="38">
                  <c:v>1E-4</c:v>
                </c:pt>
                <c:pt idx="39">
                  <c:v>1E-4</c:v>
                </c:pt>
                <c:pt idx="40">
                  <c:v>0</c:v>
                </c:pt>
                <c:pt idx="41">
                  <c:v>0</c:v>
                </c:pt>
                <c:pt idx="42">
                  <c:v>0</c:v>
                </c:pt>
                <c:pt idx="43">
                  <c:v>0</c:v>
                </c:pt>
                <c:pt idx="44">
                  <c:v>0</c:v>
                </c:pt>
                <c:pt idx="45">
                  <c:v>0</c:v>
                </c:pt>
                <c:pt idx="46">
                  <c:v>0</c:v>
                </c:pt>
                <c:pt idx="47">
                  <c:v>0</c:v>
                </c:pt>
                <c:pt idx="48">
                  <c:v>4.4293560000000003</c:v>
                </c:pt>
                <c:pt idx="49">
                  <c:v>4.4293560000000003</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60</c:v>
                </c:pt>
                <c:pt idx="181">
                  <c:v>60</c:v>
                </c:pt>
                <c:pt idx="182">
                  <c:v>90</c:v>
                </c:pt>
                <c:pt idx="183">
                  <c:v>90</c:v>
                </c:pt>
                <c:pt idx="184">
                  <c:v>90</c:v>
                </c:pt>
                <c:pt idx="185">
                  <c:v>90</c:v>
                </c:pt>
                <c:pt idx="186">
                  <c:v>90</c:v>
                </c:pt>
                <c:pt idx="187">
                  <c:v>90</c:v>
                </c:pt>
                <c:pt idx="188">
                  <c:v>90</c:v>
                </c:pt>
                <c:pt idx="189">
                  <c:v>90</c:v>
                </c:pt>
                <c:pt idx="190">
                  <c:v>60</c:v>
                </c:pt>
                <c:pt idx="191">
                  <c:v>60</c:v>
                </c:pt>
              </c:numCache>
            </c:numRef>
          </c:yVal>
          <c:smooth val="1"/>
          <c:extLst>
            <c:ext xmlns:c16="http://schemas.microsoft.com/office/drawing/2014/chart" uri="{C3380CC4-5D6E-409C-BE32-E72D297353CC}">
              <c16:uniqueId val="{00000000-A601-4168-B721-22C8673739B5}"/>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16便担当</a:t>
            </a:r>
          </a:p>
        </c:rich>
      </c:tx>
      <c:overlay val="0"/>
    </c:title>
    <c:autoTitleDeleted val="0"/>
    <c:plotArea>
      <c:layout/>
      <c:scatterChart>
        <c:scatterStyle val="lineMarker"/>
        <c:varyColors val="1"/>
        <c:ser>
          <c:idx val="0"/>
          <c:order val="0"/>
          <c:tx>
            <c:v>SOC</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38.1372</c:v>
                </c:pt>
                <c:pt idx="1">
                  <c:v>42.675417000000003</c:v>
                </c:pt>
                <c:pt idx="2">
                  <c:v>47.213633000000002</c:v>
                </c:pt>
                <c:pt idx="3">
                  <c:v>47.213633000000002</c:v>
                </c:pt>
                <c:pt idx="4">
                  <c:v>51.751849999999997</c:v>
                </c:pt>
                <c:pt idx="5">
                  <c:v>55.039769999999997</c:v>
                </c:pt>
                <c:pt idx="6">
                  <c:v>61.847093999999998</c:v>
                </c:pt>
                <c:pt idx="7">
                  <c:v>68.654419000000004</c:v>
                </c:pt>
                <c:pt idx="8">
                  <c:v>75.461743999999996</c:v>
                </c:pt>
                <c:pt idx="9">
                  <c:v>75.461743999999996</c:v>
                </c:pt>
                <c:pt idx="10">
                  <c:v>75.461743999999996</c:v>
                </c:pt>
                <c:pt idx="11">
                  <c:v>75.461743999999996</c:v>
                </c:pt>
                <c:pt idx="12">
                  <c:v>75.461743999999996</c:v>
                </c:pt>
                <c:pt idx="13">
                  <c:v>75.461743999999996</c:v>
                </c:pt>
                <c:pt idx="14">
                  <c:v>75.461743999999996</c:v>
                </c:pt>
                <c:pt idx="15">
                  <c:v>79.999960999999999</c:v>
                </c:pt>
                <c:pt idx="16">
                  <c:v>79.999967999999996</c:v>
                </c:pt>
                <c:pt idx="17">
                  <c:v>84.538184999999999</c:v>
                </c:pt>
                <c:pt idx="18">
                  <c:v>84.538184999999999</c:v>
                </c:pt>
                <c:pt idx="19">
                  <c:v>85.461743999999996</c:v>
                </c:pt>
                <c:pt idx="20">
                  <c:v>89.999960999999999</c:v>
                </c:pt>
                <c:pt idx="21">
                  <c:v>89.999960999999999</c:v>
                </c:pt>
                <c:pt idx="22">
                  <c:v>89.999960999999999</c:v>
                </c:pt>
                <c:pt idx="23">
                  <c:v>92.191119</c:v>
                </c:pt>
                <c:pt idx="24">
                  <c:v>92.191119</c:v>
                </c:pt>
                <c:pt idx="25">
                  <c:v>92.191119</c:v>
                </c:pt>
                <c:pt idx="26">
                  <c:v>92.191119</c:v>
                </c:pt>
                <c:pt idx="27">
                  <c:v>92.191119</c:v>
                </c:pt>
                <c:pt idx="28">
                  <c:v>93.374701000000002</c:v>
                </c:pt>
                <c:pt idx="29">
                  <c:v>93.374701000000002</c:v>
                </c:pt>
                <c:pt idx="30">
                  <c:v>89.896935999999997</c:v>
                </c:pt>
                <c:pt idx="31">
                  <c:v>88.642735999999999</c:v>
                </c:pt>
                <c:pt idx="32">
                  <c:v>87.388535000000005</c:v>
                </c:pt>
                <c:pt idx="33">
                  <c:v>86.301562000000004</c:v>
                </c:pt>
                <c:pt idx="34">
                  <c:v>86.301562000000004</c:v>
                </c:pt>
                <c:pt idx="35">
                  <c:v>85.498425999999995</c:v>
                </c:pt>
                <c:pt idx="36">
                  <c:v>84.494506000000001</c:v>
                </c:pt>
                <c:pt idx="37">
                  <c:v>83.490585999999993</c:v>
                </c:pt>
                <c:pt idx="38">
                  <c:v>82.486666</c:v>
                </c:pt>
                <c:pt idx="39">
                  <c:v>82.419736999999998</c:v>
                </c:pt>
                <c:pt idx="40">
                  <c:v>81.332763999999997</c:v>
                </c:pt>
                <c:pt idx="41">
                  <c:v>80.078564</c:v>
                </c:pt>
                <c:pt idx="42">
                  <c:v>78.824364000000003</c:v>
                </c:pt>
                <c:pt idx="43">
                  <c:v>78.489909999999995</c:v>
                </c:pt>
                <c:pt idx="44">
                  <c:v>77.325362999999996</c:v>
                </c:pt>
                <c:pt idx="45">
                  <c:v>76.160815999999997</c:v>
                </c:pt>
                <c:pt idx="46">
                  <c:v>74.996268000000001</c:v>
                </c:pt>
                <c:pt idx="47">
                  <c:v>74.608086</c:v>
                </c:pt>
                <c:pt idx="48">
                  <c:v>73.353886000000003</c:v>
                </c:pt>
                <c:pt idx="49">
                  <c:v>72.099686000000005</c:v>
                </c:pt>
                <c:pt idx="50">
                  <c:v>70.845485999999994</c:v>
                </c:pt>
                <c:pt idx="51">
                  <c:v>70.678258999999997</c:v>
                </c:pt>
                <c:pt idx="52">
                  <c:v>69.687155000000004</c:v>
                </c:pt>
                <c:pt idx="53">
                  <c:v>68.448274999999995</c:v>
                </c:pt>
                <c:pt idx="54">
                  <c:v>67.209394000000003</c:v>
                </c:pt>
                <c:pt idx="55">
                  <c:v>66.796434000000005</c:v>
                </c:pt>
                <c:pt idx="56">
                  <c:v>65.684218999999999</c:v>
                </c:pt>
                <c:pt idx="57">
                  <c:v>64.572004000000007</c:v>
                </c:pt>
                <c:pt idx="58">
                  <c:v>63.459789000000001</c:v>
                </c:pt>
                <c:pt idx="59">
                  <c:v>62.866607000000002</c:v>
                </c:pt>
                <c:pt idx="60">
                  <c:v>62.205871000000002</c:v>
                </c:pt>
                <c:pt idx="61">
                  <c:v>60.966991</c:v>
                </c:pt>
                <c:pt idx="62">
                  <c:v>59.728110999999998</c:v>
                </c:pt>
                <c:pt idx="63">
                  <c:v>58.984783</c:v>
                </c:pt>
                <c:pt idx="64">
                  <c:v>58.984783</c:v>
                </c:pt>
                <c:pt idx="65">
                  <c:v>57.932150999999998</c:v>
                </c:pt>
                <c:pt idx="66">
                  <c:v>56.879517999999997</c:v>
                </c:pt>
                <c:pt idx="67">
                  <c:v>55.826886000000002</c:v>
                </c:pt>
                <c:pt idx="68">
                  <c:v>55.054955999999997</c:v>
                </c:pt>
                <c:pt idx="69">
                  <c:v>54.589137000000001</c:v>
                </c:pt>
                <c:pt idx="70">
                  <c:v>53.424590000000002</c:v>
                </c:pt>
                <c:pt idx="71">
                  <c:v>52.260041999999999</c:v>
                </c:pt>
                <c:pt idx="72">
                  <c:v>51.173130999999998</c:v>
                </c:pt>
                <c:pt idx="73">
                  <c:v>50.822254000000001</c:v>
                </c:pt>
                <c:pt idx="74">
                  <c:v>49.769621999999998</c:v>
                </c:pt>
                <c:pt idx="75">
                  <c:v>48.716988999999998</c:v>
                </c:pt>
                <c:pt idx="76">
                  <c:v>47.664357000000003</c:v>
                </c:pt>
                <c:pt idx="77">
                  <c:v>47.243304000000002</c:v>
                </c:pt>
                <c:pt idx="78">
                  <c:v>46.369894000000002</c:v>
                </c:pt>
                <c:pt idx="79">
                  <c:v>44.914209999999997</c:v>
                </c:pt>
                <c:pt idx="80">
                  <c:v>43.458525000000002</c:v>
                </c:pt>
                <c:pt idx="81">
                  <c:v>43.115865999999997</c:v>
                </c:pt>
                <c:pt idx="82">
                  <c:v>41.887794999999997</c:v>
                </c:pt>
                <c:pt idx="83">
                  <c:v>40.659723999999997</c:v>
                </c:pt>
                <c:pt idx="84">
                  <c:v>39.431652999999997</c:v>
                </c:pt>
                <c:pt idx="85">
                  <c:v>38.909134000000002</c:v>
                </c:pt>
                <c:pt idx="86">
                  <c:v>38.073104999999998</c:v>
                </c:pt>
                <c:pt idx="87">
                  <c:v>38.073104999999998</c:v>
                </c:pt>
                <c:pt idx="88">
                  <c:v>38.073104999999998</c:v>
                </c:pt>
                <c:pt idx="89">
                  <c:v>34.539391000000002</c:v>
                </c:pt>
                <c:pt idx="90">
                  <c:v>33.216045000000001</c:v>
                </c:pt>
                <c:pt idx="91">
                  <c:v>31.892699</c:v>
                </c:pt>
                <c:pt idx="92">
                  <c:v>30.922245</c:v>
                </c:pt>
                <c:pt idx="93">
                  <c:v>30.50423</c:v>
                </c:pt>
                <c:pt idx="94">
                  <c:v>29.060766999999998</c:v>
                </c:pt>
                <c:pt idx="95">
                  <c:v>33.598982999999997</c:v>
                </c:pt>
                <c:pt idx="96">
                  <c:v>38.1372</c:v>
                </c:pt>
              </c:numCache>
            </c:numRef>
          </c:yVal>
          <c:smooth val="1"/>
          <c:extLst>
            <c:ext xmlns:c16="http://schemas.microsoft.com/office/drawing/2014/chart" uri="{C3380CC4-5D6E-409C-BE32-E72D297353CC}">
              <c16:uniqueId val="{00000000-DF33-4CDD-B63C-19508AA0FEFE}"/>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DF33-4CDD-B63C-19508AA0FEFE}"/>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DF33-4CDD-B63C-19508AA0FEF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14便担当</a:t>
            </a:r>
          </a:p>
        </c:rich>
      </c:tx>
      <c:overlay val="0"/>
    </c:title>
    <c:autoTitleDeleted val="0"/>
    <c:plotArea>
      <c:layout/>
      <c:scatterChart>
        <c:scatterStyle val="lineMarker"/>
        <c:varyColors val="1"/>
        <c:ser>
          <c:idx val="0"/>
          <c:order val="0"/>
          <c:tx>
            <c:v>SOC</c:v>
          </c:tx>
          <c:spPr>
            <a:ln w="21908">
              <a:solidFill>
                <a:srgbClr val="6B54A3"/>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63.808999999999997</c:v>
                </c:pt>
                <c:pt idx="1">
                  <c:v>68.347217000000001</c:v>
                </c:pt>
                <c:pt idx="2">
                  <c:v>75.154540999999995</c:v>
                </c:pt>
                <c:pt idx="3">
                  <c:v>79.692757999999998</c:v>
                </c:pt>
                <c:pt idx="4">
                  <c:v>79.692757999999998</c:v>
                </c:pt>
                <c:pt idx="5">
                  <c:v>79.999967999999996</c:v>
                </c:pt>
                <c:pt idx="6">
                  <c:v>79.999967999999996</c:v>
                </c:pt>
                <c:pt idx="7">
                  <c:v>79.999967999999996</c:v>
                </c:pt>
                <c:pt idx="8">
                  <c:v>79.999967999999996</c:v>
                </c:pt>
                <c:pt idx="9">
                  <c:v>79.999967999999996</c:v>
                </c:pt>
                <c:pt idx="10">
                  <c:v>79.999967999999996</c:v>
                </c:pt>
                <c:pt idx="11">
                  <c:v>79.999967999999996</c:v>
                </c:pt>
                <c:pt idx="12">
                  <c:v>79.999967999999996</c:v>
                </c:pt>
                <c:pt idx="13">
                  <c:v>79.999967999999996</c:v>
                </c:pt>
                <c:pt idx="14">
                  <c:v>79.999967999999996</c:v>
                </c:pt>
                <c:pt idx="15">
                  <c:v>79.999967999999996</c:v>
                </c:pt>
                <c:pt idx="16">
                  <c:v>79.999967999999996</c:v>
                </c:pt>
                <c:pt idx="17">
                  <c:v>79.999967999999996</c:v>
                </c:pt>
                <c:pt idx="18">
                  <c:v>79.999967999999996</c:v>
                </c:pt>
                <c:pt idx="19">
                  <c:v>80</c:v>
                </c:pt>
                <c:pt idx="20">
                  <c:v>80.000007999999994</c:v>
                </c:pt>
                <c:pt idx="21">
                  <c:v>80.000007999999994</c:v>
                </c:pt>
                <c:pt idx="22">
                  <c:v>80.000007999999994</c:v>
                </c:pt>
                <c:pt idx="23">
                  <c:v>80.000007999999994</c:v>
                </c:pt>
                <c:pt idx="24">
                  <c:v>80.000007999999994</c:v>
                </c:pt>
                <c:pt idx="25">
                  <c:v>80.335031000000001</c:v>
                </c:pt>
                <c:pt idx="26">
                  <c:v>80.335031000000001</c:v>
                </c:pt>
                <c:pt idx="27">
                  <c:v>80.335031000000001</c:v>
                </c:pt>
                <c:pt idx="28">
                  <c:v>76.333044999999998</c:v>
                </c:pt>
                <c:pt idx="29">
                  <c:v>74.901923999999994</c:v>
                </c:pt>
                <c:pt idx="30">
                  <c:v>73.470802000000006</c:v>
                </c:pt>
                <c:pt idx="31">
                  <c:v>73.470802000000006</c:v>
                </c:pt>
                <c:pt idx="32">
                  <c:v>72.646270999999999</c:v>
                </c:pt>
                <c:pt idx="33">
                  <c:v>71.521908999999994</c:v>
                </c:pt>
                <c:pt idx="34">
                  <c:v>70.397548</c:v>
                </c:pt>
                <c:pt idx="35">
                  <c:v>69.797888999999998</c:v>
                </c:pt>
                <c:pt idx="36">
                  <c:v>69.312551999999997</c:v>
                </c:pt>
                <c:pt idx="37">
                  <c:v>68.099209000000002</c:v>
                </c:pt>
                <c:pt idx="38">
                  <c:v>66.885867000000005</c:v>
                </c:pt>
                <c:pt idx="39">
                  <c:v>66.076971999999998</c:v>
                </c:pt>
                <c:pt idx="40">
                  <c:v>66.076971999999998</c:v>
                </c:pt>
                <c:pt idx="41">
                  <c:v>64.996703999999994</c:v>
                </c:pt>
                <c:pt idx="42">
                  <c:v>63.916435</c:v>
                </c:pt>
                <c:pt idx="43">
                  <c:v>62.836165999999999</c:v>
                </c:pt>
                <c:pt idx="44">
                  <c:v>62.404058999999997</c:v>
                </c:pt>
                <c:pt idx="45">
                  <c:v>62.404058999999997</c:v>
                </c:pt>
                <c:pt idx="46">
                  <c:v>62.404058999999997</c:v>
                </c:pt>
                <c:pt idx="47">
                  <c:v>62.404058999999997</c:v>
                </c:pt>
                <c:pt idx="48">
                  <c:v>62.404058999999997</c:v>
                </c:pt>
                <c:pt idx="49">
                  <c:v>62.404058999999997</c:v>
                </c:pt>
                <c:pt idx="50">
                  <c:v>62.404058999999997</c:v>
                </c:pt>
                <c:pt idx="51">
                  <c:v>62.404058999999997</c:v>
                </c:pt>
                <c:pt idx="52">
                  <c:v>62.016463000000002</c:v>
                </c:pt>
                <c:pt idx="53">
                  <c:v>60.853676999999998</c:v>
                </c:pt>
                <c:pt idx="54">
                  <c:v>59.690891000000001</c:v>
                </c:pt>
                <c:pt idx="55">
                  <c:v>58.683141999999997</c:v>
                </c:pt>
                <c:pt idx="56">
                  <c:v>58.683141999999997</c:v>
                </c:pt>
                <c:pt idx="57">
                  <c:v>57.514488</c:v>
                </c:pt>
                <c:pt idx="58">
                  <c:v>56.262357999999999</c:v>
                </c:pt>
                <c:pt idx="59">
                  <c:v>55.010229000000002</c:v>
                </c:pt>
                <c:pt idx="60">
                  <c:v>54.622633</c:v>
                </c:pt>
                <c:pt idx="61">
                  <c:v>53.459847000000003</c:v>
                </c:pt>
                <c:pt idx="62">
                  <c:v>52.297060999999999</c:v>
                </c:pt>
                <c:pt idx="63">
                  <c:v>51.289312000000002</c:v>
                </c:pt>
                <c:pt idx="64">
                  <c:v>51.289312000000002</c:v>
                </c:pt>
                <c:pt idx="65">
                  <c:v>50.585988999999998</c:v>
                </c:pt>
                <c:pt idx="66">
                  <c:v>49.413781999999998</c:v>
                </c:pt>
                <c:pt idx="67">
                  <c:v>48.241576000000002</c:v>
                </c:pt>
                <c:pt idx="68">
                  <c:v>47.616399000000001</c:v>
                </c:pt>
                <c:pt idx="69">
                  <c:v>46.959766999999999</c:v>
                </c:pt>
                <c:pt idx="70">
                  <c:v>45.865378999999997</c:v>
                </c:pt>
                <c:pt idx="71">
                  <c:v>44.770992</c:v>
                </c:pt>
                <c:pt idx="72">
                  <c:v>43.895482999999999</c:v>
                </c:pt>
                <c:pt idx="73">
                  <c:v>43.895482999999999</c:v>
                </c:pt>
                <c:pt idx="74">
                  <c:v>42.820483000000003</c:v>
                </c:pt>
                <c:pt idx="75">
                  <c:v>41.476734999999998</c:v>
                </c:pt>
                <c:pt idx="76">
                  <c:v>40.222569</c:v>
                </c:pt>
                <c:pt idx="77">
                  <c:v>39.737231999999999</c:v>
                </c:pt>
                <c:pt idx="78">
                  <c:v>38.523890000000002</c:v>
                </c:pt>
                <c:pt idx="79">
                  <c:v>37.310547</c:v>
                </c:pt>
                <c:pt idx="80">
                  <c:v>36.501652999999997</c:v>
                </c:pt>
                <c:pt idx="81">
                  <c:v>36.501652999999997</c:v>
                </c:pt>
                <c:pt idx="82">
                  <c:v>34.927546999999997</c:v>
                </c:pt>
                <c:pt idx="83">
                  <c:v>33.353440999999997</c:v>
                </c:pt>
                <c:pt idx="84">
                  <c:v>32.828738999999999</c:v>
                </c:pt>
                <c:pt idx="85">
                  <c:v>31.516988000000001</c:v>
                </c:pt>
                <c:pt idx="86">
                  <c:v>30.205235999999999</c:v>
                </c:pt>
                <c:pt idx="87">
                  <c:v>29.155835</c:v>
                </c:pt>
                <c:pt idx="88">
                  <c:v>29.155835</c:v>
                </c:pt>
                <c:pt idx="89">
                  <c:v>28.006197</c:v>
                </c:pt>
                <c:pt idx="90">
                  <c:v>27.503267999999998</c:v>
                </c:pt>
                <c:pt idx="91">
                  <c:v>32.041483999999997</c:v>
                </c:pt>
                <c:pt idx="92">
                  <c:v>38.848809000000003</c:v>
                </c:pt>
                <c:pt idx="93">
                  <c:v>45.656134000000002</c:v>
                </c:pt>
                <c:pt idx="94">
                  <c:v>52.463459</c:v>
                </c:pt>
                <c:pt idx="95">
                  <c:v>59.270783000000002</c:v>
                </c:pt>
                <c:pt idx="96">
                  <c:v>63.808999999999997</c:v>
                </c:pt>
              </c:numCache>
            </c:numRef>
          </c:yVal>
          <c:smooth val="1"/>
          <c:extLst>
            <c:ext xmlns:c16="http://schemas.microsoft.com/office/drawing/2014/chart" uri="{C3380CC4-5D6E-409C-BE32-E72D297353CC}">
              <c16:uniqueId val="{00000000-0321-4662-BF4C-354980FFA70D}"/>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0321-4662-BF4C-354980FFA70D}"/>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0321-4662-BF4C-354980FFA70D}"/>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毎時処理の実測時間</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c:formatCode>
                <c:ptCount val="24"/>
                <c:pt idx="0">
                  <c:v>5.2159870000000002</c:v>
                </c:pt>
                <c:pt idx="1">
                  <c:v>5.3515360000000003</c:v>
                </c:pt>
                <c:pt idx="2">
                  <c:v>5.1201210000000001</c:v>
                </c:pt>
                <c:pt idx="3">
                  <c:v>4.9616110000000004</c:v>
                </c:pt>
                <c:pt idx="4">
                  <c:v>4.757339</c:v>
                </c:pt>
                <c:pt idx="5">
                  <c:v>4.5635519999999996</c:v>
                </c:pt>
                <c:pt idx="6">
                  <c:v>4.2767039999999996</c:v>
                </c:pt>
                <c:pt idx="7">
                  <c:v>4.3897170000000001</c:v>
                </c:pt>
                <c:pt idx="8">
                  <c:v>4.3047789999999999</c:v>
                </c:pt>
                <c:pt idx="9">
                  <c:v>4.2369370000000002</c:v>
                </c:pt>
                <c:pt idx="10">
                  <c:v>4.2771720000000002</c:v>
                </c:pt>
                <c:pt idx="11">
                  <c:v>3.9133589999999998</c:v>
                </c:pt>
                <c:pt idx="12">
                  <c:v>4.0263749999999998</c:v>
                </c:pt>
                <c:pt idx="13">
                  <c:v>3.7981729999999998</c:v>
                </c:pt>
                <c:pt idx="14">
                  <c:v>3.8890159999999998</c:v>
                </c:pt>
                <c:pt idx="15">
                  <c:v>3.6682760000000001</c:v>
                </c:pt>
                <c:pt idx="16">
                  <c:v>3.8423210000000001</c:v>
                </c:pt>
                <c:pt idx="17">
                  <c:v>3.5951870000000001</c:v>
                </c:pt>
                <c:pt idx="18">
                  <c:v>3.7249780000000001</c:v>
                </c:pt>
                <c:pt idx="19">
                  <c:v>3.5239020000000001</c:v>
                </c:pt>
                <c:pt idx="20">
                  <c:v>3.457436</c:v>
                </c:pt>
                <c:pt idx="21">
                  <c:v>3.4408120000000002</c:v>
                </c:pt>
                <c:pt idx="22">
                  <c:v>3.365856</c:v>
                </c:pt>
                <c:pt idx="23">
                  <c:v>3.307299</c:v>
                </c:pt>
              </c:numCache>
            </c:numRef>
          </c:yVal>
          <c:smooth val="1"/>
          <c:extLst>
            <c:ext xmlns:c16="http://schemas.microsoft.com/office/drawing/2014/chart" uri="{C3380CC4-5D6E-409C-BE32-E72D297353CC}">
              <c16:uniqueId val="{00000000-2633-4CD3-935D-DB482C77F312}"/>
            </c:ext>
          </c:extLst>
        </c:ser>
        <c:ser>
          <c:idx val="1"/>
          <c:order val="1"/>
          <c:tx>
            <c:v>低PV（RAIN）</c:v>
          </c:tx>
          <c:spPr>
            <a:ln w="21908">
              <a:solidFill>
                <a:srgbClr val="6B54A3"/>
              </a:solidFill>
              <a:prstDash val="solid"/>
            </a:ln>
          </c:spPr>
          <c:marker>
            <c:symbol val="none"/>
          </c:marker>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c:formatCode>
                <c:ptCount val="24"/>
                <c:pt idx="0">
                  <c:v>4.8601760000000001</c:v>
                </c:pt>
                <c:pt idx="1">
                  <c:v>5.054011</c:v>
                </c:pt>
                <c:pt idx="2">
                  <c:v>4.8042239999999996</c:v>
                </c:pt>
                <c:pt idx="3">
                  <c:v>4.7712219999999999</c:v>
                </c:pt>
                <c:pt idx="4">
                  <c:v>4.7058590000000002</c:v>
                </c:pt>
                <c:pt idx="5">
                  <c:v>4.4445119999999996</c:v>
                </c:pt>
                <c:pt idx="6">
                  <c:v>4.2991279999999996</c:v>
                </c:pt>
                <c:pt idx="7">
                  <c:v>4.2931790000000003</c:v>
                </c:pt>
                <c:pt idx="8">
                  <c:v>4.1160129999999997</c:v>
                </c:pt>
                <c:pt idx="9">
                  <c:v>4.1615479999999998</c:v>
                </c:pt>
                <c:pt idx="10">
                  <c:v>3.7902</c:v>
                </c:pt>
                <c:pt idx="11">
                  <c:v>3.8990649999999998</c:v>
                </c:pt>
                <c:pt idx="12">
                  <c:v>3.6645500000000002</c:v>
                </c:pt>
                <c:pt idx="13">
                  <c:v>3.6044749999999999</c:v>
                </c:pt>
                <c:pt idx="14">
                  <c:v>3.8148629999999999</c:v>
                </c:pt>
                <c:pt idx="15">
                  <c:v>3.602754</c:v>
                </c:pt>
                <c:pt idx="16">
                  <c:v>3.5936330000000001</c:v>
                </c:pt>
                <c:pt idx="17">
                  <c:v>3.7686769999999998</c:v>
                </c:pt>
                <c:pt idx="18">
                  <c:v>3.5040119999999999</c:v>
                </c:pt>
                <c:pt idx="19">
                  <c:v>3.4487939999999999</c:v>
                </c:pt>
                <c:pt idx="20">
                  <c:v>3.431915</c:v>
                </c:pt>
                <c:pt idx="21">
                  <c:v>3.3474219999999999</c:v>
                </c:pt>
                <c:pt idx="22">
                  <c:v>3.3812950000000002</c:v>
                </c:pt>
                <c:pt idx="23">
                  <c:v>3.2990469999999998</c:v>
                </c:pt>
              </c:numCache>
            </c:numRef>
          </c:yVal>
          <c:smooth val="1"/>
          <c:extLst>
            <c:ext xmlns:c16="http://schemas.microsoft.com/office/drawing/2014/chart" uri="{C3380CC4-5D6E-409C-BE32-E72D297353CC}">
              <c16:uniqueId val="{00000001-2633-4CD3-935D-DB482C77F312}"/>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秒</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日は、まず研究の背景と対象を簡単に説明した後、この1か月でモデルと結果をどのように見直したか、最新結果、残っている課題、11月に向けた作業の順で説明する。数式ではなく、処理の流れと結果の意味を中心に話す。</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気バスの研究というと車両性能だけに見えるが、実際の営業所では、時刻表、充電器、受電上限、太陽光、蓄電池が同時に関係する。本研究では、車両の担当便と営業所の電力の使い方を同じ運用問題として扱っ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まず対象システムを図で示し、次に車両や充電器などの入力条件を表にまとめ、その後に時間変化や費用との関係を図示する構成が多い。本資料でもその構成を取り入れた。本研究の特徴は、新規設備の設計だけではなく、既存営業所の混成車両を対象に、便の担当と電力運用を一日単位で検証する点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実験では、営業所、時刻表、車両、設備、料金を同じにし、PV入力だけを高い条件と低い条件に変えている。高PVは2025年8月5日由来、低PVは8月10日由来の曲線である。低PV条件は日曜ダイヤではなく、同じ平日264便へ低PV曲線を与えた反実仮想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処理は5段階で説明できる。まず入力を整え、複数の配車案を作る。次に各配車案について充電と電力の使い方を調整する。その後、1時間ごとに残り時間を見直し、最後に便・SOC・電力収支・費用を確認す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運行、車両、設備の主な設定値をまとめた。重要なのは、BEVの初期SOCを一律80%としていないこと、充電器は90kWを10基、BESSは6MWh、受電上限は200kWとしていることである。高PVと低PVの間では、これらの非PV条件を固定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費用と計算条件を明示した。結果の評価額には電力、燃料、車両使用、CO2を含むが、設備費や劣化費などは含まない。計算は二段階で、22の配車候補を比較する。したがって、全ての可能性を調べた大域最適解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以前の同一配車は、通常のPhase 3経路が一つの候補しか評価しないという候補被覆の不足として診断されました。PV情報そのものが全く入っていなかったという診断ではありません。Stage 1へのPV/BESS/料金入力と目的への使用は監査で確認されています。2026年8月27日のedcbe703で公開BFFの研究用Phase 3に候補被覆ポリシーを追加し、要求1案・探索幅0・frontier OFFに対して実効値を22案以上・幅4以上・frontier ONとしました。既存のBEV構成探索を利用し、8月29日の実験では22案を評価しました。Stage 2最終選択は費用→使用台数→配車ハッシュの順であり、従来から受け取った候補の選択自体は正しかったと記録されています。晴天への恣意的なEV優遇係数は追加していません。毎時Rollingは配車固定なので、内訳の違いを作るのはその前の候補比較と選択です。候補不足の診断と、その後に見つかったSOC上限不一致は別の問題です。数値は研究結論ではなく診断として説明します。</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候補不足の説明を裏付けるため、同じ配車を両方のPV条件で評価した表を示します。候補固定交差評価のSHAは3ec8714で、その記録をbb0c005再実行パッケージに保持しています。高PV側では案Aが案Bより安く、低PV側では案Bが案Aより安いことが確認できます。さらに22候補全体の最小もそれぞれ案Aと案Bです。通常の公開経路を修正した後、8月29日のbb0c005実行でも同じ物理配車ハッシュが選ばれたため、候補拡張が通常経路へ到達したことを確認しています。単にEV台数を手動で晴雨別に指定した結果ではありません。低PVの698296.47円は一日計画の候補評価額であり、24回Rolling実行後の最終698598.63円とは区別します。この表だけで個々の便の選択原因やPV抑制の原因をすべて特定したことにはなりません。Stage 1の代理目的とStage 2の順位比較では、監査対象候補内の順位逆転は0でした。問題はPVの入力欠落や候補内のソートの誤りというより、通常経路に渡す候補が不足していたことです。なお入力SOC90%不一致は未解消で、修正後にも同じ順位や台数になることを保証するものではありません。</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新の結果では、高PV条件でBEV28台・199便、低PV条件でBEV21台・91便となった。以前のような同一配車ではなく、PV条件に応じて配車が変化した。どちらも使用総台数は32台で、264便すべてを運行している。ただし2条件だけなので、一般的な天候効果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バス台数と収益の関係を示す図が使われていた。本研究では、22の配車候補について使用BEV台数と評価額を示した。高PVではBEV28台、低PVでは21台の候補が選ばれた。ただし、BEV台数だけで費用が決まるわけではなく、ICE台数や担当便、充電可能時間も影響す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モデルの費用定義に基づく評価額は、高PV条件約66.1万円、低PV条件約69.9万円で、差は約3.76万円である。差の約88%はエンジンバスの燃料費、約10%が系統電力費である。ただし設備費や劣化費は含まないため、実際の総運用費や採算とは呼ば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力の流れを日合計で示した。高PV条件では発電量が6056kWhと多いが、直接充電とBESS充電に使えた量は約2683kWhで、3373kWhは抑制された。低PV条件では996kWhをほぼ全量利用し、不足する131kWhを系統から補った。BESSは日初と日末で3000kWhに戻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要な結果を一覧で示す。高PVではBEV担当が多く、燃料と系統購入が少ない。一方、高PVでも時間が合わずPV抑制が多い。どちらも全便運行と24時間の再計算、物理・会計検算を通過した。計算の詰まり具合は配車側の目安であり、最終費用の誤差では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日の計画は、1時間進むごとに残り時間を見直す。24回すべて成立しており、実行した部分を15分単位でつないだ96区間の系列も確認した。さらに、物理条件、費用会計、入力・コード・出力の対応を残し、後から同じ結果を追えるように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現在の結果は物理的・会計的に成立しているが、すべての可能性を調べた最適解ではない。高PV条件は計算の詰まり具合に余地があり、低PV条件は次点との差が小さい。また2条件だけであり、設備費や劣化費も含まない。これらを明示した上で、追加検証へ進む。</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次の研究は、小規模な比較、選択結果の安定性、10月末の結果固定の順で進めたい。実験前に、全国大会の中心、高PV側の計算の詰まり具合、低PV側の追加確認範囲、費用項目の範囲を相談したい。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の中から、本資料の図表構成と研究位置づけに直接関係する文献を示す。図をそのまま転載したのではなく、システム図、入力表、費用と車両構成の関係、電力フローという見せ方を参考に、本研究のデータで再作成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対応するSlack発言とリンクは同梱READMEの指摘対応表を参照。6月の旧設定と8月29日の固定入力を混ぜない。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Fig.6–9, Table 5–6。</a:t>
            </a:r>
          </a:p>
          <a:p>
            <a:r>
              <a:t>Zhou, X., An, K., Schmöcker, J.-D. (2025). Optimization of charging and discharging schedules for battery electric buses under the V2G environment. Transportmetrica B: Transport Dynamics 13(1), 2506689. https://doi.org/10.1080/21680566.2025.2506689 手元原本 No06.pdf。</a:t>
            </a:r>
          </a:p>
          <a:p>
            <a:r>
              <a:t>Table 5、Fig.4–5。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Fig.9のエネルギー分解を参考に、累積量ではなく15分平均電力で表示。</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Fig.7、9を参考。配車を固定したaccepted Rollingの実行区間のみ。</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Fig.8を参考。始終端は最終台帳と照合。</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Fig.8–9。状態式 S[t+1]=S[t]+0.95×Pcharge×0.25−Pdischarge×0.25/0.95。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6/17のSlack質問への回答。エネルギー188.4 kWh / 90 kW = 2.0933 hは無損失かつ連続定格の理論最短。設備競合・停車時間・実際の効率を入れると長くなる。</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Fig.6(b)を参考。例の選定規則と完全な車両ID、担当便はreview_data.json。</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Fig.6(a)を参考。各例は最大充電量という規則で選択。高PVで入力maxSocとの不一致を発見したため診断用に限定。</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Fig.4の費用分解を参考。凍結された2条件の記述比較であり、一般的な天候効果の証明ではない。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Table 5、Zhou, X., An, K., Schmöcker, J.-D. (2025). Optimization of charging and discharging schedules for battery electric buses under the V2G environment. Transportmetrica B: Transport Dynamics 13(1), 2506689. https://doi.org/10.1080/21680566.2025.2506689 手元原本 No06.pdf。</a:t>
            </a:r>
          </a:p>
          <a:p>
            <a:r>
              <a:t>Fig.4を参考。需要料金・PV/BESS限界費用は設定0、設備費・劣化費・運転士費を含まない。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Table 5を参考。solve_time_secondsはStage 1と採用候補Stage 2の和に対応し、22候補全体の時間ではない。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rolling_chain_summary.json steps[].elapsed_seconds。折れ線は各正時の実測点を接続し、点間の値を測定したという意味ではない。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以前の説明にあった「充電時刻を省略」「日量だけ」という一括した説明を訂正します。8月29日のcanonical_solver_result.json solver_metadata.stage1_time_indexed_energy_recourse_configurationには enabled=true、used_in_stage1_objective=true、timestep_h=0.25、連続緩和の範囲がphysical charger assignmentとBESS charge/discharge modesと記録されています。したがってPVが目的へ届いていなかったという説明は採りません。充電量下界=max(走行・回送消費+終端要求-初期残量,0)/充電効率はエネルギー面の必要量を説明する式ですが、Stage 1の評価全体がこの日量式だけという意味ではありません。初期BESS3000・終端要求3000なので、終端を減らして使い切れる量はmax(3000-3000,0)*0.95=0 kWhです。途中の充放電は可能で、終端までに戻す必要があります。実験SHA bb0c005、図表は診断用です。</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PDF p.14、印刷頁13 Table 5。200/418便Gurobiは6時間以内に実行可能解を得ていない。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既存authoring manifestのうちscripts/build_thesis_weather_result_package.pyの過去ハッシュ不一致が未解消。今回のraw bundle検証は合格だが旧manifest全体の合格を意味しない。CURRENT_RESEARCH_RELEASE_BLOCKERS.md参照。</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根拠：prepared maxSoc=0.9、hourly_solver_result.jsonのvehicle_soc_kwh_by_vehicle_slot。BEV軌跡はslot開始値。凍結solver_adapter.pyのstage2.addVar ub=capとterminal_soc_expr&lt;=cap。高PV12 vehicle-slot点、3台で超過。モデル修正・再実験は本資料更新の範囲外で未実施。</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6月18日Slack https://urabelab.slack.com/archives/D0AHW83UK17/p1781772519133989 への回答。旧条件のICE 26台と今回の25台を混同しない。母数はハッシュ照合したPrepared vehicles、使用数は凍結result_summary.json。使用率は稼働した台数/入力台数であり、時間稼働率ではない。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6月17日Slack https://urabelab.slack.com/archives/D0AHW83UK17/p1781658309839589 への回答。最大grid_import_kwの枠を抽出。高PVは全96枠で系統購入0。出典 review_data.json slots、保存された実行先頭60分を接続した値。1 kW以上は説明用の閾値であり、設備制約の判定値ではない。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2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pPr>
            <a:r>
              <a:rPr sz="3400" b="1">
                <a:solidFill>
                  <a:srgbClr val="FFFFFF"/>
                </a:solidFill>
                <a:latin typeface="Noto Sans CJK JP"/>
                <a:ea typeface="Noto Sans CJK JP"/>
                <a:cs typeface="Noto Sans CJK JP"/>
              </a:rPr>
              <a:t>修士論文研究　8月進捗報告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pPr>
            <a:r>
              <a:rPr sz="2200" b="1">
                <a:solidFill>
                  <a:srgbClr val="172033"/>
                </a:solidFill>
                <a:latin typeface="Noto Sans CJK JP"/>
                <a:ea typeface="Noto Sans CJK JP"/>
                <a:cs typeface="Noto Sans CJK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 前回からの改善点と、11月に向けた次の検証 ―</a:t>
            </a:r>
            <a:endParaRPr sz="1600"/>
          </a:p>
        </p:txBody>
      </p:sp>
      <p:pic>
        <p:nvPicPr>
          <p:cNvPr id="24"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80" y="4187952"/>
            <a:ext cx="658368" cy="658368"/>
          </a:xfrm>
          <a:prstGeom prst="rect">
            <a:avLst/>
          </a:prstGeom>
        </p:spPr>
      </p:pic>
      <p:pic>
        <p:nvPicPr>
          <p:cNvPr id="25"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4133088"/>
            <a:ext cx="841248" cy="713232"/>
          </a:xfrm>
          <a:prstGeom prst="rect">
            <a:avLst/>
          </a:prstGeom>
        </p:spPr>
      </p:pic>
      <p:pic>
        <p:nvPicPr>
          <p:cNvPr id="2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pPr>
            <a:r>
              <a:rPr sz="1350">
                <a:solidFill>
                  <a:srgbClr val="687386"/>
                </a:solidFill>
                <a:latin typeface="Noto Sans CJK JP"/>
                <a:ea typeface="Noto Sans CJK JP"/>
                <a:cs typeface="Noto Sans CJK JP"/>
              </a:rPr>
              <a:t>2026年8月31日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1/18</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571500" y="5657850"/>
            <a:ext cx="11049000" cy="619125"/>
          </a:xfrm>
          <a:prstGeom prst="rect">
            <a:avLst/>
          </a:prstGeom>
          <a:noFill/>
          <a:ln w="0">
            <a:noFill/>
          </a:ln>
        </p:spPr>
        <p:txBody>
          <a:bodyPr>
            <a:noAutofit/>
          </a:bodyPr>
          <a:lstStyle/>
          <a:p>
            <a:pPr>
              <a:defRPr sz="1800" b="1">
                <a:solidFill>
                  <a:srgbClr val="A23D37"/>
                </a:solidFill>
                <a:latin typeface="Noto Sans CJK JP"/>
                <a:ea typeface="Noto Sans CJK JP"/>
                <a:cs typeface="Noto Sans CJK JP"/>
              </a:defRPr>
            </a:pPr>
            <a:r>
              <a:rPr sz="1800" b="1">
                <a:solidFill>
                  <a:srgbClr val="A23D37"/>
                </a:solidFill>
                <a:latin typeface="Noto Sans CJK JP"/>
                <a:ea typeface="Noto Sans CJK JP"/>
                <a:cs typeface="Noto Sans CJK JP"/>
              </a:rPr>
              <a:t>9月7日 追記：SOC上限90%に不一致。結果は診断用、研究結論には未使用</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64589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26C4CFA-F270-4C5D-8F5E-E1417DBB7DC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研究背景</a:t>
            </a:r>
            <a:endParaRPr sz="2800" dirty="0"/>
          </a:p>
        </p:txBody>
      </p:sp>
      <p:sp>
        <p:nvSpPr>
          <p:cNvPr id="3" name="Shape 1">
            <a:extLst>
              <a:ext uri="{FF2B5EF4-FFF2-40B4-BE49-F238E27FC236}">
                <a16:creationId xmlns:a16="http://schemas.microsoft.com/office/drawing/2014/main" id="{F6728271-8C4D-4856-AB54-2E351D6BB6F1}"/>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C42D1C7-5AD7-4E9A-BF97-BDB436EA080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12A12E9-C1EB-49AB-85D0-68D0D59EB993}"/>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2/18</a:t>
            </a:r>
            <a:endParaRPr sz="850"/>
          </a:p>
        </p:txBody>
      </p:sp>
      <p:sp>
        <p:nvSpPr>
          <p:cNvPr id="6" name="Text 4">
            <a:extLst>
              <a:ext uri="{FF2B5EF4-FFF2-40B4-BE49-F238E27FC236}">
                <a16:creationId xmlns:a16="http://schemas.microsoft.com/office/drawing/2014/main" id="{93352480-DD92-4D05-9FB6-97C72C446B41}"/>
              </a:ext>
            </a:extLst>
          </p:cNvPr>
          <p:cNvSpPr>
            <a:spLocks noGrp="1"/>
          </p:cNvSpPr>
          <p:nvPr/>
        </p:nvSpPr>
        <p:spPr>
          <a:xfrm>
            <a:off x="640080" y="868680"/>
            <a:ext cx="10927080" cy="438912"/>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交通分野の脱炭素化に向けて電気バスの導入が進む一方、営業所では次の3つを同時に満たす必要がある。</a:t>
            </a:r>
            <a:endParaRPr sz="1800"/>
          </a:p>
        </p:txBody>
      </p:sp>
      <p:sp>
        <p:nvSpPr>
          <p:cNvPr id="7" name="Shape 5">
            <a:extLst>
              <a:ext uri="{FF2B5EF4-FFF2-40B4-BE49-F238E27FC236}">
                <a16:creationId xmlns:a16="http://schemas.microsoft.com/office/drawing/2014/main" id="{BFDE0B61-F68B-414A-9C56-B5D3F294E67E}"/>
              </a:ext>
            </a:extLst>
          </p:cNvPr>
          <p:cNvSpPr>
            <a:spLocks noGrp="1"/>
          </p:cNvSpPr>
          <p:nvPr/>
        </p:nvSpPr>
        <p:spPr>
          <a:xfrm>
            <a:off x="68580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9928" y="1856232"/>
            <a:ext cx="731520" cy="731520"/>
          </a:xfrm>
          <a:prstGeom prst="rect">
            <a:avLst/>
          </a:prstGeom>
        </p:spPr>
      </p:pic>
      <p:sp>
        <p:nvSpPr>
          <p:cNvPr id="9" name="Text 6">
            <a:extLst>
              <a:ext uri="{FF2B5EF4-FFF2-40B4-BE49-F238E27FC236}">
                <a16:creationId xmlns:a16="http://schemas.microsoft.com/office/drawing/2014/main" id="{43C5844F-5E4F-47F8-9197-88CC33906F3D}"/>
              </a:ext>
            </a:extLst>
          </p:cNvPr>
          <p:cNvSpPr>
            <a:spLocks noGrp="1"/>
          </p:cNvSpPr>
          <p:nvPr/>
        </p:nvSpPr>
        <p:spPr>
          <a:xfrm>
            <a:off x="100584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運行</a:t>
            </a:r>
            <a:endParaRPr sz="2100"/>
          </a:p>
        </p:txBody>
      </p:sp>
      <p:sp>
        <p:nvSpPr>
          <p:cNvPr id="10" name="Text 7">
            <a:extLst>
              <a:ext uri="{FF2B5EF4-FFF2-40B4-BE49-F238E27FC236}">
                <a16:creationId xmlns:a16="http://schemas.microsoft.com/office/drawing/2014/main" id="{9941D139-DB68-45DA-A5A1-C27B4F8C37FD}"/>
              </a:ext>
            </a:extLst>
          </p:cNvPr>
          <p:cNvSpPr>
            <a:spLocks noGrp="1"/>
          </p:cNvSpPr>
          <p:nvPr/>
        </p:nvSpPr>
        <p:spPr>
          <a:xfrm>
            <a:off x="100584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決められた便を</a:t>
            </a:r>
            <a:endParaRPr sz="1600"/>
          </a:p>
          <a:p>
            <a:pPr marL="0" indent="0" algn="ctr">
              <a:buNone/>
            </a:pPr>
            <a:r>
              <a:rPr sz="1600">
                <a:solidFill>
                  <a:srgbClr val="687386"/>
                </a:solidFill>
                <a:latin typeface="Noto Sans CJK JP"/>
                <a:ea typeface="Noto Sans CJK JP"/>
                <a:cs typeface="Noto Sans CJK JP"/>
              </a:rPr>
              <a:t>欠かさず走らせる</a:t>
            </a:r>
            <a:endParaRPr sz="1600"/>
          </a:p>
        </p:txBody>
      </p:sp>
      <p:sp>
        <p:nvSpPr>
          <p:cNvPr id="11" name="Shape 8">
            <a:extLst>
              <a:ext uri="{FF2B5EF4-FFF2-40B4-BE49-F238E27FC236}">
                <a16:creationId xmlns:a16="http://schemas.microsoft.com/office/drawing/2014/main" id="{A93289D7-4E97-43F5-8073-9621593A1EA9}"/>
              </a:ext>
            </a:extLst>
          </p:cNvPr>
          <p:cNvSpPr>
            <a:spLocks noGrp="1"/>
          </p:cNvSpPr>
          <p:nvPr/>
        </p:nvSpPr>
        <p:spPr>
          <a:xfrm>
            <a:off x="425196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6088" y="1856232"/>
            <a:ext cx="731520" cy="731520"/>
          </a:xfrm>
          <a:prstGeom prst="rect">
            <a:avLst/>
          </a:prstGeom>
        </p:spPr>
      </p:pic>
      <p:sp>
        <p:nvSpPr>
          <p:cNvPr id="13" name="Text 9">
            <a:extLst>
              <a:ext uri="{FF2B5EF4-FFF2-40B4-BE49-F238E27FC236}">
                <a16:creationId xmlns:a16="http://schemas.microsoft.com/office/drawing/2014/main" id="{CE3417DB-5AFE-4A1F-88A2-8C70BBC34FEC}"/>
              </a:ext>
            </a:extLst>
          </p:cNvPr>
          <p:cNvSpPr>
            <a:spLocks noGrp="1"/>
          </p:cNvSpPr>
          <p:nvPr/>
        </p:nvSpPr>
        <p:spPr>
          <a:xfrm>
            <a:off x="457200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充電・設備</a:t>
            </a:r>
            <a:endParaRPr sz="2100"/>
          </a:p>
        </p:txBody>
      </p:sp>
      <p:sp>
        <p:nvSpPr>
          <p:cNvPr id="14" name="Text 10">
            <a:extLst>
              <a:ext uri="{FF2B5EF4-FFF2-40B4-BE49-F238E27FC236}">
                <a16:creationId xmlns:a16="http://schemas.microsoft.com/office/drawing/2014/main" id="{6514F49C-985B-4173-8639-9B0D04232942}"/>
              </a:ext>
            </a:extLst>
          </p:cNvPr>
          <p:cNvSpPr>
            <a:spLocks noGrp="1"/>
          </p:cNvSpPr>
          <p:nvPr/>
        </p:nvSpPr>
        <p:spPr>
          <a:xfrm>
            <a:off x="457200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限られた充電器と</a:t>
            </a:r>
            <a:endParaRPr sz="1600"/>
          </a:p>
          <a:p>
            <a:pPr marL="0" indent="0" algn="ctr">
              <a:buNone/>
            </a:pPr>
            <a:r>
              <a:rPr sz="1600">
                <a:solidFill>
                  <a:srgbClr val="687386"/>
                </a:solidFill>
                <a:latin typeface="Noto Sans CJK JP"/>
                <a:ea typeface="Noto Sans CJK JP"/>
                <a:cs typeface="Noto Sans CJK JP"/>
              </a:rPr>
              <a:t>受電容量の中で充電する</a:t>
            </a:r>
            <a:endParaRPr sz="1600"/>
          </a:p>
        </p:txBody>
      </p:sp>
      <p:sp>
        <p:nvSpPr>
          <p:cNvPr id="15" name="Shape 11">
            <a:extLst>
              <a:ext uri="{FF2B5EF4-FFF2-40B4-BE49-F238E27FC236}">
                <a16:creationId xmlns:a16="http://schemas.microsoft.com/office/drawing/2014/main" id="{6CC7CD49-30B6-4E0F-A6B4-B33DA992CDF6}"/>
              </a:ext>
            </a:extLst>
          </p:cNvPr>
          <p:cNvSpPr>
            <a:spLocks noGrp="1"/>
          </p:cNvSpPr>
          <p:nvPr/>
        </p:nvSpPr>
        <p:spPr>
          <a:xfrm>
            <a:off x="781812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2248" y="1856232"/>
            <a:ext cx="731520" cy="731520"/>
          </a:xfrm>
          <a:prstGeom prst="rect">
            <a:avLst/>
          </a:prstGeom>
        </p:spPr>
      </p:pic>
      <p:sp>
        <p:nvSpPr>
          <p:cNvPr id="17" name="Text 12">
            <a:extLst>
              <a:ext uri="{FF2B5EF4-FFF2-40B4-BE49-F238E27FC236}">
                <a16:creationId xmlns:a16="http://schemas.microsoft.com/office/drawing/2014/main" id="{5D0AC001-3ED0-45FE-A78E-09BB251324EF}"/>
              </a:ext>
            </a:extLst>
          </p:cNvPr>
          <p:cNvSpPr>
            <a:spLocks noGrp="1"/>
          </p:cNvSpPr>
          <p:nvPr/>
        </p:nvSpPr>
        <p:spPr>
          <a:xfrm>
            <a:off x="813816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再生可能エネルギー</a:t>
            </a:r>
            <a:endParaRPr sz="2100"/>
          </a:p>
        </p:txBody>
      </p:sp>
      <p:sp>
        <p:nvSpPr>
          <p:cNvPr id="18" name="Text 13">
            <a:extLst>
              <a:ext uri="{FF2B5EF4-FFF2-40B4-BE49-F238E27FC236}">
                <a16:creationId xmlns:a16="http://schemas.microsoft.com/office/drawing/2014/main" id="{358CE00A-8C65-4C61-AC3C-7A284A92B589}"/>
              </a:ext>
            </a:extLst>
          </p:cNvPr>
          <p:cNvSpPr>
            <a:spLocks noGrp="1"/>
          </p:cNvSpPr>
          <p:nvPr/>
        </p:nvSpPr>
        <p:spPr>
          <a:xfrm>
            <a:off x="813816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時間で変わるPVを</a:t>
            </a:r>
            <a:endParaRPr sz="1600"/>
          </a:p>
          <a:p>
            <a:pPr marL="0" indent="0" algn="ctr">
              <a:buNone/>
            </a:pPr>
            <a:r>
              <a:rPr sz="1600">
                <a:solidFill>
                  <a:srgbClr val="687386"/>
                </a:solidFill>
                <a:latin typeface="Noto Sans CJK JP"/>
                <a:ea typeface="Noto Sans CJK JP"/>
                <a:cs typeface="Noto Sans CJK JP"/>
              </a:rPr>
              <a:t>できるだけ有効に使う</a:t>
            </a:r>
            <a:endParaRPr sz="1600"/>
          </a:p>
        </p:txBody>
      </p:sp>
      <p:sp>
        <p:nvSpPr>
          <p:cNvPr id="19" name="Shape 14">
            <a:extLst>
              <a:ext uri="{FF2B5EF4-FFF2-40B4-BE49-F238E27FC236}">
                <a16:creationId xmlns:a16="http://schemas.microsoft.com/office/drawing/2014/main" id="{CECB67F7-7B45-4931-BF58-FBE1EB1265B7}"/>
              </a:ext>
            </a:extLst>
          </p:cNvPr>
          <p:cNvSpPr>
            <a:spLocks noGrp="1"/>
          </p:cNvSpPr>
          <p:nvPr/>
        </p:nvSpPr>
        <p:spPr>
          <a:xfrm>
            <a:off x="1097280" y="4343400"/>
            <a:ext cx="9966960" cy="1225296"/>
          </a:xfrm>
          <a:prstGeom prst="roundRect">
            <a:avLst/>
          </a:prstGeom>
          <a:solidFill>
            <a:srgbClr val="EAF2FB"/>
          </a:solidFill>
          <a:ln w="15240">
            <a:solidFill>
              <a:srgbClr val="356BB3"/>
            </a:solidFill>
            <a:prstDash val="solid"/>
          </a:ln>
        </p:spPr>
        <p:txBody>
          <a:bodyPr/>
          <a:lstStyle/>
          <a:p>
            <a:endParaRPr/>
          </a:p>
        </p:txBody>
      </p:sp>
      <p:sp>
        <p:nvSpPr>
          <p:cNvPr id="20" name="Text 15">
            <a:extLst>
              <a:ext uri="{FF2B5EF4-FFF2-40B4-BE49-F238E27FC236}">
                <a16:creationId xmlns:a16="http://schemas.microsoft.com/office/drawing/2014/main" id="{B3DA66E5-D314-4F96-9A81-19E5E531F97B}"/>
              </a:ext>
            </a:extLst>
          </p:cNvPr>
          <p:cNvSpPr>
            <a:spLocks noGrp="1"/>
          </p:cNvSpPr>
          <p:nvPr/>
        </p:nvSpPr>
        <p:spPr>
          <a:xfrm>
            <a:off x="1417320" y="4553712"/>
            <a:ext cx="1645920" cy="320040"/>
          </a:xfrm>
          <a:prstGeom prst="rect">
            <a:avLst/>
          </a:prstGeom>
          <a:noFill/>
        </p:spPr>
        <p:txBody>
          <a:bodyPr wrap="square" lIns="0" tIns="0" rIns="0" bIns="0" anchor="ctr"/>
          <a:lstStyle/>
          <a:p>
            <a:pPr marL="0" indent="0">
              <a:buNone/>
            </a:pPr>
            <a:r>
              <a:rPr sz="1800" b="1">
                <a:solidFill>
                  <a:srgbClr val="356BB3"/>
                </a:solidFill>
                <a:latin typeface="Noto Sans CJK JP"/>
                <a:ea typeface="Noto Sans CJK JP"/>
                <a:cs typeface="Noto Sans CJK JP"/>
              </a:rPr>
              <a:t>研究のねらい</a:t>
            </a:r>
            <a:endParaRPr sz="1800"/>
          </a:p>
        </p:txBody>
      </p:sp>
      <p:sp>
        <p:nvSpPr>
          <p:cNvPr id="21" name="Text 16">
            <a:extLst>
              <a:ext uri="{FF2B5EF4-FFF2-40B4-BE49-F238E27FC236}">
                <a16:creationId xmlns:a16="http://schemas.microsoft.com/office/drawing/2014/main" id="{216B365F-C629-479D-BE8B-98E3A129D6F4}"/>
              </a:ext>
            </a:extLst>
          </p:cNvPr>
          <p:cNvSpPr>
            <a:spLocks noGrp="1"/>
          </p:cNvSpPr>
          <p:nvPr/>
        </p:nvSpPr>
        <p:spPr>
          <a:xfrm>
            <a:off x="2788920" y="4498848"/>
            <a:ext cx="7726680" cy="7498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「どの便を電気バスに任せるか」と「いつ、どの電源で充電するか」をまとめて考え、</a:t>
            </a:r>
            <a:endParaRPr sz="1800"/>
          </a:p>
          <a:p>
            <a:pPr marL="0" indent="0">
              <a:buNone/>
            </a:pPr>
            <a:r>
              <a:rPr sz="1800" b="1">
                <a:solidFill>
                  <a:srgbClr val="172033"/>
                </a:solidFill>
                <a:latin typeface="Noto Sans CJK JP"/>
                <a:ea typeface="Noto Sans CJK JP"/>
                <a:cs typeface="Noto Sans CJK JP"/>
              </a:rPr>
              <a:t>全便運行を守りながら、PV・蓄電池を使いやすい運用を探す。</a:t>
            </a:r>
            <a:endParaRPr sz="1800"/>
          </a:p>
        </p:txBody>
      </p:sp>
      <p:sp>
        <p:nvSpPr>
          <p:cNvPr id="25" name="正方形/長方形 24">
            <a:extLst>
              <a:ext uri="{FF2B5EF4-FFF2-40B4-BE49-F238E27FC236}">
                <a16:creationId xmlns:a16="http://schemas.microsoft.com/office/drawing/2014/main" id="{545ED8FA-1F93-453B-94F5-0451D055B81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56128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181F67-0FB5-404E-8639-5C27BA641930}"/>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先行研究から整理した「示すべき図表」と本研究の位置づけ</a:t>
            </a:r>
            <a:endParaRPr sz="2800" dirty="0"/>
          </a:p>
        </p:txBody>
      </p:sp>
      <p:sp>
        <p:nvSpPr>
          <p:cNvPr id="3" name="Shape 1">
            <a:extLst>
              <a:ext uri="{FF2B5EF4-FFF2-40B4-BE49-F238E27FC236}">
                <a16:creationId xmlns:a16="http://schemas.microsoft.com/office/drawing/2014/main" id="{1AFC4F62-C710-467D-9D23-9AEC04DC6DE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81663F6-DF3C-4B0F-BDCD-594895BE9CE4}"/>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5EC9842-91C3-47CA-B9B3-CFFA35B8BC0F}"/>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3/18</a:t>
            </a:r>
            <a:endParaRPr sz="850"/>
          </a:p>
        </p:txBody>
      </p:sp>
      <p:sp>
        <p:nvSpPr>
          <p:cNvPr id="6" name="Text 4">
            <a:extLst>
              <a:ext uri="{FF2B5EF4-FFF2-40B4-BE49-F238E27FC236}">
                <a16:creationId xmlns:a16="http://schemas.microsoft.com/office/drawing/2014/main" id="{CF49FC12-B7E0-46E5-83F2-A1188488B2CB}"/>
              </a:ext>
            </a:extLst>
          </p:cNvPr>
          <p:cNvSpPr>
            <a:spLocks noGrp="1"/>
          </p:cNvSpPr>
          <p:nvPr/>
        </p:nvSpPr>
        <p:spPr>
          <a:xfrm>
            <a:off x="685800" y="859536"/>
            <a:ext cx="10835640" cy="329184"/>
          </a:xfrm>
          <a:prstGeom prst="rect">
            <a:avLst/>
          </a:prstGeom>
          <a:noFill/>
        </p:spPr>
        <p:txBody>
          <a:bodyPr wrap="square" lIns="0" tIns="0" rIns="0" bIns="0" anchor="ctr"/>
          <a:lstStyle/>
          <a:p>
            <a:pPr marL="0" indent="0" algn="ctr">
              <a:buNone/>
            </a:pPr>
            <a:r>
              <a:rPr sz="1750">
                <a:solidFill>
                  <a:srgbClr val="687386"/>
                </a:solidFill>
                <a:latin typeface="Noto Sans CJK JP"/>
                <a:ea typeface="Noto Sans CJK JP"/>
                <a:cs typeface="Noto Sans CJK JP"/>
              </a:rPr>
              <a:t>電気バス研究では、システム構成・入力条件・時間変化・費用との関係をセットで示す例が多い。</a:t>
            </a:r>
            <a:endParaRPr sz="1750"/>
          </a:p>
        </p:txBody>
      </p:sp>
      <p:sp>
        <p:nvSpPr>
          <p:cNvPr id="7" name="Shape 5">
            <a:extLst>
              <a:ext uri="{FF2B5EF4-FFF2-40B4-BE49-F238E27FC236}">
                <a16:creationId xmlns:a16="http://schemas.microsoft.com/office/drawing/2014/main" id="{C92F2860-36C8-48D4-A78D-7A89B3E609FE}"/>
              </a:ext>
            </a:extLst>
          </p:cNvPr>
          <p:cNvSpPr>
            <a:spLocks noGrp="1"/>
          </p:cNvSpPr>
          <p:nvPr/>
        </p:nvSpPr>
        <p:spPr>
          <a:xfrm>
            <a:off x="621792" y="1371600"/>
            <a:ext cx="2834640" cy="630936"/>
          </a:xfrm>
          <a:prstGeom prst="rect">
            <a:avLst/>
          </a:prstGeom>
          <a:solidFill>
            <a:srgbClr val="1F2A5A"/>
          </a:solidFill>
          <a:ln w="8890">
            <a:solidFill>
              <a:srgbClr val="EEF1F5"/>
            </a:solidFill>
            <a:prstDash val="solid"/>
          </a:ln>
        </p:spPr>
        <p:txBody>
          <a:bodyPr/>
          <a:lstStyle/>
          <a:p>
            <a:endParaRPr/>
          </a:p>
        </p:txBody>
      </p:sp>
      <p:sp>
        <p:nvSpPr>
          <p:cNvPr id="8" name="Text 6">
            <a:extLst>
              <a:ext uri="{FF2B5EF4-FFF2-40B4-BE49-F238E27FC236}">
                <a16:creationId xmlns:a16="http://schemas.microsoft.com/office/drawing/2014/main" id="{B8425423-CB5A-4976-9ADF-731DE1865387}"/>
              </a:ext>
            </a:extLst>
          </p:cNvPr>
          <p:cNvSpPr>
            <a:spLocks noGrp="1"/>
          </p:cNvSpPr>
          <p:nvPr/>
        </p:nvSpPr>
        <p:spPr>
          <a:xfrm>
            <a:off x="676656" y="1403604"/>
            <a:ext cx="272491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先行研究でよく示す内容</a:t>
            </a:r>
            <a:endParaRPr sz="1320"/>
          </a:p>
        </p:txBody>
      </p:sp>
      <p:sp>
        <p:nvSpPr>
          <p:cNvPr id="9" name="Shape 7">
            <a:extLst>
              <a:ext uri="{FF2B5EF4-FFF2-40B4-BE49-F238E27FC236}">
                <a16:creationId xmlns:a16="http://schemas.microsoft.com/office/drawing/2014/main" id="{03BFCCE6-2068-4601-A056-B0FE915EC5A0}"/>
              </a:ext>
            </a:extLst>
          </p:cNvPr>
          <p:cNvSpPr>
            <a:spLocks noGrp="1"/>
          </p:cNvSpPr>
          <p:nvPr/>
        </p:nvSpPr>
        <p:spPr>
          <a:xfrm>
            <a:off x="3456432" y="1371600"/>
            <a:ext cx="3794760" cy="630936"/>
          </a:xfrm>
          <a:prstGeom prst="rect">
            <a:avLst/>
          </a:prstGeom>
          <a:solidFill>
            <a:srgbClr val="1F2A5A"/>
          </a:solidFill>
          <a:ln w="8890">
            <a:solidFill>
              <a:srgbClr val="EEF1F5"/>
            </a:solidFill>
            <a:prstDash val="solid"/>
          </a:ln>
        </p:spPr>
        <p:txBody>
          <a:bodyPr/>
          <a:lstStyle/>
          <a:p>
            <a:endParaRPr/>
          </a:p>
        </p:txBody>
      </p:sp>
      <p:sp>
        <p:nvSpPr>
          <p:cNvPr id="10" name="Text 8">
            <a:extLst>
              <a:ext uri="{FF2B5EF4-FFF2-40B4-BE49-F238E27FC236}">
                <a16:creationId xmlns:a16="http://schemas.microsoft.com/office/drawing/2014/main" id="{B82EF3C4-F3E6-443C-9449-01DAE27C06D6}"/>
              </a:ext>
            </a:extLst>
          </p:cNvPr>
          <p:cNvSpPr>
            <a:spLocks noGrp="1"/>
          </p:cNvSpPr>
          <p:nvPr/>
        </p:nvSpPr>
        <p:spPr>
          <a:xfrm>
            <a:off x="3511296" y="1403604"/>
            <a:ext cx="368503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本資料で対応する図・表</a:t>
            </a:r>
            <a:endParaRPr sz="1320"/>
          </a:p>
        </p:txBody>
      </p:sp>
      <p:sp>
        <p:nvSpPr>
          <p:cNvPr id="11" name="Shape 9">
            <a:extLst>
              <a:ext uri="{FF2B5EF4-FFF2-40B4-BE49-F238E27FC236}">
                <a16:creationId xmlns:a16="http://schemas.microsoft.com/office/drawing/2014/main" id="{A2EE671B-4B0B-48BB-BB49-F22B9B221862}"/>
              </a:ext>
            </a:extLst>
          </p:cNvPr>
          <p:cNvSpPr>
            <a:spLocks noGrp="1"/>
          </p:cNvSpPr>
          <p:nvPr/>
        </p:nvSpPr>
        <p:spPr>
          <a:xfrm>
            <a:off x="7251192" y="1371600"/>
            <a:ext cx="4315968" cy="630936"/>
          </a:xfrm>
          <a:prstGeom prst="rect">
            <a:avLst/>
          </a:prstGeom>
          <a:solidFill>
            <a:srgbClr val="1F2A5A"/>
          </a:solidFill>
          <a:ln w="8890">
            <a:solidFill>
              <a:srgbClr val="EEF1F5"/>
            </a:solidFill>
            <a:prstDash val="solid"/>
          </a:ln>
        </p:spPr>
        <p:txBody>
          <a:bodyPr/>
          <a:lstStyle/>
          <a:p>
            <a:endParaRPr/>
          </a:p>
        </p:txBody>
      </p:sp>
      <p:sp>
        <p:nvSpPr>
          <p:cNvPr id="12" name="Text 10">
            <a:extLst>
              <a:ext uri="{FF2B5EF4-FFF2-40B4-BE49-F238E27FC236}">
                <a16:creationId xmlns:a16="http://schemas.microsoft.com/office/drawing/2014/main" id="{6B07495C-F01A-4E3B-9B82-BDD731D45E52}"/>
              </a:ext>
            </a:extLst>
          </p:cNvPr>
          <p:cNvSpPr>
            <a:spLocks noGrp="1"/>
          </p:cNvSpPr>
          <p:nvPr/>
        </p:nvSpPr>
        <p:spPr>
          <a:xfrm>
            <a:off x="7306056" y="1403604"/>
            <a:ext cx="4206240"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参考にした文献</a:t>
            </a:r>
            <a:endParaRPr sz="1320"/>
          </a:p>
        </p:txBody>
      </p:sp>
      <p:sp>
        <p:nvSpPr>
          <p:cNvPr id="13" name="Shape 11">
            <a:extLst>
              <a:ext uri="{FF2B5EF4-FFF2-40B4-BE49-F238E27FC236}">
                <a16:creationId xmlns:a16="http://schemas.microsoft.com/office/drawing/2014/main" id="{A96FFCF4-4725-439A-A674-0812FCD4289F}"/>
              </a:ext>
            </a:extLst>
          </p:cNvPr>
          <p:cNvSpPr>
            <a:spLocks noGrp="1"/>
          </p:cNvSpPr>
          <p:nvPr/>
        </p:nvSpPr>
        <p:spPr>
          <a:xfrm>
            <a:off x="621792" y="2002536"/>
            <a:ext cx="2834640" cy="630936"/>
          </a:xfrm>
          <a:prstGeom prst="rect">
            <a:avLst/>
          </a:prstGeom>
          <a:solidFill>
            <a:srgbClr val="FFFFFF"/>
          </a:solidFill>
          <a:ln w="8890">
            <a:solidFill>
              <a:srgbClr val="EEF1F5"/>
            </a:solidFill>
            <a:prstDash val="solid"/>
          </a:ln>
        </p:spPr>
        <p:txBody>
          <a:bodyPr/>
          <a:lstStyle/>
          <a:p>
            <a:endParaRPr/>
          </a:p>
        </p:txBody>
      </p:sp>
      <p:sp>
        <p:nvSpPr>
          <p:cNvPr id="14" name="Text 12">
            <a:extLst>
              <a:ext uri="{FF2B5EF4-FFF2-40B4-BE49-F238E27FC236}">
                <a16:creationId xmlns:a16="http://schemas.microsoft.com/office/drawing/2014/main" id="{CEB60CE3-2AD2-4796-8492-8DAD82353076}"/>
              </a:ext>
            </a:extLst>
          </p:cNvPr>
          <p:cNvSpPr>
            <a:spLocks noGrp="1"/>
          </p:cNvSpPr>
          <p:nvPr/>
        </p:nvSpPr>
        <p:spPr>
          <a:xfrm>
            <a:off x="676656" y="2034540"/>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営業所・車両・電力設備の構成図</a:t>
            </a:r>
            <a:endParaRPr sz="1220"/>
          </a:p>
        </p:txBody>
      </p:sp>
      <p:sp>
        <p:nvSpPr>
          <p:cNvPr id="15" name="Shape 13">
            <a:extLst>
              <a:ext uri="{FF2B5EF4-FFF2-40B4-BE49-F238E27FC236}">
                <a16:creationId xmlns:a16="http://schemas.microsoft.com/office/drawing/2014/main" id="{4B818FA7-FA5F-4CA5-9AB7-52F436621694}"/>
              </a:ext>
            </a:extLst>
          </p:cNvPr>
          <p:cNvSpPr>
            <a:spLocks noGrp="1"/>
          </p:cNvSpPr>
          <p:nvPr/>
        </p:nvSpPr>
        <p:spPr>
          <a:xfrm>
            <a:off x="3456432" y="2002536"/>
            <a:ext cx="3794760" cy="630936"/>
          </a:xfrm>
          <a:prstGeom prst="rect">
            <a:avLst/>
          </a:prstGeom>
          <a:solidFill>
            <a:srgbClr val="FFFFFF"/>
          </a:solidFill>
          <a:ln w="8890">
            <a:solidFill>
              <a:srgbClr val="EEF1F5"/>
            </a:solidFill>
            <a:prstDash val="solid"/>
          </a:ln>
        </p:spPr>
        <p:txBody>
          <a:bodyPr/>
          <a:lstStyle/>
          <a:p>
            <a:endParaRPr/>
          </a:p>
        </p:txBody>
      </p:sp>
      <p:sp>
        <p:nvSpPr>
          <p:cNvPr id="16" name="Text 14">
            <a:extLst>
              <a:ext uri="{FF2B5EF4-FFF2-40B4-BE49-F238E27FC236}">
                <a16:creationId xmlns:a16="http://schemas.microsoft.com/office/drawing/2014/main" id="{06C7F06F-B588-4199-A040-B42FA0D3E974}"/>
              </a:ext>
            </a:extLst>
          </p:cNvPr>
          <p:cNvSpPr>
            <a:spLocks noGrp="1"/>
          </p:cNvSpPr>
          <p:nvPr/>
        </p:nvSpPr>
        <p:spPr>
          <a:xfrm>
            <a:off x="3511296" y="2034540"/>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対象営業所と比較条件の図</a:t>
            </a:r>
            <a:endParaRPr sz="1220"/>
          </a:p>
        </p:txBody>
      </p:sp>
      <p:sp>
        <p:nvSpPr>
          <p:cNvPr id="17" name="Shape 15">
            <a:extLst>
              <a:ext uri="{FF2B5EF4-FFF2-40B4-BE49-F238E27FC236}">
                <a16:creationId xmlns:a16="http://schemas.microsoft.com/office/drawing/2014/main" id="{9ED8D649-98BA-4EC6-8409-D5F552955BA6}"/>
              </a:ext>
            </a:extLst>
          </p:cNvPr>
          <p:cNvSpPr>
            <a:spLocks noGrp="1"/>
          </p:cNvSpPr>
          <p:nvPr/>
        </p:nvSpPr>
        <p:spPr>
          <a:xfrm>
            <a:off x="7251192" y="2002536"/>
            <a:ext cx="4315968" cy="630936"/>
          </a:xfrm>
          <a:prstGeom prst="rect">
            <a:avLst/>
          </a:prstGeom>
          <a:solidFill>
            <a:srgbClr val="FFFFFF"/>
          </a:solidFill>
          <a:ln w="8890">
            <a:solidFill>
              <a:srgbClr val="EEF1F5"/>
            </a:solidFill>
            <a:prstDash val="solid"/>
          </a:ln>
        </p:spPr>
        <p:txBody>
          <a:bodyPr/>
          <a:lstStyle/>
          <a:p>
            <a:endParaRPr/>
          </a:p>
        </p:txBody>
      </p:sp>
      <p:sp>
        <p:nvSpPr>
          <p:cNvPr id="18" name="Text 16">
            <a:extLst>
              <a:ext uri="{FF2B5EF4-FFF2-40B4-BE49-F238E27FC236}">
                <a16:creationId xmlns:a16="http://schemas.microsoft.com/office/drawing/2014/main" id="{0D1B8800-ABD3-49E7-99D5-B840436016BF}"/>
              </a:ext>
            </a:extLst>
          </p:cNvPr>
          <p:cNvSpPr>
            <a:spLocks noGrp="1"/>
          </p:cNvSpPr>
          <p:nvPr/>
        </p:nvSpPr>
        <p:spPr>
          <a:xfrm>
            <a:off x="7306056" y="2034540"/>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Najafi et al. (2025), Fei et al. (2023)</a:t>
            </a:r>
            <a:endParaRPr sz="1220"/>
          </a:p>
        </p:txBody>
      </p:sp>
      <p:sp>
        <p:nvSpPr>
          <p:cNvPr id="19" name="Shape 17">
            <a:extLst>
              <a:ext uri="{FF2B5EF4-FFF2-40B4-BE49-F238E27FC236}">
                <a16:creationId xmlns:a16="http://schemas.microsoft.com/office/drawing/2014/main" id="{8437EFB5-6400-4ACD-A58A-55CAEF5B115C}"/>
              </a:ext>
            </a:extLst>
          </p:cNvPr>
          <p:cNvSpPr>
            <a:spLocks noGrp="1"/>
          </p:cNvSpPr>
          <p:nvPr/>
        </p:nvSpPr>
        <p:spPr>
          <a:xfrm>
            <a:off x="621792" y="2633472"/>
            <a:ext cx="2834640" cy="630936"/>
          </a:xfrm>
          <a:prstGeom prst="rect">
            <a:avLst/>
          </a:prstGeom>
          <a:solidFill>
            <a:srgbClr val="F8FAFC"/>
          </a:solidFill>
          <a:ln w="8890">
            <a:solidFill>
              <a:srgbClr val="EEF1F5"/>
            </a:solidFill>
            <a:prstDash val="solid"/>
          </a:ln>
        </p:spPr>
        <p:txBody>
          <a:bodyPr/>
          <a:lstStyle/>
          <a:p>
            <a:endParaRPr/>
          </a:p>
        </p:txBody>
      </p:sp>
      <p:sp>
        <p:nvSpPr>
          <p:cNvPr id="20" name="Text 18">
            <a:extLst>
              <a:ext uri="{FF2B5EF4-FFF2-40B4-BE49-F238E27FC236}">
                <a16:creationId xmlns:a16="http://schemas.microsoft.com/office/drawing/2014/main" id="{1C52EF7F-89A0-4283-9C9F-825199C2CEC0}"/>
              </a:ext>
            </a:extLst>
          </p:cNvPr>
          <p:cNvSpPr>
            <a:spLocks noGrp="1"/>
          </p:cNvSpPr>
          <p:nvPr/>
        </p:nvSpPr>
        <p:spPr>
          <a:xfrm>
            <a:off x="676656" y="2665476"/>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電池・充電器・SOC・価格などの入力表</a:t>
            </a:r>
            <a:endParaRPr sz="1220"/>
          </a:p>
        </p:txBody>
      </p:sp>
      <p:sp>
        <p:nvSpPr>
          <p:cNvPr id="21" name="Shape 19">
            <a:extLst>
              <a:ext uri="{FF2B5EF4-FFF2-40B4-BE49-F238E27FC236}">
                <a16:creationId xmlns:a16="http://schemas.microsoft.com/office/drawing/2014/main" id="{56156F26-1668-4333-873D-26D2E1836173}"/>
              </a:ext>
            </a:extLst>
          </p:cNvPr>
          <p:cNvSpPr>
            <a:spLocks noGrp="1"/>
          </p:cNvSpPr>
          <p:nvPr/>
        </p:nvSpPr>
        <p:spPr>
          <a:xfrm>
            <a:off x="3456432" y="2633472"/>
            <a:ext cx="3794760" cy="630936"/>
          </a:xfrm>
          <a:prstGeom prst="rect">
            <a:avLst/>
          </a:prstGeom>
          <a:solidFill>
            <a:srgbClr val="F8FAFC"/>
          </a:solidFill>
          <a:ln w="8890">
            <a:solidFill>
              <a:srgbClr val="EEF1F5"/>
            </a:solidFill>
            <a:prstDash val="solid"/>
          </a:ln>
        </p:spPr>
        <p:txBody>
          <a:bodyPr/>
          <a:lstStyle/>
          <a:p>
            <a:endParaRPr/>
          </a:p>
        </p:txBody>
      </p:sp>
      <p:sp>
        <p:nvSpPr>
          <p:cNvPr id="22" name="Text 20">
            <a:extLst>
              <a:ext uri="{FF2B5EF4-FFF2-40B4-BE49-F238E27FC236}">
                <a16:creationId xmlns:a16="http://schemas.microsoft.com/office/drawing/2014/main" id="{583BC5B8-B5BF-4720-A9C9-98ECB040E724}"/>
              </a:ext>
            </a:extLst>
          </p:cNvPr>
          <p:cNvSpPr>
            <a:spLocks noGrp="1"/>
          </p:cNvSpPr>
          <p:nvPr/>
        </p:nvSpPr>
        <p:spPr>
          <a:xfrm>
            <a:off x="3511296" y="2665476"/>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車両・設備・費用・計算条件の表</a:t>
            </a:r>
            <a:endParaRPr sz="1220"/>
          </a:p>
        </p:txBody>
      </p:sp>
      <p:sp>
        <p:nvSpPr>
          <p:cNvPr id="23" name="Shape 21">
            <a:extLst>
              <a:ext uri="{FF2B5EF4-FFF2-40B4-BE49-F238E27FC236}">
                <a16:creationId xmlns:a16="http://schemas.microsoft.com/office/drawing/2014/main" id="{A928D52B-8206-4B53-A8A5-0A0C14A6F938}"/>
              </a:ext>
            </a:extLst>
          </p:cNvPr>
          <p:cNvSpPr>
            <a:spLocks noGrp="1"/>
          </p:cNvSpPr>
          <p:nvPr/>
        </p:nvSpPr>
        <p:spPr>
          <a:xfrm>
            <a:off x="7251192" y="2633472"/>
            <a:ext cx="4315968" cy="630936"/>
          </a:xfrm>
          <a:prstGeom prst="rect">
            <a:avLst/>
          </a:prstGeom>
          <a:solidFill>
            <a:srgbClr val="F8FAFC"/>
          </a:solidFill>
          <a:ln w="8890">
            <a:solidFill>
              <a:srgbClr val="EEF1F5"/>
            </a:solidFill>
            <a:prstDash val="solid"/>
          </a:ln>
        </p:spPr>
        <p:txBody>
          <a:bodyPr/>
          <a:lstStyle/>
          <a:p>
            <a:endParaRPr/>
          </a:p>
        </p:txBody>
      </p:sp>
      <p:sp>
        <p:nvSpPr>
          <p:cNvPr id="24" name="Text 22">
            <a:extLst>
              <a:ext uri="{FF2B5EF4-FFF2-40B4-BE49-F238E27FC236}">
                <a16:creationId xmlns:a16="http://schemas.microsoft.com/office/drawing/2014/main" id="{FAFD447B-AA40-4E1C-999D-5913EDE1F38E}"/>
              </a:ext>
            </a:extLst>
          </p:cNvPr>
          <p:cNvSpPr>
            <a:spLocks noGrp="1"/>
          </p:cNvSpPr>
          <p:nvPr/>
        </p:nvSpPr>
        <p:spPr>
          <a:xfrm>
            <a:off x="7306056" y="2665476"/>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Zhang et al. (2025)</a:t>
            </a:r>
            <a:endParaRPr sz="1220"/>
          </a:p>
        </p:txBody>
      </p:sp>
      <p:sp>
        <p:nvSpPr>
          <p:cNvPr id="25" name="Shape 23">
            <a:extLst>
              <a:ext uri="{FF2B5EF4-FFF2-40B4-BE49-F238E27FC236}">
                <a16:creationId xmlns:a16="http://schemas.microsoft.com/office/drawing/2014/main" id="{CDFE6C64-1276-4588-BF3E-980FBFF27948}"/>
              </a:ext>
            </a:extLst>
          </p:cNvPr>
          <p:cNvSpPr>
            <a:spLocks noGrp="1"/>
          </p:cNvSpPr>
          <p:nvPr/>
        </p:nvSpPr>
        <p:spPr>
          <a:xfrm>
            <a:off x="621792" y="3264408"/>
            <a:ext cx="2834640" cy="630936"/>
          </a:xfrm>
          <a:prstGeom prst="rect">
            <a:avLst/>
          </a:prstGeom>
          <a:solidFill>
            <a:srgbClr val="FFFFFF"/>
          </a:solidFill>
          <a:ln w="8890">
            <a:solidFill>
              <a:srgbClr val="EEF1F5"/>
            </a:solidFill>
            <a:prstDash val="solid"/>
          </a:ln>
        </p:spPr>
        <p:txBody>
          <a:bodyPr/>
          <a:lstStyle/>
          <a:p>
            <a:endParaRPr/>
          </a:p>
        </p:txBody>
      </p:sp>
      <p:sp>
        <p:nvSpPr>
          <p:cNvPr id="26" name="Text 24">
            <a:extLst>
              <a:ext uri="{FF2B5EF4-FFF2-40B4-BE49-F238E27FC236}">
                <a16:creationId xmlns:a16="http://schemas.microsoft.com/office/drawing/2014/main" id="{B634AC67-5111-47BD-9C81-2A3439A57D66}"/>
              </a:ext>
            </a:extLst>
          </p:cNvPr>
          <p:cNvSpPr>
            <a:spLocks noGrp="1"/>
          </p:cNvSpPr>
          <p:nvPr/>
        </p:nvSpPr>
        <p:spPr>
          <a:xfrm>
            <a:off x="676656" y="3296412"/>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一日の充電・PV・蓄電池の動き</a:t>
            </a:r>
            <a:endParaRPr sz="1220"/>
          </a:p>
        </p:txBody>
      </p:sp>
      <p:sp>
        <p:nvSpPr>
          <p:cNvPr id="27" name="Shape 25">
            <a:extLst>
              <a:ext uri="{FF2B5EF4-FFF2-40B4-BE49-F238E27FC236}">
                <a16:creationId xmlns:a16="http://schemas.microsoft.com/office/drawing/2014/main" id="{9AEDEFCC-A2F8-4AB6-82B1-948A873E159F}"/>
              </a:ext>
            </a:extLst>
          </p:cNvPr>
          <p:cNvSpPr>
            <a:spLocks noGrp="1"/>
          </p:cNvSpPr>
          <p:nvPr/>
        </p:nvSpPr>
        <p:spPr>
          <a:xfrm>
            <a:off x="3456432" y="3264408"/>
            <a:ext cx="3794760" cy="630936"/>
          </a:xfrm>
          <a:prstGeom prst="rect">
            <a:avLst/>
          </a:prstGeom>
          <a:solidFill>
            <a:srgbClr val="FFFFFF"/>
          </a:solidFill>
          <a:ln w="8890">
            <a:solidFill>
              <a:srgbClr val="EEF1F5"/>
            </a:solidFill>
            <a:prstDash val="solid"/>
          </a:ln>
        </p:spPr>
        <p:txBody>
          <a:bodyPr/>
          <a:lstStyle/>
          <a:p>
            <a:endParaRPr/>
          </a:p>
        </p:txBody>
      </p:sp>
      <p:sp>
        <p:nvSpPr>
          <p:cNvPr id="28" name="Text 26">
            <a:extLst>
              <a:ext uri="{FF2B5EF4-FFF2-40B4-BE49-F238E27FC236}">
                <a16:creationId xmlns:a16="http://schemas.microsoft.com/office/drawing/2014/main" id="{7FFA561B-108B-4224-AC68-BC58CC63493A}"/>
              </a:ext>
            </a:extLst>
          </p:cNvPr>
          <p:cNvSpPr>
            <a:spLocks noGrp="1"/>
          </p:cNvSpPr>
          <p:nvPr/>
        </p:nvSpPr>
        <p:spPr>
          <a:xfrm>
            <a:off x="3511296" y="3296412"/>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PV利用、BESS、系統購入の流れ</a:t>
            </a:r>
            <a:endParaRPr sz="1220"/>
          </a:p>
        </p:txBody>
      </p:sp>
      <p:sp>
        <p:nvSpPr>
          <p:cNvPr id="29" name="Shape 27">
            <a:extLst>
              <a:ext uri="{FF2B5EF4-FFF2-40B4-BE49-F238E27FC236}">
                <a16:creationId xmlns:a16="http://schemas.microsoft.com/office/drawing/2014/main" id="{4D67F09F-3CFB-42E9-ADCE-77BF51E6877E}"/>
              </a:ext>
            </a:extLst>
          </p:cNvPr>
          <p:cNvSpPr>
            <a:spLocks noGrp="1"/>
          </p:cNvSpPr>
          <p:nvPr/>
        </p:nvSpPr>
        <p:spPr>
          <a:xfrm>
            <a:off x="7251192" y="3264408"/>
            <a:ext cx="4315968" cy="630936"/>
          </a:xfrm>
          <a:prstGeom prst="rect">
            <a:avLst/>
          </a:prstGeom>
          <a:solidFill>
            <a:srgbClr val="FFFFFF"/>
          </a:solidFill>
          <a:ln w="8890">
            <a:solidFill>
              <a:srgbClr val="EEF1F5"/>
            </a:solidFill>
            <a:prstDash val="solid"/>
          </a:ln>
        </p:spPr>
        <p:txBody>
          <a:bodyPr/>
          <a:lstStyle/>
          <a:p>
            <a:endParaRPr/>
          </a:p>
        </p:txBody>
      </p:sp>
      <p:sp>
        <p:nvSpPr>
          <p:cNvPr id="30" name="Text 28">
            <a:extLst>
              <a:ext uri="{FF2B5EF4-FFF2-40B4-BE49-F238E27FC236}">
                <a16:creationId xmlns:a16="http://schemas.microsoft.com/office/drawing/2014/main" id="{1AC78EE0-F6D2-4A40-8E23-EF7183AB2C3F}"/>
              </a:ext>
            </a:extLst>
          </p:cNvPr>
          <p:cNvSpPr>
            <a:spLocks noGrp="1"/>
          </p:cNvSpPr>
          <p:nvPr/>
        </p:nvSpPr>
        <p:spPr>
          <a:xfrm>
            <a:off x="7306056" y="3296412"/>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Najafi et al. (2025)</a:t>
            </a:r>
            <a:endParaRPr sz="1220"/>
          </a:p>
        </p:txBody>
      </p:sp>
      <p:sp>
        <p:nvSpPr>
          <p:cNvPr id="31" name="Shape 29">
            <a:extLst>
              <a:ext uri="{FF2B5EF4-FFF2-40B4-BE49-F238E27FC236}">
                <a16:creationId xmlns:a16="http://schemas.microsoft.com/office/drawing/2014/main" id="{FD2C4B3A-B977-4FDD-A691-991865B3CD7B}"/>
              </a:ext>
            </a:extLst>
          </p:cNvPr>
          <p:cNvSpPr>
            <a:spLocks noGrp="1"/>
          </p:cNvSpPr>
          <p:nvPr/>
        </p:nvSpPr>
        <p:spPr>
          <a:xfrm>
            <a:off x="621792" y="3895344"/>
            <a:ext cx="2834640" cy="630936"/>
          </a:xfrm>
          <a:prstGeom prst="rect">
            <a:avLst/>
          </a:prstGeom>
          <a:solidFill>
            <a:srgbClr val="F8FAFC"/>
          </a:solidFill>
          <a:ln w="8890">
            <a:solidFill>
              <a:srgbClr val="EEF1F5"/>
            </a:solidFill>
            <a:prstDash val="solid"/>
          </a:ln>
        </p:spPr>
        <p:txBody>
          <a:bodyPr/>
          <a:lstStyle/>
          <a:p>
            <a:endParaRPr/>
          </a:p>
        </p:txBody>
      </p:sp>
      <p:sp>
        <p:nvSpPr>
          <p:cNvPr id="32" name="Text 30">
            <a:extLst>
              <a:ext uri="{FF2B5EF4-FFF2-40B4-BE49-F238E27FC236}">
                <a16:creationId xmlns:a16="http://schemas.microsoft.com/office/drawing/2014/main" id="{37202EDC-05D6-483D-9C55-A61704A408F9}"/>
              </a:ext>
            </a:extLst>
          </p:cNvPr>
          <p:cNvSpPr>
            <a:spLocks noGrp="1"/>
          </p:cNvSpPr>
          <p:nvPr/>
        </p:nvSpPr>
        <p:spPr>
          <a:xfrm>
            <a:off x="676656" y="3927348"/>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車両構成と費用・収益の関係</a:t>
            </a:r>
            <a:endParaRPr sz="1220"/>
          </a:p>
        </p:txBody>
      </p:sp>
      <p:sp>
        <p:nvSpPr>
          <p:cNvPr id="33" name="Shape 31">
            <a:extLst>
              <a:ext uri="{FF2B5EF4-FFF2-40B4-BE49-F238E27FC236}">
                <a16:creationId xmlns:a16="http://schemas.microsoft.com/office/drawing/2014/main" id="{D6039E85-57D6-4676-9135-D7B5715B866D}"/>
              </a:ext>
            </a:extLst>
          </p:cNvPr>
          <p:cNvSpPr>
            <a:spLocks noGrp="1"/>
          </p:cNvSpPr>
          <p:nvPr/>
        </p:nvSpPr>
        <p:spPr>
          <a:xfrm>
            <a:off x="3456432" y="3895344"/>
            <a:ext cx="3794760" cy="630936"/>
          </a:xfrm>
          <a:prstGeom prst="rect">
            <a:avLst/>
          </a:prstGeom>
          <a:solidFill>
            <a:srgbClr val="F8FAFC"/>
          </a:solidFill>
          <a:ln w="8890">
            <a:solidFill>
              <a:srgbClr val="EEF1F5"/>
            </a:solidFill>
            <a:prstDash val="solid"/>
          </a:ln>
        </p:spPr>
        <p:txBody>
          <a:bodyPr/>
          <a:lstStyle/>
          <a:p>
            <a:endParaRPr/>
          </a:p>
        </p:txBody>
      </p:sp>
      <p:sp>
        <p:nvSpPr>
          <p:cNvPr id="34" name="Text 32">
            <a:extLst>
              <a:ext uri="{FF2B5EF4-FFF2-40B4-BE49-F238E27FC236}">
                <a16:creationId xmlns:a16="http://schemas.microsoft.com/office/drawing/2014/main" id="{3723C6DC-09DB-4575-984B-95802803F892}"/>
              </a:ext>
            </a:extLst>
          </p:cNvPr>
          <p:cNvSpPr>
            <a:spLocks noGrp="1"/>
          </p:cNvSpPr>
          <p:nvPr/>
        </p:nvSpPr>
        <p:spPr>
          <a:xfrm>
            <a:off x="3511296" y="3927348"/>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22配車候補のBEV台数と評価額</a:t>
            </a:r>
            <a:endParaRPr sz="1220"/>
          </a:p>
        </p:txBody>
      </p:sp>
      <p:sp>
        <p:nvSpPr>
          <p:cNvPr id="35" name="Shape 33">
            <a:extLst>
              <a:ext uri="{FF2B5EF4-FFF2-40B4-BE49-F238E27FC236}">
                <a16:creationId xmlns:a16="http://schemas.microsoft.com/office/drawing/2014/main" id="{E1103D13-0F2D-4D15-8FC4-DD586828AD00}"/>
              </a:ext>
            </a:extLst>
          </p:cNvPr>
          <p:cNvSpPr>
            <a:spLocks noGrp="1"/>
          </p:cNvSpPr>
          <p:nvPr/>
        </p:nvSpPr>
        <p:spPr>
          <a:xfrm>
            <a:off x="7251192" y="3895344"/>
            <a:ext cx="4315968" cy="630936"/>
          </a:xfrm>
          <a:prstGeom prst="rect">
            <a:avLst/>
          </a:prstGeom>
          <a:solidFill>
            <a:srgbClr val="F8FAFC"/>
          </a:solidFill>
          <a:ln w="8890">
            <a:solidFill>
              <a:srgbClr val="EEF1F5"/>
            </a:solidFill>
            <a:prstDash val="solid"/>
          </a:ln>
        </p:spPr>
        <p:txBody>
          <a:bodyPr/>
          <a:lstStyle/>
          <a:p>
            <a:endParaRPr/>
          </a:p>
        </p:txBody>
      </p:sp>
      <p:sp>
        <p:nvSpPr>
          <p:cNvPr id="36" name="Text 34">
            <a:extLst>
              <a:ext uri="{FF2B5EF4-FFF2-40B4-BE49-F238E27FC236}">
                <a16:creationId xmlns:a16="http://schemas.microsoft.com/office/drawing/2014/main" id="{EC3CBB4F-2C51-4475-ABCD-D3CB9738BE6D}"/>
              </a:ext>
            </a:extLst>
          </p:cNvPr>
          <p:cNvSpPr>
            <a:spLocks noGrp="1"/>
          </p:cNvSpPr>
          <p:nvPr/>
        </p:nvSpPr>
        <p:spPr>
          <a:xfrm>
            <a:off x="7306056" y="3927348"/>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a:t>
            </a:r>
            <a:endParaRPr sz="1220"/>
          </a:p>
        </p:txBody>
      </p:sp>
      <p:sp>
        <p:nvSpPr>
          <p:cNvPr id="37" name="Shape 35">
            <a:extLst>
              <a:ext uri="{FF2B5EF4-FFF2-40B4-BE49-F238E27FC236}">
                <a16:creationId xmlns:a16="http://schemas.microsoft.com/office/drawing/2014/main" id="{5C5A51C9-6FA1-465A-BD32-6F98EFA30101}"/>
              </a:ext>
            </a:extLst>
          </p:cNvPr>
          <p:cNvSpPr>
            <a:spLocks noGrp="1"/>
          </p:cNvSpPr>
          <p:nvPr/>
        </p:nvSpPr>
        <p:spPr>
          <a:xfrm>
            <a:off x="621792" y="4526280"/>
            <a:ext cx="2834640" cy="630936"/>
          </a:xfrm>
          <a:prstGeom prst="rect">
            <a:avLst/>
          </a:prstGeom>
          <a:solidFill>
            <a:srgbClr val="FFFFFF"/>
          </a:solidFill>
          <a:ln w="8890">
            <a:solidFill>
              <a:srgbClr val="EEF1F5"/>
            </a:solidFill>
            <a:prstDash val="solid"/>
          </a:ln>
        </p:spPr>
        <p:txBody>
          <a:bodyPr/>
          <a:lstStyle/>
          <a:p>
            <a:endParaRPr/>
          </a:p>
        </p:txBody>
      </p:sp>
      <p:sp>
        <p:nvSpPr>
          <p:cNvPr id="38" name="Text 36">
            <a:extLst>
              <a:ext uri="{FF2B5EF4-FFF2-40B4-BE49-F238E27FC236}">
                <a16:creationId xmlns:a16="http://schemas.microsoft.com/office/drawing/2014/main" id="{8B1D8B93-3C13-40A4-868A-91EA6236134D}"/>
              </a:ext>
            </a:extLst>
          </p:cNvPr>
          <p:cNvSpPr>
            <a:spLocks noGrp="1"/>
          </p:cNvSpPr>
          <p:nvPr/>
        </p:nvSpPr>
        <p:spPr>
          <a:xfrm>
            <a:off x="676656" y="4558284"/>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便ごとの消費量をどう扱うか</a:t>
            </a:r>
            <a:endParaRPr sz="1220"/>
          </a:p>
        </p:txBody>
      </p:sp>
      <p:sp>
        <p:nvSpPr>
          <p:cNvPr id="39" name="Shape 37">
            <a:extLst>
              <a:ext uri="{FF2B5EF4-FFF2-40B4-BE49-F238E27FC236}">
                <a16:creationId xmlns:a16="http://schemas.microsoft.com/office/drawing/2014/main" id="{5E0576D2-40D6-435D-A396-5F44529C8CF2}"/>
              </a:ext>
            </a:extLst>
          </p:cNvPr>
          <p:cNvSpPr>
            <a:spLocks noGrp="1"/>
          </p:cNvSpPr>
          <p:nvPr/>
        </p:nvSpPr>
        <p:spPr>
          <a:xfrm>
            <a:off x="3456432" y="4526280"/>
            <a:ext cx="3794760" cy="630936"/>
          </a:xfrm>
          <a:prstGeom prst="rect">
            <a:avLst/>
          </a:prstGeom>
          <a:solidFill>
            <a:srgbClr val="FFFFFF"/>
          </a:solidFill>
          <a:ln w="8890">
            <a:solidFill>
              <a:srgbClr val="EEF1F5"/>
            </a:solidFill>
            <a:prstDash val="solid"/>
          </a:ln>
        </p:spPr>
        <p:txBody>
          <a:bodyPr/>
          <a:lstStyle/>
          <a:p>
            <a:endParaRPr/>
          </a:p>
        </p:txBody>
      </p:sp>
      <p:sp>
        <p:nvSpPr>
          <p:cNvPr id="40" name="Text 38">
            <a:extLst>
              <a:ext uri="{FF2B5EF4-FFF2-40B4-BE49-F238E27FC236}">
                <a16:creationId xmlns:a16="http://schemas.microsoft.com/office/drawing/2014/main" id="{14BBC929-068A-4582-B342-86E02D63F3AB}"/>
              </a:ext>
            </a:extLst>
          </p:cNvPr>
          <p:cNvSpPr>
            <a:spLocks noGrp="1"/>
          </p:cNvSpPr>
          <p:nvPr/>
        </p:nvSpPr>
        <p:spPr>
          <a:xfrm>
            <a:off x="3511296" y="4558284"/>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便別入力を用いた配車・充電計算</a:t>
            </a:r>
            <a:endParaRPr sz="1220"/>
          </a:p>
        </p:txBody>
      </p:sp>
      <p:sp>
        <p:nvSpPr>
          <p:cNvPr id="41" name="Shape 39">
            <a:extLst>
              <a:ext uri="{FF2B5EF4-FFF2-40B4-BE49-F238E27FC236}">
                <a16:creationId xmlns:a16="http://schemas.microsoft.com/office/drawing/2014/main" id="{94D244FE-8919-414B-BA54-6A36815FD469}"/>
              </a:ext>
            </a:extLst>
          </p:cNvPr>
          <p:cNvSpPr>
            <a:spLocks noGrp="1"/>
          </p:cNvSpPr>
          <p:nvPr/>
        </p:nvSpPr>
        <p:spPr>
          <a:xfrm>
            <a:off x="7251192" y="4526280"/>
            <a:ext cx="4315968" cy="630936"/>
          </a:xfrm>
          <a:prstGeom prst="rect">
            <a:avLst/>
          </a:prstGeom>
          <a:solidFill>
            <a:srgbClr val="FFFFFF"/>
          </a:solidFill>
          <a:ln w="8890">
            <a:solidFill>
              <a:srgbClr val="EEF1F5"/>
            </a:solidFill>
            <a:prstDash val="solid"/>
          </a:ln>
        </p:spPr>
        <p:txBody>
          <a:bodyPr/>
          <a:lstStyle/>
          <a:p>
            <a:endParaRPr/>
          </a:p>
        </p:txBody>
      </p:sp>
      <p:sp>
        <p:nvSpPr>
          <p:cNvPr id="42" name="Text 40">
            <a:extLst>
              <a:ext uri="{FF2B5EF4-FFF2-40B4-BE49-F238E27FC236}">
                <a16:creationId xmlns:a16="http://schemas.microsoft.com/office/drawing/2014/main" id="{CAE2D172-6599-47C0-8550-1B035839CA8E}"/>
              </a:ext>
            </a:extLst>
          </p:cNvPr>
          <p:cNvSpPr>
            <a:spLocks noGrp="1"/>
          </p:cNvSpPr>
          <p:nvPr/>
        </p:nvSpPr>
        <p:spPr>
          <a:xfrm>
            <a:off x="7306056" y="4558284"/>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He et al. (2023), Zhang et al. (2024)</a:t>
            </a:r>
            <a:endParaRPr sz="1220"/>
          </a:p>
        </p:txBody>
      </p:sp>
      <p:sp>
        <p:nvSpPr>
          <p:cNvPr id="43" name="Shape 41">
            <a:extLst>
              <a:ext uri="{FF2B5EF4-FFF2-40B4-BE49-F238E27FC236}">
                <a16:creationId xmlns:a16="http://schemas.microsoft.com/office/drawing/2014/main" id="{E96FBAC1-1E90-4280-A7FF-BFEA6AF699BA}"/>
              </a:ext>
            </a:extLst>
          </p:cNvPr>
          <p:cNvSpPr>
            <a:spLocks noGrp="1"/>
          </p:cNvSpPr>
          <p:nvPr/>
        </p:nvSpPr>
        <p:spPr>
          <a:xfrm>
            <a:off x="932688" y="5440680"/>
            <a:ext cx="10332720" cy="658368"/>
          </a:xfrm>
          <a:prstGeom prst="roundRect">
            <a:avLst/>
          </a:prstGeom>
          <a:solidFill>
            <a:srgbClr val="E8F6F3"/>
          </a:solidFill>
          <a:ln w="13970">
            <a:solidFill>
              <a:srgbClr val="1F9D8A"/>
            </a:solidFill>
            <a:prstDash val="solid"/>
          </a:ln>
        </p:spPr>
        <p:txBody>
          <a:bodyPr/>
          <a:lstStyle/>
          <a:p>
            <a:endParaRPr/>
          </a:p>
        </p:txBody>
      </p:sp>
      <p:sp>
        <p:nvSpPr>
          <p:cNvPr id="44" name="Text 42">
            <a:extLst>
              <a:ext uri="{FF2B5EF4-FFF2-40B4-BE49-F238E27FC236}">
                <a16:creationId xmlns:a16="http://schemas.microsoft.com/office/drawing/2014/main" id="{0AE507F4-AFF3-4796-AFA1-3CF2A00F78BD}"/>
              </a:ext>
            </a:extLst>
          </p:cNvPr>
          <p:cNvSpPr>
            <a:spLocks noGrp="1"/>
          </p:cNvSpPr>
          <p:nvPr/>
        </p:nvSpPr>
        <p:spPr>
          <a:xfrm>
            <a:off x="1170432" y="5596128"/>
            <a:ext cx="9875520" cy="301752"/>
          </a:xfrm>
          <a:prstGeom prst="rect">
            <a:avLst/>
          </a:prstGeom>
          <a:noFill/>
        </p:spPr>
        <p:txBody>
          <a:bodyPr wrap="square" lIns="0" tIns="0" rIns="0" bIns="0" anchor="ctr"/>
          <a:lstStyle/>
          <a:p>
            <a:pPr marL="0" indent="0" algn="ctr">
              <a:buNone/>
            </a:pPr>
            <a:r>
              <a:rPr b="1" dirty="0">
                <a:solidFill>
                  <a:srgbClr val="1F9D8A"/>
                </a:solidFill>
                <a:latin typeface="Noto Sans CJK JP"/>
                <a:ea typeface="Noto Sans CJK JP"/>
                <a:cs typeface="Noto Sans CJK JP"/>
              </a:rPr>
              <a:t>本研究の焦点：既存営業所の264便を対象に、</a:t>
            </a:r>
            <a:endParaRPr lang="en-US" b="1" dirty="0">
              <a:solidFill>
                <a:srgbClr val="1F9D8A"/>
              </a:solidFill>
              <a:latin typeface="Noto Sans CJK JP"/>
              <a:ea typeface="Noto Sans CJK JP"/>
              <a:cs typeface="Noto Sans CJK JP"/>
            </a:endParaRPr>
          </a:p>
          <a:p>
            <a:pPr marL="0" indent="0" algn="ctr">
              <a:buNone/>
            </a:pPr>
            <a:r>
              <a:rPr b="1" dirty="0" err="1">
                <a:solidFill>
                  <a:srgbClr val="1F9D8A"/>
                </a:solidFill>
                <a:latin typeface="Noto Sans CJK JP"/>
                <a:ea typeface="Noto Sans CJK JP"/>
                <a:cs typeface="Noto Sans CJK JP"/>
              </a:rPr>
              <a:t>BEV／ICEの担当便とPV・BESSを使う充電運用を同時に確認する</a:t>
            </a:r>
            <a:endParaRPr dirty="0"/>
          </a:p>
        </p:txBody>
      </p:sp>
    </p:spTree>
    <p:extLst>
      <p:ext uri="{BB962C8B-B14F-4D97-AF65-F5344CB8AC3E}">
        <p14:creationId xmlns:p14="http://schemas.microsoft.com/office/powerpoint/2010/main" val="842432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7A207E-60EF-43D7-9605-4C7BFA97DB0F}"/>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実験対象</a:t>
            </a:r>
            <a:endParaRPr sz="2800" dirty="0"/>
          </a:p>
        </p:txBody>
      </p:sp>
      <p:sp>
        <p:nvSpPr>
          <p:cNvPr id="3" name="Shape 1">
            <a:extLst>
              <a:ext uri="{FF2B5EF4-FFF2-40B4-BE49-F238E27FC236}">
                <a16:creationId xmlns:a16="http://schemas.microsoft.com/office/drawing/2014/main" id="{EB903414-EC62-41F8-AF74-290DB5B5B5E4}"/>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F19B819-781B-466D-9FE8-4B01826AAD2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1217988F-D59E-440A-9205-EBD73154290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4/18</a:t>
            </a:r>
            <a:endParaRPr sz="850"/>
          </a:p>
        </p:txBody>
      </p:sp>
      <p:sp>
        <p:nvSpPr>
          <p:cNvPr id="6" name="Shape 4">
            <a:extLst>
              <a:ext uri="{FF2B5EF4-FFF2-40B4-BE49-F238E27FC236}">
                <a16:creationId xmlns:a16="http://schemas.microsoft.com/office/drawing/2014/main" id="{3077A169-85BE-45C0-B034-F6A6BA70A795}"/>
              </a:ext>
            </a:extLst>
          </p:cNvPr>
          <p:cNvSpPr>
            <a:spLocks noGrp="1"/>
          </p:cNvSpPr>
          <p:nvPr/>
        </p:nvSpPr>
        <p:spPr>
          <a:xfrm>
            <a:off x="594360" y="914400"/>
            <a:ext cx="4572000" cy="5349240"/>
          </a:xfrm>
          <a:prstGeom prst="roundRect">
            <a:avLst>
              <a:gd name="adj" fmla="val 1600"/>
            </a:avLst>
          </a:prstGeom>
          <a:solidFill>
            <a:srgbClr val="F8FAFC"/>
          </a:solidFill>
          <a:ln w="1270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3384ED77-9FCF-4D61-BC9A-5AB450A2187E}"/>
              </a:ext>
            </a:extLst>
          </p:cNvPr>
          <p:cNvSpPr>
            <a:spLocks noGrp="1"/>
          </p:cNvSpPr>
          <p:nvPr/>
        </p:nvSpPr>
        <p:spPr>
          <a:xfrm>
            <a:off x="896112" y="1143000"/>
            <a:ext cx="3675888" cy="329184"/>
          </a:xfrm>
          <a:prstGeom prst="rect">
            <a:avLst/>
          </a:prstGeom>
          <a:noFill/>
        </p:spPr>
        <p:txBody>
          <a:bodyPr wrap="square" lIns="0" tIns="0" rIns="0" bIns="0" anchor="ctr"/>
          <a:lstStyle/>
          <a:p>
            <a:pPr marL="0" indent="0">
              <a:buNone/>
            </a:pPr>
            <a:r>
              <a:rPr sz="2000" b="1" dirty="0" err="1">
                <a:solidFill>
                  <a:srgbClr val="172033"/>
                </a:solidFill>
                <a:latin typeface="Noto Sans CJK JP"/>
                <a:ea typeface="Noto Sans CJK JP"/>
                <a:cs typeface="Noto Sans CJK JP"/>
              </a:rPr>
              <a:t>共通して固定する条件</a:t>
            </a:r>
            <a:endParaRPr sz="2000" dirty="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 y="1755648"/>
            <a:ext cx="548640" cy="502920"/>
          </a:xfrm>
          <a:prstGeom prst="rect">
            <a:avLst/>
          </a:prstGeom>
        </p:spPr>
      </p:pic>
      <p:sp>
        <p:nvSpPr>
          <p:cNvPr id="9" name="Text 6">
            <a:extLst>
              <a:ext uri="{FF2B5EF4-FFF2-40B4-BE49-F238E27FC236}">
                <a16:creationId xmlns:a16="http://schemas.microsoft.com/office/drawing/2014/main" id="{048D8B11-30DC-4E7C-BCF0-723C22AD2BA8}"/>
              </a:ext>
            </a:extLst>
          </p:cNvPr>
          <p:cNvSpPr>
            <a:spLocks noGrp="1"/>
          </p:cNvSpPr>
          <p:nvPr/>
        </p:nvSpPr>
        <p:spPr>
          <a:xfrm>
            <a:off x="917448" y="1706118"/>
            <a:ext cx="3675888" cy="310896"/>
          </a:xfrm>
          <a:prstGeom prst="rect">
            <a:avLst/>
          </a:prstGeom>
          <a:noFill/>
        </p:spPr>
        <p:txBody>
          <a:bodyPr wrap="square" lIns="0" tIns="0" rIns="0" bIns="0" anchor="ctr"/>
          <a:lstStyle/>
          <a:p>
            <a:pPr marL="0" indent="0">
              <a:buNone/>
            </a:pPr>
            <a:r>
              <a:rPr sz="1750" b="1" dirty="0">
                <a:solidFill>
                  <a:srgbClr val="1F2A5A"/>
                </a:solidFill>
                <a:latin typeface="Noto Sans CJK JP"/>
                <a:ea typeface="Noto Sans CJK JP"/>
                <a:cs typeface="Noto Sans CJK JP"/>
              </a:rPr>
              <a:t>弦巻営業所・平日264便（16路線）</a:t>
            </a:r>
            <a:endParaRPr sz="1750" dirty="0"/>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2487168"/>
            <a:ext cx="548640" cy="475488"/>
          </a:xfrm>
          <a:prstGeom prst="rect">
            <a:avLst/>
          </a:prstGeom>
        </p:spPr>
      </p:pic>
      <p:sp>
        <p:nvSpPr>
          <p:cNvPr id="11" name="Text 7">
            <a:extLst>
              <a:ext uri="{FF2B5EF4-FFF2-40B4-BE49-F238E27FC236}">
                <a16:creationId xmlns:a16="http://schemas.microsoft.com/office/drawing/2014/main" id="{655A02AD-6EE6-4486-BE06-19405E9661BE}"/>
              </a:ext>
            </a:extLst>
          </p:cNvPr>
          <p:cNvSpPr>
            <a:spLocks noGrp="1"/>
          </p:cNvSpPr>
          <p:nvPr/>
        </p:nvSpPr>
        <p:spPr>
          <a:xfrm>
            <a:off x="917448" y="2446782"/>
            <a:ext cx="2971800" cy="310896"/>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車両60台：BEV 35台／ICE 25台</a:t>
            </a:r>
            <a:endParaRPr sz="1700"/>
          </a:p>
        </p:txBody>
      </p:sp>
      <p:pic>
        <p:nvPicPr>
          <p:cNvPr id="52"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120" y="3218688"/>
            <a:ext cx="502920" cy="502920"/>
          </a:xfrm>
          <a:prstGeom prst="rect">
            <a:avLst/>
          </a:prstGeom>
        </p:spPr>
      </p:pic>
      <p:sp>
        <p:nvSpPr>
          <p:cNvPr id="13" name="Text 8">
            <a:extLst>
              <a:ext uri="{FF2B5EF4-FFF2-40B4-BE49-F238E27FC236}">
                <a16:creationId xmlns:a16="http://schemas.microsoft.com/office/drawing/2014/main" id="{D292F56C-D7D4-4950-B1F5-10BC64823F85}"/>
              </a:ext>
            </a:extLst>
          </p:cNvPr>
          <p:cNvSpPr>
            <a:spLocks noGrp="1"/>
          </p:cNvSpPr>
          <p:nvPr/>
        </p:nvSpPr>
        <p:spPr>
          <a:xfrm>
            <a:off x="917448" y="3178302"/>
            <a:ext cx="3776472" cy="310896"/>
          </a:xfrm>
          <a:prstGeom prst="rect">
            <a:avLst/>
          </a:prstGeom>
          <a:noFill/>
        </p:spPr>
        <p:txBody>
          <a:bodyPr wrap="square" lIns="0" tIns="0" rIns="0" bIns="0" anchor="ctr"/>
          <a:lstStyle/>
          <a:p>
            <a:pPr marL="0" indent="0">
              <a:buNone/>
            </a:pPr>
            <a:r>
              <a:rPr sz="1700" b="1" dirty="0" err="1">
                <a:solidFill>
                  <a:srgbClr val="172033"/>
                </a:solidFill>
                <a:latin typeface="Noto Sans CJK JP"/>
                <a:ea typeface="Noto Sans CJK JP"/>
                <a:cs typeface="Noto Sans CJK JP"/>
              </a:rPr>
              <a:t>充電器・BESS・受電上限・料金は同一</a:t>
            </a:r>
            <a:endParaRPr sz="1700" dirty="0"/>
          </a:p>
        </p:txBody>
      </p:sp>
      <p:pic>
        <p:nvPicPr>
          <p:cNvPr id="54"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0120" y="3950208"/>
            <a:ext cx="502920" cy="502920"/>
          </a:xfrm>
          <a:prstGeom prst="rect">
            <a:avLst/>
          </a:prstGeom>
        </p:spPr>
      </p:pic>
      <p:sp>
        <p:nvSpPr>
          <p:cNvPr id="15" name="Text 9">
            <a:extLst>
              <a:ext uri="{FF2B5EF4-FFF2-40B4-BE49-F238E27FC236}">
                <a16:creationId xmlns:a16="http://schemas.microsoft.com/office/drawing/2014/main" id="{76B7376F-41F4-4856-BF06-7B74414CC934}"/>
              </a:ext>
            </a:extLst>
          </p:cNvPr>
          <p:cNvSpPr>
            <a:spLocks noGrp="1"/>
          </p:cNvSpPr>
          <p:nvPr/>
        </p:nvSpPr>
        <p:spPr>
          <a:xfrm>
            <a:off x="917448" y="3909822"/>
            <a:ext cx="3675888" cy="310896"/>
          </a:xfrm>
          <a:prstGeom prst="rect">
            <a:avLst/>
          </a:prstGeom>
          <a:noFill/>
        </p:spPr>
        <p:txBody>
          <a:bodyPr wrap="square" lIns="0" tIns="0" rIns="0" bIns="0" anchor="ctr"/>
          <a:lstStyle/>
          <a:p>
            <a:pPr marL="0" indent="0">
              <a:buNone/>
            </a:pPr>
            <a:r>
              <a:rPr sz="1700" b="1" dirty="0">
                <a:solidFill>
                  <a:srgbClr val="172033"/>
                </a:solidFill>
                <a:latin typeface="Noto Sans CJK JP"/>
                <a:ea typeface="Noto Sans CJK JP"/>
                <a:cs typeface="Noto Sans CJK JP"/>
              </a:rPr>
              <a:t>15分単位、1時間ごとに運用を見直す</a:t>
            </a:r>
            <a:endParaRPr sz="1700" dirty="0"/>
          </a:p>
        </p:txBody>
      </p:sp>
      <p:sp>
        <p:nvSpPr>
          <p:cNvPr id="16" name="Shape 10">
            <a:extLst>
              <a:ext uri="{FF2B5EF4-FFF2-40B4-BE49-F238E27FC236}">
                <a16:creationId xmlns:a16="http://schemas.microsoft.com/office/drawing/2014/main" id="{50E7229C-FD62-445C-A9B7-AC621C9CB474}"/>
              </a:ext>
            </a:extLst>
          </p:cNvPr>
          <p:cNvSpPr>
            <a:spLocks noGrp="1"/>
          </p:cNvSpPr>
          <p:nvPr/>
        </p:nvSpPr>
        <p:spPr>
          <a:xfrm>
            <a:off x="960120" y="4754880"/>
            <a:ext cx="3822192" cy="841248"/>
          </a:xfrm>
          <a:prstGeom prst="roundRect">
            <a:avLst/>
          </a:prstGeom>
          <a:solidFill>
            <a:srgbClr val="FFFFFF"/>
          </a:solidFill>
          <a:ln w="12700">
            <a:solidFill>
              <a:srgbClr val="356BB3"/>
            </a:solidFill>
            <a:prstDash val="solid"/>
          </a:ln>
        </p:spPr>
        <p:txBody>
          <a:bodyPr/>
          <a:lstStyle/>
          <a:p>
            <a:endParaRPr/>
          </a:p>
        </p:txBody>
      </p:sp>
      <p:sp>
        <p:nvSpPr>
          <p:cNvPr id="17" name="Text 11">
            <a:extLst>
              <a:ext uri="{FF2B5EF4-FFF2-40B4-BE49-F238E27FC236}">
                <a16:creationId xmlns:a16="http://schemas.microsoft.com/office/drawing/2014/main" id="{E9D4474D-520E-4FDB-A980-E4C0457E0AE9}"/>
              </a:ext>
            </a:extLst>
          </p:cNvPr>
          <p:cNvSpPr>
            <a:spLocks noGrp="1"/>
          </p:cNvSpPr>
          <p:nvPr/>
        </p:nvSpPr>
        <p:spPr>
          <a:xfrm>
            <a:off x="1188720" y="4919472"/>
            <a:ext cx="3383280" cy="457200"/>
          </a:xfrm>
          <a:prstGeom prst="rect">
            <a:avLst/>
          </a:prstGeom>
          <a:noFill/>
        </p:spPr>
        <p:txBody>
          <a:bodyPr wrap="square" lIns="0" tIns="0" rIns="0" bIns="0" anchor="ctr"/>
          <a:lstStyle/>
          <a:p>
            <a:pPr marL="0" indent="0" algn="ctr">
              <a:buNone/>
            </a:pPr>
            <a:r>
              <a:rPr sz="1550" b="1" dirty="0" err="1">
                <a:solidFill>
                  <a:srgbClr val="1F2A5A"/>
                </a:solidFill>
                <a:latin typeface="Noto Sans CJK JP"/>
                <a:ea typeface="Noto Sans CJK JP"/>
                <a:cs typeface="Noto Sans CJK JP"/>
              </a:rPr>
              <a:t>比較したいこと</a:t>
            </a:r>
            <a:endParaRPr sz="1550" dirty="0"/>
          </a:p>
          <a:p>
            <a:pPr marL="0" indent="0" algn="ctr">
              <a:buNone/>
            </a:pPr>
            <a:r>
              <a:rPr sz="1550" b="1" dirty="0" err="1">
                <a:solidFill>
                  <a:srgbClr val="1F2A5A"/>
                </a:solidFill>
                <a:latin typeface="Noto Sans CJK JP"/>
                <a:ea typeface="Noto Sans CJK JP"/>
                <a:cs typeface="Noto Sans CJK JP"/>
              </a:rPr>
              <a:t>PV量の違いで、配車・電力・費用が</a:t>
            </a:r>
            <a:endParaRPr lang="en-US" sz="1550" b="1" dirty="0">
              <a:solidFill>
                <a:srgbClr val="1F2A5A"/>
              </a:solidFill>
              <a:latin typeface="Noto Sans CJK JP"/>
              <a:ea typeface="Noto Sans CJK JP"/>
              <a:cs typeface="Noto Sans CJK JP"/>
            </a:endParaRPr>
          </a:p>
          <a:p>
            <a:pPr marL="0" indent="0" algn="ctr">
              <a:buNone/>
            </a:pPr>
            <a:r>
              <a:rPr sz="1550" b="1" dirty="0" err="1">
                <a:solidFill>
                  <a:srgbClr val="1F2A5A"/>
                </a:solidFill>
                <a:latin typeface="Noto Sans CJK JP"/>
                <a:ea typeface="Noto Sans CJK JP"/>
                <a:cs typeface="Noto Sans CJK JP"/>
              </a:rPr>
              <a:t>どう変わるか</a:t>
            </a:r>
            <a:endParaRPr sz="1550" dirty="0"/>
          </a:p>
        </p:txBody>
      </p:sp>
      <p:sp>
        <p:nvSpPr>
          <p:cNvPr id="18" name="Shape 12">
            <a:extLst>
              <a:ext uri="{FF2B5EF4-FFF2-40B4-BE49-F238E27FC236}">
                <a16:creationId xmlns:a16="http://schemas.microsoft.com/office/drawing/2014/main" id="{0EDADDDE-E2ED-4FB6-A380-A5B4520511EE}"/>
              </a:ext>
            </a:extLst>
          </p:cNvPr>
          <p:cNvSpPr>
            <a:spLocks noGrp="1"/>
          </p:cNvSpPr>
          <p:nvPr/>
        </p:nvSpPr>
        <p:spPr>
          <a:xfrm>
            <a:off x="5440680" y="914400"/>
            <a:ext cx="2788920" cy="5349240"/>
          </a:xfrm>
          <a:prstGeom prst="roundRect">
            <a:avLst>
              <a:gd name="adj" fmla="val 2623"/>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19" name="Shape 13">
            <a:extLst>
              <a:ext uri="{FF2B5EF4-FFF2-40B4-BE49-F238E27FC236}">
                <a16:creationId xmlns:a16="http://schemas.microsoft.com/office/drawing/2014/main" id="{FA3EED99-A4FB-4D9B-867C-1E7C2D7C162E}"/>
              </a:ext>
            </a:extLst>
          </p:cNvPr>
          <p:cNvSpPr>
            <a:spLocks noGrp="1"/>
          </p:cNvSpPr>
          <p:nvPr/>
        </p:nvSpPr>
        <p:spPr>
          <a:xfrm>
            <a:off x="6062472" y="1188720"/>
            <a:ext cx="1508760" cy="310896"/>
          </a:xfrm>
          <a:prstGeom prst="roundRect">
            <a:avLst/>
          </a:prstGeom>
          <a:solidFill>
            <a:srgbClr val="E7B34B"/>
          </a:solidFill>
          <a:ln w="12700">
            <a:solidFill>
              <a:srgbClr val="E7B34B"/>
            </a:solidFill>
            <a:prstDash val="solid"/>
          </a:ln>
        </p:spPr>
        <p:txBody>
          <a:bodyPr/>
          <a:lstStyle/>
          <a:p>
            <a:endParaRPr/>
          </a:p>
        </p:txBody>
      </p:sp>
      <p:sp>
        <p:nvSpPr>
          <p:cNvPr id="20" name="Text 14">
            <a:extLst>
              <a:ext uri="{FF2B5EF4-FFF2-40B4-BE49-F238E27FC236}">
                <a16:creationId xmlns:a16="http://schemas.microsoft.com/office/drawing/2014/main" id="{338CC92D-D7C8-4C7A-A267-62B48CB9F0A2}"/>
              </a:ext>
            </a:extLst>
          </p:cNvPr>
          <p:cNvSpPr>
            <a:spLocks noGrp="1"/>
          </p:cNvSpPr>
          <p:nvPr/>
        </p:nvSpPr>
        <p:spPr>
          <a:xfrm>
            <a:off x="6108192" y="1207008"/>
            <a:ext cx="141732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pic>
        <p:nvPicPr>
          <p:cNvPr id="61"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6520" y="1865376"/>
            <a:ext cx="749808" cy="749808"/>
          </a:xfrm>
          <a:prstGeom prst="rect">
            <a:avLst/>
          </a:prstGeom>
        </p:spPr>
      </p:pic>
      <p:sp>
        <p:nvSpPr>
          <p:cNvPr id="22" name="Text 15">
            <a:extLst>
              <a:ext uri="{FF2B5EF4-FFF2-40B4-BE49-F238E27FC236}">
                <a16:creationId xmlns:a16="http://schemas.microsoft.com/office/drawing/2014/main" id="{E7004631-83FB-42D7-8B58-C403B9A044F7}"/>
              </a:ext>
            </a:extLst>
          </p:cNvPr>
          <p:cNvSpPr>
            <a:spLocks noGrp="1"/>
          </p:cNvSpPr>
          <p:nvPr/>
        </p:nvSpPr>
        <p:spPr>
          <a:xfrm>
            <a:off x="5806440"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23" name="Text 16">
            <a:extLst>
              <a:ext uri="{FF2B5EF4-FFF2-40B4-BE49-F238E27FC236}">
                <a16:creationId xmlns:a16="http://schemas.microsoft.com/office/drawing/2014/main" id="{B64BBA42-8F46-40BD-B287-C8EE75712FD5}"/>
              </a:ext>
            </a:extLst>
          </p:cNvPr>
          <p:cNvSpPr>
            <a:spLocks noGrp="1"/>
          </p:cNvSpPr>
          <p:nvPr/>
        </p:nvSpPr>
        <p:spPr>
          <a:xfrm>
            <a:off x="5742432"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2025/08/05由来</a:t>
            </a:r>
            <a:endParaRPr sz="1700"/>
          </a:p>
        </p:txBody>
      </p:sp>
      <p:sp>
        <p:nvSpPr>
          <p:cNvPr id="24" name="Text 17">
            <a:extLst>
              <a:ext uri="{FF2B5EF4-FFF2-40B4-BE49-F238E27FC236}">
                <a16:creationId xmlns:a16="http://schemas.microsoft.com/office/drawing/2014/main" id="{F38C7F0B-45C0-4A84-A78B-65E01CE2BAB2}"/>
              </a:ext>
            </a:extLst>
          </p:cNvPr>
          <p:cNvSpPr>
            <a:spLocks noGrp="1"/>
          </p:cNvSpPr>
          <p:nvPr/>
        </p:nvSpPr>
        <p:spPr>
          <a:xfrm>
            <a:off x="5760720" y="3675888"/>
            <a:ext cx="2148840" cy="310896"/>
          </a:xfrm>
          <a:prstGeom prst="rect">
            <a:avLst/>
          </a:prstGeom>
          <a:noFill/>
        </p:spPr>
        <p:txBody>
          <a:bodyPr wrap="square" lIns="0" tIns="0" rIns="0" bIns="0" anchor="ctr"/>
          <a:lstStyle/>
          <a:p>
            <a:pPr marL="0" indent="0" algn="ctr">
              <a:buNone/>
            </a:pPr>
            <a:r>
              <a:rPr sz="1900" b="1">
                <a:solidFill>
                  <a:srgbClr val="1F9D8A"/>
                </a:solidFill>
                <a:latin typeface="Noto Sans CJK JP"/>
                <a:ea typeface="Noto Sans CJK JP"/>
                <a:cs typeface="Noto Sans CJK JP"/>
              </a:rPr>
              <a:t>日合計 6,056 kWh</a:t>
            </a:r>
            <a:endParaRPr sz="1900"/>
          </a:p>
        </p:txBody>
      </p:sp>
      <p:sp>
        <p:nvSpPr>
          <p:cNvPr id="25" name="Text 18">
            <a:extLst>
              <a:ext uri="{FF2B5EF4-FFF2-40B4-BE49-F238E27FC236}">
                <a16:creationId xmlns:a16="http://schemas.microsoft.com/office/drawing/2014/main" id="{5EF663B6-7A4C-42C1-B6AD-CD30986EC997}"/>
              </a:ext>
            </a:extLst>
          </p:cNvPr>
          <p:cNvSpPr>
            <a:spLocks noGrp="1"/>
          </p:cNvSpPr>
          <p:nvPr/>
        </p:nvSpPr>
        <p:spPr>
          <a:xfrm>
            <a:off x="5833872" y="4709160"/>
            <a:ext cx="2011680" cy="256032"/>
          </a:xfrm>
          <a:prstGeom prst="rect">
            <a:avLst/>
          </a:prstGeom>
          <a:noFill/>
        </p:spPr>
        <p:txBody>
          <a:bodyPr wrap="square" lIns="0" tIns="0" rIns="0" bIns="0" anchor="ctr"/>
          <a:lstStyle/>
          <a:p>
            <a:pPr marL="0" indent="0" algn="ctr">
              <a:buNone/>
            </a:pPr>
            <a:r>
              <a:rPr sz="1300">
                <a:solidFill>
                  <a:srgbClr val="687386"/>
                </a:solidFill>
                <a:latin typeface="Noto Sans CJK JP"/>
                <a:ea typeface="Noto Sans CJK JP"/>
                <a:cs typeface="Noto Sans CJK JP"/>
              </a:rPr>
              <a:t>平日時刻表は共通</a:t>
            </a:r>
            <a:endParaRPr sz="1300"/>
          </a:p>
        </p:txBody>
      </p:sp>
      <p:sp>
        <p:nvSpPr>
          <p:cNvPr id="26" name="Shape 19">
            <a:extLst>
              <a:ext uri="{FF2B5EF4-FFF2-40B4-BE49-F238E27FC236}">
                <a16:creationId xmlns:a16="http://schemas.microsoft.com/office/drawing/2014/main" id="{D2BD06FB-A974-47AB-911E-6056EDB11750}"/>
              </a:ext>
            </a:extLst>
          </p:cNvPr>
          <p:cNvSpPr>
            <a:spLocks noGrp="1"/>
          </p:cNvSpPr>
          <p:nvPr/>
        </p:nvSpPr>
        <p:spPr>
          <a:xfrm>
            <a:off x="8485632" y="914400"/>
            <a:ext cx="2788920" cy="5349240"/>
          </a:xfrm>
          <a:prstGeom prst="roundRect">
            <a:avLst>
              <a:gd name="adj" fmla="val 2623"/>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7" name="Shape 20">
            <a:extLst>
              <a:ext uri="{FF2B5EF4-FFF2-40B4-BE49-F238E27FC236}">
                <a16:creationId xmlns:a16="http://schemas.microsoft.com/office/drawing/2014/main" id="{44366DAF-A63A-40AA-A91D-F70D2C9E8C6C}"/>
              </a:ext>
            </a:extLst>
          </p:cNvPr>
          <p:cNvSpPr>
            <a:spLocks noGrp="1"/>
          </p:cNvSpPr>
          <p:nvPr/>
        </p:nvSpPr>
        <p:spPr>
          <a:xfrm>
            <a:off x="9125712" y="1188720"/>
            <a:ext cx="1508760" cy="310896"/>
          </a:xfrm>
          <a:prstGeom prst="roundRect">
            <a:avLst/>
          </a:prstGeom>
          <a:solidFill>
            <a:srgbClr val="356BB3"/>
          </a:solidFill>
          <a:ln w="12700">
            <a:solidFill>
              <a:srgbClr val="356BB3"/>
            </a:solidFill>
            <a:prstDash val="solid"/>
          </a:ln>
        </p:spPr>
        <p:txBody>
          <a:bodyPr/>
          <a:lstStyle/>
          <a:p>
            <a:endParaRPr/>
          </a:p>
        </p:txBody>
      </p:sp>
      <p:sp>
        <p:nvSpPr>
          <p:cNvPr id="28" name="Text 21">
            <a:extLst>
              <a:ext uri="{FF2B5EF4-FFF2-40B4-BE49-F238E27FC236}">
                <a16:creationId xmlns:a16="http://schemas.microsoft.com/office/drawing/2014/main" id="{D5467780-8986-42EA-B2C5-196C8646E7C5}"/>
              </a:ext>
            </a:extLst>
          </p:cNvPr>
          <p:cNvSpPr>
            <a:spLocks noGrp="1"/>
          </p:cNvSpPr>
          <p:nvPr/>
        </p:nvSpPr>
        <p:spPr>
          <a:xfrm>
            <a:off x="9171432" y="1207008"/>
            <a:ext cx="141732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pic>
        <p:nvPicPr>
          <p:cNvPr id="69" name="Image 5"/>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91472" y="1865376"/>
            <a:ext cx="749808" cy="749808"/>
          </a:xfrm>
          <a:prstGeom prst="rect">
            <a:avLst/>
          </a:prstGeom>
        </p:spPr>
      </p:pic>
      <p:sp>
        <p:nvSpPr>
          <p:cNvPr id="30" name="Text 22">
            <a:extLst>
              <a:ext uri="{FF2B5EF4-FFF2-40B4-BE49-F238E27FC236}">
                <a16:creationId xmlns:a16="http://schemas.microsoft.com/office/drawing/2014/main" id="{84805115-A23F-4EC1-9C80-561139DCB8BD}"/>
              </a:ext>
            </a:extLst>
          </p:cNvPr>
          <p:cNvSpPr>
            <a:spLocks noGrp="1"/>
          </p:cNvSpPr>
          <p:nvPr/>
        </p:nvSpPr>
        <p:spPr>
          <a:xfrm>
            <a:off x="8851392"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31" name="Text 23">
            <a:extLst>
              <a:ext uri="{FF2B5EF4-FFF2-40B4-BE49-F238E27FC236}">
                <a16:creationId xmlns:a16="http://schemas.microsoft.com/office/drawing/2014/main" id="{1897930D-E48A-463B-B6D7-924341FEFB2C}"/>
              </a:ext>
            </a:extLst>
          </p:cNvPr>
          <p:cNvSpPr>
            <a:spLocks noGrp="1"/>
          </p:cNvSpPr>
          <p:nvPr/>
        </p:nvSpPr>
        <p:spPr>
          <a:xfrm>
            <a:off x="8796528"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2025/08/10由来</a:t>
            </a:r>
            <a:endParaRPr sz="1700"/>
          </a:p>
        </p:txBody>
      </p:sp>
      <p:sp>
        <p:nvSpPr>
          <p:cNvPr id="32" name="Text 24">
            <a:extLst>
              <a:ext uri="{FF2B5EF4-FFF2-40B4-BE49-F238E27FC236}">
                <a16:creationId xmlns:a16="http://schemas.microsoft.com/office/drawing/2014/main" id="{464BC369-F557-4C25-A086-91A262227C7B}"/>
              </a:ext>
            </a:extLst>
          </p:cNvPr>
          <p:cNvSpPr>
            <a:spLocks noGrp="1"/>
          </p:cNvSpPr>
          <p:nvPr/>
        </p:nvSpPr>
        <p:spPr>
          <a:xfrm>
            <a:off x="8814816" y="3675888"/>
            <a:ext cx="2148840" cy="310896"/>
          </a:xfrm>
          <a:prstGeom prst="rect">
            <a:avLst/>
          </a:prstGeom>
          <a:noFill/>
        </p:spPr>
        <p:txBody>
          <a:bodyPr wrap="square" lIns="0" tIns="0" rIns="0" bIns="0" anchor="ctr"/>
          <a:lstStyle/>
          <a:p>
            <a:pPr marL="0" indent="0" algn="ctr">
              <a:buNone/>
            </a:pPr>
            <a:r>
              <a:rPr sz="1900" b="1">
                <a:solidFill>
                  <a:srgbClr val="356BB3"/>
                </a:solidFill>
                <a:latin typeface="Noto Sans CJK JP"/>
                <a:ea typeface="Noto Sans CJK JP"/>
                <a:cs typeface="Noto Sans CJK JP"/>
              </a:rPr>
              <a:t>日合計 996 kWh</a:t>
            </a:r>
            <a:endParaRPr sz="1900"/>
          </a:p>
        </p:txBody>
      </p:sp>
      <p:sp>
        <p:nvSpPr>
          <p:cNvPr id="33" name="Text 25">
            <a:extLst>
              <a:ext uri="{FF2B5EF4-FFF2-40B4-BE49-F238E27FC236}">
                <a16:creationId xmlns:a16="http://schemas.microsoft.com/office/drawing/2014/main" id="{1F4D5A3F-628D-4666-966F-0AB17DF0B33D}"/>
              </a:ext>
            </a:extLst>
          </p:cNvPr>
          <p:cNvSpPr>
            <a:spLocks noGrp="1"/>
          </p:cNvSpPr>
          <p:nvPr/>
        </p:nvSpPr>
        <p:spPr>
          <a:xfrm>
            <a:off x="8705088" y="4645152"/>
            <a:ext cx="2395728" cy="384048"/>
          </a:xfrm>
          <a:prstGeom prst="rect">
            <a:avLst/>
          </a:prstGeom>
          <a:noFill/>
        </p:spPr>
        <p:txBody>
          <a:bodyPr wrap="square" lIns="0" tIns="0" rIns="0" bIns="0" anchor="ctr"/>
          <a:lstStyle/>
          <a:p>
            <a:pPr marL="0" indent="0" algn="ctr">
              <a:buNone/>
            </a:pPr>
            <a:r>
              <a:rPr sz="1250" b="1">
                <a:solidFill>
                  <a:srgbClr val="C94C4C"/>
                </a:solidFill>
                <a:latin typeface="Noto Sans CJK JP"/>
                <a:ea typeface="Noto Sans CJK JP"/>
                <a:cs typeface="Noto Sans CJK JP"/>
              </a:rPr>
              <a:t>実際の日曜運行ではない</a:t>
            </a:r>
            <a:endParaRPr sz="1250"/>
          </a:p>
        </p:txBody>
      </p:sp>
      <p:sp>
        <p:nvSpPr>
          <p:cNvPr id="34" name="Text 26">
            <a:extLst>
              <a:ext uri="{FF2B5EF4-FFF2-40B4-BE49-F238E27FC236}">
                <a16:creationId xmlns:a16="http://schemas.microsoft.com/office/drawing/2014/main" id="{FFEB6D2D-DAAE-4230-B021-555923A0418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dirty="0">
                <a:solidFill>
                  <a:srgbClr val="7B8494"/>
                </a:solidFill>
                <a:latin typeface="Noto Sans CJK JP"/>
                <a:ea typeface="Noto Sans CJK JP"/>
                <a:cs typeface="Noto Sans CJK JP"/>
              </a:rPr>
              <a:t>実験の範囲：一つの営業所・一つの平日時刻表・2種類のPV入力による比較</a:t>
            </a:r>
            <a:endParaRPr sz="720" dirty="0"/>
          </a:p>
        </p:txBody>
      </p:sp>
      <p:sp>
        <p:nvSpPr>
          <p:cNvPr id="41" name="正方形/長方形 40">
            <a:extLst>
              <a:ext uri="{FF2B5EF4-FFF2-40B4-BE49-F238E27FC236}">
                <a16:creationId xmlns:a16="http://schemas.microsoft.com/office/drawing/2014/main" id="{82D83459-46C6-4790-A2C9-B106038E89C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18253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E1250F-3AE2-4DB5-AD22-E98A2CC7AADC}"/>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研究手法：複数の配車案を作り、充電・電力運用まで確認して選ぶ</a:t>
            </a:r>
            <a:endParaRPr sz="2550"/>
          </a:p>
        </p:txBody>
      </p:sp>
      <p:sp>
        <p:nvSpPr>
          <p:cNvPr id="3" name="Shape 1">
            <a:extLst>
              <a:ext uri="{FF2B5EF4-FFF2-40B4-BE49-F238E27FC236}">
                <a16:creationId xmlns:a16="http://schemas.microsoft.com/office/drawing/2014/main" id="{68D077FB-5624-4A7A-BD74-92A4121552ED}"/>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67C2E81B-7091-44CE-BA81-BFADE016CD0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5D63863C-1828-484D-90A3-0C95C7E8383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5/18</a:t>
            </a:r>
            <a:endParaRPr sz="850"/>
          </a:p>
        </p:txBody>
      </p:sp>
      <p:sp>
        <p:nvSpPr>
          <p:cNvPr id="6" name="Text 4">
            <a:extLst>
              <a:ext uri="{FF2B5EF4-FFF2-40B4-BE49-F238E27FC236}">
                <a16:creationId xmlns:a16="http://schemas.microsoft.com/office/drawing/2014/main" id="{A0D0A03F-4BBB-4EB6-9E96-F59E204FD9F5}"/>
              </a:ext>
            </a:extLst>
          </p:cNvPr>
          <p:cNvSpPr>
            <a:spLocks noGrp="1"/>
          </p:cNvSpPr>
          <p:nvPr/>
        </p:nvSpPr>
        <p:spPr>
          <a:xfrm>
            <a:off x="731520" y="877824"/>
            <a:ext cx="10789920" cy="320040"/>
          </a:xfrm>
          <a:prstGeom prst="rect">
            <a:avLst/>
          </a:prstGeom>
          <a:noFill/>
        </p:spPr>
        <p:txBody>
          <a:bodyPr wrap="square" lIns="0" tIns="0" rIns="0" bIns="0" anchor="ctr"/>
          <a:lstStyle/>
          <a:p>
            <a:pPr marL="0" indent="0" algn="ctr">
              <a:buNone/>
            </a:pPr>
            <a:r>
              <a:rPr sz="1800" dirty="0">
                <a:solidFill>
                  <a:srgbClr val="687386"/>
                </a:solidFill>
                <a:latin typeface="Noto Sans CJK JP"/>
                <a:ea typeface="Noto Sans CJK JP"/>
                <a:cs typeface="Noto Sans CJK JP"/>
              </a:rPr>
              <a:t>次の5段階の処理を行っている。</a:t>
            </a:r>
            <a:endParaRPr sz="1800" dirty="0"/>
          </a:p>
        </p:txBody>
      </p:sp>
      <p:sp>
        <p:nvSpPr>
          <p:cNvPr id="7" name="Shape 5">
            <a:extLst>
              <a:ext uri="{FF2B5EF4-FFF2-40B4-BE49-F238E27FC236}">
                <a16:creationId xmlns:a16="http://schemas.microsoft.com/office/drawing/2014/main" id="{DE222A30-B4EA-4287-89ED-A3490F20EBCC}"/>
              </a:ext>
            </a:extLst>
          </p:cNvPr>
          <p:cNvSpPr>
            <a:spLocks noGrp="1"/>
          </p:cNvSpPr>
          <p:nvPr/>
        </p:nvSpPr>
        <p:spPr>
          <a:xfrm>
            <a:off x="50292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5"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1810512"/>
            <a:ext cx="640080" cy="640080"/>
          </a:xfrm>
          <a:prstGeom prst="rect">
            <a:avLst/>
          </a:prstGeom>
        </p:spPr>
      </p:pic>
      <p:sp>
        <p:nvSpPr>
          <p:cNvPr id="9" name="Text 6">
            <a:extLst>
              <a:ext uri="{FF2B5EF4-FFF2-40B4-BE49-F238E27FC236}">
                <a16:creationId xmlns:a16="http://schemas.microsoft.com/office/drawing/2014/main" id="{CBFBE497-9383-4ED9-8FAA-B4CAB3A03170}"/>
              </a:ext>
            </a:extLst>
          </p:cNvPr>
          <p:cNvSpPr>
            <a:spLocks noGrp="1"/>
          </p:cNvSpPr>
          <p:nvPr/>
        </p:nvSpPr>
        <p:spPr>
          <a:xfrm>
            <a:off x="475488"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① </a:t>
            </a:r>
            <a:r>
              <a:rPr sz="1750" b="1" dirty="0" err="1">
                <a:solidFill>
                  <a:srgbClr val="172033"/>
                </a:solidFill>
                <a:latin typeface="Noto Sans CJK JP"/>
                <a:ea typeface="Noto Sans CJK JP"/>
                <a:cs typeface="Noto Sans CJK JP"/>
              </a:rPr>
              <a:t>入力を読み込む</a:t>
            </a:r>
            <a:endParaRPr sz="1750" dirty="0"/>
          </a:p>
        </p:txBody>
      </p:sp>
      <p:sp>
        <p:nvSpPr>
          <p:cNvPr id="10" name="Text 7">
            <a:extLst>
              <a:ext uri="{FF2B5EF4-FFF2-40B4-BE49-F238E27FC236}">
                <a16:creationId xmlns:a16="http://schemas.microsoft.com/office/drawing/2014/main" id="{82D4DA3E-1CF1-4819-BCF8-B9FEEEC375AB}"/>
              </a:ext>
            </a:extLst>
          </p:cNvPr>
          <p:cNvSpPr>
            <a:spLocks noGrp="1"/>
          </p:cNvSpPr>
          <p:nvPr/>
        </p:nvSpPr>
        <p:spPr>
          <a:xfrm>
            <a:off x="66751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時刻表・車両・充電器・</a:t>
            </a:r>
            <a:endParaRPr sz="1420"/>
          </a:p>
          <a:p>
            <a:pPr marL="0" indent="0" algn="ctr">
              <a:buNone/>
            </a:pPr>
            <a:r>
              <a:rPr sz="1420">
                <a:solidFill>
                  <a:srgbClr val="687386"/>
                </a:solidFill>
                <a:latin typeface="Noto Sans CJK JP"/>
                <a:ea typeface="Noto Sans CJK JP"/>
                <a:cs typeface="Noto Sans CJK JP"/>
              </a:rPr>
              <a:t>PV・蓄電池</a:t>
            </a:r>
            <a:endParaRPr sz="1420"/>
          </a:p>
        </p:txBody>
      </p:sp>
      <p:sp>
        <p:nvSpPr>
          <p:cNvPr id="11" name="Shape 8">
            <a:extLst>
              <a:ext uri="{FF2B5EF4-FFF2-40B4-BE49-F238E27FC236}">
                <a16:creationId xmlns:a16="http://schemas.microsoft.com/office/drawing/2014/main" id="{893E8F1E-A820-4F10-8062-F3661A309E73}"/>
              </a:ext>
            </a:extLst>
          </p:cNvPr>
          <p:cNvSpPr>
            <a:spLocks noGrp="1"/>
          </p:cNvSpPr>
          <p:nvPr/>
        </p:nvSpPr>
        <p:spPr>
          <a:xfrm>
            <a:off x="2478024" y="2852928"/>
            <a:ext cx="320040" cy="347472"/>
          </a:xfrm>
          <a:prstGeom prst="chevron">
            <a:avLst/>
          </a:prstGeom>
          <a:solidFill>
            <a:srgbClr val="A5AFBD"/>
          </a:solidFill>
          <a:ln w="12700">
            <a:solidFill>
              <a:srgbClr val="A5AFBD"/>
            </a:solidFill>
            <a:prstDash val="solid"/>
          </a:ln>
        </p:spPr>
        <p:txBody>
          <a:bodyPr/>
          <a:lstStyle/>
          <a:p>
            <a:endParaRPr/>
          </a:p>
        </p:txBody>
      </p:sp>
      <p:sp>
        <p:nvSpPr>
          <p:cNvPr id="12" name="Shape 9">
            <a:extLst>
              <a:ext uri="{FF2B5EF4-FFF2-40B4-BE49-F238E27FC236}">
                <a16:creationId xmlns:a16="http://schemas.microsoft.com/office/drawing/2014/main" id="{D3E14541-C704-4973-8F15-AC3E9EDDD341}"/>
              </a:ext>
            </a:extLst>
          </p:cNvPr>
          <p:cNvSpPr>
            <a:spLocks noGrp="1"/>
          </p:cNvSpPr>
          <p:nvPr/>
        </p:nvSpPr>
        <p:spPr>
          <a:xfrm>
            <a:off x="283464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152" y="1810512"/>
            <a:ext cx="640080" cy="640080"/>
          </a:xfrm>
          <a:prstGeom prst="rect">
            <a:avLst/>
          </a:prstGeom>
        </p:spPr>
      </p:pic>
      <p:sp>
        <p:nvSpPr>
          <p:cNvPr id="14" name="Text 10">
            <a:extLst>
              <a:ext uri="{FF2B5EF4-FFF2-40B4-BE49-F238E27FC236}">
                <a16:creationId xmlns:a16="http://schemas.microsoft.com/office/drawing/2014/main" id="{07DF305E-79E9-48E0-9A88-79C696D0BCB4}"/>
              </a:ext>
            </a:extLst>
          </p:cNvPr>
          <p:cNvSpPr>
            <a:spLocks noGrp="1"/>
          </p:cNvSpPr>
          <p:nvPr/>
        </p:nvSpPr>
        <p:spPr>
          <a:xfrm>
            <a:off x="2807208" y="2587752"/>
            <a:ext cx="182880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② </a:t>
            </a:r>
            <a:r>
              <a:rPr sz="1750" b="1" dirty="0" err="1">
                <a:solidFill>
                  <a:srgbClr val="172033"/>
                </a:solidFill>
                <a:latin typeface="Noto Sans CJK JP"/>
                <a:ea typeface="Noto Sans CJK JP"/>
                <a:cs typeface="Noto Sans CJK JP"/>
              </a:rPr>
              <a:t>配車案を作る</a:t>
            </a:r>
            <a:endParaRPr sz="1750" dirty="0"/>
          </a:p>
        </p:txBody>
      </p:sp>
      <p:sp>
        <p:nvSpPr>
          <p:cNvPr id="15" name="Text 11">
            <a:extLst>
              <a:ext uri="{FF2B5EF4-FFF2-40B4-BE49-F238E27FC236}">
                <a16:creationId xmlns:a16="http://schemas.microsoft.com/office/drawing/2014/main" id="{E782BD54-D61A-4B98-8C9B-ADB25B8DECDF}"/>
              </a:ext>
            </a:extLst>
          </p:cNvPr>
          <p:cNvSpPr>
            <a:spLocks noGrp="1"/>
          </p:cNvSpPr>
          <p:nvPr/>
        </p:nvSpPr>
        <p:spPr>
          <a:xfrm>
            <a:off x="299923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BEV／ICEの担当を</a:t>
            </a:r>
            <a:endParaRPr sz="1420"/>
          </a:p>
          <a:p>
            <a:pPr marL="0" indent="0" algn="ctr">
              <a:buNone/>
            </a:pPr>
            <a:r>
              <a:rPr sz="1420">
                <a:solidFill>
                  <a:srgbClr val="687386"/>
                </a:solidFill>
                <a:latin typeface="Noto Sans CJK JP"/>
                <a:ea typeface="Noto Sans CJK JP"/>
                <a:cs typeface="Noto Sans CJK JP"/>
              </a:rPr>
              <a:t>複数案つくる</a:t>
            </a:r>
            <a:endParaRPr sz="1420"/>
          </a:p>
        </p:txBody>
      </p:sp>
      <p:sp>
        <p:nvSpPr>
          <p:cNvPr id="16" name="Shape 12">
            <a:extLst>
              <a:ext uri="{FF2B5EF4-FFF2-40B4-BE49-F238E27FC236}">
                <a16:creationId xmlns:a16="http://schemas.microsoft.com/office/drawing/2014/main" id="{0E96F4F2-563B-4539-9B14-42FB5D8F0128}"/>
              </a:ext>
            </a:extLst>
          </p:cNvPr>
          <p:cNvSpPr>
            <a:spLocks noGrp="1"/>
          </p:cNvSpPr>
          <p:nvPr/>
        </p:nvSpPr>
        <p:spPr>
          <a:xfrm>
            <a:off x="4809744" y="2852928"/>
            <a:ext cx="320040" cy="347472"/>
          </a:xfrm>
          <a:prstGeom prst="chevron">
            <a:avLst/>
          </a:prstGeom>
          <a:solidFill>
            <a:srgbClr val="A5AFBD"/>
          </a:solidFill>
          <a:ln w="12700">
            <a:solidFill>
              <a:srgbClr val="A5AFBD"/>
            </a:solidFill>
            <a:prstDash val="solid"/>
          </a:ln>
        </p:spPr>
        <p:txBody>
          <a:bodyPr/>
          <a:lstStyle/>
          <a:p>
            <a:endParaRPr/>
          </a:p>
        </p:txBody>
      </p:sp>
      <p:sp>
        <p:nvSpPr>
          <p:cNvPr id="17" name="Shape 13">
            <a:extLst>
              <a:ext uri="{FF2B5EF4-FFF2-40B4-BE49-F238E27FC236}">
                <a16:creationId xmlns:a16="http://schemas.microsoft.com/office/drawing/2014/main" id="{1184E149-7433-4E2C-8842-8B3D3F0775B8}"/>
              </a:ext>
            </a:extLst>
          </p:cNvPr>
          <p:cNvSpPr>
            <a:spLocks noGrp="1"/>
          </p:cNvSpPr>
          <p:nvPr/>
        </p:nvSpPr>
        <p:spPr>
          <a:xfrm>
            <a:off x="516636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5"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3872" y="1810512"/>
            <a:ext cx="640080" cy="640080"/>
          </a:xfrm>
          <a:prstGeom prst="rect">
            <a:avLst/>
          </a:prstGeom>
        </p:spPr>
      </p:pic>
      <p:sp>
        <p:nvSpPr>
          <p:cNvPr id="19" name="Text 14">
            <a:extLst>
              <a:ext uri="{FF2B5EF4-FFF2-40B4-BE49-F238E27FC236}">
                <a16:creationId xmlns:a16="http://schemas.microsoft.com/office/drawing/2014/main" id="{B8BFB8BB-1AA3-43BD-80D7-1FF7EFDAB1A7}"/>
              </a:ext>
            </a:extLst>
          </p:cNvPr>
          <p:cNvSpPr>
            <a:spLocks noGrp="1"/>
          </p:cNvSpPr>
          <p:nvPr/>
        </p:nvSpPr>
        <p:spPr>
          <a:xfrm>
            <a:off x="5157216"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③ </a:t>
            </a:r>
            <a:r>
              <a:rPr sz="1750" b="1" dirty="0" err="1">
                <a:solidFill>
                  <a:srgbClr val="172033"/>
                </a:solidFill>
                <a:latin typeface="Noto Sans CJK JP"/>
                <a:ea typeface="Noto Sans CJK JP"/>
                <a:cs typeface="Noto Sans CJK JP"/>
              </a:rPr>
              <a:t>電力を調整する</a:t>
            </a:r>
            <a:endParaRPr sz="1750" dirty="0"/>
          </a:p>
        </p:txBody>
      </p:sp>
      <p:sp>
        <p:nvSpPr>
          <p:cNvPr id="20" name="Text 15">
            <a:extLst>
              <a:ext uri="{FF2B5EF4-FFF2-40B4-BE49-F238E27FC236}">
                <a16:creationId xmlns:a16="http://schemas.microsoft.com/office/drawing/2014/main" id="{9DB29B0C-F96F-456A-B5CB-6BD5421D7564}"/>
              </a:ext>
            </a:extLst>
          </p:cNvPr>
          <p:cNvSpPr>
            <a:spLocks noGrp="1"/>
          </p:cNvSpPr>
          <p:nvPr/>
        </p:nvSpPr>
        <p:spPr>
          <a:xfrm>
            <a:off x="533095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各案について充電・</a:t>
            </a:r>
            <a:endParaRPr sz="1420"/>
          </a:p>
          <a:p>
            <a:pPr marL="0" indent="0" algn="ctr">
              <a:buNone/>
            </a:pPr>
            <a:r>
              <a:rPr sz="1420">
                <a:solidFill>
                  <a:srgbClr val="687386"/>
                </a:solidFill>
                <a:latin typeface="Noto Sans CJK JP"/>
                <a:ea typeface="Noto Sans CJK JP"/>
                <a:cs typeface="Noto Sans CJK JP"/>
              </a:rPr>
              <a:t>PV・BESSを調整</a:t>
            </a:r>
            <a:endParaRPr sz="1420"/>
          </a:p>
        </p:txBody>
      </p:sp>
      <p:sp>
        <p:nvSpPr>
          <p:cNvPr id="21" name="Shape 16">
            <a:extLst>
              <a:ext uri="{FF2B5EF4-FFF2-40B4-BE49-F238E27FC236}">
                <a16:creationId xmlns:a16="http://schemas.microsoft.com/office/drawing/2014/main" id="{F70EF973-21D1-4987-B02F-D1D7F7E87AF0}"/>
              </a:ext>
            </a:extLst>
          </p:cNvPr>
          <p:cNvSpPr>
            <a:spLocks noGrp="1"/>
          </p:cNvSpPr>
          <p:nvPr/>
        </p:nvSpPr>
        <p:spPr>
          <a:xfrm>
            <a:off x="7141464" y="2852928"/>
            <a:ext cx="320040" cy="347472"/>
          </a:xfrm>
          <a:prstGeom prst="chevron">
            <a:avLst/>
          </a:prstGeom>
          <a:solidFill>
            <a:srgbClr val="A5AFBD"/>
          </a:solidFill>
          <a:ln w="12700">
            <a:solidFill>
              <a:srgbClr val="A5AFBD"/>
            </a:solidFill>
            <a:prstDash val="solid"/>
          </a:ln>
        </p:spPr>
        <p:txBody>
          <a:bodyPr/>
          <a:lstStyle/>
          <a:p>
            <a:endParaRPr/>
          </a:p>
        </p:txBody>
      </p:sp>
      <p:sp>
        <p:nvSpPr>
          <p:cNvPr id="22" name="Shape 17">
            <a:extLst>
              <a:ext uri="{FF2B5EF4-FFF2-40B4-BE49-F238E27FC236}">
                <a16:creationId xmlns:a16="http://schemas.microsoft.com/office/drawing/2014/main" id="{3765C56C-43CD-4F1E-877F-37390AACF980}"/>
              </a:ext>
            </a:extLst>
          </p:cNvPr>
          <p:cNvSpPr>
            <a:spLocks noGrp="1"/>
          </p:cNvSpPr>
          <p:nvPr/>
        </p:nvSpPr>
        <p:spPr>
          <a:xfrm>
            <a:off x="749808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0"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2" y="1810512"/>
            <a:ext cx="640080" cy="640080"/>
          </a:xfrm>
          <a:prstGeom prst="rect">
            <a:avLst/>
          </a:prstGeom>
        </p:spPr>
      </p:pic>
      <p:sp>
        <p:nvSpPr>
          <p:cNvPr id="24" name="Text 18">
            <a:extLst>
              <a:ext uri="{FF2B5EF4-FFF2-40B4-BE49-F238E27FC236}">
                <a16:creationId xmlns:a16="http://schemas.microsoft.com/office/drawing/2014/main" id="{68D7EC75-2AB9-4972-AFEE-552ED5E630D9}"/>
              </a:ext>
            </a:extLst>
          </p:cNvPr>
          <p:cNvSpPr>
            <a:spLocks noGrp="1"/>
          </p:cNvSpPr>
          <p:nvPr/>
        </p:nvSpPr>
        <p:spPr>
          <a:xfrm>
            <a:off x="7351776" y="2596896"/>
            <a:ext cx="2295144"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④ 1時間ごとに見直す</a:t>
            </a:r>
            <a:endParaRPr sz="1750" dirty="0"/>
          </a:p>
        </p:txBody>
      </p:sp>
      <p:sp>
        <p:nvSpPr>
          <p:cNvPr id="25" name="Text 19">
            <a:extLst>
              <a:ext uri="{FF2B5EF4-FFF2-40B4-BE49-F238E27FC236}">
                <a16:creationId xmlns:a16="http://schemas.microsoft.com/office/drawing/2014/main" id="{5EEDEFFC-3353-4A6C-A790-1049A3782203}"/>
              </a:ext>
            </a:extLst>
          </p:cNvPr>
          <p:cNvSpPr>
            <a:spLocks noGrp="1"/>
          </p:cNvSpPr>
          <p:nvPr/>
        </p:nvSpPr>
        <p:spPr>
          <a:xfrm>
            <a:off x="766267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実際に進む時間に合わせて</a:t>
            </a:r>
            <a:endParaRPr sz="1420"/>
          </a:p>
          <a:p>
            <a:pPr marL="0" indent="0" algn="ctr">
              <a:buNone/>
            </a:pPr>
            <a:r>
              <a:rPr sz="1420">
                <a:solidFill>
                  <a:srgbClr val="687386"/>
                </a:solidFill>
                <a:latin typeface="Noto Sans CJK JP"/>
                <a:ea typeface="Noto Sans CJK JP"/>
                <a:cs typeface="Noto Sans CJK JP"/>
              </a:rPr>
              <a:t>残りの運用を再計算</a:t>
            </a:r>
            <a:endParaRPr sz="1420"/>
          </a:p>
        </p:txBody>
      </p:sp>
      <p:sp>
        <p:nvSpPr>
          <p:cNvPr id="26" name="Shape 20">
            <a:extLst>
              <a:ext uri="{FF2B5EF4-FFF2-40B4-BE49-F238E27FC236}">
                <a16:creationId xmlns:a16="http://schemas.microsoft.com/office/drawing/2014/main" id="{A1F98B22-9B4E-455F-BE78-43982C44EB08}"/>
              </a:ext>
            </a:extLst>
          </p:cNvPr>
          <p:cNvSpPr>
            <a:spLocks noGrp="1"/>
          </p:cNvSpPr>
          <p:nvPr/>
        </p:nvSpPr>
        <p:spPr>
          <a:xfrm>
            <a:off x="9473184" y="2852928"/>
            <a:ext cx="320040" cy="347472"/>
          </a:xfrm>
          <a:prstGeom prst="chevron">
            <a:avLst/>
          </a:prstGeom>
          <a:solidFill>
            <a:srgbClr val="A5AFBD"/>
          </a:solidFill>
          <a:ln w="12700">
            <a:solidFill>
              <a:srgbClr val="A5AFBD"/>
            </a:solidFill>
            <a:prstDash val="solid"/>
          </a:ln>
        </p:spPr>
        <p:txBody>
          <a:bodyPr/>
          <a:lstStyle/>
          <a:p>
            <a:endParaRPr/>
          </a:p>
        </p:txBody>
      </p:sp>
      <p:sp>
        <p:nvSpPr>
          <p:cNvPr id="27" name="Shape 21">
            <a:extLst>
              <a:ext uri="{FF2B5EF4-FFF2-40B4-BE49-F238E27FC236}">
                <a16:creationId xmlns:a16="http://schemas.microsoft.com/office/drawing/2014/main" id="{B57AC011-16CF-45D9-AF7D-2F441D409353}"/>
              </a:ext>
            </a:extLst>
          </p:cNvPr>
          <p:cNvSpPr>
            <a:spLocks noGrp="1"/>
          </p:cNvSpPr>
          <p:nvPr/>
        </p:nvSpPr>
        <p:spPr>
          <a:xfrm>
            <a:off x="982980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5"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1810512"/>
            <a:ext cx="640080" cy="640080"/>
          </a:xfrm>
          <a:prstGeom prst="rect">
            <a:avLst/>
          </a:prstGeom>
        </p:spPr>
      </p:pic>
      <p:sp>
        <p:nvSpPr>
          <p:cNvPr id="29" name="Text 22">
            <a:extLst>
              <a:ext uri="{FF2B5EF4-FFF2-40B4-BE49-F238E27FC236}">
                <a16:creationId xmlns:a16="http://schemas.microsoft.com/office/drawing/2014/main" id="{3B490B42-C1FC-4175-9175-FAC20D99A7B4}"/>
              </a:ext>
            </a:extLst>
          </p:cNvPr>
          <p:cNvSpPr>
            <a:spLocks noGrp="1"/>
          </p:cNvSpPr>
          <p:nvPr/>
        </p:nvSpPr>
        <p:spPr>
          <a:xfrm>
            <a:off x="9846895" y="2587752"/>
            <a:ext cx="1917192"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⑤ </a:t>
            </a:r>
            <a:r>
              <a:rPr sz="1750" b="1" dirty="0" err="1">
                <a:solidFill>
                  <a:srgbClr val="172033"/>
                </a:solidFill>
                <a:latin typeface="Noto Sans CJK JP"/>
                <a:ea typeface="Noto Sans CJK JP"/>
                <a:cs typeface="Noto Sans CJK JP"/>
              </a:rPr>
              <a:t>結果を検算する</a:t>
            </a:r>
            <a:endParaRPr sz="1750" dirty="0"/>
          </a:p>
        </p:txBody>
      </p:sp>
      <p:sp>
        <p:nvSpPr>
          <p:cNvPr id="30" name="Text 23">
            <a:extLst>
              <a:ext uri="{FF2B5EF4-FFF2-40B4-BE49-F238E27FC236}">
                <a16:creationId xmlns:a16="http://schemas.microsoft.com/office/drawing/2014/main" id="{66D980DD-F971-4116-A346-8E56266EDDDE}"/>
              </a:ext>
            </a:extLst>
          </p:cNvPr>
          <p:cNvSpPr>
            <a:spLocks noGrp="1"/>
          </p:cNvSpPr>
          <p:nvPr/>
        </p:nvSpPr>
        <p:spPr>
          <a:xfrm>
            <a:off x="999439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全便・SOC・電力・費用が</a:t>
            </a:r>
            <a:endParaRPr sz="1420"/>
          </a:p>
          <a:p>
            <a:pPr marL="0" indent="0" algn="ctr">
              <a:buNone/>
            </a:pPr>
            <a:r>
              <a:rPr sz="1420">
                <a:solidFill>
                  <a:srgbClr val="687386"/>
                </a:solidFill>
                <a:latin typeface="Noto Sans CJK JP"/>
                <a:ea typeface="Noto Sans CJK JP"/>
                <a:cs typeface="Noto Sans CJK JP"/>
              </a:rPr>
              <a:t>矛盾していないか確認</a:t>
            </a:r>
            <a:endParaRPr sz="1420"/>
          </a:p>
        </p:txBody>
      </p:sp>
      <p:sp>
        <p:nvSpPr>
          <p:cNvPr id="31" name="Shape 24">
            <a:extLst>
              <a:ext uri="{FF2B5EF4-FFF2-40B4-BE49-F238E27FC236}">
                <a16:creationId xmlns:a16="http://schemas.microsoft.com/office/drawing/2014/main" id="{C9329E0E-C103-44B2-8C60-9F4B325B917C}"/>
              </a:ext>
            </a:extLst>
          </p:cNvPr>
          <p:cNvSpPr>
            <a:spLocks noGrp="1"/>
          </p:cNvSpPr>
          <p:nvPr/>
        </p:nvSpPr>
        <p:spPr>
          <a:xfrm>
            <a:off x="1143000" y="5257800"/>
            <a:ext cx="9875520" cy="658368"/>
          </a:xfrm>
          <a:prstGeom prst="roundRect">
            <a:avLst/>
          </a:prstGeom>
          <a:solidFill>
            <a:srgbClr val="EAF2FB"/>
          </a:solidFill>
          <a:ln w="12700">
            <a:solidFill>
              <a:srgbClr val="356BB3"/>
            </a:solidFill>
            <a:prstDash val="solid"/>
          </a:ln>
        </p:spPr>
        <p:txBody>
          <a:bodyPr/>
          <a:lstStyle/>
          <a:p>
            <a:endParaRPr/>
          </a:p>
        </p:txBody>
      </p:sp>
      <p:sp>
        <p:nvSpPr>
          <p:cNvPr id="32" name="Text 25">
            <a:extLst>
              <a:ext uri="{FF2B5EF4-FFF2-40B4-BE49-F238E27FC236}">
                <a16:creationId xmlns:a16="http://schemas.microsoft.com/office/drawing/2014/main" id="{A63F3BFE-B5B6-49BD-91B9-028F97A4CADB}"/>
              </a:ext>
            </a:extLst>
          </p:cNvPr>
          <p:cNvSpPr>
            <a:spLocks noGrp="1"/>
          </p:cNvSpPr>
          <p:nvPr/>
        </p:nvSpPr>
        <p:spPr>
          <a:xfrm>
            <a:off x="1417320" y="5431536"/>
            <a:ext cx="9326880" cy="310896"/>
          </a:xfrm>
          <a:prstGeom prst="rect">
            <a:avLst/>
          </a:prstGeom>
          <a:noFill/>
        </p:spPr>
        <p:txBody>
          <a:bodyPr wrap="square" lIns="0" tIns="0" rIns="0" bIns="0" anchor="ctr"/>
          <a:lstStyle/>
          <a:p>
            <a:pPr marL="0" indent="0" algn="ctr">
              <a:buNone/>
            </a:pPr>
            <a:r>
              <a:rPr sz="1800" b="1">
                <a:solidFill>
                  <a:srgbClr val="1F2A5A"/>
                </a:solidFill>
                <a:latin typeface="Noto Sans CJK JP"/>
                <a:ea typeface="Noto Sans CJK JP"/>
                <a:cs typeface="Noto Sans CJK JP"/>
              </a:rPr>
              <a:t>ここでいう「最適化」＝ 条件を守りながら、より良い組合せをコンピュータで探す処理</a:t>
            </a:r>
            <a:endParaRPr sz="1800"/>
          </a:p>
        </p:txBody>
      </p:sp>
      <p:sp>
        <p:nvSpPr>
          <p:cNvPr id="38" name="正方形/長方形 37">
            <a:extLst>
              <a:ext uri="{FF2B5EF4-FFF2-40B4-BE49-F238E27FC236}">
                <a16:creationId xmlns:a16="http://schemas.microsoft.com/office/drawing/2014/main" id="{2727D209-69BC-4CEF-99D3-0086835A653A}"/>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373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E749435-89E4-4FC2-988F-B7B5FD2F116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設定パラメータ①：運行・車両・営業所設備</a:t>
            </a:r>
            <a:endParaRPr sz="2550"/>
          </a:p>
        </p:txBody>
      </p:sp>
      <p:sp>
        <p:nvSpPr>
          <p:cNvPr id="3" name="Shape 1">
            <a:extLst>
              <a:ext uri="{FF2B5EF4-FFF2-40B4-BE49-F238E27FC236}">
                <a16:creationId xmlns:a16="http://schemas.microsoft.com/office/drawing/2014/main" id="{E1DF6668-FA55-4E29-8531-DA2EAF3BB5A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F8E3481-74AB-46E5-B3B1-A04423C1DA7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05A4F731-E03F-4228-9C53-98BD39B5B6B5}"/>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6/18</a:t>
            </a:r>
            <a:endParaRPr sz="850"/>
          </a:p>
        </p:txBody>
      </p:sp>
      <p:sp>
        <p:nvSpPr>
          <p:cNvPr id="6" name="Text 4">
            <a:extLst>
              <a:ext uri="{FF2B5EF4-FFF2-40B4-BE49-F238E27FC236}">
                <a16:creationId xmlns:a16="http://schemas.microsoft.com/office/drawing/2014/main" id="{44B1C782-98B0-4F58-A814-878D13D7FA38}"/>
              </a:ext>
            </a:extLst>
          </p:cNvPr>
          <p:cNvSpPr>
            <a:spLocks noGrp="1"/>
          </p:cNvSpPr>
          <p:nvPr/>
        </p:nvSpPr>
        <p:spPr>
          <a:xfrm>
            <a:off x="685800" y="841248"/>
            <a:ext cx="10835640" cy="310896"/>
          </a:xfrm>
          <a:prstGeom prst="rect">
            <a:avLst/>
          </a:prstGeom>
          <a:noFill/>
        </p:spPr>
        <p:txBody>
          <a:bodyPr wrap="square" lIns="0" tIns="0" rIns="0" bIns="0" anchor="ctr"/>
          <a:lstStyle/>
          <a:p>
            <a:pPr marL="0" indent="0" algn="ctr">
              <a:buNone/>
            </a:pPr>
            <a:r>
              <a:rPr sz="1700">
                <a:solidFill>
                  <a:srgbClr val="687386"/>
                </a:solidFill>
                <a:latin typeface="Noto Sans CJK JP"/>
                <a:ea typeface="Noto Sans CJK JP"/>
                <a:cs typeface="Noto Sans CJK JP"/>
              </a:rPr>
              <a:t>先行研究と同様に、結果へ影響する前提条件を表として明示する。</a:t>
            </a:r>
            <a:endParaRPr sz="1700"/>
          </a:p>
        </p:txBody>
      </p:sp>
      <p:sp>
        <p:nvSpPr>
          <p:cNvPr id="7" name="Shape 5">
            <a:extLst>
              <a:ext uri="{FF2B5EF4-FFF2-40B4-BE49-F238E27FC236}">
                <a16:creationId xmlns:a16="http://schemas.microsoft.com/office/drawing/2014/main" id="{7464A3A4-6DBF-4089-A041-5EF4D00E6CA0}"/>
              </a:ext>
            </a:extLst>
          </p:cNvPr>
          <p:cNvSpPr>
            <a:spLocks noGrp="1"/>
          </p:cNvSpPr>
          <p:nvPr/>
        </p:nvSpPr>
        <p:spPr>
          <a:xfrm>
            <a:off x="621792"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8" name="Shape 6">
            <a:extLst>
              <a:ext uri="{FF2B5EF4-FFF2-40B4-BE49-F238E27FC236}">
                <a16:creationId xmlns:a16="http://schemas.microsoft.com/office/drawing/2014/main" id="{92C9ABF5-EFAD-4E38-BD1D-8BE17058CAD7}"/>
              </a:ext>
            </a:extLst>
          </p:cNvPr>
          <p:cNvSpPr>
            <a:spLocks noGrp="1"/>
          </p:cNvSpPr>
          <p:nvPr/>
        </p:nvSpPr>
        <p:spPr>
          <a:xfrm>
            <a:off x="621792" y="1234440"/>
            <a:ext cx="3611880" cy="438912"/>
          </a:xfrm>
          <a:prstGeom prst="rect">
            <a:avLst/>
          </a:prstGeom>
          <a:solidFill>
            <a:srgbClr val="1F2A5A"/>
          </a:solidFill>
          <a:ln w="12700">
            <a:solidFill>
              <a:srgbClr val="1F2A5A"/>
            </a:solidFill>
            <a:prstDash val="solid"/>
          </a:ln>
        </p:spPr>
        <p:txBody>
          <a:bodyPr/>
          <a:lstStyle/>
          <a:p>
            <a:endParaRPr/>
          </a:p>
        </p:txBody>
      </p:sp>
      <p:sp>
        <p:nvSpPr>
          <p:cNvPr id="9" name="Text 7">
            <a:extLst>
              <a:ext uri="{FF2B5EF4-FFF2-40B4-BE49-F238E27FC236}">
                <a16:creationId xmlns:a16="http://schemas.microsoft.com/office/drawing/2014/main" id="{E091ED2F-DE15-42F5-8E1D-A23E439935B9}"/>
              </a:ext>
            </a:extLst>
          </p:cNvPr>
          <p:cNvSpPr>
            <a:spLocks noGrp="1"/>
          </p:cNvSpPr>
          <p:nvPr/>
        </p:nvSpPr>
        <p:spPr>
          <a:xfrm>
            <a:off x="731520"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運行条件</a:t>
            </a:r>
            <a:endParaRPr sz="1650"/>
          </a:p>
        </p:txBody>
      </p:sp>
      <p:sp>
        <p:nvSpPr>
          <p:cNvPr id="10" name="Shape 8">
            <a:extLst>
              <a:ext uri="{FF2B5EF4-FFF2-40B4-BE49-F238E27FC236}">
                <a16:creationId xmlns:a16="http://schemas.microsoft.com/office/drawing/2014/main" id="{DC27B73D-C73E-4CBC-8105-D07DCF283B3C}"/>
              </a:ext>
            </a:extLst>
          </p:cNvPr>
          <p:cNvSpPr>
            <a:spLocks noGrp="1"/>
          </p:cNvSpPr>
          <p:nvPr/>
        </p:nvSpPr>
        <p:spPr>
          <a:xfrm>
            <a:off x="694944" y="1764792"/>
            <a:ext cx="3465576" cy="502920"/>
          </a:xfrm>
          <a:prstGeom prst="rect">
            <a:avLst/>
          </a:prstGeom>
          <a:solidFill>
            <a:srgbClr val="F8FAFC"/>
          </a:solidFill>
          <a:ln w="12700">
            <a:solidFill>
              <a:srgbClr val="F8FAFC"/>
            </a:solidFill>
            <a:prstDash val="solid"/>
          </a:ln>
        </p:spPr>
        <p:txBody>
          <a:bodyPr/>
          <a:lstStyle/>
          <a:p>
            <a:endParaRPr/>
          </a:p>
        </p:txBody>
      </p:sp>
      <p:sp>
        <p:nvSpPr>
          <p:cNvPr id="11" name="Text 9">
            <a:extLst>
              <a:ext uri="{FF2B5EF4-FFF2-40B4-BE49-F238E27FC236}">
                <a16:creationId xmlns:a16="http://schemas.microsoft.com/office/drawing/2014/main" id="{37491B82-CD1D-4812-B150-91216DA2A166}"/>
              </a:ext>
            </a:extLst>
          </p:cNvPr>
          <p:cNvSpPr>
            <a:spLocks noGrp="1"/>
          </p:cNvSpPr>
          <p:nvPr/>
        </p:nvSpPr>
        <p:spPr>
          <a:xfrm>
            <a:off x="777240"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対象営業所</a:t>
            </a:r>
            <a:endParaRPr sz="1230"/>
          </a:p>
        </p:txBody>
      </p:sp>
      <p:sp>
        <p:nvSpPr>
          <p:cNvPr id="12" name="Text 10">
            <a:extLst>
              <a:ext uri="{FF2B5EF4-FFF2-40B4-BE49-F238E27FC236}">
                <a16:creationId xmlns:a16="http://schemas.microsoft.com/office/drawing/2014/main" id="{9BDBDBBD-EF4F-4C50-9D90-3E917C40F12D}"/>
              </a:ext>
            </a:extLst>
          </p:cNvPr>
          <p:cNvSpPr>
            <a:spLocks noGrp="1"/>
          </p:cNvSpPr>
          <p:nvPr/>
        </p:nvSpPr>
        <p:spPr>
          <a:xfrm>
            <a:off x="2138782"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弦巻営業所</a:t>
            </a:r>
            <a:endParaRPr sz="1230"/>
          </a:p>
        </p:txBody>
      </p:sp>
      <p:sp>
        <p:nvSpPr>
          <p:cNvPr id="13" name="Text 11">
            <a:extLst>
              <a:ext uri="{FF2B5EF4-FFF2-40B4-BE49-F238E27FC236}">
                <a16:creationId xmlns:a16="http://schemas.microsoft.com/office/drawing/2014/main" id="{A8F89D4B-A65E-47E9-B7D6-AFE8176E1155}"/>
              </a:ext>
            </a:extLst>
          </p:cNvPr>
          <p:cNvSpPr>
            <a:spLocks noGrp="1"/>
          </p:cNvSpPr>
          <p:nvPr/>
        </p:nvSpPr>
        <p:spPr>
          <a:xfrm>
            <a:off x="777240"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時刻表</a:t>
            </a:r>
            <a:endParaRPr sz="1230"/>
          </a:p>
        </p:txBody>
      </p:sp>
      <p:sp>
        <p:nvSpPr>
          <p:cNvPr id="14" name="Text 12">
            <a:extLst>
              <a:ext uri="{FF2B5EF4-FFF2-40B4-BE49-F238E27FC236}">
                <a16:creationId xmlns:a16="http://schemas.microsoft.com/office/drawing/2014/main" id="{F52AB1D4-53EE-4D52-B053-0536219FDCA0}"/>
              </a:ext>
            </a:extLst>
          </p:cNvPr>
          <p:cNvSpPr>
            <a:spLocks noGrp="1"/>
          </p:cNvSpPr>
          <p:nvPr/>
        </p:nvSpPr>
        <p:spPr>
          <a:xfrm>
            <a:off x="2138782"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平日 264便／16路線</a:t>
            </a:r>
            <a:endParaRPr sz="1230"/>
          </a:p>
        </p:txBody>
      </p:sp>
      <p:sp>
        <p:nvSpPr>
          <p:cNvPr id="15" name="Shape 13">
            <a:extLst>
              <a:ext uri="{FF2B5EF4-FFF2-40B4-BE49-F238E27FC236}">
                <a16:creationId xmlns:a16="http://schemas.microsoft.com/office/drawing/2014/main" id="{53FB90C2-D3F7-4285-989E-7C0A1594ACCF}"/>
              </a:ext>
            </a:extLst>
          </p:cNvPr>
          <p:cNvSpPr>
            <a:spLocks noGrp="1"/>
          </p:cNvSpPr>
          <p:nvPr/>
        </p:nvSpPr>
        <p:spPr>
          <a:xfrm>
            <a:off x="694944" y="2898648"/>
            <a:ext cx="3465576" cy="502920"/>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AC312587-B510-42F6-B8DB-D6A97018F3D8}"/>
              </a:ext>
            </a:extLst>
          </p:cNvPr>
          <p:cNvSpPr>
            <a:spLocks noGrp="1"/>
          </p:cNvSpPr>
          <p:nvPr/>
        </p:nvSpPr>
        <p:spPr>
          <a:xfrm>
            <a:off x="777240"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内部時間刻み</a:t>
            </a:r>
            <a:endParaRPr sz="1230"/>
          </a:p>
        </p:txBody>
      </p:sp>
      <p:sp>
        <p:nvSpPr>
          <p:cNvPr id="17" name="Text 15">
            <a:extLst>
              <a:ext uri="{FF2B5EF4-FFF2-40B4-BE49-F238E27FC236}">
                <a16:creationId xmlns:a16="http://schemas.microsoft.com/office/drawing/2014/main" id="{943A2989-64F2-4E37-BC57-BBFF9A3BC765}"/>
              </a:ext>
            </a:extLst>
          </p:cNvPr>
          <p:cNvSpPr>
            <a:spLocks noGrp="1"/>
          </p:cNvSpPr>
          <p:nvPr/>
        </p:nvSpPr>
        <p:spPr>
          <a:xfrm>
            <a:off x="2138782"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15分（1日96区間）</a:t>
            </a:r>
            <a:endParaRPr sz="1230"/>
          </a:p>
        </p:txBody>
      </p:sp>
      <p:sp>
        <p:nvSpPr>
          <p:cNvPr id="18" name="Text 16">
            <a:extLst>
              <a:ext uri="{FF2B5EF4-FFF2-40B4-BE49-F238E27FC236}">
                <a16:creationId xmlns:a16="http://schemas.microsoft.com/office/drawing/2014/main" id="{8DCB750A-CB7D-4FF3-94F3-CCB0C7159C84}"/>
              </a:ext>
            </a:extLst>
          </p:cNvPr>
          <p:cNvSpPr>
            <a:spLocks noGrp="1"/>
          </p:cNvSpPr>
          <p:nvPr/>
        </p:nvSpPr>
        <p:spPr>
          <a:xfrm>
            <a:off x="777240"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運用見直し</a:t>
            </a:r>
            <a:endParaRPr sz="1230"/>
          </a:p>
        </p:txBody>
      </p:sp>
      <p:sp>
        <p:nvSpPr>
          <p:cNvPr id="19" name="Text 17">
            <a:extLst>
              <a:ext uri="{FF2B5EF4-FFF2-40B4-BE49-F238E27FC236}">
                <a16:creationId xmlns:a16="http://schemas.microsoft.com/office/drawing/2014/main" id="{E7436D4C-8D83-4367-809A-BD0E0F88FD40}"/>
              </a:ext>
            </a:extLst>
          </p:cNvPr>
          <p:cNvSpPr>
            <a:spLocks noGrp="1"/>
          </p:cNvSpPr>
          <p:nvPr/>
        </p:nvSpPr>
        <p:spPr>
          <a:xfrm>
            <a:off x="2138782"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60分ごと・24回</a:t>
            </a:r>
            <a:endParaRPr sz="1230"/>
          </a:p>
        </p:txBody>
      </p:sp>
      <p:sp>
        <p:nvSpPr>
          <p:cNvPr id="20" name="Shape 18">
            <a:extLst>
              <a:ext uri="{FF2B5EF4-FFF2-40B4-BE49-F238E27FC236}">
                <a16:creationId xmlns:a16="http://schemas.microsoft.com/office/drawing/2014/main" id="{B19E7703-9F91-48C2-A88F-65F59D599D3F}"/>
              </a:ext>
            </a:extLst>
          </p:cNvPr>
          <p:cNvSpPr>
            <a:spLocks noGrp="1"/>
          </p:cNvSpPr>
          <p:nvPr/>
        </p:nvSpPr>
        <p:spPr>
          <a:xfrm>
            <a:off x="694944" y="4032504"/>
            <a:ext cx="3465576" cy="502920"/>
          </a:xfrm>
          <a:prstGeom prst="rect">
            <a:avLst/>
          </a:prstGeom>
          <a:solidFill>
            <a:srgbClr val="F8FAFC"/>
          </a:solidFill>
          <a:ln w="12700">
            <a:solidFill>
              <a:srgbClr val="F8FAFC"/>
            </a:solidFill>
            <a:prstDash val="solid"/>
          </a:ln>
        </p:spPr>
        <p:txBody>
          <a:bodyPr/>
          <a:lstStyle/>
          <a:p>
            <a:endParaRPr/>
          </a:p>
        </p:txBody>
      </p:sp>
      <p:sp>
        <p:nvSpPr>
          <p:cNvPr id="21" name="Text 19">
            <a:extLst>
              <a:ext uri="{FF2B5EF4-FFF2-40B4-BE49-F238E27FC236}">
                <a16:creationId xmlns:a16="http://schemas.microsoft.com/office/drawing/2014/main" id="{153DED7D-D18F-44B7-B92B-EA8417751AD0}"/>
              </a:ext>
            </a:extLst>
          </p:cNvPr>
          <p:cNvSpPr>
            <a:spLocks noGrp="1"/>
          </p:cNvSpPr>
          <p:nvPr/>
        </p:nvSpPr>
        <p:spPr>
          <a:xfrm>
            <a:off x="777240"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比較日</a:t>
            </a:r>
            <a:endParaRPr sz="1230"/>
          </a:p>
        </p:txBody>
      </p:sp>
      <p:sp>
        <p:nvSpPr>
          <p:cNvPr id="22" name="Text 20">
            <a:extLst>
              <a:ext uri="{FF2B5EF4-FFF2-40B4-BE49-F238E27FC236}">
                <a16:creationId xmlns:a16="http://schemas.microsoft.com/office/drawing/2014/main" id="{8DC2ACCF-8532-4848-9242-D2F08F3A7FC6}"/>
              </a:ext>
            </a:extLst>
          </p:cNvPr>
          <p:cNvSpPr>
            <a:spLocks noGrp="1"/>
          </p:cNvSpPr>
          <p:nvPr/>
        </p:nvSpPr>
        <p:spPr>
          <a:xfrm>
            <a:off x="2138782"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運行日は2025/08/05で固定</a:t>
            </a:r>
            <a:endParaRPr sz="1230"/>
          </a:p>
        </p:txBody>
      </p:sp>
      <p:sp>
        <p:nvSpPr>
          <p:cNvPr id="23" name="Text 21">
            <a:extLst>
              <a:ext uri="{FF2B5EF4-FFF2-40B4-BE49-F238E27FC236}">
                <a16:creationId xmlns:a16="http://schemas.microsoft.com/office/drawing/2014/main" id="{E9502974-953B-4ECE-BD05-F25FEB996708}"/>
              </a:ext>
            </a:extLst>
          </p:cNvPr>
          <p:cNvSpPr>
            <a:spLocks noGrp="1"/>
          </p:cNvSpPr>
          <p:nvPr/>
        </p:nvSpPr>
        <p:spPr>
          <a:xfrm>
            <a:off x="777240"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高PV入力</a:t>
            </a:r>
            <a:endParaRPr sz="1230"/>
          </a:p>
        </p:txBody>
      </p:sp>
      <p:sp>
        <p:nvSpPr>
          <p:cNvPr id="24" name="Text 22">
            <a:extLst>
              <a:ext uri="{FF2B5EF4-FFF2-40B4-BE49-F238E27FC236}">
                <a16:creationId xmlns:a16="http://schemas.microsoft.com/office/drawing/2014/main" id="{387C9B89-CA36-4714-9455-09D9A2ED68BA}"/>
              </a:ext>
            </a:extLst>
          </p:cNvPr>
          <p:cNvSpPr>
            <a:spLocks noGrp="1"/>
          </p:cNvSpPr>
          <p:nvPr/>
        </p:nvSpPr>
        <p:spPr>
          <a:xfrm>
            <a:off x="2138782"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2025/08/05由来</a:t>
            </a:r>
            <a:endParaRPr sz="1230"/>
          </a:p>
        </p:txBody>
      </p:sp>
      <p:sp>
        <p:nvSpPr>
          <p:cNvPr id="25" name="Shape 23">
            <a:extLst>
              <a:ext uri="{FF2B5EF4-FFF2-40B4-BE49-F238E27FC236}">
                <a16:creationId xmlns:a16="http://schemas.microsoft.com/office/drawing/2014/main" id="{64A5ECEC-2060-482D-9061-36E7484BC43E}"/>
              </a:ext>
            </a:extLst>
          </p:cNvPr>
          <p:cNvSpPr>
            <a:spLocks noGrp="1"/>
          </p:cNvSpPr>
          <p:nvPr/>
        </p:nvSpPr>
        <p:spPr>
          <a:xfrm>
            <a:off x="694944" y="5166360"/>
            <a:ext cx="3465576" cy="502920"/>
          </a:xfrm>
          <a:prstGeom prst="rect">
            <a:avLst/>
          </a:prstGeom>
          <a:solidFill>
            <a:srgbClr val="F8FAFC"/>
          </a:solidFill>
          <a:ln w="12700">
            <a:solidFill>
              <a:srgbClr val="F8FAFC"/>
            </a:solidFill>
            <a:prstDash val="solid"/>
          </a:ln>
        </p:spPr>
        <p:txBody>
          <a:bodyPr/>
          <a:lstStyle/>
          <a:p>
            <a:endParaRPr/>
          </a:p>
        </p:txBody>
      </p:sp>
      <p:sp>
        <p:nvSpPr>
          <p:cNvPr id="26" name="Text 24">
            <a:extLst>
              <a:ext uri="{FF2B5EF4-FFF2-40B4-BE49-F238E27FC236}">
                <a16:creationId xmlns:a16="http://schemas.microsoft.com/office/drawing/2014/main" id="{C879B4BE-E54E-42D7-A5C6-8203AB60A163}"/>
              </a:ext>
            </a:extLst>
          </p:cNvPr>
          <p:cNvSpPr>
            <a:spLocks noGrp="1"/>
          </p:cNvSpPr>
          <p:nvPr/>
        </p:nvSpPr>
        <p:spPr>
          <a:xfrm>
            <a:off x="777240"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低PV入力</a:t>
            </a:r>
            <a:endParaRPr sz="1230"/>
          </a:p>
        </p:txBody>
      </p:sp>
      <p:sp>
        <p:nvSpPr>
          <p:cNvPr id="27" name="Text 25">
            <a:extLst>
              <a:ext uri="{FF2B5EF4-FFF2-40B4-BE49-F238E27FC236}">
                <a16:creationId xmlns:a16="http://schemas.microsoft.com/office/drawing/2014/main" id="{874EE7B2-5251-43F7-B19C-1825B6BD3215}"/>
              </a:ext>
            </a:extLst>
          </p:cNvPr>
          <p:cNvSpPr>
            <a:spLocks noGrp="1"/>
          </p:cNvSpPr>
          <p:nvPr/>
        </p:nvSpPr>
        <p:spPr>
          <a:xfrm>
            <a:off x="2138782"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2025/08/10由来</a:t>
            </a:r>
            <a:endParaRPr sz="1230"/>
          </a:p>
        </p:txBody>
      </p:sp>
      <p:sp>
        <p:nvSpPr>
          <p:cNvPr id="28" name="Shape 26">
            <a:extLst>
              <a:ext uri="{FF2B5EF4-FFF2-40B4-BE49-F238E27FC236}">
                <a16:creationId xmlns:a16="http://schemas.microsoft.com/office/drawing/2014/main" id="{6DDD1A3A-3572-438A-9F0D-3EC1278BF64D}"/>
              </a:ext>
            </a:extLst>
          </p:cNvPr>
          <p:cNvSpPr>
            <a:spLocks noGrp="1"/>
          </p:cNvSpPr>
          <p:nvPr/>
        </p:nvSpPr>
        <p:spPr>
          <a:xfrm>
            <a:off x="4297680"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9" name="Shape 27">
            <a:extLst>
              <a:ext uri="{FF2B5EF4-FFF2-40B4-BE49-F238E27FC236}">
                <a16:creationId xmlns:a16="http://schemas.microsoft.com/office/drawing/2014/main" id="{E4D48CD6-AFD2-4E2B-8AF4-64172F126610}"/>
              </a:ext>
            </a:extLst>
          </p:cNvPr>
          <p:cNvSpPr>
            <a:spLocks noGrp="1"/>
          </p:cNvSpPr>
          <p:nvPr/>
        </p:nvSpPr>
        <p:spPr>
          <a:xfrm>
            <a:off x="4297680" y="1234440"/>
            <a:ext cx="3611880" cy="438912"/>
          </a:xfrm>
          <a:prstGeom prst="rect">
            <a:avLst/>
          </a:prstGeom>
          <a:solidFill>
            <a:srgbClr val="1F9D8A"/>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6576F9CC-92E6-40FB-B3EC-ECF3DDD339F2}"/>
              </a:ext>
            </a:extLst>
          </p:cNvPr>
          <p:cNvSpPr>
            <a:spLocks noGrp="1"/>
          </p:cNvSpPr>
          <p:nvPr/>
        </p:nvSpPr>
        <p:spPr>
          <a:xfrm>
            <a:off x="4407408"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車両条件</a:t>
            </a:r>
            <a:endParaRPr sz="1650"/>
          </a:p>
        </p:txBody>
      </p:sp>
      <p:sp>
        <p:nvSpPr>
          <p:cNvPr id="31" name="Shape 29">
            <a:extLst>
              <a:ext uri="{FF2B5EF4-FFF2-40B4-BE49-F238E27FC236}">
                <a16:creationId xmlns:a16="http://schemas.microsoft.com/office/drawing/2014/main" id="{025C8065-999C-4FEA-B16C-9E4088827E9F}"/>
              </a:ext>
            </a:extLst>
          </p:cNvPr>
          <p:cNvSpPr>
            <a:spLocks noGrp="1"/>
          </p:cNvSpPr>
          <p:nvPr/>
        </p:nvSpPr>
        <p:spPr>
          <a:xfrm>
            <a:off x="4370832" y="1764792"/>
            <a:ext cx="3465576" cy="502920"/>
          </a:xfrm>
          <a:prstGeom prst="rect">
            <a:avLst/>
          </a:prstGeom>
          <a:solidFill>
            <a:srgbClr val="F8FAFC"/>
          </a:solidFill>
          <a:ln w="12700">
            <a:solidFill>
              <a:srgbClr val="F8FAFC"/>
            </a:solidFill>
            <a:prstDash val="solid"/>
          </a:ln>
        </p:spPr>
        <p:txBody>
          <a:bodyPr/>
          <a:lstStyle/>
          <a:p>
            <a:endParaRPr/>
          </a:p>
        </p:txBody>
      </p:sp>
      <p:sp>
        <p:nvSpPr>
          <p:cNvPr id="32" name="Text 30">
            <a:extLst>
              <a:ext uri="{FF2B5EF4-FFF2-40B4-BE49-F238E27FC236}">
                <a16:creationId xmlns:a16="http://schemas.microsoft.com/office/drawing/2014/main" id="{3958A23F-356F-4652-BED8-715371580206}"/>
              </a:ext>
            </a:extLst>
          </p:cNvPr>
          <p:cNvSpPr>
            <a:spLocks noGrp="1"/>
          </p:cNvSpPr>
          <p:nvPr/>
        </p:nvSpPr>
        <p:spPr>
          <a:xfrm>
            <a:off x="4453128"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有効車両</a:t>
            </a:r>
            <a:endParaRPr sz="1230"/>
          </a:p>
        </p:txBody>
      </p:sp>
      <p:sp>
        <p:nvSpPr>
          <p:cNvPr id="33" name="Text 31">
            <a:extLst>
              <a:ext uri="{FF2B5EF4-FFF2-40B4-BE49-F238E27FC236}">
                <a16:creationId xmlns:a16="http://schemas.microsoft.com/office/drawing/2014/main" id="{CAA15C11-C5D9-46F3-823E-6A6980E0686B}"/>
              </a:ext>
            </a:extLst>
          </p:cNvPr>
          <p:cNvSpPr>
            <a:spLocks noGrp="1"/>
          </p:cNvSpPr>
          <p:nvPr/>
        </p:nvSpPr>
        <p:spPr>
          <a:xfrm>
            <a:off x="5814670"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BEV 35台／ICE 25台</a:t>
            </a:r>
            <a:endParaRPr sz="1230"/>
          </a:p>
        </p:txBody>
      </p:sp>
      <p:sp>
        <p:nvSpPr>
          <p:cNvPr id="34" name="Text 32">
            <a:extLst>
              <a:ext uri="{FF2B5EF4-FFF2-40B4-BE49-F238E27FC236}">
                <a16:creationId xmlns:a16="http://schemas.microsoft.com/office/drawing/2014/main" id="{F70595F3-B148-45BA-908F-B291037E772A}"/>
              </a:ext>
            </a:extLst>
          </p:cNvPr>
          <p:cNvSpPr>
            <a:spLocks noGrp="1"/>
          </p:cNvSpPr>
          <p:nvPr/>
        </p:nvSpPr>
        <p:spPr>
          <a:xfrm>
            <a:off x="4453128"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BEV電池容量</a:t>
            </a:r>
            <a:endParaRPr sz="1230"/>
          </a:p>
        </p:txBody>
      </p:sp>
      <p:sp>
        <p:nvSpPr>
          <p:cNvPr id="35" name="Text 33">
            <a:extLst>
              <a:ext uri="{FF2B5EF4-FFF2-40B4-BE49-F238E27FC236}">
                <a16:creationId xmlns:a16="http://schemas.microsoft.com/office/drawing/2014/main" id="{6FBE3BC1-A49B-4065-A621-A68379D20EDA}"/>
              </a:ext>
            </a:extLst>
          </p:cNvPr>
          <p:cNvSpPr>
            <a:spLocks noGrp="1"/>
          </p:cNvSpPr>
          <p:nvPr/>
        </p:nvSpPr>
        <p:spPr>
          <a:xfrm>
            <a:off x="5814670"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314 kWh／台</a:t>
            </a:r>
            <a:endParaRPr sz="1230"/>
          </a:p>
        </p:txBody>
      </p:sp>
      <p:sp>
        <p:nvSpPr>
          <p:cNvPr id="36" name="Shape 34">
            <a:extLst>
              <a:ext uri="{FF2B5EF4-FFF2-40B4-BE49-F238E27FC236}">
                <a16:creationId xmlns:a16="http://schemas.microsoft.com/office/drawing/2014/main" id="{90B45736-62F9-4E0F-842A-0742EA7A3E86}"/>
              </a:ext>
            </a:extLst>
          </p:cNvPr>
          <p:cNvSpPr>
            <a:spLocks noGrp="1"/>
          </p:cNvSpPr>
          <p:nvPr/>
        </p:nvSpPr>
        <p:spPr>
          <a:xfrm>
            <a:off x="4370832" y="2898648"/>
            <a:ext cx="3465576" cy="502920"/>
          </a:xfrm>
          <a:prstGeom prst="rect">
            <a:avLst/>
          </a:prstGeom>
          <a:solidFill>
            <a:srgbClr val="F8FAFC"/>
          </a:solidFill>
          <a:ln w="12700">
            <a:solidFill>
              <a:srgbClr val="F8FAFC"/>
            </a:solidFill>
            <a:prstDash val="solid"/>
          </a:ln>
        </p:spPr>
        <p:txBody>
          <a:bodyPr/>
          <a:lstStyle/>
          <a:p>
            <a:endParaRPr/>
          </a:p>
        </p:txBody>
      </p:sp>
      <p:sp>
        <p:nvSpPr>
          <p:cNvPr id="37" name="Text 35">
            <a:extLst>
              <a:ext uri="{FF2B5EF4-FFF2-40B4-BE49-F238E27FC236}">
                <a16:creationId xmlns:a16="http://schemas.microsoft.com/office/drawing/2014/main" id="{9EDEB79C-107F-46FF-89F9-D6B13C5F7BDC}"/>
              </a:ext>
            </a:extLst>
          </p:cNvPr>
          <p:cNvSpPr>
            <a:spLocks noGrp="1"/>
          </p:cNvSpPr>
          <p:nvPr/>
        </p:nvSpPr>
        <p:spPr>
          <a:xfrm>
            <a:off x="4453128"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BEV電費</a:t>
            </a:r>
            <a:endParaRPr sz="1230"/>
          </a:p>
        </p:txBody>
      </p:sp>
      <p:sp>
        <p:nvSpPr>
          <p:cNvPr id="38" name="Text 36">
            <a:extLst>
              <a:ext uri="{FF2B5EF4-FFF2-40B4-BE49-F238E27FC236}">
                <a16:creationId xmlns:a16="http://schemas.microsoft.com/office/drawing/2014/main" id="{2D623BB4-BCA9-4D0F-9E14-14B086BE1261}"/>
              </a:ext>
            </a:extLst>
          </p:cNvPr>
          <p:cNvSpPr>
            <a:spLocks noGrp="1"/>
          </p:cNvSpPr>
          <p:nvPr/>
        </p:nvSpPr>
        <p:spPr>
          <a:xfrm>
            <a:off x="5814670"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1.316 kWh/km</a:t>
            </a:r>
            <a:endParaRPr sz="1230"/>
          </a:p>
        </p:txBody>
      </p:sp>
      <p:sp>
        <p:nvSpPr>
          <p:cNvPr id="39" name="Text 37">
            <a:extLst>
              <a:ext uri="{FF2B5EF4-FFF2-40B4-BE49-F238E27FC236}">
                <a16:creationId xmlns:a16="http://schemas.microsoft.com/office/drawing/2014/main" id="{BA3065C4-5876-40BE-96FE-9C210B0E0475}"/>
              </a:ext>
            </a:extLst>
          </p:cNvPr>
          <p:cNvSpPr>
            <a:spLocks noGrp="1"/>
          </p:cNvSpPr>
          <p:nvPr/>
        </p:nvSpPr>
        <p:spPr>
          <a:xfrm>
            <a:off x="4453128"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BEV充電上限</a:t>
            </a:r>
            <a:endParaRPr sz="1230"/>
          </a:p>
        </p:txBody>
      </p:sp>
      <p:sp>
        <p:nvSpPr>
          <p:cNvPr id="40" name="Text 38">
            <a:extLst>
              <a:ext uri="{FF2B5EF4-FFF2-40B4-BE49-F238E27FC236}">
                <a16:creationId xmlns:a16="http://schemas.microsoft.com/office/drawing/2014/main" id="{DD09A3A0-0EDB-430A-B713-76829F82007E}"/>
              </a:ext>
            </a:extLst>
          </p:cNvPr>
          <p:cNvSpPr>
            <a:spLocks noGrp="1"/>
          </p:cNvSpPr>
          <p:nvPr/>
        </p:nvSpPr>
        <p:spPr>
          <a:xfrm>
            <a:off x="5814670"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kW／台</a:t>
            </a:r>
            <a:endParaRPr sz="1230"/>
          </a:p>
        </p:txBody>
      </p:sp>
      <p:sp>
        <p:nvSpPr>
          <p:cNvPr id="41" name="Shape 39">
            <a:extLst>
              <a:ext uri="{FF2B5EF4-FFF2-40B4-BE49-F238E27FC236}">
                <a16:creationId xmlns:a16="http://schemas.microsoft.com/office/drawing/2014/main" id="{7BE3B5C5-7943-432D-B6AA-F6D5BEC72A30}"/>
              </a:ext>
            </a:extLst>
          </p:cNvPr>
          <p:cNvSpPr>
            <a:spLocks noGrp="1"/>
          </p:cNvSpPr>
          <p:nvPr/>
        </p:nvSpPr>
        <p:spPr>
          <a:xfrm>
            <a:off x="4370832" y="4032504"/>
            <a:ext cx="3465576" cy="502920"/>
          </a:xfrm>
          <a:prstGeom prst="rect">
            <a:avLst/>
          </a:prstGeom>
          <a:solidFill>
            <a:srgbClr val="F8FAFC"/>
          </a:solidFill>
          <a:ln w="12700">
            <a:solidFill>
              <a:srgbClr val="F8FAFC"/>
            </a:solidFill>
            <a:prstDash val="solid"/>
          </a:ln>
        </p:spPr>
        <p:txBody>
          <a:bodyPr/>
          <a:lstStyle/>
          <a:p>
            <a:endParaRPr/>
          </a:p>
        </p:txBody>
      </p:sp>
      <p:sp>
        <p:nvSpPr>
          <p:cNvPr id="42" name="Text 40">
            <a:extLst>
              <a:ext uri="{FF2B5EF4-FFF2-40B4-BE49-F238E27FC236}">
                <a16:creationId xmlns:a16="http://schemas.microsoft.com/office/drawing/2014/main" id="{F0B89DA9-ED8C-4AC9-A8F2-FAE4E5175D86}"/>
              </a:ext>
            </a:extLst>
          </p:cNvPr>
          <p:cNvSpPr>
            <a:spLocks noGrp="1"/>
          </p:cNvSpPr>
          <p:nvPr/>
        </p:nvSpPr>
        <p:spPr>
          <a:xfrm>
            <a:off x="4453128"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 SOC範囲</a:t>
            </a:r>
            <a:endParaRPr sz="1230"/>
          </a:p>
        </p:txBody>
      </p:sp>
      <p:sp>
        <p:nvSpPr>
          <p:cNvPr id="43" name="Text 41">
            <a:extLst>
              <a:ext uri="{FF2B5EF4-FFF2-40B4-BE49-F238E27FC236}">
                <a16:creationId xmlns:a16="http://schemas.microsoft.com/office/drawing/2014/main" id="{80F7087F-2E58-41D6-9A77-0BE690B4593D}"/>
              </a:ext>
            </a:extLst>
          </p:cNvPr>
          <p:cNvSpPr>
            <a:spLocks noGrp="1"/>
          </p:cNvSpPr>
          <p:nvPr/>
        </p:nvSpPr>
        <p:spPr>
          <a:xfrm>
            <a:off x="5814670"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入力20～90% ※</a:t>
            </a:r>
            <a:endParaRPr sz="1230"/>
          </a:p>
        </p:txBody>
      </p:sp>
      <p:sp>
        <p:nvSpPr>
          <p:cNvPr id="44" name="Text 42">
            <a:extLst>
              <a:ext uri="{FF2B5EF4-FFF2-40B4-BE49-F238E27FC236}">
                <a16:creationId xmlns:a16="http://schemas.microsoft.com/office/drawing/2014/main" id="{B7E171A9-3AC7-4F25-93CB-904DBF09D2A2}"/>
              </a:ext>
            </a:extLst>
          </p:cNvPr>
          <p:cNvSpPr>
            <a:spLocks noGrp="1"/>
          </p:cNvSpPr>
          <p:nvPr/>
        </p:nvSpPr>
        <p:spPr>
          <a:xfrm>
            <a:off x="4453128"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BEV初期SOC</a:t>
            </a:r>
            <a:endParaRPr sz="1230"/>
          </a:p>
        </p:txBody>
      </p:sp>
      <p:sp>
        <p:nvSpPr>
          <p:cNvPr id="45" name="Text 43">
            <a:extLst>
              <a:ext uri="{FF2B5EF4-FFF2-40B4-BE49-F238E27FC236}">
                <a16:creationId xmlns:a16="http://schemas.microsoft.com/office/drawing/2014/main" id="{794869E8-5F43-4251-93E4-31AA6FD06421}"/>
              </a:ext>
            </a:extLst>
          </p:cNvPr>
          <p:cNvSpPr>
            <a:spLocks noGrp="1"/>
          </p:cNvSpPr>
          <p:nvPr/>
        </p:nvSpPr>
        <p:spPr>
          <a:xfrm>
            <a:off x="5814670"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車両別 21.95～77.43%</a:t>
            </a:r>
            <a:endParaRPr sz="1230"/>
          </a:p>
        </p:txBody>
      </p:sp>
      <p:sp>
        <p:nvSpPr>
          <p:cNvPr id="46" name="Shape 44">
            <a:extLst>
              <a:ext uri="{FF2B5EF4-FFF2-40B4-BE49-F238E27FC236}">
                <a16:creationId xmlns:a16="http://schemas.microsoft.com/office/drawing/2014/main" id="{C1D511C8-3D56-4729-ADFB-F34BF2CA71FC}"/>
              </a:ext>
            </a:extLst>
          </p:cNvPr>
          <p:cNvSpPr>
            <a:spLocks noGrp="1"/>
          </p:cNvSpPr>
          <p:nvPr/>
        </p:nvSpPr>
        <p:spPr>
          <a:xfrm>
            <a:off x="4370832" y="5166360"/>
            <a:ext cx="3465576" cy="502920"/>
          </a:xfrm>
          <a:prstGeom prst="rect">
            <a:avLst/>
          </a:prstGeom>
          <a:solidFill>
            <a:srgbClr val="F8FAFC"/>
          </a:solidFill>
          <a:ln w="12700">
            <a:solidFill>
              <a:srgbClr val="F8FAFC"/>
            </a:solidFill>
            <a:prstDash val="solid"/>
          </a:ln>
        </p:spPr>
        <p:txBody>
          <a:bodyPr/>
          <a:lstStyle/>
          <a:p>
            <a:endParaRPr/>
          </a:p>
        </p:txBody>
      </p:sp>
      <p:sp>
        <p:nvSpPr>
          <p:cNvPr id="47" name="Text 45">
            <a:extLst>
              <a:ext uri="{FF2B5EF4-FFF2-40B4-BE49-F238E27FC236}">
                <a16:creationId xmlns:a16="http://schemas.microsoft.com/office/drawing/2014/main" id="{D31E0F83-EEA8-45C7-856B-5281A15E40F4}"/>
              </a:ext>
            </a:extLst>
          </p:cNvPr>
          <p:cNvSpPr>
            <a:spLocks noGrp="1"/>
          </p:cNvSpPr>
          <p:nvPr/>
        </p:nvSpPr>
        <p:spPr>
          <a:xfrm>
            <a:off x="4453128"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ICE条件</a:t>
            </a:r>
            <a:endParaRPr sz="1230"/>
          </a:p>
        </p:txBody>
      </p:sp>
      <p:sp>
        <p:nvSpPr>
          <p:cNvPr id="48" name="Text 46">
            <a:extLst>
              <a:ext uri="{FF2B5EF4-FFF2-40B4-BE49-F238E27FC236}">
                <a16:creationId xmlns:a16="http://schemas.microsoft.com/office/drawing/2014/main" id="{7EB1C77E-4965-4E08-8244-1FA36374898B}"/>
              </a:ext>
            </a:extLst>
          </p:cNvPr>
          <p:cNvSpPr>
            <a:spLocks noGrp="1"/>
          </p:cNvSpPr>
          <p:nvPr/>
        </p:nvSpPr>
        <p:spPr>
          <a:xfrm>
            <a:off x="5814670"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160 L・4.52 km/L</a:t>
            </a:r>
            <a:endParaRPr sz="1230"/>
          </a:p>
        </p:txBody>
      </p:sp>
      <p:sp>
        <p:nvSpPr>
          <p:cNvPr id="49" name="Shape 47">
            <a:extLst>
              <a:ext uri="{FF2B5EF4-FFF2-40B4-BE49-F238E27FC236}">
                <a16:creationId xmlns:a16="http://schemas.microsoft.com/office/drawing/2014/main" id="{3FC92214-EC9F-4CD8-AF6C-A22D1ED2EFB6}"/>
              </a:ext>
            </a:extLst>
          </p:cNvPr>
          <p:cNvSpPr>
            <a:spLocks noGrp="1"/>
          </p:cNvSpPr>
          <p:nvPr/>
        </p:nvSpPr>
        <p:spPr>
          <a:xfrm>
            <a:off x="7973568"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50" name="Shape 48">
            <a:extLst>
              <a:ext uri="{FF2B5EF4-FFF2-40B4-BE49-F238E27FC236}">
                <a16:creationId xmlns:a16="http://schemas.microsoft.com/office/drawing/2014/main" id="{E0EF02C9-102B-4887-919E-3A63373C6112}"/>
              </a:ext>
            </a:extLst>
          </p:cNvPr>
          <p:cNvSpPr>
            <a:spLocks noGrp="1"/>
          </p:cNvSpPr>
          <p:nvPr/>
        </p:nvSpPr>
        <p:spPr>
          <a:xfrm>
            <a:off x="7973568" y="1234440"/>
            <a:ext cx="3611880" cy="438912"/>
          </a:xfrm>
          <a:prstGeom prst="rect">
            <a:avLst/>
          </a:prstGeom>
          <a:solidFill>
            <a:srgbClr val="356BB3"/>
          </a:solidFill>
          <a:ln w="12700">
            <a:solidFill>
              <a:srgbClr val="356BB3"/>
            </a:solidFill>
            <a:prstDash val="solid"/>
          </a:ln>
        </p:spPr>
        <p:txBody>
          <a:bodyPr/>
          <a:lstStyle/>
          <a:p>
            <a:endParaRPr/>
          </a:p>
        </p:txBody>
      </p:sp>
      <p:sp>
        <p:nvSpPr>
          <p:cNvPr id="51" name="Text 49">
            <a:extLst>
              <a:ext uri="{FF2B5EF4-FFF2-40B4-BE49-F238E27FC236}">
                <a16:creationId xmlns:a16="http://schemas.microsoft.com/office/drawing/2014/main" id="{5189E6E4-E1CE-488B-8362-E8745737B32D}"/>
              </a:ext>
            </a:extLst>
          </p:cNvPr>
          <p:cNvSpPr>
            <a:spLocks noGrp="1"/>
          </p:cNvSpPr>
          <p:nvPr/>
        </p:nvSpPr>
        <p:spPr>
          <a:xfrm>
            <a:off x="8083296"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営業所設備</a:t>
            </a:r>
            <a:endParaRPr sz="1650"/>
          </a:p>
        </p:txBody>
      </p:sp>
      <p:sp>
        <p:nvSpPr>
          <p:cNvPr id="52" name="Shape 50">
            <a:extLst>
              <a:ext uri="{FF2B5EF4-FFF2-40B4-BE49-F238E27FC236}">
                <a16:creationId xmlns:a16="http://schemas.microsoft.com/office/drawing/2014/main" id="{CF03D7CC-82FD-48B5-9317-A8CAB3B98EC8}"/>
              </a:ext>
            </a:extLst>
          </p:cNvPr>
          <p:cNvSpPr>
            <a:spLocks noGrp="1"/>
          </p:cNvSpPr>
          <p:nvPr/>
        </p:nvSpPr>
        <p:spPr>
          <a:xfrm>
            <a:off x="8046720" y="1764792"/>
            <a:ext cx="3465576" cy="502920"/>
          </a:xfrm>
          <a:prstGeom prst="rect">
            <a:avLst/>
          </a:prstGeom>
          <a:solidFill>
            <a:srgbClr val="F8FAFC"/>
          </a:solidFill>
          <a:ln w="12700">
            <a:solidFill>
              <a:srgbClr val="F8FAFC"/>
            </a:solidFill>
            <a:prstDash val="solid"/>
          </a:ln>
        </p:spPr>
        <p:txBody>
          <a:bodyPr/>
          <a:lstStyle/>
          <a:p>
            <a:endParaRPr/>
          </a:p>
        </p:txBody>
      </p:sp>
      <p:sp>
        <p:nvSpPr>
          <p:cNvPr id="53" name="Text 51">
            <a:extLst>
              <a:ext uri="{FF2B5EF4-FFF2-40B4-BE49-F238E27FC236}">
                <a16:creationId xmlns:a16="http://schemas.microsoft.com/office/drawing/2014/main" id="{F16EB42D-D067-417E-BAB4-596D7584C711}"/>
              </a:ext>
            </a:extLst>
          </p:cNvPr>
          <p:cNvSpPr>
            <a:spLocks noGrp="1"/>
          </p:cNvSpPr>
          <p:nvPr/>
        </p:nvSpPr>
        <p:spPr>
          <a:xfrm>
            <a:off x="8129016"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充電器</a:t>
            </a:r>
            <a:endParaRPr sz="1230"/>
          </a:p>
        </p:txBody>
      </p:sp>
      <p:sp>
        <p:nvSpPr>
          <p:cNvPr id="54" name="Text 52">
            <a:extLst>
              <a:ext uri="{FF2B5EF4-FFF2-40B4-BE49-F238E27FC236}">
                <a16:creationId xmlns:a16="http://schemas.microsoft.com/office/drawing/2014/main" id="{EE3FD58F-CCD1-4450-B575-EF4C7A36D0E4}"/>
              </a:ext>
            </a:extLst>
          </p:cNvPr>
          <p:cNvSpPr>
            <a:spLocks noGrp="1"/>
          </p:cNvSpPr>
          <p:nvPr/>
        </p:nvSpPr>
        <p:spPr>
          <a:xfrm>
            <a:off x="9490558"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 × 10基</a:t>
            </a:r>
            <a:endParaRPr sz="1230"/>
          </a:p>
        </p:txBody>
      </p:sp>
      <p:sp>
        <p:nvSpPr>
          <p:cNvPr id="55" name="Text 53">
            <a:extLst>
              <a:ext uri="{FF2B5EF4-FFF2-40B4-BE49-F238E27FC236}">
                <a16:creationId xmlns:a16="http://schemas.microsoft.com/office/drawing/2014/main" id="{6ADBF6D5-7736-4F02-876B-047FE07F2D77}"/>
              </a:ext>
            </a:extLst>
          </p:cNvPr>
          <p:cNvSpPr>
            <a:spLocks noGrp="1"/>
          </p:cNvSpPr>
          <p:nvPr/>
        </p:nvSpPr>
        <p:spPr>
          <a:xfrm>
            <a:off x="8129016"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同時接続</a:t>
            </a:r>
            <a:endParaRPr sz="1230"/>
          </a:p>
        </p:txBody>
      </p:sp>
      <p:sp>
        <p:nvSpPr>
          <p:cNvPr id="56" name="Text 54">
            <a:extLst>
              <a:ext uri="{FF2B5EF4-FFF2-40B4-BE49-F238E27FC236}">
                <a16:creationId xmlns:a16="http://schemas.microsoft.com/office/drawing/2014/main" id="{3C934A50-527C-4DB7-9BFF-998A99AEC89F}"/>
              </a:ext>
            </a:extLst>
          </p:cNvPr>
          <p:cNvSpPr>
            <a:spLocks noGrp="1"/>
          </p:cNvSpPr>
          <p:nvPr/>
        </p:nvSpPr>
        <p:spPr>
          <a:xfrm>
            <a:off x="9490558"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各1ポート</a:t>
            </a:r>
            <a:endParaRPr sz="1230"/>
          </a:p>
        </p:txBody>
      </p:sp>
      <p:sp>
        <p:nvSpPr>
          <p:cNvPr id="57" name="Shape 55">
            <a:extLst>
              <a:ext uri="{FF2B5EF4-FFF2-40B4-BE49-F238E27FC236}">
                <a16:creationId xmlns:a16="http://schemas.microsoft.com/office/drawing/2014/main" id="{9AE86734-FCD1-4BEA-97D2-8B215ABDCC86}"/>
              </a:ext>
            </a:extLst>
          </p:cNvPr>
          <p:cNvSpPr>
            <a:spLocks noGrp="1"/>
          </p:cNvSpPr>
          <p:nvPr/>
        </p:nvSpPr>
        <p:spPr>
          <a:xfrm>
            <a:off x="8046720" y="2898648"/>
            <a:ext cx="3465576" cy="502920"/>
          </a:xfrm>
          <a:prstGeom prst="rect">
            <a:avLst/>
          </a:prstGeom>
          <a:solidFill>
            <a:srgbClr val="F8FAFC"/>
          </a:solidFill>
          <a:ln w="12700">
            <a:solidFill>
              <a:srgbClr val="F8FAFC"/>
            </a:solidFill>
            <a:prstDash val="solid"/>
          </a:ln>
        </p:spPr>
        <p:txBody>
          <a:bodyPr/>
          <a:lstStyle/>
          <a:p>
            <a:endParaRPr/>
          </a:p>
        </p:txBody>
      </p:sp>
      <p:sp>
        <p:nvSpPr>
          <p:cNvPr id="58" name="Text 56">
            <a:extLst>
              <a:ext uri="{FF2B5EF4-FFF2-40B4-BE49-F238E27FC236}">
                <a16:creationId xmlns:a16="http://schemas.microsoft.com/office/drawing/2014/main" id="{C5A115C4-B2EF-461B-ADB5-618D3F9C1FD9}"/>
              </a:ext>
            </a:extLst>
          </p:cNvPr>
          <p:cNvSpPr>
            <a:spLocks noGrp="1"/>
          </p:cNvSpPr>
          <p:nvPr/>
        </p:nvSpPr>
        <p:spPr>
          <a:xfrm>
            <a:off x="8129016"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V2G</a:t>
            </a:r>
            <a:endParaRPr sz="1230"/>
          </a:p>
        </p:txBody>
      </p:sp>
      <p:sp>
        <p:nvSpPr>
          <p:cNvPr id="59" name="Text 57">
            <a:extLst>
              <a:ext uri="{FF2B5EF4-FFF2-40B4-BE49-F238E27FC236}">
                <a16:creationId xmlns:a16="http://schemas.microsoft.com/office/drawing/2014/main" id="{B4D59C78-621D-414C-BE66-62567E5BF404}"/>
              </a:ext>
            </a:extLst>
          </p:cNvPr>
          <p:cNvSpPr>
            <a:spLocks noGrp="1"/>
          </p:cNvSpPr>
          <p:nvPr/>
        </p:nvSpPr>
        <p:spPr>
          <a:xfrm>
            <a:off x="9490558"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0" name="Text 58">
            <a:extLst>
              <a:ext uri="{FF2B5EF4-FFF2-40B4-BE49-F238E27FC236}">
                <a16:creationId xmlns:a16="http://schemas.microsoft.com/office/drawing/2014/main" id="{046BB6D0-BA0C-4C4F-97BA-F59FE1D729B6}"/>
              </a:ext>
            </a:extLst>
          </p:cNvPr>
          <p:cNvSpPr>
            <a:spLocks noGrp="1"/>
          </p:cNvSpPr>
          <p:nvPr/>
        </p:nvSpPr>
        <p:spPr>
          <a:xfrm>
            <a:off x="8129016"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受電上限</a:t>
            </a:r>
            <a:endParaRPr sz="1230"/>
          </a:p>
        </p:txBody>
      </p:sp>
      <p:sp>
        <p:nvSpPr>
          <p:cNvPr id="61" name="Text 59">
            <a:extLst>
              <a:ext uri="{FF2B5EF4-FFF2-40B4-BE49-F238E27FC236}">
                <a16:creationId xmlns:a16="http://schemas.microsoft.com/office/drawing/2014/main" id="{C46E2C58-F138-4179-A194-3A3BDC43474B}"/>
              </a:ext>
            </a:extLst>
          </p:cNvPr>
          <p:cNvSpPr>
            <a:spLocks noGrp="1"/>
          </p:cNvSpPr>
          <p:nvPr/>
        </p:nvSpPr>
        <p:spPr>
          <a:xfrm>
            <a:off x="9490558"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 kW</a:t>
            </a:r>
            <a:endParaRPr sz="1230"/>
          </a:p>
        </p:txBody>
      </p:sp>
      <p:sp>
        <p:nvSpPr>
          <p:cNvPr id="62" name="Shape 60">
            <a:extLst>
              <a:ext uri="{FF2B5EF4-FFF2-40B4-BE49-F238E27FC236}">
                <a16:creationId xmlns:a16="http://schemas.microsoft.com/office/drawing/2014/main" id="{2EC825D0-17F5-4DAF-B079-4653B02AD507}"/>
              </a:ext>
            </a:extLst>
          </p:cNvPr>
          <p:cNvSpPr>
            <a:spLocks noGrp="1"/>
          </p:cNvSpPr>
          <p:nvPr/>
        </p:nvSpPr>
        <p:spPr>
          <a:xfrm>
            <a:off x="8046720" y="4032504"/>
            <a:ext cx="3465576" cy="502920"/>
          </a:xfrm>
          <a:prstGeom prst="rect">
            <a:avLst/>
          </a:prstGeom>
          <a:solidFill>
            <a:srgbClr val="F8FAFC"/>
          </a:solidFill>
          <a:ln w="12700">
            <a:solidFill>
              <a:srgbClr val="F8FAFC"/>
            </a:solidFill>
            <a:prstDash val="solid"/>
          </a:ln>
        </p:spPr>
        <p:txBody>
          <a:bodyPr/>
          <a:lstStyle/>
          <a:p>
            <a:endParaRPr/>
          </a:p>
        </p:txBody>
      </p:sp>
      <p:sp>
        <p:nvSpPr>
          <p:cNvPr id="63" name="Text 61">
            <a:extLst>
              <a:ext uri="{FF2B5EF4-FFF2-40B4-BE49-F238E27FC236}">
                <a16:creationId xmlns:a16="http://schemas.microsoft.com/office/drawing/2014/main" id="{6552AE15-7877-4B03-A7D8-4A05C2697309}"/>
              </a:ext>
            </a:extLst>
          </p:cNvPr>
          <p:cNvSpPr>
            <a:spLocks noGrp="1"/>
          </p:cNvSpPr>
          <p:nvPr/>
        </p:nvSpPr>
        <p:spPr>
          <a:xfrm>
            <a:off x="8129016"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PV定格</a:t>
            </a:r>
            <a:endParaRPr sz="1230"/>
          </a:p>
        </p:txBody>
      </p:sp>
      <p:sp>
        <p:nvSpPr>
          <p:cNvPr id="64" name="Text 62">
            <a:extLst>
              <a:ext uri="{FF2B5EF4-FFF2-40B4-BE49-F238E27FC236}">
                <a16:creationId xmlns:a16="http://schemas.microsoft.com/office/drawing/2014/main" id="{40B1434A-CC8C-4054-A6B2-3403F37F0B3B}"/>
              </a:ext>
            </a:extLst>
          </p:cNvPr>
          <p:cNvSpPr>
            <a:spLocks noGrp="1"/>
          </p:cNvSpPr>
          <p:nvPr/>
        </p:nvSpPr>
        <p:spPr>
          <a:xfrm>
            <a:off x="9490558"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1,000 kW</a:t>
            </a:r>
            <a:endParaRPr sz="1230"/>
          </a:p>
        </p:txBody>
      </p:sp>
      <p:sp>
        <p:nvSpPr>
          <p:cNvPr id="65" name="Text 63">
            <a:extLst>
              <a:ext uri="{FF2B5EF4-FFF2-40B4-BE49-F238E27FC236}">
                <a16:creationId xmlns:a16="http://schemas.microsoft.com/office/drawing/2014/main" id="{08F726D5-31AC-4E7D-8352-1D170AC4EF70}"/>
              </a:ext>
            </a:extLst>
          </p:cNvPr>
          <p:cNvSpPr>
            <a:spLocks noGrp="1"/>
          </p:cNvSpPr>
          <p:nvPr/>
        </p:nvSpPr>
        <p:spPr>
          <a:xfrm>
            <a:off x="8129016"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a:t>
            </a:r>
            <a:endParaRPr sz="1230"/>
          </a:p>
        </p:txBody>
      </p:sp>
      <p:sp>
        <p:nvSpPr>
          <p:cNvPr id="66" name="Text 64">
            <a:extLst>
              <a:ext uri="{FF2B5EF4-FFF2-40B4-BE49-F238E27FC236}">
                <a16:creationId xmlns:a16="http://schemas.microsoft.com/office/drawing/2014/main" id="{959EBCEC-789D-42BB-BC20-EFAEA1E333B5}"/>
              </a:ext>
            </a:extLst>
          </p:cNvPr>
          <p:cNvSpPr>
            <a:spLocks noGrp="1"/>
          </p:cNvSpPr>
          <p:nvPr/>
        </p:nvSpPr>
        <p:spPr>
          <a:xfrm>
            <a:off x="9490558"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6,000 kWh／900 kW</a:t>
            </a:r>
            <a:endParaRPr sz="1230"/>
          </a:p>
        </p:txBody>
      </p:sp>
      <p:sp>
        <p:nvSpPr>
          <p:cNvPr id="67" name="Shape 65">
            <a:extLst>
              <a:ext uri="{FF2B5EF4-FFF2-40B4-BE49-F238E27FC236}">
                <a16:creationId xmlns:a16="http://schemas.microsoft.com/office/drawing/2014/main" id="{E5C26234-4373-4A17-8ED4-599785FFBAC8}"/>
              </a:ext>
            </a:extLst>
          </p:cNvPr>
          <p:cNvSpPr>
            <a:spLocks noGrp="1"/>
          </p:cNvSpPr>
          <p:nvPr/>
        </p:nvSpPr>
        <p:spPr>
          <a:xfrm>
            <a:off x="8046720" y="5166360"/>
            <a:ext cx="3465576" cy="502920"/>
          </a:xfrm>
          <a:prstGeom prst="rect">
            <a:avLst/>
          </a:prstGeom>
          <a:solidFill>
            <a:srgbClr val="F8FAFC"/>
          </a:solidFill>
          <a:ln w="12700">
            <a:solidFill>
              <a:srgbClr val="F8FAFC"/>
            </a:solidFill>
            <a:prstDash val="solid"/>
          </a:ln>
        </p:spPr>
        <p:txBody>
          <a:bodyPr/>
          <a:lstStyle/>
          <a:p>
            <a:endParaRPr/>
          </a:p>
        </p:txBody>
      </p:sp>
      <p:sp>
        <p:nvSpPr>
          <p:cNvPr id="68" name="Text 66">
            <a:extLst>
              <a:ext uri="{FF2B5EF4-FFF2-40B4-BE49-F238E27FC236}">
                <a16:creationId xmlns:a16="http://schemas.microsoft.com/office/drawing/2014/main" id="{89C4F706-C63D-485B-B5D2-F26B48DB73F1}"/>
              </a:ext>
            </a:extLst>
          </p:cNvPr>
          <p:cNvSpPr>
            <a:spLocks noGrp="1"/>
          </p:cNvSpPr>
          <p:nvPr/>
        </p:nvSpPr>
        <p:spPr>
          <a:xfrm>
            <a:off x="8129016"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BESS境界</a:t>
            </a:r>
            <a:endParaRPr sz="1230"/>
          </a:p>
        </p:txBody>
      </p:sp>
      <p:sp>
        <p:nvSpPr>
          <p:cNvPr id="69" name="Text 67">
            <a:extLst>
              <a:ext uri="{FF2B5EF4-FFF2-40B4-BE49-F238E27FC236}">
                <a16:creationId xmlns:a16="http://schemas.microsoft.com/office/drawing/2014/main" id="{1A328454-1E53-42A1-8304-BAFE98595095}"/>
              </a:ext>
            </a:extLst>
          </p:cNvPr>
          <p:cNvSpPr>
            <a:spLocks noGrp="1"/>
          </p:cNvSpPr>
          <p:nvPr/>
        </p:nvSpPr>
        <p:spPr>
          <a:xfrm>
            <a:off x="9490558"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3,000 → 3,000 kWh</a:t>
            </a:r>
            <a:endParaRPr sz="1230"/>
          </a:p>
        </p:txBody>
      </p:sp>
      <p:sp>
        <p:nvSpPr>
          <p:cNvPr id="70" name="Text 68">
            <a:extLst>
              <a:ext uri="{FF2B5EF4-FFF2-40B4-BE49-F238E27FC236}">
                <a16:creationId xmlns:a16="http://schemas.microsoft.com/office/drawing/2014/main" id="{6A9CCA51-D1A0-4322-88FE-CC364F3DF9D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 入力SOC上限90%に不一致。補足17を参照。</a:t>
            </a:r>
            <a:endParaRPr sz="720"/>
          </a:p>
        </p:txBody>
      </p:sp>
      <p:sp>
        <p:nvSpPr>
          <p:cNvPr id="71" name="正方形/長方形 70">
            <a:extLst>
              <a:ext uri="{FF2B5EF4-FFF2-40B4-BE49-F238E27FC236}">
                <a16:creationId xmlns:a16="http://schemas.microsoft.com/office/drawing/2014/main" id="{22CCEB4A-B06D-4C7F-BA97-03132329AB5E}"/>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8056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347827-0210-435C-8376-D1B54DDC191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設定パラメータ②：費用・計算・配車候補の条件</a:t>
            </a:r>
            <a:endParaRPr sz="2550"/>
          </a:p>
        </p:txBody>
      </p:sp>
      <p:sp>
        <p:nvSpPr>
          <p:cNvPr id="3" name="Shape 1">
            <a:extLst>
              <a:ext uri="{FF2B5EF4-FFF2-40B4-BE49-F238E27FC236}">
                <a16:creationId xmlns:a16="http://schemas.microsoft.com/office/drawing/2014/main" id="{7835C446-E8EE-4476-A254-225D4D5AE7A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B44425A6-B446-4A0D-B479-7B17C779FE6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48F67B8-8E5B-45C0-90F3-141AA0340B2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7/18</a:t>
            </a:r>
            <a:endParaRPr sz="850"/>
          </a:p>
        </p:txBody>
      </p:sp>
      <p:sp>
        <p:nvSpPr>
          <p:cNvPr id="6" name="Shape 4">
            <a:extLst>
              <a:ext uri="{FF2B5EF4-FFF2-40B4-BE49-F238E27FC236}">
                <a16:creationId xmlns:a16="http://schemas.microsoft.com/office/drawing/2014/main" id="{D142CF2B-293A-4834-A74E-0A70DF85B865}"/>
              </a:ext>
            </a:extLst>
          </p:cNvPr>
          <p:cNvSpPr>
            <a:spLocks noGrp="1"/>
          </p:cNvSpPr>
          <p:nvPr/>
        </p:nvSpPr>
        <p:spPr>
          <a:xfrm>
            <a:off x="6858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29780DAD-84EF-48B3-8C1E-94F0B9F3C3E6}"/>
              </a:ext>
            </a:extLst>
          </p:cNvPr>
          <p:cNvSpPr>
            <a:spLocks noGrp="1"/>
          </p:cNvSpPr>
          <p:nvPr/>
        </p:nvSpPr>
        <p:spPr>
          <a:xfrm>
            <a:off x="685800" y="1097280"/>
            <a:ext cx="3520440" cy="438912"/>
          </a:xfrm>
          <a:prstGeom prst="rect">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1C1D5185-465D-4D42-917C-CFF4D76DD0B0}"/>
              </a:ext>
            </a:extLst>
          </p:cNvPr>
          <p:cNvSpPr>
            <a:spLocks noGrp="1"/>
          </p:cNvSpPr>
          <p:nvPr/>
        </p:nvSpPr>
        <p:spPr>
          <a:xfrm>
            <a:off x="7955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費用の設定</a:t>
            </a:r>
            <a:endParaRPr sz="1650"/>
          </a:p>
        </p:txBody>
      </p:sp>
      <p:sp>
        <p:nvSpPr>
          <p:cNvPr id="9" name="Shape 7">
            <a:extLst>
              <a:ext uri="{FF2B5EF4-FFF2-40B4-BE49-F238E27FC236}">
                <a16:creationId xmlns:a16="http://schemas.microsoft.com/office/drawing/2014/main" id="{216EFD2C-A7FE-4F5A-9359-D0EDD31BC926}"/>
              </a:ext>
            </a:extLst>
          </p:cNvPr>
          <p:cNvSpPr>
            <a:spLocks noGrp="1"/>
          </p:cNvSpPr>
          <p:nvPr/>
        </p:nvSpPr>
        <p:spPr>
          <a:xfrm>
            <a:off x="758952" y="1627632"/>
            <a:ext cx="3374136" cy="502920"/>
          </a:xfrm>
          <a:prstGeom prst="rect">
            <a:avLst/>
          </a:prstGeom>
          <a:solidFill>
            <a:srgbClr val="F8FAFC"/>
          </a:solidFill>
          <a:ln w="12700">
            <a:solidFill>
              <a:srgbClr val="F8FAFC"/>
            </a:solidFill>
            <a:prstDash val="solid"/>
          </a:ln>
        </p:spPr>
        <p:txBody>
          <a:bodyPr/>
          <a:lstStyle/>
          <a:p>
            <a:endParaRPr/>
          </a:p>
        </p:txBody>
      </p:sp>
      <p:sp>
        <p:nvSpPr>
          <p:cNvPr id="10" name="Text 8">
            <a:extLst>
              <a:ext uri="{FF2B5EF4-FFF2-40B4-BE49-F238E27FC236}">
                <a16:creationId xmlns:a16="http://schemas.microsoft.com/office/drawing/2014/main" id="{410F6E2C-5864-47B2-819B-D7510BD55650}"/>
              </a:ext>
            </a:extLst>
          </p:cNvPr>
          <p:cNvSpPr>
            <a:spLocks noGrp="1"/>
          </p:cNvSpPr>
          <p:nvPr/>
        </p:nvSpPr>
        <p:spPr>
          <a:xfrm>
            <a:off x="8412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系統電力単価</a:t>
            </a:r>
            <a:endParaRPr sz="1230"/>
          </a:p>
        </p:txBody>
      </p:sp>
      <p:sp>
        <p:nvSpPr>
          <p:cNvPr id="11" name="Text 9">
            <a:extLst>
              <a:ext uri="{FF2B5EF4-FFF2-40B4-BE49-F238E27FC236}">
                <a16:creationId xmlns:a16="http://schemas.microsoft.com/office/drawing/2014/main" id="{5611BED1-C6DC-4AB6-879E-2370F8C9E8BB}"/>
              </a:ext>
            </a:extLst>
          </p:cNvPr>
          <p:cNvSpPr>
            <a:spLocks noGrp="1"/>
          </p:cNvSpPr>
          <p:nvPr/>
        </p:nvSpPr>
        <p:spPr>
          <a:xfrm>
            <a:off x="21643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 円/kWh</a:t>
            </a:r>
            <a:endParaRPr sz="1230"/>
          </a:p>
        </p:txBody>
      </p:sp>
      <p:sp>
        <p:nvSpPr>
          <p:cNvPr id="12" name="Text 10">
            <a:extLst>
              <a:ext uri="{FF2B5EF4-FFF2-40B4-BE49-F238E27FC236}">
                <a16:creationId xmlns:a16="http://schemas.microsoft.com/office/drawing/2014/main" id="{9E021594-8487-40EE-9B7D-D99F94058565}"/>
              </a:ext>
            </a:extLst>
          </p:cNvPr>
          <p:cNvSpPr>
            <a:spLocks noGrp="1"/>
          </p:cNvSpPr>
          <p:nvPr/>
        </p:nvSpPr>
        <p:spPr>
          <a:xfrm>
            <a:off x="8412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軽油単価</a:t>
            </a:r>
            <a:endParaRPr sz="1230"/>
          </a:p>
        </p:txBody>
      </p:sp>
      <p:sp>
        <p:nvSpPr>
          <p:cNvPr id="13" name="Text 11">
            <a:extLst>
              <a:ext uri="{FF2B5EF4-FFF2-40B4-BE49-F238E27FC236}">
                <a16:creationId xmlns:a16="http://schemas.microsoft.com/office/drawing/2014/main" id="{E23A6E8E-1F44-49E5-95AD-9653CC2E25C3}"/>
              </a:ext>
            </a:extLst>
          </p:cNvPr>
          <p:cNvSpPr>
            <a:spLocks noGrp="1"/>
          </p:cNvSpPr>
          <p:nvPr/>
        </p:nvSpPr>
        <p:spPr>
          <a:xfrm>
            <a:off x="21643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150 円/L</a:t>
            </a:r>
            <a:endParaRPr sz="1230"/>
          </a:p>
        </p:txBody>
      </p:sp>
      <p:sp>
        <p:nvSpPr>
          <p:cNvPr id="14" name="Shape 12">
            <a:extLst>
              <a:ext uri="{FF2B5EF4-FFF2-40B4-BE49-F238E27FC236}">
                <a16:creationId xmlns:a16="http://schemas.microsoft.com/office/drawing/2014/main" id="{35ED7FEF-E28B-46F1-8075-66AE0556D427}"/>
              </a:ext>
            </a:extLst>
          </p:cNvPr>
          <p:cNvSpPr>
            <a:spLocks noGrp="1"/>
          </p:cNvSpPr>
          <p:nvPr/>
        </p:nvSpPr>
        <p:spPr>
          <a:xfrm>
            <a:off x="758952" y="2761488"/>
            <a:ext cx="3374136" cy="502920"/>
          </a:xfrm>
          <a:prstGeom prst="rect">
            <a:avLst/>
          </a:prstGeom>
          <a:solidFill>
            <a:srgbClr val="F8FAFC"/>
          </a:solidFill>
          <a:ln w="12700">
            <a:solidFill>
              <a:srgbClr val="F8FAFC"/>
            </a:solidFill>
            <a:prstDash val="solid"/>
          </a:ln>
        </p:spPr>
        <p:txBody>
          <a:bodyPr/>
          <a:lstStyle/>
          <a:p>
            <a:endParaRPr/>
          </a:p>
        </p:txBody>
      </p:sp>
      <p:sp>
        <p:nvSpPr>
          <p:cNvPr id="15" name="Text 13">
            <a:extLst>
              <a:ext uri="{FF2B5EF4-FFF2-40B4-BE49-F238E27FC236}">
                <a16:creationId xmlns:a16="http://schemas.microsoft.com/office/drawing/2014/main" id="{73123381-66EC-4C10-9BC4-28E6AD3CC7FA}"/>
              </a:ext>
            </a:extLst>
          </p:cNvPr>
          <p:cNvSpPr>
            <a:spLocks noGrp="1"/>
          </p:cNvSpPr>
          <p:nvPr/>
        </p:nvSpPr>
        <p:spPr>
          <a:xfrm>
            <a:off x="8412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車両使用費</a:t>
            </a:r>
            <a:endParaRPr sz="1230"/>
          </a:p>
        </p:txBody>
      </p:sp>
      <p:sp>
        <p:nvSpPr>
          <p:cNvPr id="16" name="Text 14">
            <a:extLst>
              <a:ext uri="{FF2B5EF4-FFF2-40B4-BE49-F238E27FC236}">
                <a16:creationId xmlns:a16="http://schemas.microsoft.com/office/drawing/2014/main" id="{B212940D-7A70-438A-8CD0-CE0F40DA7FAA}"/>
              </a:ext>
            </a:extLst>
          </p:cNvPr>
          <p:cNvSpPr>
            <a:spLocks noGrp="1"/>
          </p:cNvSpPr>
          <p:nvPr/>
        </p:nvSpPr>
        <p:spPr>
          <a:xfrm>
            <a:off x="21643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20,000 円/台日</a:t>
            </a:r>
            <a:endParaRPr sz="1230"/>
          </a:p>
        </p:txBody>
      </p:sp>
      <p:sp>
        <p:nvSpPr>
          <p:cNvPr id="17" name="Text 15">
            <a:extLst>
              <a:ext uri="{FF2B5EF4-FFF2-40B4-BE49-F238E27FC236}">
                <a16:creationId xmlns:a16="http://schemas.microsoft.com/office/drawing/2014/main" id="{9797BC7E-EE66-4E25-B03D-9CD3E8E2CE20}"/>
              </a:ext>
            </a:extLst>
          </p:cNvPr>
          <p:cNvSpPr>
            <a:spLocks noGrp="1"/>
          </p:cNvSpPr>
          <p:nvPr/>
        </p:nvSpPr>
        <p:spPr>
          <a:xfrm>
            <a:off x="8412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CO₂価格</a:t>
            </a:r>
            <a:endParaRPr sz="1230"/>
          </a:p>
        </p:txBody>
      </p:sp>
      <p:sp>
        <p:nvSpPr>
          <p:cNvPr id="18" name="Text 16">
            <a:extLst>
              <a:ext uri="{FF2B5EF4-FFF2-40B4-BE49-F238E27FC236}">
                <a16:creationId xmlns:a16="http://schemas.microsoft.com/office/drawing/2014/main" id="{3903C632-35D6-451B-9DA9-EB0746014309}"/>
              </a:ext>
            </a:extLst>
          </p:cNvPr>
          <p:cNvSpPr>
            <a:spLocks noGrp="1"/>
          </p:cNvSpPr>
          <p:nvPr/>
        </p:nvSpPr>
        <p:spPr>
          <a:xfrm>
            <a:off x="21643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 円/kg</a:t>
            </a:r>
            <a:endParaRPr sz="1230"/>
          </a:p>
        </p:txBody>
      </p:sp>
      <p:sp>
        <p:nvSpPr>
          <p:cNvPr id="19" name="Shape 17">
            <a:extLst>
              <a:ext uri="{FF2B5EF4-FFF2-40B4-BE49-F238E27FC236}">
                <a16:creationId xmlns:a16="http://schemas.microsoft.com/office/drawing/2014/main" id="{421626A3-C017-46E3-8A6C-F5770097F896}"/>
              </a:ext>
            </a:extLst>
          </p:cNvPr>
          <p:cNvSpPr>
            <a:spLocks noGrp="1"/>
          </p:cNvSpPr>
          <p:nvPr/>
        </p:nvSpPr>
        <p:spPr>
          <a:xfrm>
            <a:off x="758952" y="3895344"/>
            <a:ext cx="3374136" cy="502920"/>
          </a:xfrm>
          <a:prstGeom prst="rect">
            <a:avLst/>
          </a:prstGeom>
          <a:solidFill>
            <a:srgbClr val="F8FAFC"/>
          </a:solidFill>
          <a:ln w="12700">
            <a:solidFill>
              <a:srgbClr val="F8FAFC"/>
            </a:solidFill>
            <a:prstDash val="solid"/>
          </a:ln>
        </p:spPr>
        <p:txBody>
          <a:bodyPr/>
          <a:lstStyle/>
          <a:p>
            <a:endParaRPr/>
          </a:p>
        </p:txBody>
      </p:sp>
      <p:sp>
        <p:nvSpPr>
          <p:cNvPr id="20" name="Text 18">
            <a:extLst>
              <a:ext uri="{FF2B5EF4-FFF2-40B4-BE49-F238E27FC236}">
                <a16:creationId xmlns:a16="http://schemas.microsoft.com/office/drawing/2014/main" id="{A4479872-C0D4-427A-B55B-0126410E22AD}"/>
              </a:ext>
            </a:extLst>
          </p:cNvPr>
          <p:cNvSpPr>
            <a:spLocks noGrp="1"/>
          </p:cNvSpPr>
          <p:nvPr/>
        </p:nvSpPr>
        <p:spPr>
          <a:xfrm>
            <a:off x="8412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需要料金</a:t>
            </a:r>
            <a:endParaRPr sz="1230"/>
          </a:p>
        </p:txBody>
      </p:sp>
      <p:sp>
        <p:nvSpPr>
          <p:cNvPr id="21" name="Text 19">
            <a:extLst>
              <a:ext uri="{FF2B5EF4-FFF2-40B4-BE49-F238E27FC236}">
                <a16:creationId xmlns:a16="http://schemas.microsoft.com/office/drawing/2014/main" id="{B06BF83C-9FCA-45D9-AF76-5E362A4AA4DE}"/>
              </a:ext>
            </a:extLst>
          </p:cNvPr>
          <p:cNvSpPr>
            <a:spLocks noGrp="1"/>
          </p:cNvSpPr>
          <p:nvPr/>
        </p:nvSpPr>
        <p:spPr>
          <a:xfrm>
            <a:off x="21643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a:t>
            </a:r>
            <a:endParaRPr sz="1230"/>
          </a:p>
        </p:txBody>
      </p:sp>
      <p:sp>
        <p:nvSpPr>
          <p:cNvPr id="22" name="Text 20">
            <a:extLst>
              <a:ext uri="{FF2B5EF4-FFF2-40B4-BE49-F238E27FC236}">
                <a16:creationId xmlns:a16="http://schemas.microsoft.com/office/drawing/2014/main" id="{756AC043-3784-42A5-9C7D-31F038FB598E}"/>
              </a:ext>
            </a:extLst>
          </p:cNvPr>
          <p:cNvSpPr>
            <a:spLocks noGrp="1"/>
          </p:cNvSpPr>
          <p:nvPr/>
        </p:nvSpPr>
        <p:spPr>
          <a:xfrm>
            <a:off x="8412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売電単価</a:t>
            </a:r>
            <a:endParaRPr sz="1230"/>
          </a:p>
        </p:txBody>
      </p:sp>
      <p:sp>
        <p:nvSpPr>
          <p:cNvPr id="23" name="Text 21">
            <a:extLst>
              <a:ext uri="{FF2B5EF4-FFF2-40B4-BE49-F238E27FC236}">
                <a16:creationId xmlns:a16="http://schemas.microsoft.com/office/drawing/2014/main" id="{4540841A-80BB-46F0-A7B3-9E49C305D2D4}"/>
              </a:ext>
            </a:extLst>
          </p:cNvPr>
          <p:cNvSpPr>
            <a:spLocks noGrp="1"/>
          </p:cNvSpPr>
          <p:nvPr/>
        </p:nvSpPr>
        <p:spPr>
          <a:xfrm>
            <a:off x="21643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円/kWh</a:t>
            </a:r>
            <a:endParaRPr sz="1230"/>
          </a:p>
        </p:txBody>
      </p:sp>
      <p:sp>
        <p:nvSpPr>
          <p:cNvPr id="24" name="Shape 22">
            <a:extLst>
              <a:ext uri="{FF2B5EF4-FFF2-40B4-BE49-F238E27FC236}">
                <a16:creationId xmlns:a16="http://schemas.microsoft.com/office/drawing/2014/main" id="{31CA7CE1-6770-4404-90FB-813797A79004}"/>
              </a:ext>
            </a:extLst>
          </p:cNvPr>
          <p:cNvSpPr>
            <a:spLocks noGrp="1"/>
          </p:cNvSpPr>
          <p:nvPr/>
        </p:nvSpPr>
        <p:spPr>
          <a:xfrm>
            <a:off x="758952" y="5029200"/>
            <a:ext cx="3374136" cy="502920"/>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8B95ECCF-7385-479A-9ECE-7DE9C40C607D}"/>
              </a:ext>
            </a:extLst>
          </p:cNvPr>
          <p:cNvSpPr>
            <a:spLocks noGrp="1"/>
          </p:cNvSpPr>
          <p:nvPr/>
        </p:nvSpPr>
        <p:spPr>
          <a:xfrm>
            <a:off x="8412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含まない費用</a:t>
            </a:r>
            <a:endParaRPr sz="1230"/>
          </a:p>
        </p:txBody>
      </p:sp>
      <p:sp>
        <p:nvSpPr>
          <p:cNvPr id="26" name="Text 24">
            <a:extLst>
              <a:ext uri="{FF2B5EF4-FFF2-40B4-BE49-F238E27FC236}">
                <a16:creationId xmlns:a16="http://schemas.microsoft.com/office/drawing/2014/main" id="{358BC8F8-57FD-4B09-8251-7F343D949463}"/>
              </a:ext>
            </a:extLst>
          </p:cNvPr>
          <p:cNvSpPr>
            <a:spLocks noGrp="1"/>
          </p:cNvSpPr>
          <p:nvPr/>
        </p:nvSpPr>
        <p:spPr>
          <a:xfrm>
            <a:off x="2164385" y="5065776"/>
            <a:ext cx="1865833" cy="338328"/>
          </a:xfrm>
          <a:prstGeom prst="rect">
            <a:avLst/>
          </a:prstGeom>
          <a:noFill/>
        </p:spPr>
        <p:txBody>
          <a:bodyPr wrap="square" lIns="0" tIns="0" rIns="0" bIns="0" anchor="ctr">
            <a:normAutofit lnSpcReduction="10000"/>
          </a:bodyPr>
          <a:lstStyle/>
          <a:p>
            <a:pPr marL="0" indent="0" algn="r">
              <a:buNone/>
            </a:pPr>
            <a:r>
              <a:rPr sz="1230">
                <a:solidFill>
                  <a:srgbClr val="687386"/>
                </a:solidFill>
                <a:latin typeface="Noto Sans CJK JP"/>
                <a:ea typeface="Noto Sans CJK JP"/>
                <a:cs typeface="Noto Sans CJK JP"/>
              </a:rPr>
              <a:t>設備費・劣化費・運転士費</a:t>
            </a:r>
            <a:endParaRPr sz="1230"/>
          </a:p>
        </p:txBody>
      </p:sp>
      <p:sp>
        <p:nvSpPr>
          <p:cNvPr id="27" name="Shape 25">
            <a:extLst>
              <a:ext uri="{FF2B5EF4-FFF2-40B4-BE49-F238E27FC236}">
                <a16:creationId xmlns:a16="http://schemas.microsoft.com/office/drawing/2014/main" id="{2FB4BE6A-C2D6-4FD0-8ED4-632BCBBDFED1}"/>
              </a:ext>
            </a:extLst>
          </p:cNvPr>
          <p:cNvSpPr>
            <a:spLocks noGrp="1"/>
          </p:cNvSpPr>
          <p:nvPr/>
        </p:nvSpPr>
        <p:spPr>
          <a:xfrm>
            <a:off x="43434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8" name="Shape 26">
            <a:extLst>
              <a:ext uri="{FF2B5EF4-FFF2-40B4-BE49-F238E27FC236}">
                <a16:creationId xmlns:a16="http://schemas.microsoft.com/office/drawing/2014/main" id="{575E5619-E8C6-4C78-AAF2-D6B045EABE79}"/>
              </a:ext>
            </a:extLst>
          </p:cNvPr>
          <p:cNvSpPr>
            <a:spLocks noGrp="1"/>
          </p:cNvSpPr>
          <p:nvPr/>
        </p:nvSpPr>
        <p:spPr>
          <a:xfrm>
            <a:off x="4343400" y="1097280"/>
            <a:ext cx="3520440" cy="438912"/>
          </a:xfrm>
          <a:prstGeom prst="rect">
            <a:avLst/>
          </a:prstGeom>
          <a:solidFill>
            <a:srgbClr val="356BB3"/>
          </a:solidFill>
          <a:ln w="12700">
            <a:solidFill>
              <a:srgbClr val="356BB3"/>
            </a:solidFill>
            <a:prstDash val="solid"/>
          </a:ln>
        </p:spPr>
        <p:txBody>
          <a:bodyPr/>
          <a:lstStyle/>
          <a:p>
            <a:endParaRPr/>
          </a:p>
        </p:txBody>
      </p:sp>
      <p:sp>
        <p:nvSpPr>
          <p:cNvPr id="29" name="Text 27">
            <a:extLst>
              <a:ext uri="{FF2B5EF4-FFF2-40B4-BE49-F238E27FC236}">
                <a16:creationId xmlns:a16="http://schemas.microsoft.com/office/drawing/2014/main" id="{4F5B923D-537D-4331-89D0-A503C36BEA3C}"/>
              </a:ext>
            </a:extLst>
          </p:cNvPr>
          <p:cNvSpPr>
            <a:spLocks noGrp="1"/>
          </p:cNvSpPr>
          <p:nvPr/>
        </p:nvSpPr>
        <p:spPr>
          <a:xfrm>
            <a:off x="44531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計算の設定</a:t>
            </a:r>
            <a:endParaRPr sz="1650"/>
          </a:p>
        </p:txBody>
      </p:sp>
      <p:sp>
        <p:nvSpPr>
          <p:cNvPr id="30" name="Shape 28">
            <a:extLst>
              <a:ext uri="{FF2B5EF4-FFF2-40B4-BE49-F238E27FC236}">
                <a16:creationId xmlns:a16="http://schemas.microsoft.com/office/drawing/2014/main" id="{A87C6D16-32E6-4B09-B39C-F760C883E4DF}"/>
              </a:ext>
            </a:extLst>
          </p:cNvPr>
          <p:cNvSpPr>
            <a:spLocks noGrp="1"/>
          </p:cNvSpPr>
          <p:nvPr/>
        </p:nvSpPr>
        <p:spPr>
          <a:xfrm>
            <a:off x="4416552" y="1627632"/>
            <a:ext cx="3374136" cy="502920"/>
          </a:xfrm>
          <a:prstGeom prst="rect">
            <a:avLst/>
          </a:prstGeom>
          <a:solidFill>
            <a:srgbClr val="F8FAFC"/>
          </a:solidFill>
          <a:ln w="12700">
            <a:solidFill>
              <a:srgbClr val="F8FAFC"/>
            </a:solidFill>
            <a:prstDash val="solid"/>
          </a:ln>
        </p:spPr>
        <p:txBody>
          <a:bodyPr/>
          <a:lstStyle/>
          <a:p>
            <a:endParaRPr/>
          </a:p>
        </p:txBody>
      </p:sp>
      <p:sp>
        <p:nvSpPr>
          <p:cNvPr id="31" name="Text 29">
            <a:extLst>
              <a:ext uri="{FF2B5EF4-FFF2-40B4-BE49-F238E27FC236}">
                <a16:creationId xmlns:a16="http://schemas.microsoft.com/office/drawing/2014/main" id="{EBEB9F09-88A1-487C-BF61-184299A139AA}"/>
              </a:ext>
            </a:extLst>
          </p:cNvPr>
          <p:cNvSpPr>
            <a:spLocks noGrp="1"/>
          </p:cNvSpPr>
          <p:nvPr/>
        </p:nvSpPr>
        <p:spPr>
          <a:xfrm>
            <a:off x="44988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計算方式</a:t>
            </a:r>
            <a:endParaRPr sz="1230"/>
          </a:p>
        </p:txBody>
      </p:sp>
      <p:sp>
        <p:nvSpPr>
          <p:cNvPr id="32" name="Text 30">
            <a:extLst>
              <a:ext uri="{FF2B5EF4-FFF2-40B4-BE49-F238E27FC236}">
                <a16:creationId xmlns:a16="http://schemas.microsoft.com/office/drawing/2014/main" id="{E1D212F2-B5B7-49B8-BDBC-10EA7B2DE0E6}"/>
              </a:ext>
            </a:extLst>
          </p:cNvPr>
          <p:cNvSpPr>
            <a:spLocks noGrp="1"/>
          </p:cNvSpPr>
          <p:nvPr/>
        </p:nvSpPr>
        <p:spPr>
          <a:xfrm>
            <a:off x="58219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二段階方式</a:t>
            </a:r>
            <a:endParaRPr sz="1230"/>
          </a:p>
        </p:txBody>
      </p:sp>
      <p:sp>
        <p:nvSpPr>
          <p:cNvPr id="33" name="Text 31">
            <a:extLst>
              <a:ext uri="{FF2B5EF4-FFF2-40B4-BE49-F238E27FC236}">
                <a16:creationId xmlns:a16="http://schemas.microsoft.com/office/drawing/2014/main" id="{595091FF-DE2D-49B5-B2AC-3ACD8BAA0AE6}"/>
              </a:ext>
            </a:extLst>
          </p:cNvPr>
          <p:cNvSpPr>
            <a:spLocks noGrp="1"/>
          </p:cNvSpPr>
          <p:nvPr/>
        </p:nvSpPr>
        <p:spPr>
          <a:xfrm>
            <a:off x="44988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全体上限</a:t>
            </a:r>
            <a:endParaRPr sz="1230"/>
          </a:p>
        </p:txBody>
      </p:sp>
      <p:sp>
        <p:nvSpPr>
          <p:cNvPr id="34" name="Text 32">
            <a:extLst>
              <a:ext uri="{FF2B5EF4-FFF2-40B4-BE49-F238E27FC236}">
                <a16:creationId xmlns:a16="http://schemas.microsoft.com/office/drawing/2014/main" id="{E0CE6D66-6BA2-432C-BD96-1670788C8A06}"/>
              </a:ext>
            </a:extLst>
          </p:cNvPr>
          <p:cNvSpPr>
            <a:spLocks noGrp="1"/>
          </p:cNvSpPr>
          <p:nvPr/>
        </p:nvSpPr>
        <p:spPr>
          <a:xfrm>
            <a:off x="58219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585秒</a:t>
            </a:r>
            <a:endParaRPr sz="1230"/>
          </a:p>
        </p:txBody>
      </p:sp>
      <p:sp>
        <p:nvSpPr>
          <p:cNvPr id="35" name="Shape 33">
            <a:extLst>
              <a:ext uri="{FF2B5EF4-FFF2-40B4-BE49-F238E27FC236}">
                <a16:creationId xmlns:a16="http://schemas.microsoft.com/office/drawing/2014/main" id="{800E2987-D1F5-4F60-A880-4D8AE922E511}"/>
              </a:ext>
            </a:extLst>
          </p:cNvPr>
          <p:cNvSpPr>
            <a:spLocks noGrp="1"/>
          </p:cNvSpPr>
          <p:nvPr/>
        </p:nvSpPr>
        <p:spPr>
          <a:xfrm>
            <a:off x="4416552" y="2761488"/>
            <a:ext cx="3374136" cy="502920"/>
          </a:xfrm>
          <a:prstGeom prst="rect">
            <a:avLst/>
          </a:prstGeom>
          <a:solidFill>
            <a:srgbClr val="F8FAFC"/>
          </a:solidFill>
          <a:ln w="12700">
            <a:solidFill>
              <a:srgbClr val="F8FAFC"/>
            </a:solidFill>
            <a:prstDash val="solid"/>
          </a:ln>
        </p:spPr>
        <p:txBody>
          <a:bodyPr/>
          <a:lstStyle/>
          <a:p>
            <a:endParaRPr/>
          </a:p>
        </p:txBody>
      </p:sp>
      <p:sp>
        <p:nvSpPr>
          <p:cNvPr id="36" name="Text 34">
            <a:extLst>
              <a:ext uri="{FF2B5EF4-FFF2-40B4-BE49-F238E27FC236}">
                <a16:creationId xmlns:a16="http://schemas.microsoft.com/office/drawing/2014/main" id="{3508A801-337F-4E32-9E2B-8A1EAF44CCC2}"/>
              </a:ext>
            </a:extLst>
          </p:cNvPr>
          <p:cNvSpPr>
            <a:spLocks noGrp="1"/>
          </p:cNvSpPr>
          <p:nvPr/>
        </p:nvSpPr>
        <p:spPr>
          <a:xfrm>
            <a:off x="44988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配車側上限</a:t>
            </a:r>
            <a:endParaRPr sz="1230"/>
          </a:p>
        </p:txBody>
      </p:sp>
      <p:sp>
        <p:nvSpPr>
          <p:cNvPr id="37" name="Text 35">
            <a:extLst>
              <a:ext uri="{FF2B5EF4-FFF2-40B4-BE49-F238E27FC236}">
                <a16:creationId xmlns:a16="http://schemas.microsoft.com/office/drawing/2014/main" id="{D96A02C1-5289-4FF2-964F-4C45FB27ED1F}"/>
              </a:ext>
            </a:extLst>
          </p:cNvPr>
          <p:cNvSpPr>
            <a:spLocks noGrp="1"/>
          </p:cNvSpPr>
          <p:nvPr/>
        </p:nvSpPr>
        <p:spPr>
          <a:xfrm>
            <a:off x="58219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435秒</a:t>
            </a:r>
            <a:endParaRPr sz="1230"/>
          </a:p>
        </p:txBody>
      </p:sp>
      <p:sp>
        <p:nvSpPr>
          <p:cNvPr id="38" name="Text 36">
            <a:extLst>
              <a:ext uri="{FF2B5EF4-FFF2-40B4-BE49-F238E27FC236}">
                <a16:creationId xmlns:a16="http://schemas.microsoft.com/office/drawing/2014/main" id="{C6CB0A2C-B86A-4BDA-B17F-FA731C81A009}"/>
              </a:ext>
            </a:extLst>
          </p:cNvPr>
          <p:cNvSpPr>
            <a:spLocks noGrp="1"/>
          </p:cNvSpPr>
          <p:nvPr/>
        </p:nvSpPr>
        <p:spPr>
          <a:xfrm>
            <a:off x="44988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充電側上限</a:t>
            </a:r>
            <a:endParaRPr sz="1230"/>
          </a:p>
        </p:txBody>
      </p:sp>
      <p:sp>
        <p:nvSpPr>
          <p:cNvPr id="39" name="Text 37">
            <a:extLst>
              <a:ext uri="{FF2B5EF4-FFF2-40B4-BE49-F238E27FC236}">
                <a16:creationId xmlns:a16="http://schemas.microsoft.com/office/drawing/2014/main" id="{39487F8F-EC0A-4C26-8369-723989D65645}"/>
              </a:ext>
            </a:extLst>
          </p:cNvPr>
          <p:cNvSpPr>
            <a:spLocks noGrp="1"/>
          </p:cNvSpPr>
          <p:nvPr/>
        </p:nvSpPr>
        <p:spPr>
          <a:xfrm>
            <a:off x="58219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30秒／候補</a:t>
            </a:r>
            <a:endParaRPr sz="1230"/>
          </a:p>
        </p:txBody>
      </p:sp>
      <p:sp>
        <p:nvSpPr>
          <p:cNvPr id="40" name="Shape 38">
            <a:extLst>
              <a:ext uri="{FF2B5EF4-FFF2-40B4-BE49-F238E27FC236}">
                <a16:creationId xmlns:a16="http://schemas.microsoft.com/office/drawing/2014/main" id="{0FD3B2ED-DBFD-4B0B-9B78-3D0E9E714394}"/>
              </a:ext>
            </a:extLst>
          </p:cNvPr>
          <p:cNvSpPr>
            <a:spLocks noGrp="1"/>
          </p:cNvSpPr>
          <p:nvPr/>
        </p:nvSpPr>
        <p:spPr>
          <a:xfrm>
            <a:off x="4416552" y="3895344"/>
            <a:ext cx="3374136" cy="502920"/>
          </a:xfrm>
          <a:prstGeom prst="rect">
            <a:avLst/>
          </a:prstGeom>
          <a:solidFill>
            <a:srgbClr val="F8FAFC"/>
          </a:solidFill>
          <a:ln w="12700">
            <a:solidFill>
              <a:srgbClr val="F8FAFC"/>
            </a:solidFill>
            <a:prstDash val="solid"/>
          </a:ln>
        </p:spPr>
        <p:txBody>
          <a:bodyPr/>
          <a:lstStyle/>
          <a:p>
            <a:endParaRPr/>
          </a:p>
        </p:txBody>
      </p:sp>
      <p:sp>
        <p:nvSpPr>
          <p:cNvPr id="41" name="Text 39">
            <a:extLst>
              <a:ext uri="{FF2B5EF4-FFF2-40B4-BE49-F238E27FC236}">
                <a16:creationId xmlns:a16="http://schemas.microsoft.com/office/drawing/2014/main" id="{80A08E88-83E0-4389-A287-9504FB04B5AF}"/>
              </a:ext>
            </a:extLst>
          </p:cNvPr>
          <p:cNvSpPr>
            <a:spLocks noGrp="1"/>
          </p:cNvSpPr>
          <p:nvPr/>
        </p:nvSpPr>
        <p:spPr>
          <a:xfrm>
            <a:off x="44988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乱数seed</a:t>
            </a:r>
            <a:endParaRPr sz="1230"/>
          </a:p>
        </p:txBody>
      </p:sp>
      <p:sp>
        <p:nvSpPr>
          <p:cNvPr id="42" name="Text 40">
            <a:extLst>
              <a:ext uri="{FF2B5EF4-FFF2-40B4-BE49-F238E27FC236}">
                <a16:creationId xmlns:a16="http://schemas.microsoft.com/office/drawing/2014/main" id="{7E98C2A6-03FF-47A2-9EE8-EDC4A2FDDB89}"/>
              </a:ext>
            </a:extLst>
          </p:cNvPr>
          <p:cNvSpPr>
            <a:spLocks noGrp="1"/>
          </p:cNvSpPr>
          <p:nvPr/>
        </p:nvSpPr>
        <p:spPr>
          <a:xfrm>
            <a:off x="58219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42</a:t>
            </a:r>
            <a:endParaRPr sz="1230"/>
          </a:p>
        </p:txBody>
      </p:sp>
      <p:sp>
        <p:nvSpPr>
          <p:cNvPr id="43" name="Text 41">
            <a:extLst>
              <a:ext uri="{FF2B5EF4-FFF2-40B4-BE49-F238E27FC236}">
                <a16:creationId xmlns:a16="http://schemas.microsoft.com/office/drawing/2014/main" id="{2F2A8A8E-7927-4955-B39D-CEDA407E11ED}"/>
              </a:ext>
            </a:extLst>
          </p:cNvPr>
          <p:cNvSpPr>
            <a:spLocks noGrp="1"/>
          </p:cNvSpPr>
          <p:nvPr/>
        </p:nvSpPr>
        <p:spPr>
          <a:xfrm>
            <a:off x="44988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CPU thread</a:t>
            </a:r>
            <a:endParaRPr sz="1230"/>
          </a:p>
        </p:txBody>
      </p:sp>
      <p:sp>
        <p:nvSpPr>
          <p:cNvPr id="44" name="Text 42">
            <a:extLst>
              <a:ext uri="{FF2B5EF4-FFF2-40B4-BE49-F238E27FC236}">
                <a16:creationId xmlns:a16="http://schemas.microsoft.com/office/drawing/2014/main" id="{D21BD47E-E6A6-4197-9AE5-96FAAAFE9323}"/>
              </a:ext>
            </a:extLst>
          </p:cNvPr>
          <p:cNvSpPr>
            <a:spLocks noGrp="1"/>
          </p:cNvSpPr>
          <p:nvPr/>
        </p:nvSpPr>
        <p:spPr>
          <a:xfrm>
            <a:off x="58219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a:t>
            </a:r>
            <a:endParaRPr sz="1230"/>
          </a:p>
        </p:txBody>
      </p:sp>
      <p:sp>
        <p:nvSpPr>
          <p:cNvPr id="45" name="Shape 43">
            <a:extLst>
              <a:ext uri="{FF2B5EF4-FFF2-40B4-BE49-F238E27FC236}">
                <a16:creationId xmlns:a16="http://schemas.microsoft.com/office/drawing/2014/main" id="{C7B2E4DE-0160-4CE5-AA85-2C2FC3B39A11}"/>
              </a:ext>
            </a:extLst>
          </p:cNvPr>
          <p:cNvSpPr>
            <a:spLocks noGrp="1"/>
          </p:cNvSpPr>
          <p:nvPr/>
        </p:nvSpPr>
        <p:spPr>
          <a:xfrm>
            <a:off x="4416552" y="5029200"/>
            <a:ext cx="3374136" cy="502920"/>
          </a:xfrm>
          <a:prstGeom prst="rect">
            <a:avLst/>
          </a:prstGeom>
          <a:solidFill>
            <a:srgbClr val="F8FAFC"/>
          </a:solidFill>
          <a:ln w="12700">
            <a:solidFill>
              <a:srgbClr val="F8FAFC"/>
            </a:solidFill>
            <a:prstDash val="solid"/>
          </a:ln>
        </p:spPr>
        <p:txBody>
          <a:bodyPr/>
          <a:lstStyle/>
          <a:p>
            <a:endParaRPr/>
          </a:p>
        </p:txBody>
      </p:sp>
      <p:sp>
        <p:nvSpPr>
          <p:cNvPr id="46" name="Text 44">
            <a:extLst>
              <a:ext uri="{FF2B5EF4-FFF2-40B4-BE49-F238E27FC236}">
                <a16:creationId xmlns:a16="http://schemas.microsoft.com/office/drawing/2014/main" id="{72BD7AC5-314F-41F0-B271-01F9F4D8BF1A}"/>
              </a:ext>
            </a:extLst>
          </p:cNvPr>
          <p:cNvSpPr>
            <a:spLocks noGrp="1"/>
          </p:cNvSpPr>
          <p:nvPr/>
        </p:nvSpPr>
        <p:spPr>
          <a:xfrm>
            <a:off x="44988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目標gap</a:t>
            </a:r>
            <a:endParaRPr sz="1230"/>
          </a:p>
        </p:txBody>
      </p:sp>
      <p:sp>
        <p:nvSpPr>
          <p:cNvPr id="47" name="Text 45">
            <a:extLst>
              <a:ext uri="{FF2B5EF4-FFF2-40B4-BE49-F238E27FC236}">
                <a16:creationId xmlns:a16="http://schemas.microsoft.com/office/drawing/2014/main" id="{EF118C5E-A08A-47BF-AA63-59ED8E34DFC8}"/>
              </a:ext>
            </a:extLst>
          </p:cNvPr>
          <p:cNvSpPr>
            <a:spLocks noGrp="1"/>
          </p:cNvSpPr>
          <p:nvPr/>
        </p:nvSpPr>
        <p:spPr>
          <a:xfrm>
            <a:off x="58219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a:t>
            </a:r>
            <a:endParaRPr sz="1230"/>
          </a:p>
        </p:txBody>
      </p:sp>
      <p:sp>
        <p:nvSpPr>
          <p:cNvPr id="48" name="Shape 46">
            <a:extLst>
              <a:ext uri="{FF2B5EF4-FFF2-40B4-BE49-F238E27FC236}">
                <a16:creationId xmlns:a16="http://schemas.microsoft.com/office/drawing/2014/main" id="{AAE485A2-D914-4F9D-ACB6-21470F1EBFFC}"/>
              </a:ext>
            </a:extLst>
          </p:cNvPr>
          <p:cNvSpPr>
            <a:spLocks noGrp="1"/>
          </p:cNvSpPr>
          <p:nvPr/>
        </p:nvSpPr>
        <p:spPr>
          <a:xfrm>
            <a:off x="80010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49" name="Shape 47">
            <a:extLst>
              <a:ext uri="{FF2B5EF4-FFF2-40B4-BE49-F238E27FC236}">
                <a16:creationId xmlns:a16="http://schemas.microsoft.com/office/drawing/2014/main" id="{023ED6AC-0E9F-4B23-8241-379350DD4C33}"/>
              </a:ext>
            </a:extLst>
          </p:cNvPr>
          <p:cNvSpPr>
            <a:spLocks noGrp="1"/>
          </p:cNvSpPr>
          <p:nvPr/>
        </p:nvSpPr>
        <p:spPr>
          <a:xfrm>
            <a:off x="8001000" y="1097280"/>
            <a:ext cx="3520440" cy="438912"/>
          </a:xfrm>
          <a:prstGeom prst="rect">
            <a:avLst/>
          </a:prstGeom>
          <a:solidFill>
            <a:srgbClr val="1F9D8A"/>
          </a:solidFill>
          <a:ln w="12700">
            <a:solidFill>
              <a:srgbClr val="1F9D8A"/>
            </a:solidFill>
            <a:prstDash val="solid"/>
          </a:ln>
        </p:spPr>
        <p:txBody>
          <a:bodyPr/>
          <a:lstStyle/>
          <a:p>
            <a:endParaRPr/>
          </a:p>
        </p:txBody>
      </p:sp>
      <p:sp>
        <p:nvSpPr>
          <p:cNvPr id="50" name="Text 48">
            <a:extLst>
              <a:ext uri="{FF2B5EF4-FFF2-40B4-BE49-F238E27FC236}">
                <a16:creationId xmlns:a16="http://schemas.microsoft.com/office/drawing/2014/main" id="{06BE499C-CF94-480F-A3E8-BB05D74963F8}"/>
              </a:ext>
            </a:extLst>
          </p:cNvPr>
          <p:cNvSpPr>
            <a:spLocks noGrp="1"/>
          </p:cNvSpPr>
          <p:nvPr/>
        </p:nvSpPr>
        <p:spPr>
          <a:xfrm>
            <a:off x="81107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候補比較の設定</a:t>
            </a:r>
            <a:endParaRPr sz="1650"/>
          </a:p>
        </p:txBody>
      </p:sp>
      <p:sp>
        <p:nvSpPr>
          <p:cNvPr id="51" name="Shape 49">
            <a:extLst>
              <a:ext uri="{FF2B5EF4-FFF2-40B4-BE49-F238E27FC236}">
                <a16:creationId xmlns:a16="http://schemas.microsoft.com/office/drawing/2014/main" id="{F6EF3D38-A057-40C5-AFB6-A4BB977B1302}"/>
              </a:ext>
            </a:extLst>
          </p:cNvPr>
          <p:cNvSpPr>
            <a:spLocks noGrp="1"/>
          </p:cNvSpPr>
          <p:nvPr/>
        </p:nvSpPr>
        <p:spPr>
          <a:xfrm>
            <a:off x="8074152" y="1627632"/>
            <a:ext cx="3374136" cy="502920"/>
          </a:xfrm>
          <a:prstGeom prst="rect">
            <a:avLst/>
          </a:prstGeom>
          <a:solidFill>
            <a:srgbClr val="F8FAFC"/>
          </a:solidFill>
          <a:ln w="12700">
            <a:solidFill>
              <a:srgbClr val="F8FAFC"/>
            </a:solidFill>
            <a:prstDash val="solid"/>
          </a:ln>
        </p:spPr>
        <p:txBody>
          <a:bodyPr/>
          <a:lstStyle/>
          <a:p>
            <a:endParaRPr/>
          </a:p>
        </p:txBody>
      </p:sp>
      <p:sp>
        <p:nvSpPr>
          <p:cNvPr id="52" name="Text 50">
            <a:extLst>
              <a:ext uri="{FF2B5EF4-FFF2-40B4-BE49-F238E27FC236}">
                <a16:creationId xmlns:a16="http://schemas.microsoft.com/office/drawing/2014/main" id="{F5FB37FD-B886-4EEB-BC09-6C2DF2E6EC60}"/>
              </a:ext>
            </a:extLst>
          </p:cNvPr>
          <p:cNvSpPr>
            <a:spLocks noGrp="1"/>
          </p:cNvSpPr>
          <p:nvPr/>
        </p:nvSpPr>
        <p:spPr>
          <a:xfrm>
            <a:off x="81564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評価候補数</a:t>
            </a:r>
            <a:endParaRPr sz="1230"/>
          </a:p>
        </p:txBody>
      </p:sp>
      <p:sp>
        <p:nvSpPr>
          <p:cNvPr id="53" name="Text 51">
            <a:extLst>
              <a:ext uri="{FF2B5EF4-FFF2-40B4-BE49-F238E27FC236}">
                <a16:creationId xmlns:a16="http://schemas.microsoft.com/office/drawing/2014/main" id="{6BCA7291-30B2-4080-8790-27BE7B447E21}"/>
              </a:ext>
            </a:extLst>
          </p:cNvPr>
          <p:cNvSpPr>
            <a:spLocks noGrp="1"/>
          </p:cNvSpPr>
          <p:nvPr/>
        </p:nvSpPr>
        <p:spPr>
          <a:xfrm>
            <a:off x="94795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22案</a:t>
            </a:r>
            <a:endParaRPr sz="1230"/>
          </a:p>
        </p:txBody>
      </p:sp>
      <p:sp>
        <p:nvSpPr>
          <p:cNvPr id="54" name="Text 52">
            <a:extLst>
              <a:ext uri="{FF2B5EF4-FFF2-40B4-BE49-F238E27FC236}">
                <a16:creationId xmlns:a16="http://schemas.microsoft.com/office/drawing/2014/main" id="{6C1A1828-8920-4504-9E7B-73DBDC5C58CA}"/>
              </a:ext>
            </a:extLst>
          </p:cNvPr>
          <p:cNvSpPr>
            <a:spLocks noGrp="1"/>
          </p:cNvSpPr>
          <p:nvPr/>
        </p:nvSpPr>
        <p:spPr>
          <a:xfrm>
            <a:off x="81564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構成探索幅</a:t>
            </a:r>
            <a:endParaRPr sz="1230"/>
          </a:p>
        </p:txBody>
      </p:sp>
      <p:sp>
        <p:nvSpPr>
          <p:cNvPr id="55" name="Text 53">
            <a:extLst>
              <a:ext uri="{FF2B5EF4-FFF2-40B4-BE49-F238E27FC236}">
                <a16:creationId xmlns:a16="http://schemas.microsoft.com/office/drawing/2014/main" id="{C6678595-F97A-4216-8AE3-CBC85693C901}"/>
              </a:ext>
            </a:extLst>
          </p:cNvPr>
          <p:cNvSpPr>
            <a:spLocks noGrp="1"/>
          </p:cNvSpPr>
          <p:nvPr/>
        </p:nvSpPr>
        <p:spPr>
          <a:xfrm>
            <a:off x="94795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±4台相当</a:t>
            </a:r>
            <a:endParaRPr sz="1230"/>
          </a:p>
        </p:txBody>
      </p:sp>
      <p:sp>
        <p:nvSpPr>
          <p:cNvPr id="56" name="Shape 54">
            <a:extLst>
              <a:ext uri="{FF2B5EF4-FFF2-40B4-BE49-F238E27FC236}">
                <a16:creationId xmlns:a16="http://schemas.microsoft.com/office/drawing/2014/main" id="{4457F84C-8F67-4F25-987D-236037AB566B}"/>
              </a:ext>
            </a:extLst>
          </p:cNvPr>
          <p:cNvSpPr>
            <a:spLocks noGrp="1"/>
          </p:cNvSpPr>
          <p:nvPr/>
        </p:nvSpPr>
        <p:spPr>
          <a:xfrm>
            <a:off x="8074152" y="2761488"/>
            <a:ext cx="3374136" cy="502920"/>
          </a:xfrm>
          <a:prstGeom prst="rect">
            <a:avLst/>
          </a:prstGeom>
          <a:solidFill>
            <a:srgbClr val="F8FAFC"/>
          </a:solidFill>
          <a:ln w="12700">
            <a:solidFill>
              <a:srgbClr val="F8FAFC"/>
            </a:solidFill>
            <a:prstDash val="solid"/>
          </a:ln>
        </p:spPr>
        <p:txBody>
          <a:bodyPr/>
          <a:lstStyle/>
          <a:p>
            <a:endParaRPr/>
          </a:p>
        </p:txBody>
      </p:sp>
      <p:sp>
        <p:nvSpPr>
          <p:cNvPr id="57" name="Text 55">
            <a:extLst>
              <a:ext uri="{FF2B5EF4-FFF2-40B4-BE49-F238E27FC236}">
                <a16:creationId xmlns:a16="http://schemas.microsoft.com/office/drawing/2014/main" id="{10419867-8D44-42F6-A4CA-59550A7C6888}"/>
              </a:ext>
            </a:extLst>
          </p:cNvPr>
          <p:cNvSpPr>
            <a:spLocks noGrp="1"/>
          </p:cNvSpPr>
          <p:nvPr/>
        </p:nvSpPr>
        <p:spPr>
          <a:xfrm>
            <a:off x="81564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BEV候補範囲</a:t>
            </a:r>
            <a:endParaRPr sz="1230"/>
          </a:p>
        </p:txBody>
      </p:sp>
      <p:sp>
        <p:nvSpPr>
          <p:cNvPr id="58" name="Text 56">
            <a:extLst>
              <a:ext uri="{FF2B5EF4-FFF2-40B4-BE49-F238E27FC236}">
                <a16:creationId xmlns:a16="http://schemas.microsoft.com/office/drawing/2014/main" id="{BABF9501-37C4-401A-9926-1E628F7E825C}"/>
              </a:ext>
            </a:extLst>
          </p:cNvPr>
          <p:cNvSpPr>
            <a:spLocks noGrp="1"/>
          </p:cNvSpPr>
          <p:nvPr/>
        </p:nvSpPr>
        <p:spPr>
          <a:xfrm>
            <a:off x="94795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15～35台</a:t>
            </a:r>
            <a:endParaRPr sz="1230"/>
          </a:p>
        </p:txBody>
      </p:sp>
      <p:sp>
        <p:nvSpPr>
          <p:cNvPr id="59" name="Text 57">
            <a:extLst>
              <a:ext uri="{FF2B5EF4-FFF2-40B4-BE49-F238E27FC236}">
                <a16:creationId xmlns:a16="http://schemas.microsoft.com/office/drawing/2014/main" id="{5F4F837E-C3EE-4E92-BAD1-B3BCF83BF625}"/>
              </a:ext>
            </a:extLst>
          </p:cNvPr>
          <p:cNvSpPr>
            <a:spLocks noGrp="1"/>
          </p:cNvSpPr>
          <p:nvPr/>
        </p:nvSpPr>
        <p:spPr>
          <a:xfrm>
            <a:off x="81564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候補探索時間</a:t>
            </a:r>
            <a:endParaRPr sz="1230"/>
          </a:p>
        </p:txBody>
      </p:sp>
      <p:sp>
        <p:nvSpPr>
          <p:cNvPr id="60" name="Text 58">
            <a:extLst>
              <a:ext uri="{FF2B5EF4-FFF2-40B4-BE49-F238E27FC236}">
                <a16:creationId xmlns:a16="http://schemas.microsoft.com/office/drawing/2014/main" id="{EFC6CE69-FF63-460A-8290-70B82FCE2773}"/>
              </a:ext>
            </a:extLst>
          </p:cNvPr>
          <p:cNvSpPr>
            <a:spLocks noGrp="1"/>
          </p:cNvSpPr>
          <p:nvPr/>
        </p:nvSpPr>
        <p:spPr>
          <a:xfrm>
            <a:off x="94795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120秒</a:t>
            </a:r>
            <a:endParaRPr sz="1230"/>
          </a:p>
        </p:txBody>
      </p:sp>
      <p:sp>
        <p:nvSpPr>
          <p:cNvPr id="61" name="Shape 59">
            <a:extLst>
              <a:ext uri="{FF2B5EF4-FFF2-40B4-BE49-F238E27FC236}">
                <a16:creationId xmlns:a16="http://schemas.microsoft.com/office/drawing/2014/main" id="{94F233CA-B6B1-404C-B23E-4A8291198D4D}"/>
              </a:ext>
            </a:extLst>
          </p:cNvPr>
          <p:cNvSpPr>
            <a:spLocks noGrp="1"/>
          </p:cNvSpPr>
          <p:nvPr/>
        </p:nvSpPr>
        <p:spPr>
          <a:xfrm>
            <a:off x="8074152" y="3895344"/>
            <a:ext cx="3374136" cy="502920"/>
          </a:xfrm>
          <a:prstGeom prst="rect">
            <a:avLst/>
          </a:prstGeom>
          <a:solidFill>
            <a:srgbClr val="F8FAFC"/>
          </a:solidFill>
          <a:ln w="12700">
            <a:solidFill>
              <a:srgbClr val="F8FAFC"/>
            </a:solidFill>
            <a:prstDash val="solid"/>
          </a:ln>
        </p:spPr>
        <p:txBody>
          <a:bodyPr/>
          <a:lstStyle/>
          <a:p>
            <a:endParaRPr/>
          </a:p>
        </p:txBody>
      </p:sp>
      <p:sp>
        <p:nvSpPr>
          <p:cNvPr id="62" name="Text 60">
            <a:extLst>
              <a:ext uri="{FF2B5EF4-FFF2-40B4-BE49-F238E27FC236}">
                <a16:creationId xmlns:a16="http://schemas.microsoft.com/office/drawing/2014/main" id="{F0F628B2-1B72-4C6D-8D01-A97EAF30C088}"/>
              </a:ext>
            </a:extLst>
          </p:cNvPr>
          <p:cNvSpPr>
            <a:spLocks noGrp="1"/>
          </p:cNvSpPr>
          <p:nvPr/>
        </p:nvSpPr>
        <p:spPr>
          <a:xfrm>
            <a:off x="81564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最終選択</a:t>
            </a:r>
            <a:endParaRPr sz="1230"/>
          </a:p>
        </p:txBody>
      </p:sp>
      <p:sp>
        <p:nvSpPr>
          <p:cNvPr id="63" name="Text 61">
            <a:extLst>
              <a:ext uri="{FF2B5EF4-FFF2-40B4-BE49-F238E27FC236}">
                <a16:creationId xmlns:a16="http://schemas.microsoft.com/office/drawing/2014/main" id="{A441EA04-1122-4AA7-95A0-0119E79D81C3}"/>
              </a:ext>
            </a:extLst>
          </p:cNvPr>
          <p:cNvSpPr>
            <a:spLocks noGrp="1"/>
          </p:cNvSpPr>
          <p:nvPr/>
        </p:nvSpPr>
        <p:spPr>
          <a:xfrm>
            <a:off x="94795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費用→使用台数→配車ID</a:t>
            </a:r>
            <a:endParaRPr sz="1230"/>
          </a:p>
        </p:txBody>
      </p:sp>
      <p:sp>
        <p:nvSpPr>
          <p:cNvPr id="64" name="Text 62">
            <a:extLst>
              <a:ext uri="{FF2B5EF4-FFF2-40B4-BE49-F238E27FC236}">
                <a16:creationId xmlns:a16="http://schemas.microsoft.com/office/drawing/2014/main" id="{F6398034-1D44-4AF1-9E0C-97FF2DB2DFFB}"/>
              </a:ext>
            </a:extLst>
          </p:cNvPr>
          <p:cNvSpPr>
            <a:spLocks noGrp="1"/>
          </p:cNvSpPr>
          <p:nvPr/>
        </p:nvSpPr>
        <p:spPr>
          <a:xfrm>
            <a:off x="81564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全便条件</a:t>
            </a:r>
            <a:endParaRPr sz="1230"/>
          </a:p>
        </p:txBody>
      </p:sp>
      <p:sp>
        <p:nvSpPr>
          <p:cNvPr id="65" name="Text 63">
            <a:extLst>
              <a:ext uri="{FF2B5EF4-FFF2-40B4-BE49-F238E27FC236}">
                <a16:creationId xmlns:a16="http://schemas.microsoft.com/office/drawing/2014/main" id="{8E0AF785-40EB-4492-AC89-B80DA27BFF0B}"/>
              </a:ext>
            </a:extLst>
          </p:cNvPr>
          <p:cNvSpPr>
            <a:spLocks noGrp="1"/>
          </p:cNvSpPr>
          <p:nvPr/>
        </p:nvSpPr>
        <p:spPr>
          <a:xfrm>
            <a:off x="94795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未担当便を許さない</a:t>
            </a:r>
            <a:endParaRPr sz="1230"/>
          </a:p>
        </p:txBody>
      </p:sp>
      <p:sp>
        <p:nvSpPr>
          <p:cNvPr id="66" name="Shape 64">
            <a:extLst>
              <a:ext uri="{FF2B5EF4-FFF2-40B4-BE49-F238E27FC236}">
                <a16:creationId xmlns:a16="http://schemas.microsoft.com/office/drawing/2014/main" id="{2C5E465A-E0E4-4277-9F19-2AC3BDB95324}"/>
              </a:ext>
            </a:extLst>
          </p:cNvPr>
          <p:cNvSpPr>
            <a:spLocks noGrp="1"/>
          </p:cNvSpPr>
          <p:nvPr/>
        </p:nvSpPr>
        <p:spPr>
          <a:xfrm>
            <a:off x="8074152" y="5029200"/>
            <a:ext cx="3374136" cy="502920"/>
          </a:xfrm>
          <a:prstGeom prst="rect">
            <a:avLst/>
          </a:prstGeom>
          <a:solidFill>
            <a:srgbClr val="F8FAFC"/>
          </a:solidFill>
          <a:ln w="12700">
            <a:solidFill>
              <a:srgbClr val="F8FAFC"/>
            </a:solidFill>
            <a:prstDash val="solid"/>
          </a:ln>
        </p:spPr>
        <p:txBody>
          <a:bodyPr/>
          <a:lstStyle/>
          <a:p>
            <a:endParaRPr/>
          </a:p>
        </p:txBody>
      </p:sp>
      <p:sp>
        <p:nvSpPr>
          <p:cNvPr id="67" name="Text 65">
            <a:extLst>
              <a:ext uri="{FF2B5EF4-FFF2-40B4-BE49-F238E27FC236}">
                <a16:creationId xmlns:a16="http://schemas.microsoft.com/office/drawing/2014/main" id="{4E72B209-8A2D-4FE9-84AC-B824C0185994}"/>
              </a:ext>
            </a:extLst>
          </p:cNvPr>
          <p:cNvSpPr>
            <a:spLocks noGrp="1"/>
          </p:cNvSpPr>
          <p:nvPr/>
        </p:nvSpPr>
        <p:spPr>
          <a:xfrm>
            <a:off x="81564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後処理修正</a:t>
            </a:r>
            <a:endParaRPr sz="1230"/>
          </a:p>
        </p:txBody>
      </p:sp>
      <p:sp>
        <p:nvSpPr>
          <p:cNvPr id="68" name="Text 66">
            <a:extLst>
              <a:ext uri="{FF2B5EF4-FFF2-40B4-BE49-F238E27FC236}">
                <a16:creationId xmlns:a16="http://schemas.microsoft.com/office/drawing/2014/main" id="{A815534E-DF56-48BC-8CD0-60797647E2EF}"/>
              </a:ext>
            </a:extLst>
          </p:cNvPr>
          <p:cNvSpPr>
            <a:spLocks noGrp="1"/>
          </p:cNvSpPr>
          <p:nvPr/>
        </p:nvSpPr>
        <p:spPr>
          <a:xfrm>
            <a:off x="94795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9" name="Shape 67">
            <a:extLst>
              <a:ext uri="{FF2B5EF4-FFF2-40B4-BE49-F238E27FC236}">
                <a16:creationId xmlns:a16="http://schemas.microsoft.com/office/drawing/2014/main" id="{B3D5F21A-1961-472A-9EBA-50889B59D75D}"/>
              </a:ext>
            </a:extLst>
          </p:cNvPr>
          <p:cNvSpPr>
            <a:spLocks noGrp="1"/>
          </p:cNvSpPr>
          <p:nvPr/>
        </p:nvSpPr>
        <p:spPr>
          <a:xfrm>
            <a:off x="1078992" y="5989320"/>
            <a:ext cx="10012680" cy="347472"/>
          </a:xfrm>
          <a:prstGeom prst="roundRect">
            <a:avLst/>
          </a:prstGeom>
          <a:solidFill>
            <a:srgbClr val="FCECEC"/>
          </a:solidFill>
          <a:ln w="11430">
            <a:solidFill>
              <a:srgbClr val="C94C4C"/>
            </a:solidFill>
            <a:prstDash val="solid"/>
          </a:ln>
        </p:spPr>
        <p:txBody>
          <a:bodyPr/>
          <a:lstStyle/>
          <a:p>
            <a:endParaRPr/>
          </a:p>
        </p:txBody>
      </p:sp>
      <p:sp>
        <p:nvSpPr>
          <p:cNvPr id="70" name="Text 68">
            <a:extLst>
              <a:ext uri="{FF2B5EF4-FFF2-40B4-BE49-F238E27FC236}">
                <a16:creationId xmlns:a16="http://schemas.microsoft.com/office/drawing/2014/main" id="{04374599-0800-49B7-B665-CAA1C3A969CA}"/>
              </a:ext>
            </a:extLst>
          </p:cNvPr>
          <p:cNvSpPr>
            <a:spLocks noGrp="1"/>
          </p:cNvSpPr>
          <p:nvPr/>
        </p:nvSpPr>
        <p:spPr>
          <a:xfrm>
            <a:off x="1298448" y="6053328"/>
            <a:ext cx="9555480" cy="201168"/>
          </a:xfrm>
          <a:prstGeom prst="rect">
            <a:avLst/>
          </a:prstGeom>
          <a:noFill/>
        </p:spPr>
        <p:txBody>
          <a:bodyPr wrap="square" lIns="0" tIns="0" rIns="0" bIns="0" anchor="ctr"/>
          <a:lstStyle/>
          <a:p>
            <a:pPr marL="0" indent="0" algn="ctr">
              <a:buNone/>
            </a:pPr>
            <a:r>
              <a:rPr sz="1400" b="1">
                <a:solidFill>
                  <a:srgbClr val="C94C4C"/>
                </a:solidFill>
                <a:latin typeface="Noto Sans CJK JP"/>
                <a:ea typeface="Noto Sans CJK JP"/>
                <a:cs typeface="Noto Sans CJK JP"/>
              </a:rPr>
              <a:t>注意：ここでの評価額はモデル内の比較指標であり、設備投資を含む実際の総費用ではない。</a:t>
            </a:r>
            <a:endParaRPr sz="1400"/>
          </a:p>
        </p:txBody>
      </p:sp>
      <p:sp>
        <p:nvSpPr>
          <p:cNvPr id="71" name="正方形/長方形 70">
            <a:extLst>
              <a:ext uri="{FF2B5EF4-FFF2-40B4-BE49-F238E27FC236}">
                <a16:creationId xmlns:a16="http://schemas.microsoft.com/office/drawing/2014/main" id="{32200175-30CA-40C4-BFC9-396E309C294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30985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F6973B6-97C2-4593-B816-13267A81DED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同じ配車になっていた原因と、直した箇所</a:t>
            </a:r>
          </a:p>
        </p:txBody>
      </p:sp>
      <p:sp>
        <p:nvSpPr>
          <p:cNvPr id="2" name="正方形/長方形 1">
            <a:extLst>
              <a:ext uri="{FF2B5EF4-FFF2-40B4-BE49-F238E27FC236}">
                <a16:creationId xmlns:a16="http://schemas.microsoft.com/office/drawing/2014/main" id="{A0404F06-FF31-43BB-AB1C-3D06BA5C2F29}"/>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通常経路の候補不足を修正し、PV条件で異なる案を選べるようにした</a:t>
            </a:r>
          </a:p>
        </p:txBody>
      </p:sp>
      <p:graphicFrame>
        <p:nvGraphicFramePr>
          <p:cNvPr id="10" name="表 9"/>
          <p:cNvGraphicFramePr/>
          <p:nvPr>
            <p:extLst>
              <p:ext uri="{D42A27DB-BD31-4B8C-83A1-F6EECF244321}">
                <p14:modId xmlns:p14="http://schemas.microsoft.com/office/powerpoint/2010/main" val="1760398601"/>
              </p:ext>
            </p:extLst>
          </p:nvPr>
        </p:nvGraphicFramePr>
        <p:xfrm>
          <a:off x="571500" y="1714500"/>
          <a:ext cx="11049000" cy="3476624"/>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以前の状態</a:t>
                      </a:r>
                    </a:p>
                  </a:txBody>
                  <a:tcPr>
                    <a:solidFill>
                      <a:srgbClr val="202B58"/>
                    </a:solidFill>
                  </a:tcPr>
                </a:tc>
                <a:tc>
                  <a:txBody>
                    <a:bodyPr/>
                    <a:lstStyle/>
                    <a:p>
                      <a:r>
                        <a:rPr sz="1725" b="1">
                          <a:solidFill>
                            <a:srgbClr val="FFFFFF"/>
                          </a:solidFill>
                          <a:latin typeface="Noto Sans CJK JP"/>
                          <a:ea typeface="Noto Sans CJK JP"/>
                          <a:cs typeface="Noto Sans CJK JP"/>
                        </a:rPr>
                        <a:t>具体的な修正</a:t>
                      </a:r>
                    </a:p>
                  </a:txBody>
                  <a:tcPr>
                    <a:solidFill>
                      <a:srgbClr val="202B58"/>
                    </a:solidFill>
                  </a:tcPr>
                </a:tc>
                <a:tc>
                  <a:txBody>
                    <a:bodyPr/>
                    <a:lstStyle/>
                    <a:p>
                      <a:r>
                        <a:rPr sz="1725" b="1">
                          <a:solidFill>
                            <a:srgbClr val="FFFFFF"/>
                          </a:solidFill>
                          <a:latin typeface="Noto Sans CJK JP"/>
                          <a:ea typeface="Noto Sans CJK JP"/>
                          <a:cs typeface="Noto Sans CJK JP"/>
                        </a:rPr>
                        <a:t>選択に与える意味</a:t>
                      </a:r>
                    </a:p>
                  </a:txBody>
                  <a:tcPr>
                    <a:solidFill>
                      <a:srgbClr val="202B58"/>
                    </a:solidFill>
                  </a:tcPr>
                </a:tc>
                <a:extLst>
                  <a:ext uri="{0D108BD9-81ED-4DB2-BD59-A6C34878D82A}">
                    <a16:rowId xmlns:a16="http://schemas.microsoft.com/office/drawing/2014/main" val="10000"/>
                  </a:ext>
                </a:extLst>
              </a:tr>
              <a:tr h="869156">
                <a:tc>
                  <a:txBody>
                    <a:bodyPr/>
                    <a:lstStyle/>
                    <a:p>
                      <a:r>
                        <a:rPr sz="1725" b="0" dirty="0">
                          <a:solidFill>
                            <a:srgbClr val="202B58"/>
                          </a:solidFill>
                          <a:latin typeface="Noto Sans CJK JP"/>
                          <a:ea typeface="Noto Sans CJK JP"/>
                          <a:cs typeface="Noto Sans CJK JP"/>
                        </a:rPr>
                        <a:t>後段で評価する配車が1案</a:t>
                      </a:r>
                    </a:p>
                    <a:p>
                      <a:r>
                        <a:rPr sz="1725" b="0" dirty="0" err="1">
                          <a:solidFill>
                            <a:srgbClr val="202B58"/>
                          </a:solidFill>
                          <a:latin typeface="Noto Sans CJK JP"/>
                          <a:ea typeface="Noto Sans CJK JP"/>
                          <a:cs typeface="Noto Sans CJK JP"/>
                        </a:rPr>
                        <a:t>選択肢が広がらない</a:t>
                      </a:r>
                      <a:endParaRPr sz="1725" b="0" dirty="0">
                        <a:solidFill>
                          <a:srgbClr val="202B58"/>
                        </a:solidFill>
                        <a:latin typeface="Noto Sans CJK JP"/>
                        <a:ea typeface="Noto Sans CJK JP"/>
                        <a:cs typeface="Noto Sans CJK JP"/>
                      </a:endParaRPr>
                    </a:p>
                  </a:txBody>
                  <a:tcPr>
                    <a:solidFill>
                      <a:srgbClr val="F1F5F8"/>
                    </a:solidFill>
                  </a:tcPr>
                </a:tc>
                <a:tc>
                  <a:txBody>
                    <a:bodyPr/>
                    <a:lstStyle/>
                    <a:p>
                      <a:r>
                        <a:rPr sz="1725" b="0">
                          <a:solidFill>
                            <a:srgbClr val="202B58"/>
                          </a:solidFill>
                          <a:latin typeface="Noto Sans CJK JP"/>
                          <a:ea typeface="Noto Sans CJK JP"/>
                          <a:cs typeface="Noto Sans CJK JP"/>
                        </a:rPr>
                        <a:t>候補上限を最低22案へ</a:t>
                      </a:r>
                    </a:p>
                    <a:p>
                      <a:r>
                        <a:rPr sz="1725" b="0">
                          <a:solidFill>
                            <a:srgbClr val="202B58"/>
                          </a:solidFill>
                          <a:latin typeface="Noto Sans CJK JP"/>
                          <a:ea typeface="Noto Sans CJK JP"/>
                          <a:cs typeface="Noto Sans CJK JP"/>
                        </a:rPr>
                        <a:t>構成探索幅0→4、BEV探索ON</a:t>
                      </a:r>
                    </a:p>
                  </a:txBody>
                  <a:tcPr>
                    <a:solidFill>
                      <a:srgbClr val="F1F5F8"/>
                    </a:solidFill>
                  </a:tcPr>
                </a:tc>
                <a:tc>
                  <a:txBody>
                    <a:bodyPr/>
                    <a:lstStyle/>
                    <a:p>
                      <a:r>
                        <a:rPr sz="1725" b="0">
                          <a:solidFill>
                            <a:srgbClr val="202B58"/>
                          </a:solidFill>
                          <a:latin typeface="Noto Sans CJK JP"/>
                          <a:ea typeface="Noto Sans CJK JP"/>
                          <a:cs typeface="Noto Sans CJK JP"/>
                        </a:rPr>
                        <a:t>BEV／ICE構成の違う案を</a:t>
                      </a:r>
                    </a:p>
                    <a:p>
                      <a:r>
                        <a:rPr sz="1725" b="0">
                          <a:solidFill>
                            <a:srgbClr val="202B58"/>
                          </a:solidFill>
                          <a:latin typeface="Noto Sans CJK JP"/>
                          <a:ea typeface="Noto Sans CJK JP"/>
                          <a:cs typeface="Noto Sans CJK JP"/>
                        </a:rPr>
                        <a:t>同じ基準で比較する</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費用の選択規則は</a:t>
                      </a:r>
                    </a:p>
                    <a:p>
                      <a:r>
                        <a:rPr sz="1725" b="0">
                          <a:solidFill>
                            <a:srgbClr val="202B58"/>
                          </a:solidFill>
                          <a:latin typeface="Noto Sans CJK JP"/>
                          <a:ea typeface="Noto Sans CJK JP"/>
                          <a:cs typeface="Noto Sans CJK JP"/>
                        </a:rPr>
                        <a:t>受け取った候補内では正しい</a:t>
                      </a:r>
                    </a:p>
                  </a:txBody>
                  <a:tcPr>
                    <a:solidFill>
                      <a:srgbClr val="FFFFFF"/>
                    </a:solidFill>
                  </a:tcPr>
                </a:tc>
                <a:tc>
                  <a:txBody>
                    <a:bodyPr/>
                    <a:lstStyle/>
                    <a:p>
                      <a:r>
                        <a:rPr sz="1725" b="0">
                          <a:solidFill>
                            <a:srgbClr val="202B58"/>
                          </a:solidFill>
                          <a:latin typeface="Noto Sans CJK JP"/>
                          <a:ea typeface="Noto Sans CJK JP"/>
                          <a:cs typeface="Noto Sans CJK JP"/>
                        </a:rPr>
                        <a:t>各案の充電・PV・BESSを評価</a:t>
                      </a:r>
                    </a:p>
                    <a:p>
                      <a:r>
                        <a:rPr sz="1725" b="0">
                          <a:solidFill>
                            <a:srgbClr val="202B58"/>
                          </a:solidFill>
                          <a:latin typeface="Noto Sans CJK JP"/>
                          <a:ea typeface="Noto Sans CJK JP"/>
                          <a:cs typeface="Noto Sans CJK JP"/>
                        </a:rPr>
                        <a:t>Stage 2の費用で選ぶ規則は維持</a:t>
                      </a:r>
                    </a:p>
                  </a:txBody>
                  <a:tcPr>
                    <a:solidFill>
                      <a:srgbClr val="FFFFFF"/>
                    </a:solidFill>
                  </a:tcPr>
                </a:tc>
                <a:tc>
                  <a:txBody>
                    <a:bodyPr/>
                    <a:lstStyle/>
                    <a:p>
                      <a:r>
                        <a:rPr sz="1725" b="0">
                          <a:solidFill>
                            <a:srgbClr val="202B58"/>
                          </a:solidFill>
                          <a:latin typeface="Noto Sans CJK JP"/>
                          <a:ea typeface="Noto Sans CJK JP"/>
                          <a:cs typeface="Noto Sans CJK JP"/>
                        </a:rPr>
                        <a:t>PV量による費用差を</a:t>
                      </a:r>
                    </a:p>
                    <a:p>
                      <a:r>
                        <a:rPr sz="1725" b="0">
                          <a:solidFill>
                            <a:srgbClr val="202B58"/>
                          </a:solidFill>
                          <a:latin typeface="Noto Sans CJK JP"/>
                          <a:ea typeface="Noto Sans CJK JP"/>
                          <a:cs typeface="Noto Sans CJK JP"/>
                        </a:rPr>
                        <a:t>配車の選択へ反映できる</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高PV／低PVで同じ配車</a:t>
                      </a:r>
                    </a:p>
                    <a:p>
                      <a:r>
                        <a:rPr sz="1725" b="0">
                          <a:solidFill>
                            <a:srgbClr val="202B58"/>
                          </a:solidFill>
                          <a:latin typeface="Noto Sans CJK JP"/>
                          <a:ea typeface="Noto Sans CJK JP"/>
                          <a:cs typeface="Noto Sans CJK JP"/>
                        </a:rPr>
                        <a:t>その内訳を後段では変えない</a:t>
                      </a:r>
                    </a:p>
                  </a:txBody>
                  <a:tcPr>
                    <a:solidFill>
                      <a:srgbClr val="F1F5F8"/>
                    </a:solidFill>
                  </a:tcPr>
                </a:tc>
                <a:tc>
                  <a:txBody>
                    <a:bodyPr/>
                    <a:lstStyle/>
                    <a:p>
                      <a:r>
                        <a:rPr sz="1725" b="0">
                          <a:solidFill>
                            <a:srgbClr val="202B58"/>
                          </a:solidFill>
                          <a:latin typeface="Noto Sans CJK JP"/>
                          <a:ea typeface="Noto Sans CJK JP"/>
                          <a:cs typeface="Noto Sans CJK JP"/>
                        </a:rPr>
                        <a:t>同じ22配車を両PV条件で評価</a:t>
                      </a:r>
                    </a:p>
                    <a:p>
                      <a:r>
                        <a:rPr sz="1725" b="0">
                          <a:solidFill>
                            <a:srgbClr val="202B58"/>
                          </a:solidFill>
                          <a:latin typeface="Noto Sans CJK JP"/>
                          <a:ea typeface="Noto Sans CJK JP"/>
                          <a:cs typeface="Noto Sans CJK JP"/>
                        </a:rPr>
                        <a:t>通常の実行経路でも結果を確認</a:t>
                      </a:r>
                    </a:p>
                  </a:txBody>
                  <a:tcPr>
                    <a:solidFill>
                      <a:srgbClr val="F1F5F8"/>
                    </a:solidFill>
                  </a:tcPr>
                </a:tc>
                <a:tc>
                  <a:txBody>
                    <a:bodyPr/>
                    <a:lstStyle/>
                    <a:p>
                      <a:r>
                        <a:rPr sz="1725" b="0" dirty="0">
                          <a:solidFill>
                            <a:srgbClr val="202B58"/>
                          </a:solidFill>
                          <a:latin typeface="Noto Sans CJK JP"/>
                          <a:ea typeface="Noto Sans CJK JP"/>
                          <a:cs typeface="Noto Sans CJK JP"/>
                        </a:rPr>
                        <a:t>高PV：BEV28／ICE4台</a:t>
                      </a:r>
                    </a:p>
                    <a:p>
                      <a:r>
                        <a:rPr sz="1725" b="0" dirty="0">
                          <a:solidFill>
                            <a:srgbClr val="202B58"/>
                          </a:solidFill>
                          <a:latin typeface="Noto Sans CJK JP"/>
                          <a:ea typeface="Noto Sans CJK JP"/>
                          <a:cs typeface="Noto Sans CJK JP"/>
                        </a:rPr>
                        <a:t>低PV：BEV21／ICE11台</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CFEC216C-1C50-4917-896B-08EACEF5BC68}"/>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直した中心は「候補の出し方と評価範囲」。晴れならEVを増やすルールは追加していない</a:t>
            </a:r>
          </a:p>
        </p:txBody>
      </p:sp>
      <p:sp>
        <p:nvSpPr>
          <p:cNvPr id="5" name="正方形/長方形 4">
            <a:extLst>
              <a:ext uri="{FF2B5EF4-FFF2-40B4-BE49-F238E27FC236}">
                <a16:creationId xmlns:a16="http://schemas.microsoft.com/office/drawing/2014/main" id="{8630991F-0E1C-4C87-98C6-81DEDDCE87C4}"/>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DIAGNOSTIC：SOC上限の不一致は未解消。旧方式に対する速度・費用改善率は未検証。</a:t>
            </a:r>
          </a:p>
        </p:txBody>
      </p:sp>
      <p:sp>
        <p:nvSpPr>
          <p:cNvPr id="6" name="正方形/長方形 5">
            <a:extLst>
              <a:ext uri="{FF2B5EF4-FFF2-40B4-BE49-F238E27FC236}">
                <a16:creationId xmlns:a16="http://schemas.microsoft.com/office/drawing/2014/main" id="{BAD14A8D-ED79-4BAA-9F0D-33B93A92FA34}"/>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8/18</a:t>
            </a:r>
          </a:p>
        </p:txBody>
      </p:sp>
      <p:sp>
        <p:nvSpPr>
          <p:cNvPr id="7" name="正方形/長方形 6">
            <a:extLst>
              <a:ext uri="{FF2B5EF4-FFF2-40B4-BE49-F238E27FC236}">
                <a16:creationId xmlns:a16="http://schemas.microsoft.com/office/drawing/2014/main" id="{138EAA4B-2191-478D-8A16-E874F487FA58}"/>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783733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8D38F201-CA5C-44FC-86D6-F467004BC876}"/>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同じ配車でも、PV条件によって費用の順位が逆転する</a:t>
            </a:r>
          </a:p>
        </p:txBody>
      </p:sp>
      <p:sp>
        <p:nvSpPr>
          <p:cNvPr id="2" name="正方形/長方形 1">
            <a:extLst>
              <a:ext uri="{FF2B5EF4-FFF2-40B4-BE49-F238E27FC236}">
                <a16:creationId xmlns:a16="http://schemas.microsoft.com/office/drawing/2014/main" id="{CE089118-C4A4-486E-8957-5789CB67F196}"/>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配車を固定し、充電・PV・BESSだけを再計算した交差評価（一日計画の費用）</a:t>
            </a:r>
          </a:p>
        </p:txBody>
      </p:sp>
      <p:graphicFrame>
        <p:nvGraphicFramePr>
          <p:cNvPr id="10" name="表 9"/>
          <p:cNvGraphicFramePr/>
          <p:nvPr/>
        </p:nvGraphicFramePr>
        <p:xfrm>
          <a:off x="571500" y="1714500"/>
          <a:ext cx="11049000" cy="3476624"/>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固定した配車案（両方32台）</a:t>
                      </a:r>
                    </a:p>
                  </a:txBody>
                  <a:tcPr>
                    <a:solidFill>
                      <a:srgbClr val="202B58"/>
                    </a:solidFill>
                  </a:tcPr>
                </a:tc>
                <a:tc>
                  <a:txBody>
                    <a:bodyPr/>
                    <a:lstStyle/>
                    <a:p>
                      <a:r>
                        <a:rPr sz="1725" b="1">
                          <a:solidFill>
                            <a:srgbClr val="FFFFFF"/>
                          </a:solidFill>
                          <a:latin typeface="Noto Sans CJK JP"/>
                          <a:ea typeface="Noto Sans CJK JP"/>
                          <a:cs typeface="Noto Sans CJK JP"/>
                        </a:rPr>
                        <a:t>高PVで評価 [円/日]</a:t>
                      </a:r>
                    </a:p>
                  </a:txBody>
                  <a:tcPr>
                    <a:solidFill>
                      <a:srgbClr val="202B58"/>
                    </a:solidFill>
                  </a:tcPr>
                </a:tc>
                <a:tc>
                  <a:txBody>
                    <a:bodyPr/>
                    <a:lstStyle/>
                    <a:p>
                      <a:r>
                        <a:rPr sz="1725" b="1">
                          <a:solidFill>
                            <a:srgbClr val="FFFFFF"/>
                          </a:solidFill>
                          <a:latin typeface="Noto Sans CJK JP"/>
                          <a:ea typeface="Noto Sans CJK JP"/>
                          <a:cs typeface="Noto Sans CJK JP"/>
                        </a:rPr>
                        <a:t>低PVで評価 [円/日]</a:t>
                      </a:r>
                    </a:p>
                  </a:txBody>
                  <a:tcPr>
                    <a:solidFill>
                      <a:srgbClr val="202B58"/>
                    </a:solidFill>
                  </a:tcPr>
                </a:tc>
                <a:extLst>
                  <a:ext uri="{0D108BD9-81ED-4DB2-BD59-A6C34878D82A}">
                    <a16:rowId xmlns:a16="http://schemas.microsoft.com/office/drawing/2014/main" val="10000"/>
                  </a:ext>
                </a:extLst>
              </a:tr>
              <a:tr h="869156">
                <a:tc>
                  <a:txBody>
                    <a:bodyPr/>
                    <a:lstStyle/>
                    <a:p>
                      <a:r>
                        <a:rPr sz="1725" b="0">
                          <a:solidFill>
                            <a:srgbClr val="202B58"/>
                          </a:solidFill>
                          <a:latin typeface="Noto Sans CJK JP"/>
                          <a:ea typeface="Noto Sans CJK JP"/>
                          <a:cs typeface="Noto Sans CJK JP"/>
                        </a:rPr>
                        <a:t>案A：BEV28台／ICE4台</a:t>
                      </a:r>
                    </a:p>
                    <a:p>
                      <a:r>
                        <a:rPr sz="1725" b="0">
                          <a:solidFill>
                            <a:srgbClr val="202B58"/>
                          </a:solidFill>
                          <a:latin typeface="Noto Sans CJK JP"/>
                          <a:ea typeface="Noto Sans CJK JP"/>
                          <a:cs typeface="Noto Sans CJK JP"/>
                        </a:rPr>
                        <a:t>担当便：BEV199／ICE65</a:t>
                      </a:r>
                    </a:p>
                  </a:txBody>
                  <a:tcPr>
                    <a:solidFill>
                      <a:srgbClr val="F1F5F8"/>
                    </a:solidFill>
                  </a:tcPr>
                </a:tc>
                <a:tc>
                  <a:txBody>
                    <a:bodyPr/>
                    <a:lstStyle/>
                    <a:p>
                      <a:r>
                        <a:rPr sz="1725" b="0">
                          <a:solidFill>
                            <a:srgbClr val="202B58"/>
                          </a:solidFill>
                          <a:latin typeface="Noto Sans CJK JP"/>
                          <a:ea typeface="Noto Sans CJK JP"/>
                          <a:cs typeface="Noto Sans CJK JP"/>
                        </a:rPr>
                        <a:t>660,983.78 ← この2案で安い</a:t>
                      </a:r>
                    </a:p>
                  </a:txBody>
                  <a:tcPr>
                    <a:solidFill>
                      <a:srgbClr val="F1F5F8"/>
                    </a:solidFill>
                  </a:tcPr>
                </a:tc>
                <a:tc>
                  <a:txBody>
                    <a:bodyPr/>
                    <a:lstStyle/>
                    <a:p>
                      <a:r>
                        <a:rPr sz="1725" b="0">
                          <a:solidFill>
                            <a:srgbClr val="202B58"/>
                          </a:solidFill>
                          <a:latin typeface="Noto Sans CJK JP"/>
                          <a:ea typeface="Noto Sans CJK JP"/>
                          <a:cs typeface="Noto Sans CJK JP"/>
                        </a:rPr>
                        <a:t>706,714.24</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案B：BEV21台／ICE11台</a:t>
                      </a:r>
                    </a:p>
                    <a:p>
                      <a:r>
                        <a:rPr sz="1725" b="0">
                          <a:solidFill>
                            <a:srgbClr val="202B58"/>
                          </a:solidFill>
                          <a:latin typeface="Noto Sans CJK JP"/>
                          <a:ea typeface="Noto Sans CJK JP"/>
                          <a:cs typeface="Noto Sans CJK JP"/>
                        </a:rPr>
                        <a:t>担当便：BEV91／ICE173</a:t>
                      </a:r>
                    </a:p>
                  </a:txBody>
                  <a:tcPr>
                    <a:solidFill>
                      <a:srgbClr val="FFFFFF"/>
                    </a:solidFill>
                  </a:tcPr>
                </a:tc>
                <a:tc>
                  <a:txBody>
                    <a:bodyPr/>
                    <a:lstStyle/>
                    <a:p>
                      <a:r>
                        <a:rPr sz="1725" b="0">
                          <a:solidFill>
                            <a:srgbClr val="202B58"/>
                          </a:solidFill>
                          <a:latin typeface="Noto Sans CJK JP"/>
                          <a:ea typeface="Noto Sans CJK JP"/>
                          <a:cs typeface="Noto Sans CJK JP"/>
                        </a:rPr>
                        <a:t>694,607.64</a:t>
                      </a:r>
                    </a:p>
                  </a:txBody>
                  <a:tcPr>
                    <a:solidFill>
                      <a:srgbClr val="FFFFFF"/>
                    </a:solidFill>
                  </a:tcPr>
                </a:tc>
                <a:tc>
                  <a:txBody>
                    <a:bodyPr/>
                    <a:lstStyle/>
                    <a:p>
                      <a:r>
                        <a:rPr sz="1725" b="0">
                          <a:solidFill>
                            <a:srgbClr val="202B58"/>
                          </a:solidFill>
                          <a:latin typeface="Noto Sans CJK JP"/>
                          <a:ea typeface="Noto Sans CJK JP"/>
                          <a:cs typeface="Noto Sans CJK JP"/>
                        </a:rPr>
                        <a:t>698,296.47 ← この2案で安い</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選択の意味</a:t>
                      </a:r>
                    </a:p>
                  </a:txBody>
                  <a:tcPr>
                    <a:solidFill>
                      <a:srgbClr val="F1F5F8"/>
                    </a:solidFill>
                  </a:tcPr>
                </a:tc>
                <a:tc>
                  <a:txBody>
                    <a:bodyPr/>
                    <a:lstStyle/>
                    <a:p>
                      <a:r>
                        <a:rPr sz="1725" b="0">
                          <a:solidFill>
                            <a:srgbClr val="202B58"/>
                          </a:solidFill>
                          <a:latin typeface="Noto Sans CJK JP"/>
                          <a:ea typeface="Noto Sans CJK JP"/>
                          <a:cs typeface="Noto Sans CJK JP"/>
                        </a:rPr>
                        <a:t>高PVでは案Aを選ぶ</a:t>
                      </a:r>
                    </a:p>
                    <a:p>
                      <a:r>
                        <a:rPr sz="1725" b="0">
                          <a:solidFill>
                            <a:srgbClr val="202B58"/>
                          </a:solidFill>
                          <a:latin typeface="Noto Sans CJK JP"/>
                          <a:ea typeface="Noto Sans CJK JP"/>
                          <a:cs typeface="Noto Sans CJK JP"/>
                        </a:rPr>
                        <a:t>22案全体でも案Aが最小</a:t>
                      </a:r>
                    </a:p>
                  </a:txBody>
                  <a:tcPr>
                    <a:solidFill>
                      <a:srgbClr val="F1F5F8"/>
                    </a:solidFill>
                  </a:tcPr>
                </a:tc>
                <a:tc>
                  <a:txBody>
                    <a:bodyPr/>
                    <a:lstStyle/>
                    <a:p>
                      <a:r>
                        <a:rPr sz="1725" b="0">
                          <a:solidFill>
                            <a:srgbClr val="202B58"/>
                          </a:solidFill>
                          <a:latin typeface="Noto Sans CJK JP"/>
                          <a:ea typeface="Noto Sans CJK JP"/>
                          <a:cs typeface="Noto Sans CJK JP"/>
                        </a:rPr>
                        <a:t>低PVでは案Bを選ぶ</a:t>
                      </a:r>
                    </a:p>
                    <a:p>
                      <a:r>
                        <a:rPr sz="1725" b="0">
                          <a:solidFill>
                            <a:srgbClr val="202B58"/>
                          </a:solidFill>
                          <a:latin typeface="Noto Sans CJK JP"/>
                          <a:ea typeface="Noto Sans CJK JP"/>
                          <a:cs typeface="Noto Sans CJK JP"/>
                        </a:rPr>
                        <a:t>22案全体でも案Bが最小</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542F82FC-8874-490E-A2B2-FC45EBC7A8BF}"/>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PVで変わる費用を比較できる候補がそろったため、選ばれる車種構成が分かれた</a:t>
            </a:r>
          </a:p>
        </p:txBody>
      </p:sp>
      <p:sp>
        <p:nvSpPr>
          <p:cNvPr id="5" name="正方形/長方形 4">
            <a:extLst>
              <a:ext uri="{FF2B5EF4-FFF2-40B4-BE49-F238E27FC236}">
                <a16:creationId xmlns:a16="http://schemas.microsoft.com/office/drawing/2014/main" id="{3002BAD5-2A51-4A24-AD24-4D81857C4EA7}"/>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DIAGNOSTIC：有限22候補の旧モデル診断。最終Rolling費用とは別。SOC修正後の再検証が必要。</a:t>
            </a:r>
          </a:p>
        </p:txBody>
      </p:sp>
      <p:sp>
        <p:nvSpPr>
          <p:cNvPr id="6" name="正方形/長方形 5">
            <a:extLst>
              <a:ext uri="{FF2B5EF4-FFF2-40B4-BE49-F238E27FC236}">
                <a16:creationId xmlns:a16="http://schemas.microsoft.com/office/drawing/2014/main" id="{605E481F-110F-4379-98C9-CEE5810F2C81}"/>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9/18</a:t>
            </a:r>
          </a:p>
        </p:txBody>
      </p:sp>
      <p:sp>
        <p:nvSpPr>
          <p:cNvPr id="7" name="正方形/長方形 6">
            <a:extLst>
              <a:ext uri="{FF2B5EF4-FFF2-40B4-BE49-F238E27FC236}">
                <a16:creationId xmlns:a16="http://schemas.microsoft.com/office/drawing/2014/main" id="{A4391A4F-B4F7-4EA8-905E-742D888376C9}"/>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196672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C2FCD2B-E8AD-4123-946F-1EA56D3D055F}"/>
              </a:ext>
            </a:extLst>
          </p:cNvPr>
          <p:cNvSpPr>
            <a:spLocks noGrp="1"/>
          </p:cNvSpPr>
          <p:nvPr/>
        </p:nvSpPr>
        <p:spPr>
          <a:xfrm>
            <a:off x="429967" y="149915"/>
            <a:ext cx="1190509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最新結果</a:t>
            </a:r>
            <a:r>
              <a:rPr sz="2800" b="1" dirty="0">
                <a:solidFill>
                  <a:srgbClr val="111827"/>
                </a:solidFill>
                <a:latin typeface="Noto Sans CJK JP"/>
                <a:ea typeface="Noto Sans CJK JP"/>
                <a:cs typeface="Noto Sans CJK JP"/>
              </a:rPr>
              <a:t>①：</a:t>
            </a:r>
            <a:endParaRPr lang="en-US" sz="2800" b="1" dirty="0">
              <a:solidFill>
                <a:srgbClr val="111827"/>
              </a:solidFill>
              <a:latin typeface="Noto Sans CJK JP"/>
              <a:ea typeface="Noto Sans CJK JP"/>
              <a:cs typeface="Noto Sans CJK JP"/>
            </a:endParaRPr>
          </a:p>
          <a:p>
            <a:pPr marL="0" indent="0">
              <a:buNone/>
            </a:pPr>
            <a:r>
              <a:rPr sz="2800" b="1" dirty="0" err="1">
                <a:solidFill>
                  <a:srgbClr val="111827"/>
                </a:solidFill>
                <a:latin typeface="Noto Sans CJK JP"/>
                <a:ea typeface="Noto Sans CJK JP"/>
                <a:cs typeface="Noto Sans CJK JP"/>
              </a:rPr>
              <a:t>高PV条件ではBEVを多く、低PV条件ではICEを多く使う配車になった</a:t>
            </a:r>
            <a:endParaRPr sz="2800" dirty="0"/>
          </a:p>
        </p:txBody>
      </p:sp>
      <p:sp>
        <p:nvSpPr>
          <p:cNvPr id="3" name="Shape 1">
            <a:extLst>
              <a:ext uri="{FF2B5EF4-FFF2-40B4-BE49-F238E27FC236}">
                <a16:creationId xmlns:a16="http://schemas.microsoft.com/office/drawing/2014/main" id="{F385379B-34DE-4E43-8E2A-EB8868C6C85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315109B-9443-496F-9F4D-7942B3526B3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2256569-0C77-4252-B138-5DDD5682B4D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10/18</a:t>
            </a:r>
            <a:endParaRPr sz="850"/>
          </a:p>
        </p:txBody>
      </p:sp>
      <p:sp>
        <p:nvSpPr>
          <p:cNvPr id="6" name="Shape 4">
            <a:extLst>
              <a:ext uri="{FF2B5EF4-FFF2-40B4-BE49-F238E27FC236}">
                <a16:creationId xmlns:a16="http://schemas.microsoft.com/office/drawing/2014/main" id="{69823FAB-F712-461C-81DE-2576DA17BFA9}"/>
              </a:ext>
            </a:extLst>
          </p:cNvPr>
          <p:cNvSpPr>
            <a:spLocks noGrp="1"/>
          </p:cNvSpPr>
          <p:nvPr/>
        </p:nvSpPr>
        <p:spPr>
          <a:xfrm>
            <a:off x="4160520" y="932688"/>
            <a:ext cx="146304" cy="146304"/>
          </a:xfrm>
          <a:prstGeom prst="rect">
            <a:avLst/>
          </a:prstGeom>
          <a:solidFill>
            <a:srgbClr val="1F9D8A"/>
          </a:solidFill>
          <a:ln w="12700">
            <a:solidFill>
              <a:srgbClr val="1F9D8A"/>
            </a:solidFill>
            <a:prstDash val="solid"/>
          </a:ln>
        </p:spPr>
        <p:txBody>
          <a:bodyPr/>
          <a:lstStyle/>
          <a:p>
            <a:endParaRPr/>
          </a:p>
        </p:txBody>
      </p:sp>
      <p:sp>
        <p:nvSpPr>
          <p:cNvPr id="7" name="Text 5">
            <a:extLst>
              <a:ext uri="{FF2B5EF4-FFF2-40B4-BE49-F238E27FC236}">
                <a16:creationId xmlns:a16="http://schemas.microsoft.com/office/drawing/2014/main" id="{DD9A89D1-03A7-41B3-B18D-BA727C25BE39}"/>
              </a:ext>
            </a:extLst>
          </p:cNvPr>
          <p:cNvSpPr>
            <a:spLocks noGrp="1"/>
          </p:cNvSpPr>
          <p:nvPr/>
        </p:nvSpPr>
        <p:spPr>
          <a:xfrm>
            <a:off x="436168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BEV</a:t>
            </a:r>
            <a:endParaRPr sz="1050"/>
          </a:p>
        </p:txBody>
      </p:sp>
      <p:sp>
        <p:nvSpPr>
          <p:cNvPr id="8" name="Shape 6">
            <a:extLst>
              <a:ext uri="{FF2B5EF4-FFF2-40B4-BE49-F238E27FC236}">
                <a16:creationId xmlns:a16="http://schemas.microsoft.com/office/drawing/2014/main" id="{590E53D8-9836-409E-8792-174840932EAA}"/>
              </a:ext>
            </a:extLst>
          </p:cNvPr>
          <p:cNvSpPr>
            <a:spLocks noGrp="1"/>
          </p:cNvSpPr>
          <p:nvPr/>
        </p:nvSpPr>
        <p:spPr>
          <a:xfrm>
            <a:off x="5577840" y="932688"/>
            <a:ext cx="146304" cy="146304"/>
          </a:xfrm>
          <a:prstGeom prst="rect">
            <a:avLst/>
          </a:prstGeom>
          <a:solidFill>
            <a:srgbClr val="8C6D5A"/>
          </a:solidFill>
          <a:ln w="12700">
            <a:solidFill>
              <a:srgbClr val="8C6D5A"/>
            </a:solidFill>
            <a:prstDash val="solid"/>
          </a:ln>
        </p:spPr>
        <p:txBody>
          <a:bodyPr/>
          <a:lstStyle/>
          <a:p>
            <a:endParaRPr/>
          </a:p>
        </p:txBody>
      </p:sp>
      <p:sp>
        <p:nvSpPr>
          <p:cNvPr id="9" name="Text 7">
            <a:extLst>
              <a:ext uri="{FF2B5EF4-FFF2-40B4-BE49-F238E27FC236}">
                <a16:creationId xmlns:a16="http://schemas.microsoft.com/office/drawing/2014/main" id="{11D09BF2-F9BB-418D-A583-8D92D01778F2}"/>
              </a:ext>
            </a:extLst>
          </p:cNvPr>
          <p:cNvSpPr>
            <a:spLocks noGrp="1"/>
          </p:cNvSpPr>
          <p:nvPr/>
        </p:nvSpPr>
        <p:spPr>
          <a:xfrm>
            <a:off x="577900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ICE</a:t>
            </a:r>
            <a:endParaRPr sz="1050"/>
          </a:p>
        </p:txBody>
      </p:sp>
      <p:sp>
        <p:nvSpPr>
          <p:cNvPr id="10" name="Text 8">
            <a:extLst>
              <a:ext uri="{FF2B5EF4-FFF2-40B4-BE49-F238E27FC236}">
                <a16:creationId xmlns:a16="http://schemas.microsoft.com/office/drawing/2014/main" id="{D31931E1-B63C-4114-B6DB-606AF09391B0}"/>
              </a:ext>
            </a:extLst>
          </p:cNvPr>
          <p:cNvSpPr>
            <a:spLocks noGrp="1"/>
          </p:cNvSpPr>
          <p:nvPr/>
        </p:nvSpPr>
        <p:spPr>
          <a:xfrm>
            <a:off x="731520" y="1234440"/>
            <a:ext cx="438912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使用車両（合計32台）</a:t>
            </a:r>
            <a:endParaRPr sz="1800"/>
          </a:p>
        </p:txBody>
      </p:sp>
      <p:sp>
        <p:nvSpPr>
          <p:cNvPr id="11" name="Shape 9">
            <a:extLst>
              <a:ext uri="{FF2B5EF4-FFF2-40B4-BE49-F238E27FC236}">
                <a16:creationId xmlns:a16="http://schemas.microsoft.com/office/drawing/2014/main" id="{35D3047C-C3F6-4DAA-A33A-6894A59AB4E7}"/>
              </a:ext>
            </a:extLst>
          </p:cNvPr>
          <p:cNvSpPr>
            <a:spLocks noGrp="1"/>
          </p:cNvSpPr>
          <p:nvPr/>
        </p:nvSpPr>
        <p:spPr>
          <a:xfrm>
            <a:off x="1920240" y="1783080"/>
            <a:ext cx="3440430" cy="530352"/>
          </a:xfrm>
          <a:prstGeom prst="rect">
            <a:avLst/>
          </a:prstGeom>
          <a:solidFill>
            <a:srgbClr val="1F9D8A"/>
          </a:solidFill>
          <a:ln w="10160">
            <a:solidFill>
              <a:srgbClr val="FFFFFF"/>
            </a:solidFill>
            <a:prstDash val="solid"/>
          </a:ln>
        </p:spPr>
        <p:txBody>
          <a:bodyPr/>
          <a:lstStyle/>
          <a:p>
            <a:endParaRPr/>
          </a:p>
        </p:txBody>
      </p:sp>
      <p:sp>
        <p:nvSpPr>
          <p:cNvPr id="12" name="Text 10">
            <a:extLst>
              <a:ext uri="{FF2B5EF4-FFF2-40B4-BE49-F238E27FC236}">
                <a16:creationId xmlns:a16="http://schemas.microsoft.com/office/drawing/2014/main" id="{1856538D-EC0A-46E8-8642-20202C18A670}"/>
              </a:ext>
            </a:extLst>
          </p:cNvPr>
          <p:cNvSpPr>
            <a:spLocks noGrp="1"/>
          </p:cNvSpPr>
          <p:nvPr/>
        </p:nvSpPr>
        <p:spPr>
          <a:xfrm>
            <a:off x="1920240" y="1801368"/>
            <a:ext cx="344043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28</a:t>
            </a:r>
            <a:endParaRPr sz="1400"/>
          </a:p>
        </p:txBody>
      </p:sp>
      <p:sp>
        <p:nvSpPr>
          <p:cNvPr id="13" name="Shape 11">
            <a:extLst>
              <a:ext uri="{FF2B5EF4-FFF2-40B4-BE49-F238E27FC236}">
                <a16:creationId xmlns:a16="http://schemas.microsoft.com/office/drawing/2014/main" id="{9120252E-2498-438A-8F5F-50E394EBFA97}"/>
              </a:ext>
            </a:extLst>
          </p:cNvPr>
          <p:cNvSpPr>
            <a:spLocks noGrp="1"/>
          </p:cNvSpPr>
          <p:nvPr/>
        </p:nvSpPr>
        <p:spPr>
          <a:xfrm>
            <a:off x="5360670" y="1783080"/>
            <a:ext cx="491490" cy="530352"/>
          </a:xfrm>
          <a:prstGeom prst="rect">
            <a:avLst/>
          </a:prstGeom>
          <a:solidFill>
            <a:srgbClr val="8C6D5A"/>
          </a:solidFill>
          <a:ln w="10160">
            <a:solidFill>
              <a:srgbClr val="FFFFFF"/>
            </a:solidFill>
            <a:prstDash val="solid"/>
          </a:ln>
        </p:spPr>
        <p:txBody>
          <a:bodyPr/>
          <a:lstStyle/>
          <a:p>
            <a:endParaRPr/>
          </a:p>
        </p:txBody>
      </p:sp>
      <p:sp>
        <p:nvSpPr>
          <p:cNvPr id="14" name="Text 12">
            <a:extLst>
              <a:ext uri="{FF2B5EF4-FFF2-40B4-BE49-F238E27FC236}">
                <a16:creationId xmlns:a16="http://schemas.microsoft.com/office/drawing/2014/main" id="{09CC5A8D-CFD8-4537-B6CE-81261A4F0044}"/>
              </a:ext>
            </a:extLst>
          </p:cNvPr>
          <p:cNvSpPr>
            <a:spLocks noGrp="1"/>
          </p:cNvSpPr>
          <p:nvPr/>
        </p:nvSpPr>
        <p:spPr>
          <a:xfrm>
            <a:off x="5360670" y="1801368"/>
            <a:ext cx="49149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4</a:t>
            </a:r>
            <a:endParaRPr sz="1400"/>
          </a:p>
        </p:txBody>
      </p:sp>
      <p:sp>
        <p:nvSpPr>
          <p:cNvPr id="15" name="Text 13">
            <a:extLst>
              <a:ext uri="{FF2B5EF4-FFF2-40B4-BE49-F238E27FC236}">
                <a16:creationId xmlns:a16="http://schemas.microsoft.com/office/drawing/2014/main" id="{280FFBE5-D7C6-43EB-9579-D7EB11A1CD78}"/>
              </a:ext>
            </a:extLst>
          </p:cNvPr>
          <p:cNvSpPr>
            <a:spLocks noGrp="1"/>
          </p:cNvSpPr>
          <p:nvPr/>
        </p:nvSpPr>
        <p:spPr>
          <a:xfrm>
            <a:off x="96012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16" name="Shape 14">
            <a:extLst>
              <a:ext uri="{FF2B5EF4-FFF2-40B4-BE49-F238E27FC236}">
                <a16:creationId xmlns:a16="http://schemas.microsoft.com/office/drawing/2014/main" id="{CF27E7F8-C855-4D1B-A294-A11D1207841A}"/>
              </a:ext>
            </a:extLst>
          </p:cNvPr>
          <p:cNvSpPr>
            <a:spLocks noGrp="1"/>
          </p:cNvSpPr>
          <p:nvPr/>
        </p:nvSpPr>
        <p:spPr>
          <a:xfrm>
            <a:off x="1920240" y="2560320"/>
            <a:ext cx="2580323" cy="530352"/>
          </a:xfrm>
          <a:prstGeom prst="rect">
            <a:avLst/>
          </a:prstGeom>
          <a:solidFill>
            <a:srgbClr val="1F9D8A"/>
          </a:solidFill>
          <a:ln w="1016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E02CAC21-21BC-4EBB-A872-142AA1EF1D87}"/>
              </a:ext>
            </a:extLst>
          </p:cNvPr>
          <p:cNvSpPr>
            <a:spLocks noGrp="1"/>
          </p:cNvSpPr>
          <p:nvPr/>
        </p:nvSpPr>
        <p:spPr>
          <a:xfrm>
            <a:off x="1920240" y="2578608"/>
            <a:ext cx="2580323"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21</a:t>
            </a:r>
            <a:endParaRPr sz="1400"/>
          </a:p>
        </p:txBody>
      </p:sp>
      <p:sp>
        <p:nvSpPr>
          <p:cNvPr id="18" name="Shape 16">
            <a:extLst>
              <a:ext uri="{FF2B5EF4-FFF2-40B4-BE49-F238E27FC236}">
                <a16:creationId xmlns:a16="http://schemas.microsoft.com/office/drawing/2014/main" id="{F9A51F47-7C64-4681-A85D-C92337E22588}"/>
              </a:ext>
            </a:extLst>
          </p:cNvPr>
          <p:cNvSpPr>
            <a:spLocks noGrp="1"/>
          </p:cNvSpPr>
          <p:nvPr/>
        </p:nvSpPr>
        <p:spPr>
          <a:xfrm>
            <a:off x="4500563" y="2560320"/>
            <a:ext cx="1351598" cy="530352"/>
          </a:xfrm>
          <a:prstGeom prst="rect">
            <a:avLst/>
          </a:prstGeom>
          <a:solidFill>
            <a:srgbClr val="8C6D5A"/>
          </a:solidFill>
          <a:ln w="10160">
            <a:solidFill>
              <a:srgbClr val="FFFFFF"/>
            </a:solidFill>
            <a:prstDash val="solid"/>
          </a:ln>
        </p:spPr>
        <p:txBody>
          <a:bodyPr/>
          <a:lstStyle/>
          <a:p>
            <a:endParaRPr/>
          </a:p>
        </p:txBody>
      </p:sp>
      <p:sp>
        <p:nvSpPr>
          <p:cNvPr id="19" name="Text 17">
            <a:extLst>
              <a:ext uri="{FF2B5EF4-FFF2-40B4-BE49-F238E27FC236}">
                <a16:creationId xmlns:a16="http://schemas.microsoft.com/office/drawing/2014/main" id="{D925D86A-FD30-4415-B218-9D837AD6211C}"/>
              </a:ext>
            </a:extLst>
          </p:cNvPr>
          <p:cNvSpPr>
            <a:spLocks noGrp="1"/>
          </p:cNvSpPr>
          <p:nvPr/>
        </p:nvSpPr>
        <p:spPr>
          <a:xfrm>
            <a:off x="4500563" y="2578608"/>
            <a:ext cx="1351598"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11</a:t>
            </a:r>
            <a:endParaRPr sz="1400"/>
          </a:p>
        </p:txBody>
      </p:sp>
      <p:sp>
        <p:nvSpPr>
          <p:cNvPr id="20" name="Text 18">
            <a:extLst>
              <a:ext uri="{FF2B5EF4-FFF2-40B4-BE49-F238E27FC236}">
                <a16:creationId xmlns:a16="http://schemas.microsoft.com/office/drawing/2014/main" id="{DBA223C8-B9CB-458A-A936-D84711B3F409}"/>
              </a:ext>
            </a:extLst>
          </p:cNvPr>
          <p:cNvSpPr>
            <a:spLocks noGrp="1"/>
          </p:cNvSpPr>
          <p:nvPr/>
        </p:nvSpPr>
        <p:spPr>
          <a:xfrm>
            <a:off x="96012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21" name="Text 19">
            <a:extLst>
              <a:ext uri="{FF2B5EF4-FFF2-40B4-BE49-F238E27FC236}">
                <a16:creationId xmlns:a16="http://schemas.microsoft.com/office/drawing/2014/main" id="{7C20EBD0-834D-454D-868F-1415100355CD}"/>
              </a:ext>
            </a:extLst>
          </p:cNvPr>
          <p:cNvSpPr>
            <a:spLocks noGrp="1"/>
          </p:cNvSpPr>
          <p:nvPr/>
        </p:nvSpPr>
        <p:spPr>
          <a:xfrm>
            <a:off x="6355080" y="1234440"/>
            <a:ext cx="429768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担当便数（合計264便）</a:t>
            </a:r>
            <a:endParaRPr sz="1800"/>
          </a:p>
        </p:txBody>
      </p:sp>
      <p:sp>
        <p:nvSpPr>
          <p:cNvPr id="22" name="Shape 20">
            <a:extLst>
              <a:ext uri="{FF2B5EF4-FFF2-40B4-BE49-F238E27FC236}">
                <a16:creationId xmlns:a16="http://schemas.microsoft.com/office/drawing/2014/main" id="{CE276629-DB16-4EE1-9CA8-7EEA2C153002}"/>
              </a:ext>
            </a:extLst>
          </p:cNvPr>
          <p:cNvSpPr>
            <a:spLocks noGrp="1"/>
          </p:cNvSpPr>
          <p:nvPr/>
        </p:nvSpPr>
        <p:spPr>
          <a:xfrm>
            <a:off x="7452360" y="1783080"/>
            <a:ext cx="2550275" cy="530352"/>
          </a:xfrm>
          <a:prstGeom prst="rect">
            <a:avLst/>
          </a:prstGeom>
          <a:solidFill>
            <a:srgbClr val="1F9D8A"/>
          </a:solidFill>
          <a:ln w="10160">
            <a:solidFill>
              <a:srgbClr val="FFFFFF"/>
            </a:solidFill>
            <a:prstDash val="solid"/>
          </a:ln>
        </p:spPr>
        <p:txBody>
          <a:bodyPr/>
          <a:lstStyle/>
          <a:p>
            <a:endParaRPr/>
          </a:p>
        </p:txBody>
      </p:sp>
      <p:sp>
        <p:nvSpPr>
          <p:cNvPr id="23" name="Text 21">
            <a:extLst>
              <a:ext uri="{FF2B5EF4-FFF2-40B4-BE49-F238E27FC236}">
                <a16:creationId xmlns:a16="http://schemas.microsoft.com/office/drawing/2014/main" id="{9855E36E-025E-45BA-8A5A-0A24B8C0A1CA}"/>
              </a:ext>
            </a:extLst>
          </p:cNvPr>
          <p:cNvSpPr>
            <a:spLocks noGrp="1"/>
          </p:cNvSpPr>
          <p:nvPr/>
        </p:nvSpPr>
        <p:spPr>
          <a:xfrm>
            <a:off x="7452360" y="1801368"/>
            <a:ext cx="255027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199</a:t>
            </a:r>
            <a:endParaRPr sz="1400"/>
          </a:p>
        </p:txBody>
      </p:sp>
      <p:sp>
        <p:nvSpPr>
          <p:cNvPr id="24" name="Shape 22">
            <a:extLst>
              <a:ext uri="{FF2B5EF4-FFF2-40B4-BE49-F238E27FC236}">
                <a16:creationId xmlns:a16="http://schemas.microsoft.com/office/drawing/2014/main" id="{6BF36D65-B1D0-4B5D-89DB-C84759821F59}"/>
              </a:ext>
            </a:extLst>
          </p:cNvPr>
          <p:cNvSpPr>
            <a:spLocks noGrp="1"/>
          </p:cNvSpPr>
          <p:nvPr/>
        </p:nvSpPr>
        <p:spPr>
          <a:xfrm>
            <a:off x="10002635" y="1783080"/>
            <a:ext cx="833005" cy="530352"/>
          </a:xfrm>
          <a:prstGeom prst="rect">
            <a:avLst/>
          </a:prstGeom>
          <a:solidFill>
            <a:srgbClr val="8C6D5A"/>
          </a:solidFill>
          <a:ln w="10160">
            <a:solidFill>
              <a:srgbClr val="FFFFFF"/>
            </a:solidFill>
            <a:prstDash val="solid"/>
          </a:ln>
        </p:spPr>
        <p:txBody>
          <a:bodyPr/>
          <a:lstStyle/>
          <a:p>
            <a:endParaRPr/>
          </a:p>
        </p:txBody>
      </p:sp>
      <p:sp>
        <p:nvSpPr>
          <p:cNvPr id="25" name="Text 23">
            <a:extLst>
              <a:ext uri="{FF2B5EF4-FFF2-40B4-BE49-F238E27FC236}">
                <a16:creationId xmlns:a16="http://schemas.microsoft.com/office/drawing/2014/main" id="{273E9C9B-2346-4C16-99E2-A054C8B9567A}"/>
              </a:ext>
            </a:extLst>
          </p:cNvPr>
          <p:cNvSpPr>
            <a:spLocks noGrp="1"/>
          </p:cNvSpPr>
          <p:nvPr/>
        </p:nvSpPr>
        <p:spPr>
          <a:xfrm>
            <a:off x="10002635" y="1801368"/>
            <a:ext cx="83300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65</a:t>
            </a:r>
            <a:endParaRPr sz="1400"/>
          </a:p>
        </p:txBody>
      </p:sp>
      <p:sp>
        <p:nvSpPr>
          <p:cNvPr id="26" name="Text 24">
            <a:extLst>
              <a:ext uri="{FF2B5EF4-FFF2-40B4-BE49-F238E27FC236}">
                <a16:creationId xmlns:a16="http://schemas.microsoft.com/office/drawing/2014/main" id="{81933FDF-EA25-4585-A93B-ABD0566E7B0F}"/>
              </a:ext>
            </a:extLst>
          </p:cNvPr>
          <p:cNvSpPr>
            <a:spLocks noGrp="1"/>
          </p:cNvSpPr>
          <p:nvPr/>
        </p:nvSpPr>
        <p:spPr>
          <a:xfrm>
            <a:off x="649224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27" name="Shape 25">
            <a:extLst>
              <a:ext uri="{FF2B5EF4-FFF2-40B4-BE49-F238E27FC236}">
                <a16:creationId xmlns:a16="http://schemas.microsoft.com/office/drawing/2014/main" id="{3ACB8EB3-8E45-481D-AF15-6AA352FE9DEF}"/>
              </a:ext>
            </a:extLst>
          </p:cNvPr>
          <p:cNvSpPr>
            <a:spLocks noGrp="1"/>
          </p:cNvSpPr>
          <p:nvPr/>
        </p:nvSpPr>
        <p:spPr>
          <a:xfrm>
            <a:off x="7452360" y="2560320"/>
            <a:ext cx="1166206" cy="530352"/>
          </a:xfrm>
          <a:prstGeom prst="rect">
            <a:avLst/>
          </a:prstGeom>
          <a:solidFill>
            <a:srgbClr val="1F9D8A"/>
          </a:solidFill>
          <a:ln w="10160">
            <a:solidFill>
              <a:srgbClr val="FFFFFF"/>
            </a:solidFill>
            <a:prstDash val="solid"/>
          </a:ln>
        </p:spPr>
        <p:txBody>
          <a:bodyPr/>
          <a:lstStyle/>
          <a:p>
            <a:endParaRPr/>
          </a:p>
        </p:txBody>
      </p:sp>
      <p:sp>
        <p:nvSpPr>
          <p:cNvPr id="28" name="Text 26">
            <a:extLst>
              <a:ext uri="{FF2B5EF4-FFF2-40B4-BE49-F238E27FC236}">
                <a16:creationId xmlns:a16="http://schemas.microsoft.com/office/drawing/2014/main" id="{DA9CC502-43D4-4E37-9671-76F6EC59A92F}"/>
              </a:ext>
            </a:extLst>
          </p:cNvPr>
          <p:cNvSpPr>
            <a:spLocks noGrp="1"/>
          </p:cNvSpPr>
          <p:nvPr/>
        </p:nvSpPr>
        <p:spPr>
          <a:xfrm>
            <a:off x="7452360" y="2578608"/>
            <a:ext cx="1166206"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91</a:t>
            </a:r>
            <a:endParaRPr sz="1400"/>
          </a:p>
        </p:txBody>
      </p:sp>
      <p:sp>
        <p:nvSpPr>
          <p:cNvPr id="29" name="Shape 27">
            <a:extLst>
              <a:ext uri="{FF2B5EF4-FFF2-40B4-BE49-F238E27FC236}">
                <a16:creationId xmlns:a16="http://schemas.microsoft.com/office/drawing/2014/main" id="{1DF4F242-15D9-46B8-A1C5-24B3BDA8EE3F}"/>
              </a:ext>
            </a:extLst>
          </p:cNvPr>
          <p:cNvSpPr>
            <a:spLocks noGrp="1"/>
          </p:cNvSpPr>
          <p:nvPr/>
        </p:nvSpPr>
        <p:spPr>
          <a:xfrm>
            <a:off x="8618566" y="2560320"/>
            <a:ext cx="2217074" cy="530352"/>
          </a:xfrm>
          <a:prstGeom prst="rect">
            <a:avLst/>
          </a:prstGeom>
          <a:solidFill>
            <a:srgbClr val="8C6D5A"/>
          </a:solidFill>
          <a:ln w="10160">
            <a:solidFill>
              <a:srgbClr val="FFFFFF"/>
            </a:solidFill>
            <a:prstDash val="solid"/>
          </a:ln>
        </p:spPr>
        <p:txBody>
          <a:bodyPr/>
          <a:lstStyle/>
          <a:p>
            <a:endParaRPr/>
          </a:p>
        </p:txBody>
      </p:sp>
      <p:sp>
        <p:nvSpPr>
          <p:cNvPr id="30" name="Text 28">
            <a:extLst>
              <a:ext uri="{FF2B5EF4-FFF2-40B4-BE49-F238E27FC236}">
                <a16:creationId xmlns:a16="http://schemas.microsoft.com/office/drawing/2014/main" id="{0858363B-6D51-48FB-9F18-0B833CFEABC7}"/>
              </a:ext>
            </a:extLst>
          </p:cNvPr>
          <p:cNvSpPr>
            <a:spLocks noGrp="1"/>
          </p:cNvSpPr>
          <p:nvPr/>
        </p:nvSpPr>
        <p:spPr>
          <a:xfrm>
            <a:off x="8618566" y="2578608"/>
            <a:ext cx="2217074"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173</a:t>
            </a:r>
            <a:endParaRPr sz="1400"/>
          </a:p>
        </p:txBody>
      </p:sp>
      <p:sp>
        <p:nvSpPr>
          <p:cNvPr id="31" name="Text 29">
            <a:extLst>
              <a:ext uri="{FF2B5EF4-FFF2-40B4-BE49-F238E27FC236}">
                <a16:creationId xmlns:a16="http://schemas.microsoft.com/office/drawing/2014/main" id="{F683C998-0A91-4323-B3B4-6C80DD02B99A}"/>
              </a:ext>
            </a:extLst>
          </p:cNvPr>
          <p:cNvSpPr>
            <a:spLocks noGrp="1"/>
          </p:cNvSpPr>
          <p:nvPr/>
        </p:nvSpPr>
        <p:spPr>
          <a:xfrm>
            <a:off x="649224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32" name="Shape 30">
            <a:extLst>
              <a:ext uri="{FF2B5EF4-FFF2-40B4-BE49-F238E27FC236}">
                <a16:creationId xmlns:a16="http://schemas.microsoft.com/office/drawing/2014/main" id="{DAC7B438-2318-4638-8A82-D3CE154D8D5F}"/>
              </a:ext>
            </a:extLst>
          </p:cNvPr>
          <p:cNvSpPr>
            <a:spLocks noGrp="1"/>
          </p:cNvSpPr>
          <p:nvPr/>
        </p:nvSpPr>
        <p:spPr>
          <a:xfrm>
            <a:off x="731520" y="3703320"/>
            <a:ext cx="3429000" cy="1572768"/>
          </a:xfrm>
          <a:prstGeom prst="roundRect">
            <a:avLst>
              <a:gd name="adj" fmla="val 4651"/>
            </a:avLst>
          </a:prstGeom>
          <a:solidFill>
            <a:srgbClr val="E8F6F3"/>
          </a:solidFill>
          <a:ln w="12700">
            <a:solidFill>
              <a:srgbClr val="1F9D8A"/>
            </a:solidFill>
            <a:prstDash val="solid"/>
          </a:ln>
        </p:spPr>
        <p:txBody>
          <a:bodyPr/>
          <a:lstStyle/>
          <a:p>
            <a:endParaRPr/>
          </a:p>
        </p:txBody>
      </p:sp>
      <p:pic>
        <p:nvPicPr>
          <p:cNvPr id="80"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4005072"/>
            <a:ext cx="475488" cy="475488"/>
          </a:xfrm>
          <a:prstGeom prst="rect">
            <a:avLst/>
          </a:prstGeom>
        </p:spPr>
      </p:pic>
      <p:sp>
        <p:nvSpPr>
          <p:cNvPr id="34" name="Text 31">
            <a:extLst>
              <a:ext uri="{FF2B5EF4-FFF2-40B4-BE49-F238E27FC236}">
                <a16:creationId xmlns:a16="http://schemas.microsoft.com/office/drawing/2014/main" id="{9CA28977-0949-41E7-9335-0F540913C2ED}"/>
              </a:ext>
            </a:extLst>
          </p:cNvPr>
          <p:cNvSpPr>
            <a:spLocks noGrp="1"/>
          </p:cNvSpPr>
          <p:nvPr/>
        </p:nvSpPr>
        <p:spPr>
          <a:xfrm>
            <a:off x="1664208"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高PV条件</a:t>
            </a:r>
            <a:endParaRPr sz="1800"/>
          </a:p>
        </p:txBody>
      </p:sp>
      <p:sp>
        <p:nvSpPr>
          <p:cNvPr id="35" name="Text 32">
            <a:extLst>
              <a:ext uri="{FF2B5EF4-FFF2-40B4-BE49-F238E27FC236}">
                <a16:creationId xmlns:a16="http://schemas.microsoft.com/office/drawing/2014/main" id="{8A1276ED-A41E-46D1-9C2A-E22B6EDC0324}"/>
              </a:ext>
            </a:extLst>
          </p:cNvPr>
          <p:cNvSpPr>
            <a:spLocks noGrp="1"/>
          </p:cNvSpPr>
          <p:nvPr/>
        </p:nvSpPr>
        <p:spPr>
          <a:xfrm>
            <a:off x="1005840"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28台・199便</a:t>
            </a:r>
            <a:endParaRPr sz="1550"/>
          </a:p>
          <a:p>
            <a:pPr marL="0" indent="0" algn="ctr">
              <a:buNone/>
            </a:pPr>
            <a:r>
              <a:rPr sz="1550">
                <a:solidFill>
                  <a:srgbClr val="687386"/>
                </a:solidFill>
                <a:latin typeface="Noto Sans CJK JP"/>
                <a:ea typeface="Noto Sans CJK JP"/>
                <a:cs typeface="Noto Sans CJK JP"/>
              </a:rPr>
              <a:t>→ BEV担当便が多い保存結果</a:t>
            </a:r>
            <a:endParaRPr sz="1550"/>
          </a:p>
        </p:txBody>
      </p:sp>
      <p:sp>
        <p:nvSpPr>
          <p:cNvPr id="36" name="Shape 33">
            <a:extLst>
              <a:ext uri="{FF2B5EF4-FFF2-40B4-BE49-F238E27FC236}">
                <a16:creationId xmlns:a16="http://schemas.microsoft.com/office/drawing/2014/main" id="{8F2ABA4B-D2AA-4A21-973C-483E02E361C1}"/>
              </a:ext>
            </a:extLst>
          </p:cNvPr>
          <p:cNvSpPr>
            <a:spLocks noGrp="1"/>
          </p:cNvSpPr>
          <p:nvPr/>
        </p:nvSpPr>
        <p:spPr>
          <a:xfrm>
            <a:off x="4407408" y="3703320"/>
            <a:ext cx="3429000" cy="1572768"/>
          </a:xfrm>
          <a:prstGeom prst="roundRect">
            <a:avLst>
              <a:gd name="adj" fmla="val 4651"/>
            </a:avLst>
          </a:prstGeom>
          <a:solidFill>
            <a:srgbClr val="EAF2FB"/>
          </a:solidFill>
          <a:ln w="12700">
            <a:solidFill>
              <a:srgbClr val="356BB3"/>
            </a:solidFill>
            <a:prstDash val="solid"/>
          </a:ln>
        </p:spPr>
        <p:txBody>
          <a:bodyPr/>
          <a:lstStyle/>
          <a:p>
            <a:endParaRPr/>
          </a:p>
        </p:txBody>
      </p:sp>
      <p:pic>
        <p:nvPicPr>
          <p:cNvPr id="84"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4005072"/>
            <a:ext cx="502920" cy="475488"/>
          </a:xfrm>
          <a:prstGeom prst="rect">
            <a:avLst/>
          </a:prstGeom>
        </p:spPr>
      </p:pic>
      <p:sp>
        <p:nvSpPr>
          <p:cNvPr id="38" name="Text 34">
            <a:extLst>
              <a:ext uri="{FF2B5EF4-FFF2-40B4-BE49-F238E27FC236}">
                <a16:creationId xmlns:a16="http://schemas.microsoft.com/office/drawing/2014/main" id="{CF3D9155-32E5-4524-9564-5387BAA16EB9}"/>
              </a:ext>
            </a:extLst>
          </p:cNvPr>
          <p:cNvSpPr>
            <a:spLocks noGrp="1"/>
          </p:cNvSpPr>
          <p:nvPr/>
        </p:nvSpPr>
        <p:spPr>
          <a:xfrm>
            <a:off x="5349240"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低PV条件</a:t>
            </a:r>
            <a:endParaRPr sz="1800"/>
          </a:p>
        </p:txBody>
      </p:sp>
      <p:sp>
        <p:nvSpPr>
          <p:cNvPr id="39" name="Text 35">
            <a:extLst>
              <a:ext uri="{FF2B5EF4-FFF2-40B4-BE49-F238E27FC236}">
                <a16:creationId xmlns:a16="http://schemas.microsoft.com/office/drawing/2014/main" id="{8BC01A59-D220-4153-9CEF-E471CFBE6D78}"/>
              </a:ext>
            </a:extLst>
          </p:cNvPr>
          <p:cNvSpPr>
            <a:spLocks noGrp="1"/>
          </p:cNvSpPr>
          <p:nvPr/>
        </p:nvSpPr>
        <p:spPr>
          <a:xfrm>
            <a:off x="4681728"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21台・91便</a:t>
            </a:r>
            <a:endParaRPr sz="1550"/>
          </a:p>
          <a:p>
            <a:pPr marL="0" indent="0" algn="ctr">
              <a:buNone/>
            </a:pPr>
            <a:r>
              <a:rPr sz="1550">
                <a:solidFill>
                  <a:srgbClr val="687386"/>
                </a:solidFill>
                <a:latin typeface="Noto Sans CJK JP"/>
                <a:ea typeface="Noto Sans CJK JP"/>
                <a:cs typeface="Noto Sans CJK JP"/>
              </a:rPr>
              <a:t>→ ICE担当便が多い保存結果</a:t>
            </a:r>
            <a:endParaRPr sz="1550"/>
          </a:p>
        </p:txBody>
      </p:sp>
      <p:sp>
        <p:nvSpPr>
          <p:cNvPr id="40" name="Shape 36">
            <a:extLst>
              <a:ext uri="{FF2B5EF4-FFF2-40B4-BE49-F238E27FC236}">
                <a16:creationId xmlns:a16="http://schemas.microsoft.com/office/drawing/2014/main" id="{E8A10767-6C0F-4A63-A6F3-87C3744264BB}"/>
              </a:ext>
            </a:extLst>
          </p:cNvPr>
          <p:cNvSpPr>
            <a:spLocks noGrp="1"/>
          </p:cNvSpPr>
          <p:nvPr/>
        </p:nvSpPr>
        <p:spPr>
          <a:xfrm>
            <a:off x="8083296" y="3703320"/>
            <a:ext cx="3429000" cy="1572768"/>
          </a:xfrm>
          <a:prstGeom prst="roundRect">
            <a:avLst>
              <a:gd name="adj" fmla="val 4651"/>
            </a:avLst>
          </a:prstGeom>
          <a:solidFill>
            <a:srgbClr val="F8FAFC"/>
          </a:solidFill>
          <a:ln w="12700">
            <a:solidFill>
              <a:srgbClr val="EEF1F5"/>
            </a:solidFill>
            <a:prstDash val="solid"/>
          </a:ln>
        </p:spPr>
        <p:txBody>
          <a:bodyPr/>
          <a:lstStyle/>
          <a:p>
            <a:endParaRPr/>
          </a:p>
        </p:txBody>
      </p:sp>
      <p:pic>
        <p:nvPicPr>
          <p:cNvPr id="88"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7616" y="4005072"/>
            <a:ext cx="457200" cy="457200"/>
          </a:xfrm>
          <a:prstGeom prst="rect">
            <a:avLst/>
          </a:prstGeom>
        </p:spPr>
      </p:pic>
      <p:sp>
        <p:nvSpPr>
          <p:cNvPr id="42" name="Text 37">
            <a:extLst>
              <a:ext uri="{FF2B5EF4-FFF2-40B4-BE49-F238E27FC236}">
                <a16:creationId xmlns:a16="http://schemas.microsoft.com/office/drawing/2014/main" id="{B60E9869-D1FE-40C7-8CBC-3B8869CA77C3}"/>
              </a:ext>
            </a:extLst>
          </p:cNvPr>
          <p:cNvSpPr>
            <a:spLocks noGrp="1"/>
          </p:cNvSpPr>
          <p:nvPr/>
        </p:nvSpPr>
        <p:spPr>
          <a:xfrm>
            <a:off x="9015984" y="3913632"/>
            <a:ext cx="10058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共通</a:t>
            </a:r>
            <a:endParaRPr sz="1800"/>
          </a:p>
        </p:txBody>
      </p:sp>
      <p:sp>
        <p:nvSpPr>
          <p:cNvPr id="43" name="Text 38">
            <a:extLst>
              <a:ext uri="{FF2B5EF4-FFF2-40B4-BE49-F238E27FC236}">
                <a16:creationId xmlns:a16="http://schemas.microsoft.com/office/drawing/2014/main" id="{03E47449-1D86-4E40-8A70-CC0F8F1F5A8C}"/>
              </a:ext>
            </a:extLst>
          </p:cNvPr>
          <p:cNvSpPr>
            <a:spLocks noGrp="1"/>
          </p:cNvSpPr>
          <p:nvPr/>
        </p:nvSpPr>
        <p:spPr>
          <a:xfrm>
            <a:off x="8357616"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264/264便を運行</a:t>
            </a:r>
            <a:endParaRPr sz="1550"/>
          </a:p>
          <a:p>
            <a:pPr marL="0" indent="0" algn="ctr">
              <a:buNone/>
            </a:pPr>
            <a:r>
              <a:rPr sz="1550">
                <a:solidFill>
                  <a:srgbClr val="687386"/>
                </a:solidFill>
                <a:latin typeface="Noto Sans CJK JP"/>
                <a:ea typeface="Noto Sans CJK JP"/>
                <a:cs typeface="Noto Sans CJK JP"/>
              </a:rPr>
              <a:t>使用総台数はどちらも32台</a:t>
            </a:r>
            <a:endParaRPr sz="1550"/>
          </a:p>
        </p:txBody>
      </p:sp>
      <p:sp>
        <p:nvSpPr>
          <p:cNvPr id="44" name="Text 39">
            <a:extLst>
              <a:ext uri="{FF2B5EF4-FFF2-40B4-BE49-F238E27FC236}">
                <a16:creationId xmlns:a16="http://schemas.microsoft.com/office/drawing/2014/main" id="{23230E42-A982-43CE-A3D1-9A6785AFAFB0}"/>
              </a:ext>
            </a:extLst>
          </p:cNvPr>
          <p:cNvSpPr>
            <a:spLocks noGrp="1"/>
          </p:cNvSpPr>
          <p:nvPr/>
        </p:nvSpPr>
        <p:spPr>
          <a:xfrm>
            <a:off x="1828800" y="5797296"/>
            <a:ext cx="8595360" cy="237744"/>
          </a:xfrm>
          <a:prstGeom prst="rect">
            <a:avLst/>
          </a:prstGeom>
          <a:noFill/>
        </p:spPr>
        <p:txBody>
          <a:bodyPr wrap="square" lIns="0" tIns="0" rIns="0" bIns="0" anchor="ctr"/>
          <a:lstStyle/>
          <a:p>
            <a:pPr marL="0" indent="0" algn="ctr">
              <a:buNone/>
            </a:pPr>
            <a:r>
              <a:rPr sz="1080">
                <a:solidFill>
                  <a:srgbClr val="C94C4C"/>
                </a:solidFill>
                <a:latin typeface="Noto Sans CJK JP"/>
                <a:ea typeface="Noto Sans CJK JP"/>
                <a:cs typeface="Noto Sans CJK JP"/>
              </a:rPr>
              <a:t>※ 2つの固定条件での結果であり、一般的な天候効果を示すものではない</a:t>
            </a:r>
            <a:endParaRPr sz="1080"/>
          </a:p>
        </p:txBody>
      </p:sp>
      <p:sp>
        <p:nvSpPr>
          <p:cNvPr id="48" name="正方形/長方形 47">
            <a:extLst>
              <a:ext uri="{FF2B5EF4-FFF2-40B4-BE49-F238E27FC236}">
                <a16:creationId xmlns:a16="http://schemas.microsoft.com/office/drawing/2014/main" id="{669B609C-919B-4197-9836-E85DBCD25C2C}"/>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60460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2F3C9D5F-5202-43DE-AD12-E73EFC5F02A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先行研究にならい、車両構成と費用の関係を候補ごとに確認</a:t>
            </a:r>
            <a:endParaRPr sz="2550"/>
          </a:p>
        </p:txBody>
      </p:sp>
      <p:sp>
        <p:nvSpPr>
          <p:cNvPr id="3" name="Shape 1">
            <a:extLst>
              <a:ext uri="{FF2B5EF4-FFF2-40B4-BE49-F238E27FC236}">
                <a16:creationId xmlns:a16="http://schemas.microsoft.com/office/drawing/2014/main" id="{7BD475C6-BD36-4A2C-93C3-9EA2276183F9}"/>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9C47CDF3-B45E-481F-B09D-C764EB2C4DA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63AD49D9-8D72-428A-A10D-7BB7FBF07E1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11/18</a:t>
            </a:r>
            <a:endParaRPr sz="850"/>
          </a:p>
        </p:txBody>
      </p:sp>
      <p:pic>
        <p:nvPicPr>
          <p:cNvPr id="27" name="Image 0"/>
          <p:cNvPicPr>
            <a:picLocks noChangeAspect="1"/>
          </p:cNvPicPr>
          <p:nvPr/>
        </p:nvPicPr>
        <p:blipFill>
          <a:blip r:embed="rId3"/>
          <a:stretch>
            <a:fillRect/>
          </a:stretch>
        </p:blipFill>
        <p:spPr>
          <a:xfrm>
            <a:off x="594360" y="960120"/>
            <a:ext cx="7498080" cy="4343400"/>
          </a:xfrm>
          <a:prstGeom prst="rect">
            <a:avLst/>
          </a:prstGeom>
        </p:spPr>
      </p:pic>
      <p:sp>
        <p:nvSpPr>
          <p:cNvPr id="7" name="Shape 4">
            <a:extLst>
              <a:ext uri="{FF2B5EF4-FFF2-40B4-BE49-F238E27FC236}">
                <a16:creationId xmlns:a16="http://schemas.microsoft.com/office/drawing/2014/main" id="{1A6434E7-3639-4703-B6A3-95DD1D1A7E10}"/>
              </a:ext>
            </a:extLst>
          </p:cNvPr>
          <p:cNvSpPr>
            <a:spLocks noGrp="1"/>
          </p:cNvSpPr>
          <p:nvPr/>
        </p:nvSpPr>
        <p:spPr>
          <a:xfrm>
            <a:off x="8275320" y="1078992"/>
            <a:ext cx="3246120" cy="4041648"/>
          </a:xfrm>
          <a:prstGeom prst="roundRect">
            <a:avLst>
              <a:gd name="adj" fmla="val 225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8" name="Text 5">
            <a:extLst>
              <a:ext uri="{FF2B5EF4-FFF2-40B4-BE49-F238E27FC236}">
                <a16:creationId xmlns:a16="http://schemas.microsoft.com/office/drawing/2014/main" id="{1B8D6076-C429-4113-84DF-980A62CC5384}"/>
              </a:ext>
            </a:extLst>
          </p:cNvPr>
          <p:cNvSpPr>
            <a:spLocks noGrp="1"/>
          </p:cNvSpPr>
          <p:nvPr/>
        </p:nvSpPr>
        <p:spPr>
          <a:xfrm>
            <a:off x="8567928" y="1344168"/>
            <a:ext cx="2514600" cy="329184"/>
          </a:xfrm>
          <a:prstGeom prst="rect">
            <a:avLst/>
          </a:prstGeom>
          <a:noFill/>
        </p:spPr>
        <p:txBody>
          <a:bodyPr wrap="square" lIns="0" tIns="0" rIns="0" bIns="0" anchor="ctr"/>
          <a:lstStyle/>
          <a:p>
            <a:pPr marL="0" indent="0" algn="ctr">
              <a:buNone/>
            </a:pPr>
            <a:r>
              <a:rPr sz="2000" b="1">
                <a:solidFill>
                  <a:srgbClr val="172033"/>
                </a:solidFill>
                <a:latin typeface="Noto Sans CJK JP"/>
                <a:ea typeface="Noto Sans CJK JP"/>
                <a:cs typeface="Noto Sans CJK JP"/>
              </a:rPr>
              <a:t>図から読めること</a:t>
            </a:r>
            <a:endParaRPr sz="2000"/>
          </a:p>
        </p:txBody>
      </p:sp>
      <p:sp>
        <p:nvSpPr>
          <p:cNvPr id="9" name="Shape 6">
            <a:extLst>
              <a:ext uri="{FF2B5EF4-FFF2-40B4-BE49-F238E27FC236}">
                <a16:creationId xmlns:a16="http://schemas.microsoft.com/office/drawing/2014/main" id="{BA3E87F4-EABD-431D-9C4A-5065F5A5EB89}"/>
              </a:ext>
            </a:extLst>
          </p:cNvPr>
          <p:cNvSpPr>
            <a:spLocks noGrp="1"/>
          </p:cNvSpPr>
          <p:nvPr/>
        </p:nvSpPr>
        <p:spPr>
          <a:xfrm>
            <a:off x="8540496" y="2066544"/>
            <a:ext cx="91440" cy="91440"/>
          </a:xfrm>
          <a:prstGeom prst="ellipse">
            <a:avLst/>
          </a:prstGeom>
          <a:solidFill>
            <a:srgbClr val="356BB3"/>
          </a:solidFill>
          <a:ln w="12700">
            <a:solidFill>
              <a:srgbClr val="356BB3"/>
            </a:solidFill>
            <a:prstDash val="solid"/>
          </a:ln>
        </p:spPr>
        <p:txBody>
          <a:bodyPr/>
          <a:lstStyle/>
          <a:p>
            <a:endParaRPr/>
          </a:p>
        </p:txBody>
      </p:sp>
      <p:sp>
        <p:nvSpPr>
          <p:cNvPr id="10" name="Text 7">
            <a:extLst>
              <a:ext uri="{FF2B5EF4-FFF2-40B4-BE49-F238E27FC236}">
                <a16:creationId xmlns:a16="http://schemas.microsoft.com/office/drawing/2014/main" id="{169AE80B-1B7D-4EBD-9B7E-7F0A0E658170}"/>
              </a:ext>
            </a:extLst>
          </p:cNvPr>
          <p:cNvSpPr>
            <a:spLocks noGrp="1"/>
          </p:cNvSpPr>
          <p:nvPr/>
        </p:nvSpPr>
        <p:spPr>
          <a:xfrm>
            <a:off x="8705088" y="192024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高PV条件はBEV 28台の候補を選択</a:t>
            </a:r>
            <a:endParaRPr sz="1430"/>
          </a:p>
        </p:txBody>
      </p:sp>
      <p:sp>
        <p:nvSpPr>
          <p:cNvPr id="11" name="Shape 8">
            <a:extLst>
              <a:ext uri="{FF2B5EF4-FFF2-40B4-BE49-F238E27FC236}">
                <a16:creationId xmlns:a16="http://schemas.microsoft.com/office/drawing/2014/main" id="{9ED3F980-3414-4B5B-8DCE-FAE6C78BDC06}"/>
              </a:ext>
            </a:extLst>
          </p:cNvPr>
          <p:cNvSpPr>
            <a:spLocks noGrp="1"/>
          </p:cNvSpPr>
          <p:nvPr/>
        </p:nvSpPr>
        <p:spPr>
          <a:xfrm>
            <a:off x="8540496" y="2672334"/>
            <a:ext cx="91440" cy="91440"/>
          </a:xfrm>
          <a:prstGeom prst="ellipse">
            <a:avLst/>
          </a:prstGeom>
          <a:solidFill>
            <a:srgbClr val="356BB3"/>
          </a:solidFill>
          <a:ln w="12700">
            <a:solidFill>
              <a:srgbClr val="356BB3"/>
            </a:solidFill>
            <a:prstDash val="solid"/>
          </a:ln>
        </p:spPr>
        <p:txBody>
          <a:bodyPr/>
          <a:lstStyle/>
          <a:p>
            <a:endParaRPr/>
          </a:p>
        </p:txBody>
      </p:sp>
      <p:sp>
        <p:nvSpPr>
          <p:cNvPr id="12" name="Text 9">
            <a:extLst>
              <a:ext uri="{FF2B5EF4-FFF2-40B4-BE49-F238E27FC236}">
                <a16:creationId xmlns:a16="http://schemas.microsoft.com/office/drawing/2014/main" id="{5D8D9423-671B-4DD4-AE0D-437D6C64AB60}"/>
              </a:ext>
            </a:extLst>
          </p:cNvPr>
          <p:cNvSpPr>
            <a:spLocks noGrp="1"/>
          </p:cNvSpPr>
          <p:nvPr/>
        </p:nvSpPr>
        <p:spPr>
          <a:xfrm>
            <a:off x="8705088" y="252603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低PV条件はBEV 21台の候補を選択</a:t>
            </a:r>
            <a:endParaRPr sz="1430"/>
          </a:p>
        </p:txBody>
      </p:sp>
      <p:sp>
        <p:nvSpPr>
          <p:cNvPr id="13" name="Shape 10">
            <a:extLst>
              <a:ext uri="{FF2B5EF4-FFF2-40B4-BE49-F238E27FC236}">
                <a16:creationId xmlns:a16="http://schemas.microsoft.com/office/drawing/2014/main" id="{C4B3D581-59A5-4E08-8C32-1A972F38AFD0}"/>
              </a:ext>
            </a:extLst>
          </p:cNvPr>
          <p:cNvSpPr>
            <a:spLocks noGrp="1"/>
          </p:cNvSpPr>
          <p:nvPr/>
        </p:nvSpPr>
        <p:spPr>
          <a:xfrm>
            <a:off x="8540496" y="3278124"/>
            <a:ext cx="91440" cy="91440"/>
          </a:xfrm>
          <a:prstGeom prst="ellipse">
            <a:avLst/>
          </a:prstGeom>
          <a:solidFill>
            <a:srgbClr val="356BB3"/>
          </a:solidFill>
          <a:ln w="12700">
            <a:solidFill>
              <a:srgbClr val="356BB3"/>
            </a:solidFill>
            <a:prstDash val="solid"/>
          </a:ln>
        </p:spPr>
        <p:txBody>
          <a:bodyPr/>
          <a:lstStyle/>
          <a:p>
            <a:endParaRPr/>
          </a:p>
        </p:txBody>
      </p:sp>
      <p:sp>
        <p:nvSpPr>
          <p:cNvPr id="14" name="Text 11">
            <a:extLst>
              <a:ext uri="{FF2B5EF4-FFF2-40B4-BE49-F238E27FC236}">
                <a16:creationId xmlns:a16="http://schemas.microsoft.com/office/drawing/2014/main" id="{1180D69E-4326-4D51-A91B-A788E2C7649C}"/>
              </a:ext>
            </a:extLst>
          </p:cNvPr>
          <p:cNvSpPr>
            <a:spLocks noGrp="1"/>
          </p:cNvSpPr>
          <p:nvPr/>
        </p:nvSpPr>
        <p:spPr>
          <a:xfrm>
            <a:off x="8705088" y="313182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同じ候補でもPV条件で評価額が変わる</a:t>
            </a:r>
            <a:endParaRPr sz="1430"/>
          </a:p>
        </p:txBody>
      </p:sp>
      <p:sp>
        <p:nvSpPr>
          <p:cNvPr id="15" name="Shape 12">
            <a:extLst>
              <a:ext uri="{FF2B5EF4-FFF2-40B4-BE49-F238E27FC236}">
                <a16:creationId xmlns:a16="http://schemas.microsoft.com/office/drawing/2014/main" id="{ADB1432F-BE2F-436A-B307-B2BE5477B2D7}"/>
              </a:ext>
            </a:extLst>
          </p:cNvPr>
          <p:cNvSpPr>
            <a:spLocks noGrp="1"/>
          </p:cNvSpPr>
          <p:nvPr/>
        </p:nvSpPr>
        <p:spPr>
          <a:xfrm>
            <a:off x="8540496" y="3883914"/>
            <a:ext cx="91440" cy="91440"/>
          </a:xfrm>
          <a:prstGeom prst="ellipse">
            <a:avLst/>
          </a:prstGeom>
          <a:solidFill>
            <a:srgbClr val="356BB3"/>
          </a:solidFill>
          <a:ln w="12700">
            <a:solidFill>
              <a:srgbClr val="356BB3"/>
            </a:solidFill>
            <a:prstDash val="solid"/>
          </a:ln>
        </p:spPr>
        <p:txBody>
          <a:bodyPr/>
          <a:lstStyle/>
          <a:p>
            <a:endParaRPr/>
          </a:p>
        </p:txBody>
      </p:sp>
      <p:sp>
        <p:nvSpPr>
          <p:cNvPr id="16" name="Text 13">
            <a:extLst>
              <a:ext uri="{FF2B5EF4-FFF2-40B4-BE49-F238E27FC236}">
                <a16:creationId xmlns:a16="http://schemas.microsoft.com/office/drawing/2014/main" id="{439D9F0E-68EB-4716-81C9-2CE3520A8B77}"/>
              </a:ext>
            </a:extLst>
          </p:cNvPr>
          <p:cNvSpPr>
            <a:spLocks noGrp="1"/>
          </p:cNvSpPr>
          <p:nvPr/>
        </p:nvSpPr>
        <p:spPr>
          <a:xfrm>
            <a:off x="8705088" y="3737610"/>
            <a:ext cx="2395728" cy="560070"/>
          </a:xfrm>
          <a:prstGeom prst="rect">
            <a:avLst/>
          </a:prstGeom>
          <a:noFill/>
        </p:spPr>
        <p:txBody>
          <a:bodyPr wrap="square" lIns="0" tIns="0" rIns="0" bIns="0" anchor="ctr">
            <a:normAutofit/>
          </a:bodyPr>
          <a:lstStyle/>
          <a:p>
            <a:pPr marL="0" indent="0">
              <a:buNone/>
            </a:pPr>
            <a:r>
              <a:rPr sz="1430">
                <a:solidFill>
                  <a:srgbClr val="172033"/>
                </a:solidFill>
                <a:latin typeface="Noto Sans CJK JP"/>
                <a:ea typeface="Noto Sans CJK JP"/>
                <a:cs typeface="Noto Sans CJK JP"/>
              </a:rPr>
              <a:t>BEVを増やせば必ず安くなるわけではない</a:t>
            </a:r>
            <a:endParaRPr sz="1430"/>
          </a:p>
        </p:txBody>
      </p:sp>
      <p:sp>
        <p:nvSpPr>
          <p:cNvPr id="17" name="Shape 14">
            <a:extLst>
              <a:ext uri="{FF2B5EF4-FFF2-40B4-BE49-F238E27FC236}">
                <a16:creationId xmlns:a16="http://schemas.microsoft.com/office/drawing/2014/main" id="{014B0BEF-8112-4517-B25C-20A119C34B21}"/>
              </a:ext>
            </a:extLst>
          </p:cNvPr>
          <p:cNvSpPr>
            <a:spLocks noGrp="1"/>
          </p:cNvSpPr>
          <p:nvPr/>
        </p:nvSpPr>
        <p:spPr>
          <a:xfrm>
            <a:off x="8549640" y="4526280"/>
            <a:ext cx="2697480" cy="384048"/>
          </a:xfrm>
          <a:prstGeom prst="roundRect">
            <a:avLst/>
          </a:prstGeom>
          <a:solidFill>
            <a:srgbClr val="FFF5D8"/>
          </a:solidFill>
          <a:ln w="12700">
            <a:solidFill>
              <a:srgbClr val="E7B34B"/>
            </a:solidFill>
            <a:prstDash val="solid"/>
          </a:ln>
        </p:spPr>
        <p:txBody>
          <a:bodyPr/>
          <a:lstStyle/>
          <a:p>
            <a:endParaRPr/>
          </a:p>
        </p:txBody>
      </p:sp>
      <p:sp>
        <p:nvSpPr>
          <p:cNvPr id="18" name="Text 15">
            <a:extLst>
              <a:ext uri="{FF2B5EF4-FFF2-40B4-BE49-F238E27FC236}">
                <a16:creationId xmlns:a16="http://schemas.microsoft.com/office/drawing/2014/main" id="{9970B710-CF81-4738-B465-856CE5C61119}"/>
              </a:ext>
            </a:extLst>
          </p:cNvPr>
          <p:cNvSpPr>
            <a:spLocks noGrp="1"/>
          </p:cNvSpPr>
          <p:nvPr/>
        </p:nvSpPr>
        <p:spPr>
          <a:xfrm>
            <a:off x="8732520" y="4617720"/>
            <a:ext cx="2331720" cy="201168"/>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有限22候補内の比較</a:t>
            </a:r>
            <a:endParaRPr sz="1400"/>
          </a:p>
        </p:txBody>
      </p:sp>
      <p:sp>
        <p:nvSpPr>
          <p:cNvPr id="19" name="Text 16">
            <a:extLst>
              <a:ext uri="{FF2B5EF4-FFF2-40B4-BE49-F238E27FC236}">
                <a16:creationId xmlns:a16="http://schemas.microsoft.com/office/drawing/2014/main" id="{E3097DFF-0864-4F57-9761-4798307A7DD4}"/>
              </a:ext>
            </a:extLst>
          </p:cNvPr>
          <p:cNvSpPr>
            <a:spLocks noGrp="1"/>
          </p:cNvSpPr>
          <p:nvPr/>
        </p:nvSpPr>
        <p:spPr>
          <a:xfrm>
            <a:off x="1005840" y="5742432"/>
            <a:ext cx="10149840" cy="274320"/>
          </a:xfrm>
          <a:prstGeom prst="rect">
            <a:avLst/>
          </a:prstGeom>
          <a:noFill/>
        </p:spPr>
        <p:txBody>
          <a:bodyPr wrap="square" lIns="0" tIns="0" rIns="0" bIns="0" anchor="ctr"/>
          <a:lstStyle/>
          <a:p>
            <a:pPr marL="0" indent="0" algn="ctr">
              <a:buNone/>
            </a:pPr>
            <a:r>
              <a:rPr sz="1100">
                <a:solidFill>
                  <a:srgbClr val="C94C4C"/>
                </a:solidFill>
                <a:latin typeface="Noto Sans CJK JP"/>
                <a:ea typeface="Noto Sans CJK JP"/>
                <a:cs typeface="Noto Sans CJK JP"/>
              </a:rPr>
              <a:t>因果関係や全候補の最適性を示す図ではない</a:t>
            </a:r>
            <a:endParaRPr sz="1100"/>
          </a:p>
        </p:txBody>
      </p:sp>
      <p:sp>
        <p:nvSpPr>
          <p:cNvPr id="20" name="Text 17">
            <a:extLst>
              <a:ext uri="{FF2B5EF4-FFF2-40B4-BE49-F238E27FC236}">
                <a16:creationId xmlns:a16="http://schemas.microsoft.com/office/drawing/2014/main" id="{43276C9E-D349-43EC-BCEA-36B684D3121A}"/>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図の構成は Fei et al., Transportation Research Part C 149 (2023) の「台数と収益」の示し方を参考に、本研究データで再作成</a:t>
            </a:r>
            <a:endParaRPr sz="720"/>
          </a:p>
        </p:txBody>
      </p:sp>
      <p:sp>
        <p:nvSpPr>
          <p:cNvPr id="22" name="正方形/長方形 21">
            <a:extLst>
              <a:ext uri="{FF2B5EF4-FFF2-40B4-BE49-F238E27FC236}">
                <a16:creationId xmlns:a16="http://schemas.microsoft.com/office/drawing/2014/main" id="{0221EC9E-C8F6-44B4-8762-9E9667D253D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0244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593590-4A6D-4457-9026-7D860AECE8A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最新結果②：低PV条件では、主に燃料使用の増加によって評価額が高くなった</a:t>
            </a:r>
            <a:endParaRPr sz="2550"/>
          </a:p>
        </p:txBody>
      </p:sp>
      <p:sp>
        <p:nvSpPr>
          <p:cNvPr id="3" name="Shape 1">
            <a:extLst>
              <a:ext uri="{FF2B5EF4-FFF2-40B4-BE49-F238E27FC236}">
                <a16:creationId xmlns:a16="http://schemas.microsoft.com/office/drawing/2014/main" id="{56D5AE46-33FF-462C-A3E4-93E001BF645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527E08D5-8DD5-4C83-81CC-F3C920CC717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D69897D-E7D2-464C-8D5E-6A06D915BC7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12/18</a:t>
            </a:r>
            <a:endParaRPr sz="850"/>
          </a:p>
        </p:txBody>
      </p:sp>
      <p:sp>
        <p:nvSpPr>
          <p:cNvPr id="6" name="Text 4">
            <a:extLst>
              <a:ext uri="{FF2B5EF4-FFF2-40B4-BE49-F238E27FC236}">
                <a16:creationId xmlns:a16="http://schemas.microsoft.com/office/drawing/2014/main" id="{F1B13F9B-7161-4E6B-A615-E81E0EC04652}"/>
              </a:ext>
            </a:extLst>
          </p:cNvPr>
          <p:cNvSpPr>
            <a:spLocks noGrp="1"/>
          </p:cNvSpPr>
          <p:nvPr/>
        </p:nvSpPr>
        <p:spPr>
          <a:xfrm>
            <a:off x="731520" y="932688"/>
            <a:ext cx="37490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モデル上の24時間評価額</a:t>
            </a:r>
            <a:endParaRPr sz="1800"/>
          </a:p>
        </p:txBody>
      </p:sp>
      <p:sp>
        <p:nvSpPr>
          <p:cNvPr id="7" name="Shape 5">
            <a:extLst>
              <a:ext uri="{FF2B5EF4-FFF2-40B4-BE49-F238E27FC236}">
                <a16:creationId xmlns:a16="http://schemas.microsoft.com/office/drawing/2014/main" id="{478D4919-0F47-41DF-BACB-1101C771796F}"/>
              </a:ext>
            </a:extLst>
          </p:cNvPr>
          <p:cNvSpPr>
            <a:spLocks noGrp="1"/>
          </p:cNvSpPr>
          <p:nvPr/>
        </p:nvSpPr>
        <p:spPr>
          <a:xfrm>
            <a:off x="1325880" y="2369195"/>
            <a:ext cx="1234440" cy="2980045"/>
          </a:xfrm>
          <a:prstGeom prst="roundRect">
            <a:avLst/>
          </a:prstGeom>
          <a:solidFill>
            <a:srgbClr val="1F9D8A"/>
          </a:solidFill>
          <a:ln w="12700">
            <a:solidFill>
              <a:srgbClr val="1F9D8A"/>
            </a:solidFill>
            <a:prstDash val="solid"/>
          </a:ln>
        </p:spPr>
        <p:txBody>
          <a:bodyPr/>
          <a:lstStyle/>
          <a:p>
            <a:endParaRPr/>
          </a:p>
        </p:txBody>
      </p:sp>
      <p:sp>
        <p:nvSpPr>
          <p:cNvPr id="8" name="Text 6">
            <a:extLst>
              <a:ext uri="{FF2B5EF4-FFF2-40B4-BE49-F238E27FC236}">
                <a16:creationId xmlns:a16="http://schemas.microsoft.com/office/drawing/2014/main" id="{A4685A9A-9AA1-43A4-9871-9032559FA35E}"/>
              </a:ext>
            </a:extLst>
          </p:cNvPr>
          <p:cNvSpPr>
            <a:spLocks noGrp="1"/>
          </p:cNvSpPr>
          <p:nvPr/>
        </p:nvSpPr>
        <p:spPr>
          <a:xfrm>
            <a:off x="1188720" y="1930283"/>
            <a:ext cx="1508760" cy="310896"/>
          </a:xfrm>
          <a:prstGeom prst="rect">
            <a:avLst/>
          </a:prstGeom>
          <a:noFill/>
        </p:spPr>
        <p:txBody>
          <a:bodyPr wrap="square" lIns="0" tIns="0" rIns="0" bIns="0" anchor="ctr"/>
          <a:lstStyle/>
          <a:p>
            <a:pPr marL="0" indent="0" algn="ctr">
              <a:buNone/>
            </a:pPr>
            <a:r>
              <a:rPr sz="1700" b="1">
                <a:solidFill>
                  <a:srgbClr val="1F9D8A"/>
                </a:solidFill>
                <a:latin typeface="Noto Sans CJK JP"/>
                <a:ea typeface="Noto Sans CJK JP"/>
                <a:cs typeface="Noto Sans CJK JP"/>
              </a:rPr>
              <a:t>661千円</a:t>
            </a:r>
            <a:endParaRPr sz="1700"/>
          </a:p>
        </p:txBody>
      </p:sp>
      <p:sp>
        <p:nvSpPr>
          <p:cNvPr id="9" name="Text 7">
            <a:extLst>
              <a:ext uri="{FF2B5EF4-FFF2-40B4-BE49-F238E27FC236}">
                <a16:creationId xmlns:a16="http://schemas.microsoft.com/office/drawing/2014/main" id="{77A1D659-B0FC-41D0-8DC6-0D5F6A395F7A}"/>
              </a:ext>
            </a:extLst>
          </p:cNvPr>
          <p:cNvSpPr>
            <a:spLocks noGrp="1"/>
          </p:cNvSpPr>
          <p:nvPr/>
        </p:nvSpPr>
        <p:spPr>
          <a:xfrm>
            <a:off x="132588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高PV</a:t>
            </a:r>
            <a:endParaRPr sz="1400"/>
          </a:p>
        </p:txBody>
      </p:sp>
      <p:sp>
        <p:nvSpPr>
          <p:cNvPr id="10" name="Shape 8">
            <a:extLst>
              <a:ext uri="{FF2B5EF4-FFF2-40B4-BE49-F238E27FC236}">
                <a16:creationId xmlns:a16="http://schemas.microsoft.com/office/drawing/2014/main" id="{6E697084-1A84-4B82-87C3-56391929B654}"/>
              </a:ext>
            </a:extLst>
          </p:cNvPr>
          <p:cNvSpPr>
            <a:spLocks noGrp="1"/>
          </p:cNvSpPr>
          <p:nvPr/>
        </p:nvSpPr>
        <p:spPr>
          <a:xfrm>
            <a:off x="3337560" y="2199608"/>
            <a:ext cx="1234440" cy="3149632"/>
          </a:xfrm>
          <a:prstGeom prst="roundRect">
            <a:avLst/>
          </a:prstGeom>
          <a:solidFill>
            <a:srgbClr val="356BB3"/>
          </a:solidFill>
          <a:ln w="12700">
            <a:solidFill>
              <a:srgbClr val="356BB3"/>
            </a:solidFill>
            <a:prstDash val="solid"/>
          </a:ln>
        </p:spPr>
        <p:txBody>
          <a:bodyPr/>
          <a:lstStyle/>
          <a:p>
            <a:endParaRPr/>
          </a:p>
        </p:txBody>
      </p:sp>
      <p:sp>
        <p:nvSpPr>
          <p:cNvPr id="11" name="Text 9">
            <a:extLst>
              <a:ext uri="{FF2B5EF4-FFF2-40B4-BE49-F238E27FC236}">
                <a16:creationId xmlns:a16="http://schemas.microsoft.com/office/drawing/2014/main" id="{A17A244D-0CE0-4ED3-A408-454F12C81ED4}"/>
              </a:ext>
            </a:extLst>
          </p:cNvPr>
          <p:cNvSpPr>
            <a:spLocks noGrp="1"/>
          </p:cNvSpPr>
          <p:nvPr/>
        </p:nvSpPr>
        <p:spPr>
          <a:xfrm>
            <a:off x="3200400" y="1760696"/>
            <a:ext cx="1508760" cy="310896"/>
          </a:xfrm>
          <a:prstGeom prst="rect">
            <a:avLst/>
          </a:prstGeom>
          <a:noFill/>
        </p:spPr>
        <p:txBody>
          <a:bodyPr wrap="square" lIns="0" tIns="0" rIns="0" bIns="0" anchor="ctr"/>
          <a:lstStyle/>
          <a:p>
            <a:pPr marL="0" indent="0" algn="ctr">
              <a:buNone/>
            </a:pPr>
            <a:r>
              <a:rPr sz="1700" b="1">
                <a:solidFill>
                  <a:srgbClr val="356BB3"/>
                </a:solidFill>
                <a:latin typeface="Noto Sans CJK JP"/>
                <a:ea typeface="Noto Sans CJK JP"/>
                <a:cs typeface="Noto Sans CJK JP"/>
              </a:rPr>
              <a:t>699千円</a:t>
            </a:r>
            <a:endParaRPr sz="1700"/>
          </a:p>
        </p:txBody>
      </p:sp>
      <p:sp>
        <p:nvSpPr>
          <p:cNvPr id="12" name="Text 10">
            <a:extLst>
              <a:ext uri="{FF2B5EF4-FFF2-40B4-BE49-F238E27FC236}">
                <a16:creationId xmlns:a16="http://schemas.microsoft.com/office/drawing/2014/main" id="{2D495615-F082-4D54-BEC5-FAA02636E808}"/>
              </a:ext>
            </a:extLst>
          </p:cNvPr>
          <p:cNvSpPr>
            <a:spLocks noGrp="1"/>
          </p:cNvSpPr>
          <p:nvPr/>
        </p:nvSpPr>
        <p:spPr>
          <a:xfrm>
            <a:off x="333756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低PV</a:t>
            </a:r>
            <a:endParaRPr sz="1400"/>
          </a:p>
        </p:txBody>
      </p:sp>
      <p:sp>
        <p:nvSpPr>
          <p:cNvPr id="13" name="Shape 11">
            <a:extLst>
              <a:ext uri="{FF2B5EF4-FFF2-40B4-BE49-F238E27FC236}">
                <a16:creationId xmlns:a16="http://schemas.microsoft.com/office/drawing/2014/main" id="{5E36993A-9539-4DE6-9DDF-53C65D7E92BD}"/>
              </a:ext>
            </a:extLst>
          </p:cNvPr>
          <p:cNvSpPr>
            <a:spLocks noGrp="1"/>
          </p:cNvSpPr>
          <p:nvPr/>
        </p:nvSpPr>
        <p:spPr>
          <a:xfrm>
            <a:off x="868680" y="5349240"/>
            <a:ext cx="4251960" cy="0"/>
          </a:xfrm>
          <a:prstGeom prst="line">
            <a:avLst/>
          </a:prstGeom>
          <a:noFill/>
          <a:ln w="12700">
            <a:solidFill>
              <a:srgbClr val="A5AFBD"/>
            </a:solidFill>
            <a:prstDash val="solid"/>
          </a:ln>
        </p:spPr>
        <p:txBody>
          <a:bodyPr/>
          <a:lstStyle/>
          <a:p>
            <a:endParaRPr/>
          </a:p>
        </p:txBody>
      </p:sp>
      <p:sp>
        <p:nvSpPr>
          <p:cNvPr id="14" name="Shape 12">
            <a:extLst>
              <a:ext uri="{FF2B5EF4-FFF2-40B4-BE49-F238E27FC236}">
                <a16:creationId xmlns:a16="http://schemas.microsoft.com/office/drawing/2014/main" id="{D07EEC27-96AC-493C-ADE5-453CB6CC3B82}"/>
              </a:ext>
            </a:extLst>
          </p:cNvPr>
          <p:cNvSpPr>
            <a:spLocks noGrp="1"/>
          </p:cNvSpPr>
          <p:nvPr/>
        </p:nvSpPr>
        <p:spPr>
          <a:xfrm>
            <a:off x="5577840" y="932688"/>
            <a:ext cx="5669280" cy="4892040"/>
          </a:xfrm>
          <a:prstGeom prst="roundRect">
            <a:avLst>
              <a:gd name="adj" fmla="val 1495"/>
            </a:avLst>
          </a:prstGeom>
          <a:solidFill>
            <a:srgbClr val="F8FAFC"/>
          </a:solidFill>
          <a:ln w="1270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BFFC5C7-A44F-4AC2-ABE0-AD0DB5997BE2}"/>
              </a:ext>
            </a:extLst>
          </p:cNvPr>
          <p:cNvSpPr>
            <a:spLocks noGrp="1"/>
          </p:cNvSpPr>
          <p:nvPr/>
        </p:nvSpPr>
        <p:spPr>
          <a:xfrm>
            <a:off x="5925312" y="1225296"/>
            <a:ext cx="301752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差額 37,615円の内訳</a:t>
            </a:r>
            <a:endParaRPr sz="200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5312" y="1920240"/>
            <a:ext cx="384048" cy="384048"/>
          </a:xfrm>
          <a:prstGeom prst="rect">
            <a:avLst/>
          </a:prstGeom>
        </p:spPr>
      </p:pic>
      <p:sp>
        <p:nvSpPr>
          <p:cNvPr id="17" name="Text 14">
            <a:extLst>
              <a:ext uri="{FF2B5EF4-FFF2-40B4-BE49-F238E27FC236}">
                <a16:creationId xmlns:a16="http://schemas.microsoft.com/office/drawing/2014/main" id="{C17C3D7F-F398-426C-B2CA-01D0D51067FB}"/>
              </a:ext>
            </a:extLst>
          </p:cNvPr>
          <p:cNvSpPr>
            <a:spLocks noGrp="1"/>
          </p:cNvSpPr>
          <p:nvPr/>
        </p:nvSpPr>
        <p:spPr>
          <a:xfrm>
            <a:off x="6473952" y="1920240"/>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燃料費</a:t>
            </a:r>
            <a:endParaRPr sz="1600"/>
          </a:p>
        </p:txBody>
      </p:sp>
      <p:sp>
        <p:nvSpPr>
          <p:cNvPr id="18" name="Shape 15">
            <a:extLst>
              <a:ext uri="{FF2B5EF4-FFF2-40B4-BE49-F238E27FC236}">
                <a16:creationId xmlns:a16="http://schemas.microsoft.com/office/drawing/2014/main" id="{978E9A59-47A5-4D1B-9AA4-BAA4980F015C}"/>
              </a:ext>
            </a:extLst>
          </p:cNvPr>
          <p:cNvSpPr>
            <a:spLocks noGrp="1"/>
          </p:cNvSpPr>
          <p:nvPr/>
        </p:nvSpPr>
        <p:spPr>
          <a:xfrm>
            <a:off x="7635240" y="1956816"/>
            <a:ext cx="2880360" cy="292608"/>
          </a:xfrm>
          <a:prstGeom prst="roundRect">
            <a:avLst/>
          </a:prstGeom>
          <a:solidFill>
            <a:srgbClr val="E98B3A"/>
          </a:solidFill>
          <a:ln w="12700">
            <a:solidFill>
              <a:srgbClr val="E98B3A"/>
            </a:solidFill>
            <a:prstDash val="solid"/>
          </a:ln>
        </p:spPr>
        <p:txBody>
          <a:bodyPr/>
          <a:lstStyle/>
          <a:p>
            <a:endParaRPr/>
          </a:p>
        </p:txBody>
      </p:sp>
      <p:sp>
        <p:nvSpPr>
          <p:cNvPr id="19" name="Text 16">
            <a:extLst>
              <a:ext uri="{FF2B5EF4-FFF2-40B4-BE49-F238E27FC236}">
                <a16:creationId xmlns:a16="http://schemas.microsoft.com/office/drawing/2014/main" id="{AF4A88AB-E7CB-4662-8CDE-1A8F7313D71E}"/>
              </a:ext>
            </a:extLst>
          </p:cNvPr>
          <p:cNvSpPr>
            <a:spLocks noGrp="1"/>
          </p:cNvSpPr>
          <p:nvPr/>
        </p:nvSpPr>
        <p:spPr>
          <a:xfrm>
            <a:off x="9727418" y="1651391"/>
            <a:ext cx="1143000" cy="320040"/>
          </a:xfrm>
          <a:prstGeom prst="rect">
            <a:avLst/>
          </a:prstGeom>
          <a:noFill/>
        </p:spPr>
        <p:txBody>
          <a:bodyPr wrap="square" lIns="0" tIns="0" rIns="0" bIns="0" anchor="ctr"/>
          <a:lstStyle/>
          <a:p>
            <a:pPr marL="0" indent="0" algn="r">
              <a:buNone/>
            </a:pPr>
            <a:r>
              <a:rPr sz="1400" b="1">
                <a:solidFill>
                  <a:srgbClr val="E98B3A"/>
                </a:solidFill>
                <a:latin typeface="Noto Sans CJK JP"/>
                <a:ea typeface="Noto Sans CJK JP"/>
                <a:cs typeface="Noto Sans CJK JP"/>
              </a:rPr>
              <a:t>+33,054円</a:t>
            </a:r>
            <a:endParaRPr sz="1400"/>
          </a:p>
        </p:txBody>
      </p:sp>
      <p:pic>
        <p:nvPicPr>
          <p:cNvPr id="52"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5312" y="2907792"/>
            <a:ext cx="384048" cy="384048"/>
          </a:xfrm>
          <a:prstGeom prst="rect">
            <a:avLst/>
          </a:prstGeom>
        </p:spPr>
      </p:pic>
      <p:sp>
        <p:nvSpPr>
          <p:cNvPr id="21" name="Text 17">
            <a:extLst>
              <a:ext uri="{FF2B5EF4-FFF2-40B4-BE49-F238E27FC236}">
                <a16:creationId xmlns:a16="http://schemas.microsoft.com/office/drawing/2014/main" id="{D7ED5D00-D706-4BC3-B55A-45DACAA8C8A0}"/>
              </a:ext>
            </a:extLst>
          </p:cNvPr>
          <p:cNvSpPr>
            <a:spLocks noGrp="1"/>
          </p:cNvSpPr>
          <p:nvPr/>
        </p:nvSpPr>
        <p:spPr>
          <a:xfrm>
            <a:off x="6473952" y="2907792"/>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系統電力費</a:t>
            </a:r>
            <a:endParaRPr sz="1600"/>
          </a:p>
        </p:txBody>
      </p:sp>
      <p:sp>
        <p:nvSpPr>
          <p:cNvPr id="22" name="Shape 18">
            <a:extLst>
              <a:ext uri="{FF2B5EF4-FFF2-40B4-BE49-F238E27FC236}">
                <a16:creationId xmlns:a16="http://schemas.microsoft.com/office/drawing/2014/main" id="{AB33B671-6453-45EF-9FA7-4A1D030360E1}"/>
              </a:ext>
            </a:extLst>
          </p:cNvPr>
          <p:cNvSpPr>
            <a:spLocks noGrp="1"/>
          </p:cNvSpPr>
          <p:nvPr/>
        </p:nvSpPr>
        <p:spPr>
          <a:xfrm>
            <a:off x="7635240" y="2944368"/>
            <a:ext cx="342116" cy="292608"/>
          </a:xfrm>
          <a:prstGeom prst="roundRect">
            <a:avLst/>
          </a:prstGeom>
          <a:solidFill>
            <a:srgbClr val="356BB3"/>
          </a:solidFill>
          <a:ln w="12700">
            <a:solidFill>
              <a:srgbClr val="356BB3"/>
            </a:solidFill>
            <a:prstDash val="solid"/>
          </a:ln>
        </p:spPr>
        <p:txBody>
          <a:bodyPr/>
          <a:lstStyle/>
          <a:p>
            <a:endParaRPr/>
          </a:p>
        </p:txBody>
      </p:sp>
      <p:sp>
        <p:nvSpPr>
          <p:cNvPr id="23" name="Text 19">
            <a:extLst>
              <a:ext uri="{FF2B5EF4-FFF2-40B4-BE49-F238E27FC236}">
                <a16:creationId xmlns:a16="http://schemas.microsoft.com/office/drawing/2014/main" id="{9FD57954-EBD1-40CF-BAA4-35BCAA16BC5E}"/>
              </a:ext>
            </a:extLst>
          </p:cNvPr>
          <p:cNvSpPr>
            <a:spLocks noGrp="1"/>
          </p:cNvSpPr>
          <p:nvPr/>
        </p:nvSpPr>
        <p:spPr>
          <a:xfrm>
            <a:off x="9738360" y="2889504"/>
            <a:ext cx="1143000" cy="320040"/>
          </a:xfrm>
          <a:prstGeom prst="rect">
            <a:avLst/>
          </a:prstGeom>
          <a:noFill/>
        </p:spPr>
        <p:txBody>
          <a:bodyPr wrap="square" lIns="0" tIns="0" rIns="0" bIns="0" anchor="ctr"/>
          <a:lstStyle/>
          <a:p>
            <a:pPr marL="0" indent="0" algn="r">
              <a:buNone/>
            </a:pPr>
            <a:r>
              <a:rPr sz="1400" b="1">
                <a:solidFill>
                  <a:srgbClr val="356BB3"/>
                </a:solidFill>
                <a:latin typeface="Noto Sans CJK JP"/>
                <a:ea typeface="Noto Sans CJK JP"/>
                <a:cs typeface="Noto Sans CJK JP"/>
              </a:rPr>
              <a:t>+3,926円</a:t>
            </a:r>
            <a:endParaRPr sz="1400"/>
          </a:p>
        </p:txBody>
      </p:sp>
      <p:pic>
        <p:nvPicPr>
          <p:cNvPr id="5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5312" y="3895344"/>
            <a:ext cx="384048" cy="384048"/>
          </a:xfrm>
          <a:prstGeom prst="rect">
            <a:avLst/>
          </a:prstGeom>
        </p:spPr>
      </p:pic>
      <p:sp>
        <p:nvSpPr>
          <p:cNvPr id="25" name="Text 20">
            <a:extLst>
              <a:ext uri="{FF2B5EF4-FFF2-40B4-BE49-F238E27FC236}">
                <a16:creationId xmlns:a16="http://schemas.microsoft.com/office/drawing/2014/main" id="{99B8A9E4-8588-423D-B37A-54029CE7C0B7}"/>
              </a:ext>
            </a:extLst>
          </p:cNvPr>
          <p:cNvSpPr>
            <a:spLocks noGrp="1"/>
          </p:cNvSpPr>
          <p:nvPr/>
        </p:nvSpPr>
        <p:spPr>
          <a:xfrm>
            <a:off x="6473952" y="3895344"/>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CO₂費用</a:t>
            </a:r>
            <a:endParaRPr sz="1600"/>
          </a:p>
        </p:txBody>
      </p:sp>
      <p:sp>
        <p:nvSpPr>
          <p:cNvPr id="26" name="Shape 21">
            <a:extLst>
              <a:ext uri="{FF2B5EF4-FFF2-40B4-BE49-F238E27FC236}">
                <a16:creationId xmlns:a16="http://schemas.microsoft.com/office/drawing/2014/main" id="{68A5D526-7DDA-4B50-AB42-856B254579F0}"/>
              </a:ext>
            </a:extLst>
          </p:cNvPr>
          <p:cNvSpPr>
            <a:spLocks noGrp="1"/>
          </p:cNvSpPr>
          <p:nvPr/>
        </p:nvSpPr>
        <p:spPr>
          <a:xfrm>
            <a:off x="7635240" y="3931920"/>
            <a:ext cx="55335" cy="292608"/>
          </a:xfrm>
          <a:prstGeom prst="roundRect">
            <a:avLst/>
          </a:prstGeom>
          <a:solidFill>
            <a:srgbClr val="3B8D5A"/>
          </a:solidFill>
          <a:ln w="12700">
            <a:solidFill>
              <a:srgbClr val="3B8D5A"/>
            </a:solidFill>
            <a:prstDash val="solid"/>
          </a:ln>
        </p:spPr>
        <p:txBody>
          <a:bodyPr/>
          <a:lstStyle/>
          <a:p>
            <a:endParaRPr/>
          </a:p>
        </p:txBody>
      </p:sp>
      <p:sp>
        <p:nvSpPr>
          <p:cNvPr id="27" name="Text 22">
            <a:extLst>
              <a:ext uri="{FF2B5EF4-FFF2-40B4-BE49-F238E27FC236}">
                <a16:creationId xmlns:a16="http://schemas.microsoft.com/office/drawing/2014/main" id="{1306AA6C-8C05-48AF-8C8E-D6436A47C3F3}"/>
              </a:ext>
            </a:extLst>
          </p:cNvPr>
          <p:cNvSpPr>
            <a:spLocks noGrp="1"/>
          </p:cNvSpPr>
          <p:nvPr/>
        </p:nvSpPr>
        <p:spPr>
          <a:xfrm>
            <a:off x="9738360" y="3877056"/>
            <a:ext cx="1143000" cy="320040"/>
          </a:xfrm>
          <a:prstGeom prst="rect">
            <a:avLst/>
          </a:prstGeom>
          <a:noFill/>
        </p:spPr>
        <p:txBody>
          <a:bodyPr wrap="square" lIns="0" tIns="0" rIns="0" bIns="0" anchor="ctr"/>
          <a:lstStyle/>
          <a:p>
            <a:pPr marL="0" indent="0" algn="r">
              <a:buNone/>
            </a:pPr>
            <a:r>
              <a:rPr sz="1400" b="1">
                <a:solidFill>
                  <a:srgbClr val="3B8D5A"/>
                </a:solidFill>
                <a:latin typeface="Noto Sans CJK JP"/>
                <a:ea typeface="Noto Sans CJK JP"/>
                <a:cs typeface="Noto Sans CJK JP"/>
              </a:rPr>
              <a:t>+635円</a:t>
            </a:r>
            <a:endParaRPr sz="1400"/>
          </a:p>
        </p:txBody>
      </p:sp>
      <p:sp>
        <p:nvSpPr>
          <p:cNvPr id="28" name="Text 23">
            <a:extLst>
              <a:ext uri="{FF2B5EF4-FFF2-40B4-BE49-F238E27FC236}">
                <a16:creationId xmlns:a16="http://schemas.microsoft.com/office/drawing/2014/main" id="{40AFFF15-3579-4184-A0E1-92C07434DEA4}"/>
              </a:ext>
            </a:extLst>
          </p:cNvPr>
          <p:cNvSpPr>
            <a:spLocks noGrp="1"/>
          </p:cNvSpPr>
          <p:nvPr/>
        </p:nvSpPr>
        <p:spPr>
          <a:xfrm>
            <a:off x="6400800" y="4983480"/>
            <a:ext cx="3931920" cy="347472"/>
          </a:xfrm>
          <a:prstGeom prst="rect">
            <a:avLst/>
          </a:prstGeom>
          <a:noFill/>
        </p:spPr>
        <p:txBody>
          <a:bodyPr wrap="square" lIns="0" tIns="0" rIns="0" bIns="0" anchor="ctr"/>
          <a:lstStyle/>
          <a:p>
            <a:pPr marL="0" indent="0" algn="ctr">
              <a:buNone/>
            </a:pPr>
            <a:r>
              <a:rPr sz="1900" b="1">
                <a:solidFill>
                  <a:srgbClr val="E98B3A"/>
                </a:solidFill>
                <a:latin typeface="Noto Sans CJK JP"/>
                <a:ea typeface="Noto Sans CJK JP"/>
                <a:cs typeface="Noto Sans CJK JP"/>
              </a:rPr>
              <a:t>差額の約88%が燃料費</a:t>
            </a:r>
            <a:endParaRPr sz="1900"/>
          </a:p>
        </p:txBody>
      </p:sp>
      <p:sp>
        <p:nvSpPr>
          <p:cNvPr id="29" name="Text 24">
            <a:extLst>
              <a:ext uri="{FF2B5EF4-FFF2-40B4-BE49-F238E27FC236}">
                <a16:creationId xmlns:a16="http://schemas.microsoft.com/office/drawing/2014/main" id="{603DF6F7-3F1D-4C29-AB78-75C15B972F9F}"/>
              </a:ext>
            </a:extLst>
          </p:cNvPr>
          <p:cNvSpPr>
            <a:spLocks noGrp="1"/>
          </p:cNvSpPr>
          <p:nvPr/>
        </p:nvSpPr>
        <p:spPr>
          <a:xfrm>
            <a:off x="5989320" y="5440680"/>
            <a:ext cx="4800600" cy="256032"/>
          </a:xfrm>
          <a:prstGeom prst="rect">
            <a:avLst/>
          </a:prstGeom>
          <a:noFill/>
        </p:spPr>
        <p:txBody>
          <a:bodyPr wrap="square" lIns="0" tIns="0" rIns="0" bIns="0" anchor="ctr"/>
          <a:lstStyle/>
          <a:p>
            <a:pPr marL="0" indent="0" algn="ctr">
              <a:buNone/>
            </a:pPr>
            <a:r>
              <a:rPr sz="1050">
                <a:solidFill>
                  <a:srgbClr val="C94C4C"/>
                </a:solidFill>
                <a:latin typeface="Noto Sans CJK JP"/>
                <a:ea typeface="Noto Sans CJK JP"/>
                <a:cs typeface="Noto Sans CJK JP"/>
              </a:rPr>
              <a:t>※ 設備投資・電池劣化・運転士費などは含まれていない</a:t>
            </a:r>
            <a:endParaRPr sz="1050"/>
          </a:p>
        </p:txBody>
      </p:sp>
      <p:sp>
        <p:nvSpPr>
          <p:cNvPr id="33" name="正方形/長方形 32">
            <a:extLst>
              <a:ext uri="{FF2B5EF4-FFF2-40B4-BE49-F238E27FC236}">
                <a16:creationId xmlns:a16="http://schemas.microsoft.com/office/drawing/2014/main" id="{0D58AF24-6413-437F-9BF0-33187210D55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75055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C32B03-CA23-4F68-A075-810CED28BB7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先行研究の電力フロー図にならい、PV・BESS・系統の流れを日合計で整理</a:t>
            </a:r>
            <a:endParaRPr sz="2550"/>
          </a:p>
        </p:txBody>
      </p:sp>
      <p:sp>
        <p:nvSpPr>
          <p:cNvPr id="3" name="Shape 1">
            <a:extLst>
              <a:ext uri="{FF2B5EF4-FFF2-40B4-BE49-F238E27FC236}">
                <a16:creationId xmlns:a16="http://schemas.microsoft.com/office/drawing/2014/main" id="{33DF4B8D-2022-443D-ACA0-02F02DD317D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498E48DE-8034-4296-8405-CC3D7E341DA7}"/>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8CBC2A5-78B0-4861-9E25-72D7D771A3A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13/18</a:t>
            </a:r>
            <a:endParaRPr sz="850"/>
          </a:p>
        </p:txBody>
      </p:sp>
      <p:sp>
        <p:nvSpPr>
          <p:cNvPr id="6" name="Shape 4">
            <a:extLst>
              <a:ext uri="{FF2B5EF4-FFF2-40B4-BE49-F238E27FC236}">
                <a16:creationId xmlns:a16="http://schemas.microsoft.com/office/drawing/2014/main" id="{1847EBEB-15A0-4EAD-B084-A9AA8760E99D}"/>
              </a:ext>
            </a:extLst>
          </p:cNvPr>
          <p:cNvSpPr>
            <a:spLocks noGrp="1"/>
          </p:cNvSpPr>
          <p:nvPr/>
        </p:nvSpPr>
        <p:spPr>
          <a:xfrm>
            <a:off x="566928" y="1051560"/>
            <a:ext cx="5394960" cy="5166360"/>
          </a:xfrm>
          <a:prstGeom prst="roundRect">
            <a:avLst>
              <a:gd name="adj" fmla="val 1416"/>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AC071677-8796-4CA1-BAA6-909E779326B2}"/>
              </a:ext>
            </a:extLst>
          </p:cNvPr>
          <p:cNvSpPr>
            <a:spLocks noGrp="1"/>
          </p:cNvSpPr>
          <p:nvPr/>
        </p:nvSpPr>
        <p:spPr>
          <a:xfrm>
            <a:off x="886968" y="1298448"/>
            <a:ext cx="1417320" cy="310896"/>
          </a:xfrm>
          <a:prstGeom prst="roundRect">
            <a:avLst/>
          </a:prstGeom>
          <a:solidFill>
            <a:srgbClr val="E7B34B"/>
          </a:solidFill>
          <a:ln w="12700">
            <a:solidFill>
              <a:srgbClr val="E7B34B"/>
            </a:solidFill>
            <a:prstDash val="solid"/>
          </a:ln>
        </p:spPr>
        <p:txBody>
          <a:bodyPr/>
          <a:lstStyle/>
          <a:p>
            <a:endParaRPr/>
          </a:p>
        </p:txBody>
      </p:sp>
      <p:sp>
        <p:nvSpPr>
          <p:cNvPr id="8" name="Text 6">
            <a:extLst>
              <a:ext uri="{FF2B5EF4-FFF2-40B4-BE49-F238E27FC236}">
                <a16:creationId xmlns:a16="http://schemas.microsoft.com/office/drawing/2014/main" id="{8748098A-70F2-4EA8-90FB-3AE941BA88E0}"/>
              </a:ext>
            </a:extLst>
          </p:cNvPr>
          <p:cNvSpPr>
            <a:spLocks noGrp="1"/>
          </p:cNvSpPr>
          <p:nvPr/>
        </p:nvSpPr>
        <p:spPr>
          <a:xfrm>
            <a:off x="932688" y="1316736"/>
            <a:ext cx="132588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sp>
        <p:nvSpPr>
          <p:cNvPr id="9" name="Text 7">
            <a:extLst>
              <a:ext uri="{FF2B5EF4-FFF2-40B4-BE49-F238E27FC236}">
                <a16:creationId xmlns:a16="http://schemas.microsoft.com/office/drawing/2014/main" id="{DAAB448E-3BE2-46F5-8BB0-19D1737D50A0}"/>
              </a:ext>
            </a:extLst>
          </p:cNvPr>
          <p:cNvSpPr>
            <a:spLocks noGrp="1"/>
          </p:cNvSpPr>
          <p:nvPr/>
        </p:nvSpPr>
        <p:spPr>
          <a:xfrm>
            <a:off x="91440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6,056 kWh</a:t>
            </a:r>
            <a:endParaRPr sz="1700"/>
          </a:p>
        </p:txBody>
      </p:sp>
      <p:sp>
        <p:nvSpPr>
          <p:cNvPr id="10" name="Shape 8">
            <a:extLst>
              <a:ext uri="{FF2B5EF4-FFF2-40B4-BE49-F238E27FC236}">
                <a16:creationId xmlns:a16="http://schemas.microsoft.com/office/drawing/2014/main" id="{9C7A4332-706B-4BBE-9F23-184CD3835275}"/>
              </a:ext>
            </a:extLst>
          </p:cNvPr>
          <p:cNvSpPr>
            <a:spLocks noGrp="1"/>
          </p:cNvSpPr>
          <p:nvPr/>
        </p:nvSpPr>
        <p:spPr>
          <a:xfrm>
            <a:off x="2139696" y="2075688"/>
            <a:ext cx="438912" cy="347472"/>
          </a:xfrm>
          <a:prstGeom prst="chevron">
            <a:avLst/>
          </a:prstGeom>
          <a:solidFill>
            <a:srgbClr val="A5AFBD"/>
          </a:solidFill>
          <a:ln w="12700">
            <a:solidFill>
              <a:srgbClr val="A5AFBD"/>
            </a:solidFill>
            <a:prstDash val="solid"/>
          </a:ln>
        </p:spPr>
        <p:txBody>
          <a:bodyPr/>
          <a:lstStyle/>
          <a:p>
            <a:endParaRPr/>
          </a:p>
        </p:txBody>
      </p:sp>
      <p:sp>
        <p:nvSpPr>
          <p:cNvPr id="11" name="Shape 9">
            <a:extLst>
              <a:ext uri="{FF2B5EF4-FFF2-40B4-BE49-F238E27FC236}">
                <a16:creationId xmlns:a16="http://schemas.microsoft.com/office/drawing/2014/main" id="{4A2EA28A-A620-4E92-B91D-C66E4544F765}"/>
              </a:ext>
            </a:extLst>
          </p:cNvPr>
          <p:cNvSpPr>
            <a:spLocks noGrp="1"/>
          </p:cNvSpPr>
          <p:nvPr/>
        </p:nvSpPr>
        <p:spPr>
          <a:xfrm>
            <a:off x="262432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12" name="Text 10">
            <a:extLst>
              <a:ext uri="{FF2B5EF4-FFF2-40B4-BE49-F238E27FC236}">
                <a16:creationId xmlns:a16="http://schemas.microsoft.com/office/drawing/2014/main" id="{FA23755E-57EA-4447-8C13-257BD60C9F5C}"/>
              </a:ext>
            </a:extLst>
          </p:cNvPr>
          <p:cNvSpPr>
            <a:spLocks noGrp="1"/>
          </p:cNvSpPr>
          <p:nvPr/>
        </p:nvSpPr>
        <p:spPr>
          <a:xfrm>
            <a:off x="274320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110 kWh</a:t>
            </a:r>
            <a:endParaRPr sz="1350"/>
          </a:p>
        </p:txBody>
      </p:sp>
      <p:sp>
        <p:nvSpPr>
          <p:cNvPr id="13" name="Shape 11">
            <a:extLst>
              <a:ext uri="{FF2B5EF4-FFF2-40B4-BE49-F238E27FC236}">
                <a16:creationId xmlns:a16="http://schemas.microsoft.com/office/drawing/2014/main" id="{E9C86D70-EA44-4E5D-826C-7898E5EA93AF}"/>
              </a:ext>
            </a:extLst>
          </p:cNvPr>
          <p:cNvSpPr>
            <a:spLocks noGrp="1"/>
          </p:cNvSpPr>
          <p:nvPr/>
        </p:nvSpPr>
        <p:spPr>
          <a:xfrm>
            <a:off x="262432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14" name="Text 12">
            <a:extLst>
              <a:ext uri="{FF2B5EF4-FFF2-40B4-BE49-F238E27FC236}">
                <a16:creationId xmlns:a16="http://schemas.microsoft.com/office/drawing/2014/main" id="{4F11FFD8-7492-4128-A3A7-C11826A44301}"/>
              </a:ext>
            </a:extLst>
          </p:cNvPr>
          <p:cNvSpPr>
            <a:spLocks noGrp="1"/>
          </p:cNvSpPr>
          <p:nvPr/>
        </p:nvSpPr>
        <p:spPr>
          <a:xfrm>
            <a:off x="274320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2,573 kWh</a:t>
            </a:r>
            <a:endParaRPr sz="1350"/>
          </a:p>
        </p:txBody>
      </p:sp>
      <p:sp>
        <p:nvSpPr>
          <p:cNvPr id="15" name="Shape 13">
            <a:extLst>
              <a:ext uri="{FF2B5EF4-FFF2-40B4-BE49-F238E27FC236}">
                <a16:creationId xmlns:a16="http://schemas.microsoft.com/office/drawing/2014/main" id="{92341828-1600-41A2-B920-2B3C650582D5}"/>
              </a:ext>
            </a:extLst>
          </p:cNvPr>
          <p:cNvSpPr>
            <a:spLocks noGrp="1"/>
          </p:cNvSpPr>
          <p:nvPr/>
        </p:nvSpPr>
        <p:spPr>
          <a:xfrm>
            <a:off x="436168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16" name="Text 14">
            <a:extLst>
              <a:ext uri="{FF2B5EF4-FFF2-40B4-BE49-F238E27FC236}">
                <a16:creationId xmlns:a16="http://schemas.microsoft.com/office/drawing/2014/main" id="{60F0BA4A-BFE6-4D2D-8A67-BF67CE52F2D9}"/>
              </a:ext>
            </a:extLst>
          </p:cNvPr>
          <p:cNvSpPr>
            <a:spLocks noGrp="1"/>
          </p:cNvSpPr>
          <p:nvPr/>
        </p:nvSpPr>
        <p:spPr>
          <a:xfrm>
            <a:off x="447141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2,322 kWh</a:t>
            </a:r>
            <a:endParaRPr sz="1320"/>
          </a:p>
        </p:txBody>
      </p:sp>
      <p:sp>
        <p:nvSpPr>
          <p:cNvPr id="17" name="Shape 15">
            <a:extLst>
              <a:ext uri="{FF2B5EF4-FFF2-40B4-BE49-F238E27FC236}">
                <a16:creationId xmlns:a16="http://schemas.microsoft.com/office/drawing/2014/main" id="{FBB98E90-3674-4A96-B1C8-9D4D4F65EC79}"/>
              </a:ext>
            </a:extLst>
          </p:cNvPr>
          <p:cNvSpPr>
            <a:spLocks noGrp="1"/>
          </p:cNvSpPr>
          <p:nvPr/>
        </p:nvSpPr>
        <p:spPr>
          <a:xfrm>
            <a:off x="3977640" y="3227832"/>
            <a:ext cx="310896" cy="310896"/>
          </a:xfrm>
          <a:prstGeom prst="chevron">
            <a:avLst/>
          </a:prstGeom>
          <a:solidFill>
            <a:srgbClr val="356BB3"/>
          </a:solidFill>
          <a:ln w="12700">
            <a:solidFill>
              <a:srgbClr val="356BB3"/>
            </a:solidFill>
            <a:prstDash val="solid"/>
          </a:ln>
        </p:spPr>
        <p:txBody>
          <a:bodyPr/>
          <a:lstStyle/>
          <a:p>
            <a:endParaRPr/>
          </a:p>
        </p:txBody>
      </p:sp>
      <p:sp>
        <p:nvSpPr>
          <p:cNvPr id="18" name="Shape 16">
            <a:extLst>
              <a:ext uri="{FF2B5EF4-FFF2-40B4-BE49-F238E27FC236}">
                <a16:creationId xmlns:a16="http://schemas.microsoft.com/office/drawing/2014/main" id="{9691BBC3-93C6-4DE1-B6A5-C9B14C5EE8C2}"/>
              </a:ext>
            </a:extLst>
          </p:cNvPr>
          <p:cNvSpPr>
            <a:spLocks noGrp="1"/>
          </p:cNvSpPr>
          <p:nvPr/>
        </p:nvSpPr>
        <p:spPr>
          <a:xfrm>
            <a:off x="262432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19" name="Text 17">
            <a:extLst>
              <a:ext uri="{FF2B5EF4-FFF2-40B4-BE49-F238E27FC236}">
                <a16:creationId xmlns:a16="http://schemas.microsoft.com/office/drawing/2014/main" id="{B4C37740-2CD7-43BA-A984-D26077783B25}"/>
              </a:ext>
            </a:extLst>
          </p:cNvPr>
          <p:cNvSpPr>
            <a:spLocks noGrp="1"/>
          </p:cNvSpPr>
          <p:nvPr/>
        </p:nvSpPr>
        <p:spPr>
          <a:xfrm>
            <a:off x="274320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3,373 kWh</a:t>
            </a:r>
            <a:endParaRPr sz="1320"/>
          </a:p>
        </p:txBody>
      </p:sp>
      <p:sp>
        <p:nvSpPr>
          <p:cNvPr id="20" name="Shape 18">
            <a:extLst>
              <a:ext uri="{FF2B5EF4-FFF2-40B4-BE49-F238E27FC236}">
                <a16:creationId xmlns:a16="http://schemas.microsoft.com/office/drawing/2014/main" id="{7030130F-A37A-4991-B0F6-3642392262FA}"/>
              </a:ext>
            </a:extLst>
          </p:cNvPr>
          <p:cNvSpPr>
            <a:spLocks noGrp="1"/>
          </p:cNvSpPr>
          <p:nvPr/>
        </p:nvSpPr>
        <p:spPr>
          <a:xfrm>
            <a:off x="436168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21" name="Text 19">
            <a:extLst>
              <a:ext uri="{FF2B5EF4-FFF2-40B4-BE49-F238E27FC236}">
                <a16:creationId xmlns:a16="http://schemas.microsoft.com/office/drawing/2014/main" id="{C4B2003D-30C4-4934-BF37-A3D0F86AE1B5}"/>
              </a:ext>
            </a:extLst>
          </p:cNvPr>
          <p:cNvSpPr>
            <a:spLocks noGrp="1"/>
          </p:cNvSpPr>
          <p:nvPr/>
        </p:nvSpPr>
        <p:spPr>
          <a:xfrm>
            <a:off x="446227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0 kWh</a:t>
            </a:r>
            <a:endParaRPr sz="1320"/>
          </a:p>
        </p:txBody>
      </p:sp>
      <p:sp>
        <p:nvSpPr>
          <p:cNvPr id="22" name="Text 20">
            <a:extLst>
              <a:ext uri="{FF2B5EF4-FFF2-40B4-BE49-F238E27FC236}">
                <a16:creationId xmlns:a16="http://schemas.microsoft.com/office/drawing/2014/main" id="{8D6E8F26-25FE-43D7-BEE8-14849A0A00BB}"/>
              </a:ext>
            </a:extLst>
          </p:cNvPr>
          <p:cNvSpPr>
            <a:spLocks noGrp="1"/>
          </p:cNvSpPr>
          <p:nvPr/>
        </p:nvSpPr>
        <p:spPr>
          <a:xfrm>
            <a:off x="408736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23" name="Text 21">
            <a:extLst>
              <a:ext uri="{FF2B5EF4-FFF2-40B4-BE49-F238E27FC236}">
                <a16:creationId xmlns:a16="http://schemas.microsoft.com/office/drawing/2014/main" id="{BBE9E4FC-3CEB-4FC1-B0BC-B056F6DCFECE}"/>
              </a:ext>
            </a:extLst>
          </p:cNvPr>
          <p:cNvSpPr>
            <a:spLocks noGrp="1"/>
          </p:cNvSpPr>
          <p:nvPr/>
        </p:nvSpPr>
        <p:spPr>
          <a:xfrm>
            <a:off x="417880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約251 kWh</a:t>
            </a:r>
            <a:endParaRPr sz="1150"/>
          </a:p>
        </p:txBody>
      </p:sp>
      <p:sp>
        <p:nvSpPr>
          <p:cNvPr id="24" name="Shape 22">
            <a:extLst>
              <a:ext uri="{FF2B5EF4-FFF2-40B4-BE49-F238E27FC236}">
                <a16:creationId xmlns:a16="http://schemas.microsoft.com/office/drawing/2014/main" id="{7A2D9474-8560-4A28-AD67-38A4CC26AA50}"/>
              </a:ext>
            </a:extLst>
          </p:cNvPr>
          <p:cNvSpPr>
            <a:spLocks noGrp="1"/>
          </p:cNvSpPr>
          <p:nvPr/>
        </p:nvSpPr>
        <p:spPr>
          <a:xfrm>
            <a:off x="6236208" y="1051560"/>
            <a:ext cx="5394960" cy="5166360"/>
          </a:xfrm>
          <a:prstGeom prst="roundRect">
            <a:avLst>
              <a:gd name="adj" fmla="val 1416"/>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5" name="Shape 23">
            <a:extLst>
              <a:ext uri="{FF2B5EF4-FFF2-40B4-BE49-F238E27FC236}">
                <a16:creationId xmlns:a16="http://schemas.microsoft.com/office/drawing/2014/main" id="{2B46223B-ADED-4A35-A69C-82D8198BCC68}"/>
              </a:ext>
            </a:extLst>
          </p:cNvPr>
          <p:cNvSpPr>
            <a:spLocks noGrp="1"/>
          </p:cNvSpPr>
          <p:nvPr/>
        </p:nvSpPr>
        <p:spPr>
          <a:xfrm>
            <a:off x="6556248" y="1298448"/>
            <a:ext cx="1417320" cy="310896"/>
          </a:xfrm>
          <a:prstGeom prst="roundRect">
            <a:avLst/>
          </a:prstGeom>
          <a:solidFill>
            <a:srgbClr val="356BB3"/>
          </a:solidFill>
          <a:ln w="12700">
            <a:solidFill>
              <a:srgbClr val="356BB3"/>
            </a:solidFill>
            <a:prstDash val="solid"/>
          </a:ln>
        </p:spPr>
        <p:txBody>
          <a:bodyPr/>
          <a:lstStyle/>
          <a:p>
            <a:endParaRPr/>
          </a:p>
        </p:txBody>
      </p:sp>
      <p:sp>
        <p:nvSpPr>
          <p:cNvPr id="26" name="Text 24">
            <a:extLst>
              <a:ext uri="{FF2B5EF4-FFF2-40B4-BE49-F238E27FC236}">
                <a16:creationId xmlns:a16="http://schemas.microsoft.com/office/drawing/2014/main" id="{EDBE79E5-0C5B-4B65-A0A5-3FCB08686213}"/>
              </a:ext>
            </a:extLst>
          </p:cNvPr>
          <p:cNvSpPr>
            <a:spLocks noGrp="1"/>
          </p:cNvSpPr>
          <p:nvPr/>
        </p:nvSpPr>
        <p:spPr>
          <a:xfrm>
            <a:off x="6601968" y="1316736"/>
            <a:ext cx="132588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sp>
        <p:nvSpPr>
          <p:cNvPr id="27" name="Text 25">
            <a:extLst>
              <a:ext uri="{FF2B5EF4-FFF2-40B4-BE49-F238E27FC236}">
                <a16:creationId xmlns:a16="http://schemas.microsoft.com/office/drawing/2014/main" id="{CC6BED1F-3BAA-4458-83C0-478474F6EC2C}"/>
              </a:ext>
            </a:extLst>
          </p:cNvPr>
          <p:cNvSpPr>
            <a:spLocks noGrp="1"/>
          </p:cNvSpPr>
          <p:nvPr/>
        </p:nvSpPr>
        <p:spPr>
          <a:xfrm>
            <a:off x="658368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996 kWh</a:t>
            </a:r>
            <a:endParaRPr sz="1700"/>
          </a:p>
        </p:txBody>
      </p:sp>
      <p:sp>
        <p:nvSpPr>
          <p:cNvPr id="28" name="Shape 26">
            <a:extLst>
              <a:ext uri="{FF2B5EF4-FFF2-40B4-BE49-F238E27FC236}">
                <a16:creationId xmlns:a16="http://schemas.microsoft.com/office/drawing/2014/main" id="{38CF063C-DF3E-4335-B89E-AD01D445E769}"/>
              </a:ext>
            </a:extLst>
          </p:cNvPr>
          <p:cNvSpPr>
            <a:spLocks noGrp="1"/>
          </p:cNvSpPr>
          <p:nvPr/>
        </p:nvSpPr>
        <p:spPr>
          <a:xfrm>
            <a:off x="7808976" y="2075688"/>
            <a:ext cx="438912" cy="347472"/>
          </a:xfrm>
          <a:prstGeom prst="chevron">
            <a:avLst/>
          </a:prstGeom>
          <a:solidFill>
            <a:srgbClr val="A5AFBD"/>
          </a:solidFill>
          <a:ln w="12700">
            <a:solidFill>
              <a:srgbClr val="A5AFBD"/>
            </a:solidFill>
            <a:prstDash val="solid"/>
          </a:ln>
        </p:spPr>
        <p:txBody>
          <a:bodyPr/>
          <a:lstStyle/>
          <a:p>
            <a:endParaRPr/>
          </a:p>
        </p:txBody>
      </p:sp>
      <p:sp>
        <p:nvSpPr>
          <p:cNvPr id="29" name="Shape 27">
            <a:extLst>
              <a:ext uri="{FF2B5EF4-FFF2-40B4-BE49-F238E27FC236}">
                <a16:creationId xmlns:a16="http://schemas.microsoft.com/office/drawing/2014/main" id="{28F2DEC1-C69A-4336-8878-7683A85C6787}"/>
              </a:ext>
            </a:extLst>
          </p:cNvPr>
          <p:cNvSpPr>
            <a:spLocks noGrp="1"/>
          </p:cNvSpPr>
          <p:nvPr/>
        </p:nvSpPr>
        <p:spPr>
          <a:xfrm>
            <a:off x="829360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4DEDFF65-C2BB-4597-A093-66C5B5BF44F4}"/>
              </a:ext>
            </a:extLst>
          </p:cNvPr>
          <p:cNvSpPr>
            <a:spLocks noGrp="1"/>
          </p:cNvSpPr>
          <p:nvPr/>
        </p:nvSpPr>
        <p:spPr>
          <a:xfrm>
            <a:off x="841248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231 kWh</a:t>
            </a:r>
            <a:endParaRPr sz="1350"/>
          </a:p>
        </p:txBody>
      </p:sp>
      <p:sp>
        <p:nvSpPr>
          <p:cNvPr id="31" name="Shape 29">
            <a:extLst>
              <a:ext uri="{FF2B5EF4-FFF2-40B4-BE49-F238E27FC236}">
                <a16:creationId xmlns:a16="http://schemas.microsoft.com/office/drawing/2014/main" id="{3CBA8231-8516-4B25-9E8A-D93C585BBC1F}"/>
              </a:ext>
            </a:extLst>
          </p:cNvPr>
          <p:cNvSpPr>
            <a:spLocks noGrp="1"/>
          </p:cNvSpPr>
          <p:nvPr/>
        </p:nvSpPr>
        <p:spPr>
          <a:xfrm>
            <a:off x="829360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32" name="Text 30">
            <a:extLst>
              <a:ext uri="{FF2B5EF4-FFF2-40B4-BE49-F238E27FC236}">
                <a16:creationId xmlns:a16="http://schemas.microsoft.com/office/drawing/2014/main" id="{9D3A50D4-E160-4E49-8ED4-1D49B33EC37C}"/>
              </a:ext>
            </a:extLst>
          </p:cNvPr>
          <p:cNvSpPr>
            <a:spLocks noGrp="1"/>
          </p:cNvSpPr>
          <p:nvPr/>
        </p:nvSpPr>
        <p:spPr>
          <a:xfrm>
            <a:off x="841248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766 kWh</a:t>
            </a:r>
            <a:endParaRPr sz="1350"/>
          </a:p>
        </p:txBody>
      </p:sp>
      <p:sp>
        <p:nvSpPr>
          <p:cNvPr id="33" name="Shape 31">
            <a:extLst>
              <a:ext uri="{FF2B5EF4-FFF2-40B4-BE49-F238E27FC236}">
                <a16:creationId xmlns:a16="http://schemas.microsoft.com/office/drawing/2014/main" id="{7CD4EB70-9CAE-418F-8921-0E564B88039F}"/>
              </a:ext>
            </a:extLst>
          </p:cNvPr>
          <p:cNvSpPr>
            <a:spLocks noGrp="1"/>
          </p:cNvSpPr>
          <p:nvPr/>
        </p:nvSpPr>
        <p:spPr>
          <a:xfrm>
            <a:off x="1003096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E7F2F7ED-3263-4F91-AD29-7B16726FA90E}"/>
              </a:ext>
            </a:extLst>
          </p:cNvPr>
          <p:cNvSpPr>
            <a:spLocks noGrp="1"/>
          </p:cNvSpPr>
          <p:nvPr/>
        </p:nvSpPr>
        <p:spPr>
          <a:xfrm>
            <a:off x="1014069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691 kWh</a:t>
            </a:r>
            <a:endParaRPr sz="1320"/>
          </a:p>
        </p:txBody>
      </p:sp>
      <p:sp>
        <p:nvSpPr>
          <p:cNvPr id="35" name="Shape 33">
            <a:extLst>
              <a:ext uri="{FF2B5EF4-FFF2-40B4-BE49-F238E27FC236}">
                <a16:creationId xmlns:a16="http://schemas.microsoft.com/office/drawing/2014/main" id="{7AA7F1B2-CDA8-4A3D-9035-90FDFFF530E9}"/>
              </a:ext>
            </a:extLst>
          </p:cNvPr>
          <p:cNvSpPr>
            <a:spLocks noGrp="1"/>
          </p:cNvSpPr>
          <p:nvPr/>
        </p:nvSpPr>
        <p:spPr>
          <a:xfrm>
            <a:off x="9646920" y="3227832"/>
            <a:ext cx="310896" cy="310896"/>
          </a:xfrm>
          <a:prstGeom prst="chevron">
            <a:avLst/>
          </a:prstGeom>
          <a:solidFill>
            <a:srgbClr val="356BB3"/>
          </a:solidFill>
          <a:ln w="12700">
            <a:solidFill>
              <a:srgbClr val="356BB3"/>
            </a:solidFill>
            <a:prstDash val="solid"/>
          </a:ln>
        </p:spPr>
        <p:txBody>
          <a:bodyPr/>
          <a:lstStyle/>
          <a:p>
            <a:endParaRPr/>
          </a:p>
        </p:txBody>
      </p:sp>
      <p:sp>
        <p:nvSpPr>
          <p:cNvPr id="36" name="Shape 34">
            <a:extLst>
              <a:ext uri="{FF2B5EF4-FFF2-40B4-BE49-F238E27FC236}">
                <a16:creationId xmlns:a16="http://schemas.microsoft.com/office/drawing/2014/main" id="{85E11BAC-8D1E-4B2F-9DE0-9C00DD97D1FA}"/>
              </a:ext>
            </a:extLst>
          </p:cNvPr>
          <p:cNvSpPr>
            <a:spLocks noGrp="1"/>
          </p:cNvSpPr>
          <p:nvPr/>
        </p:nvSpPr>
        <p:spPr>
          <a:xfrm>
            <a:off x="829360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37" name="Text 35">
            <a:extLst>
              <a:ext uri="{FF2B5EF4-FFF2-40B4-BE49-F238E27FC236}">
                <a16:creationId xmlns:a16="http://schemas.microsoft.com/office/drawing/2014/main" id="{746AA561-BFCC-40A4-9E53-88C217656BC4}"/>
              </a:ext>
            </a:extLst>
          </p:cNvPr>
          <p:cNvSpPr>
            <a:spLocks noGrp="1"/>
          </p:cNvSpPr>
          <p:nvPr/>
        </p:nvSpPr>
        <p:spPr>
          <a:xfrm>
            <a:off x="841248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0 kWh</a:t>
            </a:r>
            <a:endParaRPr sz="1320"/>
          </a:p>
        </p:txBody>
      </p:sp>
      <p:sp>
        <p:nvSpPr>
          <p:cNvPr id="38" name="Shape 36">
            <a:extLst>
              <a:ext uri="{FF2B5EF4-FFF2-40B4-BE49-F238E27FC236}">
                <a16:creationId xmlns:a16="http://schemas.microsoft.com/office/drawing/2014/main" id="{DF623506-4A31-4359-A491-C7F8606F6235}"/>
              </a:ext>
            </a:extLst>
          </p:cNvPr>
          <p:cNvSpPr>
            <a:spLocks noGrp="1"/>
          </p:cNvSpPr>
          <p:nvPr/>
        </p:nvSpPr>
        <p:spPr>
          <a:xfrm>
            <a:off x="1003096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39" name="Text 37">
            <a:extLst>
              <a:ext uri="{FF2B5EF4-FFF2-40B4-BE49-F238E27FC236}">
                <a16:creationId xmlns:a16="http://schemas.microsoft.com/office/drawing/2014/main" id="{39E2A20B-C3C1-4027-B6B5-B545FDBF7BA6}"/>
              </a:ext>
            </a:extLst>
          </p:cNvPr>
          <p:cNvSpPr>
            <a:spLocks noGrp="1"/>
          </p:cNvSpPr>
          <p:nvPr/>
        </p:nvSpPr>
        <p:spPr>
          <a:xfrm>
            <a:off x="1013155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131 kWh</a:t>
            </a:r>
            <a:endParaRPr sz="1320"/>
          </a:p>
        </p:txBody>
      </p:sp>
      <p:sp>
        <p:nvSpPr>
          <p:cNvPr id="40" name="Text 38">
            <a:extLst>
              <a:ext uri="{FF2B5EF4-FFF2-40B4-BE49-F238E27FC236}">
                <a16:creationId xmlns:a16="http://schemas.microsoft.com/office/drawing/2014/main" id="{30471338-BA7F-44E4-9312-4309A8FB5514}"/>
              </a:ext>
            </a:extLst>
          </p:cNvPr>
          <p:cNvSpPr>
            <a:spLocks noGrp="1"/>
          </p:cNvSpPr>
          <p:nvPr/>
        </p:nvSpPr>
        <p:spPr>
          <a:xfrm>
            <a:off x="975664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41" name="Text 39">
            <a:extLst>
              <a:ext uri="{FF2B5EF4-FFF2-40B4-BE49-F238E27FC236}">
                <a16:creationId xmlns:a16="http://schemas.microsoft.com/office/drawing/2014/main" id="{2F36A98F-9257-422F-9727-404FE5DD49D3}"/>
              </a:ext>
            </a:extLst>
          </p:cNvPr>
          <p:cNvSpPr>
            <a:spLocks noGrp="1"/>
          </p:cNvSpPr>
          <p:nvPr/>
        </p:nvSpPr>
        <p:spPr>
          <a:xfrm>
            <a:off x="984808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約75 kWh</a:t>
            </a:r>
            <a:endParaRPr sz="1150"/>
          </a:p>
        </p:txBody>
      </p:sp>
      <p:sp>
        <p:nvSpPr>
          <p:cNvPr id="42" name="Text 40">
            <a:extLst>
              <a:ext uri="{FF2B5EF4-FFF2-40B4-BE49-F238E27FC236}">
                <a16:creationId xmlns:a16="http://schemas.microsoft.com/office/drawing/2014/main" id="{3C23D7E9-BD04-414B-8ECB-4AF14573E6C2}"/>
              </a:ext>
            </a:extLst>
          </p:cNvPr>
          <p:cNvSpPr>
            <a:spLocks noGrp="1"/>
          </p:cNvSpPr>
          <p:nvPr/>
        </p:nvSpPr>
        <p:spPr>
          <a:xfrm>
            <a:off x="452628" y="5791747"/>
            <a:ext cx="10378440" cy="292608"/>
          </a:xfrm>
          <a:prstGeom prst="rect">
            <a:avLst/>
          </a:prstGeom>
          <a:noFill/>
        </p:spPr>
        <p:txBody>
          <a:bodyPr wrap="square" lIns="0" tIns="0" rIns="0" bIns="0" anchor="ctr"/>
          <a:lstStyle/>
          <a:p>
            <a:pPr marL="0" indent="0" algn="ctr">
              <a:buNone/>
            </a:pPr>
            <a:r>
              <a:rPr sz="1450" b="1">
                <a:solidFill>
                  <a:srgbClr val="1F2A5A"/>
                </a:solidFill>
                <a:latin typeface="Noto Sans CJK JP"/>
                <a:ea typeface="Noto Sans CJK JP"/>
                <a:cs typeface="Noto Sans CJK JP"/>
              </a:rPr>
              <a:t>高PVでは抑制が発生。原因の特定は未実施。低PVでは不足分を系統から補う</a:t>
            </a:r>
            <a:endParaRPr sz="1450"/>
          </a:p>
        </p:txBody>
      </p:sp>
      <p:sp>
        <p:nvSpPr>
          <p:cNvPr id="43" name="Text 41">
            <a:extLst>
              <a:ext uri="{FF2B5EF4-FFF2-40B4-BE49-F238E27FC236}">
                <a16:creationId xmlns:a16="http://schemas.microsoft.com/office/drawing/2014/main" id="{7FB25F67-FEFD-43E5-94F2-77976483FB14}"/>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参考構成：Fei et al. (2023) の時間別充放電図、Najafi et al. (2025) の交通・電力システム統合図を参考に、本研究の日合計値で再構成</a:t>
            </a:r>
            <a:endParaRPr sz="720"/>
          </a:p>
        </p:txBody>
      </p:sp>
      <p:sp>
        <p:nvSpPr>
          <p:cNvPr id="44" name="正方形/長方形 43">
            <a:extLst>
              <a:ext uri="{FF2B5EF4-FFF2-40B4-BE49-F238E27FC236}">
                <a16:creationId xmlns:a16="http://schemas.microsoft.com/office/drawing/2014/main" id="{A8330E53-019D-4CAF-8A7F-4DD8B3AAA4A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24599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E3E2E29-08E0-4D79-A254-5D0D5B3D8E5B}"/>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主要結果を一覧表で確認</a:t>
            </a:r>
            <a:endParaRPr sz="2550"/>
          </a:p>
        </p:txBody>
      </p:sp>
      <p:sp>
        <p:nvSpPr>
          <p:cNvPr id="3" name="Shape 1">
            <a:extLst>
              <a:ext uri="{FF2B5EF4-FFF2-40B4-BE49-F238E27FC236}">
                <a16:creationId xmlns:a16="http://schemas.microsoft.com/office/drawing/2014/main" id="{B1BAB34C-331F-43FE-A0C6-16198B5A954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E8265301-590A-4564-A751-C6961064F48E}"/>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1D79260-1116-40F3-A8F5-68DC03D61C1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14/18</a:t>
            </a:r>
            <a:endParaRPr sz="850"/>
          </a:p>
        </p:txBody>
      </p:sp>
      <p:sp>
        <p:nvSpPr>
          <p:cNvPr id="6" name="Shape 4">
            <a:extLst>
              <a:ext uri="{FF2B5EF4-FFF2-40B4-BE49-F238E27FC236}">
                <a16:creationId xmlns:a16="http://schemas.microsoft.com/office/drawing/2014/main" id="{D99B4DD8-B8E0-47AD-9974-9BC613DBC7E1}"/>
              </a:ext>
            </a:extLst>
          </p:cNvPr>
          <p:cNvSpPr>
            <a:spLocks noGrp="1"/>
          </p:cNvSpPr>
          <p:nvPr/>
        </p:nvSpPr>
        <p:spPr>
          <a:xfrm>
            <a:off x="566928" y="1024128"/>
            <a:ext cx="2057400" cy="502920"/>
          </a:xfrm>
          <a:prstGeom prst="rect">
            <a:avLst/>
          </a:prstGeom>
          <a:solidFill>
            <a:srgbClr val="1F2A5A"/>
          </a:solidFill>
          <a:ln w="889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61CDC3A0-F5BC-473C-A39C-1B4AB8B3A303}"/>
              </a:ext>
            </a:extLst>
          </p:cNvPr>
          <p:cNvSpPr>
            <a:spLocks noGrp="1"/>
          </p:cNvSpPr>
          <p:nvPr/>
        </p:nvSpPr>
        <p:spPr>
          <a:xfrm>
            <a:off x="621792" y="1056132"/>
            <a:ext cx="1947672"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指標</a:t>
            </a:r>
            <a:endParaRPr sz="1330"/>
          </a:p>
        </p:txBody>
      </p:sp>
      <p:sp>
        <p:nvSpPr>
          <p:cNvPr id="8" name="Shape 6">
            <a:extLst>
              <a:ext uri="{FF2B5EF4-FFF2-40B4-BE49-F238E27FC236}">
                <a16:creationId xmlns:a16="http://schemas.microsoft.com/office/drawing/2014/main" id="{021EB9F9-5738-4DA2-94AB-158BA5F43BF2}"/>
              </a:ext>
            </a:extLst>
          </p:cNvPr>
          <p:cNvSpPr>
            <a:spLocks noGrp="1"/>
          </p:cNvSpPr>
          <p:nvPr/>
        </p:nvSpPr>
        <p:spPr>
          <a:xfrm>
            <a:off x="2624328" y="1024128"/>
            <a:ext cx="2148840" cy="502920"/>
          </a:xfrm>
          <a:prstGeom prst="rect">
            <a:avLst/>
          </a:prstGeom>
          <a:solidFill>
            <a:srgbClr val="1F2A5A"/>
          </a:solidFill>
          <a:ln w="8890">
            <a:solidFill>
              <a:srgbClr val="EEF1F5"/>
            </a:solidFill>
            <a:prstDash val="solid"/>
          </a:ln>
        </p:spPr>
        <p:txBody>
          <a:bodyPr/>
          <a:lstStyle/>
          <a:p>
            <a:endParaRPr/>
          </a:p>
        </p:txBody>
      </p:sp>
      <p:sp>
        <p:nvSpPr>
          <p:cNvPr id="9" name="Text 7">
            <a:extLst>
              <a:ext uri="{FF2B5EF4-FFF2-40B4-BE49-F238E27FC236}">
                <a16:creationId xmlns:a16="http://schemas.microsoft.com/office/drawing/2014/main" id="{4431F065-999C-4892-8F41-5672D3F8AA11}"/>
              </a:ext>
            </a:extLst>
          </p:cNvPr>
          <p:cNvSpPr>
            <a:spLocks noGrp="1"/>
          </p:cNvSpPr>
          <p:nvPr/>
        </p:nvSpPr>
        <p:spPr>
          <a:xfrm>
            <a:off x="267919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高PV条件</a:t>
            </a:r>
            <a:endParaRPr sz="1330"/>
          </a:p>
        </p:txBody>
      </p:sp>
      <p:sp>
        <p:nvSpPr>
          <p:cNvPr id="10" name="Shape 8">
            <a:extLst>
              <a:ext uri="{FF2B5EF4-FFF2-40B4-BE49-F238E27FC236}">
                <a16:creationId xmlns:a16="http://schemas.microsoft.com/office/drawing/2014/main" id="{A3C83DAF-8320-4E6A-9A1E-CFB5E908FB6A}"/>
              </a:ext>
            </a:extLst>
          </p:cNvPr>
          <p:cNvSpPr>
            <a:spLocks noGrp="1"/>
          </p:cNvSpPr>
          <p:nvPr/>
        </p:nvSpPr>
        <p:spPr>
          <a:xfrm>
            <a:off x="4773168" y="1024128"/>
            <a:ext cx="2148840" cy="502920"/>
          </a:xfrm>
          <a:prstGeom prst="rect">
            <a:avLst/>
          </a:prstGeom>
          <a:solidFill>
            <a:srgbClr val="1F2A5A"/>
          </a:solidFill>
          <a:ln w="8890">
            <a:solidFill>
              <a:srgbClr val="EEF1F5"/>
            </a:solidFill>
            <a:prstDash val="solid"/>
          </a:ln>
        </p:spPr>
        <p:txBody>
          <a:bodyPr/>
          <a:lstStyle/>
          <a:p>
            <a:endParaRPr/>
          </a:p>
        </p:txBody>
      </p:sp>
      <p:sp>
        <p:nvSpPr>
          <p:cNvPr id="11" name="Text 9">
            <a:extLst>
              <a:ext uri="{FF2B5EF4-FFF2-40B4-BE49-F238E27FC236}">
                <a16:creationId xmlns:a16="http://schemas.microsoft.com/office/drawing/2014/main" id="{FBF65E2A-8E7A-4483-9C16-6D8EEB4C26AB}"/>
              </a:ext>
            </a:extLst>
          </p:cNvPr>
          <p:cNvSpPr>
            <a:spLocks noGrp="1"/>
          </p:cNvSpPr>
          <p:nvPr/>
        </p:nvSpPr>
        <p:spPr>
          <a:xfrm>
            <a:off x="482803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低PV条件</a:t>
            </a:r>
            <a:endParaRPr sz="1330"/>
          </a:p>
        </p:txBody>
      </p:sp>
      <p:sp>
        <p:nvSpPr>
          <p:cNvPr id="12" name="Shape 10">
            <a:extLst>
              <a:ext uri="{FF2B5EF4-FFF2-40B4-BE49-F238E27FC236}">
                <a16:creationId xmlns:a16="http://schemas.microsoft.com/office/drawing/2014/main" id="{CCE99ED2-6BB8-4161-A6BA-FC9832136891}"/>
              </a:ext>
            </a:extLst>
          </p:cNvPr>
          <p:cNvSpPr>
            <a:spLocks noGrp="1"/>
          </p:cNvSpPr>
          <p:nvPr/>
        </p:nvSpPr>
        <p:spPr>
          <a:xfrm>
            <a:off x="6922008" y="1024128"/>
            <a:ext cx="4681728" cy="502920"/>
          </a:xfrm>
          <a:prstGeom prst="rect">
            <a:avLst/>
          </a:prstGeom>
          <a:solidFill>
            <a:srgbClr val="1F2A5A"/>
          </a:solidFill>
          <a:ln w="8890">
            <a:solidFill>
              <a:srgbClr val="EEF1F5"/>
            </a:solidFill>
            <a:prstDash val="solid"/>
          </a:ln>
        </p:spPr>
        <p:txBody>
          <a:bodyPr/>
          <a:lstStyle/>
          <a:p>
            <a:endParaRPr/>
          </a:p>
        </p:txBody>
      </p:sp>
      <p:sp>
        <p:nvSpPr>
          <p:cNvPr id="13" name="Text 11">
            <a:extLst>
              <a:ext uri="{FF2B5EF4-FFF2-40B4-BE49-F238E27FC236}">
                <a16:creationId xmlns:a16="http://schemas.microsoft.com/office/drawing/2014/main" id="{21A2B9BA-A6C0-4471-8716-A9616C2C2791}"/>
              </a:ext>
            </a:extLst>
          </p:cNvPr>
          <p:cNvSpPr>
            <a:spLocks noGrp="1"/>
          </p:cNvSpPr>
          <p:nvPr/>
        </p:nvSpPr>
        <p:spPr>
          <a:xfrm>
            <a:off x="6976872" y="1056132"/>
            <a:ext cx="4572000"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読み方</a:t>
            </a:r>
            <a:endParaRPr sz="1330"/>
          </a:p>
        </p:txBody>
      </p:sp>
      <p:sp>
        <p:nvSpPr>
          <p:cNvPr id="14" name="Shape 12">
            <a:extLst>
              <a:ext uri="{FF2B5EF4-FFF2-40B4-BE49-F238E27FC236}">
                <a16:creationId xmlns:a16="http://schemas.microsoft.com/office/drawing/2014/main" id="{F7312650-5FF9-467F-BF2F-6B050E2D3A6C}"/>
              </a:ext>
            </a:extLst>
          </p:cNvPr>
          <p:cNvSpPr>
            <a:spLocks noGrp="1"/>
          </p:cNvSpPr>
          <p:nvPr/>
        </p:nvSpPr>
        <p:spPr>
          <a:xfrm>
            <a:off x="566928" y="1527048"/>
            <a:ext cx="2057400" cy="502920"/>
          </a:xfrm>
          <a:prstGeom prst="rect">
            <a:avLst/>
          </a:prstGeom>
          <a:solidFill>
            <a:srgbClr val="FFFFFF"/>
          </a:solidFill>
          <a:ln w="889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5BF5694-7634-4972-92EE-271A4EF9FD85}"/>
              </a:ext>
            </a:extLst>
          </p:cNvPr>
          <p:cNvSpPr>
            <a:spLocks noGrp="1"/>
          </p:cNvSpPr>
          <p:nvPr/>
        </p:nvSpPr>
        <p:spPr>
          <a:xfrm>
            <a:off x="621792" y="15590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PV発電量</a:t>
            </a:r>
            <a:endParaRPr sz="1260"/>
          </a:p>
        </p:txBody>
      </p:sp>
      <p:sp>
        <p:nvSpPr>
          <p:cNvPr id="16" name="Shape 14">
            <a:extLst>
              <a:ext uri="{FF2B5EF4-FFF2-40B4-BE49-F238E27FC236}">
                <a16:creationId xmlns:a16="http://schemas.microsoft.com/office/drawing/2014/main" id="{50BB1DC7-143C-4875-9580-23C923241CE8}"/>
              </a:ext>
            </a:extLst>
          </p:cNvPr>
          <p:cNvSpPr>
            <a:spLocks noGrp="1"/>
          </p:cNvSpPr>
          <p:nvPr/>
        </p:nvSpPr>
        <p:spPr>
          <a:xfrm>
            <a:off x="2624328" y="1527048"/>
            <a:ext cx="2148840" cy="502920"/>
          </a:xfrm>
          <a:prstGeom prst="rect">
            <a:avLst/>
          </a:prstGeom>
          <a:solidFill>
            <a:srgbClr val="FFFFFF"/>
          </a:solidFill>
          <a:ln w="8890">
            <a:solidFill>
              <a:srgbClr val="EEF1F5"/>
            </a:solidFill>
            <a:prstDash val="solid"/>
          </a:ln>
        </p:spPr>
        <p:txBody>
          <a:bodyPr/>
          <a:lstStyle/>
          <a:p>
            <a:endParaRPr/>
          </a:p>
        </p:txBody>
      </p:sp>
      <p:sp>
        <p:nvSpPr>
          <p:cNvPr id="17" name="Text 15">
            <a:extLst>
              <a:ext uri="{FF2B5EF4-FFF2-40B4-BE49-F238E27FC236}">
                <a16:creationId xmlns:a16="http://schemas.microsoft.com/office/drawing/2014/main" id="{84C879E8-B493-4AB7-9CDE-85EB0CD6C037}"/>
              </a:ext>
            </a:extLst>
          </p:cNvPr>
          <p:cNvSpPr>
            <a:spLocks noGrp="1"/>
          </p:cNvSpPr>
          <p:nvPr/>
        </p:nvSpPr>
        <p:spPr>
          <a:xfrm>
            <a:off x="267919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6,056 kWh</a:t>
            </a:r>
            <a:endParaRPr sz="1260"/>
          </a:p>
        </p:txBody>
      </p:sp>
      <p:sp>
        <p:nvSpPr>
          <p:cNvPr id="18" name="Shape 16">
            <a:extLst>
              <a:ext uri="{FF2B5EF4-FFF2-40B4-BE49-F238E27FC236}">
                <a16:creationId xmlns:a16="http://schemas.microsoft.com/office/drawing/2014/main" id="{1A18FDD7-9AFE-4EE7-BAC5-B472EEED4027}"/>
              </a:ext>
            </a:extLst>
          </p:cNvPr>
          <p:cNvSpPr>
            <a:spLocks noGrp="1"/>
          </p:cNvSpPr>
          <p:nvPr/>
        </p:nvSpPr>
        <p:spPr>
          <a:xfrm>
            <a:off x="4773168" y="1527048"/>
            <a:ext cx="2148840" cy="502920"/>
          </a:xfrm>
          <a:prstGeom prst="rect">
            <a:avLst/>
          </a:prstGeom>
          <a:solidFill>
            <a:srgbClr val="FFFFFF"/>
          </a:solidFill>
          <a:ln w="8890">
            <a:solidFill>
              <a:srgbClr val="EEF1F5"/>
            </a:solidFill>
            <a:prstDash val="solid"/>
          </a:ln>
        </p:spPr>
        <p:txBody>
          <a:bodyPr/>
          <a:lstStyle/>
          <a:p>
            <a:endParaRPr/>
          </a:p>
        </p:txBody>
      </p:sp>
      <p:sp>
        <p:nvSpPr>
          <p:cNvPr id="19" name="Text 17">
            <a:extLst>
              <a:ext uri="{FF2B5EF4-FFF2-40B4-BE49-F238E27FC236}">
                <a16:creationId xmlns:a16="http://schemas.microsoft.com/office/drawing/2014/main" id="{ED9FA1A8-FAB2-496C-94C1-6339DA85D269}"/>
              </a:ext>
            </a:extLst>
          </p:cNvPr>
          <p:cNvSpPr>
            <a:spLocks noGrp="1"/>
          </p:cNvSpPr>
          <p:nvPr/>
        </p:nvSpPr>
        <p:spPr>
          <a:xfrm>
            <a:off x="482803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996 kWh</a:t>
            </a:r>
            <a:endParaRPr sz="1260"/>
          </a:p>
        </p:txBody>
      </p:sp>
      <p:sp>
        <p:nvSpPr>
          <p:cNvPr id="20" name="Shape 18">
            <a:extLst>
              <a:ext uri="{FF2B5EF4-FFF2-40B4-BE49-F238E27FC236}">
                <a16:creationId xmlns:a16="http://schemas.microsoft.com/office/drawing/2014/main" id="{FDE7F658-93E0-44EB-A324-B4D0384FD986}"/>
              </a:ext>
            </a:extLst>
          </p:cNvPr>
          <p:cNvSpPr>
            <a:spLocks noGrp="1"/>
          </p:cNvSpPr>
          <p:nvPr/>
        </p:nvSpPr>
        <p:spPr>
          <a:xfrm>
            <a:off x="6922008" y="1527048"/>
            <a:ext cx="4681728" cy="502920"/>
          </a:xfrm>
          <a:prstGeom prst="rect">
            <a:avLst/>
          </a:prstGeom>
          <a:solidFill>
            <a:srgbClr val="FFFFFF"/>
          </a:solidFill>
          <a:ln w="8890">
            <a:solidFill>
              <a:srgbClr val="EEF1F5"/>
            </a:solidFill>
            <a:prstDash val="solid"/>
          </a:ln>
        </p:spPr>
        <p:txBody>
          <a:bodyPr/>
          <a:lstStyle/>
          <a:p>
            <a:endParaRPr/>
          </a:p>
        </p:txBody>
      </p:sp>
      <p:sp>
        <p:nvSpPr>
          <p:cNvPr id="21" name="Text 19">
            <a:extLst>
              <a:ext uri="{FF2B5EF4-FFF2-40B4-BE49-F238E27FC236}">
                <a16:creationId xmlns:a16="http://schemas.microsoft.com/office/drawing/2014/main" id="{602D7D87-B338-42F7-B4F5-23F6B42785FF}"/>
              </a:ext>
            </a:extLst>
          </p:cNvPr>
          <p:cNvSpPr>
            <a:spLocks noGrp="1"/>
          </p:cNvSpPr>
          <p:nvPr/>
        </p:nvSpPr>
        <p:spPr>
          <a:xfrm>
            <a:off x="6976872" y="15590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入力として大きく異なる</a:t>
            </a:r>
            <a:endParaRPr sz="1260"/>
          </a:p>
        </p:txBody>
      </p:sp>
      <p:sp>
        <p:nvSpPr>
          <p:cNvPr id="22" name="Shape 20">
            <a:extLst>
              <a:ext uri="{FF2B5EF4-FFF2-40B4-BE49-F238E27FC236}">
                <a16:creationId xmlns:a16="http://schemas.microsoft.com/office/drawing/2014/main" id="{4101F794-9953-4D77-9F23-B48B4FE4EA39}"/>
              </a:ext>
            </a:extLst>
          </p:cNvPr>
          <p:cNvSpPr>
            <a:spLocks noGrp="1"/>
          </p:cNvSpPr>
          <p:nvPr/>
        </p:nvSpPr>
        <p:spPr>
          <a:xfrm>
            <a:off x="566928" y="2029968"/>
            <a:ext cx="2057400" cy="502920"/>
          </a:xfrm>
          <a:prstGeom prst="rect">
            <a:avLst/>
          </a:prstGeom>
          <a:solidFill>
            <a:srgbClr val="F8FAFC"/>
          </a:solidFill>
          <a:ln w="8890">
            <a:solidFill>
              <a:srgbClr val="EEF1F5"/>
            </a:solidFill>
            <a:prstDash val="solid"/>
          </a:ln>
        </p:spPr>
        <p:txBody>
          <a:bodyPr/>
          <a:lstStyle/>
          <a:p>
            <a:endParaRPr/>
          </a:p>
        </p:txBody>
      </p:sp>
      <p:sp>
        <p:nvSpPr>
          <p:cNvPr id="23" name="Text 21">
            <a:extLst>
              <a:ext uri="{FF2B5EF4-FFF2-40B4-BE49-F238E27FC236}">
                <a16:creationId xmlns:a16="http://schemas.microsoft.com/office/drawing/2014/main" id="{45D8FDF5-F57A-4B6A-80AC-BB9ACF3562DB}"/>
              </a:ext>
            </a:extLst>
          </p:cNvPr>
          <p:cNvSpPr>
            <a:spLocks noGrp="1"/>
          </p:cNvSpPr>
          <p:nvPr/>
        </p:nvSpPr>
        <p:spPr>
          <a:xfrm>
            <a:off x="621792" y="20619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使用車両</a:t>
            </a:r>
            <a:endParaRPr sz="1260"/>
          </a:p>
        </p:txBody>
      </p:sp>
      <p:sp>
        <p:nvSpPr>
          <p:cNvPr id="24" name="Shape 22">
            <a:extLst>
              <a:ext uri="{FF2B5EF4-FFF2-40B4-BE49-F238E27FC236}">
                <a16:creationId xmlns:a16="http://schemas.microsoft.com/office/drawing/2014/main" id="{E56F0C56-5B7A-4AE5-BF32-E194E4E245DD}"/>
              </a:ext>
            </a:extLst>
          </p:cNvPr>
          <p:cNvSpPr>
            <a:spLocks noGrp="1"/>
          </p:cNvSpPr>
          <p:nvPr/>
        </p:nvSpPr>
        <p:spPr>
          <a:xfrm>
            <a:off x="2624328" y="2029968"/>
            <a:ext cx="2148840" cy="502920"/>
          </a:xfrm>
          <a:prstGeom prst="rect">
            <a:avLst/>
          </a:prstGeom>
          <a:solidFill>
            <a:srgbClr val="F8FAFC"/>
          </a:solidFill>
          <a:ln w="8890">
            <a:solidFill>
              <a:srgbClr val="EEF1F5"/>
            </a:solidFill>
            <a:prstDash val="solid"/>
          </a:ln>
        </p:spPr>
        <p:txBody>
          <a:bodyPr/>
          <a:lstStyle/>
          <a:p>
            <a:endParaRPr/>
          </a:p>
        </p:txBody>
      </p:sp>
      <p:sp>
        <p:nvSpPr>
          <p:cNvPr id="25" name="Text 23">
            <a:extLst>
              <a:ext uri="{FF2B5EF4-FFF2-40B4-BE49-F238E27FC236}">
                <a16:creationId xmlns:a16="http://schemas.microsoft.com/office/drawing/2014/main" id="{DC8D11B5-8C32-4643-8A82-5361F7B7FE9D}"/>
              </a:ext>
            </a:extLst>
          </p:cNvPr>
          <p:cNvSpPr>
            <a:spLocks noGrp="1"/>
          </p:cNvSpPr>
          <p:nvPr/>
        </p:nvSpPr>
        <p:spPr>
          <a:xfrm>
            <a:off x="267919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28／ICE 4台</a:t>
            </a:r>
            <a:endParaRPr sz="1260"/>
          </a:p>
        </p:txBody>
      </p:sp>
      <p:sp>
        <p:nvSpPr>
          <p:cNvPr id="26" name="Shape 24">
            <a:extLst>
              <a:ext uri="{FF2B5EF4-FFF2-40B4-BE49-F238E27FC236}">
                <a16:creationId xmlns:a16="http://schemas.microsoft.com/office/drawing/2014/main" id="{E8BFA9AE-F1D1-4BCF-BAFA-34F7A9995CBC}"/>
              </a:ext>
            </a:extLst>
          </p:cNvPr>
          <p:cNvSpPr>
            <a:spLocks noGrp="1"/>
          </p:cNvSpPr>
          <p:nvPr/>
        </p:nvSpPr>
        <p:spPr>
          <a:xfrm>
            <a:off x="4773168" y="2029968"/>
            <a:ext cx="2148840" cy="502920"/>
          </a:xfrm>
          <a:prstGeom prst="rect">
            <a:avLst/>
          </a:prstGeom>
          <a:solidFill>
            <a:srgbClr val="F8FAFC"/>
          </a:solidFill>
          <a:ln w="8890">
            <a:solidFill>
              <a:srgbClr val="EEF1F5"/>
            </a:solidFill>
            <a:prstDash val="solid"/>
          </a:ln>
        </p:spPr>
        <p:txBody>
          <a:bodyPr/>
          <a:lstStyle/>
          <a:p>
            <a:endParaRPr/>
          </a:p>
        </p:txBody>
      </p:sp>
      <p:sp>
        <p:nvSpPr>
          <p:cNvPr id="27" name="Text 25">
            <a:extLst>
              <a:ext uri="{FF2B5EF4-FFF2-40B4-BE49-F238E27FC236}">
                <a16:creationId xmlns:a16="http://schemas.microsoft.com/office/drawing/2014/main" id="{363B231F-4941-46D2-82FE-8D7EFB864F2E}"/>
              </a:ext>
            </a:extLst>
          </p:cNvPr>
          <p:cNvSpPr>
            <a:spLocks noGrp="1"/>
          </p:cNvSpPr>
          <p:nvPr/>
        </p:nvSpPr>
        <p:spPr>
          <a:xfrm>
            <a:off x="482803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21／ICE 11台</a:t>
            </a:r>
            <a:endParaRPr sz="1260"/>
          </a:p>
        </p:txBody>
      </p:sp>
      <p:sp>
        <p:nvSpPr>
          <p:cNvPr id="28" name="Shape 26">
            <a:extLst>
              <a:ext uri="{FF2B5EF4-FFF2-40B4-BE49-F238E27FC236}">
                <a16:creationId xmlns:a16="http://schemas.microsoft.com/office/drawing/2014/main" id="{EBE3383F-C90F-493D-9165-B055ADE74363}"/>
              </a:ext>
            </a:extLst>
          </p:cNvPr>
          <p:cNvSpPr>
            <a:spLocks noGrp="1"/>
          </p:cNvSpPr>
          <p:nvPr/>
        </p:nvSpPr>
        <p:spPr>
          <a:xfrm>
            <a:off x="6922008" y="2029968"/>
            <a:ext cx="4681728" cy="502920"/>
          </a:xfrm>
          <a:prstGeom prst="rect">
            <a:avLst/>
          </a:prstGeom>
          <a:solidFill>
            <a:srgbClr val="F8FAFC"/>
          </a:solidFill>
          <a:ln w="8890">
            <a:solidFill>
              <a:srgbClr val="EEF1F5"/>
            </a:solidFill>
            <a:prstDash val="solid"/>
          </a:ln>
        </p:spPr>
        <p:txBody>
          <a:bodyPr/>
          <a:lstStyle/>
          <a:p>
            <a:endParaRPr/>
          </a:p>
        </p:txBody>
      </p:sp>
      <p:sp>
        <p:nvSpPr>
          <p:cNvPr id="29" name="Text 27">
            <a:extLst>
              <a:ext uri="{FF2B5EF4-FFF2-40B4-BE49-F238E27FC236}">
                <a16:creationId xmlns:a16="http://schemas.microsoft.com/office/drawing/2014/main" id="{C52F10F2-5294-4C0F-AF26-B3D7516D4E5D}"/>
              </a:ext>
            </a:extLst>
          </p:cNvPr>
          <p:cNvSpPr>
            <a:spLocks noGrp="1"/>
          </p:cNvSpPr>
          <p:nvPr/>
        </p:nvSpPr>
        <p:spPr>
          <a:xfrm>
            <a:off x="6976872" y="20619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総使用台数は32台で共通</a:t>
            </a:r>
            <a:endParaRPr sz="1260"/>
          </a:p>
        </p:txBody>
      </p:sp>
      <p:sp>
        <p:nvSpPr>
          <p:cNvPr id="30" name="Shape 28">
            <a:extLst>
              <a:ext uri="{FF2B5EF4-FFF2-40B4-BE49-F238E27FC236}">
                <a16:creationId xmlns:a16="http://schemas.microsoft.com/office/drawing/2014/main" id="{28F7BFD4-ACAD-419D-8FE2-C6E90686E4CA}"/>
              </a:ext>
            </a:extLst>
          </p:cNvPr>
          <p:cNvSpPr>
            <a:spLocks noGrp="1"/>
          </p:cNvSpPr>
          <p:nvPr/>
        </p:nvSpPr>
        <p:spPr>
          <a:xfrm>
            <a:off x="566928" y="2532888"/>
            <a:ext cx="2057400" cy="502920"/>
          </a:xfrm>
          <a:prstGeom prst="rect">
            <a:avLst/>
          </a:prstGeom>
          <a:solidFill>
            <a:srgbClr val="FFFFFF"/>
          </a:solidFill>
          <a:ln w="8890">
            <a:solidFill>
              <a:srgbClr val="EEF1F5"/>
            </a:solidFill>
            <a:prstDash val="solid"/>
          </a:ln>
        </p:spPr>
        <p:txBody>
          <a:bodyPr/>
          <a:lstStyle/>
          <a:p>
            <a:endParaRPr/>
          </a:p>
        </p:txBody>
      </p:sp>
      <p:sp>
        <p:nvSpPr>
          <p:cNvPr id="31" name="Text 29">
            <a:extLst>
              <a:ext uri="{FF2B5EF4-FFF2-40B4-BE49-F238E27FC236}">
                <a16:creationId xmlns:a16="http://schemas.microsoft.com/office/drawing/2014/main" id="{18C2D499-E3ED-41B5-A11B-76073A412087}"/>
              </a:ext>
            </a:extLst>
          </p:cNvPr>
          <p:cNvSpPr>
            <a:spLocks noGrp="1"/>
          </p:cNvSpPr>
          <p:nvPr/>
        </p:nvSpPr>
        <p:spPr>
          <a:xfrm>
            <a:off x="621792" y="25648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担当便</a:t>
            </a:r>
            <a:endParaRPr sz="1260"/>
          </a:p>
        </p:txBody>
      </p:sp>
      <p:sp>
        <p:nvSpPr>
          <p:cNvPr id="32" name="Shape 30">
            <a:extLst>
              <a:ext uri="{FF2B5EF4-FFF2-40B4-BE49-F238E27FC236}">
                <a16:creationId xmlns:a16="http://schemas.microsoft.com/office/drawing/2014/main" id="{7EBF3695-328B-4E73-9194-5109C33C0092}"/>
              </a:ext>
            </a:extLst>
          </p:cNvPr>
          <p:cNvSpPr>
            <a:spLocks noGrp="1"/>
          </p:cNvSpPr>
          <p:nvPr/>
        </p:nvSpPr>
        <p:spPr>
          <a:xfrm>
            <a:off x="2624328" y="2532888"/>
            <a:ext cx="2148840" cy="502920"/>
          </a:xfrm>
          <a:prstGeom prst="rect">
            <a:avLst/>
          </a:prstGeom>
          <a:solidFill>
            <a:srgbClr val="FFFFFF"/>
          </a:solidFill>
          <a:ln w="8890">
            <a:solidFill>
              <a:srgbClr val="EEF1F5"/>
            </a:solidFill>
            <a:prstDash val="solid"/>
          </a:ln>
        </p:spPr>
        <p:txBody>
          <a:bodyPr/>
          <a:lstStyle/>
          <a:p>
            <a:endParaRPr/>
          </a:p>
        </p:txBody>
      </p:sp>
      <p:sp>
        <p:nvSpPr>
          <p:cNvPr id="33" name="Text 31">
            <a:extLst>
              <a:ext uri="{FF2B5EF4-FFF2-40B4-BE49-F238E27FC236}">
                <a16:creationId xmlns:a16="http://schemas.microsoft.com/office/drawing/2014/main" id="{B5A1C9BB-7866-48BB-B112-D91BDBAE9F55}"/>
              </a:ext>
            </a:extLst>
          </p:cNvPr>
          <p:cNvSpPr>
            <a:spLocks noGrp="1"/>
          </p:cNvSpPr>
          <p:nvPr/>
        </p:nvSpPr>
        <p:spPr>
          <a:xfrm>
            <a:off x="267919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199／ICE 65便</a:t>
            </a:r>
            <a:endParaRPr sz="1260"/>
          </a:p>
        </p:txBody>
      </p:sp>
      <p:sp>
        <p:nvSpPr>
          <p:cNvPr id="34" name="Shape 32">
            <a:extLst>
              <a:ext uri="{FF2B5EF4-FFF2-40B4-BE49-F238E27FC236}">
                <a16:creationId xmlns:a16="http://schemas.microsoft.com/office/drawing/2014/main" id="{77921EDE-C508-4F4C-A8BB-0414B939FD6E}"/>
              </a:ext>
            </a:extLst>
          </p:cNvPr>
          <p:cNvSpPr>
            <a:spLocks noGrp="1"/>
          </p:cNvSpPr>
          <p:nvPr/>
        </p:nvSpPr>
        <p:spPr>
          <a:xfrm>
            <a:off x="4773168" y="2532888"/>
            <a:ext cx="2148840" cy="502920"/>
          </a:xfrm>
          <a:prstGeom prst="rect">
            <a:avLst/>
          </a:prstGeom>
          <a:solidFill>
            <a:srgbClr val="FFFFFF"/>
          </a:solidFill>
          <a:ln w="8890">
            <a:solidFill>
              <a:srgbClr val="EEF1F5"/>
            </a:solidFill>
            <a:prstDash val="solid"/>
          </a:ln>
        </p:spPr>
        <p:txBody>
          <a:bodyPr/>
          <a:lstStyle/>
          <a:p>
            <a:endParaRPr/>
          </a:p>
        </p:txBody>
      </p:sp>
      <p:sp>
        <p:nvSpPr>
          <p:cNvPr id="35" name="Text 33">
            <a:extLst>
              <a:ext uri="{FF2B5EF4-FFF2-40B4-BE49-F238E27FC236}">
                <a16:creationId xmlns:a16="http://schemas.microsoft.com/office/drawing/2014/main" id="{39493B54-3664-4581-B547-A6B384909506}"/>
              </a:ext>
            </a:extLst>
          </p:cNvPr>
          <p:cNvSpPr>
            <a:spLocks noGrp="1"/>
          </p:cNvSpPr>
          <p:nvPr/>
        </p:nvSpPr>
        <p:spPr>
          <a:xfrm>
            <a:off x="482803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91／ICE 173便</a:t>
            </a:r>
            <a:endParaRPr sz="1260"/>
          </a:p>
        </p:txBody>
      </p:sp>
      <p:sp>
        <p:nvSpPr>
          <p:cNvPr id="36" name="Shape 34">
            <a:extLst>
              <a:ext uri="{FF2B5EF4-FFF2-40B4-BE49-F238E27FC236}">
                <a16:creationId xmlns:a16="http://schemas.microsoft.com/office/drawing/2014/main" id="{194F7B39-3DAC-4D43-8118-C9A1F7F95FCB}"/>
              </a:ext>
            </a:extLst>
          </p:cNvPr>
          <p:cNvSpPr>
            <a:spLocks noGrp="1"/>
          </p:cNvSpPr>
          <p:nvPr/>
        </p:nvSpPr>
        <p:spPr>
          <a:xfrm>
            <a:off x="6922008" y="2532888"/>
            <a:ext cx="4681728" cy="502920"/>
          </a:xfrm>
          <a:prstGeom prst="rect">
            <a:avLst/>
          </a:prstGeom>
          <a:solidFill>
            <a:srgbClr val="FFFFFF"/>
          </a:solidFill>
          <a:ln w="8890">
            <a:solidFill>
              <a:srgbClr val="EEF1F5"/>
            </a:solidFill>
            <a:prstDash val="solid"/>
          </a:ln>
        </p:spPr>
        <p:txBody>
          <a:bodyPr/>
          <a:lstStyle/>
          <a:p>
            <a:endParaRPr/>
          </a:p>
        </p:txBody>
      </p:sp>
      <p:sp>
        <p:nvSpPr>
          <p:cNvPr id="37" name="Text 35">
            <a:extLst>
              <a:ext uri="{FF2B5EF4-FFF2-40B4-BE49-F238E27FC236}">
                <a16:creationId xmlns:a16="http://schemas.microsoft.com/office/drawing/2014/main" id="{2325C9CB-BC12-4E7B-BB44-DF698B9A33D8}"/>
              </a:ext>
            </a:extLst>
          </p:cNvPr>
          <p:cNvSpPr>
            <a:spLocks noGrp="1"/>
          </p:cNvSpPr>
          <p:nvPr/>
        </p:nvSpPr>
        <p:spPr>
          <a:xfrm>
            <a:off x="6976872" y="25648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低PVではICE担当が増加</a:t>
            </a:r>
            <a:endParaRPr sz="1260"/>
          </a:p>
        </p:txBody>
      </p:sp>
      <p:sp>
        <p:nvSpPr>
          <p:cNvPr id="38" name="Shape 36">
            <a:extLst>
              <a:ext uri="{FF2B5EF4-FFF2-40B4-BE49-F238E27FC236}">
                <a16:creationId xmlns:a16="http://schemas.microsoft.com/office/drawing/2014/main" id="{FF21281C-6BAB-4328-A45E-A0D7A8A4D9D5}"/>
              </a:ext>
            </a:extLst>
          </p:cNvPr>
          <p:cNvSpPr>
            <a:spLocks noGrp="1"/>
          </p:cNvSpPr>
          <p:nvPr/>
        </p:nvSpPr>
        <p:spPr>
          <a:xfrm>
            <a:off x="566928" y="3035808"/>
            <a:ext cx="2057400" cy="502920"/>
          </a:xfrm>
          <a:prstGeom prst="rect">
            <a:avLst/>
          </a:prstGeom>
          <a:solidFill>
            <a:srgbClr val="F8FAFC"/>
          </a:solidFill>
          <a:ln w="8890">
            <a:solidFill>
              <a:srgbClr val="EEF1F5"/>
            </a:solidFill>
            <a:prstDash val="solid"/>
          </a:ln>
        </p:spPr>
        <p:txBody>
          <a:bodyPr/>
          <a:lstStyle/>
          <a:p>
            <a:endParaRPr/>
          </a:p>
        </p:txBody>
      </p:sp>
      <p:sp>
        <p:nvSpPr>
          <p:cNvPr id="39" name="Text 37">
            <a:extLst>
              <a:ext uri="{FF2B5EF4-FFF2-40B4-BE49-F238E27FC236}">
                <a16:creationId xmlns:a16="http://schemas.microsoft.com/office/drawing/2014/main" id="{34F41625-25A4-4816-92ED-F053E8A2FB7A}"/>
              </a:ext>
            </a:extLst>
          </p:cNvPr>
          <p:cNvSpPr>
            <a:spLocks noGrp="1"/>
          </p:cNvSpPr>
          <p:nvPr/>
        </p:nvSpPr>
        <p:spPr>
          <a:xfrm>
            <a:off x="621792" y="30678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燃料使用量</a:t>
            </a:r>
            <a:endParaRPr sz="1260"/>
          </a:p>
        </p:txBody>
      </p:sp>
      <p:sp>
        <p:nvSpPr>
          <p:cNvPr id="40" name="Shape 38">
            <a:extLst>
              <a:ext uri="{FF2B5EF4-FFF2-40B4-BE49-F238E27FC236}">
                <a16:creationId xmlns:a16="http://schemas.microsoft.com/office/drawing/2014/main" id="{56E5F27B-AD74-4533-9EAC-DF4CAD3E69D3}"/>
              </a:ext>
            </a:extLst>
          </p:cNvPr>
          <p:cNvSpPr>
            <a:spLocks noGrp="1"/>
          </p:cNvSpPr>
          <p:nvPr/>
        </p:nvSpPr>
        <p:spPr>
          <a:xfrm>
            <a:off x="2624328" y="3035808"/>
            <a:ext cx="2148840" cy="502920"/>
          </a:xfrm>
          <a:prstGeom prst="rect">
            <a:avLst/>
          </a:prstGeom>
          <a:solidFill>
            <a:srgbClr val="F8FAFC"/>
          </a:solidFill>
          <a:ln w="8890">
            <a:solidFill>
              <a:srgbClr val="EEF1F5"/>
            </a:solidFill>
            <a:prstDash val="solid"/>
          </a:ln>
        </p:spPr>
        <p:txBody>
          <a:bodyPr/>
          <a:lstStyle/>
          <a:p>
            <a:endParaRPr/>
          </a:p>
        </p:txBody>
      </p:sp>
      <p:sp>
        <p:nvSpPr>
          <p:cNvPr id="41" name="Text 39">
            <a:extLst>
              <a:ext uri="{FF2B5EF4-FFF2-40B4-BE49-F238E27FC236}">
                <a16:creationId xmlns:a16="http://schemas.microsoft.com/office/drawing/2014/main" id="{26AF694C-C605-4F41-ADE2-F7697F8B4F39}"/>
              </a:ext>
            </a:extLst>
          </p:cNvPr>
          <p:cNvSpPr>
            <a:spLocks noGrp="1"/>
          </p:cNvSpPr>
          <p:nvPr/>
        </p:nvSpPr>
        <p:spPr>
          <a:xfrm>
            <a:off x="267919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137.5 L</a:t>
            </a:r>
            <a:endParaRPr sz="1260"/>
          </a:p>
        </p:txBody>
      </p:sp>
      <p:sp>
        <p:nvSpPr>
          <p:cNvPr id="42" name="Shape 40">
            <a:extLst>
              <a:ext uri="{FF2B5EF4-FFF2-40B4-BE49-F238E27FC236}">
                <a16:creationId xmlns:a16="http://schemas.microsoft.com/office/drawing/2014/main" id="{6BB7ACE0-53FD-40B6-908C-A04E9F90B687}"/>
              </a:ext>
            </a:extLst>
          </p:cNvPr>
          <p:cNvSpPr>
            <a:spLocks noGrp="1"/>
          </p:cNvSpPr>
          <p:nvPr/>
        </p:nvSpPr>
        <p:spPr>
          <a:xfrm>
            <a:off x="4773168" y="3035808"/>
            <a:ext cx="2148840" cy="502920"/>
          </a:xfrm>
          <a:prstGeom prst="rect">
            <a:avLst/>
          </a:prstGeom>
          <a:solidFill>
            <a:srgbClr val="F8FAFC"/>
          </a:solidFill>
          <a:ln w="8890">
            <a:solidFill>
              <a:srgbClr val="EEF1F5"/>
            </a:solidFill>
            <a:prstDash val="solid"/>
          </a:ln>
        </p:spPr>
        <p:txBody>
          <a:bodyPr/>
          <a:lstStyle/>
          <a:p>
            <a:endParaRPr/>
          </a:p>
        </p:txBody>
      </p:sp>
      <p:sp>
        <p:nvSpPr>
          <p:cNvPr id="43" name="Text 41">
            <a:extLst>
              <a:ext uri="{FF2B5EF4-FFF2-40B4-BE49-F238E27FC236}">
                <a16:creationId xmlns:a16="http://schemas.microsoft.com/office/drawing/2014/main" id="{5E3DE8E6-F2D5-4A0C-A5C1-7D6BD0ADAF90}"/>
              </a:ext>
            </a:extLst>
          </p:cNvPr>
          <p:cNvSpPr>
            <a:spLocks noGrp="1"/>
          </p:cNvSpPr>
          <p:nvPr/>
        </p:nvSpPr>
        <p:spPr>
          <a:xfrm>
            <a:off x="482803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357.9 L</a:t>
            </a:r>
            <a:endParaRPr sz="1260"/>
          </a:p>
        </p:txBody>
      </p:sp>
      <p:sp>
        <p:nvSpPr>
          <p:cNvPr id="44" name="Shape 42">
            <a:extLst>
              <a:ext uri="{FF2B5EF4-FFF2-40B4-BE49-F238E27FC236}">
                <a16:creationId xmlns:a16="http://schemas.microsoft.com/office/drawing/2014/main" id="{C2FA9D75-A401-4559-8FCB-5F922AF2645B}"/>
              </a:ext>
            </a:extLst>
          </p:cNvPr>
          <p:cNvSpPr>
            <a:spLocks noGrp="1"/>
          </p:cNvSpPr>
          <p:nvPr/>
        </p:nvSpPr>
        <p:spPr>
          <a:xfrm>
            <a:off x="6922008" y="3035808"/>
            <a:ext cx="4681728" cy="502920"/>
          </a:xfrm>
          <a:prstGeom prst="rect">
            <a:avLst/>
          </a:prstGeom>
          <a:solidFill>
            <a:srgbClr val="F8FAFC"/>
          </a:solidFill>
          <a:ln w="8890">
            <a:solidFill>
              <a:srgbClr val="EEF1F5"/>
            </a:solidFill>
            <a:prstDash val="solid"/>
          </a:ln>
        </p:spPr>
        <p:txBody>
          <a:bodyPr/>
          <a:lstStyle/>
          <a:p>
            <a:endParaRPr/>
          </a:p>
        </p:txBody>
      </p:sp>
      <p:sp>
        <p:nvSpPr>
          <p:cNvPr id="45" name="Text 43">
            <a:extLst>
              <a:ext uri="{FF2B5EF4-FFF2-40B4-BE49-F238E27FC236}">
                <a16:creationId xmlns:a16="http://schemas.microsoft.com/office/drawing/2014/main" id="{0340FD39-9AB4-4DD3-849F-57FB2ED77062}"/>
              </a:ext>
            </a:extLst>
          </p:cNvPr>
          <p:cNvSpPr>
            <a:spLocks noGrp="1"/>
          </p:cNvSpPr>
          <p:nvPr/>
        </p:nvSpPr>
        <p:spPr>
          <a:xfrm>
            <a:off x="6976872" y="30678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費用差の主因</a:t>
            </a:r>
            <a:endParaRPr sz="1260"/>
          </a:p>
        </p:txBody>
      </p:sp>
      <p:sp>
        <p:nvSpPr>
          <p:cNvPr id="46" name="Shape 44">
            <a:extLst>
              <a:ext uri="{FF2B5EF4-FFF2-40B4-BE49-F238E27FC236}">
                <a16:creationId xmlns:a16="http://schemas.microsoft.com/office/drawing/2014/main" id="{A4D27A22-1D1B-4041-A634-8A54BF2197FB}"/>
              </a:ext>
            </a:extLst>
          </p:cNvPr>
          <p:cNvSpPr>
            <a:spLocks noGrp="1"/>
          </p:cNvSpPr>
          <p:nvPr/>
        </p:nvSpPr>
        <p:spPr>
          <a:xfrm>
            <a:off x="566928" y="3538728"/>
            <a:ext cx="2057400" cy="502920"/>
          </a:xfrm>
          <a:prstGeom prst="rect">
            <a:avLst/>
          </a:prstGeom>
          <a:solidFill>
            <a:srgbClr val="FFFFFF"/>
          </a:solidFill>
          <a:ln w="8890">
            <a:solidFill>
              <a:srgbClr val="EEF1F5"/>
            </a:solidFill>
            <a:prstDash val="solid"/>
          </a:ln>
        </p:spPr>
        <p:txBody>
          <a:bodyPr/>
          <a:lstStyle/>
          <a:p>
            <a:endParaRPr/>
          </a:p>
        </p:txBody>
      </p:sp>
      <p:sp>
        <p:nvSpPr>
          <p:cNvPr id="47" name="Text 45">
            <a:extLst>
              <a:ext uri="{FF2B5EF4-FFF2-40B4-BE49-F238E27FC236}">
                <a16:creationId xmlns:a16="http://schemas.microsoft.com/office/drawing/2014/main" id="{22323662-3EBD-416B-B8A0-0953F843525B}"/>
              </a:ext>
            </a:extLst>
          </p:cNvPr>
          <p:cNvSpPr>
            <a:spLocks noGrp="1"/>
          </p:cNvSpPr>
          <p:nvPr/>
        </p:nvSpPr>
        <p:spPr>
          <a:xfrm>
            <a:off x="621792" y="357073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系統購入量</a:t>
            </a:r>
            <a:endParaRPr sz="1260"/>
          </a:p>
        </p:txBody>
      </p:sp>
      <p:sp>
        <p:nvSpPr>
          <p:cNvPr id="48" name="Shape 46">
            <a:extLst>
              <a:ext uri="{FF2B5EF4-FFF2-40B4-BE49-F238E27FC236}">
                <a16:creationId xmlns:a16="http://schemas.microsoft.com/office/drawing/2014/main" id="{686B7BAF-04A5-4D2C-9224-8B1C3FCDDE46}"/>
              </a:ext>
            </a:extLst>
          </p:cNvPr>
          <p:cNvSpPr>
            <a:spLocks noGrp="1"/>
          </p:cNvSpPr>
          <p:nvPr/>
        </p:nvSpPr>
        <p:spPr>
          <a:xfrm>
            <a:off x="2624328" y="3538728"/>
            <a:ext cx="2148840" cy="502920"/>
          </a:xfrm>
          <a:prstGeom prst="rect">
            <a:avLst/>
          </a:prstGeom>
          <a:solidFill>
            <a:srgbClr val="FFFFFF"/>
          </a:solidFill>
          <a:ln w="8890">
            <a:solidFill>
              <a:srgbClr val="EEF1F5"/>
            </a:solidFill>
            <a:prstDash val="solid"/>
          </a:ln>
        </p:spPr>
        <p:txBody>
          <a:bodyPr/>
          <a:lstStyle/>
          <a:p>
            <a:endParaRPr/>
          </a:p>
        </p:txBody>
      </p:sp>
      <p:sp>
        <p:nvSpPr>
          <p:cNvPr id="49" name="Text 47">
            <a:extLst>
              <a:ext uri="{FF2B5EF4-FFF2-40B4-BE49-F238E27FC236}">
                <a16:creationId xmlns:a16="http://schemas.microsoft.com/office/drawing/2014/main" id="{0961A8F0-1933-4910-B693-AA482A703817}"/>
              </a:ext>
            </a:extLst>
          </p:cNvPr>
          <p:cNvSpPr>
            <a:spLocks noGrp="1"/>
          </p:cNvSpPr>
          <p:nvPr/>
        </p:nvSpPr>
        <p:spPr>
          <a:xfrm>
            <a:off x="267919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0.0 kWh</a:t>
            </a:r>
            <a:endParaRPr sz="1260"/>
          </a:p>
        </p:txBody>
      </p:sp>
      <p:sp>
        <p:nvSpPr>
          <p:cNvPr id="50" name="Shape 48">
            <a:extLst>
              <a:ext uri="{FF2B5EF4-FFF2-40B4-BE49-F238E27FC236}">
                <a16:creationId xmlns:a16="http://schemas.microsoft.com/office/drawing/2014/main" id="{6E382C5E-2FE0-4A58-A058-FA0220A01CB6}"/>
              </a:ext>
            </a:extLst>
          </p:cNvPr>
          <p:cNvSpPr>
            <a:spLocks noGrp="1"/>
          </p:cNvSpPr>
          <p:nvPr/>
        </p:nvSpPr>
        <p:spPr>
          <a:xfrm>
            <a:off x="4773168" y="3538728"/>
            <a:ext cx="2148840" cy="502920"/>
          </a:xfrm>
          <a:prstGeom prst="rect">
            <a:avLst/>
          </a:prstGeom>
          <a:solidFill>
            <a:srgbClr val="FFFFFF"/>
          </a:solidFill>
          <a:ln w="8890">
            <a:solidFill>
              <a:srgbClr val="EEF1F5"/>
            </a:solidFill>
            <a:prstDash val="solid"/>
          </a:ln>
        </p:spPr>
        <p:txBody>
          <a:bodyPr/>
          <a:lstStyle/>
          <a:p>
            <a:endParaRPr/>
          </a:p>
        </p:txBody>
      </p:sp>
      <p:sp>
        <p:nvSpPr>
          <p:cNvPr id="51" name="Text 49">
            <a:extLst>
              <a:ext uri="{FF2B5EF4-FFF2-40B4-BE49-F238E27FC236}">
                <a16:creationId xmlns:a16="http://schemas.microsoft.com/office/drawing/2014/main" id="{1E1C25D1-2C04-4374-AA67-FAE82F42ED24}"/>
              </a:ext>
            </a:extLst>
          </p:cNvPr>
          <p:cNvSpPr>
            <a:spLocks noGrp="1"/>
          </p:cNvSpPr>
          <p:nvPr/>
        </p:nvSpPr>
        <p:spPr>
          <a:xfrm>
            <a:off x="482803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130.9 kWh</a:t>
            </a:r>
            <a:endParaRPr sz="1260"/>
          </a:p>
        </p:txBody>
      </p:sp>
      <p:sp>
        <p:nvSpPr>
          <p:cNvPr id="52" name="Shape 50">
            <a:extLst>
              <a:ext uri="{FF2B5EF4-FFF2-40B4-BE49-F238E27FC236}">
                <a16:creationId xmlns:a16="http://schemas.microsoft.com/office/drawing/2014/main" id="{2F6F8E19-D1BD-4232-84B6-D6DBB67070E8}"/>
              </a:ext>
            </a:extLst>
          </p:cNvPr>
          <p:cNvSpPr>
            <a:spLocks noGrp="1"/>
          </p:cNvSpPr>
          <p:nvPr/>
        </p:nvSpPr>
        <p:spPr>
          <a:xfrm>
            <a:off x="6922008" y="3538728"/>
            <a:ext cx="4681728" cy="502920"/>
          </a:xfrm>
          <a:prstGeom prst="rect">
            <a:avLst/>
          </a:prstGeom>
          <a:solidFill>
            <a:srgbClr val="FFFFFF"/>
          </a:solidFill>
          <a:ln w="8890">
            <a:solidFill>
              <a:srgbClr val="EEF1F5"/>
            </a:solidFill>
            <a:prstDash val="solid"/>
          </a:ln>
        </p:spPr>
        <p:txBody>
          <a:bodyPr/>
          <a:lstStyle/>
          <a:p>
            <a:endParaRPr/>
          </a:p>
        </p:txBody>
      </p:sp>
      <p:sp>
        <p:nvSpPr>
          <p:cNvPr id="53" name="Text 51">
            <a:extLst>
              <a:ext uri="{FF2B5EF4-FFF2-40B4-BE49-F238E27FC236}">
                <a16:creationId xmlns:a16="http://schemas.microsoft.com/office/drawing/2014/main" id="{6A189E89-12DF-4EDB-AE62-D809F7CFCF3A}"/>
              </a:ext>
            </a:extLst>
          </p:cNvPr>
          <p:cNvSpPr>
            <a:spLocks noGrp="1"/>
          </p:cNvSpPr>
          <p:nvPr/>
        </p:nvSpPr>
        <p:spPr>
          <a:xfrm>
            <a:off x="6976872" y="357073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低PVで不足分を補給</a:t>
            </a:r>
            <a:endParaRPr sz="1260"/>
          </a:p>
        </p:txBody>
      </p:sp>
      <p:sp>
        <p:nvSpPr>
          <p:cNvPr id="54" name="Shape 52">
            <a:extLst>
              <a:ext uri="{FF2B5EF4-FFF2-40B4-BE49-F238E27FC236}">
                <a16:creationId xmlns:a16="http://schemas.microsoft.com/office/drawing/2014/main" id="{427FE63F-01D6-4402-BAAA-0676BA97C2C2}"/>
              </a:ext>
            </a:extLst>
          </p:cNvPr>
          <p:cNvSpPr>
            <a:spLocks noGrp="1"/>
          </p:cNvSpPr>
          <p:nvPr/>
        </p:nvSpPr>
        <p:spPr>
          <a:xfrm>
            <a:off x="566928" y="4041648"/>
            <a:ext cx="2057400" cy="502920"/>
          </a:xfrm>
          <a:prstGeom prst="rect">
            <a:avLst/>
          </a:prstGeom>
          <a:solidFill>
            <a:srgbClr val="F8FAFC"/>
          </a:solidFill>
          <a:ln w="8890">
            <a:solidFill>
              <a:srgbClr val="EEF1F5"/>
            </a:solidFill>
            <a:prstDash val="solid"/>
          </a:ln>
        </p:spPr>
        <p:txBody>
          <a:bodyPr/>
          <a:lstStyle/>
          <a:p>
            <a:endParaRPr/>
          </a:p>
        </p:txBody>
      </p:sp>
      <p:sp>
        <p:nvSpPr>
          <p:cNvPr id="55" name="Text 53">
            <a:extLst>
              <a:ext uri="{FF2B5EF4-FFF2-40B4-BE49-F238E27FC236}">
                <a16:creationId xmlns:a16="http://schemas.microsoft.com/office/drawing/2014/main" id="{B44F2139-C3B9-4D64-9237-2F5ABAA003DF}"/>
              </a:ext>
            </a:extLst>
          </p:cNvPr>
          <p:cNvSpPr>
            <a:spLocks noGrp="1"/>
          </p:cNvSpPr>
          <p:nvPr/>
        </p:nvSpPr>
        <p:spPr>
          <a:xfrm>
            <a:off x="621792" y="40736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PV抑制量</a:t>
            </a:r>
            <a:endParaRPr sz="1260"/>
          </a:p>
        </p:txBody>
      </p:sp>
      <p:sp>
        <p:nvSpPr>
          <p:cNvPr id="56" name="Shape 54">
            <a:extLst>
              <a:ext uri="{FF2B5EF4-FFF2-40B4-BE49-F238E27FC236}">
                <a16:creationId xmlns:a16="http://schemas.microsoft.com/office/drawing/2014/main" id="{34C8B8DA-4FCF-4D79-B976-2A73FD201DAC}"/>
              </a:ext>
            </a:extLst>
          </p:cNvPr>
          <p:cNvSpPr>
            <a:spLocks noGrp="1"/>
          </p:cNvSpPr>
          <p:nvPr/>
        </p:nvSpPr>
        <p:spPr>
          <a:xfrm>
            <a:off x="2624328" y="4041648"/>
            <a:ext cx="2148840" cy="502920"/>
          </a:xfrm>
          <a:prstGeom prst="rect">
            <a:avLst/>
          </a:prstGeom>
          <a:solidFill>
            <a:srgbClr val="F8FAFC"/>
          </a:solidFill>
          <a:ln w="8890">
            <a:solidFill>
              <a:srgbClr val="EEF1F5"/>
            </a:solidFill>
            <a:prstDash val="solid"/>
          </a:ln>
        </p:spPr>
        <p:txBody>
          <a:bodyPr/>
          <a:lstStyle/>
          <a:p>
            <a:endParaRPr/>
          </a:p>
        </p:txBody>
      </p:sp>
      <p:sp>
        <p:nvSpPr>
          <p:cNvPr id="57" name="Text 55">
            <a:extLst>
              <a:ext uri="{FF2B5EF4-FFF2-40B4-BE49-F238E27FC236}">
                <a16:creationId xmlns:a16="http://schemas.microsoft.com/office/drawing/2014/main" id="{39735486-A1C2-4745-AD6B-A9D35A983EC4}"/>
              </a:ext>
            </a:extLst>
          </p:cNvPr>
          <p:cNvSpPr>
            <a:spLocks noGrp="1"/>
          </p:cNvSpPr>
          <p:nvPr/>
        </p:nvSpPr>
        <p:spPr>
          <a:xfrm>
            <a:off x="267919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3,373 kWh</a:t>
            </a:r>
            <a:endParaRPr sz="1260"/>
          </a:p>
        </p:txBody>
      </p:sp>
      <p:sp>
        <p:nvSpPr>
          <p:cNvPr id="58" name="Shape 56">
            <a:extLst>
              <a:ext uri="{FF2B5EF4-FFF2-40B4-BE49-F238E27FC236}">
                <a16:creationId xmlns:a16="http://schemas.microsoft.com/office/drawing/2014/main" id="{49A3951B-CC41-4F4D-AFB5-E826252FA85B}"/>
              </a:ext>
            </a:extLst>
          </p:cNvPr>
          <p:cNvSpPr>
            <a:spLocks noGrp="1"/>
          </p:cNvSpPr>
          <p:nvPr/>
        </p:nvSpPr>
        <p:spPr>
          <a:xfrm>
            <a:off x="4773168" y="4041648"/>
            <a:ext cx="2148840" cy="502920"/>
          </a:xfrm>
          <a:prstGeom prst="rect">
            <a:avLst/>
          </a:prstGeom>
          <a:solidFill>
            <a:srgbClr val="F8FAFC"/>
          </a:solidFill>
          <a:ln w="8890">
            <a:solidFill>
              <a:srgbClr val="EEF1F5"/>
            </a:solidFill>
            <a:prstDash val="solid"/>
          </a:ln>
        </p:spPr>
        <p:txBody>
          <a:bodyPr/>
          <a:lstStyle/>
          <a:p>
            <a:endParaRPr/>
          </a:p>
        </p:txBody>
      </p:sp>
      <p:sp>
        <p:nvSpPr>
          <p:cNvPr id="59" name="Text 57">
            <a:extLst>
              <a:ext uri="{FF2B5EF4-FFF2-40B4-BE49-F238E27FC236}">
                <a16:creationId xmlns:a16="http://schemas.microsoft.com/office/drawing/2014/main" id="{F751D0B0-92CC-45E8-B557-C26E9303E716}"/>
              </a:ext>
            </a:extLst>
          </p:cNvPr>
          <p:cNvSpPr>
            <a:spLocks noGrp="1"/>
          </p:cNvSpPr>
          <p:nvPr/>
        </p:nvSpPr>
        <p:spPr>
          <a:xfrm>
            <a:off x="482803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ほぼ0 kWh</a:t>
            </a:r>
            <a:endParaRPr sz="1260"/>
          </a:p>
        </p:txBody>
      </p:sp>
      <p:sp>
        <p:nvSpPr>
          <p:cNvPr id="60" name="Shape 58">
            <a:extLst>
              <a:ext uri="{FF2B5EF4-FFF2-40B4-BE49-F238E27FC236}">
                <a16:creationId xmlns:a16="http://schemas.microsoft.com/office/drawing/2014/main" id="{43D263B7-B851-47AB-A157-F9F8AE5D9A63}"/>
              </a:ext>
            </a:extLst>
          </p:cNvPr>
          <p:cNvSpPr>
            <a:spLocks noGrp="1"/>
          </p:cNvSpPr>
          <p:nvPr/>
        </p:nvSpPr>
        <p:spPr>
          <a:xfrm>
            <a:off x="6922008" y="4041648"/>
            <a:ext cx="4681728" cy="502920"/>
          </a:xfrm>
          <a:prstGeom prst="rect">
            <a:avLst/>
          </a:prstGeom>
          <a:solidFill>
            <a:srgbClr val="F8FAFC"/>
          </a:solidFill>
          <a:ln w="8890">
            <a:solidFill>
              <a:srgbClr val="EEF1F5"/>
            </a:solidFill>
            <a:prstDash val="solid"/>
          </a:ln>
        </p:spPr>
        <p:txBody>
          <a:bodyPr/>
          <a:lstStyle/>
          <a:p>
            <a:endParaRPr/>
          </a:p>
        </p:txBody>
      </p:sp>
      <p:sp>
        <p:nvSpPr>
          <p:cNvPr id="61" name="Text 59">
            <a:extLst>
              <a:ext uri="{FF2B5EF4-FFF2-40B4-BE49-F238E27FC236}">
                <a16:creationId xmlns:a16="http://schemas.microsoft.com/office/drawing/2014/main" id="{70C14C7D-B177-479E-B20B-0C9B37B17EED}"/>
              </a:ext>
            </a:extLst>
          </p:cNvPr>
          <p:cNvSpPr>
            <a:spLocks noGrp="1"/>
          </p:cNvSpPr>
          <p:nvPr/>
        </p:nvSpPr>
        <p:spPr>
          <a:xfrm>
            <a:off x="6976872" y="40736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高PVで抑制、原因は未確定</a:t>
            </a:r>
            <a:endParaRPr sz="1260"/>
          </a:p>
        </p:txBody>
      </p:sp>
      <p:sp>
        <p:nvSpPr>
          <p:cNvPr id="62" name="Shape 60">
            <a:extLst>
              <a:ext uri="{FF2B5EF4-FFF2-40B4-BE49-F238E27FC236}">
                <a16:creationId xmlns:a16="http://schemas.microsoft.com/office/drawing/2014/main" id="{F93BC8C4-E78C-4C13-9F38-3F1F9B62CD20}"/>
              </a:ext>
            </a:extLst>
          </p:cNvPr>
          <p:cNvSpPr>
            <a:spLocks noGrp="1"/>
          </p:cNvSpPr>
          <p:nvPr/>
        </p:nvSpPr>
        <p:spPr>
          <a:xfrm>
            <a:off x="566928" y="4544568"/>
            <a:ext cx="2057400" cy="502920"/>
          </a:xfrm>
          <a:prstGeom prst="rect">
            <a:avLst/>
          </a:prstGeom>
          <a:solidFill>
            <a:srgbClr val="FFFFFF"/>
          </a:solidFill>
          <a:ln w="8890">
            <a:solidFill>
              <a:srgbClr val="EEF1F5"/>
            </a:solidFill>
            <a:prstDash val="solid"/>
          </a:ln>
        </p:spPr>
        <p:txBody>
          <a:bodyPr/>
          <a:lstStyle/>
          <a:p>
            <a:endParaRPr/>
          </a:p>
        </p:txBody>
      </p:sp>
      <p:sp>
        <p:nvSpPr>
          <p:cNvPr id="63" name="Text 61">
            <a:extLst>
              <a:ext uri="{FF2B5EF4-FFF2-40B4-BE49-F238E27FC236}">
                <a16:creationId xmlns:a16="http://schemas.microsoft.com/office/drawing/2014/main" id="{A8EC16AF-394E-4A96-AC4A-6F9FA0D35E69}"/>
              </a:ext>
            </a:extLst>
          </p:cNvPr>
          <p:cNvSpPr>
            <a:spLocks noGrp="1"/>
          </p:cNvSpPr>
          <p:nvPr/>
        </p:nvSpPr>
        <p:spPr>
          <a:xfrm>
            <a:off x="621792" y="45765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24時間評価額</a:t>
            </a:r>
            <a:endParaRPr sz="1260"/>
          </a:p>
        </p:txBody>
      </p:sp>
      <p:sp>
        <p:nvSpPr>
          <p:cNvPr id="64" name="Shape 62">
            <a:extLst>
              <a:ext uri="{FF2B5EF4-FFF2-40B4-BE49-F238E27FC236}">
                <a16:creationId xmlns:a16="http://schemas.microsoft.com/office/drawing/2014/main" id="{D78B3D12-A10D-451F-A93D-6DE937F2789E}"/>
              </a:ext>
            </a:extLst>
          </p:cNvPr>
          <p:cNvSpPr>
            <a:spLocks noGrp="1"/>
          </p:cNvSpPr>
          <p:nvPr/>
        </p:nvSpPr>
        <p:spPr>
          <a:xfrm>
            <a:off x="2624328" y="4544568"/>
            <a:ext cx="2148840" cy="502920"/>
          </a:xfrm>
          <a:prstGeom prst="rect">
            <a:avLst/>
          </a:prstGeom>
          <a:solidFill>
            <a:srgbClr val="FFFFFF"/>
          </a:solidFill>
          <a:ln w="8890">
            <a:solidFill>
              <a:srgbClr val="EEF1F5"/>
            </a:solidFill>
            <a:prstDash val="solid"/>
          </a:ln>
        </p:spPr>
        <p:txBody>
          <a:bodyPr/>
          <a:lstStyle/>
          <a:p>
            <a:endParaRPr/>
          </a:p>
        </p:txBody>
      </p:sp>
      <p:sp>
        <p:nvSpPr>
          <p:cNvPr id="65" name="Text 63">
            <a:extLst>
              <a:ext uri="{FF2B5EF4-FFF2-40B4-BE49-F238E27FC236}">
                <a16:creationId xmlns:a16="http://schemas.microsoft.com/office/drawing/2014/main" id="{2F9B22E3-2F7E-4C5E-8EBF-72E17230B3C7}"/>
              </a:ext>
            </a:extLst>
          </p:cNvPr>
          <p:cNvSpPr>
            <a:spLocks noGrp="1"/>
          </p:cNvSpPr>
          <p:nvPr/>
        </p:nvSpPr>
        <p:spPr>
          <a:xfrm>
            <a:off x="267919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660,984円</a:t>
            </a:r>
            <a:endParaRPr sz="1260"/>
          </a:p>
        </p:txBody>
      </p:sp>
      <p:sp>
        <p:nvSpPr>
          <p:cNvPr id="66" name="Shape 64">
            <a:extLst>
              <a:ext uri="{FF2B5EF4-FFF2-40B4-BE49-F238E27FC236}">
                <a16:creationId xmlns:a16="http://schemas.microsoft.com/office/drawing/2014/main" id="{5438A004-0D30-4278-A4AA-D482598B53F5}"/>
              </a:ext>
            </a:extLst>
          </p:cNvPr>
          <p:cNvSpPr>
            <a:spLocks noGrp="1"/>
          </p:cNvSpPr>
          <p:nvPr/>
        </p:nvSpPr>
        <p:spPr>
          <a:xfrm>
            <a:off x="4773168" y="4544568"/>
            <a:ext cx="2148840" cy="502920"/>
          </a:xfrm>
          <a:prstGeom prst="rect">
            <a:avLst/>
          </a:prstGeom>
          <a:solidFill>
            <a:srgbClr val="FFFFFF"/>
          </a:solidFill>
          <a:ln w="8890">
            <a:solidFill>
              <a:srgbClr val="EEF1F5"/>
            </a:solidFill>
            <a:prstDash val="solid"/>
          </a:ln>
        </p:spPr>
        <p:txBody>
          <a:bodyPr/>
          <a:lstStyle/>
          <a:p>
            <a:endParaRPr/>
          </a:p>
        </p:txBody>
      </p:sp>
      <p:sp>
        <p:nvSpPr>
          <p:cNvPr id="67" name="Text 65">
            <a:extLst>
              <a:ext uri="{FF2B5EF4-FFF2-40B4-BE49-F238E27FC236}">
                <a16:creationId xmlns:a16="http://schemas.microsoft.com/office/drawing/2014/main" id="{371598D6-221F-4E53-89FC-0F8FF505874F}"/>
              </a:ext>
            </a:extLst>
          </p:cNvPr>
          <p:cNvSpPr>
            <a:spLocks noGrp="1"/>
          </p:cNvSpPr>
          <p:nvPr/>
        </p:nvSpPr>
        <p:spPr>
          <a:xfrm>
            <a:off x="482803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698,599円</a:t>
            </a:r>
            <a:endParaRPr sz="1260"/>
          </a:p>
        </p:txBody>
      </p:sp>
      <p:sp>
        <p:nvSpPr>
          <p:cNvPr id="68" name="Shape 66">
            <a:extLst>
              <a:ext uri="{FF2B5EF4-FFF2-40B4-BE49-F238E27FC236}">
                <a16:creationId xmlns:a16="http://schemas.microsoft.com/office/drawing/2014/main" id="{1C69630C-C779-4DA0-B41A-ED5A6C77C810}"/>
              </a:ext>
            </a:extLst>
          </p:cNvPr>
          <p:cNvSpPr>
            <a:spLocks noGrp="1"/>
          </p:cNvSpPr>
          <p:nvPr/>
        </p:nvSpPr>
        <p:spPr>
          <a:xfrm>
            <a:off x="6922008" y="4544568"/>
            <a:ext cx="4681728" cy="502920"/>
          </a:xfrm>
          <a:prstGeom prst="rect">
            <a:avLst/>
          </a:prstGeom>
          <a:solidFill>
            <a:srgbClr val="FFFFFF"/>
          </a:solidFill>
          <a:ln w="8890">
            <a:solidFill>
              <a:srgbClr val="EEF1F5"/>
            </a:solidFill>
            <a:prstDash val="solid"/>
          </a:ln>
        </p:spPr>
        <p:txBody>
          <a:bodyPr/>
          <a:lstStyle/>
          <a:p>
            <a:endParaRPr/>
          </a:p>
        </p:txBody>
      </p:sp>
      <p:sp>
        <p:nvSpPr>
          <p:cNvPr id="69" name="Text 67">
            <a:extLst>
              <a:ext uri="{FF2B5EF4-FFF2-40B4-BE49-F238E27FC236}">
                <a16:creationId xmlns:a16="http://schemas.microsoft.com/office/drawing/2014/main" id="{A1F2E92E-3AE8-4A02-A17B-06B51D68D6E6}"/>
              </a:ext>
            </a:extLst>
          </p:cNvPr>
          <p:cNvSpPr>
            <a:spLocks noGrp="1"/>
          </p:cNvSpPr>
          <p:nvPr/>
        </p:nvSpPr>
        <p:spPr>
          <a:xfrm>
            <a:off x="6976872" y="45765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差額 +37,615円</a:t>
            </a:r>
            <a:endParaRPr sz="1260"/>
          </a:p>
        </p:txBody>
      </p:sp>
      <p:sp>
        <p:nvSpPr>
          <p:cNvPr id="70" name="Shape 68">
            <a:extLst>
              <a:ext uri="{FF2B5EF4-FFF2-40B4-BE49-F238E27FC236}">
                <a16:creationId xmlns:a16="http://schemas.microsoft.com/office/drawing/2014/main" id="{536A3D6E-49F9-4613-8079-9457EAA4E3C3}"/>
              </a:ext>
            </a:extLst>
          </p:cNvPr>
          <p:cNvSpPr>
            <a:spLocks noGrp="1"/>
          </p:cNvSpPr>
          <p:nvPr/>
        </p:nvSpPr>
        <p:spPr>
          <a:xfrm>
            <a:off x="566928" y="5047488"/>
            <a:ext cx="2057400" cy="502920"/>
          </a:xfrm>
          <a:prstGeom prst="rect">
            <a:avLst/>
          </a:prstGeom>
          <a:solidFill>
            <a:srgbClr val="F8FAFC"/>
          </a:solidFill>
          <a:ln w="8890">
            <a:solidFill>
              <a:srgbClr val="EEF1F5"/>
            </a:solidFill>
            <a:prstDash val="solid"/>
          </a:ln>
        </p:spPr>
        <p:txBody>
          <a:bodyPr/>
          <a:lstStyle/>
          <a:p>
            <a:endParaRPr/>
          </a:p>
        </p:txBody>
      </p:sp>
      <p:sp>
        <p:nvSpPr>
          <p:cNvPr id="71" name="Text 69">
            <a:extLst>
              <a:ext uri="{FF2B5EF4-FFF2-40B4-BE49-F238E27FC236}">
                <a16:creationId xmlns:a16="http://schemas.microsoft.com/office/drawing/2014/main" id="{660A0BBC-9752-4567-9899-1744CDED0F2C}"/>
              </a:ext>
            </a:extLst>
          </p:cNvPr>
          <p:cNvSpPr>
            <a:spLocks noGrp="1"/>
          </p:cNvSpPr>
          <p:nvPr/>
        </p:nvSpPr>
        <p:spPr>
          <a:xfrm>
            <a:off x="621792" y="50794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計算の詰まり具合</a:t>
            </a:r>
            <a:endParaRPr sz="1260"/>
          </a:p>
        </p:txBody>
      </p:sp>
      <p:sp>
        <p:nvSpPr>
          <p:cNvPr id="72" name="Shape 70">
            <a:extLst>
              <a:ext uri="{FF2B5EF4-FFF2-40B4-BE49-F238E27FC236}">
                <a16:creationId xmlns:a16="http://schemas.microsoft.com/office/drawing/2014/main" id="{C01C973D-1300-4AD1-B9BD-22C971E54AB0}"/>
              </a:ext>
            </a:extLst>
          </p:cNvPr>
          <p:cNvSpPr>
            <a:spLocks noGrp="1"/>
          </p:cNvSpPr>
          <p:nvPr/>
        </p:nvSpPr>
        <p:spPr>
          <a:xfrm>
            <a:off x="2624328" y="5047488"/>
            <a:ext cx="2148840" cy="502920"/>
          </a:xfrm>
          <a:prstGeom prst="rect">
            <a:avLst/>
          </a:prstGeom>
          <a:solidFill>
            <a:srgbClr val="F8FAFC"/>
          </a:solidFill>
          <a:ln w="8890">
            <a:solidFill>
              <a:srgbClr val="EEF1F5"/>
            </a:solidFill>
            <a:prstDash val="solid"/>
          </a:ln>
        </p:spPr>
        <p:txBody>
          <a:bodyPr/>
          <a:lstStyle/>
          <a:p>
            <a:endParaRPr/>
          </a:p>
        </p:txBody>
      </p:sp>
      <p:sp>
        <p:nvSpPr>
          <p:cNvPr id="73" name="Text 71">
            <a:extLst>
              <a:ext uri="{FF2B5EF4-FFF2-40B4-BE49-F238E27FC236}">
                <a16:creationId xmlns:a16="http://schemas.microsoft.com/office/drawing/2014/main" id="{D19CE388-C520-4A58-AC6E-7BD2B8B61F94}"/>
              </a:ext>
            </a:extLst>
          </p:cNvPr>
          <p:cNvSpPr>
            <a:spLocks noGrp="1"/>
          </p:cNvSpPr>
          <p:nvPr/>
        </p:nvSpPr>
        <p:spPr>
          <a:xfrm>
            <a:off x="267919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約9.52%</a:t>
            </a:r>
            <a:endParaRPr sz="1260"/>
          </a:p>
        </p:txBody>
      </p:sp>
      <p:sp>
        <p:nvSpPr>
          <p:cNvPr id="74" name="Shape 72">
            <a:extLst>
              <a:ext uri="{FF2B5EF4-FFF2-40B4-BE49-F238E27FC236}">
                <a16:creationId xmlns:a16="http://schemas.microsoft.com/office/drawing/2014/main" id="{69282DF6-0A2D-44A3-B7E6-5353ABA5B545}"/>
              </a:ext>
            </a:extLst>
          </p:cNvPr>
          <p:cNvSpPr>
            <a:spLocks noGrp="1"/>
          </p:cNvSpPr>
          <p:nvPr/>
        </p:nvSpPr>
        <p:spPr>
          <a:xfrm>
            <a:off x="4773168" y="5047488"/>
            <a:ext cx="2148840" cy="502920"/>
          </a:xfrm>
          <a:prstGeom prst="rect">
            <a:avLst/>
          </a:prstGeom>
          <a:solidFill>
            <a:srgbClr val="F8FAFC"/>
          </a:solidFill>
          <a:ln w="8890">
            <a:solidFill>
              <a:srgbClr val="EEF1F5"/>
            </a:solidFill>
            <a:prstDash val="solid"/>
          </a:ln>
        </p:spPr>
        <p:txBody>
          <a:bodyPr/>
          <a:lstStyle/>
          <a:p>
            <a:endParaRPr/>
          </a:p>
        </p:txBody>
      </p:sp>
      <p:sp>
        <p:nvSpPr>
          <p:cNvPr id="75" name="Text 73">
            <a:extLst>
              <a:ext uri="{FF2B5EF4-FFF2-40B4-BE49-F238E27FC236}">
                <a16:creationId xmlns:a16="http://schemas.microsoft.com/office/drawing/2014/main" id="{2005341F-ED67-438E-A26B-0679F2844A02}"/>
              </a:ext>
            </a:extLst>
          </p:cNvPr>
          <p:cNvSpPr>
            <a:spLocks noGrp="1"/>
          </p:cNvSpPr>
          <p:nvPr/>
        </p:nvSpPr>
        <p:spPr>
          <a:xfrm>
            <a:off x="482803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約1.66%</a:t>
            </a:r>
            <a:endParaRPr sz="1260"/>
          </a:p>
        </p:txBody>
      </p:sp>
      <p:sp>
        <p:nvSpPr>
          <p:cNvPr id="76" name="Shape 74">
            <a:extLst>
              <a:ext uri="{FF2B5EF4-FFF2-40B4-BE49-F238E27FC236}">
                <a16:creationId xmlns:a16="http://schemas.microsoft.com/office/drawing/2014/main" id="{32B5ECBE-4347-4CC2-B696-2A9C9F180DF4}"/>
              </a:ext>
            </a:extLst>
          </p:cNvPr>
          <p:cNvSpPr>
            <a:spLocks noGrp="1"/>
          </p:cNvSpPr>
          <p:nvPr/>
        </p:nvSpPr>
        <p:spPr>
          <a:xfrm>
            <a:off x="6922008" y="5047488"/>
            <a:ext cx="4681728" cy="502920"/>
          </a:xfrm>
          <a:prstGeom prst="rect">
            <a:avLst/>
          </a:prstGeom>
          <a:solidFill>
            <a:srgbClr val="F8FAFC"/>
          </a:solidFill>
          <a:ln w="8890">
            <a:solidFill>
              <a:srgbClr val="EEF1F5"/>
            </a:solidFill>
            <a:prstDash val="solid"/>
          </a:ln>
        </p:spPr>
        <p:txBody>
          <a:bodyPr/>
          <a:lstStyle/>
          <a:p>
            <a:endParaRPr/>
          </a:p>
        </p:txBody>
      </p:sp>
      <p:sp>
        <p:nvSpPr>
          <p:cNvPr id="77" name="Text 75">
            <a:extLst>
              <a:ext uri="{FF2B5EF4-FFF2-40B4-BE49-F238E27FC236}">
                <a16:creationId xmlns:a16="http://schemas.microsoft.com/office/drawing/2014/main" id="{5AC81830-614D-40FB-A934-B912115791BE}"/>
              </a:ext>
            </a:extLst>
          </p:cNvPr>
          <p:cNvSpPr>
            <a:spLocks noGrp="1"/>
          </p:cNvSpPr>
          <p:nvPr/>
        </p:nvSpPr>
        <p:spPr>
          <a:xfrm>
            <a:off x="6976872" y="50794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配車側の目安。最終費用の誤差ではない</a:t>
            </a:r>
            <a:endParaRPr sz="1260"/>
          </a:p>
        </p:txBody>
      </p:sp>
      <p:sp>
        <p:nvSpPr>
          <p:cNvPr id="78" name="Shape 76">
            <a:extLst>
              <a:ext uri="{FF2B5EF4-FFF2-40B4-BE49-F238E27FC236}">
                <a16:creationId xmlns:a16="http://schemas.microsoft.com/office/drawing/2014/main" id="{28D7C953-5FF2-4676-A67F-C4C522AD224E}"/>
              </a:ext>
            </a:extLst>
          </p:cNvPr>
          <p:cNvSpPr>
            <a:spLocks noGrp="1"/>
          </p:cNvSpPr>
          <p:nvPr/>
        </p:nvSpPr>
        <p:spPr>
          <a:xfrm>
            <a:off x="566928" y="5550408"/>
            <a:ext cx="2057400" cy="502920"/>
          </a:xfrm>
          <a:prstGeom prst="rect">
            <a:avLst/>
          </a:prstGeom>
          <a:solidFill>
            <a:srgbClr val="FFFFFF"/>
          </a:solidFill>
          <a:ln w="8890">
            <a:solidFill>
              <a:srgbClr val="EEF1F5"/>
            </a:solidFill>
            <a:prstDash val="solid"/>
          </a:ln>
        </p:spPr>
        <p:txBody>
          <a:bodyPr/>
          <a:lstStyle/>
          <a:p>
            <a:endParaRPr/>
          </a:p>
        </p:txBody>
      </p:sp>
      <p:sp>
        <p:nvSpPr>
          <p:cNvPr id="79" name="Text 77">
            <a:extLst>
              <a:ext uri="{FF2B5EF4-FFF2-40B4-BE49-F238E27FC236}">
                <a16:creationId xmlns:a16="http://schemas.microsoft.com/office/drawing/2014/main" id="{8666370D-49B1-4B9D-85A7-05C5153D27E9}"/>
              </a:ext>
            </a:extLst>
          </p:cNvPr>
          <p:cNvSpPr>
            <a:spLocks noGrp="1"/>
          </p:cNvSpPr>
          <p:nvPr/>
        </p:nvSpPr>
        <p:spPr>
          <a:xfrm>
            <a:off x="621792" y="55824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検算</a:t>
            </a:r>
            <a:endParaRPr sz="1260"/>
          </a:p>
        </p:txBody>
      </p:sp>
      <p:sp>
        <p:nvSpPr>
          <p:cNvPr id="80" name="Shape 78">
            <a:extLst>
              <a:ext uri="{FF2B5EF4-FFF2-40B4-BE49-F238E27FC236}">
                <a16:creationId xmlns:a16="http://schemas.microsoft.com/office/drawing/2014/main" id="{CD1E3BFB-B6AC-4983-8989-7107CE179541}"/>
              </a:ext>
            </a:extLst>
          </p:cNvPr>
          <p:cNvSpPr>
            <a:spLocks noGrp="1"/>
          </p:cNvSpPr>
          <p:nvPr/>
        </p:nvSpPr>
        <p:spPr>
          <a:xfrm>
            <a:off x="2624328" y="5550408"/>
            <a:ext cx="2148840" cy="502920"/>
          </a:xfrm>
          <a:prstGeom prst="rect">
            <a:avLst/>
          </a:prstGeom>
          <a:solidFill>
            <a:srgbClr val="FFFFFF"/>
          </a:solidFill>
          <a:ln w="8890">
            <a:solidFill>
              <a:srgbClr val="EEF1F5"/>
            </a:solidFill>
            <a:prstDash val="solid"/>
          </a:ln>
        </p:spPr>
        <p:txBody>
          <a:bodyPr/>
          <a:lstStyle/>
          <a:p>
            <a:endParaRPr/>
          </a:p>
        </p:txBody>
      </p:sp>
      <p:sp>
        <p:nvSpPr>
          <p:cNvPr id="81" name="Text 79">
            <a:extLst>
              <a:ext uri="{FF2B5EF4-FFF2-40B4-BE49-F238E27FC236}">
                <a16:creationId xmlns:a16="http://schemas.microsoft.com/office/drawing/2014/main" id="{062E4B78-E8CE-46DF-A311-032D73DFFD94}"/>
              </a:ext>
            </a:extLst>
          </p:cNvPr>
          <p:cNvSpPr>
            <a:spLocks noGrp="1"/>
          </p:cNvSpPr>
          <p:nvPr/>
        </p:nvSpPr>
        <p:spPr>
          <a:xfrm>
            <a:off x="267919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2" name="Shape 80">
            <a:extLst>
              <a:ext uri="{FF2B5EF4-FFF2-40B4-BE49-F238E27FC236}">
                <a16:creationId xmlns:a16="http://schemas.microsoft.com/office/drawing/2014/main" id="{BE39CAEC-65F9-48C9-9283-15D79E1553E1}"/>
              </a:ext>
            </a:extLst>
          </p:cNvPr>
          <p:cNvSpPr>
            <a:spLocks noGrp="1"/>
          </p:cNvSpPr>
          <p:nvPr/>
        </p:nvSpPr>
        <p:spPr>
          <a:xfrm>
            <a:off x="4773168" y="5550408"/>
            <a:ext cx="2148840" cy="502920"/>
          </a:xfrm>
          <a:prstGeom prst="rect">
            <a:avLst/>
          </a:prstGeom>
          <a:solidFill>
            <a:srgbClr val="FFFFFF"/>
          </a:solidFill>
          <a:ln w="8890">
            <a:solidFill>
              <a:srgbClr val="EEF1F5"/>
            </a:solidFill>
            <a:prstDash val="solid"/>
          </a:ln>
        </p:spPr>
        <p:txBody>
          <a:bodyPr/>
          <a:lstStyle/>
          <a:p>
            <a:endParaRPr/>
          </a:p>
        </p:txBody>
      </p:sp>
      <p:sp>
        <p:nvSpPr>
          <p:cNvPr id="83" name="Text 81">
            <a:extLst>
              <a:ext uri="{FF2B5EF4-FFF2-40B4-BE49-F238E27FC236}">
                <a16:creationId xmlns:a16="http://schemas.microsoft.com/office/drawing/2014/main" id="{60FF258E-DE8B-4481-92FF-FFE7A490D83E}"/>
              </a:ext>
            </a:extLst>
          </p:cNvPr>
          <p:cNvSpPr>
            <a:spLocks noGrp="1"/>
          </p:cNvSpPr>
          <p:nvPr/>
        </p:nvSpPr>
        <p:spPr>
          <a:xfrm>
            <a:off x="482803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4" name="Shape 82">
            <a:extLst>
              <a:ext uri="{FF2B5EF4-FFF2-40B4-BE49-F238E27FC236}">
                <a16:creationId xmlns:a16="http://schemas.microsoft.com/office/drawing/2014/main" id="{1A5A6CE0-EA6E-4268-8305-1DE03FF403E4}"/>
              </a:ext>
            </a:extLst>
          </p:cNvPr>
          <p:cNvSpPr>
            <a:spLocks noGrp="1"/>
          </p:cNvSpPr>
          <p:nvPr/>
        </p:nvSpPr>
        <p:spPr>
          <a:xfrm>
            <a:off x="6922008" y="5550408"/>
            <a:ext cx="4681728" cy="502920"/>
          </a:xfrm>
          <a:prstGeom prst="rect">
            <a:avLst/>
          </a:prstGeom>
          <a:solidFill>
            <a:srgbClr val="FFFFFF"/>
          </a:solidFill>
          <a:ln w="8890">
            <a:solidFill>
              <a:srgbClr val="EEF1F5"/>
            </a:solidFill>
            <a:prstDash val="solid"/>
          </a:ln>
        </p:spPr>
        <p:txBody>
          <a:bodyPr/>
          <a:lstStyle/>
          <a:p>
            <a:endParaRPr/>
          </a:p>
        </p:txBody>
      </p:sp>
      <p:sp>
        <p:nvSpPr>
          <p:cNvPr id="85" name="Text 83">
            <a:extLst>
              <a:ext uri="{FF2B5EF4-FFF2-40B4-BE49-F238E27FC236}">
                <a16:creationId xmlns:a16="http://schemas.microsoft.com/office/drawing/2014/main" id="{9AE6E848-9078-4989-AF6A-353104852227}"/>
              </a:ext>
            </a:extLst>
          </p:cNvPr>
          <p:cNvSpPr>
            <a:spLocks noGrp="1"/>
          </p:cNvSpPr>
          <p:nvPr/>
        </p:nvSpPr>
        <p:spPr>
          <a:xfrm>
            <a:off x="6976872" y="55824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旧検証PASS。SOC上限は不一致</a:t>
            </a:r>
            <a:endParaRPr sz="1260"/>
          </a:p>
        </p:txBody>
      </p:sp>
      <p:sp>
        <p:nvSpPr>
          <p:cNvPr id="86" name="Shape 84">
            <a:extLst>
              <a:ext uri="{FF2B5EF4-FFF2-40B4-BE49-F238E27FC236}">
                <a16:creationId xmlns:a16="http://schemas.microsoft.com/office/drawing/2014/main" id="{BE16A918-0B63-416D-9C5F-7087F6BB48DB}"/>
              </a:ext>
            </a:extLst>
          </p:cNvPr>
          <p:cNvSpPr>
            <a:spLocks noGrp="1"/>
          </p:cNvSpPr>
          <p:nvPr/>
        </p:nvSpPr>
        <p:spPr>
          <a:xfrm>
            <a:off x="1033272" y="6016752"/>
            <a:ext cx="10149840" cy="310896"/>
          </a:xfrm>
          <a:prstGeom prst="roundRect">
            <a:avLst/>
          </a:prstGeom>
          <a:solidFill>
            <a:srgbClr val="E8F6F3"/>
          </a:solidFill>
          <a:ln w="11430">
            <a:solidFill>
              <a:srgbClr val="1F9D8A"/>
            </a:solidFill>
            <a:prstDash val="solid"/>
          </a:ln>
        </p:spPr>
        <p:txBody>
          <a:bodyPr/>
          <a:lstStyle/>
          <a:p>
            <a:endParaRPr/>
          </a:p>
        </p:txBody>
      </p:sp>
      <p:sp>
        <p:nvSpPr>
          <p:cNvPr id="87" name="Text 85">
            <a:extLst>
              <a:ext uri="{FF2B5EF4-FFF2-40B4-BE49-F238E27FC236}">
                <a16:creationId xmlns:a16="http://schemas.microsoft.com/office/drawing/2014/main" id="{6651702A-CE23-4BFE-AC86-6CCA22AA863A}"/>
              </a:ext>
            </a:extLst>
          </p:cNvPr>
          <p:cNvSpPr>
            <a:spLocks noGrp="1"/>
          </p:cNvSpPr>
          <p:nvPr/>
        </p:nvSpPr>
        <p:spPr>
          <a:xfrm>
            <a:off x="1234440" y="6071616"/>
            <a:ext cx="9738360" cy="201168"/>
          </a:xfrm>
          <a:prstGeom prst="rect">
            <a:avLst/>
          </a:prstGeom>
          <a:noFill/>
        </p:spPr>
        <p:txBody>
          <a:bodyPr wrap="square" lIns="0" tIns="0" rIns="0" bIns="0" anchor="ctr"/>
          <a:lstStyle/>
          <a:p>
            <a:pPr marL="0" indent="0" algn="ctr">
              <a:buNone/>
            </a:pPr>
            <a:r>
              <a:rPr sz="1480" b="1">
                <a:solidFill>
                  <a:srgbClr val="1F9D8A"/>
                </a:solidFill>
                <a:latin typeface="Noto Sans CJK JP"/>
                <a:ea typeface="Noto Sans CJK JP"/>
                <a:cs typeface="Noto Sans CJK JP"/>
              </a:rPr>
              <a:t>訂正：保存結果は診断用。SOC上限を修正し、新しい実験で再検証する。</a:t>
            </a:r>
            <a:endParaRPr sz="1480"/>
          </a:p>
        </p:txBody>
      </p:sp>
      <p:sp>
        <p:nvSpPr>
          <p:cNvPr id="88" name="正方形/長方形 87">
            <a:extLst>
              <a:ext uri="{FF2B5EF4-FFF2-40B4-BE49-F238E27FC236}">
                <a16:creationId xmlns:a16="http://schemas.microsoft.com/office/drawing/2014/main" id="{3AFF115B-4670-4C0F-A2CC-4BAAF5EF7D2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98074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3F8838-3849-4CD2-B5A7-6DC36581EC1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結果の信頼性：一日を進めながら24回見直し、最後に全体を検算</a:t>
            </a:r>
            <a:endParaRPr sz="2550"/>
          </a:p>
        </p:txBody>
      </p:sp>
      <p:sp>
        <p:nvSpPr>
          <p:cNvPr id="3" name="Shape 1">
            <a:extLst>
              <a:ext uri="{FF2B5EF4-FFF2-40B4-BE49-F238E27FC236}">
                <a16:creationId xmlns:a16="http://schemas.microsoft.com/office/drawing/2014/main" id="{381FD17C-0252-481D-9F55-24D6FF1859B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E5D9BCF-2420-43F9-9B14-8C165758301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EDE350F3-5610-4EE7-A242-4208A9A548B9}"/>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15/18</a:t>
            </a:r>
            <a:endParaRPr sz="850"/>
          </a:p>
        </p:txBody>
      </p:sp>
      <p:sp>
        <p:nvSpPr>
          <p:cNvPr id="6" name="Text 4">
            <a:extLst>
              <a:ext uri="{FF2B5EF4-FFF2-40B4-BE49-F238E27FC236}">
                <a16:creationId xmlns:a16="http://schemas.microsoft.com/office/drawing/2014/main" id="{4BEDB73E-29BD-4ECA-B681-10D9DB59AE16}"/>
              </a:ext>
            </a:extLst>
          </p:cNvPr>
          <p:cNvSpPr>
            <a:spLocks noGrp="1"/>
          </p:cNvSpPr>
          <p:nvPr/>
        </p:nvSpPr>
        <p:spPr>
          <a:xfrm>
            <a:off x="685800" y="914400"/>
            <a:ext cx="10835640" cy="329184"/>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「朝に作った計画をそのまま使う」のではなく、1時間ごとに残り時間の充電計画を更新する。</a:t>
            </a:r>
            <a:endParaRPr sz="1800"/>
          </a:p>
        </p:txBody>
      </p:sp>
      <p:sp>
        <p:nvSpPr>
          <p:cNvPr id="7" name="Shape 5">
            <a:extLst>
              <a:ext uri="{FF2B5EF4-FFF2-40B4-BE49-F238E27FC236}">
                <a16:creationId xmlns:a16="http://schemas.microsoft.com/office/drawing/2014/main" id="{563C2B73-C529-47E3-B5FA-A27E15EFD588}"/>
              </a:ext>
            </a:extLst>
          </p:cNvPr>
          <p:cNvSpPr>
            <a:spLocks noGrp="1"/>
          </p:cNvSpPr>
          <p:nvPr/>
        </p:nvSpPr>
        <p:spPr>
          <a:xfrm>
            <a:off x="914400" y="1965960"/>
            <a:ext cx="10149840" cy="0"/>
          </a:xfrm>
          <a:prstGeom prst="line">
            <a:avLst/>
          </a:prstGeom>
          <a:noFill/>
          <a:ln w="38100">
            <a:solidFill>
              <a:srgbClr val="356BB3"/>
            </a:solidFill>
            <a:prstDash val="solid"/>
          </a:ln>
        </p:spPr>
        <p:txBody>
          <a:bodyPr/>
          <a:lstStyle/>
          <a:p>
            <a:endParaRPr/>
          </a:p>
        </p:txBody>
      </p:sp>
      <p:sp>
        <p:nvSpPr>
          <p:cNvPr id="8" name="Shape 6">
            <a:extLst>
              <a:ext uri="{FF2B5EF4-FFF2-40B4-BE49-F238E27FC236}">
                <a16:creationId xmlns:a16="http://schemas.microsoft.com/office/drawing/2014/main" id="{871C5A2D-1F8B-46A7-819C-B405EC3B391A}"/>
              </a:ext>
            </a:extLst>
          </p:cNvPr>
          <p:cNvSpPr>
            <a:spLocks noGrp="1"/>
          </p:cNvSpPr>
          <p:nvPr/>
        </p:nvSpPr>
        <p:spPr>
          <a:xfrm>
            <a:off x="804672" y="1856232"/>
            <a:ext cx="219456" cy="219456"/>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F216EB68-7D40-4268-9555-ECD673CDAB9B}"/>
              </a:ext>
            </a:extLst>
          </p:cNvPr>
          <p:cNvSpPr>
            <a:spLocks noGrp="1"/>
          </p:cNvSpPr>
          <p:nvPr/>
        </p:nvSpPr>
        <p:spPr>
          <a:xfrm>
            <a:off x="59436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00:00</a:t>
            </a:r>
            <a:endParaRPr sz="1100"/>
          </a:p>
        </p:txBody>
      </p:sp>
      <p:sp>
        <p:nvSpPr>
          <p:cNvPr id="10" name="Shape 8">
            <a:extLst>
              <a:ext uri="{FF2B5EF4-FFF2-40B4-BE49-F238E27FC236}">
                <a16:creationId xmlns:a16="http://schemas.microsoft.com/office/drawing/2014/main" id="{75C170B5-3CC9-4DFC-8DFB-CDCD4A91444E}"/>
              </a:ext>
            </a:extLst>
          </p:cNvPr>
          <p:cNvSpPr>
            <a:spLocks noGrp="1"/>
          </p:cNvSpPr>
          <p:nvPr/>
        </p:nvSpPr>
        <p:spPr>
          <a:xfrm>
            <a:off x="3342132" y="1856232"/>
            <a:ext cx="219456" cy="219456"/>
          </a:xfrm>
          <a:prstGeom prst="ellipse">
            <a:avLst/>
          </a:prstGeom>
          <a:solidFill>
            <a:srgbClr val="356BB3"/>
          </a:solidFill>
          <a:ln w="12700">
            <a:solidFill>
              <a:srgbClr val="FFFFFF"/>
            </a:solidFill>
            <a:prstDash val="solid"/>
          </a:ln>
        </p:spPr>
        <p:txBody>
          <a:bodyPr/>
          <a:lstStyle/>
          <a:p>
            <a:endParaRPr/>
          </a:p>
        </p:txBody>
      </p:sp>
      <p:sp>
        <p:nvSpPr>
          <p:cNvPr id="11" name="Text 9">
            <a:extLst>
              <a:ext uri="{FF2B5EF4-FFF2-40B4-BE49-F238E27FC236}">
                <a16:creationId xmlns:a16="http://schemas.microsoft.com/office/drawing/2014/main" id="{06690D15-2CE7-408B-BB4C-C5A75FF14E4A}"/>
              </a:ext>
            </a:extLst>
          </p:cNvPr>
          <p:cNvSpPr>
            <a:spLocks noGrp="1"/>
          </p:cNvSpPr>
          <p:nvPr/>
        </p:nvSpPr>
        <p:spPr>
          <a:xfrm>
            <a:off x="313182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06:00</a:t>
            </a:r>
            <a:endParaRPr sz="1100"/>
          </a:p>
        </p:txBody>
      </p:sp>
      <p:sp>
        <p:nvSpPr>
          <p:cNvPr id="12" name="Shape 10">
            <a:extLst>
              <a:ext uri="{FF2B5EF4-FFF2-40B4-BE49-F238E27FC236}">
                <a16:creationId xmlns:a16="http://schemas.microsoft.com/office/drawing/2014/main" id="{78ACFD35-0C79-4A02-8DED-9258D1798DC9}"/>
              </a:ext>
            </a:extLst>
          </p:cNvPr>
          <p:cNvSpPr>
            <a:spLocks noGrp="1"/>
          </p:cNvSpPr>
          <p:nvPr/>
        </p:nvSpPr>
        <p:spPr>
          <a:xfrm>
            <a:off x="5879592" y="1856232"/>
            <a:ext cx="219456" cy="219456"/>
          </a:xfrm>
          <a:prstGeom prst="ellipse">
            <a:avLst/>
          </a:prstGeom>
          <a:solidFill>
            <a:srgbClr val="356BB3"/>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F04A0C31-7EB6-49B0-8E9B-B5EF046FB294}"/>
              </a:ext>
            </a:extLst>
          </p:cNvPr>
          <p:cNvSpPr>
            <a:spLocks noGrp="1"/>
          </p:cNvSpPr>
          <p:nvPr/>
        </p:nvSpPr>
        <p:spPr>
          <a:xfrm>
            <a:off x="566928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12:00</a:t>
            </a:r>
            <a:endParaRPr sz="1100"/>
          </a:p>
        </p:txBody>
      </p:sp>
      <p:sp>
        <p:nvSpPr>
          <p:cNvPr id="14" name="Shape 12">
            <a:extLst>
              <a:ext uri="{FF2B5EF4-FFF2-40B4-BE49-F238E27FC236}">
                <a16:creationId xmlns:a16="http://schemas.microsoft.com/office/drawing/2014/main" id="{4916206F-E6F7-4449-BF37-DC832AFAFDBD}"/>
              </a:ext>
            </a:extLst>
          </p:cNvPr>
          <p:cNvSpPr>
            <a:spLocks noGrp="1"/>
          </p:cNvSpPr>
          <p:nvPr/>
        </p:nvSpPr>
        <p:spPr>
          <a:xfrm>
            <a:off x="8417052" y="1856232"/>
            <a:ext cx="219456" cy="219456"/>
          </a:xfrm>
          <a:prstGeom prst="ellipse">
            <a:avLst/>
          </a:prstGeom>
          <a:solidFill>
            <a:srgbClr val="356BB3"/>
          </a:solidFill>
          <a:ln w="12700">
            <a:solidFill>
              <a:srgbClr val="FFFFFF"/>
            </a:solidFill>
            <a:prstDash val="solid"/>
          </a:ln>
        </p:spPr>
        <p:txBody>
          <a:bodyPr/>
          <a:lstStyle/>
          <a:p>
            <a:endParaRPr/>
          </a:p>
        </p:txBody>
      </p:sp>
      <p:sp>
        <p:nvSpPr>
          <p:cNvPr id="15" name="Text 13">
            <a:extLst>
              <a:ext uri="{FF2B5EF4-FFF2-40B4-BE49-F238E27FC236}">
                <a16:creationId xmlns:a16="http://schemas.microsoft.com/office/drawing/2014/main" id="{0C9E7432-5959-4374-BC10-B759CA2B1F1E}"/>
              </a:ext>
            </a:extLst>
          </p:cNvPr>
          <p:cNvSpPr>
            <a:spLocks noGrp="1"/>
          </p:cNvSpPr>
          <p:nvPr/>
        </p:nvSpPr>
        <p:spPr>
          <a:xfrm>
            <a:off x="820674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18:00</a:t>
            </a:r>
            <a:endParaRPr sz="1100"/>
          </a:p>
        </p:txBody>
      </p:sp>
      <p:sp>
        <p:nvSpPr>
          <p:cNvPr id="16" name="Shape 14">
            <a:extLst>
              <a:ext uri="{FF2B5EF4-FFF2-40B4-BE49-F238E27FC236}">
                <a16:creationId xmlns:a16="http://schemas.microsoft.com/office/drawing/2014/main" id="{D1785A28-061A-476B-B18A-E232CFFE0862}"/>
              </a:ext>
            </a:extLst>
          </p:cNvPr>
          <p:cNvSpPr>
            <a:spLocks noGrp="1"/>
          </p:cNvSpPr>
          <p:nvPr/>
        </p:nvSpPr>
        <p:spPr>
          <a:xfrm>
            <a:off x="10954512" y="1856232"/>
            <a:ext cx="219456" cy="219456"/>
          </a:xfrm>
          <a:prstGeom prst="ellipse">
            <a:avLst/>
          </a:prstGeom>
          <a:solidFill>
            <a:srgbClr val="356BB3"/>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0FFEB057-DED1-4E4D-A902-0C8E20F23817}"/>
              </a:ext>
            </a:extLst>
          </p:cNvPr>
          <p:cNvSpPr>
            <a:spLocks noGrp="1"/>
          </p:cNvSpPr>
          <p:nvPr/>
        </p:nvSpPr>
        <p:spPr>
          <a:xfrm>
            <a:off x="1074420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24:00</a:t>
            </a:r>
            <a:endParaRPr sz="1100"/>
          </a:p>
        </p:txBody>
      </p:sp>
      <p:sp>
        <p:nvSpPr>
          <p:cNvPr id="18" name="Shape 16">
            <a:extLst>
              <a:ext uri="{FF2B5EF4-FFF2-40B4-BE49-F238E27FC236}">
                <a16:creationId xmlns:a16="http://schemas.microsoft.com/office/drawing/2014/main" id="{2C17AA41-D8DE-498B-9337-D4FBB960C98B}"/>
              </a:ext>
            </a:extLst>
          </p:cNvPr>
          <p:cNvSpPr>
            <a:spLocks noGrp="1"/>
          </p:cNvSpPr>
          <p:nvPr/>
        </p:nvSpPr>
        <p:spPr>
          <a:xfrm>
            <a:off x="1125855" y="1792224"/>
            <a:ext cx="0" cy="155448"/>
          </a:xfrm>
          <a:prstGeom prst="line">
            <a:avLst/>
          </a:prstGeom>
          <a:noFill/>
          <a:ln w="17780">
            <a:solidFill>
              <a:srgbClr val="1F9D8A"/>
            </a:solidFill>
            <a:prstDash val="solid"/>
          </a:ln>
        </p:spPr>
        <p:txBody>
          <a:bodyPr/>
          <a:lstStyle/>
          <a:p>
            <a:endParaRPr/>
          </a:p>
        </p:txBody>
      </p:sp>
      <p:sp>
        <p:nvSpPr>
          <p:cNvPr id="19" name="Shape 17">
            <a:extLst>
              <a:ext uri="{FF2B5EF4-FFF2-40B4-BE49-F238E27FC236}">
                <a16:creationId xmlns:a16="http://schemas.microsoft.com/office/drawing/2014/main" id="{E0D33716-F33C-4570-BEFE-21EB8FB0BA4D}"/>
              </a:ext>
            </a:extLst>
          </p:cNvPr>
          <p:cNvSpPr>
            <a:spLocks noGrp="1"/>
          </p:cNvSpPr>
          <p:nvPr/>
        </p:nvSpPr>
        <p:spPr>
          <a:xfrm>
            <a:off x="1548765" y="1792224"/>
            <a:ext cx="0" cy="155448"/>
          </a:xfrm>
          <a:prstGeom prst="line">
            <a:avLst/>
          </a:prstGeom>
          <a:noFill/>
          <a:ln w="17780">
            <a:solidFill>
              <a:srgbClr val="5B8FD3"/>
            </a:solidFill>
            <a:prstDash val="solid"/>
          </a:ln>
        </p:spPr>
        <p:txBody>
          <a:bodyPr/>
          <a:lstStyle/>
          <a:p>
            <a:endParaRPr/>
          </a:p>
        </p:txBody>
      </p:sp>
      <p:sp>
        <p:nvSpPr>
          <p:cNvPr id="20" name="Shape 18">
            <a:extLst>
              <a:ext uri="{FF2B5EF4-FFF2-40B4-BE49-F238E27FC236}">
                <a16:creationId xmlns:a16="http://schemas.microsoft.com/office/drawing/2014/main" id="{D96102B4-B705-47FD-ABF1-E69983B323AD}"/>
              </a:ext>
            </a:extLst>
          </p:cNvPr>
          <p:cNvSpPr>
            <a:spLocks noGrp="1"/>
          </p:cNvSpPr>
          <p:nvPr/>
        </p:nvSpPr>
        <p:spPr>
          <a:xfrm>
            <a:off x="1971675" y="1792224"/>
            <a:ext cx="0" cy="155448"/>
          </a:xfrm>
          <a:prstGeom prst="line">
            <a:avLst/>
          </a:prstGeom>
          <a:noFill/>
          <a:ln w="17780">
            <a:solidFill>
              <a:srgbClr val="1F9D8A"/>
            </a:solidFill>
            <a:prstDash val="solid"/>
          </a:ln>
        </p:spPr>
        <p:txBody>
          <a:bodyPr/>
          <a:lstStyle/>
          <a:p>
            <a:endParaRPr/>
          </a:p>
        </p:txBody>
      </p:sp>
      <p:sp>
        <p:nvSpPr>
          <p:cNvPr id="21" name="Shape 19">
            <a:extLst>
              <a:ext uri="{FF2B5EF4-FFF2-40B4-BE49-F238E27FC236}">
                <a16:creationId xmlns:a16="http://schemas.microsoft.com/office/drawing/2014/main" id="{34C370A0-8E1D-4658-9F91-716DF9A05DA4}"/>
              </a:ext>
            </a:extLst>
          </p:cNvPr>
          <p:cNvSpPr>
            <a:spLocks noGrp="1"/>
          </p:cNvSpPr>
          <p:nvPr/>
        </p:nvSpPr>
        <p:spPr>
          <a:xfrm>
            <a:off x="2394585" y="1792224"/>
            <a:ext cx="0" cy="155448"/>
          </a:xfrm>
          <a:prstGeom prst="line">
            <a:avLst/>
          </a:prstGeom>
          <a:noFill/>
          <a:ln w="17780">
            <a:solidFill>
              <a:srgbClr val="5B8FD3"/>
            </a:solidFill>
            <a:prstDash val="solid"/>
          </a:ln>
        </p:spPr>
        <p:txBody>
          <a:bodyPr/>
          <a:lstStyle/>
          <a:p>
            <a:endParaRPr/>
          </a:p>
        </p:txBody>
      </p:sp>
      <p:sp>
        <p:nvSpPr>
          <p:cNvPr id="22" name="Shape 20">
            <a:extLst>
              <a:ext uri="{FF2B5EF4-FFF2-40B4-BE49-F238E27FC236}">
                <a16:creationId xmlns:a16="http://schemas.microsoft.com/office/drawing/2014/main" id="{70BC5DF3-C130-4253-9352-369EB56A1EC3}"/>
              </a:ext>
            </a:extLst>
          </p:cNvPr>
          <p:cNvSpPr>
            <a:spLocks noGrp="1"/>
          </p:cNvSpPr>
          <p:nvPr/>
        </p:nvSpPr>
        <p:spPr>
          <a:xfrm>
            <a:off x="2817495" y="1792224"/>
            <a:ext cx="0" cy="155448"/>
          </a:xfrm>
          <a:prstGeom prst="line">
            <a:avLst/>
          </a:prstGeom>
          <a:noFill/>
          <a:ln w="17780">
            <a:solidFill>
              <a:srgbClr val="1F9D8A"/>
            </a:solidFill>
            <a:prstDash val="solid"/>
          </a:ln>
        </p:spPr>
        <p:txBody>
          <a:bodyPr/>
          <a:lstStyle/>
          <a:p>
            <a:endParaRPr/>
          </a:p>
        </p:txBody>
      </p:sp>
      <p:sp>
        <p:nvSpPr>
          <p:cNvPr id="23" name="Shape 21">
            <a:extLst>
              <a:ext uri="{FF2B5EF4-FFF2-40B4-BE49-F238E27FC236}">
                <a16:creationId xmlns:a16="http://schemas.microsoft.com/office/drawing/2014/main" id="{83EC5EBC-4252-4412-82EA-2DF4A58004EA}"/>
              </a:ext>
            </a:extLst>
          </p:cNvPr>
          <p:cNvSpPr>
            <a:spLocks noGrp="1"/>
          </p:cNvSpPr>
          <p:nvPr/>
        </p:nvSpPr>
        <p:spPr>
          <a:xfrm>
            <a:off x="3240405" y="1792224"/>
            <a:ext cx="0" cy="155448"/>
          </a:xfrm>
          <a:prstGeom prst="line">
            <a:avLst/>
          </a:prstGeom>
          <a:noFill/>
          <a:ln w="17780">
            <a:solidFill>
              <a:srgbClr val="5B8FD3"/>
            </a:solidFill>
            <a:prstDash val="solid"/>
          </a:ln>
        </p:spPr>
        <p:txBody>
          <a:bodyPr/>
          <a:lstStyle/>
          <a:p>
            <a:endParaRPr/>
          </a:p>
        </p:txBody>
      </p:sp>
      <p:sp>
        <p:nvSpPr>
          <p:cNvPr id="24" name="Shape 22">
            <a:extLst>
              <a:ext uri="{FF2B5EF4-FFF2-40B4-BE49-F238E27FC236}">
                <a16:creationId xmlns:a16="http://schemas.microsoft.com/office/drawing/2014/main" id="{4F3EC16E-D11A-4DC8-AE28-F8291457F4E1}"/>
              </a:ext>
            </a:extLst>
          </p:cNvPr>
          <p:cNvSpPr>
            <a:spLocks noGrp="1"/>
          </p:cNvSpPr>
          <p:nvPr/>
        </p:nvSpPr>
        <p:spPr>
          <a:xfrm>
            <a:off x="3663315" y="1792224"/>
            <a:ext cx="0" cy="155448"/>
          </a:xfrm>
          <a:prstGeom prst="line">
            <a:avLst/>
          </a:prstGeom>
          <a:noFill/>
          <a:ln w="17780">
            <a:solidFill>
              <a:srgbClr val="1F9D8A"/>
            </a:solidFill>
            <a:prstDash val="solid"/>
          </a:ln>
        </p:spPr>
        <p:txBody>
          <a:bodyPr/>
          <a:lstStyle/>
          <a:p>
            <a:endParaRPr/>
          </a:p>
        </p:txBody>
      </p:sp>
      <p:sp>
        <p:nvSpPr>
          <p:cNvPr id="25" name="Shape 23">
            <a:extLst>
              <a:ext uri="{FF2B5EF4-FFF2-40B4-BE49-F238E27FC236}">
                <a16:creationId xmlns:a16="http://schemas.microsoft.com/office/drawing/2014/main" id="{9127A2D2-17BC-43F8-AB3D-F9004D341DC9}"/>
              </a:ext>
            </a:extLst>
          </p:cNvPr>
          <p:cNvSpPr>
            <a:spLocks noGrp="1"/>
          </p:cNvSpPr>
          <p:nvPr/>
        </p:nvSpPr>
        <p:spPr>
          <a:xfrm>
            <a:off x="4086225" y="1792224"/>
            <a:ext cx="0" cy="155448"/>
          </a:xfrm>
          <a:prstGeom prst="line">
            <a:avLst/>
          </a:prstGeom>
          <a:noFill/>
          <a:ln w="17780">
            <a:solidFill>
              <a:srgbClr val="5B8FD3"/>
            </a:solidFill>
            <a:prstDash val="solid"/>
          </a:ln>
        </p:spPr>
        <p:txBody>
          <a:bodyPr/>
          <a:lstStyle/>
          <a:p>
            <a:endParaRPr/>
          </a:p>
        </p:txBody>
      </p:sp>
      <p:sp>
        <p:nvSpPr>
          <p:cNvPr id="26" name="Shape 24">
            <a:extLst>
              <a:ext uri="{FF2B5EF4-FFF2-40B4-BE49-F238E27FC236}">
                <a16:creationId xmlns:a16="http://schemas.microsoft.com/office/drawing/2014/main" id="{F844AB68-DA1E-4303-8A3E-C8DA03A4463B}"/>
              </a:ext>
            </a:extLst>
          </p:cNvPr>
          <p:cNvSpPr>
            <a:spLocks noGrp="1"/>
          </p:cNvSpPr>
          <p:nvPr/>
        </p:nvSpPr>
        <p:spPr>
          <a:xfrm>
            <a:off x="4509135" y="1792224"/>
            <a:ext cx="0" cy="155448"/>
          </a:xfrm>
          <a:prstGeom prst="line">
            <a:avLst/>
          </a:prstGeom>
          <a:noFill/>
          <a:ln w="17780">
            <a:solidFill>
              <a:srgbClr val="1F9D8A"/>
            </a:solidFill>
            <a:prstDash val="solid"/>
          </a:ln>
        </p:spPr>
        <p:txBody>
          <a:bodyPr/>
          <a:lstStyle/>
          <a:p>
            <a:endParaRPr/>
          </a:p>
        </p:txBody>
      </p:sp>
      <p:sp>
        <p:nvSpPr>
          <p:cNvPr id="27" name="Shape 25">
            <a:extLst>
              <a:ext uri="{FF2B5EF4-FFF2-40B4-BE49-F238E27FC236}">
                <a16:creationId xmlns:a16="http://schemas.microsoft.com/office/drawing/2014/main" id="{DF9E933D-75CF-41FB-A9A0-FDF800626B57}"/>
              </a:ext>
            </a:extLst>
          </p:cNvPr>
          <p:cNvSpPr>
            <a:spLocks noGrp="1"/>
          </p:cNvSpPr>
          <p:nvPr/>
        </p:nvSpPr>
        <p:spPr>
          <a:xfrm>
            <a:off x="4932045" y="1792224"/>
            <a:ext cx="0" cy="155448"/>
          </a:xfrm>
          <a:prstGeom prst="line">
            <a:avLst/>
          </a:prstGeom>
          <a:noFill/>
          <a:ln w="17780">
            <a:solidFill>
              <a:srgbClr val="5B8FD3"/>
            </a:solidFill>
            <a:prstDash val="solid"/>
          </a:ln>
        </p:spPr>
        <p:txBody>
          <a:bodyPr/>
          <a:lstStyle/>
          <a:p>
            <a:endParaRPr/>
          </a:p>
        </p:txBody>
      </p:sp>
      <p:sp>
        <p:nvSpPr>
          <p:cNvPr id="28" name="Shape 26">
            <a:extLst>
              <a:ext uri="{FF2B5EF4-FFF2-40B4-BE49-F238E27FC236}">
                <a16:creationId xmlns:a16="http://schemas.microsoft.com/office/drawing/2014/main" id="{3E3AFBCB-5FC8-4621-AB30-6567CF21DD3C}"/>
              </a:ext>
            </a:extLst>
          </p:cNvPr>
          <p:cNvSpPr>
            <a:spLocks noGrp="1"/>
          </p:cNvSpPr>
          <p:nvPr/>
        </p:nvSpPr>
        <p:spPr>
          <a:xfrm>
            <a:off x="5354955" y="1792224"/>
            <a:ext cx="0" cy="155448"/>
          </a:xfrm>
          <a:prstGeom prst="line">
            <a:avLst/>
          </a:prstGeom>
          <a:noFill/>
          <a:ln w="17780">
            <a:solidFill>
              <a:srgbClr val="1F9D8A"/>
            </a:solidFill>
            <a:prstDash val="solid"/>
          </a:ln>
        </p:spPr>
        <p:txBody>
          <a:bodyPr/>
          <a:lstStyle/>
          <a:p>
            <a:endParaRPr/>
          </a:p>
        </p:txBody>
      </p:sp>
      <p:sp>
        <p:nvSpPr>
          <p:cNvPr id="29" name="Shape 27">
            <a:extLst>
              <a:ext uri="{FF2B5EF4-FFF2-40B4-BE49-F238E27FC236}">
                <a16:creationId xmlns:a16="http://schemas.microsoft.com/office/drawing/2014/main" id="{ABDCE523-8D43-4A24-8014-9551441FF337}"/>
              </a:ext>
            </a:extLst>
          </p:cNvPr>
          <p:cNvSpPr>
            <a:spLocks noGrp="1"/>
          </p:cNvSpPr>
          <p:nvPr/>
        </p:nvSpPr>
        <p:spPr>
          <a:xfrm>
            <a:off x="5777865" y="1792224"/>
            <a:ext cx="0" cy="155448"/>
          </a:xfrm>
          <a:prstGeom prst="line">
            <a:avLst/>
          </a:prstGeom>
          <a:noFill/>
          <a:ln w="17780">
            <a:solidFill>
              <a:srgbClr val="5B8FD3"/>
            </a:solidFill>
            <a:prstDash val="solid"/>
          </a:ln>
        </p:spPr>
        <p:txBody>
          <a:bodyPr/>
          <a:lstStyle/>
          <a:p>
            <a:endParaRPr/>
          </a:p>
        </p:txBody>
      </p:sp>
      <p:sp>
        <p:nvSpPr>
          <p:cNvPr id="30" name="Shape 28">
            <a:extLst>
              <a:ext uri="{FF2B5EF4-FFF2-40B4-BE49-F238E27FC236}">
                <a16:creationId xmlns:a16="http://schemas.microsoft.com/office/drawing/2014/main" id="{68417181-33E0-4C49-AE82-CAD573BC522B}"/>
              </a:ext>
            </a:extLst>
          </p:cNvPr>
          <p:cNvSpPr>
            <a:spLocks noGrp="1"/>
          </p:cNvSpPr>
          <p:nvPr/>
        </p:nvSpPr>
        <p:spPr>
          <a:xfrm>
            <a:off x="6200775" y="1792224"/>
            <a:ext cx="0" cy="155448"/>
          </a:xfrm>
          <a:prstGeom prst="line">
            <a:avLst/>
          </a:prstGeom>
          <a:noFill/>
          <a:ln w="17780">
            <a:solidFill>
              <a:srgbClr val="1F9D8A"/>
            </a:solidFill>
            <a:prstDash val="solid"/>
          </a:ln>
        </p:spPr>
        <p:txBody>
          <a:bodyPr/>
          <a:lstStyle/>
          <a:p>
            <a:endParaRPr/>
          </a:p>
        </p:txBody>
      </p:sp>
      <p:sp>
        <p:nvSpPr>
          <p:cNvPr id="31" name="Shape 29">
            <a:extLst>
              <a:ext uri="{FF2B5EF4-FFF2-40B4-BE49-F238E27FC236}">
                <a16:creationId xmlns:a16="http://schemas.microsoft.com/office/drawing/2014/main" id="{DC1F0A8E-097C-4A96-8170-103C8221412A}"/>
              </a:ext>
            </a:extLst>
          </p:cNvPr>
          <p:cNvSpPr>
            <a:spLocks noGrp="1"/>
          </p:cNvSpPr>
          <p:nvPr/>
        </p:nvSpPr>
        <p:spPr>
          <a:xfrm>
            <a:off x="6623685" y="1792224"/>
            <a:ext cx="0" cy="155448"/>
          </a:xfrm>
          <a:prstGeom prst="line">
            <a:avLst/>
          </a:prstGeom>
          <a:noFill/>
          <a:ln w="17780">
            <a:solidFill>
              <a:srgbClr val="5B8FD3"/>
            </a:solidFill>
            <a:prstDash val="solid"/>
          </a:ln>
        </p:spPr>
        <p:txBody>
          <a:bodyPr/>
          <a:lstStyle/>
          <a:p>
            <a:endParaRPr/>
          </a:p>
        </p:txBody>
      </p:sp>
      <p:sp>
        <p:nvSpPr>
          <p:cNvPr id="32" name="Shape 30">
            <a:extLst>
              <a:ext uri="{FF2B5EF4-FFF2-40B4-BE49-F238E27FC236}">
                <a16:creationId xmlns:a16="http://schemas.microsoft.com/office/drawing/2014/main" id="{DCBE8B02-1C65-4614-800B-5FC02F258095}"/>
              </a:ext>
            </a:extLst>
          </p:cNvPr>
          <p:cNvSpPr>
            <a:spLocks noGrp="1"/>
          </p:cNvSpPr>
          <p:nvPr/>
        </p:nvSpPr>
        <p:spPr>
          <a:xfrm>
            <a:off x="7046595" y="1792224"/>
            <a:ext cx="0" cy="155448"/>
          </a:xfrm>
          <a:prstGeom prst="line">
            <a:avLst/>
          </a:prstGeom>
          <a:noFill/>
          <a:ln w="17780">
            <a:solidFill>
              <a:srgbClr val="1F9D8A"/>
            </a:solidFill>
            <a:prstDash val="solid"/>
          </a:ln>
        </p:spPr>
        <p:txBody>
          <a:bodyPr/>
          <a:lstStyle/>
          <a:p>
            <a:endParaRPr/>
          </a:p>
        </p:txBody>
      </p:sp>
      <p:sp>
        <p:nvSpPr>
          <p:cNvPr id="33" name="Shape 31">
            <a:extLst>
              <a:ext uri="{FF2B5EF4-FFF2-40B4-BE49-F238E27FC236}">
                <a16:creationId xmlns:a16="http://schemas.microsoft.com/office/drawing/2014/main" id="{159ABA33-2FFC-4096-BC3F-26472C95EAA7}"/>
              </a:ext>
            </a:extLst>
          </p:cNvPr>
          <p:cNvSpPr>
            <a:spLocks noGrp="1"/>
          </p:cNvSpPr>
          <p:nvPr/>
        </p:nvSpPr>
        <p:spPr>
          <a:xfrm>
            <a:off x="7469505" y="1792224"/>
            <a:ext cx="0" cy="155448"/>
          </a:xfrm>
          <a:prstGeom prst="line">
            <a:avLst/>
          </a:prstGeom>
          <a:noFill/>
          <a:ln w="17780">
            <a:solidFill>
              <a:srgbClr val="5B8FD3"/>
            </a:solidFill>
            <a:prstDash val="solid"/>
          </a:ln>
        </p:spPr>
        <p:txBody>
          <a:bodyPr/>
          <a:lstStyle/>
          <a:p>
            <a:endParaRPr/>
          </a:p>
        </p:txBody>
      </p:sp>
      <p:sp>
        <p:nvSpPr>
          <p:cNvPr id="34" name="Shape 32">
            <a:extLst>
              <a:ext uri="{FF2B5EF4-FFF2-40B4-BE49-F238E27FC236}">
                <a16:creationId xmlns:a16="http://schemas.microsoft.com/office/drawing/2014/main" id="{9C5B9A19-ED55-44B9-875F-16CC4454CC8A}"/>
              </a:ext>
            </a:extLst>
          </p:cNvPr>
          <p:cNvSpPr>
            <a:spLocks noGrp="1"/>
          </p:cNvSpPr>
          <p:nvPr/>
        </p:nvSpPr>
        <p:spPr>
          <a:xfrm>
            <a:off x="7892415" y="1792224"/>
            <a:ext cx="0" cy="155448"/>
          </a:xfrm>
          <a:prstGeom prst="line">
            <a:avLst/>
          </a:prstGeom>
          <a:noFill/>
          <a:ln w="17780">
            <a:solidFill>
              <a:srgbClr val="1F9D8A"/>
            </a:solidFill>
            <a:prstDash val="solid"/>
          </a:ln>
        </p:spPr>
        <p:txBody>
          <a:bodyPr/>
          <a:lstStyle/>
          <a:p>
            <a:endParaRPr/>
          </a:p>
        </p:txBody>
      </p:sp>
      <p:sp>
        <p:nvSpPr>
          <p:cNvPr id="35" name="Shape 33">
            <a:extLst>
              <a:ext uri="{FF2B5EF4-FFF2-40B4-BE49-F238E27FC236}">
                <a16:creationId xmlns:a16="http://schemas.microsoft.com/office/drawing/2014/main" id="{E9FA5334-59D5-44D2-9D46-26C8D33E797D}"/>
              </a:ext>
            </a:extLst>
          </p:cNvPr>
          <p:cNvSpPr>
            <a:spLocks noGrp="1"/>
          </p:cNvSpPr>
          <p:nvPr/>
        </p:nvSpPr>
        <p:spPr>
          <a:xfrm>
            <a:off x="8315325" y="1792224"/>
            <a:ext cx="0" cy="155448"/>
          </a:xfrm>
          <a:prstGeom prst="line">
            <a:avLst/>
          </a:prstGeom>
          <a:noFill/>
          <a:ln w="17780">
            <a:solidFill>
              <a:srgbClr val="5B8FD3"/>
            </a:solidFill>
            <a:prstDash val="solid"/>
          </a:ln>
        </p:spPr>
        <p:txBody>
          <a:bodyPr/>
          <a:lstStyle/>
          <a:p>
            <a:endParaRPr/>
          </a:p>
        </p:txBody>
      </p:sp>
      <p:sp>
        <p:nvSpPr>
          <p:cNvPr id="36" name="Shape 34">
            <a:extLst>
              <a:ext uri="{FF2B5EF4-FFF2-40B4-BE49-F238E27FC236}">
                <a16:creationId xmlns:a16="http://schemas.microsoft.com/office/drawing/2014/main" id="{79664153-5284-45F1-9474-85DEF8382096}"/>
              </a:ext>
            </a:extLst>
          </p:cNvPr>
          <p:cNvSpPr>
            <a:spLocks noGrp="1"/>
          </p:cNvSpPr>
          <p:nvPr/>
        </p:nvSpPr>
        <p:spPr>
          <a:xfrm>
            <a:off x="8738235" y="1792224"/>
            <a:ext cx="0" cy="155448"/>
          </a:xfrm>
          <a:prstGeom prst="line">
            <a:avLst/>
          </a:prstGeom>
          <a:noFill/>
          <a:ln w="17780">
            <a:solidFill>
              <a:srgbClr val="1F9D8A"/>
            </a:solidFill>
            <a:prstDash val="solid"/>
          </a:ln>
        </p:spPr>
        <p:txBody>
          <a:bodyPr/>
          <a:lstStyle/>
          <a:p>
            <a:endParaRPr/>
          </a:p>
        </p:txBody>
      </p:sp>
      <p:sp>
        <p:nvSpPr>
          <p:cNvPr id="37" name="Shape 35">
            <a:extLst>
              <a:ext uri="{FF2B5EF4-FFF2-40B4-BE49-F238E27FC236}">
                <a16:creationId xmlns:a16="http://schemas.microsoft.com/office/drawing/2014/main" id="{00ED0461-B6AD-4FA5-992B-94578E86E02B}"/>
              </a:ext>
            </a:extLst>
          </p:cNvPr>
          <p:cNvSpPr>
            <a:spLocks noGrp="1"/>
          </p:cNvSpPr>
          <p:nvPr/>
        </p:nvSpPr>
        <p:spPr>
          <a:xfrm>
            <a:off x="9161145" y="1792224"/>
            <a:ext cx="0" cy="155448"/>
          </a:xfrm>
          <a:prstGeom prst="line">
            <a:avLst/>
          </a:prstGeom>
          <a:noFill/>
          <a:ln w="17780">
            <a:solidFill>
              <a:srgbClr val="5B8FD3"/>
            </a:solidFill>
            <a:prstDash val="solid"/>
          </a:ln>
        </p:spPr>
        <p:txBody>
          <a:bodyPr/>
          <a:lstStyle/>
          <a:p>
            <a:endParaRPr/>
          </a:p>
        </p:txBody>
      </p:sp>
      <p:sp>
        <p:nvSpPr>
          <p:cNvPr id="38" name="Shape 36">
            <a:extLst>
              <a:ext uri="{FF2B5EF4-FFF2-40B4-BE49-F238E27FC236}">
                <a16:creationId xmlns:a16="http://schemas.microsoft.com/office/drawing/2014/main" id="{656A5DB1-B214-42C7-9968-60EC3763497D}"/>
              </a:ext>
            </a:extLst>
          </p:cNvPr>
          <p:cNvSpPr>
            <a:spLocks noGrp="1"/>
          </p:cNvSpPr>
          <p:nvPr/>
        </p:nvSpPr>
        <p:spPr>
          <a:xfrm>
            <a:off x="9584055" y="1792224"/>
            <a:ext cx="0" cy="155448"/>
          </a:xfrm>
          <a:prstGeom prst="line">
            <a:avLst/>
          </a:prstGeom>
          <a:noFill/>
          <a:ln w="17780">
            <a:solidFill>
              <a:srgbClr val="1F9D8A"/>
            </a:solidFill>
            <a:prstDash val="solid"/>
          </a:ln>
        </p:spPr>
        <p:txBody>
          <a:bodyPr/>
          <a:lstStyle/>
          <a:p>
            <a:endParaRPr/>
          </a:p>
        </p:txBody>
      </p:sp>
      <p:sp>
        <p:nvSpPr>
          <p:cNvPr id="39" name="Shape 37">
            <a:extLst>
              <a:ext uri="{FF2B5EF4-FFF2-40B4-BE49-F238E27FC236}">
                <a16:creationId xmlns:a16="http://schemas.microsoft.com/office/drawing/2014/main" id="{574FB0CE-3B6D-4620-BF41-8FB76D8694EE}"/>
              </a:ext>
            </a:extLst>
          </p:cNvPr>
          <p:cNvSpPr>
            <a:spLocks noGrp="1"/>
          </p:cNvSpPr>
          <p:nvPr/>
        </p:nvSpPr>
        <p:spPr>
          <a:xfrm>
            <a:off x="10006965" y="1792224"/>
            <a:ext cx="0" cy="155448"/>
          </a:xfrm>
          <a:prstGeom prst="line">
            <a:avLst/>
          </a:prstGeom>
          <a:noFill/>
          <a:ln w="17780">
            <a:solidFill>
              <a:srgbClr val="5B8FD3"/>
            </a:solidFill>
            <a:prstDash val="solid"/>
          </a:ln>
        </p:spPr>
        <p:txBody>
          <a:bodyPr/>
          <a:lstStyle/>
          <a:p>
            <a:endParaRPr/>
          </a:p>
        </p:txBody>
      </p:sp>
      <p:sp>
        <p:nvSpPr>
          <p:cNvPr id="40" name="Shape 38">
            <a:extLst>
              <a:ext uri="{FF2B5EF4-FFF2-40B4-BE49-F238E27FC236}">
                <a16:creationId xmlns:a16="http://schemas.microsoft.com/office/drawing/2014/main" id="{655E3E57-DAFA-429E-AB0F-FD4D85C74FAC}"/>
              </a:ext>
            </a:extLst>
          </p:cNvPr>
          <p:cNvSpPr>
            <a:spLocks noGrp="1"/>
          </p:cNvSpPr>
          <p:nvPr/>
        </p:nvSpPr>
        <p:spPr>
          <a:xfrm>
            <a:off x="10429875" y="1792224"/>
            <a:ext cx="0" cy="155448"/>
          </a:xfrm>
          <a:prstGeom prst="line">
            <a:avLst/>
          </a:prstGeom>
          <a:noFill/>
          <a:ln w="17780">
            <a:solidFill>
              <a:srgbClr val="1F9D8A"/>
            </a:solidFill>
            <a:prstDash val="solid"/>
          </a:ln>
        </p:spPr>
        <p:txBody>
          <a:bodyPr/>
          <a:lstStyle/>
          <a:p>
            <a:endParaRPr/>
          </a:p>
        </p:txBody>
      </p:sp>
      <p:sp>
        <p:nvSpPr>
          <p:cNvPr id="41" name="Shape 39">
            <a:extLst>
              <a:ext uri="{FF2B5EF4-FFF2-40B4-BE49-F238E27FC236}">
                <a16:creationId xmlns:a16="http://schemas.microsoft.com/office/drawing/2014/main" id="{0D8EE0A7-C085-48EB-AC94-AF6F6335C4A9}"/>
              </a:ext>
            </a:extLst>
          </p:cNvPr>
          <p:cNvSpPr>
            <a:spLocks noGrp="1"/>
          </p:cNvSpPr>
          <p:nvPr/>
        </p:nvSpPr>
        <p:spPr>
          <a:xfrm>
            <a:off x="10852785" y="1792224"/>
            <a:ext cx="0" cy="155448"/>
          </a:xfrm>
          <a:prstGeom prst="line">
            <a:avLst/>
          </a:prstGeom>
          <a:noFill/>
          <a:ln w="17780">
            <a:solidFill>
              <a:srgbClr val="5B8FD3"/>
            </a:solidFill>
            <a:prstDash val="solid"/>
          </a:ln>
        </p:spPr>
        <p:txBody>
          <a:bodyPr/>
          <a:lstStyle/>
          <a:p>
            <a:endParaRPr/>
          </a:p>
        </p:txBody>
      </p:sp>
      <p:sp>
        <p:nvSpPr>
          <p:cNvPr id="42" name="Text 40">
            <a:extLst>
              <a:ext uri="{FF2B5EF4-FFF2-40B4-BE49-F238E27FC236}">
                <a16:creationId xmlns:a16="http://schemas.microsoft.com/office/drawing/2014/main" id="{32D17C5E-7080-4F4B-9E48-ADE2AF5C55B3}"/>
              </a:ext>
            </a:extLst>
          </p:cNvPr>
          <p:cNvSpPr>
            <a:spLocks noGrp="1"/>
          </p:cNvSpPr>
          <p:nvPr/>
        </p:nvSpPr>
        <p:spPr>
          <a:xfrm>
            <a:off x="4526280" y="1389888"/>
            <a:ext cx="3017520" cy="347472"/>
          </a:xfrm>
          <a:prstGeom prst="rect">
            <a:avLst/>
          </a:prstGeom>
          <a:noFill/>
        </p:spPr>
        <p:txBody>
          <a:bodyPr wrap="square" lIns="0" tIns="0" rIns="0" bIns="0" anchor="ctr"/>
          <a:lstStyle/>
          <a:p>
            <a:pPr marL="0" indent="0" algn="ctr">
              <a:buNone/>
            </a:pPr>
            <a:r>
              <a:rPr sz="2200" b="1">
                <a:solidFill>
                  <a:srgbClr val="3B8D5A"/>
                </a:solidFill>
                <a:latin typeface="Noto Sans CJK JP"/>
                <a:ea typeface="Noto Sans CJK JP"/>
                <a:cs typeface="Noto Sans CJK JP"/>
              </a:rPr>
              <a:t>旧検証は24回通過</a:t>
            </a:r>
            <a:endParaRPr sz="2200"/>
          </a:p>
        </p:txBody>
      </p:sp>
      <p:sp>
        <p:nvSpPr>
          <p:cNvPr id="43" name="Shape 41">
            <a:extLst>
              <a:ext uri="{FF2B5EF4-FFF2-40B4-BE49-F238E27FC236}">
                <a16:creationId xmlns:a16="http://schemas.microsoft.com/office/drawing/2014/main" id="{DD148213-F95A-4C38-B02B-D87F1B55A0DE}"/>
              </a:ext>
            </a:extLst>
          </p:cNvPr>
          <p:cNvSpPr>
            <a:spLocks noGrp="1"/>
          </p:cNvSpPr>
          <p:nvPr/>
        </p:nvSpPr>
        <p:spPr>
          <a:xfrm>
            <a:off x="777240" y="2907792"/>
            <a:ext cx="3337560" cy="2331720"/>
          </a:xfrm>
          <a:prstGeom prst="roundRect">
            <a:avLst>
              <a:gd name="adj" fmla="val 3137"/>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10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3200400"/>
            <a:ext cx="512064" cy="512064"/>
          </a:xfrm>
          <a:prstGeom prst="rect">
            <a:avLst/>
          </a:prstGeom>
        </p:spPr>
      </p:pic>
      <p:sp>
        <p:nvSpPr>
          <p:cNvPr id="45" name="Text 42">
            <a:extLst>
              <a:ext uri="{FF2B5EF4-FFF2-40B4-BE49-F238E27FC236}">
                <a16:creationId xmlns:a16="http://schemas.microsoft.com/office/drawing/2014/main" id="{7A4AB310-6636-495F-A744-7A9ABBB342B9}"/>
              </a:ext>
            </a:extLst>
          </p:cNvPr>
          <p:cNvSpPr>
            <a:spLocks noGrp="1"/>
          </p:cNvSpPr>
          <p:nvPr/>
        </p:nvSpPr>
        <p:spPr>
          <a:xfrm>
            <a:off x="1783080"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15分 × 96区間</a:t>
            </a:r>
            <a:endParaRPr sz="2000"/>
          </a:p>
        </p:txBody>
      </p:sp>
      <p:sp>
        <p:nvSpPr>
          <p:cNvPr id="46" name="Text 43">
            <a:extLst>
              <a:ext uri="{FF2B5EF4-FFF2-40B4-BE49-F238E27FC236}">
                <a16:creationId xmlns:a16="http://schemas.microsoft.com/office/drawing/2014/main" id="{E94C80BF-4CDF-4C1B-9D9F-FF3891608B93}"/>
              </a:ext>
            </a:extLst>
          </p:cNvPr>
          <p:cNvSpPr>
            <a:spLocks noGrp="1"/>
          </p:cNvSpPr>
          <p:nvPr/>
        </p:nvSpPr>
        <p:spPr>
          <a:xfrm>
            <a:off x="105156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PV・系統電力・BESSの動きを</a:t>
            </a:r>
            <a:endParaRPr sz="1550"/>
          </a:p>
          <a:p>
            <a:pPr marL="0" indent="0" algn="ctr">
              <a:buNone/>
            </a:pPr>
            <a:r>
              <a:rPr sz="1550">
                <a:solidFill>
                  <a:srgbClr val="687386"/>
                </a:solidFill>
                <a:latin typeface="Noto Sans CJK JP"/>
                <a:ea typeface="Noto Sans CJK JP"/>
                <a:cs typeface="Noto Sans CJK JP"/>
              </a:rPr>
              <a:t>一日分つなげて確認</a:t>
            </a:r>
            <a:endParaRPr sz="1550"/>
          </a:p>
        </p:txBody>
      </p:sp>
      <p:sp>
        <p:nvSpPr>
          <p:cNvPr id="47" name="Shape 44">
            <a:extLst>
              <a:ext uri="{FF2B5EF4-FFF2-40B4-BE49-F238E27FC236}">
                <a16:creationId xmlns:a16="http://schemas.microsoft.com/office/drawing/2014/main" id="{088CAEBF-5E5D-4E0E-BD4B-DA0F78775F3F}"/>
              </a:ext>
            </a:extLst>
          </p:cNvPr>
          <p:cNvSpPr>
            <a:spLocks noGrp="1"/>
          </p:cNvSpPr>
          <p:nvPr/>
        </p:nvSpPr>
        <p:spPr>
          <a:xfrm>
            <a:off x="4407408" y="2907792"/>
            <a:ext cx="3337560" cy="2331720"/>
          </a:xfrm>
          <a:prstGeom prst="roundRect">
            <a:avLst>
              <a:gd name="adj" fmla="val 3137"/>
            </a:avLst>
          </a:prstGeom>
          <a:solidFill>
            <a:srgbClr val="E8F6F3"/>
          </a:solidFill>
          <a:ln w="12700">
            <a:solidFill>
              <a:srgbClr val="1F9D8A"/>
            </a:solidFill>
            <a:prstDash val="solid"/>
          </a:ln>
          <a:effectLst>
            <a:outerShdw blurRad="19050" dist="50800" dir="2700000" algn="bl" rotWithShape="0">
              <a:srgbClr val="A0A8B5">
                <a:alpha val="18000"/>
              </a:srgbClr>
            </a:outerShdw>
          </a:effectLst>
        </p:spPr>
        <p:txBody>
          <a:bodyPr/>
          <a:lstStyle/>
          <a:p>
            <a:endParaRPr/>
          </a:p>
        </p:txBody>
      </p:sp>
      <p:pic>
        <p:nvPicPr>
          <p:cNvPr id="10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3200400"/>
            <a:ext cx="512064" cy="512064"/>
          </a:xfrm>
          <a:prstGeom prst="rect">
            <a:avLst/>
          </a:prstGeom>
        </p:spPr>
      </p:pic>
      <p:sp>
        <p:nvSpPr>
          <p:cNvPr id="49" name="Text 45">
            <a:extLst>
              <a:ext uri="{FF2B5EF4-FFF2-40B4-BE49-F238E27FC236}">
                <a16:creationId xmlns:a16="http://schemas.microsoft.com/office/drawing/2014/main" id="{390AE810-7E88-4AC2-BFDE-DFF94DF029B2}"/>
              </a:ext>
            </a:extLst>
          </p:cNvPr>
          <p:cNvSpPr>
            <a:spLocks noGrp="1"/>
          </p:cNvSpPr>
          <p:nvPr/>
        </p:nvSpPr>
        <p:spPr>
          <a:xfrm>
            <a:off x="5413248"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物理条件の確認</a:t>
            </a:r>
            <a:endParaRPr sz="2000"/>
          </a:p>
        </p:txBody>
      </p:sp>
      <p:sp>
        <p:nvSpPr>
          <p:cNvPr id="50" name="Text 46">
            <a:extLst>
              <a:ext uri="{FF2B5EF4-FFF2-40B4-BE49-F238E27FC236}">
                <a16:creationId xmlns:a16="http://schemas.microsoft.com/office/drawing/2014/main" id="{304A3345-9996-4686-83DB-B895E81B328F}"/>
              </a:ext>
            </a:extLst>
          </p:cNvPr>
          <p:cNvSpPr>
            <a:spLocks noGrp="1"/>
          </p:cNvSpPr>
          <p:nvPr/>
        </p:nvSpPr>
        <p:spPr>
          <a:xfrm>
            <a:off x="4681728"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入力SOC上限90%に不一致。</a:t>
            </a:r>
            <a:endParaRPr sz="1550"/>
          </a:p>
          <a:p>
            <a:pPr marL="0" indent="0" algn="ctr">
              <a:buNone/>
            </a:pPr>
            <a:r>
              <a:rPr sz="1550">
                <a:solidFill>
                  <a:srgbClr val="687386"/>
                </a:solidFill>
                <a:latin typeface="Noto Sans CJK JP"/>
                <a:ea typeface="Noto Sans CJK JP"/>
                <a:cs typeface="Noto Sans CJK JP"/>
              </a:rPr>
              <a:t>旧検証の範囲に限界がある</a:t>
            </a:r>
            <a:endParaRPr sz="1550"/>
          </a:p>
        </p:txBody>
      </p:sp>
      <p:sp>
        <p:nvSpPr>
          <p:cNvPr id="51" name="Shape 47">
            <a:extLst>
              <a:ext uri="{FF2B5EF4-FFF2-40B4-BE49-F238E27FC236}">
                <a16:creationId xmlns:a16="http://schemas.microsoft.com/office/drawing/2014/main" id="{BF08CBBF-B114-43AC-9F1A-8E610CAAFD06}"/>
              </a:ext>
            </a:extLst>
          </p:cNvPr>
          <p:cNvSpPr>
            <a:spLocks noGrp="1"/>
          </p:cNvSpPr>
          <p:nvPr/>
        </p:nvSpPr>
        <p:spPr>
          <a:xfrm>
            <a:off x="8037576" y="2907792"/>
            <a:ext cx="3337560" cy="2331720"/>
          </a:xfrm>
          <a:prstGeom prst="roundRect">
            <a:avLst>
              <a:gd name="adj" fmla="val 3137"/>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pic>
        <p:nvPicPr>
          <p:cNvPr id="11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9328" y="3200400"/>
            <a:ext cx="512064" cy="512064"/>
          </a:xfrm>
          <a:prstGeom prst="rect">
            <a:avLst/>
          </a:prstGeom>
        </p:spPr>
      </p:pic>
      <p:sp>
        <p:nvSpPr>
          <p:cNvPr id="53" name="Text 48">
            <a:extLst>
              <a:ext uri="{FF2B5EF4-FFF2-40B4-BE49-F238E27FC236}">
                <a16:creationId xmlns:a16="http://schemas.microsoft.com/office/drawing/2014/main" id="{AF413D56-D966-40CE-8E43-1B0A4B192B13}"/>
              </a:ext>
            </a:extLst>
          </p:cNvPr>
          <p:cNvSpPr>
            <a:spLocks noGrp="1"/>
          </p:cNvSpPr>
          <p:nvPr/>
        </p:nvSpPr>
        <p:spPr>
          <a:xfrm>
            <a:off x="9052560" y="3163824"/>
            <a:ext cx="178308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証拠の紐づけ</a:t>
            </a:r>
            <a:endParaRPr sz="2000"/>
          </a:p>
        </p:txBody>
      </p:sp>
      <p:sp>
        <p:nvSpPr>
          <p:cNvPr id="54" name="Text 49">
            <a:extLst>
              <a:ext uri="{FF2B5EF4-FFF2-40B4-BE49-F238E27FC236}">
                <a16:creationId xmlns:a16="http://schemas.microsoft.com/office/drawing/2014/main" id="{B2010189-07D7-4CFB-82F4-FAC691AA9DB6}"/>
              </a:ext>
            </a:extLst>
          </p:cNvPr>
          <p:cNvSpPr>
            <a:spLocks noGrp="1"/>
          </p:cNvSpPr>
          <p:nvPr/>
        </p:nvSpPr>
        <p:spPr>
          <a:xfrm>
            <a:off x="832104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入力・コード・出力・費用を</a:t>
            </a:r>
            <a:endParaRPr sz="1550"/>
          </a:p>
          <a:p>
            <a:pPr marL="0" indent="0" algn="ctr">
              <a:buNone/>
            </a:pPr>
            <a:r>
              <a:rPr sz="1550">
                <a:solidFill>
                  <a:srgbClr val="687386"/>
                </a:solidFill>
                <a:latin typeface="Noto Sans CJK JP"/>
                <a:ea typeface="Noto Sans CJK JP"/>
                <a:cs typeface="Noto Sans CJK JP"/>
              </a:rPr>
              <a:t>同じ実行として記録</a:t>
            </a:r>
            <a:endParaRPr sz="1550"/>
          </a:p>
        </p:txBody>
      </p:sp>
      <p:sp>
        <p:nvSpPr>
          <p:cNvPr id="55" name="Text 50">
            <a:extLst>
              <a:ext uri="{FF2B5EF4-FFF2-40B4-BE49-F238E27FC236}">
                <a16:creationId xmlns:a16="http://schemas.microsoft.com/office/drawing/2014/main" id="{5A77A6BD-AED6-4A2C-9860-631FD294EBC9}"/>
              </a:ext>
            </a:extLst>
          </p:cNvPr>
          <p:cNvSpPr>
            <a:spLocks noGrp="1"/>
          </p:cNvSpPr>
          <p:nvPr/>
        </p:nvSpPr>
        <p:spPr>
          <a:xfrm>
            <a:off x="1143000" y="5760720"/>
            <a:ext cx="9875520" cy="347472"/>
          </a:xfrm>
          <a:prstGeom prst="rect">
            <a:avLst/>
          </a:prstGeom>
          <a:noFill/>
        </p:spPr>
        <p:txBody>
          <a:bodyPr wrap="square" lIns="0" tIns="0" rIns="0" bIns="0" anchor="ctr"/>
          <a:lstStyle/>
          <a:p>
            <a:pPr marL="0" indent="0" algn="ctr">
              <a:buNone/>
            </a:pPr>
            <a:r>
              <a:rPr sz="1750" b="1">
                <a:solidFill>
                  <a:srgbClr val="1F2A5A"/>
                </a:solidFill>
                <a:latin typeface="Noto Sans CJK JP"/>
                <a:ea typeface="Noto Sans CJK JP"/>
                <a:cs typeface="Noto Sans CJK JP"/>
              </a:rPr>
              <a:t>結果だけでなく、「どの入力とコードで出した結果か」まで追える状態にした。</a:t>
            </a:r>
            <a:endParaRPr sz="1750"/>
          </a:p>
        </p:txBody>
      </p:sp>
      <p:sp>
        <p:nvSpPr>
          <p:cNvPr id="59" name="正方形/長方形 58">
            <a:extLst>
              <a:ext uri="{FF2B5EF4-FFF2-40B4-BE49-F238E27FC236}">
                <a16:creationId xmlns:a16="http://schemas.microsoft.com/office/drawing/2014/main" id="{BFA52BA3-3770-4AD2-AC3E-610C2B7FD473}"/>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756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FEBD103-46A8-4949-A0F0-F5DBB9FB0F0D}"/>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現在の限界：SOC上限に不一致。数値は診断用</a:t>
            </a:r>
            <a:endParaRPr sz="2550"/>
          </a:p>
        </p:txBody>
      </p:sp>
      <p:sp>
        <p:nvSpPr>
          <p:cNvPr id="3" name="Shape 1">
            <a:extLst>
              <a:ext uri="{FF2B5EF4-FFF2-40B4-BE49-F238E27FC236}">
                <a16:creationId xmlns:a16="http://schemas.microsoft.com/office/drawing/2014/main" id="{EF7216F5-415C-4E01-977E-811C4F9FF8F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77B6169-4A93-477F-A02B-577947BE23B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73C2935C-E990-40A3-802D-4AF01463ADA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16/18</a:t>
            </a:r>
            <a:endParaRPr sz="850"/>
          </a:p>
        </p:txBody>
      </p:sp>
      <p:sp>
        <p:nvSpPr>
          <p:cNvPr id="6" name="Shape 4">
            <a:extLst>
              <a:ext uri="{FF2B5EF4-FFF2-40B4-BE49-F238E27FC236}">
                <a16:creationId xmlns:a16="http://schemas.microsoft.com/office/drawing/2014/main" id="{E9B639B4-D99A-49C5-ABEF-F27AE9B4DBF8}"/>
              </a:ext>
            </a:extLst>
          </p:cNvPr>
          <p:cNvSpPr>
            <a:spLocks noGrp="1"/>
          </p:cNvSpPr>
          <p:nvPr/>
        </p:nvSpPr>
        <p:spPr>
          <a:xfrm>
            <a:off x="822960" y="1078992"/>
            <a:ext cx="10607040" cy="749808"/>
          </a:xfrm>
          <a:prstGeom prst="roundRect">
            <a:avLst/>
          </a:prstGeom>
          <a:solidFill>
            <a:srgbClr val="F8FAFC"/>
          </a:solidFill>
          <a:ln w="12700">
            <a:solidFill>
              <a:srgbClr val="EEF1F5"/>
            </a:solidFill>
            <a:prstDash val="solid"/>
          </a:ln>
        </p:spPr>
        <p:txBody>
          <a:bodyPr/>
          <a:lstStyle/>
          <a:p>
            <a:endParaRPr/>
          </a:p>
        </p:txBody>
      </p:sp>
      <p:sp>
        <p:nvSpPr>
          <p:cNvPr id="7" name="Shape 5">
            <a:extLst>
              <a:ext uri="{FF2B5EF4-FFF2-40B4-BE49-F238E27FC236}">
                <a16:creationId xmlns:a16="http://schemas.microsoft.com/office/drawing/2014/main" id="{27913878-79E8-40E9-845C-A9BF9880DE4B}"/>
              </a:ext>
            </a:extLst>
          </p:cNvPr>
          <p:cNvSpPr>
            <a:spLocks noGrp="1"/>
          </p:cNvSpPr>
          <p:nvPr/>
        </p:nvSpPr>
        <p:spPr>
          <a:xfrm>
            <a:off x="1051560" y="1243584"/>
            <a:ext cx="384048" cy="384048"/>
          </a:xfrm>
          <a:prstGeom prst="ellipse">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7DF13629-D283-431B-B841-D69CF33D1B1F}"/>
              </a:ext>
            </a:extLst>
          </p:cNvPr>
          <p:cNvSpPr>
            <a:spLocks noGrp="1"/>
          </p:cNvSpPr>
          <p:nvPr/>
        </p:nvSpPr>
        <p:spPr>
          <a:xfrm>
            <a:off x="1051560" y="1197864"/>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9" name="Text 7">
            <a:extLst>
              <a:ext uri="{FF2B5EF4-FFF2-40B4-BE49-F238E27FC236}">
                <a16:creationId xmlns:a16="http://schemas.microsoft.com/office/drawing/2014/main" id="{5721751E-805E-436A-B9A7-7919210EA34B}"/>
              </a:ext>
            </a:extLst>
          </p:cNvPr>
          <p:cNvSpPr>
            <a:spLocks noGrp="1"/>
          </p:cNvSpPr>
          <p:nvPr/>
        </p:nvSpPr>
        <p:spPr>
          <a:xfrm>
            <a:off x="1664208" y="1188720"/>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すべての配車を調べたわけではない</a:t>
            </a:r>
            <a:endParaRPr sz="1700"/>
          </a:p>
        </p:txBody>
      </p:sp>
      <p:sp>
        <p:nvSpPr>
          <p:cNvPr id="10" name="Text 8">
            <a:extLst>
              <a:ext uri="{FF2B5EF4-FFF2-40B4-BE49-F238E27FC236}">
                <a16:creationId xmlns:a16="http://schemas.microsoft.com/office/drawing/2014/main" id="{6458ACD3-7934-4BE6-9330-C7821417B7C0}"/>
              </a:ext>
            </a:extLst>
          </p:cNvPr>
          <p:cNvSpPr>
            <a:spLocks noGrp="1"/>
          </p:cNvSpPr>
          <p:nvPr/>
        </p:nvSpPr>
        <p:spPr>
          <a:xfrm>
            <a:off x="4983480" y="1188720"/>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評価した有限の配車案の中から選んでいる。</a:t>
            </a:r>
            <a:endParaRPr sz="1500"/>
          </a:p>
        </p:txBody>
      </p:sp>
      <p:sp>
        <p:nvSpPr>
          <p:cNvPr id="11" name="Shape 9">
            <a:extLst>
              <a:ext uri="{FF2B5EF4-FFF2-40B4-BE49-F238E27FC236}">
                <a16:creationId xmlns:a16="http://schemas.microsoft.com/office/drawing/2014/main" id="{D4931454-0F62-4ADD-80D5-0FC39CACD628}"/>
              </a:ext>
            </a:extLst>
          </p:cNvPr>
          <p:cNvSpPr>
            <a:spLocks noGrp="1"/>
          </p:cNvSpPr>
          <p:nvPr/>
        </p:nvSpPr>
        <p:spPr>
          <a:xfrm>
            <a:off x="822960" y="2048256"/>
            <a:ext cx="10607040" cy="749808"/>
          </a:xfrm>
          <a:prstGeom prst="roundRect">
            <a:avLst/>
          </a:prstGeom>
          <a:solidFill>
            <a:srgbClr val="FFFFFF"/>
          </a:solidFill>
          <a:ln w="12700">
            <a:solidFill>
              <a:srgbClr val="EEF1F5"/>
            </a:solidFill>
            <a:prstDash val="solid"/>
          </a:ln>
        </p:spPr>
        <p:txBody>
          <a:bodyPr/>
          <a:lstStyle/>
          <a:p>
            <a:endParaRPr/>
          </a:p>
        </p:txBody>
      </p:sp>
      <p:sp>
        <p:nvSpPr>
          <p:cNvPr id="12" name="Shape 10">
            <a:extLst>
              <a:ext uri="{FF2B5EF4-FFF2-40B4-BE49-F238E27FC236}">
                <a16:creationId xmlns:a16="http://schemas.microsoft.com/office/drawing/2014/main" id="{8CD2B79D-25AF-43DD-B647-A2CB864EAEA9}"/>
              </a:ext>
            </a:extLst>
          </p:cNvPr>
          <p:cNvSpPr>
            <a:spLocks noGrp="1"/>
          </p:cNvSpPr>
          <p:nvPr/>
        </p:nvSpPr>
        <p:spPr>
          <a:xfrm>
            <a:off x="1051560" y="2212848"/>
            <a:ext cx="384048" cy="384048"/>
          </a:xfrm>
          <a:prstGeom prst="ellipse">
            <a:avLst/>
          </a:prstGeom>
          <a:solidFill>
            <a:srgbClr val="C94C4C"/>
          </a:solidFill>
          <a:ln w="12700">
            <a:solidFill>
              <a:srgbClr val="C94C4C"/>
            </a:solidFill>
            <a:prstDash val="solid"/>
          </a:ln>
        </p:spPr>
        <p:txBody>
          <a:bodyPr/>
          <a:lstStyle/>
          <a:p>
            <a:endParaRPr/>
          </a:p>
        </p:txBody>
      </p:sp>
      <p:sp>
        <p:nvSpPr>
          <p:cNvPr id="13" name="Text 11">
            <a:extLst>
              <a:ext uri="{FF2B5EF4-FFF2-40B4-BE49-F238E27FC236}">
                <a16:creationId xmlns:a16="http://schemas.microsoft.com/office/drawing/2014/main" id="{D3CD7C4A-9942-4D58-8FA2-77686E12E282}"/>
              </a:ext>
            </a:extLst>
          </p:cNvPr>
          <p:cNvSpPr>
            <a:spLocks noGrp="1"/>
          </p:cNvSpPr>
          <p:nvPr/>
        </p:nvSpPr>
        <p:spPr>
          <a:xfrm>
            <a:off x="1051560" y="2167128"/>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4" name="Text 12">
            <a:extLst>
              <a:ext uri="{FF2B5EF4-FFF2-40B4-BE49-F238E27FC236}">
                <a16:creationId xmlns:a16="http://schemas.microsoft.com/office/drawing/2014/main" id="{1CEFA120-18D9-4CDE-8F56-A95C7879F668}"/>
              </a:ext>
            </a:extLst>
          </p:cNvPr>
          <p:cNvSpPr>
            <a:spLocks noGrp="1"/>
          </p:cNvSpPr>
          <p:nvPr/>
        </p:nvSpPr>
        <p:spPr>
          <a:xfrm>
            <a:off x="1664208" y="2157984"/>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高PV条件は計算を詰める余地がある</a:t>
            </a:r>
            <a:endParaRPr sz="1700"/>
          </a:p>
        </p:txBody>
      </p:sp>
      <p:sp>
        <p:nvSpPr>
          <p:cNvPr id="15" name="Text 13">
            <a:extLst>
              <a:ext uri="{FF2B5EF4-FFF2-40B4-BE49-F238E27FC236}">
                <a16:creationId xmlns:a16="http://schemas.microsoft.com/office/drawing/2014/main" id="{8D63CC1F-DA28-4E90-9C2A-47B9C792ED8C}"/>
              </a:ext>
            </a:extLst>
          </p:cNvPr>
          <p:cNvSpPr>
            <a:spLocks noGrp="1"/>
          </p:cNvSpPr>
          <p:nvPr/>
        </p:nvSpPr>
        <p:spPr>
          <a:xfrm>
            <a:off x="4983480" y="2157984"/>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計算の詰まり具合の目安は約9.5%（低PVは約1.7%）。</a:t>
            </a:r>
            <a:endParaRPr sz="1500"/>
          </a:p>
        </p:txBody>
      </p:sp>
      <p:sp>
        <p:nvSpPr>
          <p:cNvPr id="16" name="Shape 14">
            <a:extLst>
              <a:ext uri="{FF2B5EF4-FFF2-40B4-BE49-F238E27FC236}">
                <a16:creationId xmlns:a16="http://schemas.microsoft.com/office/drawing/2014/main" id="{24FFB3D5-113B-4A5E-9B1C-E5150CE45C87}"/>
              </a:ext>
            </a:extLst>
          </p:cNvPr>
          <p:cNvSpPr>
            <a:spLocks noGrp="1"/>
          </p:cNvSpPr>
          <p:nvPr/>
        </p:nvSpPr>
        <p:spPr>
          <a:xfrm>
            <a:off x="822960" y="3017520"/>
            <a:ext cx="10607040" cy="749808"/>
          </a:xfrm>
          <a:prstGeom prst="roundRect">
            <a:avLst/>
          </a:prstGeom>
          <a:solidFill>
            <a:srgbClr val="F8FAFC"/>
          </a:solidFill>
          <a:ln w="12700">
            <a:solidFill>
              <a:srgbClr val="EEF1F5"/>
            </a:solidFill>
            <a:prstDash val="solid"/>
          </a:ln>
        </p:spPr>
        <p:txBody>
          <a:bodyPr/>
          <a:lstStyle/>
          <a:p>
            <a:endParaRPr/>
          </a:p>
        </p:txBody>
      </p:sp>
      <p:sp>
        <p:nvSpPr>
          <p:cNvPr id="17" name="Shape 15">
            <a:extLst>
              <a:ext uri="{FF2B5EF4-FFF2-40B4-BE49-F238E27FC236}">
                <a16:creationId xmlns:a16="http://schemas.microsoft.com/office/drawing/2014/main" id="{8D2AB7DF-D8F2-44ED-8465-10B726374C17}"/>
              </a:ext>
            </a:extLst>
          </p:cNvPr>
          <p:cNvSpPr>
            <a:spLocks noGrp="1"/>
          </p:cNvSpPr>
          <p:nvPr/>
        </p:nvSpPr>
        <p:spPr>
          <a:xfrm>
            <a:off x="1051560" y="3182112"/>
            <a:ext cx="384048" cy="384048"/>
          </a:xfrm>
          <a:prstGeom prst="ellipse">
            <a:avLst/>
          </a:prstGeom>
          <a:solidFill>
            <a:srgbClr val="E7B34B"/>
          </a:solidFill>
          <a:ln w="12700">
            <a:solidFill>
              <a:srgbClr val="E7B34B"/>
            </a:solidFill>
            <a:prstDash val="solid"/>
          </a:ln>
        </p:spPr>
        <p:txBody>
          <a:bodyPr/>
          <a:lstStyle/>
          <a:p>
            <a:endParaRPr/>
          </a:p>
        </p:txBody>
      </p:sp>
      <p:sp>
        <p:nvSpPr>
          <p:cNvPr id="18" name="Text 16">
            <a:extLst>
              <a:ext uri="{FF2B5EF4-FFF2-40B4-BE49-F238E27FC236}">
                <a16:creationId xmlns:a16="http://schemas.microsoft.com/office/drawing/2014/main" id="{BFCE2319-0756-4EA3-8161-B99289680084}"/>
              </a:ext>
            </a:extLst>
          </p:cNvPr>
          <p:cNvSpPr>
            <a:spLocks noGrp="1"/>
          </p:cNvSpPr>
          <p:nvPr/>
        </p:nvSpPr>
        <p:spPr>
          <a:xfrm>
            <a:off x="1051560" y="3136392"/>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9" name="Text 17">
            <a:extLst>
              <a:ext uri="{FF2B5EF4-FFF2-40B4-BE49-F238E27FC236}">
                <a16:creationId xmlns:a16="http://schemas.microsoft.com/office/drawing/2014/main" id="{A31E83DB-B0C9-42AE-817D-20FCF1DE1C0C}"/>
              </a:ext>
            </a:extLst>
          </p:cNvPr>
          <p:cNvSpPr>
            <a:spLocks noGrp="1"/>
          </p:cNvSpPr>
          <p:nvPr/>
        </p:nvSpPr>
        <p:spPr>
          <a:xfrm>
            <a:off x="1664208" y="3127248"/>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低PV条件は次点との差が小さい</a:t>
            </a:r>
            <a:endParaRPr sz="1700"/>
          </a:p>
        </p:txBody>
      </p:sp>
      <p:sp>
        <p:nvSpPr>
          <p:cNvPr id="20" name="Text 18">
            <a:extLst>
              <a:ext uri="{FF2B5EF4-FFF2-40B4-BE49-F238E27FC236}">
                <a16:creationId xmlns:a16="http://schemas.microsoft.com/office/drawing/2014/main" id="{B52A3B88-8012-4944-8EEA-3F7C7F47D20F}"/>
              </a:ext>
            </a:extLst>
          </p:cNvPr>
          <p:cNvSpPr>
            <a:spLocks noGrp="1"/>
          </p:cNvSpPr>
          <p:nvPr/>
        </p:nvSpPr>
        <p:spPr>
          <a:xfrm>
            <a:off x="4983480" y="3127248"/>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別の配車案が約567円差であり、選択の安定性を確認したい。</a:t>
            </a:r>
            <a:endParaRPr sz="1500"/>
          </a:p>
        </p:txBody>
      </p:sp>
      <p:sp>
        <p:nvSpPr>
          <p:cNvPr id="21" name="Shape 19">
            <a:extLst>
              <a:ext uri="{FF2B5EF4-FFF2-40B4-BE49-F238E27FC236}">
                <a16:creationId xmlns:a16="http://schemas.microsoft.com/office/drawing/2014/main" id="{C40CA4F5-3162-4EC2-BC7E-A352C17C2DAA}"/>
              </a:ext>
            </a:extLst>
          </p:cNvPr>
          <p:cNvSpPr>
            <a:spLocks noGrp="1"/>
          </p:cNvSpPr>
          <p:nvPr/>
        </p:nvSpPr>
        <p:spPr>
          <a:xfrm>
            <a:off x="822960" y="3986784"/>
            <a:ext cx="10607040" cy="749808"/>
          </a:xfrm>
          <a:prstGeom prst="roundRect">
            <a:avLst/>
          </a:prstGeom>
          <a:solidFill>
            <a:srgbClr val="FFFFFF"/>
          </a:solidFill>
          <a:ln w="12700">
            <a:solidFill>
              <a:srgbClr val="EEF1F5"/>
            </a:solidFill>
            <a:prstDash val="solid"/>
          </a:ln>
        </p:spPr>
        <p:txBody>
          <a:bodyPr/>
          <a:lstStyle/>
          <a:p>
            <a:endParaRPr/>
          </a:p>
        </p:txBody>
      </p:sp>
      <p:sp>
        <p:nvSpPr>
          <p:cNvPr id="22" name="Shape 20">
            <a:extLst>
              <a:ext uri="{FF2B5EF4-FFF2-40B4-BE49-F238E27FC236}">
                <a16:creationId xmlns:a16="http://schemas.microsoft.com/office/drawing/2014/main" id="{59BB314D-1975-43B5-8CCB-478C67FECA8D}"/>
              </a:ext>
            </a:extLst>
          </p:cNvPr>
          <p:cNvSpPr>
            <a:spLocks noGrp="1"/>
          </p:cNvSpPr>
          <p:nvPr/>
        </p:nvSpPr>
        <p:spPr>
          <a:xfrm>
            <a:off x="1051560" y="4151376"/>
            <a:ext cx="384048" cy="384048"/>
          </a:xfrm>
          <a:prstGeom prst="ellipse">
            <a:avLst/>
          </a:prstGeom>
          <a:solidFill>
            <a:srgbClr val="356BB3"/>
          </a:solidFill>
          <a:ln w="12700">
            <a:solidFill>
              <a:srgbClr val="356BB3"/>
            </a:solidFill>
            <a:prstDash val="solid"/>
          </a:ln>
        </p:spPr>
        <p:txBody>
          <a:bodyPr/>
          <a:lstStyle/>
          <a:p>
            <a:endParaRPr/>
          </a:p>
        </p:txBody>
      </p:sp>
      <p:sp>
        <p:nvSpPr>
          <p:cNvPr id="23" name="Text 21">
            <a:extLst>
              <a:ext uri="{FF2B5EF4-FFF2-40B4-BE49-F238E27FC236}">
                <a16:creationId xmlns:a16="http://schemas.microsoft.com/office/drawing/2014/main" id="{910A7CE5-AA00-4BBB-84F7-D80590AF6E7D}"/>
              </a:ext>
            </a:extLst>
          </p:cNvPr>
          <p:cNvSpPr>
            <a:spLocks noGrp="1"/>
          </p:cNvSpPr>
          <p:nvPr/>
        </p:nvSpPr>
        <p:spPr>
          <a:xfrm>
            <a:off x="1051560" y="4105656"/>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4" name="Text 22">
            <a:extLst>
              <a:ext uri="{FF2B5EF4-FFF2-40B4-BE49-F238E27FC236}">
                <a16:creationId xmlns:a16="http://schemas.microsoft.com/office/drawing/2014/main" id="{9E068F1D-C730-47AE-98D3-80A504B24C9D}"/>
              </a:ext>
            </a:extLst>
          </p:cNvPr>
          <p:cNvSpPr>
            <a:spLocks noGrp="1"/>
          </p:cNvSpPr>
          <p:nvPr/>
        </p:nvSpPr>
        <p:spPr>
          <a:xfrm>
            <a:off x="1664208" y="4096512"/>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2つの条件だけでは一般化できない</a:t>
            </a:r>
            <a:endParaRPr sz="1700"/>
          </a:p>
        </p:txBody>
      </p:sp>
      <p:sp>
        <p:nvSpPr>
          <p:cNvPr id="25" name="Text 23">
            <a:extLst>
              <a:ext uri="{FF2B5EF4-FFF2-40B4-BE49-F238E27FC236}">
                <a16:creationId xmlns:a16="http://schemas.microsoft.com/office/drawing/2014/main" id="{1DF647F1-2D45-4A9F-9E9C-113DA7388D81}"/>
              </a:ext>
            </a:extLst>
          </p:cNvPr>
          <p:cNvSpPr>
            <a:spLocks noGrp="1"/>
          </p:cNvSpPr>
          <p:nvPr/>
        </p:nvSpPr>
        <p:spPr>
          <a:xfrm>
            <a:off x="4983480" y="4096512"/>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「雨なら必ずこうなる」という結論ではない。</a:t>
            </a:r>
            <a:endParaRPr sz="1500"/>
          </a:p>
        </p:txBody>
      </p:sp>
      <p:sp>
        <p:nvSpPr>
          <p:cNvPr id="26" name="Shape 24">
            <a:extLst>
              <a:ext uri="{FF2B5EF4-FFF2-40B4-BE49-F238E27FC236}">
                <a16:creationId xmlns:a16="http://schemas.microsoft.com/office/drawing/2014/main" id="{18C799BC-F614-4CDE-B74A-9477FE5AA9AB}"/>
              </a:ext>
            </a:extLst>
          </p:cNvPr>
          <p:cNvSpPr>
            <a:spLocks noGrp="1"/>
          </p:cNvSpPr>
          <p:nvPr/>
        </p:nvSpPr>
        <p:spPr>
          <a:xfrm>
            <a:off x="822960" y="4956048"/>
            <a:ext cx="10607040" cy="749808"/>
          </a:xfrm>
          <a:prstGeom prst="roundRect">
            <a:avLst/>
          </a:prstGeom>
          <a:solidFill>
            <a:srgbClr val="F8FAFC"/>
          </a:solidFill>
          <a:ln w="12700">
            <a:solidFill>
              <a:srgbClr val="EEF1F5"/>
            </a:solidFill>
            <a:prstDash val="solid"/>
          </a:ln>
        </p:spPr>
        <p:txBody>
          <a:bodyPr/>
          <a:lstStyle/>
          <a:p>
            <a:endParaRPr/>
          </a:p>
        </p:txBody>
      </p:sp>
      <p:sp>
        <p:nvSpPr>
          <p:cNvPr id="27" name="Shape 25">
            <a:extLst>
              <a:ext uri="{FF2B5EF4-FFF2-40B4-BE49-F238E27FC236}">
                <a16:creationId xmlns:a16="http://schemas.microsoft.com/office/drawing/2014/main" id="{5E31F430-0A46-4465-B077-3222677E8341}"/>
              </a:ext>
            </a:extLst>
          </p:cNvPr>
          <p:cNvSpPr>
            <a:spLocks noGrp="1"/>
          </p:cNvSpPr>
          <p:nvPr/>
        </p:nvSpPr>
        <p:spPr>
          <a:xfrm>
            <a:off x="1051560" y="5120640"/>
            <a:ext cx="384048" cy="384048"/>
          </a:xfrm>
          <a:prstGeom prst="ellipse">
            <a:avLst/>
          </a:prstGeom>
          <a:solidFill>
            <a:srgbClr val="687386"/>
          </a:solidFill>
          <a:ln w="12700">
            <a:solidFill>
              <a:srgbClr val="687386"/>
            </a:solidFill>
            <a:prstDash val="solid"/>
          </a:ln>
        </p:spPr>
        <p:txBody>
          <a:bodyPr/>
          <a:lstStyle/>
          <a:p>
            <a:endParaRPr/>
          </a:p>
        </p:txBody>
      </p:sp>
      <p:sp>
        <p:nvSpPr>
          <p:cNvPr id="28" name="Text 26">
            <a:extLst>
              <a:ext uri="{FF2B5EF4-FFF2-40B4-BE49-F238E27FC236}">
                <a16:creationId xmlns:a16="http://schemas.microsoft.com/office/drawing/2014/main" id="{AD410792-5730-4425-B9EF-2934A9EA7D53}"/>
              </a:ext>
            </a:extLst>
          </p:cNvPr>
          <p:cNvSpPr>
            <a:spLocks noGrp="1"/>
          </p:cNvSpPr>
          <p:nvPr/>
        </p:nvSpPr>
        <p:spPr>
          <a:xfrm>
            <a:off x="1051560" y="5074920"/>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9" name="Text 27">
            <a:extLst>
              <a:ext uri="{FF2B5EF4-FFF2-40B4-BE49-F238E27FC236}">
                <a16:creationId xmlns:a16="http://schemas.microsoft.com/office/drawing/2014/main" id="{A5A79DFB-3DAA-48B1-A464-58018A6D5084}"/>
              </a:ext>
            </a:extLst>
          </p:cNvPr>
          <p:cNvSpPr>
            <a:spLocks noGrp="1"/>
          </p:cNvSpPr>
          <p:nvPr/>
        </p:nvSpPr>
        <p:spPr>
          <a:xfrm>
            <a:off x="1664208" y="5065776"/>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費用の範囲が限定される</a:t>
            </a:r>
            <a:endParaRPr sz="1700"/>
          </a:p>
        </p:txBody>
      </p:sp>
      <p:sp>
        <p:nvSpPr>
          <p:cNvPr id="30" name="Text 28">
            <a:extLst>
              <a:ext uri="{FF2B5EF4-FFF2-40B4-BE49-F238E27FC236}">
                <a16:creationId xmlns:a16="http://schemas.microsoft.com/office/drawing/2014/main" id="{523E0A9D-3240-49EE-A940-9BC4590A1448}"/>
              </a:ext>
            </a:extLst>
          </p:cNvPr>
          <p:cNvSpPr>
            <a:spLocks noGrp="1"/>
          </p:cNvSpPr>
          <p:nvPr/>
        </p:nvSpPr>
        <p:spPr>
          <a:xfrm>
            <a:off x="4983480" y="5065776"/>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設備投資・電池劣化・運転士費などは未反映。</a:t>
            </a:r>
            <a:endParaRPr sz="1500"/>
          </a:p>
        </p:txBody>
      </p:sp>
      <p:sp>
        <p:nvSpPr>
          <p:cNvPr id="31" name="Shape 29">
            <a:extLst>
              <a:ext uri="{FF2B5EF4-FFF2-40B4-BE49-F238E27FC236}">
                <a16:creationId xmlns:a16="http://schemas.microsoft.com/office/drawing/2014/main" id="{D2543A51-4000-45A9-B175-76D3D7E90C6E}"/>
              </a:ext>
            </a:extLst>
          </p:cNvPr>
          <p:cNvSpPr>
            <a:spLocks noGrp="1"/>
          </p:cNvSpPr>
          <p:nvPr/>
        </p:nvSpPr>
        <p:spPr>
          <a:xfrm>
            <a:off x="1234440" y="5989320"/>
            <a:ext cx="9692640" cy="365760"/>
          </a:xfrm>
          <a:prstGeom prst="roundRect">
            <a:avLst/>
          </a:prstGeom>
          <a:solidFill>
            <a:srgbClr val="FCECEC"/>
          </a:solidFill>
          <a:ln w="12700">
            <a:solidFill>
              <a:srgbClr val="C94C4C"/>
            </a:solidFill>
            <a:prstDash val="solid"/>
          </a:ln>
        </p:spPr>
        <p:txBody>
          <a:bodyPr/>
          <a:lstStyle/>
          <a:p>
            <a:endParaRPr/>
          </a:p>
        </p:txBody>
      </p:sp>
      <p:sp>
        <p:nvSpPr>
          <p:cNvPr id="32" name="Text 30">
            <a:extLst>
              <a:ext uri="{FF2B5EF4-FFF2-40B4-BE49-F238E27FC236}">
                <a16:creationId xmlns:a16="http://schemas.microsoft.com/office/drawing/2014/main" id="{3FFFAB70-8EA8-4273-A55E-1220E67A7092}"/>
              </a:ext>
            </a:extLst>
          </p:cNvPr>
          <p:cNvSpPr>
            <a:spLocks noGrp="1"/>
          </p:cNvSpPr>
          <p:nvPr/>
        </p:nvSpPr>
        <p:spPr>
          <a:xfrm>
            <a:off x="1417320" y="6062472"/>
            <a:ext cx="9326880" cy="219456"/>
          </a:xfrm>
          <a:prstGeom prst="rect">
            <a:avLst/>
          </a:prstGeom>
          <a:noFill/>
        </p:spPr>
        <p:txBody>
          <a:bodyPr wrap="square" lIns="0" tIns="0" rIns="0" bIns="0" anchor="ctr"/>
          <a:lstStyle/>
          <a:p>
            <a:pPr marL="0" indent="0" algn="ctr">
              <a:buNone/>
            </a:pPr>
            <a:r>
              <a:rPr sz="1650" b="1">
                <a:solidFill>
                  <a:srgbClr val="C94C4C"/>
                </a:solidFill>
                <a:latin typeface="Noto Sans CJK JP"/>
                <a:ea typeface="Noto Sans CJK JP"/>
                <a:cs typeface="Noto Sans CJK JP"/>
              </a:rPr>
              <a:t>先にSOC上限の契約修正・独立検証・再実験を行い、その後に比較する。</a:t>
            </a:r>
            <a:endParaRPr sz="1650"/>
          </a:p>
        </p:txBody>
      </p:sp>
      <p:sp>
        <p:nvSpPr>
          <p:cNvPr id="33" name="正方形/長方形 32">
            <a:extLst>
              <a:ext uri="{FF2B5EF4-FFF2-40B4-BE49-F238E27FC236}">
                <a16:creationId xmlns:a16="http://schemas.microsoft.com/office/drawing/2014/main" id="{AF889BA3-3D2D-4706-ADC8-A9C9F296862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0834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DEB6CE6-C1AD-4214-B821-F4190502F7A8}"/>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11月に向けた次の作業と、ご相談したいこと</a:t>
            </a:r>
            <a:endParaRPr sz="2550"/>
          </a:p>
        </p:txBody>
      </p:sp>
      <p:sp>
        <p:nvSpPr>
          <p:cNvPr id="3" name="Shape 1">
            <a:extLst>
              <a:ext uri="{FF2B5EF4-FFF2-40B4-BE49-F238E27FC236}">
                <a16:creationId xmlns:a16="http://schemas.microsoft.com/office/drawing/2014/main" id="{6357F63A-B967-4128-A559-F95205A82D1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B2F199B-9735-4F3D-B05F-AD206B1E9693}"/>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40D3FAF3-0B66-4A28-84B8-4D01CECE2D17}"/>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17/18</a:t>
            </a:r>
            <a:endParaRPr sz="850"/>
          </a:p>
        </p:txBody>
      </p:sp>
      <p:sp>
        <p:nvSpPr>
          <p:cNvPr id="6" name="Shape 4">
            <a:extLst>
              <a:ext uri="{FF2B5EF4-FFF2-40B4-BE49-F238E27FC236}">
                <a16:creationId xmlns:a16="http://schemas.microsoft.com/office/drawing/2014/main" id="{5BBE372A-2941-4FA5-B965-E90086F43802}"/>
              </a:ext>
            </a:extLst>
          </p:cNvPr>
          <p:cNvSpPr>
            <a:spLocks noGrp="1"/>
          </p:cNvSpPr>
          <p:nvPr/>
        </p:nvSpPr>
        <p:spPr>
          <a:xfrm>
            <a:off x="621792" y="1024128"/>
            <a:ext cx="5486400" cy="5257800"/>
          </a:xfrm>
          <a:prstGeom prst="roundRect">
            <a:avLst>
              <a:gd name="adj" fmla="val 1391"/>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7" name="Text 5">
            <a:extLst>
              <a:ext uri="{FF2B5EF4-FFF2-40B4-BE49-F238E27FC236}">
                <a16:creationId xmlns:a16="http://schemas.microsoft.com/office/drawing/2014/main" id="{BA6AB9EC-5A4C-4E44-B161-AC18504E65D1}"/>
              </a:ext>
            </a:extLst>
          </p:cNvPr>
          <p:cNvSpPr>
            <a:spLocks noGrp="1"/>
          </p:cNvSpPr>
          <p:nvPr/>
        </p:nvSpPr>
        <p:spPr>
          <a:xfrm>
            <a:off x="932688" y="1298448"/>
            <a:ext cx="2286000" cy="329184"/>
          </a:xfrm>
          <a:prstGeom prst="rect">
            <a:avLst/>
          </a:prstGeom>
          <a:noFill/>
        </p:spPr>
        <p:txBody>
          <a:bodyPr wrap="square" lIns="0" tIns="0" rIns="0" bIns="0" anchor="ctr"/>
          <a:lstStyle/>
          <a:p>
            <a:pPr marL="0" indent="0">
              <a:buNone/>
            </a:pPr>
            <a:r>
              <a:rPr sz="2100" b="1">
                <a:solidFill>
                  <a:srgbClr val="1F2A5A"/>
                </a:solidFill>
                <a:latin typeface="Noto Sans CJK JP"/>
                <a:ea typeface="Noto Sans CJK JP"/>
                <a:cs typeface="Noto Sans CJK JP"/>
              </a:rPr>
              <a:t>次に優先する作業</a:t>
            </a:r>
            <a:endParaRPr sz="2100"/>
          </a:p>
        </p:txBody>
      </p:sp>
      <p:sp>
        <p:nvSpPr>
          <p:cNvPr id="8" name="Shape 6">
            <a:extLst>
              <a:ext uri="{FF2B5EF4-FFF2-40B4-BE49-F238E27FC236}">
                <a16:creationId xmlns:a16="http://schemas.microsoft.com/office/drawing/2014/main" id="{D1EED8CF-60B6-476B-AB46-7643B586184F}"/>
              </a:ext>
            </a:extLst>
          </p:cNvPr>
          <p:cNvSpPr>
            <a:spLocks noGrp="1"/>
          </p:cNvSpPr>
          <p:nvPr/>
        </p:nvSpPr>
        <p:spPr>
          <a:xfrm>
            <a:off x="960120" y="1920240"/>
            <a:ext cx="438912" cy="438912"/>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A84D0BD6-689F-4F47-A122-AE7B55F86772}"/>
              </a:ext>
            </a:extLst>
          </p:cNvPr>
          <p:cNvSpPr>
            <a:spLocks noGrp="1"/>
          </p:cNvSpPr>
          <p:nvPr/>
        </p:nvSpPr>
        <p:spPr>
          <a:xfrm>
            <a:off x="960120" y="1883664"/>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1</a:t>
            </a:r>
            <a:endParaRPr sz="1500"/>
          </a:p>
        </p:txBody>
      </p:sp>
      <p:sp>
        <p:nvSpPr>
          <p:cNvPr id="10" name="Text 8">
            <a:extLst>
              <a:ext uri="{FF2B5EF4-FFF2-40B4-BE49-F238E27FC236}">
                <a16:creationId xmlns:a16="http://schemas.microsoft.com/office/drawing/2014/main" id="{55D0C3C8-690D-4A72-9CE8-8325614E412A}"/>
              </a:ext>
            </a:extLst>
          </p:cNvPr>
          <p:cNvSpPr>
            <a:spLocks noGrp="1"/>
          </p:cNvSpPr>
          <p:nvPr/>
        </p:nvSpPr>
        <p:spPr>
          <a:xfrm>
            <a:off x="1572768" y="1874520"/>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小規模比較</a:t>
            </a:r>
            <a:endParaRPr sz="1750"/>
          </a:p>
        </p:txBody>
      </p:sp>
      <p:sp>
        <p:nvSpPr>
          <p:cNvPr id="11" name="Text 9">
            <a:extLst>
              <a:ext uri="{FF2B5EF4-FFF2-40B4-BE49-F238E27FC236}">
                <a16:creationId xmlns:a16="http://schemas.microsoft.com/office/drawing/2014/main" id="{ED424846-D88F-4A56-A325-25EE05817CDF}"/>
              </a:ext>
            </a:extLst>
          </p:cNvPr>
          <p:cNvSpPr>
            <a:spLocks noGrp="1"/>
          </p:cNvSpPr>
          <p:nvPr/>
        </p:nvSpPr>
        <p:spPr>
          <a:xfrm>
            <a:off x="3063240" y="1856232"/>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8・12・24便で、現在方式と一体型の参照方法を比較</a:t>
            </a:r>
            <a:endParaRPr sz="1420"/>
          </a:p>
        </p:txBody>
      </p:sp>
      <p:sp>
        <p:nvSpPr>
          <p:cNvPr id="12" name="Shape 10">
            <a:extLst>
              <a:ext uri="{FF2B5EF4-FFF2-40B4-BE49-F238E27FC236}">
                <a16:creationId xmlns:a16="http://schemas.microsoft.com/office/drawing/2014/main" id="{81A4B74B-2BBE-4FCF-8F2C-6F7457A668D8}"/>
              </a:ext>
            </a:extLst>
          </p:cNvPr>
          <p:cNvSpPr>
            <a:spLocks noGrp="1"/>
          </p:cNvSpPr>
          <p:nvPr/>
        </p:nvSpPr>
        <p:spPr>
          <a:xfrm>
            <a:off x="960120" y="3035808"/>
            <a:ext cx="438912" cy="438912"/>
          </a:xfrm>
          <a:prstGeom prst="ellipse">
            <a:avLst/>
          </a:prstGeom>
          <a:solidFill>
            <a:srgbClr val="1F9D8A"/>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60D226EE-1B5C-48B4-89F8-91FA834B86FC}"/>
              </a:ext>
            </a:extLst>
          </p:cNvPr>
          <p:cNvSpPr>
            <a:spLocks noGrp="1"/>
          </p:cNvSpPr>
          <p:nvPr/>
        </p:nvSpPr>
        <p:spPr>
          <a:xfrm>
            <a:off x="960120" y="2999232"/>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2</a:t>
            </a:r>
            <a:endParaRPr sz="1500"/>
          </a:p>
        </p:txBody>
      </p:sp>
      <p:sp>
        <p:nvSpPr>
          <p:cNvPr id="14" name="Text 12">
            <a:extLst>
              <a:ext uri="{FF2B5EF4-FFF2-40B4-BE49-F238E27FC236}">
                <a16:creationId xmlns:a16="http://schemas.microsoft.com/office/drawing/2014/main" id="{0F34D315-55CD-46CD-B2D9-FC5FE31276CF}"/>
              </a:ext>
            </a:extLst>
          </p:cNvPr>
          <p:cNvSpPr>
            <a:spLocks noGrp="1"/>
          </p:cNvSpPr>
          <p:nvPr/>
        </p:nvSpPr>
        <p:spPr>
          <a:xfrm>
            <a:off x="1572768" y="2990088"/>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選択結果の安定性</a:t>
            </a:r>
            <a:endParaRPr sz="1750"/>
          </a:p>
        </p:txBody>
      </p:sp>
      <p:sp>
        <p:nvSpPr>
          <p:cNvPr id="15" name="Text 13">
            <a:extLst>
              <a:ext uri="{FF2B5EF4-FFF2-40B4-BE49-F238E27FC236}">
                <a16:creationId xmlns:a16="http://schemas.microsoft.com/office/drawing/2014/main" id="{A106F6D0-677F-43AF-8DD8-339603F05243}"/>
              </a:ext>
            </a:extLst>
          </p:cNvPr>
          <p:cNvSpPr>
            <a:spLocks noGrp="1"/>
          </p:cNvSpPr>
          <p:nvPr/>
        </p:nvSpPr>
        <p:spPr>
          <a:xfrm>
            <a:off x="3063240" y="2971800"/>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候補範囲と計算時間を分けて変え、最終配車の変化を確認</a:t>
            </a:r>
            <a:endParaRPr sz="1420"/>
          </a:p>
        </p:txBody>
      </p:sp>
      <p:sp>
        <p:nvSpPr>
          <p:cNvPr id="16" name="Shape 14">
            <a:extLst>
              <a:ext uri="{FF2B5EF4-FFF2-40B4-BE49-F238E27FC236}">
                <a16:creationId xmlns:a16="http://schemas.microsoft.com/office/drawing/2014/main" id="{0E4E46ED-0BE8-4604-B729-F9B325E0DA25}"/>
              </a:ext>
            </a:extLst>
          </p:cNvPr>
          <p:cNvSpPr>
            <a:spLocks noGrp="1"/>
          </p:cNvSpPr>
          <p:nvPr/>
        </p:nvSpPr>
        <p:spPr>
          <a:xfrm>
            <a:off x="960120" y="4151376"/>
            <a:ext cx="438912" cy="438912"/>
          </a:xfrm>
          <a:prstGeom prst="ellipse">
            <a:avLst/>
          </a:prstGeom>
          <a:solidFill>
            <a:srgbClr val="E7B34B"/>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3E1DA2BC-8D00-4DD1-8D3F-E3C696987A8A}"/>
              </a:ext>
            </a:extLst>
          </p:cNvPr>
          <p:cNvSpPr>
            <a:spLocks noGrp="1"/>
          </p:cNvSpPr>
          <p:nvPr/>
        </p:nvSpPr>
        <p:spPr>
          <a:xfrm>
            <a:off x="960120" y="4114800"/>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3</a:t>
            </a:r>
            <a:endParaRPr sz="1500"/>
          </a:p>
        </p:txBody>
      </p:sp>
      <p:sp>
        <p:nvSpPr>
          <p:cNvPr id="18" name="Text 16">
            <a:extLst>
              <a:ext uri="{FF2B5EF4-FFF2-40B4-BE49-F238E27FC236}">
                <a16:creationId xmlns:a16="http://schemas.microsoft.com/office/drawing/2014/main" id="{D9F1B793-518C-41C4-BD78-561427814F06}"/>
              </a:ext>
            </a:extLst>
          </p:cNvPr>
          <p:cNvSpPr>
            <a:spLocks noGrp="1"/>
          </p:cNvSpPr>
          <p:nvPr/>
        </p:nvSpPr>
        <p:spPr>
          <a:xfrm>
            <a:off x="1572768" y="4105656"/>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結果の固定</a:t>
            </a:r>
            <a:endParaRPr sz="1750"/>
          </a:p>
        </p:txBody>
      </p:sp>
      <p:sp>
        <p:nvSpPr>
          <p:cNvPr id="19" name="Text 17">
            <a:extLst>
              <a:ext uri="{FF2B5EF4-FFF2-40B4-BE49-F238E27FC236}">
                <a16:creationId xmlns:a16="http://schemas.microsoft.com/office/drawing/2014/main" id="{9D888B86-80C3-40F1-9119-BE6EAA292A9B}"/>
              </a:ext>
            </a:extLst>
          </p:cNvPr>
          <p:cNvSpPr>
            <a:spLocks noGrp="1"/>
          </p:cNvSpPr>
          <p:nvPr/>
        </p:nvSpPr>
        <p:spPr>
          <a:xfrm>
            <a:off x="3063240" y="4087368"/>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10月末までに図表・中間発表・大会原稿の内容を確定</a:t>
            </a:r>
            <a:endParaRPr sz="1420"/>
          </a:p>
        </p:txBody>
      </p:sp>
      <p:sp>
        <p:nvSpPr>
          <p:cNvPr id="20" name="Shape 18">
            <a:extLst>
              <a:ext uri="{FF2B5EF4-FFF2-40B4-BE49-F238E27FC236}">
                <a16:creationId xmlns:a16="http://schemas.microsoft.com/office/drawing/2014/main" id="{4C795923-2056-4948-99C6-D0B96A080365}"/>
              </a:ext>
            </a:extLst>
          </p:cNvPr>
          <p:cNvSpPr>
            <a:spLocks noGrp="1"/>
          </p:cNvSpPr>
          <p:nvPr/>
        </p:nvSpPr>
        <p:spPr>
          <a:xfrm>
            <a:off x="960120" y="5321808"/>
            <a:ext cx="4773168" cy="475488"/>
          </a:xfrm>
          <a:prstGeom prst="roundRect">
            <a:avLst/>
          </a:prstGeom>
          <a:solidFill>
            <a:srgbClr val="FFFFFF"/>
          </a:solidFill>
          <a:ln w="12700">
            <a:solidFill>
              <a:srgbClr val="356BB3"/>
            </a:solidFill>
            <a:prstDash val="solid"/>
          </a:ln>
        </p:spPr>
        <p:txBody>
          <a:bodyPr/>
          <a:lstStyle/>
          <a:p>
            <a:endParaRPr/>
          </a:p>
        </p:txBody>
      </p:sp>
      <p:sp>
        <p:nvSpPr>
          <p:cNvPr id="21" name="Text 19">
            <a:extLst>
              <a:ext uri="{FF2B5EF4-FFF2-40B4-BE49-F238E27FC236}">
                <a16:creationId xmlns:a16="http://schemas.microsoft.com/office/drawing/2014/main" id="{FB196CB0-15AF-4937-AD87-465664E7C746}"/>
              </a:ext>
            </a:extLst>
          </p:cNvPr>
          <p:cNvSpPr>
            <a:spLocks noGrp="1"/>
          </p:cNvSpPr>
          <p:nvPr/>
        </p:nvSpPr>
        <p:spPr>
          <a:xfrm>
            <a:off x="1188720" y="5431536"/>
            <a:ext cx="4315968" cy="246888"/>
          </a:xfrm>
          <a:prstGeom prst="rect">
            <a:avLst/>
          </a:prstGeom>
          <a:noFill/>
        </p:spPr>
        <p:txBody>
          <a:bodyPr wrap="square" lIns="0" tIns="0" rIns="0" bIns="0" anchor="ctr"/>
          <a:lstStyle/>
          <a:p>
            <a:pPr marL="0" indent="0" algn="ctr">
              <a:buNone/>
            </a:pPr>
            <a:r>
              <a:rPr sz="1450" b="1">
                <a:solidFill>
                  <a:srgbClr val="356BB3"/>
                </a:solidFill>
                <a:latin typeface="Noto Sans CJK JP"/>
                <a:ea typeface="Noto Sans CJK JP"/>
                <a:cs typeface="Noto Sans CJK JP"/>
              </a:rPr>
              <a:t>優先：SOC上限を修正し、独立検証後に新しいSHAで再実験する。</a:t>
            </a:r>
            <a:endParaRPr sz="1450"/>
          </a:p>
        </p:txBody>
      </p:sp>
      <p:sp>
        <p:nvSpPr>
          <p:cNvPr id="22" name="Shape 20">
            <a:extLst>
              <a:ext uri="{FF2B5EF4-FFF2-40B4-BE49-F238E27FC236}">
                <a16:creationId xmlns:a16="http://schemas.microsoft.com/office/drawing/2014/main" id="{3610F42D-1078-4F24-80D5-C3B2E080DFF3}"/>
              </a:ext>
            </a:extLst>
          </p:cNvPr>
          <p:cNvSpPr>
            <a:spLocks noGrp="1"/>
          </p:cNvSpPr>
          <p:nvPr/>
        </p:nvSpPr>
        <p:spPr>
          <a:xfrm>
            <a:off x="6355080" y="1024128"/>
            <a:ext cx="5212080" cy="5257800"/>
          </a:xfrm>
          <a:prstGeom prst="roundRect">
            <a:avLst>
              <a:gd name="adj" fmla="val 140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3" name="Text 21">
            <a:extLst>
              <a:ext uri="{FF2B5EF4-FFF2-40B4-BE49-F238E27FC236}">
                <a16:creationId xmlns:a16="http://schemas.microsoft.com/office/drawing/2014/main" id="{885FC72B-5A9D-49B4-9E5A-E67A3BC24CCE}"/>
              </a:ext>
            </a:extLst>
          </p:cNvPr>
          <p:cNvSpPr>
            <a:spLocks noGrp="1"/>
          </p:cNvSpPr>
          <p:nvPr/>
        </p:nvSpPr>
        <p:spPr>
          <a:xfrm>
            <a:off x="6656832" y="1298448"/>
            <a:ext cx="2834640" cy="329184"/>
          </a:xfrm>
          <a:prstGeom prst="rect">
            <a:avLst/>
          </a:prstGeom>
          <a:noFill/>
        </p:spPr>
        <p:txBody>
          <a:bodyPr wrap="square" lIns="0" tIns="0" rIns="0" bIns="0" anchor="ctr"/>
          <a:lstStyle/>
          <a:p>
            <a:pPr marL="0" indent="0">
              <a:buNone/>
            </a:pPr>
            <a:r>
              <a:rPr sz="2100" b="1">
                <a:solidFill>
                  <a:srgbClr val="172033"/>
                </a:solidFill>
                <a:latin typeface="Noto Sans CJK JP"/>
                <a:ea typeface="Noto Sans CJK JP"/>
                <a:cs typeface="Noto Sans CJK JP"/>
              </a:rPr>
              <a:t>指導教員に確認したい4点</a:t>
            </a:r>
            <a:endParaRPr sz="2100"/>
          </a:p>
        </p:txBody>
      </p:sp>
      <p:sp>
        <p:nvSpPr>
          <p:cNvPr id="24" name="Shape 22">
            <a:extLst>
              <a:ext uri="{FF2B5EF4-FFF2-40B4-BE49-F238E27FC236}">
                <a16:creationId xmlns:a16="http://schemas.microsoft.com/office/drawing/2014/main" id="{EB76536E-8FA5-4237-B17A-CA4B731B1B48}"/>
              </a:ext>
            </a:extLst>
          </p:cNvPr>
          <p:cNvSpPr>
            <a:spLocks noGrp="1"/>
          </p:cNvSpPr>
          <p:nvPr/>
        </p:nvSpPr>
        <p:spPr>
          <a:xfrm>
            <a:off x="6720840" y="1938528"/>
            <a:ext cx="347472" cy="347472"/>
          </a:xfrm>
          <a:prstGeom prst="ellipse">
            <a:avLst/>
          </a:prstGeom>
          <a:solidFill>
            <a:srgbClr val="1F2A5A"/>
          </a:solidFill>
          <a:ln w="12700">
            <a:solidFill>
              <a:srgbClr val="1F2A5A"/>
            </a:solidFill>
            <a:prstDash val="solid"/>
          </a:ln>
        </p:spPr>
        <p:txBody>
          <a:bodyPr/>
          <a:lstStyle/>
          <a:p>
            <a:endParaRPr/>
          </a:p>
        </p:txBody>
      </p:sp>
      <p:sp>
        <p:nvSpPr>
          <p:cNvPr id="25" name="Text 23">
            <a:extLst>
              <a:ext uri="{FF2B5EF4-FFF2-40B4-BE49-F238E27FC236}">
                <a16:creationId xmlns:a16="http://schemas.microsoft.com/office/drawing/2014/main" id="{4CD551EA-F386-42CD-9B25-EE78217CF243}"/>
              </a:ext>
            </a:extLst>
          </p:cNvPr>
          <p:cNvSpPr>
            <a:spLocks noGrp="1"/>
          </p:cNvSpPr>
          <p:nvPr/>
        </p:nvSpPr>
        <p:spPr>
          <a:xfrm>
            <a:off x="6720840" y="1911096"/>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1</a:t>
            </a:r>
            <a:endParaRPr sz="1250"/>
          </a:p>
        </p:txBody>
      </p:sp>
      <p:sp>
        <p:nvSpPr>
          <p:cNvPr id="26" name="Text 24">
            <a:extLst>
              <a:ext uri="{FF2B5EF4-FFF2-40B4-BE49-F238E27FC236}">
                <a16:creationId xmlns:a16="http://schemas.microsoft.com/office/drawing/2014/main" id="{DA9A471A-A79E-46CE-BCE9-EB1AA65FE30C}"/>
              </a:ext>
            </a:extLst>
          </p:cNvPr>
          <p:cNvSpPr>
            <a:spLocks noGrp="1"/>
          </p:cNvSpPr>
          <p:nvPr/>
        </p:nvSpPr>
        <p:spPr>
          <a:xfrm>
            <a:off x="7269480" y="1920240"/>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全国大会は小規模比較を中心にしてよいか</a:t>
            </a:r>
            <a:endParaRPr sz="1520"/>
          </a:p>
        </p:txBody>
      </p:sp>
      <p:sp>
        <p:nvSpPr>
          <p:cNvPr id="27" name="Shape 25">
            <a:extLst>
              <a:ext uri="{FF2B5EF4-FFF2-40B4-BE49-F238E27FC236}">
                <a16:creationId xmlns:a16="http://schemas.microsoft.com/office/drawing/2014/main" id="{B7F9A9A2-1DB8-4989-9FD2-BE51CE5B0A86}"/>
              </a:ext>
            </a:extLst>
          </p:cNvPr>
          <p:cNvSpPr>
            <a:spLocks noGrp="1"/>
          </p:cNvSpPr>
          <p:nvPr/>
        </p:nvSpPr>
        <p:spPr>
          <a:xfrm>
            <a:off x="6720840" y="2697480"/>
            <a:ext cx="347472" cy="347472"/>
          </a:xfrm>
          <a:prstGeom prst="ellipse">
            <a:avLst/>
          </a:prstGeom>
          <a:solidFill>
            <a:srgbClr val="1F2A5A"/>
          </a:solidFill>
          <a:ln w="12700">
            <a:solidFill>
              <a:srgbClr val="1F2A5A"/>
            </a:solidFill>
            <a:prstDash val="solid"/>
          </a:ln>
        </p:spPr>
        <p:txBody>
          <a:bodyPr/>
          <a:lstStyle/>
          <a:p>
            <a:endParaRPr/>
          </a:p>
        </p:txBody>
      </p:sp>
      <p:sp>
        <p:nvSpPr>
          <p:cNvPr id="28" name="Text 26">
            <a:extLst>
              <a:ext uri="{FF2B5EF4-FFF2-40B4-BE49-F238E27FC236}">
                <a16:creationId xmlns:a16="http://schemas.microsoft.com/office/drawing/2014/main" id="{E0B859A1-A4EB-4033-818D-87625BADFACE}"/>
              </a:ext>
            </a:extLst>
          </p:cNvPr>
          <p:cNvSpPr>
            <a:spLocks noGrp="1"/>
          </p:cNvSpPr>
          <p:nvPr/>
        </p:nvSpPr>
        <p:spPr>
          <a:xfrm>
            <a:off x="6720840" y="2670048"/>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2</a:t>
            </a:r>
            <a:endParaRPr sz="1250"/>
          </a:p>
        </p:txBody>
      </p:sp>
      <p:sp>
        <p:nvSpPr>
          <p:cNvPr id="29" name="Text 27">
            <a:extLst>
              <a:ext uri="{FF2B5EF4-FFF2-40B4-BE49-F238E27FC236}">
                <a16:creationId xmlns:a16="http://schemas.microsoft.com/office/drawing/2014/main" id="{EDEB31D4-F1D8-4F4F-B281-B1288BBF4D89}"/>
              </a:ext>
            </a:extLst>
          </p:cNvPr>
          <p:cNvSpPr>
            <a:spLocks noGrp="1"/>
          </p:cNvSpPr>
          <p:nvPr/>
        </p:nvSpPr>
        <p:spPr>
          <a:xfrm>
            <a:off x="7269480" y="2679192"/>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SOC上限の修正・再検証を最優先としてよいか</a:t>
            </a:r>
            <a:endParaRPr sz="1520"/>
          </a:p>
        </p:txBody>
      </p:sp>
      <p:sp>
        <p:nvSpPr>
          <p:cNvPr id="30" name="Shape 28">
            <a:extLst>
              <a:ext uri="{FF2B5EF4-FFF2-40B4-BE49-F238E27FC236}">
                <a16:creationId xmlns:a16="http://schemas.microsoft.com/office/drawing/2014/main" id="{F508137F-64CD-4DC5-B17E-687A6374195B}"/>
              </a:ext>
            </a:extLst>
          </p:cNvPr>
          <p:cNvSpPr>
            <a:spLocks noGrp="1"/>
          </p:cNvSpPr>
          <p:nvPr/>
        </p:nvSpPr>
        <p:spPr>
          <a:xfrm>
            <a:off x="6720840" y="3456432"/>
            <a:ext cx="347472" cy="347472"/>
          </a:xfrm>
          <a:prstGeom prst="ellipse">
            <a:avLst/>
          </a:prstGeom>
          <a:solidFill>
            <a:srgbClr val="1F2A5A"/>
          </a:solidFill>
          <a:ln w="12700">
            <a:solidFill>
              <a:srgbClr val="1F2A5A"/>
            </a:solidFill>
            <a:prstDash val="solid"/>
          </a:ln>
        </p:spPr>
        <p:txBody>
          <a:bodyPr/>
          <a:lstStyle/>
          <a:p>
            <a:endParaRPr/>
          </a:p>
        </p:txBody>
      </p:sp>
      <p:sp>
        <p:nvSpPr>
          <p:cNvPr id="31" name="Text 29">
            <a:extLst>
              <a:ext uri="{FF2B5EF4-FFF2-40B4-BE49-F238E27FC236}">
                <a16:creationId xmlns:a16="http://schemas.microsoft.com/office/drawing/2014/main" id="{116AE69B-30EB-4FE6-A70F-83D844F382C1}"/>
              </a:ext>
            </a:extLst>
          </p:cNvPr>
          <p:cNvSpPr>
            <a:spLocks noGrp="1"/>
          </p:cNvSpPr>
          <p:nvPr/>
        </p:nvSpPr>
        <p:spPr>
          <a:xfrm>
            <a:off x="6720840" y="3429000"/>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3</a:t>
            </a:r>
            <a:endParaRPr sz="1250"/>
          </a:p>
        </p:txBody>
      </p:sp>
      <p:sp>
        <p:nvSpPr>
          <p:cNvPr id="32" name="Text 30">
            <a:extLst>
              <a:ext uri="{FF2B5EF4-FFF2-40B4-BE49-F238E27FC236}">
                <a16:creationId xmlns:a16="http://schemas.microsoft.com/office/drawing/2014/main" id="{ACC34AB2-A35B-434C-BFC3-FDA1D048A698}"/>
              </a:ext>
            </a:extLst>
          </p:cNvPr>
          <p:cNvSpPr>
            <a:spLocks noGrp="1"/>
          </p:cNvSpPr>
          <p:nvPr/>
        </p:nvSpPr>
        <p:spPr>
          <a:xfrm>
            <a:off x="7269480" y="3438144"/>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低PV側の候補差をどこまで追加確認するか</a:t>
            </a:r>
            <a:endParaRPr sz="1520"/>
          </a:p>
        </p:txBody>
      </p:sp>
      <p:sp>
        <p:nvSpPr>
          <p:cNvPr id="33" name="Shape 31">
            <a:extLst>
              <a:ext uri="{FF2B5EF4-FFF2-40B4-BE49-F238E27FC236}">
                <a16:creationId xmlns:a16="http://schemas.microsoft.com/office/drawing/2014/main" id="{FAE9040B-57EE-4844-BE15-880495BB53E2}"/>
              </a:ext>
            </a:extLst>
          </p:cNvPr>
          <p:cNvSpPr>
            <a:spLocks noGrp="1"/>
          </p:cNvSpPr>
          <p:nvPr/>
        </p:nvSpPr>
        <p:spPr>
          <a:xfrm>
            <a:off x="6720840" y="4215384"/>
            <a:ext cx="347472" cy="347472"/>
          </a:xfrm>
          <a:prstGeom prst="ellipse">
            <a:avLst/>
          </a:prstGeom>
          <a:solidFill>
            <a:srgbClr val="1F2A5A"/>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3BA5DB8C-8C24-493F-B56B-5FB3EDCEA081}"/>
              </a:ext>
            </a:extLst>
          </p:cNvPr>
          <p:cNvSpPr>
            <a:spLocks noGrp="1"/>
          </p:cNvSpPr>
          <p:nvPr/>
        </p:nvSpPr>
        <p:spPr>
          <a:xfrm>
            <a:off x="6720840" y="4187952"/>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4</a:t>
            </a:r>
            <a:endParaRPr sz="1250"/>
          </a:p>
        </p:txBody>
      </p:sp>
      <p:sp>
        <p:nvSpPr>
          <p:cNvPr id="35" name="Text 33">
            <a:extLst>
              <a:ext uri="{FF2B5EF4-FFF2-40B4-BE49-F238E27FC236}">
                <a16:creationId xmlns:a16="http://schemas.microsoft.com/office/drawing/2014/main" id="{DBB7583F-60CF-44D3-BE97-FF03799A0226}"/>
              </a:ext>
            </a:extLst>
          </p:cNvPr>
          <p:cNvSpPr>
            <a:spLocks noGrp="1"/>
          </p:cNvSpPr>
          <p:nvPr/>
        </p:nvSpPr>
        <p:spPr>
          <a:xfrm>
            <a:off x="7269480" y="4197096"/>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設備費・劣化費なしの費用範囲で発表してよいか</a:t>
            </a:r>
            <a:endParaRPr sz="1520"/>
          </a:p>
        </p:txBody>
      </p:sp>
      <p:sp>
        <p:nvSpPr>
          <p:cNvPr id="36" name="Shape 34">
            <a:extLst>
              <a:ext uri="{FF2B5EF4-FFF2-40B4-BE49-F238E27FC236}">
                <a16:creationId xmlns:a16="http://schemas.microsoft.com/office/drawing/2014/main" id="{2D17D8FB-4F14-4D1E-8F4E-16F073F639DE}"/>
              </a:ext>
            </a:extLst>
          </p:cNvPr>
          <p:cNvSpPr>
            <a:spLocks noGrp="1"/>
          </p:cNvSpPr>
          <p:nvPr/>
        </p:nvSpPr>
        <p:spPr>
          <a:xfrm>
            <a:off x="6720840" y="5257800"/>
            <a:ext cx="4434840" cy="566928"/>
          </a:xfrm>
          <a:prstGeom prst="roundRect">
            <a:avLst/>
          </a:prstGeom>
          <a:solidFill>
            <a:srgbClr val="E8F6F3"/>
          </a:solidFill>
          <a:ln w="12700">
            <a:solidFill>
              <a:srgbClr val="1F9D8A"/>
            </a:solidFill>
            <a:prstDash val="solid"/>
          </a:ln>
        </p:spPr>
        <p:txBody>
          <a:bodyPr/>
          <a:lstStyle/>
          <a:p>
            <a:endParaRPr/>
          </a:p>
        </p:txBody>
      </p:sp>
      <p:sp>
        <p:nvSpPr>
          <p:cNvPr id="37" name="Text 35">
            <a:extLst>
              <a:ext uri="{FF2B5EF4-FFF2-40B4-BE49-F238E27FC236}">
                <a16:creationId xmlns:a16="http://schemas.microsoft.com/office/drawing/2014/main" id="{D47D9357-891D-467B-9882-8C78F73C3079}"/>
              </a:ext>
            </a:extLst>
          </p:cNvPr>
          <p:cNvSpPr>
            <a:spLocks noGrp="1"/>
          </p:cNvSpPr>
          <p:nvPr/>
        </p:nvSpPr>
        <p:spPr>
          <a:xfrm>
            <a:off x="6931152" y="5358384"/>
            <a:ext cx="4005072" cy="347472"/>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現状：2条件の保存結果にSOC上限の不一致を確認。</a:t>
            </a:r>
            <a:endParaRPr sz="1350"/>
          </a:p>
          <a:p>
            <a:pPr marL="0" indent="0" algn="ctr">
              <a:buNone/>
            </a:pPr>
            <a:r>
              <a:rPr sz="1350" b="1">
                <a:solidFill>
                  <a:srgbClr val="1F9D8A"/>
                </a:solidFill>
                <a:latin typeface="Noto Sans CJK JP"/>
                <a:ea typeface="Noto Sans CJK JP"/>
                <a:cs typeface="Noto Sans CJK JP"/>
              </a:rPr>
              <a:t>数値は診断用。研究結論には使用しない。</a:t>
            </a:r>
            <a:endParaRPr sz="1350"/>
          </a:p>
        </p:txBody>
      </p:sp>
      <p:sp>
        <p:nvSpPr>
          <p:cNvPr id="38" name="正方形/長方形 37">
            <a:extLst>
              <a:ext uri="{FF2B5EF4-FFF2-40B4-BE49-F238E27FC236}">
                <a16:creationId xmlns:a16="http://schemas.microsoft.com/office/drawing/2014/main" id="{220E7C76-7740-477E-9571-2B72EC3AE9B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6708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8737D2-1382-4A99-9206-D72927AAC01E}"/>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参考にした先行研究</a:t>
            </a:r>
            <a:endParaRPr sz="2550"/>
          </a:p>
        </p:txBody>
      </p:sp>
      <p:sp>
        <p:nvSpPr>
          <p:cNvPr id="3" name="Shape 1">
            <a:extLst>
              <a:ext uri="{FF2B5EF4-FFF2-40B4-BE49-F238E27FC236}">
                <a16:creationId xmlns:a16="http://schemas.microsoft.com/office/drawing/2014/main" id="{F7FA09FE-1F13-4B33-A227-C97452C9EE2F}"/>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7BADA38-0D24-42FA-9631-A552FECD16E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進捗報告（参考）</a:t>
            </a:r>
            <a:endParaRPr sz="850"/>
          </a:p>
        </p:txBody>
      </p:sp>
      <p:sp>
        <p:nvSpPr>
          <p:cNvPr id="5" name="Text 3">
            <a:extLst>
              <a:ext uri="{FF2B5EF4-FFF2-40B4-BE49-F238E27FC236}">
                <a16:creationId xmlns:a16="http://schemas.microsoft.com/office/drawing/2014/main" id="{41A07E7E-6F6E-4093-9F5B-7C8A84270EE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18/18</a:t>
            </a:r>
            <a:endParaRPr sz="850"/>
          </a:p>
        </p:txBody>
      </p:sp>
      <p:sp>
        <p:nvSpPr>
          <p:cNvPr id="6" name="Shape 4">
            <a:extLst>
              <a:ext uri="{FF2B5EF4-FFF2-40B4-BE49-F238E27FC236}">
                <a16:creationId xmlns:a16="http://schemas.microsoft.com/office/drawing/2014/main" id="{1640C39C-79AA-492C-AC41-8B134ED004AE}"/>
              </a:ext>
            </a:extLst>
          </p:cNvPr>
          <p:cNvSpPr>
            <a:spLocks noGrp="1"/>
          </p:cNvSpPr>
          <p:nvPr/>
        </p:nvSpPr>
        <p:spPr>
          <a:xfrm>
            <a:off x="640080" y="941832"/>
            <a:ext cx="10927080" cy="694944"/>
          </a:xfrm>
          <a:prstGeom prst="rect">
            <a:avLst/>
          </a:prstGeom>
          <a:solidFill>
            <a:srgbClr val="F8FAFC"/>
          </a:solidFill>
          <a:ln w="12700">
            <a:solidFill>
              <a:srgbClr val="F8FAFC"/>
            </a:solidFill>
            <a:prstDash val="solid"/>
          </a:ln>
        </p:spPr>
        <p:txBody>
          <a:bodyPr/>
          <a:lstStyle/>
          <a:p>
            <a:endParaRPr/>
          </a:p>
        </p:txBody>
      </p:sp>
      <p:sp>
        <p:nvSpPr>
          <p:cNvPr id="7" name="Text 5">
            <a:extLst>
              <a:ext uri="{FF2B5EF4-FFF2-40B4-BE49-F238E27FC236}">
                <a16:creationId xmlns:a16="http://schemas.microsoft.com/office/drawing/2014/main" id="{8DE19BA3-CBFF-4035-916E-7CBCFFE8C19C}"/>
              </a:ext>
            </a:extLst>
          </p:cNvPr>
          <p:cNvSpPr>
            <a:spLocks noGrp="1"/>
          </p:cNvSpPr>
          <p:nvPr/>
        </p:nvSpPr>
        <p:spPr>
          <a:xfrm>
            <a:off x="804672" y="98755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[1]</a:t>
            </a:r>
            <a:endParaRPr sz="1300"/>
          </a:p>
        </p:txBody>
      </p:sp>
      <p:sp>
        <p:nvSpPr>
          <p:cNvPr id="8" name="Text 6">
            <a:extLst>
              <a:ext uri="{FF2B5EF4-FFF2-40B4-BE49-F238E27FC236}">
                <a16:creationId xmlns:a16="http://schemas.microsoft.com/office/drawing/2014/main" id="{3C5B0F1E-2079-4F8C-9A02-BB0C7E9741FF}"/>
              </a:ext>
            </a:extLst>
          </p:cNvPr>
          <p:cNvSpPr>
            <a:spLocks noGrp="1"/>
          </p:cNvSpPr>
          <p:nvPr/>
        </p:nvSpPr>
        <p:spPr>
          <a:xfrm>
            <a:off x="1261872" y="98755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Fei, F. et al.</a:t>
            </a:r>
            <a:endParaRPr sz="1300"/>
          </a:p>
        </p:txBody>
      </p:sp>
      <p:sp>
        <p:nvSpPr>
          <p:cNvPr id="9" name="Text 7">
            <a:extLst>
              <a:ext uri="{FF2B5EF4-FFF2-40B4-BE49-F238E27FC236}">
                <a16:creationId xmlns:a16="http://schemas.microsoft.com/office/drawing/2014/main" id="{FA83ED0E-4146-4D08-9FF8-41068084AA11}"/>
              </a:ext>
            </a:extLst>
          </p:cNvPr>
          <p:cNvSpPr>
            <a:spLocks noGrp="1"/>
          </p:cNvSpPr>
          <p:nvPr/>
        </p:nvSpPr>
        <p:spPr>
          <a:xfrm>
            <a:off x="2880360" y="96926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Exploring the profitability of using electric bus fleets for transport and power grid services</a:t>
            </a:r>
            <a:endParaRPr sz="1220"/>
          </a:p>
        </p:txBody>
      </p:sp>
      <p:sp>
        <p:nvSpPr>
          <p:cNvPr id="10" name="Text 8">
            <a:extLst>
              <a:ext uri="{FF2B5EF4-FFF2-40B4-BE49-F238E27FC236}">
                <a16:creationId xmlns:a16="http://schemas.microsoft.com/office/drawing/2014/main" id="{C3CDFA5B-DD2D-4C77-AEEA-9607135D72B0}"/>
              </a:ext>
            </a:extLst>
          </p:cNvPr>
          <p:cNvSpPr>
            <a:spLocks noGrp="1"/>
          </p:cNvSpPr>
          <p:nvPr/>
        </p:nvSpPr>
        <p:spPr>
          <a:xfrm>
            <a:off x="8942832" y="97840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C, 149, 104060, 2023</a:t>
            </a:r>
            <a:endParaRPr sz="1080"/>
          </a:p>
        </p:txBody>
      </p:sp>
      <p:sp>
        <p:nvSpPr>
          <p:cNvPr id="11" name="Text 9">
            <a:extLst>
              <a:ext uri="{FF2B5EF4-FFF2-40B4-BE49-F238E27FC236}">
                <a16:creationId xmlns:a16="http://schemas.microsoft.com/office/drawing/2014/main" id="{EA9C5CD7-BC48-4903-9415-41C352562841}"/>
              </a:ext>
            </a:extLst>
          </p:cNvPr>
          <p:cNvSpPr>
            <a:spLocks noGrp="1"/>
          </p:cNvSpPr>
          <p:nvPr/>
        </p:nvSpPr>
        <p:spPr>
          <a:xfrm>
            <a:off x="804672" y="1783080"/>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[2]</a:t>
            </a:r>
            <a:endParaRPr sz="1300"/>
          </a:p>
        </p:txBody>
      </p:sp>
      <p:sp>
        <p:nvSpPr>
          <p:cNvPr id="12" name="Text 10">
            <a:extLst>
              <a:ext uri="{FF2B5EF4-FFF2-40B4-BE49-F238E27FC236}">
                <a16:creationId xmlns:a16="http://schemas.microsoft.com/office/drawing/2014/main" id="{EA4F402A-E80E-4A81-9A23-CE39D4AC50E8}"/>
              </a:ext>
            </a:extLst>
          </p:cNvPr>
          <p:cNvSpPr>
            <a:spLocks noGrp="1"/>
          </p:cNvSpPr>
          <p:nvPr/>
        </p:nvSpPr>
        <p:spPr>
          <a:xfrm>
            <a:off x="1261872" y="1783080"/>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Najafi, A. et al.</a:t>
            </a:r>
            <a:endParaRPr sz="1300"/>
          </a:p>
        </p:txBody>
      </p:sp>
      <p:sp>
        <p:nvSpPr>
          <p:cNvPr id="13" name="Text 11">
            <a:extLst>
              <a:ext uri="{FF2B5EF4-FFF2-40B4-BE49-F238E27FC236}">
                <a16:creationId xmlns:a16="http://schemas.microsoft.com/office/drawing/2014/main" id="{21077379-CEFD-41E0-A096-06A1864E3176}"/>
              </a:ext>
            </a:extLst>
          </p:cNvPr>
          <p:cNvSpPr>
            <a:spLocks noGrp="1"/>
          </p:cNvSpPr>
          <p:nvPr/>
        </p:nvSpPr>
        <p:spPr>
          <a:xfrm>
            <a:off x="2880360" y="1764792"/>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Integrated optimization of charging infrastructure, electric bus scheduling and energy systems</a:t>
            </a:r>
            <a:endParaRPr sz="1220"/>
          </a:p>
        </p:txBody>
      </p:sp>
      <p:sp>
        <p:nvSpPr>
          <p:cNvPr id="14" name="Text 12">
            <a:extLst>
              <a:ext uri="{FF2B5EF4-FFF2-40B4-BE49-F238E27FC236}">
                <a16:creationId xmlns:a16="http://schemas.microsoft.com/office/drawing/2014/main" id="{F19AFFA2-1352-4497-9D6D-DAEF19D4BF46}"/>
              </a:ext>
            </a:extLst>
          </p:cNvPr>
          <p:cNvSpPr>
            <a:spLocks noGrp="1"/>
          </p:cNvSpPr>
          <p:nvPr/>
        </p:nvSpPr>
        <p:spPr>
          <a:xfrm>
            <a:off x="8942832" y="1773936"/>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141, 104664, 2025</a:t>
            </a:r>
            <a:endParaRPr sz="1080"/>
          </a:p>
        </p:txBody>
      </p:sp>
      <p:sp>
        <p:nvSpPr>
          <p:cNvPr id="15" name="Shape 13">
            <a:extLst>
              <a:ext uri="{FF2B5EF4-FFF2-40B4-BE49-F238E27FC236}">
                <a16:creationId xmlns:a16="http://schemas.microsoft.com/office/drawing/2014/main" id="{594FC5B8-B0BA-476C-B8AE-89F172DBECD4}"/>
              </a:ext>
            </a:extLst>
          </p:cNvPr>
          <p:cNvSpPr>
            <a:spLocks noGrp="1"/>
          </p:cNvSpPr>
          <p:nvPr/>
        </p:nvSpPr>
        <p:spPr>
          <a:xfrm>
            <a:off x="640080" y="2532888"/>
            <a:ext cx="10927080" cy="694944"/>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D0539F84-1A52-4948-A7B1-7F3EE95C5CE8}"/>
              </a:ext>
            </a:extLst>
          </p:cNvPr>
          <p:cNvSpPr>
            <a:spLocks noGrp="1"/>
          </p:cNvSpPr>
          <p:nvPr/>
        </p:nvSpPr>
        <p:spPr>
          <a:xfrm>
            <a:off x="804672" y="2578608"/>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[3]</a:t>
            </a:r>
            <a:endParaRPr sz="1300"/>
          </a:p>
        </p:txBody>
      </p:sp>
      <p:sp>
        <p:nvSpPr>
          <p:cNvPr id="17" name="Text 15">
            <a:extLst>
              <a:ext uri="{FF2B5EF4-FFF2-40B4-BE49-F238E27FC236}">
                <a16:creationId xmlns:a16="http://schemas.microsoft.com/office/drawing/2014/main" id="{CFE58BB1-4162-428C-8DCE-F1B77DE51654}"/>
              </a:ext>
            </a:extLst>
          </p:cNvPr>
          <p:cNvSpPr>
            <a:spLocks noGrp="1"/>
          </p:cNvSpPr>
          <p:nvPr/>
        </p:nvSpPr>
        <p:spPr>
          <a:xfrm>
            <a:off x="1261872" y="2578608"/>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M. et al.</a:t>
            </a:r>
            <a:endParaRPr sz="1300"/>
          </a:p>
        </p:txBody>
      </p:sp>
      <p:sp>
        <p:nvSpPr>
          <p:cNvPr id="18" name="Text 16">
            <a:extLst>
              <a:ext uri="{FF2B5EF4-FFF2-40B4-BE49-F238E27FC236}">
                <a16:creationId xmlns:a16="http://schemas.microsoft.com/office/drawing/2014/main" id="{3451FC09-10AB-4EFF-836E-22C730C300E9}"/>
              </a:ext>
            </a:extLst>
          </p:cNvPr>
          <p:cNvSpPr>
            <a:spLocks noGrp="1"/>
          </p:cNvSpPr>
          <p:nvPr/>
        </p:nvSpPr>
        <p:spPr>
          <a:xfrm>
            <a:off x="2880360" y="2560320"/>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Optimal Electric Bus Charging Scheduling with Multiple Vehicle and Charger Types Considering Compatibility</a:t>
            </a:r>
            <a:endParaRPr sz="1220"/>
          </a:p>
        </p:txBody>
      </p:sp>
      <p:sp>
        <p:nvSpPr>
          <p:cNvPr id="19" name="Text 17">
            <a:extLst>
              <a:ext uri="{FF2B5EF4-FFF2-40B4-BE49-F238E27FC236}">
                <a16:creationId xmlns:a16="http://schemas.microsoft.com/office/drawing/2014/main" id="{55CA32C7-295F-4C7E-96DC-73D6D5757D07}"/>
              </a:ext>
            </a:extLst>
          </p:cNvPr>
          <p:cNvSpPr>
            <a:spLocks noGrp="1"/>
          </p:cNvSpPr>
          <p:nvPr/>
        </p:nvSpPr>
        <p:spPr>
          <a:xfrm>
            <a:off x="8942832" y="2569464"/>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2025</a:t>
            </a:r>
            <a:endParaRPr sz="1080"/>
          </a:p>
        </p:txBody>
      </p:sp>
      <p:sp>
        <p:nvSpPr>
          <p:cNvPr id="20" name="Text 18">
            <a:extLst>
              <a:ext uri="{FF2B5EF4-FFF2-40B4-BE49-F238E27FC236}">
                <a16:creationId xmlns:a16="http://schemas.microsoft.com/office/drawing/2014/main" id="{B910187C-115A-4366-98D2-20E628F8A2CC}"/>
              </a:ext>
            </a:extLst>
          </p:cNvPr>
          <p:cNvSpPr>
            <a:spLocks noGrp="1"/>
          </p:cNvSpPr>
          <p:nvPr/>
        </p:nvSpPr>
        <p:spPr>
          <a:xfrm>
            <a:off x="804672" y="3374136"/>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[4]</a:t>
            </a:r>
            <a:endParaRPr sz="1300"/>
          </a:p>
        </p:txBody>
      </p:sp>
      <p:sp>
        <p:nvSpPr>
          <p:cNvPr id="21" name="Text 19">
            <a:extLst>
              <a:ext uri="{FF2B5EF4-FFF2-40B4-BE49-F238E27FC236}">
                <a16:creationId xmlns:a16="http://schemas.microsoft.com/office/drawing/2014/main" id="{D5A3DAC9-F037-4194-BA2E-C3BA25676A60}"/>
              </a:ext>
            </a:extLst>
          </p:cNvPr>
          <p:cNvSpPr>
            <a:spLocks noGrp="1"/>
          </p:cNvSpPr>
          <p:nvPr/>
        </p:nvSpPr>
        <p:spPr>
          <a:xfrm>
            <a:off x="1261872" y="3374136"/>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He, J. et al.</a:t>
            </a:r>
            <a:endParaRPr sz="1300"/>
          </a:p>
        </p:txBody>
      </p:sp>
      <p:sp>
        <p:nvSpPr>
          <p:cNvPr id="22" name="Text 20">
            <a:extLst>
              <a:ext uri="{FF2B5EF4-FFF2-40B4-BE49-F238E27FC236}">
                <a16:creationId xmlns:a16="http://schemas.microsoft.com/office/drawing/2014/main" id="{8C6FED8A-BC37-4534-8025-ACA95A87136A}"/>
              </a:ext>
            </a:extLst>
          </p:cNvPr>
          <p:cNvSpPr>
            <a:spLocks noGrp="1"/>
          </p:cNvSpPr>
          <p:nvPr/>
        </p:nvSpPr>
        <p:spPr>
          <a:xfrm>
            <a:off x="2880360" y="3355848"/>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Battery electricity bus charging schedule considering bus journey’s energy consumption estimation</a:t>
            </a:r>
            <a:endParaRPr sz="1220"/>
          </a:p>
        </p:txBody>
      </p:sp>
      <p:sp>
        <p:nvSpPr>
          <p:cNvPr id="23" name="Text 21">
            <a:extLst>
              <a:ext uri="{FF2B5EF4-FFF2-40B4-BE49-F238E27FC236}">
                <a16:creationId xmlns:a16="http://schemas.microsoft.com/office/drawing/2014/main" id="{3DDA8E7E-96D6-4D3C-8A6D-7ED3A255EF90}"/>
              </a:ext>
            </a:extLst>
          </p:cNvPr>
          <p:cNvSpPr>
            <a:spLocks noGrp="1"/>
          </p:cNvSpPr>
          <p:nvPr/>
        </p:nvSpPr>
        <p:spPr>
          <a:xfrm>
            <a:off x="8942832" y="3364992"/>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115, 103587, 2023</a:t>
            </a:r>
            <a:endParaRPr sz="1080"/>
          </a:p>
        </p:txBody>
      </p:sp>
      <p:sp>
        <p:nvSpPr>
          <p:cNvPr id="24" name="Shape 22">
            <a:extLst>
              <a:ext uri="{FF2B5EF4-FFF2-40B4-BE49-F238E27FC236}">
                <a16:creationId xmlns:a16="http://schemas.microsoft.com/office/drawing/2014/main" id="{440A58C1-4442-4331-879D-7A8ABEBA8C76}"/>
              </a:ext>
            </a:extLst>
          </p:cNvPr>
          <p:cNvSpPr>
            <a:spLocks noGrp="1"/>
          </p:cNvSpPr>
          <p:nvPr/>
        </p:nvSpPr>
        <p:spPr>
          <a:xfrm>
            <a:off x="640080" y="4123944"/>
            <a:ext cx="10927080" cy="694944"/>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2558099B-AA46-4BE9-AAB2-76C804CE25EF}"/>
              </a:ext>
            </a:extLst>
          </p:cNvPr>
          <p:cNvSpPr>
            <a:spLocks noGrp="1"/>
          </p:cNvSpPr>
          <p:nvPr/>
        </p:nvSpPr>
        <p:spPr>
          <a:xfrm>
            <a:off x="804672" y="4169664"/>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[5]</a:t>
            </a:r>
            <a:endParaRPr sz="1300"/>
          </a:p>
        </p:txBody>
      </p:sp>
      <p:sp>
        <p:nvSpPr>
          <p:cNvPr id="26" name="Text 24">
            <a:extLst>
              <a:ext uri="{FF2B5EF4-FFF2-40B4-BE49-F238E27FC236}">
                <a16:creationId xmlns:a16="http://schemas.microsoft.com/office/drawing/2014/main" id="{A7B208E4-3D2A-4540-B4A2-E63E4EB99385}"/>
              </a:ext>
            </a:extLst>
          </p:cNvPr>
          <p:cNvSpPr>
            <a:spLocks noGrp="1"/>
          </p:cNvSpPr>
          <p:nvPr/>
        </p:nvSpPr>
        <p:spPr>
          <a:xfrm>
            <a:off x="1261872" y="4169664"/>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Z. et al.</a:t>
            </a:r>
            <a:endParaRPr sz="1300"/>
          </a:p>
        </p:txBody>
      </p:sp>
      <p:sp>
        <p:nvSpPr>
          <p:cNvPr id="27" name="Text 25">
            <a:extLst>
              <a:ext uri="{FF2B5EF4-FFF2-40B4-BE49-F238E27FC236}">
                <a16:creationId xmlns:a16="http://schemas.microsoft.com/office/drawing/2014/main" id="{E76A7628-9B8A-4D1A-98B7-4ACECAB71480}"/>
              </a:ext>
            </a:extLst>
          </p:cNvPr>
          <p:cNvSpPr>
            <a:spLocks noGrp="1"/>
          </p:cNvSpPr>
          <p:nvPr/>
        </p:nvSpPr>
        <p:spPr>
          <a:xfrm>
            <a:off x="2880360" y="4151376"/>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Analysis and estimation of energy consumption of electric buses using real-world data</a:t>
            </a:r>
            <a:endParaRPr sz="1220"/>
          </a:p>
        </p:txBody>
      </p:sp>
      <p:sp>
        <p:nvSpPr>
          <p:cNvPr id="28" name="Text 26">
            <a:extLst>
              <a:ext uri="{FF2B5EF4-FFF2-40B4-BE49-F238E27FC236}">
                <a16:creationId xmlns:a16="http://schemas.microsoft.com/office/drawing/2014/main" id="{F7131349-D19E-4F27-9D40-B4C2725431C0}"/>
              </a:ext>
            </a:extLst>
          </p:cNvPr>
          <p:cNvSpPr>
            <a:spLocks noGrp="1"/>
          </p:cNvSpPr>
          <p:nvPr/>
        </p:nvSpPr>
        <p:spPr>
          <a:xfrm>
            <a:off x="8942832" y="4160520"/>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126, 104017, 2024</a:t>
            </a:r>
            <a:endParaRPr sz="1080"/>
          </a:p>
        </p:txBody>
      </p:sp>
      <p:sp>
        <p:nvSpPr>
          <p:cNvPr id="29" name="Text 27">
            <a:extLst>
              <a:ext uri="{FF2B5EF4-FFF2-40B4-BE49-F238E27FC236}">
                <a16:creationId xmlns:a16="http://schemas.microsoft.com/office/drawing/2014/main" id="{EBA10569-C37B-4AAD-AFF2-216508A039F6}"/>
              </a:ext>
            </a:extLst>
          </p:cNvPr>
          <p:cNvSpPr>
            <a:spLocks noGrp="1"/>
          </p:cNvSpPr>
          <p:nvPr/>
        </p:nvSpPr>
        <p:spPr>
          <a:xfrm>
            <a:off x="804672" y="496519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[6]</a:t>
            </a:r>
            <a:endParaRPr sz="1300"/>
          </a:p>
        </p:txBody>
      </p:sp>
      <p:sp>
        <p:nvSpPr>
          <p:cNvPr id="30" name="Text 28">
            <a:extLst>
              <a:ext uri="{FF2B5EF4-FFF2-40B4-BE49-F238E27FC236}">
                <a16:creationId xmlns:a16="http://schemas.microsoft.com/office/drawing/2014/main" id="{5B69C464-CF74-45A6-8B15-6974B6A68631}"/>
              </a:ext>
            </a:extLst>
          </p:cNvPr>
          <p:cNvSpPr>
            <a:spLocks noGrp="1"/>
          </p:cNvSpPr>
          <p:nvPr/>
        </p:nvSpPr>
        <p:spPr>
          <a:xfrm>
            <a:off x="1261872" y="496519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Blades, L.A.W. et al.</a:t>
            </a:r>
            <a:endParaRPr sz="1300"/>
          </a:p>
        </p:txBody>
      </p:sp>
      <p:sp>
        <p:nvSpPr>
          <p:cNvPr id="31" name="Text 29">
            <a:extLst>
              <a:ext uri="{FF2B5EF4-FFF2-40B4-BE49-F238E27FC236}">
                <a16:creationId xmlns:a16="http://schemas.microsoft.com/office/drawing/2014/main" id="{9A52961A-2035-42F7-918E-9352FAAE81D8}"/>
              </a:ext>
            </a:extLst>
          </p:cNvPr>
          <p:cNvSpPr>
            <a:spLocks noGrp="1"/>
          </p:cNvSpPr>
          <p:nvPr/>
        </p:nvSpPr>
        <p:spPr>
          <a:xfrm>
            <a:off x="2880360" y="494690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Predicting energy consumption of zero emission buses using route feature selection methods</a:t>
            </a:r>
            <a:endParaRPr sz="1220"/>
          </a:p>
        </p:txBody>
      </p:sp>
      <p:sp>
        <p:nvSpPr>
          <p:cNvPr id="32" name="Text 30">
            <a:extLst>
              <a:ext uri="{FF2B5EF4-FFF2-40B4-BE49-F238E27FC236}">
                <a16:creationId xmlns:a16="http://schemas.microsoft.com/office/drawing/2014/main" id="{E0C191E8-6882-4F63-85C2-EE69B4B79833}"/>
              </a:ext>
            </a:extLst>
          </p:cNvPr>
          <p:cNvSpPr>
            <a:spLocks noGrp="1"/>
          </p:cNvSpPr>
          <p:nvPr/>
        </p:nvSpPr>
        <p:spPr>
          <a:xfrm>
            <a:off x="8942832" y="495604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130, 104158, 2024</a:t>
            </a:r>
            <a:endParaRPr sz="1080"/>
          </a:p>
        </p:txBody>
      </p:sp>
      <p:sp>
        <p:nvSpPr>
          <p:cNvPr id="33" name="Shape 31">
            <a:extLst>
              <a:ext uri="{FF2B5EF4-FFF2-40B4-BE49-F238E27FC236}">
                <a16:creationId xmlns:a16="http://schemas.microsoft.com/office/drawing/2014/main" id="{E5D4AB67-5825-4BD6-934E-17522AAF4512}"/>
              </a:ext>
            </a:extLst>
          </p:cNvPr>
          <p:cNvSpPr>
            <a:spLocks noGrp="1"/>
          </p:cNvSpPr>
          <p:nvPr/>
        </p:nvSpPr>
        <p:spPr>
          <a:xfrm>
            <a:off x="1143000" y="5925312"/>
            <a:ext cx="9875520" cy="402336"/>
          </a:xfrm>
          <a:prstGeom prst="roundRect">
            <a:avLst/>
          </a:prstGeom>
          <a:solidFill>
            <a:srgbClr val="EAF2FB"/>
          </a:solidFill>
          <a:ln w="11430">
            <a:solidFill>
              <a:srgbClr val="356BB3"/>
            </a:solidFill>
            <a:prstDash val="solid"/>
          </a:ln>
        </p:spPr>
        <p:txBody>
          <a:bodyPr/>
          <a:lstStyle/>
          <a:p>
            <a:endParaRPr/>
          </a:p>
        </p:txBody>
      </p:sp>
      <p:sp>
        <p:nvSpPr>
          <p:cNvPr id="34" name="Text 32">
            <a:extLst>
              <a:ext uri="{FF2B5EF4-FFF2-40B4-BE49-F238E27FC236}">
                <a16:creationId xmlns:a16="http://schemas.microsoft.com/office/drawing/2014/main" id="{95541513-16E6-4797-973F-C9A15BC80080}"/>
              </a:ext>
            </a:extLst>
          </p:cNvPr>
          <p:cNvSpPr>
            <a:spLocks noGrp="1"/>
          </p:cNvSpPr>
          <p:nvPr/>
        </p:nvSpPr>
        <p:spPr>
          <a:xfrm>
            <a:off x="1353312" y="6016752"/>
            <a:ext cx="9464040" cy="210312"/>
          </a:xfrm>
          <a:prstGeom prst="rect">
            <a:avLst/>
          </a:prstGeom>
          <a:noFill/>
        </p:spPr>
        <p:txBody>
          <a:bodyPr wrap="square" lIns="0" tIns="0" rIns="0" bIns="0" anchor="ctr"/>
          <a:lstStyle/>
          <a:p>
            <a:pPr marL="0" indent="0" algn="ctr">
              <a:buNone/>
            </a:pPr>
            <a:r>
              <a:rPr sz="1400" b="1">
                <a:solidFill>
                  <a:srgbClr val="1F2A5A"/>
                </a:solidFill>
                <a:latin typeface="Noto Sans CJK JP"/>
                <a:ea typeface="Noto Sans CJK JP"/>
                <a:cs typeface="Noto Sans CJK JP"/>
              </a:rPr>
              <a:t>本資料の図は先行研究の構成を参考にしつつ、すべて本研究の入力・結果から再作成した。</a:t>
            </a:r>
            <a:endParaRPr sz="1400"/>
          </a:p>
        </p:txBody>
      </p:sp>
      <p:sp>
        <p:nvSpPr>
          <p:cNvPr id="35" name="正方形/長方形 34">
            <a:extLst>
              <a:ext uri="{FF2B5EF4-FFF2-40B4-BE49-F238E27FC236}">
                <a16:creationId xmlns:a16="http://schemas.microsoft.com/office/drawing/2014/main" id="{43475D36-1C66-4872-AADF-990AFFCF5C8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51895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20640A4-1A02-41BF-AFD0-23FA8641B65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補足資料：先生の質問との対応</a:t>
            </a:r>
          </a:p>
        </p:txBody>
      </p:sp>
      <p:sp>
        <p:nvSpPr>
          <p:cNvPr id="2" name="正方形/長方形 1">
            <a:extLst>
              <a:ext uri="{FF2B5EF4-FFF2-40B4-BE49-F238E27FC236}">
                <a16:creationId xmlns:a16="http://schemas.microsoft.com/office/drawing/2014/main" id="{3D02C225-66BE-4B05-A71F-452771BD698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日合計の説明を、時間別の動きと計算根拠までつなげる</a:t>
            </a:r>
          </a:p>
        </p:txBody>
      </p:sp>
      <p:sp>
        <p:nvSpPr>
          <p:cNvPr id="3" name="正方形/長方形 2">
            <a:extLst>
              <a:ext uri="{FF2B5EF4-FFF2-40B4-BE49-F238E27FC236}">
                <a16:creationId xmlns:a16="http://schemas.microsoft.com/office/drawing/2014/main" id="{F16897BD-8B64-4E4E-98EC-352BCEC13B7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新しい計算結果を増やさず、保存済み結果から説明の不足を補った</a:t>
            </a:r>
          </a:p>
        </p:txBody>
      </p:sp>
      <p:sp>
        <p:nvSpPr>
          <p:cNvPr id="4" name="正方形/長方形 3">
            <a:extLst>
              <a:ext uri="{FF2B5EF4-FFF2-40B4-BE49-F238E27FC236}">
                <a16:creationId xmlns:a16="http://schemas.microsoft.com/office/drawing/2014/main" id="{3EEDF587-056C-4C15-B0AF-14C3A8270D4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Slackで確認した研究上の指摘を要約。先生の承認・納得を得たという意味ではない。</a:t>
            </a:r>
          </a:p>
        </p:txBody>
      </p:sp>
      <p:sp>
        <p:nvSpPr>
          <p:cNvPr id="5" name="正方形/長方形 4">
            <a:extLst>
              <a:ext uri="{FF2B5EF4-FFF2-40B4-BE49-F238E27FC236}">
                <a16:creationId xmlns:a16="http://schemas.microsoft.com/office/drawing/2014/main" id="{F8902E4D-6A10-4FA0-864D-71B8AB09EAF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143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確認したい点</a:t>
                      </a:r>
                    </a:p>
                  </a:txBody>
                  <a:tcPr>
                    <a:solidFill>
                      <a:srgbClr val="202B58"/>
                    </a:solidFill>
                  </a:tcPr>
                </a:tc>
                <a:tc>
                  <a:txBody>
                    <a:bodyPr/>
                    <a:lstStyle/>
                    <a:p>
                      <a:r>
                        <a:rPr sz="1725" b="1">
                          <a:solidFill>
                            <a:srgbClr val="FFFFFF"/>
                          </a:solidFill>
                          <a:latin typeface="Noto Sans CJK JP"/>
                          <a:ea typeface="Noto Sans CJK JP"/>
                          <a:cs typeface="Noto Sans CJK JP"/>
                        </a:rPr>
                        <a:t>本編での状態</a:t>
                      </a:r>
                    </a:p>
                  </a:txBody>
                  <a:tcPr>
                    <a:solidFill>
                      <a:srgbClr val="202B58"/>
                    </a:solidFill>
                  </a:tcPr>
                </a:tc>
                <a:tc>
                  <a:txBody>
                    <a:bodyPr/>
                    <a:lstStyle/>
                    <a:p>
                      <a:r>
                        <a:rPr sz="1725" b="1">
                          <a:solidFill>
                            <a:srgbClr val="FFFFFF"/>
                          </a:solidFill>
                          <a:latin typeface="Noto Sans CJK JP"/>
                          <a:ea typeface="Noto Sans CJK JP"/>
                          <a:cs typeface="Noto Sans CJK JP"/>
                        </a:rPr>
                        <a:t>補足の回答</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何を直したか・用語</a:t>
                      </a:r>
                    </a:p>
                  </a:txBody>
                  <a:tcPr>
                    <a:solidFill>
                      <a:srgbClr val="F1F5F8"/>
                    </a:solidFill>
                  </a:tcPr>
                </a:tc>
                <a:tc>
                  <a:txBody>
                    <a:bodyPr/>
                    <a:lstStyle/>
                    <a:p>
                      <a:r>
                        <a:rPr sz="1725" b="0">
                          <a:solidFill>
                            <a:srgbClr val="202B58"/>
                          </a:solidFill>
                          <a:latin typeface="Noto Sans CJK JP"/>
                          <a:ea typeface="Noto Sans CJK JP"/>
                          <a:cs typeface="Noto Sans CJK JP"/>
                        </a:rPr>
                        <a:t>8–9枚目に差分あり</a:t>
                      </a:r>
                    </a:p>
                  </a:txBody>
                  <a:tcPr>
                    <a:solidFill>
                      <a:srgbClr val="F1F5F8"/>
                    </a:solidFill>
                  </a:tcPr>
                </a:tc>
                <a:tc>
                  <a:txBody>
                    <a:bodyPr/>
                    <a:lstStyle/>
                    <a:p>
                      <a:r>
                        <a:rPr sz="1725" b="0">
                          <a:solidFill>
                            <a:srgbClr val="202B58"/>
                          </a:solidFill>
                          <a:latin typeface="Noto Sans CJK JP"/>
                          <a:ea typeface="Noto Sans CJK JP"/>
                          <a:cs typeface="Noto Sans CJK JP"/>
                        </a:rPr>
                        <a:t>方法・用語の定義</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晴雨の電力と燃料</a:t>
                      </a:r>
                    </a:p>
                  </a:txBody>
                  <a:tcPr>
                    <a:solidFill>
                      <a:srgbClr val="FFFFFF"/>
                    </a:solidFill>
                  </a:tcPr>
                </a:tc>
                <a:tc>
                  <a:txBody>
                    <a:bodyPr/>
                    <a:lstStyle/>
                    <a:p>
                      <a:r>
                        <a:rPr sz="1725" b="0">
                          <a:solidFill>
                            <a:srgbClr val="202B58"/>
                          </a:solidFill>
                          <a:latin typeface="Noto Sans CJK JP"/>
                          <a:ea typeface="Noto Sans CJK JP"/>
                          <a:cs typeface="Noto Sans CJK JP"/>
                        </a:rPr>
                        <a:t>12–14枚目は日合計中心</a:t>
                      </a:r>
                    </a:p>
                  </a:txBody>
                  <a:tcPr>
                    <a:solidFill>
                      <a:srgbClr val="FFFFFF"/>
                    </a:solidFill>
                  </a:tcPr>
                </a:tc>
                <a:tc>
                  <a:txBody>
                    <a:bodyPr/>
                    <a:lstStyle/>
                    <a:p>
                      <a:r>
                        <a:rPr sz="1725" b="0">
                          <a:solidFill>
                            <a:srgbClr val="202B58"/>
                          </a:solidFill>
                          <a:latin typeface="Noto Sans CJK JP"/>
                          <a:ea typeface="Noto Sans CJK JP"/>
                          <a:cs typeface="Noto Sans CJK JP"/>
                        </a:rPr>
                        <a:t>15分電力・配車距離・費用</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充電時間と台数のピーク</a:t>
                      </a:r>
                    </a:p>
                  </a:txBody>
                  <a:tcPr>
                    <a:solidFill>
                      <a:srgbClr val="F1F5F8"/>
                    </a:solidFill>
                  </a:tcPr>
                </a:tc>
                <a:tc>
                  <a:txBody>
                    <a:bodyPr/>
                    <a:lstStyle/>
                    <a:p>
                      <a:r>
                        <a:rPr sz="1725" b="0">
                          <a:solidFill>
                            <a:srgbClr val="202B58"/>
                          </a:solidFill>
                          <a:latin typeface="Noto Sans CJK JP"/>
                          <a:ea typeface="Noto Sans CJK JP"/>
                          <a:cs typeface="Noto Sans CJK JP"/>
                        </a:rPr>
                        <a:t>時間別の根拠が不足</a:t>
                      </a:r>
                    </a:p>
                  </a:txBody>
                  <a:tcPr>
                    <a:solidFill>
                      <a:srgbClr val="F1F5F8"/>
                    </a:solidFill>
                  </a:tcPr>
                </a:tc>
                <a:tc>
                  <a:txBody>
                    <a:bodyPr/>
                    <a:lstStyle/>
                    <a:p>
                      <a:r>
                        <a:rPr sz="1725" b="0">
                          <a:solidFill>
                            <a:srgbClr val="202B58"/>
                          </a:solidFill>
                          <a:latin typeface="Noto Sans CJK JP"/>
                          <a:ea typeface="Noto Sans CJK JP"/>
                          <a:cs typeface="Noto Sans CJK JP"/>
                        </a:rPr>
                        <a:t>正電力セッション数・車両例</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BESSの始終端と上下限</a:t>
                      </a:r>
                    </a:p>
                  </a:txBody>
                  <a:tcPr>
                    <a:solidFill>
                      <a:srgbClr val="FFFFFF"/>
                    </a:solidFill>
                  </a:tcPr>
                </a:tc>
                <a:tc>
                  <a:txBody>
                    <a:bodyPr/>
                    <a:lstStyle/>
                    <a:p>
                      <a:r>
                        <a:rPr sz="1725" b="0">
                          <a:solidFill>
                            <a:srgbClr val="202B58"/>
                          </a:solidFill>
                          <a:latin typeface="Noto Sans CJK JP"/>
                          <a:ea typeface="Noto Sans CJK JP"/>
                          <a:cs typeface="Noto Sans CJK JP"/>
                        </a:rPr>
                        <a:t>日量フロー中心</a:t>
                      </a:r>
                    </a:p>
                  </a:txBody>
                  <a:tcPr>
                    <a:solidFill>
                      <a:srgbClr val="FFFFFF"/>
                    </a:solidFill>
                  </a:tcPr>
                </a:tc>
                <a:tc>
                  <a:txBody>
                    <a:bodyPr/>
                    <a:lstStyle/>
                    <a:p>
                      <a:r>
                        <a:rPr sz="1725" b="0">
                          <a:solidFill>
                            <a:srgbClr val="202B58"/>
                          </a:solidFill>
                          <a:latin typeface="Noto Sans CJK JP"/>
                          <a:ea typeface="Noto Sans CJK JP"/>
                          <a:cs typeface="Noto Sans CJK JP"/>
                        </a:rPr>
                        <a:t>残量軌跡と始終端の数値</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台数費用・計算時間</a:t>
                      </a:r>
                    </a:p>
                  </a:txBody>
                  <a:tcPr>
                    <a:solidFill>
                      <a:srgbClr val="F1F5F8"/>
                    </a:solidFill>
                  </a:tcPr>
                </a:tc>
                <a:tc>
                  <a:txBody>
                    <a:bodyPr/>
                    <a:lstStyle/>
                    <a:p>
                      <a:r>
                        <a:rPr sz="1725" b="0">
                          <a:solidFill>
                            <a:srgbClr val="202B58"/>
                          </a:solidFill>
                          <a:latin typeface="Noto Sans CJK JP"/>
                          <a:ea typeface="Noto Sans CJK JP"/>
                          <a:cs typeface="Noto Sans CJK JP"/>
                        </a:rPr>
                        <a:t>設定値のみでは不十分</a:t>
                      </a:r>
                    </a:p>
                  </a:txBody>
                  <a:tcPr>
                    <a:solidFill>
                      <a:srgbClr val="F1F5F8"/>
                    </a:solidFill>
                  </a:tcPr>
                </a:tc>
                <a:tc>
                  <a:txBody>
                    <a:bodyPr/>
                    <a:lstStyle/>
                    <a:p>
                      <a:r>
                        <a:rPr sz="1725" b="0">
                          <a:solidFill>
                            <a:srgbClr val="202B58"/>
                          </a:solidFill>
                          <a:latin typeface="Noto Sans CJK JP"/>
                          <a:ea typeface="Noto Sans CJK JP"/>
                          <a:cs typeface="Noto Sans CJK JP"/>
                        </a:rPr>
                        <a:t>費用式・実測時間・残る検証</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0EB779E-34C0-4259-AA3A-8B7C81DE50E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22720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F80DAF2-DBCF-45C9-96B1-DDD76DCC5B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先行文献から取り入れた図表の構成</a:t>
            </a:r>
          </a:p>
        </p:txBody>
      </p:sp>
      <p:sp>
        <p:nvSpPr>
          <p:cNvPr id="2" name="正方形/長方形 1">
            <a:extLst>
              <a:ext uri="{FF2B5EF4-FFF2-40B4-BE49-F238E27FC236}">
                <a16:creationId xmlns:a16="http://schemas.microsoft.com/office/drawing/2014/main" id="{419B5B27-DFD0-4F2F-AF8A-367FE35C1B1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論文の図を貼るのではなく、本研究の数値を同じ観点で示す</a:t>
            </a:r>
          </a:p>
        </p:txBody>
      </p:sp>
      <p:sp>
        <p:nvSpPr>
          <p:cNvPr id="3" name="正方形/長方形 2">
            <a:extLst>
              <a:ext uri="{FF2B5EF4-FFF2-40B4-BE49-F238E27FC236}">
                <a16:creationId xmlns:a16="http://schemas.microsoft.com/office/drawing/2014/main" id="{6AAB1F11-427B-453F-8526-54549FFF5AD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残量・電力・運行・費用・計算時間を対応させる</a:t>
            </a:r>
          </a:p>
        </p:txBody>
      </p:sp>
      <p:sp>
        <p:nvSpPr>
          <p:cNvPr id="4" name="正方形/長方形 3">
            <a:extLst>
              <a:ext uri="{FF2B5EF4-FFF2-40B4-BE49-F238E27FC236}">
                <a16:creationId xmlns:a16="http://schemas.microsoft.com/office/drawing/2014/main" id="{DCE62EEA-343D-4F13-8415-A4989B74D30E}"/>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文献の条件・費用範囲・通貨は本研究と異なる。直接の性能比較には使わない。</a:t>
            </a:r>
          </a:p>
        </p:txBody>
      </p:sp>
      <p:sp>
        <p:nvSpPr>
          <p:cNvPr id="5" name="正方形/長方形 4">
            <a:extLst>
              <a:ext uri="{FF2B5EF4-FFF2-40B4-BE49-F238E27FC236}">
                <a16:creationId xmlns:a16="http://schemas.microsoft.com/office/drawing/2014/main" id="{6F3CC606-5E29-418C-A6CB-2C32B2AD2422}"/>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571875">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44855">
                <a:tc>
                  <a:txBody>
                    <a:bodyPr/>
                    <a:lstStyle/>
                    <a:p>
                      <a:r>
                        <a:rPr sz="1725" b="1">
                          <a:solidFill>
                            <a:srgbClr val="FFFFFF"/>
                          </a:solidFill>
                          <a:latin typeface="Noto Sans CJK JP"/>
                          <a:ea typeface="Noto Sans CJK JP"/>
                          <a:cs typeface="Noto Sans CJK JP"/>
                        </a:rPr>
                        <a:t>原本で確認した例</a:t>
                      </a:r>
                    </a:p>
                  </a:txBody>
                  <a:tcPr>
                    <a:solidFill>
                      <a:srgbClr val="202B58"/>
                    </a:solidFill>
                  </a:tcPr>
                </a:tc>
                <a:tc>
                  <a:txBody>
                    <a:bodyPr/>
                    <a:lstStyle/>
                    <a:p>
                      <a:r>
                        <a:rPr sz="1725" b="1">
                          <a:solidFill>
                            <a:srgbClr val="FFFFFF"/>
                          </a:solidFill>
                          <a:latin typeface="Noto Sans CJK JP"/>
                          <a:ea typeface="Noto Sans CJK JP"/>
                          <a:cs typeface="Noto Sans CJK JP"/>
                        </a:rPr>
                        <a:t>図表の役割</a:t>
                      </a:r>
                    </a:p>
                  </a:txBody>
                  <a:tcPr>
                    <a:solidFill>
                      <a:srgbClr val="202B58"/>
                    </a:solidFill>
                  </a:tcPr>
                </a:tc>
                <a:tc>
                  <a:txBody>
                    <a:bodyPr/>
                    <a:lstStyle/>
                    <a:p>
                      <a:r>
                        <a:rPr sz="1725" b="1">
                          <a:solidFill>
                            <a:srgbClr val="FFFFFF"/>
                          </a:solidFill>
                          <a:latin typeface="Noto Sans CJK JP"/>
                          <a:ea typeface="Noto Sans CJK JP"/>
                          <a:cs typeface="Noto Sans CJK JP"/>
                        </a:rPr>
                        <a:t>今回の資料</a:t>
                      </a:r>
                    </a:p>
                  </a:txBody>
                  <a:tcPr>
                    <a:solidFill>
                      <a:srgbClr val="202B58"/>
                    </a:solidFill>
                  </a:tcPr>
                </a:tc>
                <a:extLst>
                  <a:ext uri="{0D108BD9-81ED-4DB2-BD59-A6C34878D82A}">
                    <a16:rowId xmlns:a16="http://schemas.microsoft.com/office/drawing/2014/main" val="10000"/>
                  </a:ext>
                </a:extLst>
              </a:tr>
              <a:tr h="744855">
                <a:tc>
                  <a:txBody>
                    <a:bodyPr/>
                    <a:lstStyle/>
                    <a:p>
                      <a:r>
                        <a:rPr sz="1725" b="0">
                          <a:solidFill>
                            <a:srgbClr val="202B58"/>
                          </a:solidFill>
                          <a:latin typeface="Noto Sans CJK JP"/>
                          <a:ea typeface="Noto Sans CJK JP"/>
                          <a:cs typeface="Noto Sans CJK JP"/>
                        </a:rPr>
                        <a:t>Huら (2025) Fig.6</a:t>
                      </a:r>
                    </a:p>
                  </a:txBody>
                  <a:tcPr>
                    <a:solidFill>
                      <a:srgbClr val="F1F5F8"/>
                    </a:solidFill>
                  </a:tcPr>
                </a:tc>
                <a:tc>
                  <a:txBody>
                    <a:bodyPr/>
                    <a:lstStyle/>
                    <a:p>
                      <a:r>
                        <a:rPr sz="1725" b="0">
                          <a:solidFill>
                            <a:srgbClr val="202B58"/>
                          </a:solidFill>
                          <a:latin typeface="Noto Sans CJK JP"/>
                          <a:ea typeface="Noto Sans CJK JP"/>
                          <a:cs typeface="Noto Sans CJK JP"/>
                        </a:rPr>
                        <a:t>SOCと充電時刻を対応</a:t>
                      </a:r>
                    </a:p>
                  </a:txBody>
                  <a:tcPr>
                    <a:solidFill>
                      <a:srgbClr val="F1F5F8"/>
                    </a:solidFill>
                  </a:tcPr>
                </a:tc>
                <a:tc>
                  <a:txBody>
                    <a:bodyPr/>
                    <a:lstStyle/>
                    <a:p>
                      <a:r>
                        <a:rPr sz="1725" b="0">
                          <a:solidFill>
                            <a:srgbClr val="202B58"/>
                          </a:solidFill>
                          <a:latin typeface="Noto Sans CJK JP"/>
                          <a:ea typeface="Noto Sans CJK JP"/>
                          <a:cs typeface="Noto Sans CJK JP"/>
                        </a:rPr>
                        <a:t>車両例の残量・充電電力</a:t>
                      </a:r>
                    </a:p>
                  </a:txBody>
                  <a:tcPr>
                    <a:solidFill>
                      <a:srgbClr val="F1F5F8"/>
                    </a:solidFill>
                  </a:tcPr>
                </a:tc>
                <a:extLst>
                  <a:ext uri="{0D108BD9-81ED-4DB2-BD59-A6C34878D82A}">
                    <a16:rowId xmlns:a16="http://schemas.microsoft.com/office/drawing/2014/main" val="10001"/>
                  </a:ext>
                </a:extLst>
              </a:tr>
              <a:tr h="744855">
                <a:tc>
                  <a:txBody>
                    <a:bodyPr/>
                    <a:lstStyle/>
                    <a:p>
                      <a:r>
                        <a:rPr sz="1725" b="0">
                          <a:solidFill>
                            <a:srgbClr val="202B58"/>
                          </a:solidFill>
                          <a:latin typeface="Noto Sans CJK JP"/>
                          <a:ea typeface="Noto Sans CJK JP"/>
                          <a:cs typeface="Noto Sans CJK JP"/>
                        </a:rPr>
                        <a:t>Huら (2025) Fig.8–9</a:t>
                      </a:r>
                    </a:p>
                  </a:txBody>
                  <a:tcPr>
                    <a:solidFill>
                      <a:srgbClr val="FFFFFF"/>
                    </a:solidFill>
                  </a:tcPr>
                </a:tc>
                <a:tc>
                  <a:txBody>
                    <a:bodyPr/>
                    <a:lstStyle/>
                    <a:p>
                      <a:r>
                        <a:rPr sz="1725" b="0">
                          <a:solidFill>
                            <a:srgbClr val="202B58"/>
                          </a:solidFill>
                          <a:latin typeface="Noto Sans CJK JP"/>
                          <a:ea typeface="Noto Sans CJK JP"/>
                          <a:cs typeface="Noto Sans CJK JP"/>
                        </a:rPr>
                        <a:t>蓄電池と供給量を時間比較</a:t>
                      </a:r>
                    </a:p>
                  </a:txBody>
                  <a:tcPr>
                    <a:solidFill>
                      <a:srgbClr val="FFFFFF"/>
                    </a:solidFill>
                  </a:tcPr>
                </a:tc>
                <a:tc>
                  <a:txBody>
                    <a:bodyPr/>
                    <a:lstStyle/>
                    <a:p>
                      <a:r>
                        <a:rPr sz="1725" b="0">
                          <a:solidFill>
                            <a:srgbClr val="202B58"/>
                          </a:solidFill>
                          <a:latin typeface="Noto Sans CJK JP"/>
                          <a:ea typeface="Noto Sans CJK JP"/>
                          <a:cs typeface="Noto Sans CJK JP"/>
                        </a:rPr>
                        <a:t>BESS残量・15分電力</a:t>
                      </a:r>
                    </a:p>
                  </a:txBody>
                  <a:tcPr>
                    <a:solidFill>
                      <a:srgbClr val="FFFFFF"/>
                    </a:solidFill>
                  </a:tcPr>
                </a:tc>
                <a:extLst>
                  <a:ext uri="{0D108BD9-81ED-4DB2-BD59-A6C34878D82A}">
                    <a16:rowId xmlns:a16="http://schemas.microsoft.com/office/drawing/2014/main" val="10002"/>
                  </a:ext>
                </a:extLst>
              </a:tr>
              <a:tr h="744855">
                <a:tc>
                  <a:txBody>
                    <a:bodyPr/>
                    <a:lstStyle/>
                    <a:p>
                      <a:r>
                        <a:rPr sz="1725" b="0">
                          <a:solidFill>
                            <a:srgbClr val="202B58"/>
                          </a:solidFill>
                          <a:latin typeface="Noto Sans CJK JP"/>
                          <a:ea typeface="Noto Sans CJK JP"/>
                          <a:cs typeface="Noto Sans CJK JP"/>
                        </a:rPr>
                        <a:t>Huら (2025) Table 5</a:t>
                      </a:r>
                    </a:p>
                  </a:txBody>
                  <a:tcPr>
                    <a:solidFill>
                      <a:srgbClr val="F1F5F8"/>
                    </a:solidFill>
                  </a:tcPr>
                </a:tc>
                <a:tc>
                  <a:txBody>
                    <a:bodyPr/>
                    <a:lstStyle/>
                    <a:p>
                      <a:r>
                        <a:rPr sz="1725" b="0">
                          <a:solidFill>
                            <a:srgbClr val="202B58"/>
                          </a:solidFill>
                          <a:latin typeface="Noto Sans CJK JP"/>
                          <a:ea typeface="Noto Sans CJK JP"/>
                          <a:cs typeface="Noto Sans CJK JP"/>
                        </a:rPr>
                        <a:t>費用と電力量を分解</a:t>
                      </a:r>
                    </a:p>
                  </a:txBody>
                  <a:tcPr>
                    <a:solidFill>
                      <a:srgbClr val="F1F5F8"/>
                    </a:solidFill>
                  </a:tcPr>
                </a:tc>
                <a:tc>
                  <a:txBody>
                    <a:bodyPr/>
                    <a:lstStyle/>
                    <a:p>
                      <a:r>
                        <a:rPr sz="1725" b="0">
                          <a:solidFill>
                            <a:srgbClr val="202B58"/>
                          </a:solidFill>
                          <a:latin typeface="Noto Sans CJK JP"/>
                          <a:ea typeface="Noto Sans CJK JP"/>
                          <a:cs typeface="Noto Sans CJK JP"/>
                        </a:rPr>
                        <a:t>最終台帳に一致する内訳表</a:t>
                      </a:r>
                    </a:p>
                  </a:txBody>
                  <a:tcPr>
                    <a:solidFill>
                      <a:srgbClr val="F1F5F8"/>
                    </a:solidFill>
                  </a:tcPr>
                </a:tc>
                <a:extLst>
                  <a:ext uri="{0D108BD9-81ED-4DB2-BD59-A6C34878D82A}">
                    <a16:rowId xmlns:a16="http://schemas.microsoft.com/office/drawing/2014/main" val="10003"/>
                  </a:ext>
                </a:extLst>
              </a:tr>
              <a:tr h="744855">
                <a:tc>
                  <a:txBody>
                    <a:bodyPr/>
                    <a:lstStyle/>
                    <a:p>
                      <a:r>
                        <a:rPr sz="1725" b="0">
                          <a:solidFill>
                            <a:srgbClr val="202B58"/>
                          </a:solidFill>
                          <a:latin typeface="Noto Sans CJK JP"/>
                          <a:ea typeface="Noto Sans CJK JP"/>
                          <a:cs typeface="Noto Sans CJK JP"/>
                        </a:rPr>
                        <a:t>Zhouら (2025) Table 5</a:t>
                      </a:r>
                    </a:p>
                  </a:txBody>
                  <a:tcPr>
                    <a:solidFill>
                      <a:srgbClr val="FFFFFF"/>
                    </a:solidFill>
                  </a:tcPr>
                </a:tc>
                <a:tc>
                  <a:txBody>
                    <a:bodyPr/>
                    <a:lstStyle/>
                    <a:p>
                      <a:r>
                        <a:rPr sz="1725" b="0">
                          <a:solidFill>
                            <a:srgbClr val="202B58"/>
                          </a:solidFill>
                          <a:latin typeface="Noto Sans CJK JP"/>
                          <a:ea typeface="Noto Sans CJK JP"/>
                          <a:cs typeface="Noto Sans CJK JP"/>
                        </a:rPr>
                        <a:t>費用と計算時間を併記</a:t>
                      </a:r>
                    </a:p>
                  </a:txBody>
                  <a:tcPr>
                    <a:solidFill>
                      <a:srgbClr val="FFFFFF"/>
                    </a:solidFill>
                  </a:tcPr>
                </a:tc>
                <a:tc>
                  <a:txBody>
                    <a:bodyPr/>
                    <a:lstStyle/>
                    <a:p>
                      <a:r>
                        <a:rPr sz="1725" b="0">
                          <a:solidFill>
                            <a:srgbClr val="202B58"/>
                          </a:solidFill>
                          <a:latin typeface="Noto Sans CJK JP"/>
                          <a:ea typeface="Noto Sans CJK JP"/>
                          <a:cs typeface="Noto Sans CJK JP"/>
                        </a:rPr>
                        <a:t>設定時間と実測時間を区別</a:t>
                      </a:r>
                    </a:p>
                  </a:txBody>
                  <a:tcPr>
                    <a:solidFill>
                      <a:srgbClr val="FFFFFF"/>
                    </a:solidFill>
                  </a:tcPr>
                </a:tc>
                <a:extLst>
                  <a:ext uri="{0D108BD9-81ED-4DB2-BD59-A6C34878D82A}">
                    <a16:rowId xmlns:a16="http://schemas.microsoft.com/office/drawing/2014/main" val="10004"/>
                  </a:ext>
                </a:extLst>
              </a:tr>
            </a:tbl>
          </a:graphicData>
        </a:graphic>
      </p:graphicFrame>
      <p:sp>
        <p:nvSpPr>
          <p:cNvPr id="7" name="正方形/長方形 6">
            <a:extLst>
              <a:ext uri="{FF2B5EF4-FFF2-40B4-BE49-F238E27FC236}">
                <a16:creationId xmlns:a16="http://schemas.microsoft.com/office/drawing/2014/main" id="{EEB4EF69-4DDD-4D2D-B457-66CBA784419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866426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C5300B1-34FA-4DED-9A84-A9287DEA5A38}"/>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PV発電の行き先：15分ごとの比較</a:t>
            </a:r>
          </a:p>
        </p:txBody>
      </p:sp>
      <p:sp>
        <p:nvSpPr>
          <p:cNvPr id="2" name="正方形/長方形 1">
            <a:extLst>
              <a:ext uri="{FF2B5EF4-FFF2-40B4-BE49-F238E27FC236}">
                <a16:creationId xmlns:a16="http://schemas.microsoft.com/office/drawing/2014/main" id="{8550A68D-C583-4AF6-B197-7833DA088BB9}"/>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同一の縦軸。電力 [kW] = 各15分枠の電力量 [kWh] ÷ 0.25 h</a:t>
            </a:r>
          </a:p>
        </p:txBody>
      </p:sp>
      <p:sp>
        <p:nvSpPr>
          <p:cNvPr id="3" name="正方形/長方形 2">
            <a:extLst>
              <a:ext uri="{FF2B5EF4-FFF2-40B4-BE49-F238E27FC236}">
                <a16:creationId xmlns:a16="http://schemas.microsoft.com/office/drawing/2014/main" id="{9B2A371A-3FB5-48A0-902C-FAD72B329C5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高PVの抑制は日中に発生し、低PVの抑制はほぼゼロ</a:t>
            </a:r>
          </a:p>
        </p:txBody>
      </p:sp>
      <p:sp>
        <p:nvSpPr>
          <p:cNvPr id="4" name="正方形/長方形 3">
            <a:extLst>
              <a:ext uri="{FF2B5EF4-FFF2-40B4-BE49-F238E27FC236}">
                <a16:creationId xmlns:a16="http://schemas.microsoft.com/office/drawing/2014/main" id="{E1D55384-9F7E-41C6-8388-ABC43372D59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営業所・時刻別のsolver-nativeフロー。抑制原因の反実仮想による分解は未実施。</a:t>
            </a:r>
          </a:p>
        </p:txBody>
      </p:sp>
      <p:sp>
        <p:nvSpPr>
          <p:cNvPr id="5" name="正方形/長方形 4">
            <a:extLst>
              <a:ext uri="{FF2B5EF4-FFF2-40B4-BE49-F238E27FC236}">
                <a16:creationId xmlns:a16="http://schemas.microsoft.com/office/drawing/2014/main" id="{4EF81F14-34CE-4B4F-B9BB-AA0E6C76911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3</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FDE0EA81-0F8F-40ED-A172-E8EC32147BA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782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8504BE4-2CC0-4340-9FBD-F9B957A83B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BEV充電電力と系統購入の時間分布</a:t>
            </a:r>
          </a:p>
        </p:txBody>
      </p:sp>
      <p:sp>
        <p:nvSpPr>
          <p:cNvPr id="2" name="正方形/長方形 1">
            <a:extLst>
              <a:ext uri="{FF2B5EF4-FFF2-40B4-BE49-F238E27FC236}">
                <a16:creationId xmlns:a16="http://schemas.microsoft.com/office/drawing/2014/main" id="{9097180C-118E-4365-9F72-EA7FEA9E5B3D}"/>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各供給元の電力合計が、バスへの充電器入力となる</a:t>
            </a:r>
          </a:p>
        </p:txBody>
      </p:sp>
      <p:sp>
        <p:nvSpPr>
          <p:cNvPr id="3" name="正方形/長方形 2">
            <a:extLst>
              <a:ext uri="{FF2B5EF4-FFF2-40B4-BE49-F238E27FC236}">
                <a16:creationId xmlns:a16="http://schemas.microsoft.com/office/drawing/2014/main" id="{552A0243-55F0-4A68-B049-1F17948C94BC}"/>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高PVは系統購入ゼロ。低PVの系統購入は合計130.85 kWh</a:t>
            </a:r>
          </a:p>
        </p:txBody>
      </p:sp>
      <p:sp>
        <p:nvSpPr>
          <p:cNvPr id="4" name="正方形/長方形 3">
            <a:extLst>
              <a:ext uri="{FF2B5EF4-FFF2-40B4-BE49-F238E27FC236}">
                <a16:creationId xmlns:a16="http://schemas.microsoft.com/office/drawing/2014/main" id="{2E2658E8-EFC9-46F6-A6A2-8C6E6E943939}"/>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折れ線は15分平均の段差表示。車両ごとの電源割当は比例配分であり、ここでは使わない。</a:t>
            </a:r>
          </a:p>
        </p:txBody>
      </p:sp>
      <p:sp>
        <p:nvSpPr>
          <p:cNvPr id="5" name="正方形/長方形 4">
            <a:extLst>
              <a:ext uri="{FF2B5EF4-FFF2-40B4-BE49-F238E27FC236}">
                <a16:creationId xmlns:a16="http://schemas.microsoft.com/office/drawing/2014/main" id="{51656624-BFFE-4271-ADF6-A3C099EB9DE5}"/>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4</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054304BC-EAA8-43A1-8E5F-CE38B9B7BBB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42000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0C22517-4454-4935-BF34-22D44080F96C}"/>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BESS残量：両条件とも3,000 kWhへ戻る</a:t>
            </a:r>
          </a:p>
        </p:txBody>
      </p:sp>
      <p:sp>
        <p:nvSpPr>
          <p:cNvPr id="2" name="正方形/長方形 1">
            <a:extLst>
              <a:ext uri="{FF2B5EF4-FFF2-40B4-BE49-F238E27FC236}">
                <a16:creationId xmlns:a16="http://schemas.microsoft.com/office/drawing/2014/main" id="{BDC559DC-E283-416B-B29F-24F20FC3AA11}"/>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設備容量6,000 kWh、許容範囲1,200～4,800 kWh</a:t>
            </a:r>
          </a:p>
        </p:txBody>
      </p:sp>
      <p:sp>
        <p:nvSpPr>
          <p:cNvPr id="3" name="正方形/長方形 2">
            <a:extLst>
              <a:ext uri="{FF2B5EF4-FFF2-40B4-BE49-F238E27FC236}">
                <a16:creationId xmlns:a16="http://schemas.microsoft.com/office/drawing/2014/main" id="{2C446443-1B82-4FD2-8B23-BC124FFF0F6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初期エネルギーの使い切りで、当日の費用を下げてはいない</a:t>
            </a:r>
          </a:p>
        </p:txBody>
      </p:sp>
      <p:sp>
        <p:nvSpPr>
          <p:cNvPr id="4" name="正方形/長方形 3">
            <a:extLst>
              <a:ext uri="{FF2B5EF4-FFF2-40B4-BE49-F238E27FC236}">
                <a16:creationId xmlns:a16="http://schemas.microsoft.com/office/drawing/2014/main" id="{7EDB0CBD-39EB-4111-BBD4-EF8E7DA94FF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残量は各15分枠の終端値。高PVの最小値は数値誤差を丸めて1,200 kWh。</a:t>
            </a:r>
          </a:p>
        </p:txBody>
      </p:sp>
      <p:sp>
        <p:nvSpPr>
          <p:cNvPr id="5" name="正方形/長方形 4">
            <a:extLst>
              <a:ext uri="{FF2B5EF4-FFF2-40B4-BE49-F238E27FC236}">
                <a16:creationId xmlns:a16="http://schemas.microsoft.com/office/drawing/2014/main" id="{6FD45247-B95F-41F0-A5B8-F3531B5781C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5</a:t>
            </a:r>
          </a:p>
        </p:txBody>
      </p:sp>
      <p:graphicFrame>
        <p:nvGraphicFramePr>
          <p:cNvPr id="14" name="Chart"/>
          <p:cNvGraphicFramePr/>
          <p:nvPr/>
        </p:nvGraphicFramePr>
        <p:xfrm>
          <a:off x="619125" y="1562100"/>
          <a:ext cx="10953750" cy="2762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表 14"/>
          <p:cNvGraphicFramePr/>
          <p:nvPr/>
        </p:nvGraphicFramePr>
        <p:xfrm>
          <a:off x="571500" y="4476750"/>
          <a:ext cx="11049000" cy="1057275"/>
        </p:xfrm>
        <a:graphic>
          <a:graphicData uri="http://schemas.openxmlformats.org/drawingml/2006/table">
            <a:tbl>
              <a:tblPr/>
              <a:tblGrid>
                <a:gridCol w="2476500">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714625">
                  <a:extLst>
                    <a:ext uri="{9D8B030D-6E8A-4147-A177-3AD203B41FA5}">
                      <a16:colId xmlns:a16="http://schemas.microsoft.com/office/drawing/2014/main" val="20004"/>
                    </a:ext>
                  </a:extLst>
                </a:gridCol>
              </a:tblGrid>
              <a:tr h="352425">
                <a:tc>
                  <a:txBody>
                    <a:bodyPr/>
                    <a:lstStyle/>
                    <a:p>
                      <a:r>
                        <a:rPr sz="1500" b="1">
                          <a:solidFill>
                            <a:srgbClr val="FFFFFF"/>
                          </a:solidFill>
                          <a:latin typeface="Noto Sans CJK JP"/>
                          <a:ea typeface="Noto Sans CJK JP"/>
                          <a:cs typeface="Noto Sans CJK JP"/>
                        </a:rPr>
                        <a:t>条件</a:t>
                      </a:r>
                    </a:p>
                  </a:txBody>
                  <a:tcPr>
                    <a:solidFill>
                      <a:srgbClr val="202B58"/>
                    </a:solidFill>
                  </a:tcPr>
                </a:tc>
                <a:tc>
                  <a:txBody>
                    <a:bodyPr/>
                    <a:lstStyle/>
                    <a:p>
                      <a:r>
                        <a:rPr sz="1500" b="1">
                          <a:solidFill>
                            <a:srgbClr val="FFFFFF"/>
                          </a:solidFill>
                          <a:latin typeface="Noto Sans CJK JP"/>
                          <a:ea typeface="Noto Sans CJK JP"/>
                          <a:cs typeface="Noto Sans CJK JP"/>
                        </a:rPr>
                        <a:t>開始</a:t>
                      </a:r>
                    </a:p>
                  </a:txBody>
                  <a:tcPr>
                    <a:solidFill>
                      <a:srgbClr val="202B58"/>
                    </a:solidFill>
                  </a:tcPr>
                </a:tc>
                <a:tc>
                  <a:txBody>
                    <a:bodyPr/>
                    <a:lstStyle/>
                    <a:p>
                      <a:r>
                        <a:rPr sz="1500" b="1">
                          <a:solidFill>
                            <a:srgbClr val="FFFFFF"/>
                          </a:solidFill>
                          <a:latin typeface="Noto Sans CJK JP"/>
                          <a:ea typeface="Noto Sans CJK JP"/>
                          <a:cs typeface="Noto Sans CJK JP"/>
                        </a:rPr>
                        <a:t>最小</a:t>
                      </a:r>
                    </a:p>
                  </a:txBody>
                  <a:tcPr>
                    <a:solidFill>
                      <a:srgbClr val="202B58"/>
                    </a:solidFill>
                  </a:tcPr>
                </a:tc>
                <a:tc>
                  <a:txBody>
                    <a:bodyPr/>
                    <a:lstStyle/>
                    <a:p>
                      <a:r>
                        <a:rPr sz="1500" b="1">
                          <a:solidFill>
                            <a:srgbClr val="FFFFFF"/>
                          </a:solidFill>
                          <a:latin typeface="Noto Sans CJK JP"/>
                          <a:ea typeface="Noto Sans CJK JP"/>
                          <a:cs typeface="Noto Sans CJK JP"/>
                        </a:rPr>
                        <a:t>最大</a:t>
                      </a:r>
                    </a:p>
                  </a:txBody>
                  <a:tcPr>
                    <a:solidFill>
                      <a:srgbClr val="202B58"/>
                    </a:solidFill>
                  </a:tcPr>
                </a:tc>
                <a:tc>
                  <a:txBody>
                    <a:bodyPr/>
                    <a:lstStyle/>
                    <a:p>
                      <a:r>
                        <a:rPr sz="1500" b="1">
                          <a:solidFill>
                            <a:srgbClr val="FFFFFF"/>
                          </a:solidFill>
                          <a:latin typeface="Noto Sans CJK JP"/>
                          <a:ea typeface="Noto Sans CJK JP"/>
                          <a:cs typeface="Noto Sans CJK JP"/>
                        </a:rPr>
                        <a:t>終了 / 差</a:t>
                      </a:r>
                    </a:p>
                  </a:txBody>
                  <a:tcPr>
                    <a:solidFill>
                      <a:srgbClr val="202B58"/>
                    </a:solidFill>
                  </a:tcPr>
                </a:tc>
                <a:extLst>
                  <a:ext uri="{0D108BD9-81ED-4DB2-BD59-A6C34878D82A}">
                    <a16:rowId xmlns:a16="http://schemas.microsoft.com/office/drawing/2014/main" val="10000"/>
                  </a:ext>
                </a:extLst>
              </a:tr>
              <a:tr h="352425">
                <a:tc>
                  <a:txBody>
                    <a:bodyPr/>
                    <a:lstStyle/>
                    <a:p>
                      <a:r>
                        <a:rPr sz="1500" b="0">
                          <a:solidFill>
                            <a:srgbClr val="202B58"/>
                          </a:solidFill>
                          <a:latin typeface="Noto Sans CJK JP"/>
                          <a:ea typeface="Noto Sans CJK JP"/>
                          <a:cs typeface="Noto Sans CJK JP"/>
                        </a:rPr>
                        <a:t>高PV（SUNNY）</a:t>
                      </a:r>
                    </a:p>
                  </a:txBody>
                  <a:tcPr>
                    <a:solidFill>
                      <a:srgbClr val="F1F5F8"/>
                    </a:solidFill>
                  </a:tcPr>
                </a:tc>
                <a:tc>
                  <a:txBody>
                    <a:bodyPr/>
                    <a:lstStyle/>
                    <a:p>
                      <a:r>
                        <a:rPr sz="1500" b="0">
                          <a:solidFill>
                            <a:srgbClr val="202B58"/>
                          </a:solidFill>
                          <a:latin typeface="Noto Sans CJK JP"/>
                          <a:ea typeface="Noto Sans CJK JP"/>
                          <a:cs typeface="Noto Sans CJK JP"/>
                        </a:rPr>
                        <a:t>3,000</a:t>
                      </a:r>
                    </a:p>
                  </a:txBody>
                  <a:tcPr>
                    <a:solidFill>
                      <a:srgbClr val="F1F5F8"/>
                    </a:solidFill>
                  </a:tcPr>
                </a:tc>
                <a:tc>
                  <a:txBody>
                    <a:bodyPr/>
                    <a:lstStyle/>
                    <a:p>
                      <a:r>
                        <a:rPr sz="1500" b="0">
                          <a:solidFill>
                            <a:srgbClr val="202B58"/>
                          </a:solidFill>
                          <a:latin typeface="Noto Sans CJK JP"/>
                          <a:ea typeface="Noto Sans CJK JP"/>
                          <a:cs typeface="Noto Sans CJK JP"/>
                        </a:rPr>
                        <a:t>1,200.0</a:t>
                      </a:r>
                    </a:p>
                  </a:txBody>
                  <a:tcPr>
                    <a:solidFill>
                      <a:srgbClr val="F1F5F8"/>
                    </a:solidFill>
                  </a:tcPr>
                </a:tc>
                <a:tc>
                  <a:txBody>
                    <a:bodyPr/>
                    <a:lstStyle/>
                    <a:p>
                      <a:r>
                        <a:rPr sz="1500" b="0">
                          <a:solidFill>
                            <a:srgbClr val="202B58"/>
                          </a:solidFill>
                          <a:latin typeface="Noto Sans CJK JP"/>
                          <a:ea typeface="Noto Sans CJK JP"/>
                          <a:cs typeface="Noto Sans CJK JP"/>
                        </a:rPr>
                        <a:t>3,644.3</a:t>
                      </a:r>
                    </a:p>
                  </a:txBody>
                  <a:tcPr>
                    <a:solidFill>
                      <a:srgbClr val="F1F5F8"/>
                    </a:solidFill>
                  </a:tcPr>
                </a:tc>
                <a:tc>
                  <a:txBody>
                    <a:bodyPr/>
                    <a:lstStyle/>
                    <a:p>
                      <a:r>
                        <a:rPr sz="1500" b="0">
                          <a:solidFill>
                            <a:srgbClr val="202B58"/>
                          </a:solidFill>
                          <a:latin typeface="Noto Sans CJK JP"/>
                          <a:ea typeface="Noto Sans CJK JP"/>
                          <a:cs typeface="Noto Sans CJK JP"/>
                        </a:rPr>
                        <a:t>3,000 / 0 kWh</a:t>
                      </a:r>
                    </a:p>
                  </a:txBody>
                  <a:tcPr>
                    <a:solidFill>
                      <a:srgbClr val="F1F5F8"/>
                    </a:solidFill>
                  </a:tcPr>
                </a:tc>
                <a:extLst>
                  <a:ext uri="{0D108BD9-81ED-4DB2-BD59-A6C34878D82A}">
                    <a16:rowId xmlns:a16="http://schemas.microsoft.com/office/drawing/2014/main" val="10001"/>
                  </a:ext>
                </a:extLst>
              </a:tr>
              <a:tr h="352425">
                <a:tc>
                  <a:txBody>
                    <a:bodyPr/>
                    <a:lstStyle/>
                    <a:p>
                      <a:r>
                        <a:rPr sz="1500" b="0">
                          <a:solidFill>
                            <a:srgbClr val="202B58"/>
                          </a:solidFill>
                          <a:latin typeface="Noto Sans CJK JP"/>
                          <a:ea typeface="Noto Sans CJK JP"/>
                          <a:cs typeface="Noto Sans CJK JP"/>
                        </a:rPr>
                        <a:t>低PV（RAIN）</a:t>
                      </a:r>
                    </a:p>
                  </a:txBody>
                  <a:tcPr>
                    <a:solidFill>
                      <a:srgbClr val="FFFFFF"/>
                    </a:solidFill>
                  </a:tcPr>
                </a:tc>
                <a:tc>
                  <a:txBody>
                    <a:bodyPr/>
                    <a:lstStyle/>
                    <a:p>
                      <a:r>
                        <a:rPr sz="1500" b="0">
                          <a:solidFill>
                            <a:srgbClr val="202B58"/>
                          </a:solidFill>
                          <a:latin typeface="Noto Sans CJK JP"/>
                          <a:ea typeface="Noto Sans CJK JP"/>
                          <a:cs typeface="Noto Sans CJK JP"/>
                        </a:rPr>
                        <a:t>3,000</a:t>
                      </a:r>
                    </a:p>
                  </a:txBody>
                  <a:tcPr>
                    <a:solidFill>
                      <a:srgbClr val="FFFFFF"/>
                    </a:solidFill>
                  </a:tcPr>
                </a:tc>
                <a:tc>
                  <a:txBody>
                    <a:bodyPr/>
                    <a:lstStyle/>
                    <a:p>
                      <a:r>
                        <a:rPr sz="1500" b="0">
                          <a:solidFill>
                            <a:srgbClr val="202B58"/>
                          </a:solidFill>
                          <a:latin typeface="Noto Sans CJK JP"/>
                          <a:ea typeface="Noto Sans CJK JP"/>
                          <a:cs typeface="Noto Sans CJK JP"/>
                        </a:rPr>
                        <a:t>2,609.5</a:t>
                      </a:r>
                    </a:p>
                  </a:txBody>
                  <a:tcPr>
                    <a:solidFill>
                      <a:srgbClr val="FFFFFF"/>
                    </a:solidFill>
                  </a:tcPr>
                </a:tc>
                <a:tc>
                  <a:txBody>
                    <a:bodyPr/>
                    <a:lstStyle/>
                    <a:p>
                      <a:r>
                        <a:rPr sz="1500" b="0">
                          <a:solidFill>
                            <a:srgbClr val="202B58"/>
                          </a:solidFill>
                          <a:latin typeface="Noto Sans CJK JP"/>
                          <a:ea typeface="Noto Sans CJK JP"/>
                          <a:cs typeface="Noto Sans CJK JP"/>
                        </a:rPr>
                        <a:t>3,336.9</a:t>
                      </a:r>
                    </a:p>
                  </a:txBody>
                  <a:tcPr>
                    <a:solidFill>
                      <a:srgbClr val="FFFFFF"/>
                    </a:solidFill>
                  </a:tcPr>
                </a:tc>
                <a:tc>
                  <a:txBody>
                    <a:bodyPr/>
                    <a:lstStyle/>
                    <a:p>
                      <a:r>
                        <a:rPr sz="1500" b="0">
                          <a:solidFill>
                            <a:srgbClr val="202B58"/>
                          </a:solidFill>
                          <a:latin typeface="Noto Sans CJK JP"/>
                          <a:ea typeface="Noto Sans CJK JP"/>
                          <a:cs typeface="Noto Sans CJK JP"/>
                        </a:rPr>
                        <a:t>3,000 / 0 kWh</a:t>
                      </a:r>
                    </a:p>
                  </a:txBody>
                  <a:tcPr>
                    <a:solidFill>
                      <a:srgbClr val="FFFFFF"/>
                    </a:solidFill>
                  </a:tcPr>
                </a:tc>
                <a:extLst>
                  <a:ext uri="{0D108BD9-81ED-4DB2-BD59-A6C34878D82A}">
                    <a16:rowId xmlns:a16="http://schemas.microsoft.com/office/drawing/2014/main" val="10002"/>
                  </a:ext>
                </a:extLst>
              </a:tr>
            </a:tbl>
          </a:graphicData>
        </a:graphic>
      </p:graphicFrame>
      <p:sp>
        <p:nvSpPr>
          <p:cNvPr id="8" name="正方形/長方形 7">
            <a:extLst>
              <a:ext uri="{FF2B5EF4-FFF2-40B4-BE49-F238E27FC236}">
                <a16:creationId xmlns:a16="http://schemas.microsoft.com/office/drawing/2014/main" id="{8446D710-EF6C-44A8-9543-D78A69C63B84}"/>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8051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BACDEB1-DB2D-468F-B8D6-119B930D94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BESSの充電・放電電力</a:t>
            </a:r>
          </a:p>
        </p:txBody>
      </p:sp>
      <p:sp>
        <p:nvSpPr>
          <p:cNvPr id="2" name="正方形/長方形 1">
            <a:extLst>
              <a:ext uri="{FF2B5EF4-FFF2-40B4-BE49-F238E27FC236}">
                <a16:creationId xmlns:a16="http://schemas.microsoft.com/office/drawing/2014/main" id="{74F25E81-9430-4F8C-B25A-69F22D7A9B87}"/>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両方向を正値で表示。SOCは充電効率95%・放電効率95%で更新</a:t>
            </a:r>
          </a:p>
        </p:txBody>
      </p:sp>
      <p:sp>
        <p:nvSpPr>
          <p:cNvPr id="3" name="正方形/長方形 2">
            <a:extLst>
              <a:ext uri="{FF2B5EF4-FFF2-40B4-BE49-F238E27FC236}">
                <a16:creationId xmlns:a16="http://schemas.microsoft.com/office/drawing/2014/main" id="{50CA869F-2332-490D-9163-147CF7A5FF06}"/>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高PVでは日中に蓄え、バスの充電時に放電する</a:t>
            </a:r>
          </a:p>
        </p:txBody>
      </p:sp>
      <p:sp>
        <p:nvSpPr>
          <p:cNvPr id="4" name="正方形/長方形 3">
            <a:extLst>
              <a:ext uri="{FF2B5EF4-FFF2-40B4-BE49-F238E27FC236}">
                <a16:creationId xmlns:a16="http://schemas.microsoft.com/office/drawing/2014/main" id="{2CAC5693-FB44-485B-928A-F9E17E7DA1C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充電電力と放電電力の差だけではSOC差にならない。両方向の効率を含める。</a:t>
            </a:r>
          </a:p>
        </p:txBody>
      </p:sp>
      <p:sp>
        <p:nvSpPr>
          <p:cNvPr id="5" name="正方形/長方形 4">
            <a:extLst>
              <a:ext uri="{FF2B5EF4-FFF2-40B4-BE49-F238E27FC236}">
                <a16:creationId xmlns:a16="http://schemas.microsoft.com/office/drawing/2014/main" id="{D4071752-476D-4ACA-A30A-BFC1B75F2744}"/>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6</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737A2823-711C-467A-AC7A-DC05EBFB7C1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802570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8193867-DFD9-4AF4-BE5A-5A22AFE88DA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同時充電台数と、充電に必要な時間</a:t>
            </a:r>
          </a:p>
        </p:txBody>
      </p:sp>
      <p:sp>
        <p:nvSpPr>
          <p:cNvPr id="2" name="正方形/長方形 1">
            <a:extLst>
              <a:ext uri="{FF2B5EF4-FFF2-40B4-BE49-F238E27FC236}">
                <a16:creationId xmlns:a16="http://schemas.microsoft.com/office/drawing/2014/main" id="{01E24B0E-C1EC-464C-A03C-2A2BD9BFE83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15分単位。正の充電電力を持つ車両数を集計</a:t>
            </a:r>
          </a:p>
        </p:txBody>
      </p:sp>
      <p:sp>
        <p:nvSpPr>
          <p:cNvPr id="3" name="正方形/長方形 2">
            <a:extLst>
              <a:ext uri="{FF2B5EF4-FFF2-40B4-BE49-F238E27FC236}">
                <a16:creationId xmlns:a16="http://schemas.microsoft.com/office/drawing/2014/main" id="{33755CEC-D80F-41E5-AC18-39389B04097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「同時に10台」と「1台が短時間で満充電」は別の数量</a:t>
            </a:r>
          </a:p>
        </p:txBody>
      </p:sp>
      <p:sp>
        <p:nvSpPr>
          <p:cNvPr id="4" name="正方形/長方形 3">
            <a:extLst>
              <a:ext uri="{FF2B5EF4-FFF2-40B4-BE49-F238E27FC236}">
                <a16:creationId xmlns:a16="http://schemas.microsoft.com/office/drawing/2014/main" id="{E7CAA4B5-6BAD-4509-9535-5187C12E40C0}"/>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台数は電力&gt;1e−6 kWのセッション数。接続中台数・待ち台数・必要最小ポート数ではない。</a:t>
            </a:r>
          </a:p>
        </p:txBody>
      </p:sp>
      <p:sp>
        <p:nvSpPr>
          <p:cNvPr id="5" name="正方形/長方形 4">
            <a:extLst>
              <a:ext uri="{FF2B5EF4-FFF2-40B4-BE49-F238E27FC236}">
                <a16:creationId xmlns:a16="http://schemas.microsoft.com/office/drawing/2014/main" id="{3961D7BA-5E94-4EC5-9FED-CAAF51B67186}"/>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7</a:t>
            </a:r>
          </a:p>
        </p:txBody>
      </p:sp>
      <p:graphicFrame>
        <p:nvGraphicFramePr>
          <p:cNvPr id="15" name="Chart"/>
          <p:cNvGraphicFramePr/>
          <p:nvPr/>
        </p:nvGraphicFramePr>
        <p:xfrm>
          <a:off x="619125" y="1628775"/>
          <a:ext cx="10953750" cy="27622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959F48E8-F1C1-4A87-A465-1EAC17500169}"/>
              </a:ext>
            </a:extLst>
          </p:cNvPr>
          <p:cNvSpPr>
            <a:spLocks noGrp="1"/>
          </p:cNvSpPr>
          <p:nvPr/>
        </p:nvSpPr>
        <p:spPr>
          <a:xfrm>
            <a:off x="762000" y="4552950"/>
            <a:ext cx="10572750" cy="428625"/>
          </a:xfrm>
          <a:prstGeom prst="rect">
            <a:avLst/>
          </a:prstGeom>
          <a:noFill/>
          <a:ln w="0">
            <a:noFill/>
          </a:ln>
        </p:spPr>
        <p:txBody>
          <a:bodyPr>
            <a:noAutofit/>
          </a:bodyPr>
          <a:lstStyle/>
          <a:p>
            <a:pPr>
              <a:defRPr sz="1950" b="1">
                <a:solidFill>
                  <a:srgbClr val="202B58"/>
                </a:solidFill>
                <a:latin typeface="Noto Sans CJK JP"/>
                <a:ea typeface="Noto Sans CJK JP"/>
                <a:cs typeface="Noto Sans CJK JP"/>
              </a:defRPr>
            </a:pPr>
            <a:r>
              <a:rPr sz="1950" b="1">
                <a:solidFill>
                  <a:srgbClr val="202B58"/>
                </a:solidFill>
                <a:latin typeface="Noto Sans CJK JP"/>
                <a:ea typeface="Noto Sans CJK JP"/>
                <a:cs typeface="Noto Sans CJK JP"/>
              </a:rPr>
              <a:t>20%から80%まで：314 × (0.80−0.20) = 188.4 kWh</a:t>
            </a:r>
          </a:p>
        </p:txBody>
      </p:sp>
      <p:sp>
        <p:nvSpPr>
          <p:cNvPr id="8" name="正方形/長方形 7">
            <a:extLst>
              <a:ext uri="{FF2B5EF4-FFF2-40B4-BE49-F238E27FC236}">
                <a16:creationId xmlns:a16="http://schemas.microsoft.com/office/drawing/2014/main" id="{61F6E3B4-5BA7-41A7-AB63-C489BFC48FC0}"/>
              </a:ext>
            </a:extLst>
          </p:cNvPr>
          <p:cNvSpPr>
            <a:spLocks noGrp="1"/>
          </p:cNvSpPr>
          <p:nvPr/>
        </p:nvSpPr>
        <p:spPr>
          <a:xfrm>
            <a:off x="762000" y="5019675"/>
            <a:ext cx="10572750" cy="428625"/>
          </a:xfrm>
          <a:prstGeom prst="rect">
            <a:avLst/>
          </a:prstGeom>
          <a:noFill/>
          <a:ln w="0">
            <a:noFill/>
          </a:ln>
        </p:spPr>
        <p:txBody>
          <a:bodyPr>
            <a:noAutofit/>
          </a:bodyPr>
          <a:lstStyle/>
          <a:p>
            <a:pPr>
              <a:defRPr sz="1950" b="0">
                <a:solidFill>
                  <a:srgbClr val="202B58"/>
                </a:solidFill>
                <a:latin typeface="Noto Sans CJK JP"/>
                <a:ea typeface="Noto Sans CJK JP"/>
                <a:cs typeface="Noto Sans CJK JP"/>
              </a:defRPr>
            </a:pPr>
            <a:r>
              <a:rPr sz="1950" b="0">
                <a:solidFill>
                  <a:srgbClr val="202B58"/>
                </a:solidFill>
                <a:latin typeface="Noto Sans CJK JP"/>
                <a:ea typeface="Noto Sans CJK JP"/>
                <a:cs typeface="Noto Sans CJK JP"/>
              </a:rPr>
              <a:t>90 kWで連続充電しても、無損失の理論最短は2.09時間</a:t>
            </a:r>
          </a:p>
        </p:txBody>
      </p:sp>
      <p:sp>
        <p:nvSpPr>
          <p:cNvPr id="9" name="正方形/長方形 8">
            <a:extLst>
              <a:ext uri="{FF2B5EF4-FFF2-40B4-BE49-F238E27FC236}">
                <a16:creationId xmlns:a16="http://schemas.microsoft.com/office/drawing/2014/main" id="{C68C5983-032E-4A07-B4C9-7D19026F981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63973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225A9587-8BB5-4D33-8F05-1C82DED8CA8B}"/>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車両別の充電電力：最大充電量の車両例</a:t>
            </a:r>
          </a:p>
        </p:txBody>
      </p:sp>
      <p:sp>
        <p:nvSpPr>
          <p:cNvPr id="2" name="正方形/長方形 1">
            <a:extLst>
              <a:ext uri="{FF2B5EF4-FFF2-40B4-BE49-F238E27FC236}">
                <a16:creationId xmlns:a16="http://schemas.microsoft.com/office/drawing/2014/main" id="{E4D04605-60AA-4EE5-979A-B01AE8D6D133}"/>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各条件で一日の充電器入力が最大の1台を選ぶ。同一車両・平均車両の比較ではない</a:t>
            </a:r>
          </a:p>
        </p:txBody>
      </p:sp>
      <p:sp>
        <p:nvSpPr>
          <p:cNvPr id="3" name="正方形/長方形 2">
            <a:extLst>
              <a:ext uri="{FF2B5EF4-FFF2-40B4-BE49-F238E27FC236}">
                <a16:creationId xmlns:a16="http://schemas.microsoft.com/office/drawing/2014/main" id="{80C4C46D-1685-4D4E-89F5-4C111DE617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高PVの例は4.00時間、低PVの例は3.25時間に分けて充電</a:t>
            </a:r>
          </a:p>
        </p:txBody>
      </p:sp>
      <p:sp>
        <p:nvSpPr>
          <p:cNvPr id="4" name="正方形/長方形 3">
            <a:extLst>
              <a:ext uri="{FF2B5EF4-FFF2-40B4-BE49-F238E27FC236}">
                <a16:creationId xmlns:a16="http://schemas.microsoft.com/office/drawing/2014/main" id="{81C48A75-95AC-4E6A-994C-A5353FF33635}"/>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時間は正の充電電力がある15分枠の合計。連続した充電時間ではない。</a:t>
            </a:r>
          </a:p>
        </p:txBody>
      </p:sp>
      <p:sp>
        <p:nvSpPr>
          <p:cNvPr id="5" name="正方形/長方形 4">
            <a:extLst>
              <a:ext uri="{FF2B5EF4-FFF2-40B4-BE49-F238E27FC236}">
                <a16:creationId xmlns:a16="http://schemas.microsoft.com/office/drawing/2014/main" id="{53B16305-BB59-4094-BEBF-AD068CD107B0}"/>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8</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17F22ED9-A8A6-4FC0-A390-A8C509FFE95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28422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AB0E2-AC41-4BEA-88A2-817C6ECA9417}"/>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同じ車両例のSOC軌跡</a:t>
            </a:r>
          </a:p>
        </p:txBody>
      </p:sp>
      <p:sp>
        <p:nvSpPr>
          <p:cNvPr id="2" name="正方形/長方形 1">
            <a:extLst>
              <a:ext uri="{FF2B5EF4-FFF2-40B4-BE49-F238E27FC236}">
                <a16:creationId xmlns:a16="http://schemas.microsoft.com/office/drawing/2014/main" id="{19C246C4-C00D-4910-80C6-421C3B21BC4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前ページの各車両を追跡。上昇は充電、低下はモデル上の運行消費</a:t>
            </a:r>
          </a:p>
        </p:txBody>
      </p:sp>
      <p:sp>
        <p:nvSpPr>
          <p:cNvPr id="3" name="正方形/長方形 2">
            <a:extLst>
              <a:ext uri="{FF2B5EF4-FFF2-40B4-BE49-F238E27FC236}">
                <a16:creationId xmlns:a16="http://schemas.microsoft.com/office/drawing/2014/main" id="{E4724D43-2454-4D61-8372-1756259E4B1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高PVの例は最大93.37%。入力上限90%との不一致を検出</a:t>
            </a:r>
          </a:p>
        </p:txBody>
      </p:sp>
      <p:sp>
        <p:nvSpPr>
          <p:cNvPr id="4" name="正方形/長方形 3">
            <a:extLst>
              <a:ext uri="{FF2B5EF4-FFF2-40B4-BE49-F238E27FC236}">
                <a16:creationId xmlns:a16="http://schemas.microsoft.com/office/drawing/2014/main" id="{78BE83F5-D0BE-4ECE-A4FF-44496D2728B3}"/>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SOCは15分枠の開始値と24時終端値。上限線は入力指定値。保存モデルは容量100%を上限とする。</a:t>
            </a:r>
          </a:p>
        </p:txBody>
      </p:sp>
      <p:sp>
        <p:nvSpPr>
          <p:cNvPr id="5" name="正方形/長方形 4">
            <a:extLst>
              <a:ext uri="{FF2B5EF4-FFF2-40B4-BE49-F238E27FC236}">
                <a16:creationId xmlns:a16="http://schemas.microsoft.com/office/drawing/2014/main" id="{F560B12D-C42D-41AC-BFF6-AE1C3B0E21F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9</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A446CD0-A253-4A83-879D-E7099474908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63149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7AA13DF-0E84-4723-BF0E-18365F9ACC79}"/>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配車と燃料：便数だけでなく距離で確認</a:t>
            </a:r>
          </a:p>
        </p:txBody>
      </p:sp>
      <p:sp>
        <p:nvSpPr>
          <p:cNvPr id="2" name="正方形/長方形 1">
            <a:extLst>
              <a:ext uri="{FF2B5EF4-FFF2-40B4-BE49-F238E27FC236}">
                <a16:creationId xmlns:a16="http://schemas.microsoft.com/office/drawing/2014/main" id="{B055709C-DFB1-405D-9CD2-0A5024EC027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営業便の総距離は両条件とも2,136.74 km。担当車種だけが変わる</a:t>
            </a:r>
          </a:p>
        </p:txBody>
      </p:sp>
      <p:sp>
        <p:nvSpPr>
          <p:cNvPr id="3" name="正方形/長方形 2">
            <a:extLst>
              <a:ext uri="{FF2B5EF4-FFF2-40B4-BE49-F238E27FC236}">
                <a16:creationId xmlns:a16="http://schemas.microsoft.com/office/drawing/2014/main" id="{6D042869-F73E-4349-8440-612DC07A50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高PVではBEVが担う営業距離が増え、燃料消費が減った</a:t>
            </a:r>
          </a:p>
        </p:txBody>
      </p:sp>
      <p:sp>
        <p:nvSpPr>
          <p:cNvPr id="4" name="正方形/長方形 3">
            <a:extLst>
              <a:ext uri="{FF2B5EF4-FFF2-40B4-BE49-F238E27FC236}">
                <a16:creationId xmlns:a16="http://schemas.microsoft.com/office/drawing/2014/main" id="{207D3E1B-FCCF-4055-8A1E-D6E8A0903AC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営業距離は回送を除く。燃料は回送等を含む最終台帳であり、営業距離だけから再計算しない。</a:t>
            </a:r>
          </a:p>
        </p:txBody>
      </p:sp>
      <p:sp>
        <p:nvSpPr>
          <p:cNvPr id="5" name="正方形/長方形 4">
            <a:extLst>
              <a:ext uri="{FF2B5EF4-FFF2-40B4-BE49-F238E27FC236}">
                <a16:creationId xmlns:a16="http://schemas.microsoft.com/office/drawing/2014/main" id="{14E83421-AED2-4148-85B2-4119DF3680ED}"/>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10</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43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指標</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稼働台数 BEV / ICE</a:t>
                      </a:r>
                    </a:p>
                  </a:txBody>
                  <a:tcPr>
                    <a:solidFill>
                      <a:srgbClr val="F1F5F8"/>
                    </a:solidFill>
                  </a:tcPr>
                </a:tc>
                <a:tc>
                  <a:txBody>
                    <a:bodyPr/>
                    <a:lstStyle/>
                    <a:p>
                      <a:r>
                        <a:rPr sz="1725" b="0">
                          <a:solidFill>
                            <a:srgbClr val="202B58"/>
                          </a:solidFill>
                          <a:latin typeface="Noto Sans CJK JP"/>
                          <a:ea typeface="Noto Sans CJK JP"/>
                          <a:cs typeface="Noto Sans CJK JP"/>
                        </a:rPr>
                        <a:t>28 / 4</a:t>
                      </a:r>
                    </a:p>
                  </a:txBody>
                  <a:tcPr>
                    <a:solidFill>
                      <a:srgbClr val="F1F5F8"/>
                    </a:solidFill>
                  </a:tcPr>
                </a:tc>
                <a:tc>
                  <a:txBody>
                    <a:bodyPr/>
                    <a:lstStyle/>
                    <a:p>
                      <a:r>
                        <a:rPr sz="1725" b="0">
                          <a:solidFill>
                            <a:srgbClr val="202B58"/>
                          </a:solidFill>
                          <a:latin typeface="Noto Sans CJK JP"/>
                          <a:ea typeface="Noto Sans CJK JP"/>
                          <a:cs typeface="Noto Sans CJK JP"/>
                        </a:rPr>
                        <a:t>21 / 11</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担当便 BEV / ICE</a:t>
                      </a:r>
                    </a:p>
                  </a:txBody>
                  <a:tcPr>
                    <a:solidFill>
                      <a:srgbClr val="FFFFFF"/>
                    </a:solidFill>
                  </a:tcPr>
                </a:tc>
                <a:tc>
                  <a:txBody>
                    <a:bodyPr/>
                    <a:lstStyle/>
                    <a:p>
                      <a:r>
                        <a:rPr sz="1725" b="0">
                          <a:solidFill>
                            <a:srgbClr val="202B58"/>
                          </a:solidFill>
                          <a:latin typeface="Noto Sans CJK JP"/>
                          <a:ea typeface="Noto Sans CJK JP"/>
                          <a:cs typeface="Noto Sans CJK JP"/>
                        </a:rPr>
                        <a:t>199 / 65</a:t>
                      </a:r>
                    </a:p>
                  </a:txBody>
                  <a:tcPr>
                    <a:solidFill>
                      <a:srgbClr val="FFFFFF"/>
                    </a:solidFill>
                  </a:tcPr>
                </a:tc>
                <a:tc>
                  <a:txBody>
                    <a:bodyPr/>
                    <a:lstStyle/>
                    <a:p>
                      <a:r>
                        <a:rPr sz="1725" b="0">
                          <a:solidFill>
                            <a:srgbClr val="202B58"/>
                          </a:solidFill>
                          <a:latin typeface="Noto Sans CJK JP"/>
                          <a:ea typeface="Noto Sans CJK JP"/>
                          <a:cs typeface="Noto Sans CJK JP"/>
                        </a:rPr>
                        <a:t>91 / 173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BEV営業距離 [km]</a:t>
                      </a:r>
                    </a:p>
                  </a:txBody>
                  <a:tcPr>
                    <a:solidFill>
                      <a:srgbClr val="F1F5F8"/>
                    </a:solidFill>
                  </a:tcPr>
                </a:tc>
                <a:tc>
                  <a:txBody>
                    <a:bodyPr/>
                    <a:lstStyle/>
                    <a:p>
                      <a:r>
                        <a:rPr sz="1725" b="0">
                          <a:solidFill>
                            <a:srgbClr val="202B58"/>
                          </a:solidFill>
                          <a:latin typeface="Noto Sans CJK JP"/>
                          <a:ea typeface="Noto Sans CJK JP"/>
                          <a:cs typeface="Noto Sans CJK JP"/>
                        </a:rPr>
                        <a:t>1,555.04</a:t>
                      </a:r>
                    </a:p>
                  </a:txBody>
                  <a:tcPr>
                    <a:solidFill>
                      <a:srgbClr val="F1F5F8"/>
                    </a:solidFill>
                  </a:tcPr>
                </a:tc>
                <a:tc>
                  <a:txBody>
                    <a:bodyPr/>
                    <a:lstStyle/>
                    <a:p>
                      <a:r>
                        <a:rPr sz="1725" b="0">
                          <a:solidFill>
                            <a:srgbClr val="202B58"/>
                          </a:solidFill>
                          <a:latin typeface="Noto Sans CJK JP"/>
                          <a:ea typeface="Noto Sans CJK JP"/>
                          <a:cs typeface="Noto Sans CJK JP"/>
                        </a:rPr>
                        <a:t>635.21</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ICE営業距離 [km]</a:t>
                      </a:r>
                    </a:p>
                  </a:txBody>
                  <a:tcPr>
                    <a:solidFill>
                      <a:srgbClr val="FFFFFF"/>
                    </a:solidFill>
                  </a:tcPr>
                </a:tc>
                <a:tc>
                  <a:txBody>
                    <a:bodyPr/>
                    <a:lstStyle/>
                    <a:p>
                      <a:r>
                        <a:rPr sz="1725" b="0">
                          <a:solidFill>
                            <a:srgbClr val="202B58"/>
                          </a:solidFill>
                          <a:latin typeface="Noto Sans CJK JP"/>
                          <a:ea typeface="Noto Sans CJK JP"/>
                          <a:cs typeface="Noto Sans CJK JP"/>
                        </a:rPr>
                        <a:t>581.70</a:t>
                      </a:r>
                    </a:p>
                  </a:txBody>
                  <a:tcPr>
                    <a:solidFill>
                      <a:srgbClr val="FFFFFF"/>
                    </a:solidFill>
                  </a:tcPr>
                </a:tc>
                <a:tc>
                  <a:txBody>
                    <a:bodyPr/>
                    <a:lstStyle/>
                    <a:p>
                      <a:r>
                        <a:rPr sz="1725" b="0">
                          <a:solidFill>
                            <a:srgbClr val="202B58"/>
                          </a:solidFill>
                          <a:latin typeface="Noto Sans CJK JP"/>
                          <a:ea typeface="Noto Sans CJK JP"/>
                          <a:cs typeface="Noto Sans CJK JP"/>
                        </a:rPr>
                        <a:t>1,501.52</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燃料消費 [L]</a:t>
                      </a:r>
                    </a:p>
                  </a:txBody>
                  <a:tcPr>
                    <a:solidFill>
                      <a:srgbClr val="F1F5F8"/>
                    </a:solidFill>
                  </a:tcPr>
                </a:tc>
                <a:tc>
                  <a:txBody>
                    <a:bodyPr/>
                    <a:lstStyle/>
                    <a:p>
                      <a:r>
                        <a:rPr sz="1725" b="0">
                          <a:solidFill>
                            <a:srgbClr val="202B58"/>
                          </a:solidFill>
                          <a:latin typeface="Noto Sans CJK JP"/>
                          <a:ea typeface="Noto Sans CJK JP"/>
                          <a:cs typeface="Noto Sans CJK JP"/>
                        </a:rPr>
                        <a:t>137.521</a:t>
                      </a:r>
                    </a:p>
                  </a:txBody>
                  <a:tcPr>
                    <a:solidFill>
                      <a:srgbClr val="F1F5F8"/>
                    </a:solidFill>
                  </a:tcPr>
                </a:tc>
                <a:tc>
                  <a:txBody>
                    <a:bodyPr/>
                    <a:lstStyle/>
                    <a:p>
                      <a:r>
                        <a:rPr sz="1725" b="0">
                          <a:solidFill>
                            <a:srgbClr val="202B58"/>
                          </a:solidFill>
                          <a:latin typeface="Noto Sans CJK JP"/>
                          <a:ea typeface="Noto Sans CJK JP"/>
                          <a:cs typeface="Noto Sans CJK JP"/>
                        </a:rPr>
                        <a:t>357.881</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A14C6159-8CD4-4419-A02F-D1FA73E8783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654465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9D32986-E0F5-47B2-ACB9-BA9C4DD339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使用台数費用を含む、一日の評価額</a:t>
            </a:r>
          </a:p>
        </p:txBody>
      </p:sp>
      <p:sp>
        <p:nvSpPr>
          <p:cNvPr id="2" name="正方形/長方形 1">
            <a:extLst>
              <a:ext uri="{FF2B5EF4-FFF2-40B4-BE49-F238E27FC236}">
                <a16:creationId xmlns:a16="http://schemas.microsoft.com/office/drawing/2014/main" id="{91B67599-6331-4A32-8271-23F05C8CA1D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C使用 = 20,000 JPY/台日 × 使用台数。係数は固定、使用台数は配車で決まる</a:t>
            </a:r>
          </a:p>
        </p:txBody>
      </p:sp>
      <p:sp>
        <p:nvSpPr>
          <p:cNvPr id="3" name="正方形/長方形 2">
            <a:extLst>
              <a:ext uri="{FF2B5EF4-FFF2-40B4-BE49-F238E27FC236}">
                <a16:creationId xmlns:a16="http://schemas.microsoft.com/office/drawing/2014/main" id="{76F15758-CCED-4C36-B9E8-2597E78FCF6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使用台数は両条件32台。差額37,614.84円の主因は燃料費</a:t>
            </a:r>
          </a:p>
        </p:txBody>
      </p:sp>
      <p:sp>
        <p:nvSpPr>
          <p:cNvPr id="4" name="正方形/長方形 3">
            <a:extLst>
              <a:ext uri="{FF2B5EF4-FFF2-40B4-BE49-F238E27FC236}">
                <a16:creationId xmlns:a16="http://schemas.microsoft.com/office/drawing/2014/main" id="{E025BEA4-4542-4F43-A217-CAED733864A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燃料は未補給分の在庫評価を含む。現金支払額・総保有費用とは異なる。</a:t>
            </a:r>
          </a:p>
        </p:txBody>
      </p:sp>
      <p:sp>
        <p:nvSpPr>
          <p:cNvPr id="5" name="正方形/長方形 4">
            <a:extLst>
              <a:ext uri="{FF2B5EF4-FFF2-40B4-BE49-F238E27FC236}">
                <a16:creationId xmlns:a16="http://schemas.microsoft.com/office/drawing/2014/main" id="{F218264B-EABC-436E-8FF6-5607DDF9D16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71475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項目 [JPY/日]</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tc>
                  <a:txBody>
                    <a:bodyPr/>
                    <a:lstStyle/>
                    <a:p>
                      <a:r>
                        <a:rPr sz="1725" b="1">
                          <a:solidFill>
                            <a:srgbClr val="FFFFFF"/>
                          </a:solidFill>
                          <a:latin typeface="Noto Sans CJK JP"/>
                          <a:ea typeface="Noto Sans CJK JP"/>
                          <a:cs typeface="Noto Sans CJK JP"/>
                        </a:rPr>
                        <a:t>低PV − 高PV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車両使用費</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燃料費</a:t>
                      </a:r>
                    </a:p>
                  </a:txBody>
                  <a:tcPr>
                    <a:solidFill>
                      <a:srgbClr val="FFFFFF"/>
                    </a:solidFill>
                  </a:tcPr>
                </a:tc>
                <a:tc>
                  <a:txBody>
                    <a:bodyPr/>
                    <a:lstStyle/>
                    <a:p>
                      <a:r>
                        <a:rPr sz="1725" b="0">
                          <a:solidFill>
                            <a:srgbClr val="202B58"/>
                          </a:solidFill>
                          <a:latin typeface="Noto Sans CJK JP"/>
                          <a:ea typeface="Noto Sans CJK JP"/>
                          <a:cs typeface="Noto Sans CJK JP"/>
                        </a:rPr>
                        <a:t>20,628.17</a:t>
                      </a:r>
                    </a:p>
                  </a:txBody>
                  <a:tcPr>
                    <a:solidFill>
                      <a:srgbClr val="FFFFFF"/>
                    </a:solidFill>
                  </a:tcPr>
                </a:tc>
                <a:tc>
                  <a:txBody>
                    <a:bodyPr/>
                    <a:lstStyle/>
                    <a:p>
                      <a:r>
                        <a:rPr sz="1725" b="0">
                          <a:solidFill>
                            <a:srgbClr val="202B58"/>
                          </a:solidFill>
                          <a:latin typeface="Noto Sans CJK JP"/>
                          <a:ea typeface="Noto Sans CJK JP"/>
                          <a:cs typeface="Noto Sans CJK JP"/>
                        </a:rPr>
                        <a:t>53,682.20</a:t>
                      </a:r>
                    </a:p>
                  </a:txBody>
                  <a:tcPr>
                    <a:solidFill>
                      <a:srgbClr val="FFFFFF"/>
                    </a:solidFill>
                  </a:tcPr>
                </a:tc>
                <a:tc>
                  <a:txBody>
                    <a:bodyPr/>
                    <a:lstStyle/>
                    <a:p>
                      <a:r>
                        <a:rPr sz="1725" b="0">
                          <a:solidFill>
                            <a:srgbClr val="202B58"/>
                          </a:solidFill>
                          <a:latin typeface="Noto Sans CJK JP"/>
                          <a:ea typeface="Noto Sans CJK JP"/>
                          <a:cs typeface="Noto Sans CJK JP"/>
                        </a:rPr>
                        <a:t>33,054.03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系統電気料金</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CO₂費</a:t>
                      </a:r>
                    </a:p>
                  </a:txBody>
                  <a:tcPr>
                    <a:solidFill>
                      <a:srgbClr val="FFFFFF"/>
                    </a:solidFill>
                  </a:tcPr>
                </a:tc>
                <a:tc>
                  <a:txBody>
                    <a:bodyPr/>
                    <a:lstStyle/>
                    <a:p>
                      <a:r>
                        <a:rPr sz="1725" b="0">
                          <a:solidFill>
                            <a:srgbClr val="202B58"/>
                          </a:solidFill>
                          <a:latin typeface="Noto Sans CJK JP"/>
                          <a:ea typeface="Noto Sans CJK JP"/>
                          <a:cs typeface="Noto Sans CJK JP"/>
                        </a:rPr>
                        <a:t>355.62</a:t>
                      </a:r>
                    </a:p>
                  </a:txBody>
                  <a:tcPr>
                    <a:solidFill>
                      <a:srgbClr val="FFFFFF"/>
                    </a:solidFill>
                  </a:tcPr>
                </a:tc>
                <a:tc>
                  <a:txBody>
                    <a:bodyPr/>
                    <a:lstStyle/>
                    <a:p>
                      <a:r>
                        <a:rPr sz="1725" b="0">
                          <a:solidFill>
                            <a:srgbClr val="202B58"/>
                          </a:solidFill>
                          <a:latin typeface="Noto Sans CJK JP"/>
                          <a:ea typeface="Noto Sans CJK JP"/>
                          <a:cs typeface="Noto Sans CJK JP"/>
                        </a:rPr>
                        <a:t>990.87</a:t>
                      </a:r>
                    </a:p>
                  </a:txBody>
                  <a:tcPr>
                    <a:solidFill>
                      <a:srgbClr val="FFFFFF"/>
                    </a:solidFill>
                  </a:tcPr>
                </a:tc>
                <a:tc>
                  <a:txBody>
                    <a:bodyPr/>
                    <a:lstStyle/>
                    <a:p>
                      <a:r>
                        <a:rPr sz="1725" b="0">
                          <a:solidFill>
                            <a:srgbClr val="202B58"/>
                          </a:solidFill>
                          <a:latin typeface="Noto Sans CJK JP"/>
                          <a:ea typeface="Noto Sans CJK JP"/>
                          <a:cs typeface="Noto Sans CJK JP"/>
                        </a:rPr>
                        <a:t>635.25</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合計</a:t>
                      </a:r>
                    </a:p>
                  </a:txBody>
                  <a:tcPr>
                    <a:solidFill>
                      <a:srgbClr val="F1F5F8"/>
                    </a:solidFill>
                  </a:tcPr>
                </a:tc>
                <a:tc>
                  <a:txBody>
                    <a:bodyPr/>
                    <a:lstStyle/>
                    <a:p>
                      <a:r>
                        <a:rPr sz="1725" b="0">
                          <a:solidFill>
                            <a:srgbClr val="202B58"/>
                          </a:solidFill>
                          <a:latin typeface="Noto Sans CJK JP"/>
                          <a:ea typeface="Noto Sans CJK JP"/>
                          <a:cs typeface="Noto Sans CJK JP"/>
                        </a:rPr>
                        <a:t>660,983.78</a:t>
                      </a:r>
                    </a:p>
                  </a:txBody>
                  <a:tcPr>
                    <a:solidFill>
                      <a:srgbClr val="F1F5F8"/>
                    </a:solidFill>
                  </a:tcPr>
                </a:tc>
                <a:tc>
                  <a:txBody>
                    <a:bodyPr/>
                    <a:lstStyle/>
                    <a:p>
                      <a:r>
                        <a:rPr sz="1725" b="0">
                          <a:solidFill>
                            <a:srgbClr val="202B58"/>
                          </a:solidFill>
                          <a:latin typeface="Noto Sans CJK JP"/>
                          <a:ea typeface="Noto Sans CJK JP"/>
                          <a:cs typeface="Noto Sans CJK JP"/>
                        </a:rPr>
                        <a:t>698,598.63</a:t>
                      </a:r>
                    </a:p>
                  </a:txBody>
                  <a:tcPr>
                    <a:solidFill>
                      <a:srgbClr val="F1F5F8"/>
                    </a:solidFill>
                  </a:tcPr>
                </a:tc>
                <a:tc>
                  <a:txBody>
                    <a:bodyPr/>
                    <a:lstStyle/>
                    <a:p>
                      <a:r>
                        <a:rPr sz="1725" b="0">
                          <a:solidFill>
                            <a:srgbClr val="202B58"/>
                          </a:solidFill>
                          <a:latin typeface="Noto Sans CJK JP"/>
                          <a:ea typeface="Noto Sans CJK JP"/>
                          <a:cs typeface="Noto Sans CJK JP"/>
                        </a:rPr>
                        <a:t>37,614.84</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DB30C9B-4C64-40AE-9353-C7C5C362BBC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87760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2291C6-8DF0-4ED1-A8A3-3CEBD9E240ED}"/>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計算時間：設定上限と実測を分ける</a:t>
            </a:r>
          </a:p>
        </p:txBody>
      </p:sp>
      <p:sp>
        <p:nvSpPr>
          <p:cNvPr id="2" name="正方形/長方形 1">
            <a:extLst>
              <a:ext uri="{FF2B5EF4-FFF2-40B4-BE49-F238E27FC236}">
                <a16:creationId xmlns:a16="http://schemas.microsoft.com/office/drawing/2014/main" id="{8DFFCC10-993A-4768-A537-C5350C7B8C7C}"/>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Intel Core i7-12700、Gurobi 13.0.1、1 thread、seed 42</a:t>
            </a:r>
          </a:p>
        </p:txBody>
      </p:sp>
      <p:sp>
        <p:nvSpPr>
          <p:cNvPr id="3" name="正方形/長方形 2">
            <a:extLst>
              <a:ext uri="{FF2B5EF4-FFF2-40B4-BE49-F238E27FC236}">
                <a16:creationId xmlns:a16="http://schemas.microsoft.com/office/drawing/2014/main" id="{4ECF33BB-A06F-457E-B6D2-9197AAA6727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毎時処理は配車を固定し、残り一日の充電・電力運用だけを再計算</a:t>
            </a:r>
          </a:p>
        </p:txBody>
      </p:sp>
      <p:sp>
        <p:nvSpPr>
          <p:cNvPr id="4" name="正方形/長方形 3">
            <a:extLst>
              <a:ext uri="{FF2B5EF4-FFF2-40B4-BE49-F238E27FC236}">
                <a16:creationId xmlns:a16="http://schemas.microsoft.com/office/drawing/2014/main" id="{36047FCF-D7B7-4986-A530-4D3120EECB6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実測は保存フィールドの範囲。候補生成等を含む全工程のwall timeや速度改善率とは異なる。</a:t>
            </a:r>
          </a:p>
        </p:txBody>
      </p:sp>
      <p:sp>
        <p:nvSpPr>
          <p:cNvPr id="5" name="正方形/長方形 4">
            <a:extLst>
              <a:ext uri="{FF2B5EF4-FFF2-40B4-BE49-F238E27FC236}">
                <a16:creationId xmlns:a16="http://schemas.microsoft.com/office/drawing/2014/main" id="{8E47EE80-672B-4B43-B241-321142D418AA}"/>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466725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gridCol w="2047875">
                  <a:extLst>
                    <a:ext uri="{9D8B030D-6E8A-4147-A177-3AD203B41FA5}">
                      <a16:colId xmlns:a16="http://schemas.microsoft.com/office/drawing/2014/main" val="20003"/>
                    </a:ext>
                  </a:extLst>
                </a:gridCol>
              </a:tblGrid>
              <a:tr h="620713">
                <a:tc>
                  <a:txBody>
                    <a:bodyPr/>
                    <a:lstStyle/>
                    <a:p>
                      <a:r>
                        <a:rPr sz="1575" b="1">
                          <a:solidFill>
                            <a:srgbClr val="FFFFFF"/>
                          </a:solidFill>
                          <a:latin typeface="Noto Sans CJK JP"/>
                          <a:ea typeface="Noto Sans CJK JP"/>
                          <a:cs typeface="Noto Sans CJK JP"/>
                        </a:rPr>
                        <a:t>時間項目 [秒]</a:t>
                      </a:r>
                    </a:p>
                  </a:txBody>
                  <a:tcPr>
                    <a:solidFill>
                      <a:srgbClr val="202B58"/>
                    </a:solidFill>
                  </a:tcPr>
                </a:tc>
                <a:tc>
                  <a:txBody>
                    <a:bodyPr/>
                    <a:lstStyle/>
                    <a:p>
                      <a:r>
                        <a:rPr sz="1575" b="1">
                          <a:solidFill>
                            <a:srgbClr val="FFFFFF"/>
                          </a:solidFill>
                          <a:latin typeface="Noto Sans CJK JP"/>
                          <a:ea typeface="Noto Sans CJK JP"/>
                          <a:cs typeface="Noto Sans CJK JP"/>
                        </a:rPr>
                        <a:t>上限設定</a:t>
                      </a:r>
                    </a:p>
                  </a:txBody>
                  <a:tcPr>
                    <a:solidFill>
                      <a:srgbClr val="202B58"/>
                    </a:solidFill>
                  </a:tcPr>
                </a:tc>
                <a:tc>
                  <a:txBody>
                    <a:bodyPr/>
                    <a:lstStyle/>
                    <a:p>
                      <a:r>
                        <a:rPr sz="1575" b="1">
                          <a:solidFill>
                            <a:srgbClr val="FFFFFF"/>
                          </a:solidFill>
                          <a:latin typeface="Noto Sans CJK JP"/>
                          <a:ea typeface="Noto Sans CJK JP"/>
                          <a:cs typeface="Noto Sans CJK JP"/>
                        </a:rPr>
                        <a:t>高PV 実測</a:t>
                      </a:r>
                    </a:p>
                  </a:txBody>
                  <a:tcPr>
                    <a:solidFill>
                      <a:srgbClr val="202B58"/>
                    </a:solidFill>
                  </a:tcPr>
                </a:tc>
                <a:tc>
                  <a:txBody>
                    <a:bodyPr/>
                    <a:lstStyle/>
                    <a:p>
                      <a:r>
                        <a:rPr sz="1575" b="1">
                          <a:solidFill>
                            <a:srgbClr val="FFFFFF"/>
                          </a:solidFill>
                          <a:latin typeface="Noto Sans CJK JP"/>
                          <a:ea typeface="Noto Sans CJK JP"/>
                          <a:cs typeface="Noto Sans CJK JP"/>
                        </a:rPr>
                        <a:t>低PV 実測</a:t>
                      </a:r>
                    </a:p>
                  </a:txBody>
                  <a:tcPr>
                    <a:solidFill>
                      <a:srgbClr val="202B58"/>
                    </a:solidFill>
                  </a:tcPr>
                </a:tc>
                <a:extLst>
                  <a:ext uri="{0D108BD9-81ED-4DB2-BD59-A6C34878D82A}">
                    <a16:rowId xmlns:a16="http://schemas.microsoft.com/office/drawing/2014/main" val="10000"/>
                  </a:ext>
                </a:extLst>
              </a:tr>
              <a:tr h="620713">
                <a:tc>
                  <a:txBody>
                    <a:bodyPr/>
                    <a:lstStyle/>
                    <a:p>
                      <a:r>
                        <a:rPr sz="1575" b="0">
                          <a:solidFill>
                            <a:srgbClr val="202B58"/>
                          </a:solidFill>
                          <a:latin typeface="Noto Sans CJK JP"/>
                          <a:ea typeface="Noto Sans CJK JP"/>
                          <a:cs typeface="Noto Sans CJK JP"/>
                        </a:rPr>
                        <a:t>Stage 1</a:t>
                      </a:r>
                    </a:p>
                  </a:txBody>
                  <a:tcPr>
                    <a:solidFill>
                      <a:srgbClr val="F1F5F8"/>
                    </a:solidFill>
                  </a:tcPr>
                </a:tc>
                <a:tc>
                  <a:txBody>
                    <a:bodyPr/>
                    <a:lstStyle/>
                    <a:p>
                      <a:r>
                        <a:rPr sz="1575" b="0">
                          <a:solidFill>
                            <a:srgbClr val="202B58"/>
                          </a:solidFill>
                          <a:latin typeface="Noto Sans CJK JP"/>
                          <a:ea typeface="Noto Sans CJK JP"/>
                          <a:cs typeface="Noto Sans CJK JP"/>
                        </a:rPr>
                        <a:t>435</a:t>
                      </a:r>
                    </a:p>
                  </a:txBody>
                  <a:tcPr>
                    <a:solidFill>
                      <a:srgbClr val="F1F5F8"/>
                    </a:solidFill>
                  </a:tcPr>
                </a:tc>
                <a:tc>
                  <a:txBody>
                    <a:bodyPr/>
                    <a:lstStyle/>
                    <a:p>
                      <a:r>
                        <a:rPr sz="1575" b="0">
                          <a:solidFill>
                            <a:srgbClr val="202B58"/>
                          </a:solidFill>
                          <a:latin typeface="Noto Sans CJK JP"/>
                          <a:ea typeface="Noto Sans CJK JP"/>
                          <a:cs typeface="Noto Sans CJK JP"/>
                        </a:rPr>
                        <a:t>378.97</a:t>
                      </a:r>
                    </a:p>
                  </a:txBody>
                  <a:tcPr>
                    <a:solidFill>
                      <a:srgbClr val="F1F5F8"/>
                    </a:solidFill>
                  </a:tcPr>
                </a:tc>
                <a:tc>
                  <a:txBody>
                    <a:bodyPr/>
                    <a:lstStyle/>
                    <a:p>
                      <a:r>
                        <a:rPr sz="1575" b="0">
                          <a:solidFill>
                            <a:srgbClr val="202B58"/>
                          </a:solidFill>
                          <a:latin typeface="Noto Sans CJK JP"/>
                          <a:ea typeface="Noto Sans CJK JP"/>
                          <a:cs typeface="Noto Sans CJK JP"/>
                        </a:rPr>
                        <a:t>378.64</a:t>
                      </a:r>
                    </a:p>
                  </a:txBody>
                  <a:tcPr>
                    <a:solidFill>
                      <a:srgbClr val="F1F5F8"/>
                    </a:solidFill>
                  </a:tcPr>
                </a:tc>
                <a:extLst>
                  <a:ext uri="{0D108BD9-81ED-4DB2-BD59-A6C34878D82A}">
                    <a16:rowId xmlns:a16="http://schemas.microsoft.com/office/drawing/2014/main" val="10001"/>
                  </a:ext>
                </a:extLst>
              </a:tr>
              <a:tr h="620713">
                <a:tc>
                  <a:txBody>
                    <a:bodyPr/>
                    <a:lstStyle/>
                    <a:p>
                      <a:r>
                        <a:rPr sz="1575" b="0">
                          <a:solidFill>
                            <a:srgbClr val="202B58"/>
                          </a:solidFill>
                          <a:latin typeface="Noto Sans CJK JP"/>
                          <a:ea typeface="Noto Sans CJK JP"/>
                          <a:cs typeface="Noto Sans CJK JP"/>
                        </a:rPr>
                        <a:t>採用候補のStage 2</a:t>
                      </a:r>
                    </a:p>
                  </a:txBody>
                  <a:tcPr>
                    <a:solidFill>
                      <a:srgbClr val="FFFFFF"/>
                    </a:solidFill>
                  </a:tcPr>
                </a:tc>
                <a:tc>
                  <a:txBody>
                    <a:bodyPr/>
                    <a:lstStyle/>
                    <a:p>
                      <a:r>
                        <a:rPr sz="1575" b="0">
                          <a:solidFill>
                            <a:srgbClr val="202B58"/>
                          </a:solidFill>
                          <a:latin typeface="Noto Sans CJK JP"/>
                          <a:ea typeface="Noto Sans CJK JP"/>
                          <a:cs typeface="Noto Sans CJK JP"/>
                        </a:rPr>
                        <a:t>30 / 候補</a:t>
                      </a:r>
                    </a:p>
                  </a:txBody>
                  <a:tcPr>
                    <a:solidFill>
                      <a:srgbClr val="FFFFFF"/>
                    </a:solidFill>
                  </a:tcPr>
                </a:tc>
                <a:tc>
                  <a:txBody>
                    <a:bodyPr/>
                    <a:lstStyle/>
                    <a:p>
                      <a:r>
                        <a:rPr sz="1575" b="0">
                          <a:solidFill>
                            <a:srgbClr val="202B58"/>
                          </a:solidFill>
                          <a:latin typeface="Noto Sans CJK JP"/>
                          <a:ea typeface="Noto Sans CJK JP"/>
                          <a:cs typeface="Noto Sans CJK JP"/>
                        </a:rPr>
                        <a:t>2.01</a:t>
                      </a:r>
                    </a:p>
                  </a:txBody>
                  <a:tcPr>
                    <a:solidFill>
                      <a:srgbClr val="FFFFFF"/>
                    </a:solidFill>
                  </a:tcPr>
                </a:tc>
                <a:tc>
                  <a:txBody>
                    <a:bodyPr/>
                    <a:lstStyle/>
                    <a:p>
                      <a:r>
                        <a:rPr sz="1575" b="0">
                          <a:solidFill>
                            <a:srgbClr val="202B58"/>
                          </a:solidFill>
                          <a:latin typeface="Noto Sans CJK JP"/>
                          <a:ea typeface="Noto Sans CJK JP"/>
                          <a:cs typeface="Noto Sans CJK JP"/>
                        </a:rPr>
                        <a:t>1.38</a:t>
                      </a:r>
                    </a:p>
                  </a:txBody>
                  <a:tcPr>
                    <a:solidFill>
                      <a:srgbClr val="FFFFFF"/>
                    </a:solidFill>
                  </a:tcPr>
                </a:tc>
                <a:extLst>
                  <a:ext uri="{0D108BD9-81ED-4DB2-BD59-A6C34878D82A}">
                    <a16:rowId xmlns:a16="http://schemas.microsoft.com/office/drawing/2014/main" val="10002"/>
                  </a:ext>
                </a:extLst>
              </a:tr>
              <a:tr h="620713">
                <a:tc>
                  <a:txBody>
                    <a:bodyPr/>
                    <a:lstStyle/>
                    <a:p>
                      <a:r>
                        <a:rPr sz="1575" b="0">
                          <a:solidFill>
                            <a:srgbClr val="202B58"/>
                          </a:solidFill>
                          <a:latin typeface="Noto Sans CJK JP"/>
                          <a:ea typeface="Noto Sans CJK JP"/>
                          <a:cs typeface="Noto Sans CJK JP"/>
                        </a:rPr>
                        <a:t>保存solve_time_seconds</a:t>
                      </a:r>
                    </a:p>
                  </a:txBody>
                  <a:tcPr>
                    <a:solidFill>
                      <a:srgbClr val="F1F5F8"/>
                    </a:solidFill>
                  </a:tcPr>
                </a:tc>
                <a:tc>
                  <a:txBody>
                    <a:bodyPr/>
                    <a:lstStyle/>
                    <a:p>
                      <a:r>
                        <a:rPr sz="1575" b="0">
                          <a:solidFill>
                            <a:srgbClr val="202B58"/>
                          </a:solidFill>
                          <a:latin typeface="Noto Sans CJK JP"/>
                          <a:ea typeface="Noto Sans CJK JP"/>
                          <a:cs typeface="Noto Sans CJK JP"/>
                        </a:rPr>
                        <a:t>全体要求585</a:t>
                      </a:r>
                    </a:p>
                  </a:txBody>
                  <a:tcPr>
                    <a:solidFill>
                      <a:srgbClr val="F1F5F8"/>
                    </a:solidFill>
                  </a:tcPr>
                </a:tc>
                <a:tc>
                  <a:txBody>
                    <a:bodyPr/>
                    <a:lstStyle/>
                    <a:p>
                      <a:r>
                        <a:rPr sz="1575" b="0">
                          <a:solidFill>
                            <a:srgbClr val="202B58"/>
                          </a:solidFill>
                          <a:latin typeface="Noto Sans CJK JP"/>
                          <a:ea typeface="Noto Sans CJK JP"/>
                          <a:cs typeface="Noto Sans CJK JP"/>
                        </a:rPr>
                        <a:t>380.98</a:t>
                      </a:r>
                    </a:p>
                  </a:txBody>
                  <a:tcPr>
                    <a:solidFill>
                      <a:srgbClr val="F1F5F8"/>
                    </a:solidFill>
                  </a:tcPr>
                </a:tc>
                <a:tc>
                  <a:txBody>
                    <a:bodyPr/>
                    <a:lstStyle/>
                    <a:p>
                      <a:r>
                        <a:rPr sz="1575" b="0">
                          <a:solidFill>
                            <a:srgbClr val="202B58"/>
                          </a:solidFill>
                          <a:latin typeface="Noto Sans CJK JP"/>
                          <a:ea typeface="Noto Sans CJK JP"/>
                          <a:cs typeface="Noto Sans CJK JP"/>
                        </a:rPr>
                        <a:t>380.02</a:t>
                      </a:r>
                    </a:p>
                  </a:txBody>
                  <a:tcPr>
                    <a:solidFill>
                      <a:srgbClr val="F1F5F8"/>
                    </a:solidFill>
                  </a:tcPr>
                </a:tc>
                <a:extLst>
                  <a:ext uri="{0D108BD9-81ED-4DB2-BD59-A6C34878D82A}">
                    <a16:rowId xmlns:a16="http://schemas.microsoft.com/office/drawing/2014/main" val="10003"/>
                  </a:ext>
                </a:extLst>
              </a:tr>
              <a:tr h="620713">
                <a:tc>
                  <a:txBody>
                    <a:bodyPr/>
                    <a:lstStyle/>
                    <a:p>
                      <a:r>
                        <a:rPr sz="1575" b="0">
                          <a:solidFill>
                            <a:srgbClr val="202B58"/>
                          </a:solidFill>
                          <a:latin typeface="Noto Sans CJK JP"/>
                          <a:ea typeface="Noto Sans CJK JP"/>
                          <a:cs typeface="Noto Sans CJK JP"/>
                        </a:rPr>
                        <a:t>毎時処理24回のelapsed合計</a:t>
                      </a:r>
                    </a:p>
                  </a:txBody>
                  <a:tcPr>
                    <a:solidFill>
                      <a:srgbClr val="FFFFFF"/>
                    </a:solidFill>
                  </a:tcPr>
                </a:tc>
                <a:tc>
                  <a:txBody>
                    <a:bodyPr/>
                    <a:lstStyle/>
                    <a:p>
                      <a:r>
                        <a:rPr sz="1575" b="0">
                          <a:solidFill>
                            <a:srgbClr val="202B58"/>
                          </a:solidFill>
                          <a:latin typeface="Noto Sans CJK JP"/>
                          <a:ea typeface="Noto Sans CJK JP"/>
                          <a:cs typeface="Noto Sans CJK JP"/>
                        </a:rPr>
                        <a:t>solver 30 / 回</a:t>
                      </a:r>
                    </a:p>
                  </a:txBody>
                  <a:tcPr>
                    <a:solidFill>
                      <a:srgbClr val="FFFFFF"/>
                    </a:solidFill>
                  </a:tcPr>
                </a:tc>
                <a:tc>
                  <a:txBody>
                    <a:bodyPr/>
                    <a:lstStyle/>
                    <a:p>
                      <a:r>
                        <a:rPr sz="1575" b="0">
                          <a:solidFill>
                            <a:srgbClr val="202B58"/>
                          </a:solidFill>
                          <a:latin typeface="Noto Sans CJK JP"/>
                          <a:ea typeface="Noto Sans CJK JP"/>
                          <a:cs typeface="Noto Sans CJK JP"/>
                        </a:rPr>
                        <a:t>99.01</a:t>
                      </a:r>
                    </a:p>
                  </a:txBody>
                  <a:tcPr>
                    <a:solidFill>
                      <a:srgbClr val="FFFFFF"/>
                    </a:solidFill>
                  </a:tcPr>
                </a:tc>
                <a:tc>
                  <a:txBody>
                    <a:bodyPr/>
                    <a:lstStyle/>
                    <a:p>
                      <a:r>
                        <a:rPr sz="1575" b="0">
                          <a:solidFill>
                            <a:srgbClr val="202B58"/>
                          </a:solidFill>
                          <a:latin typeface="Noto Sans CJK JP"/>
                          <a:ea typeface="Noto Sans CJK JP"/>
                          <a:cs typeface="Noto Sans CJK JP"/>
                        </a:rPr>
                        <a:t>95.66</a:t>
                      </a:r>
                    </a:p>
                  </a:txBody>
                  <a:tcPr>
                    <a:solidFill>
                      <a:srgbClr val="FFFFFF"/>
                    </a:solidFill>
                  </a:tcPr>
                </a:tc>
                <a:extLst>
                  <a:ext uri="{0D108BD9-81ED-4DB2-BD59-A6C34878D82A}">
                    <a16:rowId xmlns:a16="http://schemas.microsoft.com/office/drawing/2014/main" val="10004"/>
                  </a:ext>
                </a:extLst>
              </a:tr>
              <a:tr h="620713">
                <a:tc>
                  <a:txBody>
                    <a:bodyPr/>
                    <a:lstStyle/>
                    <a:p>
                      <a:r>
                        <a:rPr sz="1575" b="0">
                          <a:solidFill>
                            <a:srgbClr val="202B58"/>
                          </a:solidFill>
                          <a:latin typeface="Noto Sans CJK JP"/>
                          <a:ea typeface="Noto Sans CJK JP"/>
                          <a:cs typeface="Noto Sans CJK JP"/>
                        </a:rPr>
                        <a:t>毎時処理elapsed最大</a:t>
                      </a:r>
                    </a:p>
                  </a:txBody>
                  <a:tcPr>
                    <a:solidFill>
                      <a:srgbClr val="F1F5F8"/>
                    </a:solidFill>
                  </a:tcPr>
                </a:tc>
                <a:tc>
                  <a:txBody>
                    <a:bodyPr/>
                    <a:lstStyle/>
                    <a:p>
                      <a:r>
                        <a:rPr sz="1575" b="0">
                          <a:solidFill>
                            <a:srgbClr val="202B58"/>
                          </a:solidFill>
                          <a:latin typeface="Noto Sans CJK JP"/>
                          <a:ea typeface="Noto Sans CJK JP"/>
                          <a:cs typeface="Noto Sans CJK JP"/>
                        </a:rPr>
                        <a:t>solver 30 / 回</a:t>
                      </a:r>
                    </a:p>
                  </a:txBody>
                  <a:tcPr>
                    <a:solidFill>
                      <a:srgbClr val="F1F5F8"/>
                    </a:solidFill>
                  </a:tcPr>
                </a:tc>
                <a:tc>
                  <a:txBody>
                    <a:bodyPr/>
                    <a:lstStyle/>
                    <a:p>
                      <a:r>
                        <a:rPr sz="1575" b="0">
                          <a:solidFill>
                            <a:srgbClr val="202B58"/>
                          </a:solidFill>
                          <a:latin typeface="Noto Sans CJK JP"/>
                          <a:ea typeface="Noto Sans CJK JP"/>
                          <a:cs typeface="Noto Sans CJK JP"/>
                        </a:rPr>
                        <a:t>5.35</a:t>
                      </a:r>
                    </a:p>
                  </a:txBody>
                  <a:tcPr>
                    <a:solidFill>
                      <a:srgbClr val="F1F5F8"/>
                    </a:solidFill>
                  </a:tcPr>
                </a:tc>
                <a:tc>
                  <a:txBody>
                    <a:bodyPr/>
                    <a:lstStyle/>
                    <a:p>
                      <a:r>
                        <a:rPr sz="1575" b="0">
                          <a:solidFill>
                            <a:srgbClr val="202B58"/>
                          </a:solidFill>
                          <a:latin typeface="Noto Sans CJK JP"/>
                          <a:ea typeface="Noto Sans CJK JP"/>
                          <a:cs typeface="Noto Sans CJK JP"/>
                        </a:rPr>
                        <a:t>5.05</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32D48628-D1E0-423B-A4C3-D40A3377A5B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83732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37C94CD-5754-4368-ACF9-9039B55BCEBA}"/>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毎時再計算の処理時間：24回すべてを表示</a:t>
            </a:r>
          </a:p>
        </p:txBody>
      </p:sp>
      <p:sp>
        <p:nvSpPr>
          <p:cNvPr id="2" name="正方形/長方形 1">
            <a:extLst>
              <a:ext uri="{FF2B5EF4-FFF2-40B4-BE49-F238E27FC236}">
                <a16:creationId xmlns:a16="http://schemas.microsoft.com/office/drawing/2014/main" id="{A6277490-B4D3-4327-BA53-B48C85E45DA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elapsed_secondsはsolverだけでなく、その毎時処理に含まれる処理を計測</a:t>
            </a:r>
          </a:p>
        </p:txBody>
      </p:sp>
      <p:sp>
        <p:nvSpPr>
          <p:cNvPr id="3" name="正方形/長方形 2">
            <a:extLst>
              <a:ext uri="{FF2B5EF4-FFF2-40B4-BE49-F238E27FC236}">
                <a16:creationId xmlns:a16="http://schemas.microsoft.com/office/drawing/2014/main" id="{0DE113F2-8AFE-4B3A-8CE0-C6B18F628F5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今回の固定2条件では、各回の処理は約3～5.4秒だった</a:t>
            </a:r>
          </a:p>
        </p:txBody>
      </p:sp>
      <p:sp>
        <p:nvSpPr>
          <p:cNvPr id="4" name="正方形/長方形 3">
            <a:extLst>
              <a:ext uri="{FF2B5EF4-FFF2-40B4-BE49-F238E27FC236}">
                <a16:creationId xmlns:a16="http://schemas.microsoft.com/office/drawing/2014/main" id="{F9D0B8C5-24A6-4E60-98CE-E08FAD75558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単発の保存実行における値。分布の安定性・旧方式への高速化率・実運用応答保証は未検証。</a:t>
            </a:r>
          </a:p>
        </p:txBody>
      </p:sp>
      <p:sp>
        <p:nvSpPr>
          <p:cNvPr id="5" name="正方形/長方形 4">
            <a:extLst>
              <a:ext uri="{FF2B5EF4-FFF2-40B4-BE49-F238E27FC236}">
                <a16:creationId xmlns:a16="http://schemas.microsoft.com/office/drawing/2014/main" id="{2C0160D8-5944-431E-AC71-C6E0B52226B3}"/>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13</a:t>
            </a:r>
          </a:p>
        </p:txBody>
      </p:sp>
      <p:graphicFrame>
        <p:nvGraphicFramePr>
          <p:cNvPr id="13" name="Chart"/>
          <p:cNvGraphicFramePr/>
          <p:nvPr/>
        </p:nvGraphicFramePr>
        <p:xfrm>
          <a:off x="619125" y="1704975"/>
          <a:ext cx="10953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657F5EC8-0BED-4F4A-AB31-F2558B5B25B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641019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306DAB2-9C33-40E0-AE1C-0241A03B6EF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Stage 1もPVを考慮する：問題は通常経路の候補不足</a:t>
            </a:r>
          </a:p>
        </p:txBody>
      </p:sp>
      <p:sp>
        <p:nvSpPr>
          <p:cNvPr id="2" name="正方形/長方形 1">
            <a:extLst>
              <a:ext uri="{FF2B5EF4-FFF2-40B4-BE49-F238E27FC236}">
                <a16:creationId xmlns:a16="http://schemas.microsoft.com/office/drawing/2014/main" id="{48120611-2EFB-4C1D-B422-B54506CF21E6}"/>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保存実行では15分単位の電力評価が有効。充電器割当・BESSモードを連続緩和</a:t>
            </a:r>
          </a:p>
        </p:txBody>
      </p:sp>
      <p:graphicFrame>
        <p:nvGraphicFramePr>
          <p:cNvPr id="10" name="表 9"/>
          <p:cNvGraphicFramePr/>
          <p:nvPr/>
        </p:nvGraphicFramePr>
        <p:xfrm>
          <a:off x="571500" y="1714500"/>
          <a:ext cx="11049000" cy="3476625"/>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計算の役割</a:t>
                      </a:r>
                    </a:p>
                  </a:txBody>
                  <a:tcPr>
                    <a:solidFill>
                      <a:srgbClr val="202B58"/>
                    </a:solidFill>
                  </a:tcPr>
                </a:tc>
                <a:tc>
                  <a:txBody>
                    <a:bodyPr/>
                    <a:lstStyle/>
                    <a:p>
                      <a:r>
                        <a:rPr sz="1725" b="1">
                          <a:solidFill>
                            <a:srgbClr val="FFFFFF"/>
                          </a:solidFill>
                          <a:latin typeface="Noto Sans CJK JP"/>
                          <a:ea typeface="Noto Sans CJK JP"/>
                          <a:cs typeface="Noto Sans CJK JP"/>
                        </a:rPr>
                        <a:t>考慮するもの</a:t>
                      </a:r>
                    </a:p>
                  </a:txBody>
                  <a:tcPr>
                    <a:solidFill>
                      <a:srgbClr val="202B58"/>
                    </a:solidFill>
                  </a:tcPr>
                </a:tc>
                <a:tc>
                  <a:txBody>
                    <a:bodyPr/>
                    <a:lstStyle/>
                    <a:p>
                      <a:r>
                        <a:rPr sz="1725" b="1">
                          <a:solidFill>
                            <a:srgbClr val="FFFFFF"/>
                          </a:solidFill>
                          <a:latin typeface="Noto Sans CJK JP"/>
                          <a:ea typeface="Noto Sans CJK JP"/>
                          <a:cs typeface="Noto Sans CJK JP"/>
                        </a:rPr>
                        <a:t>確認上の限界</a:t>
                      </a:r>
                    </a:p>
                  </a:txBody>
                  <a:tcPr>
                    <a:solidFill>
                      <a:srgbClr val="202B58"/>
                    </a:solidFill>
                  </a:tcPr>
                </a:tc>
                <a:extLst>
                  <a:ext uri="{0D108BD9-81ED-4DB2-BD59-A6C34878D82A}">
                    <a16:rowId xmlns:a16="http://schemas.microsoft.com/office/drawing/2014/main" val="10000"/>
                  </a:ext>
                </a:extLst>
              </a:tr>
              <a:tr h="869156">
                <a:tc>
                  <a:txBody>
                    <a:bodyPr/>
                    <a:lstStyle/>
                    <a:p>
                      <a:r>
                        <a:rPr sz="1725" b="0">
                          <a:solidFill>
                            <a:srgbClr val="202B58"/>
                          </a:solidFill>
                          <a:latin typeface="Noto Sans CJK JP"/>
                          <a:ea typeface="Noto Sans CJK JP"/>
                          <a:cs typeface="Noto Sans CJK JP"/>
                        </a:rPr>
                        <a:t>Stage 1：配車候補を作る</a:t>
                      </a:r>
                    </a:p>
                  </a:txBody>
                  <a:tcPr>
                    <a:solidFill>
                      <a:srgbClr val="F1F5F8"/>
                    </a:solidFill>
                  </a:tcPr>
                </a:tc>
                <a:tc>
                  <a:txBody>
                    <a:bodyPr/>
                    <a:lstStyle/>
                    <a:p>
                      <a:r>
                        <a:rPr sz="1725" b="0">
                          <a:solidFill>
                            <a:srgbClr val="202B58"/>
                          </a:solidFill>
                          <a:latin typeface="Noto Sans CJK JP"/>
                          <a:ea typeface="Noto Sans CJK JP"/>
                          <a:cs typeface="Noto Sans CJK JP"/>
                        </a:rPr>
                        <a:t>便割当と時刻別の電力費用</a:t>
                      </a:r>
                    </a:p>
                    <a:p>
                      <a:r>
                        <a:rPr sz="1725" b="0">
                          <a:solidFill>
                            <a:srgbClr val="202B58"/>
                          </a:solidFill>
                          <a:latin typeface="Noto Sans CJK JP"/>
                          <a:ea typeface="Noto Sans CJK JP"/>
                          <a:cs typeface="Noto Sans CJK JP"/>
                        </a:rPr>
                        <a:t>PV・BESS・料金も目的へ入る</a:t>
                      </a:r>
                    </a:p>
                  </a:txBody>
                  <a:tcPr>
                    <a:solidFill>
                      <a:srgbClr val="F1F5F8"/>
                    </a:solidFill>
                  </a:tcPr>
                </a:tc>
                <a:tc>
                  <a:txBody>
                    <a:bodyPr/>
                    <a:lstStyle/>
                    <a:p>
                      <a:r>
                        <a:rPr sz="1725" b="0">
                          <a:solidFill>
                            <a:srgbClr val="202B58"/>
                          </a:solidFill>
                          <a:latin typeface="Noto Sans CJK JP"/>
                          <a:ea typeface="Noto Sans CJK JP"/>
                          <a:cs typeface="Noto Sans CJK JP"/>
                        </a:rPr>
                        <a:t>充電器割当とBESSモード等を緩和</a:t>
                      </a:r>
                    </a:p>
                    <a:p>
                      <a:r>
                        <a:rPr sz="1725" b="0">
                          <a:solidFill>
                            <a:srgbClr val="202B58"/>
                          </a:solidFill>
                          <a:latin typeface="Noto Sans CJK JP"/>
                          <a:ea typeface="Noto Sans CJK JP"/>
                          <a:cs typeface="Noto Sans CJK JP"/>
                        </a:rPr>
                        <a:t>最終費用の最適性保証ではない</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Stage 2：候補を詳しく評価</a:t>
                      </a:r>
                    </a:p>
                  </a:txBody>
                  <a:tcPr>
                    <a:solidFill>
                      <a:srgbClr val="FFFFFF"/>
                    </a:solidFill>
                  </a:tcPr>
                </a:tc>
                <a:tc>
                  <a:txBody>
                    <a:bodyPr/>
                    <a:lstStyle/>
                    <a:p>
                      <a:r>
                        <a:rPr sz="1725" b="0">
                          <a:solidFill>
                            <a:srgbClr val="202B58"/>
                          </a:solidFill>
                          <a:latin typeface="Noto Sans CJK JP"/>
                          <a:ea typeface="Noto Sans CJK JP"/>
                          <a:cs typeface="Noto Sans CJK JP"/>
                        </a:rPr>
                        <a:t>配車固定で充電器・電力を計算</a:t>
                      </a:r>
                    </a:p>
                    <a:p>
                      <a:r>
                        <a:rPr sz="1725" b="0">
                          <a:solidFill>
                            <a:srgbClr val="202B58"/>
                          </a:solidFill>
                          <a:latin typeface="Noto Sans CJK JP"/>
                          <a:ea typeface="Noto Sans CJK JP"/>
                          <a:cs typeface="Noto Sans CJK JP"/>
                        </a:rPr>
                        <a:t>費用の小さい候補を選ぶ</a:t>
                      </a:r>
                    </a:p>
                  </a:txBody>
                  <a:tcPr>
                    <a:solidFill>
                      <a:srgbClr val="FFFFFF"/>
                    </a:solidFill>
                  </a:tcPr>
                </a:tc>
                <a:tc>
                  <a:txBody>
                    <a:bodyPr/>
                    <a:lstStyle/>
                    <a:p>
                      <a:r>
                        <a:rPr sz="1725" b="0">
                          <a:solidFill>
                            <a:srgbClr val="202B58"/>
                          </a:solidFill>
                          <a:latin typeface="Noto Sans CJK JP"/>
                          <a:ea typeface="Noto Sans CJK JP"/>
                          <a:cs typeface="Noto Sans CJK JP"/>
                        </a:rPr>
                        <a:t>渡された候補の外は探さない</a:t>
                      </a:r>
                    </a:p>
                    <a:p>
                      <a:r>
                        <a:rPr sz="1725" b="0">
                          <a:solidFill>
                            <a:srgbClr val="202B58"/>
                          </a:solidFill>
                          <a:latin typeface="Noto Sans CJK JP"/>
                          <a:ea typeface="Noto Sans CJK JP"/>
                          <a:cs typeface="Noto Sans CJK JP"/>
                        </a:rPr>
                        <a:t>入力SOC上限に不一致が残る</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毎時Rolling：運用を更新</a:t>
                      </a:r>
                    </a:p>
                  </a:txBody>
                  <a:tcPr>
                    <a:solidFill>
                      <a:srgbClr val="F1F5F8"/>
                    </a:solidFill>
                  </a:tcPr>
                </a:tc>
                <a:tc>
                  <a:txBody>
                    <a:bodyPr/>
                    <a:lstStyle/>
                    <a:p>
                      <a:r>
                        <a:rPr sz="1725" b="0">
                          <a:solidFill>
                            <a:srgbClr val="202B58"/>
                          </a:solidFill>
                          <a:latin typeface="Noto Sans CJK JP"/>
                          <a:ea typeface="Noto Sans CJK JP"/>
                          <a:cs typeface="Noto Sans CJK JP"/>
                        </a:rPr>
                        <a:t>配車固定で残り一日を再計算</a:t>
                      </a:r>
                    </a:p>
                    <a:p>
                      <a:r>
                        <a:rPr sz="1725" b="0">
                          <a:solidFill>
                            <a:srgbClr val="202B58"/>
                          </a:solidFill>
                          <a:latin typeface="Noto Sans CJK JP"/>
                          <a:ea typeface="Noto Sans CJK JP"/>
                          <a:cs typeface="Noto Sans CJK JP"/>
                        </a:rPr>
                        <a:t>先頭60分を実行として採用</a:t>
                      </a:r>
                    </a:p>
                  </a:txBody>
                  <a:tcPr>
                    <a:solidFill>
                      <a:srgbClr val="F1F5F8"/>
                    </a:solidFill>
                  </a:tcPr>
                </a:tc>
                <a:tc>
                  <a:txBody>
                    <a:bodyPr/>
                    <a:lstStyle/>
                    <a:p>
                      <a:r>
                        <a:rPr sz="1725" b="0">
                          <a:solidFill>
                            <a:srgbClr val="202B58"/>
                          </a:solidFill>
                          <a:latin typeface="Noto Sans CJK JP"/>
                          <a:ea typeface="Noto Sans CJK JP"/>
                          <a:cs typeface="Noto Sans CJK JP"/>
                        </a:rPr>
                        <a:t>配車の車種構成を毎時</a:t>
                      </a:r>
                    </a:p>
                    <a:p>
                      <a:r>
                        <a:rPr sz="1725" b="0">
                          <a:solidFill>
                            <a:srgbClr val="202B58"/>
                          </a:solidFill>
                          <a:latin typeface="Noto Sans CJK JP"/>
                          <a:ea typeface="Noto Sans CJK JP"/>
                          <a:cs typeface="Noto Sans CJK JP"/>
                        </a:rPr>
                        <a:t>選び直しているわけではない</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3CCD7D6A-CE9F-444B-B890-608E9F7ECB33}"/>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候補を1案から22案へ広げ、既にあるPV評価を「配車の選択肢」に生かした</a:t>
            </a:r>
          </a:p>
        </p:txBody>
      </p:sp>
      <p:sp>
        <p:nvSpPr>
          <p:cNvPr id="5" name="正方形/長方形 4">
            <a:extLst>
              <a:ext uri="{FF2B5EF4-FFF2-40B4-BE49-F238E27FC236}">
                <a16:creationId xmlns:a16="http://schemas.microsoft.com/office/drawing/2014/main" id="{57FE257B-35FC-4552-B29E-B13A32F6A928}"/>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DIAGNOSTIC：Stage 1のgapは代理目的。入力SOC上限を修正し、新しい凍結実験で再検証する。</a:t>
            </a:r>
          </a:p>
        </p:txBody>
      </p:sp>
      <p:sp>
        <p:nvSpPr>
          <p:cNvPr id="6" name="正方形/長方形 5">
            <a:extLst>
              <a:ext uri="{FF2B5EF4-FFF2-40B4-BE49-F238E27FC236}">
                <a16:creationId xmlns:a16="http://schemas.microsoft.com/office/drawing/2014/main" id="{03E27C27-0B4C-45DD-ADD5-E8484434F59B}"/>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補足 14</a:t>
            </a:r>
          </a:p>
        </p:txBody>
      </p:sp>
      <p:sp>
        <p:nvSpPr>
          <p:cNvPr id="7" name="正方形/長方形 6">
            <a:extLst>
              <a:ext uri="{FF2B5EF4-FFF2-40B4-BE49-F238E27FC236}">
                <a16:creationId xmlns:a16="http://schemas.microsoft.com/office/drawing/2014/main" id="{63481158-29F7-477E-8307-910A8861FC4D}"/>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72331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0F4F739-DDC4-405E-A701-C69B7F43D8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先行文献の性能表と、本研究の残る比較</a:t>
            </a:r>
          </a:p>
        </p:txBody>
      </p:sp>
      <p:sp>
        <p:nvSpPr>
          <p:cNvPr id="2" name="正方形/長方形 1">
            <a:extLst>
              <a:ext uri="{FF2B5EF4-FFF2-40B4-BE49-F238E27FC236}">
                <a16:creationId xmlns:a16="http://schemas.microsoft.com/office/drawing/2014/main" id="{F924BAF3-8B50-4381-9797-E7BB265F286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Zhouら (2025) Table 5の一部を再構成。論文内の50便・418便の比較</a:t>
            </a:r>
          </a:p>
        </p:txBody>
      </p:sp>
      <p:sp>
        <p:nvSpPr>
          <p:cNvPr id="3" name="正方形/長方形 2">
            <a:extLst>
              <a:ext uri="{FF2B5EF4-FFF2-40B4-BE49-F238E27FC236}">
                <a16:creationId xmlns:a16="http://schemas.microsoft.com/office/drawing/2014/main" id="{42B68AEE-71DE-47B4-B729-A30DC0B3B2C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費用と時間を併記する形式を採用し、本研究のbaseline比較は未実施と明示</a:t>
            </a:r>
          </a:p>
        </p:txBody>
      </p:sp>
      <p:sp>
        <p:nvSpPr>
          <p:cNvPr id="4" name="正方形/長方形 3">
            <a:extLst>
              <a:ext uri="{FF2B5EF4-FFF2-40B4-BE49-F238E27FC236}">
                <a16:creationId xmlns:a16="http://schemas.microsoft.com/office/drawing/2014/main" id="{EEB68266-9B26-480E-9779-D7410F1A344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CNYとJPY、V2G、費用範囲、計算機が異なる。本研究と直接比較して速い・安いとは言えない。</a:t>
            </a:r>
          </a:p>
        </p:txBody>
      </p:sp>
      <p:sp>
        <p:nvSpPr>
          <p:cNvPr id="5" name="正方形/長方形 4">
            <a:extLst>
              <a:ext uri="{FF2B5EF4-FFF2-40B4-BE49-F238E27FC236}">
                <a16:creationId xmlns:a16="http://schemas.microsoft.com/office/drawing/2014/main" id="{264147FD-3421-4D96-8AEE-FD859DBD0D0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15</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0002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規模</a:t>
                      </a:r>
                    </a:p>
                  </a:txBody>
                  <a:tcPr>
                    <a:solidFill>
                      <a:srgbClr val="202B58"/>
                    </a:solidFill>
                  </a:tcPr>
                </a:tc>
                <a:tc>
                  <a:txBody>
                    <a:bodyPr/>
                    <a:lstStyle/>
                    <a:p>
                      <a:r>
                        <a:rPr sz="1725" b="1">
                          <a:solidFill>
                            <a:srgbClr val="FFFFFF"/>
                          </a:solidFill>
                          <a:latin typeface="Noto Sans CJK JP"/>
                          <a:ea typeface="Noto Sans CJK JP"/>
                          <a:cs typeface="Noto Sans CJK JP"/>
                        </a:rPr>
                        <a:t>手法</a:t>
                      </a:r>
                    </a:p>
                  </a:txBody>
                  <a:tcPr>
                    <a:solidFill>
                      <a:srgbClr val="202B58"/>
                    </a:solidFill>
                  </a:tcPr>
                </a:tc>
                <a:tc>
                  <a:txBody>
                    <a:bodyPr/>
                    <a:lstStyle/>
                    <a:p>
                      <a:r>
                        <a:rPr sz="1725" b="1">
                          <a:solidFill>
                            <a:srgbClr val="FFFFFF"/>
                          </a:solidFill>
                          <a:latin typeface="Noto Sans CJK JP"/>
                          <a:ea typeface="Noto Sans CJK JP"/>
                          <a:cs typeface="Noto Sans CJK JP"/>
                        </a:rPr>
                        <a:t>費用 [CNY]</a:t>
                      </a:r>
                    </a:p>
                  </a:txBody>
                  <a:tcPr>
                    <a:solidFill>
                      <a:srgbClr val="202B58"/>
                    </a:solidFill>
                  </a:tcPr>
                </a:tc>
                <a:tc>
                  <a:txBody>
                    <a:bodyPr/>
                    <a:lstStyle/>
                    <a:p>
                      <a:r>
                        <a:rPr sz="1725" b="1">
                          <a:solidFill>
                            <a:srgbClr val="FFFFFF"/>
                          </a:solidFill>
                          <a:latin typeface="Noto Sans CJK JP"/>
                          <a:ea typeface="Noto Sans CJK JP"/>
                          <a:cs typeface="Noto Sans CJK JP"/>
                        </a:rPr>
                        <a:t>時間 [秒]</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50便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4,599.4</a:t>
                      </a:r>
                    </a:p>
                  </a:txBody>
                  <a:tcPr>
                    <a:solidFill>
                      <a:srgbClr val="F1F5F8"/>
                    </a:solidFill>
                  </a:tcPr>
                </a:tc>
                <a:tc>
                  <a:txBody>
                    <a:bodyPr/>
                    <a:lstStyle/>
                    <a:p>
                      <a:r>
                        <a:rPr sz="1725" b="0">
                          <a:solidFill>
                            <a:srgbClr val="202B58"/>
                          </a:solidFill>
                          <a:latin typeface="Noto Sans CJK JP"/>
                          <a:ea typeface="Noto Sans CJK JP"/>
                          <a:cs typeface="Noto Sans CJK JP"/>
                        </a:rPr>
                        <a:t>617.6</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50便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4,630.9</a:t>
                      </a:r>
                    </a:p>
                  </a:txBody>
                  <a:tcPr>
                    <a:solidFill>
                      <a:srgbClr val="FFFFFF"/>
                    </a:solidFill>
                  </a:tcPr>
                </a:tc>
                <a:tc>
                  <a:txBody>
                    <a:bodyPr/>
                    <a:lstStyle/>
                    <a:p>
                      <a:r>
                        <a:rPr sz="1725" b="0">
                          <a:solidFill>
                            <a:srgbClr val="202B58"/>
                          </a:solidFill>
                          <a:latin typeface="Noto Sans CJK JP"/>
                          <a:ea typeface="Noto Sans CJK JP"/>
                          <a:cs typeface="Noto Sans CJK JP"/>
                        </a:rPr>
                        <a:t>14.7</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418便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実行可能解なし</a:t>
                      </a:r>
                    </a:p>
                  </a:txBody>
                  <a:tcPr>
                    <a:solidFill>
                      <a:srgbClr val="F1F5F8"/>
                    </a:solidFill>
                  </a:tcPr>
                </a:tc>
                <a:tc>
                  <a:txBody>
                    <a:bodyPr/>
                    <a:lstStyle/>
                    <a:p>
                      <a:r>
                        <a:rPr sz="1725" b="0">
                          <a:solidFill>
                            <a:srgbClr val="202B58"/>
                          </a:solidFill>
                          <a:latin typeface="Noto Sans CJK JP"/>
                          <a:ea typeface="Noto Sans CJK JP"/>
                          <a:cs typeface="Noto Sans CJK JP"/>
                        </a:rPr>
                        <a:t>6時間制限</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418便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8,758.3</a:t>
                      </a:r>
                    </a:p>
                  </a:txBody>
                  <a:tcPr>
                    <a:solidFill>
                      <a:srgbClr val="FFFFFF"/>
                    </a:solidFill>
                  </a:tcPr>
                </a:tc>
                <a:tc>
                  <a:txBody>
                    <a:bodyPr/>
                    <a:lstStyle/>
                    <a:p>
                      <a:r>
                        <a:rPr sz="1725" b="0">
                          <a:solidFill>
                            <a:srgbClr val="202B58"/>
                          </a:solidFill>
                          <a:latin typeface="Noto Sans CJK JP"/>
                          <a:ea typeface="Noto Sans CJK JP"/>
                          <a:cs typeface="Noto Sans CJK JP"/>
                        </a:rPr>
                        <a:t>202.3</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本研究 264便</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同条件baseline比較</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DC30F130-7C43-4219-A0F5-A82E5349BF2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06044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B7D5856-05BE-4B52-BB58-CC8DFE88DAD4}"/>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発表で示せる結論と、残る研究上の確認</a:t>
            </a:r>
          </a:p>
        </p:txBody>
      </p:sp>
      <p:sp>
        <p:nvSpPr>
          <p:cNvPr id="2" name="正方形/長方形 1">
            <a:extLst>
              <a:ext uri="{FF2B5EF4-FFF2-40B4-BE49-F238E27FC236}">
                <a16:creationId xmlns:a16="http://schemas.microsoft.com/office/drawing/2014/main" id="{4035B469-C26A-4881-B83F-0F8C43E09675}"/>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説明資料の補強と、研究としての採択・最適性・発表承認は別の段階</a:t>
            </a:r>
          </a:p>
        </p:txBody>
      </p:sp>
      <p:sp>
        <p:nvSpPr>
          <p:cNvPr id="3" name="正方形/長方形 2">
            <a:extLst>
              <a:ext uri="{FF2B5EF4-FFF2-40B4-BE49-F238E27FC236}">
                <a16:creationId xmlns:a16="http://schemas.microsoft.com/office/drawing/2014/main" id="{B5DCDB5B-AA95-4F8E-A6CA-002A4C59EE8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保存された2条件の結果を示し、SOC上限の不一致を優先して修正する</a:t>
            </a:r>
          </a:p>
        </p:txBody>
      </p:sp>
      <p:sp>
        <p:nvSpPr>
          <p:cNvPr id="4" name="正方形/長方形 3">
            <a:extLst>
              <a:ext uri="{FF2B5EF4-FFF2-40B4-BE49-F238E27FC236}">
                <a16:creationId xmlns:a16="http://schemas.microsoft.com/office/drawing/2014/main" id="{9103C1A7-E0C3-4AE9-A583-F8D0DBCFC44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teacher_release_status = BLOCKED。未検証項目を解決済みとして発表しない。</a:t>
            </a:r>
          </a:p>
        </p:txBody>
      </p:sp>
      <p:sp>
        <p:nvSpPr>
          <p:cNvPr id="5" name="正方形/長方形 4">
            <a:extLst>
              <a:ext uri="{FF2B5EF4-FFF2-40B4-BE49-F238E27FC236}">
                <a16:creationId xmlns:a16="http://schemas.microsoft.com/office/drawing/2014/main" id="{5A9877F9-BD98-481C-841C-70C24E058E1F}"/>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16</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66700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項目</a:t>
                      </a:r>
                    </a:p>
                  </a:txBody>
                  <a:tcPr>
                    <a:solidFill>
                      <a:srgbClr val="202B58"/>
                    </a:solidFill>
                  </a:tcPr>
                </a:tc>
                <a:tc>
                  <a:txBody>
                    <a:bodyPr/>
                    <a:lstStyle/>
                    <a:p>
                      <a:r>
                        <a:rPr sz="1725" b="1">
                          <a:solidFill>
                            <a:srgbClr val="FFFFFF"/>
                          </a:solidFill>
                          <a:latin typeface="Noto Sans CJK JP"/>
                          <a:ea typeface="Noto Sans CJK JP"/>
                          <a:cs typeface="Noto Sans CJK JP"/>
                        </a:rPr>
                        <a:t>今回示すもの</a:t>
                      </a:r>
                    </a:p>
                  </a:txBody>
                  <a:tcPr>
                    <a:solidFill>
                      <a:srgbClr val="202B58"/>
                    </a:solidFill>
                  </a:tcPr>
                </a:tc>
                <a:tc>
                  <a:txBody>
                    <a:bodyPr/>
                    <a:lstStyle/>
                    <a:p>
                      <a:r>
                        <a:rPr sz="1725" b="1">
                          <a:solidFill>
                            <a:srgbClr val="FFFFFF"/>
                          </a:solidFill>
                          <a:latin typeface="Noto Sans CJK JP"/>
                          <a:ea typeface="Noto Sans CJK JP"/>
                          <a:cs typeface="Noto Sans CJK JP"/>
                        </a:rPr>
                        <a:t>残る確認</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物理・会計</a:t>
                      </a:r>
                    </a:p>
                  </a:txBody>
                  <a:tcPr>
                    <a:solidFill>
                      <a:srgbClr val="F1F5F8"/>
                    </a:solidFill>
                  </a:tcPr>
                </a:tc>
                <a:tc>
                  <a:txBody>
                    <a:bodyPr/>
                    <a:lstStyle/>
                    <a:p>
                      <a:r>
                        <a:rPr sz="1725" b="0">
                          <a:solidFill>
                            <a:srgbClr val="202B58"/>
                          </a:solidFill>
                          <a:latin typeface="Noto Sans CJK JP"/>
                          <a:ea typeface="Noto Sans CJK JP"/>
                          <a:cs typeface="Noto Sans CJK JP"/>
                        </a:rPr>
                        <a:t>台帳一致、SOC上限に不一致</a:t>
                      </a:r>
                    </a:p>
                  </a:txBody>
                  <a:tcPr>
                    <a:solidFill>
                      <a:srgbClr val="F1F5F8"/>
                    </a:solidFill>
                  </a:tcPr>
                </a:tc>
                <a:tc>
                  <a:txBody>
                    <a:bodyPr/>
                    <a:lstStyle/>
                    <a:p>
                      <a:r>
                        <a:rPr sz="1725" b="0">
                          <a:solidFill>
                            <a:srgbClr val="202B58"/>
                          </a:solidFill>
                          <a:latin typeface="Noto Sans CJK JP"/>
                          <a:ea typeface="Noto Sans CJK JP"/>
                          <a:cs typeface="Noto Sans CJK JP"/>
                        </a:rPr>
                        <a:t>上限修正と新しい凍結実験</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最適性</a:t>
                      </a:r>
                    </a:p>
                  </a:txBody>
                  <a:tcPr>
                    <a:solidFill>
                      <a:srgbClr val="FFFFFF"/>
                    </a:solidFill>
                  </a:tcPr>
                </a:tc>
                <a:tc>
                  <a:txBody>
                    <a:bodyPr/>
                    <a:lstStyle/>
                    <a:p>
                      <a:r>
                        <a:rPr sz="1725" b="0">
                          <a:solidFill>
                            <a:srgbClr val="202B58"/>
                          </a:solidFill>
                          <a:latin typeface="Noto Sans CJK JP"/>
                          <a:ea typeface="Noto Sans CJK JP"/>
                          <a:cs typeface="Noto Sans CJK JP"/>
                        </a:rPr>
                        <a:t>22候補内の選択結果</a:t>
                      </a:r>
                    </a:p>
                  </a:txBody>
                  <a:tcPr>
                    <a:solidFill>
                      <a:srgbClr val="FFFFFF"/>
                    </a:solidFill>
                  </a:tcPr>
                </a:tc>
                <a:tc>
                  <a:txBody>
                    <a:bodyPr/>
                    <a:lstStyle/>
                    <a:p>
                      <a:r>
                        <a:rPr sz="1725" b="0">
                          <a:solidFill>
                            <a:srgbClr val="202B58"/>
                          </a:solidFill>
                          <a:latin typeface="Noto Sans CJK JP"/>
                          <a:ea typeface="Noto Sans CJK JP"/>
                          <a:cs typeface="Noto Sans CJK JP"/>
                        </a:rPr>
                        <a:t>統合全体の最適性・候補安定性</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計算時間</a:t>
                      </a:r>
                    </a:p>
                  </a:txBody>
                  <a:tcPr>
                    <a:solidFill>
                      <a:srgbClr val="F1F5F8"/>
                    </a:solidFill>
                  </a:tcPr>
                </a:tc>
                <a:tc>
                  <a:txBody>
                    <a:bodyPr/>
                    <a:lstStyle/>
                    <a:p>
                      <a:r>
                        <a:rPr sz="1725" b="0">
                          <a:solidFill>
                            <a:srgbClr val="202B58"/>
                          </a:solidFill>
                          <a:latin typeface="Noto Sans CJK JP"/>
                          <a:ea typeface="Noto Sans CJK JP"/>
                          <a:cs typeface="Noto Sans CJK JP"/>
                        </a:rPr>
                        <a:t>保存された実測値</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同条件baseline・複数回測定</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PV抑制</a:t>
                      </a:r>
                    </a:p>
                  </a:txBody>
                  <a:tcPr>
                    <a:solidFill>
                      <a:srgbClr val="FFFFFF"/>
                    </a:solidFill>
                  </a:tcPr>
                </a:tc>
                <a:tc>
                  <a:txBody>
                    <a:bodyPr/>
                    <a:lstStyle/>
                    <a:p>
                      <a:r>
                        <a:rPr sz="1725" b="0">
                          <a:solidFill>
                            <a:srgbClr val="202B58"/>
                          </a:solidFill>
                          <a:latin typeface="Noto Sans CJK JP"/>
                          <a:ea typeface="Noto Sans CJK JP"/>
                          <a:cs typeface="Noto Sans CJK JP"/>
                        </a:rPr>
                        <a:t>いつ・どれだけ発生したか</a:t>
                      </a:r>
                    </a:p>
                  </a:txBody>
                  <a:tcPr>
                    <a:solidFill>
                      <a:srgbClr val="FFFFFF"/>
                    </a:solidFill>
                  </a:tcPr>
                </a:tc>
                <a:tc>
                  <a:txBody>
                    <a:bodyPr/>
                    <a:lstStyle/>
                    <a:p>
                      <a:r>
                        <a:rPr sz="1725" b="0">
                          <a:solidFill>
                            <a:srgbClr val="202B58"/>
                          </a:solidFill>
                          <a:latin typeface="Noto Sans CJK JP"/>
                          <a:ea typeface="Noto Sans CJK JP"/>
                          <a:cs typeface="Noto Sans CJK JP"/>
                        </a:rPr>
                        <a:t>配車や設備条件の因果分解</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研究公開・承認</a:t>
                      </a:r>
                    </a:p>
                  </a:txBody>
                  <a:tcPr>
                    <a:solidFill>
                      <a:srgbClr val="F1F5F8"/>
                    </a:solidFill>
                  </a:tcPr>
                </a:tc>
                <a:tc>
                  <a:txBody>
                    <a:bodyPr/>
                    <a:lstStyle/>
                    <a:p>
                      <a:r>
                        <a:rPr sz="1725" b="0">
                          <a:solidFill>
                            <a:srgbClr val="202B58"/>
                          </a:solidFill>
                          <a:latin typeface="Noto Sans CJK JP"/>
                          <a:ea typeface="Noto Sans CJK JP"/>
                          <a:cs typeface="Noto Sans CJK JP"/>
                        </a:rPr>
                        <a:t>実験SHAと出典を明示</a:t>
                      </a:r>
                    </a:p>
                  </a:txBody>
                  <a:tcPr>
                    <a:solidFill>
                      <a:srgbClr val="F1F5F8"/>
                    </a:solidFill>
                  </a:tcPr>
                </a:tc>
                <a:tc>
                  <a:txBody>
                    <a:bodyPr/>
                    <a:lstStyle/>
                    <a:p>
                      <a:r>
                        <a:rPr sz="1725" b="0">
                          <a:solidFill>
                            <a:srgbClr val="202B58"/>
                          </a:solidFill>
                          <a:latin typeface="Noto Sans CJK JP"/>
                          <a:ea typeface="Noto Sans CJK JP"/>
                          <a:cs typeface="Noto Sans CJK JP"/>
                        </a:rPr>
                        <a:t>来歴の残件・独立レビュー・承認</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D302620-EC33-4D03-9E16-FF5EBEFCC5A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56930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C86540B-E930-45C3-AD43-162F6677FE0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追加確認：BEVの入力SOC上限と実行結果が不一致</a:t>
            </a:r>
          </a:p>
        </p:txBody>
      </p:sp>
      <p:sp>
        <p:nvSpPr>
          <p:cNvPr id="2" name="正方形/長方形 1">
            <a:extLst>
              <a:ext uri="{FF2B5EF4-FFF2-40B4-BE49-F238E27FC236}">
                <a16:creationId xmlns:a16="http://schemas.microsoft.com/office/drawing/2014/main" id="{6BB9CC0B-C2ED-4CC6-BCEE-FE59F6A8929F}"/>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P1：入力maxSoc=0.90に対し、実験SHA bb0c005のStage 2は容量100%を上限としていた</a:t>
            </a:r>
          </a:p>
        </p:txBody>
      </p:sp>
      <p:sp>
        <p:nvSpPr>
          <p:cNvPr id="3" name="正方形/長方形 2">
            <a:extLst>
              <a:ext uri="{FF2B5EF4-FFF2-40B4-BE49-F238E27FC236}">
                <a16:creationId xmlns:a16="http://schemas.microsoft.com/office/drawing/2014/main" id="{F7B8F56E-C1EC-4A77-BB67-22665B25747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上限の契約を直し、独立検証を追加してから、クリーンな新SHAで再実験する</a:t>
            </a:r>
          </a:p>
        </p:txBody>
      </p:sp>
      <p:sp>
        <p:nvSpPr>
          <p:cNvPr id="4" name="正方形/長方形 3">
            <a:extLst>
              <a:ext uri="{FF2B5EF4-FFF2-40B4-BE49-F238E27FC236}">
                <a16:creationId xmlns:a16="http://schemas.microsoft.com/office/drawing/2014/main" id="{992184B0-CE6E-4993-BDE8-6C707CD8F9A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図表のためにSOC値を切り詰めたり、入力上限を100%に読み替えたりしていない。</a:t>
            </a:r>
          </a:p>
        </p:txBody>
      </p:sp>
      <p:sp>
        <p:nvSpPr>
          <p:cNvPr id="5" name="正方形/長方形 4">
            <a:extLst>
              <a:ext uri="{FF2B5EF4-FFF2-40B4-BE49-F238E27FC236}">
                <a16:creationId xmlns:a16="http://schemas.microsoft.com/office/drawing/2014/main" id="{4A3735A7-8266-426D-8D1D-6A4483912F7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17</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91125">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650" b="1">
                          <a:solidFill>
                            <a:srgbClr val="FFFFFF"/>
                          </a:solidFill>
                          <a:latin typeface="Noto Sans CJK JP"/>
                          <a:ea typeface="Noto Sans CJK JP"/>
                          <a:cs typeface="Noto Sans CJK JP"/>
                        </a:rPr>
                        <a:t>確認項目</a:t>
                      </a:r>
                    </a:p>
                  </a:txBody>
                  <a:tcPr>
                    <a:solidFill>
                      <a:srgbClr val="202B58"/>
                    </a:solidFill>
                  </a:tcPr>
                </a:tc>
                <a:tc>
                  <a:txBody>
                    <a:bodyPr/>
                    <a:lstStyle/>
                    <a:p>
                      <a:r>
                        <a:rPr sz="1650" b="1">
                          <a:solidFill>
                            <a:srgbClr val="FFFFFF"/>
                          </a:solidFill>
                          <a:latin typeface="Noto Sans CJK JP"/>
                          <a:ea typeface="Noto Sans CJK JP"/>
                          <a:cs typeface="Noto Sans CJK JP"/>
                        </a:rPr>
                        <a:t>高PV</a:t>
                      </a:r>
                    </a:p>
                  </a:txBody>
                  <a:tcPr>
                    <a:solidFill>
                      <a:srgbClr val="202B58"/>
                    </a:solidFill>
                  </a:tcPr>
                </a:tc>
                <a:tc>
                  <a:txBody>
                    <a:bodyPr/>
                    <a:lstStyle/>
                    <a:p>
                      <a:r>
                        <a:rPr sz="165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650" b="0">
                          <a:solidFill>
                            <a:srgbClr val="202B58"/>
                          </a:solidFill>
                          <a:latin typeface="Noto Sans CJK JP"/>
                          <a:ea typeface="Noto Sans CJK JP"/>
                          <a:cs typeface="Noto Sans CJK JP"/>
                        </a:rPr>
                        <a:t>Preparedで指定したSOC上限</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extLst>
                  <a:ext uri="{0D108BD9-81ED-4DB2-BD59-A6C34878D82A}">
                    <a16:rowId xmlns:a16="http://schemas.microsoft.com/office/drawing/2014/main" val="10001"/>
                  </a:ext>
                </a:extLst>
              </a:tr>
              <a:tr h="620713">
                <a:tc>
                  <a:txBody>
                    <a:bodyPr/>
                    <a:lstStyle/>
                    <a:p>
                      <a:r>
                        <a:rPr sz="1650" b="0">
                          <a:solidFill>
                            <a:srgbClr val="202B58"/>
                          </a:solidFill>
                          <a:latin typeface="Noto Sans CJK JP"/>
                          <a:ea typeface="Noto Sans CJK JP"/>
                          <a:cs typeface="Noto Sans CJK JP"/>
                        </a:rPr>
                        <a:t>保存された最大SOC</a:t>
                      </a:r>
                    </a:p>
                  </a:txBody>
                  <a:tcPr>
                    <a:solidFill>
                      <a:srgbClr val="FFFFFF"/>
                    </a:solidFill>
                  </a:tcPr>
                </a:tc>
                <a:tc>
                  <a:txBody>
                    <a:bodyPr/>
                    <a:lstStyle/>
                    <a:p>
                      <a:r>
                        <a:rPr sz="1650" b="0">
                          <a:solidFill>
                            <a:srgbClr val="202B58"/>
                          </a:solidFill>
                          <a:latin typeface="Noto Sans CJK JP"/>
                          <a:ea typeface="Noto Sans CJK JP"/>
                          <a:cs typeface="Noto Sans CJK JP"/>
                        </a:rPr>
                        <a:t>93.375%</a:t>
                      </a:r>
                    </a:p>
                  </a:txBody>
                  <a:tcPr>
                    <a:solidFill>
                      <a:srgbClr val="FFFFFF"/>
                    </a:solidFill>
                  </a:tcPr>
                </a:tc>
                <a:tc>
                  <a:txBody>
                    <a:bodyPr/>
                    <a:lstStyle/>
                    <a:p>
                      <a:r>
                        <a:rPr sz="1650" b="0">
                          <a:solidFill>
                            <a:srgbClr val="202B58"/>
                          </a:solidFill>
                          <a:latin typeface="Noto Sans CJK JP"/>
                          <a:ea typeface="Noto Sans CJK JP"/>
                          <a:cs typeface="Noto Sans CJK JP"/>
                        </a:rPr>
                        <a:t>83.186%</a:t>
                      </a:r>
                    </a:p>
                  </a:txBody>
                  <a:tcPr>
                    <a:solidFill>
                      <a:srgbClr val="FFFFFF"/>
                    </a:solidFill>
                  </a:tcPr>
                </a:tc>
                <a:extLst>
                  <a:ext uri="{0D108BD9-81ED-4DB2-BD59-A6C34878D82A}">
                    <a16:rowId xmlns:a16="http://schemas.microsoft.com/office/drawing/2014/main" val="10002"/>
                  </a:ext>
                </a:extLst>
              </a:tr>
              <a:tr h="620713">
                <a:tc>
                  <a:txBody>
                    <a:bodyPr/>
                    <a:lstStyle/>
                    <a:p>
                      <a:r>
                        <a:rPr sz="1650" b="0">
                          <a:solidFill>
                            <a:srgbClr val="202B58"/>
                          </a:solidFill>
                          <a:latin typeface="Noto Sans CJK JP"/>
                          <a:ea typeface="Noto Sans CJK JP"/>
                          <a:cs typeface="Noto Sans CJK JP"/>
                        </a:rPr>
                        <a:t>90%超過の車両数</a:t>
                      </a:r>
                    </a:p>
                  </a:txBody>
                  <a:tcPr>
                    <a:solidFill>
                      <a:srgbClr val="F1F5F8"/>
                    </a:solidFill>
                  </a:tcPr>
                </a:tc>
                <a:tc>
                  <a:txBody>
                    <a:bodyPr/>
                    <a:lstStyle/>
                    <a:p>
                      <a:r>
                        <a:rPr sz="1650" b="0">
                          <a:solidFill>
                            <a:srgbClr val="202B58"/>
                          </a:solidFill>
                          <a:latin typeface="Noto Sans CJK JP"/>
                          <a:ea typeface="Noto Sans CJK JP"/>
                          <a:cs typeface="Noto Sans CJK JP"/>
                        </a:rPr>
                        <a:t>3</a:t>
                      </a:r>
                    </a:p>
                  </a:txBody>
                  <a:tcPr>
                    <a:solidFill>
                      <a:srgbClr val="F1F5F8"/>
                    </a:solidFill>
                  </a:tcPr>
                </a:tc>
                <a:tc>
                  <a:txBody>
                    <a:bodyPr/>
                    <a:lstStyle/>
                    <a:p>
                      <a:r>
                        <a:rPr sz="1650" b="0">
                          <a:solidFill>
                            <a:srgbClr val="202B58"/>
                          </a:solidFill>
                          <a:latin typeface="Noto Sans CJK JP"/>
                          <a:ea typeface="Noto Sans CJK JP"/>
                          <a:cs typeface="Noto Sans CJK JP"/>
                        </a:rPr>
                        <a:t>0</a:t>
                      </a:r>
                    </a:p>
                  </a:txBody>
                  <a:tcPr>
                    <a:solidFill>
                      <a:srgbClr val="F1F5F8"/>
                    </a:solidFill>
                  </a:tcPr>
                </a:tc>
                <a:extLst>
                  <a:ext uri="{0D108BD9-81ED-4DB2-BD59-A6C34878D82A}">
                    <a16:rowId xmlns:a16="http://schemas.microsoft.com/office/drawing/2014/main" val="10003"/>
                  </a:ext>
                </a:extLst>
              </a:tr>
              <a:tr h="620713">
                <a:tc>
                  <a:txBody>
                    <a:bodyPr/>
                    <a:lstStyle/>
                    <a:p>
                      <a:r>
                        <a:rPr sz="1650" b="0">
                          <a:solidFill>
                            <a:srgbClr val="202B58"/>
                          </a:solidFill>
                          <a:latin typeface="Noto Sans CJK JP"/>
                          <a:ea typeface="Noto Sans CJK JP"/>
                          <a:cs typeface="Noto Sans CJK JP"/>
                        </a:rPr>
                        <a:t>90%超過の車両×15分境界点</a:t>
                      </a:r>
                    </a:p>
                  </a:txBody>
                  <a:tcPr>
                    <a:solidFill>
                      <a:srgbClr val="FFFFFF"/>
                    </a:solidFill>
                  </a:tcPr>
                </a:tc>
                <a:tc>
                  <a:txBody>
                    <a:bodyPr/>
                    <a:lstStyle/>
                    <a:p>
                      <a:r>
                        <a:rPr sz="1650" b="0">
                          <a:solidFill>
                            <a:srgbClr val="202B58"/>
                          </a:solidFill>
                          <a:latin typeface="Noto Sans CJK JP"/>
                          <a:ea typeface="Noto Sans CJK JP"/>
                          <a:cs typeface="Noto Sans CJK JP"/>
                        </a:rPr>
                        <a:t>12</a:t>
                      </a:r>
                    </a:p>
                  </a:txBody>
                  <a:tcPr>
                    <a:solidFill>
                      <a:srgbClr val="FFFFFF"/>
                    </a:solidFill>
                  </a:tcPr>
                </a:tc>
                <a:tc>
                  <a:txBody>
                    <a:bodyPr/>
                    <a:lstStyle/>
                    <a:p>
                      <a:r>
                        <a:rPr sz="1650" b="0">
                          <a:solidFill>
                            <a:srgbClr val="202B58"/>
                          </a:solidFill>
                          <a:latin typeface="Noto Sans CJK JP"/>
                          <a:ea typeface="Noto Sans CJK JP"/>
                          <a:cs typeface="Noto Sans CJK JP"/>
                        </a:rPr>
                        <a:t>0</a:t>
                      </a:r>
                    </a:p>
                  </a:txBody>
                  <a:tcPr>
                    <a:solidFill>
                      <a:srgbClr val="FFFFFF"/>
                    </a:solidFill>
                  </a:tcPr>
                </a:tc>
                <a:extLst>
                  <a:ext uri="{0D108BD9-81ED-4DB2-BD59-A6C34878D82A}">
                    <a16:rowId xmlns:a16="http://schemas.microsoft.com/office/drawing/2014/main" val="10004"/>
                  </a:ext>
                </a:extLst>
              </a:tr>
              <a:tr h="620713">
                <a:tc>
                  <a:txBody>
                    <a:bodyPr/>
                    <a:lstStyle/>
                    <a:p>
                      <a:r>
                        <a:rPr sz="1650" b="0">
                          <a:solidFill>
                            <a:srgbClr val="202B58"/>
                          </a:solidFill>
                          <a:latin typeface="Noto Sans CJK JP"/>
                          <a:ea typeface="Noto Sans CJK JP"/>
                          <a:cs typeface="Noto Sans CJK JP"/>
                        </a:rPr>
                        <a:t>今回の扱い</a:t>
                      </a:r>
                    </a:p>
                  </a:txBody>
                  <a:tcPr>
                    <a:solidFill>
                      <a:srgbClr val="F1F5F8"/>
                    </a:solidFill>
                  </a:tcPr>
                </a:tc>
                <a:tc>
                  <a:txBody>
                    <a:bodyPr/>
                    <a:lstStyle/>
                    <a:p>
                      <a:r>
                        <a:rPr sz="1650" b="0">
                          <a:solidFill>
                            <a:srgbClr val="202B58"/>
                          </a:solidFill>
                          <a:latin typeface="Noto Sans CJK JP"/>
                          <a:ea typeface="Noto Sans CJK JP"/>
                          <a:cs typeface="Noto Sans CJK JP"/>
                        </a:rPr>
                        <a:t>診断用、研究結論には未使用</a:t>
                      </a:r>
                    </a:p>
                  </a:txBody>
                  <a:tcPr>
                    <a:solidFill>
                      <a:srgbClr val="F1F5F8"/>
                    </a:solidFill>
                  </a:tcPr>
                </a:tc>
                <a:tc>
                  <a:txBody>
                    <a:bodyPr/>
                    <a:lstStyle/>
                    <a:p>
                      <a:r>
                        <a:rPr sz="1650" b="0">
                          <a:solidFill>
                            <a:srgbClr val="202B58"/>
                          </a:solidFill>
                          <a:latin typeface="Noto Sans CJK JP"/>
                          <a:ea typeface="Noto Sans CJK JP"/>
                          <a:cs typeface="Noto Sans CJK JP"/>
                        </a:rPr>
                        <a:t>比較ペアとして診断用</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CD31548-C97C-49CB-A557-E9A11D0109D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48370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1DAD7B2-347B-48CA-8D90-9ABCA5CAF0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晴条件でも、BEV全35台は使っていない</a:t>
            </a:r>
          </a:p>
        </p:txBody>
      </p:sp>
      <p:sp>
        <p:nvSpPr>
          <p:cNvPr id="2" name="正方形/長方形 1">
            <a:extLst>
              <a:ext uri="{FF2B5EF4-FFF2-40B4-BE49-F238E27FC236}">
                <a16:creationId xmlns:a16="http://schemas.microsoft.com/office/drawing/2014/main" id="{C87309AB-1B7C-489E-A035-DC41483082B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8月29日のPrepared入力：BEV 35台・ICE 25台。両PV条件で共通</a:t>
            </a:r>
          </a:p>
        </p:txBody>
      </p:sp>
      <p:sp>
        <p:nvSpPr>
          <p:cNvPr id="3" name="正方形/長方形 2">
            <a:extLst>
              <a:ext uri="{FF2B5EF4-FFF2-40B4-BE49-F238E27FC236}">
                <a16:creationId xmlns:a16="http://schemas.microsoft.com/office/drawing/2014/main" id="{206CC7B5-9D68-4390-83F1-77C22E082FE2}"/>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高PVはBEV 28/35台（80%）、低PVは21/35台（60%）を使用</a:t>
            </a:r>
          </a:p>
        </p:txBody>
      </p:sp>
      <p:sp>
        <p:nvSpPr>
          <p:cNvPr id="4" name="正方形/長方形 3">
            <a:extLst>
              <a:ext uri="{FF2B5EF4-FFF2-40B4-BE49-F238E27FC236}">
                <a16:creationId xmlns:a16="http://schemas.microsoft.com/office/drawing/2014/main" id="{61081AF3-CFA0-4EA7-8815-AF816FD76EA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未使用の原因は、この集計だけでは特定できない。全台使用を強制した比較は未実施。</a:t>
            </a:r>
          </a:p>
        </p:txBody>
      </p:sp>
      <p:sp>
        <p:nvSpPr>
          <p:cNvPr id="5" name="正方形/長方形 4">
            <a:extLst>
              <a:ext uri="{FF2B5EF4-FFF2-40B4-BE49-F238E27FC236}">
                <a16:creationId xmlns:a16="http://schemas.microsoft.com/office/drawing/2014/main" id="{608AF927-927C-49D4-8374-96A7B37429D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18</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238750">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800" b="1">
                          <a:solidFill>
                            <a:srgbClr val="FFFFFF"/>
                          </a:solidFill>
                          <a:latin typeface="Noto Sans CJK JP"/>
                          <a:ea typeface="Noto Sans CJK JP"/>
                          <a:cs typeface="Noto Sans CJK JP"/>
                        </a:rPr>
                        <a:t>台数 [台]</a:t>
                      </a:r>
                    </a:p>
                  </a:txBody>
                  <a:tcPr>
                    <a:solidFill>
                      <a:srgbClr val="202B58"/>
                    </a:solidFill>
                  </a:tcPr>
                </a:tc>
                <a:tc>
                  <a:txBody>
                    <a:bodyPr/>
                    <a:lstStyle/>
                    <a:p>
                      <a:r>
                        <a:rPr sz="1800" b="1">
                          <a:solidFill>
                            <a:srgbClr val="FFFFFF"/>
                          </a:solidFill>
                          <a:latin typeface="Noto Sans CJK JP"/>
                          <a:ea typeface="Noto Sans CJK JP"/>
                          <a:cs typeface="Noto Sans CJK JP"/>
                        </a:rPr>
                        <a:t>高PV</a:t>
                      </a:r>
                    </a:p>
                  </a:txBody>
                  <a:tcPr>
                    <a:solidFill>
                      <a:srgbClr val="202B58"/>
                    </a:solidFill>
                  </a:tcPr>
                </a:tc>
                <a:tc>
                  <a:txBody>
                    <a:bodyPr/>
                    <a:lstStyle/>
                    <a:p>
                      <a:r>
                        <a:rPr sz="180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800" b="0">
                          <a:solidFill>
                            <a:srgbClr val="202B58"/>
                          </a:solidFill>
                          <a:latin typeface="Noto Sans CJK JP"/>
                          <a:ea typeface="Noto Sans CJK JP"/>
                          <a:cs typeface="Noto Sans CJK JP"/>
                        </a:rPr>
                        <a:t>入力 BEV / ICE</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extLst>
                  <a:ext uri="{0D108BD9-81ED-4DB2-BD59-A6C34878D82A}">
                    <a16:rowId xmlns:a16="http://schemas.microsoft.com/office/drawing/2014/main" val="10001"/>
                  </a:ext>
                </a:extLst>
              </a:tr>
              <a:tr h="620713">
                <a:tc>
                  <a:txBody>
                    <a:bodyPr/>
                    <a:lstStyle/>
                    <a:p>
                      <a:r>
                        <a:rPr sz="1800" b="0">
                          <a:solidFill>
                            <a:srgbClr val="202B58"/>
                          </a:solidFill>
                          <a:latin typeface="Noto Sans CJK JP"/>
                          <a:ea typeface="Noto Sans CJK JP"/>
                          <a:cs typeface="Noto Sans CJK JP"/>
                        </a:rPr>
                        <a:t>使用 BEV / ICE</a:t>
                      </a:r>
                    </a:p>
                  </a:txBody>
                  <a:tcPr>
                    <a:solidFill>
                      <a:srgbClr val="FFFFFF"/>
                    </a:solidFill>
                  </a:tcPr>
                </a:tc>
                <a:tc>
                  <a:txBody>
                    <a:bodyPr/>
                    <a:lstStyle/>
                    <a:p>
                      <a:r>
                        <a:rPr sz="1800" b="0">
                          <a:solidFill>
                            <a:srgbClr val="202B58"/>
                          </a:solidFill>
                          <a:latin typeface="Noto Sans CJK JP"/>
                          <a:ea typeface="Noto Sans CJK JP"/>
                          <a:cs typeface="Noto Sans CJK JP"/>
                        </a:rPr>
                        <a:t>28 / 4</a:t>
                      </a:r>
                    </a:p>
                  </a:txBody>
                  <a:tcPr>
                    <a:solidFill>
                      <a:srgbClr val="FFFFFF"/>
                    </a:solidFill>
                  </a:tcPr>
                </a:tc>
                <a:tc>
                  <a:txBody>
                    <a:bodyPr/>
                    <a:lstStyle/>
                    <a:p>
                      <a:r>
                        <a:rPr sz="1800" b="0">
                          <a:solidFill>
                            <a:srgbClr val="202B58"/>
                          </a:solidFill>
                          <a:latin typeface="Noto Sans CJK JP"/>
                          <a:ea typeface="Noto Sans CJK JP"/>
                          <a:cs typeface="Noto Sans CJK JP"/>
                        </a:rPr>
                        <a:t>21 / 11</a:t>
                      </a:r>
                    </a:p>
                  </a:txBody>
                  <a:tcPr>
                    <a:solidFill>
                      <a:srgbClr val="FFFFFF"/>
                    </a:solidFill>
                  </a:tcPr>
                </a:tc>
                <a:extLst>
                  <a:ext uri="{0D108BD9-81ED-4DB2-BD59-A6C34878D82A}">
                    <a16:rowId xmlns:a16="http://schemas.microsoft.com/office/drawing/2014/main" val="10002"/>
                  </a:ext>
                </a:extLst>
              </a:tr>
              <a:tr h="620713">
                <a:tc>
                  <a:txBody>
                    <a:bodyPr/>
                    <a:lstStyle/>
                    <a:p>
                      <a:r>
                        <a:rPr sz="1800" b="0">
                          <a:solidFill>
                            <a:srgbClr val="202B58"/>
                          </a:solidFill>
                          <a:latin typeface="Noto Sans CJK JP"/>
                          <a:ea typeface="Noto Sans CJK JP"/>
                          <a:cs typeface="Noto Sans CJK JP"/>
                        </a:rPr>
                        <a:t>未使用 BEV / ICE</a:t>
                      </a:r>
                    </a:p>
                  </a:txBody>
                  <a:tcPr>
                    <a:solidFill>
                      <a:srgbClr val="F1F5F8"/>
                    </a:solidFill>
                  </a:tcPr>
                </a:tc>
                <a:tc>
                  <a:txBody>
                    <a:bodyPr/>
                    <a:lstStyle/>
                    <a:p>
                      <a:r>
                        <a:rPr sz="1800" b="0">
                          <a:solidFill>
                            <a:srgbClr val="202B58"/>
                          </a:solidFill>
                          <a:latin typeface="Noto Sans CJK JP"/>
                          <a:ea typeface="Noto Sans CJK JP"/>
                          <a:cs typeface="Noto Sans CJK JP"/>
                        </a:rPr>
                        <a:t>7 / 21</a:t>
                      </a:r>
                    </a:p>
                  </a:txBody>
                  <a:tcPr>
                    <a:solidFill>
                      <a:srgbClr val="F1F5F8"/>
                    </a:solidFill>
                  </a:tcPr>
                </a:tc>
                <a:tc>
                  <a:txBody>
                    <a:bodyPr/>
                    <a:lstStyle/>
                    <a:p>
                      <a:r>
                        <a:rPr sz="1800" b="0">
                          <a:solidFill>
                            <a:srgbClr val="202B58"/>
                          </a:solidFill>
                          <a:latin typeface="Noto Sans CJK JP"/>
                          <a:ea typeface="Noto Sans CJK JP"/>
                          <a:cs typeface="Noto Sans CJK JP"/>
                        </a:rPr>
                        <a:t>14 / 14</a:t>
                      </a:r>
                    </a:p>
                  </a:txBody>
                  <a:tcPr>
                    <a:solidFill>
                      <a:srgbClr val="F1F5F8"/>
                    </a:solidFill>
                  </a:tcPr>
                </a:tc>
                <a:extLst>
                  <a:ext uri="{0D108BD9-81ED-4DB2-BD59-A6C34878D82A}">
                    <a16:rowId xmlns:a16="http://schemas.microsoft.com/office/drawing/2014/main" val="10003"/>
                  </a:ext>
                </a:extLst>
              </a:tr>
              <a:tr h="620713">
                <a:tc>
                  <a:txBody>
                    <a:bodyPr/>
                    <a:lstStyle/>
                    <a:p>
                      <a:r>
                        <a:rPr sz="1800" b="0">
                          <a:solidFill>
                            <a:srgbClr val="202B58"/>
                          </a:solidFill>
                          <a:latin typeface="Noto Sans CJK JP"/>
                          <a:ea typeface="Noto Sans CJK JP"/>
                          <a:cs typeface="Noto Sans CJK JP"/>
                        </a:rPr>
                        <a:t>BEV使用率（台数）</a:t>
                      </a:r>
                    </a:p>
                  </a:txBody>
                  <a:tcPr>
                    <a:solidFill>
                      <a:srgbClr val="FFFFFF"/>
                    </a:solidFill>
                  </a:tcPr>
                </a:tc>
                <a:tc>
                  <a:txBody>
                    <a:bodyPr/>
                    <a:lstStyle/>
                    <a:p>
                      <a:r>
                        <a:rPr sz="1800" b="0">
                          <a:solidFill>
                            <a:srgbClr val="202B58"/>
                          </a:solidFill>
                          <a:latin typeface="Noto Sans CJK JP"/>
                          <a:ea typeface="Noto Sans CJK JP"/>
                          <a:cs typeface="Noto Sans CJK JP"/>
                        </a:rPr>
                        <a:t>80%</a:t>
                      </a:r>
                    </a:p>
                  </a:txBody>
                  <a:tcPr>
                    <a:solidFill>
                      <a:srgbClr val="FFFFFF"/>
                    </a:solidFill>
                  </a:tcPr>
                </a:tc>
                <a:tc>
                  <a:txBody>
                    <a:bodyPr/>
                    <a:lstStyle/>
                    <a:p>
                      <a:r>
                        <a:rPr sz="1800" b="0">
                          <a:solidFill>
                            <a:srgbClr val="202B58"/>
                          </a:solidFill>
                          <a:latin typeface="Noto Sans CJK JP"/>
                          <a:ea typeface="Noto Sans CJK JP"/>
                          <a:cs typeface="Noto Sans CJK JP"/>
                        </a:rPr>
                        <a:t>60%</a:t>
                      </a:r>
                    </a:p>
                  </a:txBody>
                  <a:tcPr>
                    <a:solidFill>
                      <a:srgbClr val="FFFFFF"/>
                    </a:solidFill>
                  </a:tcPr>
                </a:tc>
                <a:extLst>
                  <a:ext uri="{0D108BD9-81ED-4DB2-BD59-A6C34878D82A}">
                    <a16:rowId xmlns:a16="http://schemas.microsoft.com/office/drawing/2014/main" val="10004"/>
                  </a:ext>
                </a:extLst>
              </a:tr>
              <a:tr h="620713">
                <a:tc>
                  <a:txBody>
                    <a:bodyPr/>
                    <a:lstStyle/>
                    <a:p>
                      <a:r>
                        <a:rPr sz="1800" b="0">
                          <a:solidFill>
                            <a:srgbClr val="202B58"/>
                          </a:solidFill>
                          <a:latin typeface="Noto Sans CJK JP"/>
                          <a:ea typeface="Noto Sans CJK JP"/>
                          <a:cs typeface="Noto Sans CJK JP"/>
                        </a:rPr>
                        <a:t>使用台数 合計</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5A0CB313-BAD5-4A30-A342-FB7FD4DC986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50314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2508C2F-8B0F-40EE-9B50-E32E18F23651}"/>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低PVの買電ピーク：6:15の電力収支</a:t>
            </a:r>
          </a:p>
        </p:txBody>
      </p:sp>
      <p:sp>
        <p:nvSpPr>
          <p:cNvPr id="2" name="正方形/長方形 1">
            <a:extLst>
              <a:ext uri="{FF2B5EF4-FFF2-40B4-BE49-F238E27FC236}">
                <a16:creationId xmlns:a16="http://schemas.microsoft.com/office/drawing/2014/main" id="{2ECD19EC-213F-46B8-A4D3-601BD38BC5E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今回の保存実行の15分平均電力。6月の旧結果にあった10時ピークとは別</a:t>
            </a:r>
          </a:p>
        </p:txBody>
      </p:sp>
      <p:sp>
        <p:nvSpPr>
          <p:cNvPr id="3" name="正方形/長方形 2">
            <a:extLst>
              <a:ext uri="{FF2B5EF4-FFF2-40B4-BE49-F238E27FC236}">
                <a16:creationId xmlns:a16="http://schemas.microsoft.com/office/drawing/2014/main" id="{089DEE36-32DE-4747-9922-A37DFB7F1F0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6:15–6:30：充電 177.55 = PV 55.25 + BESS 0.00 + 系統 122.30 kW</a:t>
            </a:r>
          </a:p>
        </p:txBody>
      </p:sp>
      <p:sp>
        <p:nvSpPr>
          <p:cNvPr id="4" name="正方形/長方形 3">
            <a:extLst>
              <a:ext uri="{FF2B5EF4-FFF2-40B4-BE49-F238E27FC236}">
                <a16:creationId xmlns:a16="http://schemas.microsoft.com/office/drawing/2014/main" id="{A4070C62-E4B6-4FB2-9469-0E70687DBA06}"/>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系統購入量と全充電電力を区別する。朝ラッシュ後の帰庫が原因という説明は今回未検証。</a:t>
            </a:r>
          </a:p>
        </p:txBody>
      </p:sp>
      <p:sp>
        <p:nvSpPr>
          <p:cNvPr id="5" name="正方形/長方形 4">
            <a:extLst>
              <a:ext uri="{FF2B5EF4-FFF2-40B4-BE49-F238E27FC236}">
                <a16:creationId xmlns:a16="http://schemas.microsoft.com/office/drawing/2014/main" id="{E0A6D641-F2B1-49E5-90FA-E9B27C82C0C9}"/>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19</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8102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tblGrid>
              <a:tr h="620713">
                <a:tc>
                  <a:txBody>
                    <a:bodyPr/>
                    <a:lstStyle/>
                    <a:p>
                      <a:r>
                        <a:rPr sz="1725" b="1">
                          <a:solidFill>
                            <a:srgbClr val="FFFFFF"/>
                          </a:solidFill>
                          <a:latin typeface="Noto Sans CJK JP"/>
                          <a:ea typeface="Noto Sans CJK JP"/>
                          <a:cs typeface="Noto Sans CJK JP"/>
                        </a:rPr>
                        <a:t>6:15–6:30の確認項目</a:t>
                      </a:r>
                    </a:p>
                  </a:txBody>
                  <a:tcPr>
                    <a:solidFill>
                      <a:srgbClr val="202B58"/>
                    </a:solidFill>
                  </a:tcPr>
                </a:tc>
                <a:tc>
                  <a:txBody>
                    <a:bodyPr/>
                    <a:lstStyle/>
                    <a:p>
                      <a:r>
                        <a:rPr sz="1725" b="1">
                          <a:solidFill>
                            <a:srgbClr val="FFFFFF"/>
                          </a:solidFill>
                          <a:latin typeface="Noto Sans CJK JP"/>
                          <a:ea typeface="Noto Sans CJK JP"/>
                          <a:cs typeface="Noto Sans CJK JP"/>
                        </a:rPr>
                        <a:t>値</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全充電器入力</a:t>
                      </a:r>
                    </a:p>
                  </a:txBody>
                  <a:tcPr>
                    <a:solidFill>
                      <a:srgbClr val="F1F5F8"/>
                    </a:solidFill>
                  </a:tcPr>
                </a:tc>
                <a:tc>
                  <a:txBody>
                    <a:bodyPr/>
                    <a:lstStyle/>
                    <a:p>
                      <a:r>
                        <a:rPr sz="1725" b="0">
                          <a:solidFill>
                            <a:srgbClr val="202B58"/>
                          </a:solidFill>
                          <a:latin typeface="Noto Sans CJK JP"/>
                          <a:ea typeface="Noto Sans CJK JP"/>
                          <a:cs typeface="Noto Sans CJK JP"/>
                        </a:rPr>
                        <a:t>177.55 kW</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PV / BESS / 系統</a:t>
                      </a:r>
                    </a:p>
                  </a:txBody>
                  <a:tcPr>
                    <a:solidFill>
                      <a:srgbClr val="FFFFFF"/>
                    </a:solidFill>
                  </a:tcPr>
                </a:tc>
                <a:tc>
                  <a:txBody>
                    <a:bodyPr/>
                    <a:lstStyle/>
                    <a:p>
                      <a:r>
                        <a:rPr sz="1725" b="0">
                          <a:solidFill>
                            <a:srgbClr val="202B58"/>
                          </a:solidFill>
                          <a:latin typeface="Noto Sans CJK JP"/>
                          <a:ea typeface="Noto Sans CJK JP"/>
                          <a:cs typeface="Noto Sans CJK JP"/>
                        </a:rPr>
                        <a:t>55.25 / 0.00 / 122.30 kW</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15分の系統購入電力量</a:t>
                      </a:r>
                    </a:p>
                  </a:txBody>
                  <a:tcPr>
                    <a:solidFill>
                      <a:srgbClr val="F1F5F8"/>
                    </a:solidFill>
                  </a:tcPr>
                </a:tc>
                <a:tc>
                  <a:txBody>
                    <a:bodyPr/>
                    <a:lstStyle/>
                    <a:p>
                      <a:r>
                        <a:rPr sz="1725" b="0">
                          <a:solidFill>
                            <a:srgbClr val="202B58"/>
                          </a:solidFill>
                          <a:latin typeface="Noto Sans CJK JP"/>
                          <a:ea typeface="Noto Sans CJK JP"/>
                          <a:cs typeface="Noto Sans CJK JP"/>
                        </a:rPr>
                        <a:t>30.575 kWh</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正電力の充電セッション数</a:t>
                      </a:r>
                    </a:p>
                  </a:txBody>
                  <a:tcPr>
                    <a:solidFill>
                      <a:srgbClr val="FFFFFF"/>
                    </a:solidFill>
                  </a:tcPr>
                </a:tc>
                <a:tc>
                  <a:txBody>
                    <a:bodyPr/>
                    <a:lstStyle/>
                    <a:p>
                      <a:r>
                        <a:rPr sz="1725" b="0">
                          <a:solidFill>
                            <a:srgbClr val="202B58"/>
                          </a:solidFill>
                          <a:latin typeface="Noto Sans CJK JP"/>
                          <a:ea typeface="Noto Sans CJK JP"/>
                          <a:cs typeface="Noto Sans CJK JP"/>
                        </a:rPr>
                        <a:t>4台（電力 &gt; 1e−6 kW）</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うち1 kW以上</a:t>
                      </a:r>
                    </a:p>
                  </a:txBody>
                  <a:tcPr>
                    <a:solidFill>
                      <a:srgbClr val="F1F5F8"/>
                    </a:solidFill>
                  </a:tcPr>
                </a:tc>
                <a:tc>
                  <a:txBody>
                    <a:bodyPr/>
                    <a:lstStyle/>
                    <a:p>
                      <a:r>
                        <a:rPr sz="1725" b="0">
                          <a:solidFill>
                            <a:srgbClr val="202B58"/>
                          </a:solidFill>
                          <a:latin typeface="Noto Sans CJK JP"/>
                          <a:ea typeface="Noto Sans CJK JP"/>
                          <a:cs typeface="Noto Sans CJK JP"/>
                        </a:rPr>
                        <a:t>3台</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4C39BC6B-9377-4278-8E6B-A3E91F452808}"/>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5114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8020</Words>
  <Application>Microsoft Office PowerPoint</Application>
  <DocSecurity>0</DocSecurity>
  <PresentationFormat>ワイド画面</PresentationFormat>
  <Paragraphs>990</Paragraphs>
  <Slides>37</Slides>
  <Notes>37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37</vt:i4>
      </vt:variant>
    </vt:vector>
  </HeadingPairs>
  <TitlesOfParts>
    <vt:vector size="40"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1</cp:revision>
  <dcterms:created xsi:type="dcterms:W3CDTF">2026-09-07T04:25:58Z</dcterms:created>
  <dcterms:modified xsi:type="dcterms:W3CDTF">2026-09-08T06:27:16Z</dcterms:modified>
</cp:coreProperties>
</file>