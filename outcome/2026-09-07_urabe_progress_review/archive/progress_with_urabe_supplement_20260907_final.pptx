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8.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13.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501070075346a2" /><Relationship Type="http://schemas.openxmlformats.org/officeDocument/2006/relationships/extended-properties" Target="/docProps/app.xml" Id="R0c18f234347348d6" /><Relationship Type="http://schemas.openxmlformats.org/officeDocument/2006/relationships/officeDocument" Target="/ppt/presentation.xml" Id="Rfdfc7a5062a74d29" /></Relationships>
</file>

<file path=ppt/presentation.xml><?xml version="1.0" encoding="utf-8"?>
<p:presentation xmlns:p="http://schemas.openxmlformats.org/presentationml/2006/main">
  <p:sldMasterIdLst>
    <p:sldMasterId xmlns:r="http://schemas.openxmlformats.org/officeDocument/2006/relationships" id="2147483648" r:id="R6978f3db0bb5458a"/>
  </p:sldMasterIdLst>
  <p:notesMasterIdLst>
    <p:notesMasterId xmlns:r="http://schemas.openxmlformats.org/officeDocument/2006/relationships" r:id="R61a8ba0b1fa549c1"/>
  </p:notesMasterIdLst>
  <p:sldIdLst>
    <p:sldId xmlns:r="http://schemas.openxmlformats.org/officeDocument/2006/relationships" id="256" r:id="Rdb96df2fe37846d7"/>
    <p:sldId xmlns:r="http://schemas.openxmlformats.org/officeDocument/2006/relationships" id="257" r:id="Re389cf51c7ed49fb"/>
    <p:sldId xmlns:r="http://schemas.openxmlformats.org/officeDocument/2006/relationships" id="258" r:id="Recaf73a74d174235"/>
    <p:sldId xmlns:r="http://schemas.openxmlformats.org/officeDocument/2006/relationships" id="259" r:id="R1e8436d609d747dd"/>
    <p:sldId xmlns:r="http://schemas.openxmlformats.org/officeDocument/2006/relationships" id="260" r:id="Re7fa5809519646c6"/>
    <p:sldId xmlns:r="http://schemas.openxmlformats.org/officeDocument/2006/relationships" id="261" r:id="Rf291b1a9e7f4466a"/>
    <p:sldId xmlns:r="http://schemas.openxmlformats.org/officeDocument/2006/relationships" id="262" r:id="R1aa3c40019784a97"/>
    <p:sldId xmlns:r="http://schemas.openxmlformats.org/officeDocument/2006/relationships" id="263" r:id="R9ea28832e51343d6"/>
    <p:sldId xmlns:r="http://schemas.openxmlformats.org/officeDocument/2006/relationships" id="264" r:id="R95517fb8478241ff"/>
    <p:sldId xmlns:r="http://schemas.openxmlformats.org/officeDocument/2006/relationships" id="265" r:id="R38544ade932e4cf1"/>
    <p:sldId xmlns:r="http://schemas.openxmlformats.org/officeDocument/2006/relationships" id="266" r:id="R539f1e01d02d4a69"/>
    <p:sldId xmlns:r="http://schemas.openxmlformats.org/officeDocument/2006/relationships" id="267" r:id="R124b7ae5f7264d3c"/>
    <p:sldId xmlns:r="http://schemas.openxmlformats.org/officeDocument/2006/relationships" id="268" r:id="R21f8341544664a4b"/>
    <p:sldId xmlns:r="http://schemas.openxmlformats.org/officeDocument/2006/relationships" id="269" r:id="R17cf4d05886d4bb7"/>
    <p:sldId xmlns:r="http://schemas.openxmlformats.org/officeDocument/2006/relationships" id="270" r:id="R7a8e03d5ae47401c"/>
    <p:sldId xmlns:r="http://schemas.openxmlformats.org/officeDocument/2006/relationships" id="271" r:id="R19e2990fef584485"/>
    <p:sldId xmlns:r="http://schemas.openxmlformats.org/officeDocument/2006/relationships" id="272" r:id="Rfb48b2d205c14193"/>
    <p:sldId xmlns:r="http://schemas.openxmlformats.org/officeDocument/2006/relationships" id="273" r:id="R2793db4b20f542c7"/>
    <p:sldId xmlns:r="http://schemas.openxmlformats.org/officeDocument/2006/relationships" id="274" r:id="R26a0226179374123"/>
    <p:sldId xmlns:r="http://schemas.openxmlformats.org/officeDocument/2006/relationships" id="275" r:id="Re16b37b25e984a75"/>
    <p:sldId xmlns:r="http://schemas.openxmlformats.org/officeDocument/2006/relationships" id="276" r:id="R3d90748cc4814f69"/>
    <p:sldId xmlns:r="http://schemas.openxmlformats.org/officeDocument/2006/relationships" id="277" r:id="Rd414eafe259f4670"/>
    <p:sldId xmlns:r="http://schemas.openxmlformats.org/officeDocument/2006/relationships" id="278" r:id="Raa11d6e0967d4dc4"/>
    <p:sldId xmlns:r="http://schemas.openxmlformats.org/officeDocument/2006/relationships" id="279" r:id="Rb0dd6bf4a4aa41ad"/>
    <p:sldId xmlns:r="http://schemas.openxmlformats.org/officeDocument/2006/relationships" id="280" r:id="Rdaee00bf29d54540"/>
    <p:sldId xmlns:r="http://schemas.openxmlformats.org/officeDocument/2006/relationships" id="281" r:id="R302d6225ee034d6a"/>
    <p:sldId xmlns:r="http://schemas.openxmlformats.org/officeDocument/2006/relationships" id="282" r:id="R724895b47c5a4146"/>
    <p:sldId xmlns:r="http://schemas.openxmlformats.org/officeDocument/2006/relationships" id="283" r:id="R1010e79427954df8"/>
    <p:sldId xmlns:r="http://schemas.openxmlformats.org/officeDocument/2006/relationships" id="284" r:id="R5cd70ac3b3f7424f"/>
    <p:sldId xmlns:r="http://schemas.openxmlformats.org/officeDocument/2006/relationships" id="285" r:id="Rc5b4c301479c461c"/>
    <p:sldId xmlns:r="http://schemas.openxmlformats.org/officeDocument/2006/relationships" id="286" r:id="R16ca2877abe047cc"/>
    <p:sldId xmlns:r="http://schemas.openxmlformats.org/officeDocument/2006/relationships" id="287" r:id="R15d9a60ed7154008"/>
    <p:sldId xmlns:r="http://schemas.openxmlformats.org/officeDocument/2006/relationships" id="288" r:id="Ra9f0d840011d42ea"/>
    <p:sldId xmlns:r="http://schemas.openxmlformats.org/officeDocument/2006/relationships" id="289" r:id="Rec3602be94b0450c"/>
    <p:sldId xmlns:r="http://schemas.openxmlformats.org/officeDocument/2006/relationships" id="290" r:id="Rf2cefb7368f242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ecbdf98a2ed444f" /><Relationship Type="http://schemas.openxmlformats.org/officeDocument/2006/relationships/slideMaster" Target="/ppt/slideMasters/slideMaster1.xml" Id="R6978f3db0bb5458a" /><Relationship Type="http://schemas.openxmlformats.org/officeDocument/2006/relationships/notesMaster" Target="/ppt/notesMasters/notesMaster1.xml" Id="R61a8ba0b1fa549c1" /><Relationship Type="http://schemas.openxmlformats.org/officeDocument/2006/relationships/presProps" Target="/ppt/presProps.xml" Id="Rd17a26dfedb84298" /><Relationship Type="http://schemas.openxmlformats.org/officeDocument/2006/relationships/viewProps" Target="/ppt/viewProps.xml" Id="Rf7e2e5fafc7b49ef" /><Relationship Type="http://schemas.openxmlformats.org/officeDocument/2006/relationships/tableStyles" Target="/ppt/tableStyles.xml" Id="Rde42d7286c1942db" /><Relationship Type="http://schemas.openxmlformats.org/officeDocument/2006/relationships/slide" Target="/ppt/slides/slide1.xml" Id="Rdb96df2fe37846d7" /><Relationship Type="http://schemas.openxmlformats.org/officeDocument/2006/relationships/slide" Target="/ppt/slides/slide2.xml" Id="Re389cf51c7ed49fb" /><Relationship Type="http://schemas.openxmlformats.org/officeDocument/2006/relationships/slide" Target="/ppt/slides/slide3.xml" Id="Recaf73a74d174235" /><Relationship Type="http://schemas.openxmlformats.org/officeDocument/2006/relationships/slide" Target="/ppt/slides/slide4.xml" Id="R1e8436d609d747dd" /><Relationship Type="http://schemas.openxmlformats.org/officeDocument/2006/relationships/slide" Target="/ppt/slides/slide5.xml" Id="Re7fa5809519646c6" /><Relationship Type="http://schemas.openxmlformats.org/officeDocument/2006/relationships/slide" Target="/ppt/slides/slide6.xml" Id="Rf291b1a9e7f4466a" /><Relationship Type="http://schemas.openxmlformats.org/officeDocument/2006/relationships/slide" Target="/ppt/slides/slide7.xml" Id="R1aa3c40019784a97" /><Relationship Type="http://schemas.openxmlformats.org/officeDocument/2006/relationships/slide" Target="/ppt/slides/slide8.xml" Id="R9ea28832e51343d6" /><Relationship Type="http://schemas.openxmlformats.org/officeDocument/2006/relationships/slide" Target="/ppt/slides/slide9.xml" Id="R95517fb8478241ff" /><Relationship Type="http://schemas.openxmlformats.org/officeDocument/2006/relationships/slide" Target="/ppt/slides/slide10.xml" Id="R38544ade932e4cf1" /><Relationship Type="http://schemas.openxmlformats.org/officeDocument/2006/relationships/slide" Target="/ppt/slides/slide11.xml" Id="R539f1e01d02d4a69" /><Relationship Type="http://schemas.openxmlformats.org/officeDocument/2006/relationships/slide" Target="/ppt/slides/slide12.xml" Id="R124b7ae5f7264d3c" /><Relationship Type="http://schemas.openxmlformats.org/officeDocument/2006/relationships/slide" Target="/ppt/slides/slide13.xml" Id="R21f8341544664a4b" /><Relationship Type="http://schemas.openxmlformats.org/officeDocument/2006/relationships/slide" Target="/ppt/slides/slide14.xml" Id="R17cf4d05886d4bb7" /><Relationship Type="http://schemas.openxmlformats.org/officeDocument/2006/relationships/slide" Target="/ppt/slides/slide15.xml" Id="R7a8e03d5ae47401c" /><Relationship Type="http://schemas.openxmlformats.org/officeDocument/2006/relationships/slide" Target="/ppt/slides/slide16.xml" Id="R19e2990fef584485" /><Relationship Type="http://schemas.openxmlformats.org/officeDocument/2006/relationships/slide" Target="/ppt/slides/slide17.xml" Id="Rfb48b2d205c14193" /><Relationship Type="http://schemas.openxmlformats.org/officeDocument/2006/relationships/slide" Target="/ppt/slides/slide18.xml" Id="R2793db4b20f542c7" /><Relationship Type="http://schemas.openxmlformats.org/officeDocument/2006/relationships/slide" Target="/ppt/slides/slide19.xml" Id="R26a0226179374123" /><Relationship Type="http://schemas.openxmlformats.org/officeDocument/2006/relationships/slide" Target="/ppt/slides/slide20.xml" Id="Re16b37b25e984a75" /><Relationship Type="http://schemas.openxmlformats.org/officeDocument/2006/relationships/slide" Target="/ppt/slides/slide21.xml" Id="R3d90748cc4814f69" /><Relationship Type="http://schemas.openxmlformats.org/officeDocument/2006/relationships/slide" Target="/ppt/slides/slide22.xml" Id="Rd414eafe259f4670" /><Relationship Type="http://schemas.openxmlformats.org/officeDocument/2006/relationships/slide" Target="/ppt/slides/slide23.xml" Id="Raa11d6e0967d4dc4" /><Relationship Type="http://schemas.openxmlformats.org/officeDocument/2006/relationships/slide" Target="/ppt/slides/slide24.xml" Id="Rb0dd6bf4a4aa41ad" /><Relationship Type="http://schemas.openxmlformats.org/officeDocument/2006/relationships/slide" Target="/ppt/slides/slide25.xml" Id="Rdaee00bf29d54540" /><Relationship Type="http://schemas.openxmlformats.org/officeDocument/2006/relationships/slide" Target="/ppt/slides/slide26.xml" Id="R302d6225ee034d6a" /><Relationship Type="http://schemas.openxmlformats.org/officeDocument/2006/relationships/slide" Target="/ppt/slides/slide27.xml" Id="R724895b47c5a4146" /><Relationship Type="http://schemas.openxmlformats.org/officeDocument/2006/relationships/slide" Target="/ppt/slides/slide28.xml" Id="R1010e79427954df8" /><Relationship Type="http://schemas.openxmlformats.org/officeDocument/2006/relationships/slide" Target="/ppt/slides/slide29.xml" Id="R5cd70ac3b3f7424f" /><Relationship Type="http://schemas.openxmlformats.org/officeDocument/2006/relationships/slide" Target="/ppt/slides/slide30.xml" Id="Rc5b4c301479c461c" /><Relationship Type="http://schemas.openxmlformats.org/officeDocument/2006/relationships/slide" Target="/ppt/slides/slide31.xml" Id="R16ca2877abe047cc" /><Relationship Type="http://schemas.openxmlformats.org/officeDocument/2006/relationships/slide" Target="/ppt/slides/slide32.xml" Id="R15d9a60ed7154008" /><Relationship Type="http://schemas.openxmlformats.org/officeDocument/2006/relationships/slide" Target="/ppt/slides/slide33.xml" Id="Ra9f0d840011d42ea" /><Relationship Type="http://schemas.openxmlformats.org/officeDocument/2006/relationships/slide" Target="/ppt/slides/slide34.xml" Id="Rec3602be94b0450c" /><Relationship Type="http://schemas.openxmlformats.org/officeDocument/2006/relationships/slide" Target="/ppt/slides/slide35.xml" Id="Rf2cefb7368f242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7243ced29240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4b5ec77b434685" /><Relationship Type="http://schemas.openxmlformats.org/officeDocument/2006/relationships/notesMaster" Target="/ppt/notesMasters/notesMaster1.xml" Id="R982386f80cf84a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32496bea1a4746" /><Relationship Type="http://schemas.openxmlformats.org/officeDocument/2006/relationships/notesMaster" Target="/ppt/notesMasters/notesMaster1.xml" Id="R8a70bf6c6e1040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56389ff7c64267" /><Relationship Type="http://schemas.openxmlformats.org/officeDocument/2006/relationships/notesMaster" Target="/ppt/notesMasters/notesMaster1.xml" Id="Rb244bea07afd47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cb01a1f1ab465c" /><Relationship Type="http://schemas.openxmlformats.org/officeDocument/2006/relationships/notesMaster" Target="/ppt/notesMasters/notesMaster1.xml" Id="R26c5d96c3f8748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3bf25db2724731" /><Relationship Type="http://schemas.openxmlformats.org/officeDocument/2006/relationships/notesMaster" Target="/ppt/notesMasters/notesMaster1.xml" Id="R45a8f05f6bbd49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30b0f711f34449" /><Relationship Type="http://schemas.openxmlformats.org/officeDocument/2006/relationships/notesMaster" Target="/ppt/notesMasters/notesMaster1.xml" Id="R940906c5e5ac47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b667492abc4ca3" /><Relationship Type="http://schemas.openxmlformats.org/officeDocument/2006/relationships/notesMaster" Target="/ppt/notesMasters/notesMaster1.xml" Id="R764cbfaa432a41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02cd42b87c4e02" /><Relationship Type="http://schemas.openxmlformats.org/officeDocument/2006/relationships/notesMaster" Target="/ppt/notesMasters/notesMaster1.xml" Id="Rec5e3a29a68840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6f3a2e70444bdb" /><Relationship Type="http://schemas.openxmlformats.org/officeDocument/2006/relationships/notesMaster" Target="/ppt/notesMasters/notesMaster1.xml" Id="R7bb0c4dc5cf244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fa7bbffd18400f" /><Relationship Type="http://schemas.openxmlformats.org/officeDocument/2006/relationships/notesMaster" Target="/ppt/notesMasters/notesMaster1.xml" Id="R3f00e44058064c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0d6b103a134333" /><Relationship Type="http://schemas.openxmlformats.org/officeDocument/2006/relationships/notesMaster" Target="/ppt/notesMasters/notesMaster1.xml" Id="R7132fb5c49644f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1eed45049649cc" /><Relationship Type="http://schemas.openxmlformats.org/officeDocument/2006/relationships/notesMaster" Target="/ppt/notesMasters/notesMaster1.xml" Id="R31a842077c674e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f5ced9a4ec41b3" /><Relationship Type="http://schemas.openxmlformats.org/officeDocument/2006/relationships/notesMaster" Target="/ppt/notesMasters/notesMaster1.xml" Id="R9cfc51fa491c44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6298e35b4f4dba" /><Relationship Type="http://schemas.openxmlformats.org/officeDocument/2006/relationships/notesMaster" Target="/ppt/notesMasters/notesMaster1.xml" Id="Rb20de151563c45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231fc7e40a4aec" /><Relationship Type="http://schemas.openxmlformats.org/officeDocument/2006/relationships/notesMaster" Target="/ppt/notesMasters/notesMaster1.xml" Id="R299b7d5c0d8541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a5c782c6be4f47" /><Relationship Type="http://schemas.openxmlformats.org/officeDocument/2006/relationships/notesMaster" Target="/ppt/notesMasters/notesMaster1.xml" Id="R5609e8575b3646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66bc9d4d574ea7" /><Relationship Type="http://schemas.openxmlformats.org/officeDocument/2006/relationships/notesMaster" Target="/ppt/notesMasters/notesMaster1.xml" Id="Rfa59a5ea48de48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5da2bf3e0b4e2e" /><Relationship Type="http://schemas.openxmlformats.org/officeDocument/2006/relationships/notesMaster" Target="/ppt/notesMasters/notesMaster1.xml" Id="R6fd967e1842c43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a1898cd6ae442e" /><Relationship Type="http://schemas.openxmlformats.org/officeDocument/2006/relationships/notesMaster" Target="/ppt/notesMasters/notesMaster1.xml" Id="R214ae2ce68b246c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5c11aebc50469b" /><Relationship Type="http://schemas.openxmlformats.org/officeDocument/2006/relationships/notesMaster" Target="/ppt/notesMasters/notesMaster1.xml" Id="R79b958d6a28f44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44c695484a45c0" /><Relationship Type="http://schemas.openxmlformats.org/officeDocument/2006/relationships/notesMaster" Target="/ppt/notesMasters/notesMaster1.xml" Id="R27ff716e8c854d4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ed297eb935a4e05" /><Relationship Type="http://schemas.openxmlformats.org/officeDocument/2006/relationships/notesMaster" Target="/ppt/notesMasters/notesMaster1.xml" Id="R76de6703d155428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c57c2cb01ac443e" /><Relationship Type="http://schemas.openxmlformats.org/officeDocument/2006/relationships/notesMaster" Target="/ppt/notesMasters/notesMaster1.xml" Id="R2fcd32880036440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4723a5a069467e" /><Relationship Type="http://schemas.openxmlformats.org/officeDocument/2006/relationships/notesMaster" Target="/ppt/notesMasters/notesMaster1.xml" Id="R67ff50790c364bd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cfe79f1076481a" /><Relationship Type="http://schemas.openxmlformats.org/officeDocument/2006/relationships/notesMaster" Target="/ppt/notesMasters/notesMaster1.xml" Id="R230452488cd24e6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30a21f73c77442e" /><Relationship Type="http://schemas.openxmlformats.org/officeDocument/2006/relationships/notesMaster" Target="/ppt/notesMasters/notesMaster1.xml" Id="Rd3e154534431464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f40e2bc770e4004" /><Relationship Type="http://schemas.openxmlformats.org/officeDocument/2006/relationships/notesMaster" Target="/ppt/notesMasters/notesMaster1.xml" Id="R2902b3988bdf44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20650a6b8f945fe" /><Relationship Type="http://schemas.openxmlformats.org/officeDocument/2006/relationships/notesMaster" Target="/ppt/notesMasters/notesMaster1.xml" Id="Ra4b649b7a133477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838509dab8c430c" /><Relationship Type="http://schemas.openxmlformats.org/officeDocument/2006/relationships/notesMaster" Target="/ppt/notesMasters/notesMaster1.xml" Id="R8ce53f469f2a447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df239be52f7432c" /><Relationship Type="http://schemas.openxmlformats.org/officeDocument/2006/relationships/notesMaster" Target="/ppt/notesMasters/notesMaster1.xml" Id="R5e5c9e19ca3d42e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385efba08114acf" /><Relationship Type="http://schemas.openxmlformats.org/officeDocument/2006/relationships/notesMaster" Target="/ppt/notesMasters/notesMaster1.xml" Id="Rf7d1e25a1f9143a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a0a23ca0c1e4c93" /><Relationship Type="http://schemas.openxmlformats.org/officeDocument/2006/relationships/notesMaster" Target="/ppt/notesMasters/notesMaster1.xml" Id="Re25a93deccd1469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5e89d3c75034530" /><Relationship Type="http://schemas.openxmlformats.org/officeDocument/2006/relationships/notesMaster" Target="/ppt/notesMasters/notesMaster1.xml" Id="Rd231f813c7504db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9288aee02054a6b" /><Relationship Type="http://schemas.openxmlformats.org/officeDocument/2006/relationships/notesMaster" Target="/ppt/notesMasters/notesMaster1.xml" Id="R997dbf84d6b248a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140079e1c3c4df9" /><Relationship Type="http://schemas.openxmlformats.org/officeDocument/2006/relationships/notesMaster" Target="/ppt/notesMasters/notesMaster1.xml" Id="R7adb2dd4d1c141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今日は、電気バスとエンジンバスを組み合わせた配車と充電の研究について報告します。目標は、決められた便を全部走らせながら、太陽光を使える時間と充電の時間を考えて運用を決めることです。まず研究の仕組みを説明し、次に以前の課題に対して何を直したか、どんな結果を確認できたかをお話しします。最後に、まだ証明できていないことと次の検証をご相談します。</a:t>
            </a:r>
          </a:p>
          <a:p xmlns:a="http://schemas.openxmlformats.org/drawingml/2006/main">
            <a:r>
              <a:t/>
            </a:r>
          </a:p>
          <a:p xmlns:a="http://schemas.openxmlformats.org/drawingml/2006/main">
            <a:r>
              <a:t>【補足】</a:t>
            </a:r>
          </a:p>
          <a:p xmlns:a="http://schemas.openxmlformats.org/drawingml/2006/main">
            <a:r>
              <a:t>スライド本体は8月の報告を基にしています。9月5日に既存結果を詳しく分析した内容は、その日付を付けて説明します。ここでいう運行はモデル上の計算で、実車実証ではありません。</a:t>
            </a:r>
          </a:p>
          <a:p xmlns:a="http://schemas.openxmlformats.org/drawingml/2006/main">
            <a:r>
              <a:t/>
            </a:r>
          </a:p>
          <a:p xmlns:a="http://schemas.openxmlformats.org/drawingml/2006/main">
            <a:r>
              <a:t>【出典】docs/evidence/weather_dispatch_rerun_bb0c005/result_summary.json</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電気バスは、電池があればいつでも走れるわけではありません。次の便までに必要な電気を充電し、出発時刻に間に合わせる必要があります。例えば、昼に太陽光が多くても、その時間にバスが路線を走っていれば、そのバスへ直接充電できません。一方、営業所に戻ってきても充電器や受電容量には上限があります。そこで、どの便を電気バスが担当するかと、いつ充電するかを関連付けて考えています。</a:t>
            </a:r>
          </a:p>
          <a:p xmlns:a="http://schemas.openxmlformats.org/drawingml/2006/main">
            <a:r>
              <a:t/>
            </a:r>
          </a:p>
          <a:p xmlns:a="http://schemas.openxmlformats.org/drawingml/2006/main">
            <a:r>
              <a:t>【用語と補足】</a:t>
            </a:r>
          </a:p>
          <a:p xmlns:a="http://schemas.openxmlformats.org/drawingml/2006/main">
            <a:r>
              <a:t>BEVは電池で走るバス、ICEはエンジンバス、PVは太陽光発電、BESSは営業所に置く蓄電池です。「一緒に考える」は研究対象全体の話で、計算では配車と電力を二段階に分けています。</a:t>
            </a:r>
          </a:p>
          <a:p xmlns:a="http://schemas.openxmlformats.org/drawingml/2006/main">
            <a:r>
              <a:t/>
            </a:r>
          </a:p>
          <a:p xmlns:a="http://schemas.openxmlformats.org/drawingml/2006/main">
            <a:r>
              <a:t>【次へ】その仕組みを説明するため、先行研究の図表の見せ方も参考にしました。</a:t>
            </a:r>
          </a:p>
          <a:p xmlns:a="http://schemas.openxmlformats.org/drawingml/2006/main">
            <a:r>
              <a:t>【出典】docs/thesis/authoring_v1/03_mathematical_formulation.md</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のページでは、文献から何を資料に取り入れたかを示しています。結果の金額だけを出しても、どういう設備や条件で計算したかが分からなければ比較できません。そこで、対象システム、入力条件、電力の流れ、車両構成と評価額の関係を順に示す構成にしました。本研究では、既存の264便を守りながら、電気バスとエンジンバスの担当、充電の電源を確認します。</a:t>
            </a:r>
          </a:p>
          <a:p xmlns:a="http://schemas.openxmlformats.org/drawingml/2006/main">
            <a:r>
              <a:t/>
            </a:r>
          </a:p>
          <a:p xmlns:a="http://schemas.openxmlformats.org/drawingml/2006/main">
            <a:r>
              <a:t>【補足】</a:t>
            </a:r>
          </a:p>
          <a:p xmlns:a="http://schemas.openxmlformats.org/drawingml/2006/main">
            <a:r>
              <a:t>この表は図表構成の参考です。各文献が本研究の設定値を実証しているという意味ではありません。また、混成車両と太陽光を組み合わせただけで世界初とは言えません。9月5日の文献整理では、近い研究との比較方法や確認範囲も整理しています。</a:t>
            </a:r>
          </a:p>
          <a:p xmlns:a="http://schemas.openxmlformats.org/drawingml/2006/main">
            <a:r>
              <a:t/>
            </a:r>
          </a:p>
          <a:p xmlns:a="http://schemas.openxmlformats.org/drawingml/2006/main">
            <a:r>
              <a:t>【出典】元資料3枚目、outcome/2026-09-05_literature_review/README.md、outcome/2026-09-05_august_progress_revision/speaker_notes.md</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比較の公平さのため、両条件で同じ平日の264便を使いました。使える車両、電池の初期残量、充電器や料金も固定し、太陽光の発電曲線だけを変えています。高PVは発電量が多い曲線、低PVは少ない曲線です。低PVの曲線は8月10日由来ですが、走らせる便は8月5日の平日ダイヤのままです。つまり、実際の晴れた日と雨の日の観測比較ではなく、同じ運行に異なる太陽光条件を与えた計算です。</a:t>
            </a:r>
          </a:p>
          <a:p xmlns:a="http://schemas.openxmlformats.org/drawingml/2006/main">
            <a:r>
              <a:t/>
            </a:r>
          </a:p>
          <a:p xmlns:a="http://schemas.openxmlformats.org/drawingml/2006/main">
            <a:r>
              <a:t>【補足】</a:t>
            </a:r>
          </a:p>
          <a:p xmlns:a="http://schemas.openxmlformats.org/drawingml/2006/main">
            <a:r>
              <a:t>60台はこの実験の入力から確認した有効車両数です。使える60台と、結果として使った32台を区別します。他の営業所でも必ず同じ台数を使う設定ではありません。</a:t>
            </a:r>
          </a:p>
          <a:p xmlns:a="http://schemas.openxmlformats.org/drawingml/2006/main">
            <a:r>
              <a:t/>
            </a:r>
          </a:p>
          <a:p xmlns:a="http://schemas.openxmlformats.org/drawingml/2006/main">
            <a:r>
              <a:t>【出典】docs/evidence/weather_dispatch_rerun_bb0c005/result_summary.json</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まず時刻表と車両などの入力を確定します。次に、充電の見込みも考慮しながら配車候補を複数作ります。その候補ごとに配車を固定し、具体的な充電と太陽光、蓄電池の使い方を計算します。その前日評価額などを比べて採用案を選びます。採用後は担当便を変えず、1時間進むたびに残り時間の電力計画を更新します。最後に、一日全体で便の担当や電池残量、電力と費用が矛盾していないかを確認します。</a:t>
            </a:r>
          </a:p>
          <a:p xmlns:a="http://schemas.openxmlformats.org/drawingml/2006/main">
            <a:r>
              <a:t/>
            </a:r>
          </a:p>
          <a:p xmlns:a="http://schemas.openxmlformats.org/drawingml/2006/main">
            <a:r>
              <a:t>【以前との違い】</a:t>
            </a:r>
          </a:p>
          <a:p xmlns:a="http://schemas.openxmlformats.org/drawingml/2006/main">
            <a:r>
              <a:t>元資料で課題としていた、ほぼ一つの配車だけを詳しく評価する構成に対して、複数の候補を電力側まで評価して選べるようにしました。ただし、考えられる配車を全て調べたわけではありません。</a:t>
            </a:r>
          </a:p>
          <a:p xmlns:a="http://schemas.openxmlformats.org/drawingml/2006/main">
            <a:r>
              <a:t/>
            </a:r>
          </a:p>
          <a:p xmlns:a="http://schemas.openxmlformats.org/drawingml/2006/main">
            <a:r>
              <a:t>【出典】docs/thesis/authoring_v1/03_mathematical_formulation.md、元資料8枚目</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は結果を再現するための条件表です。全部を読み上げず、電池容量、初期残量、充電器と受電上限に注目してください。SOCは電池の残量割合です。初期SOCは車両ごとに異なり、全車を満充電から出発させてはいません。充電器は90キロワットが10基ですが、系統から受け取れる電力は200キロワットなので、いつでも全基を系統だけで最大出力にできるわけではありません。太陽光と営業所の蓄電池も含めて電力の収支を考えます。</a:t>
            </a:r>
          </a:p>
          <a:p xmlns:a="http://schemas.openxmlformats.org/drawingml/2006/main">
            <a:r>
              <a:t/>
            </a:r>
          </a:p>
          <a:p xmlns:a="http://schemas.openxmlformats.org/drawingml/2006/main">
            <a:r>
              <a:t>【補足】</a:t>
            </a:r>
          </a:p>
          <a:p xmlns:a="http://schemas.openxmlformats.org/drawingml/2006/main">
            <a:r>
              <a:t>キロワットはその時点の電力、キロワット時は時間を通じて使った電気の量です。設備値はこのケースの入力条件で、実際の弦巻営業所に同じ設備が設置されていると確認した値ではありません。蓄電池は日初と日末の残量を同じにしています。</a:t>
            </a:r>
          </a:p>
          <a:p xmlns:a="http://schemas.openxmlformats.org/drawingml/2006/main">
            <a:r>
              <a:t/>
            </a:r>
          </a:p>
          <a:p xmlns:a="http://schemas.openxmlformats.org/drawingml/2006/main">
            <a:r>
              <a:t>【出典】outcome/2026-09-05_research_progress/04_parameter_sources.csv、docs/thesis/authoring_v1/05_assumptions_parameters_units.md</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評価額には、電力、燃料、車両使用費、二酸化炭素に対する費用を含めています。一方、設備投資や電池劣化、運転士費は含んでいません。したがって、実際の営業所の総費用や採算を計算したとは言いません。計算では22候補を評価します。時間上限や乱数の条件も記録し、都合のよい結果だけを選ばないようにしています。</a:t>
            </a:r>
          </a:p>
          <a:p xmlns:a="http://schemas.openxmlformats.org/drawingml/2006/main">
            <a:r>
              <a:t/>
            </a:r>
          </a:p>
          <a:p xmlns:a="http://schemas.openxmlformats.org/drawingml/2006/main">
            <a:r>
              <a:t>【補足】</a:t>
            </a:r>
          </a:p>
          <a:p xmlns:a="http://schemas.openxmlformats.org/drawingml/2006/main">
            <a:r>
              <a:t>585秒は要求設定で、22候補と24回の更新を含む全作業が585秒で終わったという実測値ではありません。15～35台は構成探索の指定範囲で、別の生成経路を含む候補全体は14～35台です。gapはソルバーがその段階で持つ解と保証された下限の隔たりを示します。最終評価額の誤差率とは違います。</a:t>
            </a:r>
          </a:p>
          <a:p xmlns:a="http://schemas.openxmlformats.org/drawingml/2006/main">
            <a:r>
              <a:t/>
            </a:r>
          </a:p>
          <a:p xmlns:a="http://schemas.openxmlformats.org/drawingml/2006/main">
            <a:r>
              <a:t>【出典】docs/thesis/authoring_v1/05_assumptions_parameters_units.md、outcome/2026-09-05_august_progress_revision/speaker_notes.md</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が今回の進捗の全体像です。左が以前の課題、中央が実際に行った作業、右がその結果です。以前はほぼ一つの配車を詳しく評価し、高低PVで同じ案になると月次資料で報告していました。そこで候補を22案へ増やし、充電まで評価して選ぶようにしました。この二条件では、電気バスの担当が199便と91便に分かれました。また、合計だけでなく時間ごとの電池と電力を検算しました。さらに既存結果を便単位で照合して、変更した108便を特定しました。これは研究の作業と到達点の差分です。同じ条件で旧方式を再実験した性能比較ではないため、何％速くなったとは言いません。次に、作業の順番を説明します。</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作業は目的を分けて進めました。8月には、比較する配車案を増やし、各案について充電できるかと評価額を計算しました。次に、太陽光以外の入力をそろえました。そうしないと、ダイヤや車両の違いによる結果を太陽光の違いと思い込んでしまいます。その条件で計算し直し、一時間ずつ進めた24回の更新と一日の費用を確認しました。9月5日は、新しい計画を求めたのではなく、保存済みの結果を便ごと、15分ごとに読み直しました。これで、合計値の裏側にある担当便と電力、費用を説明できるようになりました。</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左の車両数と右の便数を分けて見てください。高PVでは電気バス28台で199便、低PVでは21台で91便を担当しました。全体では両方とも32台で264便を担当しています。9月5日に同じ便のIDを突き合わせたところ、低PVのエンジンバス担当から高PVの電気バス担当へ変わったのは108便で、渋22が78便、渋23が30便でした。これで、単に電気バスが増えたという説明から、どの便の担当が変わったかまで示せました。</a:t>
            </a:r>
          </a:p>
          <a:p xmlns:a="http://schemas.openxmlformats.org/drawingml/2006/main">
            <a:r>
              <a:t/>
            </a:r>
          </a:p>
          <a:p xmlns:a="http://schemas.openxmlformats.org/drawingml/2006/main">
            <a:r>
              <a:t>【補足】</a:t>
            </a:r>
          </a:p>
          <a:p xmlns:a="http://schemas.openxmlformats.org/drawingml/2006/main">
            <a:r>
              <a:t>営業距離に占めるBEV割合は高PV72.78%、低PV29.73%です。これは停留所座標に基づく営業距離で、実走行計測や回送を含む総距離ではありません。なぜ個々の便を選んだかの原因分解はまだ必要です。</a:t>
            </a:r>
          </a:p>
          <a:p xmlns:a="http://schemas.openxmlformats.org/drawingml/2006/main">
            <a:r>
              <a:t/>
            </a:r>
          </a:p>
          <a:p xmlns:a="http://schemas.openxmlformats.org/drawingml/2006/main">
            <a:r>
              <a:t>【出典】outcome/2026-09-05_research_progress/02_findings.md、analysis/trip_powertrain_changes.csv（同フォルダ）</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の図は、作った候補ごとに電気バスの台数と評価額を対応させています。高PVで28台、低PVで21台の候補を選びました。ここで重要なのは、電気バスの台数だけで費用が決まらないことです。エンジンバスを含む総台数や担当便、充電できる時間も違います。22候補の中で選んだという意味で読み、全ての配車の中で一番安いことを示す図とは扱いません。</a:t>
            </a:r>
          </a:p>
          <a:p xmlns:a="http://schemas.openxmlformats.org/drawingml/2006/main">
            <a:r>
              <a:t/>
            </a:r>
          </a:p>
          <a:p xmlns:a="http://schemas.openxmlformats.org/drawingml/2006/main">
            <a:r>
              <a:t>【補足】</a:t>
            </a:r>
          </a:p>
          <a:p xmlns:a="http://schemas.openxmlformats.org/drawingml/2006/main">
            <a:r>
              <a:t>この図は候補を選ぶ前日評価額です。次のスライドの一日を更新した後の評価額とは区別します。低PVの採用候補と次点の前日評価額差は約567円です。差が小さいので追加確認したい、とは言えますが、選択が不安定と証明したわけではありません。</a:t>
            </a:r>
          </a:p>
          <a:p xmlns:a="http://schemas.openxmlformats.org/drawingml/2006/main">
            <a:r>
              <a:t/>
            </a:r>
          </a:p>
          <a:p xmlns:a="http://schemas.openxmlformats.org/drawingml/2006/main">
            <a:r>
              <a:t>【出典】docs/thesis/authoring_v1/tables/cross_weather_candidate_analysis_summary.json、outcome/2026-09-05_august_progress_revision/speaker_notes.md</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では採用案の一日を通した評価額を比べます。高PVは約66万1千円、低PVは約69万9千円で、差は約3万8千円です。その約88%は燃料費の差でした。9月5日の追加整理では、両条件に共通する車両使用費64万円を分けました。それを除く部分は約2万1千円と約5万9千円です。これで、大きな総額のどこが同じで、どこが変わったかを説明しやすくなりました。</a:t>
            </a:r>
          </a:p>
          <a:p xmlns:a="http://schemas.openxmlformats.org/drawingml/2006/main">
            <a:r>
              <a:t/>
            </a:r>
          </a:p>
          <a:p xmlns:a="http://schemas.openxmlformats.org/drawingml/2006/main">
            <a:r>
              <a:t>【補足】</a:t>
            </a:r>
          </a:p>
          <a:p xmlns:a="http://schemas.openxmlformats.org/drawingml/2006/main">
            <a:r>
              <a:t>最終金額はRolling後の実行日会計が出典です。小数表示は高PV660,983.78円、低PV698,598.63円です。元の精度で計算した差は37,614.84円で、表示値同士の引き算とは丸めのため1銭ずれることがあります。これはPV条件の違いに対する二計画の比較で、旧手法より安くなったという比較ではありません。</a:t>
            </a:r>
          </a:p>
          <a:p xmlns:a="http://schemas.openxmlformats.org/drawingml/2006/main">
            <a:r>
              <a:t/>
            </a:r>
          </a:p>
          <a:p xmlns:a="http://schemas.openxmlformats.org/drawingml/2006/main">
            <a:r>
              <a:t>【出典】outcome/2026-09-05_research_progress/02_findings.md、docs/evidence/weather_dispatch_rerun_bb0c005/SUNNY/executed_day_accounting.json、RAIN/executed_day_accounting.json（同根拠フォルダ）</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矢印は一日合計の電気の量を表しています。高PVでは発電が約6,056キロワット時あり、そのうち約3,373キロワット時を使わず抑制しています。低PVでは約996キロワット時をほぼ使い切り、系統から約131キロワット時を補っています。蓄電池へ入れた量と出た量の差には充放電の損失があります。日初と日末の残量をそろえているため、最初に蓄えた電気を使い切って安く見せる比較ではありません。</a:t>
            </a:r>
          </a:p>
          <a:p xmlns:a="http://schemas.openxmlformats.org/drawingml/2006/main">
            <a:r>
              <a:t/>
            </a:r>
          </a:p>
          <a:p xmlns:a="http://schemas.openxmlformats.org/drawingml/2006/main">
            <a:r>
              <a:t>【追加分析で分かったこと】</a:t>
            </a:r>
          </a:p>
          <a:p xmlns:a="http://schemas.openxmlformats.org/drawingml/2006/main">
            <a:r>
              <a:t>日合計だけでは、太陽光が余った原因を特定できません。9月5日に15分枠を調べると、高PVの抑制量の75.06%は充電電力のない枠で発生していました。ただし、未充電だからバスが不在だったとは言えません。BESSが満杯、充電器が全部使用中という単純な原因説明も、この記録だけでは裏付けられません。</a:t>
            </a:r>
          </a:p>
          <a:p xmlns:a="http://schemas.openxmlformats.org/drawingml/2006/main">
            <a:r>
              <a:t/>
            </a:r>
          </a:p>
          <a:p xmlns:a="http://schemas.openxmlformats.org/drawingml/2006/main">
            <a:r>
              <a:t>【出典】outcome/2026-09-05_research_progress/02_findings.md</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が9月5日の追加分析で新しく分かった部分です。最初は電気バスの便数が違うという説明でしたが、同じ便を一つずつ比べると、低PVでエンジン担当だった108便が高PVで電気担当に変わっていました。内訳は渋22の78便と渋23の30便です。次に、使わなかった太陽光を15分ごとに調べると、その75.06％が充電電力のない枠で発生していました。ただし、なぜ充電していなかったかまでは特定できていません。最後に費用を分けると、両条件に共通する車両使用費64万円があり、差額約3万8千円の約88％は燃料費でした。単に結果の合計を示す段階から、違いの場所と内訳を説明する段階へ進みました。</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一日を1時間ずつ進め、その時点の電池残量を次の計算へ引き継いで、残りの電力計画を更新します。これを24回つなぎ、実行した部分を15分単位の96区間にまとめました。その一日について、同じ便を重複して担当していないか、次の便に間に合うか、電池や充電器の制限を守るかを確認しました。費用も一日の正本と図表が一致するようにしています。</a:t>
            </a:r>
          </a:p>
          <a:p xmlns:a="http://schemas.openxmlformats.org/drawingml/2006/main">
            <a:r>
              <a:t/>
            </a:r>
          </a:p>
          <a:p xmlns:a="http://schemas.openxmlformats.org/drawingml/2006/main">
            <a:r>
              <a:t>【以前との違い】</a:t>
            </a:r>
          </a:p>
          <a:p xmlns:a="http://schemas.openxmlformats.org/drawingml/2006/main">
            <a:r>
              <a:t>計算が終了したか、日合計がそれらしく見えるかだけでなく、時間ごとのつながりと入力、コード、出力の対応を確認できるようにしました。ただしモデル上の逐次計算で、実車を24時間運行した実績ではありません。また、毎時の更新では配車そのものは変えていません。</a:t>
            </a:r>
          </a:p>
          <a:p xmlns:a="http://schemas.openxmlformats.org/drawingml/2006/main">
            <a:r>
              <a:t/>
            </a:r>
          </a:p>
          <a:p xmlns:a="http://schemas.openxmlformats.org/drawingml/2006/main">
            <a:r>
              <a:t>【出典】docs/evidence/weather_dispatch_rerun_bb0c005/result_summary.json、outcome/2026-09-05_august_progress_revision/speaker_notes.md</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ここは、できたことと未確認のことを分けてお伝えするページです。両方の太陽光条件で全便を担当し、電池や充電器などの条件を守る計画を確認しました。金額の内訳も確認できました。しかし、全ての配車の中で一番安いかは分かりません。単純な方法より優れるか、実際の営業所でも同じ結果になるかも別に検証する必要があります。太陽光が余った時間は分かりましたが、原因の特定には追加比較が必要です。なお、配車段階の認証gapは高PV約9.52％、低PV約1.66％で、最終費用全体の誤差率ではありません。人間のレビューや発表承認も、計算の検算とは別の確認です。</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次の作業は、残った疑問と対応させています。まず、小さな8便、12便、24便の問題で、現在の二段階方式と配車と電力を一体で考える参照方法を比べます。目的の定義にも違いがあるため、金額差を全て二段階に分けた影響とは呼びません。次に、候補範囲と計算時間を一つずつ変えて、選ぶ案と費用がどう変わるかを確認します。低PVは次点の前日評価額との差が約567円だったため、この確認が必要です。太陽光が余る原因も、配車などを固定した比較の条件を決めて切り分けたいと考えています。今日は、比較の範囲、費用に含める項目、どの程度の差を許容するかをご相談したいです。追加実験は承認後に行います。</a:t>
            </a:r>
          </a:p>
          <a:p xmlns:a="http://schemas.openxmlformats.org/drawingml/2006/main">
            <a:r>
              <a:t/>
            </a:r>
          </a:p>
          <a:p xmlns:a="http://schemas.openxmlformats.org/drawingml/2006/main">
            <a:r>
              <a:t>【出典】</a:t>
            </a:r>
          </a:p>
          <a:p xmlns:a="http://schemas.openxmlformats.org/drawingml/2006/main">
            <a:r>
              <a:t>出典：outcome/2026-09-06_speaker_notes/README.md、outcome/2026-09-05_research_progress/02_findings.md、docs/evidence/weather_dispatch_rerun_bb0c005/result_summary.json。実験SHA bb0c005。</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参考文献は、図表の構成や運行と電力を結び付ける考え方を整理するために使いました。図中の計算結果は本研究の入力と結果に基づいています。まとめると、今回の進捗は、複数候補を比べて二つの異なる実行可能な配車を確認し、その違いを便、電力、費用の内訳まで説明できるようにしたことです。次は、現在方式がどの程度よい判断をしているかを小規模な参照方法との比較で確かめます。以上です。</a:t>
            </a:r>
          </a:p>
          <a:p xmlns:a="http://schemas.openxmlformats.org/drawingml/2006/main">
            <a:r>
              <a:t/>
            </a:r>
          </a:p>
          <a:p xmlns:a="http://schemas.openxmlformats.org/drawingml/2006/main">
            <a:r>
              <a:t>【補足】</a:t>
            </a:r>
          </a:p>
          <a:p xmlns:a="http://schemas.openxmlformats.org/drawingml/2006/main">
            <a:r>
              <a:t>先行研究の数値を本研究の性能保証に使いません。文献の確認範囲と追加比較候補は9月5日の文献整理を参照します。</a:t>
            </a:r>
          </a:p>
          <a:p xmlns:a="http://schemas.openxmlformats.org/drawingml/2006/main">
            <a:r>
              <a:t/>
            </a:r>
          </a:p>
          <a:p xmlns:a="http://schemas.openxmlformats.org/drawingml/2006/main">
            <a:r>
              <a:t>【出典】元資料18枚目、outcome/2026-09-05_literature_review/README.md</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対応するSlack発言とリンクは同梱READMEの指摘対応表を参照。6月の旧設定と8月29日の固定入力を混ぜない。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Fig.6–9, Table 5–6。</a:t>
            </a:r>
          </a:p>
          <a:p xmlns:a="http://schemas.openxmlformats.org/drawingml/2006/main">
            <a:r>
              <a:t>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Table 5、Fig.4–5。</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Fig.9のエネルギー分解を参考に、累積量ではなく15分平均電力で表示。</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Fig.7、9を参考。配車を固定したaccepted Rollingの実行区間のみ。</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Fig.8を参考。始終端は最終台帳と照合。</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Fig.8–9。状態式 S[t+1]=S[t]+0.95×Pcharge×0.25−Pdischarge×0.25/0.95。</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6/17のSlack質問への回答。エネルギー188.4 kWh / 90 kW = 2.0933 hは無損失かつ連続定格の理論最短。設備競合・停車時間・実際の効率を入れると長くなる。</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Fig.6(b)を参考。例の選定規則と完全な車両ID、担当便はreview_data.json。</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Fig.6(a)を参考。各例は最大充電量という規則で選択。高PVで入力maxSocとの不一致を発見したため診断用に限定。</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Fig.4の費用分解を参考。凍結された2条件の記述比較であり、一般的な天候効果の証明ではない。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Table 5、Zhou,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Fig.4を参考。需要料金・PV/BESS限界費用は設定0、設備費・劣化費・運転士費を含まない。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Table 5を参考。solve_time_secondsはStage 1と採用候補Stage 2の和に対応し、22候補全体の時間ではない。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rolling_chain_summary.json steps[].elapsed_seconds。折れ線は各正時の実測点を接続し、点間の値を測定したという意味ではない。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充電量下界はエネルギー収支から導く。走行・回送と終端要求を含め、時間と設備の競合を緩和する。docs/guides/professor_review.md §3.1–3.2に用語説明、実験の数値設定は凍結bundleに従う。</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PDF p.14、印刷頁13 Table 5。200/418便Gurobiは6時間以内に実行可能解を得ていない。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既存authoring manifestのうちscripts/build_thesis_weather_result_package.pyの過去ハッシュ不一致が未解消。今回のraw bundle検証は合格だが旧manifest全体の合格を意味しない。CURRENT_RESEARCH_RELEASE_BLOCKERS.md参照。</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根拠：prepared maxSoc=0.9、hourly_solver_result.jsonのvehicle_soc_kwh_by_vehicle_slot。BEV軌跡はslot開始値。凍結solver_adapter.pyのstage2.addVar ub=capとterminal_soc_expr&lt;=cap。高PV12 vehicle-slot点、3台で超過。モデル修正・再実験は本資料更新の範囲外で未実施。</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81c0a477ab41f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b4da9d76f14092" /><Relationship Type="http://schemas.openxmlformats.org/officeDocument/2006/relationships/slideLayout" Target="/ppt/slideLayouts/slideLayout1.xml" Id="R0dc4f96e63e94ab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c4f96e63e94ab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7620626dff452a" /><Relationship Type="http://schemas.openxmlformats.org/officeDocument/2006/relationships/image" Target="/ppt/media/image.png" Id="Re58da51a082a4900" /><Relationship Type="http://schemas.openxmlformats.org/officeDocument/2006/relationships/image" Target="/ppt/media/image.svg" Id="Rcaf3581beb7b4bb8" /><Relationship Type="http://schemas.openxmlformats.org/officeDocument/2006/relationships/image" Target="/ppt/media/image2.png" Id="Rfc7f61de99414f5c" /><Relationship Type="http://schemas.openxmlformats.org/officeDocument/2006/relationships/image" Target="/ppt/media/image2.svg" Id="R875d039099274069" /><Relationship Type="http://schemas.openxmlformats.org/officeDocument/2006/relationships/image" Target="/ppt/media/image3.png" Id="R71bab1f465f7412d" /><Relationship Type="http://schemas.openxmlformats.org/officeDocument/2006/relationships/image" Target="/ppt/media/image3.svg" Id="R951fd30f23c0490d" /><Relationship Type="http://schemas.openxmlformats.org/officeDocument/2006/relationships/notesSlide" Target="/ppt/notesSlides/notesSlide1.xml" Id="Ra172128c11e941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d983501105473d" /><Relationship Type="http://schemas.openxmlformats.org/officeDocument/2006/relationships/image" Target="/ppt/media/image2.png" Id="Rd5d13744a8d84412" /><Relationship Type="http://schemas.openxmlformats.org/officeDocument/2006/relationships/image" Target="/ppt/media/image2.svg" Id="Re0341cd6859e4b36" /><Relationship Type="http://schemas.openxmlformats.org/officeDocument/2006/relationships/image" Target="/ppt/media/image4.png" Id="R9b49c70df61c4fa5" /><Relationship Type="http://schemas.openxmlformats.org/officeDocument/2006/relationships/image" Target="/ppt/media/image4.svg" Id="R8651795fe6404a8c" /><Relationship Type="http://schemas.openxmlformats.org/officeDocument/2006/relationships/image" Target="/ppt/media/image.png" Id="R077ccc57ba134eef" /><Relationship Type="http://schemas.openxmlformats.org/officeDocument/2006/relationships/image" Target="/ppt/media/image.svg" Id="R42932e61292f4569" /><Relationship Type="http://schemas.openxmlformats.org/officeDocument/2006/relationships/notesSlide" Target="/ppt/notesSlides/notesSlide2.xml" Id="R091b69f87e304d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e21460631b4380" /><Relationship Type="http://schemas.openxmlformats.org/officeDocument/2006/relationships/notesSlide" Target="/ppt/notesSlides/notesSlide3.xml" Id="R0a0fa19bd7a74b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39ffdf497f4c4f" /><Relationship Type="http://schemas.openxmlformats.org/officeDocument/2006/relationships/image" Target="/ppt/media/image5.png" Id="Rb3266a17d15f4985" /><Relationship Type="http://schemas.openxmlformats.org/officeDocument/2006/relationships/image" Target="/ppt/media/image5.svg" Id="R4bbc85b5bae04dd1" /><Relationship Type="http://schemas.openxmlformats.org/officeDocument/2006/relationships/image" Target="/ppt/media/image2.png" Id="Rd03e6dbb06164d6d" /><Relationship Type="http://schemas.openxmlformats.org/officeDocument/2006/relationships/image" Target="/ppt/media/image2.svg" Id="Rd4c6091987de46fc" /><Relationship Type="http://schemas.openxmlformats.org/officeDocument/2006/relationships/image" Target="/ppt/media/image4.png" Id="R83e75f6924604238" /><Relationship Type="http://schemas.openxmlformats.org/officeDocument/2006/relationships/image" Target="/ppt/media/image4.svg" Id="R2bc7059376854ecc" /><Relationship Type="http://schemas.openxmlformats.org/officeDocument/2006/relationships/image" Target="/ppt/media/image6.png" Id="R4694534992884df0" /><Relationship Type="http://schemas.openxmlformats.org/officeDocument/2006/relationships/image" Target="/ppt/media/image6.svg" Id="R96b229eda41f4f52" /><Relationship Type="http://schemas.openxmlformats.org/officeDocument/2006/relationships/image" Target="/ppt/media/image.png" Id="R7b93712b92514904" /><Relationship Type="http://schemas.openxmlformats.org/officeDocument/2006/relationships/image" Target="/ppt/media/image.svg" Id="R57fd1c6d21a5467d" /><Relationship Type="http://schemas.openxmlformats.org/officeDocument/2006/relationships/image" Target="/ppt/media/image7.png" Id="Rc0bb46deff8d436c" /><Relationship Type="http://schemas.openxmlformats.org/officeDocument/2006/relationships/image" Target="/ppt/media/image7.svg" Id="R80c78721a98541f2" /><Relationship Type="http://schemas.openxmlformats.org/officeDocument/2006/relationships/notesSlide" Target="/ppt/notesSlides/notesSlide4.xml" Id="Rf7beb135518245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8440738b734ba7" /><Relationship Type="http://schemas.openxmlformats.org/officeDocument/2006/relationships/image" Target="/ppt/media/image8.png" Id="R47da1722cb014f44" /><Relationship Type="http://schemas.openxmlformats.org/officeDocument/2006/relationships/image" Target="/ppt/media/image8.svg" Id="R469794e9f3b74377" /><Relationship Type="http://schemas.openxmlformats.org/officeDocument/2006/relationships/image" Target="/ppt/media/image9.png" Id="R50c2ebdbd9c8472d" /><Relationship Type="http://schemas.openxmlformats.org/officeDocument/2006/relationships/image" Target="/ppt/media/image9.svg" Id="R13e3d73c9b5244e6" /><Relationship Type="http://schemas.openxmlformats.org/officeDocument/2006/relationships/image" Target="/ppt/media/image10.png" Id="Rafa00d890b6a4e24" /><Relationship Type="http://schemas.openxmlformats.org/officeDocument/2006/relationships/image" Target="/ppt/media/image10.svg" Id="R592ee2a22d764c45" /><Relationship Type="http://schemas.openxmlformats.org/officeDocument/2006/relationships/image" Target="/ppt/media/image11.png" Id="Rb7f4a28a061e48eb" /><Relationship Type="http://schemas.openxmlformats.org/officeDocument/2006/relationships/image" Target="/ppt/media/image11.svg" Id="R7e52b8af5fdd4aaf" /><Relationship Type="http://schemas.openxmlformats.org/officeDocument/2006/relationships/image" Target="/ppt/media/image12.png" Id="Re31b6bde02a4464a" /><Relationship Type="http://schemas.openxmlformats.org/officeDocument/2006/relationships/image" Target="/ppt/media/image12.svg" Id="R135fe2cb3db84675" /><Relationship Type="http://schemas.openxmlformats.org/officeDocument/2006/relationships/notesSlide" Target="/ppt/notesSlides/notesSlide5.xml" Id="R09288d2662354f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8a9eecbf0c4d29" /><Relationship Type="http://schemas.openxmlformats.org/officeDocument/2006/relationships/notesSlide" Target="/ppt/notesSlides/notesSlide6.xml" Id="R2425791e1c694d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6ec6ef73de418b" /><Relationship Type="http://schemas.openxmlformats.org/officeDocument/2006/relationships/notesSlide" Target="/ppt/notesSlides/notesSlide7.xml" Id="R152e0220519643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aac4651d254391" /><Relationship Type="http://schemas.openxmlformats.org/officeDocument/2006/relationships/notesSlide" Target="/ppt/notesSlides/notesSlide8.xml" Id="Rde6828be4d2c40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23ad26ea774c59" /><Relationship Type="http://schemas.openxmlformats.org/officeDocument/2006/relationships/notesSlide" Target="/ppt/notesSlides/notesSlide9.xml" Id="R03b029b8ef4642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cb91a29e4a48b0" /><Relationship Type="http://schemas.openxmlformats.org/officeDocument/2006/relationships/image" Target="/ppt/media/image.png" Id="R9a326d1ed61649b7" /><Relationship Type="http://schemas.openxmlformats.org/officeDocument/2006/relationships/image" Target="/ppt/media/image.svg" Id="Ree0574c74b734609" /><Relationship Type="http://schemas.openxmlformats.org/officeDocument/2006/relationships/image" Target="/ppt/media/image7.png" Id="Rea64581072f8426a" /><Relationship Type="http://schemas.openxmlformats.org/officeDocument/2006/relationships/image" Target="/ppt/media/image7.svg" Id="R1dbdb3c5a31243e4" /><Relationship Type="http://schemas.openxmlformats.org/officeDocument/2006/relationships/image" Target="/ppt/media/image13.png" Id="Re1fe8a18c9e545be" /><Relationship Type="http://schemas.openxmlformats.org/officeDocument/2006/relationships/image" Target="/ppt/media/image13.svg" Id="R1887af1508d343fc" /><Relationship Type="http://schemas.openxmlformats.org/officeDocument/2006/relationships/notesSlide" Target="/ppt/notesSlides/notesSlide10.xml" Id="R2bdfc8270f0648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826b8a2bccf468e" /><Relationship Type="http://schemas.openxmlformats.org/officeDocument/2006/relationships/image" Target="/ppt/media/image14.png" Id="Rfea3d4e0b5574655" /><Relationship Type="http://schemas.openxmlformats.org/officeDocument/2006/relationships/notesSlide" Target="/ppt/notesSlides/notesSlide11.xml" Id="Rddf95be522194e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cf5be2b9cb4a68" /><Relationship Type="http://schemas.openxmlformats.org/officeDocument/2006/relationships/image" Target="/ppt/media/image15.png" Id="R231ba514b5d44027" /><Relationship Type="http://schemas.openxmlformats.org/officeDocument/2006/relationships/image" Target="/ppt/media/image14.svg" Id="R812e610876b44508" /><Relationship Type="http://schemas.openxmlformats.org/officeDocument/2006/relationships/image" Target="/ppt/media/image4.png" Id="Re411c2cc11504277" /><Relationship Type="http://schemas.openxmlformats.org/officeDocument/2006/relationships/image" Target="/ppt/media/image4.svg" Id="R13e6a7928c714347" /><Relationship Type="http://schemas.openxmlformats.org/officeDocument/2006/relationships/image" Target="/ppt/media/image16.png" Id="R00a6a4a008454313" /><Relationship Type="http://schemas.openxmlformats.org/officeDocument/2006/relationships/image" Target="/ppt/media/image15.svg" Id="R600e7613f5254000" /><Relationship Type="http://schemas.openxmlformats.org/officeDocument/2006/relationships/notesSlide" Target="/ppt/notesSlides/notesSlide12.xml" Id="Rfcf9f445966446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1d67c5f27ff4812" /><Relationship Type="http://schemas.openxmlformats.org/officeDocument/2006/relationships/notesSlide" Target="/ppt/notesSlides/notesSlide13.xml" Id="Rd2a88184c28244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bded18a598472a" /><Relationship Type="http://schemas.openxmlformats.org/officeDocument/2006/relationships/notesSlide" Target="/ppt/notesSlides/notesSlide14.xml" Id="Ree11b4be7a7c4b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4aff045147b41d2" /><Relationship Type="http://schemas.openxmlformats.org/officeDocument/2006/relationships/image" Target="/ppt/media/image17.png" Id="R5a487afee09248bf" /><Relationship Type="http://schemas.openxmlformats.org/officeDocument/2006/relationships/image" Target="/ppt/media/image16.svg" Id="Rfbe9311a6222417e" /><Relationship Type="http://schemas.openxmlformats.org/officeDocument/2006/relationships/image" Target="/ppt/media/image18.png" Id="Rbe3d23fc3a674f7e" /><Relationship Type="http://schemas.openxmlformats.org/officeDocument/2006/relationships/image" Target="/ppt/media/image17.svg" Id="R3c8e3a09d8354e53" /><Relationship Type="http://schemas.openxmlformats.org/officeDocument/2006/relationships/image" Target="/ppt/media/image19.png" Id="Rbdcf7bb3189c426c" /><Relationship Type="http://schemas.openxmlformats.org/officeDocument/2006/relationships/image" Target="/ppt/media/image18.svg" Id="R6b622639e96d411e" /><Relationship Type="http://schemas.openxmlformats.org/officeDocument/2006/relationships/notesSlide" Target="/ppt/notesSlides/notesSlide15.xml" Id="Rb6fc9fcc75124e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0b996bd2f24f95" /><Relationship Type="http://schemas.openxmlformats.org/officeDocument/2006/relationships/notesSlide" Target="/ppt/notesSlides/notesSlide16.xml" Id="R10340064b148450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330bc752d95437e" /><Relationship Type="http://schemas.openxmlformats.org/officeDocument/2006/relationships/notesSlide" Target="/ppt/notesSlides/notesSlide17.xml" Id="Rac486e4d740d4b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79bba5ef94440a" /><Relationship Type="http://schemas.openxmlformats.org/officeDocument/2006/relationships/notesSlide" Target="/ppt/notesSlides/notesSlide18.xml" Id="R7bd537abf0884d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37fa0323b044f98" /><Relationship Type="http://schemas.openxmlformats.org/officeDocument/2006/relationships/notesSlide" Target="/ppt/notesSlides/notesSlide19.xml" Id="Ra853c5367221496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4cbbc9cde494a2e" /><Relationship Type="http://schemas.openxmlformats.org/officeDocument/2006/relationships/notesSlide" Target="/ppt/notesSlides/notesSlide20.xml" Id="R10f9928433f44e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9843ec31fd3445a" /><Relationship Type="http://schemas.openxmlformats.org/officeDocument/2006/relationships/chart" Target="/ppt/slides/charts/chart1.xml" Id="Ra42d48a20a9e4ccd" /><Relationship Type="http://schemas.openxmlformats.org/officeDocument/2006/relationships/chart" Target="/ppt/slides/charts/chart2.xml" Id="Rf032fbac2e6b4790" /><Relationship Type="http://schemas.openxmlformats.org/officeDocument/2006/relationships/notesSlide" Target="/ppt/notesSlides/notesSlide21.xml" Id="Rf0ee2825207b47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94ca54b05f04199" /><Relationship Type="http://schemas.openxmlformats.org/officeDocument/2006/relationships/chart" Target="/ppt/slides/charts/chart3.xml" Id="R0826641b45454657" /><Relationship Type="http://schemas.openxmlformats.org/officeDocument/2006/relationships/chart" Target="/ppt/slides/charts/chart4.xml" Id="Rde79e482af6d4b87" /><Relationship Type="http://schemas.openxmlformats.org/officeDocument/2006/relationships/notesSlide" Target="/ppt/notesSlides/notesSlide22.xml" Id="R5a5c3bfda84245c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7ce795500a040e5" /><Relationship Type="http://schemas.openxmlformats.org/officeDocument/2006/relationships/chart" Target="/ppt/slides/charts/chart5.xml" Id="R60e7a4ada8ed4c98" /><Relationship Type="http://schemas.openxmlformats.org/officeDocument/2006/relationships/notesSlide" Target="/ppt/notesSlides/notesSlide23.xml" Id="R702c6788e8f34d7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96c071ca9644b83" /><Relationship Type="http://schemas.openxmlformats.org/officeDocument/2006/relationships/chart" Target="/ppt/slides/charts/chart6.xml" Id="R8ad7a5ab17f44902" /><Relationship Type="http://schemas.openxmlformats.org/officeDocument/2006/relationships/chart" Target="/ppt/slides/charts/chart7.xml" Id="Rc42f265b258f4e45" /><Relationship Type="http://schemas.openxmlformats.org/officeDocument/2006/relationships/notesSlide" Target="/ppt/notesSlides/notesSlide24.xml" Id="R64dccd2740ce43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e4b83738bbd451d" /><Relationship Type="http://schemas.openxmlformats.org/officeDocument/2006/relationships/chart" Target="/ppt/slides/charts/chart8.xml" Id="R5afaab327a524a27" /><Relationship Type="http://schemas.openxmlformats.org/officeDocument/2006/relationships/notesSlide" Target="/ppt/notesSlides/notesSlide25.xml" Id="R8223c83fbb8045d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0eaabcad5ee4c96" /><Relationship Type="http://schemas.openxmlformats.org/officeDocument/2006/relationships/chart" Target="/ppt/slides/charts/chart9.xml" Id="Rc10bf66c2e924727" /><Relationship Type="http://schemas.openxmlformats.org/officeDocument/2006/relationships/chart" Target="/ppt/slides/charts/chart10.xml" Id="R7da61cc7aa9f4b01" /><Relationship Type="http://schemas.openxmlformats.org/officeDocument/2006/relationships/notesSlide" Target="/ppt/notesSlides/notesSlide26.xml" Id="Rab625f5b460b4ff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c458568c42d4381" /><Relationship Type="http://schemas.openxmlformats.org/officeDocument/2006/relationships/chart" Target="/ppt/slides/charts/chart11.xml" Id="Rb58d11465a564c30" /><Relationship Type="http://schemas.openxmlformats.org/officeDocument/2006/relationships/chart" Target="/ppt/slides/charts/chart12.xml" Id="R60db3ef388574a9a" /><Relationship Type="http://schemas.openxmlformats.org/officeDocument/2006/relationships/notesSlide" Target="/ppt/notesSlides/notesSlide27.xml" Id="R01cf2d9c274f48e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b8d1bc2f3a540c7" /><Relationship Type="http://schemas.openxmlformats.org/officeDocument/2006/relationships/notesSlide" Target="/ppt/notesSlides/notesSlide28.xml" Id="R85dd7e50923b494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23742a6632e4164" /><Relationship Type="http://schemas.openxmlformats.org/officeDocument/2006/relationships/notesSlide" Target="/ppt/notesSlides/notesSlide29.xml" Id="R582c0f014a7147c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d85199164a84d87" /><Relationship Type="http://schemas.openxmlformats.org/officeDocument/2006/relationships/notesSlide" Target="/ppt/notesSlides/notesSlide30.xml" Id="R1c350b63efc5444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ef53629f04b4f5e" /><Relationship Type="http://schemas.openxmlformats.org/officeDocument/2006/relationships/chart" Target="/ppt/slides/charts/chart13.xml" Id="R9e79b6da623a4297" /><Relationship Type="http://schemas.openxmlformats.org/officeDocument/2006/relationships/notesSlide" Target="/ppt/notesSlides/notesSlide31.xml" Id="Re5abffb5cb40471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31d3bc1fdf84b6e" /><Relationship Type="http://schemas.openxmlformats.org/officeDocument/2006/relationships/notesSlide" Target="/ppt/notesSlides/notesSlide32.xml" Id="Rcb40278b9d71460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fe7c5b5d62e45dd" /><Relationship Type="http://schemas.openxmlformats.org/officeDocument/2006/relationships/notesSlide" Target="/ppt/notesSlides/notesSlide33.xml" Id="R1891b37ff7cf410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ee0f0cf85644d9f" /><Relationship Type="http://schemas.openxmlformats.org/officeDocument/2006/relationships/notesSlide" Target="/ppt/notesSlides/notesSlide34.xml" Id="R697782214078432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0d4cee3feb7424a" /><Relationship Type="http://schemas.openxmlformats.org/officeDocument/2006/relationships/notesSlide" Target="/ppt/notesSlides/notesSlide35.xml" Id="Rc7641f2b6d7c479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高PV（SUNNY）</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バスへ</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BESSへ</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2"/>
          <c:order val="2"/>
          <c:tx>
            <c:v>抑制</c:v>
          </c:tx>
          <c:spPr>
            <a:ln xmlns:a="http://schemas.openxmlformats.org/drawingml/2006/mai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329.8</c:v>
                </c:pt>
                <c:pt idx="57">
                  <c:v>329.8</c:v>
                </c:pt>
                <c:pt idx="58">
                  <c:v>329.8</c:v>
                </c:pt>
                <c:pt idx="59">
                  <c:v>329.8</c:v>
                </c:pt>
                <c:pt idx="60">
                  <c:v>329.8</c:v>
                </c:pt>
                <c:pt idx="61">
                  <c:v>329.8</c:v>
                </c:pt>
                <c:pt idx="62">
                  <c:v>329.8</c:v>
                </c:pt>
                <c:pt idx="63">
                  <c:v>329.8</c:v>
                </c:pt>
                <c:pt idx="64">
                  <c:v>0</c:v>
                </c:pt>
                <c:pt idx="65">
                  <c:v>0</c:v>
                </c:pt>
                <c:pt idx="66">
                  <c:v>314.296585</c:v>
                </c:pt>
                <c:pt idx="67">
                  <c:v>314.296585</c:v>
                </c:pt>
                <c:pt idx="68">
                  <c:v>0</c:v>
                </c:pt>
                <c:pt idx="69">
                  <c:v>0</c:v>
                </c:pt>
                <c:pt idx="70">
                  <c:v>505.75</c:v>
                </c:pt>
                <c:pt idx="71">
                  <c:v>505.75</c:v>
                </c:pt>
                <c:pt idx="72">
                  <c:v>660.449789</c:v>
                </c:pt>
                <c:pt idx="73">
                  <c:v>660.449789</c:v>
                </c:pt>
                <c:pt idx="74">
                  <c:v>630.453096</c:v>
                </c:pt>
                <c:pt idx="75">
                  <c:v>630.453096</c:v>
                </c:pt>
                <c:pt idx="76">
                  <c:v>660.4499</c:v>
                </c:pt>
                <c:pt idx="77">
                  <c:v>660.4499</c:v>
                </c:pt>
                <c:pt idx="78">
                  <c:v>660.4499</c:v>
                </c:pt>
                <c:pt idx="79">
                  <c:v>660.4499</c:v>
                </c:pt>
                <c:pt idx="80">
                  <c:v>0</c:v>
                </c:pt>
                <c:pt idx="81">
                  <c:v>0</c:v>
                </c:pt>
                <c:pt idx="82">
                  <c:v>0</c:v>
                </c:pt>
                <c:pt idx="83">
                  <c:v>0</c:v>
                </c:pt>
                <c:pt idx="84">
                  <c:v>0</c:v>
                </c:pt>
                <c:pt idx="85">
                  <c:v>0</c:v>
                </c:pt>
                <c:pt idx="86">
                  <c:v>753.0999</c:v>
                </c:pt>
                <c:pt idx="87">
                  <c:v>753.0999</c:v>
                </c:pt>
                <c:pt idx="88">
                  <c:v>800.7</c:v>
                </c:pt>
                <c:pt idx="89">
                  <c:v>800.7</c:v>
                </c:pt>
                <c:pt idx="90">
                  <c:v>800.7</c:v>
                </c:pt>
                <c:pt idx="91">
                  <c:v>800.7</c:v>
                </c:pt>
                <c:pt idx="92">
                  <c:v>800.7</c:v>
                </c:pt>
                <c:pt idx="93">
                  <c:v>800.7</c:v>
                </c:pt>
                <c:pt idx="94">
                  <c:v>800.7</c:v>
                </c:pt>
                <c:pt idx="95">
                  <c:v>800.7</c:v>
                </c:pt>
                <c:pt idx="96">
                  <c:v>783.7</c:v>
                </c:pt>
                <c:pt idx="97">
                  <c:v>783.7</c:v>
                </c:pt>
                <c:pt idx="98">
                  <c:v>783.7</c:v>
                </c:pt>
                <c:pt idx="99">
                  <c:v>783.7</c:v>
                </c:pt>
                <c:pt idx="100">
                  <c:v>783.7</c:v>
                </c:pt>
                <c:pt idx="101">
                  <c:v>783.7</c:v>
                </c:pt>
                <c:pt idx="102">
                  <c:v>783.7</c:v>
                </c:pt>
                <c:pt idx="103">
                  <c:v>783.7</c:v>
                </c:pt>
                <c:pt idx="104">
                  <c:v>197.727854</c:v>
                </c:pt>
                <c:pt idx="105">
                  <c:v>197.727854</c:v>
                </c:pt>
                <c:pt idx="106">
                  <c:v>708.05</c:v>
                </c:pt>
                <c:pt idx="107">
                  <c:v>708.05</c:v>
                </c:pt>
                <c:pt idx="108">
                  <c:v>708.05</c:v>
                </c:pt>
                <c:pt idx="109">
                  <c:v>708.05</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9.256054</c:v>
                </c:pt>
                <c:pt idx="145">
                  <c:v>9.256054</c:v>
                </c:pt>
                <c:pt idx="146">
                  <c:v>9.35</c:v>
                </c:pt>
                <c:pt idx="147">
                  <c:v>9.35</c:v>
                </c:pt>
                <c:pt idx="148">
                  <c:v>9.35</c:v>
                </c:pt>
                <c:pt idx="149">
                  <c:v>9.35</c:v>
                </c:pt>
                <c:pt idx="150">
                  <c:v>9.35</c:v>
                </c:pt>
                <c:pt idx="151">
                  <c:v>9.35</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低PV（RAIN）</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バスへ</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BESSへ</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2"/>
          <c:order val="2"/>
          <c:tx>
            <c:v>抑制</c:v>
          </c:tx>
          <c:spPr>
            <a:ln xmlns:a="http://schemas.openxmlformats.org/drawingml/2006/mai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高PV（SUNNY）</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PV</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BESS</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er>
        <c:ser>
          <c:idx val="2"/>
          <c:order val="2"/>
          <c:tx>
            <c:v>系統</c:v>
          </c:tx>
          <c:spPr>
            <a:ln xmlns:a="http://schemas.openxmlformats.org/drawingml/2006/mai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低PV（RAIN）</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PV</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BESS</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er>
        <c:ser>
          <c:idx val="2"/>
          <c:order val="2"/>
          <c:tx>
            <c:v>系統</c:v>
          </c:tx>
          <c:spPr>
            <a:ln xmlns:a="http://schemas.openxmlformats.org/drawingml/2006/mai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14.163909</c:v>
                </c:pt>
                <c:pt idx="3">
                  <c:v>14.163909</c:v>
                </c:pt>
                <c:pt idx="4">
                  <c:v>0.0001</c:v>
                </c:pt>
                <c:pt idx="5">
                  <c:v>0.0001</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5.220425</c:v>
                </c:pt>
                <c:pt idx="41">
                  <c:v>5.220425</c:v>
                </c:pt>
                <c:pt idx="42">
                  <c:v>0</c:v>
                </c:pt>
                <c:pt idx="43">
                  <c:v>0</c:v>
                </c:pt>
                <c:pt idx="44">
                  <c:v>15.643811</c:v>
                </c:pt>
                <c:pt idx="45">
                  <c:v>15.643811</c:v>
                </c:pt>
                <c:pt idx="46">
                  <c:v>17.232073</c:v>
                </c:pt>
                <c:pt idx="47">
                  <c:v>17.232073</c:v>
                </c:pt>
                <c:pt idx="48">
                  <c:v>37.351508</c:v>
                </c:pt>
                <c:pt idx="49">
                  <c:v>37.351508</c:v>
                </c:pt>
                <c:pt idx="50">
                  <c:v>122.301666</c:v>
                </c:pt>
                <c:pt idx="51">
                  <c:v>122.301666</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51.69561</c:v>
                </c:pt>
                <c:pt idx="73">
                  <c:v>51.69561</c:v>
                </c:pt>
                <c:pt idx="74">
                  <c:v>95.8502</c:v>
                </c:pt>
                <c:pt idx="75">
                  <c:v>95.8502</c:v>
                </c:pt>
                <c:pt idx="76">
                  <c:v>21.428668</c:v>
                </c:pt>
                <c:pt idx="77">
                  <c:v>21.428668</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c:v>
                </c:pt>
                <c:pt idx="169">
                  <c:v>60</c:v>
                </c:pt>
                <c:pt idx="170">
                  <c:v>0</c:v>
                </c:pt>
                <c:pt idx="171">
                  <c:v>0</c:v>
                </c:pt>
                <c:pt idx="172">
                  <c:v>0</c:v>
                </c:pt>
                <c:pt idx="173">
                  <c:v>0</c:v>
                </c:pt>
                <c:pt idx="174">
                  <c:v>0</c:v>
                </c:pt>
                <c:pt idx="175">
                  <c:v>0</c:v>
                </c:pt>
                <c:pt idx="176">
                  <c:v>47.950158</c:v>
                </c:pt>
                <c:pt idx="177">
                  <c:v>47.950158</c:v>
                </c:pt>
                <c:pt idx="178">
                  <c:v>3.182057</c:v>
                </c:pt>
                <c:pt idx="179">
                  <c:v>3.182057</c:v>
                </c:pt>
                <c:pt idx="180">
                  <c:v>0</c:v>
                </c:pt>
                <c:pt idx="181">
                  <c:v>0</c:v>
                </c:pt>
                <c:pt idx="182">
                  <c:v>0</c:v>
                </c:pt>
                <c:pt idx="183">
                  <c:v>0</c:v>
                </c:pt>
                <c:pt idx="184">
                  <c:v>1.387289</c:v>
                </c:pt>
                <c:pt idx="185">
                  <c:v>1.387289</c:v>
                </c:pt>
                <c:pt idx="186">
                  <c:v>0</c:v>
                </c:pt>
                <c:pt idx="187">
                  <c:v>0</c:v>
                </c:pt>
                <c:pt idx="188">
                  <c:v>0.0001</c:v>
                </c:pt>
                <c:pt idx="189">
                  <c:v>0.0001</c:v>
                </c:pt>
                <c:pt idx="190">
                  <c:v>30.0002</c:v>
                </c:pt>
                <c:pt idx="191">
                  <c:v>30.0002</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BESSエネルギー残量</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高PV（SUNNY）</c:v>
          </c:tx>
          <c:spPr>
            <a:ln xmlns:a="http://schemas.openxmlformats.org/drawingml/2006/mai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3000</c:v>
                </c:pt>
                <c:pt idx="1">
                  <c:v>2901.03808</c:v>
                </c:pt>
                <c:pt idx="2">
                  <c:v>2796.222447</c:v>
                </c:pt>
                <c:pt idx="3">
                  <c:v>2663.476358</c:v>
                </c:pt>
                <c:pt idx="4">
                  <c:v>2535.118273</c:v>
                </c:pt>
                <c:pt idx="5">
                  <c:v>2416.536264</c:v>
                </c:pt>
                <c:pt idx="6">
                  <c:v>2291.823103</c:v>
                </c:pt>
                <c:pt idx="7">
                  <c:v>2165.507208</c:v>
                </c:pt>
                <c:pt idx="8">
                  <c:v>2011.267349</c:v>
                </c:pt>
                <c:pt idx="9">
                  <c:v>1936.188393</c:v>
                </c:pt>
                <c:pt idx="10">
                  <c:v>1857.973224</c:v>
                </c:pt>
                <c:pt idx="11">
                  <c:v>1763.322339</c:v>
                </c:pt>
                <c:pt idx="12">
                  <c:v>1703.550036</c:v>
                </c:pt>
                <c:pt idx="13">
                  <c:v>1597.611511</c:v>
                </c:pt>
                <c:pt idx="14">
                  <c:v>1526.558663</c:v>
                </c:pt>
                <c:pt idx="15">
                  <c:v>1479.189994</c:v>
                </c:pt>
                <c:pt idx="16">
                  <c:v>1474.146467</c:v>
                </c:pt>
                <c:pt idx="17">
                  <c:v>1369.796624</c:v>
                </c:pt>
                <c:pt idx="18">
                  <c:v>1297.30729</c:v>
                </c:pt>
                <c:pt idx="19">
                  <c:v>1266.781083</c:v>
                </c:pt>
                <c:pt idx="20">
                  <c:v>1207.894685</c:v>
                </c:pt>
                <c:pt idx="21">
                  <c:v>1200</c:v>
                </c:pt>
                <c:pt idx="22">
                  <c:v>1200</c:v>
                </c:pt>
                <c:pt idx="23">
                  <c:v>1200</c:v>
                </c:pt>
                <c:pt idx="24">
                  <c:v>1201.353774</c:v>
                </c:pt>
                <c:pt idx="25">
                  <c:v>1209.446386</c:v>
                </c:pt>
                <c:pt idx="26">
                  <c:v>1217.889487</c:v>
                </c:pt>
                <c:pt idx="27">
                  <c:v>1254.832588</c:v>
                </c:pt>
                <c:pt idx="28">
                  <c:v>1288.059264</c:v>
                </c:pt>
                <c:pt idx="29">
                  <c:v>1288.059264</c:v>
                </c:pt>
                <c:pt idx="30">
                  <c:v>1288.059264</c:v>
                </c:pt>
                <c:pt idx="31">
                  <c:v>1288.059264</c:v>
                </c:pt>
                <c:pt idx="32">
                  <c:v>1288.059264</c:v>
                </c:pt>
                <c:pt idx="33">
                  <c:v>1408.174889</c:v>
                </c:pt>
                <c:pt idx="34">
                  <c:v>1453.645075</c:v>
                </c:pt>
                <c:pt idx="35">
                  <c:v>1573.7607</c:v>
                </c:pt>
                <c:pt idx="36">
                  <c:v>1573.7607</c:v>
                </c:pt>
                <c:pt idx="37">
                  <c:v>1573.760727</c:v>
                </c:pt>
                <c:pt idx="38">
                  <c:v>1573.760727</c:v>
                </c:pt>
                <c:pt idx="39">
                  <c:v>1573.760727</c:v>
                </c:pt>
                <c:pt idx="40">
                  <c:v>1573.760727</c:v>
                </c:pt>
                <c:pt idx="41">
                  <c:v>1748.82541</c:v>
                </c:pt>
                <c:pt idx="42">
                  <c:v>1927.686637</c:v>
                </c:pt>
                <c:pt idx="43">
                  <c:v>2106.547863</c:v>
                </c:pt>
                <c:pt idx="44">
                  <c:v>2106.547863</c:v>
                </c:pt>
                <c:pt idx="45">
                  <c:v>2106.547863</c:v>
                </c:pt>
                <c:pt idx="46">
                  <c:v>2106.547863</c:v>
                </c:pt>
                <c:pt idx="47">
                  <c:v>2106.547863</c:v>
                </c:pt>
                <c:pt idx="48">
                  <c:v>2106.547863</c:v>
                </c:pt>
                <c:pt idx="49">
                  <c:v>2106.547863</c:v>
                </c:pt>
                <c:pt idx="50">
                  <c:v>2106.547863</c:v>
                </c:pt>
                <c:pt idx="51">
                  <c:v>2106.547863</c:v>
                </c:pt>
                <c:pt idx="52">
                  <c:v>2106.547863</c:v>
                </c:pt>
                <c:pt idx="53">
                  <c:v>2227.749373</c:v>
                </c:pt>
                <c:pt idx="54">
                  <c:v>2227.749373</c:v>
                </c:pt>
                <c:pt idx="55">
                  <c:v>2227.749373</c:v>
                </c:pt>
                <c:pt idx="56">
                  <c:v>2395.911248</c:v>
                </c:pt>
                <c:pt idx="57">
                  <c:v>2534.599373</c:v>
                </c:pt>
                <c:pt idx="58">
                  <c:v>2673.287498</c:v>
                </c:pt>
                <c:pt idx="59">
                  <c:v>2811.975623</c:v>
                </c:pt>
                <c:pt idx="60">
                  <c:v>2950.663748</c:v>
                </c:pt>
                <c:pt idx="61">
                  <c:v>3050.591873</c:v>
                </c:pt>
                <c:pt idx="62">
                  <c:v>3150.519998</c:v>
                </c:pt>
                <c:pt idx="63">
                  <c:v>3250.448123</c:v>
                </c:pt>
                <c:pt idx="64">
                  <c:v>3350.376248</c:v>
                </c:pt>
                <c:pt idx="65">
                  <c:v>3405.689998</c:v>
                </c:pt>
                <c:pt idx="66">
                  <c:v>3461.003748</c:v>
                </c:pt>
                <c:pt idx="67">
                  <c:v>3516.317498</c:v>
                </c:pt>
                <c:pt idx="68">
                  <c:v>3571.631248</c:v>
                </c:pt>
                <c:pt idx="69">
                  <c:v>3589.799998</c:v>
                </c:pt>
                <c:pt idx="70">
                  <c:v>3607.968748</c:v>
                </c:pt>
                <c:pt idx="71">
                  <c:v>3626.137498</c:v>
                </c:pt>
                <c:pt idx="72">
                  <c:v>3644.306248</c:v>
                </c:pt>
                <c:pt idx="73">
                  <c:v>3644.32856</c:v>
                </c:pt>
                <c:pt idx="74">
                  <c:v>3644.32856</c:v>
                </c:pt>
                <c:pt idx="75">
                  <c:v>3644.32856</c:v>
                </c:pt>
                <c:pt idx="76">
                  <c:v>3644.32856</c:v>
                </c:pt>
                <c:pt idx="77">
                  <c:v>3644.32856</c:v>
                </c:pt>
                <c:pt idx="78">
                  <c:v>3644.32856</c:v>
                </c:pt>
                <c:pt idx="79">
                  <c:v>3644.32856</c:v>
                </c:pt>
                <c:pt idx="80">
                  <c:v>3644.32856</c:v>
                </c:pt>
                <c:pt idx="81">
                  <c:v>3644.32856</c:v>
                </c:pt>
                <c:pt idx="82">
                  <c:v>3644.32856</c:v>
                </c:pt>
                <c:pt idx="83">
                  <c:v>3644.32856</c:v>
                </c:pt>
                <c:pt idx="84">
                  <c:v>3628.539086</c:v>
                </c:pt>
                <c:pt idx="85">
                  <c:v>3604.626111</c:v>
                </c:pt>
                <c:pt idx="86">
                  <c:v>3580.941875</c:v>
                </c:pt>
                <c:pt idx="87">
                  <c:v>3557.257638</c:v>
                </c:pt>
                <c:pt idx="88">
                  <c:v>3549.362954</c:v>
                </c:pt>
                <c:pt idx="89">
                  <c:v>3533.57348</c:v>
                </c:pt>
                <c:pt idx="90">
                  <c:v>3525.678743</c:v>
                </c:pt>
                <c:pt idx="91">
                  <c:v>3501.994532</c:v>
                </c:pt>
                <c:pt idx="92">
                  <c:v>3430.941901</c:v>
                </c:pt>
                <c:pt idx="93">
                  <c:v>3312.520875</c:v>
                </c:pt>
                <c:pt idx="94">
                  <c:v>3182.119618</c:v>
                </c:pt>
                <c:pt idx="95">
                  <c:v>3097.734949</c:v>
                </c:pt>
                <c:pt idx="96">
                  <c:v>3000</c:v>
                </c:pt>
              </c:numCache>
            </c:numRef>
          </c:yVal>
        </c:ser>
        <c:ser>
          <c:idx val="1"/>
          <c:order val="1"/>
          <c:tx>
            <c:v>低PV（RAIN）</c:v>
          </c:tx>
          <c:spPr>
            <a:ln xmlns:a="http://schemas.openxmlformats.org/drawingml/2006/main" w="21908">
              <a:solidFill>
                <a:srgbClr val="6B54A3"/>
              </a:solidFill>
              <a:prstDash val="solid"/>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0</c:formatCode>
                <c:ptCount val="97"/>
                <c:pt idx="0">
                  <c:v>3000</c:v>
                </c:pt>
                <c:pt idx="1">
                  <c:v>2952.631553</c:v>
                </c:pt>
                <c:pt idx="2">
                  <c:v>2900.128148</c:v>
                </c:pt>
                <c:pt idx="3">
                  <c:v>2852.845631</c:v>
                </c:pt>
                <c:pt idx="4">
                  <c:v>2813.371947</c:v>
                </c:pt>
                <c:pt idx="5">
                  <c:v>2757.03983</c:v>
                </c:pt>
                <c:pt idx="6">
                  <c:v>2689.335804</c:v>
                </c:pt>
                <c:pt idx="7">
                  <c:v>2689.335778</c:v>
                </c:pt>
                <c:pt idx="8">
                  <c:v>2689.335778</c:v>
                </c:pt>
                <c:pt idx="9">
                  <c:v>2649.862093</c:v>
                </c:pt>
                <c:pt idx="10">
                  <c:v>2647.177857</c:v>
                </c:pt>
                <c:pt idx="11">
                  <c:v>2647.17783</c:v>
                </c:pt>
                <c:pt idx="12">
                  <c:v>2647.17783</c:v>
                </c:pt>
                <c:pt idx="13">
                  <c:v>2639.283093</c:v>
                </c:pt>
                <c:pt idx="14">
                  <c:v>2639.283093</c:v>
                </c:pt>
                <c:pt idx="15">
                  <c:v>2631.388357</c:v>
                </c:pt>
                <c:pt idx="16">
                  <c:v>2631.388357</c:v>
                </c:pt>
                <c:pt idx="17">
                  <c:v>2617.424601</c:v>
                </c:pt>
                <c:pt idx="18">
                  <c:v>2617.424601</c:v>
                </c:pt>
                <c:pt idx="19">
                  <c:v>2609.529754</c:v>
                </c:pt>
                <c:pt idx="20">
                  <c:v>2609.529727</c:v>
                </c:pt>
                <c:pt idx="21">
                  <c:v>2609.529727</c:v>
                </c:pt>
                <c:pt idx="22">
                  <c:v>2609.529727</c:v>
                </c:pt>
                <c:pt idx="23">
                  <c:v>2609.529727</c:v>
                </c:pt>
                <c:pt idx="24">
                  <c:v>2609.529727</c:v>
                </c:pt>
                <c:pt idx="25">
                  <c:v>2609.529727</c:v>
                </c:pt>
                <c:pt idx="26">
                  <c:v>2609.529727</c:v>
                </c:pt>
                <c:pt idx="27">
                  <c:v>2619.945977</c:v>
                </c:pt>
                <c:pt idx="28">
                  <c:v>2633.067852</c:v>
                </c:pt>
                <c:pt idx="29">
                  <c:v>2650.832852</c:v>
                </c:pt>
                <c:pt idx="30">
                  <c:v>2668.597852</c:v>
                </c:pt>
                <c:pt idx="31">
                  <c:v>2686.362852</c:v>
                </c:pt>
                <c:pt idx="32">
                  <c:v>2704.127852</c:v>
                </c:pt>
                <c:pt idx="33">
                  <c:v>2716.240352</c:v>
                </c:pt>
                <c:pt idx="34">
                  <c:v>2728.352852</c:v>
                </c:pt>
                <c:pt idx="35">
                  <c:v>2740.465352</c:v>
                </c:pt>
                <c:pt idx="36">
                  <c:v>2745.452852</c:v>
                </c:pt>
                <c:pt idx="37">
                  <c:v>2745.452852</c:v>
                </c:pt>
                <c:pt idx="38">
                  <c:v>2745.452852</c:v>
                </c:pt>
                <c:pt idx="39">
                  <c:v>2745.452852</c:v>
                </c:pt>
                <c:pt idx="40">
                  <c:v>2745.452852</c:v>
                </c:pt>
                <c:pt idx="41">
                  <c:v>2751.390352</c:v>
                </c:pt>
                <c:pt idx="42">
                  <c:v>2767.764696</c:v>
                </c:pt>
                <c:pt idx="43">
                  <c:v>2773.702172</c:v>
                </c:pt>
                <c:pt idx="44">
                  <c:v>2790.076539</c:v>
                </c:pt>
                <c:pt idx="45">
                  <c:v>2805.905914</c:v>
                </c:pt>
                <c:pt idx="46">
                  <c:v>2835.985265</c:v>
                </c:pt>
                <c:pt idx="47">
                  <c:v>2866.064616</c:v>
                </c:pt>
                <c:pt idx="48">
                  <c:v>2896.143968</c:v>
                </c:pt>
                <c:pt idx="49">
                  <c:v>2916.533343</c:v>
                </c:pt>
                <c:pt idx="50">
                  <c:v>2936.922718</c:v>
                </c:pt>
                <c:pt idx="51">
                  <c:v>2957.312093</c:v>
                </c:pt>
                <c:pt idx="52">
                  <c:v>2977.701468</c:v>
                </c:pt>
                <c:pt idx="53">
                  <c:v>2998.637093</c:v>
                </c:pt>
                <c:pt idx="54">
                  <c:v>3026.697718</c:v>
                </c:pt>
                <c:pt idx="55">
                  <c:v>3047.633343</c:v>
                </c:pt>
                <c:pt idx="56">
                  <c:v>3075.693968</c:v>
                </c:pt>
                <c:pt idx="57">
                  <c:v>3105.975194</c:v>
                </c:pt>
                <c:pt idx="58">
                  <c:v>3136.256444</c:v>
                </c:pt>
                <c:pt idx="59">
                  <c:v>3166.53767</c:v>
                </c:pt>
                <c:pt idx="60">
                  <c:v>3196.81892</c:v>
                </c:pt>
                <c:pt idx="61">
                  <c:v>3210.890795</c:v>
                </c:pt>
                <c:pt idx="62">
                  <c:v>3232.08767</c:v>
                </c:pt>
                <c:pt idx="63">
                  <c:v>3252.413489</c:v>
                </c:pt>
                <c:pt idx="64">
                  <c:v>3273.610364</c:v>
                </c:pt>
                <c:pt idx="65">
                  <c:v>3287.539739</c:v>
                </c:pt>
                <c:pt idx="66">
                  <c:v>3294.344114</c:v>
                </c:pt>
                <c:pt idx="67">
                  <c:v>3308.273489</c:v>
                </c:pt>
                <c:pt idx="68">
                  <c:v>3315.077888</c:v>
                </c:pt>
                <c:pt idx="69">
                  <c:v>3321.537864</c:v>
                </c:pt>
                <c:pt idx="70">
                  <c:v>3327.99784</c:v>
                </c:pt>
                <c:pt idx="71">
                  <c:v>3327.998007</c:v>
                </c:pt>
                <c:pt idx="72">
                  <c:v>3334.457983</c:v>
                </c:pt>
                <c:pt idx="73">
                  <c:v>3335.063584</c:v>
                </c:pt>
                <c:pt idx="74">
                  <c:v>3335.669185</c:v>
                </c:pt>
                <c:pt idx="75">
                  <c:v>3336.274787</c:v>
                </c:pt>
                <c:pt idx="76">
                  <c:v>3336.880388</c:v>
                </c:pt>
                <c:pt idx="77">
                  <c:v>3336.880388</c:v>
                </c:pt>
                <c:pt idx="78">
                  <c:v>3336.880388</c:v>
                </c:pt>
                <c:pt idx="79">
                  <c:v>3336.880388</c:v>
                </c:pt>
                <c:pt idx="80">
                  <c:v>3336.880388</c:v>
                </c:pt>
                <c:pt idx="81">
                  <c:v>3336.880388</c:v>
                </c:pt>
                <c:pt idx="82">
                  <c:v>3336.880388</c:v>
                </c:pt>
                <c:pt idx="83">
                  <c:v>3336.880388</c:v>
                </c:pt>
                <c:pt idx="84">
                  <c:v>3321.090914</c:v>
                </c:pt>
                <c:pt idx="85">
                  <c:v>3313.196177</c:v>
                </c:pt>
                <c:pt idx="86">
                  <c:v>3313.195862</c:v>
                </c:pt>
                <c:pt idx="87">
                  <c:v>3297.406388</c:v>
                </c:pt>
                <c:pt idx="88">
                  <c:v>3297.406362</c:v>
                </c:pt>
                <c:pt idx="89">
                  <c:v>3286.340587</c:v>
                </c:pt>
                <c:pt idx="90">
                  <c:v>3286.340587</c:v>
                </c:pt>
                <c:pt idx="91">
                  <c:v>3262.656377</c:v>
                </c:pt>
                <c:pt idx="92">
                  <c:v>3223.182693</c:v>
                </c:pt>
                <c:pt idx="93">
                  <c:v>3160.3899</c:v>
                </c:pt>
                <c:pt idx="94">
                  <c:v>3112.65635</c:v>
                </c:pt>
                <c:pt idx="95">
                  <c:v>3055.263184</c:v>
                </c:pt>
                <c:pt idx="96">
                  <c:v>3000</c:v>
                </c:pt>
              </c:numCache>
            </c:numRef>
          </c:yVal>
        </c:ser>
        <c:ser>
          <c:idx val="2"/>
          <c:order val="2"/>
          <c:tx>
            <c:v>下限</c:v>
          </c:tx>
          <c:spPr>
            <a:ln xmlns:a="http://schemas.openxmlformats.org/drawingml/2006/main" w="21908">
              <a:solidFill>
                <a:srgbClr val="AAB2BC"/>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1200</c:v>
                </c:pt>
                <c:pt idx="1">
                  <c:v>1200</c:v>
                </c:pt>
              </c:numCache>
            </c:numRef>
          </c:yVal>
        </c:ser>
        <c:ser>
          <c:idx val="3"/>
          <c:order val="3"/>
          <c:tx>
            <c:v>上限</c:v>
          </c:tx>
          <c:spPr>
            <a:ln xmlns:a="http://schemas.openxmlformats.org/drawingml/2006/main" w="21908">
              <a:solidFill>
                <a:srgbClr val="7D8795"/>
              </a:solidFill>
              <a:prstDash val="solid"/>
            </a:ln>
          </c:spPr>
          <c:marker>
            <c:symbol val="none"/>
          </c:marker>
          <c:xVal>
            <c:numRef>
              <c:f>'Chart Data'!$G$2:$G$3</c:f>
              <c:numCache>
                <c:formatCode>General</c:formatCode>
                <c:ptCount val="2"/>
                <c:pt idx="0">
                  <c:v>0</c:v>
                </c:pt>
                <c:pt idx="1">
                  <c:v>24</c:v>
                </c:pt>
              </c:numCache>
            </c:numRef>
          </c:xVal>
          <c:yVal>
            <c:numRef>
              <c:f>'Chart Data'!$H$2:$H$3</c:f>
              <c:numCache>
                <c:formatCode>0</c:formatCode>
                <c:ptCount val="2"/>
                <c:pt idx="0">
                  <c:v>4800</c:v>
                </c:pt>
                <c:pt idx="1">
                  <c:v>4800</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6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高PV（SUNNY）</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PVから充電</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バスへ放電</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低PV（RAIN）</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PVから充電</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バスへ放電</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正の電力を持つ充電セッション</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高PV（SUNNY）</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10</c:v>
                </c:pt>
                <c:pt idx="1">
                  <c:v>10</c:v>
                </c:pt>
                <c:pt idx="2">
                  <c:v>10</c:v>
                </c:pt>
                <c:pt idx="3">
                  <c:v>10</c:v>
                </c:pt>
                <c:pt idx="4">
                  <c:v>10</c:v>
                </c:pt>
                <c:pt idx="5">
                  <c:v>10</c:v>
                </c:pt>
                <c:pt idx="6">
                  <c:v>9</c:v>
                </c:pt>
                <c:pt idx="7">
                  <c:v>9</c:v>
                </c:pt>
                <c:pt idx="8">
                  <c:v>9</c:v>
                </c:pt>
                <c:pt idx="9">
                  <c:v>9</c:v>
                </c:pt>
                <c:pt idx="10">
                  <c:v>10</c:v>
                </c:pt>
                <c:pt idx="11">
                  <c:v>10</c:v>
                </c:pt>
                <c:pt idx="12">
                  <c:v>10</c:v>
                </c:pt>
                <c:pt idx="13">
                  <c:v>10</c:v>
                </c:pt>
                <c:pt idx="14">
                  <c:v>9</c:v>
                </c:pt>
                <c:pt idx="15">
                  <c:v>9</c:v>
                </c:pt>
                <c:pt idx="16">
                  <c:v>8</c:v>
                </c:pt>
                <c:pt idx="17">
                  <c:v>8</c:v>
                </c:pt>
                <c:pt idx="18">
                  <c:v>6</c:v>
                </c:pt>
                <c:pt idx="19">
                  <c:v>6</c:v>
                </c:pt>
                <c:pt idx="20">
                  <c:v>5</c:v>
                </c:pt>
                <c:pt idx="21">
                  <c:v>5</c:v>
                </c:pt>
                <c:pt idx="22">
                  <c:v>6</c:v>
                </c:pt>
                <c:pt idx="23">
                  <c:v>6</c:v>
                </c:pt>
                <c:pt idx="24">
                  <c:v>10</c:v>
                </c:pt>
                <c:pt idx="25">
                  <c:v>10</c:v>
                </c:pt>
                <c:pt idx="26">
                  <c:v>10</c:v>
                </c:pt>
                <c:pt idx="27">
                  <c:v>10</c:v>
                </c:pt>
                <c:pt idx="28">
                  <c:v>6</c:v>
                </c:pt>
                <c:pt idx="29">
                  <c:v>6</c:v>
                </c:pt>
                <c:pt idx="30">
                  <c:v>6</c:v>
                </c:pt>
                <c:pt idx="31">
                  <c:v>6</c:v>
                </c:pt>
                <c:pt idx="32">
                  <c:v>10</c:v>
                </c:pt>
                <c:pt idx="33">
                  <c:v>10</c:v>
                </c:pt>
                <c:pt idx="34">
                  <c:v>7</c:v>
                </c:pt>
                <c:pt idx="35">
                  <c:v>7</c:v>
                </c:pt>
                <c:pt idx="36">
                  <c:v>5</c:v>
                </c:pt>
                <c:pt idx="37">
                  <c:v>5</c:v>
                </c:pt>
                <c:pt idx="38">
                  <c:v>6</c:v>
                </c:pt>
                <c:pt idx="39">
                  <c:v>6</c:v>
                </c:pt>
                <c:pt idx="40">
                  <c:v>4</c:v>
                </c:pt>
                <c:pt idx="41">
                  <c:v>4</c:v>
                </c:pt>
                <c:pt idx="42">
                  <c:v>2</c:v>
                </c:pt>
                <c:pt idx="43">
                  <c:v>2</c:v>
                </c:pt>
                <c:pt idx="44">
                  <c:v>2</c:v>
                </c:pt>
                <c:pt idx="45">
                  <c:v>2</c:v>
                </c:pt>
                <c:pt idx="46">
                  <c:v>1</c:v>
                </c:pt>
                <c:pt idx="47">
                  <c:v>1</c:v>
                </c:pt>
                <c:pt idx="48">
                  <c:v>6</c:v>
                </c:pt>
                <c:pt idx="49">
                  <c:v>6</c:v>
                </c:pt>
                <c:pt idx="50">
                  <c:v>3</c:v>
                </c:pt>
                <c:pt idx="51">
                  <c:v>3</c:v>
                </c:pt>
                <c:pt idx="52">
                  <c:v>1</c:v>
                </c:pt>
                <c:pt idx="53">
                  <c:v>1</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c:v>
                </c:pt>
                <c:pt idx="73">
                  <c:v>1</c:v>
                </c:pt>
                <c:pt idx="74">
                  <c:v>1</c:v>
                </c:pt>
                <c:pt idx="75">
                  <c:v>1</c:v>
                </c:pt>
                <c:pt idx="76">
                  <c:v>1</c:v>
                </c:pt>
                <c:pt idx="77">
                  <c:v>1</c:v>
                </c:pt>
                <c:pt idx="78">
                  <c:v>1</c:v>
                </c:pt>
                <c:pt idx="79">
                  <c:v>1</c:v>
                </c:pt>
                <c:pt idx="80">
                  <c:v>4</c:v>
                </c:pt>
                <c:pt idx="81">
                  <c:v>4</c:v>
                </c:pt>
                <c:pt idx="82">
                  <c:v>1</c:v>
                </c:pt>
                <c:pt idx="83">
                  <c:v>1</c:v>
                </c:pt>
                <c:pt idx="84">
                  <c:v>1</c:v>
                </c:pt>
                <c:pt idx="85">
                  <c:v>1</c:v>
                </c:pt>
                <c:pt idx="86">
                  <c:v>1</c:v>
                </c:pt>
                <c:pt idx="87">
                  <c:v>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2</c:v>
                </c:pt>
                <c:pt idx="171">
                  <c:v>2</c:v>
                </c:pt>
                <c:pt idx="172">
                  <c:v>2</c:v>
                </c:pt>
                <c:pt idx="173">
                  <c:v>2</c:v>
                </c:pt>
                <c:pt idx="174">
                  <c:v>2</c:v>
                </c:pt>
                <c:pt idx="175">
                  <c:v>2</c:v>
                </c:pt>
                <c:pt idx="176">
                  <c:v>1</c:v>
                </c:pt>
                <c:pt idx="177">
                  <c:v>1</c:v>
                </c:pt>
                <c:pt idx="178">
                  <c:v>1</c:v>
                </c:pt>
                <c:pt idx="179">
                  <c:v>1</c:v>
                </c:pt>
                <c:pt idx="180">
                  <c:v>2</c:v>
                </c:pt>
                <c:pt idx="181">
                  <c:v>2</c:v>
                </c:pt>
                <c:pt idx="182">
                  <c:v>4</c:v>
                </c:pt>
                <c:pt idx="183">
                  <c:v>4</c:v>
                </c:pt>
                <c:pt idx="184">
                  <c:v>7</c:v>
                </c:pt>
                <c:pt idx="185">
                  <c:v>7</c:v>
                </c:pt>
                <c:pt idx="186">
                  <c:v>6</c:v>
                </c:pt>
                <c:pt idx="187">
                  <c:v>6</c:v>
                </c:pt>
                <c:pt idx="188">
                  <c:v>8</c:v>
                </c:pt>
                <c:pt idx="189">
                  <c:v>8</c:v>
                </c:pt>
                <c:pt idx="190">
                  <c:v>9</c:v>
                </c:pt>
                <c:pt idx="191">
                  <c:v>9</c:v>
                </c:pt>
              </c:numCache>
            </c:numRef>
          </c:yVal>
        </c:ser>
        <c:ser>
          <c:idx val="1"/>
          <c:order val="1"/>
          <c:tx>
            <c:v>低PV（RAIN）</c:v>
          </c:tx>
          <c:spPr>
            <a:ln xmlns:a="http://schemas.openxmlformats.org/drawingml/2006/main" w="21908">
              <a:solidFill>
                <a:srgbClr val="6B54A3"/>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4</c:v>
                </c:pt>
                <c:pt idx="1">
                  <c:v>4</c:v>
                </c:pt>
                <c:pt idx="2">
                  <c:v>7</c:v>
                </c:pt>
                <c:pt idx="3">
                  <c:v>7</c:v>
                </c:pt>
                <c:pt idx="4">
                  <c:v>4</c:v>
                </c:pt>
                <c:pt idx="5">
                  <c:v>4</c:v>
                </c:pt>
                <c:pt idx="6">
                  <c:v>2</c:v>
                </c:pt>
                <c:pt idx="7">
                  <c:v>2</c:v>
                </c:pt>
                <c:pt idx="8">
                  <c:v>8</c:v>
                </c:pt>
                <c:pt idx="9">
                  <c:v>8</c:v>
                </c:pt>
                <c:pt idx="10">
                  <c:v>7</c:v>
                </c:pt>
                <c:pt idx="11">
                  <c:v>7</c:v>
                </c:pt>
                <c:pt idx="12">
                  <c:v>1</c:v>
                </c:pt>
                <c:pt idx="13">
                  <c:v>1</c:v>
                </c:pt>
                <c:pt idx="14">
                  <c:v>0</c:v>
                </c:pt>
                <c:pt idx="15">
                  <c:v>0</c:v>
                </c:pt>
                <c:pt idx="16">
                  <c:v>3</c:v>
                </c:pt>
                <c:pt idx="17">
                  <c:v>3</c:v>
                </c:pt>
                <c:pt idx="18">
                  <c:v>2</c:v>
                </c:pt>
                <c:pt idx="19">
                  <c:v>2</c:v>
                </c:pt>
                <c:pt idx="20">
                  <c:v>1</c:v>
                </c:pt>
                <c:pt idx="21">
                  <c:v>1</c:v>
                </c:pt>
                <c:pt idx="22">
                  <c:v>0</c:v>
                </c:pt>
                <c:pt idx="23">
                  <c:v>0</c:v>
                </c:pt>
                <c:pt idx="24">
                  <c:v>1</c:v>
                </c:pt>
                <c:pt idx="25">
                  <c:v>1</c:v>
                </c:pt>
                <c:pt idx="26">
                  <c:v>0</c:v>
                </c:pt>
                <c:pt idx="27">
                  <c:v>0</c:v>
                </c:pt>
                <c:pt idx="28">
                  <c:v>1</c:v>
                </c:pt>
                <c:pt idx="29">
                  <c:v>1</c:v>
                </c:pt>
                <c:pt idx="30">
                  <c:v>0</c:v>
                </c:pt>
                <c:pt idx="31">
                  <c:v>0</c:v>
                </c:pt>
                <c:pt idx="32">
                  <c:v>4</c:v>
                </c:pt>
                <c:pt idx="33">
                  <c:v>4</c:v>
                </c:pt>
                <c:pt idx="34">
                  <c:v>0</c:v>
                </c:pt>
                <c:pt idx="35">
                  <c:v>0</c:v>
                </c:pt>
                <c:pt idx="36">
                  <c:v>2</c:v>
                </c:pt>
                <c:pt idx="37">
                  <c:v>2</c:v>
                </c:pt>
                <c:pt idx="38">
                  <c:v>1</c:v>
                </c:pt>
                <c:pt idx="39">
                  <c:v>1</c:v>
                </c:pt>
                <c:pt idx="40">
                  <c:v>1</c:v>
                </c:pt>
                <c:pt idx="41">
                  <c:v>1</c:v>
                </c:pt>
                <c:pt idx="42">
                  <c:v>1</c:v>
                </c:pt>
                <c:pt idx="43">
                  <c:v>1</c:v>
                </c:pt>
                <c:pt idx="44">
                  <c:v>4</c:v>
                </c:pt>
                <c:pt idx="45">
                  <c:v>4</c:v>
                </c:pt>
                <c:pt idx="46">
                  <c:v>4</c:v>
                </c:pt>
                <c:pt idx="47">
                  <c:v>4</c:v>
                </c:pt>
                <c:pt idx="48">
                  <c:v>5</c:v>
                </c:pt>
                <c:pt idx="49">
                  <c:v>5</c:v>
                </c:pt>
                <c:pt idx="50">
                  <c:v>4</c:v>
                </c:pt>
                <c:pt idx="51">
                  <c:v>4</c:v>
                </c:pt>
                <c:pt idx="52">
                  <c:v>1</c:v>
                </c:pt>
                <c:pt idx="53">
                  <c:v>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c:v>
                </c:pt>
                <c:pt idx="71">
                  <c:v>1</c:v>
                </c:pt>
                <c:pt idx="72">
                  <c:v>3</c:v>
                </c:pt>
                <c:pt idx="73">
                  <c:v>3</c:v>
                </c:pt>
                <c:pt idx="74">
                  <c:v>4</c:v>
                </c:pt>
                <c:pt idx="75">
                  <c:v>4</c:v>
                </c:pt>
                <c:pt idx="76">
                  <c:v>4</c:v>
                </c:pt>
                <c:pt idx="77">
                  <c:v>4</c:v>
                </c:pt>
                <c:pt idx="78">
                  <c:v>4</c:v>
                </c:pt>
                <c:pt idx="79">
                  <c:v>4</c:v>
                </c:pt>
                <c:pt idx="80">
                  <c:v>1</c:v>
                </c:pt>
                <c:pt idx="81">
                  <c:v>1</c:v>
                </c:pt>
                <c:pt idx="82">
                  <c:v>2</c:v>
                </c:pt>
                <c:pt idx="83">
                  <c:v>2</c:v>
                </c:pt>
                <c:pt idx="84">
                  <c:v>2</c:v>
                </c:pt>
                <c:pt idx="85">
                  <c:v>2</c:v>
                </c:pt>
                <c:pt idx="86">
                  <c:v>2</c:v>
                </c:pt>
                <c:pt idx="87">
                  <c:v>2</c:v>
                </c:pt>
                <c:pt idx="88">
                  <c:v>1</c:v>
                </c:pt>
                <c:pt idx="89">
                  <c:v>1</c:v>
                </c:pt>
                <c:pt idx="90">
                  <c:v>1</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1</c:v>
                </c:pt>
                <c:pt idx="105">
                  <c:v>1</c:v>
                </c:pt>
                <c:pt idx="106">
                  <c:v>0</c:v>
                </c:pt>
                <c:pt idx="107">
                  <c:v>0</c:v>
                </c:pt>
                <c:pt idx="108">
                  <c:v>1</c:v>
                </c:pt>
                <c:pt idx="109">
                  <c:v>1</c:v>
                </c:pt>
                <c:pt idx="110">
                  <c:v>0</c:v>
                </c:pt>
                <c:pt idx="111">
                  <c:v>0</c:v>
                </c:pt>
                <c:pt idx="112">
                  <c:v>1</c:v>
                </c:pt>
                <c:pt idx="113">
                  <c:v>1</c:v>
                </c:pt>
                <c:pt idx="114">
                  <c:v>0</c:v>
                </c:pt>
                <c:pt idx="115">
                  <c:v>0</c:v>
                </c:pt>
                <c:pt idx="116">
                  <c:v>1</c:v>
                </c:pt>
                <c:pt idx="117">
                  <c:v>1</c:v>
                </c:pt>
                <c:pt idx="118">
                  <c:v>0</c:v>
                </c:pt>
                <c:pt idx="119">
                  <c:v>0</c:v>
                </c:pt>
                <c:pt idx="120">
                  <c:v>1</c:v>
                </c:pt>
                <c:pt idx="121">
                  <c:v>1</c:v>
                </c:pt>
                <c:pt idx="122">
                  <c:v>0</c:v>
                </c:pt>
                <c:pt idx="123">
                  <c:v>0</c:v>
                </c:pt>
                <c:pt idx="124">
                  <c:v>1</c:v>
                </c:pt>
                <c:pt idx="125">
                  <c:v>1</c:v>
                </c:pt>
                <c:pt idx="126">
                  <c:v>0</c:v>
                </c:pt>
                <c:pt idx="127">
                  <c:v>0</c:v>
                </c:pt>
                <c:pt idx="128">
                  <c:v>0</c:v>
                </c:pt>
                <c:pt idx="129">
                  <c:v>0</c:v>
                </c:pt>
                <c:pt idx="130">
                  <c:v>1</c:v>
                </c:pt>
                <c:pt idx="131">
                  <c:v>1</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1</c:v>
                </c:pt>
                <c:pt idx="171">
                  <c:v>1</c:v>
                </c:pt>
                <c:pt idx="172">
                  <c:v>2</c:v>
                </c:pt>
                <c:pt idx="173">
                  <c:v>2</c:v>
                </c:pt>
                <c:pt idx="174">
                  <c:v>1</c:v>
                </c:pt>
                <c:pt idx="175">
                  <c:v>1</c:v>
                </c:pt>
                <c:pt idx="176">
                  <c:v>3</c:v>
                </c:pt>
                <c:pt idx="177">
                  <c:v>3</c:v>
                </c:pt>
                <c:pt idx="178">
                  <c:v>1</c:v>
                </c:pt>
                <c:pt idx="179">
                  <c:v>1</c:v>
                </c:pt>
                <c:pt idx="180">
                  <c:v>2</c:v>
                </c:pt>
                <c:pt idx="181">
                  <c:v>2</c:v>
                </c:pt>
                <c:pt idx="182">
                  <c:v>2</c:v>
                </c:pt>
                <c:pt idx="183">
                  <c:v>2</c:v>
                </c:pt>
                <c:pt idx="184">
                  <c:v>3</c:v>
                </c:pt>
                <c:pt idx="185">
                  <c:v>3</c:v>
                </c:pt>
                <c:pt idx="186">
                  <c:v>4</c:v>
                </c:pt>
                <c:pt idx="187">
                  <c:v>4</c:v>
                </c:pt>
                <c:pt idx="188">
                  <c:v>4</c:v>
                </c:pt>
                <c:pt idx="189">
                  <c:v>4</c:v>
                </c:pt>
                <c:pt idx="190">
                  <c:v>7</c:v>
                </c:pt>
                <c:pt idx="191">
                  <c:v>7</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台</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高PV（SUNNY）  212.6 kWh</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充電器入力</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60</c:v>
                </c:pt>
                <c:pt idx="3">
                  <c:v>60</c:v>
                </c:pt>
                <c:pt idx="4">
                  <c:v>0</c:v>
                </c:pt>
                <c:pt idx="5">
                  <c:v>0</c:v>
                </c:pt>
                <c:pt idx="6">
                  <c:v>60</c:v>
                </c:pt>
                <c:pt idx="7">
                  <c:v>60</c:v>
                </c:pt>
                <c:pt idx="8">
                  <c:v>43.469761</c:v>
                </c:pt>
                <c:pt idx="9">
                  <c:v>43.469761</c:v>
                </c:pt>
                <c:pt idx="10">
                  <c:v>90</c:v>
                </c:pt>
                <c:pt idx="11">
                  <c:v>90</c:v>
                </c:pt>
                <c:pt idx="12">
                  <c:v>90</c:v>
                </c:pt>
                <c:pt idx="13">
                  <c:v>90</c:v>
                </c:pt>
                <c:pt idx="14">
                  <c:v>90</c:v>
                </c:pt>
                <c:pt idx="15">
                  <c:v>90</c:v>
                </c:pt>
                <c:pt idx="16">
                  <c:v>0</c:v>
                </c:pt>
                <c:pt idx="17">
                  <c:v>0</c:v>
                </c:pt>
                <c:pt idx="18">
                  <c:v>0</c:v>
                </c:pt>
                <c:pt idx="19">
                  <c:v>0</c:v>
                </c:pt>
                <c:pt idx="20">
                  <c:v>0</c:v>
                </c:pt>
                <c:pt idx="21">
                  <c:v>0</c:v>
                </c:pt>
                <c:pt idx="22">
                  <c:v>0</c:v>
                </c:pt>
                <c:pt idx="23">
                  <c:v>0</c:v>
                </c:pt>
                <c:pt idx="24">
                  <c:v>0</c:v>
                </c:pt>
                <c:pt idx="25">
                  <c:v>0</c:v>
                </c:pt>
                <c:pt idx="26">
                  <c:v>0</c:v>
                </c:pt>
                <c:pt idx="27">
                  <c:v>0</c:v>
                </c:pt>
                <c:pt idx="28">
                  <c:v>60</c:v>
                </c:pt>
                <c:pt idx="29">
                  <c:v>60</c:v>
                </c:pt>
                <c:pt idx="30">
                  <c:v>0.0001</c:v>
                </c:pt>
                <c:pt idx="31">
                  <c:v>0.0001</c:v>
                </c:pt>
                <c:pt idx="32">
                  <c:v>60</c:v>
                </c:pt>
                <c:pt idx="33">
                  <c:v>60</c:v>
                </c:pt>
                <c:pt idx="34">
                  <c:v>0</c:v>
                </c:pt>
                <c:pt idx="35">
                  <c:v>0</c:v>
                </c:pt>
                <c:pt idx="36">
                  <c:v>12.210426</c:v>
                </c:pt>
                <c:pt idx="37">
                  <c:v>12.210426</c:v>
                </c:pt>
                <c:pt idx="38">
                  <c:v>60</c:v>
                </c:pt>
                <c:pt idx="39">
                  <c:v>60</c:v>
                </c:pt>
                <c:pt idx="40">
                  <c:v>0</c:v>
                </c:pt>
                <c:pt idx="41">
                  <c:v>0</c:v>
                </c:pt>
                <c:pt idx="42">
                  <c:v>0</c:v>
                </c:pt>
                <c:pt idx="43">
                  <c:v>0</c:v>
                </c:pt>
                <c:pt idx="44">
                  <c:v>28.969414</c:v>
                </c:pt>
                <c:pt idx="45">
                  <c:v>28.969414</c:v>
                </c:pt>
                <c:pt idx="46">
                  <c:v>0</c:v>
                </c:pt>
                <c:pt idx="47">
                  <c:v>0</c:v>
                </c:pt>
                <c:pt idx="48">
                  <c:v>0</c:v>
                </c:pt>
                <c:pt idx="49">
                  <c:v>0</c:v>
                </c:pt>
                <c:pt idx="50">
                  <c:v>0</c:v>
                </c:pt>
                <c:pt idx="51">
                  <c:v>0</c:v>
                </c:pt>
                <c:pt idx="52">
                  <c:v>0</c:v>
                </c:pt>
                <c:pt idx="53">
                  <c:v>0</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60</c:v>
                </c:pt>
                <c:pt idx="189">
                  <c:v>60</c:v>
                </c:pt>
                <c:pt idx="190">
                  <c:v>60</c:v>
                </c:pt>
                <c:pt idx="191">
                  <c:v>60</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低PV（RAIN）  174.6 kWh</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充電器入力</c:v>
          </c:tx>
          <c:spPr>
            <a:ln xmlns:a="http://schemas.openxmlformats.org/drawingml/2006/main" w="21908">
              <a:solidFill>
                <a:srgbClr val="6B54A3"/>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90</c:v>
                </c:pt>
                <c:pt idx="3">
                  <c:v>90</c:v>
                </c:pt>
                <c:pt idx="4">
                  <c:v>60</c:v>
                </c:pt>
                <c:pt idx="5">
                  <c:v>60</c:v>
                </c:pt>
                <c:pt idx="6">
                  <c:v>0</c:v>
                </c:pt>
                <c:pt idx="7">
                  <c:v>0</c:v>
                </c:pt>
                <c:pt idx="8">
                  <c:v>4.061642</c:v>
                </c:pt>
                <c:pt idx="9">
                  <c:v>4.061642</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0.000421</c:v>
                </c:pt>
                <c:pt idx="37">
                  <c:v>0.000421</c:v>
                </c:pt>
                <c:pt idx="38">
                  <c:v>0.0001</c:v>
                </c:pt>
                <c:pt idx="39">
                  <c:v>0.0001</c:v>
                </c:pt>
                <c:pt idx="40">
                  <c:v>0</c:v>
                </c:pt>
                <c:pt idx="41">
                  <c:v>0</c:v>
                </c:pt>
                <c:pt idx="42">
                  <c:v>0</c:v>
                </c:pt>
                <c:pt idx="43">
                  <c:v>0</c:v>
                </c:pt>
                <c:pt idx="44">
                  <c:v>0</c:v>
                </c:pt>
                <c:pt idx="45">
                  <c:v>0</c:v>
                </c:pt>
                <c:pt idx="46">
                  <c:v>0</c:v>
                </c:pt>
                <c:pt idx="47">
                  <c:v>0</c:v>
                </c:pt>
                <c:pt idx="48">
                  <c:v>4.429356</c:v>
                </c:pt>
                <c:pt idx="49">
                  <c:v>4.429356</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60</c:v>
                </c:pt>
                <c:pt idx="181">
                  <c:v>60</c:v>
                </c:pt>
                <c:pt idx="182">
                  <c:v>90</c:v>
                </c:pt>
                <c:pt idx="183">
                  <c:v>90</c:v>
                </c:pt>
                <c:pt idx="184">
                  <c:v>90</c:v>
                </c:pt>
                <c:pt idx="185">
                  <c:v>90</c:v>
                </c:pt>
                <c:pt idx="186">
                  <c:v>90</c:v>
                </c:pt>
                <c:pt idx="187">
                  <c:v>90</c:v>
                </c:pt>
                <c:pt idx="188">
                  <c:v>90</c:v>
                </c:pt>
                <c:pt idx="189">
                  <c:v>90</c:v>
                </c:pt>
                <c:pt idx="190">
                  <c:v>60</c:v>
                </c:pt>
                <c:pt idx="191">
                  <c:v>60</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kW</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高PV（SUNNY）  16便担当</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SOC</c:v>
          </c:tx>
          <c:spPr>
            <a:ln xmlns:a="http://schemas.openxmlformats.org/drawingml/2006/mai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38.1372</c:v>
                </c:pt>
                <c:pt idx="1">
                  <c:v>42.675417</c:v>
                </c:pt>
                <c:pt idx="2">
                  <c:v>47.213633</c:v>
                </c:pt>
                <c:pt idx="3">
                  <c:v>47.213633</c:v>
                </c:pt>
                <c:pt idx="4">
                  <c:v>51.75185</c:v>
                </c:pt>
                <c:pt idx="5">
                  <c:v>55.03977</c:v>
                </c:pt>
                <c:pt idx="6">
                  <c:v>61.847094</c:v>
                </c:pt>
                <c:pt idx="7">
                  <c:v>68.654419</c:v>
                </c:pt>
                <c:pt idx="8">
                  <c:v>75.461744</c:v>
                </c:pt>
                <c:pt idx="9">
                  <c:v>75.461744</c:v>
                </c:pt>
                <c:pt idx="10">
                  <c:v>75.461744</c:v>
                </c:pt>
                <c:pt idx="11">
                  <c:v>75.461744</c:v>
                </c:pt>
                <c:pt idx="12">
                  <c:v>75.461744</c:v>
                </c:pt>
                <c:pt idx="13">
                  <c:v>75.461744</c:v>
                </c:pt>
                <c:pt idx="14">
                  <c:v>75.461744</c:v>
                </c:pt>
                <c:pt idx="15">
                  <c:v>79.999961</c:v>
                </c:pt>
                <c:pt idx="16">
                  <c:v>79.999968</c:v>
                </c:pt>
                <c:pt idx="17">
                  <c:v>84.538185</c:v>
                </c:pt>
                <c:pt idx="18">
                  <c:v>84.538185</c:v>
                </c:pt>
                <c:pt idx="19">
                  <c:v>85.461744</c:v>
                </c:pt>
                <c:pt idx="20">
                  <c:v>89.999961</c:v>
                </c:pt>
                <c:pt idx="21">
                  <c:v>89.999961</c:v>
                </c:pt>
                <c:pt idx="22">
                  <c:v>89.999961</c:v>
                </c:pt>
                <c:pt idx="23">
                  <c:v>92.191119</c:v>
                </c:pt>
                <c:pt idx="24">
                  <c:v>92.191119</c:v>
                </c:pt>
                <c:pt idx="25">
                  <c:v>92.191119</c:v>
                </c:pt>
                <c:pt idx="26">
                  <c:v>92.191119</c:v>
                </c:pt>
                <c:pt idx="27">
                  <c:v>92.191119</c:v>
                </c:pt>
                <c:pt idx="28">
                  <c:v>93.374701</c:v>
                </c:pt>
                <c:pt idx="29">
                  <c:v>93.374701</c:v>
                </c:pt>
                <c:pt idx="30">
                  <c:v>89.896936</c:v>
                </c:pt>
                <c:pt idx="31">
                  <c:v>88.642736</c:v>
                </c:pt>
                <c:pt idx="32">
                  <c:v>87.388535</c:v>
                </c:pt>
                <c:pt idx="33">
                  <c:v>86.301562</c:v>
                </c:pt>
                <c:pt idx="34">
                  <c:v>86.301562</c:v>
                </c:pt>
                <c:pt idx="35">
                  <c:v>85.498426</c:v>
                </c:pt>
                <c:pt idx="36">
                  <c:v>84.494506</c:v>
                </c:pt>
                <c:pt idx="37">
                  <c:v>83.490586</c:v>
                </c:pt>
                <c:pt idx="38">
                  <c:v>82.486666</c:v>
                </c:pt>
                <c:pt idx="39">
                  <c:v>82.419737</c:v>
                </c:pt>
                <c:pt idx="40">
                  <c:v>81.332764</c:v>
                </c:pt>
                <c:pt idx="41">
                  <c:v>80.078564</c:v>
                </c:pt>
                <c:pt idx="42">
                  <c:v>78.824364</c:v>
                </c:pt>
                <c:pt idx="43">
                  <c:v>78.48991</c:v>
                </c:pt>
                <c:pt idx="44">
                  <c:v>77.325363</c:v>
                </c:pt>
                <c:pt idx="45">
                  <c:v>76.160816</c:v>
                </c:pt>
                <c:pt idx="46">
                  <c:v>74.996268</c:v>
                </c:pt>
                <c:pt idx="47">
                  <c:v>74.608086</c:v>
                </c:pt>
                <c:pt idx="48">
                  <c:v>73.353886</c:v>
                </c:pt>
                <c:pt idx="49">
                  <c:v>72.099686</c:v>
                </c:pt>
                <c:pt idx="50">
                  <c:v>70.845486</c:v>
                </c:pt>
                <c:pt idx="51">
                  <c:v>70.678259</c:v>
                </c:pt>
                <c:pt idx="52">
                  <c:v>69.687155</c:v>
                </c:pt>
                <c:pt idx="53">
                  <c:v>68.448275</c:v>
                </c:pt>
                <c:pt idx="54">
                  <c:v>67.209394</c:v>
                </c:pt>
                <c:pt idx="55">
                  <c:v>66.796434</c:v>
                </c:pt>
                <c:pt idx="56">
                  <c:v>65.684219</c:v>
                </c:pt>
                <c:pt idx="57">
                  <c:v>64.572004</c:v>
                </c:pt>
                <c:pt idx="58">
                  <c:v>63.459789</c:v>
                </c:pt>
                <c:pt idx="59">
                  <c:v>62.866607</c:v>
                </c:pt>
                <c:pt idx="60">
                  <c:v>62.205871</c:v>
                </c:pt>
                <c:pt idx="61">
                  <c:v>60.966991</c:v>
                </c:pt>
                <c:pt idx="62">
                  <c:v>59.728111</c:v>
                </c:pt>
                <c:pt idx="63">
                  <c:v>58.984783</c:v>
                </c:pt>
                <c:pt idx="64">
                  <c:v>58.984783</c:v>
                </c:pt>
                <c:pt idx="65">
                  <c:v>57.932151</c:v>
                </c:pt>
                <c:pt idx="66">
                  <c:v>56.879518</c:v>
                </c:pt>
                <c:pt idx="67">
                  <c:v>55.826886</c:v>
                </c:pt>
                <c:pt idx="68">
                  <c:v>55.054956</c:v>
                </c:pt>
                <c:pt idx="69">
                  <c:v>54.589137</c:v>
                </c:pt>
                <c:pt idx="70">
                  <c:v>53.42459</c:v>
                </c:pt>
                <c:pt idx="71">
                  <c:v>52.260042</c:v>
                </c:pt>
                <c:pt idx="72">
                  <c:v>51.173131</c:v>
                </c:pt>
                <c:pt idx="73">
                  <c:v>50.822254</c:v>
                </c:pt>
                <c:pt idx="74">
                  <c:v>49.769622</c:v>
                </c:pt>
                <c:pt idx="75">
                  <c:v>48.716989</c:v>
                </c:pt>
                <c:pt idx="76">
                  <c:v>47.664357</c:v>
                </c:pt>
                <c:pt idx="77">
                  <c:v>47.243304</c:v>
                </c:pt>
                <c:pt idx="78">
                  <c:v>46.369894</c:v>
                </c:pt>
                <c:pt idx="79">
                  <c:v>44.91421</c:v>
                </c:pt>
                <c:pt idx="80">
                  <c:v>43.458525</c:v>
                </c:pt>
                <c:pt idx="81">
                  <c:v>43.115866</c:v>
                </c:pt>
                <c:pt idx="82">
                  <c:v>41.887795</c:v>
                </c:pt>
                <c:pt idx="83">
                  <c:v>40.659724</c:v>
                </c:pt>
                <c:pt idx="84">
                  <c:v>39.431653</c:v>
                </c:pt>
                <c:pt idx="85">
                  <c:v>38.909134</c:v>
                </c:pt>
                <c:pt idx="86">
                  <c:v>38.073105</c:v>
                </c:pt>
                <c:pt idx="87">
                  <c:v>38.073105</c:v>
                </c:pt>
                <c:pt idx="88">
                  <c:v>38.073105</c:v>
                </c:pt>
                <c:pt idx="89">
                  <c:v>34.539391</c:v>
                </c:pt>
                <c:pt idx="90">
                  <c:v>33.216045</c:v>
                </c:pt>
                <c:pt idx="91">
                  <c:v>31.892699</c:v>
                </c:pt>
                <c:pt idx="92">
                  <c:v>30.922245</c:v>
                </c:pt>
                <c:pt idx="93">
                  <c:v>30.50423</c:v>
                </c:pt>
                <c:pt idx="94">
                  <c:v>29.060767</c:v>
                </c:pt>
                <c:pt idx="95">
                  <c:v>33.598983</c:v>
                </c:pt>
                <c:pt idx="96">
                  <c:v>38.1372</c:v>
                </c:pt>
              </c:numCache>
            </c:numRef>
          </c:yVal>
        </c:ser>
        <c:ser>
          <c:idx val="1"/>
          <c:order val="1"/>
          <c:tx>
            <c:v>下限20%</c:v>
          </c:tx>
          <c:spPr>
            <a:ln xmlns:a="http://schemas.openxmlformats.org/drawingml/2006/mai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er>
        <c:ser>
          <c:idx val="2"/>
          <c:order val="2"/>
          <c:tx>
            <c:v>入力上限90%</c:v>
          </c:tx>
          <c:spPr>
            <a:ln xmlns:a="http://schemas.openxmlformats.org/drawingml/2006/mai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低PV（RAIN）  14便担当</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SOC</c:v>
          </c:tx>
          <c:spPr>
            <a:ln xmlns:a="http://schemas.openxmlformats.org/drawingml/2006/main" w="21908">
              <a:solidFill>
                <a:srgbClr val="6B54A3"/>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63.809</c:v>
                </c:pt>
                <c:pt idx="1">
                  <c:v>68.347217</c:v>
                </c:pt>
                <c:pt idx="2">
                  <c:v>75.154541</c:v>
                </c:pt>
                <c:pt idx="3">
                  <c:v>79.692758</c:v>
                </c:pt>
                <c:pt idx="4">
                  <c:v>79.692758</c:v>
                </c:pt>
                <c:pt idx="5">
                  <c:v>79.999968</c:v>
                </c:pt>
                <c:pt idx="6">
                  <c:v>79.999968</c:v>
                </c:pt>
                <c:pt idx="7">
                  <c:v>79.999968</c:v>
                </c:pt>
                <c:pt idx="8">
                  <c:v>79.999968</c:v>
                </c:pt>
                <c:pt idx="9">
                  <c:v>79.999968</c:v>
                </c:pt>
                <c:pt idx="10">
                  <c:v>79.999968</c:v>
                </c:pt>
                <c:pt idx="11">
                  <c:v>79.999968</c:v>
                </c:pt>
                <c:pt idx="12">
                  <c:v>79.999968</c:v>
                </c:pt>
                <c:pt idx="13">
                  <c:v>79.999968</c:v>
                </c:pt>
                <c:pt idx="14">
                  <c:v>79.999968</c:v>
                </c:pt>
                <c:pt idx="15">
                  <c:v>79.999968</c:v>
                </c:pt>
                <c:pt idx="16">
                  <c:v>79.999968</c:v>
                </c:pt>
                <c:pt idx="17">
                  <c:v>79.999968</c:v>
                </c:pt>
                <c:pt idx="18">
                  <c:v>79.999968</c:v>
                </c:pt>
                <c:pt idx="19">
                  <c:v>80</c:v>
                </c:pt>
                <c:pt idx="20">
                  <c:v>80.000008</c:v>
                </c:pt>
                <c:pt idx="21">
                  <c:v>80.000008</c:v>
                </c:pt>
                <c:pt idx="22">
                  <c:v>80.000008</c:v>
                </c:pt>
                <c:pt idx="23">
                  <c:v>80.000008</c:v>
                </c:pt>
                <c:pt idx="24">
                  <c:v>80.000008</c:v>
                </c:pt>
                <c:pt idx="25">
                  <c:v>80.335031</c:v>
                </c:pt>
                <c:pt idx="26">
                  <c:v>80.335031</c:v>
                </c:pt>
                <c:pt idx="27">
                  <c:v>80.335031</c:v>
                </c:pt>
                <c:pt idx="28">
                  <c:v>76.333045</c:v>
                </c:pt>
                <c:pt idx="29">
                  <c:v>74.901924</c:v>
                </c:pt>
                <c:pt idx="30">
                  <c:v>73.470802</c:v>
                </c:pt>
                <c:pt idx="31">
                  <c:v>73.470802</c:v>
                </c:pt>
                <c:pt idx="32">
                  <c:v>72.646271</c:v>
                </c:pt>
                <c:pt idx="33">
                  <c:v>71.521909</c:v>
                </c:pt>
                <c:pt idx="34">
                  <c:v>70.397548</c:v>
                </c:pt>
                <c:pt idx="35">
                  <c:v>69.797889</c:v>
                </c:pt>
                <c:pt idx="36">
                  <c:v>69.312552</c:v>
                </c:pt>
                <c:pt idx="37">
                  <c:v>68.099209</c:v>
                </c:pt>
                <c:pt idx="38">
                  <c:v>66.885867</c:v>
                </c:pt>
                <c:pt idx="39">
                  <c:v>66.076972</c:v>
                </c:pt>
                <c:pt idx="40">
                  <c:v>66.076972</c:v>
                </c:pt>
                <c:pt idx="41">
                  <c:v>64.996704</c:v>
                </c:pt>
                <c:pt idx="42">
                  <c:v>63.916435</c:v>
                </c:pt>
                <c:pt idx="43">
                  <c:v>62.836166</c:v>
                </c:pt>
                <c:pt idx="44">
                  <c:v>62.404059</c:v>
                </c:pt>
                <c:pt idx="45">
                  <c:v>62.404059</c:v>
                </c:pt>
                <c:pt idx="46">
                  <c:v>62.404059</c:v>
                </c:pt>
                <c:pt idx="47">
                  <c:v>62.404059</c:v>
                </c:pt>
                <c:pt idx="48">
                  <c:v>62.404059</c:v>
                </c:pt>
                <c:pt idx="49">
                  <c:v>62.404059</c:v>
                </c:pt>
                <c:pt idx="50">
                  <c:v>62.404059</c:v>
                </c:pt>
                <c:pt idx="51">
                  <c:v>62.404059</c:v>
                </c:pt>
                <c:pt idx="52">
                  <c:v>62.016463</c:v>
                </c:pt>
                <c:pt idx="53">
                  <c:v>60.853677</c:v>
                </c:pt>
                <c:pt idx="54">
                  <c:v>59.690891</c:v>
                </c:pt>
                <c:pt idx="55">
                  <c:v>58.683142</c:v>
                </c:pt>
                <c:pt idx="56">
                  <c:v>58.683142</c:v>
                </c:pt>
                <c:pt idx="57">
                  <c:v>57.514488</c:v>
                </c:pt>
                <c:pt idx="58">
                  <c:v>56.262358</c:v>
                </c:pt>
                <c:pt idx="59">
                  <c:v>55.010229</c:v>
                </c:pt>
                <c:pt idx="60">
                  <c:v>54.622633</c:v>
                </c:pt>
                <c:pt idx="61">
                  <c:v>53.459847</c:v>
                </c:pt>
                <c:pt idx="62">
                  <c:v>52.297061</c:v>
                </c:pt>
                <c:pt idx="63">
                  <c:v>51.289312</c:v>
                </c:pt>
                <c:pt idx="64">
                  <c:v>51.289312</c:v>
                </c:pt>
                <c:pt idx="65">
                  <c:v>50.585989</c:v>
                </c:pt>
                <c:pt idx="66">
                  <c:v>49.413782</c:v>
                </c:pt>
                <c:pt idx="67">
                  <c:v>48.241576</c:v>
                </c:pt>
                <c:pt idx="68">
                  <c:v>47.616399</c:v>
                </c:pt>
                <c:pt idx="69">
                  <c:v>46.959767</c:v>
                </c:pt>
                <c:pt idx="70">
                  <c:v>45.865379</c:v>
                </c:pt>
                <c:pt idx="71">
                  <c:v>44.770992</c:v>
                </c:pt>
                <c:pt idx="72">
                  <c:v>43.895483</c:v>
                </c:pt>
                <c:pt idx="73">
                  <c:v>43.895483</c:v>
                </c:pt>
                <c:pt idx="74">
                  <c:v>42.820483</c:v>
                </c:pt>
                <c:pt idx="75">
                  <c:v>41.476735</c:v>
                </c:pt>
                <c:pt idx="76">
                  <c:v>40.222569</c:v>
                </c:pt>
                <c:pt idx="77">
                  <c:v>39.737232</c:v>
                </c:pt>
                <c:pt idx="78">
                  <c:v>38.52389</c:v>
                </c:pt>
                <c:pt idx="79">
                  <c:v>37.310547</c:v>
                </c:pt>
                <c:pt idx="80">
                  <c:v>36.501653</c:v>
                </c:pt>
                <c:pt idx="81">
                  <c:v>36.501653</c:v>
                </c:pt>
                <c:pt idx="82">
                  <c:v>34.927547</c:v>
                </c:pt>
                <c:pt idx="83">
                  <c:v>33.353441</c:v>
                </c:pt>
                <c:pt idx="84">
                  <c:v>32.828739</c:v>
                </c:pt>
                <c:pt idx="85">
                  <c:v>31.516988</c:v>
                </c:pt>
                <c:pt idx="86">
                  <c:v>30.205236</c:v>
                </c:pt>
                <c:pt idx="87">
                  <c:v>29.155835</c:v>
                </c:pt>
                <c:pt idx="88">
                  <c:v>29.155835</c:v>
                </c:pt>
                <c:pt idx="89">
                  <c:v>28.006197</c:v>
                </c:pt>
                <c:pt idx="90">
                  <c:v>27.503268</c:v>
                </c:pt>
                <c:pt idx="91">
                  <c:v>32.041484</c:v>
                </c:pt>
                <c:pt idx="92">
                  <c:v>38.848809</c:v>
                </c:pt>
                <c:pt idx="93">
                  <c:v>45.656134</c:v>
                </c:pt>
                <c:pt idx="94">
                  <c:v>52.463459</c:v>
                </c:pt>
                <c:pt idx="95">
                  <c:v>59.270783</c:v>
                </c:pt>
                <c:pt idx="96">
                  <c:v>63.809</c:v>
                </c:pt>
              </c:numCache>
            </c:numRef>
          </c:yVal>
        </c:ser>
        <c:ser>
          <c:idx val="1"/>
          <c:order val="1"/>
          <c:tx>
            <c:v>下限20%</c:v>
          </c:tx>
          <c:spPr>
            <a:ln xmlns:a="http://schemas.openxmlformats.org/drawingml/2006/mai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er>
        <c:ser>
          <c:idx val="2"/>
          <c:order val="2"/>
          <c:tx>
            <c:v>入力上限90%</c:v>
          </c:tx>
          <c:spPr>
            <a:ln xmlns:a="http://schemas.openxmlformats.org/drawingml/2006/mai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Meiryo"/>
                <a:ea typeface="Meiryo"/>
                <a:cs typeface="Meiryo"/>
              </a:rPr>
              <a:t>毎時処理の実測時間</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Meiryo"/>
              <a:ea typeface="Meiryo"/>
              <a:cs typeface="Meiryo"/>
            </a:defRPr>
          </a:pPr>
        </a:p>
      </c:txPr>
    </c:title>
    <c:plotArea>
      <c:scatterChart>
        <c:scatterStyle val="line"/>
        <c:ser>
          <c:idx val="0"/>
          <c:order val="0"/>
          <c:tx>
            <c:v>高PV（SUNNY）</c:v>
          </c:tx>
          <c:spPr>
            <a:ln xmlns:a="http://schemas.openxmlformats.org/drawingml/2006/main" w="21908">
              <a:solidFill>
                <a:srgbClr val="159A8C"/>
              </a:solidFill>
              <a:prstDash val="solid"/>
            </a:ln>
          </c:spPr>
          <c:marker>
            <c:symbol val="none"/>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c:formatCode>
                <c:ptCount val="24"/>
                <c:pt idx="0">
                  <c:v>5.215987</c:v>
                </c:pt>
                <c:pt idx="1">
                  <c:v>5.351536</c:v>
                </c:pt>
                <c:pt idx="2">
                  <c:v>5.120121</c:v>
                </c:pt>
                <c:pt idx="3">
                  <c:v>4.961611</c:v>
                </c:pt>
                <c:pt idx="4">
                  <c:v>4.757339</c:v>
                </c:pt>
                <c:pt idx="5">
                  <c:v>4.563552</c:v>
                </c:pt>
                <c:pt idx="6">
                  <c:v>4.276704</c:v>
                </c:pt>
                <c:pt idx="7">
                  <c:v>4.389717</c:v>
                </c:pt>
                <c:pt idx="8">
                  <c:v>4.304779</c:v>
                </c:pt>
                <c:pt idx="9">
                  <c:v>4.236937</c:v>
                </c:pt>
                <c:pt idx="10">
                  <c:v>4.277172</c:v>
                </c:pt>
                <c:pt idx="11">
                  <c:v>3.913359</c:v>
                </c:pt>
                <c:pt idx="12">
                  <c:v>4.026375</c:v>
                </c:pt>
                <c:pt idx="13">
                  <c:v>3.798173</c:v>
                </c:pt>
                <c:pt idx="14">
                  <c:v>3.889016</c:v>
                </c:pt>
                <c:pt idx="15">
                  <c:v>3.668276</c:v>
                </c:pt>
                <c:pt idx="16">
                  <c:v>3.842321</c:v>
                </c:pt>
                <c:pt idx="17">
                  <c:v>3.595187</c:v>
                </c:pt>
                <c:pt idx="18">
                  <c:v>3.724978</c:v>
                </c:pt>
                <c:pt idx="19">
                  <c:v>3.523902</c:v>
                </c:pt>
                <c:pt idx="20">
                  <c:v>3.457436</c:v>
                </c:pt>
                <c:pt idx="21">
                  <c:v>3.440812</c:v>
                </c:pt>
                <c:pt idx="22">
                  <c:v>3.365856</c:v>
                </c:pt>
                <c:pt idx="23">
                  <c:v>3.307299</c:v>
                </c:pt>
              </c:numCache>
            </c:numRef>
          </c:yVal>
        </c:ser>
        <c:ser>
          <c:idx val="1"/>
          <c:order val="1"/>
          <c:tx>
            <c:v>低PV（RAIN）</c:v>
          </c:tx>
          <c:spPr>
            <a:ln xmlns:a="http://schemas.openxmlformats.org/drawingml/2006/main" w="21908">
              <a:solidFill>
                <a:srgbClr val="6B54A3"/>
              </a:solidFill>
              <a:prstDash val="solid"/>
            </a:ln>
          </c:spPr>
          <c:marker>
            <c:symbol val="none"/>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c:formatCode>
                <c:ptCount val="24"/>
                <c:pt idx="0">
                  <c:v>4.860176</c:v>
                </c:pt>
                <c:pt idx="1">
                  <c:v>5.054011</c:v>
                </c:pt>
                <c:pt idx="2">
                  <c:v>4.804224</c:v>
                </c:pt>
                <c:pt idx="3">
                  <c:v>4.771222</c:v>
                </c:pt>
                <c:pt idx="4">
                  <c:v>4.705859</c:v>
                </c:pt>
                <c:pt idx="5">
                  <c:v>4.444512</c:v>
                </c:pt>
                <c:pt idx="6">
                  <c:v>4.299128</c:v>
                </c:pt>
                <c:pt idx="7">
                  <c:v>4.293179</c:v>
                </c:pt>
                <c:pt idx="8">
                  <c:v>4.116013</c:v>
                </c:pt>
                <c:pt idx="9">
                  <c:v>4.161548</c:v>
                </c:pt>
                <c:pt idx="10">
                  <c:v>3.7902</c:v>
                </c:pt>
                <c:pt idx="11">
                  <c:v>3.899065</c:v>
                </c:pt>
                <c:pt idx="12">
                  <c:v>3.66455</c:v>
                </c:pt>
                <c:pt idx="13">
                  <c:v>3.604475</c:v>
                </c:pt>
                <c:pt idx="14">
                  <c:v>3.814863</c:v>
                </c:pt>
                <c:pt idx="15">
                  <c:v>3.602754</c:v>
                </c:pt>
                <c:pt idx="16">
                  <c:v>3.593633</c:v>
                </c:pt>
                <c:pt idx="17">
                  <c:v>3.768677</c:v>
                </c:pt>
                <c:pt idx="18">
                  <c:v>3.504012</c:v>
                </c:pt>
                <c:pt idx="19">
                  <c:v>3.448794</c:v>
                </c:pt>
                <c:pt idx="20">
                  <c:v>3.431915</c:v>
                </c:pt>
                <c:pt idx="21">
                  <c:v>3.347422</c:v>
                </c:pt>
                <c:pt idx="22">
                  <c:v>3.381295</c:v>
                </c:pt>
                <c:pt idx="23">
                  <c:v>3.299047</c:v>
                </c:pt>
              </c:numCache>
            </c:numRef>
          </c:yVal>
        </c:ser>
        <c:dLbls>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Meiryo"/>
                    <a:ea typeface="Meiryo"/>
                    <a:cs typeface="Meiryo"/>
                  </a:rPr>
                  <a:t>秒</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Meiryo"/>
                    <a:ea typeface="Meiryo"/>
                    <a:cs typeface="Meiryo"/>
                  </a:rPr>
                  <a:t>時刻 [h]</a:t>
                </a:r>
              </a:p>
            </c:rich>
          </c:tx>
          <c:overlay val="0"/>
          <c:txPr>
            <a:bodyPr xmlns:a="http://schemas.openxmlformats.org/drawingml/2006/main" anchorCtr="1"/>
            <a:lstStyle xmlns:a="http://schemas.openxmlformats.org/drawingml/2006/main"/>
            <a:p xmlns:a="http://schemas.openxmlformats.org/drawingml/2006/main">
              <a:pPr>
                <a:defRPr>
                  <a:latin typeface="Meiryo"/>
                  <a:ea typeface="Meiryo"/>
                  <a:cs typeface="Meiry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3DB39BB-6C68-4B62-A928-8D09EE0A5C49}"/>
              </a:ext>
            </a:extLst>
          </p:cNvPr>
          <p:cNvSpPr>
            <a:spLocks xmlns:a="http://schemas.openxmlformats.org/drawingml/2006/main" noGrp="1"/>
          </p:cNvSpPr>
          <p:nvPr/>
        </p:nvSpPr>
        <p:spPr>
          <a:xfrm xmlns:a="http://schemas.openxmlformats.org/drawingml/2006/main">
            <a:off x="0" y="0"/>
            <a:ext cx="12191695" cy="320040"/>
          </a:xfrm>
          <a:prstGeom xmlns:a="http://schemas.openxmlformats.org/drawingml/2006/main" prst="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1001D9D-CD21-4424-A6F0-22B4F9BAB995}"/>
              </a:ext>
            </a:extLst>
          </p:cNvPr>
          <p:cNvSpPr>
            <a:spLocks xmlns:a="http://schemas.openxmlformats.org/drawingml/2006/main" noGrp="1"/>
          </p:cNvSpPr>
          <p:nvPr/>
        </p:nvSpPr>
        <p:spPr>
          <a:xfrm xmlns:a="http://schemas.openxmlformats.org/drawingml/2006/main">
            <a:off x="594360" y="1051560"/>
            <a:ext cx="10972800" cy="1298448"/>
          </a:xfrm>
          <a:prstGeom xmlns:a="http://schemas.openxmlformats.org/drawingml/2006/main" prst="round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BDFF2BC8-59C1-4692-82BD-D16920BBE0E0}"/>
              </a:ext>
            </a:extLst>
          </p:cNvPr>
          <p:cNvSpPr>
            <a:spLocks xmlns:a="http://schemas.openxmlformats.org/drawingml/2006/main" noGrp="1"/>
          </p:cNvSpPr>
          <p:nvPr/>
        </p:nvSpPr>
        <p:spPr>
          <a:xfrm xmlns:a="http://schemas.openxmlformats.org/drawingml/2006/main">
            <a:off x="960120" y="1344168"/>
            <a:ext cx="102412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FFFF"/>
                </a:solidFill>
                <a:latin typeface="Noto Sans CJK JP"/>
                <a:ea typeface="Noto Sans CJK JP"/>
                <a:cs typeface="Noto Sans CJK JP"/>
              </a:rPr>
              <a:t>修士論文研究　8月進捗報告</a:t>
            </a:r>
            <a:endParaRPr sz="3400"/>
          </a:p>
        </p:txBody>
      </p:sp>
      <p:sp>
        <p:nvSpPr>
          <p:cNvPr id="5" name="Text 3">
            <a:extLst xmlns:a="http://schemas.openxmlformats.org/drawingml/2006/main">
              <a:ext uri="{FF2B5EF4-FFF2-40B4-BE49-F238E27FC236}">
                <a16:creationId xmlns:a16="http://schemas.microsoft.com/office/drawing/2014/main" id="{7D95F43E-EE94-48A9-8759-66D8F80CE0E8}"/>
              </a:ext>
            </a:extLst>
          </p:cNvPr>
          <p:cNvSpPr>
            <a:spLocks xmlns:a="http://schemas.openxmlformats.org/drawingml/2006/main" noGrp="1"/>
          </p:cNvSpPr>
          <p:nvPr/>
        </p:nvSpPr>
        <p:spPr>
          <a:xfrm xmlns:a="http://schemas.openxmlformats.org/drawingml/2006/main">
            <a:off x="1143000" y="2679192"/>
            <a:ext cx="9921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xmlns:a="http://schemas.openxmlformats.org/drawingml/2006/main">
              <a:ext uri="{FF2B5EF4-FFF2-40B4-BE49-F238E27FC236}">
                <a16:creationId xmlns:a16="http://schemas.microsoft.com/office/drawing/2014/main" id="{72DDED3D-B236-4725-AFE2-BF4D6FDFBF8E}"/>
              </a:ext>
            </a:extLst>
          </p:cNvPr>
          <p:cNvSpPr>
            <a:spLocks xmlns:a="http://schemas.openxmlformats.org/drawingml/2006/main" noGrp="1"/>
          </p:cNvSpPr>
          <p:nvPr/>
        </p:nvSpPr>
        <p:spPr>
          <a:xfrm xmlns:a="http://schemas.openxmlformats.org/drawingml/2006/main">
            <a:off x="1920240" y="3419856"/>
            <a:ext cx="8366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 前回からの改善点と、11月に向けた次の検証 ―</a:t>
            </a:r>
            <a:endParaRPr sz="1600"/>
          </a:p>
        </p:txBody>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e58da51a082a4900">
            <a:extLst>
              <a:ext uri="{96DAC541-7B7A-43D3-8B79-37D633B846F1}">
                <asvg:svgBlip xmlns:asvg="http://schemas.microsoft.com/office/drawing/2016/SVG/main" r:embed="Rcaf3581beb7b4bb8"/>
              </a:ext>
            </a:extLst>
          </a:blip>
          <a:stretch xmlns:a="http://schemas.openxmlformats.org/drawingml/2006/main">
            <a:fillRect l="0" t="0" r="0" b="0"/>
          </a:stretch>
        </p:blipFill>
        <p:spPr>
          <a:xfrm xmlns:a="http://schemas.openxmlformats.org/drawingml/2006/main">
            <a:off x="3154680" y="4187952"/>
            <a:ext cx="658368" cy="658368"/>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fc7f61de99414f5c">
            <a:extLst>
              <a:ext uri="{96DAC541-7B7A-43D3-8B79-37D633B846F1}">
                <asvg:svgBlip xmlns:asvg="http://schemas.microsoft.com/office/drawing/2016/SVG/main" r:embed="R875d039099274069"/>
              </a:ext>
            </a:extLst>
          </a:blip>
          <a:stretch xmlns:a="http://schemas.openxmlformats.org/drawingml/2006/main">
            <a:fillRect l="0" t="0" r="0" b="0"/>
          </a:stretch>
        </p:blipFill>
        <p:spPr>
          <a:xfrm xmlns:a="http://schemas.openxmlformats.org/drawingml/2006/main">
            <a:off x="4709160" y="4133088"/>
            <a:ext cx="841248" cy="713232"/>
          </a:xfrm>
          <a:prstGeom xmlns:a="http://schemas.openxmlformats.org/drawingml/2006/main" prst="rect">
            <a:avLst/>
          </a:prstGeom>
        </p:spPr>
      </p:pic>
      <p:pic>
        <p:nvPicPr>
          <p:cNvPr id="26" name="Image 2"/>
          <p:cNvPicPr>
            <a:picLocks xmlns:a="http://schemas.openxmlformats.org/drawingml/2006/main" noChangeAspect="1"/>
          </p:cNvPicPr>
          <p:nvPr/>
        </p:nvPicPr>
        <p:blipFill>
          <a:blip xmlns:r="http://schemas.openxmlformats.org/officeDocument/2006/relationships" xmlns:a="http://schemas.openxmlformats.org/drawingml/2006/main" r:embed="R71bab1f465f7412d">
            <a:extLst>
              <a:ext uri="{96DAC541-7B7A-43D3-8B79-37D633B846F1}">
                <asvg:svgBlip xmlns:asvg="http://schemas.microsoft.com/office/drawing/2016/SVG/main" r:embed="R951fd30f23c0490d"/>
              </a:ext>
            </a:extLst>
          </a:blip>
          <a:stretch xmlns:a="http://schemas.openxmlformats.org/drawingml/2006/main">
            <a:fillRect l="0" t="0" r="0" b="0"/>
          </a:stretch>
        </p:blipFill>
        <p:spPr>
          <a:xfrm xmlns:a="http://schemas.openxmlformats.org/drawingml/2006/main">
            <a:off x="6473952" y="4206240"/>
            <a:ext cx="749808" cy="621792"/>
          </a:xfrm>
          <a:prstGeom xmlns:a="http://schemas.openxmlformats.org/drawingml/2006/main" prst="rect">
            <a:avLst/>
          </a:prstGeom>
        </p:spPr>
      </p:pic>
      <p:sp>
        <p:nvSpPr>
          <p:cNvPr id="10" name="Shape 5">
            <a:extLst xmlns:a="http://schemas.openxmlformats.org/drawingml/2006/main">
              <a:ext uri="{FF2B5EF4-FFF2-40B4-BE49-F238E27FC236}">
                <a16:creationId xmlns:a16="http://schemas.microsoft.com/office/drawing/2014/main" id="{9E6B295E-EF66-45AC-AB73-3A86AA775DFB}"/>
              </a:ext>
            </a:extLst>
          </p:cNvPr>
          <p:cNvSpPr>
            <a:spLocks xmlns:a="http://schemas.openxmlformats.org/drawingml/2006/main" noGrp="1"/>
          </p:cNvSpPr>
          <p:nvPr/>
        </p:nvSpPr>
        <p:spPr>
          <a:xfrm xmlns:a="http://schemas.openxmlformats.org/drawingml/2006/main">
            <a:off x="3794760" y="4526280"/>
            <a:ext cx="82296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2332E275-8036-4261-82A4-1EAFCC90BBB0}"/>
              </a:ext>
            </a:extLst>
          </p:cNvPr>
          <p:cNvSpPr>
            <a:spLocks xmlns:a="http://schemas.openxmlformats.org/drawingml/2006/main" noGrp="1"/>
          </p:cNvSpPr>
          <p:nvPr/>
        </p:nvSpPr>
        <p:spPr>
          <a:xfrm xmlns:a="http://schemas.openxmlformats.org/drawingml/2006/main">
            <a:off x="5559552" y="4526280"/>
            <a:ext cx="86868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7">
            <a:extLst xmlns:a="http://schemas.openxmlformats.org/drawingml/2006/main">
              <a:ext uri="{FF2B5EF4-FFF2-40B4-BE49-F238E27FC236}">
                <a16:creationId xmlns:a16="http://schemas.microsoft.com/office/drawing/2014/main" id="{9FD1A283-476D-42AC-AC23-4355F721D0A9}"/>
              </a:ext>
            </a:extLst>
          </p:cNvPr>
          <p:cNvSpPr>
            <a:spLocks xmlns:a="http://schemas.openxmlformats.org/drawingml/2006/main" noGrp="1"/>
          </p:cNvSpPr>
          <p:nvPr/>
        </p:nvSpPr>
        <p:spPr>
          <a:xfrm xmlns:a="http://schemas.openxmlformats.org/drawingml/2006/main">
            <a:off x="1965960" y="5879592"/>
            <a:ext cx="82753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687386"/>
                </a:solidFill>
                <a:latin typeface="Noto Sans CJK JP"/>
                <a:ea typeface="Noto Sans CJK JP"/>
                <a:cs typeface="Noto Sans CJK JP"/>
              </a:rPr>
              <a:t>2026年8月31日　電力システム研究室　劉 承洋</a:t>
            </a:r>
            <a:endParaRPr sz="1350"/>
          </a:p>
        </p:txBody>
      </p:sp>
      <p:sp>
        <p:nvSpPr>
          <p:cNvPr id="13" name="Text 8">
            <a:extLst xmlns:a="http://schemas.openxmlformats.org/drawingml/2006/main">
              <a:ext uri="{FF2B5EF4-FFF2-40B4-BE49-F238E27FC236}">
                <a16:creationId xmlns:a16="http://schemas.microsoft.com/office/drawing/2014/main" id="{6D80BA1E-EB07-45D5-B24D-CF1B5AFC31FD}"/>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1/18</a:t>
            </a:r>
            <a:endParaRPr sz="850"/>
          </a:p>
        </p:txBody>
      </p:sp>
      <p:sp>
        <p:nvSpPr>
          <p:cNvPr id="17" name="">
            <a:extLst xmlns:a="http://schemas.openxmlformats.org/drawingml/2006/main">
              <a:ext uri="{FF2B5EF4-FFF2-40B4-BE49-F238E27FC236}">
                <a16:creationId xmlns:a16="http://schemas.microsoft.com/office/drawing/2014/main" id="{370B529D-491E-4C28-94B3-279BB2B7B97A}"/>
              </a:ext>
            </a:extLst>
          </p:cNvPr>
          <p:cNvSpPr>
            <a:spLocks xmlns:a="http://schemas.openxmlformats.org/drawingml/2006/main" noGrp="1"/>
          </p:cNvSpPr>
          <p:nvPr/>
        </p:nvSpPr>
        <p:spPr>
          <a:xfrm xmlns:a="http://schemas.openxmlformats.org/drawingml/2006/main">
            <a:off x="571500" y="56578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23D37"/>
                </a:solidFill>
                <a:latin typeface="Meiryo"/>
                <a:ea typeface="Meiryo"/>
                <a:cs typeface="Meiryo"/>
              </a:defRPr>
            </a:pPr>
            <a:r>
              <a:rPr sz="1800" b="1">
                <a:solidFill>
                  <a:srgbClr val="A23D37"/>
                </a:solidFill>
                <a:latin typeface="Meiryo"/>
                <a:ea typeface="Meiryo"/>
                <a:cs typeface="Meiryo"/>
              </a:rPr>
              <a:t>9月7日 追記：SOC上限に不一致を発見。数値は診断用、研究結論には未使用</a:t>
            </a:r>
          </a:p>
        </p:txBody>
      </p:sp>
      <p:sp>
        <p:nvSpPr>
          <p:cNvPr id="18" name="">
            <a:extLst xmlns:a="http://schemas.openxmlformats.org/drawingml/2006/main">
              <a:ext uri="{FF2B5EF4-FFF2-40B4-BE49-F238E27FC236}">
                <a16:creationId xmlns:a16="http://schemas.microsoft.com/office/drawing/2014/main" id="{B8F6BC9F-B349-425A-8A84-5D0B6A2517A6}"/>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209823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4B45E1-0A53-4AE8-973C-B14EFBFC7A58}"/>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研究背景：電気バスは「車両」だけでなく「運行と電力」を一緒に考える必要がある</a:t>
            </a:r>
            <a:endParaRPr sz="2550"/>
          </a:p>
        </p:txBody>
      </p:sp>
      <p:sp>
        <p:nvSpPr>
          <p:cNvPr id="3" name="Shape 1">
            <a:extLst xmlns:a="http://schemas.openxmlformats.org/drawingml/2006/main">
              <a:ext uri="{FF2B5EF4-FFF2-40B4-BE49-F238E27FC236}">
                <a16:creationId xmlns:a16="http://schemas.microsoft.com/office/drawing/2014/main" id="{F2D5CD45-C325-4FC5-A204-EC8F698C37E7}"/>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A4AD496-A82F-4B70-8050-7C62FA65BC8D}"/>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1CAC12C7-92D8-42CF-9174-836BB8E0FBD8}"/>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2/18</a:t>
            </a:r>
            <a:endParaRPr sz="850"/>
          </a:p>
        </p:txBody>
      </p:sp>
      <p:sp>
        <p:nvSpPr>
          <p:cNvPr id="6" name="Text 4">
            <a:extLst xmlns:a="http://schemas.openxmlformats.org/drawingml/2006/main">
              <a:ext uri="{FF2B5EF4-FFF2-40B4-BE49-F238E27FC236}">
                <a16:creationId xmlns:a16="http://schemas.microsoft.com/office/drawing/2014/main" id="{4C6567E7-93C2-4956-9161-E5FD54DFEF62}"/>
              </a:ext>
            </a:extLst>
          </p:cNvPr>
          <p:cNvSpPr>
            <a:spLocks xmlns:a="http://schemas.openxmlformats.org/drawingml/2006/main" noGrp="1"/>
          </p:cNvSpPr>
          <p:nvPr/>
        </p:nvSpPr>
        <p:spPr>
          <a:xfrm xmlns:a="http://schemas.openxmlformats.org/drawingml/2006/main">
            <a:off x="640080" y="868680"/>
            <a:ext cx="109270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xmlns:a="http://schemas.openxmlformats.org/drawingml/2006/main">
              <a:ext uri="{FF2B5EF4-FFF2-40B4-BE49-F238E27FC236}">
                <a16:creationId xmlns:a16="http://schemas.microsoft.com/office/drawing/2014/main" id="{7972FEDB-6AFC-4B27-A439-1A0C20A6C9D9}"/>
              </a:ext>
            </a:extLst>
          </p:cNvPr>
          <p:cNvSpPr>
            <a:spLocks xmlns:a="http://schemas.openxmlformats.org/drawingml/2006/main" noGrp="1"/>
          </p:cNvSpPr>
          <p:nvPr/>
        </p:nvSpPr>
        <p:spPr>
          <a:xfrm xmlns:a="http://schemas.openxmlformats.org/drawingml/2006/main">
            <a:off x="68580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d5d13744a8d84412">
            <a:extLst>
              <a:ext uri="{96DAC541-7B7A-43D3-8B79-37D633B846F1}">
                <asvg:svgBlip xmlns:asvg="http://schemas.microsoft.com/office/drawing/2016/SVG/main" r:embed="Re0341cd6859e4b36"/>
              </a:ext>
            </a:extLst>
          </a:blip>
          <a:stretch xmlns:a="http://schemas.openxmlformats.org/drawingml/2006/main">
            <a:fillRect l="0" t="0" r="0" b="0"/>
          </a:stretch>
        </p:blipFill>
        <p:spPr>
          <a:xfrm xmlns:a="http://schemas.openxmlformats.org/drawingml/2006/main">
            <a:off x="1709928" y="1856232"/>
            <a:ext cx="731520" cy="7315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005EA21A-C900-4134-8E1F-291984AC0937}"/>
              </a:ext>
            </a:extLst>
          </p:cNvPr>
          <p:cNvSpPr>
            <a:spLocks xmlns:a="http://schemas.openxmlformats.org/drawingml/2006/main" noGrp="1"/>
          </p:cNvSpPr>
          <p:nvPr/>
        </p:nvSpPr>
        <p:spPr>
          <a:xfrm xmlns:a="http://schemas.openxmlformats.org/drawingml/2006/main">
            <a:off x="100584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xmlns:a="http://schemas.openxmlformats.org/drawingml/2006/main">
              <a:ext uri="{FF2B5EF4-FFF2-40B4-BE49-F238E27FC236}">
                <a16:creationId xmlns:a16="http://schemas.microsoft.com/office/drawing/2014/main" id="{648A7D87-0850-468E-B801-CF522337B771}"/>
              </a:ext>
            </a:extLst>
          </p:cNvPr>
          <p:cNvSpPr>
            <a:spLocks xmlns:a="http://schemas.openxmlformats.org/drawingml/2006/main" noGrp="1"/>
          </p:cNvSpPr>
          <p:nvPr/>
        </p:nvSpPr>
        <p:spPr>
          <a:xfrm xmlns:a="http://schemas.openxmlformats.org/drawingml/2006/main">
            <a:off x="100584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決められた便を</a:t>
            </a:r>
            <a:endParaRPr sz="1600"/>
          </a:p>
          <a:p xmlns:a="http://schemas.openxmlformats.org/drawingml/2006/main">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xmlns:a="http://schemas.openxmlformats.org/drawingml/2006/main">
              <a:ext uri="{FF2B5EF4-FFF2-40B4-BE49-F238E27FC236}">
                <a16:creationId xmlns:a16="http://schemas.microsoft.com/office/drawing/2014/main" id="{E3CDF9ED-A0A1-4F12-A644-7E0255F6C87C}"/>
              </a:ext>
            </a:extLst>
          </p:cNvPr>
          <p:cNvSpPr>
            <a:spLocks xmlns:a="http://schemas.openxmlformats.org/drawingml/2006/main" noGrp="1"/>
          </p:cNvSpPr>
          <p:nvPr/>
        </p:nvSpPr>
        <p:spPr>
          <a:xfrm xmlns:a="http://schemas.openxmlformats.org/drawingml/2006/main">
            <a:off x="425196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9b49c70df61c4fa5">
            <a:extLst>
              <a:ext uri="{96DAC541-7B7A-43D3-8B79-37D633B846F1}">
                <asvg:svgBlip xmlns:asvg="http://schemas.microsoft.com/office/drawing/2016/SVG/main" r:embed="R8651795fe6404a8c"/>
              </a:ext>
            </a:extLst>
          </a:blip>
          <a:stretch xmlns:a="http://schemas.openxmlformats.org/drawingml/2006/main">
            <a:fillRect l="0" t="0" r="0" b="0"/>
          </a:stretch>
        </p:blipFill>
        <p:spPr>
          <a:xfrm xmlns:a="http://schemas.openxmlformats.org/drawingml/2006/main">
            <a:off x="5276088" y="1856232"/>
            <a:ext cx="731520" cy="73152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B843F94-3507-4FF0-A980-822866F0B5F3}"/>
              </a:ext>
            </a:extLst>
          </p:cNvPr>
          <p:cNvSpPr>
            <a:spLocks xmlns:a="http://schemas.openxmlformats.org/drawingml/2006/main" noGrp="1"/>
          </p:cNvSpPr>
          <p:nvPr/>
        </p:nvSpPr>
        <p:spPr>
          <a:xfrm xmlns:a="http://schemas.openxmlformats.org/drawingml/2006/main">
            <a:off x="457200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xmlns:a="http://schemas.openxmlformats.org/drawingml/2006/main">
              <a:ext uri="{FF2B5EF4-FFF2-40B4-BE49-F238E27FC236}">
                <a16:creationId xmlns:a16="http://schemas.microsoft.com/office/drawing/2014/main" id="{6CF1EC76-56D1-4F0D-A1E2-8585C61B46F9}"/>
              </a:ext>
            </a:extLst>
          </p:cNvPr>
          <p:cNvSpPr>
            <a:spLocks xmlns:a="http://schemas.openxmlformats.org/drawingml/2006/main" noGrp="1"/>
          </p:cNvSpPr>
          <p:nvPr/>
        </p:nvSpPr>
        <p:spPr>
          <a:xfrm xmlns:a="http://schemas.openxmlformats.org/drawingml/2006/main">
            <a:off x="457200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限られた充電器と</a:t>
            </a:r>
            <a:endParaRPr sz="1600"/>
          </a:p>
          <a:p xmlns:a="http://schemas.openxmlformats.org/drawingml/2006/main">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xmlns:a="http://schemas.openxmlformats.org/drawingml/2006/main">
              <a:ext uri="{FF2B5EF4-FFF2-40B4-BE49-F238E27FC236}">
                <a16:creationId xmlns:a16="http://schemas.microsoft.com/office/drawing/2014/main" id="{F72B15D2-7753-4D8B-9F31-E3432567C92E}"/>
              </a:ext>
            </a:extLst>
          </p:cNvPr>
          <p:cNvSpPr>
            <a:spLocks xmlns:a="http://schemas.openxmlformats.org/drawingml/2006/main" noGrp="1"/>
          </p:cNvSpPr>
          <p:nvPr/>
        </p:nvSpPr>
        <p:spPr>
          <a:xfrm xmlns:a="http://schemas.openxmlformats.org/drawingml/2006/main">
            <a:off x="781812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077ccc57ba134eef">
            <a:extLst>
              <a:ext uri="{96DAC541-7B7A-43D3-8B79-37D633B846F1}">
                <asvg:svgBlip xmlns:asvg="http://schemas.microsoft.com/office/drawing/2016/SVG/main" r:embed="R42932e61292f4569"/>
              </a:ext>
            </a:extLst>
          </a:blip>
          <a:stretch xmlns:a="http://schemas.openxmlformats.org/drawingml/2006/main">
            <a:fillRect l="0" t="0" r="0" b="0"/>
          </a:stretch>
        </p:blipFill>
        <p:spPr>
          <a:xfrm xmlns:a="http://schemas.openxmlformats.org/drawingml/2006/main">
            <a:off x="8842248" y="1856232"/>
            <a:ext cx="731520" cy="73152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4A2BBDB7-470B-43DB-B3EB-2423920BC07B}"/>
              </a:ext>
            </a:extLst>
          </p:cNvPr>
          <p:cNvSpPr>
            <a:spLocks xmlns:a="http://schemas.openxmlformats.org/drawingml/2006/main" noGrp="1"/>
          </p:cNvSpPr>
          <p:nvPr/>
        </p:nvSpPr>
        <p:spPr>
          <a:xfrm xmlns:a="http://schemas.openxmlformats.org/drawingml/2006/main">
            <a:off x="813816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xmlns:a="http://schemas.openxmlformats.org/drawingml/2006/main">
              <a:ext uri="{FF2B5EF4-FFF2-40B4-BE49-F238E27FC236}">
                <a16:creationId xmlns:a16="http://schemas.microsoft.com/office/drawing/2014/main" id="{3B6B073C-5B26-4F5D-A143-0F0BD6B8FF29}"/>
              </a:ext>
            </a:extLst>
          </p:cNvPr>
          <p:cNvSpPr>
            <a:spLocks xmlns:a="http://schemas.openxmlformats.org/drawingml/2006/main" noGrp="1"/>
          </p:cNvSpPr>
          <p:nvPr/>
        </p:nvSpPr>
        <p:spPr>
          <a:xfrm xmlns:a="http://schemas.openxmlformats.org/drawingml/2006/main">
            <a:off x="813816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時間で変わるPVを</a:t>
            </a:r>
            <a:endParaRPr sz="1600"/>
          </a:p>
          <a:p xmlns:a="http://schemas.openxmlformats.org/drawingml/2006/main">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xmlns:a="http://schemas.openxmlformats.org/drawingml/2006/main">
              <a:ext uri="{FF2B5EF4-FFF2-40B4-BE49-F238E27FC236}">
                <a16:creationId xmlns:a16="http://schemas.microsoft.com/office/drawing/2014/main" id="{9E919167-0613-4C7D-88AB-7AF74241CA77}"/>
              </a:ext>
            </a:extLst>
          </p:cNvPr>
          <p:cNvSpPr>
            <a:spLocks xmlns:a="http://schemas.openxmlformats.org/drawingml/2006/main" noGrp="1"/>
          </p:cNvSpPr>
          <p:nvPr/>
        </p:nvSpPr>
        <p:spPr>
          <a:xfrm xmlns:a="http://schemas.openxmlformats.org/drawingml/2006/main">
            <a:off x="1097280" y="4343400"/>
            <a:ext cx="9966960" cy="1225296"/>
          </a:xfrm>
          <a:prstGeom xmlns:a="http://schemas.openxmlformats.org/drawingml/2006/main" prst="roundRect">
            <a:avLst/>
          </a:prstGeom>
          <a:solidFill xmlns:a="http://schemas.openxmlformats.org/drawingml/2006/main">
            <a:srgbClr val="EAF2FB"/>
          </a:solidFill>
          <a:ln xmlns:a="http://schemas.openxmlformats.org/drawingml/2006/main" w="1524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5">
            <a:extLst xmlns:a="http://schemas.openxmlformats.org/drawingml/2006/main">
              <a:ext uri="{FF2B5EF4-FFF2-40B4-BE49-F238E27FC236}">
                <a16:creationId xmlns:a16="http://schemas.microsoft.com/office/drawing/2014/main" id="{B25029A2-3CA7-4C13-A78A-783EBB5CB0E3}"/>
              </a:ext>
            </a:extLst>
          </p:cNvPr>
          <p:cNvSpPr>
            <a:spLocks xmlns:a="http://schemas.openxmlformats.org/drawingml/2006/main" noGrp="1"/>
          </p:cNvSpPr>
          <p:nvPr/>
        </p:nvSpPr>
        <p:spPr>
          <a:xfrm xmlns:a="http://schemas.openxmlformats.org/drawingml/2006/main">
            <a:off x="1417320" y="4553712"/>
            <a:ext cx="1645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xmlns:a="http://schemas.openxmlformats.org/drawingml/2006/main">
              <a:ext uri="{FF2B5EF4-FFF2-40B4-BE49-F238E27FC236}">
                <a16:creationId xmlns:a16="http://schemas.microsoft.com/office/drawing/2014/main" id="{B67A58D6-2A00-4004-A686-377AA1BFD246}"/>
              </a:ext>
            </a:extLst>
          </p:cNvPr>
          <p:cNvSpPr>
            <a:spLocks xmlns:a="http://schemas.openxmlformats.org/drawingml/2006/main" noGrp="1"/>
          </p:cNvSpPr>
          <p:nvPr/>
        </p:nvSpPr>
        <p:spPr>
          <a:xfrm xmlns:a="http://schemas.openxmlformats.org/drawingml/2006/main">
            <a:off x="2788920" y="4498848"/>
            <a:ext cx="77266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xmlns:a="http://schemas.openxmlformats.org/drawingml/2006/main">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
        <p:nvSpPr>
          <p:cNvPr id="25" name="">
            <a:extLst xmlns:a="http://schemas.openxmlformats.org/drawingml/2006/main">
              <a:ext uri="{FF2B5EF4-FFF2-40B4-BE49-F238E27FC236}">
                <a16:creationId xmlns:a16="http://schemas.microsoft.com/office/drawing/2014/main" id="{EE09CBF8-D177-4956-AC69-51E042A627A7}"/>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0116355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696561A-217C-4D44-8657-C03E69033FEC}"/>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先行研究から整理した「示すべき図表」と本研究の位置づけ</a:t>
            </a:r>
            <a:endParaRPr sz="2550"/>
          </a:p>
        </p:txBody>
      </p:sp>
      <p:sp>
        <p:nvSpPr>
          <p:cNvPr id="3" name="Shape 1">
            <a:extLst xmlns:a="http://schemas.openxmlformats.org/drawingml/2006/main">
              <a:ext uri="{FF2B5EF4-FFF2-40B4-BE49-F238E27FC236}">
                <a16:creationId xmlns:a16="http://schemas.microsoft.com/office/drawing/2014/main" id="{47DF0DEB-A2AF-42E4-AB51-D84D0D77CF6A}"/>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E55DB34A-5746-4D0B-BD5F-8F297CB5B658}"/>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8D7D514E-1F37-4ABF-90F5-59D3C80BE630}"/>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3/18</a:t>
            </a:r>
            <a:endParaRPr sz="850"/>
          </a:p>
        </p:txBody>
      </p:sp>
      <p:sp>
        <p:nvSpPr>
          <p:cNvPr id="6" name="Text 4">
            <a:extLst xmlns:a="http://schemas.openxmlformats.org/drawingml/2006/main">
              <a:ext uri="{FF2B5EF4-FFF2-40B4-BE49-F238E27FC236}">
                <a16:creationId xmlns:a16="http://schemas.microsoft.com/office/drawing/2014/main" id="{49F67170-EB3F-423E-8770-9C097E576789}"/>
              </a:ext>
            </a:extLst>
          </p:cNvPr>
          <p:cNvSpPr>
            <a:spLocks xmlns:a="http://schemas.openxmlformats.org/drawingml/2006/main" noGrp="1"/>
          </p:cNvSpPr>
          <p:nvPr/>
        </p:nvSpPr>
        <p:spPr>
          <a:xfrm xmlns:a="http://schemas.openxmlformats.org/drawingml/2006/main">
            <a:off x="685800" y="859536"/>
            <a:ext cx="10835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a:solidFill>
                  <a:srgbClr val="687386"/>
                </a:solidFill>
                <a:latin typeface="Noto Sans CJK JP"/>
                <a:ea typeface="Noto Sans CJK JP"/>
                <a:cs typeface="Noto Sans CJK JP"/>
              </a:rPr>
              <a:t>電気バス研究では、システム構成・入力条件・時間変化・費用との関係をセットで示す例が多い。</a:t>
            </a:r>
            <a:endParaRPr sz="1750"/>
          </a:p>
        </p:txBody>
      </p:sp>
      <p:sp>
        <p:nvSpPr>
          <p:cNvPr id="7" name="Shape 5">
            <a:extLst xmlns:a="http://schemas.openxmlformats.org/drawingml/2006/main">
              <a:ext uri="{FF2B5EF4-FFF2-40B4-BE49-F238E27FC236}">
                <a16:creationId xmlns:a16="http://schemas.microsoft.com/office/drawing/2014/main" id="{359ECBE5-1A1C-4BE0-BF0E-AA5A1194A6BE}"/>
              </a:ext>
            </a:extLst>
          </p:cNvPr>
          <p:cNvSpPr>
            <a:spLocks xmlns:a="http://schemas.openxmlformats.org/drawingml/2006/main" noGrp="1"/>
          </p:cNvSpPr>
          <p:nvPr/>
        </p:nvSpPr>
        <p:spPr>
          <a:xfrm xmlns:a="http://schemas.openxmlformats.org/drawingml/2006/main">
            <a:off x="621792" y="1371600"/>
            <a:ext cx="2834640" cy="630936"/>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7949D1D-EDC5-4E84-A468-BC6EE9AB6458}"/>
              </a:ext>
            </a:extLst>
          </p:cNvPr>
          <p:cNvSpPr>
            <a:spLocks xmlns:a="http://schemas.openxmlformats.org/drawingml/2006/main" noGrp="1"/>
          </p:cNvSpPr>
          <p:nvPr/>
        </p:nvSpPr>
        <p:spPr>
          <a:xfrm xmlns:a="http://schemas.openxmlformats.org/drawingml/2006/main">
            <a:off x="676656" y="1403604"/>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20" b="1">
                <a:solidFill>
                  <a:srgbClr val="FFFFFF"/>
                </a:solidFill>
                <a:latin typeface="Noto Sans CJK JP"/>
                <a:ea typeface="Noto Sans CJK JP"/>
                <a:cs typeface="Noto Sans CJK JP"/>
              </a:rPr>
              <a:t>先行研究でよく示す内容</a:t>
            </a:r>
            <a:endParaRPr sz="1320"/>
          </a:p>
        </p:txBody>
      </p:sp>
      <p:sp>
        <p:nvSpPr>
          <p:cNvPr id="9" name="Shape 7">
            <a:extLst xmlns:a="http://schemas.openxmlformats.org/drawingml/2006/main">
              <a:ext uri="{FF2B5EF4-FFF2-40B4-BE49-F238E27FC236}">
                <a16:creationId xmlns:a16="http://schemas.microsoft.com/office/drawing/2014/main" id="{95E6863B-281B-4D12-B69E-5C34C1200DED}"/>
              </a:ext>
            </a:extLst>
          </p:cNvPr>
          <p:cNvSpPr>
            <a:spLocks xmlns:a="http://schemas.openxmlformats.org/drawingml/2006/main" noGrp="1"/>
          </p:cNvSpPr>
          <p:nvPr/>
        </p:nvSpPr>
        <p:spPr>
          <a:xfrm xmlns:a="http://schemas.openxmlformats.org/drawingml/2006/main">
            <a:off x="3456432" y="1371600"/>
            <a:ext cx="3794760" cy="630936"/>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BEAAB1E2-FFF7-42D3-AB27-D5BB5780A6AF}"/>
              </a:ext>
            </a:extLst>
          </p:cNvPr>
          <p:cNvSpPr>
            <a:spLocks xmlns:a="http://schemas.openxmlformats.org/drawingml/2006/main" noGrp="1"/>
          </p:cNvSpPr>
          <p:nvPr/>
        </p:nvSpPr>
        <p:spPr>
          <a:xfrm xmlns:a="http://schemas.openxmlformats.org/drawingml/2006/main">
            <a:off x="3511296" y="1403604"/>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20" b="1">
                <a:solidFill>
                  <a:srgbClr val="FFFFFF"/>
                </a:solidFill>
                <a:latin typeface="Noto Sans CJK JP"/>
                <a:ea typeface="Noto Sans CJK JP"/>
                <a:cs typeface="Noto Sans CJK JP"/>
              </a:rPr>
              <a:t>本資料で対応する図・表</a:t>
            </a:r>
            <a:endParaRPr sz="1320"/>
          </a:p>
        </p:txBody>
      </p:sp>
      <p:sp>
        <p:nvSpPr>
          <p:cNvPr id="11" name="Shape 9">
            <a:extLst xmlns:a="http://schemas.openxmlformats.org/drawingml/2006/main">
              <a:ext uri="{FF2B5EF4-FFF2-40B4-BE49-F238E27FC236}">
                <a16:creationId xmlns:a16="http://schemas.microsoft.com/office/drawing/2014/main" id="{1E591F2A-340F-46A8-B8EF-F6B3EFD4D824}"/>
              </a:ext>
            </a:extLst>
          </p:cNvPr>
          <p:cNvSpPr>
            <a:spLocks xmlns:a="http://schemas.openxmlformats.org/drawingml/2006/main" noGrp="1"/>
          </p:cNvSpPr>
          <p:nvPr/>
        </p:nvSpPr>
        <p:spPr>
          <a:xfrm xmlns:a="http://schemas.openxmlformats.org/drawingml/2006/main">
            <a:off x="7251192" y="1371600"/>
            <a:ext cx="4315968" cy="630936"/>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888052F-633E-4AD1-A1D6-ED35368430F2}"/>
              </a:ext>
            </a:extLst>
          </p:cNvPr>
          <p:cNvSpPr>
            <a:spLocks xmlns:a="http://schemas.openxmlformats.org/drawingml/2006/main" noGrp="1"/>
          </p:cNvSpPr>
          <p:nvPr/>
        </p:nvSpPr>
        <p:spPr>
          <a:xfrm xmlns:a="http://schemas.openxmlformats.org/drawingml/2006/main">
            <a:off x="7306056" y="1403604"/>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20" b="1">
                <a:solidFill>
                  <a:srgbClr val="FFFFFF"/>
                </a:solidFill>
                <a:latin typeface="Noto Sans CJK JP"/>
                <a:ea typeface="Noto Sans CJK JP"/>
                <a:cs typeface="Noto Sans CJK JP"/>
              </a:rPr>
              <a:t>参考にした文献</a:t>
            </a:r>
            <a:endParaRPr sz="1320"/>
          </a:p>
        </p:txBody>
      </p:sp>
      <p:sp>
        <p:nvSpPr>
          <p:cNvPr id="13" name="Shape 11">
            <a:extLst xmlns:a="http://schemas.openxmlformats.org/drawingml/2006/main">
              <a:ext uri="{FF2B5EF4-FFF2-40B4-BE49-F238E27FC236}">
                <a16:creationId xmlns:a16="http://schemas.microsoft.com/office/drawing/2014/main" id="{66C19D9B-D410-46BA-93A6-77C0C18C36AB}"/>
              </a:ext>
            </a:extLst>
          </p:cNvPr>
          <p:cNvSpPr>
            <a:spLocks xmlns:a="http://schemas.openxmlformats.org/drawingml/2006/main" noGrp="1"/>
          </p:cNvSpPr>
          <p:nvPr/>
        </p:nvSpPr>
        <p:spPr>
          <a:xfrm xmlns:a="http://schemas.openxmlformats.org/drawingml/2006/main">
            <a:off x="621792" y="2002536"/>
            <a:ext cx="283464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40FFBC6E-7A4D-4BE6-8962-5F8694B51158}"/>
              </a:ext>
            </a:extLst>
          </p:cNvPr>
          <p:cNvSpPr>
            <a:spLocks xmlns:a="http://schemas.openxmlformats.org/drawingml/2006/main" noGrp="1"/>
          </p:cNvSpPr>
          <p:nvPr/>
        </p:nvSpPr>
        <p:spPr>
          <a:xfrm xmlns:a="http://schemas.openxmlformats.org/drawingml/2006/main">
            <a:off x="676656" y="2034540"/>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営業所・車両・電力設備の構成図</a:t>
            </a:r>
            <a:endParaRPr sz="1220"/>
          </a:p>
        </p:txBody>
      </p:sp>
      <p:sp>
        <p:nvSpPr>
          <p:cNvPr id="15" name="Shape 13">
            <a:extLst xmlns:a="http://schemas.openxmlformats.org/drawingml/2006/main">
              <a:ext uri="{FF2B5EF4-FFF2-40B4-BE49-F238E27FC236}">
                <a16:creationId xmlns:a16="http://schemas.microsoft.com/office/drawing/2014/main" id="{8061E167-CCB4-4A63-BEEF-3966A9233672}"/>
              </a:ext>
            </a:extLst>
          </p:cNvPr>
          <p:cNvSpPr>
            <a:spLocks xmlns:a="http://schemas.openxmlformats.org/drawingml/2006/main" noGrp="1"/>
          </p:cNvSpPr>
          <p:nvPr/>
        </p:nvSpPr>
        <p:spPr>
          <a:xfrm xmlns:a="http://schemas.openxmlformats.org/drawingml/2006/main">
            <a:off x="3456432" y="2002536"/>
            <a:ext cx="379476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0B1A7997-593A-4E57-A086-72AF59A6BC2A}"/>
              </a:ext>
            </a:extLst>
          </p:cNvPr>
          <p:cNvSpPr>
            <a:spLocks xmlns:a="http://schemas.openxmlformats.org/drawingml/2006/main" noGrp="1"/>
          </p:cNvSpPr>
          <p:nvPr/>
        </p:nvSpPr>
        <p:spPr>
          <a:xfrm xmlns:a="http://schemas.openxmlformats.org/drawingml/2006/main">
            <a:off x="3511296" y="2034540"/>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対象営業所と比較条件の図</a:t>
            </a:r>
            <a:endParaRPr sz="1220"/>
          </a:p>
        </p:txBody>
      </p:sp>
      <p:sp>
        <p:nvSpPr>
          <p:cNvPr id="17" name="Shape 15">
            <a:extLst xmlns:a="http://schemas.openxmlformats.org/drawingml/2006/main">
              <a:ext uri="{FF2B5EF4-FFF2-40B4-BE49-F238E27FC236}">
                <a16:creationId xmlns:a16="http://schemas.microsoft.com/office/drawing/2014/main" id="{EF58941D-CA87-4447-BE41-ABC0CE59BA67}"/>
              </a:ext>
            </a:extLst>
          </p:cNvPr>
          <p:cNvSpPr>
            <a:spLocks xmlns:a="http://schemas.openxmlformats.org/drawingml/2006/main" noGrp="1"/>
          </p:cNvSpPr>
          <p:nvPr/>
        </p:nvSpPr>
        <p:spPr>
          <a:xfrm xmlns:a="http://schemas.openxmlformats.org/drawingml/2006/main">
            <a:off x="7251192" y="2002536"/>
            <a:ext cx="4315968"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035CBF38-AED7-4861-9B05-6FFA856B072B}"/>
              </a:ext>
            </a:extLst>
          </p:cNvPr>
          <p:cNvSpPr>
            <a:spLocks xmlns:a="http://schemas.openxmlformats.org/drawingml/2006/main" noGrp="1"/>
          </p:cNvSpPr>
          <p:nvPr/>
        </p:nvSpPr>
        <p:spPr>
          <a:xfrm xmlns:a="http://schemas.openxmlformats.org/drawingml/2006/main">
            <a:off x="7306056" y="2034540"/>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Najafi et al. (2025), Fei et al. (2023)</a:t>
            </a:r>
            <a:endParaRPr sz="1220"/>
          </a:p>
        </p:txBody>
      </p:sp>
      <p:sp>
        <p:nvSpPr>
          <p:cNvPr id="19" name="Shape 17">
            <a:extLst xmlns:a="http://schemas.openxmlformats.org/drawingml/2006/main">
              <a:ext uri="{FF2B5EF4-FFF2-40B4-BE49-F238E27FC236}">
                <a16:creationId xmlns:a16="http://schemas.microsoft.com/office/drawing/2014/main" id="{7BA5CFE3-1B20-43F0-9010-3DB7CF1EDF85}"/>
              </a:ext>
            </a:extLst>
          </p:cNvPr>
          <p:cNvSpPr>
            <a:spLocks xmlns:a="http://schemas.openxmlformats.org/drawingml/2006/main" noGrp="1"/>
          </p:cNvSpPr>
          <p:nvPr/>
        </p:nvSpPr>
        <p:spPr>
          <a:xfrm xmlns:a="http://schemas.openxmlformats.org/drawingml/2006/main">
            <a:off x="621792" y="2633472"/>
            <a:ext cx="2834640"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1854B1C-70E1-4971-8B78-6F46E0659F48}"/>
              </a:ext>
            </a:extLst>
          </p:cNvPr>
          <p:cNvSpPr>
            <a:spLocks xmlns:a="http://schemas.openxmlformats.org/drawingml/2006/main" noGrp="1"/>
          </p:cNvSpPr>
          <p:nvPr/>
        </p:nvSpPr>
        <p:spPr>
          <a:xfrm xmlns:a="http://schemas.openxmlformats.org/drawingml/2006/main">
            <a:off x="676656" y="2665476"/>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電池・充電器・SOC・価格などの入力表</a:t>
            </a:r>
            <a:endParaRPr sz="1220"/>
          </a:p>
        </p:txBody>
      </p:sp>
      <p:sp>
        <p:nvSpPr>
          <p:cNvPr id="21" name="Shape 19">
            <a:extLst xmlns:a="http://schemas.openxmlformats.org/drawingml/2006/main">
              <a:ext uri="{FF2B5EF4-FFF2-40B4-BE49-F238E27FC236}">
                <a16:creationId xmlns:a16="http://schemas.microsoft.com/office/drawing/2014/main" id="{C2F15E66-731D-492F-B012-F9DDAF0F8B0E}"/>
              </a:ext>
            </a:extLst>
          </p:cNvPr>
          <p:cNvSpPr>
            <a:spLocks xmlns:a="http://schemas.openxmlformats.org/drawingml/2006/main" noGrp="1"/>
          </p:cNvSpPr>
          <p:nvPr/>
        </p:nvSpPr>
        <p:spPr>
          <a:xfrm xmlns:a="http://schemas.openxmlformats.org/drawingml/2006/main">
            <a:off x="3456432" y="2633472"/>
            <a:ext cx="3794760"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6B80830A-D5D4-4E91-817E-9CEB1C0E99A7}"/>
              </a:ext>
            </a:extLst>
          </p:cNvPr>
          <p:cNvSpPr>
            <a:spLocks xmlns:a="http://schemas.openxmlformats.org/drawingml/2006/main" noGrp="1"/>
          </p:cNvSpPr>
          <p:nvPr/>
        </p:nvSpPr>
        <p:spPr>
          <a:xfrm xmlns:a="http://schemas.openxmlformats.org/drawingml/2006/main">
            <a:off x="3511296" y="2665476"/>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車両・設備・費用・計算条件の表</a:t>
            </a:r>
            <a:endParaRPr sz="1220"/>
          </a:p>
        </p:txBody>
      </p:sp>
      <p:sp>
        <p:nvSpPr>
          <p:cNvPr id="23" name="Shape 21">
            <a:extLst xmlns:a="http://schemas.openxmlformats.org/drawingml/2006/main">
              <a:ext uri="{FF2B5EF4-FFF2-40B4-BE49-F238E27FC236}">
                <a16:creationId xmlns:a16="http://schemas.microsoft.com/office/drawing/2014/main" id="{50584ADD-F67D-4A8D-990E-433475B8AF7D}"/>
              </a:ext>
            </a:extLst>
          </p:cNvPr>
          <p:cNvSpPr>
            <a:spLocks xmlns:a="http://schemas.openxmlformats.org/drawingml/2006/main" noGrp="1"/>
          </p:cNvSpPr>
          <p:nvPr/>
        </p:nvSpPr>
        <p:spPr>
          <a:xfrm xmlns:a="http://schemas.openxmlformats.org/drawingml/2006/main">
            <a:off x="7251192" y="2633472"/>
            <a:ext cx="4315968"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E70C3D53-9472-4AA1-A279-588FEB8A4F08}"/>
              </a:ext>
            </a:extLst>
          </p:cNvPr>
          <p:cNvSpPr>
            <a:spLocks xmlns:a="http://schemas.openxmlformats.org/drawingml/2006/main" noGrp="1"/>
          </p:cNvSpPr>
          <p:nvPr/>
        </p:nvSpPr>
        <p:spPr>
          <a:xfrm xmlns:a="http://schemas.openxmlformats.org/drawingml/2006/main">
            <a:off x="7306056" y="2665476"/>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Fei et al. (2023), Zhang et al. (2025)</a:t>
            </a:r>
            <a:endParaRPr sz="1220"/>
          </a:p>
        </p:txBody>
      </p:sp>
      <p:sp>
        <p:nvSpPr>
          <p:cNvPr id="25" name="Shape 23">
            <a:extLst xmlns:a="http://schemas.openxmlformats.org/drawingml/2006/main">
              <a:ext uri="{FF2B5EF4-FFF2-40B4-BE49-F238E27FC236}">
                <a16:creationId xmlns:a16="http://schemas.microsoft.com/office/drawing/2014/main" id="{AC5759BF-2DF7-41C1-B8EA-1824C1CD3D85}"/>
              </a:ext>
            </a:extLst>
          </p:cNvPr>
          <p:cNvSpPr>
            <a:spLocks xmlns:a="http://schemas.openxmlformats.org/drawingml/2006/main" noGrp="1"/>
          </p:cNvSpPr>
          <p:nvPr/>
        </p:nvSpPr>
        <p:spPr>
          <a:xfrm xmlns:a="http://schemas.openxmlformats.org/drawingml/2006/main">
            <a:off x="621792" y="3264408"/>
            <a:ext cx="283464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B2FAE723-595E-4F37-800B-BD3C5625FFC9}"/>
              </a:ext>
            </a:extLst>
          </p:cNvPr>
          <p:cNvSpPr>
            <a:spLocks xmlns:a="http://schemas.openxmlformats.org/drawingml/2006/main" noGrp="1"/>
          </p:cNvSpPr>
          <p:nvPr/>
        </p:nvSpPr>
        <p:spPr>
          <a:xfrm xmlns:a="http://schemas.openxmlformats.org/drawingml/2006/main">
            <a:off x="676656" y="3296412"/>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一日の充電・PV・蓄電池の動き</a:t>
            </a:r>
            <a:endParaRPr sz="1220"/>
          </a:p>
        </p:txBody>
      </p:sp>
      <p:sp>
        <p:nvSpPr>
          <p:cNvPr id="27" name="Shape 25">
            <a:extLst xmlns:a="http://schemas.openxmlformats.org/drawingml/2006/main">
              <a:ext uri="{FF2B5EF4-FFF2-40B4-BE49-F238E27FC236}">
                <a16:creationId xmlns:a16="http://schemas.microsoft.com/office/drawing/2014/main" id="{7BBDB710-BE52-410B-AA8D-F0456001DC99}"/>
              </a:ext>
            </a:extLst>
          </p:cNvPr>
          <p:cNvSpPr>
            <a:spLocks xmlns:a="http://schemas.openxmlformats.org/drawingml/2006/main" noGrp="1"/>
          </p:cNvSpPr>
          <p:nvPr/>
        </p:nvSpPr>
        <p:spPr>
          <a:xfrm xmlns:a="http://schemas.openxmlformats.org/drawingml/2006/main">
            <a:off x="3456432" y="3264408"/>
            <a:ext cx="379476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EDF8C323-9B04-4100-9B4E-5AEDB9F7BF21}"/>
              </a:ext>
            </a:extLst>
          </p:cNvPr>
          <p:cNvSpPr>
            <a:spLocks xmlns:a="http://schemas.openxmlformats.org/drawingml/2006/main" noGrp="1"/>
          </p:cNvSpPr>
          <p:nvPr/>
        </p:nvSpPr>
        <p:spPr>
          <a:xfrm xmlns:a="http://schemas.openxmlformats.org/drawingml/2006/main">
            <a:off x="3511296" y="3296412"/>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PV利用、BESS、系統購入の流れ</a:t>
            </a:r>
            <a:endParaRPr sz="1220"/>
          </a:p>
        </p:txBody>
      </p:sp>
      <p:sp>
        <p:nvSpPr>
          <p:cNvPr id="29" name="Shape 27">
            <a:extLst xmlns:a="http://schemas.openxmlformats.org/drawingml/2006/main">
              <a:ext uri="{FF2B5EF4-FFF2-40B4-BE49-F238E27FC236}">
                <a16:creationId xmlns:a16="http://schemas.microsoft.com/office/drawing/2014/main" id="{54CB664B-0130-434A-9B24-F56F08BAE4DC}"/>
              </a:ext>
            </a:extLst>
          </p:cNvPr>
          <p:cNvSpPr>
            <a:spLocks xmlns:a="http://schemas.openxmlformats.org/drawingml/2006/main" noGrp="1"/>
          </p:cNvSpPr>
          <p:nvPr/>
        </p:nvSpPr>
        <p:spPr>
          <a:xfrm xmlns:a="http://schemas.openxmlformats.org/drawingml/2006/main">
            <a:off x="7251192" y="3264408"/>
            <a:ext cx="4315968"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B4762BAE-78D6-44D5-80C8-1D8956902B83}"/>
              </a:ext>
            </a:extLst>
          </p:cNvPr>
          <p:cNvSpPr>
            <a:spLocks xmlns:a="http://schemas.openxmlformats.org/drawingml/2006/main" noGrp="1"/>
          </p:cNvSpPr>
          <p:nvPr/>
        </p:nvSpPr>
        <p:spPr>
          <a:xfrm xmlns:a="http://schemas.openxmlformats.org/drawingml/2006/main">
            <a:off x="7306056" y="3296412"/>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Fei et al. (2023), Najafi et al. (2025)</a:t>
            </a:r>
            <a:endParaRPr sz="1220"/>
          </a:p>
        </p:txBody>
      </p:sp>
      <p:sp>
        <p:nvSpPr>
          <p:cNvPr id="31" name="Shape 29">
            <a:extLst xmlns:a="http://schemas.openxmlformats.org/drawingml/2006/main">
              <a:ext uri="{FF2B5EF4-FFF2-40B4-BE49-F238E27FC236}">
                <a16:creationId xmlns:a16="http://schemas.microsoft.com/office/drawing/2014/main" id="{74E53C0E-EC79-4EEC-9FC4-F7BA8E640804}"/>
              </a:ext>
            </a:extLst>
          </p:cNvPr>
          <p:cNvSpPr>
            <a:spLocks xmlns:a="http://schemas.openxmlformats.org/drawingml/2006/main" noGrp="1"/>
          </p:cNvSpPr>
          <p:nvPr/>
        </p:nvSpPr>
        <p:spPr>
          <a:xfrm xmlns:a="http://schemas.openxmlformats.org/drawingml/2006/main">
            <a:off x="621792" y="3895344"/>
            <a:ext cx="2834640"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085B605-B979-45EA-90F1-CE56063250B3}"/>
              </a:ext>
            </a:extLst>
          </p:cNvPr>
          <p:cNvSpPr>
            <a:spLocks xmlns:a="http://schemas.openxmlformats.org/drawingml/2006/main" noGrp="1"/>
          </p:cNvSpPr>
          <p:nvPr/>
        </p:nvSpPr>
        <p:spPr>
          <a:xfrm xmlns:a="http://schemas.openxmlformats.org/drawingml/2006/main">
            <a:off x="676656" y="3927348"/>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車両構成と費用・収益の関係</a:t>
            </a:r>
            <a:endParaRPr sz="1220"/>
          </a:p>
        </p:txBody>
      </p:sp>
      <p:sp>
        <p:nvSpPr>
          <p:cNvPr id="33" name="Shape 31">
            <a:extLst xmlns:a="http://schemas.openxmlformats.org/drawingml/2006/main">
              <a:ext uri="{FF2B5EF4-FFF2-40B4-BE49-F238E27FC236}">
                <a16:creationId xmlns:a16="http://schemas.microsoft.com/office/drawing/2014/main" id="{26DA255C-303B-4B84-919C-9150A8BE52A6}"/>
              </a:ext>
            </a:extLst>
          </p:cNvPr>
          <p:cNvSpPr>
            <a:spLocks xmlns:a="http://schemas.openxmlformats.org/drawingml/2006/main" noGrp="1"/>
          </p:cNvSpPr>
          <p:nvPr/>
        </p:nvSpPr>
        <p:spPr>
          <a:xfrm xmlns:a="http://schemas.openxmlformats.org/drawingml/2006/main">
            <a:off x="3456432" y="3895344"/>
            <a:ext cx="3794760"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DDC69C1C-6C5C-4AC2-B422-EA3891969A0A}"/>
              </a:ext>
            </a:extLst>
          </p:cNvPr>
          <p:cNvSpPr>
            <a:spLocks xmlns:a="http://schemas.openxmlformats.org/drawingml/2006/main" noGrp="1"/>
          </p:cNvSpPr>
          <p:nvPr/>
        </p:nvSpPr>
        <p:spPr>
          <a:xfrm xmlns:a="http://schemas.openxmlformats.org/drawingml/2006/main">
            <a:off x="3511296" y="3927348"/>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22配車候補のBEV台数と評価額</a:t>
            </a:r>
            <a:endParaRPr sz="1220"/>
          </a:p>
        </p:txBody>
      </p:sp>
      <p:sp>
        <p:nvSpPr>
          <p:cNvPr id="35" name="Shape 33">
            <a:extLst xmlns:a="http://schemas.openxmlformats.org/drawingml/2006/main">
              <a:ext uri="{FF2B5EF4-FFF2-40B4-BE49-F238E27FC236}">
                <a16:creationId xmlns:a16="http://schemas.microsoft.com/office/drawing/2014/main" id="{2E4D8BE9-6534-4CC0-8766-C1F7CE0BA6F5}"/>
              </a:ext>
            </a:extLst>
          </p:cNvPr>
          <p:cNvSpPr>
            <a:spLocks xmlns:a="http://schemas.openxmlformats.org/drawingml/2006/main" noGrp="1"/>
          </p:cNvSpPr>
          <p:nvPr/>
        </p:nvSpPr>
        <p:spPr>
          <a:xfrm xmlns:a="http://schemas.openxmlformats.org/drawingml/2006/main">
            <a:off x="7251192" y="3895344"/>
            <a:ext cx="4315968"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30D0ACCD-7FFA-4546-8670-E05F8E23EE79}"/>
              </a:ext>
            </a:extLst>
          </p:cNvPr>
          <p:cNvSpPr>
            <a:spLocks xmlns:a="http://schemas.openxmlformats.org/drawingml/2006/main" noGrp="1"/>
          </p:cNvSpPr>
          <p:nvPr/>
        </p:nvSpPr>
        <p:spPr>
          <a:xfrm xmlns:a="http://schemas.openxmlformats.org/drawingml/2006/main">
            <a:off x="7306056" y="3927348"/>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Fei et al. (2023)</a:t>
            </a:r>
            <a:endParaRPr sz="1220"/>
          </a:p>
        </p:txBody>
      </p:sp>
      <p:sp>
        <p:nvSpPr>
          <p:cNvPr id="37" name="Shape 35">
            <a:extLst xmlns:a="http://schemas.openxmlformats.org/drawingml/2006/main">
              <a:ext uri="{FF2B5EF4-FFF2-40B4-BE49-F238E27FC236}">
                <a16:creationId xmlns:a16="http://schemas.microsoft.com/office/drawing/2014/main" id="{FE0DF8B8-915A-455A-92ED-B4AC7E6915D5}"/>
              </a:ext>
            </a:extLst>
          </p:cNvPr>
          <p:cNvSpPr>
            <a:spLocks xmlns:a="http://schemas.openxmlformats.org/drawingml/2006/main" noGrp="1"/>
          </p:cNvSpPr>
          <p:nvPr/>
        </p:nvSpPr>
        <p:spPr>
          <a:xfrm xmlns:a="http://schemas.openxmlformats.org/drawingml/2006/main">
            <a:off x="621792" y="4526280"/>
            <a:ext cx="283464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611A0C45-09B8-409C-81E1-E9D7587D4BAD}"/>
              </a:ext>
            </a:extLst>
          </p:cNvPr>
          <p:cNvSpPr>
            <a:spLocks xmlns:a="http://schemas.openxmlformats.org/drawingml/2006/main" noGrp="1"/>
          </p:cNvSpPr>
          <p:nvPr/>
        </p:nvSpPr>
        <p:spPr>
          <a:xfrm xmlns:a="http://schemas.openxmlformats.org/drawingml/2006/main">
            <a:off x="676656" y="4558284"/>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便ごとの消費量をどう扱うか</a:t>
            </a:r>
            <a:endParaRPr sz="1220"/>
          </a:p>
        </p:txBody>
      </p:sp>
      <p:sp>
        <p:nvSpPr>
          <p:cNvPr id="39" name="Shape 37">
            <a:extLst xmlns:a="http://schemas.openxmlformats.org/drawingml/2006/main">
              <a:ext uri="{FF2B5EF4-FFF2-40B4-BE49-F238E27FC236}">
                <a16:creationId xmlns:a16="http://schemas.microsoft.com/office/drawing/2014/main" id="{214D1F13-99A4-4D05-948C-C2A71C1314C7}"/>
              </a:ext>
            </a:extLst>
          </p:cNvPr>
          <p:cNvSpPr>
            <a:spLocks xmlns:a="http://schemas.openxmlformats.org/drawingml/2006/main" noGrp="1"/>
          </p:cNvSpPr>
          <p:nvPr/>
        </p:nvSpPr>
        <p:spPr>
          <a:xfrm xmlns:a="http://schemas.openxmlformats.org/drawingml/2006/main">
            <a:off x="3456432" y="4526280"/>
            <a:ext cx="379476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796BF4E0-F6DE-4192-9330-3C785D69040F}"/>
              </a:ext>
            </a:extLst>
          </p:cNvPr>
          <p:cNvSpPr>
            <a:spLocks xmlns:a="http://schemas.openxmlformats.org/drawingml/2006/main" noGrp="1"/>
          </p:cNvSpPr>
          <p:nvPr/>
        </p:nvSpPr>
        <p:spPr>
          <a:xfrm xmlns:a="http://schemas.openxmlformats.org/drawingml/2006/main">
            <a:off x="3511296" y="4558284"/>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便別入力を用いた配車・充電計算</a:t>
            </a:r>
            <a:endParaRPr sz="1220"/>
          </a:p>
        </p:txBody>
      </p:sp>
      <p:sp>
        <p:nvSpPr>
          <p:cNvPr id="41" name="Shape 39">
            <a:extLst xmlns:a="http://schemas.openxmlformats.org/drawingml/2006/main">
              <a:ext uri="{FF2B5EF4-FFF2-40B4-BE49-F238E27FC236}">
                <a16:creationId xmlns:a16="http://schemas.microsoft.com/office/drawing/2014/main" id="{7F4FD9EB-E487-4E88-939F-1565F013FD9A}"/>
              </a:ext>
            </a:extLst>
          </p:cNvPr>
          <p:cNvSpPr>
            <a:spLocks xmlns:a="http://schemas.openxmlformats.org/drawingml/2006/main" noGrp="1"/>
          </p:cNvSpPr>
          <p:nvPr/>
        </p:nvSpPr>
        <p:spPr>
          <a:xfrm xmlns:a="http://schemas.openxmlformats.org/drawingml/2006/main">
            <a:off x="7251192" y="4526280"/>
            <a:ext cx="4315968"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F2B2F41D-00B0-4FEE-AE29-AD39B57B01DB}"/>
              </a:ext>
            </a:extLst>
          </p:cNvPr>
          <p:cNvSpPr>
            <a:spLocks xmlns:a="http://schemas.openxmlformats.org/drawingml/2006/main" noGrp="1"/>
          </p:cNvSpPr>
          <p:nvPr/>
        </p:nvSpPr>
        <p:spPr>
          <a:xfrm xmlns:a="http://schemas.openxmlformats.org/drawingml/2006/main">
            <a:off x="7306056" y="4558284"/>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He et al. (2023), Zhang et al. (2024)</a:t>
            </a:r>
            <a:endParaRPr sz="1220"/>
          </a:p>
        </p:txBody>
      </p:sp>
      <p:sp>
        <p:nvSpPr>
          <p:cNvPr id="43" name="Shape 41">
            <a:extLst xmlns:a="http://schemas.openxmlformats.org/drawingml/2006/main">
              <a:ext uri="{FF2B5EF4-FFF2-40B4-BE49-F238E27FC236}">
                <a16:creationId xmlns:a16="http://schemas.microsoft.com/office/drawing/2014/main" id="{2C3377D6-D87D-4053-BDED-C87099C169A1}"/>
              </a:ext>
            </a:extLst>
          </p:cNvPr>
          <p:cNvSpPr>
            <a:spLocks xmlns:a="http://schemas.openxmlformats.org/drawingml/2006/main" noGrp="1"/>
          </p:cNvSpPr>
          <p:nvPr/>
        </p:nvSpPr>
        <p:spPr>
          <a:xfrm xmlns:a="http://schemas.openxmlformats.org/drawingml/2006/main">
            <a:off x="932688" y="5440680"/>
            <a:ext cx="10332720" cy="658368"/>
          </a:xfrm>
          <a:prstGeom xmlns:a="http://schemas.openxmlformats.org/drawingml/2006/main" prst="roundRect">
            <a:avLst/>
          </a:prstGeom>
          <a:solidFill xmlns:a="http://schemas.openxmlformats.org/drawingml/2006/main">
            <a:srgbClr val="E8F6F3"/>
          </a:solidFill>
          <a:ln xmlns:a="http://schemas.openxmlformats.org/drawingml/2006/main" w="1397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15EF3C3E-DBAE-4DB0-9B93-295FC76701EC}"/>
              </a:ext>
            </a:extLst>
          </p:cNvPr>
          <p:cNvSpPr>
            <a:spLocks xmlns:a="http://schemas.openxmlformats.org/drawingml/2006/main" noGrp="1"/>
          </p:cNvSpPr>
          <p:nvPr/>
        </p:nvSpPr>
        <p:spPr>
          <a:xfrm xmlns:a="http://schemas.openxmlformats.org/drawingml/2006/main">
            <a:off x="1170432" y="5596128"/>
            <a:ext cx="98755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1F9D8A"/>
                </a:solidFill>
                <a:latin typeface="Noto Sans CJK JP"/>
                <a:ea typeface="Noto Sans CJK JP"/>
                <a:cs typeface="Noto Sans CJK JP"/>
              </a:rPr>
              <a:t>本研究の焦点：既存営業所の264便を対象に、BEV／ICEの担当便とPV・BESSを使う充電運用を同時に確認する</a:t>
            </a:r>
            <a:endParaRPr sz="1650"/>
          </a:p>
        </p:txBody>
      </p:sp>
      <p:sp>
        <p:nvSpPr>
          <p:cNvPr id="45" name="Text 43">
            <a:extLst xmlns:a="http://schemas.openxmlformats.org/drawingml/2006/main">
              <a:ext uri="{FF2B5EF4-FFF2-40B4-BE49-F238E27FC236}">
                <a16:creationId xmlns:a16="http://schemas.microsoft.com/office/drawing/2014/main" id="{0A538913-45E5-4CBC-AE2A-A488B2530B42}"/>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参考：No07, No18, No36, No39, No42（添付文献）</a:t>
            </a:r>
            <a:endParaRPr sz="720"/>
          </a:p>
        </p:txBody>
      </p:sp>
      <p:sp>
        <p:nvSpPr>
          <p:cNvPr id="46" name="">
            <a:extLst xmlns:a="http://schemas.openxmlformats.org/drawingml/2006/main">
              <a:ext uri="{FF2B5EF4-FFF2-40B4-BE49-F238E27FC236}">
                <a16:creationId xmlns:a16="http://schemas.microsoft.com/office/drawing/2014/main" id="{F788F284-0A3E-4677-BC19-A3741770923A}"/>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3148533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C8C8684-81BB-4951-AFB5-E3BFD2BEF674}"/>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実験対象：同じ平日264便に、PVの多い条件と少ない条件を与えて比較</a:t>
            </a:r>
            <a:endParaRPr sz="2550"/>
          </a:p>
        </p:txBody>
      </p:sp>
      <p:sp>
        <p:nvSpPr>
          <p:cNvPr id="3" name="Shape 1">
            <a:extLst xmlns:a="http://schemas.openxmlformats.org/drawingml/2006/main">
              <a:ext uri="{FF2B5EF4-FFF2-40B4-BE49-F238E27FC236}">
                <a16:creationId xmlns:a16="http://schemas.microsoft.com/office/drawing/2014/main" id="{52F96407-B784-4168-98FF-5B517EBDE301}"/>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6C9C4C6-F56A-4029-B158-E137496B312F}"/>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072F408C-8246-4220-9C7D-191C23C1F72B}"/>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4/18</a:t>
            </a:r>
            <a:endParaRPr sz="850"/>
          </a:p>
        </p:txBody>
      </p:sp>
      <p:sp>
        <p:nvSpPr>
          <p:cNvPr id="6" name="Shape 4">
            <a:extLst xmlns:a="http://schemas.openxmlformats.org/drawingml/2006/main">
              <a:ext uri="{FF2B5EF4-FFF2-40B4-BE49-F238E27FC236}">
                <a16:creationId xmlns:a16="http://schemas.microsoft.com/office/drawing/2014/main" id="{8CE31F70-9EE7-49D0-9B11-717F96CF32D3}"/>
              </a:ext>
            </a:extLst>
          </p:cNvPr>
          <p:cNvSpPr>
            <a:spLocks xmlns:a="http://schemas.openxmlformats.org/drawingml/2006/main" noGrp="1"/>
          </p:cNvSpPr>
          <p:nvPr/>
        </p:nvSpPr>
        <p:spPr>
          <a:xfrm xmlns:a="http://schemas.openxmlformats.org/drawingml/2006/main">
            <a:off x="594360" y="914400"/>
            <a:ext cx="4572000" cy="534924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0B880A3F-D18F-4465-873F-16E8095B7760}"/>
              </a:ext>
            </a:extLst>
          </p:cNvPr>
          <p:cNvSpPr>
            <a:spLocks xmlns:a="http://schemas.openxmlformats.org/drawingml/2006/main" noGrp="1"/>
          </p:cNvSpPr>
          <p:nvPr/>
        </p:nvSpPr>
        <p:spPr>
          <a:xfrm xmlns:a="http://schemas.openxmlformats.org/drawingml/2006/main">
            <a:off x="896112" y="1143000"/>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共通して固定する条件</a:t>
            </a:r>
            <a:endParaRPr sz="2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b3266a17d15f4985">
            <a:extLst>
              <a:ext uri="{96DAC541-7B7A-43D3-8B79-37D633B846F1}">
                <asvg:svgBlip xmlns:asvg="http://schemas.microsoft.com/office/drawing/2016/SVG/main" r:embed="R4bbc85b5bae04dd1"/>
              </a:ext>
            </a:extLst>
          </a:blip>
          <a:stretch xmlns:a="http://schemas.openxmlformats.org/drawingml/2006/main">
            <a:fillRect l="0" t="0" r="0" b="0"/>
          </a:stretch>
        </p:blipFill>
        <p:spPr>
          <a:xfrm xmlns:a="http://schemas.openxmlformats.org/drawingml/2006/main">
            <a:off x="960120" y="1755648"/>
            <a:ext cx="548640" cy="5029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51610967-CD7A-4A3A-8133-972D56CE1BDF}"/>
              </a:ext>
            </a:extLst>
          </p:cNvPr>
          <p:cNvSpPr>
            <a:spLocks xmlns:a="http://schemas.openxmlformats.org/drawingml/2006/main" noGrp="1"/>
          </p:cNvSpPr>
          <p:nvPr/>
        </p:nvSpPr>
        <p:spPr>
          <a:xfrm xmlns:a="http://schemas.openxmlformats.org/drawingml/2006/main">
            <a:off x="1664208" y="174650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F2A5A"/>
                </a:solidFill>
                <a:latin typeface="Noto Sans CJK JP"/>
                <a:ea typeface="Noto Sans CJK JP"/>
                <a:cs typeface="Noto Sans CJK JP"/>
              </a:rPr>
              <a:t>弦巻営業所・平日264便（16路線）</a:t>
            </a:r>
            <a:endParaRPr sz="1750"/>
          </a:p>
        </p:txBody>
      </p:sp>
      <p:pic>
        <p:nvPicPr>
          <p:cNvPr id="50" name="Image 1"/>
          <p:cNvPicPr>
            <a:picLocks xmlns:a="http://schemas.openxmlformats.org/drawingml/2006/main" noChangeAspect="1"/>
          </p:cNvPicPr>
          <p:nvPr/>
        </p:nvPicPr>
        <p:blipFill>
          <a:blip xmlns:r="http://schemas.openxmlformats.org/officeDocument/2006/relationships" xmlns:a="http://schemas.openxmlformats.org/drawingml/2006/main" r:embed="Rd03e6dbb06164d6d">
            <a:extLst>
              <a:ext uri="{96DAC541-7B7A-43D3-8B79-37D633B846F1}">
                <asvg:svgBlip xmlns:asvg="http://schemas.microsoft.com/office/drawing/2016/SVG/main" r:embed="Rd4c6091987de46fc"/>
              </a:ext>
            </a:extLst>
          </a:blip>
          <a:stretch xmlns:a="http://schemas.openxmlformats.org/drawingml/2006/main">
            <a:fillRect l="0" t="0" r="0" b="0"/>
          </a:stretch>
        </p:blipFill>
        <p:spPr>
          <a:xfrm xmlns:a="http://schemas.openxmlformats.org/drawingml/2006/main">
            <a:off x="960120" y="2487168"/>
            <a:ext cx="548640" cy="47548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A9234F9-3A89-4217-8D17-E62DE7091839}"/>
              </a:ext>
            </a:extLst>
          </p:cNvPr>
          <p:cNvSpPr>
            <a:spLocks xmlns:a="http://schemas.openxmlformats.org/drawingml/2006/main" noGrp="1"/>
          </p:cNvSpPr>
          <p:nvPr/>
        </p:nvSpPr>
        <p:spPr>
          <a:xfrm xmlns:a="http://schemas.openxmlformats.org/drawingml/2006/main">
            <a:off x="1664208" y="248716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車両60台：BEV 35台／ICE 25台</a:t>
            </a:r>
            <a:endParaRPr sz="1700"/>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83e75f6924604238">
            <a:extLst>
              <a:ext uri="{96DAC541-7B7A-43D3-8B79-37D633B846F1}">
                <asvg:svgBlip xmlns:asvg="http://schemas.microsoft.com/office/drawing/2016/SVG/main" r:embed="R2bc7059376854ecc"/>
              </a:ext>
            </a:extLst>
          </a:blip>
          <a:stretch xmlns:a="http://schemas.openxmlformats.org/drawingml/2006/main">
            <a:fillRect l="0" t="0" r="0" b="0"/>
          </a:stretch>
        </p:blipFill>
        <p:spPr>
          <a:xfrm xmlns:a="http://schemas.openxmlformats.org/drawingml/2006/main">
            <a:off x="960120" y="3218688"/>
            <a:ext cx="502920" cy="5029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DF521BDC-C2CD-4A3B-8830-CB24308291F6}"/>
              </a:ext>
            </a:extLst>
          </p:cNvPr>
          <p:cNvSpPr>
            <a:spLocks xmlns:a="http://schemas.openxmlformats.org/drawingml/2006/main" noGrp="1"/>
          </p:cNvSpPr>
          <p:nvPr/>
        </p:nvSpPr>
        <p:spPr>
          <a:xfrm xmlns:a="http://schemas.openxmlformats.org/drawingml/2006/main">
            <a:off x="1664208" y="321868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充電器・BESS・受電上限・料金は同一</a:t>
            </a:r>
            <a:endParaRPr sz="1700"/>
          </a:p>
        </p:txBody>
      </p:sp>
      <p:pic>
        <p:nvPicPr>
          <p:cNvPr id="54" name="Image 3"/>
          <p:cNvPicPr>
            <a:picLocks xmlns:a="http://schemas.openxmlformats.org/drawingml/2006/main" noChangeAspect="1"/>
          </p:cNvPicPr>
          <p:nvPr/>
        </p:nvPicPr>
        <p:blipFill>
          <a:blip xmlns:r="http://schemas.openxmlformats.org/officeDocument/2006/relationships" xmlns:a="http://schemas.openxmlformats.org/drawingml/2006/main" r:embed="R4694534992884df0">
            <a:extLst>
              <a:ext uri="{96DAC541-7B7A-43D3-8B79-37D633B846F1}">
                <asvg:svgBlip xmlns:asvg="http://schemas.microsoft.com/office/drawing/2016/SVG/main" r:embed="R96b229eda41f4f52"/>
              </a:ext>
            </a:extLst>
          </a:blip>
          <a:stretch xmlns:a="http://schemas.openxmlformats.org/drawingml/2006/main">
            <a:fillRect l="0" t="0" r="0" b="0"/>
          </a:stretch>
        </p:blipFill>
        <p:spPr>
          <a:xfrm xmlns:a="http://schemas.openxmlformats.org/drawingml/2006/main">
            <a:off x="960120" y="3950208"/>
            <a:ext cx="502920" cy="50292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F3406FEC-B54C-4BDB-A5CB-785FCFA7CF1A}"/>
              </a:ext>
            </a:extLst>
          </p:cNvPr>
          <p:cNvSpPr>
            <a:spLocks xmlns:a="http://schemas.openxmlformats.org/drawingml/2006/main" noGrp="1"/>
          </p:cNvSpPr>
          <p:nvPr/>
        </p:nvSpPr>
        <p:spPr>
          <a:xfrm xmlns:a="http://schemas.openxmlformats.org/drawingml/2006/main">
            <a:off x="1664208" y="395020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15分単位、1時間ごとに運用を見直す</a:t>
            </a:r>
            <a:endParaRPr sz="1700"/>
          </a:p>
        </p:txBody>
      </p:sp>
      <p:sp>
        <p:nvSpPr>
          <p:cNvPr id="16" name="Shape 10">
            <a:extLst xmlns:a="http://schemas.openxmlformats.org/drawingml/2006/main">
              <a:ext uri="{FF2B5EF4-FFF2-40B4-BE49-F238E27FC236}">
                <a16:creationId xmlns:a16="http://schemas.microsoft.com/office/drawing/2014/main" id="{29530581-42E7-4FAC-B677-CD9567E31D26}"/>
              </a:ext>
            </a:extLst>
          </p:cNvPr>
          <p:cNvSpPr>
            <a:spLocks xmlns:a="http://schemas.openxmlformats.org/drawingml/2006/main" noGrp="1"/>
          </p:cNvSpPr>
          <p:nvPr/>
        </p:nvSpPr>
        <p:spPr>
          <a:xfrm xmlns:a="http://schemas.openxmlformats.org/drawingml/2006/main">
            <a:off x="960120" y="4754880"/>
            <a:ext cx="3822192" cy="8412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1">
            <a:extLst xmlns:a="http://schemas.openxmlformats.org/drawingml/2006/main">
              <a:ext uri="{FF2B5EF4-FFF2-40B4-BE49-F238E27FC236}">
                <a16:creationId xmlns:a16="http://schemas.microsoft.com/office/drawing/2014/main" id="{C7D2B567-9B86-430B-BBB2-6F1084169DCA}"/>
              </a:ext>
            </a:extLst>
          </p:cNvPr>
          <p:cNvSpPr>
            <a:spLocks xmlns:a="http://schemas.openxmlformats.org/drawingml/2006/main" noGrp="1"/>
          </p:cNvSpPr>
          <p:nvPr/>
        </p:nvSpPr>
        <p:spPr>
          <a:xfrm xmlns:a="http://schemas.openxmlformats.org/drawingml/2006/main">
            <a:off x="1188720" y="4919472"/>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1F2A5A"/>
                </a:solidFill>
                <a:latin typeface="Noto Sans CJK JP"/>
                <a:ea typeface="Noto Sans CJK JP"/>
                <a:cs typeface="Noto Sans CJK JP"/>
              </a:rPr>
              <a:t>比較したいこと</a:t>
            </a:r>
            <a:endParaRPr sz="1550"/>
          </a:p>
          <a:p xmlns:a="http://schemas.openxmlformats.org/drawingml/2006/main">
            <a:pPr marL="0" indent="0" algn="ctr">
              <a:buNone/>
            </a:pPr>
            <a:r>
              <a:rPr sz="1550" b="1">
                <a:solidFill>
                  <a:srgbClr val="1F2A5A"/>
                </a:solidFill>
                <a:latin typeface="Noto Sans CJK JP"/>
                <a:ea typeface="Noto Sans CJK JP"/>
                <a:cs typeface="Noto Sans CJK JP"/>
              </a:rPr>
              <a:t>PV量の違いで、配車・電力・費用がどう変わるか</a:t>
            </a:r>
            <a:endParaRPr sz="1550"/>
          </a:p>
        </p:txBody>
      </p:sp>
      <p:sp>
        <p:nvSpPr>
          <p:cNvPr id="18" name="Shape 12">
            <a:extLst xmlns:a="http://schemas.openxmlformats.org/drawingml/2006/main">
              <a:ext uri="{FF2B5EF4-FFF2-40B4-BE49-F238E27FC236}">
                <a16:creationId xmlns:a16="http://schemas.microsoft.com/office/drawing/2014/main" id="{AFA8B81A-CED2-4D8B-B1B6-3DACBB3E4A95}"/>
              </a:ext>
            </a:extLst>
          </p:cNvPr>
          <p:cNvSpPr>
            <a:spLocks xmlns:a="http://schemas.openxmlformats.org/drawingml/2006/main" noGrp="1"/>
          </p:cNvSpPr>
          <p:nvPr/>
        </p:nvSpPr>
        <p:spPr>
          <a:xfrm xmlns:a="http://schemas.openxmlformats.org/drawingml/2006/main">
            <a:off x="5440680" y="914400"/>
            <a:ext cx="2788920" cy="5349240"/>
          </a:xfrm>
          <a:prstGeom xmlns:a="http://schemas.openxmlformats.org/drawingml/2006/main" prst="roundRect">
            <a:avLst>
              <a:gd name="adj" fmla="val 2623"/>
            </a:avLst>
          </a:prstGeom>
          <a:solidFill xmlns:a="http://schemas.openxmlformats.org/drawingml/2006/main">
            <a:srgbClr val="FFF5D8"/>
          </a:solidFill>
          <a:ln xmlns:a="http://schemas.openxmlformats.org/drawingml/2006/main" w="12700">
            <a:solidFill>
              <a:srgbClr val="E7B34B"/>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3">
            <a:extLst xmlns:a="http://schemas.openxmlformats.org/drawingml/2006/main">
              <a:ext uri="{FF2B5EF4-FFF2-40B4-BE49-F238E27FC236}">
                <a16:creationId xmlns:a16="http://schemas.microsoft.com/office/drawing/2014/main" id="{F9BFA31A-BE7A-47FE-B7E8-E724492583CE}"/>
              </a:ext>
            </a:extLst>
          </p:cNvPr>
          <p:cNvSpPr>
            <a:spLocks xmlns:a="http://schemas.openxmlformats.org/drawingml/2006/main" noGrp="1"/>
          </p:cNvSpPr>
          <p:nvPr/>
        </p:nvSpPr>
        <p:spPr>
          <a:xfrm xmlns:a="http://schemas.openxmlformats.org/drawingml/2006/main">
            <a:off x="6062472" y="1188720"/>
            <a:ext cx="1508760" cy="310896"/>
          </a:xfrm>
          <a:prstGeom xmlns:a="http://schemas.openxmlformats.org/drawingml/2006/main" prst="roundRect">
            <a:avLst/>
          </a:prstGeom>
          <a:solidFill xmlns:a="http://schemas.openxmlformats.org/drawingml/2006/main">
            <a:srgbClr val="E7B34B"/>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4">
            <a:extLst xmlns:a="http://schemas.openxmlformats.org/drawingml/2006/main">
              <a:ext uri="{FF2B5EF4-FFF2-40B4-BE49-F238E27FC236}">
                <a16:creationId xmlns:a16="http://schemas.microsoft.com/office/drawing/2014/main" id="{FD087C68-DB3A-422D-B573-2821F965FCA1}"/>
              </a:ext>
            </a:extLst>
          </p:cNvPr>
          <p:cNvSpPr>
            <a:spLocks xmlns:a="http://schemas.openxmlformats.org/drawingml/2006/main" noGrp="1"/>
          </p:cNvSpPr>
          <p:nvPr/>
        </p:nvSpPr>
        <p:spPr>
          <a:xfrm xmlns:a="http://schemas.openxmlformats.org/drawingml/2006/main">
            <a:off x="6108192" y="1207008"/>
            <a:ext cx="1417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72033"/>
                </a:solidFill>
                <a:latin typeface="Noto Sans CJK JP"/>
                <a:ea typeface="Noto Sans CJK JP"/>
                <a:cs typeface="Noto Sans CJK JP"/>
              </a:rPr>
              <a:t>高PV条件</a:t>
            </a:r>
            <a:endParaRPr sz="1050"/>
          </a:p>
        </p:txBody>
      </p:sp>
      <p:pic>
        <p:nvPicPr>
          <p:cNvPr id="61" name="Image 4"/>
          <p:cNvPicPr>
            <a:picLocks xmlns:a="http://schemas.openxmlformats.org/drawingml/2006/main" noChangeAspect="1"/>
          </p:cNvPicPr>
          <p:nvPr/>
        </p:nvPicPr>
        <p:blipFill>
          <a:blip xmlns:r="http://schemas.openxmlformats.org/officeDocument/2006/relationships" xmlns:a="http://schemas.openxmlformats.org/drawingml/2006/main" r:embed="R7b93712b92514904">
            <a:extLst>
              <a:ext uri="{96DAC541-7B7A-43D3-8B79-37D633B846F1}">
                <asvg:svgBlip xmlns:asvg="http://schemas.microsoft.com/office/drawing/2016/SVG/main" r:embed="R57fd1c6d21a5467d"/>
              </a:ext>
            </a:extLst>
          </a:blip>
          <a:stretch xmlns:a="http://schemas.openxmlformats.org/drawingml/2006/main">
            <a:fillRect l="0" t="0" r="0" b="0"/>
          </a:stretch>
        </p:blipFill>
        <p:spPr>
          <a:xfrm xmlns:a="http://schemas.openxmlformats.org/drawingml/2006/main">
            <a:off x="6446520" y="1865376"/>
            <a:ext cx="749808" cy="749808"/>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F804071-5C3D-4A90-B451-7F0852471254}"/>
              </a:ext>
            </a:extLst>
          </p:cNvPr>
          <p:cNvSpPr>
            <a:spLocks xmlns:a="http://schemas.openxmlformats.org/drawingml/2006/main" noGrp="1"/>
          </p:cNvSpPr>
          <p:nvPr/>
        </p:nvSpPr>
        <p:spPr>
          <a:xfrm xmlns:a="http://schemas.openxmlformats.org/drawingml/2006/main">
            <a:off x="5806440" y="2761488"/>
            <a:ext cx="2057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xmlns:a="http://schemas.openxmlformats.org/drawingml/2006/main">
              <a:ext uri="{FF2B5EF4-FFF2-40B4-BE49-F238E27FC236}">
                <a16:creationId xmlns:a16="http://schemas.microsoft.com/office/drawing/2014/main" id="{5EBE7806-51FA-46CE-BC5D-AB6B15889653}"/>
              </a:ext>
            </a:extLst>
          </p:cNvPr>
          <p:cNvSpPr>
            <a:spLocks xmlns:a="http://schemas.openxmlformats.org/drawingml/2006/main" noGrp="1"/>
          </p:cNvSpPr>
          <p:nvPr/>
        </p:nvSpPr>
        <p:spPr>
          <a:xfrm xmlns:a="http://schemas.openxmlformats.org/drawingml/2006/main">
            <a:off x="5742432" y="3090672"/>
            <a:ext cx="21762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xmlns:a="http://schemas.openxmlformats.org/drawingml/2006/main">
              <a:ext uri="{FF2B5EF4-FFF2-40B4-BE49-F238E27FC236}">
                <a16:creationId xmlns:a16="http://schemas.microsoft.com/office/drawing/2014/main" id="{C89ECA50-247C-42F2-A4C9-7F9DD83F53F0}"/>
              </a:ext>
            </a:extLst>
          </p:cNvPr>
          <p:cNvSpPr>
            <a:spLocks xmlns:a="http://schemas.openxmlformats.org/drawingml/2006/main" noGrp="1"/>
          </p:cNvSpPr>
          <p:nvPr/>
        </p:nvSpPr>
        <p:spPr>
          <a:xfrm xmlns:a="http://schemas.openxmlformats.org/drawingml/2006/main">
            <a:off x="5760720" y="3675888"/>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xmlns:a="http://schemas.openxmlformats.org/drawingml/2006/main">
              <a:ext uri="{FF2B5EF4-FFF2-40B4-BE49-F238E27FC236}">
                <a16:creationId xmlns:a16="http://schemas.microsoft.com/office/drawing/2014/main" id="{93B3B7B8-A99C-4E1C-8263-2B8290BD6F44}"/>
              </a:ext>
            </a:extLst>
          </p:cNvPr>
          <p:cNvSpPr>
            <a:spLocks xmlns:a="http://schemas.openxmlformats.org/drawingml/2006/main" noGrp="1"/>
          </p:cNvSpPr>
          <p:nvPr/>
        </p:nvSpPr>
        <p:spPr>
          <a:xfrm xmlns:a="http://schemas.openxmlformats.org/drawingml/2006/main">
            <a:off x="5833872" y="4709160"/>
            <a:ext cx="2011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xmlns:a="http://schemas.openxmlformats.org/drawingml/2006/main">
              <a:ext uri="{FF2B5EF4-FFF2-40B4-BE49-F238E27FC236}">
                <a16:creationId xmlns:a16="http://schemas.microsoft.com/office/drawing/2014/main" id="{B2199189-A136-4A38-9789-B3E01EA961EF}"/>
              </a:ext>
            </a:extLst>
          </p:cNvPr>
          <p:cNvSpPr>
            <a:spLocks xmlns:a="http://schemas.openxmlformats.org/drawingml/2006/main" noGrp="1"/>
          </p:cNvSpPr>
          <p:nvPr/>
        </p:nvSpPr>
        <p:spPr>
          <a:xfrm xmlns:a="http://schemas.openxmlformats.org/drawingml/2006/main">
            <a:off x="8485632" y="914400"/>
            <a:ext cx="2788920" cy="5349240"/>
          </a:xfrm>
          <a:prstGeom xmlns:a="http://schemas.openxmlformats.org/drawingml/2006/main" prst="roundRect">
            <a:avLst>
              <a:gd name="adj" fmla="val 2623"/>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0">
            <a:extLst xmlns:a="http://schemas.openxmlformats.org/drawingml/2006/main">
              <a:ext uri="{FF2B5EF4-FFF2-40B4-BE49-F238E27FC236}">
                <a16:creationId xmlns:a16="http://schemas.microsoft.com/office/drawing/2014/main" id="{3EA9FD95-D777-4076-BF07-B235B9BC9AD3}"/>
              </a:ext>
            </a:extLst>
          </p:cNvPr>
          <p:cNvSpPr>
            <a:spLocks xmlns:a="http://schemas.openxmlformats.org/drawingml/2006/main" noGrp="1"/>
          </p:cNvSpPr>
          <p:nvPr/>
        </p:nvSpPr>
        <p:spPr>
          <a:xfrm xmlns:a="http://schemas.openxmlformats.org/drawingml/2006/main">
            <a:off x="9125712" y="1188720"/>
            <a:ext cx="1508760" cy="310896"/>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1">
            <a:extLst xmlns:a="http://schemas.openxmlformats.org/drawingml/2006/main">
              <a:ext uri="{FF2B5EF4-FFF2-40B4-BE49-F238E27FC236}">
                <a16:creationId xmlns:a16="http://schemas.microsoft.com/office/drawing/2014/main" id="{56A6C2D9-E1AA-433D-BEE1-59BDD40FDA41}"/>
              </a:ext>
            </a:extLst>
          </p:cNvPr>
          <p:cNvSpPr>
            <a:spLocks xmlns:a="http://schemas.openxmlformats.org/drawingml/2006/main" noGrp="1"/>
          </p:cNvSpPr>
          <p:nvPr/>
        </p:nvSpPr>
        <p:spPr>
          <a:xfrm xmlns:a="http://schemas.openxmlformats.org/drawingml/2006/main">
            <a:off x="9171432" y="1207008"/>
            <a:ext cx="1417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Noto Sans CJK JP"/>
                <a:ea typeface="Noto Sans CJK JP"/>
                <a:cs typeface="Noto Sans CJK JP"/>
              </a:rPr>
              <a:t>低PV条件</a:t>
            </a:r>
            <a:endParaRPr sz="1050"/>
          </a:p>
        </p:txBody>
      </p:sp>
      <p:pic>
        <p:nvPicPr>
          <p:cNvPr id="69" name="Image 5"/>
          <p:cNvPicPr>
            <a:picLocks xmlns:a="http://schemas.openxmlformats.org/drawingml/2006/main" noChangeAspect="1"/>
          </p:cNvPicPr>
          <p:nvPr/>
        </p:nvPicPr>
        <p:blipFill>
          <a:blip xmlns:r="http://schemas.openxmlformats.org/officeDocument/2006/relationships" xmlns:a="http://schemas.openxmlformats.org/drawingml/2006/main" r:embed="Rc0bb46deff8d436c">
            <a:extLst>
              <a:ext uri="{96DAC541-7B7A-43D3-8B79-37D633B846F1}">
                <asvg:svgBlip xmlns:asvg="http://schemas.microsoft.com/office/drawing/2016/SVG/main" r:embed="R80c78721a98541f2"/>
              </a:ext>
            </a:extLst>
          </a:blip>
          <a:stretch xmlns:a="http://schemas.openxmlformats.org/drawingml/2006/main">
            <a:fillRect l="0" t="0" r="0" b="0"/>
          </a:stretch>
        </p:blipFill>
        <p:spPr>
          <a:xfrm xmlns:a="http://schemas.openxmlformats.org/drawingml/2006/main">
            <a:off x="9491472" y="1865376"/>
            <a:ext cx="749808" cy="749808"/>
          </a:xfrm>
          <a:prstGeom xmlns:a="http://schemas.openxmlformats.org/drawingml/2006/main" prst="rect">
            <a:avLst/>
          </a:prstGeom>
        </p:spPr>
      </p:pic>
      <p:sp>
        <p:nvSpPr>
          <p:cNvPr id="30" name="Text 22">
            <a:extLst xmlns:a="http://schemas.openxmlformats.org/drawingml/2006/main">
              <a:ext uri="{FF2B5EF4-FFF2-40B4-BE49-F238E27FC236}">
                <a16:creationId xmlns:a16="http://schemas.microsoft.com/office/drawing/2014/main" id="{34528B09-6545-418A-AB06-D6144975C0EB}"/>
              </a:ext>
            </a:extLst>
          </p:cNvPr>
          <p:cNvSpPr>
            <a:spLocks xmlns:a="http://schemas.openxmlformats.org/drawingml/2006/main" noGrp="1"/>
          </p:cNvSpPr>
          <p:nvPr/>
        </p:nvSpPr>
        <p:spPr>
          <a:xfrm xmlns:a="http://schemas.openxmlformats.org/drawingml/2006/main">
            <a:off x="8851392" y="2761488"/>
            <a:ext cx="2057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xmlns:a="http://schemas.openxmlformats.org/drawingml/2006/main">
              <a:ext uri="{FF2B5EF4-FFF2-40B4-BE49-F238E27FC236}">
                <a16:creationId xmlns:a16="http://schemas.microsoft.com/office/drawing/2014/main" id="{BC010ACC-3FBE-4C7F-A3DD-1F0AB5F2E98F}"/>
              </a:ext>
            </a:extLst>
          </p:cNvPr>
          <p:cNvSpPr>
            <a:spLocks xmlns:a="http://schemas.openxmlformats.org/drawingml/2006/main" noGrp="1"/>
          </p:cNvSpPr>
          <p:nvPr/>
        </p:nvSpPr>
        <p:spPr>
          <a:xfrm xmlns:a="http://schemas.openxmlformats.org/drawingml/2006/main">
            <a:off x="8796528" y="3090672"/>
            <a:ext cx="21762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xmlns:a="http://schemas.openxmlformats.org/drawingml/2006/main">
              <a:ext uri="{FF2B5EF4-FFF2-40B4-BE49-F238E27FC236}">
                <a16:creationId xmlns:a16="http://schemas.microsoft.com/office/drawing/2014/main" id="{B120E4F1-7BA2-468E-AA50-6A069FBE30A4}"/>
              </a:ext>
            </a:extLst>
          </p:cNvPr>
          <p:cNvSpPr>
            <a:spLocks xmlns:a="http://schemas.openxmlformats.org/drawingml/2006/main" noGrp="1"/>
          </p:cNvSpPr>
          <p:nvPr/>
        </p:nvSpPr>
        <p:spPr>
          <a:xfrm xmlns:a="http://schemas.openxmlformats.org/drawingml/2006/main">
            <a:off x="8814816" y="3675888"/>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xmlns:a="http://schemas.openxmlformats.org/drawingml/2006/main">
              <a:ext uri="{FF2B5EF4-FFF2-40B4-BE49-F238E27FC236}">
                <a16:creationId xmlns:a16="http://schemas.microsoft.com/office/drawing/2014/main" id="{604802DF-C8BA-499C-981B-A983C0B7349F}"/>
              </a:ext>
            </a:extLst>
          </p:cNvPr>
          <p:cNvSpPr>
            <a:spLocks xmlns:a="http://schemas.openxmlformats.org/drawingml/2006/main" noGrp="1"/>
          </p:cNvSpPr>
          <p:nvPr/>
        </p:nvSpPr>
        <p:spPr>
          <a:xfrm xmlns:a="http://schemas.openxmlformats.org/drawingml/2006/main">
            <a:off x="8705088" y="4645152"/>
            <a:ext cx="23957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xmlns:a="http://schemas.openxmlformats.org/drawingml/2006/main">
              <a:ext uri="{FF2B5EF4-FFF2-40B4-BE49-F238E27FC236}">
                <a16:creationId xmlns:a16="http://schemas.microsoft.com/office/drawing/2014/main" id="{8A58085B-C98C-4042-8715-F9325929CED5}"/>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実験の範囲：一つの営業所・一つの平日時刻表・2種類のPV入力による比較</a:t>
            </a:r>
            <a:endParaRPr sz="720"/>
          </a:p>
        </p:txBody>
      </p:sp>
      <p:sp>
        <p:nvSpPr>
          <p:cNvPr id="41" name="">
            <a:extLst xmlns:a="http://schemas.openxmlformats.org/drawingml/2006/main">
              <a:ext uri="{FF2B5EF4-FFF2-40B4-BE49-F238E27FC236}">
                <a16:creationId xmlns:a16="http://schemas.microsoft.com/office/drawing/2014/main" id="{ADAC2B48-9506-459F-BAD8-4DFB85887E70}"/>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5576060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611CC51-BBB8-430F-A8D2-30D5FF794D46}"/>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研究手法：複数の配車案を作り、充電・電力運用まで確認して選ぶ</a:t>
            </a:r>
            <a:endParaRPr sz="2550"/>
          </a:p>
        </p:txBody>
      </p:sp>
      <p:sp>
        <p:nvSpPr>
          <p:cNvPr id="3" name="Shape 1">
            <a:extLst xmlns:a="http://schemas.openxmlformats.org/drawingml/2006/main">
              <a:ext uri="{FF2B5EF4-FFF2-40B4-BE49-F238E27FC236}">
                <a16:creationId xmlns:a16="http://schemas.microsoft.com/office/drawing/2014/main" id="{00E8DDDB-F48A-4F66-AF92-1EF12EAC5F41}"/>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B85F51F-B05F-4E74-B1B4-9BF5F86213B0}"/>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7C1E5D13-906A-47C2-8E60-B903F84094A5}"/>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5/18</a:t>
            </a:r>
            <a:endParaRPr sz="850"/>
          </a:p>
        </p:txBody>
      </p:sp>
      <p:sp>
        <p:nvSpPr>
          <p:cNvPr id="6" name="Text 4">
            <a:extLst xmlns:a="http://schemas.openxmlformats.org/drawingml/2006/main">
              <a:ext uri="{FF2B5EF4-FFF2-40B4-BE49-F238E27FC236}">
                <a16:creationId xmlns:a16="http://schemas.microsoft.com/office/drawing/2014/main" id="{5FDE74F6-31E0-44F9-BC1F-97A18FE9D589}"/>
              </a:ext>
            </a:extLst>
          </p:cNvPr>
          <p:cNvSpPr>
            <a:spLocks xmlns:a="http://schemas.openxmlformats.org/drawingml/2006/main" noGrp="1"/>
          </p:cNvSpPr>
          <p:nvPr/>
        </p:nvSpPr>
        <p:spPr>
          <a:xfrm xmlns:a="http://schemas.openxmlformats.org/drawingml/2006/main">
            <a:off x="731520" y="877824"/>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687386"/>
                </a:solidFill>
                <a:latin typeface="Noto Sans CJK JP"/>
                <a:ea typeface="Noto Sans CJK JP"/>
                <a:cs typeface="Noto Sans CJK JP"/>
              </a:rPr>
              <a:t>難しい数式を使わずに言うと、次の5段階の処理を行っている。</a:t>
            </a:r>
            <a:endParaRPr sz="1800"/>
          </a:p>
        </p:txBody>
      </p:sp>
      <p:sp>
        <p:nvSpPr>
          <p:cNvPr id="7" name="Shape 5">
            <a:extLst xmlns:a="http://schemas.openxmlformats.org/drawingml/2006/main">
              <a:ext uri="{FF2B5EF4-FFF2-40B4-BE49-F238E27FC236}">
                <a16:creationId xmlns:a16="http://schemas.microsoft.com/office/drawing/2014/main" id="{DE324359-C74F-4F68-A027-4F36DB9CBF23}"/>
              </a:ext>
            </a:extLst>
          </p:cNvPr>
          <p:cNvSpPr>
            <a:spLocks xmlns:a="http://schemas.openxmlformats.org/drawingml/2006/main" noGrp="1"/>
          </p:cNvSpPr>
          <p:nvPr/>
        </p:nvSpPr>
        <p:spPr>
          <a:xfrm xmlns:a="http://schemas.openxmlformats.org/drawingml/2006/main">
            <a:off x="502920" y="1508760"/>
            <a:ext cx="1965960" cy="3337560"/>
          </a:xfrm>
          <a:prstGeom xmlns:a="http://schemas.openxmlformats.org/drawingml/2006/main" prst="roundRect">
            <a:avLst>
              <a:gd name="adj" fmla="val 3721"/>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45" name="Image 0"/>
          <p:cNvPicPr>
            <a:picLocks xmlns:a="http://schemas.openxmlformats.org/drawingml/2006/main" noChangeAspect="1"/>
          </p:cNvPicPr>
          <p:nvPr/>
        </p:nvPicPr>
        <p:blipFill>
          <a:blip xmlns:r="http://schemas.openxmlformats.org/officeDocument/2006/relationships" xmlns:a="http://schemas.openxmlformats.org/drawingml/2006/main" r:embed="R47da1722cb014f44">
            <a:extLst>
              <a:ext uri="{96DAC541-7B7A-43D3-8B79-37D633B846F1}">
                <asvg:svgBlip xmlns:asvg="http://schemas.microsoft.com/office/drawing/2016/SVG/main" r:embed="R469794e9f3b74377"/>
              </a:ext>
            </a:extLst>
          </a:blip>
          <a:stretch xmlns:a="http://schemas.openxmlformats.org/drawingml/2006/main">
            <a:fillRect l="0" t="0" r="0" b="0"/>
          </a:stretch>
        </p:blipFill>
        <p:spPr>
          <a:xfrm xmlns:a="http://schemas.openxmlformats.org/drawingml/2006/main">
            <a:off x="1170432" y="1810512"/>
            <a:ext cx="640080" cy="64008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647AF187-34DA-4BAE-AA7F-049E310F2FD1}"/>
              </a:ext>
            </a:extLst>
          </p:cNvPr>
          <p:cNvSpPr>
            <a:spLocks xmlns:a="http://schemas.openxmlformats.org/drawingml/2006/main" noGrp="1"/>
          </p:cNvSpPr>
          <p:nvPr/>
        </p:nvSpPr>
        <p:spPr>
          <a:xfrm xmlns:a="http://schemas.openxmlformats.org/drawingml/2006/main">
            <a:off x="66751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① 入力を読み込む</a:t>
            </a:r>
            <a:endParaRPr sz="1750"/>
          </a:p>
        </p:txBody>
      </p:sp>
      <p:sp>
        <p:nvSpPr>
          <p:cNvPr id="10" name="Text 7">
            <a:extLst xmlns:a="http://schemas.openxmlformats.org/drawingml/2006/main">
              <a:ext uri="{FF2B5EF4-FFF2-40B4-BE49-F238E27FC236}">
                <a16:creationId xmlns:a16="http://schemas.microsoft.com/office/drawing/2014/main" id="{BCA7CBCA-495D-4A51-925E-28C085F4437B}"/>
              </a:ext>
            </a:extLst>
          </p:cNvPr>
          <p:cNvSpPr>
            <a:spLocks xmlns:a="http://schemas.openxmlformats.org/drawingml/2006/main" noGrp="1"/>
          </p:cNvSpPr>
          <p:nvPr/>
        </p:nvSpPr>
        <p:spPr>
          <a:xfrm xmlns:a="http://schemas.openxmlformats.org/drawingml/2006/main">
            <a:off x="66751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時刻表・車両・充電器・</a:t>
            </a:r>
            <a:endParaRPr sz="1420"/>
          </a:p>
          <a:p xmlns:a="http://schemas.openxmlformats.org/drawingml/2006/main">
            <a:pPr marL="0" indent="0" algn="ctr">
              <a:buNone/>
            </a:pPr>
            <a:r>
              <a:rPr sz="1420">
                <a:solidFill>
                  <a:srgbClr val="687386"/>
                </a:solidFill>
                <a:latin typeface="Noto Sans CJK JP"/>
                <a:ea typeface="Noto Sans CJK JP"/>
                <a:cs typeface="Noto Sans CJK JP"/>
              </a:rPr>
              <a:t>PV・蓄電池</a:t>
            </a:r>
            <a:endParaRPr sz="1420"/>
          </a:p>
        </p:txBody>
      </p:sp>
      <p:sp>
        <p:nvSpPr>
          <p:cNvPr id="11" name="Shape 8">
            <a:extLst xmlns:a="http://schemas.openxmlformats.org/drawingml/2006/main">
              <a:ext uri="{FF2B5EF4-FFF2-40B4-BE49-F238E27FC236}">
                <a16:creationId xmlns:a16="http://schemas.microsoft.com/office/drawing/2014/main" id="{580BE62E-94C8-47F9-870E-CDC70E3A54FA}"/>
              </a:ext>
            </a:extLst>
          </p:cNvPr>
          <p:cNvSpPr>
            <a:spLocks xmlns:a="http://schemas.openxmlformats.org/drawingml/2006/main" noGrp="1"/>
          </p:cNvSpPr>
          <p:nvPr/>
        </p:nvSpPr>
        <p:spPr>
          <a:xfrm xmlns:a="http://schemas.openxmlformats.org/drawingml/2006/main">
            <a:off x="2478024" y="2852928"/>
            <a:ext cx="320040"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4A276DA4-246E-4138-AB57-AC5DFD73F3AA}"/>
              </a:ext>
            </a:extLst>
          </p:cNvPr>
          <p:cNvSpPr>
            <a:spLocks xmlns:a="http://schemas.openxmlformats.org/drawingml/2006/main" noGrp="1"/>
          </p:cNvSpPr>
          <p:nvPr/>
        </p:nvSpPr>
        <p:spPr>
          <a:xfrm xmlns:a="http://schemas.openxmlformats.org/drawingml/2006/main">
            <a:off x="2834640" y="1508760"/>
            <a:ext cx="1965960" cy="333756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50" name="Image 1"/>
          <p:cNvPicPr>
            <a:picLocks xmlns:a="http://schemas.openxmlformats.org/drawingml/2006/main" noChangeAspect="1"/>
          </p:cNvPicPr>
          <p:nvPr/>
        </p:nvPicPr>
        <p:blipFill>
          <a:blip xmlns:r="http://schemas.openxmlformats.org/officeDocument/2006/relationships" xmlns:a="http://schemas.openxmlformats.org/drawingml/2006/main" r:embed="R50c2ebdbd9c8472d">
            <a:extLst>
              <a:ext uri="{96DAC541-7B7A-43D3-8B79-37D633B846F1}">
                <asvg:svgBlip xmlns:asvg="http://schemas.microsoft.com/office/drawing/2016/SVG/main" r:embed="R13e3d73c9b5244e6"/>
              </a:ext>
            </a:extLst>
          </a:blip>
          <a:stretch xmlns:a="http://schemas.openxmlformats.org/drawingml/2006/main">
            <a:fillRect l="0" t="0" r="0" b="0"/>
          </a:stretch>
        </p:blipFill>
        <p:spPr>
          <a:xfrm xmlns:a="http://schemas.openxmlformats.org/drawingml/2006/main">
            <a:off x="3502152" y="1810512"/>
            <a:ext cx="640080" cy="640080"/>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EEF1F650-259A-40B4-B57C-18575D1A9F67}"/>
              </a:ext>
            </a:extLst>
          </p:cNvPr>
          <p:cNvSpPr>
            <a:spLocks xmlns:a="http://schemas.openxmlformats.org/drawingml/2006/main" noGrp="1"/>
          </p:cNvSpPr>
          <p:nvPr/>
        </p:nvSpPr>
        <p:spPr>
          <a:xfrm xmlns:a="http://schemas.openxmlformats.org/drawingml/2006/main">
            <a:off x="299923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② 配車案を作る</a:t>
            </a:r>
            <a:endParaRPr sz="1750"/>
          </a:p>
        </p:txBody>
      </p:sp>
      <p:sp>
        <p:nvSpPr>
          <p:cNvPr id="15" name="Text 11">
            <a:extLst xmlns:a="http://schemas.openxmlformats.org/drawingml/2006/main">
              <a:ext uri="{FF2B5EF4-FFF2-40B4-BE49-F238E27FC236}">
                <a16:creationId xmlns:a16="http://schemas.microsoft.com/office/drawing/2014/main" id="{6756E98D-143F-43F6-8029-DC4CA7790236}"/>
              </a:ext>
            </a:extLst>
          </p:cNvPr>
          <p:cNvSpPr>
            <a:spLocks xmlns:a="http://schemas.openxmlformats.org/drawingml/2006/main" noGrp="1"/>
          </p:cNvSpPr>
          <p:nvPr/>
        </p:nvSpPr>
        <p:spPr>
          <a:xfrm xmlns:a="http://schemas.openxmlformats.org/drawingml/2006/main">
            <a:off x="299923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BEV／ICEの担当を</a:t>
            </a:r>
            <a:endParaRPr sz="1420"/>
          </a:p>
          <a:p xmlns:a="http://schemas.openxmlformats.org/drawingml/2006/main">
            <a:pPr marL="0" indent="0" algn="ctr">
              <a:buNone/>
            </a:pPr>
            <a:r>
              <a:rPr sz="1420">
                <a:solidFill>
                  <a:srgbClr val="687386"/>
                </a:solidFill>
                <a:latin typeface="Noto Sans CJK JP"/>
                <a:ea typeface="Noto Sans CJK JP"/>
                <a:cs typeface="Noto Sans CJK JP"/>
              </a:rPr>
              <a:t>複数案つくる</a:t>
            </a:r>
            <a:endParaRPr sz="1420"/>
          </a:p>
        </p:txBody>
      </p:sp>
      <p:sp>
        <p:nvSpPr>
          <p:cNvPr id="16" name="Shape 12">
            <a:extLst xmlns:a="http://schemas.openxmlformats.org/drawingml/2006/main">
              <a:ext uri="{FF2B5EF4-FFF2-40B4-BE49-F238E27FC236}">
                <a16:creationId xmlns:a16="http://schemas.microsoft.com/office/drawing/2014/main" id="{6A5EA1B4-EE94-460C-B88E-D05A62DE71F3}"/>
              </a:ext>
            </a:extLst>
          </p:cNvPr>
          <p:cNvSpPr>
            <a:spLocks xmlns:a="http://schemas.openxmlformats.org/drawingml/2006/main" noGrp="1"/>
          </p:cNvSpPr>
          <p:nvPr/>
        </p:nvSpPr>
        <p:spPr>
          <a:xfrm xmlns:a="http://schemas.openxmlformats.org/drawingml/2006/main">
            <a:off x="4809744" y="2852928"/>
            <a:ext cx="320040"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3">
            <a:extLst xmlns:a="http://schemas.openxmlformats.org/drawingml/2006/main">
              <a:ext uri="{FF2B5EF4-FFF2-40B4-BE49-F238E27FC236}">
                <a16:creationId xmlns:a16="http://schemas.microsoft.com/office/drawing/2014/main" id="{29AEBF62-DBE7-423D-B294-EFB91E666685}"/>
              </a:ext>
            </a:extLst>
          </p:cNvPr>
          <p:cNvSpPr>
            <a:spLocks xmlns:a="http://schemas.openxmlformats.org/drawingml/2006/main" noGrp="1"/>
          </p:cNvSpPr>
          <p:nvPr/>
        </p:nvSpPr>
        <p:spPr>
          <a:xfrm xmlns:a="http://schemas.openxmlformats.org/drawingml/2006/main">
            <a:off x="5166360" y="1508760"/>
            <a:ext cx="1965960" cy="3337560"/>
          </a:xfrm>
          <a:prstGeom xmlns:a="http://schemas.openxmlformats.org/drawingml/2006/main" prst="roundRect">
            <a:avLst>
              <a:gd name="adj" fmla="val 3721"/>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55" name="Image 2"/>
          <p:cNvPicPr>
            <a:picLocks xmlns:a="http://schemas.openxmlformats.org/drawingml/2006/main" noChangeAspect="1"/>
          </p:cNvPicPr>
          <p:nvPr/>
        </p:nvPicPr>
        <p:blipFill>
          <a:blip xmlns:r="http://schemas.openxmlformats.org/officeDocument/2006/relationships" xmlns:a="http://schemas.openxmlformats.org/drawingml/2006/main" r:embed="Rafa00d890b6a4e24">
            <a:extLst>
              <a:ext uri="{96DAC541-7B7A-43D3-8B79-37D633B846F1}">
                <asvg:svgBlip xmlns:asvg="http://schemas.microsoft.com/office/drawing/2016/SVG/main" r:embed="R592ee2a22d764c45"/>
              </a:ext>
            </a:extLst>
          </a:blip>
          <a:stretch xmlns:a="http://schemas.openxmlformats.org/drawingml/2006/main">
            <a:fillRect l="0" t="0" r="0" b="0"/>
          </a:stretch>
        </p:blipFill>
        <p:spPr>
          <a:xfrm xmlns:a="http://schemas.openxmlformats.org/drawingml/2006/main">
            <a:off x="5833872" y="1810512"/>
            <a:ext cx="640080" cy="640080"/>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23F9BC44-4649-4B9C-81FF-3F806D1E09A4}"/>
              </a:ext>
            </a:extLst>
          </p:cNvPr>
          <p:cNvSpPr>
            <a:spLocks xmlns:a="http://schemas.openxmlformats.org/drawingml/2006/main" noGrp="1"/>
          </p:cNvSpPr>
          <p:nvPr/>
        </p:nvSpPr>
        <p:spPr>
          <a:xfrm xmlns:a="http://schemas.openxmlformats.org/drawingml/2006/main">
            <a:off x="533095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③ 電力を調整する</a:t>
            </a:r>
            <a:endParaRPr sz="1750"/>
          </a:p>
        </p:txBody>
      </p:sp>
      <p:sp>
        <p:nvSpPr>
          <p:cNvPr id="20" name="Text 15">
            <a:extLst xmlns:a="http://schemas.openxmlformats.org/drawingml/2006/main">
              <a:ext uri="{FF2B5EF4-FFF2-40B4-BE49-F238E27FC236}">
                <a16:creationId xmlns:a16="http://schemas.microsoft.com/office/drawing/2014/main" id="{98991A5C-2767-438A-8364-9B55A4F79C40}"/>
              </a:ext>
            </a:extLst>
          </p:cNvPr>
          <p:cNvSpPr>
            <a:spLocks xmlns:a="http://schemas.openxmlformats.org/drawingml/2006/main" noGrp="1"/>
          </p:cNvSpPr>
          <p:nvPr/>
        </p:nvSpPr>
        <p:spPr>
          <a:xfrm xmlns:a="http://schemas.openxmlformats.org/drawingml/2006/main">
            <a:off x="533095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各案について充電・</a:t>
            </a:r>
            <a:endParaRPr sz="1420"/>
          </a:p>
          <a:p xmlns:a="http://schemas.openxmlformats.org/drawingml/2006/main">
            <a:pPr marL="0" indent="0" algn="ctr">
              <a:buNone/>
            </a:pPr>
            <a:r>
              <a:rPr sz="1420">
                <a:solidFill>
                  <a:srgbClr val="687386"/>
                </a:solidFill>
                <a:latin typeface="Noto Sans CJK JP"/>
                <a:ea typeface="Noto Sans CJK JP"/>
                <a:cs typeface="Noto Sans CJK JP"/>
              </a:rPr>
              <a:t>PV・BESSを調整</a:t>
            </a:r>
            <a:endParaRPr sz="1420"/>
          </a:p>
        </p:txBody>
      </p:sp>
      <p:sp>
        <p:nvSpPr>
          <p:cNvPr id="21" name="Shape 16">
            <a:extLst xmlns:a="http://schemas.openxmlformats.org/drawingml/2006/main">
              <a:ext uri="{FF2B5EF4-FFF2-40B4-BE49-F238E27FC236}">
                <a16:creationId xmlns:a16="http://schemas.microsoft.com/office/drawing/2014/main" id="{284DB14E-B205-4906-9978-86A70E67F261}"/>
              </a:ext>
            </a:extLst>
          </p:cNvPr>
          <p:cNvSpPr>
            <a:spLocks xmlns:a="http://schemas.openxmlformats.org/drawingml/2006/main" noGrp="1"/>
          </p:cNvSpPr>
          <p:nvPr/>
        </p:nvSpPr>
        <p:spPr>
          <a:xfrm xmlns:a="http://schemas.openxmlformats.org/drawingml/2006/main">
            <a:off x="7141464" y="2852928"/>
            <a:ext cx="320040"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hape 17">
            <a:extLst xmlns:a="http://schemas.openxmlformats.org/drawingml/2006/main">
              <a:ext uri="{FF2B5EF4-FFF2-40B4-BE49-F238E27FC236}">
                <a16:creationId xmlns:a16="http://schemas.microsoft.com/office/drawing/2014/main" id="{46B185E5-E231-4CD4-8FAD-8CFA9FBB12E2}"/>
              </a:ext>
            </a:extLst>
          </p:cNvPr>
          <p:cNvSpPr>
            <a:spLocks xmlns:a="http://schemas.openxmlformats.org/drawingml/2006/main" noGrp="1"/>
          </p:cNvSpPr>
          <p:nvPr/>
        </p:nvSpPr>
        <p:spPr>
          <a:xfrm xmlns:a="http://schemas.openxmlformats.org/drawingml/2006/main">
            <a:off x="7498080" y="1508760"/>
            <a:ext cx="1965960" cy="333756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60" name="Image 3"/>
          <p:cNvPicPr>
            <a:picLocks xmlns:a="http://schemas.openxmlformats.org/drawingml/2006/main" noChangeAspect="1"/>
          </p:cNvPicPr>
          <p:nvPr/>
        </p:nvPicPr>
        <p:blipFill>
          <a:blip xmlns:r="http://schemas.openxmlformats.org/officeDocument/2006/relationships" xmlns:a="http://schemas.openxmlformats.org/drawingml/2006/main" r:embed="Rb7f4a28a061e48eb">
            <a:extLst>
              <a:ext uri="{96DAC541-7B7A-43D3-8B79-37D633B846F1}">
                <asvg:svgBlip xmlns:asvg="http://schemas.microsoft.com/office/drawing/2016/SVG/main" r:embed="R7e52b8af5fdd4aaf"/>
              </a:ext>
            </a:extLst>
          </a:blip>
          <a:stretch xmlns:a="http://schemas.openxmlformats.org/drawingml/2006/main">
            <a:fillRect l="0" t="0" r="0" b="0"/>
          </a:stretch>
        </p:blipFill>
        <p:spPr>
          <a:xfrm xmlns:a="http://schemas.openxmlformats.org/drawingml/2006/main">
            <a:off x="8165592" y="1810512"/>
            <a:ext cx="640080" cy="640080"/>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4E013D70-65D5-4182-AC1C-877041329BFB}"/>
              </a:ext>
            </a:extLst>
          </p:cNvPr>
          <p:cNvSpPr>
            <a:spLocks xmlns:a="http://schemas.openxmlformats.org/drawingml/2006/main" noGrp="1"/>
          </p:cNvSpPr>
          <p:nvPr/>
        </p:nvSpPr>
        <p:spPr>
          <a:xfrm xmlns:a="http://schemas.openxmlformats.org/drawingml/2006/main">
            <a:off x="766267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④ 1時間ごとに見直す</a:t>
            </a:r>
            <a:endParaRPr sz="1750"/>
          </a:p>
        </p:txBody>
      </p:sp>
      <p:sp>
        <p:nvSpPr>
          <p:cNvPr id="25" name="Text 19">
            <a:extLst xmlns:a="http://schemas.openxmlformats.org/drawingml/2006/main">
              <a:ext uri="{FF2B5EF4-FFF2-40B4-BE49-F238E27FC236}">
                <a16:creationId xmlns:a16="http://schemas.microsoft.com/office/drawing/2014/main" id="{6EDC7F66-EB4E-43E1-B8E8-B75CB81564CA}"/>
              </a:ext>
            </a:extLst>
          </p:cNvPr>
          <p:cNvSpPr>
            <a:spLocks xmlns:a="http://schemas.openxmlformats.org/drawingml/2006/main" noGrp="1"/>
          </p:cNvSpPr>
          <p:nvPr/>
        </p:nvSpPr>
        <p:spPr>
          <a:xfrm xmlns:a="http://schemas.openxmlformats.org/drawingml/2006/main">
            <a:off x="766267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実際に進む時間に合わせて</a:t>
            </a:r>
            <a:endParaRPr sz="1420"/>
          </a:p>
          <a:p xmlns:a="http://schemas.openxmlformats.org/drawingml/2006/main">
            <a:pPr marL="0" indent="0" algn="ctr">
              <a:buNone/>
            </a:pPr>
            <a:r>
              <a:rPr sz="1420">
                <a:solidFill>
                  <a:srgbClr val="687386"/>
                </a:solidFill>
                <a:latin typeface="Noto Sans CJK JP"/>
                <a:ea typeface="Noto Sans CJK JP"/>
                <a:cs typeface="Noto Sans CJK JP"/>
              </a:rPr>
              <a:t>残りの運用を再計算</a:t>
            </a:r>
            <a:endParaRPr sz="1420"/>
          </a:p>
        </p:txBody>
      </p:sp>
      <p:sp>
        <p:nvSpPr>
          <p:cNvPr id="26" name="Shape 20">
            <a:extLst xmlns:a="http://schemas.openxmlformats.org/drawingml/2006/main">
              <a:ext uri="{FF2B5EF4-FFF2-40B4-BE49-F238E27FC236}">
                <a16:creationId xmlns:a16="http://schemas.microsoft.com/office/drawing/2014/main" id="{90590868-0570-47E5-A7CC-FDC791AFC918}"/>
              </a:ext>
            </a:extLst>
          </p:cNvPr>
          <p:cNvSpPr>
            <a:spLocks xmlns:a="http://schemas.openxmlformats.org/drawingml/2006/main" noGrp="1"/>
          </p:cNvSpPr>
          <p:nvPr/>
        </p:nvSpPr>
        <p:spPr>
          <a:xfrm xmlns:a="http://schemas.openxmlformats.org/drawingml/2006/main">
            <a:off x="9473184" y="2852928"/>
            <a:ext cx="320040"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Shape 21">
            <a:extLst xmlns:a="http://schemas.openxmlformats.org/drawingml/2006/main">
              <a:ext uri="{FF2B5EF4-FFF2-40B4-BE49-F238E27FC236}">
                <a16:creationId xmlns:a16="http://schemas.microsoft.com/office/drawing/2014/main" id="{C9F9C6DA-B5CF-4088-953D-F35092E6EFF2}"/>
              </a:ext>
            </a:extLst>
          </p:cNvPr>
          <p:cNvSpPr>
            <a:spLocks xmlns:a="http://schemas.openxmlformats.org/drawingml/2006/main" noGrp="1"/>
          </p:cNvSpPr>
          <p:nvPr/>
        </p:nvSpPr>
        <p:spPr>
          <a:xfrm xmlns:a="http://schemas.openxmlformats.org/drawingml/2006/main">
            <a:off x="9829800" y="1508760"/>
            <a:ext cx="1965960" cy="3337560"/>
          </a:xfrm>
          <a:prstGeom xmlns:a="http://schemas.openxmlformats.org/drawingml/2006/main" prst="roundRect">
            <a:avLst>
              <a:gd name="adj" fmla="val 3721"/>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65" name="Image 4"/>
          <p:cNvPicPr>
            <a:picLocks xmlns:a="http://schemas.openxmlformats.org/drawingml/2006/main" noChangeAspect="1"/>
          </p:cNvPicPr>
          <p:nvPr/>
        </p:nvPicPr>
        <p:blipFill>
          <a:blip xmlns:r="http://schemas.openxmlformats.org/officeDocument/2006/relationships" xmlns:a="http://schemas.openxmlformats.org/drawingml/2006/main" r:embed="Re31b6bde02a4464a">
            <a:extLst>
              <a:ext uri="{96DAC541-7B7A-43D3-8B79-37D633B846F1}">
                <asvg:svgBlip xmlns:asvg="http://schemas.microsoft.com/office/drawing/2016/SVG/main" r:embed="R135fe2cb3db84675"/>
              </a:ext>
            </a:extLst>
          </a:blip>
          <a:stretch xmlns:a="http://schemas.openxmlformats.org/drawingml/2006/main">
            <a:fillRect l="0" t="0" r="0" b="0"/>
          </a:stretch>
        </p:blipFill>
        <p:spPr>
          <a:xfrm xmlns:a="http://schemas.openxmlformats.org/drawingml/2006/main">
            <a:off x="10497312" y="1810512"/>
            <a:ext cx="640080" cy="64008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6963AE8C-C471-47C0-BF08-632B669E5F5E}"/>
              </a:ext>
            </a:extLst>
          </p:cNvPr>
          <p:cNvSpPr>
            <a:spLocks xmlns:a="http://schemas.openxmlformats.org/drawingml/2006/main" noGrp="1"/>
          </p:cNvSpPr>
          <p:nvPr/>
        </p:nvSpPr>
        <p:spPr>
          <a:xfrm xmlns:a="http://schemas.openxmlformats.org/drawingml/2006/main">
            <a:off x="999439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⑤ 結果を検算する</a:t>
            </a:r>
            <a:endParaRPr sz="1750"/>
          </a:p>
        </p:txBody>
      </p:sp>
      <p:sp>
        <p:nvSpPr>
          <p:cNvPr id="30" name="Text 23">
            <a:extLst xmlns:a="http://schemas.openxmlformats.org/drawingml/2006/main">
              <a:ext uri="{FF2B5EF4-FFF2-40B4-BE49-F238E27FC236}">
                <a16:creationId xmlns:a16="http://schemas.microsoft.com/office/drawing/2014/main" id="{B704E94B-D246-4E65-85E0-1EF0589216BB}"/>
              </a:ext>
            </a:extLst>
          </p:cNvPr>
          <p:cNvSpPr>
            <a:spLocks xmlns:a="http://schemas.openxmlformats.org/drawingml/2006/main" noGrp="1"/>
          </p:cNvSpPr>
          <p:nvPr/>
        </p:nvSpPr>
        <p:spPr>
          <a:xfrm xmlns:a="http://schemas.openxmlformats.org/drawingml/2006/main">
            <a:off x="999439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全便・SOC・電力・費用が</a:t>
            </a:r>
            <a:endParaRPr sz="1420"/>
          </a:p>
          <a:p xmlns:a="http://schemas.openxmlformats.org/drawingml/2006/main">
            <a:pPr marL="0" indent="0" algn="ctr">
              <a:buNone/>
            </a:pPr>
            <a:r>
              <a:rPr sz="1420">
                <a:solidFill>
                  <a:srgbClr val="687386"/>
                </a:solidFill>
                <a:latin typeface="Noto Sans CJK JP"/>
                <a:ea typeface="Noto Sans CJK JP"/>
                <a:cs typeface="Noto Sans CJK JP"/>
              </a:rPr>
              <a:t>矛盾していないか確認</a:t>
            </a:r>
            <a:endParaRPr sz="1420"/>
          </a:p>
        </p:txBody>
      </p:sp>
      <p:sp>
        <p:nvSpPr>
          <p:cNvPr id="31" name="Shape 24">
            <a:extLst xmlns:a="http://schemas.openxmlformats.org/drawingml/2006/main">
              <a:ext uri="{FF2B5EF4-FFF2-40B4-BE49-F238E27FC236}">
                <a16:creationId xmlns:a16="http://schemas.microsoft.com/office/drawing/2014/main" id="{3A83D345-3691-4131-B9E4-449E4BA764A4}"/>
              </a:ext>
            </a:extLst>
          </p:cNvPr>
          <p:cNvSpPr>
            <a:spLocks xmlns:a="http://schemas.openxmlformats.org/drawingml/2006/main" noGrp="1"/>
          </p:cNvSpPr>
          <p:nvPr/>
        </p:nvSpPr>
        <p:spPr>
          <a:xfrm xmlns:a="http://schemas.openxmlformats.org/drawingml/2006/main">
            <a:off x="1143000" y="5257800"/>
            <a:ext cx="9875520" cy="658368"/>
          </a:xfrm>
          <a:prstGeom xmlns:a="http://schemas.openxmlformats.org/drawingml/2006/main" prst="roundRect">
            <a:avLst/>
          </a:prstGeom>
          <a:solidFill xmlns:a="http://schemas.openxmlformats.org/drawingml/2006/main">
            <a:srgbClr val="EAF2FB"/>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5">
            <a:extLst xmlns:a="http://schemas.openxmlformats.org/drawingml/2006/main">
              <a:ext uri="{FF2B5EF4-FFF2-40B4-BE49-F238E27FC236}">
                <a16:creationId xmlns:a16="http://schemas.microsoft.com/office/drawing/2014/main" id="{2FC55EBA-C1C7-44D6-9C46-3828DD6E9DCF}"/>
              </a:ext>
            </a:extLst>
          </p:cNvPr>
          <p:cNvSpPr>
            <a:spLocks xmlns:a="http://schemas.openxmlformats.org/drawingml/2006/main" noGrp="1"/>
          </p:cNvSpPr>
          <p:nvPr/>
        </p:nvSpPr>
        <p:spPr>
          <a:xfrm xmlns:a="http://schemas.openxmlformats.org/drawingml/2006/main">
            <a:off x="1417320" y="5431536"/>
            <a:ext cx="9326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1F2A5A"/>
                </a:solidFill>
                <a:latin typeface="Noto Sans CJK JP"/>
                <a:ea typeface="Noto Sans CJK JP"/>
                <a:cs typeface="Noto Sans CJK JP"/>
              </a:rPr>
              <a:t>ここでいう「最適化」＝ 条件を守りながら、より良い組合せをコンピュータで探す処理</a:t>
            </a:r>
            <a:endParaRPr sz="1800"/>
          </a:p>
        </p:txBody>
      </p:sp>
      <p:sp>
        <p:nvSpPr>
          <p:cNvPr id="38" name="">
            <a:extLst xmlns:a="http://schemas.openxmlformats.org/drawingml/2006/main">
              <a:ext uri="{FF2B5EF4-FFF2-40B4-BE49-F238E27FC236}">
                <a16:creationId xmlns:a16="http://schemas.microsoft.com/office/drawing/2014/main" id="{D06EFEF5-E3C5-49BF-91F4-38D31BBF6A3F}"/>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20926198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E55EA0-60DE-48CD-AF68-3C5A0635E178}"/>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設定パラメータ①：運行・車両・営業所設備</a:t>
            </a:r>
            <a:endParaRPr sz="2550"/>
          </a:p>
        </p:txBody>
      </p:sp>
      <p:sp>
        <p:nvSpPr>
          <p:cNvPr id="3" name="Shape 1">
            <a:extLst xmlns:a="http://schemas.openxmlformats.org/drawingml/2006/main">
              <a:ext uri="{FF2B5EF4-FFF2-40B4-BE49-F238E27FC236}">
                <a16:creationId xmlns:a16="http://schemas.microsoft.com/office/drawing/2014/main" id="{6377CBF2-E340-4D5F-B114-486FF1A3DD4A}"/>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30501D9-4CFD-472C-8791-B4A9FA69F9A2}"/>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351F0D5A-13D5-4AE5-B027-61C46E448DDE}"/>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6/18</a:t>
            </a:r>
            <a:endParaRPr sz="850"/>
          </a:p>
        </p:txBody>
      </p:sp>
      <p:sp>
        <p:nvSpPr>
          <p:cNvPr id="6" name="Text 4">
            <a:extLst xmlns:a="http://schemas.openxmlformats.org/drawingml/2006/main">
              <a:ext uri="{FF2B5EF4-FFF2-40B4-BE49-F238E27FC236}">
                <a16:creationId xmlns:a16="http://schemas.microsoft.com/office/drawing/2014/main" id="{A1E56278-C0BB-478E-9E3C-08945678ED11}"/>
              </a:ext>
            </a:extLst>
          </p:cNvPr>
          <p:cNvSpPr>
            <a:spLocks xmlns:a="http://schemas.openxmlformats.org/drawingml/2006/main" noGrp="1"/>
          </p:cNvSpPr>
          <p:nvPr/>
        </p:nvSpPr>
        <p:spPr>
          <a:xfrm xmlns:a="http://schemas.openxmlformats.org/drawingml/2006/main">
            <a:off x="685800" y="841248"/>
            <a:ext cx="10835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a:solidFill>
                  <a:srgbClr val="687386"/>
                </a:solidFill>
                <a:latin typeface="Noto Sans CJK JP"/>
                <a:ea typeface="Noto Sans CJK JP"/>
                <a:cs typeface="Noto Sans CJK JP"/>
              </a:rPr>
              <a:t>※ SOC上限90%は保存実行へ反映されていない。補足17で不一致を報告。</a:t>
            </a:r>
            <a:endParaRPr sz="1700"/>
          </a:p>
        </p:txBody>
      </p:sp>
      <p:sp>
        <p:nvSpPr>
          <p:cNvPr id="7" name="Shape 5">
            <a:extLst xmlns:a="http://schemas.openxmlformats.org/drawingml/2006/main">
              <a:ext uri="{FF2B5EF4-FFF2-40B4-BE49-F238E27FC236}">
                <a16:creationId xmlns:a16="http://schemas.microsoft.com/office/drawing/2014/main" id="{17C7279C-34E9-4011-96FE-C4956DFDF709}"/>
              </a:ext>
            </a:extLst>
          </p:cNvPr>
          <p:cNvSpPr>
            <a:spLocks xmlns:a="http://schemas.openxmlformats.org/drawingml/2006/main" noGrp="1"/>
          </p:cNvSpPr>
          <p:nvPr/>
        </p:nvSpPr>
        <p:spPr>
          <a:xfrm xmlns:a="http://schemas.openxmlformats.org/drawingml/2006/main">
            <a:off x="621792" y="1234440"/>
            <a:ext cx="3611880" cy="489204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CE16B03B-10DB-4FD2-B128-719799BEEF81}"/>
              </a:ext>
            </a:extLst>
          </p:cNvPr>
          <p:cNvSpPr>
            <a:spLocks xmlns:a="http://schemas.openxmlformats.org/drawingml/2006/main" noGrp="1"/>
          </p:cNvSpPr>
          <p:nvPr/>
        </p:nvSpPr>
        <p:spPr>
          <a:xfrm xmlns:a="http://schemas.openxmlformats.org/drawingml/2006/main">
            <a:off x="621792" y="1234440"/>
            <a:ext cx="3611880" cy="438912"/>
          </a:xfrm>
          <a:prstGeom xmlns:a="http://schemas.openxmlformats.org/drawingml/2006/main" prst="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1272C48E-0ED1-4809-A14A-1A9435ED9BBD}"/>
              </a:ext>
            </a:extLst>
          </p:cNvPr>
          <p:cNvSpPr>
            <a:spLocks xmlns:a="http://schemas.openxmlformats.org/drawingml/2006/main" noGrp="1"/>
          </p:cNvSpPr>
          <p:nvPr/>
        </p:nvSpPr>
        <p:spPr>
          <a:xfrm xmlns:a="http://schemas.openxmlformats.org/drawingml/2006/main">
            <a:off x="731520" y="1298448"/>
            <a:ext cx="33924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運行条件</a:t>
            </a:r>
            <a:endParaRPr sz="1650"/>
          </a:p>
        </p:txBody>
      </p:sp>
      <p:sp>
        <p:nvSpPr>
          <p:cNvPr id="10" name="Shape 8">
            <a:extLst xmlns:a="http://schemas.openxmlformats.org/drawingml/2006/main">
              <a:ext uri="{FF2B5EF4-FFF2-40B4-BE49-F238E27FC236}">
                <a16:creationId xmlns:a16="http://schemas.microsoft.com/office/drawing/2014/main" id="{45277114-C237-4717-83E5-5465567C9153}"/>
              </a:ext>
            </a:extLst>
          </p:cNvPr>
          <p:cNvSpPr>
            <a:spLocks xmlns:a="http://schemas.openxmlformats.org/drawingml/2006/main" noGrp="1"/>
          </p:cNvSpPr>
          <p:nvPr/>
        </p:nvSpPr>
        <p:spPr>
          <a:xfrm xmlns:a="http://schemas.openxmlformats.org/drawingml/2006/main">
            <a:off x="694944" y="1764792"/>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41C5AC5A-A64D-4C1C-8940-7017521BD539}"/>
              </a:ext>
            </a:extLst>
          </p:cNvPr>
          <p:cNvSpPr>
            <a:spLocks xmlns:a="http://schemas.openxmlformats.org/drawingml/2006/main" noGrp="1"/>
          </p:cNvSpPr>
          <p:nvPr/>
        </p:nvSpPr>
        <p:spPr>
          <a:xfrm xmlns:a="http://schemas.openxmlformats.org/drawingml/2006/main">
            <a:off x="777240" y="180136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対象営業所</a:t>
            </a:r>
            <a:endParaRPr sz="1230"/>
          </a:p>
        </p:txBody>
      </p:sp>
      <p:sp>
        <p:nvSpPr>
          <p:cNvPr id="12" name="Text 10">
            <a:extLst xmlns:a="http://schemas.openxmlformats.org/drawingml/2006/main">
              <a:ext uri="{FF2B5EF4-FFF2-40B4-BE49-F238E27FC236}">
                <a16:creationId xmlns:a16="http://schemas.microsoft.com/office/drawing/2014/main" id="{9EB5C8D9-B3F0-4D18-9E79-038655EF3FCC}"/>
              </a:ext>
            </a:extLst>
          </p:cNvPr>
          <p:cNvSpPr>
            <a:spLocks xmlns:a="http://schemas.openxmlformats.org/drawingml/2006/main" noGrp="1"/>
          </p:cNvSpPr>
          <p:nvPr/>
        </p:nvSpPr>
        <p:spPr>
          <a:xfrm xmlns:a="http://schemas.openxmlformats.org/drawingml/2006/main">
            <a:off x="2138782" y="180136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弦巻営業所</a:t>
            </a:r>
            <a:endParaRPr sz="1230"/>
          </a:p>
        </p:txBody>
      </p:sp>
      <p:sp>
        <p:nvSpPr>
          <p:cNvPr id="13" name="Text 11">
            <a:extLst xmlns:a="http://schemas.openxmlformats.org/drawingml/2006/main">
              <a:ext uri="{FF2B5EF4-FFF2-40B4-BE49-F238E27FC236}">
                <a16:creationId xmlns:a16="http://schemas.microsoft.com/office/drawing/2014/main" id="{4FE71E58-296F-491D-83CE-4931A6D0A658}"/>
              </a:ext>
            </a:extLst>
          </p:cNvPr>
          <p:cNvSpPr>
            <a:spLocks xmlns:a="http://schemas.openxmlformats.org/drawingml/2006/main" noGrp="1"/>
          </p:cNvSpPr>
          <p:nvPr/>
        </p:nvSpPr>
        <p:spPr>
          <a:xfrm xmlns:a="http://schemas.openxmlformats.org/drawingml/2006/main">
            <a:off x="777240" y="236829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時刻表</a:t>
            </a:r>
            <a:endParaRPr sz="1230"/>
          </a:p>
        </p:txBody>
      </p:sp>
      <p:sp>
        <p:nvSpPr>
          <p:cNvPr id="14" name="Text 12">
            <a:extLst xmlns:a="http://schemas.openxmlformats.org/drawingml/2006/main">
              <a:ext uri="{FF2B5EF4-FFF2-40B4-BE49-F238E27FC236}">
                <a16:creationId xmlns:a16="http://schemas.microsoft.com/office/drawing/2014/main" id="{9CB932D3-61EF-4973-B35A-DE285A7CD5FD}"/>
              </a:ext>
            </a:extLst>
          </p:cNvPr>
          <p:cNvSpPr>
            <a:spLocks xmlns:a="http://schemas.openxmlformats.org/drawingml/2006/main" noGrp="1"/>
          </p:cNvSpPr>
          <p:nvPr/>
        </p:nvSpPr>
        <p:spPr>
          <a:xfrm xmlns:a="http://schemas.openxmlformats.org/drawingml/2006/main">
            <a:off x="2138782" y="236829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平日 264便／16路線</a:t>
            </a:r>
            <a:endParaRPr sz="1230"/>
          </a:p>
        </p:txBody>
      </p:sp>
      <p:sp>
        <p:nvSpPr>
          <p:cNvPr id="15" name="Shape 13">
            <a:extLst xmlns:a="http://schemas.openxmlformats.org/drawingml/2006/main">
              <a:ext uri="{FF2B5EF4-FFF2-40B4-BE49-F238E27FC236}">
                <a16:creationId xmlns:a16="http://schemas.microsoft.com/office/drawing/2014/main" id="{453A4CF5-C850-4D20-A28F-E6F9BC41F433}"/>
              </a:ext>
            </a:extLst>
          </p:cNvPr>
          <p:cNvSpPr>
            <a:spLocks xmlns:a="http://schemas.openxmlformats.org/drawingml/2006/main" noGrp="1"/>
          </p:cNvSpPr>
          <p:nvPr/>
        </p:nvSpPr>
        <p:spPr>
          <a:xfrm xmlns:a="http://schemas.openxmlformats.org/drawingml/2006/main">
            <a:off x="694944" y="2898648"/>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34E105E0-A840-4C3F-BEF1-13D4C0FF3F9D}"/>
              </a:ext>
            </a:extLst>
          </p:cNvPr>
          <p:cNvSpPr>
            <a:spLocks xmlns:a="http://schemas.openxmlformats.org/drawingml/2006/main" noGrp="1"/>
          </p:cNvSpPr>
          <p:nvPr/>
        </p:nvSpPr>
        <p:spPr>
          <a:xfrm xmlns:a="http://schemas.openxmlformats.org/drawingml/2006/main">
            <a:off x="777240" y="2935224"/>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内部時間刻み</a:t>
            </a:r>
            <a:endParaRPr sz="1230"/>
          </a:p>
        </p:txBody>
      </p:sp>
      <p:sp>
        <p:nvSpPr>
          <p:cNvPr id="17" name="Text 15">
            <a:extLst xmlns:a="http://schemas.openxmlformats.org/drawingml/2006/main">
              <a:ext uri="{FF2B5EF4-FFF2-40B4-BE49-F238E27FC236}">
                <a16:creationId xmlns:a16="http://schemas.microsoft.com/office/drawing/2014/main" id="{E577C62D-E301-480E-80DE-93DDFCFDD5F1}"/>
              </a:ext>
            </a:extLst>
          </p:cNvPr>
          <p:cNvSpPr>
            <a:spLocks xmlns:a="http://schemas.openxmlformats.org/drawingml/2006/main" noGrp="1"/>
          </p:cNvSpPr>
          <p:nvPr/>
        </p:nvSpPr>
        <p:spPr>
          <a:xfrm xmlns:a="http://schemas.openxmlformats.org/drawingml/2006/main">
            <a:off x="2138782" y="2935224"/>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15分（1日96区間）</a:t>
            </a:r>
            <a:endParaRPr sz="1230"/>
          </a:p>
        </p:txBody>
      </p:sp>
      <p:sp>
        <p:nvSpPr>
          <p:cNvPr id="18" name="Text 16">
            <a:extLst xmlns:a="http://schemas.openxmlformats.org/drawingml/2006/main">
              <a:ext uri="{FF2B5EF4-FFF2-40B4-BE49-F238E27FC236}">
                <a16:creationId xmlns:a16="http://schemas.microsoft.com/office/drawing/2014/main" id="{AF64DBAB-BEB0-4E61-9C80-B1D4631910E2}"/>
              </a:ext>
            </a:extLst>
          </p:cNvPr>
          <p:cNvSpPr>
            <a:spLocks xmlns:a="http://schemas.openxmlformats.org/drawingml/2006/main" noGrp="1"/>
          </p:cNvSpPr>
          <p:nvPr/>
        </p:nvSpPr>
        <p:spPr>
          <a:xfrm xmlns:a="http://schemas.openxmlformats.org/drawingml/2006/main">
            <a:off x="777240" y="3502152"/>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運用見直し</a:t>
            </a:r>
            <a:endParaRPr sz="1230"/>
          </a:p>
        </p:txBody>
      </p:sp>
      <p:sp>
        <p:nvSpPr>
          <p:cNvPr id="19" name="Text 17">
            <a:extLst xmlns:a="http://schemas.openxmlformats.org/drawingml/2006/main">
              <a:ext uri="{FF2B5EF4-FFF2-40B4-BE49-F238E27FC236}">
                <a16:creationId xmlns:a16="http://schemas.microsoft.com/office/drawing/2014/main" id="{2AC83857-AB26-45A1-BF57-7819D436A59B}"/>
              </a:ext>
            </a:extLst>
          </p:cNvPr>
          <p:cNvSpPr>
            <a:spLocks xmlns:a="http://schemas.openxmlformats.org/drawingml/2006/main" noGrp="1"/>
          </p:cNvSpPr>
          <p:nvPr/>
        </p:nvSpPr>
        <p:spPr>
          <a:xfrm xmlns:a="http://schemas.openxmlformats.org/drawingml/2006/main">
            <a:off x="2138782" y="3502152"/>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60分ごと・24回</a:t>
            </a:r>
            <a:endParaRPr sz="1230"/>
          </a:p>
        </p:txBody>
      </p:sp>
      <p:sp>
        <p:nvSpPr>
          <p:cNvPr id="20" name="Shape 18">
            <a:extLst xmlns:a="http://schemas.openxmlformats.org/drawingml/2006/main">
              <a:ext uri="{FF2B5EF4-FFF2-40B4-BE49-F238E27FC236}">
                <a16:creationId xmlns:a16="http://schemas.microsoft.com/office/drawing/2014/main" id="{70A37217-CAEC-4427-A80F-2AB238166358}"/>
              </a:ext>
            </a:extLst>
          </p:cNvPr>
          <p:cNvSpPr>
            <a:spLocks xmlns:a="http://schemas.openxmlformats.org/drawingml/2006/main" noGrp="1"/>
          </p:cNvSpPr>
          <p:nvPr/>
        </p:nvSpPr>
        <p:spPr>
          <a:xfrm xmlns:a="http://schemas.openxmlformats.org/drawingml/2006/main">
            <a:off x="694944" y="4032504"/>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F412CD13-1A68-4A30-A813-4141DC16C4DF}"/>
              </a:ext>
            </a:extLst>
          </p:cNvPr>
          <p:cNvSpPr>
            <a:spLocks xmlns:a="http://schemas.openxmlformats.org/drawingml/2006/main" noGrp="1"/>
          </p:cNvSpPr>
          <p:nvPr/>
        </p:nvSpPr>
        <p:spPr>
          <a:xfrm xmlns:a="http://schemas.openxmlformats.org/drawingml/2006/main">
            <a:off x="777240" y="4069080"/>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比較日</a:t>
            </a:r>
            <a:endParaRPr sz="1230"/>
          </a:p>
        </p:txBody>
      </p:sp>
      <p:sp>
        <p:nvSpPr>
          <p:cNvPr id="22" name="Text 20">
            <a:extLst xmlns:a="http://schemas.openxmlformats.org/drawingml/2006/main">
              <a:ext uri="{FF2B5EF4-FFF2-40B4-BE49-F238E27FC236}">
                <a16:creationId xmlns:a16="http://schemas.microsoft.com/office/drawing/2014/main" id="{615B2DC9-CAD0-4E01-89BD-8EB965466C90}"/>
              </a:ext>
            </a:extLst>
          </p:cNvPr>
          <p:cNvSpPr>
            <a:spLocks xmlns:a="http://schemas.openxmlformats.org/drawingml/2006/main" noGrp="1"/>
          </p:cNvSpPr>
          <p:nvPr/>
        </p:nvSpPr>
        <p:spPr>
          <a:xfrm xmlns:a="http://schemas.openxmlformats.org/drawingml/2006/main">
            <a:off x="2138782" y="4069080"/>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運行日は2025/08/05で固定</a:t>
            </a:r>
            <a:endParaRPr sz="1230"/>
          </a:p>
        </p:txBody>
      </p:sp>
      <p:sp>
        <p:nvSpPr>
          <p:cNvPr id="23" name="Text 21">
            <a:extLst xmlns:a="http://schemas.openxmlformats.org/drawingml/2006/main">
              <a:ext uri="{FF2B5EF4-FFF2-40B4-BE49-F238E27FC236}">
                <a16:creationId xmlns:a16="http://schemas.microsoft.com/office/drawing/2014/main" id="{F1340E0C-A73F-4DF0-8177-7DB5CE508F4C}"/>
              </a:ext>
            </a:extLst>
          </p:cNvPr>
          <p:cNvSpPr>
            <a:spLocks xmlns:a="http://schemas.openxmlformats.org/drawingml/2006/main" noGrp="1"/>
          </p:cNvSpPr>
          <p:nvPr/>
        </p:nvSpPr>
        <p:spPr>
          <a:xfrm xmlns:a="http://schemas.openxmlformats.org/drawingml/2006/main">
            <a:off x="777240" y="463600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高PV入力</a:t>
            </a:r>
            <a:endParaRPr sz="1230"/>
          </a:p>
        </p:txBody>
      </p:sp>
      <p:sp>
        <p:nvSpPr>
          <p:cNvPr id="24" name="Text 22">
            <a:extLst xmlns:a="http://schemas.openxmlformats.org/drawingml/2006/main">
              <a:ext uri="{FF2B5EF4-FFF2-40B4-BE49-F238E27FC236}">
                <a16:creationId xmlns:a16="http://schemas.microsoft.com/office/drawing/2014/main" id="{E0F3A61B-F93E-4B5F-A972-C86133325E7C}"/>
              </a:ext>
            </a:extLst>
          </p:cNvPr>
          <p:cNvSpPr>
            <a:spLocks xmlns:a="http://schemas.openxmlformats.org/drawingml/2006/main" noGrp="1"/>
          </p:cNvSpPr>
          <p:nvPr/>
        </p:nvSpPr>
        <p:spPr>
          <a:xfrm xmlns:a="http://schemas.openxmlformats.org/drawingml/2006/main">
            <a:off x="2138782" y="463600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2025/08/05由来</a:t>
            </a:r>
            <a:endParaRPr sz="1230"/>
          </a:p>
        </p:txBody>
      </p:sp>
      <p:sp>
        <p:nvSpPr>
          <p:cNvPr id="25" name="Shape 23">
            <a:extLst xmlns:a="http://schemas.openxmlformats.org/drawingml/2006/main">
              <a:ext uri="{FF2B5EF4-FFF2-40B4-BE49-F238E27FC236}">
                <a16:creationId xmlns:a16="http://schemas.microsoft.com/office/drawing/2014/main" id="{017BD88E-85FC-407F-89F1-9FC644DF5EF6}"/>
              </a:ext>
            </a:extLst>
          </p:cNvPr>
          <p:cNvSpPr>
            <a:spLocks xmlns:a="http://schemas.openxmlformats.org/drawingml/2006/main" noGrp="1"/>
          </p:cNvSpPr>
          <p:nvPr/>
        </p:nvSpPr>
        <p:spPr>
          <a:xfrm xmlns:a="http://schemas.openxmlformats.org/drawingml/2006/main">
            <a:off x="694944" y="5166360"/>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F1E71D3C-DCE6-4880-B651-8EC2DA58ADFF}"/>
              </a:ext>
            </a:extLst>
          </p:cNvPr>
          <p:cNvSpPr>
            <a:spLocks xmlns:a="http://schemas.openxmlformats.org/drawingml/2006/main" noGrp="1"/>
          </p:cNvSpPr>
          <p:nvPr/>
        </p:nvSpPr>
        <p:spPr>
          <a:xfrm xmlns:a="http://schemas.openxmlformats.org/drawingml/2006/main">
            <a:off x="777240" y="520293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低PV入力</a:t>
            </a:r>
            <a:endParaRPr sz="1230"/>
          </a:p>
        </p:txBody>
      </p:sp>
      <p:sp>
        <p:nvSpPr>
          <p:cNvPr id="27" name="Text 25">
            <a:extLst xmlns:a="http://schemas.openxmlformats.org/drawingml/2006/main">
              <a:ext uri="{FF2B5EF4-FFF2-40B4-BE49-F238E27FC236}">
                <a16:creationId xmlns:a16="http://schemas.microsoft.com/office/drawing/2014/main" id="{4AA57CBE-D5E5-4F66-BE57-A82D98208983}"/>
              </a:ext>
            </a:extLst>
          </p:cNvPr>
          <p:cNvSpPr>
            <a:spLocks xmlns:a="http://schemas.openxmlformats.org/drawingml/2006/main" noGrp="1"/>
          </p:cNvSpPr>
          <p:nvPr/>
        </p:nvSpPr>
        <p:spPr>
          <a:xfrm xmlns:a="http://schemas.openxmlformats.org/drawingml/2006/main">
            <a:off x="2138782" y="520293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2025/08/10由来</a:t>
            </a:r>
            <a:endParaRPr sz="1230"/>
          </a:p>
        </p:txBody>
      </p:sp>
      <p:sp>
        <p:nvSpPr>
          <p:cNvPr id="28" name="Shape 26">
            <a:extLst xmlns:a="http://schemas.openxmlformats.org/drawingml/2006/main">
              <a:ext uri="{FF2B5EF4-FFF2-40B4-BE49-F238E27FC236}">
                <a16:creationId xmlns:a16="http://schemas.microsoft.com/office/drawing/2014/main" id="{3A3E9E8F-3054-48EB-8888-E25535B1E7F5}"/>
              </a:ext>
            </a:extLst>
          </p:cNvPr>
          <p:cNvSpPr>
            <a:spLocks xmlns:a="http://schemas.openxmlformats.org/drawingml/2006/main" noGrp="1"/>
          </p:cNvSpPr>
          <p:nvPr/>
        </p:nvSpPr>
        <p:spPr>
          <a:xfrm xmlns:a="http://schemas.openxmlformats.org/drawingml/2006/main">
            <a:off x="4297680" y="1234440"/>
            <a:ext cx="3611880" cy="489204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70E5BFCD-E6C2-48FC-B169-643B062E26C6}"/>
              </a:ext>
            </a:extLst>
          </p:cNvPr>
          <p:cNvSpPr>
            <a:spLocks xmlns:a="http://schemas.openxmlformats.org/drawingml/2006/main" noGrp="1"/>
          </p:cNvSpPr>
          <p:nvPr/>
        </p:nvSpPr>
        <p:spPr>
          <a:xfrm xmlns:a="http://schemas.openxmlformats.org/drawingml/2006/main">
            <a:off x="4297680" y="1234440"/>
            <a:ext cx="3611880" cy="438912"/>
          </a:xfrm>
          <a:prstGeom xmlns:a="http://schemas.openxmlformats.org/drawingml/2006/main" prst="rect">
            <a:avLst/>
          </a:prstGeom>
          <a:solidFill xmlns:a="http://schemas.openxmlformats.org/drawingml/2006/main">
            <a:srgbClr val="1F9D8A"/>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369DEA25-05E0-4C4E-B812-43C3FE43C858}"/>
              </a:ext>
            </a:extLst>
          </p:cNvPr>
          <p:cNvSpPr>
            <a:spLocks xmlns:a="http://schemas.openxmlformats.org/drawingml/2006/main" noGrp="1"/>
          </p:cNvSpPr>
          <p:nvPr/>
        </p:nvSpPr>
        <p:spPr>
          <a:xfrm xmlns:a="http://schemas.openxmlformats.org/drawingml/2006/main">
            <a:off x="4407408" y="1298448"/>
            <a:ext cx="33924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車両条件</a:t>
            </a:r>
            <a:endParaRPr sz="1650"/>
          </a:p>
        </p:txBody>
      </p:sp>
      <p:sp>
        <p:nvSpPr>
          <p:cNvPr id="31" name="Shape 29">
            <a:extLst xmlns:a="http://schemas.openxmlformats.org/drawingml/2006/main">
              <a:ext uri="{FF2B5EF4-FFF2-40B4-BE49-F238E27FC236}">
                <a16:creationId xmlns:a16="http://schemas.microsoft.com/office/drawing/2014/main" id="{938F2735-F3B2-44A6-99DE-81FAB7ADAC30}"/>
              </a:ext>
            </a:extLst>
          </p:cNvPr>
          <p:cNvSpPr>
            <a:spLocks xmlns:a="http://schemas.openxmlformats.org/drawingml/2006/main" noGrp="1"/>
          </p:cNvSpPr>
          <p:nvPr/>
        </p:nvSpPr>
        <p:spPr>
          <a:xfrm xmlns:a="http://schemas.openxmlformats.org/drawingml/2006/main">
            <a:off x="4370832" y="1764792"/>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0BDD5B3-35D5-4667-8258-0D35557C8325}"/>
              </a:ext>
            </a:extLst>
          </p:cNvPr>
          <p:cNvSpPr>
            <a:spLocks xmlns:a="http://schemas.openxmlformats.org/drawingml/2006/main" noGrp="1"/>
          </p:cNvSpPr>
          <p:nvPr/>
        </p:nvSpPr>
        <p:spPr>
          <a:xfrm xmlns:a="http://schemas.openxmlformats.org/drawingml/2006/main">
            <a:off x="4453128" y="180136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有効車両</a:t>
            </a:r>
            <a:endParaRPr sz="1230"/>
          </a:p>
        </p:txBody>
      </p:sp>
      <p:sp>
        <p:nvSpPr>
          <p:cNvPr id="33" name="Text 31">
            <a:extLst xmlns:a="http://schemas.openxmlformats.org/drawingml/2006/main">
              <a:ext uri="{FF2B5EF4-FFF2-40B4-BE49-F238E27FC236}">
                <a16:creationId xmlns:a16="http://schemas.microsoft.com/office/drawing/2014/main" id="{6493B61F-130F-4415-BC55-D1B3A4DB8AEE}"/>
              </a:ext>
            </a:extLst>
          </p:cNvPr>
          <p:cNvSpPr>
            <a:spLocks xmlns:a="http://schemas.openxmlformats.org/drawingml/2006/main" noGrp="1"/>
          </p:cNvSpPr>
          <p:nvPr/>
        </p:nvSpPr>
        <p:spPr>
          <a:xfrm xmlns:a="http://schemas.openxmlformats.org/drawingml/2006/main">
            <a:off x="5814670" y="180136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BEV 35台／ICE 25台</a:t>
            </a:r>
            <a:endParaRPr sz="1230"/>
          </a:p>
        </p:txBody>
      </p:sp>
      <p:sp>
        <p:nvSpPr>
          <p:cNvPr id="34" name="Text 32">
            <a:extLst xmlns:a="http://schemas.openxmlformats.org/drawingml/2006/main">
              <a:ext uri="{FF2B5EF4-FFF2-40B4-BE49-F238E27FC236}">
                <a16:creationId xmlns:a16="http://schemas.microsoft.com/office/drawing/2014/main" id="{7278BE3E-EA48-449B-A772-FB3C1BC611D5}"/>
              </a:ext>
            </a:extLst>
          </p:cNvPr>
          <p:cNvSpPr>
            <a:spLocks xmlns:a="http://schemas.openxmlformats.org/drawingml/2006/main" noGrp="1"/>
          </p:cNvSpPr>
          <p:nvPr/>
        </p:nvSpPr>
        <p:spPr>
          <a:xfrm xmlns:a="http://schemas.openxmlformats.org/drawingml/2006/main">
            <a:off x="4453128" y="236829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BEV電池容量</a:t>
            </a:r>
            <a:endParaRPr sz="1230"/>
          </a:p>
        </p:txBody>
      </p:sp>
      <p:sp>
        <p:nvSpPr>
          <p:cNvPr id="35" name="Text 33">
            <a:extLst xmlns:a="http://schemas.openxmlformats.org/drawingml/2006/main">
              <a:ext uri="{FF2B5EF4-FFF2-40B4-BE49-F238E27FC236}">
                <a16:creationId xmlns:a16="http://schemas.microsoft.com/office/drawing/2014/main" id="{2254C01A-9443-48A7-AFBC-A9B669A5E7D6}"/>
              </a:ext>
            </a:extLst>
          </p:cNvPr>
          <p:cNvSpPr>
            <a:spLocks xmlns:a="http://schemas.openxmlformats.org/drawingml/2006/main" noGrp="1"/>
          </p:cNvSpPr>
          <p:nvPr/>
        </p:nvSpPr>
        <p:spPr>
          <a:xfrm xmlns:a="http://schemas.openxmlformats.org/drawingml/2006/main">
            <a:off x="5814670" y="236829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314 kWh／台</a:t>
            </a:r>
            <a:endParaRPr sz="1230"/>
          </a:p>
        </p:txBody>
      </p:sp>
      <p:sp>
        <p:nvSpPr>
          <p:cNvPr id="36" name="Shape 34">
            <a:extLst xmlns:a="http://schemas.openxmlformats.org/drawingml/2006/main">
              <a:ext uri="{FF2B5EF4-FFF2-40B4-BE49-F238E27FC236}">
                <a16:creationId xmlns:a16="http://schemas.microsoft.com/office/drawing/2014/main" id="{7E377894-C6A9-46E8-BC42-89E07BA8AD49}"/>
              </a:ext>
            </a:extLst>
          </p:cNvPr>
          <p:cNvSpPr>
            <a:spLocks xmlns:a="http://schemas.openxmlformats.org/drawingml/2006/main" noGrp="1"/>
          </p:cNvSpPr>
          <p:nvPr/>
        </p:nvSpPr>
        <p:spPr>
          <a:xfrm xmlns:a="http://schemas.openxmlformats.org/drawingml/2006/main">
            <a:off x="4370832" y="2898648"/>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3D4EBFE2-1488-4C32-AB08-6465B1EC62ED}"/>
              </a:ext>
            </a:extLst>
          </p:cNvPr>
          <p:cNvSpPr>
            <a:spLocks xmlns:a="http://schemas.openxmlformats.org/drawingml/2006/main" noGrp="1"/>
          </p:cNvSpPr>
          <p:nvPr/>
        </p:nvSpPr>
        <p:spPr>
          <a:xfrm xmlns:a="http://schemas.openxmlformats.org/drawingml/2006/main">
            <a:off x="4453128" y="2935224"/>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BEV電費</a:t>
            </a:r>
            <a:endParaRPr sz="1230"/>
          </a:p>
        </p:txBody>
      </p:sp>
      <p:sp>
        <p:nvSpPr>
          <p:cNvPr id="38" name="Text 36">
            <a:extLst xmlns:a="http://schemas.openxmlformats.org/drawingml/2006/main">
              <a:ext uri="{FF2B5EF4-FFF2-40B4-BE49-F238E27FC236}">
                <a16:creationId xmlns:a16="http://schemas.microsoft.com/office/drawing/2014/main" id="{AC73DDCE-016E-421B-8EBD-B705B1007C35}"/>
              </a:ext>
            </a:extLst>
          </p:cNvPr>
          <p:cNvSpPr>
            <a:spLocks xmlns:a="http://schemas.openxmlformats.org/drawingml/2006/main" noGrp="1"/>
          </p:cNvSpPr>
          <p:nvPr/>
        </p:nvSpPr>
        <p:spPr>
          <a:xfrm xmlns:a="http://schemas.openxmlformats.org/drawingml/2006/main">
            <a:off x="5814670" y="2935224"/>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1.316 kWh/km</a:t>
            </a:r>
            <a:endParaRPr sz="1230"/>
          </a:p>
        </p:txBody>
      </p:sp>
      <p:sp>
        <p:nvSpPr>
          <p:cNvPr id="39" name="Text 37">
            <a:extLst xmlns:a="http://schemas.openxmlformats.org/drawingml/2006/main">
              <a:ext uri="{FF2B5EF4-FFF2-40B4-BE49-F238E27FC236}">
                <a16:creationId xmlns:a16="http://schemas.microsoft.com/office/drawing/2014/main" id="{27C62FFD-1A21-4518-8C43-0B4EB965014F}"/>
              </a:ext>
            </a:extLst>
          </p:cNvPr>
          <p:cNvSpPr>
            <a:spLocks xmlns:a="http://schemas.openxmlformats.org/drawingml/2006/main" noGrp="1"/>
          </p:cNvSpPr>
          <p:nvPr/>
        </p:nvSpPr>
        <p:spPr>
          <a:xfrm xmlns:a="http://schemas.openxmlformats.org/drawingml/2006/main">
            <a:off x="4453128" y="3502152"/>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BEV充電上限</a:t>
            </a:r>
            <a:endParaRPr sz="1230"/>
          </a:p>
        </p:txBody>
      </p:sp>
      <p:sp>
        <p:nvSpPr>
          <p:cNvPr id="40" name="Text 38">
            <a:extLst xmlns:a="http://schemas.openxmlformats.org/drawingml/2006/main">
              <a:ext uri="{FF2B5EF4-FFF2-40B4-BE49-F238E27FC236}">
                <a16:creationId xmlns:a16="http://schemas.microsoft.com/office/drawing/2014/main" id="{9071DBFF-913A-4C8E-BA39-538C3B9FFDDE}"/>
              </a:ext>
            </a:extLst>
          </p:cNvPr>
          <p:cNvSpPr>
            <a:spLocks xmlns:a="http://schemas.openxmlformats.org/drawingml/2006/main" noGrp="1"/>
          </p:cNvSpPr>
          <p:nvPr/>
        </p:nvSpPr>
        <p:spPr>
          <a:xfrm xmlns:a="http://schemas.openxmlformats.org/drawingml/2006/main">
            <a:off x="5814670" y="3502152"/>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90 kW／台</a:t>
            </a:r>
            <a:endParaRPr sz="1230"/>
          </a:p>
        </p:txBody>
      </p:sp>
      <p:sp>
        <p:nvSpPr>
          <p:cNvPr id="41" name="Shape 39">
            <a:extLst xmlns:a="http://schemas.openxmlformats.org/drawingml/2006/main">
              <a:ext uri="{FF2B5EF4-FFF2-40B4-BE49-F238E27FC236}">
                <a16:creationId xmlns:a16="http://schemas.microsoft.com/office/drawing/2014/main" id="{4A139E1B-F80C-4BF1-8BF7-A1B45D432B69}"/>
              </a:ext>
            </a:extLst>
          </p:cNvPr>
          <p:cNvSpPr>
            <a:spLocks xmlns:a="http://schemas.openxmlformats.org/drawingml/2006/main" noGrp="1"/>
          </p:cNvSpPr>
          <p:nvPr/>
        </p:nvSpPr>
        <p:spPr>
          <a:xfrm xmlns:a="http://schemas.openxmlformats.org/drawingml/2006/main">
            <a:off x="4370832" y="4032504"/>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DA9D9165-9545-4C00-811B-5077AB3E0932}"/>
              </a:ext>
            </a:extLst>
          </p:cNvPr>
          <p:cNvSpPr>
            <a:spLocks xmlns:a="http://schemas.openxmlformats.org/drawingml/2006/main" noGrp="1"/>
          </p:cNvSpPr>
          <p:nvPr/>
        </p:nvSpPr>
        <p:spPr>
          <a:xfrm xmlns:a="http://schemas.openxmlformats.org/drawingml/2006/main">
            <a:off x="4453128" y="4069080"/>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 SOC範囲</a:t>
            </a:r>
            <a:endParaRPr sz="1230"/>
          </a:p>
        </p:txBody>
      </p:sp>
      <p:sp>
        <p:nvSpPr>
          <p:cNvPr id="43" name="Text 41">
            <a:extLst xmlns:a="http://schemas.openxmlformats.org/drawingml/2006/main">
              <a:ext uri="{FF2B5EF4-FFF2-40B4-BE49-F238E27FC236}">
                <a16:creationId xmlns:a16="http://schemas.microsoft.com/office/drawing/2014/main" id="{2629D4B9-BB4A-464A-8284-119BA00D0E18}"/>
              </a:ext>
            </a:extLst>
          </p:cNvPr>
          <p:cNvSpPr>
            <a:spLocks xmlns:a="http://schemas.openxmlformats.org/drawingml/2006/main" noGrp="1"/>
          </p:cNvSpPr>
          <p:nvPr/>
        </p:nvSpPr>
        <p:spPr>
          <a:xfrm xmlns:a="http://schemas.openxmlformats.org/drawingml/2006/main">
            <a:off x="5814670" y="4069080"/>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入力20～90% ※</a:t>
            </a:r>
            <a:endParaRPr sz="1230"/>
          </a:p>
        </p:txBody>
      </p:sp>
      <p:sp>
        <p:nvSpPr>
          <p:cNvPr id="44" name="Text 42">
            <a:extLst xmlns:a="http://schemas.openxmlformats.org/drawingml/2006/main">
              <a:ext uri="{FF2B5EF4-FFF2-40B4-BE49-F238E27FC236}">
                <a16:creationId xmlns:a16="http://schemas.microsoft.com/office/drawing/2014/main" id="{F19AEF53-B1D0-4917-9394-C6DF0039C9B9}"/>
              </a:ext>
            </a:extLst>
          </p:cNvPr>
          <p:cNvSpPr>
            <a:spLocks xmlns:a="http://schemas.openxmlformats.org/drawingml/2006/main" noGrp="1"/>
          </p:cNvSpPr>
          <p:nvPr/>
        </p:nvSpPr>
        <p:spPr>
          <a:xfrm xmlns:a="http://schemas.openxmlformats.org/drawingml/2006/main">
            <a:off x="4453128" y="463600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BEV初期SOC</a:t>
            </a:r>
            <a:endParaRPr sz="1230"/>
          </a:p>
        </p:txBody>
      </p:sp>
      <p:sp>
        <p:nvSpPr>
          <p:cNvPr id="45" name="Text 43">
            <a:extLst xmlns:a="http://schemas.openxmlformats.org/drawingml/2006/main">
              <a:ext uri="{FF2B5EF4-FFF2-40B4-BE49-F238E27FC236}">
                <a16:creationId xmlns:a16="http://schemas.microsoft.com/office/drawing/2014/main" id="{D7FEA5AC-4867-462E-977E-BA3BCBD1C106}"/>
              </a:ext>
            </a:extLst>
          </p:cNvPr>
          <p:cNvSpPr>
            <a:spLocks xmlns:a="http://schemas.openxmlformats.org/drawingml/2006/main" noGrp="1"/>
          </p:cNvSpPr>
          <p:nvPr/>
        </p:nvSpPr>
        <p:spPr>
          <a:xfrm xmlns:a="http://schemas.openxmlformats.org/drawingml/2006/main">
            <a:off x="5814670" y="463600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車両別 21.95～77.43%</a:t>
            </a:r>
            <a:endParaRPr sz="1230"/>
          </a:p>
        </p:txBody>
      </p:sp>
      <p:sp>
        <p:nvSpPr>
          <p:cNvPr id="46" name="Shape 44">
            <a:extLst xmlns:a="http://schemas.openxmlformats.org/drawingml/2006/main">
              <a:ext uri="{FF2B5EF4-FFF2-40B4-BE49-F238E27FC236}">
                <a16:creationId xmlns:a16="http://schemas.microsoft.com/office/drawing/2014/main" id="{5BADF3A4-B9DB-43AE-AE3A-779A12B5129F}"/>
              </a:ext>
            </a:extLst>
          </p:cNvPr>
          <p:cNvSpPr>
            <a:spLocks xmlns:a="http://schemas.openxmlformats.org/drawingml/2006/main" noGrp="1"/>
          </p:cNvSpPr>
          <p:nvPr/>
        </p:nvSpPr>
        <p:spPr>
          <a:xfrm xmlns:a="http://schemas.openxmlformats.org/drawingml/2006/main">
            <a:off x="4370832" y="5166360"/>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6587B32E-A56E-4DFA-83F1-DD0B6796D573}"/>
              </a:ext>
            </a:extLst>
          </p:cNvPr>
          <p:cNvSpPr>
            <a:spLocks xmlns:a="http://schemas.openxmlformats.org/drawingml/2006/main" noGrp="1"/>
          </p:cNvSpPr>
          <p:nvPr/>
        </p:nvSpPr>
        <p:spPr>
          <a:xfrm xmlns:a="http://schemas.openxmlformats.org/drawingml/2006/main">
            <a:off x="4453128" y="520293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ICE条件</a:t>
            </a:r>
            <a:endParaRPr sz="1230"/>
          </a:p>
        </p:txBody>
      </p:sp>
      <p:sp>
        <p:nvSpPr>
          <p:cNvPr id="48" name="Text 46">
            <a:extLst xmlns:a="http://schemas.openxmlformats.org/drawingml/2006/main">
              <a:ext uri="{FF2B5EF4-FFF2-40B4-BE49-F238E27FC236}">
                <a16:creationId xmlns:a16="http://schemas.microsoft.com/office/drawing/2014/main" id="{C144E23B-3FDF-42D6-B2B7-DA7671786F35}"/>
              </a:ext>
            </a:extLst>
          </p:cNvPr>
          <p:cNvSpPr>
            <a:spLocks xmlns:a="http://schemas.openxmlformats.org/drawingml/2006/main" noGrp="1"/>
          </p:cNvSpPr>
          <p:nvPr/>
        </p:nvSpPr>
        <p:spPr>
          <a:xfrm xmlns:a="http://schemas.openxmlformats.org/drawingml/2006/main">
            <a:off x="5814670" y="520293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160 L・4.52 km/L</a:t>
            </a:r>
            <a:endParaRPr sz="1230"/>
          </a:p>
        </p:txBody>
      </p:sp>
      <p:sp>
        <p:nvSpPr>
          <p:cNvPr id="49" name="Shape 47">
            <a:extLst xmlns:a="http://schemas.openxmlformats.org/drawingml/2006/main">
              <a:ext uri="{FF2B5EF4-FFF2-40B4-BE49-F238E27FC236}">
                <a16:creationId xmlns:a16="http://schemas.microsoft.com/office/drawing/2014/main" id="{6B3B3FDD-78F1-48A0-8190-F8F36D5FAFAF}"/>
              </a:ext>
            </a:extLst>
          </p:cNvPr>
          <p:cNvSpPr>
            <a:spLocks xmlns:a="http://schemas.openxmlformats.org/drawingml/2006/main" noGrp="1"/>
          </p:cNvSpPr>
          <p:nvPr/>
        </p:nvSpPr>
        <p:spPr>
          <a:xfrm xmlns:a="http://schemas.openxmlformats.org/drawingml/2006/main">
            <a:off x="7973568" y="1234440"/>
            <a:ext cx="3611880" cy="489204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50" name="Shape 48">
            <a:extLst xmlns:a="http://schemas.openxmlformats.org/drawingml/2006/main">
              <a:ext uri="{FF2B5EF4-FFF2-40B4-BE49-F238E27FC236}">
                <a16:creationId xmlns:a16="http://schemas.microsoft.com/office/drawing/2014/main" id="{3C0792E2-10E4-459D-8AFD-F18A4A0351DD}"/>
              </a:ext>
            </a:extLst>
          </p:cNvPr>
          <p:cNvSpPr>
            <a:spLocks xmlns:a="http://schemas.openxmlformats.org/drawingml/2006/main" noGrp="1"/>
          </p:cNvSpPr>
          <p:nvPr/>
        </p:nvSpPr>
        <p:spPr>
          <a:xfrm xmlns:a="http://schemas.openxmlformats.org/drawingml/2006/main">
            <a:off x="7973568" y="1234440"/>
            <a:ext cx="3611880" cy="438912"/>
          </a:xfrm>
          <a:prstGeom xmlns:a="http://schemas.openxmlformats.org/drawingml/2006/main" prst="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AD251C4B-4407-4FC4-A720-D4ABDD23B10C}"/>
              </a:ext>
            </a:extLst>
          </p:cNvPr>
          <p:cNvSpPr>
            <a:spLocks xmlns:a="http://schemas.openxmlformats.org/drawingml/2006/main" noGrp="1"/>
          </p:cNvSpPr>
          <p:nvPr/>
        </p:nvSpPr>
        <p:spPr>
          <a:xfrm xmlns:a="http://schemas.openxmlformats.org/drawingml/2006/main">
            <a:off x="8083296" y="1298448"/>
            <a:ext cx="33924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営業所設備</a:t>
            </a:r>
            <a:endParaRPr sz="1650"/>
          </a:p>
        </p:txBody>
      </p:sp>
      <p:sp>
        <p:nvSpPr>
          <p:cNvPr id="52" name="Shape 50">
            <a:extLst xmlns:a="http://schemas.openxmlformats.org/drawingml/2006/main">
              <a:ext uri="{FF2B5EF4-FFF2-40B4-BE49-F238E27FC236}">
                <a16:creationId xmlns:a16="http://schemas.microsoft.com/office/drawing/2014/main" id="{0FCD73D1-380D-42B2-8E80-B3C3A410F455}"/>
              </a:ext>
            </a:extLst>
          </p:cNvPr>
          <p:cNvSpPr>
            <a:spLocks xmlns:a="http://schemas.openxmlformats.org/drawingml/2006/main" noGrp="1"/>
          </p:cNvSpPr>
          <p:nvPr/>
        </p:nvSpPr>
        <p:spPr>
          <a:xfrm xmlns:a="http://schemas.openxmlformats.org/drawingml/2006/main">
            <a:off x="8046720" y="1764792"/>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Text 51">
            <a:extLst xmlns:a="http://schemas.openxmlformats.org/drawingml/2006/main">
              <a:ext uri="{FF2B5EF4-FFF2-40B4-BE49-F238E27FC236}">
                <a16:creationId xmlns:a16="http://schemas.microsoft.com/office/drawing/2014/main" id="{65F42B46-6CEB-490A-AA84-A715341606E7}"/>
              </a:ext>
            </a:extLst>
          </p:cNvPr>
          <p:cNvSpPr>
            <a:spLocks xmlns:a="http://schemas.openxmlformats.org/drawingml/2006/main" noGrp="1"/>
          </p:cNvSpPr>
          <p:nvPr/>
        </p:nvSpPr>
        <p:spPr>
          <a:xfrm xmlns:a="http://schemas.openxmlformats.org/drawingml/2006/main">
            <a:off x="8129016" y="180136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充電器</a:t>
            </a:r>
            <a:endParaRPr sz="1230"/>
          </a:p>
        </p:txBody>
      </p:sp>
      <p:sp>
        <p:nvSpPr>
          <p:cNvPr id="54" name="Text 52">
            <a:extLst xmlns:a="http://schemas.openxmlformats.org/drawingml/2006/main">
              <a:ext uri="{FF2B5EF4-FFF2-40B4-BE49-F238E27FC236}">
                <a16:creationId xmlns:a16="http://schemas.microsoft.com/office/drawing/2014/main" id="{D8C7931D-E396-41A0-98F3-B1026A059796}"/>
              </a:ext>
            </a:extLst>
          </p:cNvPr>
          <p:cNvSpPr>
            <a:spLocks xmlns:a="http://schemas.openxmlformats.org/drawingml/2006/main" noGrp="1"/>
          </p:cNvSpPr>
          <p:nvPr/>
        </p:nvSpPr>
        <p:spPr>
          <a:xfrm xmlns:a="http://schemas.openxmlformats.org/drawingml/2006/main">
            <a:off x="9490558" y="180136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90 kW × 10基</a:t>
            </a:r>
            <a:endParaRPr sz="1230"/>
          </a:p>
        </p:txBody>
      </p:sp>
      <p:sp>
        <p:nvSpPr>
          <p:cNvPr id="55" name="Text 53">
            <a:extLst xmlns:a="http://schemas.openxmlformats.org/drawingml/2006/main">
              <a:ext uri="{FF2B5EF4-FFF2-40B4-BE49-F238E27FC236}">
                <a16:creationId xmlns:a16="http://schemas.microsoft.com/office/drawing/2014/main" id="{64A083E8-7314-4AC5-968B-D6C787795FCD}"/>
              </a:ext>
            </a:extLst>
          </p:cNvPr>
          <p:cNvSpPr>
            <a:spLocks xmlns:a="http://schemas.openxmlformats.org/drawingml/2006/main" noGrp="1"/>
          </p:cNvSpPr>
          <p:nvPr/>
        </p:nvSpPr>
        <p:spPr>
          <a:xfrm xmlns:a="http://schemas.openxmlformats.org/drawingml/2006/main">
            <a:off x="8129016" y="236829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同時接続</a:t>
            </a:r>
            <a:endParaRPr sz="1230"/>
          </a:p>
        </p:txBody>
      </p:sp>
      <p:sp>
        <p:nvSpPr>
          <p:cNvPr id="56" name="Text 54">
            <a:extLst xmlns:a="http://schemas.openxmlformats.org/drawingml/2006/main">
              <a:ext uri="{FF2B5EF4-FFF2-40B4-BE49-F238E27FC236}">
                <a16:creationId xmlns:a16="http://schemas.microsoft.com/office/drawing/2014/main" id="{1C9BAB08-2703-4EC7-A416-C296C4AC0BBA}"/>
              </a:ext>
            </a:extLst>
          </p:cNvPr>
          <p:cNvSpPr>
            <a:spLocks xmlns:a="http://schemas.openxmlformats.org/drawingml/2006/main" noGrp="1"/>
          </p:cNvSpPr>
          <p:nvPr/>
        </p:nvSpPr>
        <p:spPr>
          <a:xfrm xmlns:a="http://schemas.openxmlformats.org/drawingml/2006/main">
            <a:off x="9490558" y="236829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各1ポート</a:t>
            </a:r>
            <a:endParaRPr sz="1230"/>
          </a:p>
        </p:txBody>
      </p:sp>
      <p:sp>
        <p:nvSpPr>
          <p:cNvPr id="57" name="Shape 55">
            <a:extLst xmlns:a="http://schemas.openxmlformats.org/drawingml/2006/main">
              <a:ext uri="{FF2B5EF4-FFF2-40B4-BE49-F238E27FC236}">
                <a16:creationId xmlns:a16="http://schemas.microsoft.com/office/drawing/2014/main" id="{E24B14F8-B260-44A5-A8D2-F4510B07BC9E}"/>
              </a:ext>
            </a:extLst>
          </p:cNvPr>
          <p:cNvSpPr>
            <a:spLocks xmlns:a="http://schemas.openxmlformats.org/drawingml/2006/main" noGrp="1"/>
          </p:cNvSpPr>
          <p:nvPr/>
        </p:nvSpPr>
        <p:spPr>
          <a:xfrm xmlns:a="http://schemas.openxmlformats.org/drawingml/2006/main">
            <a:off x="8046720" y="2898648"/>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2CB34812-8807-4065-A17E-24665C186B19}"/>
              </a:ext>
            </a:extLst>
          </p:cNvPr>
          <p:cNvSpPr>
            <a:spLocks xmlns:a="http://schemas.openxmlformats.org/drawingml/2006/main" noGrp="1"/>
          </p:cNvSpPr>
          <p:nvPr/>
        </p:nvSpPr>
        <p:spPr>
          <a:xfrm xmlns:a="http://schemas.openxmlformats.org/drawingml/2006/main">
            <a:off x="8129016" y="2935224"/>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V2G</a:t>
            </a:r>
            <a:endParaRPr sz="1230"/>
          </a:p>
        </p:txBody>
      </p:sp>
      <p:sp>
        <p:nvSpPr>
          <p:cNvPr id="59" name="Text 57">
            <a:extLst xmlns:a="http://schemas.openxmlformats.org/drawingml/2006/main">
              <a:ext uri="{FF2B5EF4-FFF2-40B4-BE49-F238E27FC236}">
                <a16:creationId xmlns:a16="http://schemas.microsoft.com/office/drawing/2014/main" id="{455018CC-514F-4774-9349-E798FC8B4479}"/>
              </a:ext>
            </a:extLst>
          </p:cNvPr>
          <p:cNvSpPr>
            <a:spLocks xmlns:a="http://schemas.openxmlformats.org/drawingml/2006/main" noGrp="1"/>
          </p:cNvSpPr>
          <p:nvPr/>
        </p:nvSpPr>
        <p:spPr>
          <a:xfrm xmlns:a="http://schemas.openxmlformats.org/drawingml/2006/main">
            <a:off x="9490558" y="2935224"/>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使用しない</a:t>
            </a:r>
            <a:endParaRPr sz="1230"/>
          </a:p>
        </p:txBody>
      </p:sp>
      <p:sp>
        <p:nvSpPr>
          <p:cNvPr id="60" name="Text 58">
            <a:extLst xmlns:a="http://schemas.openxmlformats.org/drawingml/2006/main">
              <a:ext uri="{FF2B5EF4-FFF2-40B4-BE49-F238E27FC236}">
                <a16:creationId xmlns:a16="http://schemas.microsoft.com/office/drawing/2014/main" id="{812D708B-A6A1-4369-80A3-FE19FF83DE51}"/>
              </a:ext>
            </a:extLst>
          </p:cNvPr>
          <p:cNvSpPr>
            <a:spLocks xmlns:a="http://schemas.openxmlformats.org/drawingml/2006/main" noGrp="1"/>
          </p:cNvSpPr>
          <p:nvPr/>
        </p:nvSpPr>
        <p:spPr>
          <a:xfrm xmlns:a="http://schemas.openxmlformats.org/drawingml/2006/main">
            <a:off x="8129016" y="3502152"/>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受電上限</a:t>
            </a:r>
            <a:endParaRPr sz="1230"/>
          </a:p>
        </p:txBody>
      </p:sp>
      <p:sp>
        <p:nvSpPr>
          <p:cNvPr id="61" name="Text 59">
            <a:extLst xmlns:a="http://schemas.openxmlformats.org/drawingml/2006/main">
              <a:ext uri="{FF2B5EF4-FFF2-40B4-BE49-F238E27FC236}">
                <a16:creationId xmlns:a16="http://schemas.microsoft.com/office/drawing/2014/main" id="{C2F7E3B1-58C2-49E1-B7B2-BD5016FF3AC1}"/>
              </a:ext>
            </a:extLst>
          </p:cNvPr>
          <p:cNvSpPr>
            <a:spLocks xmlns:a="http://schemas.openxmlformats.org/drawingml/2006/main" noGrp="1"/>
          </p:cNvSpPr>
          <p:nvPr/>
        </p:nvSpPr>
        <p:spPr>
          <a:xfrm xmlns:a="http://schemas.openxmlformats.org/drawingml/2006/main">
            <a:off x="9490558" y="3502152"/>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200 kW</a:t>
            </a:r>
            <a:endParaRPr sz="1230"/>
          </a:p>
        </p:txBody>
      </p:sp>
      <p:sp>
        <p:nvSpPr>
          <p:cNvPr id="62" name="Shape 60">
            <a:extLst xmlns:a="http://schemas.openxmlformats.org/drawingml/2006/main">
              <a:ext uri="{FF2B5EF4-FFF2-40B4-BE49-F238E27FC236}">
                <a16:creationId xmlns:a16="http://schemas.microsoft.com/office/drawing/2014/main" id="{0DB9A8C3-F152-4788-852A-556C487A2518}"/>
              </a:ext>
            </a:extLst>
          </p:cNvPr>
          <p:cNvSpPr>
            <a:spLocks xmlns:a="http://schemas.openxmlformats.org/drawingml/2006/main" noGrp="1"/>
          </p:cNvSpPr>
          <p:nvPr/>
        </p:nvSpPr>
        <p:spPr>
          <a:xfrm xmlns:a="http://schemas.openxmlformats.org/drawingml/2006/main">
            <a:off x="8046720" y="4032504"/>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63" name="Text 61">
            <a:extLst xmlns:a="http://schemas.openxmlformats.org/drawingml/2006/main">
              <a:ext uri="{FF2B5EF4-FFF2-40B4-BE49-F238E27FC236}">
                <a16:creationId xmlns:a16="http://schemas.microsoft.com/office/drawing/2014/main" id="{DAEAF283-3B93-4DF6-8899-F0D5F1F0D676}"/>
              </a:ext>
            </a:extLst>
          </p:cNvPr>
          <p:cNvSpPr>
            <a:spLocks xmlns:a="http://schemas.openxmlformats.org/drawingml/2006/main" noGrp="1"/>
          </p:cNvSpPr>
          <p:nvPr/>
        </p:nvSpPr>
        <p:spPr>
          <a:xfrm xmlns:a="http://schemas.openxmlformats.org/drawingml/2006/main">
            <a:off x="8129016" y="4069080"/>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PV定格</a:t>
            </a:r>
            <a:endParaRPr sz="1230"/>
          </a:p>
        </p:txBody>
      </p:sp>
      <p:sp>
        <p:nvSpPr>
          <p:cNvPr id="64" name="Text 62">
            <a:extLst xmlns:a="http://schemas.openxmlformats.org/drawingml/2006/main">
              <a:ext uri="{FF2B5EF4-FFF2-40B4-BE49-F238E27FC236}">
                <a16:creationId xmlns:a16="http://schemas.microsoft.com/office/drawing/2014/main" id="{421C1BD7-1AE6-405D-ACB7-42C53367C394}"/>
              </a:ext>
            </a:extLst>
          </p:cNvPr>
          <p:cNvSpPr>
            <a:spLocks xmlns:a="http://schemas.openxmlformats.org/drawingml/2006/main" noGrp="1"/>
          </p:cNvSpPr>
          <p:nvPr/>
        </p:nvSpPr>
        <p:spPr>
          <a:xfrm xmlns:a="http://schemas.openxmlformats.org/drawingml/2006/main">
            <a:off x="9490558" y="4069080"/>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1,000 kW</a:t>
            </a:r>
            <a:endParaRPr sz="1230"/>
          </a:p>
        </p:txBody>
      </p:sp>
      <p:sp>
        <p:nvSpPr>
          <p:cNvPr id="65" name="Text 63">
            <a:extLst xmlns:a="http://schemas.openxmlformats.org/drawingml/2006/main">
              <a:ext uri="{FF2B5EF4-FFF2-40B4-BE49-F238E27FC236}">
                <a16:creationId xmlns:a16="http://schemas.microsoft.com/office/drawing/2014/main" id="{F0B4311D-7CA6-457D-A20B-AD754C51AEEA}"/>
              </a:ext>
            </a:extLst>
          </p:cNvPr>
          <p:cNvSpPr>
            <a:spLocks xmlns:a="http://schemas.openxmlformats.org/drawingml/2006/main" noGrp="1"/>
          </p:cNvSpPr>
          <p:nvPr/>
        </p:nvSpPr>
        <p:spPr>
          <a:xfrm xmlns:a="http://schemas.openxmlformats.org/drawingml/2006/main">
            <a:off x="8129016" y="463600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BESS</a:t>
            </a:r>
            <a:endParaRPr sz="1230"/>
          </a:p>
        </p:txBody>
      </p:sp>
      <p:sp>
        <p:nvSpPr>
          <p:cNvPr id="66" name="Text 64">
            <a:extLst xmlns:a="http://schemas.openxmlformats.org/drawingml/2006/main">
              <a:ext uri="{FF2B5EF4-FFF2-40B4-BE49-F238E27FC236}">
                <a16:creationId xmlns:a16="http://schemas.microsoft.com/office/drawing/2014/main" id="{687BE8CF-46E4-43FF-B1E7-20400E58D7A1}"/>
              </a:ext>
            </a:extLst>
          </p:cNvPr>
          <p:cNvSpPr>
            <a:spLocks xmlns:a="http://schemas.openxmlformats.org/drawingml/2006/main" noGrp="1"/>
          </p:cNvSpPr>
          <p:nvPr/>
        </p:nvSpPr>
        <p:spPr>
          <a:xfrm xmlns:a="http://schemas.openxmlformats.org/drawingml/2006/main">
            <a:off x="9490558" y="463600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6,000 kWh／900 kW</a:t>
            </a:r>
            <a:endParaRPr sz="1230"/>
          </a:p>
        </p:txBody>
      </p:sp>
      <p:sp>
        <p:nvSpPr>
          <p:cNvPr id="67" name="Shape 65">
            <a:extLst xmlns:a="http://schemas.openxmlformats.org/drawingml/2006/main">
              <a:ext uri="{FF2B5EF4-FFF2-40B4-BE49-F238E27FC236}">
                <a16:creationId xmlns:a16="http://schemas.microsoft.com/office/drawing/2014/main" id="{B7ABF9F6-A7C2-4462-9B37-CC9EB60B130B}"/>
              </a:ext>
            </a:extLst>
          </p:cNvPr>
          <p:cNvSpPr>
            <a:spLocks xmlns:a="http://schemas.openxmlformats.org/drawingml/2006/main" noGrp="1"/>
          </p:cNvSpPr>
          <p:nvPr/>
        </p:nvSpPr>
        <p:spPr>
          <a:xfrm xmlns:a="http://schemas.openxmlformats.org/drawingml/2006/main">
            <a:off x="8046720" y="5166360"/>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68" name="Text 66">
            <a:extLst xmlns:a="http://schemas.openxmlformats.org/drawingml/2006/main">
              <a:ext uri="{FF2B5EF4-FFF2-40B4-BE49-F238E27FC236}">
                <a16:creationId xmlns:a16="http://schemas.microsoft.com/office/drawing/2014/main" id="{307F2F6A-702E-4FFF-8456-2D2FDE066F69}"/>
              </a:ext>
            </a:extLst>
          </p:cNvPr>
          <p:cNvSpPr>
            <a:spLocks xmlns:a="http://schemas.openxmlformats.org/drawingml/2006/main" noGrp="1"/>
          </p:cNvSpPr>
          <p:nvPr/>
        </p:nvSpPr>
        <p:spPr>
          <a:xfrm xmlns:a="http://schemas.openxmlformats.org/drawingml/2006/main">
            <a:off x="8129016" y="520293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BESS境界</a:t>
            </a:r>
            <a:endParaRPr sz="1230"/>
          </a:p>
        </p:txBody>
      </p:sp>
      <p:sp>
        <p:nvSpPr>
          <p:cNvPr id="69" name="Text 67">
            <a:extLst xmlns:a="http://schemas.openxmlformats.org/drawingml/2006/main">
              <a:ext uri="{FF2B5EF4-FFF2-40B4-BE49-F238E27FC236}">
                <a16:creationId xmlns:a16="http://schemas.microsoft.com/office/drawing/2014/main" id="{773B50E0-FE46-4313-90E4-6CFFEA5F6D0E}"/>
              </a:ext>
            </a:extLst>
          </p:cNvPr>
          <p:cNvSpPr>
            <a:spLocks xmlns:a="http://schemas.openxmlformats.org/drawingml/2006/main" noGrp="1"/>
          </p:cNvSpPr>
          <p:nvPr/>
        </p:nvSpPr>
        <p:spPr>
          <a:xfrm xmlns:a="http://schemas.openxmlformats.org/drawingml/2006/main">
            <a:off x="9490558" y="520293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3,000 → 3,000 kWh</a:t>
            </a:r>
            <a:endParaRPr sz="1230"/>
          </a:p>
        </p:txBody>
      </p:sp>
      <p:sp>
        <p:nvSpPr>
          <p:cNvPr id="70" name="Text 68">
            <a:extLst xmlns:a="http://schemas.openxmlformats.org/drawingml/2006/main">
              <a:ext uri="{FF2B5EF4-FFF2-40B4-BE49-F238E27FC236}">
                <a16:creationId xmlns:a16="http://schemas.microsoft.com/office/drawing/2014/main" id="{9814D220-C359-40C3-827D-5522C760CFB8}"/>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参考構成：Fei et al. (2023) のケーススタディ入力表、Zhang et al. (2025) の車両・充電器条件表</a:t>
            </a:r>
            <a:endParaRPr sz="720"/>
          </a:p>
        </p:txBody>
      </p:sp>
      <p:sp>
        <p:nvSpPr>
          <p:cNvPr id="71" name="">
            <a:extLst xmlns:a="http://schemas.openxmlformats.org/drawingml/2006/main">
              <a:ext uri="{FF2B5EF4-FFF2-40B4-BE49-F238E27FC236}">
                <a16:creationId xmlns:a16="http://schemas.microsoft.com/office/drawing/2014/main" id="{ACF80F2D-643D-4098-8CB6-97F57247185B}"/>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0948928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D319BC0-4FAD-4748-9F67-0AA90A9B506E}"/>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設定パラメータ②：費用・計算・配車候補の条件</a:t>
            </a:r>
            <a:endParaRPr sz="2550"/>
          </a:p>
        </p:txBody>
      </p:sp>
      <p:sp>
        <p:nvSpPr>
          <p:cNvPr id="3" name="Shape 1">
            <a:extLst xmlns:a="http://schemas.openxmlformats.org/drawingml/2006/main">
              <a:ext uri="{FF2B5EF4-FFF2-40B4-BE49-F238E27FC236}">
                <a16:creationId xmlns:a16="http://schemas.microsoft.com/office/drawing/2014/main" id="{C8B1AB57-6E82-462A-BB4E-D25F2C8E3E5F}"/>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47AED1BF-E121-48D2-A826-442F86127886}"/>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A11E5D37-1DAA-433F-A0D3-C706E172A7CA}"/>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7/18</a:t>
            </a:r>
            <a:endParaRPr sz="850"/>
          </a:p>
        </p:txBody>
      </p:sp>
      <p:sp>
        <p:nvSpPr>
          <p:cNvPr id="6" name="Shape 4">
            <a:extLst xmlns:a="http://schemas.openxmlformats.org/drawingml/2006/main">
              <a:ext uri="{FF2B5EF4-FFF2-40B4-BE49-F238E27FC236}">
                <a16:creationId xmlns:a16="http://schemas.microsoft.com/office/drawing/2014/main" id="{7FD136E2-DCD0-4B6B-93FE-17C32BEFA101}"/>
              </a:ext>
            </a:extLst>
          </p:cNvPr>
          <p:cNvSpPr>
            <a:spLocks xmlns:a="http://schemas.openxmlformats.org/drawingml/2006/main" noGrp="1"/>
          </p:cNvSpPr>
          <p:nvPr/>
        </p:nvSpPr>
        <p:spPr>
          <a:xfrm xmlns:a="http://schemas.openxmlformats.org/drawingml/2006/main">
            <a:off x="685800" y="1097280"/>
            <a:ext cx="3520440" cy="4892040"/>
          </a:xfrm>
          <a:prstGeom xmlns:a="http://schemas.openxmlformats.org/drawingml/2006/main" prst="roundRect">
            <a:avLst>
              <a:gd name="adj" fmla="val 2078"/>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F0956043-8367-496E-B47C-9CB5F0B83951}"/>
              </a:ext>
            </a:extLst>
          </p:cNvPr>
          <p:cNvSpPr>
            <a:spLocks xmlns:a="http://schemas.openxmlformats.org/drawingml/2006/main" noGrp="1"/>
          </p:cNvSpPr>
          <p:nvPr/>
        </p:nvSpPr>
        <p:spPr>
          <a:xfrm xmlns:a="http://schemas.openxmlformats.org/drawingml/2006/main">
            <a:off x="685800" y="1097280"/>
            <a:ext cx="3520440" cy="438912"/>
          </a:xfrm>
          <a:prstGeom xmlns:a="http://schemas.openxmlformats.org/drawingml/2006/main" prst="rect">
            <a:avLst/>
          </a:prstGeom>
          <a:solidFill xmlns:a="http://schemas.openxmlformats.org/drawingml/2006/main">
            <a:srgbClr val="E98B3A"/>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B374972F-82B1-4343-B961-9FB41A60527A}"/>
              </a:ext>
            </a:extLst>
          </p:cNvPr>
          <p:cNvSpPr>
            <a:spLocks xmlns:a="http://schemas.openxmlformats.org/drawingml/2006/main" noGrp="1"/>
          </p:cNvSpPr>
          <p:nvPr/>
        </p:nvSpPr>
        <p:spPr>
          <a:xfrm xmlns:a="http://schemas.openxmlformats.org/drawingml/2006/main">
            <a:off x="795528" y="1161288"/>
            <a:ext cx="3300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費用の設定</a:t>
            </a:r>
            <a:endParaRPr sz="1650"/>
          </a:p>
        </p:txBody>
      </p:sp>
      <p:sp>
        <p:nvSpPr>
          <p:cNvPr id="9" name="Shape 7">
            <a:extLst xmlns:a="http://schemas.openxmlformats.org/drawingml/2006/main">
              <a:ext uri="{FF2B5EF4-FFF2-40B4-BE49-F238E27FC236}">
                <a16:creationId xmlns:a16="http://schemas.microsoft.com/office/drawing/2014/main" id="{9E04996E-C220-40E0-948F-328E5B765488}"/>
              </a:ext>
            </a:extLst>
          </p:cNvPr>
          <p:cNvSpPr>
            <a:spLocks xmlns:a="http://schemas.openxmlformats.org/drawingml/2006/main" noGrp="1"/>
          </p:cNvSpPr>
          <p:nvPr/>
        </p:nvSpPr>
        <p:spPr>
          <a:xfrm xmlns:a="http://schemas.openxmlformats.org/drawingml/2006/main">
            <a:off x="758952" y="1627632"/>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A12746BF-1522-4035-A01C-684F502FA102}"/>
              </a:ext>
            </a:extLst>
          </p:cNvPr>
          <p:cNvSpPr>
            <a:spLocks xmlns:a="http://schemas.openxmlformats.org/drawingml/2006/main" noGrp="1"/>
          </p:cNvSpPr>
          <p:nvPr/>
        </p:nvSpPr>
        <p:spPr>
          <a:xfrm xmlns:a="http://schemas.openxmlformats.org/drawingml/2006/main">
            <a:off x="841248" y="166420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系統電力単価</a:t>
            </a:r>
            <a:endParaRPr sz="1230"/>
          </a:p>
        </p:txBody>
      </p:sp>
      <p:sp>
        <p:nvSpPr>
          <p:cNvPr id="11" name="Text 9">
            <a:extLst xmlns:a="http://schemas.openxmlformats.org/drawingml/2006/main">
              <a:ext uri="{FF2B5EF4-FFF2-40B4-BE49-F238E27FC236}">
                <a16:creationId xmlns:a16="http://schemas.microsoft.com/office/drawing/2014/main" id="{7C4067BF-FD9F-46F1-9F96-9BA0DB1BADD9}"/>
              </a:ext>
            </a:extLst>
          </p:cNvPr>
          <p:cNvSpPr>
            <a:spLocks xmlns:a="http://schemas.openxmlformats.org/drawingml/2006/main" noGrp="1"/>
          </p:cNvSpPr>
          <p:nvPr/>
        </p:nvSpPr>
        <p:spPr>
          <a:xfrm xmlns:a="http://schemas.openxmlformats.org/drawingml/2006/main">
            <a:off x="2164385" y="166420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30 円/kWh</a:t>
            </a:r>
            <a:endParaRPr sz="1230"/>
          </a:p>
        </p:txBody>
      </p:sp>
      <p:sp>
        <p:nvSpPr>
          <p:cNvPr id="12" name="Text 10">
            <a:extLst xmlns:a="http://schemas.openxmlformats.org/drawingml/2006/main">
              <a:ext uri="{FF2B5EF4-FFF2-40B4-BE49-F238E27FC236}">
                <a16:creationId xmlns:a16="http://schemas.microsoft.com/office/drawing/2014/main" id="{B117A762-32D0-46CD-B15D-780FF59E068C}"/>
              </a:ext>
            </a:extLst>
          </p:cNvPr>
          <p:cNvSpPr>
            <a:spLocks xmlns:a="http://schemas.openxmlformats.org/drawingml/2006/main" noGrp="1"/>
          </p:cNvSpPr>
          <p:nvPr/>
        </p:nvSpPr>
        <p:spPr>
          <a:xfrm xmlns:a="http://schemas.openxmlformats.org/drawingml/2006/main">
            <a:off x="841248" y="223113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軽油単価</a:t>
            </a:r>
            <a:endParaRPr sz="1230"/>
          </a:p>
        </p:txBody>
      </p:sp>
      <p:sp>
        <p:nvSpPr>
          <p:cNvPr id="13" name="Text 11">
            <a:extLst xmlns:a="http://schemas.openxmlformats.org/drawingml/2006/main">
              <a:ext uri="{FF2B5EF4-FFF2-40B4-BE49-F238E27FC236}">
                <a16:creationId xmlns:a16="http://schemas.microsoft.com/office/drawing/2014/main" id="{603BC712-695C-4784-86C2-16A84B01B57E}"/>
              </a:ext>
            </a:extLst>
          </p:cNvPr>
          <p:cNvSpPr>
            <a:spLocks xmlns:a="http://schemas.openxmlformats.org/drawingml/2006/main" noGrp="1"/>
          </p:cNvSpPr>
          <p:nvPr/>
        </p:nvSpPr>
        <p:spPr>
          <a:xfrm xmlns:a="http://schemas.openxmlformats.org/drawingml/2006/main">
            <a:off x="2164385" y="223113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150 円/L</a:t>
            </a:r>
            <a:endParaRPr sz="1230"/>
          </a:p>
        </p:txBody>
      </p:sp>
      <p:sp>
        <p:nvSpPr>
          <p:cNvPr id="14" name="Shape 12">
            <a:extLst xmlns:a="http://schemas.openxmlformats.org/drawingml/2006/main">
              <a:ext uri="{FF2B5EF4-FFF2-40B4-BE49-F238E27FC236}">
                <a16:creationId xmlns:a16="http://schemas.microsoft.com/office/drawing/2014/main" id="{2028933E-C3AE-4462-ABC8-6D6888E81F9E}"/>
              </a:ext>
            </a:extLst>
          </p:cNvPr>
          <p:cNvSpPr>
            <a:spLocks xmlns:a="http://schemas.openxmlformats.org/drawingml/2006/main" noGrp="1"/>
          </p:cNvSpPr>
          <p:nvPr/>
        </p:nvSpPr>
        <p:spPr>
          <a:xfrm xmlns:a="http://schemas.openxmlformats.org/drawingml/2006/main">
            <a:off x="758952" y="2761488"/>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A944113-13AB-418C-A23B-CBCF314FE2B8}"/>
              </a:ext>
            </a:extLst>
          </p:cNvPr>
          <p:cNvSpPr>
            <a:spLocks xmlns:a="http://schemas.openxmlformats.org/drawingml/2006/main" noGrp="1"/>
          </p:cNvSpPr>
          <p:nvPr/>
        </p:nvSpPr>
        <p:spPr>
          <a:xfrm xmlns:a="http://schemas.openxmlformats.org/drawingml/2006/main">
            <a:off x="841248" y="2798064"/>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車両使用費</a:t>
            </a:r>
            <a:endParaRPr sz="1230"/>
          </a:p>
        </p:txBody>
      </p:sp>
      <p:sp>
        <p:nvSpPr>
          <p:cNvPr id="16" name="Text 14">
            <a:extLst xmlns:a="http://schemas.openxmlformats.org/drawingml/2006/main">
              <a:ext uri="{FF2B5EF4-FFF2-40B4-BE49-F238E27FC236}">
                <a16:creationId xmlns:a16="http://schemas.microsoft.com/office/drawing/2014/main" id="{2687A01E-EB35-4F39-8B1E-8C4EFED7EE1F}"/>
              </a:ext>
            </a:extLst>
          </p:cNvPr>
          <p:cNvSpPr>
            <a:spLocks xmlns:a="http://schemas.openxmlformats.org/drawingml/2006/main" noGrp="1"/>
          </p:cNvSpPr>
          <p:nvPr/>
        </p:nvSpPr>
        <p:spPr>
          <a:xfrm xmlns:a="http://schemas.openxmlformats.org/drawingml/2006/main">
            <a:off x="2164385" y="2798064"/>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20,000 円/台日</a:t>
            </a:r>
            <a:endParaRPr sz="1230"/>
          </a:p>
        </p:txBody>
      </p:sp>
      <p:sp>
        <p:nvSpPr>
          <p:cNvPr id="17" name="Text 15">
            <a:extLst xmlns:a="http://schemas.openxmlformats.org/drawingml/2006/main">
              <a:ext uri="{FF2B5EF4-FFF2-40B4-BE49-F238E27FC236}">
                <a16:creationId xmlns:a16="http://schemas.microsoft.com/office/drawing/2014/main" id="{392BB98C-5E71-4073-97F9-872D08D58B4C}"/>
              </a:ext>
            </a:extLst>
          </p:cNvPr>
          <p:cNvSpPr>
            <a:spLocks xmlns:a="http://schemas.openxmlformats.org/drawingml/2006/main" noGrp="1"/>
          </p:cNvSpPr>
          <p:nvPr/>
        </p:nvSpPr>
        <p:spPr>
          <a:xfrm xmlns:a="http://schemas.openxmlformats.org/drawingml/2006/main">
            <a:off x="841248" y="3364992"/>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CO₂価格</a:t>
            </a:r>
            <a:endParaRPr sz="1230"/>
          </a:p>
        </p:txBody>
      </p:sp>
      <p:sp>
        <p:nvSpPr>
          <p:cNvPr id="18" name="Text 16">
            <a:extLst xmlns:a="http://schemas.openxmlformats.org/drawingml/2006/main">
              <a:ext uri="{FF2B5EF4-FFF2-40B4-BE49-F238E27FC236}">
                <a16:creationId xmlns:a16="http://schemas.microsoft.com/office/drawing/2014/main" id="{72041968-9A51-4EB0-A577-B434A07555C4}"/>
              </a:ext>
            </a:extLst>
          </p:cNvPr>
          <p:cNvSpPr>
            <a:spLocks xmlns:a="http://schemas.openxmlformats.org/drawingml/2006/main" noGrp="1"/>
          </p:cNvSpPr>
          <p:nvPr/>
        </p:nvSpPr>
        <p:spPr>
          <a:xfrm xmlns:a="http://schemas.openxmlformats.org/drawingml/2006/main">
            <a:off x="2164385" y="3364992"/>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 円/kg</a:t>
            </a:r>
            <a:endParaRPr sz="1230"/>
          </a:p>
        </p:txBody>
      </p:sp>
      <p:sp>
        <p:nvSpPr>
          <p:cNvPr id="19" name="Shape 17">
            <a:extLst xmlns:a="http://schemas.openxmlformats.org/drawingml/2006/main">
              <a:ext uri="{FF2B5EF4-FFF2-40B4-BE49-F238E27FC236}">
                <a16:creationId xmlns:a16="http://schemas.microsoft.com/office/drawing/2014/main" id="{7DFF92C1-69A5-4B0D-BFAC-ED309F79B043}"/>
              </a:ext>
            </a:extLst>
          </p:cNvPr>
          <p:cNvSpPr>
            <a:spLocks xmlns:a="http://schemas.openxmlformats.org/drawingml/2006/main" noGrp="1"/>
          </p:cNvSpPr>
          <p:nvPr/>
        </p:nvSpPr>
        <p:spPr>
          <a:xfrm xmlns:a="http://schemas.openxmlformats.org/drawingml/2006/main">
            <a:off x="758952" y="3895344"/>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E75D36E8-DCD0-47A0-84F0-195391AE4954}"/>
              </a:ext>
            </a:extLst>
          </p:cNvPr>
          <p:cNvSpPr>
            <a:spLocks xmlns:a="http://schemas.openxmlformats.org/drawingml/2006/main" noGrp="1"/>
          </p:cNvSpPr>
          <p:nvPr/>
        </p:nvSpPr>
        <p:spPr>
          <a:xfrm xmlns:a="http://schemas.openxmlformats.org/drawingml/2006/main">
            <a:off x="841248" y="3931920"/>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需要料金</a:t>
            </a:r>
            <a:endParaRPr sz="1230"/>
          </a:p>
        </p:txBody>
      </p:sp>
      <p:sp>
        <p:nvSpPr>
          <p:cNvPr id="21" name="Text 19">
            <a:extLst xmlns:a="http://schemas.openxmlformats.org/drawingml/2006/main">
              <a:ext uri="{FF2B5EF4-FFF2-40B4-BE49-F238E27FC236}">
                <a16:creationId xmlns:a16="http://schemas.microsoft.com/office/drawing/2014/main" id="{23890774-8BC5-4B00-B5B8-54CD0E1D1A7C}"/>
              </a:ext>
            </a:extLst>
          </p:cNvPr>
          <p:cNvSpPr>
            <a:spLocks xmlns:a="http://schemas.openxmlformats.org/drawingml/2006/main" noGrp="1"/>
          </p:cNvSpPr>
          <p:nvPr/>
        </p:nvSpPr>
        <p:spPr>
          <a:xfrm xmlns:a="http://schemas.openxmlformats.org/drawingml/2006/main">
            <a:off x="2164385" y="3931920"/>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0 円/kW</a:t>
            </a:r>
            <a:endParaRPr sz="1230"/>
          </a:p>
        </p:txBody>
      </p:sp>
      <p:sp>
        <p:nvSpPr>
          <p:cNvPr id="22" name="Text 20">
            <a:extLst xmlns:a="http://schemas.openxmlformats.org/drawingml/2006/main">
              <a:ext uri="{FF2B5EF4-FFF2-40B4-BE49-F238E27FC236}">
                <a16:creationId xmlns:a16="http://schemas.microsoft.com/office/drawing/2014/main" id="{761548A2-363C-41A7-9786-39F0F4048D6C}"/>
              </a:ext>
            </a:extLst>
          </p:cNvPr>
          <p:cNvSpPr>
            <a:spLocks xmlns:a="http://schemas.openxmlformats.org/drawingml/2006/main" noGrp="1"/>
          </p:cNvSpPr>
          <p:nvPr/>
        </p:nvSpPr>
        <p:spPr>
          <a:xfrm xmlns:a="http://schemas.openxmlformats.org/drawingml/2006/main">
            <a:off x="841248" y="449884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売電単価</a:t>
            </a:r>
            <a:endParaRPr sz="1230"/>
          </a:p>
        </p:txBody>
      </p:sp>
      <p:sp>
        <p:nvSpPr>
          <p:cNvPr id="23" name="Text 21">
            <a:extLst xmlns:a="http://schemas.openxmlformats.org/drawingml/2006/main">
              <a:ext uri="{FF2B5EF4-FFF2-40B4-BE49-F238E27FC236}">
                <a16:creationId xmlns:a16="http://schemas.microsoft.com/office/drawing/2014/main" id="{2601EF41-9286-4505-94A9-C2AF40952555}"/>
              </a:ext>
            </a:extLst>
          </p:cNvPr>
          <p:cNvSpPr>
            <a:spLocks xmlns:a="http://schemas.openxmlformats.org/drawingml/2006/main" noGrp="1"/>
          </p:cNvSpPr>
          <p:nvPr/>
        </p:nvSpPr>
        <p:spPr>
          <a:xfrm xmlns:a="http://schemas.openxmlformats.org/drawingml/2006/main">
            <a:off x="2164385" y="449884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0 円/kWh</a:t>
            </a:r>
            <a:endParaRPr sz="1230"/>
          </a:p>
        </p:txBody>
      </p:sp>
      <p:sp>
        <p:nvSpPr>
          <p:cNvPr id="24" name="Shape 22">
            <a:extLst xmlns:a="http://schemas.openxmlformats.org/drawingml/2006/main">
              <a:ext uri="{FF2B5EF4-FFF2-40B4-BE49-F238E27FC236}">
                <a16:creationId xmlns:a16="http://schemas.microsoft.com/office/drawing/2014/main" id="{EE22E24F-C2D5-43EC-B6CE-CBC49E442929}"/>
              </a:ext>
            </a:extLst>
          </p:cNvPr>
          <p:cNvSpPr>
            <a:spLocks xmlns:a="http://schemas.openxmlformats.org/drawingml/2006/main" noGrp="1"/>
          </p:cNvSpPr>
          <p:nvPr/>
        </p:nvSpPr>
        <p:spPr>
          <a:xfrm xmlns:a="http://schemas.openxmlformats.org/drawingml/2006/main">
            <a:off x="758952" y="5029200"/>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2FF65380-6E21-4048-A265-67FD434C7D1E}"/>
              </a:ext>
            </a:extLst>
          </p:cNvPr>
          <p:cNvSpPr>
            <a:spLocks xmlns:a="http://schemas.openxmlformats.org/drawingml/2006/main" noGrp="1"/>
          </p:cNvSpPr>
          <p:nvPr/>
        </p:nvSpPr>
        <p:spPr>
          <a:xfrm xmlns:a="http://schemas.openxmlformats.org/drawingml/2006/main">
            <a:off x="841248" y="506577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含まない費用</a:t>
            </a:r>
            <a:endParaRPr sz="1230"/>
          </a:p>
        </p:txBody>
      </p:sp>
      <p:sp>
        <p:nvSpPr>
          <p:cNvPr id="26" name="Text 24">
            <a:extLst xmlns:a="http://schemas.openxmlformats.org/drawingml/2006/main">
              <a:ext uri="{FF2B5EF4-FFF2-40B4-BE49-F238E27FC236}">
                <a16:creationId xmlns:a16="http://schemas.microsoft.com/office/drawing/2014/main" id="{9D4096D2-B603-472E-8460-A1FCAD847C00}"/>
              </a:ext>
            </a:extLst>
          </p:cNvPr>
          <p:cNvSpPr>
            <a:spLocks xmlns:a="http://schemas.openxmlformats.org/drawingml/2006/main" noGrp="1"/>
          </p:cNvSpPr>
          <p:nvPr/>
        </p:nvSpPr>
        <p:spPr>
          <a:xfrm xmlns:a="http://schemas.openxmlformats.org/drawingml/2006/main">
            <a:off x="2164385" y="506577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設備費・劣化費・運転士費</a:t>
            </a:r>
            <a:endParaRPr sz="1230"/>
          </a:p>
        </p:txBody>
      </p:sp>
      <p:sp>
        <p:nvSpPr>
          <p:cNvPr id="27" name="Shape 25">
            <a:extLst xmlns:a="http://schemas.openxmlformats.org/drawingml/2006/main">
              <a:ext uri="{FF2B5EF4-FFF2-40B4-BE49-F238E27FC236}">
                <a16:creationId xmlns:a16="http://schemas.microsoft.com/office/drawing/2014/main" id="{813093D8-2FD2-4F68-9868-EB4881D03B1F}"/>
              </a:ext>
            </a:extLst>
          </p:cNvPr>
          <p:cNvSpPr>
            <a:spLocks xmlns:a="http://schemas.openxmlformats.org/drawingml/2006/main" noGrp="1"/>
          </p:cNvSpPr>
          <p:nvPr/>
        </p:nvSpPr>
        <p:spPr>
          <a:xfrm xmlns:a="http://schemas.openxmlformats.org/drawingml/2006/main">
            <a:off x="4343400" y="1097280"/>
            <a:ext cx="3520440" cy="4892040"/>
          </a:xfrm>
          <a:prstGeom xmlns:a="http://schemas.openxmlformats.org/drawingml/2006/main" prst="roundRect">
            <a:avLst>
              <a:gd name="adj" fmla="val 2078"/>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8" name="Shape 26">
            <a:extLst xmlns:a="http://schemas.openxmlformats.org/drawingml/2006/main">
              <a:ext uri="{FF2B5EF4-FFF2-40B4-BE49-F238E27FC236}">
                <a16:creationId xmlns:a16="http://schemas.microsoft.com/office/drawing/2014/main" id="{F5376FDB-E573-4793-AC7F-6A8FB623696C}"/>
              </a:ext>
            </a:extLst>
          </p:cNvPr>
          <p:cNvSpPr>
            <a:spLocks xmlns:a="http://schemas.openxmlformats.org/drawingml/2006/main" noGrp="1"/>
          </p:cNvSpPr>
          <p:nvPr/>
        </p:nvSpPr>
        <p:spPr>
          <a:xfrm xmlns:a="http://schemas.openxmlformats.org/drawingml/2006/main">
            <a:off x="4343400" y="1097280"/>
            <a:ext cx="3520440" cy="438912"/>
          </a:xfrm>
          <a:prstGeom xmlns:a="http://schemas.openxmlformats.org/drawingml/2006/main" prst="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8B4F5E2B-C4D2-4EC8-A604-DFC9BFCC75DA}"/>
              </a:ext>
            </a:extLst>
          </p:cNvPr>
          <p:cNvSpPr>
            <a:spLocks xmlns:a="http://schemas.openxmlformats.org/drawingml/2006/main" noGrp="1"/>
          </p:cNvSpPr>
          <p:nvPr/>
        </p:nvSpPr>
        <p:spPr>
          <a:xfrm xmlns:a="http://schemas.openxmlformats.org/drawingml/2006/main">
            <a:off x="4453128" y="1161288"/>
            <a:ext cx="3300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計算の設定</a:t>
            </a:r>
            <a:endParaRPr sz="1650"/>
          </a:p>
        </p:txBody>
      </p:sp>
      <p:sp>
        <p:nvSpPr>
          <p:cNvPr id="30" name="Shape 28">
            <a:extLst xmlns:a="http://schemas.openxmlformats.org/drawingml/2006/main">
              <a:ext uri="{FF2B5EF4-FFF2-40B4-BE49-F238E27FC236}">
                <a16:creationId xmlns:a16="http://schemas.microsoft.com/office/drawing/2014/main" id="{70A294B0-F4C8-4F2B-BC89-8502D4AA0B31}"/>
              </a:ext>
            </a:extLst>
          </p:cNvPr>
          <p:cNvSpPr>
            <a:spLocks xmlns:a="http://schemas.openxmlformats.org/drawingml/2006/main" noGrp="1"/>
          </p:cNvSpPr>
          <p:nvPr/>
        </p:nvSpPr>
        <p:spPr>
          <a:xfrm xmlns:a="http://schemas.openxmlformats.org/drawingml/2006/main">
            <a:off x="4416552" y="1627632"/>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2862C42F-4E4A-448E-8477-1AB345376512}"/>
              </a:ext>
            </a:extLst>
          </p:cNvPr>
          <p:cNvSpPr>
            <a:spLocks xmlns:a="http://schemas.openxmlformats.org/drawingml/2006/main" noGrp="1"/>
          </p:cNvSpPr>
          <p:nvPr/>
        </p:nvSpPr>
        <p:spPr>
          <a:xfrm xmlns:a="http://schemas.openxmlformats.org/drawingml/2006/main">
            <a:off x="4498848" y="166420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計算方式</a:t>
            </a:r>
            <a:endParaRPr sz="1230"/>
          </a:p>
        </p:txBody>
      </p:sp>
      <p:sp>
        <p:nvSpPr>
          <p:cNvPr id="32" name="Text 30">
            <a:extLst xmlns:a="http://schemas.openxmlformats.org/drawingml/2006/main">
              <a:ext uri="{FF2B5EF4-FFF2-40B4-BE49-F238E27FC236}">
                <a16:creationId xmlns:a16="http://schemas.microsoft.com/office/drawing/2014/main" id="{FB47F912-569C-49DA-9F48-B655921A0644}"/>
              </a:ext>
            </a:extLst>
          </p:cNvPr>
          <p:cNvSpPr>
            <a:spLocks xmlns:a="http://schemas.openxmlformats.org/drawingml/2006/main" noGrp="1"/>
          </p:cNvSpPr>
          <p:nvPr/>
        </p:nvSpPr>
        <p:spPr>
          <a:xfrm xmlns:a="http://schemas.openxmlformats.org/drawingml/2006/main">
            <a:off x="5821985" y="166420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二段階方式</a:t>
            </a:r>
            <a:endParaRPr sz="1230"/>
          </a:p>
        </p:txBody>
      </p:sp>
      <p:sp>
        <p:nvSpPr>
          <p:cNvPr id="33" name="Text 31">
            <a:extLst xmlns:a="http://schemas.openxmlformats.org/drawingml/2006/main">
              <a:ext uri="{FF2B5EF4-FFF2-40B4-BE49-F238E27FC236}">
                <a16:creationId xmlns:a16="http://schemas.microsoft.com/office/drawing/2014/main" id="{10304F0F-1C37-4629-96D0-A2BC1DB02959}"/>
              </a:ext>
            </a:extLst>
          </p:cNvPr>
          <p:cNvSpPr>
            <a:spLocks xmlns:a="http://schemas.openxmlformats.org/drawingml/2006/main" noGrp="1"/>
          </p:cNvSpPr>
          <p:nvPr/>
        </p:nvSpPr>
        <p:spPr>
          <a:xfrm xmlns:a="http://schemas.openxmlformats.org/drawingml/2006/main">
            <a:off x="4498848" y="223113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要求上限</a:t>
            </a:r>
            <a:endParaRPr sz="1230"/>
          </a:p>
        </p:txBody>
      </p:sp>
      <p:sp>
        <p:nvSpPr>
          <p:cNvPr id="34" name="Text 32">
            <a:extLst xmlns:a="http://schemas.openxmlformats.org/drawingml/2006/main">
              <a:ext uri="{FF2B5EF4-FFF2-40B4-BE49-F238E27FC236}">
                <a16:creationId xmlns:a16="http://schemas.microsoft.com/office/drawing/2014/main" id="{B2738F89-EBD0-4FA4-9BA7-718E82833A73}"/>
              </a:ext>
            </a:extLst>
          </p:cNvPr>
          <p:cNvSpPr>
            <a:spLocks xmlns:a="http://schemas.openxmlformats.org/drawingml/2006/main" noGrp="1"/>
          </p:cNvSpPr>
          <p:nvPr/>
        </p:nvSpPr>
        <p:spPr>
          <a:xfrm xmlns:a="http://schemas.openxmlformats.org/drawingml/2006/main">
            <a:off x="5821985" y="223113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585秒</a:t>
            </a:r>
            <a:endParaRPr sz="1230"/>
          </a:p>
        </p:txBody>
      </p:sp>
      <p:sp>
        <p:nvSpPr>
          <p:cNvPr id="35" name="Shape 33">
            <a:extLst xmlns:a="http://schemas.openxmlformats.org/drawingml/2006/main">
              <a:ext uri="{FF2B5EF4-FFF2-40B4-BE49-F238E27FC236}">
                <a16:creationId xmlns:a16="http://schemas.microsoft.com/office/drawing/2014/main" id="{72930F52-54C4-4AA9-AF48-94CF2D662796}"/>
              </a:ext>
            </a:extLst>
          </p:cNvPr>
          <p:cNvSpPr>
            <a:spLocks xmlns:a="http://schemas.openxmlformats.org/drawingml/2006/main" noGrp="1"/>
          </p:cNvSpPr>
          <p:nvPr/>
        </p:nvSpPr>
        <p:spPr>
          <a:xfrm xmlns:a="http://schemas.openxmlformats.org/drawingml/2006/main">
            <a:off x="4416552" y="2761488"/>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109F0BB9-9EB5-465A-84A5-55F9D1113C97}"/>
              </a:ext>
            </a:extLst>
          </p:cNvPr>
          <p:cNvSpPr>
            <a:spLocks xmlns:a="http://schemas.openxmlformats.org/drawingml/2006/main" noGrp="1"/>
          </p:cNvSpPr>
          <p:nvPr/>
        </p:nvSpPr>
        <p:spPr>
          <a:xfrm xmlns:a="http://schemas.openxmlformats.org/drawingml/2006/main">
            <a:off x="4498848" y="2798064"/>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配車側上限</a:t>
            </a:r>
            <a:endParaRPr sz="1230"/>
          </a:p>
        </p:txBody>
      </p:sp>
      <p:sp>
        <p:nvSpPr>
          <p:cNvPr id="37" name="Text 35">
            <a:extLst xmlns:a="http://schemas.openxmlformats.org/drawingml/2006/main">
              <a:ext uri="{FF2B5EF4-FFF2-40B4-BE49-F238E27FC236}">
                <a16:creationId xmlns:a16="http://schemas.microsoft.com/office/drawing/2014/main" id="{B1EF650B-8D7F-451A-9569-A17A3B1D9632}"/>
              </a:ext>
            </a:extLst>
          </p:cNvPr>
          <p:cNvSpPr>
            <a:spLocks xmlns:a="http://schemas.openxmlformats.org/drawingml/2006/main" noGrp="1"/>
          </p:cNvSpPr>
          <p:nvPr/>
        </p:nvSpPr>
        <p:spPr>
          <a:xfrm xmlns:a="http://schemas.openxmlformats.org/drawingml/2006/main">
            <a:off x="5821985" y="2798064"/>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435秒</a:t>
            </a:r>
            <a:endParaRPr sz="1230"/>
          </a:p>
        </p:txBody>
      </p:sp>
      <p:sp>
        <p:nvSpPr>
          <p:cNvPr id="38" name="Text 36">
            <a:extLst xmlns:a="http://schemas.openxmlformats.org/drawingml/2006/main">
              <a:ext uri="{FF2B5EF4-FFF2-40B4-BE49-F238E27FC236}">
                <a16:creationId xmlns:a16="http://schemas.microsoft.com/office/drawing/2014/main" id="{15ADD545-1DA9-4766-9BE5-4181F489DC81}"/>
              </a:ext>
            </a:extLst>
          </p:cNvPr>
          <p:cNvSpPr>
            <a:spLocks xmlns:a="http://schemas.openxmlformats.org/drawingml/2006/main" noGrp="1"/>
          </p:cNvSpPr>
          <p:nvPr/>
        </p:nvSpPr>
        <p:spPr>
          <a:xfrm xmlns:a="http://schemas.openxmlformats.org/drawingml/2006/main">
            <a:off x="4498848" y="3364992"/>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充電側上限</a:t>
            </a:r>
            <a:endParaRPr sz="1230"/>
          </a:p>
        </p:txBody>
      </p:sp>
      <p:sp>
        <p:nvSpPr>
          <p:cNvPr id="39" name="Text 37">
            <a:extLst xmlns:a="http://schemas.openxmlformats.org/drawingml/2006/main">
              <a:ext uri="{FF2B5EF4-FFF2-40B4-BE49-F238E27FC236}">
                <a16:creationId xmlns:a16="http://schemas.microsoft.com/office/drawing/2014/main" id="{06CDA3DC-0BFC-45E6-964A-A5C73C2B6D1A}"/>
              </a:ext>
            </a:extLst>
          </p:cNvPr>
          <p:cNvSpPr>
            <a:spLocks xmlns:a="http://schemas.openxmlformats.org/drawingml/2006/main" noGrp="1"/>
          </p:cNvSpPr>
          <p:nvPr/>
        </p:nvSpPr>
        <p:spPr>
          <a:xfrm xmlns:a="http://schemas.openxmlformats.org/drawingml/2006/main">
            <a:off x="5821985" y="3364992"/>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30秒／候補</a:t>
            </a:r>
            <a:endParaRPr sz="1230"/>
          </a:p>
        </p:txBody>
      </p:sp>
      <p:sp>
        <p:nvSpPr>
          <p:cNvPr id="40" name="Shape 38">
            <a:extLst xmlns:a="http://schemas.openxmlformats.org/drawingml/2006/main">
              <a:ext uri="{FF2B5EF4-FFF2-40B4-BE49-F238E27FC236}">
                <a16:creationId xmlns:a16="http://schemas.microsoft.com/office/drawing/2014/main" id="{D6954328-B50E-4D07-927A-5B77E149ECD4}"/>
              </a:ext>
            </a:extLst>
          </p:cNvPr>
          <p:cNvSpPr>
            <a:spLocks xmlns:a="http://schemas.openxmlformats.org/drawingml/2006/main" noGrp="1"/>
          </p:cNvSpPr>
          <p:nvPr/>
        </p:nvSpPr>
        <p:spPr>
          <a:xfrm xmlns:a="http://schemas.openxmlformats.org/drawingml/2006/main">
            <a:off x="4416552" y="3895344"/>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Text 39">
            <a:extLst xmlns:a="http://schemas.openxmlformats.org/drawingml/2006/main">
              <a:ext uri="{FF2B5EF4-FFF2-40B4-BE49-F238E27FC236}">
                <a16:creationId xmlns:a16="http://schemas.microsoft.com/office/drawing/2014/main" id="{64404811-E5F6-424B-B6F7-7884663F8DE9}"/>
              </a:ext>
            </a:extLst>
          </p:cNvPr>
          <p:cNvSpPr>
            <a:spLocks xmlns:a="http://schemas.openxmlformats.org/drawingml/2006/main" noGrp="1"/>
          </p:cNvSpPr>
          <p:nvPr/>
        </p:nvSpPr>
        <p:spPr>
          <a:xfrm xmlns:a="http://schemas.openxmlformats.org/drawingml/2006/main">
            <a:off x="4498848" y="3931920"/>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乱数seed</a:t>
            </a:r>
            <a:endParaRPr sz="1230"/>
          </a:p>
        </p:txBody>
      </p:sp>
      <p:sp>
        <p:nvSpPr>
          <p:cNvPr id="42" name="Text 40">
            <a:extLst xmlns:a="http://schemas.openxmlformats.org/drawingml/2006/main">
              <a:ext uri="{FF2B5EF4-FFF2-40B4-BE49-F238E27FC236}">
                <a16:creationId xmlns:a16="http://schemas.microsoft.com/office/drawing/2014/main" id="{6CAC1E23-0D91-4827-8898-DC676B5DA231}"/>
              </a:ext>
            </a:extLst>
          </p:cNvPr>
          <p:cNvSpPr>
            <a:spLocks xmlns:a="http://schemas.openxmlformats.org/drawingml/2006/main" noGrp="1"/>
          </p:cNvSpPr>
          <p:nvPr/>
        </p:nvSpPr>
        <p:spPr>
          <a:xfrm xmlns:a="http://schemas.openxmlformats.org/drawingml/2006/main">
            <a:off x="5821985" y="3931920"/>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42</a:t>
            </a:r>
            <a:endParaRPr sz="1230"/>
          </a:p>
        </p:txBody>
      </p:sp>
      <p:sp>
        <p:nvSpPr>
          <p:cNvPr id="43" name="Text 41">
            <a:extLst xmlns:a="http://schemas.openxmlformats.org/drawingml/2006/main">
              <a:ext uri="{FF2B5EF4-FFF2-40B4-BE49-F238E27FC236}">
                <a16:creationId xmlns:a16="http://schemas.microsoft.com/office/drawing/2014/main" id="{FBE20B09-943B-4082-9735-9BBE421BC26A}"/>
              </a:ext>
            </a:extLst>
          </p:cNvPr>
          <p:cNvSpPr>
            <a:spLocks xmlns:a="http://schemas.openxmlformats.org/drawingml/2006/main" noGrp="1"/>
          </p:cNvSpPr>
          <p:nvPr/>
        </p:nvSpPr>
        <p:spPr>
          <a:xfrm xmlns:a="http://schemas.openxmlformats.org/drawingml/2006/main">
            <a:off x="4498848" y="449884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CPU thread</a:t>
            </a:r>
            <a:endParaRPr sz="1230"/>
          </a:p>
        </p:txBody>
      </p:sp>
      <p:sp>
        <p:nvSpPr>
          <p:cNvPr id="44" name="Text 42">
            <a:extLst xmlns:a="http://schemas.openxmlformats.org/drawingml/2006/main">
              <a:ext uri="{FF2B5EF4-FFF2-40B4-BE49-F238E27FC236}">
                <a16:creationId xmlns:a16="http://schemas.microsoft.com/office/drawing/2014/main" id="{A93EF3FC-B0CD-40C1-BAB1-E4EBB702421D}"/>
              </a:ext>
            </a:extLst>
          </p:cNvPr>
          <p:cNvSpPr>
            <a:spLocks xmlns:a="http://schemas.openxmlformats.org/drawingml/2006/main" noGrp="1"/>
          </p:cNvSpPr>
          <p:nvPr/>
        </p:nvSpPr>
        <p:spPr>
          <a:xfrm xmlns:a="http://schemas.openxmlformats.org/drawingml/2006/main">
            <a:off x="5821985" y="449884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a:t>
            </a:r>
            <a:endParaRPr sz="1230"/>
          </a:p>
        </p:txBody>
      </p:sp>
      <p:sp>
        <p:nvSpPr>
          <p:cNvPr id="45" name="Shape 43">
            <a:extLst xmlns:a="http://schemas.openxmlformats.org/drawingml/2006/main">
              <a:ext uri="{FF2B5EF4-FFF2-40B4-BE49-F238E27FC236}">
                <a16:creationId xmlns:a16="http://schemas.microsoft.com/office/drawing/2014/main" id="{8D8F176F-8F6D-4119-A810-02925BB21389}"/>
              </a:ext>
            </a:extLst>
          </p:cNvPr>
          <p:cNvSpPr>
            <a:spLocks xmlns:a="http://schemas.openxmlformats.org/drawingml/2006/main" noGrp="1"/>
          </p:cNvSpPr>
          <p:nvPr/>
        </p:nvSpPr>
        <p:spPr>
          <a:xfrm xmlns:a="http://schemas.openxmlformats.org/drawingml/2006/main">
            <a:off x="4416552" y="5029200"/>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61B4A487-821E-49CF-8DA7-6CCC5D6CB4A3}"/>
              </a:ext>
            </a:extLst>
          </p:cNvPr>
          <p:cNvSpPr>
            <a:spLocks xmlns:a="http://schemas.openxmlformats.org/drawingml/2006/main" noGrp="1"/>
          </p:cNvSpPr>
          <p:nvPr/>
        </p:nvSpPr>
        <p:spPr>
          <a:xfrm xmlns:a="http://schemas.openxmlformats.org/drawingml/2006/main">
            <a:off x="4498848" y="506577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目標gap</a:t>
            </a:r>
            <a:endParaRPr sz="1230"/>
          </a:p>
        </p:txBody>
      </p:sp>
      <p:sp>
        <p:nvSpPr>
          <p:cNvPr id="47" name="Text 45">
            <a:extLst xmlns:a="http://schemas.openxmlformats.org/drawingml/2006/main">
              <a:ext uri="{FF2B5EF4-FFF2-40B4-BE49-F238E27FC236}">
                <a16:creationId xmlns:a16="http://schemas.microsoft.com/office/drawing/2014/main" id="{788403A0-4D9C-401B-B87E-9297956F0D31}"/>
              </a:ext>
            </a:extLst>
          </p:cNvPr>
          <p:cNvSpPr>
            <a:spLocks xmlns:a="http://schemas.openxmlformats.org/drawingml/2006/main" noGrp="1"/>
          </p:cNvSpPr>
          <p:nvPr/>
        </p:nvSpPr>
        <p:spPr>
          <a:xfrm xmlns:a="http://schemas.openxmlformats.org/drawingml/2006/main">
            <a:off x="5821985" y="506577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10%</a:t>
            </a:r>
            <a:endParaRPr sz="1230"/>
          </a:p>
        </p:txBody>
      </p:sp>
      <p:sp>
        <p:nvSpPr>
          <p:cNvPr id="48" name="Shape 46">
            <a:extLst xmlns:a="http://schemas.openxmlformats.org/drawingml/2006/main">
              <a:ext uri="{FF2B5EF4-FFF2-40B4-BE49-F238E27FC236}">
                <a16:creationId xmlns:a16="http://schemas.microsoft.com/office/drawing/2014/main" id="{F410658D-4B09-4D36-ACBF-2259ED6D87DC}"/>
              </a:ext>
            </a:extLst>
          </p:cNvPr>
          <p:cNvSpPr>
            <a:spLocks xmlns:a="http://schemas.openxmlformats.org/drawingml/2006/main" noGrp="1"/>
          </p:cNvSpPr>
          <p:nvPr/>
        </p:nvSpPr>
        <p:spPr>
          <a:xfrm xmlns:a="http://schemas.openxmlformats.org/drawingml/2006/main">
            <a:off x="8001000" y="1097280"/>
            <a:ext cx="3520440" cy="4892040"/>
          </a:xfrm>
          <a:prstGeom xmlns:a="http://schemas.openxmlformats.org/drawingml/2006/main" prst="roundRect">
            <a:avLst>
              <a:gd name="adj" fmla="val 2078"/>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49" name="Shape 47">
            <a:extLst xmlns:a="http://schemas.openxmlformats.org/drawingml/2006/main">
              <a:ext uri="{FF2B5EF4-FFF2-40B4-BE49-F238E27FC236}">
                <a16:creationId xmlns:a16="http://schemas.microsoft.com/office/drawing/2014/main" id="{96702693-1572-4C89-8F16-164463A4AF6C}"/>
              </a:ext>
            </a:extLst>
          </p:cNvPr>
          <p:cNvSpPr>
            <a:spLocks xmlns:a="http://schemas.openxmlformats.org/drawingml/2006/main" noGrp="1"/>
          </p:cNvSpPr>
          <p:nvPr/>
        </p:nvSpPr>
        <p:spPr>
          <a:xfrm xmlns:a="http://schemas.openxmlformats.org/drawingml/2006/main">
            <a:off x="8001000" y="1097280"/>
            <a:ext cx="3520440" cy="438912"/>
          </a:xfrm>
          <a:prstGeom xmlns:a="http://schemas.openxmlformats.org/drawingml/2006/main" prst="rect">
            <a:avLst/>
          </a:prstGeom>
          <a:solidFill xmlns:a="http://schemas.openxmlformats.org/drawingml/2006/main">
            <a:srgbClr val="1F9D8A"/>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19621B75-7EF9-4011-8DAC-F3EB22CDE12A}"/>
              </a:ext>
            </a:extLst>
          </p:cNvPr>
          <p:cNvSpPr>
            <a:spLocks xmlns:a="http://schemas.openxmlformats.org/drawingml/2006/main" noGrp="1"/>
          </p:cNvSpPr>
          <p:nvPr/>
        </p:nvSpPr>
        <p:spPr>
          <a:xfrm xmlns:a="http://schemas.openxmlformats.org/drawingml/2006/main">
            <a:off x="8110728" y="1161288"/>
            <a:ext cx="3300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候補比較の設定</a:t>
            </a:r>
            <a:endParaRPr sz="1650"/>
          </a:p>
        </p:txBody>
      </p:sp>
      <p:sp>
        <p:nvSpPr>
          <p:cNvPr id="51" name="Shape 49">
            <a:extLst xmlns:a="http://schemas.openxmlformats.org/drawingml/2006/main">
              <a:ext uri="{FF2B5EF4-FFF2-40B4-BE49-F238E27FC236}">
                <a16:creationId xmlns:a16="http://schemas.microsoft.com/office/drawing/2014/main" id="{DD5B73F7-5EDE-4960-AAC2-2B67244DBAD6}"/>
              </a:ext>
            </a:extLst>
          </p:cNvPr>
          <p:cNvSpPr>
            <a:spLocks xmlns:a="http://schemas.openxmlformats.org/drawingml/2006/main" noGrp="1"/>
          </p:cNvSpPr>
          <p:nvPr/>
        </p:nvSpPr>
        <p:spPr>
          <a:xfrm xmlns:a="http://schemas.openxmlformats.org/drawingml/2006/main">
            <a:off x="8074152" y="1627632"/>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A0D61FD9-84EC-44B4-8CC3-6DE091CA023C}"/>
              </a:ext>
            </a:extLst>
          </p:cNvPr>
          <p:cNvSpPr>
            <a:spLocks xmlns:a="http://schemas.openxmlformats.org/drawingml/2006/main" noGrp="1"/>
          </p:cNvSpPr>
          <p:nvPr/>
        </p:nvSpPr>
        <p:spPr>
          <a:xfrm xmlns:a="http://schemas.openxmlformats.org/drawingml/2006/main">
            <a:off x="8156448" y="166420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評価候補数</a:t>
            </a:r>
            <a:endParaRPr sz="1230"/>
          </a:p>
        </p:txBody>
      </p:sp>
      <p:sp>
        <p:nvSpPr>
          <p:cNvPr id="53" name="Text 51">
            <a:extLst xmlns:a="http://schemas.openxmlformats.org/drawingml/2006/main">
              <a:ext uri="{FF2B5EF4-FFF2-40B4-BE49-F238E27FC236}">
                <a16:creationId xmlns:a16="http://schemas.microsoft.com/office/drawing/2014/main" id="{86B1C401-FEBE-44EF-9A25-11BC7185FABD}"/>
              </a:ext>
            </a:extLst>
          </p:cNvPr>
          <p:cNvSpPr>
            <a:spLocks xmlns:a="http://schemas.openxmlformats.org/drawingml/2006/main" noGrp="1"/>
          </p:cNvSpPr>
          <p:nvPr/>
        </p:nvSpPr>
        <p:spPr>
          <a:xfrm xmlns:a="http://schemas.openxmlformats.org/drawingml/2006/main">
            <a:off x="9479585" y="166420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22案</a:t>
            </a:r>
            <a:endParaRPr sz="1230"/>
          </a:p>
        </p:txBody>
      </p:sp>
      <p:sp>
        <p:nvSpPr>
          <p:cNvPr id="54" name="Text 52">
            <a:extLst xmlns:a="http://schemas.openxmlformats.org/drawingml/2006/main">
              <a:ext uri="{FF2B5EF4-FFF2-40B4-BE49-F238E27FC236}">
                <a16:creationId xmlns:a16="http://schemas.microsoft.com/office/drawing/2014/main" id="{D9AA784A-3C12-4948-BFFA-1FB096BB4B65}"/>
              </a:ext>
            </a:extLst>
          </p:cNvPr>
          <p:cNvSpPr>
            <a:spLocks xmlns:a="http://schemas.openxmlformats.org/drawingml/2006/main" noGrp="1"/>
          </p:cNvSpPr>
          <p:nvPr/>
        </p:nvSpPr>
        <p:spPr>
          <a:xfrm xmlns:a="http://schemas.openxmlformats.org/drawingml/2006/main">
            <a:off x="8156448" y="223113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構成探索幅</a:t>
            </a:r>
            <a:endParaRPr sz="1230"/>
          </a:p>
        </p:txBody>
      </p:sp>
      <p:sp>
        <p:nvSpPr>
          <p:cNvPr id="55" name="Text 53">
            <a:extLst xmlns:a="http://schemas.openxmlformats.org/drawingml/2006/main">
              <a:ext uri="{FF2B5EF4-FFF2-40B4-BE49-F238E27FC236}">
                <a16:creationId xmlns:a16="http://schemas.microsoft.com/office/drawing/2014/main" id="{8020845E-C0E4-4FB1-8C62-1E4D4366F721}"/>
              </a:ext>
            </a:extLst>
          </p:cNvPr>
          <p:cNvSpPr>
            <a:spLocks xmlns:a="http://schemas.openxmlformats.org/drawingml/2006/main" noGrp="1"/>
          </p:cNvSpPr>
          <p:nvPr/>
        </p:nvSpPr>
        <p:spPr>
          <a:xfrm xmlns:a="http://schemas.openxmlformats.org/drawingml/2006/main">
            <a:off x="9479585" y="223113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±4台相当</a:t>
            </a:r>
            <a:endParaRPr sz="1230"/>
          </a:p>
        </p:txBody>
      </p:sp>
      <p:sp>
        <p:nvSpPr>
          <p:cNvPr id="56" name="Shape 54">
            <a:extLst xmlns:a="http://schemas.openxmlformats.org/drawingml/2006/main">
              <a:ext uri="{FF2B5EF4-FFF2-40B4-BE49-F238E27FC236}">
                <a16:creationId xmlns:a16="http://schemas.microsoft.com/office/drawing/2014/main" id="{381E835B-FDF4-438C-9F25-C6EB02585215}"/>
              </a:ext>
            </a:extLst>
          </p:cNvPr>
          <p:cNvSpPr>
            <a:spLocks xmlns:a="http://schemas.openxmlformats.org/drawingml/2006/main" noGrp="1"/>
          </p:cNvSpPr>
          <p:nvPr/>
        </p:nvSpPr>
        <p:spPr>
          <a:xfrm xmlns:a="http://schemas.openxmlformats.org/drawingml/2006/main">
            <a:off x="8074152" y="2761488"/>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57" name="Text 55">
            <a:extLst xmlns:a="http://schemas.openxmlformats.org/drawingml/2006/main">
              <a:ext uri="{FF2B5EF4-FFF2-40B4-BE49-F238E27FC236}">
                <a16:creationId xmlns:a16="http://schemas.microsoft.com/office/drawing/2014/main" id="{83864B95-CC8C-4F9A-8A04-DBE7705CC949}"/>
              </a:ext>
            </a:extLst>
          </p:cNvPr>
          <p:cNvSpPr>
            <a:spLocks xmlns:a="http://schemas.openxmlformats.org/drawingml/2006/main" noGrp="1"/>
          </p:cNvSpPr>
          <p:nvPr/>
        </p:nvSpPr>
        <p:spPr>
          <a:xfrm xmlns:a="http://schemas.openxmlformats.org/drawingml/2006/main">
            <a:off x="8156448" y="2798064"/>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構成探索範囲</a:t>
            </a:r>
            <a:endParaRPr sz="1230"/>
          </a:p>
        </p:txBody>
      </p:sp>
      <p:sp>
        <p:nvSpPr>
          <p:cNvPr id="58" name="Text 56">
            <a:extLst xmlns:a="http://schemas.openxmlformats.org/drawingml/2006/main">
              <a:ext uri="{FF2B5EF4-FFF2-40B4-BE49-F238E27FC236}">
                <a16:creationId xmlns:a16="http://schemas.microsoft.com/office/drawing/2014/main" id="{8F911124-3A39-4457-86BA-E1041886557D}"/>
              </a:ext>
            </a:extLst>
          </p:cNvPr>
          <p:cNvSpPr>
            <a:spLocks xmlns:a="http://schemas.openxmlformats.org/drawingml/2006/main" noGrp="1"/>
          </p:cNvSpPr>
          <p:nvPr/>
        </p:nvSpPr>
        <p:spPr>
          <a:xfrm xmlns:a="http://schemas.openxmlformats.org/drawingml/2006/main">
            <a:off x="9479585" y="2798064"/>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15～35台</a:t>
            </a:r>
            <a:endParaRPr sz="1230"/>
          </a:p>
        </p:txBody>
      </p:sp>
      <p:sp>
        <p:nvSpPr>
          <p:cNvPr id="59" name="Text 57">
            <a:extLst xmlns:a="http://schemas.openxmlformats.org/drawingml/2006/main">
              <a:ext uri="{FF2B5EF4-FFF2-40B4-BE49-F238E27FC236}">
                <a16:creationId xmlns:a16="http://schemas.microsoft.com/office/drawing/2014/main" id="{6DC559B6-C95C-42BF-B9C3-6B872A89CFAF}"/>
              </a:ext>
            </a:extLst>
          </p:cNvPr>
          <p:cNvSpPr>
            <a:spLocks xmlns:a="http://schemas.openxmlformats.org/drawingml/2006/main" noGrp="1"/>
          </p:cNvSpPr>
          <p:nvPr/>
        </p:nvSpPr>
        <p:spPr>
          <a:xfrm xmlns:a="http://schemas.openxmlformats.org/drawingml/2006/main">
            <a:off x="8156448" y="3364992"/>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候補探索時間</a:t>
            </a:r>
            <a:endParaRPr sz="1230"/>
          </a:p>
        </p:txBody>
      </p:sp>
      <p:sp>
        <p:nvSpPr>
          <p:cNvPr id="60" name="Text 58">
            <a:extLst xmlns:a="http://schemas.openxmlformats.org/drawingml/2006/main">
              <a:ext uri="{FF2B5EF4-FFF2-40B4-BE49-F238E27FC236}">
                <a16:creationId xmlns:a16="http://schemas.microsoft.com/office/drawing/2014/main" id="{BD6A8288-6792-4386-B597-C7F853EE6095}"/>
              </a:ext>
            </a:extLst>
          </p:cNvPr>
          <p:cNvSpPr>
            <a:spLocks xmlns:a="http://schemas.openxmlformats.org/drawingml/2006/main" noGrp="1"/>
          </p:cNvSpPr>
          <p:nvPr/>
        </p:nvSpPr>
        <p:spPr>
          <a:xfrm xmlns:a="http://schemas.openxmlformats.org/drawingml/2006/main">
            <a:off x="9479585" y="3364992"/>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120秒</a:t>
            </a:r>
            <a:endParaRPr sz="1230"/>
          </a:p>
        </p:txBody>
      </p:sp>
      <p:sp>
        <p:nvSpPr>
          <p:cNvPr id="61" name="Shape 59">
            <a:extLst xmlns:a="http://schemas.openxmlformats.org/drawingml/2006/main">
              <a:ext uri="{FF2B5EF4-FFF2-40B4-BE49-F238E27FC236}">
                <a16:creationId xmlns:a16="http://schemas.microsoft.com/office/drawing/2014/main" id="{65A03F7D-D48B-4EA8-80A1-0B36E5629920}"/>
              </a:ext>
            </a:extLst>
          </p:cNvPr>
          <p:cNvSpPr>
            <a:spLocks xmlns:a="http://schemas.openxmlformats.org/drawingml/2006/main" noGrp="1"/>
          </p:cNvSpPr>
          <p:nvPr/>
        </p:nvSpPr>
        <p:spPr>
          <a:xfrm xmlns:a="http://schemas.openxmlformats.org/drawingml/2006/main">
            <a:off x="8074152" y="3895344"/>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41F725E6-E4E4-4ED9-BAF4-5B6E4E45EA50}"/>
              </a:ext>
            </a:extLst>
          </p:cNvPr>
          <p:cNvSpPr>
            <a:spLocks xmlns:a="http://schemas.openxmlformats.org/drawingml/2006/main" noGrp="1"/>
          </p:cNvSpPr>
          <p:nvPr/>
        </p:nvSpPr>
        <p:spPr>
          <a:xfrm xmlns:a="http://schemas.openxmlformats.org/drawingml/2006/main">
            <a:off x="8156448" y="3931920"/>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最終選択</a:t>
            </a:r>
            <a:endParaRPr sz="1230"/>
          </a:p>
        </p:txBody>
      </p:sp>
      <p:sp>
        <p:nvSpPr>
          <p:cNvPr id="63" name="Text 61">
            <a:extLst xmlns:a="http://schemas.openxmlformats.org/drawingml/2006/main">
              <a:ext uri="{FF2B5EF4-FFF2-40B4-BE49-F238E27FC236}">
                <a16:creationId xmlns:a16="http://schemas.microsoft.com/office/drawing/2014/main" id="{B24C6968-5584-4C54-86FC-8441ECA0E7A3}"/>
              </a:ext>
            </a:extLst>
          </p:cNvPr>
          <p:cNvSpPr>
            <a:spLocks xmlns:a="http://schemas.openxmlformats.org/drawingml/2006/main" noGrp="1"/>
          </p:cNvSpPr>
          <p:nvPr/>
        </p:nvSpPr>
        <p:spPr>
          <a:xfrm xmlns:a="http://schemas.openxmlformats.org/drawingml/2006/main">
            <a:off x="9479585" y="3931920"/>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費用→使用台数→配車ID</a:t>
            </a:r>
            <a:endParaRPr sz="1230"/>
          </a:p>
        </p:txBody>
      </p:sp>
      <p:sp>
        <p:nvSpPr>
          <p:cNvPr id="64" name="Text 62">
            <a:extLst xmlns:a="http://schemas.openxmlformats.org/drawingml/2006/main">
              <a:ext uri="{FF2B5EF4-FFF2-40B4-BE49-F238E27FC236}">
                <a16:creationId xmlns:a16="http://schemas.microsoft.com/office/drawing/2014/main" id="{AD7A8DAD-54D3-4F4E-B043-C10C739B3036}"/>
              </a:ext>
            </a:extLst>
          </p:cNvPr>
          <p:cNvSpPr>
            <a:spLocks xmlns:a="http://schemas.openxmlformats.org/drawingml/2006/main" noGrp="1"/>
          </p:cNvSpPr>
          <p:nvPr/>
        </p:nvSpPr>
        <p:spPr>
          <a:xfrm xmlns:a="http://schemas.openxmlformats.org/drawingml/2006/main">
            <a:off x="8156448" y="449884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全便条件</a:t>
            </a:r>
            <a:endParaRPr sz="1230"/>
          </a:p>
        </p:txBody>
      </p:sp>
      <p:sp>
        <p:nvSpPr>
          <p:cNvPr id="65" name="Text 63">
            <a:extLst xmlns:a="http://schemas.openxmlformats.org/drawingml/2006/main">
              <a:ext uri="{FF2B5EF4-FFF2-40B4-BE49-F238E27FC236}">
                <a16:creationId xmlns:a16="http://schemas.microsoft.com/office/drawing/2014/main" id="{A964FEC2-2107-425A-9A11-70A364D3E5C1}"/>
              </a:ext>
            </a:extLst>
          </p:cNvPr>
          <p:cNvSpPr>
            <a:spLocks xmlns:a="http://schemas.openxmlformats.org/drawingml/2006/main" noGrp="1"/>
          </p:cNvSpPr>
          <p:nvPr/>
        </p:nvSpPr>
        <p:spPr>
          <a:xfrm xmlns:a="http://schemas.openxmlformats.org/drawingml/2006/main">
            <a:off x="9479585" y="449884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未担当便を許さない</a:t>
            </a:r>
            <a:endParaRPr sz="1230"/>
          </a:p>
        </p:txBody>
      </p:sp>
      <p:sp>
        <p:nvSpPr>
          <p:cNvPr id="66" name="Shape 64">
            <a:extLst xmlns:a="http://schemas.openxmlformats.org/drawingml/2006/main">
              <a:ext uri="{FF2B5EF4-FFF2-40B4-BE49-F238E27FC236}">
                <a16:creationId xmlns:a16="http://schemas.microsoft.com/office/drawing/2014/main" id="{581526A6-3E4B-4785-9375-62437FEEE135}"/>
              </a:ext>
            </a:extLst>
          </p:cNvPr>
          <p:cNvSpPr>
            <a:spLocks xmlns:a="http://schemas.openxmlformats.org/drawingml/2006/main" noGrp="1"/>
          </p:cNvSpPr>
          <p:nvPr/>
        </p:nvSpPr>
        <p:spPr>
          <a:xfrm xmlns:a="http://schemas.openxmlformats.org/drawingml/2006/main">
            <a:off x="8074152" y="5029200"/>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67" name="Text 65">
            <a:extLst xmlns:a="http://schemas.openxmlformats.org/drawingml/2006/main">
              <a:ext uri="{FF2B5EF4-FFF2-40B4-BE49-F238E27FC236}">
                <a16:creationId xmlns:a16="http://schemas.microsoft.com/office/drawing/2014/main" id="{71D965B0-C4F6-4D27-B773-25704B11A9D1}"/>
              </a:ext>
            </a:extLst>
          </p:cNvPr>
          <p:cNvSpPr>
            <a:spLocks xmlns:a="http://schemas.openxmlformats.org/drawingml/2006/main" noGrp="1"/>
          </p:cNvSpPr>
          <p:nvPr/>
        </p:nvSpPr>
        <p:spPr>
          <a:xfrm xmlns:a="http://schemas.openxmlformats.org/drawingml/2006/main">
            <a:off x="8156448" y="506577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後処理修正</a:t>
            </a:r>
            <a:endParaRPr sz="1230"/>
          </a:p>
        </p:txBody>
      </p:sp>
      <p:sp>
        <p:nvSpPr>
          <p:cNvPr id="68" name="Text 66">
            <a:extLst xmlns:a="http://schemas.openxmlformats.org/drawingml/2006/main">
              <a:ext uri="{FF2B5EF4-FFF2-40B4-BE49-F238E27FC236}">
                <a16:creationId xmlns:a16="http://schemas.microsoft.com/office/drawing/2014/main" id="{3CC6D108-4792-448B-B542-2075C8DA3983}"/>
              </a:ext>
            </a:extLst>
          </p:cNvPr>
          <p:cNvSpPr>
            <a:spLocks xmlns:a="http://schemas.openxmlformats.org/drawingml/2006/main" noGrp="1"/>
          </p:cNvSpPr>
          <p:nvPr/>
        </p:nvSpPr>
        <p:spPr>
          <a:xfrm xmlns:a="http://schemas.openxmlformats.org/drawingml/2006/main">
            <a:off x="9479585" y="506577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使用しない</a:t>
            </a:r>
            <a:endParaRPr sz="1230"/>
          </a:p>
        </p:txBody>
      </p:sp>
      <p:sp>
        <p:nvSpPr>
          <p:cNvPr id="69" name="Shape 67">
            <a:extLst xmlns:a="http://schemas.openxmlformats.org/drawingml/2006/main">
              <a:ext uri="{FF2B5EF4-FFF2-40B4-BE49-F238E27FC236}">
                <a16:creationId xmlns:a16="http://schemas.microsoft.com/office/drawing/2014/main" id="{2D8D6EC6-0F3F-4C04-B8C4-CEE90F8E09B7}"/>
              </a:ext>
            </a:extLst>
          </p:cNvPr>
          <p:cNvSpPr>
            <a:spLocks xmlns:a="http://schemas.openxmlformats.org/drawingml/2006/main" noGrp="1"/>
          </p:cNvSpPr>
          <p:nvPr/>
        </p:nvSpPr>
        <p:spPr>
          <a:xfrm xmlns:a="http://schemas.openxmlformats.org/drawingml/2006/main">
            <a:off x="1078992" y="5989320"/>
            <a:ext cx="10012680" cy="347472"/>
          </a:xfrm>
          <a:prstGeom xmlns:a="http://schemas.openxmlformats.org/drawingml/2006/main" prst="roundRect">
            <a:avLst/>
          </a:prstGeom>
          <a:solidFill xmlns:a="http://schemas.openxmlformats.org/drawingml/2006/main">
            <a:srgbClr val="FCECEC"/>
          </a:solidFill>
          <a:ln xmlns:a="http://schemas.openxmlformats.org/drawingml/2006/main" w="1143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70" name="Text 68">
            <a:extLst xmlns:a="http://schemas.openxmlformats.org/drawingml/2006/main">
              <a:ext uri="{FF2B5EF4-FFF2-40B4-BE49-F238E27FC236}">
                <a16:creationId xmlns:a16="http://schemas.microsoft.com/office/drawing/2014/main" id="{E83424DF-C34A-4221-9ECC-B8FFF805F3E6}"/>
              </a:ext>
            </a:extLst>
          </p:cNvPr>
          <p:cNvSpPr>
            <a:spLocks xmlns:a="http://schemas.openxmlformats.org/drawingml/2006/main" noGrp="1"/>
          </p:cNvSpPr>
          <p:nvPr/>
        </p:nvSpPr>
        <p:spPr>
          <a:xfrm xmlns:a="http://schemas.openxmlformats.org/drawingml/2006/main">
            <a:off x="1298448" y="6053328"/>
            <a:ext cx="9555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94C4C"/>
                </a:solidFill>
                <a:latin typeface="Noto Sans CJK JP"/>
                <a:ea typeface="Noto Sans CJK JP"/>
                <a:cs typeface="Noto Sans CJK JP"/>
              </a:rPr>
              <a:t>注意：ここでの評価額はモデル内の比較指標であり、設備投資を含む実際の総費用ではない。</a:t>
            </a:r>
            <a:endParaRPr sz="1400"/>
          </a:p>
        </p:txBody>
      </p:sp>
      <p:sp>
        <p:nvSpPr>
          <p:cNvPr id="71" name="">
            <a:extLst xmlns:a="http://schemas.openxmlformats.org/drawingml/2006/main">
              <a:ext uri="{FF2B5EF4-FFF2-40B4-BE49-F238E27FC236}">
                <a16:creationId xmlns:a16="http://schemas.microsoft.com/office/drawing/2014/main" id="{2406E9DC-CD57-4DF8-83F2-D05776025284}"/>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117894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453791-27ED-4A1F-B8E3-951C3A4F80F6}"/>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202B58"/>
                </a:solidFill>
                <a:latin typeface="Meiryo"/>
                <a:ea typeface="Meiryo"/>
                <a:cs typeface="Meiryo"/>
              </a:defRPr>
            </a:pPr>
            <a:r>
              <a:rPr sz="2700" b="1">
                <a:solidFill>
                  <a:srgbClr val="202B58"/>
                </a:solidFill>
                <a:latin typeface="Meiryo"/>
                <a:ea typeface="Meiryo"/>
                <a:cs typeface="Meiryo"/>
              </a:rPr>
              <a:t>前回から進んだこと</a:t>
            </a:r>
          </a:p>
        </p:txBody>
      </p:sp>
      <p:sp>
        <p:nvSpPr>
          <p:cNvPr id="2" name="">
            <a:extLst xmlns:a="http://schemas.openxmlformats.org/drawingml/2006/main">
              <a:ext uri="{FF2B5EF4-FFF2-40B4-BE49-F238E27FC236}">
                <a16:creationId xmlns:a16="http://schemas.microsoft.com/office/drawing/2014/main" id="{55F97538-31D1-468E-9FCF-F5329D890CBD}"/>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87B"/>
                </a:solidFill>
                <a:latin typeface="Meiryo"/>
                <a:ea typeface="Meiryo"/>
                <a:cs typeface="Meiryo"/>
              </a:defRPr>
            </a:pPr>
            <a:r>
              <a:rPr sz="1875" b="0">
                <a:solidFill>
                  <a:srgbClr val="59687B"/>
                </a:solidFill>
                <a:latin typeface="Meiryo"/>
                <a:ea typeface="Meiryo"/>
                <a:cs typeface="Meiryo"/>
              </a:rPr>
              <a:t>太陽光の条件を変えたときの違いを、具体的な運用で説明できるようにした</a:t>
            </a:r>
          </a:p>
        </p:txBody>
      </p:sp>
      <p:graphicFrame>
        <p:nvGraphicFramePr>
          <p:cNvPr id="12"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875" b="1">
                          <a:solidFill>
                            <a:srgbClr val="FFFFFF"/>
                          </a:solidFill>
                          <a:latin typeface="Meiryo"/>
                          <a:ea typeface="Meiryo"/>
                          <a:cs typeface="Meiryo"/>
                        </a:rPr>
                        <a:t>以前の課題</a:t>
                      </a:r>
                    </a:p>
                  </a:txBody>
                  <a:tcPr marL="91440" marR="91440" marT="45720" marB="45720">
                    <a:solidFill>
                      <a:srgbClr val="202B58"/>
                    </a:solidFill>
                  </a:tcPr>
                </a:tc>
                <a:tc>
                  <a:txBody>
                    <a:bodyPr/>
                    <a:lstStyle/>
                    <a:p>
                      <a:r>
                        <a:rPr sz="1875" b="1">
                          <a:solidFill>
                            <a:srgbClr val="FFFFFF"/>
                          </a:solidFill>
                          <a:latin typeface="Meiryo"/>
                          <a:ea typeface="Meiryo"/>
                          <a:cs typeface="Meiryo"/>
                        </a:rPr>
                        <a:t>行った作業</a:t>
                      </a:r>
                    </a:p>
                  </a:txBody>
                  <a:tcPr marL="91440" marR="91440" marT="45720" marB="45720">
                    <a:solidFill>
                      <a:srgbClr val="202B58"/>
                    </a:solidFill>
                  </a:tcPr>
                </a:tc>
                <a:tc>
                  <a:txBody>
                    <a:bodyPr/>
                    <a:lstStyle/>
                    <a:p>
                      <a:r>
                        <a:rPr sz="1875" b="1">
                          <a:solidFill>
                            <a:srgbClr val="FFFFFF"/>
                          </a:solidFill>
                          <a:latin typeface="Meiryo"/>
                          <a:ea typeface="Meiryo"/>
                          <a:cs typeface="Meiryo"/>
                        </a:rPr>
                        <a:t>確認できたこと</a:t>
                      </a:r>
                    </a:p>
                  </a:txBody>
                  <a:tcPr marL="91440" marR="91440" marT="45720" marB="45720">
                    <a:solidFill>
                      <a:srgbClr val="202B58"/>
                    </a:solidFill>
                  </a:tcPr>
                </a:tc>
              </a:tr>
              <a:tr h="869156">
                <a:tc>
                  <a:txBody>
                    <a:bodyPr/>
                    <a:lstStyle/>
                    <a:p>
                      <a:r>
                        <a:rPr sz="1875" b="0">
                          <a:solidFill>
                            <a:srgbClr val="202B58"/>
                          </a:solidFill>
                          <a:latin typeface="Meiryo"/>
                          <a:ea typeface="Meiryo"/>
                          <a:cs typeface="Meiryo"/>
                        </a:rPr>
                        <a:t>ほぼ1案だけを詳しく評価</a:t>
                      </a:r>
                    </a:p>
                    <a:p>
                      <a:r>
                        <a:rPr sz="1875" b="0">
                          <a:solidFill>
                            <a:srgbClr val="202B58"/>
                          </a:solidFill>
                          <a:latin typeface="Meiryo"/>
                          <a:ea typeface="Meiryo"/>
                          <a:cs typeface="Meiryo"/>
                        </a:rPr>
                        <a:t>高低PVでも同じ配車</a:t>
                      </a:r>
                    </a:p>
                  </a:txBody>
                  <a:tcPr marL="91440" marR="91440" marT="45720" marB="45720">
                    <a:solidFill>
                      <a:srgbClr val="F1F5F8"/>
                    </a:solidFill>
                  </a:tcPr>
                </a:tc>
                <a:tc>
                  <a:txBody>
                    <a:bodyPr/>
                    <a:lstStyle/>
                    <a:p>
                      <a:r>
                        <a:rPr sz="1875" b="0">
                          <a:solidFill>
                            <a:srgbClr val="202B58"/>
                          </a:solidFill>
                          <a:latin typeface="Meiryo"/>
                          <a:ea typeface="Meiryo"/>
                          <a:cs typeface="Meiryo"/>
                        </a:rPr>
                        <a:t>22案の担当便と</a:t>
                      </a:r>
                    </a:p>
                    <a:p>
                      <a:r>
                        <a:rPr sz="1875" b="0">
                          <a:solidFill>
                            <a:srgbClr val="202B58"/>
                          </a:solidFill>
                          <a:latin typeface="Meiryo"/>
                          <a:ea typeface="Meiryo"/>
                          <a:cs typeface="Meiryo"/>
                        </a:rPr>
                        <a:t>充電計画を比較</a:t>
                      </a:r>
                    </a:p>
                  </a:txBody>
                  <a:tcPr marL="91440" marR="91440" marT="45720" marB="45720">
                    <a:solidFill>
                      <a:srgbClr val="F1F5F8"/>
                    </a:solidFill>
                  </a:tcPr>
                </a:tc>
                <a:tc>
                  <a:txBody>
                    <a:bodyPr/>
                    <a:lstStyle/>
                    <a:p>
                      <a:r>
                        <a:rPr sz="1875" b="0">
                          <a:solidFill>
                            <a:srgbClr val="202B58"/>
                          </a:solidFill>
                          <a:latin typeface="Meiryo"/>
                          <a:ea typeface="Meiryo"/>
                          <a:cs typeface="Meiryo"/>
                        </a:rPr>
                        <a:t>電気バスの担当が</a:t>
                      </a:r>
                    </a:p>
                    <a:p>
                      <a:r>
                        <a:rPr sz="1875" b="0">
                          <a:solidFill>
                            <a:srgbClr val="202B58"/>
                          </a:solidFill>
                          <a:latin typeface="Meiryo"/>
                          <a:ea typeface="Meiryo"/>
                          <a:cs typeface="Meiryo"/>
                        </a:rPr>
                        <a:t>高PV 199便／低PV 91便</a:t>
                      </a:r>
                    </a:p>
                  </a:txBody>
                  <a:tcPr marL="91440" marR="91440" marT="45720" marB="45720">
                    <a:solidFill>
                      <a:srgbClr val="F1F5F8"/>
                    </a:solidFill>
                  </a:tcPr>
                </a:tc>
              </a:tr>
              <a:tr h="869156">
                <a:tc>
                  <a:txBody>
                    <a:bodyPr/>
                    <a:lstStyle/>
                    <a:p>
                      <a:r>
                        <a:rPr sz="1875" b="0">
                          <a:solidFill>
                            <a:srgbClr val="202B58"/>
                          </a:solidFill>
                          <a:latin typeface="Meiryo"/>
                          <a:ea typeface="Meiryo"/>
                          <a:cs typeface="Meiryo"/>
                        </a:rPr>
                        <a:t>一日の合計だけでは</a:t>
                      </a:r>
                    </a:p>
                    <a:p>
                      <a:r>
                        <a:rPr sz="1875" b="0">
                          <a:solidFill>
                            <a:srgbClr val="202B58"/>
                          </a:solidFill>
                          <a:latin typeface="Meiryo"/>
                          <a:ea typeface="Meiryo"/>
                          <a:cs typeface="Meiryo"/>
                        </a:rPr>
                        <a:t>途中の矛盾が見えにくい</a:t>
                      </a:r>
                    </a:p>
                  </a:txBody>
                  <a:tcPr marL="91440" marR="91440" marT="45720" marB="45720">
                    <a:solidFill>
                      <a:srgbClr val="FFFFFF"/>
                    </a:solidFill>
                  </a:tcPr>
                </a:tc>
                <a:tc>
                  <a:txBody>
                    <a:bodyPr/>
                    <a:lstStyle/>
                    <a:p>
                      <a:r>
                        <a:rPr sz="1875" b="0">
                          <a:solidFill>
                            <a:srgbClr val="202B58"/>
                          </a:solidFill>
                          <a:latin typeface="Meiryo"/>
                          <a:ea typeface="Meiryo"/>
                          <a:cs typeface="Meiryo"/>
                        </a:rPr>
                        <a:t>1時間ずつ計画を更新</a:t>
                      </a:r>
                    </a:p>
                    <a:p>
                      <a:r>
                        <a:rPr sz="1875" b="0">
                          <a:solidFill>
                            <a:srgbClr val="202B58"/>
                          </a:solidFill>
                          <a:latin typeface="Meiryo"/>
                          <a:ea typeface="Meiryo"/>
                          <a:cs typeface="Meiryo"/>
                        </a:rPr>
                        <a:t>15分ごとの状態を検算</a:t>
                      </a:r>
                    </a:p>
                  </a:txBody>
                  <a:tcPr marL="91440" marR="91440" marT="45720" marB="45720">
                    <a:solidFill>
                      <a:srgbClr val="FFFFFF"/>
                    </a:solidFill>
                  </a:tcPr>
                </a:tc>
                <a:tc>
                  <a:txBody>
                    <a:bodyPr/>
                    <a:lstStyle/>
                    <a:p>
                      <a:r>
                        <a:rPr sz="1875" b="0">
                          <a:solidFill>
                            <a:srgbClr val="202B58"/>
                          </a:solidFill>
                          <a:latin typeface="Meiryo"/>
                          <a:ea typeface="Meiryo"/>
                          <a:cs typeface="Meiryo"/>
                        </a:rPr>
                        <a:t>両条件で264便を担当</a:t>
                      </a:r>
                    </a:p>
                    <a:p>
                      <a:r>
                        <a:rPr sz="1875" b="0">
                          <a:solidFill>
                            <a:srgbClr val="202B58"/>
                          </a:solidFill>
                          <a:latin typeface="Meiryo"/>
                          <a:ea typeface="Meiryo"/>
                          <a:cs typeface="Meiryo"/>
                        </a:rPr>
                        <a:t>電池・電力・費用も確認</a:t>
                      </a:r>
                    </a:p>
                  </a:txBody>
                  <a:tcPr marL="91440" marR="91440" marT="45720" marB="45720">
                    <a:solidFill>
                      <a:srgbClr val="FFFFFF"/>
                    </a:solidFill>
                  </a:tcPr>
                </a:tc>
              </a:tr>
              <a:tr h="869156">
                <a:tc>
                  <a:txBody>
                    <a:bodyPr/>
                    <a:lstStyle/>
                    <a:p>
                      <a:r>
                        <a:rPr sz="1875" b="0">
                          <a:solidFill>
                            <a:srgbClr val="202B58"/>
                          </a:solidFill>
                          <a:latin typeface="Meiryo"/>
                          <a:ea typeface="Meiryo"/>
                          <a:cs typeface="Meiryo"/>
                        </a:rPr>
                        <a:t>台数と総額だけでは</a:t>
                      </a:r>
                    </a:p>
                    <a:p>
                      <a:r>
                        <a:rPr sz="1875" b="0">
                          <a:solidFill>
                            <a:srgbClr val="202B58"/>
                          </a:solidFill>
                          <a:latin typeface="Meiryo"/>
                          <a:ea typeface="Meiryo"/>
                          <a:cs typeface="Meiryo"/>
                        </a:rPr>
                        <a:t>違いの中身が分からない</a:t>
                      </a:r>
                    </a:p>
                  </a:txBody>
                  <a:tcPr marL="91440" marR="91440" marT="45720" marB="45720">
                    <a:solidFill>
                      <a:srgbClr val="F1F5F8"/>
                    </a:solidFill>
                  </a:tcPr>
                </a:tc>
                <a:tc>
                  <a:txBody>
                    <a:bodyPr/>
                    <a:lstStyle/>
                    <a:p>
                      <a:r>
                        <a:rPr sz="1875" b="0">
                          <a:solidFill>
                            <a:srgbClr val="202B58"/>
                          </a:solidFill>
                          <a:latin typeface="Meiryo"/>
                          <a:ea typeface="Meiryo"/>
                          <a:cs typeface="Meiryo"/>
                        </a:rPr>
                        <a:t>同じ便を照合し</a:t>
                      </a:r>
                    </a:p>
                    <a:p>
                      <a:r>
                        <a:rPr sz="1875" b="0">
                          <a:solidFill>
                            <a:srgbClr val="202B58"/>
                          </a:solidFill>
                          <a:latin typeface="Meiryo"/>
                          <a:ea typeface="Meiryo"/>
                          <a:cs typeface="Meiryo"/>
                        </a:rPr>
                        <a:t>電力と費用を分解</a:t>
                      </a:r>
                    </a:p>
                  </a:txBody>
                  <a:tcPr marL="91440" marR="91440" marT="45720" marB="45720">
                    <a:solidFill>
                      <a:srgbClr val="F1F5F8"/>
                    </a:solidFill>
                  </a:tcPr>
                </a:tc>
                <a:tc>
                  <a:txBody>
                    <a:bodyPr/>
                    <a:lstStyle/>
                    <a:p>
                      <a:r>
                        <a:rPr sz="1875" b="0">
                          <a:solidFill>
                            <a:srgbClr val="202B58"/>
                          </a:solidFill>
                          <a:latin typeface="Meiryo"/>
                          <a:ea typeface="Meiryo"/>
                          <a:cs typeface="Meiryo"/>
                        </a:rPr>
                        <a:t>変わった108便と</a:t>
                      </a:r>
                    </a:p>
                    <a:p>
                      <a:r>
                        <a:rPr sz="1875" b="0">
                          <a:solidFill>
                            <a:srgbClr val="202B58"/>
                          </a:solidFill>
                          <a:latin typeface="Meiryo"/>
                          <a:ea typeface="Meiryo"/>
                          <a:cs typeface="Meiryo"/>
                        </a:rPr>
                        <a:t>費用差の内訳を特定</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F3CDBF78-C262-4DB3-ABAC-E07D1914444B}"/>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59A8C"/>
                </a:solidFill>
                <a:latin typeface="Meiryo"/>
                <a:ea typeface="Meiryo"/>
                <a:cs typeface="Meiryo"/>
              </a:defRPr>
            </a:pPr>
            <a:r>
              <a:rPr sz="2025" b="1">
                <a:solidFill>
                  <a:srgbClr val="159A8C"/>
                </a:solidFill>
                <a:latin typeface="Meiryo"/>
                <a:ea typeface="Meiryo"/>
                <a:cs typeface="Meiryo"/>
              </a:rPr>
              <a:t>進捗：計画を比べ、その違いと確認範囲を説明できるようになった</a:t>
            </a:r>
          </a:p>
        </p:txBody>
      </p:sp>
      <p:sp>
        <p:nvSpPr>
          <p:cNvPr id="5" name="">
            <a:extLst xmlns:a="http://schemas.openxmlformats.org/drawingml/2006/main">
              <a:ext uri="{FF2B5EF4-FFF2-40B4-BE49-F238E27FC236}">
                <a16:creationId xmlns:a16="http://schemas.microsoft.com/office/drawing/2014/main" id="{B9605CB5-0552-4FBE-BEED-C93D661F1EDE}"/>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7E4D36"/>
                </a:solidFill>
                <a:latin typeface="Meiryo"/>
                <a:ea typeface="Meiryo"/>
                <a:cs typeface="Meiryo"/>
              </a:defRPr>
            </a:pPr>
            <a:r>
              <a:rPr sz="1350" b="0">
                <a:solidFill>
                  <a:srgbClr val="7E4D36"/>
                </a:solidFill>
                <a:latin typeface="Meiryo"/>
                <a:ea typeface="Meiryo"/>
                <a:cs typeface="Meiryo"/>
              </a:rPr>
              <a:t>以前の状態は元の月次報告による。旧方式への速度・費用の改善率は未検証。</a:t>
            </a:r>
          </a:p>
        </p:txBody>
      </p:sp>
      <p:sp>
        <p:nvSpPr>
          <p:cNvPr id="6" name="">
            <a:extLst xmlns:a="http://schemas.openxmlformats.org/drawingml/2006/main">
              <a:ext uri="{FF2B5EF4-FFF2-40B4-BE49-F238E27FC236}">
                <a16:creationId xmlns:a16="http://schemas.microsoft.com/office/drawing/2014/main" id="{17D77E2F-F125-410B-9424-2715C5BDEF87}"/>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48B"/>
                </a:solidFill>
                <a:latin typeface="Meiryo"/>
                <a:ea typeface="Meiryo"/>
                <a:cs typeface="Meiryo"/>
              </a:defRPr>
            </a:pPr>
            <a:r>
              <a:rPr sz="900" b="0">
                <a:solidFill>
                  <a:srgbClr val="66748B"/>
                </a:solidFill>
                <a:latin typeface="Meiryo"/>
                <a:ea typeface="Meiryo"/>
                <a:cs typeface="Meiryo"/>
              </a:rPr>
              <a:t>8/18</a:t>
            </a:r>
          </a:p>
        </p:txBody>
      </p:sp>
      <p:sp>
        <p:nvSpPr>
          <p:cNvPr id="9" name="">
            <a:extLst xmlns:a="http://schemas.openxmlformats.org/drawingml/2006/main">
              <a:ext uri="{FF2B5EF4-FFF2-40B4-BE49-F238E27FC236}">
                <a16:creationId xmlns:a16="http://schemas.microsoft.com/office/drawing/2014/main" id="{2C74F7BE-F4B5-4EF9-B871-49B50B8D438B}"/>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5100524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6795B7-40D1-4F06-A8FD-310A3739E651}"/>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202B58"/>
                </a:solidFill>
                <a:latin typeface="Meiryo"/>
                <a:ea typeface="Meiryo"/>
                <a:cs typeface="Meiryo"/>
              </a:defRPr>
            </a:pPr>
            <a:r>
              <a:rPr sz="2700" b="1">
                <a:solidFill>
                  <a:srgbClr val="202B58"/>
                </a:solidFill>
                <a:latin typeface="Meiryo"/>
                <a:ea typeface="Meiryo"/>
                <a:cs typeface="Meiryo"/>
              </a:rPr>
              <a:t>問題に対して、何をどう直したか</a:t>
            </a:r>
          </a:p>
        </p:txBody>
      </p:sp>
      <p:sp>
        <p:nvSpPr>
          <p:cNvPr id="2" name="">
            <a:extLst xmlns:a="http://schemas.openxmlformats.org/drawingml/2006/main">
              <a:ext uri="{FF2B5EF4-FFF2-40B4-BE49-F238E27FC236}">
                <a16:creationId xmlns:a16="http://schemas.microsoft.com/office/drawing/2014/main" id="{5C5DEB77-182D-4127-B4EE-DD7C133959FF}"/>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87B"/>
                </a:solidFill>
                <a:latin typeface="Meiryo"/>
                <a:ea typeface="Meiryo"/>
                <a:cs typeface="Meiryo"/>
              </a:defRPr>
            </a:pPr>
            <a:r>
              <a:rPr sz="1875" b="0">
                <a:solidFill>
                  <a:srgbClr val="59687B"/>
                </a:solidFill>
                <a:latin typeface="Meiryo"/>
                <a:ea typeface="Meiryo"/>
                <a:cs typeface="Meiryo"/>
              </a:rPr>
              <a:t>8月に計画を作り直し、9月5日にその結果を詳しく読み解いた</a:t>
            </a:r>
          </a:p>
        </p:txBody>
      </p:sp>
      <p:graphicFrame>
        <p:nvGraphicFramePr>
          <p:cNvPr id="12"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695325">
                <a:tc>
                  <a:txBody>
                    <a:bodyPr/>
                    <a:lstStyle/>
                    <a:p>
                      <a:r>
                        <a:rPr sz="1875" b="1">
                          <a:solidFill>
                            <a:srgbClr val="FFFFFF"/>
                          </a:solidFill>
                          <a:latin typeface="Meiryo"/>
                          <a:ea typeface="Meiryo"/>
                          <a:cs typeface="Meiryo"/>
                        </a:rPr>
                        <a:t>時期・目的</a:t>
                      </a:r>
                    </a:p>
                  </a:txBody>
                  <a:tcPr marL="91440" marR="91440" marT="45720" marB="45720">
                    <a:solidFill>
                      <a:srgbClr val="202B58"/>
                    </a:solidFill>
                  </a:tcPr>
                </a:tc>
                <a:tc>
                  <a:txBody>
                    <a:bodyPr/>
                    <a:lstStyle/>
                    <a:p>
                      <a:r>
                        <a:rPr sz="1875" b="1">
                          <a:solidFill>
                            <a:srgbClr val="FFFFFF"/>
                          </a:solidFill>
                          <a:latin typeface="Meiryo"/>
                          <a:ea typeface="Meiryo"/>
                          <a:cs typeface="Meiryo"/>
                        </a:rPr>
                        <a:t>具体的な作業</a:t>
                      </a:r>
                    </a:p>
                  </a:txBody>
                  <a:tcPr marL="91440" marR="91440" marT="45720" marB="45720">
                    <a:solidFill>
                      <a:srgbClr val="202B58"/>
                    </a:solidFill>
                  </a:tcPr>
                </a:tc>
                <a:tc>
                  <a:txBody>
                    <a:bodyPr/>
                    <a:lstStyle/>
                    <a:p>
                      <a:r>
                        <a:rPr sz="1875" b="1">
                          <a:solidFill>
                            <a:srgbClr val="FFFFFF"/>
                          </a:solidFill>
                          <a:latin typeface="Meiryo"/>
                          <a:ea typeface="Meiryo"/>
                          <a:cs typeface="Meiryo"/>
                        </a:rPr>
                        <a:t>その作業が必要な理由</a:t>
                      </a:r>
                    </a:p>
                  </a:txBody>
                  <a:tcPr marL="91440" marR="91440" marT="45720" marB="45720">
                    <a:solidFill>
                      <a:srgbClr val="202B58"/>
                    </a:solidFill>
                  </a:tcPr>
                </a:tc>
              </a:tr>
              <a:tr h="695325">
                <a:tc>
                  <a:txBody>
                    <a:bodyPr/>
                    <a:lstStyle/>
                    <a:p>
                      <a:r>
                        <a:rPr sz="1875" b="0">
                          <a:solidFill>
                            <a:srgbClr val="202B58"/>
                          </a:solidFill>
                          <a:latin typeface="Meiryo"/>
                          <a:ea typeface="Meiryo"/>
                          <a:cs typeface="Meiryo"/>
                        </a:rPr>
                        <a:t>8月：比較方法を直す</a:t>
                      </a:r>
                    </a:p>
                  </a:txBody>
                  <a:tcPr marL="91440" marR="91440" marT="45720" marB="45720">
                    <a:solidFill>
                      <a:srgbClr val="F1F5F8"/>
                    </a:solidFill>
                  </a:tcPr>
                </a:tc>
                <a:tc>
                  <a:txBody>
                    <a:bodyPr/>
                    <a:lstStyle/>
                    <a:p>
                      <a:r>
                        <a:rPr sz="1875" b="0">
                          <a:solidFill>
                            <a:srgbClr val="202B58"/>
                          </a:solidFill>
                          <a:latin typeface="Meiryo"/>
                          <a:ea typeface="Meiryo"/>
                          <a:cs typeface="Meiryo"/>
                        </a:rPr>
                        <a:t>複数の担当便案を作り</a:t>
                      </a:r>
                    </a:p>
                    <a:p>
                      <a:r>
                        <a:rPr sz="1875" b="0">
                          <a:solidFill>
                            <a:srgbClr val="202B58"/>
                          </a:solidFill>
                          <a:latin typeface="Meiryo"/>
                          <a:ea typeface="Meiryo"/>
                          <a:cs typeface="Meiryo"/>
                        </a:rPr>
                        <a:t>各案の充電まで計算</a:t>
                      </a:r>
                    </a:p>
                  </a:txBody>
                  <a:tcPr marL="91440" marR="91440" marT="45720" marB="45720">
                    <a:solidFill>
                      <a:srgbClr val="F1F5F8"/>
                    </a:solidFill>
                  </a:tcPr>
                </a:tc>
                <a:tc>
                  <a:txBody>
                    <a:bodyPr/>
                    <a:lstStyle/>
                    <a:p>
                      <a:r>
                        <a:rPr sz="1875" b="0">
                          <a:solidFill>
                            <a:srgbClr val="202B58"/>
                          </a:solidFill>
                          <a:latin typeface="Meiryo"/>
                          <a:ea typeface="Meiryo"/>
                          <a:cs typeface="Meiryo"/>
                        </a:rPr>
                        <a:t>一つの案だけでは</a:t>
                      </a:r>
                    </a:p>
                    <a:p>
                      <a:r>
                        <a:rPr sz="1875" b="0">
                          <a:solidFill>
                            <a:srgbClr val="202B58"/>
                          </a:solidFill>
                          <a:latin typeface="Meiryo"/>
                          <a:ea typeface="Meiryo"/>
                          <a:cs typeface="Meiryo"/>
                        </a:rPr>
                        <a:t>他の選択肢と比べられない</a:t>
                      </a:r>
                    </a:p>
                  </a:txBody>
                  <a:tcPr marL="91440" marR="91440" marT="45720" marB="45720">
                    <a:solidFill>
                      <a:srgbClr val="F1F5F8"/>
                    </a:solidFill>
                  </a:tcPr>
                </a:tc>
              </a:tr>
              <a:tr h="695325">
                <a:tc>
                  <a:txBody>
                    <a:bodyPr/>
                    <a:lstStyle/>
                    <a:p>
                      <a:r>
                        <a:rPr sz="1875" b="0">
                          <a:solidFill>
                            <a:srgbClr val="202B58"/>
                          </a:solidFill>
                          <a:latin typeface="Meiryo"/>
                          <a:ea typeface="Meiryo"/>
                          <a:cs typeface="Meiryo"/>
                        </a:rPr>
                        <a:t>8月：条件をそろえる</a:t>
                      </a:r>
                    </a:p>
                  </a:txBody>
                  <a:tcPr marL="91440" marR="91440" marT="45720" marB="45720">
                    <a:solidFill>
                      <a:srgbClr val="FFFFFF"/>
                    </a:solidFill>
                  </a:tcPr>
                </a:tc>
                <a:tc>
                  <a:txBody>
                    <a:bodyPr/>
                    <a:lstStyle/>
                    <a:p>
                      <a:r>
                        <a:rPr sz="1875" b="0">
                          <a:solidFill>
                            <a:srgbClr val="202B58"/>
                          </a:solidFill>
                          <a:latin typeface="Meiryo"/>
                          <a:ea typeface="Meiryo"/>
                          <a:cs typeface="Meiryo"/>
                        </a:rPr>
                        <a:t>同じ264便・車両・設備で</a:t>
                      </a:r>
                    </a:p>
                    <a:p>
                      <a:r>
                        <a:rPr sz="1875" b="0">
                          <a:solidFill>
                            <a:srgbClr val="202B58"/>
                          </a:solidFill>
                          <a:latin typeface="Meiryo"/>
                          <a:ea typeface="Meiryo"/>
                          <a:cs typeface="Meiryo"/>
                        </a:rPr>
                        <a:t>太陽光の曲線だけを変更</a:t>
                      </a:r>
                    </a:p>
                  </a:txBody>
                  <a:tcPr marL="91440" marR="91440" marT="45720" marB="45720">
                    <a:solidFill>
                      <a:srgbClr val="FFFFFF"/>
                    </a:solidFill>
                  </a:tcPr>
                </a:tc>
                <a:tc>
                  <a:txBody>
                    <a:bodyPr/>
                    <a:lstStyle/>
                    <a:p>
                      <a:r>
                        <a:rPr sz="1875" b="0">
                          <a:solidFill>
                            <a:srgbClr val="202B58"/>
                          </a:solidFill>
                          <a:latin typeface="Meiryo"/>
                          <a:ea typeface="Meiryo"/>
                          <a:cs typeface="Meiryo"/>
                        </a:rPr>
                        <a:t>運行条件の違いを</a:t>
                      </a:r>
                    </a:p>
                    <a:p>
                      <a:r>
                        <a:rPr sz="1875" b="0">
                          <a:solidFill>
                            <a:srgbClr val="202B58"/>
                          </a:solidFill>
                          <a:latin typeface="Meiryo"/>
                          <a:ea typeface="Meiryo"/>
                          <a:cs typeface="Meiryo"/>
                        </a:rPr>
                        <a:t>太陽光の効果と混同しない</a:t>
                      </a:r>
                    </a:p>
                  </a:txBody>
                  <a:tcPr marL="91440" marR="91440" marT="45720" marB="45720">
                    <a:solidFill>
                      <a:srgbClr val="FFFFFF"/>
                    </a:solidFill>
                  </a:tcPr>
                </a:tc>
              </a:tr>
              <a:tr h="695325">
                <a:tc>
                  <a:txBody>
                    <a:bodyPr/>
                    <a:lstStyle/>
                    <a:p>
                      <a:r>
                        <a:rPr sz="1875" b="0">
                          <a:solidFill>
                            <a:srgbClr val="202B58"/>
                          </a:solidFill>
                          <a:latin typeface="Meiryo"/>
                          <a:ea typeface="Meiryo"/>
                          <a:cs typeface="Meiryo"/>
                        </a:rPr>
                        <a:t>8月：一日を確かめる</a:t>
                      </a:r>
                    </a:p>
                  </a:txBody>
                  <a:tcPr marL="91440" marR="91440" marT="45720" marB="45720">
                    <a:solidFill>
                      <a:srgbClr val="F1F5F8"/>
                    </a:solidFill>
                  </a:tcPr>
                </a:tc>
                <a:tc>
                  <a:txBody>
                    <a:bodyPr/>
                    <a:lstStyle/>
                    <a:p>
                      <a:r>
                        <a:rPr sz="1875" b="0">
                          <a:solidFill>
                            <a:srgbClr val="202B58"/>
                          </a:solidFill>
                          <a:latin typeface="Meiryo"/>
                          <a:ea typeface="Meiryo"/>
                          <a:cs typeface="Meiryo"/>
                        </a:rPr>
                        <a:t>入力を確定して再計算</a:t>
                      </a:r>
                    </a:p>
                    <a:p>
                      <a:r>
                        <a:rPr sz="1875" b="0">
                          <a:solidFill>
                            <a:srgbClr val="202B58"/>
                          </a:solidFill>
                          <a:latin typeface="Meiryo"/>
                          <a:ea typeface="Meiryo"/>
                          <a:cs typeface="Meiryo"/>
                        </a:rPr>
                        <a:t>24回の更新と費用を検算</a:t>
                      </a:r>
                    </a:p>
                  </a:txBody>
                  <a:tcPr marL="91440" marR="91440" marT="45720" marB="45720">
                    <a:solidFill>
                      <a:srgbClr val="F1F5F8"/>
                    </a:solidFill>
                  </a:tcPr>
                </a:tc>
                <a:tc>
                  <a:txBody>
                    <a:bodyPr/>
                    <a:lstStyle/>
                    <a:p>
                      <a:r>
                        <a:rPr sz="1875" b="0">
                          <a:solidFill>
                            <a:srgbClr val="202B58"/>
                          </a:solidFill>
                          <a:latin typeface="Meiryo"/>
                          <a:ea typeface="Meiryo"/>
                          <a:cs typeface="Meiryo"/>
                        </a:rPr>
                        <a:t>途中の電池不足や</a:t>
                      </a:r>
                    </a:p>
                    <a:p>
                      <a:r>
                        <a:rPr sz="1875" b="0">
                          <a:solidFill>
                            <a:srgbClr val="202B58"/>
                          </a:solidFill>
                          <a:latin typeface="Meiryo"/>
                          <a:ea typeface="Meiryo"/>
                          <a:cs typeface="Meiryo"/>
                        </a:rPr>
                        <a:t>金額の食い違いを見落とさない</a:t>
                      </a:r>
                    </a:p>
                  </a:txBody>
                  <a:tcPr marL="91440" marR="91440" marT="45720" marB="45720">
                    <a:solidFill>
                      <a:srgbClr val="F1F5F8"/>
                    </a:solidFill>
                  </a:tcPr>
                </a:tc>
              </a:tr>
              <a:tr h="695325">
                <a:tc>
                  <a:txBody>
                    <a:bodyPr/>
                    <a:lstStyle/>
                    <a:p>
                      <a:r>
                        <a:rPr sz="1875" b="0">
                          <a:solidFill>
                            <a:srgbClr val="202B58"/>
                          </a:solidFill>
                          <a:latin typeface="Meiryo"/>
                          <a:ea typeface="Meiryo"/>
                          <a:cs typeface="Meiryo"/>
                        </a:rPr>
                        <a:t>9月5日：理由を調べる</a:t>
                      </a:r>
                    </a:p>
                  </a:txBody>
                  <a:tcPr marL="91440" marR="91440" marT="45720" marB="45720">
                    <a:solidFill>
                      <a:srgbClr val="FFFFFF"/>
                    </a:solidFill>
                  </a:tcPr>
                </a:tc>
                <a:tc>
                  <a:txBody>
                    <a:bodyPr/>
                    <a:lstStyle/>
                    <a:p>
                      <a:r>
                        <a:rPr sz="1875" b="0">
                          <a:solidFill>
                            <a:srgbClr val="202B58"/>
                          </a:solidFill>
                          <a:latin typeface="Meiryo"/>
                          <a:ea typeface="Meiryo"/>
                          <a:cs typeface="Meiryo"/>
                        </a:rPr>
                        <a:t>既存結果を便ごと・15分ごと</a:t>
                      </a:r>
                    </a:p>
                    <a:p>
                      <a:r>
                        <a:rPr sz="1875" b="0">
                          <a:solidFill>
                            <a:srgbClr val="202B58"/>
                          </a:solidFill>
                          <a:latin typeface="Meiryo"/>
                          <a:ea typeface="Meiryo"/>
                          <a:cs typeface="Meiryo"/>
                        </a:rPr>
                        <a:t>に照合し、費用も分解</a:t>
                      </a:r>
                    </a:p>
                  </a:txBody>
                  <a:tcPr marL="91440" marR="91440" marT="45720" marB="45720">
                    <a:solidFill>
                      <a:srgbClr val="FFFFFF"/>
                    </a:solidFill>
                  </a:tcPr>
                </a:tc>
                <a:tc>
                  <a:txBody>
                    <a:bodyPr/>
                    <a:lstStyle/>
                    <a:p>
                      <a:r>
                        <a:rPr sz="1875" b="0">
                          <a:solidFill>
                            <a:srgbClr val="202B58"/>
                          </a:solidFill>
                          <a:latin typeface="Meiryo"/>
                          <a:ea typeface="Meiryo"/>
                          <a:cs typeface="Meiryo"/>
                        </a:rPr>
                        <a:t>どの便が変わり、何が</a:t>
                      </a:r>
                    </a:p>
                    <a:p>
                      <a:r>
                        <a:rPr sz="1875" b="0">
                          <a:solidFill>
                            <a:srgbClr val="202B58"/>
                          </a:solidFill>
                          <a:latin typeface="Meiryo"/>
                          <a:ea typeface="Meiryo"/>
                          <a:cs typeface="Meiryo"/>
                        </a:rPr>
                        <a:t>費用差につながったかを示す</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2D65716-E61D-4570-AE6E-F4B51066C92F}"/>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59A8C"/>
                </a:solidFill>
                <a:latin typeface="Meiryo"/>
                <a:ea typeface="Meiryo"/>
                <a:cs typeface="Meiryo"/>
              </a:defRPr>
            </a:pPr>
            <a:r>
              <a:rPr sz="2025" b="1">
                <a:solidFill>
                  <a:srgbClr val="159A8C"/>
                </a:solidFill>
                <a:latin typeface="Meiryo"/>
                <a:ea typeface="Meiryo"/>
                <a:cs typeface="Meiryo"/>
              </a:rPr>
              <a:t>9月5日の追加分は、保存済みの計算結果を詳しく分析した成果</a:t>
            </a:r>
          </a:p>
        </p:txBody>
      </p:sp>
      <p:sp>
        <p:nvSpPr>
          <p:cNvPr id="5" name="">
            <a:extLst xmlns:a="http://schemas.openxmlformats.org/drawingml/2006/main">
              <a:ext uri="{FF2B5EF4-FFF2-40B4-BE49-F238E27FC236}">
                <a16:creationId xmlns:a16="http://schemas.microsoft.com/office/drawing/2014/main" id="{40829F9A-7E76-454C-9588-BBF2418E74A4}"/>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7E4D36"/>
                </a:solidFill>
                <a:latin typeface="Meiryo"/>
                <a:ea typeface="Meiryo"/>
                <a:cs typeface="Meiryo"/>
              </a:defRPr>
            </a:pPr>
            <a:r>
              <a:rPr sz="1350" b="0">
                <a:solidFill>
                  <a:srgbClr val="7E4D36"/>
                </a:solidFill>
                <a:latin typeface="Meiryo"/>
                <a:ea typeface="Meiryo"/>
                <a:cs typeface="Meiryo"/>
              </a:rPr>
              <a:t>9月5日および今回の資料更新では、新しい最適化実験を行っていない。</a:t>
            </a:r>
          </a:p>
        </p:txBody>
      </p:sp>
      <p:sp>
        <p:nvSpPr>
          <p:cNvPr id="6" name="">
            <a:extLst xmlns:a="http://schemas.openxmlformats.org/drawingml/2006/main">
              <a:ext uri="{FF2B5EF4-FFF2-40B4-BE49-F238E27FC236}">
                <a16:creationId xmlns:a16="http://schemas.microsoft.com/office/drawing/2014/main" id="{C565D8B7-6AE7-4331-B00C-83873AAF438A}"/>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48B"/>
                </a:solidFill>
                <a:latin typeface="Meiryo"/>
                <a:ea typeface="Meiryo"/>
                <a:cs typeface="Meiryo"/>
              </a:defRPr>
            </a:pPr>
            <a:r>
              <a:rPr sz="900" b="0">
                <a:solidFill>
                  <a:srgbClr val="66748B"/>
                </a:solidFill>
                <a:latin typeface="Meiryo"/>
                <a:ea typeface="Meiryo"/>
                <a:cs typeface="Meiryo"/>
              </a:rPr>
              <a:t>9/18</a:t>
            </a:r>
          </a:p>
        </p:txBody>
      </p:sp>
      <p:sp>
        <p:nvSpPr>
          <p:cNvPr id="9" name="">
            <a:extLst xmlns:a="http://schemas.openxmlformats.org/drawingml/2006/main">
              <a:ext uri="{FF2B5EF4-FFF2-40B4-BE49-F238E27FC236}">
                <a16:creationId xmlns:a16="http://schemas.microsoft.com/office/drawing/2014/main" id="{7B02FC30-E9CD-4931-8A94-8B9105F714E8}"/>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3660523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DE097A-3B67-4DA7-B56E-605AB270AD42}"/>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最新結果①：高PV条件ではBEVを多く、低PV条件ではICEを多く使う配車になった</a:t>
            </a:r>
            <a:endParaRPr sz="2550"/>
          </a:p>
        </p:txBody>
      </p:sp>
      <p:sp>
        <p:nvSpPr>
          <p:cNvPr id="3" name="Shape 1">
            <a:extLst xmlns:a="http://schemas.openxmlformats.org/drawingml/2006/main">
              <a:ext uri="{FF2B5EF4-FFF2-40B4-BE49-F238E27FC236}">
                <a16:creationId xmlns:a16="http://schemas.microsoft.com/office/drawing/2014/main" id="{0162FB5E-CDB8-4FB8-9442-AC89DDA72F55}"/>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BD8168B-8E8E-45B6-8D5D-B791B37FFA06}"/>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1E61C3E2-3B11-433A-8E6F-76107156CE46}"/>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10/18</a:t>
            </a:r>
            <a:endParaRPr sz="850"/>
          </a:p>
        </p:txBody>
      </p:sp>
      <p:sp>
        <p:nvSpPr>
          <p:cNvPr id="6" name="Shape 4">
            <a:extLst xmlns:a="http://schemas.openxmlformats.org/drawingml/2006/main">
              <a:ext uri="{FF2B5EF4-FFF2-40B4-BE49-F238E27FC236}">
                <a16:creationId xmlns:a16="http://schemas.microsoft.com/office/drawing/2014/main" id="{1F88AF50-4B44-4544-89D6-96A15FDBB9BE}"/>
              </a:ext>
            </a:extLst>
          </p:cNvPr>
          <p:cNvSpPr>
            <a:spLocks xmlns:a="http://schemas.openxmlformats.org/drawingml/2006/main" noGrp="1"/>
          </p:cNvSpPr>
          <p:nvPr/>
        </p:nvSpPr>
        <p:spPr>
          <a:xfrm xmlns:a="http://schemas.openxmlformats.org/drawingml/2006/main">
            <a:off x="4160520" y="932688"/>
            <a:ext cx="146304" cy="146304"/>
          </a:xfrm>
          <a:prstGeom xmlns:a="http://schemas.openxmlformats.org/drawingml/2006/main" prst="rect">
            <a:avLst/>
          </a:prstGeom>
          <a:solidFill xmlns:a="http://schemas.openxmlformats.org/drawingml/2006/main">
            <a:srgbClr val="1F9D8A"/>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0B5D1932-CDBA-461F-BFE2-420AE27E26A3}"/>
              </a:ext>
            </a:extLst>
          </p:cNvPr>
          <p:cNvSpPr>
            <a:spLocks xmlns:a="http://schemas.openxmlformats.org/drawingml/2006/main" noGrp="1"/>
          </p:cNvSpPr>
          <p:nvPr/>
        </p:nvSpPr>
        <p:spPr>
          <a:xfrm xmlns:a="http://schemas.openxmlformats.org/drawingml/2006/main">
            <a:off x="4361688" y="905256"/>
            <a:ext cx="12070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87386"/>
                </a:solidFill>
                <a:latin typeface="Noto Sans CJK JP"/>
                <a:ea typeface="Noto Sans CJK JP"/>
                <a:cs typeface="Noto Sans CJK JP"/>
              </a:rPr>
              <a:t>BEV</a:t>
            </a:r>
            <a:endParaRPr sz="1050"/>
          </a:p>
        </p:txBody>
      </p:sp>
      <p:sp>
        <p:nvSpPr>
          <p:cNvPr id="8" name="Shape 6">
            <a:extLst xmlns:a="http://schemas.openxmlformats.org/drawingml/2006/main">
              <a:ext uri="{FF2B5EF4-FFF2-40B4-BE49-F238E27FC236}">
                <a16:creationId xmlns:a16="http://schemas.microsoft.com/office/drawing/2014/main" id="{D6DC7AEF-904E-4247-8ABA-64E46944C5A8}"/>
              </a:ext>
            </a:extLst>
          </p:cNvPr>
          <p:cNvSpPr>
            <a:spLocks xmlns:a="http://schemas.openxmlformats.org/drawingml/2006/main" noGrp="1"/>
          </p:cNvSpPr>
          <p:nvPr/>
        </p:nvSpPr>
        <p:spPr>
          <a:xfrm xmlns:a="http://schemas.openxmlformats.org/drawingml/2006/main">
            <a:off x="5577840" y="932688"/>
            <a:ext cx="146304" cy="146304"/>
          </a:xfrm>
          <a:prstGeom xmlns:a="http://schemas.openxmlformats.org/drawingml/2006/main" prst="rect">
            <a:avLst/>
          </a:prstGeom>
          <a:solidFill xmlns:a="http://schemas.openxmlformats.org/drawingml/2006/main">
            <a:srgbClr val="8C6D5A"/>
          </a:solidFill>
          <a:ln xmlns:a="http://schemas.openxmlformats.org/drawingml/2006/main" w="12700">
            <a:solidFill>
              <a:srgbClr val="8C6D5A"/>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7023422D-8623-4E9D-AB44-F725123829BC}"/>
              </a:ext>
            </a:extLst>
          </p:cNvPr>
          <p:cNvSpPr>
            <a:spLocks xmlns:a="http://schemas.openxmlformats.org/drawingml/2006/main" noGrp="1"/>
          </p:cNvSpPr>
          <p:nvPr/>
        </p:nvSpPr>
        <p:spPr>
          <a:xfrm xmlns:a="http://schemas.openxmlformats.org/drawingml/2006/main">
            <a:off x="5779008" y="905256"/>
            <a:ext cx="12070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87386"/>
                </a:solidFill>
                <a:latin typeface="Noto Sans CJK JP"/>
                <a:ea typeface="Noto Sans CJK JP"/>
                <a:cs typeface="Noto Sans CJK JP"/>
              </a:rPr>
              <a:t>ICE</a:t>
            </a:r>
            <a:endParaRPr sz="1050"/>
          </a:p>
        </p:txBody>
      </p:sp>
      <p:sp>
        <p:nvSpPr>
          <p:cNvPr id="10" name="Text 8">
            <a:extLst xmlns:a="http://schemas.openxmlformats.org/drawingml/2006/main">
              <a:ext uri="{FF2B5EF4-FFF2-40B4-BE49-F238E27FC236}">
                <a16:creationId xmlns:a16="http://schemas.microsoft.com/office/drawing/2014/main" id="{3566B461-13A2-4E7F-95F0-580016FD1F91}"/>
              </a:ext>
            </a:extLst>
          </p:cNvPr>
          <p:cNvSpPr>
            <a:spLocks xmlns:a="http://schemas.openxmlformats.org/drawingml/2006/main" noGrp="1"/>
          </p:cNvSpPr>
          <p:nvPr/>
        </p:nvSpPr>
        <p:spPr>
          <a:xfrm xmlns:a="http://schemas.openxmlformats.org/drawingml/2006/main">
            <a:off x="731520" y="1234440"/>
            <a:ext cx="4389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使用車両（合計32台）</a:t>
            </a:r>
            <a:endParaRPr sz="1800"/>
          </a:p>
        </p:txBody>
      </p:sp>
      <p:sp>
        <p:nvSpPr>
          <p:cNvPr id="11" name="Shape 9">
            <a:extLst xmlns:a="http://schemas.openxmlformats.org/drawingml/2006/main">
              <a:ext uri="{FF2B5EF4-FFF2-40B4-BE49-F238E27FC236}">
                <a16:creationId xmlns:a16="http://schemas.microsoft.com/office/drawing/2014/main" id="{4CCEB093-A523-4531-ABBA-B2AAA82733F7}"/>
              </a:ext>
            </a:extLst>
          </p:cNvPr>
          <p:cNvSpPr>
            <a:spLocks xmlns:a="http://schemas.openxmlformats.org/drawingml/2006/main" noGrp="1"/>
          </p:cNvSpPr>
          <p:nvPr/>
        </p:nvSpPr>
        <p:spPr>
          <a:xfrm xmlns:a="http://schemas.openxmlformats.org/drawingml/2006/main">
            <a:off x="1920240" y="1783080"/>
            <a:ext cx="3440430" cy="530352"/>
          </a:xfrm>
          <a:prstGeom xmlns:a="http://schemas.openxmlformats.org/drawingml/2006/main" prst="rect">
            <a:avLst/>
          </a:prstGeom>
          <a:solidFill xmlns:a="http://schemas.openxmlformats.org/drawingml/2006/main">
            <a:srgbClr val="1F9D8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C5A868E6-17DE-41AB-AE00-25A53C3FC7DE}"/>
              </a:ext>
            </a:extLst>
          </p:cNvPr>
          <p:cNvSpPr>
            <a:spLocks xmlns:a="http://schemas.openxmlformats.org/drawingml/2006/main" noGrp="1"/>
          </p:cNvSpPr>
          <p:nvPr/>
        </p:nvSpPr>
        <p:spPr>
          <a:xfrm xmlns:a="http://schemas.openxmlformats.org/drawingml/2006/main">
            <a:off x="1920240" y="1801368"/>
            <a:ext cx="344043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28</a:t>
            </a:r>
            <a:endParaRPr sz="1400"/>
          </a:p>
        </p:txBody>
      </p:sp>
      <p:sp>
        <p:nvSpPr>
          <p:cNvPr id="13" name="Shape 11">
            <a:extLst xmlns:a="http://schemas.openxmlformats.org/drawingml/2006/main">
              <a:ext uri="{FF2B5EF4-FFF2-40B4-BE49-F238E27FC236}">
                <a16:creationId xmlns:a16="http://schemas.microsoft.com/office/drawing/2014/main" id="{57AB9143-A7AC-4E53-8AA7-0A64E1F924F0}"/>
              </a:ext>
            </a:extLst>
          </p:cNvPr>
          <p:cNvSpPr>
            <a:spLocks xmlns:a="http://schemas.openxmlformats.org/drawingml/2006/main" noGrp="1"/>
          </p:cNvSpPr>
          <p:nvPr/>
        </p:nvSpPr>
        <p:spPr>
          <a:xfrm xmlns:a="http://schemas.openxmlformats.org/drawingml/2006/main">
            <a:off x="5360670" y="1783080"/>
            <a:ext cx="491490" cy="530352"/>
          </a:xfrm>
          <a:prstGeom xmlns:a="http://schemas.openxmlformats.org/drawingml/2006/main" prst="rect">
            <a:avLst/>
          </a:prstGeom>
          <a:solidFill xmlns:a="http://schemas.openxmlformats.org/drawingml/2006/main">
            <a:srgbClr val="8C6D5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8F22D7F-E4EA-4258-B810-10666D4DCEF1}"/>
              </a:ext>
            </a:extLst>
          </p:cNvPr>
          <p:cNvSpPr>
            <a:spLocks xmlns:a="http://schemas.openxmlformats.org/drawingml/2006/main" noGrp="1"/>
          </p:cNvSpPr>
          <p:nvPr/>
        </p:nvSpPr>
        <p:spPr>
          <a:xfrm xmlns:a="http://schemas.openxmlformats.org/drawingml/2006/main">
            <a:off x="5360670" y="1801368"/>
            <a:ext cx="49149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4</a:t>
            </a:r>
            <a:endParaRPr sz="1400"/>
          </a:p>
        </p:txBody>
      </p:sp>
      <p:sp>
        <p:nvSpPr>
          <p:cNvPr id="15" name="Text 13">
            <a:extLst xmlns:a="http://schemas.openxmlformats.org/drawingml/2006/main">
              <a:ext uri="{FF2B5EF4-FFF2-40B4-BE49-F238E27FC236}">
                <a16:creationId xmlns:a16="http://schemas.microsoft.com/office/drawing/2014/main" id="{48BEBE12-C971-49FF-8001-8992C3E54B98}"/>
              </a:ext>
            </a:extLst>
          </p:cNvPr>
          <p:cNvSpPr>
            <a:spLocks xmlns:a="http://schemas.openxmlformats.org/drawingml/2006/main" noGrp="1"/>
          </p:cNvSpPr>
          <p:nvPr/>
        </p:nvSpPr>
        <p:spPr>
          <a:xfrm xmlns:a="http://schemas.openxmlformats.org/drawingml/2006/main">
            <a:off x="960120" y="1773936"/>
            <a:ext cx="8686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50" b="1">
                <a:solidFill>
                  <a:srgbClr val="172033"/>
                </a:solidFill>
                <a:latin typeface="Noto Sans CJK JP"/>
                <a:ea typeface="Noto Sans CJK JP"/>
                <a:cs typeface="Noto Sans CJK JP"/>
              </a:rPr>
              <a:t>高PV</a:t>
            </a:r>
            <a:endParaRPr sz="1350"/>
          </a:p>
        </p:txBody>
      </p:sp>
      <p:sp>
        <p:nvSpPr>
          <p:cNvPr id="16" name="Shape 14">
            <a:extLst xmlns:a="http://schemas.openxmlformats.org/drawingml/2006/main">
              <a:ext uri="{FF2B5EF4-FFF2-40B4-BE49-F238E27FC236}">
                <a16:creationId xmlns:a16="http://schemas.microsoft.com/office/drawing/2014/main" id="{070CFCEE-A976-48DC-B9BF-DE0487763B54}"/>
              </a:ext>
            </a:extLst>
          </p:cNvPr>
          <p:cNvSpPr>
            <a:spLocks xmlns:a="http://schemas.openxmlformats.org/drawingml/2006/main" noGrp="1"/>
          </p:cNvSpPr>
          <p:nvPr/>
        </p:nvSpPr>
        <p:spPr>
          <a:xfrm xmlns:a="http://schemas.openxmlformats.org/drawingml/2006/main">
            <a:off x="1920240" y="2560320"/>
            <a:ext cx="2580323" cy="530352"/>
          </a:xfrm>
          <a:prstGeom xmlns:a="http://schemas.openxmlformats.org/drawingml/2006/main" prst="rect">
            <a:avLst/>
          </a:prstGeom>
          <a:solidFill xmlns:a="http://schemas.openxmlformats.org/drawingml/2006/main">
            <a:srgbClr val="1F9D8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B4B42ABE-71A5-4145-9FBD-06724DED9DC0}"/>
              </a:ext>
            </a:extLst>
          </p:cNvPr>
          <p:cNvSpPr>
            <a:spLocks xmlns:a="http://schemas.openxmlformats.org/drawingml/2006/main" noGrp="1"/>
          </p:cNvSpPr>
          <p:nvPr/>
        </p:nvSpPr>
        <p:spPr>
          <a:xfrm xmlns:a="http://schemas.openxmlformats.org/drawingml/2006/main">
            <a:off x="1920240" y="2578608"/>
            <a:ext cx="2580323"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21</a:t>
            </a:r>
            <a:endParaRPr sz="1400"/>
          </a:p>
        </p:txBody>
      </p:sp>
      <p:sp>
        <p:nvSpPr>
          <p:cNvPr id="18" name="Shape 16">
            <a:extLst xmlns:a="http://schemas.openxmlformats.org/drawingml/2006/main">
              <a:ext uri="{FF2B5EF4-FFF2-40B4-BE49-F238E27FC236}">
                <a16:creationId xmlns:a16="http://schemas.microsoft.com/office/drawing/2014/main" id="{F377348C-BE42-4109-B8E1-49FD6025ABB2}"/>
              </a:ext>
            </a:extLst>
          </p:cNvPr>
          <p:cNvSpPr>
            <a:spLocks xmlns:a="http://schemas.openxmlformats.org/drawingml/2006/main" noGrp="1"/>
          </p:cNvSpPr>
          <p:nvPr/>
        </p:nvSpPr>
        <p:spPr>
          <a:xfrm xmlns:a="http://schemas.openxmlformats.org/drawingml/2006/main">
            <a:off x="4500563" y="2560320"/>
            <a:ext cx="1351598" cy="530352"/>
          </a:xfrm>
          <a:prstGeom xmlns:a="http://schemas.openxmlformats.org/drawingml/2006/main" prst="rect">
            <a:avLst/>
          </a:prstGeom>
          <a:solidFill xmlns:a="http://schemas.openxmlformats.org/drawingml/2006/main">
            <a:srgbClr val="8C6D5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F311E020-41B1-4F34-A992-43810F914375}"/>
              </a:ext>
            </a:extLst>
          </p:cNvPr>
          <p:cNvSpPr>
            <a:spLocks xmlns:a="http://schemas.openxmlformats.org/drawingml/2006/main" noGrp="1"/>
          </p:cNvSpPr>
          <p:nvPr/>
        </p:nvSpPr>
        <p:spPr>
          <a:xfrm xmlns:a="http://schemas.openxmlformats.org/drawingml/2006/main">
            <a:off x="4500563" y="2578608"/>
            <a:ext cx="135159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11</a:t>
            </a:r>
            <a:endParaRPr sz="1400"/>
          </a:p>
        </p:txBody>
      </p:sp>
      <p:sp>
        <p:nvSpPr>
          <p:cNvPr id="20" name="Text 18">
            <a:extLst xmlns:a="http://schemas.openxmlformats.org/drawingml/2006/main">
              <a:ext uri="{FF2B5EF4-FFF2-40B4-BE49-F238E27FC236}">
                <a16:creationId xmlns:a16="http://schemas.microsoft.com/office/drawing/2014/main" id="{C9EAF7E4-C8C7-4AB7-82DC-213A77ED4BEB}"/>
              </a:ext>
            </a:extLst>
          </p:cNvPr>
          <p:cNvSpPr>
            <a:spLocks xmlns:a="http://schemas.openxmlformats.org/drawingml/2006/main" noGrp="1"/>
          </p:cNvSpPr>
          <p:nvPr/>
        </p:nvSpPr>
        <p:spPr>
          <a:xfrm xmlns:a="http://schemas.openxmlformats.org/drawingml/2006/main">
            <a:off x="960120" y="2551176"/>
            <a:ext cx="8686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50" b="1">
                <a:solidFill>
                  <a:srgbClr val="172033"/>
                </a:solidFill>
                <a:latin typeface="Noto Sans CJK JP"/>
                <a:ea typeface="Noto Sans CJK JP"/>
                <a:cs typeface="Noto Sans CJK JP"/>
              </a:rPr>
              <a:t>低PV</a:t>
            </a:r>
            <a:endParaRPr sz="1350"/>
          </a:p>
        </p:txBody>
      </p:sp>
      <p:sp>
        <p:nvSpPr>
          <p:cNvPr id="21" name="Text 19">
            <a:extLst xmlns:a="http://schemas.openxmlformats.org/drawingml/2006/main">
              <a:ext uri="{FF2B5EF4-FFF2-40B4-BE49-F238E27FC236}">
                <a16:creationId xmlns:a16="http://schemas.microsoft.com/office/drawing/2014/main" id="{FEF0B1FA-243E-418B-B1D1-74690EFB39C0}"/>
              </a:ext>
            </a:extLst>
          </p:cNvPr>
          <p:cNvSpPr>
            <a:spLocks xmlns:a="http://schemas.openxmlformats.org/drawingml/2006/main" noGrp="1"/>
          </p:cNvSpPr>
          <p:nvPr/>
        </p:nvSpPr>
        <p:spPr>
          <a:xfrm xmlns:a="http://schemas.openxmlformats.org/drawingml/2006/main">
            <a:off x="6355080" y="1234440"/>
            <a:ext cx="4297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担当便数（合計264便）</a:t>
            </a:r>
            <a:endParaRPr sz="1800"/>
          </a:p>
        </p:txBody>
      </p:sp>
      <p:sp>
        <p:nvSpPr>
          <p:cNvPr id="22" name="Shape 20">
            <a:extLst xmlns:a="http://schemas.openxmlformats.org/drawingml/2006/main">
              <a:ext uri="{FF2B5EF4-FFF2-40B4-BE49-F238E27FC236}">
                <a16:creationId xmlns:a16="http://schemas.microsoft.com/office/drawing/2014/main" id="{1A9B997F-5072-4CA1-9B7D-209F2E948611}"/>
              </a:ext>
            </a:extLst>
          </p:cNvPr>
          <p:cNvSpPr>
            <a:spLocks xmlns:a="http://schemas.openxmlformats.org/drawingml/2006/main" noGrp="1"/>
          </p:cNvSpPr>
          <p:nvPr/>
        </p:nvSpPr>
        <p:spPr>
          <a:xfrm xmlns:a="http://schemas.openxmlformats.org/drawingml/2006/main">
            <a:off x="7452360" y="1783080"/>
            <a:ext cx="2550275" cy="530352"/>
          </a:xfrm>
          <a:prstGeom xmlns:a="http://schemas.openxmlformats.org/drawingml/2006/main" prst="rect">
            <a:avLst/>
          </a:prstGeom>
          <a:solidFill xmlns:a="http://schemas.openxmlformats.org/drawingml/2006/main">
            <a:srgbClr val="1F9D8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C59EAD0D-A968-4427-9F31-7389995FD415}"/>
              </a:ext>
            </a:extLst>
          </p:cNvPr>
          <p:cNvSpPr>
            <a:spLocks xmlns:a="http://schemas.openxmlformats.org/drawingml/2006/main" noGrp="1"/>
          </p:cNvSpPr>
          <p:nvPr/>
        </p:nvSpPr>
        <p:spPr>
          <a:xfrm xmlns:a="http://schemas.openxmlformats.org/drawingml/2006/main">
            <a:off x="7452360" y="1801368"/>
            <a:ext cx="2550275"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199</a:t>
            </a:r>
            <a:endParaRPr sz="1400"/>
          </a:p>
        </p:txBody>
      </p:sp>
      <p:sp>
        <p:nvSpPr>
          <p:cNvPr id="24" name="Shape 22">
            <a:extLst xmlns:a="http://schemas.openxmlformats.org/drawingml/2006/main">
              <a:ext uri="{FF2B5EF4-FFF2-40B4-BE49-F238E27FC236}">
                <a16:creationId xmlns:a16="http://schemas.microsoft.com/office/drawing/2014/main" id="{F43985D1-B110-4043-8347-66B8E632B21A}"/>
              </a:ext>
            </a:extLst>
          </p:cNvPr>
          <p:cNvSpPr>
            <a:spLocks xmlns:a="http://schemas.openxmlformats.org/drawingml/2006/main" noGrp="1"/>
          </p:cNvSpPr>
          <p:nvPr/>
        </p:nvSpPr>
        <p:spPr>
          <a:xfrm xmlns:a="http://schemas.openxmlformats.org/drawingml/2006/main">
            <a:off x="10002635" y="1783080"/>
            <a:ext cx="833005" cy="530352"/>
          </a:xfrm>
          <a:prstGeom xmlns:a="http://schemas.openxmlformats.org/drawingml/2006/main" prst="rect">
            <a:avLst/>
          </a:prstGeom>
          <a:solidFill xmlns:a="http://schemas.openxmlformats.org/drawingml/2006/main">
            <a:srgbClr val="8C6D5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5B802B44-7FFF-4ABE-83D9-E08B3DE83B2F}"/>
              </a:ext>
            </a:extLst>
          </p:cNvPr>
          <p:cNvSpPr>
            <a:spLocks xmlns:a="http://schemas.openxmlformats.org/drawingml/2006/main" noGrp="1"/>
          </p:cNvSpPr>
          <p:nvPr/>
        </p:nvSpPr>
        <p:spPr>
          <a:xfrm xmlns:a="http://schemas.openxmlformats.org/drawingml/2006/main">
            <a:off x="10002635" y="1801368"/>
            <a:ext cx="833005"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65</a:t>
            </a:r>
            <a:endParaRPr sz="1400"/>
          </a:p>
        </p:txBody>
      </p:sp>
      <p:sp>
        <p:nvSpPr>
          <p:cNvPr id="26" name="Text 24">
            <a:extLst xmlns:a="http://schemas.openxmlformats.org/drawingml/2006/main">
              <a:ext uri="{FF2B5EF4-FFF2-40B4-BE49-F238E27FC236}">
                <a16:creationId xmlns:a16="http://schemas.microsoft.com/office/drawing/2014/main" id="{ADB8D1FB-C1B1-4D13-96A4-01579668BD17}"/>
              </a:ext>
            </a:extLst>
          </p:cNvPr>
          <p:cNvSpPr>
            <a:spLocks xmlns:a="http://schemas.openxmlformats.org/drawingml/2006/main" noGrp="1"/>
          </p:cNvSpPr>
          <p:nvPr/>
        </p:nvSpPr>
        <p:spPr>
          <a:xfrm xmlns:a="http://schemas.openxmlformats.org/drawingml/2006/main">
            <a:off x="6492240" y="1773936"/>
            <a:ext cx="8686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50" b="1">
                <a:solidFill>
                  <a:srgbClr val="172033"/>
                </a:solidFill>
                <a:latin typeface="Noto Sans CJK JP"/>
                <a:ea typeface="Noto Sans CJK JP"/>
                <a:cs typeface="Noto Sans CJK JP"/>
              </a:rPr>
              <a:t>高PV</a:t>
            </a:r>
            <a:endParaRPr sz="1350"/>
          </a:p>
        </p:txBody>
      </p:sp>
      <p:sp>
        <p:nvSpPr>
          <p:cNvPr id="27" name="Shape 25">
            <a:extLst xmlns:a="http://schemas.openxmlformats.org/drawingml/2006/main">
              <a:ext uri="{FF2B5EF4-FFF2-40B4-BE49-F238E27FC236}">
                <a16:creationId xmlns:a16="http://schemas.microsoft.com/office/drawing/2014/main" id="{9A9FAA6E-7A9A-459C-A421-A2BCCE0B4A49}"/>
              </a:ext>
            </a:extLst>
          </p:cNvPr>
          <p:cNvSpPr>
            <a:spLocks xmlns:a="http://schemas.openxmlformats.org/drawingml/2006/main" noGrp="1"/>
          </p:cNvSpPr>
          <p:nvPr/>
        </p:nvSpPr>
        <p:spPr>
          <a:xfrm xmlns:a="http://schemas.openxmlformats.org/drawingml/2006/main">
            <a:off x="7452360" y="2560320"/>
            <a:ext cx="1166206" cy="530352"/>
          </a:xfrm>
          <a:prstGeom xmlns:a="http://schemas.openxmlformats.org/drawingml/2006/main" prst="rect">
            <a:avLst/>
          </a:prstGeom>
          <a:solidFill xmlns:a="http://schemas.openxmlformats.org/drawingml/2006/main">
            <a:srgbClr val="1F9D8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6A224F6C-0D67-43C7-857F-432D9FA9204B}"/>
              </a:ext>
            </a:extLst>
          </p:cNvPr>
          <p:cNvSpPr>
            <a:spLocks xmlns:a="http://schemas.openxmlformats.org/drawingml/2006/main" noGrp="1"/>
          </p:cNvSpPr>
          <p:nvPr/>
        </p:nvSpPr>
        <p:spPr>
          <a:xfrm xmlns:a="http://schemas.openxmlformats.org/drawingml/2006/main">
            <a:off x="7452360" y="2578608"/>
            <a:ext cx="1166206"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91</a:t>
            </a:r>
            <a:endParaRPr sz="1400"/>
          </a:p>
        </p:txBody>
      </p:sp>
      <p:sp>
        <p:nvSpPr>
          <p:cNvPr id="29" name="Shape 27">
            <a:extLst xmlns:a="http://schemas.openxmlformats.org/drawingml/2006/main">
              <a:ext uri="{FF2B5EF4-FFF2-40B4-BE49-F238E27FC236}">
                <a16:creationId xmlns:a16="http://schemas.microsoft.com/office/drawing/2014/main" id="{A97DCE35-CA85-49BE-A9A0-D0FEE75D2504}"/>
              </a:ext>
            </a:extLst>
          </p:cNvPr>
          <p:cNvSpPr>
            <a:spLocks xmlns:a="http://schemas.openxmlformats.org/drawingml/2006/main" noGrp="1"/>
          </p:cNvSpPr>
          <p:nvPr/>
        </p:nvSpPr>
        <p:spPr>
          <a:xfrm xmlns:a="http://schemas.openxmlformats.org/drawingml/2006/main">
            <a:off x="8618566" y="2560320"/>
            <a:ext cx="2217074" cy="530352"/>
          </a:xfrm>
          <a:prstGeom xmlns:a="http://schemas.openxmlformats.org/drawingml/2006/main" prst="rect">
            <a:avLst/>
          </a:prstGeom>
          <a:solidFill xmlns:a="http://schemas.openxmlformats.org/drawingml/2006/main">
            <a:srgbClr val="8C6D5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CD65A4AB-DA11-4B52-B4C2-EB8BBC741D0A}"/>
              </a:ext>
            </a:extLst>
          </p:cNvPr>
          <p:cNvSpPr>
            <a:spLocks xmlns:a="http://schemas.openxmlformats.org/drawingml/2006/main" noGrp="1"/>
          </p:cNvSpPr>
          <p:nvPr/>
        </p:nvSpPr>
        <p:spPr>
          <a:xfrm xmlns:a="http://schemas.openxmlformats.org/drawingml/2006/main">
            <a:off x="8618566" y="2578608"/>
            <a:ext cx="2217074"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173</a:t>
            </a:r>
            <a:endParaRPr sz="1400"/>
          </a:p>
        </p:txBody>
      </p:sp>
      <p:sp>
        <p:nvSpPr>
          <p:cNvPr id="31" name="Text 29">
            <a:extLst xmlns:a="http://schemas.openxmlformats.org/drawingml/2006/main">
              <a:ext uri="{FF2B5EF4-FFF2-40B4-BE49-F238E27FC236}">
                <a16:creationId xmlns:a16="http://schemas.microsoft.com/office/drawing/2014/main" id="{6AC452D0-CAF9-4596-928B-06C0BA84E1A5}"/>
              </a:ext>
            </a:extLst>
          </p:cNvPr>
          <p:cNvSpPr>
            <a:spLocks xmlns:a="http://schemas.openxmlformats.org/drawingml/2006/main" noGrp="1"/>
          </p:cNvSpPr>
          <p:nvPr/>
        </p:nvSpPr>
        <p:spPr>
          <a:xfrm xmlns:a="http://schemas.openxmlformats.org/drawingml/2006/main">
            <a:off x="6492240" y="2551176"/>
            <a:ext cx="8686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50" b="1">
                <a:solidFill>
                  <a:srgbClr val="172033"/>
                </a:solidFill>
                <a:latin typeface="Noto Sans CJK JP"/>
                <a:ea typeface="Noto Sans CJK JP"/>
                <a:cs typeface="Noto Sans CJK JP"/>
              </a:rPr>
              <a:t>低PV</a:t>
            </a:r>
            <a:endParaRPr sz="1350"/>
          </a:p>
        </p:txBody>
      </p:sp>
      <p:sp>
        <p:nvSpPr>
          <p:cNvPr id="32" name="Shape 30">
            <a:extLst xmlns:a="http://schemas.openxmlformats.org/drawingml/2006/main">
              <a:ext uri="{FF2B5EF4-FFF2-40B4-BE49-F238E27FC236}">
                <a16:creationId xmlns:a16="http://schemas.microsoft.com/office/drawing/2014/main" id="{D92A671F-145B-4302-83C4-452CDFB6187A}"/>
              </a:ext>
            </a:extLst>
          </p:cNvPr>
          <p:cNvSpPr>
            <a:spLocks xmlns:a="http://schemas.openxmlformats.org/drawingml/2006/main" noGrp="1"/>
          </p:cNvSpPr>
          <p:nvPr/>
        </p:nvSpPr>
        <p:spPr>
          <a:xfrm xmlns:a="http://schemas.openxmlformats.org/drawingml/2006/main">
            <a:off x="731520" y="3703320"/>
            <a:ext cx="3429000" cy="1572768"/>
          </a:xfrm>
          <a:prstGeom xmlns:a="http://schemas.openxmlformats.org/drawingml/2006/main" prst="roundRect">
            <a:avLst>
              <a:gd name="adj" fmla="val 4651"/>
            </a:avLst>
          </a:prstGeom>
          <a:solidFill xmlns:a="http://schemas.openxmlformats.org/drawingml/2006/main">
            <a:srgbClr val="E8F6F3"/>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pic>
        <p:nvPicPr>
          <p:cNvPr id="80" name="Image 0"/>
          <p:cNvPicPr>
            <a:picLocks xmlns:a="http://schemas.openxmlformats.org/drawingml/2006/main" noChangeAspect="1"/>
          </p:cNvPicPr>
          <p:nvPr/>
        </p:nvPicPr>
        <p:blipFill>
          <a:blip xmlns:r="http://schemas.openxmlformats.org/officeDocument/2006/relationships" xmlns:a="http://schemas.openxmlformats.org/drawingml/2006/main" r:embed="R9a326d1ed61649b7">
            <a:extLst>
              <a:ext uri="{96DAC541-7B7A-43D3-8B79-37D633B846F1}">
                <asvg:svgBlip xmlns:asvg="http://schemas.microsoft.com/office/drawing/2016/SVG/main" r:embed="Ree0574c74b734609"/>
              </a:ext>
            </a:extLst>
          </a:blip>
          <a:stretch xmlns:a="http://schemas.openxmlformats.org/drawingml/2006/main">
            <a:fillRect l="0" t="0" r="0" b="0"/>
          </a:stretch>
        </p:blipFill>
        <p:spPr>
          <a:xfrm xmlns:a="http://schemas.openxmlformats.org/drawingml/2006/main">
            <a:off x="1005840" y="4005072"/>
            <a:ext cx="475488" cy="475488"/>
          </a:xfrm>
          <a:prstGeom xmlns:a="http://schemas.openxmlformats.org/drawingml/2006/main" prst="rect">
            <a:avLst/>
          </a:prstGeom>
        </p:spPr>
      </p:pic>
      <p:sp>
        <p:nvSpPr>
          <p:cNvPr id="34" name="Text 31">
            <a:extLst xmlns:a="http://schemas.openxmlformats.org/drawingml/2006/main">
              <a:ext uri="{FF2B5EF4-FFF2-40B4-BE49-F238E27FC236}">
                <a16:creationId xmlns:a16="http://schemas.microsoft.com/office/drawing/2014/main" id="{B316B8B8-3553-49BA-92B2-7FCAA782EC19}"/>
              </a:ext>
            </a:extLst>
          </p:cNvPr>
          <p:cNvSpPr>
            <a:spLocks xmlns:a="http://schemas.openxmlformats.org/drawingml/2006/main" noGrp="1"/>
          </p:cNvSpPr>
          <p:nvPr/>
        </p:nvSpPr>
        <p:spPr>
          <a:xfrm xmlns:a="http://schemas.openxmlformats.org/drawingml/2006/main">
            <a:off x="1664208" y="3913632"/>
            <a:ext cx="1325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高PV条件</a:t>
            </a:r>
            <a:endParaRPr sz="1800"/>
          </a:p>
        </p:txBody>
      </p:sp>
      <p:sp>
        <p:nvSpPr>
          <p:cNvPr id="35" name="Text 32">
            <a:extLst xmlns:a="http://schemas.openxmlformats.org/drawingml/2006/main">
              <a:ext uri="{FF2B5EF4-FFF2-40B4-BE49-F238E27FC236}">
                <a16:creationId xmlns:a16="http://schemas.microsoft.com/office/drawing/2014/main" id="{2A2196A5-17E9-4698-B96B-71E1DCB945A5}"/>
              </a:ext>
            </a:extLst>
          </p:cNvPr>
          <p:cNvSpPr>
            <a:spLocks xmlns:a="http://schemas.openxmlformats.org/drawingml/2006/main" noGrp="1"/>
          </p:cNvSpPr>
          <p:nvPr/>
        </p:nvSpPr>
        <p:spPr>
          <a:xfrm xmlns:a="http://schemas.openxmlformats.org/drawingml/2006/main">
            <a:off x="1005840" y="4370832"/>
            <a:ext cx="27432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BEV 28台・199便</a:t>
            </a:r>
            <a:endParaRPr sz="1550"/>
          </a:p>
          <a:p xmlns:a="http://schemas.openxmlformats.org/drawingml/2006/main">
            <a:pPr marL="0" indent="0" algn="ctr">
              <a:buNone/>
            </a:pPr>
            <a:r>
              <a:rPr sz="1550">
                <a:solidFill>
                  <a:srgbClr val="687386"/>
                </a:solidFill>
                <a:latin typeface="Noto Sans CJK JP"/>
                <a:ea typeface="Noto Sans CJK JP"/>
                <a:cs typeface="Noto Sans CJK JP"/>
              </a:rPr>
              <a:t>→ 高PVでBEV担当が増加</a:t>
            </a:r>
            <a:endParaRPr sz="1550"/>
          </a:p>
        </p:txBody>
      </p:sp>
      <p:sp>
        <p:nvSpPr>
          <p:cNvPr id="36" name="Shape 33">
            <a:extLst xmlns:a="http://schemas.openxmlformats.org/drawingml/2006/main">
              <a:ext uri="{FF2B5EF4-FFF2-40B4-BE49-F238E27FC236}">
                <a16:creationId xmlns:a16="http://schemas.microsoft.com/office/drawing/2014/main" id="{D87F0A7C-3EB3-473F-8C5B-77F824667EBA}"/>
              </a:ext>
            </a:extLst>
          </p:cNvPr>
          <p:cNvSpPr>
            <a:spLocks xmlns:a="http://schemas.openxmlformats.org/drawingml/2006/main" noGrp="1"/>
          </p:cNvSpPr>
          <p:nvPr/>
        </p:nvSpPr>
        <p:spPr>
          <a:xfrm xmlns:a="http://schemas.openxmlformats.org/drawingml/2006/main">
            <a:off x="4407408" y="3703320"/>
            <a:ext cx="3429000" cy="1572768"/>
          </a:xfrm>
          <a:prstGeom xmlns:a="http://schemas.openxmlformats.org/drawingml/2006/main" prst="roundRect">
            <a:avLst>
              <a:gd name="adj" fmla="val 4651"/>
            </a:avLst>
          </a:prstGeom>
          <a:solidFill xmlns:a="http://schemas.openxmlformats.org/drawingml/2006/main">
            <a:srgbClr val="EAF2FB"/>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pic>
        <p:nvPicPr>
          <p:cNvPr id="84" name="Image 1"/>
          <p:cNvPicPr>
            <a:picLocks xmlns:a="http://schemas.openxmlformats.org/drawingml/2006/main" noChangeAspect="1"/>
          </p:cNvPicPr>
          <p:nvPr/>
        </p:nvPicPr>
        <p:blipFill>
          <a:blip xmlns:r="http://schemas.openxmlformats.org/officeDocument/2006/relationships" xmlns:a="http://schemas.openxmlformats.org/drawingml/2006/main" r:embed="Rea64581072f8426a">
            <a:extLst>
              <a:ext uri="{96DAC541-7B7A-43D3-8B79-37D633B846F1}">
                <asvg:svgBlip xmlns:asvg="http://schemas.microsoft.com/office/drawing/2016/SVG/main" r:embed="R1dbdb3c5a31243e4"/>
              </a:ext>
            </a:extLst>
          </a:blip>
          <a:stretch xmlns:a="http://schemas.openxmlformats.org/drawingml/2006/main">
            <a:fillRect l="0" t="0" r="0" b="0"/>
          </a:stretch>
        </p:blipFill>
        <p:spPr>
          <a:xfrm xmlns:a="http://schemas.openxmlformats.org/drawingml/2006/main">
            <a:off x="4681728" y="4005072"/>
            <a:ext cx="502920" cy="475488"/>
          </a:xfrm>
          <a:prstGeom xmlns:a="http://schemas.openxmlformats.org/drawingml/2006/main" prst="rect">
            <a:avLst/>
          </a:prstGeom>
        </p:spPr>
      </p:pic>
      <p:sp>
        <p:nvSpPr>
          <p:cNvPr id="38" name="Text 34">
            <a:extLst xmlns:a="http://schemas.openxmlformats.org/drawingml/2006/main">
              <a:ext uri="{FF2B5EF4-FFF2-40B4-BE49-F238E27FC236}">
                <a16:creationId xmlns:a16="http://schemas.microsoft.com/office/drawing/2014/main" id="{4AD16F44-E153-42F9-9C11-6879C0ADC663}"/>
              </a:ext>
            </a:extLst>
          </p:cNvPr>
          <p:cNvSpPr>
            <a:spLocks xmlns:a="http://schemas.openxmlformats.org/drawingml/2006/main" noGrp="1"/>
          </p:cNvSpPr>
          <p:nvPr/>
        </p:nvSpPr>
        <p:spPr>
          <a:xfrm xmlns:a="http://schemas.openxmlformats.org/drawingml/2006/main">
            <a:off x="5349240" y="3913632"/>
            <a:ext cx="1325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低PV条件</a:t>
            </a:r>
            <a:endParaRPr sz="1800"/>
          </a:p>
        </p:txBody>
      </p:sp>
      <p:sp>
        <p:nvSpPr>
          <p:cNvPr id="39" name="Text 35">
            <a:extLst xmlns:a="http://schemas.openxmlformats.org/drawingml/2006/main">
              <a:ext uri="{FF2B5EF4-FFF2-40B4-BE49-F238E27FC236}">
                <a16:creationId xmlns:a16="http://schemas.microsoft.com/office/drawing/2014/main" id="{C12A81CD-B15B-4DCE-B8F0-0F13198F2E54}"/>
              </a:ext>
            </a:extLst>
          </p:cNvPr>
          <p:cNvSpPr>
            <a:spLocks xmlns:a="http://schemas.openxmlformats.org/drawingml/2006/main" noGrp="1"/>
          </p:cNvSpPr>
          <p:nvPr/>
        </p:nvSpPr>
        <p:spPr>
          <a:xfrm xmlns:a="http://schemas.openxmlformats.org/drawingml/2006/main">
            <a:off x="4681728" y="4370832"/>
            <a:ext cx="27432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BEV 21台・91便</a:t>
            </a:r>
            <a:endParaRPr sz="1550"/>
          </a:p>
          <a:p xmlns:a="http://schemas.openxmlformats.org/drawingml/2006/main">
            <a:pPr marL="0" indent="0" algn="ctr">
              <a:buNone/>
            </a:pPr>
            <a:r>
              <a:rPr sz="1550">
                <a:solidFill>
                  <a:srgbClr val="687386"/>
                </a:solidFill>
                <a:latin typeface="Noto Sans CJK JP"/>
                <a:ea typeface="Noto Sans CJK JP"/>
                <a:cs typeface="Noto Sans CJK JP"/>
              </a:rPr>
              <a:t>→ 低PVでICE担当が増加</a:t>
            </a:r>
            <a:endParaRPr sz="1550"/>
          </a:p>
        </p:txBody>
      </p:sp>
      <p:sp>
        <p:nvSpPr>
          <p:cNvPr id="40" name="Shape 36">
            <a:extLst xmlns:a="http://schemas.openxmlformats.org/drawingml/2006/main">
              <a:ext uri="{FF2B5EF4-FFF2-40B4-BE49-F238E27FC236}">
                <a16:creationId xmlns:a16="http://schemas.microsoft.com/office/drawing/2014/main" id="{7111C97B-21AE-424C-A2F0-5D4F21E87C04}"/>
              </a:ext>
            </a:extLst>
          </p:cNvPr>
          <p:cNvSpPr>
            <a:spLocks xmlns:a="http://schemas.openxmlformats.org/drawingml/2006/main" noGrp="1"/>
          </p:cNvSpPr>
          <p:nvPr/>
        </p:nvSpPr>
        <p:spPr>
          <a:xfrm xmlns:a="http://schemas.openxmlformats.org/drawingml/2006/main">
            <a:off x="8083296" y="3703320"/>
            <a:ext cx="3429000" cy="1572768"/>
          </a:xfrm>
          <a:prstGeom xmlns:a="http://schemas.openxmlformats.org/drawingml/2006/main" prst="roundRect">
            <a:avLst>
              <a:gd name="adj" fmla="val 4651"/>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pic>
        <p:nvPicPr>
          <p:cNvPr id="88" name="Image 2"/>
          <p:cNvPicPr>
            <a:picLocks xmlns:a="http://schemas.openxmlformats.org/drawingml/2006/main" noChangeAspect="1"/>
          </p:cNvPicPr>
          <p:nvPr/>
        </p:nvPicPr>
        <p:blipFill>
          <a:blip xmlns:r="http://schemas.openxmlformats.org/officeDocument/2006/relationships" xmlns:a="http://schemas.openxmlformats.org/drawingml/2006/main" r:embed="Re1fe8a18c9e545be">
            <a:extLst>
              <a:ext uri="{96DAC541-7B7A-43D3-8B79-37D633B846F1}">
                <asvg:svgBlip xmlns:asvg="http://schemas.microsoft.com/office/drawing/2016/SVG/main" r:embed="R1887af1508d343fc"/>
              </a:ext>
            </a:extLst>
          </a:blip>
          <a:stretch xmlns:a="http://schemas.openxmlformats.org/drawingml/2006/main">
            <a:fillRect l="0" t="0" r="0" b="0"/>
          </a:stretch>
        </p:blipFill>
        <p:spPr>
          <a:xfrm xmlns:a="http://schemas.openxmlformats.org/drawingml/2006/main">
            <a:off x="8357616" y="4005072"/>
            <a:ext cx="457200" cy="457200"/>
          </a:xfrm>
          <a:prstGeom xmlns:a="http://schemas.openxmlformats.org/drawingml/2006/main" prst="rect">
            <a:avLst/>
          </a:prstGeom>
        </p:spPr>
      </p:pic>
      <p:sp>
        <p:nvSpPr>
          <p:cNvPr id="42" name="Text 37">
            <a:extLst xmlns:a="http://schemas.openxmlformats.org/drawingml/2006/main">
              <a:ext uri="{FF2B5EF4-FFF2-40B4-BE49-F238E27FC236}">
                <a16:creationId xmlns:a16="http://schemas.microsoft.com/office/drawing/2014/main" id="{C57F525F-69F9-48A3-975C-EB5F0D551DFF}"/>
              </a:ext>
            </a:extLst>
          </p:cNvPr>
          <p:cNvSpPr>
            <a:spLocks xmlns:a="http://schemas.openxmlformats.org/drawingml/2006/main" noGrp="1"/>
          </p:cNvSpPr>
          <p:nvPr/>
        </p:nvSpPr>
        <p:spPr>
          <a:xfrm xmlns:a="http://schemas.openxmlformats.org/drawingml/2006/main">
            <a:off x="9015984" y="3913632"/>
            <a:ext cx="1005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共通</a:t>
            </a:r>
            <a:endParaRPr sz="1800"/>
          </a:p>
        </p:txBody>
      </p:sp>
      <p:sp>
        <p:nvSpPr>
          <p:cNvPr id="43" name="Text 38">
            <a:extLst xmlns:a="http://schemas.openxmlformats.org/drawingml/2006/main">
              <a:ext uri="{FF2B5EF4-FFF2-40B4-BE49-F238E27FC236}">
                <a16:creationId xmlns:a16="http://schemas.microsoft.com/office/drawing/2014/main" id="{8F1DA1D1-F507-40A2-9B5F-25B5CB3845EC}"/>
              </a:ext>
            </a:extLst>
          </p:cNvPr>
          <p:cNvSpPr>
            <a:spLocks xmlns:a="http://schemas.openxmlformats.org/drawingml/2006/main" noGrp="1"/>
          </p:cNvSpPr>
          <p:nvPr/>
        </p:nvSpPr>
        <p:spPr>
          <a:xfrm xmlns:a="http://schemas.openxmlformats.org/drawingml/2006/main">
            <a:off x="8357616" y="4370832"/>
            <a:ext cx="27432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264/264便を運行</a:t>
            </a:r>
            <a:endParaRPr sz="1550"/>
          </a:p>
          <a:p xmlns:a="http://schemas.openxmlformats.org/drawingml/2006/main">
            <a:pPr marL="0" indent="0" algn="ctr">
              <a:buNone/>
            </a:pPr>
            <a:r>
              <a:rPr sz="1550">
                <a:solidFill>
                  <a:srgbClr val="687386"/>
                </a:solidFill>
                <a:latin typeface="Noto Sans CJK JP"/>
                <a:ea typeface="Noto Sans CJK JP"/>
                <a:cs typeface="Noto Sans CJK JP"/>
              </a:rPr>
              <a:t>使用総台数はどちらも32台</a:t>
            </a:r>
            <a:endParaRPr sz="1550"/>
          </a:p>
        </p:txBody>
      </p:sp>
      <p:sp>
        <p:nvSpPr>
          <p:cNvPr id="44" name="Text 39">
            <a:extLst xmlns:a="http://schemas.openxmlformats.org/drawingml/2006/main">
              <a:ext uri="{FF2B5EF4-FFF2-40B4-BE49-F238E27FC236}">
                <a16:creationId xmlns:a16="http://schemas.microsoft.com/office/drawing/2014/main" id="{F2CC1EAE-EE05-4CAF-AE40-30A76B31F137}"/>
              </a:ext>
            </a:extLst>
          </p:cNvPr>
          <p:cNvSpPr>
            <a:spLocks xmlns:a="http://schemas.openxmlformats.org/drawingml/2006/main" noGrp="1"/>
          </p:cNvSpPr>
          <p:nvPr/>
        </p:nvSpPr>
        <p:spPr>
          <a:xfrm xmlns:a="http://schemas.openxmlformats.org/drawingml/2006/main">
            <a:off x="1828800" y="5797296"/>
            <a:ext cx="8595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
                <a:solidFill>
                  <a:srgbClr val="C94C4C"/>
                </a:solidFill>
                <a:latin typeface="Noto Sans CJK JP"/>
                <a:ea typeface="Noto Sans CJK JP"/>
                <a:cs typeface="Noto Sans CJK JP"/>
              </a:rPr>
              <a:t>※ 2つの固定条件での結果であり、一般的な天候効果を示すものではない</a:t>
            </a:r>
            <a:endParaRPr sz="1080"/>
          </a:p>
        </p:txBody>
      </p:sp>
      <p:sp>
        <p:nvSpPr>
          <p:cNvPr id="48" name="">
            <a:extLst xmlns:a="http://schemas.openxmlformats.org/drawingml/2006/main">
              <a:ext uri="{FF2B5EF4-FFF2-40B4-BE49-F238E27FC236}">
                <a16:creationId xmlns:a16="http://schemas.microsoft.com/office/drawing/2014/main" id="{3E331C0F-4F72-4B4E-908F-31193EBAB365}"/>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4929828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AB7FEDB-212D-4543-9942-CEC971AF4B85}"/>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先行研究にならい、車両構成と費用の関係を候補ごとに確認</a:t>
            </a:r>
            <a:endParaRPr sz="2550"/>
          </a:p>
        </p:txBody>
      </p:sp>
      <p:sp>
        <p:nvSpPr>
          <p:cNvPr id="3" name="Shape 1">
            <a:extLst xmlns:a="http://schemas.openxmlformats.org/drawingml/2006/main">
              <a:ext uri="{FF2B5EF4-FFF2-40B4-BE49-F238E27FC236}">
                <a16:creationId xmlns:a16="http://schemas.microsoft.com/office/drawing/2014/main" id="{CFE8E1C4-1318-46FB-8A06-7B8077285170}"/>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11E103C-B6C0-453A-A3D8-A64CB5AA1964}"/>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01216499-207D-4389-8578-E8BEA00317CB}"/>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11/18</a:t>
            </a:r>
            <a:endParaRPr sz="85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fea3d4e0b5574655"/>
          <a:stretch xmlns:a="http://schemas.openxmlformats.org/drawingml/2006/main">
            <a:fillRect l="0" t="0" r="0" b="0"/>
          </a:stretch>
        </p:blipFill>
        <p:spPr>
          <a:xfrm xmlns:a="http://schemas.openxmlformats.org/drawingml/2006/main">
            <a:off x="594360" y="960120"/>
            <a:ext cx="7498080" cy="434340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FD962E0A-1E8D-4A23-8E02-9962D64F5714}"/>
              </a:ext>
            </a:extLst>
          </p:cNvPr>
          <p:cNvSpPr>
            <a:spLocks xmlns:a="http://schemas.openxmlformats.org/drawingml/2006/main" noGrp="1"/>
          </p:cNvSpPr>
          <p:nvPr/>
        </p:nvSpPr>
        <p:spPr>
          <a:xfrm xmlns:a="http://schemas.openxmlformats.org/drawingml/2006/main">
            <a:off x="8275320" y="1078992"/>
            <a:ext cx="3246120" cy="4041648"/>
          </a:xfrm>
          <a:prstGeom xmlns:a="http://schemas.openxmlformats.org/drawingml/2006/main" prst="roundRect">
            <a:avLst>
              <a:gd name="adj" fmla="val 2254"/>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CE75F319-1850-425E-9CEC-A22A6195E931}"/>
              </a:ext>
            </a:extLst>
          </p:cNvPr>
          <p:cNvSpPr>
            <a:spLocks xmlns:a="http://schemas.openxmlformats.org/drawingml/2006/main" noGrp="1"/>
          </p:cNvSpPr>
          <p:nvPr/>
        </p:nvSpPr>
        <p:spPr>
          <a:xfrm xmlns:a="http://schemas.openxmlformats.org/drawingml/2006/main">
            <a:off x="8567928" y="1344168"/>
            <a:ext cx="2514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72033"/>
                </a:solidFill>
                <a:latin typeface="Noto Sans CJK JP"/>
                <a:ea typeface="Noto Sans CJK JP"/>
                <a:cs typeface="Noto Sans CJK JP"/>
              </a:rPr>
              <a:t>図から読めること</a:t>
            </a:r>
            <a:endParaRPr sz="2000"/>
          </a:p>
        </p:txBody>
      </p:sp>
      <p:sp>
        <p:nvSpPr>
          <p:cNvPr id="9" name="Shape 6">
            <a:extLst xmlns:a="http://schemas.openxmlformats.org/drawingml/2006/main">
              <a:ext uri="{FF2B5EF4-FFF2-40B4-BE49-F238E27FC236}">
                <a16:creationId xmlns:a16="http://schemas.microsoft.com/office/drawing/2014/main" id="{753E4291-C204-4ED2-AB73-CBFB1A662C4F}"/>
              </a:ext>
            </a:extLst>
          </p:cNvPr>
          <p:cNvSpPr>
            <a:spLocks xmlns:a="http://schemas.openxmlformats.org/drawingml/2006/main" noGrp="1"/>
          </p:cNvSpPr>
          <p:nvPr/>
        </p:nvSpPr>
        <p:spPr>
          <a:xfrm xmlns:a="http://schemas.openxmlformats.org/drawingml/2006/main">
            <a:off x="8540496" y="2066544"/>
            <a:ext cx="91440" cy="91440"/>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4271322F-36A4-4680-A769-06AABCAB68B9}"/>
              </a:ext>
            </a:extLst>
          </p:cNvPr>
          <p:cNvSpPr>
            <a:spLocks xmlns:a="http://schemas.openxmlformats.org/drawingml/2006/main" noGrp="1"/>
          </p:cNvSpPr>
          <p:nvPr/>
        </p:nvSpPr>
        <p:spPr>
          <a:xfrm xmlns:a="http://schemas.openxmlformats.org/drawingml/2006/main">
            <a:off x="8705088" y="1920240"/>
            <a:ext cx="2395728" cy="56007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30">
                <a:solidFill>
                  <a:srgbClr val="172033"/>
                </a:solidFill>
                <a:latin typeface="Noto Sans CJK JP"/>
                <a:ea typeface="Noto Sans CJK JP"/>
                <a:cs typeface="Noto Sans CJK JP"/>
              </a:rPr>
              <a:t>高PV条件はBEV 28台の候補を選択</a:t>
            </a:r>
            <a:endParaRPr sz="1430"/>
          </a:p>
        </p:txBody>
      </p:sp>
      <p:sp>
        <p:nvSpPr>
          <p:cNvPr id="11" name="Shape 8">
            <a:extLst xmlns:a="http://schemas.openxmlformats.org/drawingml/2006/main">
              <a:ext uri="{FF2B5EF4-FFF2-40B4-BE49-F238E27FC236}">
                <a16:creationId xmlns:a16="http://schemas.microsoft.com/office/drawing/2014/main" id="{EFAE7FAC-8B39-4DB1-8C91-DE037602B508}"/>
              </a:ext>
            </a:extLst>
          </p:cNvPr>
          <p:cNvSpPr>
            <a:spLocks xmlns:a="http://schemas.openxmlformats.org/drawingml/2006/main" noGrp="1"/>
          </p:cNvSpPr>
          <p:nvPr/>
        </p:nvSpPr>
        <p:spPr>
          <a:xfrm xmlns:a="http://schemas.openxmlformats.org/drawingml/2006/main">
            <a:off x="8540496" y="2672334"/>
            <a:ext cx="91440" cy="91440"/>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9">
            <a:extLst xmlns:a="http://schemas.openxmlformats.org/drawingml/2006/main">
              <a:ext uri="{FF2B5EF4-FFF2-40B4-BE49-F238E27FC236}">
                <a16:creationId xmlns:a16="http://schemas.microsoft.com/office/drawing/2014/main" id="{63DBC97E-C246-4DE8-9495-1995D9314E3D}"/>
              </a:ext>
            </a:extLst>
          </p:cNvPr>
          <p:cNvSpPr>
            <a:spLocks xmlns:a="http://schemas.openxmlformats.org/drawingml/2006/main" noGrp="1"/>
          </p:cNvSpPr>
          <p:nvPr/>
        </p:nvSpPr>
        <p:spPr>
          <a:xfrm xmlns:a="http://schemas.openxmlformats.org/drawingml/2006/main">
            <a:off x="8705088" y="2526030"/>
            <a:ext cx="2395728" cy="56007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30">
                <a:solidFill>
                  <a:srgbClr val="172033"/>
                </a:solidFill>
                <a:latin typeface="Noto Sans CJK JP"/>
                <a:ea typeface="Noto Sans CJK JP"/>
                <a:cs typeface="Noto Sans CJK JP"/>
              </a:rPr>
              <a:t>低PV条件はBEV 21台の候補を選択</a:t>
            </a:r>
            <a:endParaRPr sz="1430"/>
          </a:p>
        </p:txBody>
      </p:sp>
      <p:sp>
        <p:nvSpPr>
          <p:cNvPr id="13" name="Shape 10">
            <a:extLst xmlns:a="http://schemas.openxmlformats.org/drawingml/2006/main">
              <a:ext uri="{FF2B5EF4-FFF2-40B4-BE49-F238E27FC236}">
                <a16:creationId xmlns:a16="http://schemas.microsoft.com/office/drawing/2014/main" id="{3A6DEA83-1668-41C7-A0F9-D7BDD595CD0F}"/>
              </a:ext>
            </a:extLst>
          </p:cNvPr>
          <p:cNvSpPr>
            <a:spLocks xmlns:a="http://schemas.openxmlformats.org/drawingml/2006/main" noGrp="1"/>
          </p:cNvSpPr>
          <p:nvPr/>
        </p:nvSpPr>
        <p:spPr>
          <a:xfrm xmlns:a="http://schemas.openxmlformats.org/drawingml/2006/main">
            <a:off x="8540496" y="3278124"/>
            <a:ext cx="91440" cy="91440"/>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92AEAD7D-E65D-47F4-A835-5395ED58F062}"/>
              </a:ext>
            </a:extLst>
          </p:cNvPr>
          <p:cNvSpPr>
            <a:spLocks xmlns:a="http://schemas.openxmlformats.org/drawingml/2006/main" noGrp="1"/>
          </p:cNvSpPr>
          <p:nvPr/>
        </p:nvSpPr>
        <p:spPr>
          <a:xfrm xmlns:a="http://schemas.openxmlformats.org/drawingml/2006/main">
            <a:off x="8705088" y="3131820"/>
            <a:ext cx="2395728" cy="56007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30">
                <a:solidFill>
                  <a:srgbClr val="172033"/>
                </a:solidFill>
                <a:latin typeface="Noto Sans CJK JP"/>
                <a:ea typeface="Noto Sans CJK JP"/>
                <a:cs typeface="Noto Sans CJK JP"/>
              </a:rPr>
              <a:t>同じ候補でもPV条件で評価額が変わる</a:t>
            </a:r>
            <a:endParaRPr sz="1430"/>
          </a:p>
        </p:txBody>
      </p:sp>
      <p:sp>
        <p:nvSpPr>
          <p:cNvPr id="15" name="Shape 12">
            <a:extLst xmlns:a="http://schemas.openxmlformats.org/drawingml/2006/main">
              <a:ext uri="{FF2B5EF4-FFF2-40B4-BE49-F238E27FC236}">
                <a16:creationId xmlns:a16="http://schemas.microsoft.com/office/drawing/2014/main" id="{BD58891A-01F0-48DF-8826-371A45011250}"/>
              </a:ext>
            </a:extLst>
          </p:cNvPr>
          <p:cNvSpPr>
            <a:spLocks xmlns:a="http://schemas.openxmlformats.org/drawingml/2006/main" noGrp="1"/>
          </p:cNvSpPr>
          <p:nvPr/>
        </p:nvSpPr>
        <p:spPr>
          <a:xfrm xmlns:a="http://schemas.openxmlformats.org/drawingml/2006/main">
            <a:off x="8540496" y="3883914"/>
            <a:ext cx="91440" cy="91440"/>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A23ABBF7-0F06-4AF5-89EB-2EB2673B7F35}"/>
              </a:ext>
            </a:extLst>
          </p:cNvPr>
          <p:cNvSpPr>
            <a:spLocks xmlns:a="http://schemas.openxmlformats.org/drawingml/2006/main" noGrp="1"/>
          </p:cNvSpPr>
          <p:nvPr/>
        </p:nvSpPr>
        <p:spPr>
          <a:xfrm xmlns:a="http://schemas.openxmlformats.org/drawingml/2006/main">
            <a:off x="8705088" y="3737610"/>
            <a:ext cx="2395728" cy="56007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30">
                <a:solidFill>
                  <a:srgbClr val="172033"/>
                </a:solidFill>
                <a:latin typeface="Noto Sans CJK JP"/>
                <a:ea typeface="Noto Sans CJK JP"/>
                <a:cs typeface="Noto Sans CJK JP"/>
              </a:rPr>
              <a:t>BEVを増やせば必ず安くなるわけではない</a:t>
            </a:r>
            <a:endParaRPr sz="1430"/>
          </a:p>
        </p:txBody>
      </p:sp>
      <p:sp>
        <p:nvSpPr>
          <p:cNvPr id="17" name="Shape 14">
            <a:extLst xmlns:a="http://schemas.openxmlformats.org/drawingml/2006/main">
              <a:ext uri="{FF2B5EF4-FFF2-40B4-BE49-F238E27FC236}">
                <a16:creationId xmlns:a16="http://schemas.microsoft.com/office/drawing/2014/main" id="{96FCE0D5-4B4F-4D4B-9062-80151D13CD92}"/>
              </a:ext>
            </a:extLst>
          </p:cNvPr>
          <p:cNvSpPr>
            <a:spLocks xmlns:a="http://schemas.openxmlformats.org/drawingml/2006/main" noGrp="1"/>
          </p:cNvSpPr>
          <p:nvPr/>
        </p:nvSpPr>
        <p:spPr>
          <a:xfrm xmlns:a="http://schemas.openxmlformats.org/drawingml/2006/main">
            <a:off x="8549640" y="4526280"/>
            <a:ext cx="2697480" cy="384048"/>
          </a:xfrm>
          <a:prstGeom xmlns:a="http://schemas.openxmlformats.org/drawingml/2006/main" prst="roundRect">
            <a:avLst/>
          </a:prstGeom>
          <a:solidFill xmlns:a="http://schemas.openxmlformats.org/drawingml/2006/main">
            <a:srgbClr val="FFF5D8"/>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06E1DF25-1B20-4792-983B-E88D5C45B470}"/>
              </a:ext>
            </a:extLst>
          </p:cNvPr>
          <p:cNvSpPr>
            <a:spLocks xmlns:a="http://schemas.openxmlformats.org/drawingml/2006/main" noGrp="1"/>
          </p:cNvSpPr>
          <p:nvPr/>
        </p:nvSpPr>
        <p:spPr>
          <a:xfrm xmlns:a="http://schemas.openxmlformats.org/drawingml/2006/main">
            <a:off x="8732520" y="4617720"/>
            <a:ext cx="2331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有限22候補内の比較</a:t>
            </a:r>
            <a:endParaRPr sz="1400"/>
          </a:p>
        </p:txBody>
      </p:sp>
      <p:sp>
        <p:nvSpPr>
          <p:cNvPr id="19" name="Text 16">
            <a:extLst xmlns:a="http://schemas.openxmlformats.org/drawingml/2006/main">
              <a:ext uri="{FF2B5EF4-FFF2-40B4-BE49-F238E27FC236}">
                <a16:creationId xmlns:a16="http://schemas.microsoft.com/office/drawing/2014/main" id="{5112E87C-5CAA-44E5-8C28-F28EE9F4F6D5}"/>
              </a:ext>
            </a:extLst>
          </p:cNvPr>
          <p:cNvSpPr>
            <a:spLocks xmlns:a="http://schemas.openxmlformats.org/drawingml/2006/main" noGrp="1"/>
          </p:cNvSpPr>
          <p:nvPr/>
        </p:nvSpPr>
        <p:spPr>
          <a:xfrm xmlns:a="http://schemas.openxmlformats.org/drawingml/2006/main">
            <a:off x="1005840" y="5742432"/>
            <a:ext cx="10149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94C4C"/>
                </a:solidFill>
                <a:latin typeface="Noto Sans CJK JP"/>
                <a:ea typeface="Noto Sans CJK JP"/>
                <a:cs typeface="Noto Sans CJK JP"/>
              </a:rPr>
              <a:t>因果関係や全候補の最適性を示す図ではない</a:t>
            </a:r>
            <a:endParaRPr sz="1100"/>
          </a:p>
        </p:txBody>
      </p:sp>
      <p:sp>
        <p:nvSpPr>
          <p:cNvPr id="20" name="Text 17">
            <a:extLst xmlns:a="http://schemas.openxmlformats.org/drawingml/2006/main">
              <a:ext uri="{FF2B5EF4-FFF2-40B4-BE49-F238E27FC236}">
                <a16:creationId xmlns:a16="http://schemas.microsoft.com/office/drawing/2014/main" id="{003121D0-2BD6-483A-9404-11CCD8CE4A8B}"/>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図の構成は Fei et al., Transportation Research Part C 149 (2023) の「台数と収益」の示し方を参考に、本研究データで再作成</a:t>
            </a:r>
            <a:endParaRPr sz="720"/>
          </a:p>
        </p:txBody>
      </p:sp>
      <p:sp>
        <p:nvSpPr>
          <p:cNvPr id="22" name="">
            <a:extLst xmlns:a="http://schemas.openxmlformats.org/drawingml/2006/main">
              <a:ext uri="{FF2B5EF4-FFF2-40B4-BE49-F238E27FC236}">
                <a16:creationId xmlns:a16="http://schemas.microsoft.com/office/drawing/2014/main" id="{203FCAB6-60F8-44A3-A98B-966B5C266667}"/>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0460000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BF88AC4-0D8C-4826-A648-BFEB219553CA}"/>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最新結果②：低PV条件では、主に燃料使用の増加によって評価額が高くなった</a:t>
            </a:r>
            <a:endParaRPr sz="2550"/>
          </a:p>
        </p:txBody>
      </p:sp>
      <p:sp>
        <p:nvSpPr>
          <p:cNvPr id="3" name="Shape 1">
            <a:extLst xmlns:a="http://schemas.openxmlformats.org/drawingml/2006/main">
              <a:ext uri="{FF2B5EF4-FFF2-40B4-BE49-F238E27FC236}">
                <a16:creationId xmlns:a16="http://schemas.microsoft.com/office/drawing/2014/main" id="{AD58C475-5F54-4CC2-87E6-C4B527E683FC}"/>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FF1EB4FE-828D-4F0F-A82B-8D142F3C6709}"/>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3031B683-D2E4-40EF-B169-79B9464C3DB1}"/>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12/18</a:t>
            </a:r>
            <a:endParaRPr sz="850"/>
          </a:p>
        </p:txBody>
      </p:sp>
      <p:sp>
        <p:nvSpPr>
          <p:cNvPr id="6" name="Text 4">
            <a:extLst xmlns:a="http://schemas.openxmlformats.org/drawingml/2006/main">
              <a:ext uri="{FF2B5EF4-FFF2-40B4-BE49-F238E27FC236}">
                <a16:creationId xmlns:a16="http://schemas.microsoft.com/office/drawing/2014/main" id="{7668ADF6-BE6A-43B9-9CC7-A076015199C6}"/>
              </a:ext>
            </a:extLst>
          </p:cNvPr>
          <p:cNvSpPr>
            <a:spLocks xmlns:a="http://schemas.openxmlformats.org/drawingml/2006/main" noGrp="1"/>
          </p:cNvSpPr>
          <p:nvPr/>
        </p:nvSpPr>
        <p:spPr>
          <a:xfrm xmlns:a="http://schemas.openxmlformats.org/drawingml/2006/main">
            <a:off x="731520" y="932688"/>
            <a:ext cx="3749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モデル上の24時間評価額</a:t>
            </a:r>
            <a:endParaRPr sz="1800"/>
          </a:p>
        </p:txBody>
      </p:sp>
      <p:sp>
        <p:nvSpPr>
          <p:cNvPr id="7" name="Shape 5">
            <a:extLst xmlns:a="http://schemas.openxmlformats.org/drawingml/2006/main">
              <a:ext uri="{FF2B5EF4-FFF2-40B4-BE49-F238E27FC236}">
                <a16:creationId xmlns:a16="http://schemas.microsoft.com/office/drawing/2014/main" id="{CCA5CEC5-2216-4514-814C-1D60BF24CD11}"/>
              </a:ext>
            </a:extLst>
          </p:cNvPr>
          <p:cNvSpPr>
            <a:spLocks xmlns:a="http://schemas.openxmlformats.org/drawingml/2006/main" noGrp="1"/>
          </p:cNvSpPr>
          <p:nvPr/>
        </p:nvSpPr>
        <p:spPr>
          <a:xfrm xmlns:a="http://schemas.openxmlformats.org/drawingml/2006/main">
            <a:off x="1325880" y="2369195"/>
            <a:ext cx="1234440" cy="2980045"/>
          </a:xfrm>
          <a:prstGeom xmlns:a="http://schemas.openxmlformats.org/drawingml/2006/main" prst="roundRect">
            <a:avLst/>
          </a:prstGeom>
          <a:solidFill xmlns:a="http://schemas.openxmlformats.org/drawingml/2006/main">
            <a:srgbClr val="1F9D8A"/>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840A0F76-7C5F-4F70-857B-19866C5C10EF}"/>
              </a:ext>
            </a:extLst>
          </p:cNvPr>
          <p:cNvSpPr>
            <a:spLocks xmlns:a="http://schemas.openxmlformats.org/drawingml/2006/main" noGrp="1"/>
          </p:cNvSpPr>
          <p:nvPr/>
        </p:nvSpPr>
        <p:spPr>
          <a:xfrm xmlns:a="http://schemas.openxmlformats.org/drawingml/2006/main">
            <a:off x="1188720" y="1930283"/>
            <a:ext cx="150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F9D8A"/>
                </a:solidFill>
                <a:latin typeface="Noto Sans CJK JP"/>
                <a:ea typeface="Noto Sans CJK JP"/>
                <a:cs typeface="Noto Sans CJK JP"/>
              </a:rPr>
              <a:t>661千円</a:t>
            </a:r>
            <a:endParaRPr sz="1700"/>
          </a:p>
        </p:txBody>
      </p:sp>
      <p:sp>
        <p:nvSpPr>
          <p:cNvPr id="9" name="Text 7">
            <a:extLst xmlns:a="http://schemas.openxmlformats.org/drawingml/2006/main">
              <a:ext uri="{FF2B5EF4-FFF2-40B4-BE49-F238E27FC236}">
                <a16:creationId xmlns:a16="http://schemas.microsoft.com/office/drawing/2014/main" id="{4B7CB15E-B139-4997-97C9-7EA0DADF246F}"/>
              </a:ext>
            </a:extLst>
          </p:cNvPr>
          <p:cNvSpPr>
            <a:spLocks xmlns:a="http://schemas.openxmlformats.org/drawingml/2006/main" noGrp="1"/>
          </p:cNvSpPr>
          <p:nvPr/>
        </p:nvSpPr>
        <p:spPr>
          <a:xfrm xmlns:a="http://schemas.openxmlformats.org/drawingml/2006/main">
            <a:off x="1325880" y="5504688"/>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高PV</a:t>
            </a:r>
            <a:endParaRPr sz="1400"/>
          </a:p>
        </p:txBody>
      </p:sp>
      <p:sp>
        <p:nvSpPr>
          <p:cNvPr id="10" name="Shape 8">
            <a:extLst xmlns:a="http://schemas.openxmlformats.org/drawingml/2006/main">
              <a:ext uri="{FF2B5EF4-FFF2-40B4-BE49-F238E27FC236}">
                <a16:creationId xmlns:a16="http://schemas.microsoft.com/office/drawing/2014/main" id="{1D46A7F1-8B4E-4558-BC6D-A53DB8471113}"/>
              </a:ext>
            </a:extLst>
          </p:cNvPr>
          <p:cNvSpPr>
            <a:spLocks xmlns:a="http://schemas.openxmlformats.org/drawingml/2006/main" noGrp="1"/>
          </p:cNvSpPr>
          <p:nvPr/>
        </p:nvSpPr>
        <p:spPr>
          <a:xfrm xmlns:a="http://schemas.openxmlformats.org/drawingml/2006/main">
            <a:off x="3337560" y="2199608"/>
            <a:ext cx="1234440" cy="3149632"/>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236D2E01-215B-48D6-992D-BB087F1A2202}"/>
              </a:ext>
            </a:extLst>
          </p:cNvPr>
          <p:cNvSpPr>
            <a:spLocks xmlns:a="http://schemas.openxmlformats.org/drawingml/2006/main" noGrp="1"/>
          </p:cNvSpPr>
          <p:nvPr/>
        </p:nvSpPr>
        <p:spPr>
          <a:xfrm xmlns:a="http://schemas.openxmlformats.org/drawingml/2006/main">
            <a:off x="3200400" y="1760696"/>
            <a:ext cx="150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356BB3"/>
                </a:solidFill>
                <a:latin typeface="Noto Sans CJK JP"/>
                <a:ea typeface="Noto Sans CJK JP"/>
                <a:cs typeface="Noto Sans CJK JP"/>
              </a:rPr>
              <a:t>699千円</a:t>
            </a:r>
            <a:endParaRPr sz="1700"/>
          </a:p>
        </p:txBody>
      </p:sp>
      <p:sp>
        <p:nvSpPr>
          <p:cNvPr id="12" name="Text 10">
            <a:extLst xmlns:a="http://schemas.openxmlformats.org/drawingml/2006/main">
              <a:ext uri="{FF2B5EF4-FFF2-40B4-BE49-F238E27FC236}">
                <a16:creationId xmlns:a16="http://schemas.microsoft.com/office/drawing/2014/main" id="{8F93ECAB-4EF1-4620-90F8-9628B9D4E26C}"/>
              </a:ext>
            </a:extLst>
          </p:cNvPr>
          <p:cNvSpPr>
            <a:spLocks xmlns:a="http://schemas.openxmlformats.org/drawingml/2006/main" noGrp="1"/>
          </p:cNvSpPr>
          <p:nvPr/>
        </p:nvSpPr>
        <p:spPr>
          <a:xfrm xmlns:a="http://schemas.openxmlformats.org/drawingml/2006/main">
            <a:off x="3337560" y="5504688"/>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低PV</a:t>
            </a:r>
            <a:endParaRPr sz="1400"/>
          </a:p>
        </p:txBody>
      </p:sp>
      <p:sp>
        <p:nvSpPr>
          <p:cNvPr id="13" name="Shape 11">
            <a:extLst xmlns:a="http://schemas.openxmlformats.org/drawingml/2006/main">
              <a:ext uri="{FF2B5EF4-FFF2-40B4-BE49-F238E27FC236}">
                <a16:creationId xmlns:a16="http://schemas.microsoft.com/office/drawing/2014/main" id="{05CA7114-96F4-4148-8EC5-EA69F0667072}"/>
              </a:ext>
            </a:extLst>
          </p:cNvPr>
          <p:cNvSpPr>
            <a:spLocks xmlns:a="http://schemas.openxmlformats.org/drawingml/2006/main" noGrp="1"/>
          </p:cNvSpPr>
          <p:nvPr/>
        </p:nvSpPr>
        <p:spPr>
          <a:xfrm xmlns:a="http://schemas.openxmlformats.org/drawingml/2006/main">
            <a:off x="868680" y="5349240"/>
            <a:ext cx="4251960" cy="0"/>
          </a:xfrm>
          <a:prstGeom xmlns:a="http://schemas.openxmlformats.org/drawingml/2006/main" prst="line">
            <a:avLst/>
          </a:prstGeom>
          <a:noFill xmlns:a="http://schemas.openxmlformats.org/drawingml/2006/main"/>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A4477E1A-FECF-49CE-B581-DCFD72EDC150}"/>
              </a:ext>
            </a:extLst>
          </p:cNvPr>
          <p:cNvSpPr>
            <a:spLocks xmlns:a="http://schemas.openxmlformats.org/drawingml/2006/main" noGrp="1"/>
          </p:cNvSpPr>
          <p:nvPr/>
        </p:nvSpPr>
        <p:spPr>
          <a:xfrm xmlns:a="http://schemas.openxmlformats.org/drawingml/2006/main">
            <a:off x="5577840" y="932688"/>
            <a:ext cx="5669280" cy="4892040"/>
          </a:xfrm>
          <a:prstGeom xmlns:a="http://schemas.openxmlformats.org/drawingml/2006/main" prst="roundRect">
            <a:avLst>
              <a:gd name="adj" fmla="val 1495"/>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9172085D-5389-4A6B-A919-F6D23A4EE748}"/>
              </a:ext>
            </a:extLst>
          </p:cNvPr>
          <p:cNvSpPr>
            <a:spLocks xmlns:a="http://schemas.openxmlformats.org/drawingml/2006/main" noGrp="1"/>
          </p:cNvSpPr>
          <p:nvPr/>
        </p:nvSpPr>
        <p:spPr>
          <a:xfrm xmlns:a="http://schemas.openxmlformats.org/drawingml/2006/main">
            <a:off x="5925312" y="1225296"/>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差額 37,615円の内訳</a:t>
            </a:r>
            <a:endParaRPr sz="2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231ba514b5d44027">
            <a:extLst>
              <a:ext uri="{96DAC541-7B7A-43D3-8B79-37D633B846F1}">
                <asvg:svgBlip xmlns:asvg="http://schemas.microsoft.com/office/drawing/2016/SVG/main" r:embed="R812e610876b44508"/>
              </a:ext>
            </a:extLst>
          </a:blip>
          <a:stretch xmlns:a="http://schemas.openxmlformats.org/drawingml/2006/main">
            <a:fillRect l="0" t="0" r="0" b="0"/>
          </a:stretch>
        </p:blipFill>
        <p:spPr>
          <a:xfrm xmlns:a="http://schemas.openxmlformats.org/drawingml/2006/main">
            <a:off x="5925312" y="1920240"/>
            <a:ext cx="384048" cy="384048"/>
          </a:xfrm>
          <a:prstGeom xmlns:a="http://schemas.openxmlformats.org/drawingml/2006/main" prst="rect">
            <a:avLst/>
          </a:prstGeom>
        </p:spPr>
      </p:pic>
      <p:sp>
        <p:nvSpPr>
          <p:cNvPr id="17" name="Text 14">
            <a:extLst xmlns:a="http://schemas.openxmlformats.org/drawingml/2006/main">
              <a:ext uri="{FF2B5EF4-FFF2-40B4-BE49-F238E27FC236}">
                <a16:creationId xmlns:a16="http://schemas.microsoft.com/office/drawing/2014/main" id="{35D8575A-1EAE-46FB-8EC9-748E834669B7}"/>
              </a:ext>
            </a:extLst>
          </p:cNvPr>
          <p:cNvSpPr>
            <a:spLocks xmlns:a="http://schemas.openxmlformats.org/drawingml/2006/main" noGrp="1"/>
          </p:cNvSpPr>
          <p:nvPr/>
        </p:nvSpPr>
        <p:spPr>
          <a:xfrm xmlns:a="http://schemas.openxmlformats.org/drawingml/2006/main">
            <a:off x="6473952" y="1920240"/>
            <a:ext cx="11704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72033"/>
                </a:solidFill>
                <a:latin typeface="Noto Sans CJK JP"/>
                <a:ea typeface="Noto Sans CJK JP"/>
                <a:cs typeface="Noto Sans CJK JP"/>
              </a:rPr>
              <a:t>燃料費</a:t>
            </a:r>
            <a:endParaRPr sz="1600"/>
          </a:p>
        </p:txBody>
      </p:sp>
      <p:sp>
        <p:nvSpPr>
          <p:cNvPr id="18" name="Shape 15">
            <a:extLst xmlns:a="http://schemas.openxmlformats.org/drawingml/2006/main">
              <a:ext uri="{FF2B5EF4-FFF2-40B4-BE49-F238E27FC236}">
                <a16:creationId xmlns:a16="http://schemas.microsoft.com/office/drawing/2014/main" id="{3E0D5F9D-7B4F-4FBB-89BA-D4B4D10343C9}"/>
              </a:ext>
            </a:extLst>
          </p:cNvPr>
          <p:cNvSpPr>
            <a:spLocks xmlns:a="http://schemas.openxmlformats.org/drawingml/2006/main" noGrp="1"/>
          </p:cNvSpPr>
          <p:nvPr/>
        </p:nvSpPr>
        <p:spPr>
          <a:xfrm xmlns:a="http://schemas.openxmlformats.org/drawingml/2006/main">
            <a:off x="7635240" y="1956816"/>
            <a:ext cx="2880360" cy="292608"/>
          </a:xfrm>
          <a:prstGeom xmlns:a="http://schemas.openxmlformats.org/drawingml/2006/main" prst="roundRect">
            <a:avLst/>
          </a:prstGeom>
          <a:solidFill xmlns:a="http://schemas.openxmlformats.org/drawingml/2006/main">
            <a:srgbClr val="E98B3A"/>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F7413CCC-6DCA-4CB9-A26A-D76BD15061C8}"/>
              </a:ext>
            </a:extLst>
          </p:cNvPr>
          <p:cNvSpPr>
            <a:spLocks xmlns:a="http://schemas.openxmlformats.org/drawingml/2006/main" noGrp="1"/>
          </p:cNvSpPr>
          <p:nvPr/>
        </p:nvSpPr>
        <p:spPr>
          <a:xfrm xmlns:a="http://schemas.openxmlformats.org/drawingml/2006/main">
            <a:off x="9727418" y="1651391"/>
            <a:ext cx="1143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E98B3A"/>
                </a:solidFill>
                <a:latin typeface="Noto Sans CJK JP"/>
                <a:ea typeface="Noto Sans CJK JP"/>
                <a:cs typeface="Noto Sans CJK JP"/>
              </a:rPr>
              <a:t>+33,054円</a:t>
            </a:r>
            <a:endParaRPr sz="1400"/>
          </a:p>
        </p:txBody>
      </p:sp>
      <p:pic>
        <p:nvPicPr>
          <p:cNvPr id="52" name="Image 1"/>
          <p:cNvPicPr>
            <a:picLocks xmlns:a="http://schemas.openxmlformats.org/drawingml/2006/main" noChangeAspect="1"/>
          </p:cNvPicPr>
          <p:nvPr/>
        </p:nvPicPr>
        <p:blipFill>
          <a:blip xmlns:r="http://schemas.openxmlformats.org/officeDocument/2006/relationships" xmlns:a="http://schemas.openxmlformats.org/drawingml/2006/main" r:embed="Re411c2cc11504277">
            <a:extLst>
              <a:ext uri="{96DAC541-7B7A-43D3-8B79-37D633B846F1}">
                <asvg:svgBlip xmlns:asvg="http://schemas.microsoft.com/office/drawing/2016/SVG/main" r:embed="R13e6a7928c714347"/>
              </a:ext>
            </a:extLst>
          </a:blip>
          <a:stretch xmlns:a="http://schemas.openxmlformats.org/drawingml/2006/main">
            <a:fillRect l="0" t="0" r="0" b="0"/>
          </a:stretch>
        </p:blipFill>
        <p:spPr>
          <a:xfrm xmlns:a="http://schemas.openxmlformats.org/drawingml/2006/main">
            <a:off x="5925312" y="290779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59263876-CE92-4AB2-AD2D-F7EB6C8B7D4A}"/>
              </a:ext>
            </a:extLst>
          </p:cNvPr>
          <p:cNvSpPr>
            <a:spLocks xmlns:a="http://schemas.openxmlformats.org/drawingml/2006/main" noGrp="1"/>
          </p:cNvSpPr>
          <p:nvPr/>
        </p:nvSpPr>
        <p:spPr>
          <a:xfrm xmlns:a="http://schemas.openxmlformats.org/drawingml/2006/main">
            <a:off x="6473952" y="2907792"/>
            <a:ext cx="11704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72033"/>
                </a:solidFill>
                <a:latin typeface="Noto Sans CJK JP"/>
                <a:ea typeface="Noto Sans CJK JP"/>
                <a:cs typeface="Noto Sans CJK JP"/>
              </a:rPr>
              <a:t>系統電力費</a:t>
            </a:r>
            <a:endParaRPr sz="1600"/>
          </a:p>
        </p:txBody>
      </p:sp>
      <p:sp>
        <p:nvSpPr>
          <p:cNvPr id="22" name="Shape 18">
            <a:extLst xmlns:a="http://schemas.openxmlformats.org/drawingml/2006/main">
              <a:ext uri="{FF2B5EF4-FFF2-40B4-BE49-F238E27FC236}">
                <a16:creationId xmlns:a16="http://schemas.microsoft.com/office/drawing/2014/main" id="{604A083C-2392-4F0E-9771-75DF5B319F19}"/>
              </a:ext>
            </a:extLst>
          </p:cNvPr>
          <p:cNvSpPr>
            <a:spLocks xmlns:a="http://schemas.openxmlformats.org/drawingml/2006/main" noGrp="1"/>
          </p:cNvSpPr>
          <p:nvPr/>
        </p:nvSpPr>
        <p:spPr>
          <a:xfrm xmlns:a="http://schemas.openxmlformats.org/drawingml/2006/main">
            <a:off x="7635240" y="2944368"/>
            <a:ext cx="342116" cy="292608"/>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0E9BD945-A916-49C8-8BD3-961B4A46005B}"/>
              </a:ext>
            </a:extLst>
          </p:cNvPr>
          <p:cNvSpPr>
            <a:spLocks xmlns:a="http://schemas.openxmlformats.org/drawingml/2006/main" noGrp="1"/>
          </p:cNvSpPr>
          <p:nvPr/>
        </p:nvSpPr>
        <p:spPr>
          <a:xfrm xmlns:a="http://schemas.openxmlformats.org/drawingml/2006/main">
            <a:off x="9738360" y="2889504"/>
            <a:ext cx="1143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356BB3"/>
                </a:solidFill>
                <a:latin typeface="Noto Sans CJK JP"/>
                <a:ea typeface="Noto Sans CJK JP"/>
                <a:cs typeface="Noto Sans CJK JP"/>
              </a:rPr>
              <a:t>+3,926円</a:t>
            </a:r>
            <a:endParaRPr sz="1400"/>
          </a:p>
        </p:txBody>
      </p:sp>
      <p:pic>
        <p:nvPicPr>
          <p:cNvPr id="56" name="Image 2"/>
          <p:cNvPicPr>
            <a:picLocks xmlns:a="http://schemas.openxmlformats.org/drawingml/2006/main" noChangeAspect="1"/>
          </p:cNvPicPr>
          <p:nvPr/>
        </p:nvPicPr>
        <p:blipFill>
          <a:blip xmlns:r="http://schemas.openxmlformats.org/officeDocument/2006/relationships" xmlns:a="http://schemas.openxmlformats.org/drawingml/2006/main" r:embed="R00a6a4a008454313">
            <a:extLst>
              <a:ext uri="{96DAC541-7B7A-43D3-8B79-37D633B846F1}">
                <asvg:svgBlip xmlns:asvg="http://schemas.microsoft.com/office/drawing/2016/SVG/main" r:embed="R600e7613f5254000"/>
              </a:ext>
            </a:extLst>
          </a:blip>
          <a:stretch xmlns:a="http://schemas.openxmlformats.org/drawingml/2006/main">
            <a:fillRect l="0" t="0" r="0" b="0"/>
          </a:stretch>
        </p:blipFill>
        <p:spPr>
          <a:xfrm xmlns:a="http://schemas.openxmlformats.org/drawingml/2006/main">
            <a:off x="5925312" y="3895344"/>
            <a:ext cx="384048" cy="384048"/>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081B799-E038-4B21-A71C-6EAD3A1D512E}"/>
              </a:ext>
            </a:extLst>
          </p:cNvPr>
          <p:cNvSpPr>
            <a:spLocks xmlns:a="http://schemas.openxmlformats.org/drawingml/2006/main" noGrp="1"/>
          </p:cNvSpPr>
          <p:nvPr/>
        </p:nvSpPr>
        <p:spPr>
          <a:xfrm xmlns:a="http://schemas.openxmlformats.org/drawingml/2006/main">
            <a:off x="6473952" y="3895344"/>
            <a:ext cx="11704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72033"/>
                </a:solidFill>
                <a:latin typeface="Noto Sans CJK JP"/>
                <a:ea typeface="Noto Sans CJK JP"/>
                <a:cs typeface="Noto Sans CJK JP"/>
              </a:rPr>
              <a:t>CO₂費用</a:t>
            </a:r>
            <a:endParaRPr sz="1600"/>
          </a:p>
        </p:txBody>
      </p:sp>
      <p:sp>
        <p:nvSpPr>
          <p:cNvPr id="26" name="Shape 21">
            <a:extLst xmlns:a="http://schemas.openxmlformats.org/drawingml/2006/main">
              <a:ext uri="{FF2B5EF4-FFF2-40B4-BE49-F238E27FC236}">
                <a16:creationId xmlns:a16="http://schemas.microsoft.com/office/drawing/2014/main" id="{8167504A-DE72-453E-8915-99D40B18C38B}"/>
              </a:ext>
            </a:extLst>
          </p:cNvPr>
          <p:cNvSpPr>
            <a:spLocks xmlns:a="http://schemas.openxmlformats.org/drawingml/2006/main" noGrp="1"/>
          </p:cNvSpPr>
          <p:nvPr/>
        </p:nvSpPr>
        <p:spPr>
          <a:xfrm xmlns:a="http://schemas.openxmlformats.org/drawingml/2006/main">
            <a:off x="7635240" y="3931920"/>
            <a:ext cx="55335" cy="292608"/>
          </a:xfrm>
          <a:prstGeom xmlns:a="http://schemas.openxmlformats.org/drawingml/2006/main" prst="roundRect">
            <a:avLst/>
          </a:prstGeom>
          <a:solidFill xmlns:a="http://schemas.openxmlformats.org/drawingml/2006/main">
            <a:srgbClr val="3B8D5A"/>
          </a:solidFill>
          <a:ln xmlns:a="http://schemas.openxmlformats.org/drawingml/2006/main" w="12700">
            <a:solidFill>
              <a:srgbClr val="3B8D5A"/>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2">
            <a:extLst xmlns:a="http://schemas.openxmlformats.org/drawingml/2006/main">
              <a:ext uri="{FF2B5EF4-FFF2-40B4-BE49-F238E27FC236}">
                <a16:creationId xmlns:a16="http://schemas.microsoft.com/office/drawing/2014/main" id="{1CB14C9F-98DB-4512-824E-5D88563228D9}"/>
              </a:ext>
            </a:extLst>
          </p:cNvPr>
          <p:cNvSpPr>
            <a:spLocks xmlns:a="http://schemas.openxmlformats.org/drawingml/2006/main" noGrp="1"/>
          </p:cNvSpPr>
          <p:nvPr/>
        </p:nvSpPr>
        <p:spPr>
          <a:xfrm xmlns:a="http://schemas.openxmlformats.org/drawingml/2006/main">
            <a:off x="9738360" y="3877056"/>
            <a:ext cx="1143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3B8D5A"/>
                </a:solidFill>
                <a:latin typeface="Noto Sans CJK JP"/>
                <a:ea typeface="Noto Sans CJK JP"/>
                <a:cs typeface="Noto Sans CJK JP"/>
              </a:rPr>
              <a:t>+635円</a:t>
            </a:r>
            <a:endParaRPr sz="1400"/>
          </a:p>
        </p:txBody>
      </p:sp>
      <p:sp>
        <p:nvSpPr>
          <p:cNvPr id="28" name="Text 23">
            <a:extLst xmlns:a="http://schemas.openxmlformats.org/drawingml/2006/main">
              <a:ext uri="{FF2B5EF4-FFF2-40B4-BE49-F238E27FC236}">
                <a16:creationId xmlns:a16="http://schemas.microsoft.com/office/drawing/2014/main" id="{694FCF59-3F5E-429A-AD51-740C90477EF4}"/>
              </a:ext>
            </a:extLst>
          </p:cNvPr>
          <p:cNvSpPr>
            <a:spLocks xmlns:a="http://schemas.openxmlformats.org/drawingml/2006/main" noGrp="1"/>
          </p:cNvSpPr>
          <p:nvPr/>
        </p:nvSpPr>
        <p:spPr>
          <a:xfrm xmlns:a="http://schemas.openxmlformats.org/drawingml/2006/main">
            <a:off x="6400800" y="4983480"/>
            <a:ext cx="39319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E98B3A"/>
                </a:solidFill>
                <a:latin typeface="Noto Sans CJK JP"/>
                <a:ea typeface="Noto Sans CJK JP"/>
                <a:cs typeface="Noto Sans CJK JP"/>
              </a:rPr>
              <a:t>差額の約88%が燃料費</a:t>
            </a:r>
            <a:endParaRPr sz="1900"/>
          </a:p>
        </p:txBody>
      </p:sp>
      <p:sp>
        <p:nvSpPr>
          <p:cNvPr id="29" name="Text 24">
            <a:extLst xmlns:a="http://schemas.openxmlformats.org/drawingml/2006/main">
              <a:ext uri="{FF2B5EF4-FFF2-40B4-BE49-F238E27FC236}">
                <a16:creationId xmlns:a16="http://schemas.microsoft.com/office/drawing/2014/main" id="{D62F4E41-DC38-467E-B178-14202DB64BED}"/>
              </a:ext>
            </a:extLst>
          </p:cNvPr>
          <p:cNvSpPr>
            <a:spLocks xmlns:a="http://schemas.openxmlformats.org/drawingml/2006/main" noGrp="1"/>
          </p:cNvSpPr>
          <p:nvPr/>
        </p:nvSpPr>
        <p:spPr>
          <a:xfrm xmlns:a="http://schemas.openxmlformats.org/drawingml/2006/main">
            <a:off x="5989320" y="5440680"/>
            <a:ext cx="4800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C94C4C"/>
                </a:solidFill>
                <a:latin typeface="Noto Sans CJK JP"/>
                <a:ea typeface="Noto Sans CJK JP"/>
                <a:cs typeface="Noto Sans CJK JP"/>
              </a:rPr>
              <a:t>※ 設備投資・電池劣化・運転士費などは含まれていない</a:t>
            </a:r>
            <a:endParaRPr sz="1050"/>
          </a:p>
        </p:txBody>
      </p:sp>
      <p:sp>
        <p:nvSpPr>
          <p:cNvPr id="33" name="">
            <a:extLst xmlns:a="http://schemas.openxmlformats.org/drawingml/2006/main">
              <a:ext uri="{FF2B5EF4-FFF2-40B4-BE49-F238E27FC236}">
                <a16:creationId xmlns:a16="http://schemas.microsoft.com/office/drawing/2014/main" id="{D11234D0-B138-42DF-9682-B462B0102A70}"/>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5825962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469C9CD-77F6-4827-9460-BADC56209E98}"/>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先行研究の電力フロー図にならい、PV・BESS・系統の流れを日合計で整理</a:t>
            </a:r>
            <a:endParaRPr sz="2550"/>
          </a:p>
        </p:txBody>
      </p:sp>
      <p:sp>
        <p:nvSpPr>
          <p:cNvPr id="3" name="Shape 1">
            <a:extLst xmlns:a="http://schemas.openxmlformats.org/drawingml/2006/main">
              <a:ext uri="{FF2B5EF4-FFF2-40B4-BE49-F238E27FC236}">
                <a16:creationId xmlns:a16="http://schemas.microsoft.com/office/drawing/2014/main" id="{D0FB54B1-E954-4CC7-8A64-44CCD0670E29}"/>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B04EEBBB-D3B9-4D65-A03D-5089BA76479B}"/>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582E3198-C05F-4347-95BC-90036BC9E638}"/>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13/18</a:t>
            </a:r>
            <a:endParaRPr sz="850"/>
          </a:p>
        </p:txBody>
      </p:sp>
      <p:sp>
        <p:nvSpPr>
          <p:cNvPr id="6" name="Shape 4">
            <a:extLst xmlns:a="http://schemas.openxmlformats.org/drawingml/2006/main">
              <a:ext uri="{FF2B5EF4-FFF2-40B4-BE49-F238E27FC236}">
                <a16:creationId xmlns:a16="http://schemas.microsoft.com/office/drawing/2014/main" id="{85A1151A-0221-4D40-8F9A-B566BBA3095B}"/>
              </a:ext>
            </a:extLst>
          </p:cNvPr>
          <p:cNvSpPr>
            <a:spLocks xmlns:a="http://schemas.openxmlformats.org/drawingml/2006/main" noGrp="1"/>
          </p:cNvSpPr>
          <p:nvPr/>
        </p:nvSpPr>
        <p:spPr>
          <a:xfrm xmlns:a="http://schemas.openxmlformats.org/drawingml/2006/main">
            <a:off x="566928" y="1051560"/>
            <a:ext cx="5394960" cy="5166360"/>
          </a:xfrm>
          <a:prstGeom xmlns:a="http://schemas.openxmlformats.org/drawingml/2006/main" prst="roundRect">
            <a:avLst>
              <a:gd name="adj" fmla="val 1416"/>
            </a:avLst>
          </a:prstGeom>
          <a:solidFill xmlns:a="http://schemas.openxmlformats.org/drawingml/2006/main">
            <a:srgbClr val="FFF5D8"/>
          </a:solidFill>
          <a:ln xmlns:a="http://schemas.openxmlformats.org/drawingml/2006/main" w="12700">
            <a:solidFill>
              <a:srgbClr val="E7B34B"/>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CB403D9C-70B6-4DA1-88E8-54B91D7BFC37}"/>
              </a:ext>
            </a:extLst>
          </p:cNvPr>
          <p:cNvSpPr>
            <a:spLocks xmlns:a="http://schemas.openxmlformats.org/drawingml/2006/main" noGrp="1"/>
          </p:cNvSpPr>
          <p:nvPr/>
        </p:nvSpPr>
        <p:spPr>
          <a:xfrm xmlns:a="http://schemas.openxmlformats.org/drawingml/2006/main">
            <a:off x="886968" y="1298448"/>
            <a:ext cx="1417320" cy="310896"/>
          </a:xfrm>
          <a:prstGeom xmlns:a="http://schemas.openxmlformats.org/drawingml/2006/main" prst="roundRect">
            <a:avLst/>
          </a:prstGeom>
          <a:solidFill xmlns:a="http://schemas.openxmlformats.org/drawingml/2006/main">
            <a:srgbClr val="E7B34B"/>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FBC3A835-4D61-4BFB-AB0F-FD1E8D6D0E98}"/>
              </a:ext>
            </a:extLst>
          </p:cNvPr>
          <p:cNvSpPr>
            <a:spLocks xmlns:a="http://schemas.openxmlformats.org/drawingml/2006/main" noGrp="1"/>
          </p:cNvSpPr>
          <p:nvPr/>
        </p:nvSpPr>
        <p:spPr>
          <a:xfrm xmlns:a="http://schemas.openxmlformats.org/drawingml/2006/main">
            <a:off x="932688" y="1316736"/>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xmlns:a="http://schemas.openxmlformats.org/drawingml/2006/main">
              <a:ext uri="{FF2B5EF4-FFF2-40B4-BE49-F238E27FC236}">
                <a16:creationId xmlns:a16="http://schemas.microsoft.com/office/drawing/2014/main" id="{632E7094-2C8A-4A49-9C2C-A4C5D67B52D5}"/>
              </a:ext>
            </a:extLst>
          </p:cNvPr>
          <p:cNvSpPr>
            <a:spLocks xmlns:a="http://schemas.openxmlformats.org/drawingml/2006/main" noGrp="1"/>
          </p:cNvSpPr>
          <p:nvPr/>
        </p:nvSpPr>
        <p:spPr>
          <a:xfrm xmlns:a="http://schemas.openxmlformats.org/drawingml/2006/main">
            <a:off x="914400" y="1901952"/>
            <a:ext cx="1234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E7B34B"/>
                </a:solidFill>
                <a:latin typeface="Noto Sans CJK JP"/>
                <a:ea typeface="Noto Sans CJK JP"/>
                <a:cs typeface="Noto Sans CJK JP"/>
              </a:rPr>
              <a:t>PV発電</a:t>
            </a:r>
            <a:endParaRPr sz="1700"/>
          </a:p>
          <a:p xmlns:a="http://schemas.openxmlformats.org/drawingml/2006/main">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xmlns:a="http://schemas.openxmlformats.org/drawingml/2006/main">
              <a:ext uri="{FF2B5EF4-FFF2-40B4-BE49-F238E27FC236}">
                <a16:creationId xmlns:a16="http://schemas.microsoft.com/office/drawing/2014/main" id="{DA85A79D-6B2B-48F5-B6B0-35FE65F4998F}"/>
              </a:ext>
            </a:extLst>
          </p:cNvPr>
          <p:cNvSpPr>
            <a:spLocks xmlns:a="http://schemas.openxmlformats.org/drawingml/2006/main" noGrp="1"/>
          </p:cNvSpPr>
          <p:nvPr/>
        </p:nvSpPr>
        <p:spPr>
          <a:xfrm xmlns:a="http://schemas.openxmlformats.org/drawingml/2006/main">
            <a:off x="2139696" y="2075688"/>
            <a:ext cx="438912"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6F9DF49-F097-401C-9FF4-FF7A96418A7F}"/>
              </a:ext>
            </a:extLst>
          </p:cNvPr>
          <p:cNvSpPr>
            <a:spLocks xmlns:a="http://schemas.openxmlformats.org/drawingml/2006/main" noGrp="1"/>
          </p:cNvSpPr>
          <p:nvPr/>
        </p:nvSpPr>
        <p:spPr>
          <a:xfrm xmlns:a="http://schemas.openxmlformats.org/drawingml/2006/main">
            <a:off x="2624328" y="1783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7A76E4A-1BF0-43E4-9877-9599CD36B227}"/>
              </a:ext>
            </a:extLst>
          </p:cNvPr>
          <p:cNvSpPr>
            <a:spLocks xmlns:a="http://schemas.openxmlformats.org/drawingml/2006/main" noGrp="1"/>
          </p:cNvSpPr>
          <p:nvPr/>
        </p:nvSpPr>
        <p:spPr>
          <a:xfrm xmlns:a="http://schemas.openxmlformats.org/drawingml/2006/main">
            <a:off x="2743200" y="1975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F9D8A"/>
                </a:solidFill>
                <a:latin typeface="Noto Sans CJK JP"/>
                <a:ea typeface="Noto Sans CJK JP"/>
                <a:cs typeface="Noto Sans CJK JP"/>
              </a:rPr>
              <a:t>直接充電</a:t>
            </a:r>
            <a:endParaRPr sz="1350"/>
          </a:p>
          <a:p xmlns:a="http://schemas.openxmlformats.org/drawingml/2006/main">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xmlns:a="http://schemas.openxmlformats.org/drawingml/2006/main">
              <a:ext uri="{FF2B5EF4-FFF2-40B4-BE49-F238E27FC236}">
                <a16:creationId xmlns:a16="http://schemas.microsoft.com/office/drawing/2014/main" id="{AFF86A6C-E4E8-470C-9879-778385A7C2A0}"/>
              </a:ext>
            </a:extLst>
          </p:cNvPr>
          <p:cNvSpPr>
            <a:spLocks xmlns:a="http://schemas.openxmlformats.org/drawingml/2006/main" noGrp="1"/>
          </p:cNvSpPr>
          <p:nvPr/>
        </p:nvSpPr>
        <p:spPr>
          <a:xfrm xmlns:a="http://schemas.openxmlformats.org/drawingml/2006/main">
            <a:off x="2624328" y="2926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D30CE53-D756-4E52-B804-49BE493961A9}"/>
              </a:ext>
            </a:extLst>
          </p:cNvPr>
          <p:cNvSpPr>
            <a:spLocks xmlns:a="http://schemas.openxmlformats.org/drawingml/2006/main" noGrp="1"/>
          </p:cNvSpPr>
          <p:nvPr/>
        </p:nvSpPr>
        <p:spPr>
          <a:xfrm xmlns:a="http://schemas.openxmlformats.org/drawingml/2006/main">
            <a:off x="2743200" y="3118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356BB3"/>
                </a:solidFill>
                <a:latin typeface="Noto Sans CJK JP"/>
                <a:ea typeface="Noto Sans CJK JP"/>
                <a:cs typeface="Noto Sans CJK JP"/>
              </a:rPr>
              <a:t>BESSへ</a:t>
            </a:r>
            <a:endParaRPr sz="1350"/>
          </a:p>
          <a:p xmlns:a="http://schemas.openxmlformats.org/drawingml/2006/main">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xmlns:a="http://schemas.openxmlformats.org/drawingml/2006/main">
              <a:ext uri="{FF2B5EF4-FFF2-40B4-BE49-F238E27FC236}">
                <a16:creationId xmlns:a16="http://schemas.microsoft.com/office/drawing/2014/main" id="{917EAF8F-03DE-4704-9348-A586781A5733}"/>
              </a:ext>
            </a:extLst>
          </p:cNvPr>
          <p:cNvSpPr>
            <a:spLocks xmlns:a="http://schemas.openxmlformats.org/drawingml/2006/main" noGrp="1"/>
          </p:cNvSpPr>
          <p:nvPr/>
        </p:nvSpPr>
        <p:spPr>
          <a:xfrm xmlns:a="http://schemas.openxmlformats.org/drawingml/2006/main">
            <a:off x="4361688" y="2926080"/>
            <a:ext cx="118872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097C49DD-5431-4338-9A7D-49B1AE690B93}"/>
              </a:ext>
            </a:extLst>
          </p:cNvPr>
          <p:cNvSpPr>
            <a:spLocks xmlns:a="http://schemas.openxmlformats.org/drawingml/2006/main" noGrp="1"/>
          </p:cNvSpPr>
          <p:nvPr/>
        </p:nvSpPr>
        <p:spPr>
          <a:xfrm xmlns:a="http://schemas.openxmlformats.org/drawingml/2006/main">
            <a:off x="4471416" y="3118104"/>
            <a:ext cx="960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1F2A5A"/>
                </a:solidFill>
                <a:latin typeface="Noto Sans CJK JP"/>
                <a:ea typeface="Noto Sans CJK JP"/>
                <a:cs typeface="Noto Sans CJK JP"/>
              </a:rPr>
              <a:t>BESSから</a:t>
            </a:r>
            <a:endParaRPr sz="1320"/>
          </a:p>
          <a:p xmlns:a="http://schemas.openxmlformats.org/drawingml/2006/main">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xmlns:a="http://schemas.openxmlformats.org/drawingml/2006/main">
              <a:ext uri="{FF2B5EF4-FFF2-40B4-BE49-F238E27FC236}">
                <a16:creationId xmlns:a16="http://schemas.microsoft.com/office/drawing/2014/main" id="{511C16F9-6B4E-4FB6-9FBA-62BF1C0E8FF9}"/>
              </a:ext>
            </a:extLst>
          </p:cNvPr>
          <p:cNvSpPr>
            <a:spLocks xmlns:a="http://schemas.openxmlformats.org/drawingml/2006/main" noGrp="1"/>
          </p:cNvSpPr>
          <p:nvPr/>
        </p:nvSpPr>
        <p:spPr>
          <a:xfrm xmlns:a="http://schemas.openxmlformats.org/drawingml/2006/main">
            <a:off x="3977640" y="3227832"/>
            <a:ext cx="310896" cy="310896"/>
          </a:xfrm>
          <a:prstGeom xmlns:a="http://schemas.openxmlformats.org/drawingml/2006/main" prst="chevron">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D8A5A0A3-D778-4393-BC7C-8B45F911C031}"/>
              </a:ext>
            </a:extLst>
          </p:cNvPr>
          <p:cNvSpPr>
            <a:spLocks xmlns:a="http://schemas.openxmlformats.org/drawingml/2006/main" noGrp="1"/>
          </p:cNvSpPr>
          <p:nvPr/>
        </p:nvSpPr>
        <p:spPr>
          <a:xfrm xmlns:a="http://schemas.openxmlformats.org/drawingml/2006/main">
            <a:off x="2624328" y="4096512"/>
            <a:ext cx="132588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D125E53D-148C-4B19-B935-6A07D3101B46}"/>
              </a:ext>
            </a:extLst>
          </p:cNvPr>
          <p:cNvSpPr>
            <a:spLocks xmlns:a="http://schemas.openxmlformats.org/drawingml/2006/main" noGrp="1"/>
          </p:cNvSpPr>
          <p:nvPr/>
        </p:nvSpPr>
        <p:spPr>
          <a:xfrm xmlns:a="http://schemas.openxmlformats.org/drawingml/2006/main">
            <a:off x="2743200" y="4224528"/>
            <a:ext cx="107899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687386"/>
                </a:solidFill>
                <a:latin typeface="Noto Sans CJK JP"/>
                <a:ea typeface="Noto Sans CJK JP"/>
                <a:cs typeface="Noto Sans CJK JP"/>
              </a:rPr>
              <a:t>抑制</a:t>
            </a:r>
            <a:endParaRPr sz="1320"/>
          </a:p>
          <a:p xmlns:a="http://schemas.openxmlformats.org/drawingml/2006/main">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xmlns:a="http://schemas.openxmlformats.org/drawingml/2006/main">
              <a:ext uri="{FF2B5EF4-FFF2-40B4-BE49-F238E27FC236}">
                <a16:creationId xmlns:a16="http://schemas.microsoft.com/office/drawing/2014/main" id="{E9874342-631B-4665-BE5C-C6961C6197F9}"/>
              </a:ext>
            </a:extLst>
          </p:cNvPr>
          <p:cNvSpPr>
            <a:spLocks xmlns:a="http://schemas.openxmlformats.org/drawingml/2006/main" noGrp="1"/>
          </p:cNvSpPr>
          <p:nvPr/>
        </p:nvSpPr>
        <p:spPr>
          <a:xfrm xmlns:a="http://schemas.openxmlformats.org/drawingml/2006/main">
            <a:off x="4361688" y="4096512"/>
            <a:ext cx="118872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94BC0AC5-239A-43D6-A663-5C1BBD693C27}"/>
              </a:ext>
            </a:extLst>
          </p:cNvPr>
          <p:cNvSpPr>
            <a:spLocks xmlns:a="http://schemas.openxmlformats.org/drawingml/2006/main" noGrp="1"/>
          </p:cNvSpPr>
          <p:nvPr/>
        </p:nvSpPr>
        <p:spPr>
          <a:xfrm xmlns:a="http://schemas.openxmlformats.org/drawingml/2006/main">
            <a:off x="4462272" y="4224528"/>
            <a:ext cx="98755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E98B3A"/>
                </a:solidFill>
                <a:latin typeface="Noto Sans CJK JP"/>
                <a:ea typeface="Noto Sans CJK JP"/>
                <a:cs typeface="Noto Sans CJK JP"/>
              </a:rPr>
              <a:t>系統から</a:t>
            </a:r>
            <a:endParaRPr sz="1320"/>
          </a:p>
          <a:p xmlns:a="http://schemas.openxmlformats.org/drawingml/2006/main">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xmlns:a="http://schemas.openxmlformats.org/drawingml/2006/main">
              <a:ext uri="{FF2B5EF4-FFF2-40B4-BE49-F238E27FC236}">
                <a16:creationId xmlns:a16="http://schemas.microsoft.com/office/drawing/2014/main" id="{4725A26E-42D5-477E-A4F9-271C8299E081}"/>
              </a:ext>
            </a:extLst>
          </p:cNvPr>
          <p:cNvSpPr>
            <a:spLocks xmlns:a="http://schemas.openxmlformats.org/drawingml/2006/main" noGrp="1"/>
          </p:cNvSpPr>
          <p:nvPr/>
        </p:nvSpPr>
        <p:spPr>
          <a:xfrm xmlns:a="http://schemas.openxmlformats.org/drawingml/2006/main">
            <a:off x="4087368" y="2148840"/>
            <a:ext cx="1554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xmlns:a="http://schemas.openxmlformats.org/drawingml/2006/main">
              <a:ext uri="{FF2B5EF4-FFF2-40B4-BE49-F238E27FC236}">
                <a16:creationId xmlns:a16="http://schemas.microsoft.com/office/drawing/2014/main" id="{F89DC913-017E-4365-B1AB-9BDDE7906248}"/>
              </a:ext>
            </a:extLst>
          </p:cNvPr>
          <p:cNvSpPr>
            <a:spLocks xmlns:a="http://schemas.openxmlformats.org/drawingml/2006/main" noGrp="1"/>
          </p:cNvSpPr>
          <p:nvPr/>
        </p:nvSpPr>
        <p:spPr>
          <a:xfrm xmlns:a="http://schemas.openxmlformats.org/drawingml/2006/main">
            <a:off x="4178808" y="5074920"/>
            <a:ext cx="15727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xmlns:a="http://schemas.openxmlformats.org/drawingml/2006/main">
              <a:ext uri="{FF2B5EF4-FFF2-40B4-BE49-F238E27FC236}">
                <a16:creationId xmlns:a16="http://schemas.microsoft.com/office/drawing/2014/main" id="{4C722A9E-6FB0-4782-AF89-E836F3933DC8}"/>
              </a:ext>
            </a:extLst>
          </p:cNvPr>
          <p:cNvSpPr>
            <a:spLocks xmlns:a="http://schemas.openxmlformats.org/drawingml/2006/main" noGrp="1"/>
          </p:cNvSpPr>
          <p:nvPr/>
        </p:nvSpPr>
        <p:spPr>
          <a:xfrm xmlns:a="http://schemas.openxmlformats.org/drawingml/2006/main">
            <a:off x="6236208" y="1051560"/>
            <a:ext cx="5394960" cy="5166360"/>
          </a:xfrm>
          <a:prstGeom xmlns:a="http://schemas.openxmlformats.org/drawingml/2006/main" prst="roundRect">
            <a:avLst>
              <a:gd name="adj" fmla="val 1416"/>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31026F6F-DB1E-4E2D-B6F4-F65B859B06B0}"/>
              </a:ext>
            </a:extLst>
          </p:cNvPr>
          <p:cNvSpPr>
            <a:spLocks xmlns:a="http://schemas.openxmlformats.org/drawingml/2006/main" noGrp="1"/>
          </p:cNvSpPr>
          <p:nvPr/>
        </p:nvSpPr>
        <p:spPr>
          <a:xfrm xmlns:a="http://schemas.openxmlformats.org/drawingml/2006/main">
            <a:off x="6556248" y="1298448"/>
            <a:ext cx="1417320" cy="310896"/>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D659F1-DA17-453D-BB22-FC57917E0756}"/>
              </a:ext>
            </a:extLst>
          </p:cNvPr>
          <p:cNvSpPr>
            <a:spLocks xmlns:a="http://schemas.openxmlformats.org/drawingml/2006/main" noGrp="1"/>
          </p:cNvSpPr>
          <p:nvPr/>
        </p:nvSpPr>
        <p:spPr>
          <a:xfrm xmlns:a="http://schemas.openxmlformats.org/drawingml/2006/main">
            <a:off x="6601968" y="1316736"/>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xmlns:a="http://schemas.openxmlformats.org/drawingml/2006/main">
              <a:ext uri="{FF2B5EF4-FFF2-40B4-BE49-F238E27FC236}">
                <a16:creationId xmlns:a16="http://schemas.microsoft.com/office/drawing/2014/main" id="{2F7C53BD-3BF5-4017-8E71-F4D3D2C9D8A7}"/>
              </a:ext>
            </a:extLst>
          </p:cNvPr>
          <p:cNvSpPr>
            <a:spLocks xmlns:a="http://schemas.openxmlformats.org/drawingml/2006/main" noGrp="1"/>
          </p:cNvSpPr>
          <p:nvPr/>
        </p:nvSpPr>
        <p:spPr>
          <a:xfrm xmlns:a="http://schemas.openxmlformats.org/drawingml/2006/main">
            <a:off x="6583680" y="1901952"/>
            <a:ext cx="1234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E7B34B"/>
                </a:solidFill>
                <a:latin typeface="Noto Sans CJK JP"/>
                <a:ea typeface="Noto Sans CJK JP"/>
                <a:cs typeface="Noto Sans CJK JP"/>
              </a:rPr>
              <a:t>PV発電</a:t>
            </a:r>
            <a:endParaRPr sz="1700"/>
          </a:p>
          <a:p xmlns:a="http://schemas.openxmlformats.org/drawingml/2006/main">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xmlns:a="http://schemas.openxmlformats.org/drawingml/2006/main">
              <a:ext uri="{FF2B5EF4-FFF2-40B4-BE49-F238E27FC236}">
                <a16:creationId xmlns:a16="http://schemas.microsoft.com/office/drawing/2014/main" id="{DE3790A1-BFD3-48F6-9687-FEAF3CDCC1CE}"/>
              </a:ext>
            </a:extLst>
          </p:cNvPr>
          <p:cNvSpPr>
            <a:spLocks xmlns:a="http://schemas.openxmlformats.org/drawingml/2006/main" noGrp="1"/>
          </p:cNvSpPr>
          <p:nvPr/>
        </p:nvSpPr>
        <p:spPr>
          <a:xfrm xmlns:a="http://schemas.openxmlformats.org/drawingml/2006/main">
            <a:off x="7808976" y="2075688"/>
            <a:ext cx="438912"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51356C8A-A04E-4A19-BEE2-8153979E140B}"/>
              </a:ext>
            </a:extLst>
          </p:cNvPr>
          <p:cNvSpPr>
            <a:spLocks xmlns:a="http://schemas.openxmlformats.org/drawingml/2006/main" noGrp="1"/>
          </p:cNvSpPr>
          <p:nvPr/>
        </p:nvSpPr>
        <p:spPr>
          <a:xfrm xmlns:a="http://schemas.openxmlformats.org/drawingml/2006/main">
            <a:off x="8293608" y="1783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F78EE9DA-4651-41C4-9FF6-45490A2EADE3}"/>
              </a:ext>
            </a:extLst>
          </p:cNvPr>
          <p:cNvSpPr>
            <a:spLocks xmlns:a="http://schemas.openxmlformats.org/drawingml/2006/main" noGrp="1"/>
          </p:cNvSpPr>
          <p:nvPr/>
        </p:nvSpPr>
        <p:spPr>
          <a:xfrm xmlns:a="http://schemas.openxmlformats.org/drawingml/2006/main">
            <a:off x="8412480" y="1975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F9D8A"/>
                </a:solidFill>
                <a:latin typeface="Noto Sans CJK JP"/>
                <a:ea typeface="Noto Sans CJK JP"/>
                <a:cs typeface="Noto Sans CJK JP"/>
              </a:rPr>
              <a:t>直接充電</a:t>
            </a:r>
            <a:endParaRPr sz="1350"/>
          </a:p>
          <a:p xmlns:a="http://schemas.openxmlformats.org/drawingml/2006/main">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xmlns:a="http://schemas.openxmlformats.org/drawingml/2006/main">
              <a:ext uri="{FF2B5EF4-FFF2-40B4-BE49-F238E27FC236}">
                <a16:creationId xmlns:a16="http://schemas.microsoft.com/office/drawing/2014/main" id="{79EE4C0E-9190-41CE-9C69-1E7D94E8B661}"/>
              </a:ext>
            </a:extLst>
          </p:cNvPr>
          <p:cNvSpPr>
            <a:spLocks xmlns:a="http://schemas.openxmlformats.org/drawingml/2006/main" noGrp="1"/>
          </p:cNvSpPr>
          <p:nvPr/>
        </p:nvSpPr>
        <p:spPr>
          <a:xfrm xmlns:a="http://schemas.openxmlformats.org/drawingml/2006/main">
            <a:off x="8293608" y="2926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C7D5AF33-63BA-4858-B299-124C17385E6B}"/>
              </a:ext>
            </a:extLst>
          </p:cNvPr>
          <p:cNvSpPr>
            <a:spLocks xmlns:a="http://schemas.openxmlformats.org/drawingml/2006/main" noGrp="1"/>
          </p:cNvSpPr>
          <p:nvPr/>
        </p:nvSpPr>
        <p:spPr>
          <a:xfrm xmlns:a="http://schemas.openxmlformats.org/drawingml/2006/main">
            <a:off x="8412480" y="3118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356BB3"/>
                </a:solidFill>
                <a:latin typeface="Noto Sans CJK JP"/>
                <a:ea typeface="Noto Sans CJK JP"/>
                <a:cs typeface="Noto Sans CJK JP"/>
              </a:rPr>
              <a:t>BESSへ</a:t>
            </a:r>
            <a:endParaRPr sz="1350"/>
          </a:p>
          <a:p xmlns:a="http://schemas.openxmlformats.org/drawingml/2006/main">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xmlns:a="http://schemas.openxmlformats.org/drawingml/2006/main">
              <a:ext uri="{FF2B5EF4-FFF2-40B4-BE49-F238E27FC236}">
                <a16:creationId xmlns:a16="http://schemas.microsoft.com/office/drawing/2014/main" id="{8D52A1AD-9F8D-4776-8EC3-02E80F361338}"/>
              </a:ext>
            </a:extLst>
          </p:cNvPr>
          <p:cNvSpPr>
            <a:spLocks xmlns:a="http://schemas.openxmlformats.org/drawingml/2006/main" noGrp="1"/>
          </p:cNvSpPr>
          <p:nvPr/>
        </p:nvSpPr>
        <p:spPr>
          <a:xfrm xmlns:a="http://schemas.openxmlformats.org/drawingml/2006/main">
            <a:off x="10030968" y="2926080"/>
            <a:ext cx="118872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7C87B500-E83B-4FE4-87A0-D667FF3D1AA8}"/>
              </a:ext>
            </a:extLst>
          </p:cNvPr>
          <p:cNvSpPr>
            <a:spLocks xmlns:a="http://schemas.openxmlformats.org/drawingml/2006/main" noGrp="1"/>
          </p:cNvSpPr>
          <p:nvPr/>
        </p:nvSpPr>
        <p:spPr>
          <a:xfrm xmlns:a="http://schemas.openxmlformats.org/drawingml/2006/main">
            <a:off x="10140696" y="3118104"/>
            <a:ext cx="960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1F2A5A"/>
                </a:solidFill>
                <a:latin typeface="Noto Sans CJK JP"/>
                <a:ea typeface="Noto Sans CJK JP"/>
                <a:cs typeface="Noto Sans CJK JP"/>
              </a:rPr>
              <a:t>BESSから</a:t>
            </a:r>
            <a:endParaRPr sz="1320"/>
          </a:p>
          <a:p xmlns:a="http://schemas.openxmlformats.org/drawingml/2006/main">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xmlns:a="http://schemas.openxmlformats.org/drawingml/2006/main">
              <a:ext uri="{FF2B5EF4-FFF2-40B4-BE49-F238E27FC236}">
                <a16:creationId xmlns:a16="http://schemas.microsoft.com/office/drawing/2014/main" id="{C8B0A779-D282-4D17-9501-851595ACB458}"/>
              </a:ext>
            </a:extLst>
          </p:cNvPr>
          <p:cNvSpPr>
            <a:spLocks xmlns:a="http://schemas.openxmlformats.org/drawingml/2006/main" noGrp="1"/>
          </p:cNvSpPr>
          <p:nvPr/>
        </p:nvSpPr>
        <p:spPr>
          <a:xfrm xmlns:a="http://schemas.openxmlformats.org/drawingml/2006/main">
            <a:off x="9646920" y="3227832"/>
            <a:ext cx="310896" cy="310896"/>
          </a:xfrm>
          <a:prstGeom xmlns:a="http://schemas.openxmlformats.org/drawingml/2006/main" prst="chevron">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1A8BE596-DE78-46D1-8B63-468D00F7FCC6}"/>
              </a:ext>
            </a:extLst>
          </p:cNvPr>
          <p:cNvSpPr>
            <a:spLocks xmlns:a="http://schemas.openxmlformats.org/drawingml/2006/main" noGrp="1"/>
          </p:cNvSpPr>
          <p:nvPr/>
        </p:nvSpPr>
        <p:spPr>
          <a:xfrm xmlns:a="http://schemas.openxmlformats.org/drawingml/2006/main">
            <a:off x="8293608" y="4096512"/>
            <a:ext cx="132588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20AFF840-FEE4-44BF-90BB-8BB153C2D72F}"/>
              </a:ext>
            </a:extLst>
          </p:cNvPr>
          <p:cNvSpPr>
            <a:spLocks xmlns:a="http://schemas.openxmlformats.org/drawingml/2006/main" noGrp="1"/>
          </p:cNvSpPr>
          <p:nvPr/>
        </p:nvSpPr>
        <p:spPr>
          <a:xfrm xmlns:a="http://schemas.openxmlformats.org/drawingml/2006/main">
            <a:off x="8412480" y="4224528"/>
            <a:ext cx="107899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687386"/>
                </a:solidFill>
                <a:latin typeface="Noto Sans CJK JP"/>
                <a:ea typeface="Noto Sans CJK JP"/>
                <a:cs typeface="Noto Sans CJK JP"/>
              </a:rPr>
              <a:t>抑制</a:t>
            </a:r>
            <a:endParaRPr sz="1320"/>
          </a:p>
          <a:p xmlns:a="http://schemas.openxmlformats.org/drawingml/2006/main">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xmlns:a="http://schemas.openxmlformats.org/drawingml/2006/main">
              <a:ext uri="{FF2B5EF4-FFF2-40B4-BE49-F238E27FC236}">
                <a16:creationId xmlns:a16="http://schemas.microsoft.com/office/drawing/2014/main" id="{570E3AFA-7B70-4229-B668-2CB7206AEF58}"/>
              </a:ext>
            </a:extLst>
          </p:cNvPr>
          <p:cNvSpPr>
            <a:spLocks xmlns:a="http://schemas.openxmlformats.org/drawingml/2006/main" noGrp="1"/>
          </p:cNvSpPr>
          <p:nvPr/>
        </p:nvSpPr>
        <p:spPr>
          <a:xfrm xmlns:a="http://schemas.openxmlformats.org/drawingml/2006/main">
            <a:off x="10030968" y="4096512"/>
            <a:ext cx="118872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0375A379-AA71-4022-888C-96329DBCE3BA}"/>
              </a:ext>
            </a:extLst>
          </p:cNvPr>
          <p:cNvSpPr>
            <a:spLocks xmlns:a="http://schemas.openxmlformats.org/drawingml/2006/main" noGrp="1"/>
          </p:cNvSpPr>
          <p:nvPr/>
        </p:nvSpPr>
        <p:spPr>
          <a:xfrm xmlns:a="http://schemas.openxmlformats.org/drawingml/2006/main">
            <a:off x="10131552" y="4224528"/>
            <a:ext cx="98755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E98B3A"/>
                </a:solidFill>
                <a:latin typeface="Noto Sans CJK JP"/>
                <a:ea typeface="Noto Sans CJK JP"/>
                <a:cs typeface="Noto Sans CJK JP"/>
              </a:rPr>
              <a:t>系統から</a:t>
            </a:r>
            <a:endParaRPr sz="1320"/>
          </a:p>
          <a:p xmlns:a="http://schemas.openxmlformats.org/drawingml/2006/main">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xmlns:a="http://schemas.openxmlformats.org/drawingml/2006/main">
              <a:ext uri="{FF2B5EF4-FFF2-40B4-BE49-F238E27FC236}">
                <a16:creationId xmlns:a16="http://schemas.microsoft.com/office/drawing/2014/main" id="{707158FA-BFB0-40D2-9797-B0BDF034B7AB}"/>
              </a:ext>
            </a:extLst>
          </p:cNvPr>
          <p:cNvSpPr>
            <a:spLocks xmlns:a="http://schemas.openxmlformats.org/drawingml/2006/main" noGrp="1"/>
          </p:cNvSpPr>
          <p:nvPr/>
        </p:nvSpPr>
        <p:spPr>
          <a:xfrm xmlns:a="http://schemas.openxmlformats.org/drawingml/2006/main">
            <a:off x="9756648" y="2148840"/>
            <a:ext cx="1554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xmlns:a="http://schemas.openxmlformats.org/drawingml/2006/main">
              <a:ext uri="{FF2B5EF4-FFF2-40B4-BE49-F238E27FC236}">
                <a16:creationId xmlns:a16="http://schemas.microsoft.com/office/drawing/2014/main" id="{DBDA305B-1533-49A4-B04D-C9729DEFAD38}"/>
              </a:ext>
            </a:extLst>
          </p:cNvPr>
          <p:cNvSpPr>
            <a:spLocks xmlns:a="http://schemas.openxmlformats.org/drawingml/2006/main" noGrp="1"/>
          </p:cNvSpPr>
          <p:nvPr/>
        </p:nvSpPr>
        <p:spPr>
          <a:xfrm xmlns:a="http://schemas.openxmlformats.org/drawingml/2006/main">
            <a:off x="9848088" y="5074920"/>
            <a:ext cx="15727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xmlns:a="http://schemas.openxmlformats.org/drawingml/2006/main">
              <a:ext uri="{FF2B5EF4-FFF2-40B4-BE49-F238E27FC236}">
                <a16:creationId xmlns:a16="http://schemas.microsoft.com/office/drawing/2014/main" id="{CE6CF188-6F78-4105-8149-05C3D10B3EC3}"/>
              </a:ext>
            </a:extLst>
          </p:cNvPr>
          <p:cNvSpPr>
            <a:spLocks xmlns:a="http://schemas.openxmlformats.org/drawingml/2006/main" noGrp="1"/>
          </p:cNvSpPr>
          <p:nvPr/>
        </p:nvSpPr>
        <p:spPr>
          <a:xfrm xmlns:a="http://schemas.openxmlformats.org/drawingml/2006/main">
            <a:off x="452628" y="5791747"/>
            <a:ext cx="10378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b="1">
                <a:solidFill>
                  <a:srgbClr val="1F2A5A"/>
                </a:solidFill>
                <a:latin typeface="Noto Sans CJK JP"/>
                <a:ea typeface="Noto Sans CJK JP"/>
                <a:cs typeface="Noto Sans CJK JP"/>
              </a:rPr>
              <a:t>高PVでは抑制が発生。低PVではほぼ全量を利用し、不足分を系統から補う</a:t>
            </a:r>
            <a:endParaRPr sz="1450"/>
          </a:p>
        </p:txBody>
      </p:sp>
      <p:sp>
        <p:nvSpPr>
          <p:cNvPr id="43" name="Text 41">
            <a:extLst xmlns:a="http://schemas.openxmlformats.org/drawingml/2006/main">
              <a:ext uri="{FF2B5EF4-FFF2-40B4-BE49-F238E27FC236}">
                <a16:creationId xmlns:a16="http://schemas.microsoft.com/office/drawing/2014/main" id="{C93D9E01-005E-4D01-974E-FE889D3083EA}"/>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参考構成：Fei et al. (2023) の時間別充放電図、Najafi et al. (2025) の交通・電力システム統合図を参考に、本研究の日合計値で再構成</a:t>
            </a:r>
            <a:endParaRPr sz="720"/>
          </a:p>
        </p:txBody>
      </p:sp>
      <p:sp>
        <p:nvSpPr>
          <p:cNvPr id="44" name="">
            <a:extLst xmlns:a="http://schemas.openxmlformats.org/drawingml/2006/main">
              <a:ext uri="{FF2B5EF4-FFF2-40B4-BE49-F238E27FC236}">
                <a16:creationId xmlns:a16="http://schemas.microsoft.com/office/drawing/2014/main" id="{7BD87B94-47EE-4FF6-8BFE-C46B2458B2C9}"/>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659291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3EAA2-FF56-4749-B255-B88E4DCB7B7F}"/>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202B58"/>
                </a:solidFill>
                <a:latin typeface="Meiryo"/>
                <a:ea typeface="Meiryo"/>
                <a:cs typeface="Meiryo"/>
              </a:defRPr>
            </a:pPr>
            <a:r>
              <a:rPr sz="2700" b="1">
                <a:solidFill>
                  <a:srgbClr val="202B58"/>
                </a:solidFill>
                <a:latin typeface="Meiryo"/>
                <a:ea typeface="Meiryo"/>
                <a:cs typeface="Meiryo"/>
              </a:rPr>
              <a:t>追加分析で、結果の中身が分かった</a:t>
            </a:r>
          </a:p>
        </p:txBody>
      </p:sp>
      <p:sp>
        <p:nvSpPr>
          <p:cNvPr id="2" name="">
            <a:extLst xmlns:a="http://schemas.openxmlformats.org/drawingml/2006/main">
              <a:ext uri="{FF2B5EF4-FFF2-40B4-BE49-F238E27FC236}">
                <a16:creationId xmlns:a16="http://schemas.microsoft.com/office/drawing/2014/main" id="{E366884F-9852-4764-8160-D9B3288EE6C8}"/>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87B"/>
                </a:solidFill>
                <a:latin typeface="Meiryo"/>
                <a:ea typeface="Meiryo"/>
                <a:cs typeface="Meiryo"/>
              </a:defRPr>
            </a:pPr>
            <a:r>
              <a:rPr sz="1875" b="0">
                <a:solidFill>
                  <a:srgbClr val="59687B"/>
                </a:solidFill>
                <a:latin typeface="Meiryo"/>
                <a:ea typeface="Meiryo"/>
                <a:cs typeface="Meiryo"/>
              </a:rPr>
              <a:t>9月5日の進捗：同じ結果を、便・時間・費用の内訳まで確認</a:t>
            </a:r>
          </a:p>
        </p:txBody>
      </p:sp>
      <p:graphicFrame>
        <p:nvGraphicFramePr>
          <p:cNvPr id="12"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875" b="1">
                          <a:solidFill>
                            <a:srgbClr val="FFFFFF"/>
                          </a:solidFill>
                          <a:latin typeface="Meiryo"/>
                          <a:ea typeface="Meiryo"/>
                          <a:cs typeface="Meiryo"/>
                        </a:rPr>
                        <a:t>これまでの説明</a:t>
                      </a:r>
                    </a:p>
                  </a:txBody>
                  <a:tcPr marL="91440" marR="91440" marT="45720" marB="45720">
                    <a:solidFill>
                      <a:srgbClr val="202B58"/>
                    </a:solidFill>
                  </a:tcPr>
                </a:tc>
                <a:tc>
                  <a:txBody>
                    <a:bodyPr/>
                    <a:lstStyle/>
                    <a:p>
                      <a:r>
                        <a:rPr sz="1875" b="1">
                          <a:solidFill>
                            <a:srgbClr val="FFFFFF"/>
                          </a:solidFill>
                          <a:latin typeface="Meiryo"/>
                          <a:ea typeface="Meiryo"/>
                          <a:cs typeface="Meiryo"/>
                        </a:rPr>
                        <a:t>追加で調べたこと</a:t>
                      </a:r>
                    </a:p>
                  </a:txBody>
                  <a:tcPr marL="91440" marR="91440" marT="45720" marB="45720">
                    <a:solidFill>
                      <a:srgbClr val="202B58"/>
                    </a:solidFill>
                  </a:tcPr>
                </a:tc>
                <a:tc>
                  <a:txBody>
                    <a:bodyPr/>
                    <a:lstStyle/>
                    <a:p>
                      <a:r>
                        <a:rPr sz="1875" b="1">
                          <a:solidFill>
                            <a:srgbClr val="FFFFFF"/>
                          </a:solidFill>
                          <a:latin typeface="Meiryo"/>
                          <a:ea typeface="Meiryo"/>
                          <a:cs typeface="Meiryo"/>
                        </a:rPr>
                        <a:t>新しく分かったこと</a:t>
                      </a:r>
                    </a:p>
                  </a:txBody>
                  <a:tcPr marL="91440" marR="91440" marT="45720" marB="45720">
                    <a:solidFill>
                      <a:srgbClr val="202B58"/>
                    </a:solidFill>
                  </a:tcPr>
                </a:tc>
              </a:tr>
              <a:tr h="869156">
                <a:tc>
                  <a:txBody>
                    <a:bodyPr/>
                    <a:lstStyle/>
                    <a:p>
                      <a:r>
                        <a:rPr sz="1875" b="0">
                          <a:solidFill>
                            <a:srgbClr val="202B58"/>
                          </a:solidFill>
                          <a:latin typeface="Meiryo"/>
                          <a:ea typeface="Meiryo"/>
                          <a:cs typeface="Meiryo"/>
                        </a:rPr>
                        <a:t>電気バスの担当便数が違う</a:t>
                      </a:r>
                    </a:p>
                  </a:txBody>
                  <a:tcPr marL="91440" marR="91440" marT="45720" marB="45720">
                    <a:solidFill>
                      <a:srgbClr val="F1F5F8"/>
                    </a:solidFill>
                  </a:tcPr>
                </a:tc>
                <a:tc>
                  <a:txBody>
                    <a:bodyPr/>
                    <a:lstStyle/>
                    <a:p>
                      <a:r>
                        <a:rPr sz="1875" b="0">
                          <a:solidFill>
                            <a:srgbClr val="202B58"/>
                          </a:solidFill>
                          <a:latin typeface="Meiryo"/>
                          <a:ea typeface="Meiryo"/>
                          <a:cs typeface="Meiryo"/>
                        </a:rPr>
                        <a:t>両条件で同じ便を</a:t>
                      </a:r>
                    </a:p>
                    <a:p>
                      <a:r>
                        <a:rPr sz="1875" b="0">
                          <a:solidFill>
                            <a:srgbClr val="202B58"/>
                          </a:solidFill>
                          <a:latin typeface="Meiryo"/>
                          <a:ea typeface="Meiryo"/>
                          <a:cs typeface="Meiryo"/>
                        </a:rPr>
                        <a:t>1便ずつ対応付けた</a:t>
                      </a:r>
                    </a:p>
                  </a:txBody>
                  <a:tcPr marL="91440" marR="91440" marT="45720" marB="45720">
                    <a:solidFill>
                      <a:srgbClr val="F1F5F8"/>
                    </a:solidFill>
                  </a:tcPr>
                </a:tc>
                <a:tc>
                  <a:txBody>
                    <a:bodyPr/>
                    <a:lstStyle/>
                    <a:p>
                      <a:r>
                        <a:rPr sz="1875" b="0">
                          <a:solidFill>
                            <a:srgbClr val="202B58"/>
                          </a:solidFill>
                          <a:latin typeface="Meiryo"/>
                          <a:ea typeface="Meiryo"/>
                          <a:cs typeface="Meiryo"/>
                        </a:rPr>
                        <a:t>エンジンから電気へ108便</a:t>
                      </a:r>
                    </a:p>
                    <a:p>
                      <a:r>
                        <a:rPr sz="1875" b="0">
                          <a:solidFill>
                            <a:srgbClr val="202B58"/>
                          </a:solidFill>
                          <a:latin typeface="Meiryo"/>
                          <a:ea typeface="Meiryo"/>
                          <a:cs typeface="Meiryo"/>
                        </a:rPr>
                        <a:t>渋22：78便／渋23：30便</a:t>
                      </a:r>
                    </a:p>
                  </a:txBody>
                  <a:tcPr marL="91440" marR="91440" marT="45720" marB="45720">
                    <a:solidFill>
                      <a:srgbClr val="F1F5F8"/>
                    </a:solidFill>
                  </a:tcPr>
                </a:tc>
              </a:tr>
              <a:tr h="869156">
                <a:tc>
                  <a:txBody>
                    <a:bodyPr/>
                    <a:lstStyle/>
                    <a:p>
                      <a:r>
                        <a:rPr sz="1875" b="0">
                          <a:solidFill>
                            <a:srgbClr val="202B58"/>
                          </a:solidFill>
                          <a:latin typeface="Meiryo"/>
                          <a:ea typeface="Meiryo"/>
                          <a:cs typeface="Meiryo"/>
                        </a:rPr>
                        <a:t>太陽光が3,373 kWh余る</a:t>
                      </a:r>
                    </a:p>
                  </a:txBody>
                  <a:tcPr marL="91440" marR="91440" marT="45720" marB="45720">
                    <a:solidFill>
                      <a:srgbClr val="FFFFFF"/>
                    </a:solidFill>
                  </a:tcPr>
                </a:tc>
                <a:tc>
                  <a:txBody>
                    <a:bodyPr/>
                    <a:lstStyle/>
                    <a:p>
                      <a:r>
                        <a:rPr sz="1875" b="0">
                          <a:solidFill>
                            <a:srgbClr val="202B58"/>
                          </a:solidFill>
                          <a:latin typeface="Meiryo"/>
                          <a:ea typeface="Meiryo"/>
                          <a:cs typeface="Meiryo"/>
                        </a:rPr>
                        <a:t>15分ごとの未利用電力と</a:t>
                      </a:r>
                    </a:p>
                    <a:p>
                      <a:r>
                        <a:rPr sz="1875" b="0">
                          <a:solidFill>
                            <a:srgbClr val="202B58"/>
                          </a:solidFill>
                          <a:latin typeface="Meiryo"/>
                          <a:ea typeface="Meiryo"/>
                          <a:cs typeface="Meiryo"/>
                        </a:rPr>
                        <a:t>充電の有無を重ねた</a:t>
                      </a:r>
                    </a:p>
                  </a:txBody>
                  <a:tcPr marL="91440" marR="91440" marT="45720" marB="45720">
                    <a:solidFill>
                      <a:srgbClr val="FFFFFF"/>
                    </a:solidFill>
                  </a:tcPr>
                </a:tc>
                <a:tc>
                  <a:txBody>
                    <a:bodyPr/>
                    <a:lstStyle/>
                    <a:p>
                      <a:r>
                        <a:rPr sz="1875" b="0">
                          <a:solidFill>
                            <a:srgbClr val="202B58"/>
                          </a:solidFill>
                          <a:latin typeface="Meiryo"/>
                          <a:ea typeface="Meiryo"/>
                          <a:cs typeface="Meiryo"/>
                        </a:rPr>
                        <a:t>抑制量の75.06%が未充電枠</a:t>
                      </a:r>
                    </a:p>
                    <a:p>
                      <a:r>
                        <a:rPr sz="1875" b="0">
                          <a:solidFill>
                            <a:srgbClr val="202B58"/>
                          </a:solidFill>
                          <a:latin typeface="Meiryo"/>
                          <a:ea typeface="Meiryo"/>
                          <a:cs typeface="Meiryo"/>
                        </a:rPr>
                        <a:t>原因の特定はまだ必要</a:t>
                      </a:r>
                    </a:p>
                  </a:txBody>
                  <a:tcPr marL="91440" marR="91440" marT="45720" marB="45720">
                    <a:solidFill>
                      <a:srgbClr val="FFFFFF"/>
                    </a:solidFill>
                  </a:tcPr>
                </a:tc>
              </a:tr>
              <a:tr h="869156">
                <a:tc>
                  <a:txBody>
                    <a:bodyPr/>
                    <a:lstStyle/>
                    <a:p>
                      <a:r>
                        <a:rPr sz="1875" b="0">
                          <a:solidFill>
                            <a:srgbClr val="202B58"/>
                          </a:solidFill>
                          <a:latin typeface="Meiryo"/>
                          <a:ea typeface="Meiryo"/>
                          <a:cs typeface="Meiryo"/>
                        </a:rPr>
                        <a:t>評価額が約3.8万円違う</a:t>
                      </a:r>
                    </a:p>
                  </a:txBody>
                  <a:tcPr marL="91440" marR="91440" marT="45720" marB="45720">
                    <a:solidFill>
                      <a:srgbClr val="F1F5F8"/>
                    </a:solidFill>
                  </a:tcPr>
                </a:tc>
                <a:tc>
                  <a:txBody>
                    <a:bodyPr/>
                    <a:lstStyle/>
                    <a:p>
                      <a:r>
                        <a:rPr sz="1875" b="0">
                          <a:solidFill>
                            <a:srgbClr val="202B58"/>
                          </a:solidFill>
                          <a:latin typeface="Meiryo"/>
                          <a:ea typeface="Meiryo"/>
                          <a:cs typeface="Meiryo"/>
                        </a:rPr>
                        <a:t>同じ費用と</a:t>
                      </a:r>
                    </a:p>
                    <a:p>
                      <a:r>
                        <a:rPr sz="1875" b="0">
                          <a:solidFill>
                            <a:srgbClr val="202B58"/>
                          </a:solidFill>
                          <a:latin typeface="Meiryo"/>
                          <a:ea typeface="Meiryo"/>
                          <a:cs typeface="Meiryo"/>
                        </a:rPr>
                        <a:t>変化した費用を分けた</a:t>
                      </a:r>
                    </a:p>
                  </a:txBody>
                  <a:tcPr marL="91440" marR="91440" marT="45720" marB="45720">
                    <a:solidFill>
                      <a:srgbClr val="F1F5F8"/>
                    </a:solidFill>
                  </a:tcPr>
                </a:tc>
                <a:tc>
                  <a:txBody>
                    <a:bodyPr/>
                    <a:lstStyle/>
                    <a:p>
                      <a:r>
                        <a:rPr sz="1875" b="0">
                          <a:solidFill>
                            <a:srgbClr val="202B58"/>
                          </a:solidFill>
                          <a:latin typeface="Meiryo"/>
                          <a:ea typeface="Meiryo"/>
                          <a:cs typeface="Meiryo"/>
                        </a:rPr>
                        <a:t>車両使用費64万円は共通</a:t>
                      </a:r>
                    </a:p>
                    <a:p>
                      <a:r>
                        <a:rPr sz="1875" b="0">
                          <a:solidFill>
                            <a:srgbClr val="202B58"/>
                          </a:solidFill>
                          <a:latin typeface="Meiryo"/>
                          <a:ea typeface="Meiryo"/>
                          <a:cs typeface="Meiryo"/>
                        </a:rPr>
                        <a:t>差額の約88%は燃料費</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581D8ABC-C90F-4156-9742-3709E67F01BC}"/>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59A8C"/>
                </a:solidFill>
                <a:latin typeface="Meiryo"/>
                <a:ea typeface="Meiryo"/>
                <a:cs typeface="Meiryo"/>
              </a:defRPr>
            </a:pPr>
            <a:r>
              <a:rPr sz="2025" b="1">
                <a:solidFill>
                  <a:srgbClr val="159A8C"/>
                </a:solidFill>
                <a:latin typeface="Meiryo"/>
                <a:ea typeface="Meiryo"/>
                <a:cs typeface="Meiryo"/>
              </a:rPr>
              <a:t>「違いがある」に加え、「どこが違うか」まで具体的に示せた</a:t>
            </a:r>
          </a:p>
        </p:txBody>
      </p:sp>
      <p:sp>
        <p:nvSpPr>
          <p:cNvPr id="5" name="">
            <a:extLst xmlns:a="http://schemas.openxmlformats.org/drawingml/2006/main">
              <a:ext uri="{FF2B5EF4-FFF2-40B4-BE49-F238E27FC236}">
                <a16:creationId xmlns:a16="http://schemas.microsoft.com/office/drawing/2014/main" id="{EF459F65-1147-49B1-8C66-4DA4412A553C}"/>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7E4D36"/>
                </a:solidFill>
                <a:latin typeface="Meiryo"/>
                <a:ea typeface="Meiryo"/>
                <a:cs typeface="Meiryo"/>
              </a:defRPr>
            </a:pPr>
            <a:r>
              <a:rPr sz="1350" b="0">
                <a:solidFill>
                  <a:srgbClr val="7E4D36"/>
                </a:solidFill>
                <a:latin typeface="Meiryo"/>
                <a:ea typeface="Meiryo"/>
                <a:cs typeface="Meiryo"/>
              </a:rPr>
              <a:t>抑制＝使わなかった太陽光。未充電だから車両不在、とは断定できない。</a:t>
            </a:r>
          </a:p>
        </p:txBody>
      </p:sp>
      <p:sp>
        <p:nvSpPr>
          <p:cNvPr id="6" name="">
            <a:extLst xmlns:a="http://schemas.openxmlformats.org/drawingml/2006/main">
              <a:ext uri="{FF2B5EF4-FFF2-40B4-BE49-F238E27FC236}">
                <a16:creationId xmlns:a16="http://schemas.microsoft.com/office/drawing/2014/main" id="{5AEBE5C0-4AB5-47F2-9AC8-833D37F8F8F3}"/>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48B"/>
                </a:solidFill>
                <a:latin typeface="Meiryo"/>
                <a:ea typeface="Meiryo"/>
                <a:cs typeface="Meiryo"/>
              </a:defRPr>
            </a:pPr>
            <a:r>
              <a:rPr sz="900" b="0">
                <a:solidFill>
                  <a:srgbClr val="66748B"/>
                </a:solidFill>
                <a:latin typeface="Meiryo"/>
                <a:ea typeface="Meiryo"/>
                <a:cs typeface="Meiryo"/>
              </a:rPr>
              <a:t>14/18</a:t>
            </a:r>
          </a:p>
        </p:txBody>
      </p:sp>
      <p:sp>
        <p:nvSpPr>
          <p:cNvPr id="9" name="">
            <a:extLst xmlns:a="http://schemas.openxmlformats.org/drawingml/2006/main">
              <a:ext uri="{FF2B5EF4-FFF2-40B4-BE49-F238E27FC236}">
                <a16:creationId xmlns:a16="http://schemas.microsoft.com/office/drawing/2014/main" id="{8B1F4E72-3246-4CDA-A6D5-62129BDD1D05}"/>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3054278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BBD69B-3A2B-4F1F-818D-57FD276FE721}"/>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保存済みの検証結果と、追加確認で見つかった限界</a:t>
            </a:r>
            <a:endParaRPr sz="2550"/>
          </a:p>
        </p:txBody>
      </p:sp>
      <p:sp>
        <p:nvSpPr>
          <p:cNvPr id="3" name="Shape 1">
            <a:extLst xmlns:a="http://schemas.openxmlformats.org/drawingml/2006/main">
              <a:ext uri="{FF2B5EF4-FFF2-40B4-BE49-F238E27FC236}">
                <a16:creationId xmlns:a16="http://schemas.microsoft.com/office/drawing/2014/main" id="{ACA03EBA-5BAA-4A0F-BE3C-CD3C87FE78F5}"/>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4A4A64F5-C4A6-4EC8-8EF2-405E74E80326}"/>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C02DACE5-EB0A-4DA8-B1B6-5FE3E056F5DB}"/>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15/18</a:t>
            </a:r>
            <a:endParaRPr sz="850"/>
          </a:p>
        </p:txBody>
      </p:sp>
      <p:sp>
        <p:nvSpPr>
          <p:cNvPr id="6" name="Text 4">
            <a:extLst xmlns:a="http://schemas.openxmlformats.org/drawingml/2006/main">
              <a:ext uri="{FF2B5EF4-FFF2-40B4-BE49-F238E27FC236}">
                <a16:creationId xmlns:a16="http://schemas.microsoft.com/office/drawing/2014/main" id="{F8663566-2012-45EC-9652-F1ED91BA93B5}"/>
              </a:ext>
            </a:extLst>
          </p:cNvPr>
          <p:cNvSpPr>
            <a:spLocks xmlns:a="http://schemas.openxmlformats.org/drawingml/2006/main" noGrp="1"/>
          </p:cNvSpPr>
          <p:nvPr/>
        </p:nvSpPr>
        <p:spPr>
          <a:xfrm xmlns:a="http://schemas.openxmlformats.org/drawingml/2006/main">
            <a:off x="685800" y="914400"/>
            <a:ext cx="10835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172033"/>
                </a:solidFill>
                <a:latin typeface="Noto Sans CJK JP"/>
                <a:ea typeface="Noto Sans CJK JP"/>
                <a:cs typeface="Noto Sans CJK JP"/>
              </a:rPr>
              <a:t>「朝に作った計画をそのまま使う」のではなく、1時間ごとに残り時間の充電計画を更新する。</a:t>
            </a:r>
            <a:endParaRPr sz="1800"/>
          </a:p>
        </p:txBody>
      </p:sp>
      <p:sp>
        <p:nvSpPr>
          <p:cNvPr id="7" name="Shape 5">
            <a:extLst xmlns:a="http://schemas.openxmlformats.org/drawingml/2006/main">
              <a:ext uri="{FF2B5EF4-FFF2-40B4-BE49-F238E27FC236}">
                <a16:creationId xmlns:a16="http://schemas.microsoft.com/office/drawing/2014/main" id="{AF67D8E3-9AAC-4C19-B523-8E7493F7FCD3}"/>
              </a:ext>
            </a:extLst>
          </p:cNvPr>
          <p:cNvSpPr>
            <a:spLocks xmlns:a="http://schemas.openxmlformats.org/drawingml/2006/main" noGrp="1"/>
          </p:cNvSpPr>
          <p:nvPr/>
        </p:nvSpPr>
        <p:spPr>
          <a:xfrm xmlns:a="http://schemas.openxmlformats.org/drawingml/2006/main">
            <a:off x="914400" y="1965960"/>
            <a:ext cx="10149840" cy="0"/>
          </a:xfrm>
          <a:prstGeom xmlns:a="http://schemas.openxmlformats.org/drawingml/2006/main" prst="line">
            <a:avLst/>
          </a:prstGeom>
          <a:noFill xmlns:a="http://schemas.openxmlformats.org/drawingml/2006/main"/>
          <a:ln xmlns:a="http://schemas.openxmlformats.org/drawingml/2006/main" w="381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7C533D17-0A6F-430F-9C46-1F457C813D34}"/>
              </a:ext>
            </a:extLst>
          </p:cNvPr>
          <p:cNvSpPr>
            <a:spLocks xmlns:a="http://schemas.openxmlformats.org/drawingml/2006/main" noGrp="1"/>
          </p:cNvSpPr>
          <p:nvPr/>
        </p:nvSpPr>
        <p:spPr>
          <a:xfrm xmlns:a="http://schemas.openxmlformats.org/drawingml/2006/main">
            <a:off x="80467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20CBCC4D-75C2-41B2-8608-C226AAE7C0F2}"/>
              </a:ext>
            </a:extLst>
          </p:cNvPr>
          <p:cNvSpPr>
            <a:spLocks xmlns:a="http://schemas.openxmlformats.org/drawingml/2006/main" noGrp="1"/>
          </p:cNvSpPr>
          <p:nvPr/>
        </p:nvSpPr>
        <p:spPr>
          <a:xfrm xmlns:a="http://schemas.openxmlformats.org/drawingml/2006/main">
            <a:off x="59436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00:00</a:t>
            </a:r>
            <a:endParaRPr sz="1100"/>
          </a:p>
        </p:txBody>
      </p:sp>
      <p:sp>
        <p:nvSpPr>
          <p:cNvPr id="10" name="Shape 8">
            <a:extLst xmlns:a="http://schemas.openxmlformats.org/drawingml/2006/main">
              <a:ext uri="{FF2B5EF4-FFF2-40B4-BE49-F238E27FC236}">
                <a16:creationId xmlns:a16="http://schemas.microsoft.com/office/drawing/2014/main" id="{B5202F5E-6B0A-4D2C-B9C6-385C00A12ED7}"/>
              </a:ext>
            </a:extLst>
          </p:cNvPr>
          <p:cNvSpPr>
            <a:spLocks xmlns:a="http://schemas.openxmlformats.org/drawingml/2006/main" noGrp="1"/>
          </p:cNvSpPr>
          <p:nvPr/>
        </p:nvSpPr>
        <p:spPr>
          <a:xfrm xmlns:a="http://schemas.openxmlformats.org/drawingml/2006/main">
            <a:off x="334213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F4DC0139-F152-4560-9361-1A41E6D47FD6}"/>
              </a:ext>
            </a:extLst>
          </p:cNvPr>
          <p:cNvSpPr>
            <a:spLocks xmlns:a="http://schemas.openxmlformats.org/drawingml/2006/main" noGrp="1"/>
          </p:cNvSpPr>
          <p:nvPr/>
        </p:nvSpPr>
        <p:spPr>
          <a:xfrm xmlns:a="http://schemas.openxmlformats.org/drawingml/2006/main">
            <a:off x="313182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06:00</a:t>
            </a:r>
            <a:endParaRPr sz="1100"/>
          </a:p>
        </p:txBody>
      </p:sp>
      <p:sp>
        <p:nvSpPr>
          <p:cNvPr id="12" name="Shape 10">
            <a:extLst xmlns:a="http://schemas.openxmlformats.org/drawingml/2006/main">
              <a:ext uri="{FF2B5EF4-FFF2-40B4-BE49-F238E27FC236}">
                <a16:creationId xmlns:a16="http://schemas.microsoft.com/office/drawing/2014/main" id="{824DA9AF-36CE-4B8B-9A99-8E4BA1BE3C4F}"/>
              </a:ext>
            </a:extLst>
          </p:cNvPr>
          <p:cNvSpPr>
            <a:spLocks xmlns:a="http://schemas.openxmlformats.org/drawingml/2006/main" noGrp="1"/>
          </p:cNvSpPr>
          <p:nvPr/>
        </p:nvSpPr>
        <p:spPr>
          <a:xfrm xmlns:a="http://schemas.openxmlformats.org/drawingml/2006/main">
            <a:off x="587959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F2D7E87D-6232-4E31-98C7-089D262A81B6}"/>
              </a:ext>
            </a:extLst>
          </p:cNvPr>
          <p:cNvSpPr>
            <a:spLocks xmlns:a="http://schemas.openxmlformats.org/drawingml/2006/main" noGrp="1"/>
          </p:cNvSpPr>
          <p:nvPr/>
        </p:nvSpPr>
        <p:spPr>
          <a:xfrm xmlns:a="http://schemas.openxmlformats.org/drawingml/2006/main">
            <a:off x="566928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12:00</a:t>
            </a:r>
            <a:endParaRPr sz="1100"/>
          </a:p>
        </p:txBody>
      </p:sp>
      <p:sp>
        <p:nvSpPr>
          <p:cNvPr id="14" name="Shape 12">
            <a:extLst xmlns:a="http://schemas.openxmlformats.org/drawingml/2006/main">
              <a:ext uri="{FF2B5EF4-FFF2-40B4-BE49-F238E27FC236}">
                <a16:creationId xmlns:a16="http://schemas.microsoft.com/office/drawing/2014/main" id="{09D65107-5A3D-4C1C-B680-C0D5CA877A0E}"/>
              </a:ext>
            </a:extLst>
          </p:cNvPr>
          <p:cNvSpPr>
            <a:spLocks xmlns:a="http://schemas.openxmlformats.org/drawingml/2006/main" noGrp="1"/>
          </p:cNvSpPr>
          <p:nvPr/>
        </p:nvSpPr>
        <p:spPr>
          <a:xfrm xmlns:a="http://schemas.openxmlformats.org/drawingml/2006/main">
            <a:off x="841705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9DC268AF-53E4-4319-B869-4A175AE2740F}"/>
              </a:ext>
            </a:extLst>
          </p:cNvPr>
          <p:cNvSpPr>
            <a:spLocks xmlns:a="http://schemas.openxmlformats.org/drawingml/2006/main" noGrp="1"/>
          </p:cNvSpPr>
          <p:nvPr/>
        </p:nvSpPr>
        <p:spPr>
          <a:xfrm xmlns:a="http://schemas.openxmlformats.org/drawingml/2006/main">
            <a:off x="820674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18:00</a:t>
            </a:r>
            <a:endParaRPr sz="1100"/>
          </a:p>
        </p:txBody>
      </p:sp>
      <p:sp>
        <p:nvSpPr>
          <p:cNvPr id="16" name="Shape 14">
            <a:extLst xmlns:a="http://schemas.openxmlformats.org/drawingml/2006/main">
              <a:ext uri="{FF2B5EF4-FFF2-40B4-BE49-F238E27FC236}">
                <a16:creationId xmlns:a16="http://schemas.microsoft.com/office/drawing/2014/main" id="{B6D5B347-5725-4059-8E4A-6F2C4D47EF53}"/>
              </a:ext>
            </a:extLst>
          </p:cNvPr>
          <p:cNvSpPr>
            <a:spLocks xmlns:a="http://schemas.openxmlformats.org/drawingml/2006/main" noGrp="1"/>
          </p:cNvSpPr>
          <p:nvPr/>
        </p:nvSpPr>
        <p:spPr>
          <a:xfrm xmlns:a="http://schemas.openxmlformats.org/drawingml/2006/main">
            <a:off x="1095451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BB94D4D4-F1C8-4F2B-83FD-BB32A4F73069}"/>
              </a:ext>
            </a:extLst>
          </p:cNvPr>
          <p:cNvSpPr>
            <a:spLocks xmlns:a="http://schemas.openxmlformats.org/drawingml/2006/main" noGrp="1"/>
          </p:cNvSpPr>
          <p:nvPr/>
        </p:nvSpPr>
        <p:spPr>
          <a:xfrm xmlns:a="http://schemas.openxmlformats.org/drawingml/2006/main">
            <a:off x="1074420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24:00</a:t>
            </a:r>
            <a:endParaRPr sz="1100"/>
          </a:p>
        </p:txBody>
      </p:sp>
      <p:sp>
        <p:nvSpPr>
          <p:cNvPr id="18" name="Shape 16">
            <a:extLst xmlns:a="http://schemas.openxmlformats.org/drawingml/2006/main">
              <a:ext uri="{FF2B5EF4-FFF2-40B4-BE49-F238E27FC236}">
                <a16:creationId xmlns:a16="http://schemas.microsoft.com/office/drawing/2014/main" id="{F0C901FF-8312-4AD0-AF7F-0046E9E6E4A3}"/>
              </a:ext>
            </a:extLst>
          </p:cNvPr>
          <p:cNvSpPr>
            <a:spLocks xmlns:a="http://schemas.openxmlformats.org/drawingml/2006/main" noGrp="1"/>
          </p:cNvSpPr>
          <p:nvPr/>
        </p:nvSpPr>
        <p:spPr>
          <a:xfrm xmlns:a="http://schemas.openxmlformats.org/drawingml/2006/main">
            <a:off x="112585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7354F5DC-283B-4B44-8F62-54FDD1269745}"/>
              </a:ext>
            </a:extLst>
          </p:cNvPr>
          <p:cNvSpPr>
            <a:spLocks xmlns:a="http://schemas.openxmlformats.org/drawingml/2006/main" noGrp="1"/>
          </p:cNvSpPr>
          <p:nvPr/>
        </p:nvSpPr>
        <p:spPr>
          <a:xfrm xmlns:a="http://schemas.openxmlformats.org/drawingml/2006/main">
            <a:off x="154876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F685508D-7CC2-43D9-9063-5414B76E2CE6}"/>
              </a:ext>
            </a:extLst>
          </p:cNvPr>
          <p:cNvSpPr>
            <a:spLocks xmlns:a="http://schemas.openxmlformats.org/drawingml/2006/main" noGrp="1"/>
          </p:cNvSpPr>
          <p:nvPr/>
        </p:nvSpPr>
        <p:spPr>
          <a:xfrm xmlns:a="http://schemas.openxmlformats.org/drawingml/2006/main">
            <a:off x="197167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A4E9F243-AEA0-40E3-B62E-BC550E11A95F}"/>
              </a:ext>
            </a:extLst>
          </p:cNvPr>
          <p:cNvSpPr>
            <a:spLocks xmlns:a="http://schemas.openxmlformats.org/drawingml/2006/main" noGrp="1"/>
          </p:cNvSpPr>
          <p:nvPr/>
        </p:nvSpPr>
        <p:spPr>
          <a:xfrm xmlns:a="http://schemas.openxmlformats.org/drawingml/2006/main">
            <a:off x="239458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820BD6A9-9D9E-4913-9708-92AC5D2E2DAC}"/>
              </a:ext>
            </a:extLst>
          </p:cNvPr>
          <p:cNvSpPr>
            <a:spLocks xmlns:a="http://schemas.openxmlformats.org/drawingml/2006/main" noGrp="1"/>
          </p:cNvSpPr>
          <p:nvPr/>
        </p:nvSpPr>
        <p:spPr>
          <a:xfrm xmlns:a="http://schemas.openxmlformats.org/drawingml/2006/main">
            <a:off x="281749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995D62EF-0C3F-4D36-831D-FC1F10677F95}"/>
              </a:ext>
            </a:extLst>
          </p:cNvPr>
          <p:cNvSpPr>
            <a:spLocks xmlns:a="http://schemas.openxmlformats.org/drawingml/2006/main" noGrp="1"/>
          </p:cNvSpPr>
          <p:nvPr/>
        </p:nvSpPr>
        <p:spPr>
          <a:xfrm xmlns:a="http://schemas.openxmlformats.org/drawingml/2006/main">
            <a:off x="324040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04ED9FB2-9950-4412-B1CF-D55F25D30F94}"/>
              </a:ext>
            </a:extLst>
          </p:cNvPr>
          <p:cNvSpPr>
            <a:spLocks xmlns:a="http://schemas.openxmlformats.org/drawingml/2006/main" noGrp="1"/>
          </p:cNvSpPr>
          <p:nvPr/>
        </p:nvSpPr>
        <p:spPr>
          <a:xfrm xmlns:a="http://schemas.openxmlformats.org/drawingml/2006/main">
            <a:off x="366331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6897230B-B35F-4B5D-A9A8-41869B840F18}"/>
              </a:ext>
            </a:extLst>
          </p:cNvPr>
          <p:cNvSpPr>
            <a:spLocks xmlns:a="http://schemas.openxmlformats.org/drawingml/2006/main" noGrp="1"/>
          </p:cNvSpPr>
          <p:nvPr/>
        </p:nvSpPr>
        <p:spPr>
          <a:xfrm xmlns:a="http://schemas.openxmlformats.org/drawingml/2006/main">
            <a:off x="408622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82B9E977-84E5-41E2-A10F-64C2BBF68CD6}"/>
              </a:ext>
            </a:extLst>
          </p:cNvPr>
          <p:cNvSpPr>
            <a:spLocks xmlns:a="http://schemas.openxmlformats.org/drawingml/2006/main" noGrp="1"/>
          </p:cNvSpPr>
          <p:nvPr/>
        </p:nvSpPr>
        <p:spPr>
          <a:xfrm xmlns:a="http://schemas.openxmlformats.org/drawingml/2006/main">
            <a:off x="450913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DDCCD244-15B4-42C7-9F0F-6C98CE964312}"/>
              </a:ext>
            </a:extLst>
          </p:cNvPr>
          <p:cNvSpPr>
            <a:spLocks xmlns:a="http://schemas.openxmlformats.org/drawingml/2006/main" noGrp="1"/>
          </p:cNvSpPr>
          <p:nvPr/>
        </p:nvSpPr>
        <p:spPr>
          <a:xfrm xmlns:a="http://schemas.openxmlformats.org/drawingml/2006/main">
            <a:off x="493204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Shape 26">
            <a:extLst xmlns:a="http://schemas.openxmlformats.org/drawingml/2006/main">
              <a:ext uri="{FF2B5EF4-FFF2-40B4-BE49-F238E27FC236}">
                <a16:creationId xmlns:a16="http://schemas.microsoft.com/office/drawing/2014/main" id="{7F9965E5-F78C-455D-BE5F-7E21A3A4F7C8}"/>
              </a:ext>
            </a:extLst>
          </p:cNvPr>
          <p:cNvSpPr>
            <a:spLocks xmlns:a="http://schemas.openxmlformats.org/drawingml/2006/main" noGrp="1"/>
          </p:cNvSpPr>
          <p:nvPr/>
        </p:nvSpPr>
        <p:spPr>
          <a:xfrm xmlns:a="http://schemas.openxmlformats.org/drawingml/2006/main">
            <a:off x="535495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3D44F311-C6F7-475F-BFC2-D7DCDC928C1A}"/>
              </a:ext>
            </a:extLst>
          </p:cNvPr>
          <p:cNvSpPr>
            <a:spLocks xmlns:a="http://schemas.openxmlformats.org/drawingml/2006/main" noGrp="1"/>
          </p:cNvSpPr>
          <p:nvPr/>
        </p:nvSpPr>
        <p:spPr>
          <a:xfrm xmlns:a="http://schemas.openxmlformats.org/drawingml/2006/main">
            <a:off x="577786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E334801D-0B61-490F-BF92-661C5AE31C99}"/>
              </a:ext>
            </a:extLst>
          </p:cNvPr>
          <p:cNvSpPr>
            <a:spLocks xmlns:a="http://schemas.openxmlformats.org/drawingml/2006/main" noGrp="1"/>
          </p:cNvSpPr>
          <p:nvPr/>
        </p:nvSpPr>
        <p:spPr>
          <a:xfrm xmlns:a="http://schemas.openxmlformats.org/drawingml/2006/main">
            <a:off x="620077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E9704D70-6986-4521-8158-6DC34D79624B}"/>
              </a:ext>
            </a:extLst>
          </p:cNvPr>
          <p:cNvSpPr>
            <a:spLocks xmlns:a="http://schemas.openxmlformats.org/drawingml/2006/main" noGrp="1"/>
          </p:cNvSpPr>
          <p:nvPr/>
        </p:nvSpPr>
        <p:spPr>
          <a:xfrm xmlns:a="http://schemas.openxmlformats.org/drawingml/2006/main">
            <a:off x="662368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Shape 30">
            <a:extLst xmlns:a="http://schemas.openxmlformats.org/drawingml/2006/main">
              <a:ext uri="{FF2B5EF4-FFF2-40B4-BE49-F238E27FC236}">
                <a16:creationId xmlns:a16="http://schemas.microsoft.com/office/drawing/2014/main" id="{F3C91193-2138-4C09-8F86-B9722A04CDB4}"/>
              </a:ext>
            </a:extLst>
          </p:cNvPr>
          <p:cNvSpPr>
            <a:spLocks xmlns:a="http://schemas.openxmlformats.org/drawingml/2006/main" noGrp="1"/>
          </p:cNvSpPr>
          <p:nvPr/>
        </p:nvSpPr>
        <p:spPr>
          <a:xfrm xmlns:a="http://schemas.openxmlformats.org/drawingml/2006/main">
            <a:off x="704659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Shape 31">
            <a:extLst xmlns:a="http://schemas.openxmlformats.org/drawingml/2006/main">
              <a:ext uri="{FF2B5EF4-FFF2-40B4-BE49-F238E27FC236}">
                <a16:creationId xmlns:a16="http://schemas.microsoft.com/office/drawing/2014/main" id="{A91A21B1-32E3-4160-ADB8-294358028241}"/>
              </a:ext>
            </a:extLst>
          </p:cNvPr>
          <p:cNvSpPr>
            <a:spLocks xmlns:a="http://schemas.openxmlformats.org/drawingml/2006/main" noGrp="1"/>
          </p:cNvSpPr>
          <p:nvPr/>
        </p:nvSpPr>
        <p:spPr>
          <a:xfrm xmlns:a="http://schemas.openxmlformats.org/drawingml/2006/main">
            <a:off x="746950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Shape 32">
            <a:extLst xmlns:a="http://schemas.openxmlformats.org/drawingml/2006/main">
              <a:ext uri="{FF2B5EF4-FFF2-40B4-BE49-F238E27FC236}">
                <a16:creationId xmlns:a16="http://schemas.microsoft.com/office/drawing/2014/main" id="{DE78D99D-4BDA-4A41-9ADE-504A47A0DD7E}"/>
              </a:ext>
            </a:extLst>
          </p:cNvPr>
          <p:cNvSpPr>
            <a:spLocks xmlns:a="http://schemas.openxmlformats.org/drawingml/2006/main" noGrp="1"/>
          </p:cNvSpPr>
          <p:nvPr/>
        </p:nvSpPr>
        <p:spPr>
          <a:xfrm xmlns:a="http://schemas.openxmlformats.org/drawingml/2006/main">
            <a:off x="789241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5F8F7819-A9B0-498E-96FD-832B9481C203}"/>
              </a:ext>
            </a:extLst>
          </p:cNvPr>
          <p:cNvSpPr>
            <a:spLocks xmlns:a="http://schemas.openxmlformats.org/drawingml/2006/main" noGrp="1"/>
          </p:cNvSpPr>
          <p:nvPr/>
        </p:nvSpPr>
        <p:spPr>
          <a:xfrm xmlns:a="http://schemas.openxmlformats.org/drawingml/2006/main">
            <a:off x="831532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43C7A3E1-55BA-4611-B5D7-50526D792549}"/>
              </a:ext>
            </a:extLst>
          </p:cNvPr>
          <p:cNvSpPr>
            <a:spLocks xmlns:a="http://schemas.openxmlformats.org/drawingml/2006/main" noGrp="1"/>
          </p:cNvSpPr>
          <p:nvPr/>
        </p:nvSpPr>
        <p:spPr>
          <a:xfrm xmlns:a="http://schemas.openxmlformats.org/drawingml/2006/main">
            <a:off x="873823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2CA49393-FC4A-4C15-95DF-EA975A46C76E}"/>
              </a:ext>
            </a:extLst>
          </p:cNvPr>
          <p:cNvSpPr>
            <a:spLocks xmlns:a="http://schemas.openxmlformats.org/drawingml/2006/main" noGrp="1"/>
          </p:cNvSpPr>
          <p:nvPr/>
        </p:nvSpPr>
        <p:spPr>
          <a:xfrm xmlns:a="http://schemas.openxmlformats.org/drawingml/2006/main">
            <a:off x="916114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Shape 36">
            <a:extLst xmlns:a="http://schemas.openxmlformats.org/drawingml/2006/main">
              <a:ext uri="{FF2B5EF4-FFF2-40B4-BE49-F238E27FC236}">
                <a16:creationId xmlns:a16="http://schemas.microsoft.com/office/drawing/2014/main" id="{3D4B4FEE-BED1-4661-8D4E-0FA571376530}"/>
              </a:ext>
            </a:extLst>
          </p:cNvPr>
          <p:cNvSpPr>
            <a:spLocks xmlns:a="http://schemas.openxmlformats.org/drawingml/2006/main" noGrp="1"/>
          </p:cNvSpPr>
          <p:nvPr/>
        </p:nvSpPr>
        <p:spPr>
          <a:xfrm xmlns:a="http://schemas.openxmlformats.org/drawingml/2006/main">
            <a:off x="958405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Shape 37">
            <a:extLst xmlns:a="http://schemas.openxmlformats.org/drawingml/2006/main">
              <a:ext uri="{FF2B5EF4-FFF2-40B4-BE49-F238E27FC236}">
                <a16:creationId xmlns:a16="http://schemas.microsoft.com/office/drawing/2014/main" id="{B607A166-5A65-4635-928C-09781A7B3105}"/>
              </a:ext>
            </a:extLst>
          </p:cNvPr>
          <p:cNvSpPr>
            <a:spLocks xmlns:a="http://schemas.openxmlformats.org/drawingml/2006/main" noGrp="1"/>
          </p:cNvSpPr>
          <p:nvPr/>
        </p:nvSpPr>
        <p:spPr>
          <a:xfrm xmlns:a="http://schemas.openxmlformats.org/drawingml/2006/main">
            <a:off x="1000696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Shape 38">
            <a:extLst xmlns:a="http://schemas.openxmlformats.org/drawingml/2006/main">
              <a:ext uri="{FF2B5EF4-FFF2-40B4-BE49-F238E27FC236}">
                <a16:creationId xmlns:a16="http://schemas.microsoft.com/office/drawing/2014/main" id="{5D512217-7FAB-477B-90D3-108515B11E56}"/>
              </a:ext>
            </a:extLst>
          </p:cNvPr>
          <p:cNvSpPr>
            <a:spLocks xmlns:a="http://schemas.openxmlformats.org/drawingml/2006/main" noGrp="1"/>
          </p:cNvSpPr>
          <p:nvPr/>
        </p:nvSpPr>
        <p:spPr>
          <a:xfrm xmlns:a="http://schemas.openxmlformats.org/drawingml/2006/main">
            <a:off x="1042987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hape 39">
            <a:extLst xmlns:a="http://schemas.openxmlformats.org/drawingml/2006/main">
              <a:ext uri="{FF2B5EF4-FFF2-40B4-BE49-F238E27FC236}">
                <a16:creationId xmlns:a16="http://schemas.microsoft.com/office/drawing/2014/main" id="{8260F212-19E1-4123-96DA-D653CBEC898A}"/>
              </a:ext>
            </a:extLst>
          </p:cNvPr>
          <p:cNvSpPr>
            <a:spLocks xmlns:a="http://schemas.openxmlformats.org/drawingml/2006/main" noGrp="1"/>
          </p:cNvSpPr>
          <p:nvPr/>
        </p:nvSpPr>
        <p:spPr>
          <a:xfrm xmlns:a="http://schemas.openxmlformats.org/drawingml/2006/main">
            <a:off x="1085278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5DF19F89-DEA1-4AD6-B689-35BC84EA7BCD}"/>
              </a:ext>
            </a:extLst>
          </p:cNvPr>
          <p:cNvSpPr>
            <a:spLocks xmlns:a="http://schemas.openxmlformats.org/drawingml/2006/main" noGrp="1"/>
          </p:cNvSpPr>
          <p:nvPr/>
        </p:nvSpPr>
        <p:spPr>
          <a:xfrm xmlns:a="http://schemas.openxmlformats.org/drawingml/2006/main">
            <a:off x="4526280" y="1389888"/>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3B8D5A"/>
                </a:solidFill>
                <a:latin typeface="Noto Sans CJK JP"/>
                <a:ea typeface="Noto Sans CJK JP"/>
                <a:cs typeface="Noto Sans CJK JP"/>
              </a:rPr>
              <a:t>旧検証24回通過</a:t>
            </a:r>
            <a:endParaRPr sz="2200"/>
          </a:p>
        </p:txBody>
      </p:sp>
      <p:sp>
        <p:nvSpPr>
          <p:cNvPr id="43" name="Shape 41">
            <a:extLst xmlns:a="http://schemas.openxmlformats.org/drawingml/2006/main">
              <a:ext uri="{FF2B5EF4-FFF2-40B4-BE49-F238E27FC236}">
                <a16:creationId xmlns:a16="http://schemas.microsoft.com/office/drawing/2014/main" id="{2C3B413B-7D53-428A-8296-6DF21CEDE223}"/>
              </a:ext>
            </a:extLst>
          </p:cNvPr>
          <p:cNvSpPr>
            <a:spLocks xmlns:a="http://schemas.openxmlformats.org/drawingml/2006/main" noGrp="1"/>
          </p:cNvSpPr>
          <p:nvPr/>
        </p:nvSpPr>
        <p:spPr>
          <a:xfrm xmlns:a="http://schemas.openxmlformats.org/drawingml/2006/main">
            <a:off x="777240" y="2907792"/>
            <a:ext cx="3337560" cy="2331720"/>
          </a:xfrm>
          <a:prstGeom xmlns:a="http://schemas.openxmlformats.org/drawingml/2006/main" prst="roundRect">
            <a:avLst>
              <a:gd name="adj" fmla="val 3137"/>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102" name="Image 0"/>
          <p:cNvPicPr>
            <a:picLocks xmlns:a="http://schemas.openxmlformats.org/drawingml/2006/main" noChangeAspect="1"/>
          </p:cNvPicPr>
          <p:nvPr/>
        </p:nvPicPr>
        <p:blipFill>
          <a:blip xmlns:r="http://schemas.openxmlformats.org/officeDocument/2006/relationships" xmlns:a="http://schemas.openxmlformats.org/drawingml/2006/main" r:embed="R5a487afee09248bf">
            <a:extLst>
              <a:ext uri="{96DAC541-7B7A-43D3-8B79-37D633B846F1}">
                <asvg:svgBlip xmlns:asvg="http://schemas.microsoft.com/office/drawing/2016/SVG/main" r:embed="Rfbe9311a6222417e"/>
              </a:ext>
            </a:extLst>
          </a:blip>
          <a:stretch xmlns:a="http://schemas.openxmlformats.org/drawingml/2006/main">
            <a:fillRect l="0" t="0" r="0" b="0"/>
          </a:stretch>
        </p:blipFill>
        <p:spPr>
          <a:xfrm xmlns:a="http://schemas.openxmlformats.org/drawingml/2006/main">
            <a:off x="1078992" y="3200400"/>
            <a:ext cx="512064" cy="512064"/>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FFAD109A-4FEE-46E0-A14B-0BDC245D7AF5}"/>
              </a:ext>
            </a:extLst>
          </p:cNvPr>
          <p:cNvSpPr>
            <a:spLocks xmlns:a="http://schemas.openxmlformats.org/drawingml/2006/main" noGrp="1"/>
          </p:cNvSpPr>
          <p:nvPr/>
        </p:nvSpPr>
        <p:spPr>
          <a:xfrm xmlns:a="http://schemas.openxmlformats.org/drawingml/2006/main">
            <a:off x="1783080" y="3163824"/>
            <a:ext cx="18288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15分 × 96区間</a:t>
            </a:r>
            <a:endParaRPr sz="2000"/>
          </a:p>
        </p:txBody>
      </p:sp>
      <p:sp>
        <p:nvSpPr>
          <p:cNvPr id="46" name="Text 43">
            <a:extLst xmlns:a="http://schemas.openxmlformats.org/drawingml/2006/main">
              <a:ext uri="{FF2B5EF4-FFF2-40B4-BE49-F238E27FC236}">
                <a16:creationId xmlns:a16="http://schemas.microsoft.com/office/drawing/2014/main" id="{2A724E89-67A6-43CB-B619-090E34923340}"/>
              </a:ext>
            </a:extLst>
          </p:cNvPr>
          <p:cNvSpPr>
            <a:spLocks xmlns:a="http://schemas.openxmlformats.org/drawingml/2006/main" noGrp="1"/>
          </p:cNvSpPr>
          <p:nvPr/>
        </p:nvSpPr>
        <p:spPr>
          <a:xfrm xmlns:a="http://schemas.openxmlformats.org/drawingml/2006/main">
            <a:off x="1051560" y="3886200"/>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PV・系統電力・BESSの動きを</a:t>
            </a:r>
            <a:endParaRPr sz="1550"/>
          </a:p>
          <a:p xmlns:a="http://schemas.openxmlformats.org/drawingml/2006/main">
            <a:pPr marL="0" indent="0" algn="ctr">
              <a:buNone/>
            </a:pPr>
            <a:r>
              <a:rPr sz="1550">
                <a:solidFill>
                  <a:srgbClr val="687386"/>
                </a:solidFill>
                <a:latin typeface="Noto Sans CJK JP"/>
                <a:ea typeface="Noto Sans CJK JP"/>
                <a:cs typeface="Noto Sans CJK JP"/>
              </a:rPr>
              <a:t>一日分つなげて確認</a:t>
            </a:r>
            <a:endParaRPr sz="1550"/>
          </a:p>
        </p:txBody>
      </p:sp>
      <p:sp>
        <p:nvSpPr>
          <p:cNvPr id="47" name="Shape 44">
            <a:extLst xmlns:a="http://schemas.openxmlformats.org/drawingml/2006/main">
              <a:ext uri="{FF2B5EF4-FFF2-40B4-BE49-F238E27FC236}">
                <a16:creationId xmlns:a16="http://schemas.microsoft.com/office/drawing/2014/main" id="{4A88A789-083A-438A-9FFC-1C55CE852389}"/>
              </a:ext>
            </a:extLst>
          </p:cNvPr>
          <p:cNvSpPr>
            <a:spLocks xmlns:a="http://schemas.openxmlformats.org/drawingml/2006/main" noGrp="1"/>
          </p:cNvSpPr>
          <p:nvPr/>
        </p:nvSpPr>
        <p:spPr>
          <a:xfrm xmlns:a="http://schemas.openxmlformats.org/drawingml/2006/main">
            <a:off x="4407408" y="2907792"/>
            <a:ext cx="3337560" cy="2331720"/>
          </a:xfrm>
          <a:prstGeom xmlns:a="http://schemas.openxmlformats.org/drawingml/2006/main" prst="roundRect">
            <a:avLst>
              <a:gd name="adj" fmla="val 3137"/>
            </a:avLst>
          </a:prstGeom>
          <a:solidFill xmlns:a="http://schemas.openxmlformats.org/drawingml/2006/main">
            <a:srgbClr val="E8F6F3"/>
          </a:solidFill>
          <a:ln xmlns:a="http://schemas.openxmlformats.org/drawingml/2006/main" w="12700">
            <a:solidFill>
              <a:srgbClr val="1F9D8A"/>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106" name="Image 1"/>
          <p:cNvPicPr>
            <a:picLocks xmlns:a="http://schemas.openxmlformats.org/drawingml/2006/main" noChangeAspect="1"/>
          </p:cNvPicPr>
          <p:nvPr/>
        </p:nvPicPr>
        <p:blipFill>
          <a:blip xmlns:r="http://schemas.openxmlformats.org/officeDocument/2006/relationships" xmlns:a="http://schemas.openxmlformats.org/drawingml/2006/main" r:embed="Rbe3d23fc3a674f7e">
            <a:extLst>
              <a:ext uri="{96DAC541-7B7A-43D3-8B79-37D633B846F1}">
                <asvg:svgBlip xmlns:asvg="http://schemas.microsoft.com/office/drawing/2016/SVG/main" r:embed="R3c8e3a09d8354e53"/>
              </a:ext>
            </a:extLst>
          </a:blip>
          <a:stretch xmlns:a="http://schemas.openxmlformats.org/drawingml/2006/main">
            <a:fillRect l="0" t="0" r="0" b="0"/>
          </a:stretch>
        </p:blipFill>
        <p:spPr>
          <a:xfrm xmlns:a="http://schemas.openxmlformats.org/drawingml/2006/main">
            <a:off x="4709160" y="3200400"/>
            <a:ext cx="512064" cy="512064"/>
          </a:xfrm>
          <a:prstGeom xmlns:a="http://schemas.openxmlformats.org/drawingml/2006/main" prst="rect">
            <a:avLst/>
          </a:prstGeom>
        </p:spPr>
      </p:pic>
      <p:sp>
        <p:nvSpPr>
          <p:cNvPr id="49" name="Text 45">
            <a:extLst xmlns:a="http://schemas.openxmlformats.org/drawingml/2006/main">
              <a:ext uri="{FF2B5EF4-FFF2-40B4-BE49-F238E27FC236}">
                <a16:creationId xmlns:a16="http://schemas.microsoft.com/office/drawing/2014/main" id="{70AC2EAC-7096-480D-83D8-E2722B8DF48E}"/>
              </a:ext>
            </a:extLst>
          </p:cNvPr>
          <p:cNvSpPr>
            <a:spLocks xmlns:a="http://schemas.openxmlformats.org/drawingml/2006/main" noGrp="1"/>
          </p:cNvSpPr>
          <p:nvPr/>
        </p:nvSpPr>
        <p:spPr>
          <a:xfrm xmlns:a="http://schemas.openxmlformats.org/drawingml/2006/main">
            <a:off x="5413248" y="3163824"/>
            <a:ext cx="18288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旧検証の範囲</a:t>
            </a:r>
            <a:endParaRPr sz="2000"/>
          </a:p>
        </p:txBody>
      </p:sp>
      <p:sp>
        <p:nvSpPr>
          <p:cNvPr id="50" name="Text 46">
            <a:extLst xmlns:a="http://schemas.openxmlformats.org/drawingml/2006/main">
              <a:ext uri="{FF2B5EF4-FFF2-40B4-BE49-F238E27FC236}">
                <a16:creationId xmlns:a16="http://schemas.microsoft.com/office/drawing/2014/main" id="{0F126A0B-26C0-4E45-9FAC-ED14657AB188}"/>
              </a:ext>
            </a:extLst>
          </p:cNvPr>
          <p:cNvSpPr>
            <a:spLocks xmlns:a="http://schemas.openxmlformats.org/drawingml/2006/main" noGrp="1"/>
          </p:cNvSpPr>
          <p:nvPr/>
        </p:nvSpPr>
        <p:spPr>
          <a:xfrm xmlns:a="http://schemas.openxmlformats.org/drawingml/2006/main">
            <a:off x="4681728" y="3886200"/>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入力上限90%との一致は</a:t>
            </a:r>
            <a:endParaRPr sz="1550"/>
          </a:p>
          <a:p xmlns:a="http://schemas.openxmlformats.org/drawingml/2006/main">
            <a:pPr marL="0" indent="0" algn="ctr">
              <a:buNone/>
            </a:pPr>
            <a:r>
              <a:rPr sz="1550">
                <a:solidFill>
                  <a:srgbClr val="687386"/>
                </a:solidFill>
                <a:latin typeface="Noto Sans CJK JP"/>
                <a:ea typeface="Noto Sans CJK JP"/>
                <a:cs typeface="Noto Sans CJK JP"/>
              </a:rPr>
              <a:t>追加確認で不成立</a:t>
            </a:r>
            <a:endParaRPr sz="1550"/>
          </a:p>
        </p:txBody>
      </p:sp>
      <p:sp>
        <p:nvSpPr>
          <p:cNvPr id="51" name="Shape 47">
            <a:extLst xmlns:a="http://schemas.openxmlformats.org/drawingml/2006/main">
              <a:ext uri="{FF2B5EF4-FFF2-40B4-BE49-F238E27FC236}">
                <a16:creationId xmlns:a16="http://schemas.microsoft.com/office/drawing/2014/main" id="{2C737AF1-6971-4AFB-BA66-B02565E3E39D}"/>
              </a:ext>
            </a:extLst>
          </p:cNvPr>
          <p:cNvSpPr>
            <a:spLocks xmlns:a="http://schemas.openxmlformats.org/drawingml/2006/main" noGrp="1"/>
          </p:cNvSpPr>
          <p:nvPr/>
        </p:nvSpPr>
        <p:spPr>
          <a:xfrm xmlns:a="http://schemas.openxmlformats.org/drawingml/2006/main">
            <a:off x="8037576" y="2907792"/>
            <a:ext cx="3337560" cy="2331720"/>
          </a:xfrm>
          <a:prstGeom xmlns:a="http://schemas.openxmlformats.org/drawingml/2006/main" prst="roundRect">
            <a:avLst>
              <a:gd name="adj" fmla="val 3137"/>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bdcf7bb3189c426c">
            <a:extLst>
              <a:ext uri="{96DAC541-7B7A-43D3-8B79-37D633B846F1}">
                <asvg:svgBlip xmlns:asvg="http://schemas.microsoft.com/office/drawing/2016/SVG/main" r:embed="R6b622639e96d411e"/>
              </a:ext>
            </a:extLst>
          </a:blip>
          <a:stretch xmlns:a="http://schemas.openxmlformats.org/drawingml/2006/main">
            <a:fillRect l="0" t="0" r="0" b="0"/>
          </a:stretch>
        </p:blipFill>
        <p:spPr>
          <a:xfrm xmlns:a="http://schemas.openxmlformats.org/drawingml/2006/main">
            <a:off x="8339328" y="3200400"/>
            <a:ext cx="512064" cy="512064"/>
          </a:xfrm>
          <a:prstGeom xmlns:a="http://schemas.openxmlformats.org/drawingml/2006/main" prst="rect">
            <a:avLst/>
          </a:prstGeom>
        </p:spPr>
      </p:pic>
      <p:sp>
        <p:nvSpPr>
          <p:cNvPr id="53" name="Text 48">
            <a:extLst xmlns:a="http://schemas.openxmlformats.org/drawingml/2006/main">
              <a:ext uri="{FF2B5EF4-FFF2-40B4-BE49-F238E27FC236}">
                <a16:creationId xmlns:a16="http://schemas.microsoft.com/office/drawing/2014/main" id="{2E547032-38FE-469A-901C-772CD18EF1D7}"/>
              </a:ext>
            </a:extLst>
          </p:cNvPr>
          <p:cNvSpPr>
            <a:spLocks xmlns:a="http://schemas.openxmlformats.org/drawingml/2006/main" noGrp="1"/>
          </p:cNvSpPr>
          <p:nvPr/>
        </p:nvSpPr>
        <p:spPr>
          <a:xfrm xmlns:a="http://schemas.openxmlformats.org/drawingml/2006/main">
            <a:off x="9052560" y="3163824"/>
            <a:ext cx="17830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証拠の紐づけ</a:t>
            </a:r>
            <a:endParaRPr sz="2000"/>
          </a:p>
        </p:txBody>
      </p:sp>
      <p:sp>
        <p:nvSpPr>
          <p:cNvPr id="54" name="Text 49">
            <a:extLst xmlns:a="http://schemas.openxmlformats.org/drawingml/2006/main">
              <a:ext uri="{FF2B5EF4-FFF2-40B4-BE49-F238E27FC236}">
                <a16:creationId xmlns:a16="http://schemas.microsoft.com/office/drawing/2014/main" id="{10D9345D-BA5E-4E84-A052-01256F2D7DD9}"/>
              </a:ext>
            </a:extLst>
          </p:cNvPr>
          <p:cNvSpPr>
            <a:spLocks xmlns:a="http://schemas.openxmlformats.org/drawingml/2006/main" noGrp="1"/>
          </p:cNvSpPr>
          <p:nvPr/>
        </p:nvSpPr>
        <p:spPr>
          <a:xfrm xmlns:a="http://schemas.openxmlformats.org/drawingml/2006/main">
            <a:off x="8321040" y="3886200"/>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入力・コード・出力・費用を</a:t>
            </a:r>
            <a:endParaRPr sz="1550"/>
          </a:p>
          <a:p xmlns:a="http://schemas.openxmlformats.org/drawingml/2006/main">
            <a:pPr marL="0" indent="0" algn="ctr">
              <a:buNone/>
            </a:pPr>
            <a:r>
              <a:rPr sz="1550">
                <a:solidFill>
                  <a:srgbClr val="687386"/>
                </a:solidFill>
                <a:latin typeface="Noto Sans CJK JP"/>
                <a:ea typeface="Noto Sans CJK JP"/>
                <a:cs typeface="Noto Sans CJK JP"/>
              </a:rPr>
              <a:t>同じ実行として記録</a:t>
            </a:r>
            <a:endParaRPr sz="1550"/>
          </a:p>
        </p:txBody>
      </p:sp>
      <p:sp>
        <p:nvSpPr>
          <p:cNvPr id="55" name="Text 50">
            <a:extLst xmlns:a="http://schemas.openxmlformats.org/drawingml/2006/main">
              <a:ext uri="{FF2B5EF4-FFF2-40B4-BE49-F238E27FC236}">
                <a16:creationId xmlns:a16="http://schemas.microsoft.com/office/drawing/2014/main" id="{884538BF-F942-4904-B330-02DADCE4E8EB}"/>
              </a:ext>
            </a:extLst>
          </p:cNvPr>
          <p:cNvSpPr>
            <a:spLocks xmlns:a="http://schemas.openxmlformats.org/drawingml/2006/main" noGrp="1"/>
          </p:cNvSpPr>
          <p:nvPr/>
        </p:nvSpPr>
        <p:spPr>
          <a:xfrm xmlns:a="http://schemas.openxmlformats.org/drawingml/2006/main">
            <a:off x="1143000" y="5760720"/>
            <a:ext cx="9875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F2A5A"/>
                </a:solidFill>
                <a:latin typeface="Noto Sans CJK JP"/>
                <a:ea typeface="Noto Sans CJK JP"/>
                <a:cs typeface="Noto Sans CJK JP"/>
              </a:rPr>
              <a:t>検証ログのPASSだけでは、入力した全条件を満たす証明にならない。</a:t>
            </a:r>
            <a:endParaRPr sz="1750"/>
          </a:p>
        </p:txBody>
      </p:sp>
      <p:sp>
        <p:nvSpPr>
          <p:cNvPr id="59" name="">
            <a:extLst xmlns:a="http://schemas.openxmlformats.org/drawingml/2006/main">
              <a:ext uri="{FF2B5EF4-FFF2-40B4-BE49-F238E27FC236}">
                <a16:creationId xmlns:a16="http://schemas.microsoft.com/office/drawing/2014/main" id="{0ADEB647-02FC-43CF-AACF-982BBA0DCBE1}"/>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2741729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03065E-B3F2-4E2B-A327-53F59F8364C1}"/>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202B58"/>
                </a:solidFill>
                <a:latin typeface="Meiryo"/>
                <a:ea typeface="Meiryo"/>
                <a:cs typeface="Meiryo"/>
              </a:defRPr>
            </a:pPr>
            <a:r>
              <a:rPr sz="2700" b="1">
                <a:solidFill>
                  <a:srgbClr val="202B58"/>
                </a:solidFill>
                <a:latin typeface="Meiryo"/>
                <a:ea typeface="Meiryo"/>
                <a:cs typeface="Meiryo"/>
              </a:rPr>
              <a:t>確認できたことと、まだ分からないこと</a:t>
            </a:r>
          </a:p>
        </p:txBody>
      </p:sp>
      <p:sp>
        <p:nvSpPr>
          <p:cNvPr id="2" name="">
            <a:extLst xmlns:a="http://schemas.openxmlformats.org/drawingml/2006/main">
              <a:ext uri="{FF2B5EF4-FFF2-40B4-BE49-F238E27FC236}">
                <a16:creationId xmlns:a16="http://schemas.microsoft.com/office/drawing/2014/main" id="{4E69ACB4-316E-45AC-AEF6-8021A058604A}"/>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87B"/>
                </a:solidFill>
                <a:latin typeface="Meiryo"/>
                <a:ea typeface="Meiryo"/>
                <a:cs typeface="Meiryo"/>
              </a:defRPr>
            </a:pPr>
            <a:r>
              <a:rPr sz="1875" b="0">
                <a:solidFill>
                  <a:srgbClr val="59687B"/>
                </a:solidFill>
                <a:latin typeface="Meiryo"/>
                <a:ea typeface="Meiryo"/>
                <a:cs typeface="Meiryo"/>
              </a:rPr>
              <a:t>動く計画ができたことと、最もよい計画であることは別の確認</a:t>
            </a:r>
          </a:p>
        </p:txBody>
      </p:sp>
      <p:graphicFrame>
        <p:nvGraphicFramePr>
          <p:cNvPr id="12"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5524500"/>
                <a:gridCol w="5524500"/>
              </a:tblGrid>
              <a:tr h="869156">
                <a:tc>
                  <a:txBody>
                    <a:bodyPr/>
                    <a:lstStyle/>
                    <a:p>
                      <a:r>
                        <a:rPr sz="1875" b="1">
                          <a:solidFill>
                            <a:srgbClr val="FFFFFF"/>
                          </a:solidFill>
                          <a:latin typeface="Meiryo"/>
                          <a:ea typeface="Meiryo"/>
                          <a:cs typeface="Meiryo"/>
                        </a:rPr>
                        <a:t>確認できたこと</a:t>
                      </a:r>
                    </a:p>
                  </a:txBody>
                  <a:tcPr marL="91440" marR="91440" marT="45720" marB="45720">
                    <a:solidFill>
                      <a:srgbClr val="202B58"/>
                    </a:solidFill>
                  </a:tcPr>
                </a:tc>
                <a:tc>
                  <a:txBody>
                    <a:bodyPr/>
                    <a:lstStyle/>
                    <a:p>
                      <a:r>
                        <a:rPr sz="1875" b="1">
                          <a:solidFill>
                            <a:srgbClr val="FFFFFF"/>
                          </a:solidFill>
                          <a:latin typeface="Meiryo"/>
                          <a:ea typeface="Meiryo"/>
                          <a:cs typeface="Meiryo"/>
                        </a:rPr>
                        <a:t>まだ分からないこと</a:t>
                      </a:r>
                    </a:p>
                  </a:txBody>
                  <a:tcPr marL="91440" marR="91440" marT="45720" marB="45720">
                    <a:solidFill>
                      <a:srgbClr val="202B58"/>
                    </a:solidFill>
                  </a:tcPr>
                </a:tc>
              </a:tr>
              <a:tr h="869156">
                <a:tc>
                  <a:txBody>
                    <a:bodyPr/>
                    <a:lstStyle/>
                    <a:p>
                      <a:r>
                        <a:rPr sz="1875" b="0">
                          <a:solidFill>
                            <a:srgbClr val="202B58"/>
                          </a:solidFill>
                          <a:latin typeface="Meiryo"/>
                          <a:ea typeface="Meiryo"/>
                          <a:cs typeface="Meiryo"/>
                        </a:rPr>
                        <a:t>同じ264便を両条件で担当</a:t>
                      </a:r>
                    </a:p>
                    <a:p>
                      <a:r>
                        <a:rPr sz="1875" b="0">
                          <a:solidFill>
                            <a:srgbClr val="202B58"/>
                          </a:solidFill>
                          <a:latin typeface="Meiryo"/>
                          <a:ea typeface="Meiryo"/>
                          <a:cs typeface="Meiryo"/>
                        </a:rPr>
                        <a:t>SOC上限に不一致を追加発見</a:t>
                      </a:r>
                    </a:p>
                  </a:txBody>
                  <a:tcPr marL="91440" marR="91440" marT="45720" marB="45720">
                    <a:solidFill>
                      <a:srgbClr val="F1F5F8"/>
                    </a:solidFill>
                  </a:tcPr>
                </a:tc>
                <a:tc>
                  <a:txBody>
                    <a:bodyPr/>
                    <a:lstStyle/>
                    <a:p>
                      <a:r>
                        <a:rPr sz="1875" b="0">
                          <a:solidFill>
                            <a:srgbClr val="202B58"/>
                          </a:solidFill>
                          <a:latin typeface="Meiryo"/>
                          <a:ea typeface="Meiryo"/>
                          <a:cs typeface="Meiryo"/>
                        </a:rPr>
                        <a:t>全ての配車の中で最も安いか</a:t>
                      </a:r>
                    </a:p>
                    <a:p>
                      <a:r>
                        <a:rPr sz="1875" b="0">
                          <a:solidFill>
                            <a:srgbClr val="202B58"/>
                          </a:solidFill>
                          <a:latin typeface="Meiryo"/>
                          <a:ea typeface="Meiryo"/>
                          <a:cs typeface="Meiryo"/>
                        </a:rPr>
                        <a:t>22候補の外には、よりよい案があるか</a:t>
                      </a:r>
                    </a:p>
                  </a:txBody>
                  <a:tcPr marL="91440" marR="91440" marT="45720" marB="45720">
                    <a:solidFill>
                      <a:srgbClr val="F1F5F8"/>
                    </a:solidFill>
                  </a:tcPr>
                </a:tc>
              </a:tr>
              <a:tr h="869156">
                <a:tc>
                  <a:txBody>
                    <a:bodyPr/>
                    <a:lstStyle/>
                    <a:p>
                      <a:r>
                        <a:rPr sz="1875" b="0">
                          <a:solidFill>
                            <a:srgbClr val="202B58"/>
                          </a:solidFill>
                          <a:latin typeface="Meiryo"/>
                          <a:ea typeface="Meiryo"/>
                          <a:cs typeface="Meiryo"/>
                        </a:rPr>
                        <a:t>採用した計画の一日の評価額と</a:t>
                      </a:r>
                    </a:p>
                    <a:p>
                      <a:r>
                        <a:rPr sz="1875" b="0">
                          <a:solidFill>
                            <a:srgbClr val="202B58"/>
                          </a:solidFill>
                          <a:latin typeface="Meiryo"/>
                          <a:ea typeface="Meiryo"/>
                          <a:cs typeface="Meiryo"/>
                        </a:rPr>
                        <a:t>燃料費などの内訳を確認</a:t>
                      </a:r>
                    </a:p>
                  </a:txBody>
                  <a:tcPr marL="91440" marR="91440" marT="45720" marB="45720">
                    <a:solidFill>
                      <a:srgbClr val="FFFFFF"/>
                    </a:solidFill>
                  </a:tcPr>
                </a:tc>
                <a:tc>
                  <a:txBody>
                    <a:bodyPr/>
                    <a:lstStyle/>
                    <a:p>
                      <a:r>
                        <a:rPr sz="1875" b="0">
                          <a:solidFill>
                            <a:srgbClr val="202B58"/>
                          </a:solidFill>
                          <a:latin typeface="Meiryo"/>
                          <a:ea typeface="Meiryo"/>
                          <a:cs typeface="Meiryo"/>
                        </a:rPr>
                        <a:t>単純な方法よりどれだけよいか</a:t>
                      </a:r>
                    </a:p>
                    <a:p>
                      <a:r>
                        <a:rPr sz="1875" b="0">
                          <a:solidFill>
                            <a:srgbClr val="202B58"/>
                          </a:solidFill>
                          <a:latin typeface="Meiryo"/>
                          <a:ea typeface="Meiryo"/>
                          <a:cs typeface="Meiryo"/>
                        </a:rPr>
                        <a:t>実際の営業所でも同じ効果があるか</a:t>
                      </a:r>
                    </a:p>
                  </a:txBody>
                  <a:tcPr marL="91440" marR="91440" marT="45720" marB="45720">
                    <a:solidFill>
                      <a:srgbClr val="FFFFFF"/>
                    </a:solidFill>
                  </a:tcPr>
                </a:tc>
              </a:tr>
              <a:tr h="869156">
                <a:tc>
                  <a:txBody>
                    <a:bodyPr/>
                    <a:lstStyle/>
                    <a:p>
                      <a:r>
                        <a:rPr sz="1875" b="0">
                          <a:solidFill>
                            <a:srgbClr val="202B58"/>
                          </a:solidFill>
                          <a:latin typeface="Meiryo"/>
                          <a:ea typeface="Meiryo"/>
                          <a:cs typeface="Meiryo"/>
                        </a:rPr>
                        <a:t>どの便が変わり、いつ太陽光が余るか</a:t>
                      </a:r>
                    </a:p>
                    <a:p>
                      <a:r>
                        <a:rPr sz="1875" b="0">
                          <a:solidFill>
                            <a:srgbClr val="202B58"/>
                          </a:solidFill>
                          <a:latin typeface="Meiryo"/>
                          <a:ea typeface="Meiryo"/>
                          <a:cs typeface="Meiryo"/>
                        </a:rPr>
                        <a:t>を具体的に示した</a:t>
                      </a:r>
                    </a:p>
                  </a:txBody>
                  <a:tcPr marL="91440" marR="91440" marT="45720" marB="45720">
                    <a:solidFill>
                      <a:srgbClr val="F1F5F8"/>
                    </a:solidFill>
                  </a:tcPr>
                </a:tc>
                <a:tc>
                  <a:txBody>
                    <a:bodyPr/>
                    <a:lstStyle/>
                    <a:p>
                      <a:r>
                        <a:rPr sz="1875" b="0">
                          <a:solidFill>
                            <a:srgbClr val="202B58"/>
                          </a:solidFill>
                          <a:latin typeface="Meiryo"/>
                          <a:ea typeface="Meiryo"/>
                          <a:cs typeface="Meiryo"/>
                        </a:rPr>
                        <a:t>なぜその便を選び、その時間に余るか</a:t>
                      </a:r>
                    </a:p>
                    <a:p>
                      <a:r>
                        <a:rPr sz="1875" b="0">
                          <a:solidFill>
                            <a:srgbClr val="202B58"/>
                          </a:solidFill>
                          <a:latin typeface="Meiryo"/>
                          <a:ea typeface="Meiryo"/>
                          <a:cs typeface="Meiryo"/>
                        </a:rPr>
                        <a:t>原因を分けた検証はまだ必要</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6698ED32-8F6A-4245-BEE1-368A7B109997}"/>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59A8C"/>
                </a:solidFill>
                <a:latin typeface="Meiryo"/>
                <a:ea typeface="Meiryo"/>
                <a:cs typeface="Meiryo"/>
              </a:defRPr>
            </a:pPr>
            <a:r>
              <a:rPr sz="2025" b="1">
                <a:solidFill>
                  <a:srgbClr val="159A8C"/>
                </a:solidFill>
                <a:latin typeface="Meiryo"/>
                <a:ea typeface="Meiryo"/>
                <a:cs typeface="Meiryo"/>
              </a:rPr>
              <a:t>現時点の結論：保存結果は診断用。SOC上限の修正・再実験が必要</a:t>
            </a:r>
          </a:p>
        </p:txBody>
      </p:sp>
      <p:sp>
        <p:nvSpPr>
          <p:cNvPr id="5" name="">
            <a:extLst xmlns:a="http://schemas.openxmlformats.org/drawingml/2006/main">
              <a:ext uri="{FF2B5EF4-FFF2-40B4-BE49-F238E27FC236}">
                <a16:creationId xmlns:a16="http://schemas.microsoft.com/office/drawing/2014/main" id="{125B12C8-683E-47D9-86EB-2AAB6BA06D04}"/>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7E4D36"/>
                </a:solidFill>
                <a:latin typeface="Meiryo"/>
                <a:ea typeface="Meiryo"/>
                <a:cs typeface="Meiryo"/>
              </a:defRPr>
            </a:pPr>
            <a:r>
              <a:rPr sz="1350" b="0">
                <a:solidFill>
                  <a:srgbClr val="7E4D36"/>
                </a:solidFill>
                <a:latin typeface="Meiryo"/>
                <a:ea typeface="Meiryo"/>
                <a:cs typeface="Meiryo"/>
              </a:rPr>
              <a:t>最適性・一般的な天候効果は未証明。設備費・劣化費・運転士費は評価額に含まない。</a:t>
            </a:r>
          </a:p>
        </p:txBody>
      </p:sp>
      <p:sp>
        <p:nvSpPr>
          <p:cNvPr id="6" name="">
            <a:extLst xmlns:a="http://schemas.openxmlformats.org/drawingml/2006/main">
              <a:ext uri="{FF2B5EF4-FFF2-40B4-BE49-F238E27FC236}">
                <a16:creationId xmlns:a16="http://schemas.microsoft.com/office/drawing/2014/main" id="{C390F35A-C4B4-4F8B-94E8-9B20204839A3}"/>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48B"/>
                </a:solidFill>
                <a:latin typeface="Meiryo"/>
                <a:ea typeface="Meiryo"/>
                <a:cs typeface="Meiryo"/>
              </a:defRPr>
            </a:pPr>
            <a:r>
              <a:rPr sz="900" b="0">
                <a:solidFill>
                  <a:srgbClr val="66748B"/>
                </a:solidFill>
                <a:latin typeface="Meiryo"/>
                <a:ea typeface="Meiryo"/>
                <a:cs typeface="Meiryo"/>
              </a:rPr>
              <a:t>16/18</a:t>
            </a:r>
          </a:p>
        </p:txBody>
      </p:sp>
      <p:sp>
        <p:nvSpPr>
          <p:cNvPr id="9" name="">
            <a:extLst xmlns:a="http://schemas.openxmlformats.org/drawingml/2006/main">
              <a:ext uri="{FF2B5EF4-FFF2-40B4-BE49-F238E27FC236}">
                <a16:creationId xmlns:a16="http://schemas.microsoft.com/office/drawing/2014/main" id="{4126A0E3-20AE-4EDB-AEA5-F2F974ACC299}"/>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5761227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AD9A21-08EC-4201-AA11-B01EDCD6A915}"/>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202B58"/>
                </a:solidFill>
                <a:latin typeface="Meiryo"/>
                <a:ea typeface="Meiryo"/>
                <a:cs typeface="Meiryo"/>
              </a:defRPr>
            </a:pPr>
            <a:r>
              <a:rPr sz="2700" b="1">
                <a:solidFill>
                  <a:srgbClr val="202B58"/>
                </a:solidFill>
                <a:latin typeface="Meiryo"/>
                <a:ea typeface="Meiryo"/>
                <a:cs typeface="Meiryo"/>
              </a:rPr>
              <a:t>次の検証で、何を確かめるか</a:t>
            </a:r>
          </a:p>
        </p:txBody>
      </p:sp>
      <p:sp>
        <p:nvSpPr>
          <p:cNvPr id="2" name="">
            <a:extLst xmlns:a="http://schemas.openxmlformats.org/drawingml/2006/main">
              <a:ext uri="{FF2B5EF4-FFF2-40B4-BE49-F238E27FC236}">
                <a16:creationId xmlns:a16="http://schemas.microsoft.com/office/drawing/2014/main" id="{14E9AAB1-12FB-4C70-B4B8-AFA348E0419C}"/>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87B"/>
                </a:solidFill>
                <a:latin typeface="Meiryo"/>
                <a:ea typeface="Meiryo"/>
                <a:cs typeface="Meiryo"/>
              </a:defRPr>
            </a:pPr>
            <a:r>
              <a:rPr sz="1875" b="0">
                <a:solidFill>
                  <a:srgbClr val="59687B"/>
                </a:solidFill>
                <a:latin typeface="Meiryo"/>
                <a:ea typeface="Meiryo"/>
                <a:cs typeface="Meiryo"/>
              </a:rPr>
              <a:t>最優先はSOC上限の契約修正と再検証。下表の比較はその後に行う</a:t>
            </a:r>
          </a:p>
        </p:txBody>
      </p:sp>
      <p:graphicFrame>
        <p:nvGraphicFramePr>
          <p:cNvPr id="12"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875" b="1">
                          <a:solidFill>
                            <a:srgbClr val="FFFFFF"/>
                          </a:solidFill>
                          <a:latin typeface="Meiryo"/>
                          <a:ea typeface="Meiryo"/>
                          <a:cs typeface="Meiryo"/>
                        </a:rPr>
                        <a:t>残る疑問</a:t>
                      </a:r>
                    </a:p>
                  </a:txBody>
                  <a:tcPr marL="91440" marR="91440" marT="45720" marB="45720">
                    <a:solidFill>
                      <a:srgbClr val="202B58"/>
                    </a:solidFill>
                  </a:tcPr>
                </a:tc>
                <a:tc>
                  <a:txBody>
                    <a:bodyPr/>
                    <a:lstStyle/>
                    <a:p>
                      <a:r>
                        <a:rPr sz="1875" b="1">
                          <a:solidFill>
                            <a:srgbClr val="FFFFFF"/>
                          </a:solidFill>
                          <a:latin typeface="Meiryo"/>
                          <a:ea typeface="Meiryo"/>
                          <a:cs typeface="Meiryo"/>
                        </a:rPr>
                        <a:t>次に行う作業</a:t>
                      </a:r>
                    </a:p>
                  </a:txBody>
                  <a:tcPr marL="91440" marR="91440" marT="45720" marB="45720">
                    <a:solidFill>
                      <a:srgbClr val="202B58"/>
                    </a:solidFill>
                  </a:tcPr>
                </a:tc>
                <a:tc>
                  <a:txBody>
                    <a:bodyPr/>
                    <a:lstStyle/>
                    <a:p>
                      <a:r>
                        <a:rPr sz="1875" b="1">
                          <a:solidFill>
                            <a:srgbClr val="FFFFFF"/>
                          </a:solidFill>
                          <a:latin typeface="Meiryo"/>
                          <a:ea typeface="Meiryo"/>
                          <a:cs typeface="Meiryo"/>
                        </a:rPr>
                        <a:t>分かるようにしたいこと</a:t>
                      </a:r>
                    </a:p>
                  </a:txBody>
                  <a:tcPr marL="91440" marR="91440" marT="45720" marB="45720">
                    <a:solidFill>
                      <a:srgbClr val="202B58"/>
                    </a:solidFill>
                  </a:tcPr>
                </a:tc>
              </a:tr>
              <a:tr h="869156">
                <a:tc>
                  <a:txBody>
                    <a:bodyPr/>
                    <a:lstStyle/>
                    <a:p>
                      <a:r>
                        <a:rPr sz="1875" b="0">
                          <a:solidFill>
                            <a:srgbClr val="202B58"/>
                          </a:solidFill>
                          <a:latin typeface="Meiryo"/>
                          <a:ea typeface="Meiryo"/>
                          <a:cs typeface="Meiryo"/>
                        </a:rPr>
                        <a:t>現在の方法は</a:t>
                      </a:r>
                    </a:p>
                    <a:p>
                      <a:r>
                        <a:rPr sz="1875" b="0">
                          <a:solidFill>
                            <a:srgbClr val="202B58"/>
                          </a:solidFill>
                          <a:latin typeface="Meiryo"/>
                          <a:ea typeface="Meiryo"/>
                          <a:cs typeface="Meiryo"/>
                        </a:rPr>
                        <a:t>どの程度よい答えか</a:t>
                      </a:r>
                    </a:p>
                  </a:txBody>
                  <a:tcPr marL="91440" marR="91440" marT="45720" marB="45720">
                    <a:solidFill>
                      <a:srgbClr val="F1F5F8"/>
                    </a:solidFill>
                  </a:tcPr>
                </a:tc>
                <a:tc>
                  <a:txBody>
                    <a:bodyPr/>
                    <a:lstStyle/>
                    <a:p>
                      <a:r>
                        <a:rPr sz="1875" b="0">
                          <a:solidFill>
                            <a:srgbClr val="202B58"/>
                          </a:solidFill>
                          <a:latin typeface="Meiryo"/>
                          <a:ea typeface="Meiryo"/>
                          <a:cs typeface="Meiryo"/>
                        </a:rPr>
                        <a:t>8・12・24便で</a:t>
                      </a:r>
                    </a:p>
                    <a:p>
                      <a:r>
                        <a:rPr sz="1875" b="0">
                          <a:solidFill>
                            <a:srgbClr val="202B58"/>
                          </a:solidFill>
                          <a:latin typeface="Meiryo"/>
                          <a:ea typeface="Meiryo"/>
                          <a:cs typeface="Meiryo"/>
                        </a:rPr>
                        <a:t>一体型の参照方法と比較</a:t>
                      </a:r>
                    </a:p>
                  </a:txBody>
                  <a:tcPr marL="91440" marR="91440" marT="45720" marB="45720">
                    <a:solidFill>
                      <a:srgbClr val="F1F5F8"/>
                    </a:solidFill>
                  </a:tcPr>
                </a:tc>
                <a:tc>
                  <a:txBody>
                    <a:bodyPr/>
                    <a:lstStyle/>
                    <a:p>
                      <a:r>
                        <a:rPr sz="1875" b="0">
                          <a:solidFill>
                            <a:srgbClr val="202B58"/>
                          </a:solidFill>
                          <a:latin typeface="Meiryo"/>
                          <a:ea typeface="Meiryo"/>
                          <a:cs typeface="Meiryo"/>
                        </a:rPr>
                        <a:t>小さな問題での</a:t>
                      </a:r>
                    </a:p>
                    <a:p>
                      <a:r>
                        <a:rPr sz="1875" b="0">
                          <a:solidFill>
                            <a:srgbClr val="202B58"/>
                          </a:solidFill>
                          <a:latin typeface="Meiryo"/>
                          <a:ea typeface="Meiryo"/>
                          <a:cs typeface="Meiryo"/>
                        </a:rPr>
                        <a:t>評価額と計算時間の違い</a:t>
                      </a:r>
                    </a:p>
                  </a:txBody>
                  <a:tcPr marL="91440" marR="91440" marT="45720" marB="45720">
                    <a:solidFill>
                      <a:srgbClr val="F1F5F8"/>
                    </a:solidFill>
                  </a:tcPr>
                </a:tc>
              </a:tr>
              <a:tr h="869156">
                <a:tc>
                  <a:txBody>
                    <a:bodyPr/>
                    <a:lstStyle/>
                    <a:p>
                      <a:r>
                        <a:rPr sz="1875" b="0">
                          <a:solidFill>
                            <a:srgbClr val="202B58"/>
                          </a:solidFill>
                          <a:latin typeface="Meiryo"/>
                          <a:ea typeface="Meiryo"/>
                          <a:cs typeface="Meiryo"/>
                        </a:rPr>
                        <a:t>候補や時間を増やすと</a:t>
                      </a:r>
                    </a:p>
                    <a:p>
                      <a:r>
                        <a:rPr sz="1875" b="0">
                          <a:solidFill>
                            <a:srgbClr val="202B58"/>
                          </a:solidFill>
                          <a:latin typeface="Meiryo"/>
                          <a:ea typeface="Meiryo"/>
                          <a:cs typeface="Meiryo"/>
                        </a:rPr>
                        <a:t>選ぶ案は変わるか</a:t>
                      </a:r>
                    </a:p>
                  </a:txBody>
                  <a:tcPr marL="91440" marR="91440" marT="45720" marB="45720">
                    <a:solidFill>
                      <a:srgbClr val="FFFFFF"/>
                    </a:solidFill>
                  </a:tcPr>
                </a:tc>
                <a:tc>
                  <a:txBody>
                    <a:bodyPr/>
                    <a:lstStyle/>
                    <a:p>
                      <a:r>
                        <a:rPr sz="1875" b="0">
                          <a:solidFill>
                            <a:srgbClr val="202B58"/>
                          </a:solidFill>
                          <a:latin typeface="Meiryo"/>
                          <a:ea typeface="Meiryo"/>
                          <a:cs typeface="Meiryo"/>
                        </a:rPr>
                        <a:t>候補範囲と計算時間を</a:t>
                      </a:r>
                    </a:p>
                    <a:p>
                      <a:r>
                        <a:rPr sz="1875" b="0">
                          <a:solidFill>
                            <a:srgbClr val="202B58"/>
                          </a:solidFill>
                          <a:latin typeface="Meiryo"/>
                          <a:ea typeface="Meiryo"/>
                          <a:cs typeface="Meiryo"/>
                        </a:rPr>
                        <a:t>一つずつ変える</a:t>
                      </a:r>
                    </a:p>
                  </a:txBody>
                  <a:tcPr marL="91440" marR="91440" marT="45720" marB="45720">
                    <a:solidFill>
                      <a:srgbClr val="FFFFFF"/>
                    </a:solidFill>
                  </a:tcPr>
                </a:tc>
                <a:tc>
                  <a:txBody>
                    <a:bodyPr/>
                    <a:lstStyle/>
                    <a:p>
                      <a:r>
                        <a:rPr sz="1875" b="0">
                          <a:solidFill>
                            <a:srgbClr val="202B58"/>
                          </a:solidFill>
                          <a:latin typeface="Meiryo"/>
                          <a:ea typeface="Meiryo"/>
                          <a:cs typeface="Meiryo"/>
                        </a:rPr>
                        <a:t>同じ案を選び続けるか</a:t>
                      </a:r>
                    </a:p>
                    <a:p>
                      <a:r>
                        <a:rPr sz="1875" b="0">
                          <a:solidFill>
                            <a:srgbClr val="202B58"/>
                          </a:solidFill>
                          <a:latin typeface="Meiryo"/>
                          <a:ea typeface="Meiryo"/>
                          <a:cs typeface="Meiryo"/>
                        </a:rPr>
                        <a:t>費用がどれだけ変わるか</a:t>
                      </a:r>
                    </a:p>
                  </a:txBody>
                  <a:tcPr marL="91440" marR="91440" marT="45720" marB="45720">
                    <a:solidFill>
                      <a:srgbClr val="FFFFFF"/>
                    </a:solidFill>
                  </a:tcPr>
                </a:tc>
              </a:tr>
              <a:tr h="869156">
                <a:tc>
                  <a:txBody>
                    <a:bodyPr/>
                    <a:lstStyle/>
                    <a:p>
                      <a:r>
                        <a:rPr sz="1875" b="0">
                          <a:solidFill>
                            <a:srgbClr val="202B58"/>
                          </a:solidFill>
                          <a:latin typeface="Meiryo"/>
                          <a:ea typeface="Meiryo"/>
                          <a:cs typeface="Meiryo"/>
                        </a:rPr>
                        <a:t>太陽光が余る原因は何か</a:t>
                      </a:r>
                    </a:p>
                  </a:txBody>
                  <a:tcPr marL="91440" marR="91440" marT="45720" marB="45720">
                    <a:solidFill>
                      <a:srgbClr val="F1F5F8"/>
                    </a:solidFill>
                  </a:tcPr>
                </a:tc>
                <a:tc>
                  <a:txBody>
                    <a:bodyPr/>
                    <a:lstStyle/>
                    <a:p>
                      <a:r>
                        <a:rPr sz="1875" b="0">
                          <a:solidFill>
                            <a:srgbClr val="202B58"/>
                          </a:solidFill>
                          <a:latin typeface="Meiryo"/>
                          <a:ea typeface="Meiryo"/>
                          <a:cs typeface="Meiryo"/>
                        </a:rPr>
                        <a:t>配車を固定するなど</a:t>
                      </a:r>
                    </a:p>
                    <a:p>
                      <a:r>
                        <a:rPr sz="1875" b="0">
                          <a:solidFill>
                            <a:srgbClr val="202B58"/>
                          </a:solidFill>
                          <a:latin typeface="Meiryo"/>
                          <a:ea typeface="Meiryo"/>
                          <a:cs typeface="Meiryo"/>
                        </a:rPr>
                        <a:t>比較条件を決めて検証</a:t>
                      </a:r>
                    </a:p>
                  </a:txBody>
                  <a:tcPr marL="91440" marR="91440" marT="45720" marB="45720">
                    <a:solidFill>
                      <a:srgbClr val="F1F5F8"/>
                    </a:solidFill>
                  </a:tcPr>
                </a:tc>
                <a:tc>
                  <a:txBody>
                    <a:bodyPr/>
                    <a:lstStyle/>
                    <a:p>
                      <a:r>
                        <a:rPr sz="1875" b="0">
                          <a:solidFill>
                            <a:srgbClr val="202B58"/>
                          </a:solidFill>
                          <a:latin typeface="Meiryo"/>
                          <a:ea typeface="Meiryo"/>
                          <a:cs typeface="Meiryo"/>
                        </a:rPr>
                        <a:t>車両の所在や残量条件等の</a:t>
                      </a:r>
                    </a:p>
                    <a:p>
                      <a:r>
                        <a:rPr sz="1875" b="0">
                          <a:solidFill>
                            <a:srgbClr val="202B58"/>
                          </a:solidFill>
                          <a:latin typeface="Meiryo"/>
                          <a:ea typeface="Meiryo"/>
                          <a:cs typeface="Meiryo"/>
                        </a:rPr>
                        <a:t>影響を切り分ける</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A61DB6B6-C41D-4652-AA82-1FC50BC53EDB}"/>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59A8C"/>
                </a:solidFill>
                <a:latin typeface="Meiryo"/>
                <a:ea typeface="Meiryo"/>
                <a:cs typeface="Meiryo"/>
              </a:defRPr>
            </a:pPr>
            <a:r>
              <a:rPr sz="2025" b="1">
                <a:solidFill>
                  <a:srgbClr val="159A8C"/>
                </a:solidFill>
                <a:latin typeface="Meiryo"/>
                <a:ea typeface="Meiryo"/>
                <a:cs typeface="Meiryo"/>
              </a:rPr>
              <a:t>指導教員への相談：比較範囲・費用項目・許容する差を決めてから実行</a:t>
            </a:r>
          </a:p>
        </p:txBody>
      </p:sp>
      <p:sp>
        <p:nvSpPr>
          <p:cNvPr id="5" name="">
            <a:extLst xmlns:a="http://schemas.openxmlformats.org/drawingml/2006/main">
              <a:ext uri="{FF2B5EF4-FFF2-40B4-BE49-F238E27FC236}">
                <a16:creationId xmlns:a16="http://schemas.microsoft.com/office/drawing/2014/main" id="{37E1AC43-846C-4E58-8DE5-A001E5BF30FC}"/>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7E4D36"/>
                </a:solidFill>
                <a:latin typeface="Meiryo"/>
                <a:ea typeface="Meiryo"/>
                <a:cs typeface="Meiryo"/>
              </a:defRPr>
            </a:pPr>
            <a:r>
              <a:rPr sz="1350" b="0">
                <a:solidFill>
                  <a:srgbClr val="7E4D36"/>
                </a:solidFill>
                <a:latin typeface="Meiryo"/>
                <a:ea typeface="Meiryo"/>
                <a:cs typeface="Meiryo"/>
              </a:rPr>
              <a:t>いずれも今後の検証。追加実験は承認後に実施する。最適性や原因を先に決めつけない。</a:t>
            </a:r>
          </a:p>
        </p:txBody>
      </p:sp>
      <p:sp>
        <p:nvSpPr>
          <p:cNvPr id="6" name="">
            <a:extLst xmlns:a="http://schemas.openxmlformats.org/drawingml/2006/main">
              <a:ext uri="{FF2B5EF4-FFF2-40B4-BE49-F238E27FC236}">
                <a16:creationId xmlns:a16="http://schemas.microsoft.com/office/drawing/2014/main" id="{F61FBDB6-833D-4084-AAF6-5B6EF2CBFCEE}"/>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6748B"/>
                </a:solidFill>
                <a:latin typeface="Meiryo"/>
                <a:ea typeface="Meiryo"/>
                <a:cs typeface="Meiryo"/>
              </a:defRPr>
            </a:pPr>
            <a:r>
              <a:rPr sz="900" b="0">
                <a:solidFill>
                  <a:srgbClr val="66748B"/>
                </a:solidFill>
                <a:latin typeface="Meiryo"/>
                <a:ea typeface="Meiryo"/>
                <a:cs typeface="Meiryo"/>
              </a:rPr>
              <a:t>17/18</a:t>
            </a:r>
          </a:p>
        </p:txBody>
      </p:sp>
      <p:sp>
        <p:nvSpPr>
          <p:cNvPr id="9" name="">
            <a:extLst xmlns:a="http://schemas.openxmlformats.org/drawingml/2006/main">
              <a:ext uri="{FF2B5EF4-FFF2-40B4-BE49-F238E27FC236}">
                <a16:creationId xmlns:a16="http://schemas.microsoft.com/office/drawing/2014/main" id="{A019CB3E-D3C4-414B-8C6C-C04FA021D2A3}"/>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20280282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D8C700-90FE-4DBC-A4C9-E472748779D1}"/>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参考にした先行研究</a:t>
            </a:r>
            <a:endParaRPr sz="2550"/>
          </a:p>
        </p:txBody>
      </p:sp>
      <p:sp>
        <p:nvSpPr>
          <p:cNvPr id="3" name="Shape 1">
            <a:extLst xmlns:a="http://schemas.openxmlformats.org/drawingml/2006/main">
              <a:ext uri="{FF2B5EF4-FFF2-40B4-BE49-F238E27FC236}">
                <a16:creationId xmlns:a16="http://schemas.microsoft.com/office/drawing/2014/main" id="{7F0F0BFF-EBED-46D5-9418-BCE76E7C036C}"/>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9B08A79C-A492-4142-83C6-1FF3C0F3FFD8}"/>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進捗報告（参考）</a:t>
            </a:r>
            <a:endParaRPr sz="850"/>
          </a:p>
        </p:txBody>
      </p:sp>
      <p:sp>
        <p:nvSpPr>
          <p:cNvPr id="5" name="Text 3">
            <a:extLst xmlns:a="http://schemas.openxmlformats.org/drawingml/2006/main">
              <a:ext uri="{FF2B5EF4-FFF2-40B4-BE49-F238E27FC236}">
                <a16:creationId xmlns:a16="http://schemas.microsoft.com/office/drawing/2014/main" id="{9AF08E2F-2297-4BE1-8440-71A56F79A307}"/>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18/18</a:t>
            </a:r>
            <a:endParaRPr sz="850"/>
          </a:p>
        </p:txBody>
      </p:sp>
      <p:sp>
        <p:nvSpPr>
          <p:cNvPr id="6" name="Shape 4">
            <a:extLst xmlns:a="http://schemas.openxmlformats.org/drawingml/2006/main">
              <a:ext uri="{FF2B5EF4-FFF2-40B4-BE49-F238E27FC236}">
                <a16:creationId xmlns:a16="http://schemas.microsoft.com/office/drawing/2014/main" id="{3DEA91D4-3F9C-4ECB-AE04-D514BF459AE7}"/>
              </a:ext>
            </a:extLst>
          </p:cNvPr>
          <p:cNvSpPr>
            <a:spLocks xmlns:a="http://schemas.openxmlformats.org/drawingml/2006/main" noGrp="1"/>
          </p:cNvSpPr>
          <p:nvPr/>
        </p:nvSpPr>
        <p:spPr>
          <a:xfrm xmlns:a="http://schemas.openxmlformats.org/drawingml/2006/main">
            <a:off x="640080" y="941832"/>
            <a:ext cx="10927080" cy="694944"/>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7441951D-230E-4809-8329-1FE1DA293B07}"/>
              </a:ext>
            </a:extLst>
          </p:cNvPr>
          <p:cNvSpPr>
            <a:spLocks xmlns:a="http://schemas.openxmlformats.org/drawingml/2006/main" noGrp="1"/>
          </p:cNvSpPr>
          <p:nvPr/>
        </p:nvSpPr>
        <p:spPr>
          <a:xfrm xmlns:a="http://schemas.openxmlformats.org/drawingml/2006/main">
            <a:off x="804672" y="987552"/>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[1]</a:t>
            </a:r>
            <a:endParaRPr sz="1300"/>
          </a:p>
        </p:txBody>
      </p:sp>
      <p:sp>
        <p:nvSpPr>
          <p:cNvPr id="8" name="Text 6">
            <a:extLst xmlns:a="http://schemas.openxmlformats.org/drawingml/2006/main">
              <a:ext uri="{FF2B5EF4-FFF2-40B4-BE49-F238E27FC236}">
                <a16:creationId xmlns:a16="http://schemas.microsoft.com/office/drawing/2014/main" id="{94F047BD-28FF-4CB7-B13E-400149A3452A}"/>
              </a:ext>
            </a:extLst>
          </p:cNvPr>
          <p:cNvSpPr>
            <a:spLocks xmlns:a="http://schemas.openxmlformats.org/drawingml/2006/main" noGrp="1"/>
          </p:cNvSpPr>
          <p:nvPr/>
        </p:nvSpPr>
        <p:spPr>
          <a:xfrm xmlns:a="http://schemas.openxmlformats.org/drawingml/2006/main">
            <a:off x="1261872" y="987552"/>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Fei, F. et al.</a:t>
            </a:r>
            <a:endParaRPr sz="1300"/>
          </a:p>
        </p:txBody>
      </p:sp>
      <p:sp>
        <p:nvSpPr>
          <p:cNvPr id="9" name="Text 7">
            <a:extLst xmlns:a="http://schemas.openxmlformats.org/drawingml/2006/main">
              <a:ext uri="{FF2B5EF4-FFF2-40B4-BE49-F238E27FC236}">
                <a16:creationId xmlns:a16="http://schemas.microsoft.com/office/drawing/2014/main" id="{CDB079BC-DC78-4B8B-83A6-4419654AD4F0}"/>
              </a:ext>
            </a:extLst>
          </p:cNvPr>
          <p:cNvSpPr>
            <a:spLocks xmlns:a="http://schemas.openxmlformats.org/drawingml/2006/main" noGrp="1"/>
          </p:cNvSpPr>
          <p:nvPr/>
        </p:nvSpPr>
        <p:spPr>
          <a:xfrm xmlns:a="http://schemas.openxmlformats.org/drawingml/2006/main">
            <a:off x="2880360" y="969264"/>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Exploring the profitability of using electric bus fleets for transport and power grid services</a:t>
            </a:r>
            <a:endParaRPr sz="1220"/>
          </a:p>
        </p:txBody>
      </p:sp>
      <p:sp>
        <p:nvSpPr>
          <p:cNvPr id="10" name="Text 8">
            <a:extLst xmlns:a="http://schemas.openxmlformats.org/drawingml/2006/main">
              <a:ext uri="{FF2B5EF4-FFF2-40B4-BE49-F238E27FC236}">
                <a16:creationId xmlns:a16="http://schemas.microsoft.com/office/drawing/2014/main" id="{FC80A181-21A4-450F-B1D2-752CD071C197}"/>
              </a:ext>
            </a:extLst>
          </p:cNvPr>
          <p:cNvSpPr>
            <a:spLocks xmlns:a="http://schemas.openxmlformats.org/drawingml/2006/main" noGrp="1"/>
          </p:cNvSpPr>
          <p:nvPr/>
        </p:nvSpPr>
        <p:spPr>
          <a:xfrm xmlns:a="http://schemas.openxmlformats.org/drawingml/2006/main">
            <a:off x="8942832" y="978408"/>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C, 149, 104060, 2023</a:t>
            </a:r>
            <a:endParaRPr sz="1080"/>
          </a:p>
        </p:txBody>
      </p:sp>
      <p:sp>
        <p:nvSpPr>
          <p:cNvPr id="11" name="Text 9">
            <a:extLst xmlns:a="http://schemas.openxmlformats.org/drawingml/2006/main">
              <a:ext uri="{FF2B5EF4-FFF2-40B4-BE49-F238E27FC236}">
                <a16:creationId xmlns:a16="http://schemas.microsoft.com/office/drawing/2014/main" id="{347511CC-0335-492E-A4CE-F4E8AB334E10}"/>
              </a:ext>
            </a:extLst>
          </p:cNvPr>
          <p:cNvSpPr>
            <a:spLocks xmlns:a="http://schemas.openxmlformats.org/drawingml/2006/main" noGrp="1"/>
          </p:cNvSpPr>
          <p:nvPr/>
        </p:nvSpPr>
        <p:spPr>
          <a:xfrm xmlns:a="http://schemas.openxmlformats.org/drawingml/2006/main">
            <a:off x="804672" y="1783080"/>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[2]</a:t>
            </a:r>
            <a:endParaRPr sz="1300"/>
          </a:p>
        </p:txBody>
      </p:sp>
      <p:sp>
        <p:nvSpPr>
          <p:cNvPr id="12" name="Text 10">
            <a:extLst xmlns:a="http://schemas.openxmlformats.org/drawingml/2006/main">
              <a:ext uri="{FF2B5EF4-FFF2-40B4-BE49-F238E27FC236}">
                <a16:creationId xmlns:a16="http://schemas.microsoft.com/office/drawing/2014/main" id="{069BC8D1-DC74-413E-93EC-9D210BB6626C}"/>
              </a:ext>
            </a:extLst>
          </p:cNvPr>
          <p:cNvSpPr>
            <a:spLocks xmlns:a="http://schemas.openxmlformats.org/drawingml/2006/main" noGrp="1"/>
          </p:cNvSpPr>
          <p:nvPr/>
        </p:nvSpPr>
        <p:spPr>
          <a:xfrm xmlns:a="http://schemas.openxmlformats.org/drawingml/2006/main">
            <a:off x="1261872" y="1783080"/>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Najafi, A. et al.</a:t>
            </a:r>
            <a:endParaRPr sz="1300"/>
          </a:p>
        </p:txBody>
      </p:sp>
      <p:sp>
        <p:nvSpPr>
          <p:cNvPr id="13" name="Text 11">
            <a:extLst xmlns:a="http://schemas.openxmlformats.org/drawingml/2006/main">
              <a:ext uri="{FF2B5EF4-FFF2-40B4-BE49-F238E27FC236}">
                <a16:creationId xmlns:a16="http://schemas.microsoft.com/office/drawing/2014/main" id="{BC158A48-B7F2-4610-9F3D-CB415A6AC662}"/>
              </a:ext>
            </a:extLst>
          </p:cNvPr>
          <p:cNvSpPr>
            <a:spLocks xmlns:a="http://schemas.openxmlformats.org/drawingml/2006/main" noGrp="1"/>
          </p:cNvSpPr>
          <p:nvPr/>
        </p:nvSpPr>
        <p:spPr>
          <a:xfrm xmlns:a="http://schemas.openxmlformats.org/drawingml/2006/main">
            <a:off x="2880360" y="1764792"/>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Integrated optimization of charging infrastructure, electric bus scheduling and energy systems</a:t>
            </a:r>
            <a:endParaRPr sz="1220"/>
          </a:p>
        </p:txBody>
      </p:sp>
      <p:sp>
        <p:nvSpPr>
          <p:cNvPr id="14" name="Text 12">
            <a:extLst xmlns:a="http://schemas.openxmlformats.org/drawingml/2006/main">
              <a:ext uri="{FF2B5EF4-FFF2-40B4-BE49-F238E27FC236}">
                <a16:creationId xmlns:a16="http://schemas.microsoft.com/office/drawing/2014/main" id="{0AFFEFC1-6345-4D2D-B0A7-980A7A0EDDCC}"/>
              </a:ext>
            </a:extLst>
          </p:cNvPr>
          <p:cNvSpPr>
            <a:spLocks xmlns:a="http://schemas.openxmlformats.org/drawingml/2006/main" noGrp="1"/>
          </p:cNvSpPr>
          <p:nvPr/>
        </p:nvSpPr>
        <p:spPr>
          <a:xfrm xmlns:a="http://schemas.openxmlformats.org/drawingml/2006/main">
            <a:off x="8942832" y="1773936"/>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D, 141, 104664, 2025</a:t>
            </a:r>
            <a:endParaRPr sz="1080"/>
          </a:p>
        </p:txBody>
      </p:sp>
      <p:sp>
        <p:nvSpPr>
          <p:cNvPr id="15" name="Shape 13">
            <a:extLst xmlns:a="http://schemas.openxmlformats.org/drawingml/2006/main">
              <a:ext uri="{FF2B5EF4-FFF2-40B4-BE49-F238E27FC236}">
                <a16:creationId xmlns:a16="http://schemas.microsoft.com/office/drawing/2014/main" id="{DE960AD7-77C2-49BC-A187-7B5C4407F102}"/>
              </a:ext>
            </a:extLst>
          </p:cNvPr>
          <p:cNvSpPr>
            <a:spLocks xmlns:a="http://schemas.openxmlformats.org/drawingml/2006/main" noGrp="1"/>
          </p:cNvSpPr>
          <p:nvPr/>
        </p:nvSpPr>
        <p:spPr>
          <a:xfrm xmlns:a="http://schemas.openxmlformats.org/drawingml/2006/main">
            <a:off x="640080" y="2532888"/>
            <a:ext cx="10927080" cy="694944"/>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D21B8711-C81C-424B-8CD2-FEFDC5582806}"/>
              </a:ext>
            </a:extLst>
          </p:cNvPr>
          <p:cNvSpPr>
            <a:spLocks xmlns:a="http://schemas.openxmlformats.org/drawingml/2006/main" noGrp="1"/>
          </p:cNvSpPr>
          <p:nvPr/>
        </p:nvSpPr>
        <p:spPr>
          <a:xfrm xmlns:a="http://schemas.openxmlformats.org/drawingml/2006/main">
            <a:off x="804672" y="2578608"/>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[3]</a:t>
            </a:r>
            <a:endParaRPr sz="1300"/>
          </a:p>
        </p:txBody>
      </p:sp>
      <p:sp>
        <p:nvSpPr>
          <p:cNvPr id="17" name="Text 15">
            <a:extLst xmlns:a="http://schemas.openxmlformats.org/drawingml/2006/main">
              <a:ext uri="{FF2B5EF4-FFF2-40B4-BE49-F238E27FC236}">
                <a16:creationId xmlns:a16="http://schemas.microsoft.com/office/drawing/2014/main" id="{3B3B943C-3D4C-4C53-8148-FB257A0A6BF0}"/>
              </a:ext>
            </a:extLst>
          </p:cNvPr>
          <p:cNvSpPr>
            <a:spLocks xmlns:a="http://schemas.openxmlformats.org/drawingml/2006/main" noGrp="1"/>
          </p:cNvSpPr>
          <p:nvPr/>
        </p:nvSpPr>
        <p:spPr>
          <a:xfrm xmlns:a="http://schemas.openxmlformats.org/drawingml/2006/main">
            <a:off x="1261872" y="2578608"/>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Zhang, M. et al.</a:t>
            </a:r>
            <a:endParaRPr sz="1300"/>
          </a:p>
        </p:txBody>
      </p:sp>
      <p:sp>
        <p:nvSpPr>
          <p:cNvPr id="18" name="Text 16">
            <a:extLst xmlns:a="http://schemas.openxmlformats.org/drawingml/2006/main">
              <a:ext uri="{FF2B5EF4-FFF2-40B4-BE49-F238E27FC236}">
                <a16:creationId xmlns:a16="http://schemas.microsoft.com/office/drawing/2014/main" id="{5B0EC3CA-C1DA-4B66-A8D5-6CEEFDB272EE}"/>
              </a:ext>
            </a:extLst>
          </p:cNvPr>
          <p:cNvSpPr>
            <a:spLocks xmlns:a="http://schemas.openxmlformats.org/drawingml/2006/main" noGrp="1"/>
          </p:cNvSpPr>
          <p:nvPr/>
        </p:nvSpPr>
        <p:spPr>
          <a:xfrm xmlns:a="http://schemas.openxmlformats.org/drawingml/2006/main">
            <a:off x="2880360" y="2560320"/>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Optimal Electric Bus Charging Scheduling with Multiple Vehicle and Charger Types Considering Compatibility</a:t>
            </a:r>
            <a:endParaRPr sz="1220"/>
          </a:p>
        </p:txBody>
      </p:sp>
      <p:sp>
        <p:nvSpPr>
          <p:cNvPr id="19" name="Text 17">
            <a:extLst xmlns:a="http://schemas.openxmlformats.org/drawingml/2006/main">
              <a:ext uri="{FF2B5EF4-FFF2-40B4-BE49-F238E27FC236}">
                <a16:creationId xmlns:a16="http://schemas.microsoft.com/office/drawing/2014/main" id="{60D75EDB-1B09-4723-92D8-C1522D73B877}"/>
              </a:ext>
            </a:extLst>
          </p:cNvPr>
          <p:cNvSpPr>
            <a:spLocks xmlns:a="http://schemas.openxmlformats.org/drawingml/2006/main" noGrp="1"/>
          </p:cNvSpPr>
          <p:nvPr/>
        </p:nvSpPr>
        <p:spPr>
          <a:xfrm xmlns:a="http://schemas.openxmlformats.org/drawingml/2006/main">
            <a:off x="8942832" y="2569464"/>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2025</a:t>
            </a:r>
            <a:endParaRPr sz="1080"/>
          </a:p>
        </p:txBody>
      </p:sp>
      <p:sp>
        <p:nvSpPr>
          <p:cNvPr id="20" name="Text 18">
            <a:extLst xmlns:a="http://schemas.openxmlformats.org/drawingml/2006/main">
              <a:ext uri="{FF2B5EF4-FFF2-40B4-BE49-F238E27FC236}">
                <a16:creationId xmlns:a16="http://schemas.microsoft.com/office/drawing/2014/main" id="{D3986C4B-F725-4263-A2D1-90681A6E37A1}"/>
              </a:ext>
            </a:extLst>
          </p:cNvPr>
          <p:cNvSpPr>
            <a:spLocks xmlns:a="http://schemas.openxmlformats.org/drawingml/2006/main" noGrp="1"/>
          </p:cNvSpPr>
          <p:nvPr/>
        </p:nvSpPr>
        <p:spPr>
          <a:xfrm xmlns:a="http://schemas.openxmlformats.org/drawingml/2006/main">
            <a:off x="804672" y="3374136"/>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[4]</a:t>
            </a:r>
            <a:endParaRPr sz="1300"/>
          </a:p>
        </p:txBody>
      </p:sp>
      <p:sp>
        <p:nvSpPr>
          <p:cNvPr id="21" name="Text 19">
            <a:extLst xmlns:a="http://schemas.openxmlformats.org/drawingml/2006/main">
              <a:ext uri="{FF2B5EF4-FFF2-40B4-BE49-F238E27FC236}">
                <a16:creationId xmlns:a16="http://schemas.microsoft.com/office/drawing/2014/main" id="{1E903690-425A-4637-9431-F0E3B4F60F06}"/>
              </a:ext>
            </a:extLst>
          </p:cNvPr>
          <p:cNvSpPr>
            <a:spLocks xmlns:a="http://schemas.openxmlformats.org/drawingml/2006/main" noGrp="1"/>
          </p:cNvSpPr>
          <p:nvPr/>
        </p:nvSpPr>
        <p:spPr>
          <a:xfrm xmlns:a="http://schemas.openxmlformats.org/drawingml/2006/main">
            <a:off x="1261872" y="3374136"/>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He, J. et al.</a:t>
            </a:r>
            <a:endParaRPr sz="1300"/>
          </a:p>
        </p:txBody>
      </p:sp>
      <p:sp>
        <p:nvSpPr>
          <p:cNvPr id="22" name="Text 20">
            <a:extLst xmlns:a="http://schemas.openxmlformats.org/drawingml/2006/main">
              <a:ext uri="{FF2B5EF4-FFF2-40B4-BE49-F238E27FC236}">
                <a16:creationId xmlns:a16="http://schemas.microsoft.com/office/drawing/2014/main" id="{13D27821-937C-490B-A147-658D837F5E18}"/>
              </a:ext>
            </a:extLst>
          </p:cNvPr>
          <p:cNvSpPr>
            <a:spLocks xmlns:a="http://schemas.openxmlformats.org/drawingml/2006/main" noGrp="1"/>
          </p:cNvSpPr>
          <p:nvPr/>
        </p:nvSpPr>
        <p:spPr>
          <a:xfrm xmlns:a="http://schemas.openxmlformats.org/drawingml/2006/main">
            <a:off x="2880360" y="3355848"/>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Battery electricity bus charging schedule considering bus journey’s energy consumption estimation</a:t>
            </a:r>
            <a:endParaRPr sz="1220"/>
          </a:p>
        </p:txBody>
      </p:sp>
      <p:sp>
        <p:nvSpPr>
          <p:cNvPr id="23" name="Text 21">
            <a:extLst xmlns:a="http://schemas.openxmlformats.org/drawingml/2006/main">
              <a:ext uri="{FF2B5EF4-FFF2-40B4-BE49-F238E27FC236}">
                <a16:creationId xmlns:a16="http://schemas.microsoft.com/office/drawing/2014/main" id="{07AE7D76-F322-453B-B026-750642AEE81D}"/>
              </a:ext>
            </a:extLst>
          </p:cNvPr>
          <p:cNvSpPr>
            <a:spLocks xmlns:a="http://schemas.openxmlformats.org/drawingml/2006/main" noGrp="1"/>
          </p:cNvSpPr>
          <p:nvPr/>
        </p:nvSpPr>
        <p:spPr>
          <a:xfrm xmlns:a="http://schemas.openxmlformats.org/drawingml/2006/main">
            <a:off x="8942832" y="3364992"/>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D, 115, 103587, 2023</a:t>
            </a:r>
            <a:endParaRPr sz="1080"/>
          </a:p>
        </p:txBody>
      </p:sp>
      <p:sp>
        <p:nvSpPr>
          <p:cNvPr id="24" name="Shape 22">
            <a:extLst xmlns:a="http://schemas.openxmlformats.org/drawingml/2006/main">
              <a:ext uri="{FF2B5EF4-FFF2-40B4-BE49-F238E27FC236}">
                <a16:creationId xmlns:a16="http://schemas.microsoft.com/office/drawing/2014/main" id="{87A89437-3DF0-4123-A9A1-00053A53407A}"/>
              </a:ext>
            </a:extLst>
          </p:cNvPr>
          <p:cNvSpPr>
            <a:spLocks xmlns:a="http://schemas.openxmlformats.org/drawingml/2006/main" noGrp="1"/>
          </p:cNvSpPr>
          <p:nvPr/>
        </p:nvSpPr>
        <p:spPr>
          <a:xfrm xmlns:a="http://schemas.openxmlformats.org/drawingml/2006/main">
            <a:off x="640080" y="4123944"/>
            <a:ext cx="10927080" cy="694944"/>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05BD9A98-67B0-43B4-8BEE-8F984803F389}"/>
              </a:ext>
            </a:extLst>
          </p:cNvPr>
          <p:cNvSpPr>
            <a:spLocks xmlns:a="http://schemas.openxmlformats.org/drawingml/2006/main" noGrp="1"/>
          </p:cNvSpPr>
          <p:nvPr/>
        </p:nvSpPr>
        <p:spPr>
          <a:xfrm xmlns:a="http://schemas.openxmlformats.org/drawingml/2006/main">
            <a:off x="804672" y="4169664"/>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[5]</a:t>
            </a:r>
            <a:endParaRPr sz="1300"/>
          </a:p>
        </p:txBody>
      </p:sp>
      <p:sp>
        <p:nvSpPr>
          <p:cNvPr id="26" name="Text 24">
            <a:extLst xmlns:a="http://schemas.openxmlformats.org/drawingml/2006/main">
              <a:ext uri="{FF2B5EF4-FFF2-40B4-BE49-F238E27FC236}">
                <a16:creationId xmlns:a16="http://schemas.microsoft.com/office/drawing/2014/main" id="{FCDD455A-0F6B-4B48-B9B2-731E95442900}"/>
              </a:ext>
            </a:extLst>
          </p:cNvPr>
          <p:cNvSpPr>
            <a:spLocks xmlns:a="http://schemas.openxmlformats.org/drawingml/2006/main" noGrp="1"/>
          </p:cNvSpPr>
          <p:nvPr/>
        </p:nvSpPr>
        <p:spPr>
          <a:xfrm xmlns:a="http://schemas.openxmlformats.org/drawingml/2006/main">
            <a:off x="1261872" y="4169664"/>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Zhang, Z. et al.</a:t>
            </a:r>
            <a:endParaRPr sz="1300"/>
          </a:p>
        </p:txBody>
      </p:sp>
      <p:sp>
        <p:nvSpPr>
          <p:cNvPr id="27" name="Text 25">
            <a:extLst xmlns:a="http://schemas.openxmlformats.org/drawingml/2006/main">
              <a:ext uri="{FF2B5EF4-FFF2-40B4-BE49-F238E27FC236}">
                <a16:creationId xmlns:a16="http://schemas.microsoft.com/office/drawing/2014/main" id="{8965C617-15C4-4769-919E-7CDB723D7EE0}"/>
              </a:ext>
            </a:extLst>
          </p:cNvPr>
          <p:cNvSpPr>
            <a:spLocks xmlns:a="http://schemas.openxmlformats.org/drawingml/2006/main" noGrp="1"/>
          </p:cNvSpPr>
          <p:nvPr/>
        </p:nvSpPr>
        <p:spPr>
          <a:xfrm xmlns:a="http://schemas.openxmlformats.org/drawingml/2006/main">
            <a:off x="2880360" y="4151376"/>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Analysis and estimation of energy consumption of electric buses using real-world data</a:t>
            </a:r>
            <a:endParaRPr sz="1220"/>
          </a:p>
        </p:txBody>
      </p:sp>
      <p:sp>
        <p:nvSpPr>
          <p:cNvPr id="28" name="Text 26">
            <a:extLst xmlns:a="http://schemas.openxmlformats.org/drawingml/2006/main">
              <a:ext uri="{FF2B5EF4-FFF2-40B4-BE49-F238E27FC236}">
                <a16:creationId xmlns:a16="http://schemas.microsoft.com/office/drawing/2014/main" id="{483FF4A2-552C-4E78-9F7F-41C0F3FE7640}"/>
              </a:ext>
            </a:extLst>
          </p:cNvPr>
          <p:cNvSpPr>
            <a:spLocks xmlns:a="http://schemas.openxmlformats.org/drawingml/2006/main" noGrp="1"/>
          </p:cNvSpPr>
          <p:nvPr/>
        </p:nvSpPr>
        <p:spPr>
          <a:xfrm xmlns:a="http://schemas.openxmlformats.org/drawingml/2006/main">
            <a:off x="8942832" y="4160520"/>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D, 126, 104017, 2024</a:t>
            </a:r>
            <a:endParaRPr sz="1080"/>
          </a:p>
        </p:txBody>
      </p:sp>
      <p:sp>
        <p:nvSpPr>
          <p:cNvPr id="29" name="Text 27">
            <a:extLst xmlns:a="http://schemas.openxmlformats.org/drawingml/2006/main">
              <a:ext uri="{FF2B5EF4-FFF2-40B4-BE49-F238E27FC236}">
                <a16:creationId xmlns:a16="http://schemas.microsoft.com/office/drawing/2014/main" id="{C15E2CFD-6199-4205-BB06-1C5143E6587D}"/>
              </a:ext>
            </a:extLst>
          </p:cNvPr>
          <p:cNvSpPr>
            <a:spLocks xmlns:a="http://schemas.openxmlformats.org/drawingml/2006/main" noGrp="1"/>
          </p:cNvSpPr>
          <p:nvPr/>
        </p:nvSpPr>
        <p:spPr>
          <a:xfrm xmlns:a="http://schemas.openxmlformats.org/drawingml/2006/main">
            <a:off x="804672" y="4965192"/>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[6]</a:t>
            </a:r>
            <a:endParaRPr sz="1300"/>
          </a:p>
        </p:txBody>
      </p:sp>
      <p:sp>
        <p:nvSpPr>
          <p:cNvPr id="30" name="Text 28">
            <a:extLst xmlns:a="http://schemas.openxmlformats.org/drawingml/2006/main">
              <a:ext uri="{FF2B5EF4-FFF2-40B4-BE49-F238E27FC236}">
                <a16:creationId xmlns:a16="http://schemas.microsoft.com/office/drawing/2014/main" id="{906EF22E-38CD-486A-AD33-ECFE5331F66C}"/>
              </a:ext>
            </a:extLst>
          </p:cNvPr>
          <p:cNvSpPr>
            <a:spLocks xmlns:a="http://schemas.openxmlformats.org/drawingml/2006/main" noGrp="1"/>
          </p:cNvSpPr>
          <p:nvPr/>
        </p:nvSpPr>
        <p:spPr>
          <a:xfrm xmlns:a="http://schemas.openxmlformats.org/drawingml/2006/main">
            <a:off x="1261872" y="4965192"/>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Blades, L.A.W. et al.</a:t>
            </a:r>
            <a:endParaRPr sz="1300"/>
          </a:p>
        </p:txBody>
      </p:sp>
      <p:sp>
        <p:nvSpPr>
          <p:cNvPr id="31" name="Text 29">
            <a:extLst xmlns:a="http://schemas.openxmlformats.org/drawingml/2006/main">
              <a:ext uri="{FF2B5EF4-FFF2-40B4-BE49-F238E27FC236}">
                <a16:creationId xmlns:a16="http://schemas.microsoft.com/office/drawing/2014/main" id="{E4360082-7A5A-4D6B-B6A9-D00EB33340E8}"/>
              </a:ext>
            </a:extLst>
          </p:cNvPr>
          <p:cNvSpPr>
            <a:spLocks xmlns:a="http://schemas.openxmlformats.org/drawingml/2006/main" noGrp="1"/>
          </p:cNvSpPr>
          <p:nvPr/>
        </p:nvSpPr>
        <p:spPr>
          <a:xfrm xmlns:a="http://schemas.openxmlformats.org/drawingml/2006/main">
            <a:off x="2880360" y="4946904"/>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Predicting energy consumption of zero emission buses using route feature selection methods</a:t>
            </a:r>
            <a:endParaRPr sz="1220"/>
          </a:p>
        </p:txBody>
      </p:sp>
      <p:sp>
        <p:nvSpPr>
          <p:cNvPr id="32" name="Text 30">
            <a:extLst xmlns:a="http://schemas.openxmlformats.org/drawingml/2006/main">
              <a:ext uri="{FF2B5EF4-FFF2-40B4-BE49-F238E27FC236}">
                <a16:creationId xmlns:a16="http://schemas.microsoft.com/office/drawing/2014/main" id="{F3A62939-0691-469A-94EC-177D77718933}"/>
              </a:ext>
            </a:extLst>
          </p:cNvPr>
          <p:cNvSpPr>
            <a:spLocks xmlns:a="http://schemas.openxmlformats.org/drawingml/2006/main" noGrp="1"/>
          </p:cNvSpPr>
          <p:nvPr/>
        </p:nvSpPr>
        <p:spPr>
          <a:xfrm xmlns:a="http://schemas.openxmlformats.org/drawingml/2006/main">
            <a:off x="8942832" y="4956048"/>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D, 130, 104158, 2024</a:t>
            </a:r>
            <a:endParaRPr sz="1080"/>
          </a:p>
        </p:txBody>
      </p:sp>
      <p:sp>
        <p:nvSpPr>
          <p:cNvPr id="33" name="Shape 31">
            <a:extLst xmlns:a="http://schemas.openxmlformats.org/drawingml/2006/main">
              <a:ext uri="{FF2B5EF4-FFF2-40B4-BE49-F238E27FC236}">
                <a16:creationId xmlns:a16="http://schemas.microsoft.com/office/drawing/2014/main" id="{FFE0B94E-A307-4790-9B51-FDAC570A7E65}"/>
              </a:ext>
            </a:extLst>
          </p:cNvPr>
          <p:cNvSpPr>
            <a:spLocks xmlns:a="http://schemas.openxmlformats.org/drawingml/2006/main" noGrp="1"/>
          </p:cNvSpPr>
          <p:nvPr/>
        </p:nvSpPr>
        <p:spPr>
          <a:xfrm xmlns:a="http://schemas.openxmlformats.org/drawingml/2006/main">
            <a:off x="1143000" y="5925312"/>
            <a:ext cx="9875520" cy="402336"/>
          </a:xfrm>
          <a:prstGeom xmlns:a="http://schemas.openxmlformats.org/drawingml/2006/main" prst="roundRect">
            <a:avLst/>
          </a:prstGeom>
          <a:solidFill xmlns:a="http://schemas.openxmlformats.org/drawingml/2006/main">
            <a:srgbClr val="EAF2FB"/>
          </a:solidFill>
          <a:ln xmlns:a="http://schemas.openxmlformats.org/drawingml/2006/main" w="1143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C499EE24-9BBF-4B0A-ACA3-B86D57CDC8A4}"/>
              </a:ext>
            </a:extLst>
          </p:cNvPr>
          <p:cNvSpPr>
            <a:spLocks xmlns:a="http://schemas.openxmlformats.org/drawingml/2006/main" noGrp="1"/>
          </p:cNvSpPr>
          <p:nvPr/>
        </p:nvSpPr>
        <p:spPr>
          <a:xfrm xmlns:a="http://schemas.openxmlformats.org/drawingml/2006/main">
            <a:off x="1353312" y="6016752"/>
            <a:ext cx="946404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F2A5A"/>
                </a:solidFill>
                <a:latin typeface="Noto Sans CJK JP"/>
                <a:ea typeface="Noto Sans CJK JP"/>
                <a:cs typeface="Noto Sans CJK JP"/>
              </a:rPr>
              <a:t>本資料の図は先行研究の構成を参考にしつつ、すべて本研究の入力・結果から再作成した。</a:t>
            </a:r>
            <a:endParaRPr sz="1400"/>
          </a:p>
        </p:txBody>
      </p:sp>
      <p:sp>
        <p:nvSpPr>
          <p:cNvPr id="35" name="">
            <a:extLst xmlns:a="http://schemas.openxmlformats.org/drawingml/2006/main">
              <a:ext uri="{FF2B5EF4-FFF2-40B4-BE49-F238E27FC236}">
                <a16:creationId xmlns:a16="http://schemas.microsoft.com/office/drawing/2014/main" id="{2FB52537-5D48-4020-89D7-22CF33F2B494}"/>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8302805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9A8071-F4B0-487B-85C4-4D4F96CB9010}"/>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補足資料：先生の質問との対応</a:t>
            </a:r>
          </a:p>
        </p:txBody>
      </p:sp>
      <p:sp>
        <p:nvSpPr>
          <p:cNvPr id="2" name="">
            <a:extLst xmlns:a="http://schemas.openxmlformats.org/drawingml/2006/main">
              <a:ext uri="{FF2B5EF4-FFF2-40B4-BE49-F238E27FC236}">
                <a16:creationId xmlns:a16="http://schemas.microsoft.com/office/drawing/2014/main" id="{6DEAA029-F007-46CD-8F90-BD41CBE4B7A9}"/>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日合計の説明を、時間別の動きと計算根拠までつなげる</a:t>
            </a:r>
          </a:p>
        </p:txBody>
      </p:sp>
      <p:sp>
        <p:nvSpPr>
          <p:cNvPr id="3" name="">
            <a:extLst xmlns:a="http://schemas.openxmlformats.org/drawingml/2006/main">
              <a:ext uri="{FF2B5EF4-FFF2-40B4-BE49-F238E27FC236}">
                <a16:creationId xmlns:a16="http://schemas.microsoft.com/office/drawing/2014/main" id="{5312E394-B271-4E75-B898-B4EC7DF54CE3}"/>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新しい計算結果を増やさず、保存済み結果から説明の不足を補った</a:t>
            </a:r>
          </a:p>
        </p:txBody>
      </p:sp>
      <p:sp>
        <p:nvSpPr>
          <p:cNvPr id="4" name="">
            <a:extLst xmlns:a="http://schemas.openxmlformats.org/drawingml/2006/main">
              <a:ext uri="{FF2B5EF4-FFF2-40B4-BE49-F238E27FC236}">
                <a16:creationId xmlns:a16="http://schemas.microsoft.com/office/drawing/2014/main" id="{13E5C102-3544-4EFA-9C20-C0992A79B88F}"/>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Slackで確認した研究上の指摘を要約。先生の承認・納得を得たという意味ではない。</a:t>
            </a:r>
          </a:p>
        </p:txBody>
      </p:sp>
      <p:sp>
        <p:nvSpPr>
          <p:cNvPr id="5" name="">
            <a:extLst xmlns:a="http://schemas.openxmlformats.org/drawingml/2006/main">
              <a:ext uri="{FF2B5EF4-FFF2-40B4-BE49-F238E27FC236}">
                <a16:creationId xmlns:a16="http://schemas.microsoft.com/office/drawing/2014/main" id="{2FA07780-6507-4FCB-B5B3-B4B32A128E58}"/>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3143250"/>
                <a:gridCol w="3714750"/>
                <a:gridCol w="4191000"/>
              </a:tblGrid>
              <a:tr h="620713">
                <a:tc>
                  <a:txBody>
                    <a:bodyPr/>
                    <a:lstStyle/>
                    <a:p>
                      <a:r>
                        <a:rPr sz="1725" b="1">
                          <a:solidFill>
                            <a:srgbClr val="FFFFFF"/>
                          </a:solidFill>
                          <a:latin typeface="Meiryo"/>
                          <a:ea typeface="Meiryo"/>
                          <a:cs typeface="Meiryo"/>
                        </a:rPr>
                        <a:t>確認したい点</a:t>
                      </a:r>
                    </a:p>
                  </a:txBody>
                  <a:tcPr marL="91440" marR="91440" marT="45720" marB="45720">
                    <a:solidFill>
                      <a:srgbClr val="202B58"/>
                    </a:solidFill>
                  </a:tcPr>
                </a:tc>
                <a:tc>
                  <a:txBody>
                    <a:bodyPr/>
                    <a:lstStyle/>
                    <a:p>
                      <a:r>
                        <a:rPr sz="1725" b="1">
                          <a:solidFill>
                            <a:srgbClr val="FFFFFF"/>
                          </a:solidFill>
                          <a:latin typeface="Meiryo"/>
                          <a:ea typeface="Meiryo"/>
                          <a:cs typeface="Meiryo"/>
                        </a:rPr>
                        <a:t>本編での状態</a:t>
                      </a:r>
                    </a:p>
                  </a:txBody>
                  <a:tcPr marL="91440" marR="91440" marT="45720" marB="45720">
                    <a:solidFill>
                      <a:srgbClr val="202B58"/>
                    </a:solidFill>
                  </a:tcPr>
                </a:tc>
                <a:tc>
                  <a:txBody>
                    <a:bodyPr/>
                    <a:lstStyle/>
                    <a:p>
                      <a:r>
                        <a:rPr sz="1725" b="1">
                          <a:solidFill>
                            <a:srgbClr val="FFFFFF"/>
                          </a:solidFill>
                          <a:latin typeface="Meiryo"/>
                          <a:ea typeface="Meiryo"/>
                          <a:cs typeface="Meiryo"/>
                        </a:rPr>
                        <a:t>補足の回答</a:t>
                      </a:r>
                    </a:p>
                  </a:txBody>
                  <a:tcPr marL="91440" marR="91440" marT="45720" marB="45720">
                    <a:solidFill>
                      <a:srgbClr val="202B58"/>
                    </a:solidFill>
                  </a:tcPr>
                </a:tc>
              </a:tr>
              <a:tr h="620713">
                <a:tc>
                  <a:txBody>
                    <a:bodyPr/>
                    <a:lstStyle/>
                    <a:p>
                      <a:r>
                        <a:rPr sz="1725" b="0">
                          <a:solidFill>
                            <a:srgbClr val="202B58"/>
                          </a:solidFill>
                          <a:latin typeface="Meiryo"/>
                          <a:ea typeface="Meiryo"/>
                          <a:cs typeface="Meiryo"/>
                        </a:rPr>
                        <a:t>何を直したか・用語</a:t>
                      </a:r>
                    </a:p>
                  </a:txBody>
                  <a:tcPr marL="91440" marR="91440" marT="45720" marB="45720">
                    <a:solidFill>
                      <a:srgbClr val="F1F5F8"/>
                    </a:solidFill>
                  </a:tcPr>
                </a:tc>
                <a:tc>
                  <a:txBody>
                    <a:bodyPr/>
                    <a:lstStyle/>
                    <a:p>
                      <a:r>
                        <a:rPr sz="1725" b="0">
                          <a:solidFill>
                            <a:srgbClr val="202B58"/>
                          </a:solidFill>
                          <a:latin typeface="Meiryo"/>
                          <a:ea typeface="Meiryo"/>
                          <a:cs typeface="Meiryo"/>
                        </a:rPr>
                        <a:t>8–9枚目に差分あり</a:t>
                      </a:r>
                    </a:p>
                  </a:txBody>
                  <a:tcPr marL="91440" marR="91440" marT="45720" marB="45720">
                    <a:solidFill>
                      <a:srgbClr val="F1F5F8"/>
                    </a:solidFill>
                  </a:tcPr>
                </a:tc>
                <a:tc>
                  <a:txBody>
                    <a:bodyPr/>
                    <a:lstStyle/>
                    <a:p>
                      <a:r>
                        <a:rPr sz="1725" b="0">
                          <a:solidFill>
                            <a:srgbClr val="202B58"/>
                          </a:solidFill>
                          <a:latin typeface="Meiryo"/>
                          <a:ea typeface="Meiryo"/>
                          <a:cs typeface="Meiryo"/>
                        </a:rPr>
                        <a:t>方法・用語の定義</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晴雨の電力と燃料</a:t>
                      </a:r>
                    </a:p>
                  </a:txBody>
                  <a:tcPr marL="91440" marR="91440" marT="45720" marB="45720">
                    <a:solidFill>
                      <a:srgbClr val="FFFFFF"/>
                    </a:solidFill>
                  </a:tcPr>
                </a:tc>
                <a:tc>
                  <a:txBody>
                    <a:bodyPr/>
                    <a:lstStyle/>
                    <a:p>
                      <a:r>
                        <a:rPr sz="1725" b="0">
                          <a:solidFill>
                            <a:srgbClr val="202B58"/>
                          </a:solidFill>
                          <a:latin typeface="Meiryo"/>
                          <a:ea typeface="Meiryo"/>
                          <a:cs typeface="Meiryo"/>
                        </a:rPr>
                        <a:t>12–14枚目は日合計中心</a:t>
                      </a:r>
                    </a:p>
                  </a:txBody>
                  <a:tcPr marL="91440" marR="91440" marT="45720" marB="45720">
                    <a:solidFill>
                      <a:srgbClr val="FFFFFF"/>
                    </a:solidFill>
                  </a:tcPr>
                </a:tc>
                <a:tc>
                  <a:txBody>
                    <a:bodyPr/>
                    <a:lstStyle/>
                    <a:p>
                      <a:r>
                        <a:rPr sz="1725" b="0">
                          <a:solidFill>
                            <a:srgbClr val="202B58"/>
                          </a:solidFill>
                          <a:latin typeface="Meiryo"/>
                          <a:ea typeface="Meiryo"/>
                          <a:cs typeface="Meiryo"/>
                        </a:rPr>
                        <a:t>15分電力・配車距離・費用</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充電時間と台数のピーク</a:t>
                      </a:r>
                    </a:p>
                  </a:txBody>
                  <a:tcPr marL="91440" marR="91440" marT="45720" marB="45720">
                    <a:solidFill>
                      <a:srgbClr val="F1F5F8"/>
                    </a:solidFill>
                  </a:tcPr>
                </a:tc>
                <a:tc>
                  <a:txBody>
                    <a:bodyPr/>
                    <a:lstStyle/>
                    <a:p>
                      <a:r>
                        <a:rPr sz="1725" b="0">
                          <a:solidFill>
                            <a:srgbClr val="202B58"/>
                          </a:solidFill>
                          <a:latin typeface="Meiryo"/>
                          <a:ea typeface="Meiryo"/>
                          <a:cs typeface="Meiryo"/>
                        </a:rPr>
                        <a:t>時間別の根拠が不足</a:t>
                      </a:r>
                    </a:p>
                  </a:txBody>
                  <a:tcPr marL="91440" marR="91440" marT="45720" marB="45720">
                    <a:solidFill>
                      <a:srgbClr val="F1F5F8"/>
                    </a:solidFill>
                  </a:tcPr>
                </a:tc>
                <a:tc>
                  <a:txBody>
                    <a:bodyPr/>
                    <a:lstStyle/>
                    <a:p>
                      <a:r>
                        <a:rPr sz="1725" b="0">
                          <a:solidFill>
                            <a:srgbClr val="202B58"/>
                          </a:solidFill>
                          <a:latin typeface="Meiryo"/>
                          <a:ea typeface="Meiryo"/>
                          <a:cs typeface="Meiryo"/>
                        </a:rPr>
                        <a:t>正電力セッション数・車両例</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BESSの始終端と上下限</a:t>
                      </a:r>
                    </a:p>
                  </a:txBody>
                  <a:tcPr marL="91440" marR="91440" marT="45720" marB="45720">
                    <a:solidFill>
                      <a:srgbClr val="FFFFFF"/>
                    </a:solidFill>
                  </a:tcPr>
                </a:tc>
                <a:tc>
                  <a:txBody>
                    <a:bodyPr/>
                    <a:lstStyle/>
                    <a:p>
                      <a:r>
                        <a:rPr sz="1725" b="0">
                          <a:solidFill>
                            <a:srgbClr val="202B58"/>
                          </a:solidFill>
                          <a:latin typeface="Meiryo"/>
                          <a:ea typeface="Meiryo"/>
                          <a:cs typeface="Meiryo"/>
                        </a:rPr>
                        <a:t>日量フロー中心</a:t>
                      </a:r>
                    </a:p>
                  </a:txBody>
                  <a:tcPr marL="91440" marR="91440" marT="45720" marB="45720">
                    <a:solidFill>
                      <a:srgbClr val="FFFFFF"/>
                    </a:solidFill>
                  </a:tcPr>
                </a:tc>
                <a:tc>
                  <a:txBody>
                    <a:bodyPr/>
                    <a:lstStyle/>
                    <a:p>
                      <a:r>
                        <a:rPr sz="1725" b="0">
                          <a:solidFill>
                            <a:srgbClr val="202B58"/>
                          </a:solidFill>
                          <a:latin typeface="Meiryo"/>
                          <a:ea typeface="Meiryo"/>
                          <a:cs typeface="Meiryo"/>
                        </a:rPr>
                        <a:t>残量軌跡と始終端の数値</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台数費用・計算時間</a:t>
                      </a:r>
                    </a:p>
                  </a:txBody>
                  <a:tcPr marL="91440" marR="91440" marT="45720" marB="45720">
                    <a:solidFill>
                      <a:srgbClr val="F1F5F8"/>
                    </a:solidFill>
                  </a:tcPr>
                </a:tc>
                <a:tc>
                  <a:txBody>
                    <a:bodyPr/>
                    <a:lstStyle/>
                    <a:p>
                      <a:r>
                        <a:rPr sz="1725" b="0">
                          <a:solidFill>
                            <a:srgbClr val="202B58"/>
                          </a:solidFill>
                          <a:latin typeface="Meiryo"/>
                          <a:ea typeface="Meiryo"/>
                          <a:cs typeface="Meiryo"/>
                        </a:rPr>
                        <a:t>設定値のみでは不十分</a:t>
                      </a:r>
                    </a:p>
                  </a:txBody>
                  <a:tcPr marL="91440" marR="91440" marT="45720" marB="45720">
                    <a:solidFill>
                      <a:srgbClr val="F1F5F8"/>
                    </a:solidFill>
                  </a:tcPr>
                </a:tc>
                <a:tc>
                  <a:txBody>
                    <a:bodyPr/>
                    <a:lstStyle/>
                    <a:p>
                      <a:r>
                        <a:rPr sz="1725" b="0">
                          <a:solidFill>
                            <a:srgbClr val="202B58"/>
                          </a:solidFill>
                          <a:latin typeface="Meiryo"/>
                          <a:ea typeface="Meiryo"/>
                          <a:cs typeface="Meiryo"/>
                        </a:rPr>
                        <a:t>費用式・実測時間・残る検証</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2354BAFF-52E6-4C6F-B90C-1F0708C3E807}"/>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6679791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03E57D-1A2F-4D6B-9581-C865A9395F1F}"/>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先行文献から取り入れた図表の構成</a:t>
            </a:r>
          </a:p>
        </p:txBody>
      </p:sp>
      <p:sp>
        <p:nvSpPr>
          <p:cNvPr id="2" name="">
            <a:extLst xmlns:a="http://schemas.openxmlformats.org/drawingml/2006/main">
              <a:ext uri="{FF2B5EF4-FFF2-40B4-BE49-F238E27FC236}">
                <a16:creationId xmlns:a16="http://schemas.microsoft.com/office/drawing/2014/main" id="{6339F6F6-DF41-4DF2-88ED-583AA133A103}"/>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論文の図を貼るのではなく、本研究の数値を同じ観点で示す</a:t>
            </a:r>
          </a:p>
        </p:txBody>
      </p:sp>
      <p:sp>
        <p:nvSpPr>
          <p:cNvPr id="3" name="">
            <a:extLst xmlns:a="http://schemas.openxmlformats.org/drawingml/2006/main">
              <a:ext uri="{FF2B5EF4-FFF2-40B4-BE49-F238E27FC236}">
                <a16:creationId xmlns:a16="http://schemas.microsoft.com/office/drawing/2014/main" id="{54A8FD23-D56D-420E-876C-2DB0547A6EEC}"/>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残量・電力・運行・費用・計算時間を対応させる</a:t>
            </a:r>
          </a:p>
        </p:txBody>
      </p:sp>
      <p:sp>
        <p:nvSpPr>
          <p:cNvPr id="4" name="">
            <a:extLst xmlns:a="http://schemas.openxmlformats.org/drawingml/2006/main">
              <a:ext uri="{FF2B5EF4-FFF2-40B4-BE49-F238E27FC236}">
                <a16:creationId xmlns:a16="http://schemas.microsoft.com/office/drawing/2014/main" id="{D58EB1C8-6D7E-4571-B0E7-B33DD83C7027}"/>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文献の条件・費用範囲・通貨は本研究と異なる。直接の性能比較には使わない。</a:t>
            </a:r>
          </a:p>
        </p:txBody>
      </p:sp>
      <p:sp>
        <p:nvSpPr>
          <p:cNvPr id="5" name="">
            <a:extLst xmlns:a="http://schemas.openxmlformats.org/drawingml/2006/main">
              <a:ext uri="{FF2B5EF4-FFF2-40B4-BE49-F238E27FC236}">
                <a16:creationId xmlns:a16="http://schemas.microsoft.com/office/drawing/2014/main" id="{AC7E05EC-7CD3-49CD-B333-C6EE1DFE59D6}"/>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2</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3571875"/>
                <a:gridCol w="3619500"/>
                <a:gridCol w="3857625"/>
              </a:tblGrid>
              <a:tr h="744855">
                <a:tc>
                  <a:txBody>
                    <a:bodyPr/>
                    <a:lstStyle/>
                    <a:p>
                      <a:r>
                        <a:rPr sz="1725" b="1">
                          <a:solidFill>
                            <a:srgbClr val="FFFFFF"/>
                          </a:solidFill>
                          <a:latin typeface="Meiryo"/>
                          <a:ea typeface="Meiryo"/>
                          <a:cs typeface="Meiryo"/>
                        </a:rPr>
                        <a:t>原本で確認した例</a:t>
                      </a:r>
                    </a:p>
                  </a:txBody>
                  <a:tcPr marL="91440" marR="91440" marT="45720" marB="45720">
                    <a:solidFill>
                      <a:srgbClr val="202B58"/>
                    </a:solidFill>
                  </a:tcPr>
                </a:tc>
                <a:tc>
                  <a:txBody>
                    <a:bodyPr/>
                    <a:lstStyle/>
                    <a:p>
                      <a:r>
                        <a:rPr sz="1725" b="1">
                          <a:solidFill>
                            <a:srgbClr val="FFFFFF"/>
                          </a:solidFill>
                          <a:latin typeface="Meiryo"/>
                          <a:ea typeface="Meiryo"/>
                          <a:cs typeface="Meiryo"/>
                        </a:rPr>
                        <a:t>図表の役割</a:t>
                      </a:r>
                    </a:p>
                  </a:txBody>
                  <a:tcPr marL="91440" marR="91440" marT="45720" marB="45720">
                    <a:solidFill>
                      <a:srgbClr val="202B58"/>
                    </a:solidFill>
                  </a:tcPr>
                </a:tc>
                <a:tc>
                  <a:txBody>
                    <a:bodyPr/>
                    <a:lstStyle/>
                    <a:p>
                      <a:r>
                        <a:rPr sz="1725" b="1">
                          <a:solidFill>
                            <a:srgbClr val="FFFFFF"/>
                          </a:solidFill>
                          <a:latin typeface="Meiryo"/>
                          <a:ea typeface="Meiryo"/>
                          <a:cs typeface="Meiryo"/>
                        </a:rPr>
                        <a:t>今回の資料</a:t>
                      </a:r>
                    </a:p>
                  </a:txBody>
                  <a:tcPr marL="91440" marR="91440" marT="45720" marB="45720">
                    <a:solidFill>
                      <a:srgbClr val="202B58"/>
                    </a:solidFill>
                  </a:tcPr>
                </a:tc>
              </a:tr>
              <a:tr h="744855">
                <a:tc>
                  <a:txBody>
                    <a:bodyPr/>
                    <a:lstStyle/>
                    <a:p>
                      <a:r>
                        <a:rPr sz="1725" b="0">
                          <a:solidFill>
                            <a:srgbClr val="202B58"/>
                          </a:solidFill>
                          <a:latin typeface="Meiryo"/>
                          <a:ea typeface="Meiryo"/>
                          <a:cs typeface="Meiryo"/>
                        </a:rPr>
                        <a:t>Huら (2025) Fig.6</a:t>
                      </a:r>
                    </a:p>
                  </a:txBody>
                  <a:tcPr marL="91440" marR="91440" marT="45720" marB="45720">
                    <a:solidFill>
                      <a:srgbClr val="F1F5F8"/>
                    </a:solidFill>
                  </a:tcPr>
                </a:tc>
                <a:tc>
                  <a:txBody>
                    <a:bodyPr/>
                    <a:lstStyle/>
                    <a:p>
                      <a:r>
                        <a:rPr sz="1725" b="0">
                          <a:solidFill>
                            <a:srgbClr val="202B58"/>
                          </a:solidFill>
                          <a:latin typeface="Meiryo"/>
                          <a:ea typeface="Meiryo"/>
                          <a:cs typeface="Meiryo"/>
                        </a:rPr>
                        <a:t>SOCと充電時刻を対応</a:t>
                      </a:r>
                    </a:p>
                  </a:txBody>
                  <a:tcPr marL="91440" marR="91440" marT="45720" marB="45720">
                    <a:solidFill>
                      <a:srgbClr val="F1F5F8"/>
                    </a:solidFill>
                  </a:tcPr>
                </a:tc>
                <a:tc>
                  <a:txBody>
                    <a:bodyPr/>
                    <a:lstStyle/>
                    <a:p>
                      <a:r>
                        <a:rPr sz="1725" b="0">
                          <a:solidFill>
                            <a:srgbClr val="202B58"/>
                          </a:solidFill>
                          <a:latin typeface="Meiryo"/>
                          <a:ea typeface="Meiryo"/>
                          <a:cs typeface="Meiryo"/>
                        </a:rPr>
                        <a:t>車両例の残量・充電電力</a:t>
                      </a:r>
                    </a:p>
                  </a:txBody>
                  <a:tcPr marL="91440" marR="91440" marT="45720" marB="45720">
                    <a:solidFill>
                      <a:srgbClr val="F1F5F8"/>
                    </a:solidFill>
                  </a:tcPr>
                </a:tc>
              </a:tr>
              <a:tr h="744855">
                <a:tc>
                  <a:txBody>
                    <a:bodyPr/>
                    <a:lstStyle/>
                    <a:p>
                      <a:r>
                        <a:rPr sz="1725" b="0">
                          <a:solidFill>
                            <a:srgbClr val="202B58"/>
                          </a:solidFill>
                          <a:latin typeface="Meiryo"/>
                          <a:ea typeface="Meiryo"/>
                          <a:cs typeface="Meiryo"/>
                        </a:rPr>
                        <a:t>Huら (2025) Fig.8–9</a:t>
                      </a:r>
                    </a:p>
                  </a:txBody>
                  <a:tcPr marL="91440" marR="91440" marT="45720" marB="45720">
                    <a:solidFill>
                      <a:srgbClr val="FFFFFF"/>
                    </a:solidFill>
                  </a:tcPr>
                </a:tc>
                <a:tc>
                  <a:txBody>
                    <a:bodyPr/>
                    <a:lstStyle/>
                    <a:p>
                      <a:r>
                        <a:rPr sz="1725" b="0">
                          <a:solidFill>
                            <a:srgbClr val="202B58"/>
                          </a:solidFill>
                          <a:latin typeface="Meiryo"/>
                          <a:ea typeface="Meiryo"/>
                          <a:cs typeface="Meiryo"/>
                        </a:rPr>
                        <a:t>蓄電池と供給量を時間比較</a:t>
                      </a:r>
                    </a:p>
                  </a:txBody>
                  <a:tcPr marL="91440" marR="91440" marT="45720" marB="45720">
                    <a:solidFill>
                      <a:srgbClr val="FFFFFF"/>
                    </a:solidFill>
                  </a:tcPr>
                </a:tc>
                <a:tc>
                  <a:txBody>
                    <a:bodyPr/>
                    <a:lstStyle/>
                    <a:p>
                      <a:r>
                        <a:rPr sz="1725" b="0">
                          <a:solidFill>
                            <a:srgbClr val="202B58"/>
                          </a:solidFill>
                          <a:latin typeface="Meiryo"/>
                          <a:ea typeface="Meiryo"/>
                          <a:cs typeface="Meiryo"/>
                        </a:rPr>
                        <a:t>BESS残量・15分電力</a:t>
                      </a:r>
                    </a:p>
                  </a:txBody>
                  <a:tcPr marL="91440" marR="91440" marT="45720" marB="45720">
                    <a:solidFill>
                      <a:srgbClr val="FFFFFF"/>
                    </a:solidFill>
                  </a:tcPr>
                </a:tc>
              </a:tr>
              <a:tr h="744855">
                <a:tc>
                  <a:txBody>
                    <a:bodyPr/>
                    <a:lstStyle/>
                    <a:p>
                      <a:r>
                        <a:rPr sz="1725" b="0">
                          <a:solidFill>
                            <a:srgbClr val="202B58"/>
                          </a:solidFill>
                          <a:latin typeface="Meiryo"/>
                          <a:ea typeface="Meiryo"/>
                          <a:cs typeface="Meiryo"/>
                        </a:rPr>
                        <a:t>Huら (2025) Table 5</a:t>
                      </a:r>
                    </a:p>
                  </a:txBody>
                  <a:tcPr marL="91440" marR="91440" marT="45720" marB="45720">
                    <a:solidFill>
                      <a:srgbClr val="F1F5F8"/>
                    </a:solidFill>
                  </a:tcPr>
                </a:tc>
                <a:tc>
                  <a:txBody>
                    <a:bodyPr/>
                    <a:lstStyle/>
                    <a:p>
                      <a:r>
                        <a:rPr sz="1725" b="0">
                          <a:solidFill>
                            <a:srgbClr val="202B58"/>
                          </a:solidFill>
                          <a:latin typeface="Meiryo"/>
                          <a:ea typeface="Meiryo"/>
                          <a:cs typeface="Meiryo"/>
                        </a:rPr>
                        <a:t>費用と電力量を分解</a:t>
                      </a:r>
                    </a:p>
                  </a:txBody>
                  <a:tcPr marL="91440" marR="91440" marT="45720" marB="45720">
                    <a:solidFill>
                      <a:srgbClr val="F1F5F8"/>
                    </a:solidFill>
                  </a:tcPr>
                </a:tc>
                <a:tc>
                  <a:txBody>
                    <a:bodyPr/>
                    <a:lstStyle/>
                    <a:p>
                      <a:r>
                        <a:rPr sz="1725" b="0">
                          <a:solidFill>
                            <a:srgbClr val="202B58"/>
                          </a:solidFill>
                          <a:latin typeface="Meiryo"/>
                          <a:ea typeface="Meiryo"/>
                          <a:cs typeface="Meiryo"/>
                        </a:rPr>
                        <a:t>最終台帳に一致する内訳表</a:t>
                      </a:r>
                    </a:p>
                  </a:txBody>
                  <a:tcPr marL="91440" marR="91440" marT="45720" marB="45720">
                    <a:solidFill>
                      <a:srgbClr val="F1F5F8"/>
                    </a:solidFill>
                  </a:tcPr>
                </a:tc>
              </a:tr>
              <a:tr h="744855">
                <a:tc>
                  <a:txBody>
                    <a:bodyPr/>
                    <a:lstStyle/>
                    <a:p>
                      <a:r>
                        <a:rPr sz="1725" b="0">
                          <a:solidFill>
                            <a:srgbClr val="202B58"/>
                          </a:solidFill>
                          <a:latin typeface="Meiryo"/>
                          <a:ea typeface="Meiryo"/>
                          <a:cs typeface="Meiryo"/>
                        </a:rPr>
                        <a:t>Zhouら (2025) Table 5</a:t>
                      </a:r>
                    </a:p>
                  </a:txBody>
                  <a:tcPr marL="91440" marR="91440" marT="45720" marB="45720">
                    <a:solidFill>
                      <a:srgbClr val="FFFFFF"/>
                    </a:solidFill>
                  </a:tcPr>
                </a:tc>
                <a:tc>
                  <a:txBody>
                    <a:bodyPr/>
                    <a:lstStyle/>
                    <a:p>
                      <a:r>
                        <a:rPr sz="1725" b="0">
                          <a:solidFill>
                            <a:srgbClr val="202B58"/>
                          </a:solidFill>
                          <a:latin typeface="Meiryo"/>
                          <a:ea typeface="Meiryo"/>
                          <a:cs typeface="Meiryo"/>
                        </a:rPr>
                        <a:t>費用と計算時間を併記</a:t>
                      </a:r>
                    </a:p>
                  </a:txBody>
                  <a:tcPr marL="91440" marR="91440" marT="45720" marB="45720">
                    <a:solidFill>
                      <a:srgbClr val="FFFFFF"/>
                    </a:solidFill>
                  </a:tcPr>
                </a:tc>
                <a:tc>
                  <a:txBody>
                    <a:bodyPr/>
                    <a:lstStyle/>
                    <a:p>
                      <a:r>
                        <a:rPr sz="1725" b="0">
                          <a:solidFill>
                            <a:srgbClr val="202B58"/>
                          </a:solidFill>
                          <a:latin typeface="Meiryo"/>
                          <a:ea typeface="Meiryo"/>
                          <a:cs typeface="Meiryo"/>
                        </a:rPr>
                        <a:t>設定時間と実測時間を区別</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FC30E94-F9AF-4988-A781-9EF2FE9FFBA4}"/>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7963086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A143BB-A05D-4B06-BA47-CC5E8B0D52EE}"/>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PV発電の行き先：15分ごとの比較</a:t>
            </a:r>
          </a:p>
        </p:txBody>
      </p:sp>
      <p:sp>
        <p:nvSpPr>
          <p:cNvPr id="2" name="">
            <a:extLst xmlns:a="http://schemas.openxmlformats.org/drawingml/2006/main">
              <a:ext uri="{FF2B5EF4-FFF2-40B4-BE49-F238E27FC236}">
                <a16:creationId xmlns:a16="http://schemas.microsoft.com/office/drawing/2014/main" id="{680596F9-FC52-4CBF-ABF1-31C540939658}"/>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同一の縦軸。電力 [kW] = 各15分枠の電力量 [kWh] ÷ 0.25 h</a:t>
            </a:r>
          </a:p>
        </p:txBody>
      </p:sp>
      <p:sp>
        <p:nvSpPr>
          <p:cNvPr id="3" name="">
            <a:extLst xmlns:a="http://schemas.openxmlformats.org/drawingml/2006/main">
              <a:ext uri="{FF2B5EF4-FFF2-40B4-BE49-F238E27FC236}">
                <a16:creationId xmlns:a16="http://schemas.microsoft.com/office/drawing/2014/main" id="{2D31CD2A-6F5F-4593-B8C2-44DD29292F84}"/>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高PVの抑制は日中に発生し、低PVの抑制はほぼゼロ</a:t>
            </a:r>
          </a:p>
        </p:txBody>
      </p:sp>
      <p:sp>
        <p:nvSpPr>
          <p:cNvPr id="4" name="">
            <a:extLst xmlns:a="http://schemas.openxmlformats.org/drawingml/2006/main">
              <a:ext uri="{FF2B5EF4-FFF2-40B4-BE49-F238E27FC236}">
                <a16:creationId xmlns:a16="http://schemas.microsoft.com/office/drawing/2014/main" id="{83E8266B-6A21-45BD-BC7D-126C66ABA28E}"/>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営業所・時刻別のsolver-nativeフロー。抑制原因の反実仮想による分解は未実施。</a:t>
            </a:r>
          </a:p>
        </p:txBody>
      </p:sp>
      <p:sp>
        <p:nvSpPr>
          <p:cNvPr id="5" name="">
            <a:extLst xmlns:a="http://schemas.openxmlformats.org/drawingml/2006/main">
              <a:ext uri="{FF2B5EF4-FFF2-40B4-BE49-F238E27FC236}">
                <a16:creationId xmlns:a16="http://schemas.microsoft.com/office/drawing/2014/main" id="{8BE473BA-95EA-498F-844C-EC43C7551FBF}"/>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3</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a42d48a20a9e4ccd"/>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f032fbac2e6b4790"/>
          </a:graphicData>
        </a:graphic>
      </p:graphicFrame>
      <p:sp>
        <p:nvSpPr>
          <p:cNvPr id="8" name="">
            <a:extLst xmlns:a="http://schemas.openxmlformats.org/drawingml/2006/main">
              <a:ext uri="{FF2B5EF4-FFF2-40B4-BE49-F238E27FC236}">
                <a16:creationId xmlns:a16="http://schemas.microsoft.com/office/drawing/2014/main" id="{577A0D7D-5757-4F0D-B8B5-1BF1A57EB501}"/>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8935557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8675D3-1BCC-4D53-8DC2-CF8FD8D6A787}"/>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BEV充電電力と系統購入の時間分布</a:t>
            </a:r>
          </a:p>
        </p:txBody>
      </p:sp>
      <p:sp>
        <p:nvSpPr>
          <p:cNvPr id="2" name="">
            <a:extLst xmlns:a="http://schemas.openxmlformats.org/drawingml/2006/main">
              <a:ext uri="{FF2B5EF4-FFF2-40B4-BE49-F238E27FC236}">
                <a16:creationId xmlns:a16="http://schemas.microsoft.com/office/drawing/2014/main" id="{BDCFC72C-2832-4ADA-B9E3-B8969C014458}"/>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各供給元の電力合計が、バスへの充電器入力となる</a:t>
            </a:r>
          </a:p>
        </p:txBody>
      </p:sp>
      <p:sp>
        <p:nvSpPr>
          <p:cNvPr id="3" name="">
            <a:extLst xmlns:a="http://schemas.openxmlformats.org/drawingml/2006/main">
              <a:ext uri="{FF2B5EF4-FFF2-40B4-BE49-F238E27FC236}">
                <a16:creationId xmlns:a16="http://schemas.microsoft.com/office/drawing/2014/main" id="{A30B8816-997A-43D0-9C4B-61AC317A96B6}"/>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高PVは系統購入ゼロ。低PVの系統購入は合計130.85 kWh</a:t>
            </a:r>
          </a:p>
        </p:txBody>
      </p:sp>
      <p:sp>
        <p:nvSpPr>
          <p:cNvPr id="4" name="">
            <a:extLst xmlns:a="http://schemas.openxmlformats.org/drawingml/2006/main">
              <a:ext uri="{FF2B5EF4-FFF2-40B4-BE49-F238E27FC236}">
                <a16:creationId xmlns:a16="http://schemas.microsoft.com/office/drawing/2014/main" id="{C1E07E12-7D15-49B8-AA91-67397FAD13AF}"/>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折れ線は15分平均の段差表示。車両ごとの電源割当は比例配分であり、ここでは使わない。</a:t>
            </a:r>
          </a:p>
        </p:txBody>
      </p:sp>
      <p:sp>
        <p:nvSpPr>
          <p:cNvPr id="5" name="">
            <a:extLst xmlns:a="http://schemas.openxmlformats.org/drawingml/2006/main">
              <a:ext uri="{FF2B5EF4-FFF2-40B4-BE49-F238E27FC236}">
                <a16:creationId xmlns:a16="http://schemas.microsoft.com/office/drawing/2014/main" id="{7676E874-8236-4905-A3CB-4E28961BBB7A}"/>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4</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0826641b45454657"/>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de79e482af6d4b87"/>
          </a:graphicData>
        </a:graphic>
      </p:graphicFrame>
      <p:sp>
        <p:nvSpPr>
          <p:cNvPr id="8" name="">
            <a:extLst xmlns:a="http://schemas.openxmlformats.org/drawingml/2006/main">
              <a:ext uri="{FF2B5EF4-FFF2-40B4-BE49-F238E27FC236}">
                <a16:creationId xmlns:a16="http://schemas.microsoft.com/office/drawing/2014/main" id="{9724AEDF-AFD3-49A3-B30D-42F4C57A9424}"/>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4649020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062359-2FFD-4E09-9520-89D9010D9468}"/>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BESS残量：両条件とも3,000 kWhへ戻る</a:t>
            </a:r>
          </a:p>
        </p:txBody>
      </p:sp>
      <p:sp>
        <p:nvSpPr>
          <p:cNvPr id="2" name="">
            <a:extLst xmlns:a="http://schemas.openxmlformats.org/drawingml/2006/main">
              <a:ext uri="{FF2B5EF4-FFF2-40B4-BE49-F238E27FC236}">
                <a16:creationId xmlns:a16="http://schemas.microsoft.com/office/drawing/2014/main" id="{DA3CC233-5FB9-486B-ACA1-B760A5327F7F}"/>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設備容量6,000 kWh、許容範囲1,200～4,800 kWh</a:t>
            </a:r>
          </a:p>
        </p:txBody>
      </p:sp>
      <p:sp>
        <p:nvSpPr>
          <p:cNvPr id="3" name="">
            <a:extLst xmlns:a="http://schemas.openxmlformats.org/drawingml/2006/main">
              <a:ext uri="{FF2B5EF4-FFF2-40B4-BE49-F238E27FC236}">
                <a16:creationId xmlns:a16="http://schemas.microsoft.com/office/drawing/2014/main" id="{8AD16069-4C15-4C20-B413-5EFEBC0DC548}"/>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初期エネルギーの使い切りで、当日の費用を下げてはいない</a:t>
            </a:r>
          </a:p>
        </p:txBody>
      </p:sp>
      <p:sp>
        <p:nvSpPr>
          <p:cNvPr id="4" name="">
            <a:extLst xmlns:a="http://schemas.openxmlformats.org/drawingml/2006/main">
              <a:ext uri="{FF2B5EF4-FFF2-40B4-BE49-F238E27FC236}">
                <a16:creationId xmlns:a16="http://schemas.microsoft.com/office/drawing/2014/main" id="{2C47AD26-2DF2-4671-B722-CC7B31DE067F}"/>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残量は各15分枠の終端値。高PVの最小値は数値誤差を丸めて1,200 kWh。</a:t>
            </a:r>
          </a:p>
        </p:txBody>
      </p:sp>
      <p:sp>
        <p:nvSpPr>
          <p:cNvPr id="5" name="">
            <a:extLst xmlns:a="http://schemas.openxmlformats.org/drawingml/2006/main">
              <a:ext uri="{FF2B5EF4-FFF2-40B4-BE49-F238E27FC236}">
                <a16:creationId xmlns:a16="http://schemas.microsoft.com/office/drawing/2014/main" id="{3680555A-B4A2-4DB8-ABBD-342B13D50F21}"/>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5</a:t>
            </a:r>
          </a:p>
        </p:txBody>
      </p:sp>
      <p:graphicFrame>
        <p:nvGraphicFramePr>
          <p:cNvPr id="14" name="Chart"/>
          <p:cNvGraphicFramePr/>
          <p:nvPr/>
        </p:nvGraphicFramePr>
        <p:xfrm>
          <a:off xmlns:a="http://schemas.openxmlformats.org/drawingml/2006/main" x="619125" y="1562100"/>
          <a:ext xmlns:a="http://schemas.openxmlformats.org/drawingml/2006/main" cx="10953750" cy="2762250"/>
        </p:xfrm>
        <a:graphic xmlns:a="http://schemas.openxmlformats.org/drawingml/2006/main">
          <a:graphicData uri="http://schemas.openxmlformats.org/drawingml/2006/chart">
            <c:chart xmlns:r="http://schemas.openxmlformats.org/officeDocument/2006/relationships" xmlns:c="http://schemas.openxmlformats.org/drawingml/2006/chart" r:id="R60e7a4ada8ed4c98"/>
          </a:graphicData>
        </a:graphic>
      </p:graphicFrame>
      <p:graphicFrame>
        <p:nvGraphicFramePr>
          <p:cNvPr id="15" name=""/>
          <p:cNvGraphicFramePr/>
          <p:nvPr/>
        </p:nvGraphicFramePr>
        <p:xfrm>
          <a:off xmlns:a="http://schemas.openxmlformats.org/drawingml/2006/main" x="571500" y="4476750"/>
          <a:ext xmlns:a="http://schemas.openxmlformats.org/drawingml/2006/main" cx="11049000" cy="1057275"/>
        </p:xfrm>
        <a:graphic xmlns:a="http://schemas.openxmlformats.org/drawingml/2006/main">
          <a:graphicData uri="http://schemas.openxmlformats.org/drawingml/2006/table">
            <a:tbl>
              <a:tblPr/>
              <a:tblGrid>
                <a:gridCol w="2476500"/>
                <a:gridCol w="1857375"/>
                <a:gridCol w="2000250"/>
                <a:gridCol w="2000250"/>
                <a:gridCol w="2714625"/>
              </a:tblGrid>
              <a:tr h="352425">
                <a:tc>
                  <a:txBody>
                    <a:bodyPr/>
                    <a:lstStyle/>
                    <a:p>
                      <a:r>
                        <a:rPr sz="1500" b="1">
                          <a:solidFill>
                            <a:srgbClr val="FFFFFF"/>
                          </a:solidFill>
                          <a:latin typeface="Meiryo"/>
                          <a:ea typeface="Meiryo"/>
                          <a:cs typeface="Meiryo"/>
                        </a:rPr>
                        <a:t>条件</a:t>
                      </a:r>
                    </a:p>
                  </a:txBody>
                  <a:tcPr marL="91440" marR="91440" marT="45720" marB="45720">
                    <a:solidFill>
                      <a:srgbClr val="202B58"/>
                    </a:solidFill>
                  </a:tcPr>
                </a:tc>
                <a:tc>
                  <a:txBody>
                    <a:bodyPr/>
                    <a:lstStyle/>
                    <a:p>
                      <a:r>
                        <a:rPr sz="1500" b="1">
                          <a:solidFill>
                            <a:srgbClr val="FFFFFF"/>
                          </a:solidFill>
                          <a:latin typeface="Meiryo"/>
                          <a:ea typeface="Meiryo"/>
                          <a:cs typeface="Meiryo"/>
                        </a:rPr>
                        <a:t>開始</a:t>
                      </a:r>
                    </a:p>
                  </a:txBody>
                  <a:tcPr marL="91440" marR="91440" marT="45720" marB="45720">
                    <a:solidFill>
                      <a:srgbClr val="202B58"/>
                    </a:solidFill>
                  </a:tcPr>
                </a:tc>
                <a:tc>
                  <a:txBody>
                    <a:bodyPr/>
                    <a:lstStyle/>
                    <a:p>
                      <a:r>
                        <a:rPr sz="1500" b="1">
                          <a:solidFill>
                            <a:srgbClr val="FFFFFF"/>
                          </a:solidFill>
                          <a:latin typeface="Meiryo"/>
                          <a:ea typeface="Meiryo"/>
                          <a:cs typeface="Meiryo"/>
                        </a:rPr>
                        <a:t>最小</a:t>
                      </a:r>
                    </a:p>
                  </a:txBody>
                  <a:tcPr marL="91440" marR="91440" marT="45720" marB="45720">
                    <a:solidFill>
                      <a:srgbClr val="202B58"/>
                    </a:solidFill>
                  </a:tcPr>
                </a:tc>
                <a:tc>
                  <a:txBody>
                    <a:bodyPr/>
                    <a:lstStyle/>
                    <a:p>
                      <a:r>
                        <a:rPr sz="1500" b="1">
                          <a:solidFill>
                            <a:srgbClr val="FFFFFF"/>
                          </a:solidFill>
                          <a:latin typeface="Meiryo"/>
                          <a:ea typeface="Meiryo"/>
                          <a:cs typeface="Meiryo"/>
                        </a:rPr>
                        <a:t>最大</a:t>
                      </a:r>
                    </a:p>
                  </a:txBody>
                  <a:tcPr marL="91440" marR="91440" marT="45720" marB="45720">
                    <a:solidFill>
                      <a:srgbClr val="202B58"/>
                    </a:solidFill>
                  </a:tcPr>
                </a:tc>
                <a:tc>
                  <a:txBody>
                    <a:bodyPr/>
                    <a:lstStyle/>
                    <a:p>
                      <a:r>
                        <a:rPr sz="1500" b="1">
                          <a:solidFill>
                            <a:srgbClr val="FFFFFF"/>
                          </a:solidFill>
                          <a:latin typeface="Meiryo"/>
                          <a:ea typeface="Meiryo"/>
                          <a:cs typeface="Meiryo"/>
                        </a:rPr>
                        <a:t>終了 / 差</a:t>
                      </a:r>
                    </a:p>
                  </a:txBody>
                  <a:tcPr marL="91440" marR="91440" marT="45720" marB="45720">
                    <a:solidFill>
                      <a:srgbClr val="202B58"/>
                    </a:solidFill>
                  </a:tcPr>
                </a:tc>
              </a:tr>
              <a:tr h="352425">
                <a:tc>
                  <a:txBody>
                    <a:bodyPr/>
                    <a:lstStyle/>
                    <a:p>
                      <a:r>
                        <a:rPr sz="1500" b="0">
                          <a:solidFill>
                            <a:srgbClr val="202B58"/>
                          </a:solidFill>
                          <a:latin typeface="Meiryo"/>
                          <a:ea typeface="Meiryo"/>
                          <a:cs typeface="Meiryo"/>
                        </a:rPr>
                        <a:t>高PV（SUNNY）</a:t>
                      </a:r>
                    </a:p>
                  </a:txBody>
                  <a:tcPr marL="91440" marR="91440" marT="45720" marB="45720">
                    <a:solidFill>
                      <a:srgbClr val="F1F5F8"/>
                    </a:solidFill>
                  </a:tcPr>
                </a:tc>
                <a:tc>
                  <a:txBody>
                    <a:bodyPr/>
                    <a:lstStyle/>
                    <a:p>
                      <a:r>
                        <a:rPr sz="1500" b="0">
                          <a:solidFill>
                            <a:srgbClr val="202B58"/>
                          </a:solidFill>
                          <a:latin typeface="Meiryo"/>
                          <a:ea typeface="Meiryo"/>
                          <a:cs typeface="Meiryo"/>
                        </a:rPr>
                        <a:t>3,000</a:t>
                      </a:r>
                    </a:p>
                  </a:txBody>
                  <a:tcPr marL="91440" marR="91440" marT="45720" marB="45720">
                    <a:solidFill>
                      <a:srgbClr val="F1F5F8"/>
                    </a:solidFill>
                  </a:tcPr>
                </a:tc>
                <a:tc>
                  <a:txBody>
                    <a:bodyPr/>
                    <a:lstStyle/>
                    <a:p>
                      <a:r>
                        <a:rPr sz="1500" b="0">
                          <a:solidFill>
                            <a:srgbClr val="202B58"/>
                          </a:solidFill>
                          <a:latin typeface="Meiryo"/>
                          <a:ea typeface="Meiryo"/>
                          <a:cs typeface="Meiryo"/>
                        </a:rPr>
                        <a:t>1,200.0</a:t>
                      </a:r>
                    </a:p>
                  </a:txBody>
                  <a:tcPr marL="91440" marR="91440" marT="45720" marB="45720">
                    <a:solidFill>
                      <a:srgbClr val="F1F5F8"/>
                    </a:solidFill>
                  </a:tcPr>
                </a:tc>
                <a:tc>
                  <a:txBody>
                    <a:bodyPr/>
                    <a:lstStyle/>
                    <a:p>
                      <a:r>
                        <a:rPr sz="1500" b="0">
                          <a:solidFill>
                            <a:srgbClr val="202B58"/>
                          </a:solidFill>
                          <a:latin typeface="Meiryo"/>
                          <a:ea typeface="Meiryo"/>
                          <a:cs typeface="Meiryo"/>
                        </a:rPr>
                        <a:t>3,644.3</a:t>
                      </a:r>
                    </a:p>
                  </a:txBody>
                  <a:tcPr marL="91440" marR="91440" marT="45720" marB="45720">
                    <a:solidFill>
                      <a:srgbClr val="F1F5F8"/>
                    </a:solidFill>
                  </a:tcPr>
                </a:tc>
                <a:tc>
                  <a:txBody>
                    <a:bodyPr/>
                    <a:lstStyle/>
                    <a:p>
                      <a:r>
                        <a:rPr sz="1500" b="0">
                          <a:solidFill>
                            <a:srgbClr val="202B58"/>
                          </a:solidFill>
                          <a:latin typeface="Meiryo"/>
                          <a:ea typeface="Meiryo"/>
                          <a:cs typeface="Meiryo"/>
                        </a:rPr>
                        <a:t>3,000 / 0 kWh</a:t>
                      </a:r>
                    </a:p>
                  </a:txBody>
                  <a:tcPr marL="91440" marR="91440" marT="45720" marB="45720">
                    <a:solidFill>
                      <a:srgbClr val="F1F5F8"/>
                    </a:solidFill>
                  </a:tcPr>
                </a:tc>
              </a:tr>
              <a:tr h="352425">
                <a:tc>
                  <a:txBody>
                    <a:bodyPr/>
                    <a:lstStyle/>
                    <a:p>
                      <a:r>
                        <a:rPr sz="1500" b="0">
                          <a:solidFill>
                            <a:srgbClr val="202B58"/>
                          </a:solidFill>
                          <a:latin typeface="Meiryo"/>
                          <a:ea typeface="Meiryo"/>
                          <a:cs typeface="Meiryo"/>
                        </a:rPr>
                        <a:t>低PV（RAIN）</a:t>
                      </a:r>
                    </a:p>
                  </a:txBody>
                  <a:tcPr marL="91440" marR="91440" marT="45720" marB="45720">
                    <a:solidFill>
                      <a:srgbClr val="FFFFFF"/>
                    </a:solidFill>
                  </a:tcPr>
                </a:tc>
                <a:tc>
                  <a:txBody>
                    <a:bodyPr/>
                    <a:lstStyle/>
                    <a:p>
                      <a:r>
                        <a:rPr sz="1500" b="0">
                          <a:solidFill>
                            <a:srgbClr val="202B58"/>
                          </a:solidFill>
                          <a:latin typeface="Meiryo"/>
                          <a:ea typeface="Meiryo"/>
                          <a:cs typeface="Meiryo"/>
                        </a:rPr>
                        <a:t>3,000</a:t>
                      </a:r>
                    </a:p>
                  </a:txBody>
                  <a:tcPr marL="91440" marR="91440" marT="45720" marB="45720">
                    <a:solidFill>
                      <a:srgbClr val="FFFFFF"/>
                    </a:solidFill>
                  </a:tcPr>
                </a:tc>
                <a:tc>
                  <a:txBody>
                    <a:bodyPr/>
                    <a:lstStyle/>
                    <a:p>
                      <a:r>
                        <a:rPr sz="1500" b="0">
                          <a:solidFill>
                            <a:srgbClr val="202B58"/>
                          </a:solidFill>
                          <a:latin typeface="Meiryo"/>
                          <a:ea typeface="Meiryo"/>
                          <a:cs typeface="Meiryo"/>
                        </a:rPr>
                        <a:t>2,609.5</a:t>
                      </a:r>
                    </a:p>
                  </a:txBody>
                  <a:tcPr marL="91440" marR="91440" marT="45720" marB="45720">
                    <a:solidFill>
                      <a:srgbClr val="FFFFFF"/>
                    </a:solidFill>
                  </a:tcPr>
                </a:tc>
                <a:tc>
                  <a:txBody>
                    <a:bodyPr/>
                    <a:lstStyle/>
                    <a:p>
                      <a:r>
                        <a:rPr sz="1500" b="0">
                          <a:solidFill>
                            <a:srgbClr val="202B58"/>
                          </a:solidFill>
                          <a:latin typeface="Meiryo"/>
                          <a:ea typeface="Meiryo"/>
                          <a:cs typeface="Meiryo"/>
                        </a:rPr>
                        <a:t>3,336.9</a:t>
                      </a:r>
                    </a:p>
                  </a:txBody>
                  <a:tcPr marL="91440" marR="91440" marT="45720" marB="45720">
                    <a:solidFill>
                      <a:srgbClr val="FFFFFF"/>
                    </a:solidFill>
                  </a:tcPr>
                </a:tc>
                <a:tc>
                  <a:txBody>
                    <a:bodyPr/>
                    <a:lstStyle/>
                    <a:p>
                      <a:r>
                        <a:rPr sz="1500" b="0">
                          <a:solidFill>
                            <a:srgbClr val="202B58"/>
                          </a:solidFill>
                          <a:latin typeface="Meiryo"/>
                          <a:ea typeface="Meiryo"/>
                          <a:cs typeface="Meiryo"/>
                        </a:rPr>
                        <a:t>3,000 / 0 kWh</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0623175-E112-429C-8667-78ABD9B6B82A}"/>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57076671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6E08A6-F48D-4F50-AF04-AA09D7B96DBD}"/>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BESSの充電・放電電力</a:t>
            </a:r>
          </a:p>
        </p:txBody>
      </p:sp>
      <p:sp>
        <p:nvSpPr>
          <p:cNvPr id="2" name="">
            <a:extLst xmlns:a="http://schemas.openxmlformats.org/drawingml/2006/main">
              <a:ext uri="{FF2B5EF4-FFF2-40B4-BE49-F238E27FC236}">
                <a16:creationId xmlns:a16="http://schemas.microsoft.com/office/drawing/2014/main" id="{552A6C01-FF9F-4328-B681-474D9D8D3CBD}"/>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両方向を正値で表示。SOCは充電効率95%・放電効率95%で更新</a:t>
            </a:r>
          </a:p>
        </p:txBody>
      </p:sp>
      <p:sp>
        <p:nvSpPr>
          <p:cNvPr id="3" name="">
            <a:extLst xmlns:a="http://schemas.openxmlformats.org/drawingml/2006/main">
              <a:ext uri="{FF2B5EF4-FFF2-40B4-BE49-F238E27FC236}">
                <a16:creationId xmlns:a16="http://schemas.microsoft.com/office/drawing/2014/main" id="{EA400015-37D7-4770-AEB3-D4C880AD3AEE}"/>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高PVでは日中に蓄え、バスの充電時に放電する</a:t>
            </a:r>
          </a:p>
        </p:txBody>
      </p:sp>
      <p:sp>
        <p:nvSpPr>
          <p:cNvPr id="4" name="">
            <a:extLst xmlns:a="http://schemas.openxmlformats.org/drawingml/2006/main">
              <a:ext uri="{FF2B5EF4-FFF2-40B4-BE49-F238E27FC236}">
                <a16:creationId xmlns:a16="http://schemas.microsoft.com/office/drawing/2014/main" id="{9F596E75-229B-4265-9966-A2F0EAE4EA56}"/>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充電電力と放電電力の差だけではSOC差にならない。両方向の効率を含める。</a:t>
            </a:r>
          </a:p>
        </p:txBody>
      </p:sp>
      <p:sp>
        <p:nvSpPr>
          <p:cNvPr id="5" name="">
            <a:extLst xmlns:a="http://schemas.openxmlformats.org/drawingml/2006/main">
              <a:ext uri="{FF2B5EF4-FFF2-40B4-BE49-F238E27FC236}">
                <a16:creationId xmlns:a16="http://schemas.microsoft.com/office/drawing/2014/main" id="{8D821336-DD25-4170-B4CF-58F9152ABEE7}"/>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6</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8ad7a5ab17f44902"/>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c42f265b258f4e45"/>
          </a:graphicData>
        </a:graphic>
      </p:graphicFrame>
      <p:sp>
        <p:nvSpPr>
          <p:cNvPr id="8" name="">
            <a:extLst xmlns:a="http://schemas.openxmlformats.org/drawingml/2006/main">
              <a:ext uri="{FF2B5EF4-FFF2-40B4-BE49-F238E27FC236}">
                <a16:creationId xmlns:a16="http://schemas.microsoft.com/office/drawing/2014/main" id="{CE542DC4-12BF-469A-AE90-1E08F43D59F6}"/>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34686649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8E7DF9-C6B1-4127-BA23-3E5B8B197107}"/>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同時充電台数と、充電に必要な時間</a:t>
            </a:r>
          </a:p>
        </p:txBody>
      </p:sp>
      <p:sp>
        <p:nvSpPr>
          <p:cNvPr id="2" name="">
            <a:extLst xmlns:a="http://schemas.openxmlformats.org/drawingml/2006/main">
              <a:ext uri="{FF2B5EF4-FFF2-40B4-BE49-F238E27FC236}">
                <a16:creationId xmlns:a16="http://schemas.microsoft.com/office/drawing/2014/main" id="{4EBA9067-DADF-4A90-AE41-477BBB21404A}"/>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15分単位。正の充電電力を持つ車両数を集計</a:t>
            </a:r>
          </a:p>
        </p:txBody>
      </p:sp>
      <p:sp>
        <p:nvSpPr>
          <p:cNvPr id="3" name="">
            <a:extLst xmlns:a="http://schemas.openxmlformats.org/drawingml/2006/main">
              <a:ext uri="{FF2B5EF4-FFF2-40B4-BE49-F238E27FC236}">
                <a16:creationId xmlns:a16="http://schemas.microsoft.com/office/drawing/2014/main" id="{D0001A85-8B77-466F-B2BE-DF2B530AB5DB}"/>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「同時に10台」と「1台が短時間で満充電」は別の数量</a:t>
            </a:r>
          </a:p>
        </p:txBody>
      </p:sp>
      <p:sp>
        <p:nvSpPr>
          <p:cNvPr id="4" name="">
            <a:extLst xmlns:a="http://schemas.openxmlformats.org/drawingml/2006/main">
              <a:ext uri="{FF2B5EF4-FFF2-40B4-BE49-F238E27FC236}">
                <a16:creationId xmlns:a16="http://schemas.microsoft.com/office/drawing/2014/main" id="{DBE34B01-4AA3-4A2A-97EC-97452BFF591C}"/>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台数は電力&gt;1e−6 kWのセッション数。接続中台数・待ち台数・必要最小ポート数ではない。</a:t>
            </a:r>
          </a:p>
        </p:txBody>
      </p:sp>
      <p:sp>
        <p:nvSpPr>
          <p:cNvPr id="5" name="">
            <a:extLst xmlns:a="http://schemas.openxmlformats.org/drawingml/2006/main">
              <a:ext uri="{FF2B5EF4-FFF2-40B4-BE49-F238E27FC236}">
                <a16:creationId xmlns:a16="http://schemas.microsoft.com/office/drawing/2014/main" id="{F97C647B-ADAD-4DB3-A7DF-39E6CF74CEEF}"/>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7</a:t>
            </a:r>
          </a:p>
        </p:txBody>
      </p:sp>
      <p:graphicFrame>
        <p:nvGraphicFramePr>
          <p:cNvPr id="15" name="Chart"/>
          <p:cNvGraphicFramePr/>
          <p:nvPr/>
        </p:nvGraphicFramePr>
        <p:xfrm>
          <a:off xmlns:a="http://schemas.openxmlformats.org/drawingml/2006/main" x="619125" y="1628775"/>
          <a:ext xmlns:a="http://schemas.openxmlformats.org/drawingml/2006/main" cx="10953750" cy="2762250"/>
        </p:xfrm>
        <a:graphic xmlns:a="http://schemas.openxmlformats.org/drawingml/2006/main">
          <a:graphicData uri="http://schemas.openxmlformats.org/drawingml/2006/chart">
            <c:chart xmlns:r="http://schemas.openxmlformats.org/officeDocument/2006/relationships" xmlns:c="http://schemas.openxmlformats.org/drawingml/2006/chart" r:id="R5afaab327a524a27"/>
          </a:graphicData>
        </a:graphic>
      </p:graphicFrame>
      <p:sp>
        <p:nvSpPr>
          <p:cNvPr id="7" name="">
            <a:extLst xmlns:a="http://schemas.openxmlformats.org/drawingml/2006/main">
              <a:ext uri="{FF2B5EF4-FFF2-40B4-BE49-F238E27FC236}">
                <a16:creationId xmlns:a16="http://schemas.microsoft.com/office/drawing/2014/main" id="{CF1147BB-9447-4EB3-A816-E2A8B0E2B24F}"/>
              </a:ext>
            </a:extLst>
          </p:cNvPr>
          <p:cNvSpPr>
            <a:spLocks xmlns:a="http://schemas.openxmlformats.org/drawingml/2006/main" noGrp="1"/>
          </p:cNvSpPr>
          <p:nvPr/>
        </p:nvSpPr>
        <p:spPr>
          <a:xfrm xmlns:a="http://schemas.openxmlformats.org/drawingml/2006/main">
            <a:off x="762000" y="45529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B58"/>
                </a:solidFill>
                <a:latin typeface="Meiryo"/>
                <a:ea typeface="Meiryo"/>
                <a:cs typeface="Meiryo"/>
              </a:defRPr>
            </a:pPr>
            <a:r>
              <a:rPr sz="1950" b="1">
                <a:solidFill>
                  <a:srgbClr val="202B58"/>
                </a:solidFill>
                <a:latin typeface="Meiryo"/>
                <a:ea typeface="Meiryo"/>
                <a:cs typeface="Meiryo"/>
              </a:rPr>
              <a:t>20%から80%まで：314 × (0.80−0.20) = 188.4 kWh</a:t>
            </a:r>
          </a:p>
        </p:txBody>
      </p:sp>
      <p:sp>
        <p:nvSpPr>
          <p:cNvPr id="8" name="">
            <a:extLst xmlns:a="http://schemas.openxmlformats.org/drawingml/2006/main">
              <a:ext uri="{FF2B5EF4-FFF2-40B4-BE49-F238E27FC236}">
                <a16:creationId xmlns:a16="http://schemas.microsoft.com/office/drawing/2014/main" id="{46B40EB4-525F-4B51-AF5F-AD9003B33E4B}"/>
              </a:ext>
            </a:extLst>
          </p:cNvPr>
          <p:cNvSpPr>
            <a:spLocks xmlns:a="http://schemas.openxmlformats.org/drawingml/2006/main" noGrp="1"/>
          </p:cNvSpPr>
          <p:nvPr/>
        </p:nvSpPr>
        <p:spPr>
          <a:xfrm xmlns:a="http://schemas.openxmlformats.org/drawingml/2006/main">
            <a:off x="762000" y="50196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B58"/>
                </a:solidFill>
                <a:latin typeface="Meiryo"/>
                <a:ea typeface="Meiryo"/>
                <a:cs typeface="Meiryo"/>
              </a:defRPr>
            </a:pPr>
            <a:r>
              <a:rPr sz="1950" b="0">
                <a:solidFill>
                  <a:srgbClr val="202B58"/>
                </a:solidFill>
                <a:latin typeface="Meiryo"/>
                <a:ea typeface="Meiryo"/>
                <a:cs typeface="Meiryo"/>
              </a:rPr>
              <a:t>90 kWで連続充電しても、無損失の理論最短は2.09時間</a:t>
            </a:r>
          </a:p>
        </p:txBody>
      </p:sp>
      <p:sp>
        <p:nvSpPr>
          <p:cNvPr id="9" name="">
            <a:extLst xmlns:a="http://schemas.openxmlformats.org/drawingml/2006/main">
              <a:ext uri="{FF2B5EF4-FFF2-40B4-BE49-F238E27FC236}">
                <a16:creationId xmlns:a16="http://schemas.microsoft.com/office/drawing/2014/main" id="{6A1802DC-FDF0-41A6-B488-3FD1775D4F96}"/>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20560907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4E22C1-DC13-4200-A91A-AD4F00FD3A27}"/>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車両別の充電電力：最大充電量の車両例</a:t>
            </a:r>
          </a:p>
        </p:txBody>
      </p:sp>
      <p:sp>
        <p:nvSpPr>
          <p:cNvPr id="2" name="">
            <a:extLst xmlns:a="http://schemas.openxmlformats.org/drawingml/2006/main">
              <a:ext uri="{FF2B5EF4-FFF2-40B4-BE49-F238E27FC236}">
                <a16:creationId xmlns:a16="http://schemas.microsoft.com/office/drawing/2014/main" id="{253665B8-2795-45C0-A24E-937DA20E7E64}"/>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各条件で一日の充電器入力が最大の1台を選ぶ。同一車両・平均車両の比較ではない</a:t>
            </a:r>
          </a:p>
        </p:txBody>
      </p:sp>
      <p:sp>
        <p:nvSpPr>
          <p:cNvPr id="3" name="">
            <a:extLst xmlns:a="http://schemas.openxmlformats.org/drawingml/2006/main">
              <a:ext uri="{FF2B5EF4-FFF2-40B4-BE49-F238E27FC236}">
                <a16:creationId xmlns:a16="http://schemas.microsoft.com/office/drawing/2014/main" id="{F0185F4E-65E6-4116-91E3-260E8036B55E}"/>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高PVの例は4.00時間、低PVの例は3.25時間に分けて充電</a:t>
            </a:r>
          </a:p>
        </p:txBody>
      </p:sp>
      <p:sp>
        <p:nvSpPr>
          <p:cNvPr id="4" name="">
            <a:extLst xmlns:a="http://schemas.openxmlformats.org/drawingml/2006/main">
              <a:ext uri="{FF2B5EF4-FFF2-40B4-BE49-F238E27FC236}">
                <a16:creationId xmlns:a16="http://schemas.microsoft.com/office/drawing/2014/main" id="{80169187-4522-4B76-BEAB-18E5D5112384}"/>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時間は正の充電電力がある15分枠の合計。連続した充電時間ではない。</a:t>
            </a:r>
          </a:p>
        </p:txBody>
      </p:sp>
      <p:sp>
        <p:nvSpPr>
          <p:cNvPr id="5" name="">
            <a:extLst xmlns:a="http://schemas.openxmlformats.org/drawingml/2006/main">
              <a:ext uri="{FF2B5EF4-FFF2-40B4-BE49-F238E27FC236}">
                <a16:creationId xmlns:a16="http://schemas.microsoft.com/office/drawing/2014/main" id="{4C5CAB4C-2421-457E-82FE-68D5EB4F1AA2}"/>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8</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c10bf66c2e924727"/>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7da61cc7aa9f4b01"/>
          </a:graphicData>
        </a:graphic>
      </p:graphicFrame>
      <p:sp>
        <p:nvSpPr>
          <p:cNvPr id="8" name="">
            <a:extLst xmlns:a="http://schemas.openxmlformats.org/drawingml/2006/main">
              <a:ext uri="{FF2B5EF4-FFF2-40B4-BE49-F238E27FC236}">
                <a16:creationId xmlns:a16="http://schemas.microsoft.com/office/drawing/2014/main" id="{1924E597-7610-4399-9365-1B2D15589815}"/>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00522794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FECB44-865B-4BDE-A635-DAF5839DC459}"/>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同じ車両例のSOC軌跡</a:t>
            </a:r>
          </a:p>
        </p:txBody>
      </p:sp>
      <p:sp>
        <p:nvSpPr>
          <p:cNvPr id="2" name="">
            <a:extLst xmlns:a="http://schemas.openxmlformats.org/drawingml/2006/main">
              <a:ext uri="{FF2B5EF4-FFF2-40B4-BE49-F238E27FC236}">
                <a16:creationId xmlns:a16="http://schemas.microsoft.com/office/drawing/2014/main" id="{B7B748F6-A0AE-4172-8069-C1077E2B3A43}"/>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前ページの各車両を追跡。上昇は充電、低下はモデル上の運行消費</a:t>
            </a:r>
          </a:p>
        </p:txBody>
      </p:sp>
      <p:sp>
        <p:nvSpPr>
          <p:cNvPr id="3" name="">
            <a:extLst xmlns:a="http://schemas.openxmlformats.org/drawingml/2006/main">
              <a:ext uri="{FF2B5EF4-FFF2-40B4-BE49-F238E27FC236}">
                <a16:creationId xmlns:a16="http://schemas.microsoft.com/office/drawing/2014/main" id="{E6654A93-8C52-40CC-A0AD-8CAAA2E0E9D4}"/>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高PVの例は最大93.37%。入力上限90%との不一致を検出</a:t>
            </a:r>
          </a:p>
        </p:txBody>
      </p:sp>
      <p:sp>
        <p:nvSpPr>
          <p:cNvPr id="4" name="">
            <a:extLst xmlns:a="http://schemas.openxmlformats.org/drawingml/2006/main">
              <a:ext uri="{FF2B5EF4-FFF2-40B4-BE49-F238E27FC236}">
                <a16:creationId xmlns:a16="http://schemas.microsoft.com/office/drawing/2014/main" id="{93FF8157-5A71-4F3E-9073-C104B53EBB47}"/>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SOCは15分枠の開始値と24時終端値。上限線は入力指定値。保存モデルは容量100%を上限とする。</a:t>
            </a:r>
          </a:p>
        </p:txBody>
      </p:sp>
      <p:sp>
        <p:nvSpPr>
          <p:cNvPr id="5" name="">
            <a:extLst xmlns:a="http://schemas.openxmlformats.org/drawingml/2006/main">
              <a:ext uri="{FF2B5EF4-FFF2-40B4-BE49-F238E27FC236}">
                <a16:creationId xmlns:a16="http://schemas.microsoft.com/office/drawing/2014/main" id="{6923E9D5-78BA-4DAD-9012-B2B07DD346F7}"/>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9</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b58d11465a564c30"/>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60db3ef388574a9a"/>
          </a:graphicData>
        </a:graphic>
      </p:graphicFrame>
      <p:sp>
        <p:nvSpPr>
          <p:cNvPr id="8" name="">
            <a:extLst xmlns:a="http://schemas.openxmlformats.org/drawingml/2006/main">
              <a:ext uri="{FF2B5EF4-FFF2-40B4-BE49-F238E27FC236}">
                <a16:creationId xmlns:a16="http://schemas.microsoft.com/office/drawing/2014/main" id="{E16EF9B2-39C1-40E8-8AD1-173227C0ACE8}"/>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5326166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0EFE08-ACA8-4C4E-9A99-217F78CAF2DC}"/>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配車と燃料：便数だけでなく距離で確認</a:t>
            </a:r>
          </a:p>
        </p:txBody>
      </p:sp>
      <p:sp>
        <p:nvSpPr>
          <p:cNvPr id="2" name="">
            <a:extLst xmlns:a="http://schemas.openxmlformats.org/drawingml/2006/main">
              <a:ext uri="{FF2B5EF4-FFF2-40B4-BE49-F238E27FC236}">
                <a16:creationId xmlns:a16="http://schemas.microsoft.com/office/drawing/2014/main" id="{D128743A-8A61-4ED5-ADEC-88597B4B495A}"/>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営業便の総距離は両条件とも2,136.74 km。担当車種だけが変わる</a:t>
            </a:r>
          </a:p>
        </p:txBody>
      </p:sp>
      <p:sp>
        <p:nvSpPr>
          <p:cNvPr id="3" name="">
            <a:extLst xmlns:a="http://schemas.openxmlformats.org/drawingml/2006/main">
              <a:ext uri="{FF2B5EF4-FFF2-40B4-BE49-F238E27FC236}">
                <a16:creationId xmlns:a16="http://schemas.microsoft.com/office/drawing/2014/main" id="{1747C41A-F012-4630-9797-58CA15A4F6B1}"/>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高PVではBEVが担う営業距離が増え、燃料消費が減った</a:t>
            </a:r>
          </a:p>
        </p:txBody>
      </p:sp>
      <p:sp>
        <p:nvSpPr>
          <p:cNvPr id="4" name="">
            <a:extLst xmlns:a="http://schemas.openxmlformats.org/drawingml/2006/main">
              <a:ext uri="{FF2B5EF4-FFF2-40B4-BE49-F238E27FC236}">
                <a16:creationId xmlns:a16="http://schemas.microsoft.com/office/drawing/2014/main" id="{F68000E8-8574-402E-BCFF-AE86ED35F24A}"/>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営業距離は回送を除く。燃料は回送等を含む最終台帳であり、営業距離だけから再計算しない。</a:t>
            </a:r>
          </a:p>
        </p:txBody>
      </p:sp>
      <p:sp>
        <p:nvSpPr>
          <p:cNvPr id="5" name="">
            <a:extLst xmlns:a="http://schemas.openxmlformats.org/drawingml/2006/main">
              <a:ext uri="{FF2B5EF4-FFF2-40B4-BE49-F238E27FC236}">
                <a16:creationId xmlns:a16="http://schemas.microsoft.com/office/drawing/2014/main" id="{701D725D-1481-4D24-B937-DC7C49A8BC41}"/>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10</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5143500"/>
                <a:gridCol w="2952750"/>
                <a:gridCol w="2952750"/>
              </a:tblGrid>
              <a:tr h="620713">
                <a:tc>
                  <a:txBody>
                    <a:bodyPr/>
                    <a:lstStyle/>
                    <a:p>
                      <a:r>
                        <a:rPr sz="1725" b="1">
                          <a:solidFill>
                            <a:srgbClr val="FFFFFF"/>
                          </a:solidFill>
                          <a:latin typeface="Meiryo"/>
                          <a:ea typeface="Meiryo"/>
                          <a:cs typeface="Meiryo"/>
                        </a:rPr>
                        <a:t>指標</a:t>
                      </a:r>
                    </a:p>
                  </a:txBody>
                  <a:tcPr marL="91440" marR="91440" marT="45720" marB="45720">
                    <a:solidFill>
                      <a:srgbClr val="202B58"/>
                    </a:solidFill>
                  </a:tcPr>
                </a:tc>
                <a:tc>
                  <a:txBody>
                    <a:bodyPr/>
                    <a:lstStyle/>
                    <a:p>
                      <a:r>
                        <a:rPr sz="1725" b="1">
                          <a:solidFill>
                            <a:srgbClr val="FFFFFF"/>
                          </a:solidFill>
                          <a:latin typeface="Meiryo"/>
                          <a:ea typeface="Meiryo"/>
                          <a:cs typeface="Meiryo"/>
                        </a:rPr>
                        <a:t>高PV</a:t>
                      </a:r>
                    </a:p>
                  </a:txBody>
                  <a:tcPr marL="91440" marR="91440" marT="45720" marB="45720">
                    <a:solidFill>
                      <a:srgbClr val="202B58"/>
                    </a:solidFill>
                  </a:tcPr>
                </a:tc>
                <a:tc>
                  <a:txBody>
                    <a:bodyPr/>
                    <a:lstStyle/>
                    <a:p>
                      <a:r>
                        <a:rPr sz="1725" b="1">
                          <a:solidFill>
                            <a:srgbClr val="FFFFFF"/>
                          </a:solidFill>
                          <a:latin typeface="Meiryo"/>
                          <a:ea typeface="Meiryo"/>
                          <a:cs typeface="Meiryo"/>
                        </a:rPr>
                        <a:t>低PV</a:t>
                      </a:r>
                    </a:p>
                  </a:txBody>
                  <a:tcPr marL="91440" marR="91440" marT="45720" marB="45720">
                    <a:solidFill>
                      <a:srgbClr val="202B58"/>
                    </a:solidFill>
                  </a:tcPr>
                </a:tc>
              </a:tr>
              <a:tr h="620713">
                <a:tc>
                  <a:txBody>
                    <a:bodyPr/>
                    <a:lstStyle/>
                    <a:p>
                      <a:r>
                        <a:rPr sz="1725" b="0">
                          <a:solidFill>
                            <a:srgbClr val="202B58"/>
                          </a:solidFill>
                          <a:latin typeface="Meiryo"/>
                          <a:ea typeface="Meiryo"/>
                          <a:cs typeface="Meiryo"/>
                        </a:rPr>
                        <a:t>稼働台数 BEV / ICE</a:t>
                      </a:r>
                    </a:p>
                  </a:txBody>
                  <a:tcPr marL="91440" marR="91440" marT="45720" marB="45720">
                    <a:solidFill>
                      <a:srgbClr val="F1F5F8"/>
                    </a:solidFill>
                  </a:tcPr>
                </a:tc>
                <a:tc>
                  <a:txBody>
                    <a:bodyPr/>
                    <a:lstStyle/>
                    <a:p>
                      <a:r>
                        <a:rPr sz="1725" b="0">
                          <a:solidFill>
                            <a:srgbClr val="202B58"/>
                          </a:solidFill>
                          <a:latin typeface="Meiryo"/>
                          <a:ea typeface="Meiryo"/>
                          <a:cs typeface="Meiryo"/>
                        </a:rPr>
                        <a:t>28 / 4</a:t>
                      </a:r>
                    </a:p>
                  </a:txBody>
                  <a:tcPr marL="91440" marR="91440" marT="45720" marB="45720">
                    <a:solidFill>
                      <a:srgbClr val="F1F5F8"/>
                    </a:solidFill>
                  </a:tcPr>
                </a:tc>
                <a:tc>
                  <a:txBody>
                    <a:bodyPr/>
                    <a:lstStyle/>
                    <a:p>
                      <a:r>
                        <a:rPr sz="1725" b="0">
                          <a:solidFill>
                            <a:srgbClr val="202B58"/>
                          </a:solidFill>
                          <a:latin typeface="Meiryo"/>
                          <a:ea typeface="Meiryo"/>
                          <a:cs typeface="Meiryo"/>
                        </a:rPr>
                        <a:t>21 / 11</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担当便 BEV / ICE</a:t>
                      </a:r>
                    </a:p>
                  </a:txBody>
                  <a:tcPr marL="91440" marR="91440" marT="45720" marB="45720">
                    <a:solidFill>
                      <a:srgbClr val="FFFFFF"/>
                    </a:solidFill>
                  </a:tcPr>
                </a:tc>
                <a:tc>
                  <a:txBody>
                    <a:bodyPr/>
                    <a:lstStyle/>
                    <a:p>
                      <a:r>
                        <a:rPr sz="1725" b="0">
                          <a:solidFill>
                            <a:srgbClr val="202B58"/>
                          </a:solidFill>
                          <a:latin typeface="Meiryo"/>
                          <a:ea typeface="Meiryo"/>
                          <a:cs typeface="Meiryo"/>
                        </a:rPr>
                        <a:t>199 / 65</a:t>
                      </a:r>
                    </a:p>
                  </a:txBody>
                  <a:tcPr marL="91440" marR="91440" marT="45720" marB="45720">
                    <a:solidFill>
                      <a:srgbClr val="FFFFFF"/>
                    </a:solidFill>
                  </a:tcPr>
                </a:tc>
                <a:tc>
                  <a:txBody>
                    <a:bodyPr/>
                    <a:lstStyle/>
                    <a:p>
                      <a:r>
                        <a:rPr sz="1725" b="0">
                          <a:solidFill>
                            <a:srgbClr val="202B58"/>
                          </a:solidFill>
                          <a:latin typeface="Meiryo"/>
                          <a:ea typeface="Meiryo"/>
                          <a:cs typeface="Meiryo"/>
                        </a:rPr>
                        <a:t>91 / 173</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BEV営業距離 [km]</a:t>
                      </a:r>
                    </a:p>
                  </a:txBody>
                  <a:tcPr marL="91440" marR="91440" marT="45720" marB="45720">
                    <a:solidFill>
                      <a:srgbClr val="F1F5F8"/>
                    </a:solidFill>
                  </a:tcPr>
                </a:tc>
                <a:tc>
                  <a:txBody>
                    <a:bodyPr/>
                    <a:lstStyle/>
                    <a:p>
                      <a:r>
                        <a:rPr sz="1725" b="0">
                          <a:solidFill>
                            <a:srgbClr val="202B58"/>
                          </a:solidFill>
                          <a:latin typeface="Meiryo"/>
                          <a:ea typeface="Meiryo"/>
                          <a:cs typeface="Meiryo"/>
                        </a:rPr>
                        <a:t>1,555.04</a:t>
                      </a:r>
                    </a:p>
                  </a:txBody>
                  <a:tcPr marL="91440" marR="91440" marT="45720" marB="45720">
                    <a:solidFill>
                      <a:srgbClr val="F1F5F8"/>
                    </a:solidFill>
                  </a:tcPr>
                </a:tc>
                <a:tc>
                  <a:txBody>
                    <a:bodyPr/>
                    <a:lstStyle/>
                    <a:p>
                      <a:r>
                        <a:rPr sz="1725" b="0">
                          <a:solidFill>
                            <a:srgbClr val="202B58"/>
                          </a:solidFill>
                          <a:latin typeface="Meiryo"/>
                          <a:ea typeface="Meiryo"/>
                          <a:cs typeface="Meiryo"/>
                        </a:rPr>
                        <a:t>635.21</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ICE営業距離 [km]</a:t>
                      </a:r>
                    </a:p>
                  </a:txBody>
                  <a:tcPr marL="91440" marR="91440" marT="45720" marB="45720">
                    <a:solidFill>
                      <a:srgbClr val="FFFFFF"/>
                    </a:solidFill>
                  </a:tcPr>
                </a:tc>
                <a:tc>
                  <a:txBody>
                    <a:bodyPr/>
                    <a:lstStyle/>
                    <a:p>
                      <a:r>
                        <a:rPr sz="1725" b="0">
                          <a:solidFill>
                            <a:srgbClr val="202B58"/>
                          </a:solidFill>
                          <a:latin typeface="Meiryo"/>
                          <a:ea typeface="Meiryo"/>
                          <a:cs typeface="Meiryo"/>
                        </a:rPr>
                        <a:t>581.70</a:t>
                      </a:r>
                    </a:p>
                  </a:txBody>
                  <a:tcPr marL="91440" marR="91440" marT="45720" marB="45720">
                    <a:solidFill>
                      <a:srgbClr val="FFFFFF"/>
                    </a:solidFill>
                  </a:tcPr>
                </a:tc>
                <a:tc>
                  <a:txBody>
                    <a:bodyPr/>
                    <a:lstStyle/>
                    <a:p>
                      <a:r>
                        <a:rPr sz="1725" b="0">
                          <a:solidFill>
                            <a:srgbClr val="202B58"/>
                          </a:solidFill>
                          <a:latin typeface="Meiryo"/>
                          <a:ea typeface="Meiryo"/>
                          <a:cs typeface="Meiryo"/>
                        </a:rPr>
                        <a:t>1,501.52</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燃料消費 [L]</a:t>
                      </a:r>
                    </a:p>
                  </a:txBody>
                  <a:tcPr marL="91440" marR="91440" marT="45720" marB="45720">
                    <a:solidFill>
                      <a:srgbClr val="F1F5F8"/>
                    </a:solidFill>
                  </a:tcPr>
                </a:tc>
                <a:tc>
                  <a:txBody>
                    <a:bodyPr/>
                    <a:lstStyle/>
                    <a:p>
                      <a:r>
                        <a:rPr sz="1725" b="0">
                          <a:solidFill>
                            <a:srgbClr val="202B58"/>
                          </a:solidFill>
                          <a:latin typeface="Meiryo"/>
                          <a:ea typeface="Meiryo"/>
                          <a:cs typeface="Meiryo"/>
                        </a:rPr>
                        <a:t>137.521</a:t>
                      </a:r>
                    </a:p>
                  </a:txBody>
                  <a:tcPr marL="91440" marR="91440" marT="45720" marB="45720">
                    <a:solidFill>
                      <a:srgbClr val="F1F5F8"/>
                    </a:solidFill>
                  </a:tcPr>
                </a:tc>
                <a:tc>
                  <a:txBody>
                    <a:bodyPr/>
                    <a:lstStyle/>
                    <a:p>
                      <a:r>
                        <a:rPr sz="1725" b="0">
                          <a:solidFill>
                            <a:srgbClr val="202B58"/>
                          </a:solidFill>
                          <a:latin typeface="Meiryo"/>
                          <a:ea typeface="Meiryo"/>
                          <a:cs typeface="Meiryo"/>
                        </a:rPr>
                        <a:t>357.881</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698B462E-3C6E-43BC-AD62-391A2A8A009E}"/>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44476146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C75974-7744-4BD3-8AF7-15B65B9ED181}"/>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使用台数費用を含む、一日の評価額</a:t>
            </a:r>
          </a:p>
        </p:txBody>
      </p:sp>
      <p:sp>
        <p:nvSpPr>
          <p:cNvPr id="2" name="">
            <a:extLst xmlns:a="http://schemas.openxmlformats.org/drawingml/2006/main">
              <a:ext uri="{FF2B5EF4-FFF2-40B4-BE49-F238E27FC236}">
                <a16:creationId xmlns:a16="http://schemas.microsoft.com/office/drawing/2014/main" id="{1EC975FE-5AC0-4ABC-8151-0248F17BE39C}"/>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C使用 = 20,000 JPY/台日 × 使用台数。係数は固定、使用台数は配車で決まる</a:t>
            </a:r>
          </a:p>
        </p:txBody>
      </p:sp>
      <p:sp>
        <p:nvSpPr>
          <p:cNvPr id="3" name="">
            <a:extLst xmlns:a="http://schemas.openxmlformats.org/drawingml/2006/main">
              <a:ext uri="{FF2B5EF4-FFF2-40B4-BE49-F238E27FC236}">
                <a16:creationId xmlns:a16="http://schemas.microsoft.com/office/drawing/2014/main" id="{94E95824-1E71-43A4-8591-FF9CF0587466}"/>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使用台数は両条件32台。差額37,614.84円の主因は燃料費</a:t>
            </a:r>
          </a:p>
        </p:txBody>
      </p:sp>
      <p:sp>
        <p:nvSpPr>
          <p:cNvPr id="4" name="">
            <a:extLst xmlns:a="http://schemas.openxmlformats.org/drawingml/2006/main">
              <a:ext uri="{FF2B5EF4-FFF2-40B4-BE49-F238E27FC236}">
                <a16:creationId xmlns:a16="http://schemas.microsoft.com/office/drawing/2014/main" id="{B7371EF9-1D2C-44D4-8990-4619F8015B00}"/>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燃料は未補給分の在庫評価を含む。現金支払額・総保有費用とは異なる。</a:t>
            </a:r>
          </a:p>
        </p:txBody>
      </p:sp>
      <p:sp>
        <p:nvSpPr>
          <p:cNvPr id="5" name="">
            <a:extLst xmlns:a="http://schemas.openxmlformats.org/drawingml/2006/main">
              <a:ext uri="{FF2B5EF4-FFF2-40B4-BE49-F238E27FC236}">
                <a16:creationId xmlns:a16="http://schemas.microsoft.com/office/drawing/2014/main" id="{D14778E2-46C1-4651-8E7F-B94FF9BC115C}"/>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11</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3714750"/>
                <a:gridCol w="2428875"/>
                <a:gridCol w="2428875"/>
                <a:gridCol w="2476500"/>
              </a:tblGrid>
              <a:tr h="620713">
                <a:tc>
                  <a:txBody>
                    <a:bodyPr/>
                    <a:lstStyle/>
                    <a:p>
                      <a:r>
                        <a:rPr sz="1725" b="1">
                          <a:solidFill>
                            <a:srgbClr val="FFFFFF"/>
                          </a:solidFill>
                          <a:latin typeface="Meiryo"/>
                          <a:ea typeface="Meiryo"/>
                          <a:cs typeface="Meiryo"/>
                        </a:rPr>
                        <a:t>項目 [JPY/日]</a:t>
                      </a:r>
                    </a:p>
                  </a:txBody>
                  <a:tcPr marL="91440" marR="91440" marT="45720" marB="45720">
                    <a:solidFill>
                      <a:srgbClr val="202B58"/>
                    </a:solidFill>
                  </a:tcPr>
                </a:tc>
                <a:tc>
                  <a:txBody>
                    <a:bodyPr/>
                    <a:lstStyle/>
                    <a:p>
                      <a:r>
                        <a:rPr sz="1725" b="1">
                          <a:solidFill>
                            <a:srgbClr val="FFFFFF"/>
                          </a:solidFill>
                          <a:latin typeface="Meiryo"/>
                          <a:ea typeface="Meiryo"/>
                          <a:cs typeface="Meiryo"/>
                        </a:rPr>
                        <a:t>高PV</a:t>
                      </a:r>
                    </a:p>
                  </a:txBody>
                  <a:tcPr marL="91440" marR="91440" marT="45720" marB="45720">
                    <a:solidFill>
                      <a:srgbClr val="202B58"/>
                    </a:solidFill>
                  </a:tcPr>
                </a:tc>
                <a:tc>
                  <a:txBody>
                    <a:bodyPr/>
                    <a:lstStyle/>
                    <a:p>
                      <a:r>
                        <a:rPr sz="1725" b="1">
                          <a:solidFill>
                            <a:srgbClr val="FFFFFF"/>
                          </a:solidFill>
                          <a:latin typeface="Meiryo"/>
                          <a:ea typeface="Meiryo"/>
                          <a:cs typeface="Meiryo"/>
                        </a:rPr>
                        <a:t>低PV</a:t>
                      </a:r>
                    </a:p>
                  </a:txBody>
                  <a:tcPr marL="91440" marR="91440" marT="45720" marB="45720">
                    <a:solidFill>
                      <a:srgbClr val="202B58"/>
                    </a:solidFill>
                  </a:tcPr>
                </a:tc>
                <a:tc>
                  <a:txBody>
                    <a:bodyPr/>
                    <a:lstStyle/>
                    <a:p>
                      <a:r>
                        <a:rPr sz="1725" b="1">
                          <a:solidFill>
                            <a:srgbClr val="FFFFFF"/>
                          </a:solidFill>
                          <a:latin typeface="Meiryo"/>
                          <a:ea typeface="Meiryo"/>
                          <a:cs typeface="Meiryo"/>
                        </a:rPr>
                        <a:t>低PV − 高PV</a:t>
                      </a:r>
                    </a:p>
                  </a:txBody>
                  <a:tcPr marL="91440" marR="91440" marT="45720" marB="45720">
                    <a:solidFill>
                      <a:srgbClr val="202B58"/>
                    </a:solidFill>
                  </a:tcPr>
                </a:tc>
              </a:tr>
              <a:tr h="620713">
                <a:tc>
                  <a:txBody>
                    <a:bodyPr/>
                    <a:lstStyle/>
                    <a:p>
                      <a:r>
                        <a:rPr sz="1725" b="0">
                          <a:solidFill>
                            <a:srgbClr val="202B58"/>
                          </a:solidFill>
                          <a:latin typeface="Meiryo"/>
                          <a:ea typeface="Meiryo"/>
                          <a:cs typeface="Meiryo"/>
                        </a:rPr>
                        <a:t>車両使用費</a:t>
                      </a:r>
                    </a:p>
                  </a:txBody>
                  <a:tcPr marL="91440" marR="91440" marT="45720" marB="45720">
                    <a:solidFill>
                      <a:srgbClr val="F1F5F8"/>
                    </a:solidFill>
                  </a:tcPr>
                </a:tc>
                <a:tc>
                  <a:txBody>
                    <a:bodyPr/>
                    <a:lstStyle/>
                    <a:p>
                      <a:r>
                        <a:rPr sz="1725" b="0">
                          <a:solidFill>
                            <a:srgbClr val="202B58"/>
                          </a:solidFill>
                          <a:latin typeface="Meiryo"/>
                          <a:ea typeface="Meiryo"/>
                          <a:cs typeface="Meiryo"/>
                        </a:rPr>
                        <a:t>640,000.00</a:t>
                      </a:r>
                    </a:p>
                  </a:txBody>
                  <a:tcPr marL="91440" marR="91440" marT="45720" marB="45720">
                    <a:solidFill>
                      <a:srgbClr val="F1F5F8"/>
                    </a:solidFill>
                  </a:tcPr>
                </a:tc>
                <a:tc>
                  <a:txBody>
                    <a:bodyPr/>
                    <a:lstStyle/>
                    <a:p>
                      <a:r>
                        <a:rPr sz="1725" b="0">
                          <a:solidFill>
                            <a:srgbClr val="202B58"/>
                          </a:solidFill>
                          <a:latin typeface="Meiryo"/>
                          <a:ea typeface="Meiryo"/>
                          <a:cs typeface="Meiryo"/>
                        </a:rPr>
                        <a:t>640,000.00</a:t>
                      </a:r>
                    </a:p>
                  </a:txBody>
                  <a:tcPr marL="91440" marR="91440" marT="45720" marB="45720">
                    <a:solidFill>
                      <a:srgbClr val="F1F5F8"/>
                    </a:solidFill>
                  </a:tcPr>
                </a:tc>
                <a:tc>
                  <a:txBody>
                    <a:bodyPr/>
                    <a:lstStyle/>
                    <a:p>
                      <a:r>
                        <a:rPr sz="1725" b="0">
                          <a:solidFill>
                            <a:srgbClr val="202B58"/>
                          </a:solidFill>
                          <a:latin typeface="Meiryo"/>
                          <a:ea typeface="Meiryo"/>
                          <a:cs typeface="Meiryo"/>
                        </a:rPr>
                        <a:t>0.00</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燃料費</a:t>
                      </a:r>
                    </a:p>
                  </a:txBody>
                  <a:tcPr marL="91440" marR="91440" marT="45720" marB="45720">
                    <a:solidFill>
                      <a:srgbClr val="FFFFFF"/>
                    </a:solidFill>
                  </a:tcPr>
                </a:tc>
                <a:tc>
                  <a:txBody>
                    <a:bodyPr/>
                    <a:lstStyle/>
                    <a:p>
                      <a:r>
                        <a:rPr sz="1725" b="0">
                          <a:solidFill>
                            <a:srgbClr val="202B58"/>
                          </a:solidFill>
                          <a:latin typeface="Meiryo"/>
                          <a:ea typeface="Meiryo"/>
                          <a:cs typeface="Meiryo"/>
                        </a:rPr>
                        <a:t>20,628.17</a:t>
                      </a:r>
                    </a:p>
                  </a:txBody>
                  <a:tcPr marL="91440" marR="91440" marT="45720" marB="45720">
                    <a:solidFill>
                      <a:srgbClr val="FFFFFF"/>
                    </a:solidFill>
                  </a:tcPr>
                </a:tc>
                <a:tc>
                  <a:txBody>
                    <a:bodyPr/>
                    <a:lstStyle/>
                    <a:p>
                      <a:r>
                        <a:rPr sz="1725" b="0">
                          <a:solidFill>
                            <a:srgbClr val="202B58"/>
                          </a:solidFill>
                          <a:latin typeface="Meiryo"/>
                          <a:ea typeface="Meiryo"/>
                          <a:cs typeface="Meiryo"/>
                        </a:rPr>
                        <a:t>53,682.20</a:t>
                      </a:r>
                    </a:p>
                  </a:txBody>
                  <a:tcPr marL="91440" marR="91440" marT="45720" marB="45720">
                    <a:solidFill>
                      <a:srgbClr val="FFFFFF"/>
                    </a:solidFill>
                  </a:tcPr>
                </a:tc>
                <a:tc>
                  <a:txBody>
                    <a:bodyPr/>
                    <a:lstStyle/>
                    <a:p>
                      <a:r>
                        <a:rPr sz="1725" b="0">
                          <a:solidFill>
                            <a:srgbClr val="202B58"/>
                          </a:solidFill>
                          <a:latin typeface="Meiryo"/>
                          <a:ea typeface="Meiryo"/>
                          <a:cs typeface="Meiryo"/>
                        </a:rPr>
                        <a:t>33,054.03</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系統電気料金</a:t>
                      </a:r>
                    </a:p>
                  </a:txBody>
                  <a:tcPr marL="91440" marR="91440" marT="45720" marB="45720">
                    <a:solidFill>
                      <a:srgbClr val="F1F5F8"/>
                    </a:solidFill>
                  </a:tcPr>
                </a:tc>
                <a:tc>
                  <a:txBody>
                    <a:bodyPr/>
                    <a:lstStyle/>
                    <a:p>
                      <a:r>
                        <a:rPr sz="1725" b="0">
                          <a:solidFill>
                            <a:srgbClr val="202B58"/>
                          </a:solidFill>
                          <a:latin typeface="Meiryo"/>
                          <a:ea typeface="Meiryo"/>
                          <a:cs typeface="Meiryo"/>
                        </a:rPr>
                        <a:t>0.00</a:t>
                      </a:r>
                    </a:p>
                  </a:txBody>
                  <a:tcPr marL="91440" marR="91440" marT="45720" marB="45720">
                    <a:solidFill>
                      <a:srgbClr val="F1F5F8"/>
                    </a:solidFill>
                  </a:tcPr>
                </a:tc>
                <a:tc>
                  <a:txBody>
                    <a:bodyPr/>
                    <a:lstStyle/>
                    <a:p>
                      <a:r>
                        <a:rPr sz="1725" b="0">
                          <a:solidFill>
                            <a:srgbClr val="202B58"/>
                          </a:solidFill>
                          <a:latin typeface="Meiryo"/>
                          <a:ea typeface="Meiryo"/>
                          <a:cs typeface="Meiryo"/>
                        </a:rPr>
                        <a:t>3,925.56</a:t>
                      </a:r>
                    </a:p>
                  </a:txBody>
                  <a:tcPr marL="91440" marR="91440" marT="45720" marB="45720">
                    <a:solidFill>
                      <a:srgbClr val="F1F5F8"/>
                    </a:solidFill>
                  </a:tcPr>
                </a:tc>
                <a:tc>
                  <a:txBody>
                    <a:bodyPr/>
                    <a:lstStyle/>
                    <a:p>
                      <a:r>
                        <a:rPr sz="1725" b="0">
                          <a:solidFill>
                            <a:srgbClr val="202B58"/>
                          </a:solidFill>
                          <a:latin typeface="Meiryo"/>
                          <a:ea typeface="Meiryo"/>
                          <a:cs typeface="Meiryo"/>
                        </a:rPr>
                        <a:t>3,925.56</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CO₂費</a:t>
                      </a:r>
                    </a:p>
                  </a:txBody>
                  <a:tcPr marL="91440" marR="91440" marT="45720" marB="45720">
                    <a:solidFill>
                      <a:srgbClr val="FFFFFF"/>
                    </a:solidFill>
                  </a:tcPr>
                </a:tc>
                <a:tc>
                  <a:txBody>
                    <a:bodyPr/>
                    <a:lstStyle/>
                    <a:p>
                      <a:r>
                        <a:rPr sz="1725" b="0">
                          <a:solidFill>
                            <a:srgbClr val="202B58"/>
                          </a:solidFill>
                          <a:latin typeface="Meiryo"/>
                          <a:ea typeface="Meiryo"/>
                          <a:cs typeface="Meiryo"/>
                        </a:rPr>
                        <a:t>355.62</a:t>
                      </a:r>
                    </a:p>
                  </a:txBody>
                  <a:tcPr marL="91440" marR="91440" marT="45720" marB="45720">
                    <a:solidFill>
                      <a:srgbClr val="FFFFFF"/>
                    </a:solidFill>
                  </a:tcPr>
                </a:tc>
                <a:tc>
                  <a:txBody>
                    <a:bodyPr/>
                    <a:lstStyle/>
                    <a:p>
                      <a:r>
                        <a:rPr sz="1725" b="0">
                          <a:solidFill>
                            <a:srgbClr val="202B58"/>
                          </a:solidFill>
                          <a:latin typeface="Meiryo"/>
                          <a:ea typeface="Meiryo"/>
                          <a:cs typeface="Meiryo"/>
                        </a:rPr>
                        <a:t>990.87</a:t>
                      </a:r>
                    </a:p>
                  </a:txBody>
                  <a:tcPr marL="91440" marR="91440" marT="45720" marB="45720">
                    <a:solidFill>
                      <a:srgbClr val="FFFFFF"/>
                    </a:solidFill>
                  </a:tcPr>
                </a:tc>
                <a:tc>
                  <a:txBody>
                    <a:bodyPr/>
                    <a:lstStyle/>
                    <a:p>
                      <a:r>
                        <a:rPr sz="1725" b="0">
                          <a:solidFill>
                            <a:srgbClr val="202B58"/>
                          </a:solidFill>
                          <a:latin typeface="Meiryo"/>
                          <a:ea typeface="Meiryo"/>
                          <a:cs typeface="Meiryo"/>
                        </a:rPr>
                        <a:t>635.25</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合計</a:t>
                      </a:r>
                    </a:p>
                  </a:txBody>
                  <a:tcPr marL="91440" marR="91440" marT="45720" marB="45720">
                    <a:solidFill>
                      <a:srgbClr val="F1F5F8"/>
                    </a:solidFill>
                  </a:tcPr>
                </a:tc>
                <a:tc>
                  <a:txBody>
                    <a:bodyPr/>
                    <a:lstStyle/>
                    <a:p>
                      <a:r>
                        <a:rPr sz="1725" b="0">
                          <a:solidFill>
                            <a:srgbClr val="202B58"/>
                          </a:solidFill>
                          <a:latin typeface="Meiryo"/>
                          <a:ea typeface="Meiryo"/>
                          <a:cs typeface="Meiryo"/>
                        </a:rPr>
                        <a:t>660,983.78</a:t>
                      </a:r>
                    </a:p>
                  </a:txBody>
                  <a:tcPr marL="91440" marR="91440" marT="45720" marB="45720">
                    <a:solidFill>
                      <a:srgbClr val="F1F5F8"/>
                    </a:solidFill>
                  </a:tcPr>
                </a:tc>
                <a:tc>
                  <a:txBody>
                    <a:bodyPr/>
                    <a:lstStyle/>
                    <a:p>
                      <a:r>
                        <a:rPr sz="1725" b="0">
                          <a:solidFill>
                            <a:srgbClr val="202B58"/>
                          </a:solidFill>
                          <a:latin typeface="Meiryo"/>
                          <a:ea typeface="Meiryo"/>
                          <a:cs typeface="Meiryo"/>
                        </a:rPr>
                        <a:t>698,598.63</a:t>
                      </a:r>
                    </a:p>
                  </a:txBody>
                  <a:tcPr marL="91440" marR="91440" marT="45720" marB="45720">
                    <a:solidFill>
                      <a:srgbClr val="F1F5F8"/>
                    </a:solidFill>
                  </a:tcPr>
                </a:tc>
                <a:tc>
                  <a:txBody>
                    <a:bodyPr/>
                    <a:lstStyle/>
                    <a:p>
                      <a:r>
                        <a:rPr sz="1725" b="0">
                          <a:solidFill>
                            <a:srgbClr val="202B58"/>
                          </a:solidFill>
                          <a:latin typeface="Meiryo"/>
                          <a:ea typeface="Meiryo"/>
                          <a:cs typeface="Meiryo"/>
                        </a:rPr>
                        <a:t>37,614.84</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0BC7831E-8BE0-4769-8B14-8E8E169CB6A0}"/>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89615344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47DA4E-5C65-4D55-8294-93529FAD82A4}"/>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計算時間：設定上限と実測を分ける</a:t>
            </a:r>
          </a:p>
        </p:txBody>
      </p:sp>
      <p:sp>
        <p:nvSpPr>
          <p:cNvPr id="2" name="">
            <a:extLst xmlns:a="http://schemas.openxmlformats.org/drawingml/2006/main">
              <a:ext uri="{FF2B5EF4-FFF2-40B4-BE49-F238E27FC236}">
                <a16:creationId xmlns:a16="http://schemas.microsoft.com/office/drawing/2014/main" id="{0C149576-1E08-4242-B24D-D02FDF3FC23C}"/>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Intel Core i7-12700、Gurobi 13.0.1、1 thread、seed 42</a:t>
            </a:r>
          </a:p>
        </p:txBody>
      </p:sp>
      <p:sp>
        <p:nvSpPr>
          <p:cNvPr id="3" name="">
            <a:extLst xmlns:a="http://schemas.openxmlformats.org/drawingml/2006/main">
              <a:ext uri="{FF2B5EF4-FFF2-40B4-BE49-F238E27FC236}">
                <a16:creationId xmlns:a16="http://schemas.microsoft.com/office/drawing/2014/main" id="{3F727671-A35B-46C6-ADA6-4B06FD8AEEEA}"/>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毎時処理は配車を固定し、残り一日の充電・電力運用だけを再計算</a:t>
            </a:r>
          </a:p>
        </p:txBody>
      </p:sp>
      <p:sp>
        <p:nvSpPr>
          <p:cNvPr id="4" name="">
            <a:extLst xmlns:a="http://schemas.openxmlformats.org/drawingml/2006/main">
              <a:ext uri="{FF2B5EF4-FFF2-40B4-BE49-F238E27FC236}">
                <a16:creationId xmlns:a16="http://schemas.microsoft.com/office/drawing/2014/main" id="{553146E9-36AA-4BD2-98E6-7DE506AD88BE}"/>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実測は保存フィールドの範囲。候補生成等を含む全工程のwall timeや速度改善率とは異なる。</a:t>
            </a:r>
          </a:p>
        </p:txBody>
      </p:sp>
      <p:sp>
        <p:nvSpPr>
          <p:cNvPr id="5" name="">
            <a:extLst xmlns:a="http://schemas.openxmlformats.org/drawingml/2006/main">
              <a:ext uri="{FF2B5EF4-FFF2-40B4-BE49-F238E27FC236}">
                <a16:creationId xmlns:a16="http://schemas.microsoft.com/office/drawing/2014/main" id="{F81EE571-BCBA-4BC5-BF55-FC7160651023}"/>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12</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4667250"/>
                <a:gridCol w="2286000"/>
                <a:gridCol w="2047875"/>
                <a:gridCol w="2047875"/>
              </a:tblGrid>
              <a:tr h="620713">
                <a:tc>
                  <a:txBody>
                    <a:bodyPr/>
                    <a:lstStyle/>
                    <a:p>
                      <a:r>
                        <a:rPr sz="1575" b="1">
                          <a:solidFill>
                            <a:srgbClr val="FFFFFF"/>
                          </a:solidFill>
                          <a:latin typeface="Meiryo"/>
                          <a:ea typeface="Meiryo"/>
                          <a:cs typeface="Meiryo"/>
                        </a:rPr>
                        <a:t>時間項目 [秒]</a:t>
                      </a:r>
                    </a:p>
                  </a:txBody>
                  <a:tcPr marL="91440" marR="91440" marT="45720" marB="45720">
                    <a:solidFill>
                      <a:srgbClr val="202B58"/>
                    </a:solidFill>
                  </a:tcPr>
                </a:tc>
                <a:tc>
                  <a:txBody>
                    <a:bodyPr/>
                    <a:lstStyle/>
                    <a:p>
                      <a:r>
                        <a:rPr sz="1575" b="1">
                          <a:solidFill>
                            <a:srgbClr val="FFFFFF"/>
                          </a:solidFill>
                          <a:latin typeface="Meiryo"/>
                          <a:ea typeface="Meiryo"/>
                          <a:cs typeface="Meiryo"/>
                        </a:rPr>
                        <a:t>上限設定</a:t>
                      </a:r>
                    </a:p>
                  </a:txBody>
                  <a:tcPr marL="91440" marR="91440" marT="45720" marB="45720">
                    <a:solidFill>
                      <a:srgbClr val="202B58"/>
                    </a:solidFill>
                  </a:tcPr>
                </a:tc>
                <a:tc>
                  <a:txBody>
                    <a:bodyPr/>
                    <a:lstStyle/>
                    <a:p>
                      <a:r>
                        <a:rPr sz="1575" b="1">
                          <a:solidFill>
                            <a:srgbClr val="FFFFFF"/>
                          </a:solidFill>
                          <a:latin typeface="Meiryo"/>
                          <a:ea typeface="Meiryo"/>
                          <a:cs typeface="Meiryo"/>
                        </a:rPr>
                        <a:t>高PV 実測</a:t>
                      </a:r>
                    </a:p>
                  </a:txBody>
                  <a:tcPr marL="91440" marR="91440" marT="45720" marB="45720">
                    <a:solidFill>
                      <a:srgbClr val="202B58"/>
                    </a:solidFill>
                  </a:tcPr>
                </a:tc>
                <a:tc>
                  <a:txBody>
                    <a:bodyPr/>
                    <a:lstStyle/>
                    <a:p>
                      <a:r>
                        <a:rPr sz="1575" b="1">
                          <a:solidFill>
                            <a:srgbClr val="FFFFFF"/>
                          </a:solidFill>
                          <a:latin typeface="Meiryo"/>
                          <a:ea typeface="Meiryo"/>
                          <a:cs typeface="Meiryo"/>
                        </a:rPr>
                        <a:t>低PV 実測</a:t>
                      </a:r>
                    </a:p>
                  </a:txBody>
                  <a:tcPr marL="91440" marR="91440" marT="45720" marB="45720">
                    <a:solidFill>
                      <a:srgbClr val="202B58"/>
                    </a:solidFill>
                  </a:tcPr>
                </a:tc>
              </a:tr>
              <a:tr h="620713">
                <a:tc>
                  <a:txBody>
                    <a:bodyPr/>
                    <a:lstStyle/>
                    <a:p>
                      <a:r>
                        <a:rPr sz="1575" b="0">
                          <a:solidFill>
                            <a:srgbClr val="202B58"/>
                          </a:solidFill>
                          <a:latin typeface="Meiryo"/>
                          <a:ea typeface="Meiryo"/>
                          <a:cs typeface="Meiryo"/>
                        </a:rPr>
                        <a:t>Stage 1</a:t>
                      </a:r>
                    </a:p>
                  </a:txBody>
                  <a:tcPr marL="91440" marR="91440" marT="45720" marB="45720">
                    <a:solidFill>
                      <a:srgbClr val="F1F5F8"/>
                    </a:solidFill>
                  </a:tcPr>
                </a:tc>
                <a:tc>
                  <a:txBody>
                    <a:bodyPr/>
                    <a:lstStyle/>
                    <a:p>
                      <a:r>
                        <a:rPr sz="1575" b="0">
                          <a:solidFill>
                            <a:srgbClr val="202B58"/>
                          </a:solidFill>
                          <a:latin typeface="Meiryo"/>
                          <a:ea typeface="Meiryo"/>
                          <a:cs typeface="Meiryo"/>
                        </a:rPr>
                        <a:t>435</a:t>
                      </a:r>
                    </a:p>
                  </a:txBody>
                  <a:tcPr marL="91440" marR="91440" marT="45720" marB="45720">
                    <a:solidFill>
                      <a:srgbClr val="F1F5F8"/>
                    </a:solidFill>
                  </a:tcPr>
                </a:tc>
                <a:tc>
                  <a:txBody>
                    <a:bodyPr/>
                    <a:lstStyle/>
                    <a:p>
                      <a:r>
                        <a:rPr sz="1575" b="0">
                          <a:solidFill>
                            <a:srgbClr val="202B58"/>
                          </a:solidFill>
                          <a:latin typeface="Meiryo"/>
                          <a:ea typeface="Meiryo"/>
                          <a:cs typeface="Meiryo"/>
                        </a:rPr>
                        <a:t>378.97</a:t>
                      </a:r>
                    </a:p>
                  </a:txBody>
                  <a:tcPr marL="91440" marR="91440" marT="45720" marB="45720">
                    <a:solidFill>
                      <a:srgbClr val="F1F5F8"/>
                    </a:solidFill>
                  </a:tcPr>
                </a:tc>
                <a:tc>
                  <a:txBody>
                    <a:bodyPr/>
                    <a:lstStyle/>
                    <a:p>
                      <a:r>
                        <a:rPr sz="1575" b="0">
                          <a:solidFill>
                            <a:srgbClr val="202B58"/>
                          </a:solidFill>
                          <a:latin typeface="Meiryo"/>
                          <a:ea typeface="Meiryo"/>
                          <a:cs typeface="Meiryo"/>
                        </a:rPr>
                        <a:t>378.64</a:t>
                      </a:r>
                    </a:p>
                  </a:txBody>
                  <a:tcPr marL="91440" marR="91440" marT="45720" marB="45720">
                    <a:solidFill>
                      <a:srgbClr val="F1F5F8"/>
                    </a:solidFill>
                  </a:tcPr>
                </a:tc>
              </a:tr>
              <a:tr h="620713">
                <a:tc>
                  <a:txBody>
                    <a:bodyPr/>
                    <a:lstStyle/>
                    <a:p>
                      <a:r>
                        <a:rPr sz="1575" b="0">
                          <a:solidFill>
                            <a:srgbClr val="202B58"/>
                          </a:solidFill>
                          <a:latin typeface="Meiryo"/>
                          <a:ea typeface="Meiryo"/>
                          <a:cs typeface="Meiryo"/>
                        </a:rPr>
                        <a:t>採用候補のStage 2</a:t>
                      </a:r>
                    </a:p>
                  </a:txBody>
                  <a:tcPr marL="91440" marR="91440" marT="45720" marB="45720">
                    <a:solidFill>
                      <a:srgbClr val="FFFFFF"/>
                    </a:solidFill>
                  </a:tcPr>
                </a:tc>
                <a:tc>
                  <a:txBody>
                    <a:bodyPr/>
                    <a:lstStyle/>
                    <a:p>
                      <a:r>
                        <a:rPr sz="1575" b="0">
                          <a:solidFill>
                            <a:srgbClr val="202B58"/>
                          </a:solidFill>
                          <a:latin typeface="Meiryo"/>
                          <a:ea typeface="Meiryo"/>
                          <a:cs typeface="Meiryo"/>
                        </a:rPr>
                        <a:t>30 / 候補</a:t>
                      </a:r>
                    </a:p>
                  </a:txBody>
                  <a:tcPr marL="91440" marR="91440" marT="45720" marB="45720">
                    <a:solidFill>
                      <a:srgbClr val="FFFFFF"/>
                    </a:solidFill>
                  </a:tcPr>
                </a:tc>
                <a:tc>
                  <a:txBody>
                    <a:bodyPr/>
                    <a:lstStyle/>
                    <a:p>
                      <a:r>
                        <a:rPr sz="1575" b="0">
                          <a:solidFill>
                            <a:srgbClr val="202B58"/>
                          </a:solidFill>
                          <a:latin typeface="Meiryo"/>
                          <a:ea typeface="Meiryo"/>
                          <a:cs typeface="Meiryo"/>
                        </a:rPr>
                        <a:t>2.01</a:t>
                      </a:r>
                    </a:p>
                  </a:txBody>
                  <a:tcPr marL="91440" marR="91440" marT="45720" marB="45720">
                    <a:solidFill>
                      <a:srgbClr val="FFFFFF"/>
                    </a:solidFill>
                  </a:tcPr>
                </a:tc>
                <a:tc>
                  <a:txBody>
                    <a:bodyPr/>
                    <a:lstStyle/>
                    <a:p>
                      <a:r>
                        <a:rPr sz="1575" b="0">
                          <a:solidFill>
                            <a:srgbClr val="202B58"/>
                          </a:solidFill>
                          <a:latin typeface="Meiryo"/>
                          <a:ea typeface="Meiryo"/>
                          <a:cs typeface="Meiryo"/>
                        </a:rPr>
                        <a:t>1.38</a:t>
                      </a:r>
                    </a:p>
                  </a:txBody>
                  <a:tcPr marL="91440" marR="91440" marT="45720" marB="45720">
                    <a:solidFill>
                      <a:srgbClr val="FFFFFF"/>
                    </a:solidFill>
                  </a:tcPr>
                </a:tc>
              </a:tr>
              <a:tr h="620713">
                <a:tc>
                  <a:txBody>
                    <a:bodyPr/>
                    <a:lstStyle/>
                    <a:p>
                      <a:r>
                        <a:rPr sz="1575" b="0">
                          <a:solidFill>
                            <a:srgbClr val="202B58"/>
                          </a:solidFill>
                          <a:latin typeface="Meiryo"/>
                          <a:ea typeface="Meiryo"/>
                          <a:cs typeface="Meiryo"/>
                        </a:rPr>
                        <a:t>保存solve_time_seconds</a:t>
                      </a:r>
                    </a:p>
                  </a:txBody>
                  <a:tcPr marL="91440" marR="91440" marT="45720" marB="45720">
                    <a:solidFill>
                      <a:srgbClr val="F1F5F8"/>
                    </a:solidFill>
                  </a:tcPr>
                </a:tc>
                <a:tc>
                  <a:txBody>
                    <a:bodyPr/>
                    <a:lstStyle/>
                    <a:p>
                      <a:r>
                        <a:rPr sz="1575" b="0">
                          <a:solidFill>
                            <a:srgbClr val="202B58"/>
                          </a:solidFill>
                          <a:latin typeface="Meiryo"/>
                          <a:ea typeface="Meiryo"/>
                          <a:cs typeface="Meiryo"/>
                        </a:rPr>
                        <a:t>全体要求585</a:t>
                      </a:r>
                    </a:p>
                  </a:txBody>
                  <a:tcPr marL="91440" marR="91440" marT="45720" marB="45720">
                    <a:solidFill>
                      <a:srgbClr val="F1F5F8"/>
                    </a:solidFill>
                  </a:tcPr>
                </a:tc>
                <a:tc>
                  <a:txBody>
                    <a:bodyPr/>
                    <a:lstStyle/>
                    <a:p>
                      <a:r>
                        <a:rPr sz="1575" b="0">
                          <a:solidFill>
                            <a:srgbClr val="202B58"/>
                          </a:solidFill>
                          <a:latin typeface="Meiryo"/>
                          <a:ea typeface="Meiryo"/>
                          <a:cs typeface="Meiryo"/>
                        </a:rPr>
                        <a:t>380.98</a:t>
                      </a:r>
                    </a:p>
                  </a:txBody>
                  <a:tcPr marL="91440" marR="91440" marT="45720" marB="45720">
                    <a:solidFill>
                      <a:srgbClr val="F1F5F8"/>
                    </a:solidFill>
                  </a:tcPr>
                </a:tc>
                <a:tc>
                  <a:txBody>
                    <a:bodyPr/>
                    <a:lstStyle/>
                    <a:p>
                      <a:r>
                        <a:rPr sz="1575" b="0">
                          <a:solidFill>
                            <a:srgbClr val="202B58"/>
                          </a:solidFill>
                          <a:latin typeface="Meiryo"/>
                          <a:ea typeface="Meiryo"/>
                          <a:cs typeface="Meiryo"/>
                        </a:rPr>
                        <a:t>380.02</a:t>
                      </a:r>
                    </a:p>
                  </a:txBody>
                  <a:tcPr marL="91440" marR="91440" marT="45720" marB="45720">
                    <a:solidFill>
                      <a:srgbClr val="F1F5F8"/>
                    </a:solidFill>
                  </a:tcPr>
                </a:tc>
              </a:tr>
              <a:tr h="620713">
                <a:tc>
                  <a:txBody>
                    <a:bodyPr/>
                    <a:lstStyle/>
                    <a:p>
                      <a:r>
                        <a:rPr sz="1575" b="0">
                          <a:solidFill>
                            <a:srgbClr val="202B58"/>
                          </a:solidFill>
                          <a:latin typeface="Meiryo"/>
                          <a:ea typeface="Meiryo"/>
                          <a:cs typeface="Meiryo"/>
                        </a:rPr>
                        <a:t>毎時処理24回のelapsed合計</a:t>
                      </a:r>
                    </a:p>
                  </a:txBody>
                  <a:tcPr marL="91440" marR="91440" marT="45720" marB="45720">
                    <a:solidFill>
                      <a:srgbClr val="FFFFFF"/>
                    </a:solidFill>
                  </a:tcPr>
                </a:tc>
                <a:tc>
                  <a:txBody>
                    <a:bodyPr/>
                    <a:lstStyle/>
                    <a:p>
                      <a:r>
                        <a:rPr sz="1575" b="0">
                          <a:solidFill>
                            <a:srgbClr val="202B58"/>
                          </a:solidFill>
                          <a:latin typeface="Meiryo"/>
                          <a:ea typeface="Meiryo"/>
                          <a:cs typeface="Meiryo"/>
                        </a:rPr>
                        <a:t>solver 30 / 回</a:t>
                      </a:r>
                    </a:p>
                  </a:txBody>
                  <a:tcPr marL="91440" marR="91440" marT="45720" marB="45720">
                    <a:solidFill>
                      <a:srgbClr val="FFFFFF"/>
                    </a:solidFill>
                  </a:tcPr>
                </a:tc>
                <a:tc>
                  <a:txBody>
                    <a:bodyPr/>
                    <a:lstStyle/>
                    <a:p>
                      <a:r>
                        <a:rPr sz="1575" b="0">
                          <a:solidFill>
                            <a:srgbClr val="202B58"/>
                          </a:solidFill>
                          <a:latin typeface="Meiryo"/>
                          <a:ea typeface="Meiryo"/>
                          <a:cs typeface="Meiryo"/>
                        </a:rPr>
                        <a:t>99.01</a:t>
                      </a:r>
                    </a:p>
                  </a:txBody>
                  <a:tcPr marL="91440" marR="91440" marT="45720" marB="45720">
                    <a:solidFill>
                      <a:srgbClr val="FFFFFF"/>
                    </a:solidFill>
                  </a:tcPr>
                </a:tc>
                <a:tc>
                  <a:txBody>
                    <a:bodyPr/>
                    <a:lstStyle/>
                    <a:p>
                      <a:r>
                        <a:rPr sz="1575" b="0">
                          <a:solidFill>
                            <a:srgbClr val="202B58"/>
                          </a:solidFill>
                          <a:latin typeface="Meiryo"/>
                          <a:ea typeface="Meiryo"/>
                          <a:cs typeface="Meiryo"/>
                        </a:rPr>
                        <a:t>95.66</a:t>
                      </a:r>
                    </a:p>
                  </a:txBody>
                  <a:tcPr marL="91440" marR="91440" marT="45720" marB="45720">
                    <a:solidFill>
                      <a:srgbClr val="FFFFFF"/>
                    </a:solidFill>
                  </a:tcPr>
                </a:tc>
              </a:tr>
              <a:tr h="620713">
                <a:tc>
                  <a:txBody>
                    <a:bodyPr/>
                    <a:lstStyle/>
                    <a:p>
                      <a:r>
                        <a:rPr sz="1575" b="0">
                          <a:solidFill>
                            <a:srgbClr val="202B58"/>
                          </a:solidFill>
                          <a:latin typeface="Meiryo"/>
                          <a:ea typeface="Meiryo"/>
                          <a:cs typeface="Meiryo"/>
                        </a:rPr>
                        <a:t>毎時処理elapsed最大</a:t>
                      </a:r>
                    </a:p>
                  </a:txBody>
                  <a:tcPr marL="91440" marR="91440" marT="45720" marB="45720">
                    <a:solidFill>
                      <a:srgbClr val="F1F5F8"/>
                    </a:solidFill>
                  </a:tcPr>
                </a:tc>
                <a:tc>
                  <a:txBody>
                    <a:bodyPr/>
                    <a:lstStyle/>
                    <a:p>
                      <a:r>
                        <a:rPr sz="1575" b="0">
                          <a:solidFill>
                            <a:srgbClr val="202B58"/>
                          </a:solidFill>
                          <a:latin typeface="Meiryo"/>
                          <a:ea typeface="Meiryo"/>
                          <a:cs typeface="Meiryo"/>
                        </a:rPr>
                        <a:t>solver 30 / 回</a:t>
                      </a:r>
                    </a:p>
                  </a:txBody>
                  <a:tcPr marL="91440" marR="91440" marT="45720" marB="45720">
                    <a:solidFill>
                      <a:srgbClr val="F1F5F8"/>
                    </a:solidFill>
                  </a:tcPr>
                </a:tc>
                <a:tc>
                  <a:txBody>
                    <a:bodyPr/>
                    <a:lstStyle/>
                    <a:p>
                      <a:r>
                        <a:rPr sz="1575" b="0">
                          <a:solidFill>
                            <a:srgbClr val="202B58"/>
                          </a:solidFill>
                          <a:latin typeface="Meiryo"/>
                          <a:ea typeface="Meiryo"/>
                          <a:cs typeface="Meiryo"/>
                        </a:rPr>
                        <a:t>5.35</a:t>
                      </a:r>
                    </a:p>
                  </a:txBody>
                  <a:tcPr marL="91440" marR="91440" marT="45720" marB="45720">
                    <a:solidFill>
                      <a:srgbClr val="F1F5F8"/>
                    </a:solidFill>
                  </a:tcPr>
                </a:tc>
                <a:tc>
                  <a:txBody>
                    <a:bodyPr/>
                    <a:lstStyle/>
                    <a:p>
                      <a:r>
                        <a:rPr sz="1575" b="0">
                          <a:solidFill>
                            <a:srgbClr val="202B58"/>
                          </a:solidFill>
                          <a:latin typeface="Meiryo"/>
                          <a:ea typeface="Meiryo"/>
                          <a:cs typeface="Meiryo"/>
                        </a:rPr>
                        <a:t>5.05</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BB1CC64E-96CD-4E7B-98A4-C10535A4339C}"/>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36901336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F5D40E-1A97-4560-91F4-17FB21C3C69F}"/>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毎時再計算の処理時間：24回すべてを表示</a:t>
            </a:r>
          </a:p>
        </p:txBody>
      </p:sp>
      <p:sp>
        <p:nvSpPr>
          <p:cNvPr id="2" name="">
            <a:extLst xmlns:a="http://schemas.openxmlformats.org/drawingml/2006/main">
              <a:ext uri="{FF2B5EF4-FFF2-40B4-BE49-F238E27FC236}">
                <a16:creationId xmlns:a16="http://schemas.microsoft.com/office/drawing/2014/main" id="{0D6DF939-640D-41BA-9567-9E2AED4695E5}"/>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elapsed_secondsはsolverだけでなく、その毎時処理に含まれる処理を計測</a:t>
            </a:r>
          </a:p>
        </p:txBody>
      </p:sp>
      <p:sp>
        <p:nvSpPr>
          <p:cNvPr id="3" name="">
            <a:extLst xmlns:a="http://schemas.openxmlformats.org/drawingml/2006/main">
              <a:ext uri="{FF2B5EF4-FFF2-40B4-BE49-F238E27FC236}">
                <a16:creationId xmlns:a16="http://schemas.microsoft.com/office/drawing/2014/main" id="{D1C2EA46-FE8B-423D-BD80-0CECDA026649}"/>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今回の固定2条件では、各回の処理は約3～5.4秒だった</a:t>
            </a:r>
          </a:p>
        </p:txBody>
      </p:sp>
      <p:sp>
        <p:nvSpPr>
          <p:cNvPr id="4" name="">
            <a:extLst xmlns:a="http://schemas.openxmlformats.org/drawingml/2006/main">
              <a:ext uri="{FF2B5EF4-FFF2-40B4-BE49-F238E27FC236}">
                <a16:creationId xmlns:a16="http://schemas.microsoft.com/office/drawing/2014/main" id="{DD347A98-5679-43A3-ABC8-F9D78C424CE1}"/>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単発の保存実行における値。分布の安定性・旧方式への高速化率・実運用応答保証は未検証。</a:t>
            </a:r>
          </a:p>
        </p:txBody>
      </p:sp>
      <p:sp>
        <p:nvSpPr>
          <p:cNvPr id="5" name="">
            <a:extLst xmlns:a="http://schemas.openxmlformats.org/drawingml/2006/main">
              <a:ext uri="{FF2B5EF4-FFF2-40B4-BE49-F238E27FC236}">
                <a16:creationId xmlns:a16="http://schemas.microsoft.com/office/drawing/2014/main" id="{DCB86D2E-AA89-491D-90D7-1B6E5BD288CC}"/>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13</a:t>
            </a:r>
          </a:p>
        </p:txBody>
      </p:sp>
      <p:graphicFrame>
        <p:nvGraphicFramePr>
          <p:cNvPr id="13" name="Chart"/>
          <p:cNvGraphicFramePr/>
          <p:nvPr/>
        </p:nvGraphicFramePr>
        <p:xfrm>
          <a:off xmlns:a="http://schemas.openxmlformats.org/drawingml/2006/main" x="619125" y="1704975"/>
          <a:ext xmlns:a="http://schemas.openxmlformats.org/drawingml/2006/main" cx="10953750" cy="3714750"/>
        </p:xfrm>
        <a:graphic xmlns:a="http://schemas.openxmlformats.org/drawingml/2006/main">
          <a:graphicData uri="http://schemas.openxmlformats.org/drawingml/2006/chart">
            <c:chart xmlns:r="http://schemas.openxmlformats.org/officeDocument/2006/relationships" xmlns:c="http://schemas.openxmlformats.org/drawingml/2006/chart" r:id="R9e79b6da623a4297"/>
          </a:graphicData>
        </a:graphic>
      </p:graphicFrame>
      <p:sp>
        <p:nvSpPr>
          <p:cNvPr id="7" name="">
            <a:extLst xmlns:a="http://schemas.openxmlformats.org/drawingml/2006/main">
              <a:ext uri="{FF2B5EF4-FFF2-40B4-BE49-F238E27FC236}">
                <a16:creationId xmlns:a16="http://schemas.microsoft.com/office/drawing/2014/main" id="{7613518F-A383-4166-ADF2-9EECAEF6AE92}"/>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4678612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744B28-7EC1-4A02-B115-5D61E6526EB2}"/>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Stage 1の下界と、毎時更新の範囲</a:t>
            </a:r>
          </a:p>
        </p:txBody>
      </p:sp>
      <p:sp>
        <p:nvSpPr>
          <p:cNvPr id="2" name="">
            <a:extLst xmlns:a="http://schemas.openxmlformats.org/drawingml/2006/main">
              <a:ext uri="{FF2B5EF4-FFF2-40B4-BE49-F238E27FC236}">
                <a16:creationId xmlns:a16="http://schemas.microsoft.com/office/drawing/2014/main" id="{2156BBFD-66EB-462F-BE0B-2B4AEA9DDB30}"/>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日量の楽観的な見積もりと、時刻別の実行可能な計画を区別</a:t>
            </a:r>
          </a:p>
        </p:txBody>
      </p:sp>
      <p:sp>
        <p:nvSpPr>
          <p:cNvPr id="3" name="">
            <a:extLst xmlns:a="http://schemas.openxmlformats.org/drawingml/2006/main">
              <a:ext uri="{FF2B5EF4-FFF2-40B4-BE49-F238E27FC236}">
                <a16:creationId xmlns:a16="http://schemas.microsoft.com/office/drawing/2014/main" id="{0B2E49AC-DABB-45DB-A730-1CF8DAEE4B60}"/>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Stage 1のgapは代理目的のgap。最終費用全体の最適性を表さない</a:t>
            </a:r>
          </a:p>
        </p:txBody>
      </p:sp>
      <p:sp>
        <p:nvSpPr>
          <p:cNvPr id="4" name="">
            <a:extLst xmlns:a="http://schemas.openxmlformats.org/drawingml/2006/main">
              <a:ext uri="{FF2B5EF4-FFF2-40B4-BE49-F238E27FC236}">
                <a16:creationId xmlns:a16="http://schemas.microsoft.com/office/drawing/2014/main" id="{5832C2BB-F2ED-45D9-9B53-DF5F2BC99F1D}"/>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初期・終端BESSは今回3,000 kWh。7月資料の旧設定300 kWhを転記しない。</a:t>
            </a:r>
          </a:p>
        </p:txBody>
      </p:sp>
      <p:sp>
        <p:nvSpPr>
          <p:cNvPr id="5" name="">
            <a:extLst xmlns:a="http://schemas.openxmlformats.org/drawingml/2006/main">
              <a:ext uri="{FF2B5EF4-FFF2-40B4-BE49-F238E27FC236}">
                <a16:creationId xmlns:a16="http://schemas.microsoft.com/office/drawing/2014/main" id="{496CB5D3-7A0B-4E5A-AA9A-4C0AD5A8B629}"/>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14</a:t>
            </a:r>
          </a:p>
        </p:txBody>
      </p:sp>
      <p:sp>
        <p:nvSpPr>
          <p:cNvPr id="6" name="">
            <a:extLst xmlns:a="http://schemas.openxmlformats.org/drawingml/2006/main">
              <a:ext uri="{FF2B5EF4-FFF2-40B4-BE49-F238E27FC236}">
                <a16:creationId xmlns:a16="http://schemas.microsoft.com/office/drawing/2014/main" id="{AB687B6C-6A0B-4870-924A-CF70DD4EC128}"/>
              </a:ext>
            </a:extLst>
          </p:cNvPr>
          <p:cNvSpPr>
            <a:spLocks xmlns:a="http://schemas.openxmlformats.org/drawingml/2006/main" noGrp="1"/>
          </p:cNvSpPr>
          <p:nvPr/>
        </p:nvSpPr>
        <p:spPr>
          <a:xfrm xmlns:a="http://schemas.openxmlformats.org/drawingml/2006/main">
            <a:off x="619125" y="17335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58"/>
                </a:solidFill>
                <a:latin typeface="Meiryo"/>
                <a:ea typeface="Meiryo"/>
                <a:cs typeface="Meiryo"/>
              </a:defRPr>
            </a:pPr>
            <a:r>
              <a:rPr sz="1875" b="1">
                <a:solidFill>
                  <a:srgbClr val="202B58"/>
                </a:solidFill>
                <a:latin typeface="Meiryo"/>
                <a:ea typeface="Meiryo"/>
                <a:cs typeface="Meiryo"/>
              </a:rPr>
              <a:t>最低充電器入力 = max(走行・回送消費 + 終端要求 − 初期残量, 0) / 充電効率</a:t>
            </a:r>
          </a:p>
        </p:txBody>
      </p:sp>
      <p:sp>
        <p:nvSpPr>
          <p:cNvPr id="7" name="">
            <a:extLst xmlns:a="http://schemas.openxmlformats.org/drawingml/2006/main">
              <a:ext uri="{FF2B5EF4-FFF2-40B4-BE49-F238E27FC236}">
                <a16:creationId xmlns:a16="http://schemas.microsoft.com/office/drawing/2014/main" id="{9D09550E-77AF-433E-8F05-C9231BE1E505}"/>
              </a:ext>
            </a:extLst>
          </p:cNvPr>
          <p:cNvSpPr>
            <a:spLocks xmlns:a="http://schemas.openxmlformats.org/drawingml/2006/main" noGrp="1"/>
          </p:cNvSpPr>
          <p:nvPr/>
        </p:nvSpPr>
        <p:spPr>
          <a:xfrm xmlns:a="http://schemas.openxmlformats.org/drawingml/2006/main">
            <a:off x="619125" y="25431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58"/>
                </a:solidFill>
                <a:latin typeface="Meiryo"/>
                <a:ea typeface="Meiryo"/>
                <a:cs typeface="Meiryo"/>
              </a:defRPr>
            </a:pPr>
            <a:r>
              <a:rPr sz="1875" b="1">
                <a:solidFill>
                  <a:srgbClr val="202B58"/>
                </a:solidFill>
                <a:latin typeface="Meiryo"/>
                <a:ea typeface="Meiryo"/>
                <a:cs typeface="Meiryo"/>
              </a:rPr>
              <a:t>初期BESSの持ち出し可能量 = max(3,000 − 3,000, 0) × 0.95 = 0 kWh</a:t>
            </a:r>
          </a:p>
        </p:txBody>
      </p:sp>
      <p:graphicFrame>
        <p:nvGraphicFramePr>
          <p:cNvPr id="17" name=""/>
          <p:cNvGraphicFramePr/>
          <p:nvPr/>
        </p:nvGraphicFramePr>
        <p:xfrm>
          <a:off xmlns:a="http://schemas.openxmlformats.org/drawingml/2006/main" x="571500" y="3371850"/>
          <a:ext xmlns:a="http://schemas.openxmlformats.org/drawingml/2006/main" cx="11049000" cy="2124075"/>
        </p:xfrm>
        <a:graphic xmlns:a="http://schemas.openxmlformats.org/drawingml/2006/main">
          <a:graphicData uri="http://schemas.openxmlformats.org/drawingml/2006/table">
            <a:tbl>
              <a:tblPr/>
              <a:tblGrid>
                <a:gridCol w="2190750"/>
                <a:gridCol w="4524375"/>
                <a:gridCol w="4333875"/>
              </a:tblGrid>
              <a:tr h="531019">
                <a:tc>
                  <a:txBody>
                    <a:bodyPr/>
                    <a:lstStyle/>
                    <a:p>
                      <a:r>
                        <a:rPr sz="1650" b="1">
                          <a:solidFill>
                            <a:srgbClr val="FFFFFF"/>
                          </a:solidFill>
                          <a:latin typeface="Meiryo"/>
                          <a:ea typeface="Meiryo"/>
                          <a:cs typeface="Meiryo"/>
                        </a:rPr>
                        <a:t>計算</a:t>
                      </a:r>
                    </a:p>
                  </a:txBody>
                  <a:tcPr marL="91440" marR="91440" marT="45720" marB="45720">
                    <a:solidFill>
                      <a:srgbClr val="202B58"/>
                    </a:solidFill>
                  </a:tcPr>
                </a:tc>
                <a:tc>
                  <a:txBody>
                    <a:bodyPr/>
                    <a:lstStyle/>
                    <a:p>
                      <a:r>
                        <a:rPr sz="1650" b="1">
                          <a:solidFill>
                            <a:srgbClr val="FFFFFF"/>
                          </a:solidFill>
                          <a:latin typeface="Meiryo"/>
                          <a:ea typeface="Meiryo"/>
                          <a:cs typeface="Meiryo"/>
                        </a:rPr>
                        <a:t>決定するもの</a:t>
                      </a:r>
                    </a:p>
                  </a:txBody>
                  <a:tcPr marL="91440" marR="91440" marT="45720" marB="45720">
                    <a:solidFill>
                      <a:srgbClr val="202B58"/>
                    </a:solidFill>
                  </a:tcPr>
                </a:tc>
                <a:tc>
                  <a:txBody>
                    <a:bodyPr/>
                    <a:lstStyle/>
                    <a:p>
                      <a:r>
                        <a:rPr sz="1650" b="1">
                          <a:solidFill>
                            <a:srgbClr val="FFFFFF"/>
                          </a:solidFill>
                          <a:latin typeface="Meiryo"/>
                          <a:ea typeface="Meiryo"/>
                          <a:cs typeface="Meiryo"/>
                        </a:rPr>
                        <a:t>確認上の限界</a:t>
                      </a:r>
                    </a:p>
                  </a:txBody>
                  <a:tcPr marL="91440" marR="91440" marT="45720" marB="45720">
                    <a:solidFill>
                      <a:srgbClr val="202B58"/>
                    </a:solidFill>
                  </a:tcPr>
                </a:tc>
              </a:tr>
              <a:tr h="531019">
                <a:tc>
                  <a:txBody>
                    <a:bodyPr/>
                    <a:lstStyle/>
                    <a:p>
                      <a:r>
                        <a:rPr sz="1650" b="0">
                          <a:solidFill>
                            <a:srgbClr val="202B58"/>
                          </a:solidFill>
                          <a:latin typeface="Meiryo"/>
                          <a:ea typeface="Meiryo"/>
                          <a:cs typeface="Meiryo"/>
                        </a:rPr>
                        <a:t>Stage 1</a:t>
                      </a:r>
                    </a:p>
                  </a:txBody>
                  <a:tcPr marL="91440" marR="91440" marT="45720" marB="45720">
                    <a:solidFill>
                      <a:srgbClr val="F1F5F8"/>
                    </a:solidFill>
                  </a:tcPr>
                </a:tc>
                <a:tc>
                  <a:txBody>
                    <a:bodyPr/>
                    <a:lstStyle/>
                    <a:p>
                      <a:r>
                        <a:rPr sz="1650" b="0">
                          <a:solidFill>
                            <a:srgbClr val="202B58"/>
                          </a:solidFill>
                          <a:latin typeface="Meiryo"/>
                          <a:ea typeface="Meiryo"/>
                          <a:cs typeface="Meiryo"/>
                        </a:rPr>
                        <a:t>便割当・日量の費用代理</a:t>
                      </a:r>
                    </a:p>
                  </a:txBody>
                  <a:tcPr marL="91440" marR="91440" marT="45720" marB="45720">
                    <a:solidFill>
                      <a:srgbClr val="F1F5F8"/>
                    </a:solidFill>
                  </a:tcPr>
                </a:tc>
                <a:tc>
                  <a:txBody>
                    <a:bodyPr/>
                    <a:lstStyle/>
                    <a:p>
                      <a:r>
                        <a:rPr sz="1650" b="0">
                          <a:solidFill>
                            <a:srgbClr val="202B58"/>
                          </a:solidFill>
                          <a:latin typeface="Meiryo"/>
                          <a:ea typeface="Meiryo"/>
                          <a:cs typeface="Meiryo"/>
                        </a:rPr>
                        <a:t>充電時刻と設備競合を省略</a:t>
                      </a:r>
                    </a:p>
                  </a:txBody>
                  <a:tcPr marL="91440" marR="91440" marT="45720" marB="45720">
                    <a:solidFill>
                      <a:srgbClr val="F1F5F8"/>
                    </a:solidFill>
                  </a:tcPr>
                </a:tc>
              </a:tr>
              <a:tr h="531019">
                <a:tc>
                  <a:txBody>
                    <a:bodyPr/>
                    <a:lstStyle/>
                    <a:p>
                      <a:r>
                        <a:rPr sz="1650" b="0">
                          <a:solidFill>
                            <a:srgbClr val="202B58"/>
                          </a:solidFill>
                          <a:latin typeface="Meiryo"/>
                          <a:ea typeface="Meiryo"/>
                          <a:cs typeface="Meiryo"/>
                        </a:rPr>
                        <a:t>Stage 2</a:t>
                      </a:r>
                    </a:p>
                  </a:txBody>
                  <a:tcPr marL="91440" marR="91440" marT="45720" marB="45720">
                    <a:solidFill>
                      <a:srgbClr val="FFFFFF"/>
                    </a:solidFill>
                  </a:tcPr>
                </a:tc>
                <a:tc>
                  <a:txBody>
                    <a:bodyPr/>
                    <a:lstStyle/>
                    <a:p>
                      <a:r>
                        <a:rPr sz="1650" b="0">
                          <a:solidFill>
                            <a:srgbClr val="202B58"/>
                          </a:solidFill>
                          <a:latin typeface="Meiryo"/>
                          <a:ea typeface="Meiryo"/>
                          <a:cs typeface="Meiryo"/>
                        </a:rPr>
                        <a:t>割当固定の充電・電力</a:t>
                      </a:r>
                    </a:p>
                  </a:txBody>
                  <a:tcPr marL="91440" marR="91440" marT="45720" marB="45720">
                    <a:solidFill>
                      <a:srgbClr val="FFFFFF"/>
                    </a:solidFill>
                  </a:tcPr>
                </a:tc>
                <a:tc>
                  <a:txBody>
                    <a:bodyPr/>
                    <a:lstStyle/>
                    <a:p>
                      <a:r>
                        <a:rPr sz="1650" b="0">
                          <a:solidFill>
                            <a:srgbClr val="202B58"/>
                          </a:solidFill>
                          <a:latin typeface="Meiryo"/>
                          <a:ea typeface="Meiryo"/>
                          <a:cs typeface="Meiryo"/>
                        </a:rPr>
                        <a:t>候補外の配車は探索しない</a:t>
                      </a:r>
                    </a:p>
                  </a:txBody>
                  <a:tcPr marL="91440" marR="91440" marT="45720" marB="45720">
                    <a:solidFill>
                      <a:srgbClr val="FFFFFF"/>
                    </a:solidFill>
                  </a:tcPr>
                </a:tc>
              </a:tr>
              <a:tr h="531019">
                <a:tc>
                  <a:txBody>
                    <a:bodyPr/>
                    <a:lstStyle/>
                    <a:p>
                      <a:r>
                        <a:rPr sz="1650" b="0">
                          <a:solidFill>
                            <a:srgbClr val="202B58"/>
                          </a:solidFill>
                          <a:latin typeface="Meiryo"/>
                          <a:ea typeface="Meiryo"/>
                          <a:cs typeface="Meiryo"/>
                        </a:rPr>
                        <a:t>毎時Rolling</a:t>
                      </a:r>
                    </a:p>
                  </a:txBody>
                  <a:tcPr marL="91440" marR="91440" marT="45720" marB="45720">
                    <a:solidFill>
                      <a:srgbClr val="F1F5F8"/>
                    </a:solidFill>
                  </a:tcPr>
                </a:tc>
                <a:tc>
                  <a:txBody>
                    <a:bodyPr/>
                    <a:lstStyle/>
                    <a:p>
                      <a:r>
                        <a:rPr sz="1650" b="0">
                          <a:solidFill>
                            <a:srgbClr val="202B58"/>
                          </a:solidFill>
                          <a:latin typeface="Meiryo"/>
                          <a:ea typeface="Meiryo"/>
                          <a:cs typeface="Meiryo"/>
                        </a:rPr>
                        <a:t>残り一日の電力計画</a:t>
                      </a:r>
                    </a:p>
                  </a:txBody>
                  <a:tcPr marL="91440" marR="91440" marT="45720" marB="45720">
                    <a:solidFill>
                      <a:srgbClr val="F1F5F8"/>
                    </a:solidFill>
                  </a:tcPr>
                </a:tc>
                <a:tc>
                  <a:txBody>
                    <a:bodyPr/>
                    <a:lstStyle/>
                    <a:p>
                      <a:r>
                        <a:rPr sz="1650" b="0">
                          <a:solidFill>
                            <a:srgbClr val="202B58"/>
                          </a:solidFill>
                          <a:latin typeface="Meiryo"/>
                          <a:ea typeface="Meiryo"/>
                          <a:cs typeface="Meiryo"/>
                        </a:rPr>
                        <a:t>配車固定、先頭60分のみ実行</a:t>
                      </a:r>
                    </a:p>
                  </a:txBody>
                  <a:tcPr marL="91440" marR="91440" marT="45720" marB="45720">
                    <a:solidFill>
                      <a:srgbClr val="F1F5F8"/>
                    </a:solidFill>
                  </a:tcPr>
                </a:tc>
              </a:tr>
            </a:tbl>
          </a:graphicData>
        </a:graphic>
      </p:graphicFrame>
      <p:sp>
        <p:nvSpPr>
          <p:cNvPr id="9" name="">
            <a:extLst xmlns:a="http://schemas.openxmlformats.org/drawingml/2006/main">
              <a:ext uri="{FF2B5EF4-FFF2-40B4-BE49-F238E27FC236}">
                <a16:creationId xmlns:a16="http://schemas.microsoft.com/office/drawing/2014/main" id="{3433F8D9-10E8-40CE-AB70-BF802195F387}"/>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100280097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DE60BE-5CDE-4811-9734-D7AD8E1C4F7B}"/>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先行文献の性能表と、本研究の残る比較</a:t>
            </a:r>
          </a:p>
        </p:txBody>
      </p:sp>
      <p:sp>
        <p:nvSpPr>
          <p:cNvPr id="2" name="">
            <a:extLst xmlns:a="http://schemas.openxmlformats.org/drawingml/2006/main">
              <a:ext uri="{FF2B5EF4-FFF2-40B4-BE49-F238E27FC236}">
                <a16:creationId xmlns:a16="http://schemas.microsoft.com/office/drawing/2014/main" id="{59DA7EF9-E5FA-4F8D-846A-7849D8170D40}"/>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Zhouら (2025) Table 5の一部を再構成。論文内の50便・418便の比較</a:t>
            </a:r>
          </a:p>
        </p:txBody>
      </p:sp>
      <p:sp>
        <p:nvSpPr>
          <p:cNvPr id="3" name="">
            <a:extLst xmlns:a="http://schemas.openxmlformats.org/drawingml/2006/main">
              <a:ext uri="{FF2B5EF4-FFF2-40B4-BE49-F238E27FC236}">
                <a16:creationId xmlns:a16="http://schemas.microsoft.com/office/drawing/2014/main" id="{4870D431-436B-4613-AE17-16CC7FEE8189}"/>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費用と時間を併記する形式を採用し、本研究のbaseline比較は未実施と明示</a:t>
            </a:r>
          </a:p>
        </p:txBody>
      </p:sp>
      <p:sp>
        <p:nvSpPr>
          <p:cNvPr id="4" name="">
            <a:extLst xmlns:a="http://schemas.openxmlformats.org/drawingml/2006/main">
              <a:ext uri="{FF2B5EF4-FFF2-40B4-BE49-F238E27FC236}">
                <a16:creationId xmlns:a16="http://schemas.microsoft.com/office/drawing/2014/main" id="{5FB4E0D1-8F8B-4EC4-9969-1FDDDB4D6D13}"/>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CNYとJPY、V2G、費用範囲、計算機が異なる。本研究と直接比較して速い・安いとは言えない。</a:t>
            </a:r>
          </a:p>
        </p:txBody>
      </p:sp>
      <p:sp>
        <p:nvSpPr>
          <p:cNvPr id="5" name="">
            <a:extLst xmlns:a="http://schemas.openxmlformats.org/drawingml/2006/main">
              <a:ext uri="{FF2B5EF4-FFF2-40B4-BE49-F238E27FC236}">
                <a16:creationId xmlns:a16="http://schemas.microsoft.com/office/drawing/2014/main" id="{8E7B2061-E31E-4121-9D01-4A65CFE0FACA}"/>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15</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2000250"/>
                <a:gridCol w="3190875"/>
                <a:gridCol w="3143250"/>
                <a:gridCol w="2714625"/>
              </a:tblGrid>
              <a:tr h="620713">
                <a:tc>
                  <a:txBody>
                    <a:bodyPr/>
                    <a:lstStyle/>
                    <a:p>
                      <a:r>
                        <a:rPr sz="1725" b="1">
                          <a:solidFill>
                            <a:srgbClr val="FFFFFF"/>
                          </a:solidFill>
                          <a:latin typeface="Meiryo"/>
                          <a:ea typeface="Meiryo"/>
                          <a:cs typeface="Meiryo"/>
                        </a:rPr>
                        <a:t>規模</a:t>
                      </a:r>
                    </a:p>
                  </a:txBody>
                  <a:tcPr marL="91440" marR="91440" marT="45720" marB="45720">
                    <a:solidFill>
                      <a:srgbClr val="202B58"/>
                    </a:solidFill>
                  </a:tcPr>
                </a:tc>
                <a:tc>
                  <a:txBody>
                    <a:bodyPr/>
                    <a:lstStyle/>
                    <a:p>
                      <a:r>
                        <a:rPr sz="1725" b="1">
                          <a:solidFill>
                            <a:srgbClr val="FFFFFF"/>
                          </a:solidFill>
                          <a:latin typeface="Meiryo"/>
                          <a:ea typeface="Meiryo"/>
                          <a:cs typeface="Meiryo"/>
                        </a:rPr>
                        <a:t>手法</a:t>
                      </a:r>
                    </a:p>
                  </a:txBody>
                  <a:tcPr marL="91440" marR="91440" marT="45720" marB="45720">
                    <a:solidFill>
                      <a:srgbClr val="202B58"/>
                    </a:solidFill>
                  </a:tcPr>
                </a:tc>
                <a:tc>
                  <a:txBody>
                    <a:bodyPr/>
                    <a:lstStyle/>
                    <a:p>
                      <a:r>
                        <a:rPr sz="1725" b="1">
                          <a:solidFill>
                            <a:srgbClr val="FFFFFF"/>
                          </a:solidFill>
                          <a:latin typeface="Meiryo"/>
                          <a:ea typeface="Meiryo"/>
                          <a:cs typeface="Meiryo"/>
                        </a:rPr>
                        <a:t>費用 [CNY]</a:t>
                      </a:r>
                    </a:p>
                  </a:txBody>
                  <a:tcPr marL="91440" marR="91440" marT="45720" marB="45720">
                    <a:solidFill>
                      <a:srgbClr val="202B58"/>
                    </a:solidFill>
                  </a:tcPr>
                </a:tc>
                <a:tc>
                  <a:txBody>
                    <a:bodyPr/>
                    <a:lstStyle/>
                    <a:p>
                      <a:r>
                        <a:rPr sz="1725" b="1">
                          <a:solidFill>
                            <a:srgbClr val="FFFFFF"/>
                          </a:solidFill>
                          <a:latin typeface="Meiryo"/>
                          <a:ea typeface="Meiryo"/>
                          <a:cs typeface="Meiryo"/>
                        </a:rPr>
                        <a:t>時間 [秒]</a:t>
                      </a:r>
                    </a:p>
                  </a:txBody>
                  <a:tcPr marL="91440" marR="91440" marT="45720" marB="45720">
                    <a:solidFill>
                      <a:srgbClr val="202B58"/>
                    </a:solidFill>
                  </a:tcPr>
                </a:tc>
              </a:tr>
              <a:tr h="620713">
                <a:tc>
                  <a:txBody>
                    <a:bodyPr/>
                    <a:lstStyle/>
                    <a:p>
                      <a:r>
                        <a:rPr sz="1725" b="0">
                          <a:solidFill>
                            <a:srgbClr val="202B58"/>
                          </a:solidFill>
                          <a:latin typeface="Meiryo"/>
                          <a:ea typeface="Meiryo"/>
                          <a:cs typeface="Meiryo"/>
                        </a:rPr>
                        <a:t>50便</a:t>
                      </a:r>
                    </a:p>
                  </a:txBody>
                  <a:tcPr marL="91440" marR="91440" marT="45720" marB="45720">
                    <a:solidFill>
                      <a:srgbClr val="F1F5F8"/>
                    </a:solidFill>
                  </a:tcPr>
                </a:tc>
                <a:tc>
                  <a:txBody>
                    <a:bodyPr/>
                    <a:lstStyle/>
                    <a:p>
                      <a:r>
                        <a:rPr sz="1725" b="0">
                          <a:solidFill>
                            <a:srgbClr val="202B58"/>
                          </a:solidFill>
                          <a:latin typeface="Meiryo"/>
                          <a:ea typeface="Meiryo"/>
                          <a:cs typeface="Meiryo"/>
                        </a:rPr>
                        <a:t>Gurobi</a:t>
                      </a:r>
                    </a:p>
                  </a:txBody>
                  <a:tcPr marL="91440" marR="91440" marT="45720" marB="45720">
                    <a:solidFill>
                      <a:srgbClr val="F1F5F8"/>
                    </a:solidFill>
                  </a:tcPr>
                </a:tc>
                <a:tc>
                  <a:txBody>
                    <a:bodyPr/>
                    <a:lstStyle/>
                    <a:p>
                      <a:r>
                        <a:rPr sz="1725" b="0">
                          <a:solidFill>
                            <a:srgbClr val="202B58"/>
                          </a:solidFill>
                          <a:latin typeface="Meiryo"/>
                          <a:ea typeface="Meiryo"/>
                          <a:cs typeface="Meiryo"/>
                        </a:rPr>
                        <a:t>4,599.4</a:t>
                      </a:r>
                    </a:p>
                  </a:txBody>
                  <a:tcPr marL="91440" marR="91440" marT="45720" marB="45720">
                    <a:solidFill>
                      <a:srgbClr val="F1F5F8"/>
                    </a:solidFill>
                  </a:tcPr>
                </a:tc>
                <a:tc>
                  <a:txBody>
                    <a:bodyPr/>
                    <a:lstStyle/>
                    <a:p>
                      <a:r>
                        <a:rPr sz="1725" b="0">
                          <a:solidFill>
                            <a:srgbClr val="202B58"/>
                          </a:solidFill>
                          <a:latin typeface="Meiryo"/>
                          <a:ea typeface="Meiryo"/>
                          <a:cs typeface="Meiryo"/>
                        </a:rPr>
                        <a:t>617.6</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50便</a:t>
                      </a:r>
                    </a:p>
                  </a:txBody>
                  <a:tcPr marL="91440" marR="91440" marT="45720" marB="45720">
                    <a:solidFill>
                      <a:srgbClr val="FFFFFF"/>
                    </a:solidFill>
                  </a:tcPr>
                </a:tc>
                <a:tc>
                  <a:txBody>
                    <a:bodyPr/>
                    <a:lstStyle/>
                    <a:p>
                      <a:r>
                        <a:rPr sz="1725" b="0">
                          <a:solidFill>
                            <a:srgbClr val="202B58"/>
                          </a:solidFill>
                          <a:latin typeface="Meiryo"/>
                          <a:ea typeface="Meiryo"/>
                          <a:cs typeface="Meiryo"/>
                        </a:rPr>
                        <a:t>ALNS-SA</a:t>
                      </a:r>
                    </a:p>
                  </a:txBody>
                  <a:tcPr marL="91440" marR="91440" marT="45720" marB="45720">
                    <a:solidFill>
                      <a:srgbClr val="FFFFFF"/>
                    </a:solidFill>
                  </a:tcPr>
                </a:tc>
                <a:tc>
                  <a:txBody>
                    <a:bodyPr/>
                    <a:lstStyle/>
                    <a:p>
                      <a:r>
                        <a:rPr sz="1725" b="0">
                          <a:solidFill>
                            <a:srgbClr val="202B58"/>
                          </a:solidFill>
                          <a:latin typeface="Meiryo"/>
                          <a:ea typeface="Meiryo"/>
                          <a:cs typeface="Meiryo"/>
                        </a:rPr>
                        <a:t>4,630.9</a:t>
                      </a:r>
                    </a:p>
                  </a:txBody>
                  <a:tcPr marL="91440" marR="91440" marT="45720" marB="45720">
                    <a:solidFill>
                      <a:srgbClr val="FFFFFF"/>
                    </a:solidFill>
                  </a:tcPr>
                </a:tc>
                <a:tc>
                  <a:txBody>
                    <a:bodyPr/>
                    <a:lstStyle/>
                    <a:p>
                      <a:r>
                        <a:rPr sz="1725" b="0">
                          <a:solidFill>
                            <a:srgbClr val="202B58"/>
                          </a:solidFill>
                          <a:latin typeface="Meiryo"/>
                          <a:ea typeface="Meiryo"/>
                          <a:cs typeface="Meiryo"/>
                        </a:rPr>
                        <a:t>14.7</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418便</a:t>
                      </a:r>
                    </a:p>
                  </a:txBody>
                  <a:tcPr marL="91440" marR="91440" marT="45720" marB="45720">
                    <a:solidFill>
                      <a:srgbClr val="F1F5F8"/>
                    </a:solidFill>
                  </a:tcPr>
                </a:tc>
                <a:tc>
                  <a:txBody>
                    <a:bodyPr/>
                    <a:lstStyle/>
                    <a:p>
                      <a:r>
                        <a:rPr sz="1725" b="0">
                          <a:solidFill>
                            <a:srgbClr val="202B58"/>
                          </a:solidFill>
                          <a:latin typeface="Meiryo"/>
                          <a:ea typeface="Meiryo"/>
                          <a:cs typeface="Meiryo"/>
                        </a:rPr>
                        <a:t>Gurobi</a:t>
                      </a:r>
                    </a:p>
                  </a:txBody>
                  <a:tcPr marL="91440" marR="91440" marT="45720" marB="45720">
                    <a:solidFill>
                      <a:srgbClr val="F1F5F8"/>
                    </a:solidFill>
                  </a:tcPr>
                </a:tc>
                <a:tc>
                  <a:txBody>
                    <a:bodyPr/>
                    <a:lstStyle/>
                    <a:p>
                      <a:r>
                        <a:rPr sz="1725" b="0">
                          <a:solidFill>
                            <a:srgbClr val="202B58"/>
                          </a:solidFill>
                          <a:latin typeface="Meiryo"/>
                          <a:ea typeface="Meiryo"/>
                          <a:cs typeface="Meiryo"/>
                        </a:rPr>
                        <a:t>実行可能解なし</a:t>
                      </a:r>
                    </a:p>
                  </a:txBody>
                  <a:tcPr marL="91440" marR="91440" marT="45720" marB="45720">
                    <a:solidFill>
                      <a:srgbClr val="F1F5F8"/>
                    </a:solidFill>
                  </a:tcPr>
                </a:tc>
                <a:tc>
                  <a:txBody>
                    <a:bodyPr/>
                    <a:lstStyle/>
                    <a:p>
                      <a:r>
                        <a:rPr sz="1725" b="0">
                          <a:solidFill>
                            <a:srgbClr val="202B58"/>
                          </a:solidFill>
                          <a:latin typeface="Meiryo"/>
                          <a:ea typeface="Meiryo"/>
                          <a:cs typeface="Meiryo"/>
                        </a:rPr>
                        <a:t>6時間制限</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418便</a:t>
                      </a:r>
                    </a:p>
                  </a:txBody>
                  <a:tcPr marL="91440" marR="91440" marT="45720" marB="45720">
                    <a:solidFill>
                      <a:srgbClr val="FFFFFF"/>
                    </a:solidFill>
                  </a:tcPr>
                </a:tc>
                <a:tc>
                  <a:txBody>
                    <a:bodyPr/>
                    <a:lstStyle/>
                    <a:p>
                      <a:r>
                        <a:rPr sz="1725" b="0">
                          <a:solidFill>
                            <a:srgbClr val="202B58"/>
                          </a:solidFill>
                          <a:latin typeface="Meiryo"/>
                          <a:ea typeface="Meiryo"/>
                          <a:cs typeface="Meiryo"/>
                        </a:rPr>
                        <a:t>ALNS-SA</a:t>
                      </a:r>
                    </a:p>
                  </a:txBody>
                  <a:tcPr marL="91440" marR="91440" marT="45720" marB="45720">
                    <a:solidFill>
                      <a:srgbClr val="FFFFFF"/>
                    </a:solidFill>
                  </a:tcPr>
                </a:tc>
                <a:tc>
                  <a:txBody>
                    <a:bodyPr/>
                    <a:lstStyle/>
                    <a:p>
                      <a:r>
                        <a:rPr sz="1725" b="0">
                          <a:solidFill>
                            <a:srgbClr val="202B58"/>
                          </a:solidFill>
                          <a:latin typeface="Meiryo"/>
                          <a:ea typeface="Meiryo"/>
                          <a:cs typeface="Meiryo"/>
                        </a:rPr>
                        <a:t>8,758.3</a:t>
                      </a:r>
                    </a:p>
                  </a:txBody>
                  <a:tcPr marL="91440" marR="91440" marT="45720" marB="45720">
                    <a:solidFill>
                      <a:srgbClr val="FFFFFF"/>
                    </a:solidFill>
                  </a:tcPr>
                </a:tc>
                <a:tc>
                  <a:txBody>
                    <a:bodyPr/>
                    <a:lstStyle/>
                    <a:p>
                      <a:r>
                        <a:rPr sz="1725" b="0">
                          <a:solidFill>
                            <a:srgbClr val="202B58"/>
                          </a:solidFill>
                          <a:latin typeface="Meiryo"/>
                          <a:ea typeface="Meiryo"/>
                          <a:cs typeface="Meiryo"/>
                        </a:rPr>
                        <a:t>202.3</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本研究 264便</a:t>
                      </a:r>
                    </a:p>
                  </a:txBody>
                  <a:tcPr marL="91440" marR="91440" marT="45720" marB="45720">
                    <a:solidFill>
                      <a:srgbClr val="F1F5F8"/>
                    </a:solidFill>
                  </a:tcPr>
                </a:tc>
                <a:tc>
                  <a:txBody>
                    <a:bodyPr/>
                    <a:lstStyle/>
                    <a:p>
                      <a:r>
                        <a:rPr sz="1725" b="0">
                          <a:solidFill>
                            <a:srgbClr val="202B58"/>
                          </a:solidFill>
                          <a:latin typeface="Meiryo"/>
                          <a:ea typeface="Meiryo"/>
                          <a:cs typeface="Meiryo"/>
                        </a:rPr>
                        <a:t>同条件baseline比較</a:t>
                      </a:r>
                    </a:p>
                  </a:txBody>
                  <a:tcPr marL="91440" marR="91440" marT="45720" marB="45720">
                    <a:solidFill>
                      <a:srgbClr val="F1F5F8"/>
                    </a:solidFill>
                  </a:tcPr>
                </a:tc>
                <a:tc>
                  <a:txBody>
                    <a:bodyPr/>
                    <a:lstStyle/>
                    <a:p>
                      <a:r>
                        <a:rPr sz="1725" b="0">
                          <a:solidFill>
                            <a:srgbClr val="202B58"/>
                          </a:solidFill>
                          <a:latin typeface="Meiryo"/>
                          <a:ea typeface="Meiryo"/>
                          <a:cs typeface="Meiryo"/>
                        </a:rPr>
                        <a:t>未実施</a:t>
                      </a:r>
                    </a:p>
                  </a:txBody>
                  <a:tcPr marL="91440" marR="91440" marT="45720" marB="45720">
                    <a:solidFill>
                      <a:srgbClr val="F1F5F8"/>
                    </a:solidFill>
                  </a:tcPr>
                </a:tc>
                <a:tc>
                  <a:txBody>
                    <a:bodyPr/>
                    <a:lstStyle/>
                    <a:p>
                      <a:r>
                        <a:rPr sz="1725" b="0">
                          <a:solidFill>
                            <a:srgbClr val="202B58"/>
                          </a:solidFill>
                          <a:latin typeface="Meiryo"/>
                          <a:ea typeface="Meiryo"/>
                          <a:cs typeface="Meiryo"/>
                        </a:rPr>
                        <a:t>未実施</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7E58C3D0-3077-4F04-84A8-2FA0B183A41F}"/>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54880157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7533C0-0F01-4464-A0A5-AFBE81D1DACA}"/>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発表で示せる結論と、残る研究上の確認</a:t>
            </a:r>
          </a:p>
        </p:txBody>
      </p:sp>
      <p:sp>
        <p:nvSpPr>
          <p:cNvPr id="2" name="">
            <a:extLst xmlns:a="http://schemas.openxmlformats.org/drawingml/2006/main">
              <a:ext uri="{FF2B5EF4-FFF2-40B4-BE49-F238E27FC236}">
                <a16:creationId xmlns:a16="http://schemas.microsoft.com/office/drawing/2014/main" id="{78EFDD4D-CF4B-437B-A35B-FAAE26E67EF6}"/>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説明資料の補強と、研究としての採択・最適性・発表承認は別の段階</a:t>
            </a:r>
          </a:p>
        </p:txBody>
      </p:sp>
      <p:sp>
        <p:nvSpPr>
          <p:cNvPr id="3" name="">
            <a:extLst xmlns:a="http://schemas.openxmlformats.org/drawingml/2006/main">
              <a:ext uri="{FF2B5EF4-FFF2-40B4-BE49-F238E27FC236}">
                <a16:creationId xmlns:a16="http://schemas.microsoft.com/office/drawing/2014/main" id="{A9C72042-E7C8-45C9-9E81-92217429A01C}"/>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保存された2条件の結果を示し、SOC上限の不一致を優先して修正する</a:t>
            </a:r>
          </a:p>
        </p:txBody>
      </p:sp>
      <p:sp>
        <p:nvSpPr>
          <p:cNvPr id="4" name="">
            <a:extLst xmlns:a="http://schemas.openxmlformats.org/drawingml/2006/main">
              <a:ext uri="{FF2B5EF4-FFF2-40B4-BE49-F238E27FC236}">
                <a16:creationId xmlns:a16="http://schemas.microsoft.com/office/drawing/2014/main" id="{DDBFAE4D-77BE-480F-B14B-38D8D945134F}"/>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teacher_release_status = BLOCKED。未検証項目を解決済みとして発表しない。</a:t>
            </a:r>
          </a:p>
        </p:txBody>
      </p:sp>
      <p:sp>
        <p:nvSpPr>
          <p:cNvPr id="5" name="">
            <a:extLst xmlns:a="http://schemas.openxmlformats.org/drawingml/2006/main">
              <a:ext uri="{FF2B5EF4-FFF2-40B4-BE49-F238E27FC236}">
                <a16:creationId xmlns:a16="http://schemas.microsoft.com/office/drawing/2014/main" id="{A032FFFF-9820-4293-9085-40DD549EC8D6}"/>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16</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2667000"/>
                <a:gridCol w="4143375"/>
                <a:gridCol w="4238625"/>
              </a:tblGrid>
              <a:tr h="620713">
                <a:tc>
                  <a:txBody>
                    <a:bodyPr/>
                    <a:lstStyle/>
                    <a:p>
                      <a:r>
                        <a:rPr sz="1725" b="1">
                          <a:solidFill>
                            <a:srgbClr val="FFFFFF"/>
                          </a:solidFill>
                          <a:latin typeface="Meiryo"/>
                          <a:ea typeface="Meiryo"/>
                          <a:cs typeface="Meiryo"/>
                        </a:rPr>
                        <a:t>項目</a:t>
                      </a:r>
                    </a:p>
                  </a:txBody>
                  <a:tcPr marL="91440" marR="91440" marT="45720" marB="45720">
                    <a:solidFill>
                      <a:srgbClr val="202B58"/>
                    </a:solidFill>
                  </a:tcPr>
                </a:tc>
                <a:tc>
                  <a:txBody>
                    <a:bodyPr/>
                    <a:lstStyle/>
                    <a:p>
                      <a:r>
                        <a:rPr sz="1725" b="1">
                          <a:solidFill>
                            <a:srgbClr val="FFFFFF"/>
                          </a:solidFill>
                          <a:latin typeface="Meiryo"/>
                          <a:ea typeface="Meiryo"/>
                          <a:cs typeface="Meiryo"/>
                        </a:rPr>
                        <a:t>今回示すもの</a:t>
                      </a:r>
                    </a:p>
                  </a:txBody>
                  <a:tcPr marL="91440" marR="91440" marT="45720" marB="45720">
                    <a:solidFill>
                      <a:srgbClr val="202B58"/>
                    </a:solidFill>
                  </a:tcPr>
                </a:tc>
                <a:tc>
                  <a:txBody>
                    <a:bodyPr/>
                    <a:lstStyle/>
                    <a:p>
                      <a:r>
                        <a:rPr sz="1725" b="1">
                          <a:solidFill>
                            <a:srgbClr val="FFFFFF"/>
                          </a:solidFill>
                          <a:latin typeface="Meiryo"/>
                          <a:ea typeface="Meiryo"/>
                          <a:cs typeface="Meiryo"/>
                        </a:rPr>
                        <a:t>残る確認</a:t>
                      </a:r>
                    </a:p>
                  </a:txBody>
                  <a:tcPr marL="91440" marR="91440" marT="45720" marB="45720">
                    <a:solidFill>
                      <a:srgbClr val="202B58"/>
                    </a:solidFill>
                  </a:tcPr>
                </a:tc>
              </a:tr>
              <a:tr h="620713">
                <a:tc>
                  <a:txBody>
                    <a:bodyPr/>
                    <a:lstStyle/>
                    <a:p>
                      <a:r>
                        <a:rPr sz="1725" b="0">
                          <a:solidFill>
                            <a:srgbClr val="202B58"/>
                          </a:solidFill>
                          <a:latin typeface="Meiryo"/>
                          <a:ea typeface="Meiryo"/>
                          <a:cs typeface="Meiryo"/>
                        </a:rPr>
                        <a:t>物理・会計</a:t>
                      </a:r>
                    </a:p>
                  </a:txBody>
                  <a:tcPr marL="91440" marR="91440" marT="45720" marB="45720">
                    <a:solidFill>
                      <a:srgbClr val="F1F5F8"/>
                    </a:solidFill>
                  </a:tcPr>
                </a:tc>
                <a:tc>
                  <a:txBody>
                    <a:bodyPr/>
                    <a:lstStyle/>
                    <a:p>
                      <a:r>
                        <a:rPr sz="1725" b="0">
                          <a:solidFill>
                            <a:srgbClr val="202B58"/>
                          </a:solidFill>
                          <a:latin typeface="Meiryo"/>
                          <a:ea typeface="Meiryo"/>
                          <a:cs typeface="Meiryo"/>
                        </a:rPr>
                        <a:t>台帳一致、SOC上限に不一致</a:t>
                      </a:r>
                    </a:p>
                  </a:txBody>
                  <a:tcPr marL="91440" marR="91440" marT="45720" marB="45720">
                    <a:solidFill>
                      <a:srgbClr val="F1F5F8"/>
                    </a:solidFill>
                  </a:tcPr>
                </a:tc>
                <a:tc>
                  <a:txBody>
                    <a:bodyPr/>
                    <a:lstStyle/>
                    <a:p>
                      <a:r>
                        <a:rPr sz="1725" b="0">
                          <a:solidFill>
                            <a:srgbClr val="202B58"/>
                          </a:solidFill>
                          <a:latin typeface="Meiryo"/>
                          <a:ea typeface="Meiryo"/>
                          <a:cs typeface="Meiryo"/>
                        </a:rPr>
                        <a:t>上限修正と新しい凍結実験</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最適性</a:t>
                      </a:r>
                    </a:p>
                  </a:txBody>
                  <a:tcPr marL="91440" marR="91440" marT="45720" marB="45720">
                    <a:solidFill>
                      <a:srgbClr val="FFFFFF"/>
                    </a:solidFill>
                  </a:tcPr>
                </a:tc>
                <a:tc>
                  <a:txBody>
                    <a:bodyPr/>
                    <a:lstStyle/>
                    <a:p>
                      <a:r>
                        <a:rPr sz="1725" b="0">
                          <a:solidFill>
                            <a:srgbClr val="202B58"/>
                          </a:solidFill>
                          <a:latin typeface="Meiryo"/>
                          <a:ea typeface="Meiryo"/>
                          <a:cs typeface="Meiryo"/>
                        </a:rPr>
                        <a:t>22候補内の選択結果</a:t>
                      </a:r>
                    </a:p>
                  </a:txBody>
                  <a:tcPr marL="91440" marR="91440" marT="45720" marB="45720">
                    <a:solidFill>
                      <a:srgbClr val="FFFFFF"/>
                    </a:solidFill>
                  </a:tcPr>
                </a:tc>
                <a:tc>
                  <a:txBody>
                    <a:bodyPr/>
                    <a:lstStyle/>
                    <a:p>
                      <a:r>
                        <a:rPr sz="1725" b="0">
                          <a:solidFill>
                            <a:srgbClr val="202B58"/>
                          </a:solidFill>
                          <a:latin typeface="Meiryo"/>
                          <a:ea typeface="Meiryo"/>
                          <a:cs typeface="Meiryo"/>
                        </a:rPr>
                        <a:t>統合全体の最適性・候補安定性</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計算時間</a:t>
                      </a:r>
                    </a:p>
                  </a:txBody>
                  <a:tcPr marL="91440" marR="91440" marT="45720" marB="45720">
                    <a:solidFill>
                      <a:srgbClr val="F1F5F8"/>
                    </a:solidFill>
                  </a:tcPr>
                </a:tc>
                <a:tc>
                  <a:txBody>
                    <a:bodyPr/>
                    <a:lstStyle/>
                    <a:p>
                      <a:r>
                        <a:rPr sz="1725" b="0">
                          <a:solidFill>
                            <a:srgbClr val="202B58"/>
                          </a:solidFill>
                          <a:latin typeface="Meiryo"/>
                          <a:ea typeface="Meiryo"/>
                          <a:cs typeface="Meiryo"/>
                        </a:rPr>
                        <a:t>保存された実測値</a:t>
                      </a:r>
                    </a:p>
                  </a:txBody>
                  <a:tcPr marL="91440" marR="91440" marT="45720" marB="45720">
                    <a:solidFill>
                      <a:srgbClr val="F1F5F8"/>
                    </a:solidFill>
                  </a:tcPr>
                </a:tc>
                <a:tc>
                  <a:txBody>
                    <a:bodyPr/>
                    <a:lstStyle/>
                    <a:p>
                      <a:r>
                        <a:rPr sz="1725" b="0">
                          <a:solidFill>
                            <a:srgbClr val="202B58"/>
                          </a:solidFill>
                          <a:latin typeface="Meiryo"/>
                          <a:ea typeface="Meiryo"/>
                          <a:cs typeface="Meiryo"/>
                        </a:rPr>
                        <a:t>同条件baseline・複数回測定</a:t>
                      </a:r>
                    </a:p>
                  </a:txBody>
                  <a:tcPr marL="91440" marR="91440" marT="45720" marB="45720">
                    <a:solidFill>
                      <a:srgbClr val="F1F5F8"/>
                    </a:solidFill>
                  </a:tcPr>
                </a:tc>
              </a:tr>
              <a:tr h="620713">
                <a:tc>
                  <a:txBody>
                    <a:bodyPr/>
                    <a:lstStyle/>
                    <a:p>
                      <a:r>
                        <a:rPr sz="1725" b="0">
                          <a:solidFill>
                            <a:srgbClr val="202B58"/>
                          </a:solidFill>
                          <a:latin typeface="Meiryo"/>
                          <a:ea typeface="Meiryo"/>
                          <a:cs typeface="Meiryo"/>
                        </a:rPr>
                        <a:t>PV抑制</a:t>
                      </a:r>
                    </a:p>
                  </a:txBody>
                  <a:tcPr marL="91440" marR="91440" marT="45720" marB="45720">
                    <a:solidFill>
                      <a:srgbClr val="FFFFFF"/>
                    </a:solidFill>
                  </a:tcPr>
                </a:tc>
                <a:tc>
                  <a:txBody>
                    <a:bodyPr/>
                    <a:lstStyle/>
                    <a:p>
                      <a:r>
                        <a:rPr sz="1725" b="0">
                          <a:solidFill>
                            <a:srgbClr val="202B58"/>
                          </a:solidFill>
                          <a:latin typeface="Meiryo"/>
                          <a:ea typeface="Meiryo"/>
                          <a:cs typeface="Meiryo"/>
                        </a:rPr>
                        <a:t>いつ・どれだけ発生したか</a:t>
                      </a:r>
                    </a:p>
                  </a:txBody>
                  <a:tcPr marL="91440" marR="91440" marT="45720" marB="45720">
                    <a:solidFill>
                      <a:srgbClr val="FFFFFF"/>
                    </a:solidFill>
                  </a:tcPr>
                </a:tc>
                <a:tc>
                  <a:txBody>
                    <a:bodyPr/>
                    <a:lstStyle/>
                    <a:p>
                      <a:r>
                        <a:rPr sz="1725" b="0">
                          <a:solidFill>
                            <a:srgbClr val="202B58"/>
                          </a:solidFill>
                          <a:latin typeface="Meiryo"/>
                          <a:ea typeface="Meiryo"/>
                          <a:cs typeface="Meiryo"/>
                        </a:rPr>
                        <a:t>配車や設備条件の因果分解</a:t>
                      </a:r>
                    </a:p>
                  </a:txBody>
                  <a:tcPr marL="91440" marR="91440" marT="45720" marB="45720">
                    <a:solidFill>
                      <a:srgbClr val="FFFFFF"/>
                    </a:solidFill>
                  </a:tcPr>
                </a:tc>
              </a:tr>
              <a:tr h="620713">
                <a:tc>
                  <a:txBody>
                    <a:bodyPr/>
                    <a:lstStyle/>
                    <a:p>
                      <a:r>
                        <a:rPr sz="1725" b="0">
                          <a:solidFill>
                            <a:srgbClr val="202B58"/>
                          </a:solidFill>
                          <a:latin typeface="Meiryo"/>
                          <a:ea typeface="Meiryo"/>
                          <a:cs typeface="Meiryo"/>
                        </a:rPr>
                        <a:t>研究公開・承認</a:t>
                      </a:r>
                    </a:p>
                  </a:txBody>
                  <a:tcPr marL="91440" marR="91440" marT="45720" marB="45720">
                    <a:solidFill>
                      <a:srgbClr val="F1F5F8"/>
                    </a:solidFill>
                  </a:tcPr>
                </a:tc>
                <a:tc>
                  <a:txBody>
                    <a:bodyPr/>
                    <a:lstStyle/>
                    <a:p>
                      <a:r>
                        <a:rPr sz="1725" b="0">
                          <a:solidFill>
                            <a:srgbClr val="202B58"/>
                          </a:solidFill>
                          <a:latin typeface="Meiryo"/>
                          <a:ea typeface="Meiryo"/>
                          <a:cs typeface="Meiryo"/>
                        </a:rPr>
                        <a:t>実験SHAと出典を明示</a:t>
                      </a:r>
                    </a:p>
                  </a:txBody>
                  <a:tcPr marL="91440" marR="91440" marT="45720" marB="45720">
                    <a:solidFill>
                      <a:srgbClr val="F1F5F8"/>
                    </a:solidFill>
                  </a:tcPr>
                </a:tc>
                <a:tc>
                  <a:txBody>
                    <a:bodyPr/>
                    <a:lstStyle/>
                    <a:p>
                      <a:r>
                        <a:rPr sz="1725" b="0">
                          <a:solidFill>
                            <a:srgbClr val="202B58"/>
                          </a:solidFill>
                          <a:latin typeface="Meiryo"/>
                          <a:ea typeface="Meiryo"/>
                          <a:cs typeface="Meiryo"/>
                        </a:rPr>
                        <a:t>来歴の残件・独立レビュー・承認</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13E4ED52-4705-499E-912F-1CF92C08DC50}"/>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205100460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37F308-9C82-403E-89FF-5E28F1986B41}"/>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Meiryo"/>
                <a:ea typeface="Meiryo"/>
                <a:cs typeface="Meiryo"/>
              </a:defRPr>
            </a:pPr>
            <a:r>
              <a:rPr sz="2700" b="1">
                <a:solidFill>
                  <a:srgbClr val="202B58"/>
                </a:solidFill>
                <a:latin typeface="Meiryo"/>
                <a:ea typeface="Meiryo"/>
                <a:cs typeface="Meiryo"/>
              </a:rPr>
              <a:t>追加確認：BEVの入力SOC上限と実行結果が不一致</a:t>
            </a:r>
          </a:p>
        </p:txBody>
      </p:sp>
      <p:sp>
        <p:nvSpPr>
          <p:cNvPr id="2" name="">
            <a:extLst xmlns:a="http://schemas.openxmlformats.org/drawingml/2006/main">
              <a:ext uri="{FF2B5EF4-FFF2-40B4-BE49-F238E27FC236}">
                <a16:creationId xmlns:a16="http://schemas.microsoft.com/office/drawing/2014/main" id="{5E3E3C99-86A5-4EE6-835A-4CCA1FA56A49}"/>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Meiryo"/>
                <a:ea typeface="Meiryo"/>
                <a:cs typeface="Meiryo"/>
              </a:defRPr>
            </a:pPr>
            <a:r>
              <a:rPr sz="1725" b="0">
                <a:solidFill>
                  <a:srgbClr val="59687B"/>
                </a:solidFill>
                <a:latin typeface="Meiryo"/>
                <a:ea typeface="Meiryo"/>
                <a:cs typeface="Meiryo"/>
              </a:rPr>
              <a:t>P1：入力maxSoc=0.90に対し、実験SHA bb0c005のStage 2は容量100%を上限としていた</a:t>
            </a:r>
          </a:p>
        </p:txBody>
      </p:sp>
      <p:sp>
        <p:nvSpPr>
          <p:cNvPr id="3" name="">
            <a:extLst xmlns:a="http://schemas.openxmlformats.org/drawingml/2006/main">
              <a:ext uri="{FF2B5EF4-FFF2-40B4-BE49-F238E27FC236}">
                <a16:creationId xmlns:a16="http://schemas.microsoft.com/office/drawing/2014/main" id="{9B189A32-84B0-4015-A8A5-DF8225A50BD0}"/>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Meiryo"/>
                <a:ea typeface="Meiryo"/>
                <a:cs typeface="Meiryo"/>
              </a:defRPr>
            </a:pPr>
            <a:r>
              <a:rPr sz="1875" b="1">
                <a:solidFill>
                  <a:srgbClr val="159A8C"/>
                </a:solidFill>
                <a:latin typeface="Meiryo"/>
                <a:ea typeface="Meiryo"/>
                <a:cs typeface="Meiryo"/>
              </a:rPr>
              <a:t>上限の契約を直し、独立検証を追加してから、クリーンな新SHAで再実験する</a:t>
            </a:r>
          </a:p>
        </p:txBody>
      </p:sp>
      <p:sp>
        <p:nvSpPr>
          <p:cNvPr id="4" name="">
            <a:extLst xmlns:a="http://schemas.openxmlformats.org/drawingml/2006/main">
              <a:ext uri="{FF2B5EF4-FFF2-40B4-BE49-F238E27FC236}">
                <a16:creationId xmlns:a16="http://schemas.microsoft.com/office/drawing/2014/main" id="{C6F00D7B-A45A-4D4D-993F-60A09073E60F}"/>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Meiryo"/>
                <a:ea typeface="Meiryo"/>
                <a:cs typeface="Meiryo"/>
              </a:defRPr>
            </a:pPr>
            <a:r>
              <a:rPr sz="1275" b="0">
                <a:solidFill>
                  <a:srgbClr val="7E4D36"/>
                </a:solidFill>
                <a:latin typeface="Meiryo"/>
                <a:ea typeface="Meiryo"/>
                <a:cs typeface="Meiryo"/>
              </a:rPr>
              <a:t>図表のためにSOC値を切り詰めたり、入力上限を100%に読み替えたりしていない。</a:t>
            </a:r>
          </a:p>
        </p:txBody>
      </p:sp>
      <p:sp>
        <p:nvSpPr>
          <p:cNvPr id="5" name="">
            <a:extLst xmlns:a="http://schemas.openxmlformats.org/drawingml/2006/main">
              <a:ext uri="{FF2B5EF4-FFF2-40B4-BE49-F238E27FC236}">
                <a16:creationId xmlns:a16="http://schemas.microsoft.com/office/drawing/2014/main" id="{14A19CC3-84B9-4C55-809C-4F15A071C543}"/>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Meiryo"/>
                <a:ea typeface="Meiryo"/>
                <a:cs typeface="Meiryo"/>
              </a:defRPr>
            </a:pPr>
            <a:r>
              <a:rPr sz="975" b="0">
                <a:solidFill>
                  <a:srgbClr val="59687B"/>
                </a:solidFill>
                <a:latin typeface="Meiryo"/>
                <a:ea typeface="Meiryo"/>
                <a:cs typeface="Meiryo"/>
              </a:rPr>
              <a:t>補足 17</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5191125"/>
                <a:gridCol w="2952750"/>
                <a:gridCol w="2905125"/>
              </a:tblGrid>
              <a:tr h="620713">
                <a:tc>
                  <a:txBody>
                    <a:bodyPr/>
                    <a:lstStyle/>
                    <a:p>
                      <a:r>
                        <a:rPr sz="1650" b="1">
                          <a:solidFill>
                            <a:srgbClr val="FFFFFF"/>
                          </a:solidFill>
                          <a:latin typeface="Meiryo"/>
                          <a:ea typeface="Meiryo"/>
                          <a:cs typeface="Meiryo"/>
                        </a:rPr>
                        <a:t>確認項目</a:t>
                      </a:r>
                    </a:p>
                  </a:txBody>
                  <a:tcPr marL="91440" marR="91440" marT="45720" marB="45720">
                    <a:solidFill>
                      <a:srgbClr val="202B58"/>
                    </a:solidFill>
                  </a:tcPr>
                </a:tc>
                <a:tc>
                  <a:txBody>
                    <a:bodyPr/>
                    <a:lstStyle/>
                    <a:p>
                      <a:r>
                        <a:rPr sz="1650" b="1">
                          <a:solidFill>
                            <a:srgbClr val="FFFFFF"/>
                          </a:solidFill>
                          <a:latin typeface="Meiryo"/>
                          <a:ea typeface="Meiryo"/>
                          <a:cs typeface="Meiryo"/>
                        </a:rPr>
                        <a:t>高PV</a:t>
                      </a:r>
                    </a:p>
                  </a:txBody>
                  <a:tcPr marL="91440" marR="91440" marT="45720" marB="45720">
                    <a:solidFill>
                      <a:srgbClr val="202B58"/>
                    </a:solidFill>
                  </a:tcPr>
                </a:tc>
                <a:tc>
                  <a:txBody>
                    <a:bodyPr/>
                    <a:lstStyle/>
                    <a:p>
                      <a:r>
                        <a:rPr sz="1650" b="1">
                          <a:solidFill>
                            <a:srgbClr val="FFFFFF"/>
                          </a:solidFill>
                          <a:latin typeface="Meiryo"/>
                          <a:ea typeface="Meiryo"/>
                          <a:cs typeface="Meiryo"/>
                        </a:rPr>
                        <a:t>低PV</a:t>
                      </a:r>
                    </a:p>
                  </a:txBody>
                  <a:tcPr marL="91440" marR="91440" marT="45720" marB="45720">
                    <a:solidFill>
                      <a:srgbClr val="202B58"/>
                    </a:solidFill>
                  </a:tcPr>
                </a:tc>
              </a:tr>
              <a:tr h="620713">
                <a:tc>
                  <a:txBody>
                    <a:bodyPr/>
                    <a:lstStyle/>
                    <a:p>
                      <a:r>
                        <a:rPr sz="1650" b="0">
                          <a:solidFill>
                            <a:srgbClr val="202B58"/>
                          </a:solidFill>
                          <a:latin typeface="Meiryo"/>
                          <a:ea typeface="Meiryo"/>
                          <a:cs typeface="Meiryo"/>
                        </a:rPr>
                        <a:t>Preparedで指定したSOC上限</a:t>
                      </a:r>
                    </a:p>
                  </a:txBody>
                  <a:tcPr marL="91440" marR="91440" marT="45720" marB="45720">
                    <a:solidFill>
                      <a:srgbClr val="F1F5F8"/>
                    </a:solidFill>
                  </a:tcPr>
                </a:tc>
                <a:tc>
                  <a:txBody>
                    <a:bodyPr/>
                    <a:lstStyle/>
                    <a:p>
                      <a:r>
                        <a:rPr sz="1650" b="0">
                          <a:solidFill>
                            <a:srgbClr val="202B58"/>
                          </a:solidFill>
                          <a:latin typeface="Meiryo"/>
                          <a:ea typeface="Meiryo"/>
                          <a:cs typeface="Meiryo"/>
                        </a:rPr>
                        <a:t>90%</a:t>
                      </a:r>
                    </a:p>
                  </a:txBody>
                  <a:tcPr marL="91440" marR="91440" marT="45720" marB="45720">
                    <a:solidFill>
                      <a:srgbClr val="F1F5F8"/>
                    </a:solidFill>
                  </a:tcPr>
                </a:tc>
                <a:tc>
                  <a:txBody>
                    <a:bodyPr/>
                    <a:lstStyle/>
                    <a:p>
                      <a:r>
                        <a:rPr sz="1650" b="0">
                          <a:solidFill>
                            <a:srgbClr val="202B58"/>
                          </a:solidFill>
                          <a:latin typeface="Meiryo"/>
                          <a:ea typeface="Meiryo"/>
                          <a:cs typeface="Meiryo"/>
                        </a:rPr>
                        <a:t>90%</a:t>
                      </a:r>
                    </a:p>
                  </a:txBody>
                  <a:tcPr marL="91440" marR="91440" marT="45720" marB="45720">
                    <a:solidFill>
                      <a:srgbClr val="F1F5F8"/>
                    </a:solidFill>
                  </a:tcPr>
                </a:tc>
              </a:tr>
              <a:tr h="620713">
                <a:tc>
                  <a:txBody>
                    <a:bodyPr/>
                    <a:lstStyle/>
                    <a:p>
                      <a:r>
                        <a:rPr sz="1650" b="0">
                          <a:solidFill>
                            <a:srgbClr val="202B58"/>
                          </a:solidFill>
                          <a:latin typeface="Meiryo"/>
                          <a:ea typeface="Meiryo"/>
                          <a:cs typeface="Meiryo"/>
                        </a:rPr>
                        <a:t>保存された最大SOC</a:t>
                      </a:r>
                    </a:p>
                  </a:txBody>
                  <a:tcPr marL="91440" marR="91440" marT="45720" marB="45720">
                    <a:solidFill>
                      <a:srgbClr val="FFFFFF"/>
                    </a:solidFill>
                  </a:tcPr>
                </a:tc>
                <a:tc>
                  <a:txBody>
                    <a:bodyPr/>
                    <a:lstStyle/>
                    <a:p>
                      <a:r>
                        <a:rPr sz="1650" b="0">
                          <a:solidFill>
                            <a:srgbClr val="202B58"/>
                          </a:solidFill>
                          <a:latin typeface="Meiryo"/>
                          <a:ea typeface="Meiryo"/>
                          <a:cs typeface="Meiryo"/>
                        </a:rPr>
                        <a:t>93.375%</a:t>
                      </a:r>
                    </a:p>
                  </a:txBody>
                  <a:tcPr marL="91440" marR="91440" marT="45720" marB="45720">
                    <a:solidFill>
                      <a:srgbClr val="FFFFFF"/>
                    </a:solidFill>
                  </a:tcPr>
                </a:tc>
                <a:tc>
                  <a:txBody>
                    <a:bodyPr/>
                    <a:lstStyle/>
                    <a:p>
                      <a:r>
                        <a:rPr sz="1650" b="0">
                          <a:solidFill>
                            <a:srgbClr val="202B58"/>
                          </a:solidFill>
                          <a:latin typeface="Meiryo"/>
                          <a:ea typeface="Meiryo"/>
                          <a:cs typeface="Meiryo"/>
                        </a:rPr>
                        <a:t>83.186%</a:t>
                      </a:r>
                    </a:p>
                  </a:txBody>
                  <a:tcPr marL="91440" marR="91440" marT="45720" marB="45720">
                    <a:solidFill>
                      <a:srgbClr val="FFFFFF"/>
                    </a:solidFill>
                  </a:tcPr>
                </a:tc>
              </a:tr>
              <a:tr h="620713">
                <a:tc>
                  <a:txBody>
                    <a:bodyPr/>
                    <a:lstStyle/>
                    <a:p>
                      <a:r>
                        <a:rPr sz="1650" b="0">
                          <a:solidFill>
                            <a:srgbClr val="202B58"/>
                          </a:solidFill>
                          <a:latin typeface="Meiryo"/>
                          <a:ea typeface="Meiryo"/>
                          <a:cs typeface="Meiryo"/>
                        </a:rPr>
                        <a:t>90%超過の車両数</a:t>
                      </a:r>
                    </a:p>
                  </a:txBody>
                  <a:tcPr marL="91440" marR="91440" marT="45720" marB="45720">
                    <a:solidFill>
                      <a:srgbClr val="F1F5F8"/>
                    </a:solidFill>
                  </a:tcPr>
                </a:tc>
                <a:tc>
                  <a:txBody>
                    <a:bodyPr/>
                    <a:lstStyle/>
                    <a:p>
                      <a:r>
                        <a:rPr sz="1650" b="0">
                          <a:solidFill>
                            <a:srgbClr val="202B58"/>
                          </a:solidFill>
                          <a:latin typeface="Meiryo"/>
                          <a:ea typeface="Meiryo"/>
                          <a:cs typeface="Meiryo"/>
                        </a:rPr>
                        <a:t>3</a:t>
                      </a:r>
                    </a:p>
                  </a:txBody>
                  <a:tcPr marL="91440" marR="91440" marT="45720" marB="45720">
                    <a:solidFill>
                      <a:srgbClr val="F1F5F8"/>
                    </a:solidFill>
                  </a:tcPr>
                </a:tc>
                <a:tc>
                  <a:txBody>
                    <a:bodyPr/>
                    <a:lstStyle/>
                    <a:p>
                      <a:r>
                        <a:rPr sz="1650" b="0">
                          <a:solidFill>
                            <a:srgbClr val="202B58"/>
                          </a:solidFill>
                          <a:latin typeface="Meiryo"/>
                          <a:ea typeface="Meiryo"/>
                          <a:cs typeface="Meiryo"/>
                        </a:rPr>
                        <a:t>0</a:t>
                      </a:r>
                    </a:p>
                  </a:txBody>
                  <a:tcPr marL="91440" marR="91440" marT="45720" marB="45720">
                    <a:solidFill>
                      <a:srgbClr val="F1F5F8"/>
                    </a:solidFill>
                  </a:tcPr>
                </a:tc>
              </a:tr>
              <a:tr h="620713">
                <a:tc>
                  <a:txBody>
                    <a:bodyPr/>
                    <a:lstStyle/>
                    <a:p>
                      <a:r>
                        <a:rPr sz="1650" b="0">
                          <a:solidFill>
                            <a:srgbClr val="202B58"/>
                          </a:solidFill>
                          <a:latin typeface="Meiryo"/>
                          <a:ea typeface="Meiryo"/>
                          <a:cs typeface="Meiryo"/>
                        </a:rPr>
                        <a:t>90%超過の車両×15分境界点</a:t>
                      </a:r>
                    </a:p>
                  </a:txBody>
                  <a:tcPr marL="91440" marR="91440" marT="45720" marB="45720">
                    <a:solidFill>
                      <a:srgbClr val="FFFFFF"/>
                    </a:solidFill>
                  </a:tcPr>
                </a:tc>
                <a:tc>
                  <a:txBody>
                    <a:bodyPr/>
                    <a:lstStyle/>
                    <a:p>
                      <a:r>
                        <a:rPr sz="1650" b="0">
                          <a:solidFill>
                            <a:srgbClr val="202B58"/>
                          </a:solidFill>
                          <a:latin typeface="Meiryo"/>
                          <a:ea typeface="Meiryo"/>
                          <a:cs typeface="Meiryo"/>
                        </a:rPr>
                        <a:t>12</a:t>
                      </a:r>
                    </a:p>
                  </a:txBody>
                  <a:tcPr marL="91440" marR="91440" marT="45720" marB="45720">
                    <a:solidFill>
                      <a:srgbClr val="FFFFFF"/>
                    </a:solidFill>
                  </a:tcPr>
                </a:tc>
                <a:tc>
                  <a:txBody>
                    <a:bodyPr/>
                    <a:lstStyle/>
                    <a:p>
                      <a:r>
                        <a:rPr sz="1650" b="0">
                          <a:solidFill>
                            <a:srgbClr val="202B58"/>
                          </a:solidFill>
                          <a:latin typeface="Meiryo"/>
                          <a:ea typeface="Meiryo"/>
                          <a:cs typeface="Meiryo"/>
                        </a:rPr>
                        <a:t>0</a:t>
                      </a:r>
                    </a:p>
                  </a:txBody>
                  <a:tcPr marL="91440" marR="91440" marT="45720" marB="45720">
                    <a:solidFill>
                      <a:srgbClr val="FFFFFF"/>
                    </a:solidFill>
                  </a:tcPr>
                </a:tc>
              </a:tr>
              <a:tr h="620713">
                <a:tc>
                  <a:txBody>
                    <a:bodyPr/>
                    <a:lstStyle/>
                    <a:p>
                      <a:r>
                        <a:rPr sz="1650" b="0">
                          <a:solidFill>
                            <a:srgbClr val="202B58"/>
                          </a:solidFill>
                          <a:latin typeface="Meiryo"/>
                          <a:ea typeface="Meiryo"/>
                          <a:cs typeface="Meiryo"/>
                        </a:rPr>
                        <a:t>今回の扱い</a:t>
                      </a:r>
                    </a:p>
                  </a:txBody>
                  <a:tcPr marL="91440" marR="91440" marT="45720" marB="45720">
                    <a:solidFill>
                      <a:srgbClr val="F1F5F8"/>
                    </a:solidFill>
                  </a:tcPr>
                </a:tc>
                <a:tc>
                  <a:txBody>
                    <a:bodyPr/>
                    <a:lstStyle/>
                    <a:p>
                      <a:r>
                        <a:rPr sz="1650" b="0">
                          <a:solidFill>
                            <a:srgbClr val="202B58"/>
                          </a:solidFill>
                          <a:latin typeface="Meiryo"/>
                          <a:ea typeface="Meiryo"/>
                          <a:cs typeface="Meiryo"/>
                        </a:rPr>
                        <a:t>診断用、研究結論には未使用</a:t>
                      </a:r>
                    </a:p>
                  </a:txBody>
                  <a:tcPr marL="91440" marR="91440" marT="45720" marB="45720">
                    <a:solidFill>
                      <a:srgbClr val="F1F5F8"/>
                    </a:solidFill>
                  </a:tcPr>
                </a:tc>
                <a:tc>
                  <a:txBody>
                    <a:bodyPr/>
                    <a:lstStyle/>
                    <a:p>
                      <a:r>
                        <a:rPr sz="1650" b="0">
                          <a:solidFill>
                            <a:srgbClr val="202B58"/>
                          </a:solidFill>
                          <a:latin typeface="Meiryo"/>
                          <a:ea typeface="Meiryo"/>
                          <a:cs typeface="Meiryo"/>
                        </a:rPr>
                        <a:t>比較ペアとして診断用</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82F9B5E8-0DD3-408B-86F2-E2FF98032288}"/>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Meiryo"/>
                <a:ea typeface="Meiryo"/>
                <a:cs typeface="Meiryo"/>
              </a:defRPr>
            </a:pPr>
            <a:r>
              <a:rPr sz="900" b="0">
                <a:solidFill>
                  <a:srgbClr val="A23D37"/>
                </a:solidFill>
                <a:latin typeface="Meiryo"/>
                <a:ea typeface="Meiryo"/>
                <a:cs typeface="Meiryo"/>
              </a:rPr>
              <a:t>DIAGNOSTIC  /  NOT USED FOR RESEARCH CONCLUSIONS  /  SOC入力上限の不一致は補足17</a:t>
            </a:r>
          </a:p>
        </p:txBody>
      </p:sp>
    </p:spTree>
    <p:extLst>
      <p:ext uri="{BB962C8B-B14F-4D97-AF65-F5344CB8AC3E}">
        <p14:creationId xmlns:p14="http://schemas.microsoft.com/office/powerpoint/2010/main" val="7885636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2026-09-06T15:33:04.5740000Z</dcterms:created>
  <dcterms:modified xsi:type="dcterms:W3CDTF">2026-09-06T15:33:04.5740000Z</dcterms:modified>
</coreProperties>
</file>