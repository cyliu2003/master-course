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3.xml" ContentType="application/vnd.openxmlformats-officedocument.presentationml.notesSlide+xml"/>
  <Override PartName="/ppt/charts/chart5.xml" ContentType="application/vnd.openxmlformats-officedocument.drawingml.chart+xml"/>
  <Override PartName="/ppt/notesSlides/notesSlide2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25.xml" ContentType="application/vnd.openxmlformats-officedocument.presentationml.notesSlide+xml"/>
  <Override PartName="/ppt/charts/chart8.xml" ContentType="application/vnd.openxmlformats-officedocument.drawingml.chart+xml"/>
  <Override PartName="/ppt/notesSlides/notesSlide26.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27.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3.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0" d="100"/>
          <a:sy n="120" d="100"/>
        </p:scale>
        <p:origin x="19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7883-4D65-86B6-7CF5BD6F9CE9}"/>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7883-4D65-86B6-7CF5BD6F9CE9}"/>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329.8</c:v>
                </c:pt>
                <c:pt idx="57">
                  <c:v>329.8</c:v>
                </c:pt>
                <c:pt idx="58">
                  <c:v>329.8</c:v>
                </c:pt>
                <c:pt idx="59">
                  <c:v>329.8</c:v>
                </c:pt>
                <c:pt idx="60">
                  <c:v>329.8</c:v>
                </c:pt>
                <c:pt idx="61">
                  <c:v>329.8</c:v>
                </c:pt>
                <c:pt idx="62">
                  <c:v>329.8</c:v>
                </c:pt>
                <c:pt idx="63">
                  <c:v>329.8</c:v>
                </c:pt>
                <c:pt idx="64">
                  <c:v>0</c:v>
                </c:pt>
                <c:pt idx="65">
                  <c:v>0</c:v>
                </c:pt>
                <c:pt idx="66">
                  <c:v>314.296585</c:v>
                </c:pt>
                <c:pt idx="67">
                  <c:v>314.296585</c:v>
                </c:pt>
                <c:pt idx="68">
                  <c:v>0</c:v>
                </c:pt>
                <c:pt idx="69">
                  <c:v>0</c:v>
                </c:pt>
                <c:pt idx="70">
                  <c:v>505.75</c:v>
                </c:pt>
                <c:pt idx="71">
                  <c:v>505.75</c:v>
                </c:pt>
                <c:pt idx="72">
                  <c:v>660.449789</c:v>
                </c:pt>
                <c:pt idx="73">
                  <c:v>660.449789</c:v>
                </c:pt>
                <c:pt idx="74">
                  <c:v>630.453096</c:v>
                </c:pt>
                <c:pt idx="75">
                  <c:v>630.453096</c:v>
                </c:pt>
                <c:pt idx="76">
                  <c:v>660.4499</c:v>
                </c:pt>
                <c:pt idx="77">
                  <c:v>660.4499</c:v>
                </c:pt>
                <c:pt idx="78">
                  <c:v>660.4499</c:v>
                </c:pt>
                <c:pt idx="79">
                  <c:v>660.4499</c:v>
                </c:pt>
                <c:pt idx="80">
                  <c:v>0</c:v>
                </c:pt>
                <c:pt idx="81">
                  <c:v>0</c:v>
                </c:pt>
                <c:pt idx="82">
                  <c:v>0</c:v>
                </c:pt>
                <c:pt idx="83">
                  <c:v>0</c:v>
                </c:pt>
                <c:pt idx="84">
                  <c:v>0</c:v>
                </c:pt>
                <c:pt idx="85">
                  <c:v>0</c:v>
                </c:pt>
                <c:pt idx="86">
                  <c:v>753.0999</c:v>
                </c:pt>
                <c:pt idx="87">
                  <c:v>753.0999</c:v>
                </c:pt>
                <c:pt idx="88">
                  <c:v>800.7</c:v>
                </c:pt>
                <c:pt idx="89">
                  <c:v>800.7</c:v>
                </c:pt>
                <c:pt idx="90">
                  <c:v>800.7</c:v>
                </c:pt>
                <c:pt idx="91">
                  <c:v>800.7</c:v>
                </c:pt>
                <c:pt idx="92">
                  <c:v>800.7</c:v>
                </c:pt>
                <c:pt idx="93">
                  <c:v>800.7</c:v>
                </c:pt>
                <c:pt idx="94">
                  <c:v>800.7</c:v>
                </c:pt>
                <c:pt idx="95">
                  <c:v>800.7</c:v>
                </c:pt>
                <c:pt idx="96">
                  <c:v>783.7</c:v>
                </c:pt>
                <c:pt idx="97">
                  <c:v>783.7</c:v>
                </c:pt>
                <c:pt idx="98">
                  <c:v>783.7</c:v>
                </c:pt>
                <c:pt idx="99">
                  <c:v>783.7</c:v>
                </c:pt>
                <c:pt idx="100">
                  <c:v>783.7</c:v>
                </c:pt>
                <c:pt idx="101">
                  <c:v>783.7</c:v>
                </c:pt>
                <c:pt idx="102">
                  <c:v>783.7</c:v>
                </c:pt>
                <c:pt idx="103">
                  <c:v>783.7</c:v>
                </c:pt>
                <c:pt idx="104">
                  <c:v>197.727854</c:v>
                </c:pt>
                <c:pt idx="105">
                  <c:v>197.727854</c:v>
                </c:pt>
                <c:pt idx="106">
                  <c:v>708.05</c:v>
                </c:pt>
                <c:pt idx="107">
                  <c:v>708.05</c:v>
                </c:pt>
                <c:pt idx="108">
                  <c:v>708.05</c:v>
                </c:pt>
                <c:pt idx="109">
                  <c:v>708.05</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9.256054</c:v>
                </c:pt>
                <c:pt idx="145">
                  <c:v>9.256054</c:v>
                </c:pt>
                <c:pt idx="146">
                  <c:v>9.35</c:v>
                </c:pt>
                <c:pt idx="147">
                  <c:v>9.35</c:v>
                </c:pt>
                <c:pt idx="148">
                  <c:v>9.35</c:v>
                </c:pt>
                <c:pt idx="149">
                  <c:v>9.35</c:v>
                </c:pt>
                <c:pt idx="150">
                  <c:v>9.35</c:v>
                </c:pt>
                <c:pt idx="151">
                  <c:v>9.35</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7883-4D65-86B6-7CF5BD6F9CE9}"/>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99F-40A1-8D1A-31121F74E252}"/>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F99F-40A1-8D1A-31121F74E252}"/>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F99F-40A1-8D1A-31121F74E252}"/>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623B-4A0D-9061-6A86C4F70476}"/>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mooth val="1"/>
          <c:extLst>
            <c:ext xmlns:c16="http://schemas.microsoft.com/office/drawing/2014/chart" uri="{C3380CC4-5D6E-409C-BE32-E72D297353CC}">
              <c16:uniqueId val="{00000001-623B-4A0D-9061-6A86C4F70476}"/>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623B-4A0D-9061-6A86C4F70476}"/>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E533-451E-9689-9394213F4B2C}"/>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E533-451E-9689-9394213F4B2C}"/>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14.163909</c:v>
                </c:pt>
                <c:pt idx="3">
                  <c:v>14.163909</c:v>
                </c:pt>
                <c:pt idx="4">
                  <c:v>0.0001</c:v>
                </c:pt>
                <c:pt idx="5">
                  <c:v>0.0001</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5.220425</c:v>
                </c:pt>
                <c:pt idx="41">
                  <c:v>5.220425</c:v>
                </c:pt>
                <c:pt idx="42">
                  <c:v>0</c:v>
                </c:pt>
                <c:pt idx="43">
                  <c:v>0</c:v>
                </c:pt>
                <c:pt idx="44">
                  <c:v>15.643811</c:v>
                </c:pt>
                <c:pt idx="45">
                  <c:v>15.643811</c:v>
                </c:pt>
                <c:pt idx="46">
                  <c:v>17.232073</c:v>
                </c:pt>
                <c:pt idx="47">
                  <c:v>17.232073</c:v>
                </c:pt>
                <c:pt idx="48">
                  <c:v>37.351508</c:v>
                </c:pt>
                <c:pt idx="49">
                  <c:v>37.351508</c:v>
                </c:pt>
                <c:pt idx="50">
                  <c:v>122.301666</c:v>
                </c:pt>
                <c:pt idx="51">
                  <c:v>122.301666</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51.69561</c:v>
                </c:pt>
                <c:pt idx="73">
                  <c:v>51.69561</c:v>
                </c:pt>
                <c:pt idx="74">
                  <c:v>95.8502</c:v>
                </c:pt>
                <c:pt idx="75">
                  <c:v>95.8502</c:v>
                </c:pt>
                <c:pt idx="76">
                  <c:v>21.428668</c:v>
                </c:pt>
                <c:pt idx="77">
                  <c:v>21.428668</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c:v>
                </c:pt>
                <c:pt idx="169">
                  <c:v>60</c:v>
                </c:pt>
                <c:pt idx="170">
                  <c:v>0</c:v>
                </c:pt>
                <c:pt idx="171">
                  <c:v>0</c:v>
                </c:pt>
                <c:pt idx="172">
                  <c:v>0</c:v>
                </c:pt>
                <c:pt idx="173">
                  <c:v>0</c:v>
                </c:pt>
                <c:pt idx="174">
                  <c:v>0</c:v>
                </c:pt>
                <c:pt idx="175">
                  <c:v>0</c:v>
                </c:pt>
                <c:pt idx="176">
                  <c:v>47.950158</c:v>
                </c:pt>
                <c:pt idx="177">
                  <c:v>47.950158</c:v>
                </c:pt>
                <c:pt idx="178">
                  <c:v>3.182057</c:v>
                </c:pt>
                <c:pt idx="179">
                  <c:v>3.182057</c:v>
                </c:pt>
                <c:pt idx="180">
                  <c:v>0</c:v>
                </c:pt>
                <c:pt idx="181">
                  <c:v>0</c:v>
                </c:pt>
                <c:pt idx="182">
                  <c:v>0</c:v>
                </c:pt>
                <c:pt idx="183">
                  <c:v>0</c:v>
                </c:pt>
                <c:pt idx="184">
                  <c:v>1.387289</c:v>
                </c:pt>
                <c:pt idx="185">
                  <c:v>1.387289</c:v>
                </c:pt>
                <c:pt idx="186">
                  <c:v>0</c:v>
                </c:pt>
                <c:pt idx="187">
                  <c:v>0</c:v>
                </c:pt>
                <c:pt idx="188">
                  <c:v>0.0001</c:v>
                </c:pt>
                <c:pt idx="189">
                  <c:v>0.0001</c:v>
                </c:pt>
                <c:pt idx="190">
                  <c:v>30.0002</c:v>
                </c:pt>
                <c:pt idx="191">
                  <c:v>30.0002</c:v>
                </c:pt>
              </c:numCache>
            </c:numRef>
          </c:yVal>
          <c:smooth val="1"/>
          <c:extLst>
            <c:ext xmlns:c16="http://schemas.microsoft.com/office/drawing/2014/chart" uri="{C3380CC4-5D6E-409C-BE32-E72D297353CC}">
              <c16:uniqueId val="{00000002-E533-451E-9689-9394213F4B2C}"/>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BESSエネルギー残量</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3000</c:v>
                </c:pt>
                <c:pt idx="1">
                  <c:v>2901.03808</c:v>
                </c:pt>
                <c:pt idx="2">
                  <c:v>2796.222447</c:v>
                </c:pt>
                <c:pt idx="3">
                  <c:v>2663.476358</c:v>
                </c:pt>
                <c:pt idx="4">
                  <c:v>2535.118273</c:v>
                </c:pt>
                <c:pt idx="5">
                  <c:v>2416.536264</c:v>
                </c:pt>
                <c:pt idx="6">
                  <c:v>2291.823103</c:v>
                </c:pt>
                <c:pt idx="7">
                  <c:v>2165.507208</c:v>
                </c:pt>
                <c:pt idx="8">
                  <c:v>2011.267349</c:v>
                </c:pt>
                <c:pt idx="9">
                  <c:v>1936.188393</c:v>
                </c:pt>
                <c:pt idx="10">
                  <c:v>1857.973224</c:v>
                </c:pt>
                <c:pt idx="11">
                  <c:v>1763.322339</c:v>
                </c:pt>
                <c:pt idx="12">
                  <c:v>1703.550036</c:v>
                </c:pt>
                <c:pt idx="13">
                  <c:v>1597.611511</c:v>
                </c:pt>
                <c:pt idx="14">
                  <c:v>1526.558663</c:v>
                </c:pt>
                <c:pt idx="15">
                  <c:v>1479.189994</c:v>
                </c:pt>
                <c:pt idx="16">
                  <c:v>1474.146467</c:v>
                </c:pt>
                <c:pt idx="17">
                  <c:v>1369.796624</c:v>
                </c:pt>
                <c:pt idx="18">
                  <c:v>1297.30729</c:v>
                </c:pt>
                <c:pt idx="19">
                  <c:v>1266.781083</c:v>
                </c:pt>
                <c:pt idx="20">
                  <c:v>1207.894685</c:v>
                </c:pt>
                <c:pt idx="21">
                  <c:v>1200</c:v>
                </c:pt>
                <c:pt idx="22">
                  <c:v>1200</c:v>
                </c:pt>
                <c:pt idx="23">
                  <c:v>1200</c:v>
                </c:pt>
                <c:pt idx="24">
                  <c:v>1201.353774</c:v>
                </c:pt>
                <c:pt idx="25">
                  <c:v>1209.446386</c:v>
                </c:pt>
                <c:pt idx="26">
                  <c:v>1217.889487</c:v>
                </c:pt>
                <c:pt idx="27">
                  <c:v>1254.832588</c:v>
                </c:pt>
                <c:pt idx="28">
                  <c:v>1288.059264</c:v>
                </c:pt>
                <c:pt idx="29">
                  <c:v>1288.059264</c:v>
                </c:pt>
                <c:pt idx="30">
                  <c:v>1288.059264</c:v>
                </c:pt>
                <c:pt idx="31">
                  <c:v>1288.059264</c:v>
                </c:pt>
                <c:pt idx="32">
                  <c:v>1288.059264</c:v>
                </c:pt>
                <c:pt idx="33">
                  <c:v>1408.174889</c:v>
                </c:pt>
                <c:pt idx="34">
                  <c:v>1453.645075</c:v>
                </c:pt>
                <c:pt idx="35">
                  <c:v>1573.7607</c:v>
                </c:pt>
                <c:pt idx="36">
                  <c:v>1573.7607</c:v>
                </c:pt>
                <c:pt idx="37">
                  <c:v>1573.760727</c:v>
                </c:pt>
                <c:pt idx="38">
                  <c:v>1573.760727</c:v>
                </c:pt>
                <c:pt idx="39">
                  <c:v>1573.760727</c:v>
                </c:pt>
                <c:pt idx="40">
                  <c:v>1573.760727</c:v>
                </c:pt>
                <c:pt idx="41">
                  <c:v>1748.82541</c:v>
                </c:pt>
                <c:pt idx="42">
                  <c:v>1927.686637</c:v>
                </c:pt>
                <c:pt idx="43">
                  <c:v>2106.547863</c:v>
                </c:pt>
                <c:pt idx="44">
                  <c:v>2106.547863</c:v>
                </c:pt>
                <c:pt idx="45">
                  <c:v>2106.547863</c:v>
                </c:pt>
                <c:pt idx="46">
                  <c:v>2106.547863</c:v>
                </c:pt>
                <c:pt idx="47">
                  <c:v>2106.547863</c:v>
                </c:pt>
                <c:pt idx="48">
                  <c:v>2106.547863</c:v>
                </c:pt>
                <c:pt idx="49">
                  <c:v>2106.547863</c:v>
                </c:pt>
                <c:pt idx="50">
                  <c:v>2106.547863</c:v>
                </c:pt>
                <c:pt idx="51">
                  <c:v>2106.547863</c:v>
                </c:pt>
                <c:pt idx="52">
                  <c:v>2106.547863</c:v>
                </c:pt>
                <c:pt idx="53">
                  <c:v>2227.749373</c:v>
                </c:pt>
                <c:pt idx="54">
                  <c:v>2227.749373</c:v>
                </c:pt>
                <c:pt idx="55">
                  <c:v>2227.749373</c:v>
                </c:pt>
                <c:pt idx="56">
                  <c:v>2395.911248</c:v>
                </c:pt>
                <c:pt idx="57">
                  <c:v>2534.599373</c:v>
                </c:pt>
                <c:pt idx="58">
                  <c:v>2673.287498</c:v>
                </c:pt>
                <c:pt idx="59">
                  <c:v>2811.975623</c:v>
                </c:pt>
                <c:pt idx="60">
                  <c:v>2950.663748</c:v>
                </c:pt>
                <c:pt idx="61">
                  <c:v>3050.591873</c:v>
                </c:pt>
                <c:pt idx="62">
                  <c:v>3150.519998</c:v>
                </c:pt>
                <c:pt idx="63">
                  <c:v>3250.448123</c:v>
                </c:pt>
                <c:pt idx="64">
                  <c:v>3350.376248</c:v>
                </c:pt>
                <c:pt idx="65">
                  <c:v>3405.689998</c:v>
                </c:pt>
                <c:pt idx="66">
                  <c:v>3461.003748</c:v>
                </c:pt>
                <c:pt idx="67">
                  <c:v>3516.317498</c:v>
                </c:pt>
                <c:pt idx="68">
                  <c:v>3571.631248</c:v>
                </c:pt>
                <c:pt idx="69">
                  <c:v>3589.799998</c:v>
                </c:pt>
                <c:pt idx="70">
                  <c:v>3607.968748</c:v>
                </c:pt>
                <c:pt idx="71">
                  <c:v>3626.137498</c:v>
                </c:pt>
                <c:pt idx="72">
                  <c:v>3644.306248</c:v>
                </c:pt>
                <c:pt idx="73">
                  <c:v>3644.32856</c:v>
                </c:pt>
                <c:pt idx="74">
                  <c:v>3644.32856</c:v>
                </c:pt>
                <c:pt idx="75">
                  <c:v>3644.32856</c:v>
                </c:pt>
                <c:pt idx="76">
                  <c:v>3644.32856</c:v>
                </c:pt>
                <c:pt idx="77">
                  <c:v>3644.32856</c:v>
                </c:pt>
                <c:pt idx="78">
                  <c:v>3644.32856</c:v>
                </c:pt>
                <c:pt idx="79">
                  <c:v>3644.32856</c:v>
                </c:pt>
                <c:pt idx="80">
                  <c:v>3644.32856</c:v>
                </c:pt>
                <c:pt idx="81">
                  <c:v>3644.32856</c:v>
                </c:pt>
                <c:pt idx="82">
                  <c:v>3644.32856</c:v>
                </c:pt>
                <c:pt idx="83">
                  <c:v>3644.32856</c:v>
                </c:pt>
                <c:pt idx="84">
                  <c:v>3628.539086</c:v>
                </c:pt>
                <c:pt idx="85">
                  <c:v>3604.626111</c:v>
                </c:pt>
                <c:pt idx="86">
                  <c:v>3580.941875</c:v>
                </c:pt>
                <c:pt idx="87">
                  <c:v>3557.257638</c:v>
                </c:pt>
                <c:pt idx="88">
                  <c:v>3549.362954</c:v>
                </c:pt>
                <c:pt idx="89">
                  <c:v>3533.57348</c:v>
                </c:pt>
                <c:pt idx="90">
                  <c:v>3525.678743</c:v>
                </c:pt>
                <c:pt idx="91">
                  <c:v>3501.994532</c:v>
                </c:pt>
                <c:pt idx="92">
                  <c:v>3430.941901</c:v>
                </c:pt>
                <c:pt idx="93">
                  <c:v>3312.520875</c:v>
                </c:pt>
                <c:pt idx="94">
                  <c:v>3182.119618</c:v>
                </c:pt>
                <c:pt idx="95">
                  <c:v>3097.734949</c:v>
                </c:pt>
                <c:pt idx="96">
                  <c:v>3000</c:v>
                </c:pt>
              </c:numCache>
            </c:numRef>
          </c:yVal>
          <c:smooth val="1"/>
          <c:extLst>
            <c:ext xmlns:c16="http://schemas.microsoft.com/office/drawing/2014/chart" uri="{C3380CC4-5D6E-409C-BE32-E72D297353CC}">
              <c16:uniqueId val="{00000000-0128-4C23-8930-771C9253780B}"/>
            </c:ext>
          </c:extLst>
        </c:ser>
        <c:ser>
          <c:idx val="1"/>
          <c:order val="1"/>
          <c:tx>
            <c:v>低PV（RAIN）</c:v>
          </c:tx>
          <c:spPr>
            <a:ln w="21908">
              <a:solidFill>
                <a:srgbClr val="6B54A3"/>
              </a:solidFill>
              <a:prstDash val="solid"/>
            </a:ln>
          </c:spPr>
          <c:marker>
            <c:symbol val="none"/>
          </c:marker>
          <c:xVal>
            <c:numRef>
              <c:f>'Chart Data'!$C$2:$C$98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Data'!$D$2:$D$98</c:f>
              <c:numCache>
                <c:formatCode>0</c:formatCode>
                <c:ptCount val="97"/>
                <c:pt idx="0">
                  <c:v>3000</c:v>
                </c:pt>
                <c:pt idx="1">
                  <c:v>2952.631553</c:v>
                </c:pt>
                <c:pt idx="2">
                  <c:v>2900.128148</c:v>
                </c:pt>
                <c:pt idx="3">
                  <c:v>2852.845631</c:v>
                </c:pt>
                <c:pt idx="4">
                  <c:v>2813.371947</c:v>
                </c:pt>
                <c:pt idx="5">
                  <c:v>2757.03983</c:v>
                </c:pt>
                <c:pt idx="6">
                  <c:v>2689.335804</c:v>
                </c:pt>
                <c:pt idx="7">
                  <c:v>2689.335778</c:v>
                </c:pt>
                <c:pt idx="8">
                  <c:v>2689.335778</c:v>
                </c:pt>
                <c:pt idx="9">
                  <c:v>2649.862093</c:v>
                </c:pt>
                <c:pt idx="10">
                  <c:v>2647.177857</c:v>
                </c:pt>
                <c:pt idx="11">
                  <c:v>2647.17783</c:v>
                </c:pt>
                <c:pt idx="12">
                  <c:v>2647.17783</c:v>
                </c:pt>
                <c:pt idx="13">
                  <c:v>2639.283093</c:v>
                </c:pt>
                <c:pt idx="14">
                  <c:v>2639.283093</c:v>
                </c:pt>
                <c:pt idx="15">
                  <c:v>2631.388357</c:v>
                </c:pt>
                <c:pt idx="16">
                  <c:v>2631.388357</c:v>
                </c:pt>
                <c:pt idx="17">
                  <c:v>2617.424601</c:v>
                </c:pt>
                <c:pt idx="18">
                  <c:v>2617.424601</c:v>
                </c:pt>
                <c:pt idx="19">
                  <c:v>2609.529754</c:v>
                </c:pt>
                <c:pt idx="20">
                  <c:v>2609.529727</c:v>
                </c:pt>
                <c:pt idx="21">
                  <c:v>2609.529727</c:v>
                </c:pt>
                <c:pt idx="22">
                  <c:v>2609.529727</c:v>
                </c:pt>
                <c:pt idx="23">
                  <c:v>2609.529727</c:v>
                </c:pt>
                <c:pt idx="24">
                  <c:v>2609.529727</c:v>
                </c:pt>
                <c:pt idx="25">
                  <c:v>2609.529727</c:v>
                </c:pt>
                <c:pt idx="26">
                  <c:v>2609.529727</c:v>
                </c:pt>
                <c:pt idx="27">
                  <c:v>2619.945977</c:v>
                </c:pt>
                <c:pt idx="28">
                  <c:v>2633.067852</c:v>
                </c:pt>
                <c:pt idx="29">
                  <c:v>2650.832852</c:v>
                </c:pt>
                <c:pt idx="30">
                  <c:v>2668.597852</c:v>
                </c:pt>
                <c:pt idx="31">
                  <c:v>2686.362852</c:v>
                </c:pt>
                <c:pt idx="32">
                  <c:v>2704.127852</c:v>
                </c:pt>
                <c:pt idx="33">
                  <c:v>2716.240352</c:v>
                </c:pt>
                <c:pt idx="34">
                  <c:v>2728.352852</c:v>
                </c:pt>
                <c:pt idx="35">
                  <c:v>2740.465352</c:v>
                </c:pt>
                <c:pt idx="36">
                  <c:v>2745.452852</c:v>
                </c:pt>
                <c:pt idx="37">
                  <c:v>2745.452852</c:v>
                </c:pt>
                <c:pt idx="38">
                  <c:v>2745.452852</c:v>
                </c:pt>
                <c:pt idx="39">
                  <c:v>2745.452852</c:v>
                </c:pt>
                <c:pt idx="40">
                  <c:v>2745.452852</c:v>
                </c:pt>
                <c:pt idx="41">
                  <c:v>2751.390352</c:v>
                </c:pt>
                <c:pt idx="42">
                  <c:v>2767.764696</c:v>
                </c:pt>
                <c:pt idx="43">
                  <c:v>2773.702172</c:v>
                </c:pt>
                <c:pt idx="44">
                  <c:v>2790.076539</c:v>
                </c:pt>
                <c:pt idx="45">
                  <c:v>2805.905914</c:v>
                </c:pt>
                <c:pt idx="46">
                  <c:v>2835.985265</c:v>
                </c:pt>
                <c:pt idx="47">
                  <c:v>2866.064616</c:v>
                </c:pt>
                <c:pt idx="48">
                  <c:v>2896.143968</c:v>
                </c:pt>
                <c:pt idx="49">
                  <c:v>2916.533343</c:v>
                </c:pt>
                <c:pt idx="50">
                  <c:v>2936.922718</c:v>
                </c:pt>
                <c:pt idx="51">
                  <c:v>2957.312093</c:v>
                </c:pt>
                <c:pt idx="52">
                  <c:v>2977.701468</c:v>
                </c:pt>
                <c:pt idx="53">
                  <c:v>2998.637093</c:v>
                </c:pt>
                <c:pt idx="54">
                  <c:v>3026.697718</c:v>
                </c:pt>
                <c:pt idx="55">
                  <c:v>3047.633343</c:v>
                </c:pt>
                <c:pt idx="56">
                  <c:v>3075.693968</c:v>
                </c:pt>
                <c:pt idx="57">
                  <c:v>3105.975194</c:v>
                </c:pt>
                <c:pt idx="58">
                  <c:v>3136.256444</c:v>
                </c:pt>
                <c:pt idx="59">
                  <c:v>3166.53767</c:v>
                </c:pt>
                <c:pt idx="60">
                  <c:v>3196.81892</c:v>
                </c:pt>
                <c:pt idx="61">
                  <c:v>3210.890795</c:v>
                </c:pt>
                <c:pt idx="62">
                  <c:v>3232.08767</c:v>
                </c:pt>
                <c:pt idx="63">
                  <c:v>3252.413489</c:v>
                </c:pt>
                <c:pt idx="64">
                  <c:v>3273.610364</c:v>
                </c:pt>
                <c:pt idx="65">
                  <c:v>3287.539739</c:v>
                </c:pt>
                <c:pt idx="66">
                  <c:v>3294.344114</c:v>
                </c:pt>
                <c:pt idx="67">
                  <c:v>3308.273489</c:v>
                </c:pt>
                <c:pt idx="68">
                  <c:v>3315.077888</c:v>
                </c:pt>
                <c:pt idx="69">
                  <c:v>3321.537864</c:v>
                </c:pt>
                <c:pt idx="70">
                  <c:v>3327.99784</c:v>
                </c:pt>
                <c:pt idx="71">
                  <c:v>3327.998007</c:v>
                </c:pt>
                <c:pt idx="72">
                  <c:v>3334.457983</c:v>
                </c:pt>
                <c:pt idx="73">
                  <c:v>3335.063584</c:v>
                </c:pt>
                <c:pt idx="74">
                  <c:v>3335.669185</c:v>
                </c:pt>
                <c:pt idx="75">
                  <c:v>3336.274787</c:v>
                </c:pt>
                <c:pt idx="76">
                  <c:v>3336.880388</c:v>
                </c:pt>
                <c:pt idx="77">
                  <c:v>3336.880388</c:v>
                </c:pt>
                <c:pt idx="78">
                  <c:v>3336.880388</c:v>
                </c:pt>
                <c:pt idx="79">
                  <c:v>3336.880388</c:v>
                </c:pt>
                <c:pt idx="80">
                  <c:v>3336.880388</c:v>
                </c:pt>
                <c:pt idx="81">
                  <c:v>3336.880388</c:v>
                </c:pt>
                <c:pt idx="82">
                  <c:v>3336.880388</c:v>
                </c:pt>
                <c:pt idx="83">
                  <c:v>3336.880388</c:v>
                </c:pt>
                <c:pt idx="84">
                  <c:v>3321.090914</c:v>
                </c:pt>
                <c:pt idx="85">
                  <c:v>3313.196177</c:v>
                </c:pt>
                <c:pt idx="86">
                  <c:v>3313.195862</c:v>
                </c:pt>
                <c:pt idx="87">
                  <c:v>3297.406388</c:v>
                </c:pt>
                <c:pt idx="88">
                  <c:v>3297.406362</c:v>
                </c:pt>
                <c:pt idx="89">
                  <c:v>3286.340587</c:v>
                </c:pt>
                <c:pt idx="90">
                  <c:v>3286.340587</c:v>
                </c:pt>
                <c:pt idx="91">
                  <c:v>3262.656377</c:v>
                </c:pt>
                <c:pt idx="92">
                  <c:v>3223.182693</c:v>
                </c:pt>
                <c:pt idx="93">
                  <c:v>3160.3899</c:v>
                </c:pt>
                <c:pt idx="94">
                  <c:v>3112.65635</c:v>
                </c:pt>
                <c:pt idx="95">
                  <c:v>3055.263184</c:v>
                </c:pt>
                <c:pt idx="96">
                  <c:v>3000</c:v>
                </c:pt>
              </c:numCache>
            </c:numRef>
          </c:yVal>
          <c:smooth val="1"/>
          <c:extLst>
            <c:ext xmlns:c16="http://schemas.microsoft.com/office/drawing/2014/chart" uri="{C3380CC4-5D6E-409C-BE32-E72D297353CC}">
              <c16:uniqueId val="{00000001-0128-4C23-8930-771C9253780B}"/>
            </c:ext>
          </c:extLst>
        </c:ser>
        <c:ser>
          <c:idx val="2"/>
          <c:order val="2"/>
          <c:tx>
            <c:v>下限</c:v>
          </c:tx>
          <c:spPr>
            <a:ln w="21908">
              <a:solidFill>
                <a:srgbClr val="AAB2BC"/>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1200</c:v>
                </c:pt>
                <c:pt idx="1">
                  <c:v>1200</c:v>
                </c:pt>
              </c:numCache>
            </c:numRef>
          </c:yVal>
          <c:smooth val="1"/>
          <c:extLst>
            <c:ext xmlns:c16="http://schemas.microsoft.com/office/drawing/2014/chart" uri="{C3380CC4-5D6E-409C-BE32-E72D297353CC}">
              <c16:uniqueId val="{00000002-0128-4C23-8930-771C9253780B}"/>
            </c:ext>
          </c:extLst>
        </c:ser>
        <c:ser>
          <c:idx val="3"/>
          <c:order val="3"/>
          <c:tx>
            <c:v>上限</c:v>
          </c:tx>
          <c:spPr>
            <a:ln w="21908">
              <a:solidFill>
                <a:srgbClr val="7D8795"/>
              </a:solidFill>
              <a:prstDash val="solid"/>
            </a:ln>
          </c:spPr>
          <c:marker>
            <c:symbol val="none"/>
          </c:marker>
          <c:xVal>
            <c:numRef>
              <c:f>'Chart Data'!$G$2:$G$3</c:f>
              <c:numCache>
                <c:formatCode>General</c:formatCode>
                <c:ptCount val="2"/>
                <c:pt idx="0">
                  <c:v>0</c:v>
                </c:pt>
                <c:pt idx="1">
                  <c:v>24</c:v>
                </c:pt>
              </c:numCache>
            </c:numRef>
          </c:xVal>
          <c:yVal>
            <c:numRef>
              <c:f>'Chart Data'!$H$2:$H$3</c:f>
              <c:numCache>
                <c:formatCode>0</c:formatCode>
                <c:ptCount val="2"/>
                <c:pt idx="0">
                  <c:v>4800</c:v>
                </c:pt>
                <c:pt idx="1">
                  <c:v>4800</c:v>
                </c:pt>
              </c:numCache>
            </c:numRef>
          </c:yVal>
          <c:smooth val="1"/>
          <c:extLst>
            <c:ext xmlns:c16="http://schemas.microsoft.com/office/drawing/2014/chart" uri="{C3380CC4-5D6E-409C-BE32-E72D297353CC}">
              <c16:uniqueId val="{00000003-0128-4C23-8930-771C9253780B}"/>
            </c:ext>
          </c:extLst>
        </c:ser>
        <c:dLbls>
          <c:showLegendKey val="0"/>
          <c:showVal val="0"/>
          <c:showCatName val="0"/>
          <c:showSerName val="0"/>
          <c:showPercent val="0"/>
          <c:showBubbleSize val="0"/>
        </c:dLbls>
        <c:axId val="48650112"/>
        <c:axId val="48672768"/>
      </c:scatterChart>
      <c:valAx>
        <c:axId val="48672768"/>
        <c:scaling>
          <c:orientation val="minMax"/>
          <c:max val="6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1DE3-4617-B284-A5A01BCA9CCE}"/>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mooth val="1"/>
          <c:extLst>
            <c:ext xmlns:c16="http://schemas.microsoft.com/office/drawing/2014/chart" uri="{C3380CC4-5D6E-409C-BE32-E72D297353CC}">
              <c16:uniqueId val="{00000001-1DE3-4617-B284-A5A01BCA9CCE}"/>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1B1-4495-A78F-060BF1BE8F04}"/>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F1B1-4495-A78F-060BF1BE8F04}"/>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正の電力を持つ充電セッション</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10</c:v>
                </c:pt>
                <c:pt idx="1">
                  <c:v>10</c:v>
                </c:pt>
                <c:pt idx="2">
                  <c:v>10</c:v>
                </c:pt>
                <c:pt idx="3">
                  <c:v>10</c:v>
                </c:pt>
                <c:pt idx="4">
                  <c:v>10</c:v>
                </c:pt>
                <c:pt idx="5">
                  <c:v>10</c:v>
                </c:pt>
                <c:pt idx="6">
                  <c:v>9</c:v>
                </c:pt>
                <c:pt idx="7">
                  <c:v>9</c:v>
                </c:pt>
                <c:pt idx="8">
                  <c:v>9</c:v>
                </c:pt>
                <c:pt idx="9">
                  <c:v>9</c:v>
                </c:pt>
                <c:pt idx="10">
                  <c:v>10</c:v>
                </c:pt>
                <c:pt idx="11">
                  <c:v>10</c:v>
                </c:pt>
                <c:pt idx="12">
                  <c:v>10</c:v>
                </c:pt>
                <c:pt idx="13">
                  <c:v>10</c:v>
                </c:pt>
                <c:pt idx="14">
                  <c:v>9</c:v>
                </c:pt>
                <c:pt idx="15">
                  <c:v>9</c:v>
                </c:pt>
                <c:pt idx="16">
                  <c:v>8</c:v>
                </c:pt>
                <c:pt idx="17">
                  <c:v>8</c:v>
                </c:pt>
                <c:pt idx="18">
                  <c:v>6</c:v>
                </c:pt>
                <c:pt idx="19">
                  <c:v>6</c:v>
                </c:pt>
                <c:pt idx="20">
                  <c:v>5</c:v>
                </c:pt>
                <c:pt idx="21">
                  <c:v>5</c:v>
                </c:pt>
                <c:pt idx="22">
                  <c:v>6</c:v>
                </c:pt>
                <c:pt idx="23">
                  <c:v>6</c:v>
                </c:pt>
                <c:pt idx="24">
                  <c:v>10</c:v>
                </c:pt>
                <c:pt idx="25">
                  <c:v>10</c:v>
                </c:pt>
                <c:pt idx="26">
                  <c:v>10</c:v>
                </c:pt>
                <c:pt idx="27">
                  <c:v>10</c:v>
                </c:pt>
                <c:pt idx="28">
                  <c:v>6</c:v>
                </c:pt>
                <c:pt idx="29">
                  <c:v>6</c:v>
                </c:pt>
                <c:pt idx="30">
                  <c:v>6</c:v>
                </c:pt>
                <c:pt idx="31">
                  <c:v>6</c:v>
                </c:pt>
                <c:pt idx="32">
                  <c:v>10</c:v>
                </c:pt>
                <c:pt idx="33">
                  <c:v>10</c:v>
                </c:pt>
                <c:pt idx="34">
                  <c:v>7</c:v>
                </c:pt>
                <c:pt idx="35">
                  <c:v>7</c:v>
                </c:pt>
                <c:pt idx="36">
                  <c:v>5</c:v>
                </c:pt>
                <c:pt idx="37">
                  <c:v>5</c:v>
                </c:pt>
                <c:pt idx="38">
                  <c:v>6</c:v>
                </c:pt>
                <c:pt idx="39">
                  <c:v>6</c:v>
                </c:pt>
                <c:pt idx="40">
                  <c:v>4</c:v>
                </c:pt>
                <c:pt idx="41">
                  <c:v>4</c:v>
                </c:pt>
                <c:pt idx="42">
                  <c:v>2</c:v>
                </c:pt>
                <c:pt idx="43">
                  <c:v>2</c:v>
                </c:pt>
                <c:pt idx="44">
                  <c:v>2</c:v>
                </c:pt>
                <c:pt idx="45">
                  <c:v>2</c:v>
                </c:pt>
                <c:pt idx="46">
                  <c:v>1</c:v>
                </c:pt>
                <c:pt idx="47">
                  <c:v>1</c:v>
                </c:pt>
                <c:pt idx="48">
                  <c:v>6</c:v>
                </c:pt>
                <c:pt idx="49">
                  <c:v>6</c:v>
                </c:pt>
                <c:pt idx="50">
                  <c:v>3</c:v>
                </c:pt>
                <c:pt idx="51">
                  <c:v>3</c:v>
                </c:pt>
                <c:pt idx="52">
                  <c:v>1</c:v>
                </c:pt>
                <c:pt idx="53">
                  <c:v>1</c:v>
                </c:pt>
                <c:pt idx="54">
                  <c:v>1</c:v>
                </c:pt>
                <c:pt idx="55">
                  <c:v>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c:v>
                </c:pt>
                <c:pt idx="73">
                  <c:v>1</c:v>
                </c:pt>
                <c:pt idx="74">
                  <c:v>1</c:v>
                </c:pt>
                <c:pt idx="75">
                  <c:v>1</c:v>
                </c:pt>
                <c:pt idx="76">
                  <c:v>1</c:v>
                </c:pt>
                <c:pt idx="77">
                  <c:v>1</c:v>
                </c:pt>
                <c:pt idx="78">
                  <c:v>1</c:v>
                </c:pt>
                <c:pt idx="79">
                  <c:v>1</c:v>
                </c:pt>
                <c:pt idx="80">
                  <c:v>4</c:v>
                </c:pt>
                <c:pt idx="81">
                  <c:v>4</c:v>
                </c:pt>
                <c:pt idx="82">
                  <c:v>1</c:v>
                </c:pt>
                <c:pt idx="83">
                  <c:v>1</c:v>
                </c:pt>
                <c:pt idx="84">
                  <c:v>1</c:v>
                </c:pt>
                <c:pt idx="85">
                  <c:v>1</c:v>
                </c:pt>
                <c:pt idx="86">
                  <c:v>1</c:v>
                </c:pt>
                <c:pt idx="87">
                  <c:v>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2</c:v>
                </c:pt>
                <c:pt idx="171">
                  <c:v>2</c:v>
                </c:pt>
                <c:pt idx="172">
                  <c:v>2</c:v>
                </c:pt>
                <c:pt idx="173">
                  <c:v>2</c:v>
                </c:pt>
                <c:pt idx="174">
                  <c:v>2</c:v>
                </c:pt>
                <c:pt idx="175">
                  <c:v>2</c:v>
                </c:pt>
                <c:pt idx="176">
                  <c:v>1</c:v>
                </c:pt>
                <c:pt idx="177">
                  <c:v>1</c:v>
                </c:pt>
                <c:pt idx="178">
                  <c:v>1</c:v>
                </c:pt>
                <c:pt idx="179">
                  <c:v>1</c:v>
                </c:pt>
                <c:pt idx="180">
                  <c:v>2</c:v>
                </c:pt>
                <c:pt idx="181">
                  <c:v>2</c:v>
                </c:pt>
                <c:pt idx="182">
                  <c:v>4</c:v>
                </c:pt>
                <c:pt idx="183">
                  <c:v>4</c:v>
                </c:pt>
                <c:pt idx="184">
                  <c:v>7</c:v>
                </c:pt>
                <c:pt idx="185">
                  <c:v>7</c:v>
                </c:pt>
                <c:pt idx="186">
                  <c:v>6</c:v>
                </c:pt>
                <c:pt idx="187">
                  <c:v>6</c:v>
                </c:pt>
                <c:pt idx="188">
                  <c:v>8</c:v>
                </c:pt>
                <c:pt idx="189">
                  <c:v>8</c:v>
                </c:pt>
                <c:pt idx="190">
                  <c:v>9</c:v>
                </c:pt>
                <c:pt idx="191">
                  <c:v>9</c:v>
                </c:pt>
              </c:numCache>
            </c:numRef>
          </c:yVal>
          <c:smooth val="1"/>
          <c:extLst>
            <c:ext xmlns:c16="http://schemas.microsoft.com/office/drawing/2014/chart" uri="{C3380CC4-5D6E-409C-BE32-E72D297353CC}">
              <c16:uniqueId val="{00000000-2C23-45B1-A758-9D08A603BFCB}"/>
            </c:ext>
          </c:extLst>
        </c:ser>
        <c:ser>
          <c:idx val="1"/>
          <c:order val="1"/>
          <c:tx>
            <c:v>低PV（RAIN）</c:v>
          </c:tx>
          <c:spPr>
            <a:ln w="21908">
              <a:solidFill>
                <a:srgbClr val="6B54A3"/>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4</c:v>
                </c:pt>
                <c:pt idx="1">
                  <c:v>4</c:v>
                </c:pt>
                <c:pt idx="2">
                  <c:v>7</c:v>
                </c:pt>
                <c:pt idx="3">
                  <c:v>7</c:v>
                </c:pt>
                <c:pt idx="4">
                  <c:v>4</c:v>
                </c:pt>
                <c:pt idx="5">
                  <c:v>4</c:v>
                </c:pt>
                <c:pt idx="6">
                  <c:v>2</c:v>
                </c:pt>
                <c:pt idx="7">
                  <c:v>2</c:v>
                </c:pt>
                <c:pt idx="8">
                  <c:v>8</c:v>
                </c:pt>
                <c:pt idx="9">
                  <c:v>8</c:v>
                </c:pt>
                <c:pt idx="10">
                  <c:v>7</c:v>
                </c:pt>
                <c:pt idx="11">
                  <c:v>7</c:v>
                </c:pt>
                <c:pt idx="12">
                  <c:v>1</c:v>
                </c:pt>
                <c:pt idx="13">
                  <c:v>1</c:v>
                </c:pt>
                <c:pt idx="14">
                  <c:v>0</c:v>
                </c:pt>
                <c:pt idx="15">
                  <c:v>0</c:v>
                </c:pt>
                <c:pt idx="16">
                  <c:v>3</c:v>
                </c:pt>
                <c:pt idx="17">
                  <c:v>3</c:v>
                </c:pt>
                <c:pt idx="18">
                  <c:v>2</c:v>
                </c:pt>
                <c:pt idx="19">
                  <c:v>2</c:v>
                </c:pt>
                <c:pt idx="20">
                  <c:v>1</c:v>
                </c:pt>
                <c:pt idx="21">
                  <c:v>1</c:v>
                </c:pt>
                <c:pt idx="22">
                  <c:v>0</c:v>
                </c:pt>
                <c:pt idx="23">
                  <c:v>0</c:v>
                </c:pt>
                <c:pt idx="24">
                  <c:v>1</c:v>
                </c:pt>
                <c:pt idx="25">
                  <c:v>1</c:v>
                </c:pt>
                <c:pt idx="26">
                  <c:v>0</c:v>
                </c:pt>
                <c:pt idx="27">
                  <c:v>0</c:v>
                </c:pt>
                <c:pt idx="28">
                  <c:v>1</c:v>
                </c:pt>
                <c:pt idx="29">
                  <c:v>1</c:v>
                </c:pt>
                <c:pt idx="30">
                  <c:v>0</c:v>
                </c:pt>
                <c:pt idx="31">
                  <c:v>0</c:v>
                </c:pt>
                <c:pt idx="32">
                  <c:v>4</c:v>
                </c:pt>
                <c:pt idx="33">
                  <c:v>4</c:v>
                </c:pt>
                <c:pt idx="34">
                  <c:v>0</c:v>
                </c:pt>
                <c:pt idx="35">
                  <c:v>0</c:v>
                </c:pt>
                <c:pt idx="36">
                  <c:v>2</c:v>
                </c:pt>
                <c:pt idx="37">
                  <c:v>2</c:v>
                </c:pt>
                <c:pt idx="38">
                  <c:v>1</c:v>
                </c:pt>
                <c:pt idx="39">
                  <c:v>1</c:v>
                </c:pt>
                <c:pt idx="40">
                  <c:v>1</c:v>
                </c:pt>
                <c:pt idx="41">
                  <c:v>1</c:v>
                </c:pt>
                <c:pt idx="42">
                  <c:v>1</c:v>
                </c:pt>
                <c:pt idx="43">
                  <c:v>1</c:v>
                </c:pt>
                <c:pt idx="44">
                  <c:v>4</c:v>
                </c:pt>
                <c:pt idx="45">
                  <c:v>4</c:v>
                </c:pt>
                <c:pt idx="46">
                  <c:v>4</c:v>
                </c:pt>
                <c:pt idx="47">
                  <c:v>4</c:v>
                </c:pt>
                <c:pt idx="48">
                  <c:v>5</c:v>
                </c:pt>
                <c:pt idx="49">
                  <c:v>5</c:v>
                </c:pt>
                <c:pt idx="50">
                  <c:v>4</c:v>
                </c:pt>
                <c:pt idx="51">
                  <c:v>4</c:v>
                </c:pt>
                <c:pt idx="52">
                  <c:v>1</c:v>
                </c:pt>
                <c:pt idx="53">
                  <c:v>1</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c:v>
                </c:pt>
                <c:pt idx="71">
                  <c:v>1</c:v>
                </c:pt>
                <c:pt idx="72">
                  <c:v>3</c:v>
                </c:pt>
                <c:pt idx="73">
                  <c:v>3</c:v>
                </c:pt>
                <c:pt idx="74">
                  <c:v>4</c:v>
                </c:pt>
                <c:pt idx="75">
                  <c:v>4</c:v>
                </c:pt>
                <c:pt idx="76">
                  <c:v>4</c:v>
                </c:pt>
                <c:pt idx="77">
                  <c:v>4</c:v>
                </c:pt>
                <c:pt idx="78">
                  <c:v>4</c:v>
                </c:pt>
                <c:pt idx="79">
                  <c:v>4</c:v>
                </c:pt>
                <c:pt idx="80">
                  <c:v>1</c:v>
                </c:pt>
                <c:pt idx="81">
                  <c:v>1</c:v>
                </c:pt>
                <c:pt idx="82">
                  <c:v>2</c:v>
                </c:pt>
                <c:pt idx="83">
                  <c:v>2</c:v>
                </c:pt>
                <c:pt idx="84">
                  <c:v>2</c:v>
                </c:pt>
                <c:pt idx="85">
                  <c:v>2</c:v>
                </c:pt>
                <c:pt idx="86">
                  <c:v>2</c:v>
                </c:pt>
                <c:pt idx="87">
                  <c:v>2</c:v>
                </c:pt>
                <c:pt idx="88">
                  <c:v>1</c:v>
                </c:pt>
                <c:pt idx="89">
                  <c:v>1</c:v>
                </c:pt>
                <c:pt idx="90">
                  <c:v>1</c:v>
                </c:pt>
                <c:pt idx="91">
                  <c:v>1</c:v>
                </c:pt>
                <c:pt idx="92">
                  <c:v>1</c:v>
                </c:pt>
                <c:pt idx="93">
                  <c:v>1</c:v>
                </c:pt>
                <c:pt idx="94">
                  <c:v>1</c:v>
                </c:pt>
                <c:pt idx="95">
                  <c:v>1</c:v>
                </c:pt>
                <c:pt idx="96">
                  <c:v>0</c:v>
                </c:pt>
                <c:pt idx="97">
                  <c:v>0</c:v>
                </c:pt>
                <c:pt idx="98">
                  <c:v>0</c:v>
                </c:pt>
                <c:pt idx="99">
                  <c:v>0</c:v>
                </c:pt>
                <c:pt idx="100">
                  <c:v>0</c:v>
                </c:pt>
                <c:pt idx="101">
                  <c:v>0</c:v>
                </c:pt>
                <c:pt idx="102">
                  <c:v>0</c:v>
                </c:pt>
                <c:pt idx="103">
                  <c:v>0</c:v>
                </c:pt>
                <c:pt idx="104">
                  <c:v>1</c:v>
                </c:pt>
                <c:pt idx="105">
                  <c:v>1</c:v>
                </c:pt>
                <c:pt idx="106">
                  <c:v>0</c:v>
                </c:pt>
                <c:pt idx="107">
                  <c:v>0</c:v>
                </c:pt>
                <c:pt idx="108">
                  <c:v>1</c:v>
                </c:pt>
                <c:pt idx="109">
                  <c:v>1</c:v>
                </c:pt>
                <c:pt idx="110">
                  <c:v>0</c:v>
                </c:pt>
                <c:pt idx="111">
                  <c:v>0</c:v>
                </c:pt>
                <c:pt idx="112">
                  <c:v>1</c:v>
                </c:pt>
                <c:pt idx="113">
                  <c:v>1</c:v>
                </c:pt>
                <c:pt idx="114">
                  <c:v>0</c:v>
                </c:pt>
                <c:pt idx="115">
                  <c:v>0</c:v>
                </c:pt>
                <c:pt idx="116">
                  <c:v>1</c:v>
                </c:pt>
                <c:pt idx="117">
                  <c:v>1</c:v>
                </c:pt>
                <c:pt idx="118">
                  <c:v>0</c:v>
                </c:pt>
                <c:pt idx="119">
                  <c:v>0</c:v>
                </c:pt>
                <c:pt idx="120">
                  <c:v>1</c:v>
                </c:pt>
                <c:pt idx="121">
                  <c:v>1</c:v>
                </c:pt>
                <c:pt idx="122">
                  <c:v>0</c:v>
                </c:pt>
                <c:pt idx="123">
                  <c:v>0</c:v>
                </c:pt>
                <c:pt idx="124">
                  <c:v>1</c:v>
                </c:pt>
                <c:pt idx="125">
                  <c:v>1</c:v>
                </c:pt>
                <c:pt idx="126">
                  <c:v>0</c:v>
                </c:pt>
                <c:pt idx="127">
                  <c:v>0</c:v>
                </c:pt>
                <c:pt idx="128">
                  <c:v>0</c:v>
                </c:pt>
                <c:pt idx="129">
                  <c:v>0</c:v>
                </c:pt>
                <c:pt idx="130">
                  <c:v>1</c:v>
                </c:pt>
                <c:pt idx="131">
                  <c:v>1</c:v>
                </c:pt>
                <c:pt idx="132">
                  <c:v>0</c:v>
                </c:pt>
                <c:pt idx="133">
                  <c:v>0</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1</c:v>
                </c:pt>
                <c:pt idx="171">
                  <c:v>1</c:v>
                </c:pt>
                <c:pt idx="172">
                  <c:v>2</c:v>
                </c:pt>
                <c:pt idx="173">
                  <c:v>2</c:v>
                </c:pt>
                <c:pt idx="174">
                  <c:v>1</c:v>
                </c:pt>
                <c:pt idx="175">
                  <c:v>1</c:v>
                </c:pt>
                <c:pt idx="176">
                  <c:v>3</c:v>
                </c:pt>
                <c:pt idx="177">
                  <c:v>3</c:v>
                </c:pt>
                <c:pt idx="178">
                  <c:v>1</c:v>
                </c:pt>
                <c:pt idx="179">
                  <c:v>1</c:v>
                </c:pt>
                <c:pt idx="180">
                  <c:v>2</c:v>
                </c:pt>
                <c:pt idx="181">
                  <c:v>2</c:v>
                </c:pt>
                <c:pt idx="182">
                  <c:v>2</c:v>
                </c:pt>
                <c:pt idx="183">
                  <c:v>2</c:v>
                </c:pt>
                <c:pt idx="184">
                  <c:v>3</c:v>
                </c:pt>
                <c:pt idx="185">
                  <c:v>3</c:v>
                </c:pt>
                <c:pt idx="186">
                  <c:v>4</c:v>
                </c:pt>
                <c:pt idx="187">
                  <c:v>4</c:v>
                </c:pt>
                <c:pt idx="188">
                  <c:v>4</c:v>
                </c:pt>
                <c:pt idx="189">
                  <c:v>4</c:v>
                </c:pt>
                <c:pt idx="190">
                  <c:v>7</c:v>
                </c:pt>
                <c:pt idx="191">
                  <c:v>7</c:v>
                </c:pt>
              </c:numCache>
            </c:numRef>
          </c:yVal>
          <c:smooth val="1"/>
          <c:extLst>
            <c:ext xmlns:c16="http://schemas.microsoft.com/office/drawing/2014/chart" uri="{C3380CC4-5D6E-409C-BE32-E72D297353CC}">
              <c16:uniqueId val="{00000001-2C23-45B1-A758-9D08A603BFCB}"/>
            </c:ext>
          </c:extLst>
        </c:ser>
        <c:dLbls>
          <c:showLegendKey val="0"/>
          <c:showVal val="0"/>
          <c:showCatName val="0"/>
          <c:showSerName val="0"/>
          <c:showPercent val="0"/>
          <c:showBubbleSize val="0"/>
        </c:dLbls>
        <c:axId val="48650112"/>
        <c:axId val="48672768"/>
      </c:scatterChart>
      <c:valAx>
        <c:axId val="48672768"/>
        <c:scaling>
          <c:orientation val="minMax"/>
          <c:max val="1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台</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212.6 kWh</a:t>
            </a:r>
          </a:p>
        </c:rich>
      </c:tx>
      <c:overlay val="0"/>
    </c:title>
    <c:autoTitleDeleted val="0"/>
    <c:plotArea>
      <c:layout/>
      <c:scatterChart>
        <c:scatterStyle val="lineMarker"/>
        <c:varyColors val="1"/>
        <c:ser>
          <c:idx val="0"/>
          <c:order val="0"/>
          <c:tx>
            <c:v>充電器入力</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60</c:v>
                </c:pt>
                <c:pt idx="3">
                  <c:v>60</c:v>
                </c:pt>
                <c:pt idx="4">
                  <c:v>0</c:v>
                </c:pt>
                <c:pt idx="5">
                  <c:v>0</c:v>
                </c:pt>
                <c:pt idx="6">
                  <c:v>60</c:v>
                </c:pt>
                <c:pt idx="7">
                  <c:v>60</c:v>
                </c:pt>
                <c:pt idx="8">
                  <c:v>43.469761</c:v>
                </c:pt>
                <c:pt idx="9">
                  <c:v>43.469761</c:v>
                </c:pt>
                <c:pt idx="10">
                  <c:v>90</c:v>
                </c:pt>
                <c:pt idx="11">
                  <c:v>90</c:v>
                </c:pt>
                <c:pt idx="12">
                  <c:v>90</c:v>
                </c:pt>
                <c:pt idx="13">
                  <c:v>90</c:v>
                </c:pt>
                <c:pt idx="14">
                  <c:v>90</c:v>
                </c:pt>
                <c:pt idx="15">
                  <c:v>90</c:v>
                </c:pt>
                <c:pt idx="16">
                  <c:v>0</c:v>
                </c:pt>
                <c:pt idx="17">
                  <c:v>0</c:v>
                </c:pt>
                <c:pt idx="18">
                  <c:v>0</c:v>
                </c:pt>
                <c:pt idx="19">
                  <c:v>0</c:v>
                </c:pt>
                <c:pt idx="20">
                  <c:v>0</c:v>
                </c:pt>
                <c:pt idx="21">
                  <c:v>0</c:v>
                </c:pt>
                <c:pt idx="22">
                  <c:v>0</c:v>
                </c:pt>
                <c:pt idx="23">
                  <c:v>0</c:v>
                </c:pt>
                <c:pt idx="24">
                  <c:v>0</c:v>
                </c:pt>
                <c:pt idx="25">
                  <c:v>0</c:v>
                </c:pt>
                <c:pt idx="26">
                  <c:v>0</c:v>
                </c:pt>
                <c:pt idx="27">
                  <c:v>0</c:v>
                </c:pt>
                <c:pt idx="28">
                  <c:v>60</c:v>
                </c:pt>
                <c:pt idx="29">
                  <c:v>60</c:v>
                </c:pt>
                <c:pt idx="30">
                  <c:v>0.0001</c:v>
                </c:pt>
                <c:pt idx="31">
                  <c:v>0.0001</c:v>
                </c:pt>
                <c:pt idx="32">
                  <c:v>60</c:v>
                </c:pt>
                <c:pt idx="33">
                  <c:v>60</c:v>
                </c:pt>
                <c:pt idx="34">
                  <c:v>0</c:v>
                </c:pt>
                <c:pt idx="35">
                  <c:v>0</c:v>
                </c:pt>
                <c:pt idx="36">
                  <c:v>12.210426</c:v>
                </c:pt>
                <c:pt idx="37">
                  <c:v>12.210426</c:v>
                </c:pt>
                <c:pt idx="38">
                  <c:v>60</c:v>
                </c:pt>
                <c:pt idx="39">
                  <c:v>60</c:v>
                </c:pt>
                <c:pt idx="40">
                  <c:v>0</c:v>
                </c:pt>
                <c:pt idx="41">
                  <c:v>0</c:v>
                </c:pt>
                <c:pt idx="42">
                  <c:v>0</c:v>
                </c:pt>
                <c:pt idx="43">
                  <c:v>0</c:v>
                </c:pt>
                <c:pt idx="44">
                  <c:v>28.969414</c:v>
                </c:pt>
                <c:pt idx="45">
                  <c:v>28.969414</c:v>
                </c:pt>
                <c:pt idx="46">
                  <c:v>0</c:v>
                </c:pt>
                <c:pt idx="47">
                  <c:v>0</c:v>
                </c:pt>
                <c:pt idx="48">
                  <c:v>0</c:v>
                </c:pt>
                <c:pt idx="49">
                  <c:v>0</c:v>
                </c:pt>
                <c:pt idx="50">
                  <c:v>0</c:v>
                </c:pt>
                <c:pt idx="51">
                  <c:v>0</c:v>
                </c:pt>
                <c:pt idx="52">
                  <c:v>0</c:v>
                </c:pt>
                <c:pt idx="53">
                  <c:v>0</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60</c:v>
                </c:pt>
                <c:pt idx="189">
                  <c:v>60</c:v>
                </c:pt>
                <c:pt idx="190">
                  <c:v>60</c:v>
                </c:pt>
                <c:pt idx="191">
                  <c:v>60</c:v>
                </c:pt>
              </c:numCache>
            </c:numRef>
          </c:yVal>
          <c:smooth val="1"/>
          <c:extLst>
            <c:ext xmlns:c16="http://schemas.microsoft.com/office/drawing/2014/chart" uri="{C3380CC4-5D6E-409C-BE32-E72D297353CC}">
              <c16:uniqueId val="{00000000-AC91-4640-A62C-030498B13E27}"/>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174.6 kWh</a:t>
            </a:r>
          </a:p>
        </c:rich>
      </c:tx>
      <c:overlay val="0"/>
    </c:title>
    <c:autoTitleDeleted val="0"/>
    <c:plotArea>
      <c:layout/>
      <c:scatterChart>
        <c:scatterStyle val="lineMarker"/>
        <c:varyColors val="1"/>
        <c:ser>
          <c:idx val="0"/>
          <c:order val="0"/>
          <c:tx>
            <c:v>充電器入力</c:v>
          </c:tx>
          <c:spPr>
            <a:ln w="21908">
              <a:solidFill>
                <a:srgbClr val="6B54A3"/>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90</c:v>
                </c:pt>
                <c:pt idx="3">
                  <c:v>90</c:v>
                </c:pt>
                <c:pt idx="4">
                  <c:v>60</c:v>
                </c:pt>
                <c:pt idx="5">
                  <c:v>60</c:v>
                </c:pt>
                <c:pt idx="6">
                  <c:v>0</c:v>
                </c:pt>
                <c:pt idx="7">
                  <c:v>0</c:v>
                </c:pt>
                <c:pt idx="8">
                  <c:v>4.061642</c:v>
                </c:pt>
                <c:pt idx="9">
                  <c:v>4.061642</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0.000421</c:v>
                </c:pt>
                <c:pt idx="37">
                  <c:v>0.000421</c:v>
                </c:pt>
                <c:pt idx="38">
                  <c:v>0.0001</c:v>
                </c:pt>
                <c:pt idx="39">
                  <c:v>0.0001</c:v>
                </c:pt>
                <c:pt idx="40">
                  <c:v>0</c:v>
                </c:pt>
                <c:pt idx="41">
                  <c:v>0</c:v>
                </c:pt>
                <c:pt idx="42">
                  <c:v>0</c:v>
                </c:pt>
                <c:pt idx="43">
                  <c:v>0</c:v>
                </c:pt>
                <c:pt idx="44">
                  <c:v>0</c:v>
                </c:pt>
                <c:pt idx="45">
                  <c:v>0</c:v>
                </c:pt>
                <c:pt idx="46">
                  <c:v>0</c:v>
                </c:pt>
                <c:pt idx="47">
                  <c:v>0</c:v>
                </c:pt>
                <c:pt idx="48">
                  <c:v>4.429356</c:v>
                </c:pt>
                <c:pt idx="49">
                  <c:v>4.429356</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60</c:v>
                </c:pt>
                <c:pt idx="181">
                  <c:v>60</c:v>
                </c:pt>
                <c:pt idx="182">
                  <c:v>90</c:v>
                </c:pt>
                <c:pt idx="183">
                  <c:v>90</c:v>
                </c:pt>
                <c:pt idx="184">
                  <c:v>90</c:v>
                </c:pt>
                <c:pt idx="185">
                  <c:v>90</c:v>
                </c:pt>
                <c:pt idx="186">
                  <c:v>90</c:v>
                </c:pt>
                <c:pt idx="187">
                  <c:v>90</c:v>
                </c:pt>
                <c:pt idx="188">
                  <c:v>90</c:v>
                </c:pt>
                <c:pt idx="189">
                  <c:v>90</c:v>
                </c:pt>
                <c:pt idx="190">
                  <c:v>60</c:v>
                </c:pt>
                <c:pt idx="191">
                  <c:v>60</c:v>
                </c:pt>
              </c:numCache>
            </c:numRef>
          </c:yVal>
          <c:smooth val="1"/>
          <c:extLst>
            <c:ext xmlns:c16="http://schemas.microsoft.com/office/drawing/2014/chart" uri="{C3380CC4-5D6E-409C-BE32-E72D297353CC}">
              <c16:uniqueId val="{00000000-A601-4168-B721-22C8673739B5}"/>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16便担当</a:t>
            </a:r>
          </a:p>
        </c:rich>
      </c:tx>
      <c:overlay val="0"/>
    </c:title>
    <c:autoTitleDeleted val="0"/>
    <c:plotArea>
      <c:layout/>
      <c:scatterChart>
        <c:scatterStyle val="lineMarker"/>
        <c:varyColors val="1"/>
        <c:ser>
          <c:idx val="0"/>
          <c:order val="0"/>
          <c:tx>
            <c:v>SOC</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38.1372</c:v>
                </c:pt>
                <c:pt idx="1">
                  <c:v>42.675417</c:v>
                </c:pt>
                <c:pt idx="2">
                  <c:v>47.213633</c:v>
                </c:pt>
                <c:pt idx="3">
                  <c:v>47.213633</c:v>
                </c:pt>
                <c:pt idx="4">
                  <c:v>51.75185</c:v>
                </c:pt>
                <c:pt idx="5">
                  <c:v>55.03977</c:v>
                </c:pt>
                <c:pt idx="6">
                  <c:v>61.847094</c:v>
                </c:pt>
                <c:pt idx="7">
                  <c:v>68.654419</c:v>
                </c:pt>
                <c:pt idx="8">
                  <c:v>75.461744</c:v>
                </c:pt>
                <c:pt idx="9">
                  <c:v>75.461744</c:v>
                </c:pt>
                <c:pt idx="10">
                  <c:v>75.461744</c:v>
                </c:pt>
                <c:pt idx="11">
                  <c:v>75.461744</c:v>
                </c:pt>
                <c:pt idx="12">
                  <c:v>75.461744</c:v>
                </c:pt>
                <c:pt idx="13">
                  <c:v>75.461744</c:v>
                </c:pt>
                <c:pt idx="14">
                  <c:v>75.461744</c:v>
                </c:pt>
                <c:pt idx="15">
                  <c:v>79.999961</c:v>
                </c:pt>
                <c:pt idx="16">
                  <c:v>79.999968</c:v>
                </c:pt>
                <c:pt idx="17">
                  <c:v>84.538185</c:v>
                </c:pt>
                <c:pt idx="18">
                  <c:v>84.538185</c:v>
                </c:pt>
                <c:pt idx="19">
                  <c:v>85.461744</c:v>
                </c:pt>
                <c:pt idx="20">
                  <c:v>89.999961</c:v>
                </c:pt>
                <c:pt idx="21">
                  <c:v>89.999961</c:v>
                </c:pt>
                <c:pt idx="22">
                  <c:v>89.999961</c:v>
                </c:pt>
                <c:pt idx="23">
                  <c:v>92.191119</c:v>
                </c:pt>
                <c:pt idx="24">
                  <c:v>92.191119</c:v>
                </c:pt>
                <c:pt idx="25">
                  <c:v>92.191119</c:v>
                </c:pt>
                <c:pt idx="26">
                  <c:v>92.191119</c:v>
                </c:pt>
                <c:pt idx="27">
                  <c:v>92.191119</c:v>
                </c:pt>
                <c:pt idx="28">
                  <c:v>93.374701</c:v>
                </c:pt>
                <c:pt idx="29">
                  <c:v>93.374701</c:v>
                </c:pt>
                <c:pt idx="30">
                  <c:v>89.896936</c:v>
                </c:pt>
                <c:pt idx="31">
                  <c:v>88.642736</c:v>
                </c:pt>
                <c:pt idx="32">
                  <c:v>87.388535</c:v>
                </c:pt>
                <c:pt idx="33">
                  <c:v>86.301562</c:v>
                </c:pt>
                <c:pt idx="34">
                  <c:v>86.301562</c:v>
                </c:pt>
                <c:pt idx="35">
                  <c:v>85.498426</c:v>
                </c:pt>
                <c:pt idx="36">
                  <c:v>84.494506</c:v>
                </c:pt>
                <c:pt idx="37">
                  <c:v>83.490586</c:v>
                </c:pt>
                <c:pt idx="38">
                  <c:v>82.486666</c:v>
                </c:pt>
                <c:pt idx="39">
                  <c:v>82.419737</c:v>
                </c:pt>
                <c:pt idx="40">
                  <c:v>81.332764</c:v>
                </c:pt>
                <c:pt idx="41">
                  <c:v>80.078564</c:v>
                </c:pt>
                <c:pt idx="42">
                  <c:v>78.824364</c:v>
                </c:pt>
                <c:pt idx="43">
                  <c:v>78.48991</c:v>
                </c:pt>
                <c:pt idx="44">
                  <c:v>77.325363</c:v>
                </c:pt>
                <c:pt idx="45">
                  <c:v>76.160816</c:v>
                </c:pt>
                <c:pt idx="46">
                  <c:v>74.996268</c:v>
                </c:pt>
                <c:pt idx="47">
                  <c:v>74.608086</c:v>
                </c:pt>
                <c:pt idx="48">
                  <c:v>73.353886</c:v>
                </c:pt>
                <c:pt idx="49">
                  <c:v>72.099686</c:v>
                </c:pt>
                <c:pt idx="50">
                  <c:v>70.845486</c:v>
                </c:pt>
                <c:pt idx="51">
                  <c:v>70.678259</c:v>
                </c:pt>
                <c:pt idx="52">
                  <c:v>69.687155</c:v>
                </c:pt>
                <c:pt idx="53">
                  <c:v>68.448275</c:v>
                </c:pt>
                <c:pt idx="54">
                  <c:v>67.209394</c:v>
                </c:pt>
                <c:pt idx="55">
                  <c:v>66.796434</c:v>
                </c:pt>
                <c:pt idx="56">
                  <c:v>65.684219</c:v>
                </c:pt>
                <c:pt idx="57">
                  <c:v>64.572004</c:v>
                </c:pt>
                <c:pt idx="58">
                  <c:v>63.459789</c:v>
                </c:pt>
                <c:pt idx="59">
                  <c:v>62.866607</c:v>
                </c:pt>
                <c:pt idx="60">
                  <c:v>62.205871</c:v>
                </c:pt>
                <c:pt idx="61">
                  <c:v>60.966991</c:v>
                </c:pt>
                <c:pt idx="62">
                  <c:v>59.728111</c:v>
                </c:pt>
                <c:pt idx="63">
                  <c:v>58.984783</c:v>
                </c:pt>
                <c:pt idx="64">
                  <c:v>58.984783</c:v>
                </c:pt>
                <c:pt idx="65">
                  <c:v>57.932151</c:v>
                </c:pt>
                <c:pt idx="66">
                  <c:v>56.879518</c:v>
                </c:pt>
                <c:pt idx="67">
                  <c:v>55.826886</c:v>
                </c:pt>
                <c:pt idx="68">
                  <c:v>55.054956</c:v>
                </c:pt>
                <c:pt idx="69">
                  <c:v>54.589137</c:v>
                </c:pt>
                <c:pt idx="70">
                  <c:v>53.42459</c:v>
                </c:pt>
                <c:pt idx="71">
                  <c:v>52.260042</c:v>
                </c:pt>
                <c:pt idx="72">
                  <c:v>51.173131</c:v>
                </c:pt>
                <c:pt idx="73">
                  <c:v>50.822254</c:v>
                </c:pt>
                <c:pt idx="74">
                  <c:v>49.769622</c:v>
                </c:pt>
                <c:pt idx="75">
                  <c:v>48.716989</c:v>
                </c:pt>
                <c:pt idx="76">
                  <c:v>47.664357</c:v>
                </c:pt>
                <c:pt idx="77">
                  <c:v>47.243304</c:v>
                </c:pt>
                <c:pt idx="78">
                  <c:v>46.369894</c:v>
                </c:pt>
                <c:pt idx="79">
                  <c:v>44.91421</c:v>
                </c:pt>
                <c:pt idx="80">
                  <c:v>43.458525</c:v>
                </c:pt>
                <c:pt idx="81">
                  <c:v>43.115866</c:v>
                </c:pt>
                <c:pt idx="82">
                  <c:v>41.887795</c:v>
                </c:pt>
                <c:pt idx="83">
                  <c:v>40.659724</c:v>
                </c:pt>
                <c:pt idx="84">
                  <c:v>39.431653</c:v>
                </c:pt>
                <c:pt idx="85">
                  <c:v>38.909134</c:v>
                </c:pt>
                <c:pt idx="86">
                  <c:v>38.073105</c:v>
                </c:pt>
                <c:pt idx="87">
                  <c:v>38.073105</c:v>
                </c:pt>
                <c:pt idx="88">
                  <c:v>38.073105</c:v>
                </c:pt>
                <c:pt idx="89">
                  <c:v>34.539391</c:v>
                </c:pt>
                <c:pt idx="90">
                  <c:v>33.216045</c:v>
                </c:pt>
                <c:pt idx="91">
                  <c:v>31.892699</c:v>
                </c:pt>
                <c:pt idx="92">
                  <c:v>30.922245</c:v>
                </c:pt>
                <c:pt idx="93">
                  <c:v>30.50423</c:v>
                </c:pt>
                <c:pt idx="94">
                  <c:v>29.060767</c:v>
                </c:pt>
                <c:pt idx="95">
                  <c:v>33.598983</c:v>
                </c:pt>
                <c:pt idx="96">
                  <c:v>38.1372</c:v>
                </c:pt>
              </c:numCache>
            </c:numRef>
          </c:yVal>
          <c:smooth val="1"/>
          <c:extLst>
            <c:ext xmlns:c16="http://schemas.microsoft.com/office/drawing/2014/chart" uri="{C3380CC4-5D6E-409C-BE32-E72D297353CC}">
              <c16:uniqueId val="{00000000-DF33-4CDD-B63C-19508AA0FEFE}"/>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DF33-4CDD-B63C-19508AA0FEFE}"/>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DF33-4CDD-B63C-19508AA0FEFE}"/>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14便担当</a:t>
            </a:r>
          </a:p>
        </c:rich>
      </c:tx>
      <c:overlay val="0"/>
    </c:title>
    <c:autoTitleDeleted val="0"/>
    <c:plotArea>
      <c:layout/>
      <c:scatterChart>
        <c:scatterStyle val="lineMarker"/>
        <c:varyColors val="1"/>
        <c:ser>
          <c:idx val="0"/>
          <c:order val="0"/>
          <c:tx>
            <c:v>SOC</c:v>
          </c:tx>
          <c:spPr>
            <a:ln w="21908">
              <a:solidFill>
                <a:srgbClr val="6B54A3"/>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63.809</c:v>
                </c:pt>
                <c:pt idx="1">
                  <c:v>68.347217</c:v>
                </c:pt>
                <c:pt idx="2">
                  <c:v>75.154541</c:v>
                </c:pt>
                <c:pt idx="3">
                  <c:v>79.692758</c:v>
                </c:pt>
                <c:pt idx="4">
                  <c:v>79.692758</c:v>
                </c:pt>
                <c:pt idx="5">
                  <c:v>79.999968</c:v>
                </c:pt>
                <c:pt idx="6">
                  <c:v>79.999968</c:v>
                </c:pt>
                <c:pt idx="7">
                  <c:v>79.999968</c:v>
                </c:pt>
                <c:pt idx="8">
                  <c:v>79.999968</c:v>
                </c:pt>
                <c:pt idx="9">
                  <c:v>79.999968</c:v>
                </c:pt>
                <c:pt idx="10">
                  <c:v>79.999968</c:v>
                </c:pt>
                <c:pt idx="11">
                  <c:v>79.999968</c:v>
                </c:pt>
                <c:pt idx="12">
                  <c:v>79.999968</c:v>
                </c:pt>
                <c:pt idx="13">
                  <c:v>79.999968</c:v>
                </c:pt>
                <c:pt idx="14">
                  <c:v>79.999968</c:v>
                </c:pt>
                <c:pt idx="15">
                  <c:v>79.999968</c:v>
                </c:pt>
                <c:pt idx="16">
                  <c:v>79.999968</c:v>
                </c:pt>
                <c:pt idx="17">
                  <c:v>79.999968</c:v>
                </c:pt>
                <c:pt idx="18">
                  <c:v>79.999968</c:v>
                </c:pt>
                <c:pt idx="19">
                  <c:v>80</c:v>
                </c:pt>
                <c:pt idx="20">
                  <c:v>80.000008</c:v>
                </c:pt>
                <c:pt idx="21">
                  <c:v>80.000008</c:v>
                </c:pt>
                <c:pt idx="22">
                  <c:v>80.000008</c:v>
                </c:pt>
                <c:pt idx="23">
                  <c:v>80.000008</c:v>
                </c:pt>
                <c:pt idx="24">
                  <c:v>80.000008</c:v>
                </c:pt>
                <c:pt idx="25">
                  <c:v>80.335031</c:v>
                </c:pt>
                <c:pt idx="26">
                  <c:v>80.335031</c:v>
                </c:pt>
                <c:pt idx="27">
                  <c:v>80.335031</c:v>
                </c:pt>
                <c:pt idx="28">
                  <c:v>76.333045</c:v>
                </c:pt>
                <c:pt idx="29">
                  <c:v>74.901924</c:v>
                </c:pt>
                <c:pt idx="30">
                  <c:v>73.470802</c:v>
                </c:pt>
                <c:pt idx="31">
                  <c:v>73.470802</c:v>
                </c:pt>
                <c:pt idx="32">
                  <c:v>72.646271</c:v>
                </c:pt>
                <c:pt idx="33">
                  <c:v>71.521909</c:v>
                </c:pt>
                <c:pt idx="34">
                  <c:v>70.397548</c:v>
                </c:pt>
                <c:pt idx="35">
                  <c:v>69.797889</c:v>
                </c:pt>
                <c:pt idx="36">
                  <c:v>69.312552</c:v>
                </c:pt>
                <c:pt idx="37">
                  <c:v>68.099209</c:v>
                </c:pt>
                <c:pt idx="38">
                  <c:v>66.885867</c:v>
                </c:pt>
                <c:pt idx="39">
                  <c:v>66.076972</c:v>
                </c:pt>
                <c:pt idx="40">
                  <c:v>66.076972</c:v>
                </c:pt>
                <c:pt idx="41">
                  <c:v>64.996704</c:v>
                </c:pt>
                <c:pt idx="42">
                  <c:v>63.916435</c:v>
                </c:pt>
                <c:pt idx="43">
                  <c:v>62.836166</c:v>
                </c:pt>
                <c:pt idx="44">
                  <c:v>62.404059</c:v>
                </c:pt>
                <c:pt idx="45">
                  <c:v>62.404059</c:v>
                </c:pt>
                <c:pt idx="46">
                  <c:v>62.404059</c:v>
                </c:pt>
                <c:pt idx="47">
                  <c:v>62.404059</c:v>
                </c:pt>
                <c:pt idx="48">
                  <c:v>62.404059</c:v>
                </c:pt>
                <c:pt idx="49">
                  <c:v>62.404059</c:v>
                </c:pt>
                <c:pt idx="50">
                  <c:v>62.404059</c:v>
                </c:pt>
                <c:pt idx="51">
                  <c:v>62.404059</c:v>
                </c:pt>
                <c:pt idx="52">
                  <c:v>62.016463</c:v>
                </c:pt>
                <c:pt idx="53">
                  <c:v>60.853677</c:v>
                </c:pt>
                <c:pt idx="54">
                  <c:v>59.690891</c:v>
                </c:pt>
                <c:pt idx="55">
                  <c:v>58.683142</c:v>
                </c:pt>
                <c:pt idx="56">
                  <c:v>58.683142</c:v>
                </c:pt>
                <c:pt idx="57">
                  <c:v>57.514488</c:v>
                </c:pt>
                <c:pt idx="58">
                  <c:v>56.262358</c:v>
                </c:pt>
                <c:pt idx="59">
                  <c:v>55.010229</c:v>
                </c:pt>
                <c:pt idx="60">
                  <c:v>54.622633</c:v>
                </c:pt>
                <c:pt idx="61">
                  <c:v>53.459847</c:v>
                </c:pt>
                <c:pt idx="62">
                  <c:v>52.297061</c:v>
                </c:pt>
                <c:pt idx="63">
                  <c:v>51.289312</c:v>
                </c:pt>
                <c:pt idx="64">
                  <c:v>51.289312</c:v>
                </c:pt>
                <c:pt idx="65">
                  <c:v>50.585989</c:v>
                </c:pt>
                <c:pt idx="66">
                  <c:v>49.413782</c:v>
                </c:pt>
                <c:pt idx="67">
                  <c:v>48.241576</c:v>
                </c:pt>
                <c:pt idx="68">
                  <c:v>47.616399</c:v>
                </c:pt>
                <c:pt idx="69">
                  <c:v>46.959767</c:v>
                </c:pt>
                <c:pt idx="70">
                  <c:v>45.865379</c:v>
                </c:pt>
                <c:pt idx="71">
                  <c:v>44.770992</c:v>
                </c:pt>
                <c:pt idx="72">
                  <c:v>43.895483</c:v>
                </c:pt>
                <c:pt idx="73">
                  <c:v>43.895483</c:v>
                </c:pt>
                <c:pt idx="74">
                  <c:v>42.820483</c:v>
                </c:pt>
                <c:pt idx="75">
                  <c:v>41.476735</c:v>
                </c:pt>
                <c:pt idx="76">
                  <c:v>40.222569</c:v>
                </c:pt>
                <c:pt idx="77">
                  <c:v>39.737232</c:v>
                </c:pt>
                <c:pt idx="78">
                  <c:v>38.52389</c:v>
                </c:pt>
                <c:pt idx="79">
                  <c:v>37.310547</c:v>
                </c:pt>
                <c:pt idx="80">
                  <c:v>36.501653</c:v>
                </c:pt>
                <c:pt idx="81">
                  <c:v>36.501653</c:v>
                </c:pt>
                <c:pt idx="82">
                  <c:v>34.927547</c:v>
                </c:pt>
                <c:pt idx="83">
                  <c:v>33.353441</c:v>
                </c:pt>
                <c:pt idx="84">
                  <c:v>32.828739</c:v>
                </c:pt>
                <c:pt idx="85">
                  <c:v>31.516988</c:v>
                </c:pt>
                <c:pt idx="86">
                  <c:v>30.205236</c:v>
                </c:pt>
                <c:pt idx="87">
                  <c:v>29.155835</c:v>
                </c:pt>
                <c:pt idx="88">
                  <c:v>29.155835</c:v>
                </c:pt>
                <c:pt idx="89">
                  <c:v>28.006197</c:v>
                </c:pt>
                <c:pt idx="90">
                  <c:v>27.503268</c:v>
                </c:pt>
                <c:pt idx="91">
                  <c:v>32.041484</c:v>
                </c:pt>
                <c:pt idx="92">
                  <c:v>38.848809</c:v>
                </c:pt>
                <c:pt idx="93">
                  <c:v>45.656134</c:v>
                </c:pt>
                <c:pt idx="94">
                  <c:v>52.463459</c:v>
                </c:pt>
                <c:pt idx="95">
                  <c:v>59.270783</c:v>
                </c:pt>
                <c:pt idx="96">
                  <c:v>63.809</c:v>
                </c:pt>
              </c:numCache>
            </c:numRef>
          </c:yVal>
          <c:smooth val="1"/>
          <c:extLst>
            <c:ext xmlns:c16="http://schemas.microsoft.com/office/drawing/2014/chart" uri="{C3380CC4-5D6E-409C-BE32-E72D297353CC}">
              <c16:uniqueId val="{00000000-0321-4662-BF4C-354980FFA70D}"/>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0321-4662-BF4C-354980FFA70D}"/>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0321-4662-BF4C-354980FFA70D}"/>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毎時処理の実測時間</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Data'!$B$2:$B$25</c:f>
              <c:numCache>
                <c:formatCode>0</c:formatCode>
                <c:ptCount val="24"/>
                <c:pt idx="0">
                  <c:v>5.215987</c:v>
                </c:pt>
                <c:pt idx="1">
                  <c:v>5.351536</c:v>
                </c:pt>
                <c:pt idx="2">
                  <c:v>5.120121</c:v>
                </c:pt>
                <c:pt idx="3">
                  <c:v>4.961611</c:v>
                </c:pt>
                <c:pt idx="4">
                  <c:v>4.757339</c:v>
                </c:pt>
                <c:pt idx="5">
                  <c:v>4.563552</c:v>
                </c:pt>
                <c:pt idx="6">
                  <c:v>4.276704</c:v>
                </c:pt>
                <c:pt idx="7">
                  <c:v>4.389717</c:v>
                </c:pt>
                <c:pt idx="8">
                  <c:v>4.304779</c:v>
                </c:pt>
                <c:pt idx="9">
                  <c:v>4.236937</c:v>
                </c:pt>
                <c:pt idx="10">
                  <c:v>4.277172</c:v>
                </c:pt>
                <c:pt idx="11">
                  <c:v>3.913359</c:v>
                </c:pt>
                <c:pt idx="12">
                  <c:v>4.026375</c:v>
                </c:pt>
                <c:pt idx="13">
                  <c:v>3.798173</c:v>
                </c:pt>
                <c:pt idx="14">
                  <c:v>3.889016</c:v>
                </c:pt>
                <c:pt idx="15">
                  <c:v>3.668276</c:v>
                </c:pt>
                <c:pt idx="16">
                  <c:v>3.842321</c:v>
                </c:pt>
                <c:pt idx="17">
                  <c:v>3.595187</c:v>
                </c:pt>
                <c:pt idx="18">
                  <c:v>3.724978</c:v>
                </c:pt>
                <c:pt idx="19">
                  <c:v>3.523902</c:v>
                </c:pt>
                <c:pt idx="20">
                  <c:v>3.457436</c:v>
                </c:pt>
                <c:pt idx="21">
                  <c:v>3.440812</c:v>
                </c:pt>
                <c:pt idx="22">
                  <c:v>3.365856</c:v>
                </c:pt>
                <c:pt idx="23">
                  <c:v>3.307299</c:v>
                </c:pt>
              </c:numCache>
            </c:numRef>
          </c:yVal>
          <c:smooth val="1"/>
          <c:extLst>
            <c:ext xmlns:c16="http://schemas.microsoft.com/office/drawing/2014/chart" uri="{C3380CC4-5D6E-409C-BE32-E72D297353CC}">
              <c16:uniqueId val="{00000000-2633-4CD3-935D-DB482C77F312}"/>
            </c:ext>
          </c:extLst>
        </c:ser>
        <c:ser>
          <c:idx val="1"/>
          <c:order val="1"/>
          <c:tx>
            <c:v>低PV（RAIN）</c:v>
          </c:tx>
          <c:spPr>
            <a:ln w="21908">
              <a:solidFill>
                <a:srgbClr val="6B54A3"/>
              </a:solidFill>
              <a:prstDash val="solid"/>
            </a:ln>
          </c:spPr>
          <c:marker>
            <c:symbol val="none"/>
          </c:marker>
          <c:xVal>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Data'!$D$2:$D$25</c:f>
              <c:numCache>
                <c:formatCode>0</c:formatCode>
                <c:ptCount val="24"/>
                <c:pt idx="0">
                  <c:v>4.860176</c:v>
                </c:pt>
                <c:pt idx="1">
                  <c:v>5.054011</c:v>
                </c:pt>
                <c:pt idx="2">
                  <c:v>4.804224</c:v>
                </c:pt>
                <c:pt idx="3">
                  <c:v>4.771222</c:v>
                </c:pt>
                <c:pt idx="4">
                  <c:v>4.705859</c:v>
                </c:pt>
                <c:pt idx="5">
                  <c:v>4.444512</c:v>
                </c:pt>
                <c:pt idx="6">
                  <c:v>4.299128</c:v>
                </c:pt>
                <c:pt idx="7">
                  <c:v>4.293179</c:v>
                </c:pt>
                <c:pt idx="8">
                  <c:v>4.116013</c:v>
                </c:pt>
                <c:pt idx="9">
                  <c:v>4.161548</c:v>
                </c:pt>
                <c:pt idx="10">
                  <c:v>3.7902</c:v>
                </c:pt>
                <c:pt idx="11">
                  <c:v>3.899065</c:v>
                </c:pt>
                <c:pt idx="12">
                  <c:v>3.66455</c:v>
                </c:pt>
                <c:pt idx="13">
                  <c:v>3.604475</c:v>
                </c:pt>
                <c:pt idx="14">
                  <c:v>3.814863</c:v>
                </c:pt>
                <c:pt idx="15">
                  <c:v>3.602754</c:v>
                </c:pt>
                <c:pt idx="16">
                  <c:v>3.593633</c:v>
                </c:pt>
                <c:pt idx="17">
                  <c:v>3.768677</c:v>
                </c:pt>
                <c:pt idx="18">
                  <c:v>3.504012</c:v>
                </c:pt>
                <c:pt idx="19">
                  <c:v>3.448794</c:v>
                </c:pt>
                <c:pt idx="20">
                  <c:v>3.431915</c:v>
                </c:pt>
                <c:pt idx="21">
                  <c:v>3.347422</c:v>
                </c:pt>
                <c:pt idx="22">
                  <c:v>3.381295</c:v>
                </c:pt>
                <c:pt idx="23">
                  <c:v>3.299047</c:v>
                </c:pt>
              </c:numCache>
            </c:numRef>
          </c:yVal>
          <c:smooth val="1"/>
          <c:extLst>
            <c:ext xmlns:c16="http://schemas.microsoft.com/office/drawing/2014/chart" uri="{C3380CC4-5D6E-409C-BE32-E72D297353CC}">
              <c16:uniqueId val="{00000001-2633-4CD3-935D-DB482C77F312}"/>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秒</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日は、まず研究の背景と対象を簡単に説明した後、この1か月でモデルと結果をどのように見直したか、最新結果、残っている課題、11月に向けた作業の順で説明する。数式ではなく、処理の流れと結果の意味を中心に話す。</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気バスの研究というと車両性能だけに見えるが、実際の営業所では、時刻表、充電器、受電上限、太陽光、蓄電池が同時に関係する。本研究では、車両の担当便と営業所の電力の使い方を同じ運用問題として扱っ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では、まず対象システムを図で示し、次に車両や充電器などの入力条件を表にまとめ、その後に時間変化や費用との関係を図示する構成が多い。本資料でもその構成を取り入れた。本研究の特徴は、新規設備の設計だけではなく、既存営業所の混成車両を対象に、便の担当と電力運用を一日単位で検証する点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実験では、営業所、時刻表、車両、設備、料金を同じにし、PV入力だけを高い条件と低い条件に変えている。高PVは2025年8月5日由来、低PVは8月10日由来の曲線である。低PV条件は日曜ダイヤではなく、同じ平日264便へ低PV曲線を与えた反実仮想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処理は5段階で説明できる。まず入力を整え、複数の配車案を作る。次に各配車案について充電と電力の使い方を調整する。その後、1時間ごとに残り時間を見直し、最後に便・SOC・電力収支・費用を確認す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運行、車両、設備の主な設定値をまとめた。重要なのは、BEVの初期SOCを一律80%としていないこと、充電器は90kWを10基、BESSは6MWh、受電上限は200kWとしていることである。高PVと低PVの間では、これらの非PV条件を固定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費用と計算条件を明示した。結果の評価額には電力、燃料、車両使用、CO2を含むが、設備費や劣化費などは含まない。計算は二段階で、22の配車候補を比較する。したがって、全ての可能性を調べた大域最適解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以前の同一配車は、通常のPhase 3経路が一つの候補しか評価しないという候補被覆の不足として診断されました。PV情報そのものが全く入っていなかったという診断ではありません。Stage 1へのPV/BESS/料金入力と目的への使用は監査で確認されています。2026年8月27日のedcbe703で公開BFFの研究用Phase 3に候補被覆ポリシーを追加し、要求1案・探索幅0・frontier OFFに対して実効値を22案以上・幅4以上・frontier ONとしました。既存のBEV構成探索を利用し、8月29日の実験では22案を評価しました。Stage 2最終選択は費用→使用台数→配車ハッシュの順であり、従来から受け取った候補の選択自体は正しかったと記録されています。晴天への恣意的なEV優遇係数は追加していません。毎時Rollingは配車固定なので、内訳の違いを作るのはその前の候補比較と選択です。候補不足の診断と、その後に見つかったSOC上限不一致は別の問題です。数値は研究結論ではなく診断として説明します。</a:t>
            </a:r>
          </a:p>
          <a:p xmlns:a="http://schemas.openxmlformats.org/drawingml/2006/main">
            <a:r>
              <a:t>平易な説明：配車は担当車両と担当便を先に決める作業です。その後に充電時刻などを計算します。以前もPVは費用に入っていましたが、詳しく比べる配車が一つしかありませんでした。修正では比較する配車を22案へ広げました。22案は全組合せではありません。44回という数字は保存された固定配車の交差評価22案×2PV条件を数えたもので、修正前後の速度測定や実行回数一般の保証ではありません。</a:t>
            </a:r>
          </a:p>
          <a:p xmlns:a="http://schemas.openxmlformats.org/drawingml/2006/main">
            <a:r>
              <a:t/>
            </a:r>
          </a:p>
          <a:p xmlns:a="http://schemas.openxmlformats.org/drawingml/2006/main">
            <a:r>
              <a:t>【出典】</a:t>
            </a:r>
          </a:p>
          <a:p xmlns:a="http://schemas.openxmlformats.org/drawingml/2006/main">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候補不足の説明を裏付けるため、同じ配車を両方のPV条件で評価した表を示します。候補固定交差評価のSHAは3ec8714で、その記録をbb0c005再実行パッケージに保持しています。高PV側では案Aが案Bより安く、低PV側では案Bが案Aより安いことが確認できます。さらに22候補全体の最小もそれぞれ案Aと案Bです。通常の公開経路を修正した後、8月29日のbb0c005実行でも同じ物理配車ハッシュが選ばれたため、候補拡張が通常経路へ到達したことを確認しています。単にEV台数を手動で晴雨別に指定した結果ではありません。低PVの698296.47円は一日計画の候補評価額であり、24回Rolling実行後の最終698598.63円とは区別します。この表だけで個々の便の選択原因やPV抑制の原因をすべて特定したことにはなりません。Stage 1の代理目的とStage 2の順位比較では、監査対象候補内の順位逆転は0でした。問題はPVの入力欠落や候補内のソートの誤りというより、通常経路に渡す候補が不足していたことです。なお入力SOC90%不一致は未解消で、修正後にも同じ順位や台数になることを保証するものではありません。</a:t>
            </a:r>
          </a:p>
          <a:p xmlns:a="http://schemas.openxmlformats.org/drawingml/2006/main">
            <a:r>
              <a:t>定量説明：高PV条件内のB-Aは694607.644372-660983.783805=33623.860567円、低PV条件内のA-Bは706714.244203-698296.465284=8417.778919円です。表はそれぞれ円単位に四捨五入しています。高PVで選ぶAと低PVで選ぶBの電気バス差は28-21=7台、電気バス担当便差は199-91=108便です。これは高PVと低PVの条件差であり、修正前後の台数や改善額ではありません。Aのディーゼル担当65便、Bは173便で、いずれも合計264便です。費用には電力以外も含まれます。選択案の比較を説明したものであり、各費目への因果分解や全配車組合せの最適性を証明していません。電池残量上限の不一致がある旧モデルの診断値なので、研究結論には使用しません。</a:t>
            </a:r>
          </a:p>
          <a:p xmlns:a="http://schemas.openxmlformats.org/drawingml/2006/main">
            <a:r>
              <a:t/>
            </a:r>
          </a:p>
          <a:p xmlns:a="http://schemas.openxmlformats.org/drawingml/2006/main">
            <a:r>
              <a:t>【出典】</a:t>
            </a:r>
          </a:p>
          <a:p xmlns:a="http://schemas.openxmlformats.org/drawingml/2006/main">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新の結果では、高PV条件でBEV28台・199便、低PV条件でBEV21台・91便となった。以前のような同一配車ではなく、PV条件に応じて配車が変化した。どちらも使用総台数は32台で、264便すべてを運行している。ただし2条件だけなので、一般的な天候効果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では、バス台数と収益の関係を示す図が使われていた。本研究では、22の配車候補について使用BEV台数と評価額を示した。高PVではBEV28台、低PVでは21台の候補が選ばれた。ただし、BEV台数だけで費用が決まるわけではなく、ICE台数や担当便、充電可能時間も影響す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モデルの費用定義に基づく評価額は、高PV条件約66.1万円、低PV条件約69.9万円で、差は約3.76万円である。差の約88%はエンジンバスの燃料費、約10%が系統電力費である。ただし設備費や劣化費は含まないため、実際の総運用費や採算とは呼ば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力の流れを日合計で示した。高PV条件では発電量が6056kWhと多いが、直接充電とBESS充電に使えた量は約2683kWhで、3373kWhは抑制された。低PV条件では996kWhをほぼ全量利用し、不足する131kWhを系統から補った。BESSは日初と日末で3000kWhに戻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要な結果を一覧で示す。高PVではBEV担当が多く、燃料と系統購入が少ない。一方、高PVでも時間が合わずPV抑制が多い。どちらも全便運行と24時間の再計算、物理・会計検算を通過した。計算の詰まり具合は配車側の目安であり、最終費用の誤差では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日の計画は、1時間進むごとに残り時間を見直す。24回すべて成立しており、実行した部分を15分単位でつないだ96区間の系列も確認した。さらに、物理条件、費用会計、入力・コード・出力の対応を残し、後から同じ結果を追えるように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現在の結果は物理的・会計的に成立しているが、すべての可能性を調べた最適解ではない。高PV条件は計算の詰まり具合に余地があり、低PV条件は次点との差が小さい。また2条件だけであり、設備費や劣化費も含まない。これらを明示した上で、追加検証へ進む。</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次の研究は、小規模な比較、選択結果の安定性、10月末の結果固定の順で進めたい。実験前に、全国大会の中心、高PV側の計算の詰まり具合、低PV側の追加確認範囲、費用項目の範囲を相談したい。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の中から、本資料の図表構成と研究位置づけに直接関係する文献を示す。図をそのまま転載したのではなく、システム図、入力表、費用と車両構成の関係、電力フローという見せ方を参考に、本研究のデータで再作成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対応するSlack発言とリンクは同梱READMEの指摘対応表を参照。6月の旧設定と8月29日の固定入力を混ぜない。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Fig.6–9, Table 5–6。</a:t>
            </a:r>
          </a:p>
          <a:p>
            <a:r>
              <a:t>Zhou, X., An, K., Schmöcker, J.-D. (2025). Optimization of charging and discharging schedules for battery electric buses under the V2G environment. Transportmetrica B: Transport Dynamics 13(1), 2506689. https://doi.org/10.1080/21680566.2025.2506689 手元原本 No06.pdf。</a:t>
            </a:r>
          </a:p>
          <a:p>
            <a:r>
              <a:t>Table 5、Fig.4–5。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Fig.9のエネルギー分解を参考に、累積量ではなく15分平均電力で表示。</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Fig.7、9を参考。配車を固定したaccepted Rollingの実行区間のみ。</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Fig.8を参考。始終端は最終台帳と照合。</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Fig.8–9。状態式 S[t+1]=S[t]+0.95×Pcharge×0.25−Pdischarge×0.25/0.95。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6/17のSlack質問への回答。エネルギー188.4 kWh / 90 kW = 2.0933 hは無損失かつ連続定格の理論最短。設備競合・停車時間・実際の効率を入れると長くなる。</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Fig.6(b)を参考。例の選定規則と完全な車両ID、担当便はreview_data.json。</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Fig.6(a)を参考。各例は最大充電量という規則で選択。高PVで入力maxSocとの不一致を発見したため診断用に限定。</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Fig.4の費用分解を参考。凍結された2条件の記述比較であり、一般的な天候効果の証明ではない。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Table 5、Zhou, X., An, K., Schmöcker, J.-D. (2025). Optimization of charging and discharging schedules for battery electric buses under the V2G environment. Transportmetrica B: Transport Dynamics 13(1), 2506689. https://doi.org/10.1080/21680566.2025.2506689 手元原本 No06.pdf。</a:t>
            </a:r>
          </a:p>
          <a:p>
            <a:r>
              <a:t>Fig.4を参考。需要料金・PV/BESS限界費用は設定0、設備費・劣化費・運転士費を含まない。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Table 5を参考。solve_time_secondsはStage 1と採用候補Stage 2の和に対応し、22候補全体の時間ではない。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rolling_chain_summary.json steps[].elapsed_seconds。折れ線は各正時の実測点を接続し、点間の値を測定したという意味ではない。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以前の説明にあった「充電時刻を省略」「日量だけ」という一括した説明を訂正します。8月29日のcanonical_solver_result.json solver_metadata.stage1_time_indexed_energy_recourse_configurationには enabled=true、used_in_stage1_objective=true、timestep_h=0.25、連続緩和の範囲がphysical charger assignmentとBESS charge/discharge modesと記録されています。したがってPVが目的へ届いていなかったという説明は採りません。充電量下界=max(走行・回送消費+終端要求-初期残量,0)/充電効率はエネルギー面の必要量を説明する式ですが、Stage 1の評価全体がこの日量式だけという意味ではありません。初期BESS3000・終端要求3000なので、終端を減らして使い切れる量はmax(3000-3000,0)*0.95=0 kWhです。途中の充放電は可能で、終端までに戻す必要があります。実験SHA bb0c005、図表は診断用です。</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PDF p.14、印刷頁13 Table 5。200/418便Gurobiは6時間以内に実行可能解を得ていない。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既存authoring manifestのうちscripts/build_thesis_weather_result_package.pyの過去ハッシュ不一致が未解消。今回のraw bundle検証は合格だが旧manifest全体の合格を意味しない。CURRENT_RESEARCH_RELEASE_BLOCKERS.md参照。</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根拠：prepared maxSoc=0.9、hourly_solver_result.jsonのvehicle_soc_kwh_by_vehicle_slot。BEV軌跡はslot開始値。凍結solver_adapter.pyのstage2.addVar ub=capとterminal_soc_expr&lt;=cap。高PV12 vehicle-slot点、3台で超過。モデル修正・再実験は本資料更新の範囲外で未実施。</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6月18日Slack https://urabelab.slack.com/archives/D0AHW83UK17/p1781772519133989 への回答。旧条件のICE 26台と今回の25台を混同しない。母数はハッシュ照合したPrepared vehicles、使用数は凍結result_summary.json。使用率は稼働した台数/入力台数であり、時間稼働率ではない。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6月17日Slack https://urabelab.slack.com/archives/D0AHW83UK17/p1781658309839589 への回答。最大grid_import_kwの枠を抽出。高PVは全96枠で系統購入0。出典 review_data.json slots、保存された実行先頭60分を接続した値。1 kW以上は説明用の閾値であり、設備制約の判定値ではない。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5.svg"/><Relationship Id="rId7"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27.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7F947BF-05E9-4B46-ABAF-397CB3F72438}"/>
              </a:ext>
            </a:extLst>
          </p:cNvPr>
          <p:cNvSpPr>
            <a:spLocks noGrp="1"/>
          </p:cNvSpPr>
          <p:nvPr/>
        </p:nvSpPr>
        <p:spPr>
          <a:xfrm>
            <a:off x="0" y="0"/>
            <a:ext cx="12191695" cy="320040"/>
          </a:xfrm>
          <a:prstGeom prst="rect">
            <a:avLst/>
          </a:prstGeom>
          <a:solidFill>
            <a:srgbClr val="1F2A5A"/>
          </a:solidFill>
          <a:ln w="12700">
            <a:solidFill>
              <a:srgbClr val="1F2A5A"/>
            </a:solidFill>
            <a:prstDash val="solid"/>
          </a:ln>
        </p:spPr>
        <p:txBody>
          <a:bodyPr/>
          <a:lstStyle/>
          <a:p>
            <a:endParaRPr/>
          </a:p>
        </p:txBody>
      </p:sp>
      <p:sp>
        <p:nvSpPr>
          <p:cNvPr id="3" name="Shape 1">
            <a:extLst>
              <a:ext uri="{FF2B5EF4-FFF2-40B4-BE49-F238E27FC236}">
                <a16:creationId xmlns:a16="http://schemas.microsoft.com/office/drawing/2014/main" id="{0B185A98-C200-4DE7-B8BD-318DEDF1B845}"/>
              </a:ext>
            </a:extLst>
          </p:cNvPr>
          <p:cNvSpPr>
            <a:spLocks noGrp="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a:p>
        </p:txBody>
      </p:sp>
      <p:sp>
        <p:nvSpPr>
          <p:cNvPr id="4" name="Text 2">
            <a:extLst>
              <a:ext uri="{FF2B5EF4-FFF2-40B4-BE49-F238E27FC236}">
                <a16:creationId xmlns:a16="http://schemas.microsoft.com/office/drawing/2014/main" id="{1B72CB76-D951-46FB-94A0-79DC7EA0FF34}"/>
              </a:ext>
            </a:extLst>
          </p:cNvPr>
          <p:cNvSpPr>
            <a:spLocks noGrp="1"/>
          </p:cNvSpPr>
          <p:nvPr/>
        </p:nvSpPr>
        <p:spPr>
          <a:xfrm>
            <a:off x="960120" y="1344168"/>
            <a:ext cx="10241280" cy="658368"/>
          </a:xfrm>
          <a:prstGeom prst="rect">
            <a:avLst/>
          </a:prstGeom>
          <a:noFill/>
        </p:spPr>
        <p:txBody>
          <a:bodyPr wrap="square" lIns="0" tIns="0" rIns="0" bIns="0" anchor="ctr"/>
          <a:lstStyle/>
          <a:p>
            <a:pPr marL="0" indent="0" algn="ctr">
              <a:buNone/>
            </a:pPr>
            <a:r>
              <a:rPr sz="3400" b="1">
                <a:solidFill>
                  <a:srgbClr val="FFFFFF"/>
                </a:solidFill>
                <a:latin typeface="Noto Sans CJK JP"/>
                <a:ea typeface="Noto Sans CJK JP"/>
                <a:cs typeface="Noto Sans CJK JP"/>
              </a:rPr>
              <a:t>修士論文研究　8月進捗報告</a:t>
            </a:r>
            <a:endParaRPr sz="3400"/>
          </a:p>
        </p:txBody>
      </p:sp>
      <p:sp>
        <p:nvSpPr>
          <p:cNvPr id="5" name="Text 3">
            <a:extLst>
              <a:ext uri="{FF2B5EF4-FFF2-40B4-BE49-F238E27FC236}">
                <a16:creationId xmlns:a16="http://schemas.microsoft.com/office/drawing/2014/main" id="{E09DD3D2-2374-4F6A-B395-16FAE8CB90A4}"/>
              </a:ext>
            </a:extLst>
          </p:cNvPr>
          <p:cNvSpPr>
            <a:spLocks noGrp="1"/>
          </p:cNvSpPr>
          <p:nvPr/>
        </p:nvSpPr>
        <p:spPr>
          <a:xfrm>
            <a:off x="1143000" y="2679192"/>
            <a:ext cx="9921240" cy="658368"/>
          </a:xfrm>
          <a:prstGeom prst="rect">
            <a:avLst/>
          </a:prstGeom>
          <a:noFill/>
        </p:spPr>
        <p:txBody>
          <a:bodyPr wrap="square" lIns="0" tIns="0" rIns="0" bIns="0" anchor="ctr"/>
          <a:lstStyle/>
          <a:p>
            <a:pPr marL="0" indent="0" algn="ctr">
              <a:buNone/>
            </a:pPr>
            <a:r>
              <a:rPr sz="2200" b="1">
                <a:solidFill>
                  <a:srgbClr val="172033"/>
                </a:solidFill>
                <a:latin typeface="Noto Sans CJK JP"/>
                <a:ea typeface="Noto Sans CJK JP"/>
                <a:cs typeface="Noto Sans CJK JP"/>
              </a:rPr>
              <a:t>PV余剰電力を考慮した BEV／エンジンバス混成運用の配車・充電計画</a:t>
            </a:r>
            <a:endParaRPr sz="2200"/>
          </a:p>
        </p:txBody>
      </p:sp>
      <p:sp>
        <p:nvSpPr>
          <p:cNvPr id="6" name="Text 4">
            <a:extLst>
              <a:ext uri="{FF2B5EF4-FFF2-40B4-BE49-F238E27FC236}">
                <a16:creationId xmlns:a16="http://schemas.microsoft.com/office/drawing/2014/main" id="{2BC3DD9E-8941-4DB2-9F1C-A62DA5014D2C}"/>
              </a:ext>
            </a:extLst>
          </p:cNvPr>
          <p:cNvSpPr>
            <a:spLocks noGrp="1"/>
          </p:cNvSpPr>
          <p:nvPr/>
        </p:nvSpPr>
        <p:spPr>
          <a:xfrm>
            <a:off x="1920240" y="3419856"/>
            <a:ext cx="8366760" cy="365760"/>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 前回からの改善点と、11月に向けた次の検証 ―</a:t>
            </a:r>
            <a:endParaRPr sz="1600"/>
          </a:p>
        </p:txBody>
      </p:sp>
      <p:pic>
        <p:nvPicPr>
          <p:cNvPr id="24"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4680" y="4187952"/>
            <a:ext cx="658368" cy="658368"/>
          </a:xfrm>
          <a:prstGeom prst="rect">
            <a:avLst/>
          </a:prstGeom>
        </p:spPr>
      </p:pic>
      <p:pic>
        <p:nvPicPr>
          <p:cNvPr id="25"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4133088"/>
            <a:ext cx="841248" cy="713232"/>
          </a:xfrm>
          <a:prstGeom prst="rect">
            <a:avLst/>
          </a:prstGeom>
        </p:spPr>
      </p:pic>
      <p:pic>
        <p:nvPicPr>
          <p:cNvPr id="2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3952" y="4206240"/>
            <a:ext cx="749808" cy="621792"/>
          </a:xfrm>
          <a:prstGeom prst="rect">
            <a:avLst/>
          </a:prstGeom>
        </p:spPr>
      </p:pic>
      <p:sp>
        <p:nvSpPr>
          <p:cNvPr id="10" name="Shape 5">
            <a:extLst>
              <a:ext uri="{FF2B5EF4-FFF2-40B4-BE49-F238E27FC236}">
                <a16:creationId xmlns:a16="http://schemas.microsoft.com/office/drawing/2014/main" id="{0C3764EE-FB6A-4592-9518-D2CD62CDB4F1}"/>
              </a:ext>
            </a:extLst>
          </p:cNvPr>
          <p:cNvSpPr>
            <a:spLocks noGrp="1"/>
          </p:cNvSpPr>
          <p:nvPr/>
        </p:nvSpPr>
        <p:spPr>
          <a:xfrm>
            <a:off x="3794760" y="4526280"/>
            <a:ext cx="822960" cy="0"/>
          </a:xfrm>
          <a:prstGeom prst="line">
            <a:avLst/>
          </a:prstGeom>
          <a:noFill/>
          <a:ln w="25400">
            <a:solidFill>
              <a:srgbClr val="A5AFBD"/>
            </a:solidFill>
            <a:prstDash val="solid"/>
          </a:ln>
        </p:spPr>
        <p:txBody>
          <a:bodyPr/>
          <a:lstStyle/>
          <a:p>
            <a:endParaRPr/>
          </a:p>
        </p:txBody>
      </p:sp>
      <p:sp>
        <p:nvSpPr>
          <p:cNvPr id="11" name="Shape 6">
            <a:extLst>
              <a:ext uri="{FF2B5EF4-FFF2-40B4-BE49-F238E27FC236}">
                <a16:creationId xmlns:a16="http://schemas.microsoft.com/office/drawing/2014/main" id="{3C9284E0-B9C9-4314-9E87-3B035B107DD8}"/>
              </a:ext>
            </a:extLst>
          </p:cNvPr>
          <p:cNvSpPr>
            <a:spLocks noGrp="1"/>
          </p:cNvSpPr>
          <p:nvPr/>
        </p:nvSpPr>
        <p:spPr>
          <a:xfrm>
            <a:off x="5559552" y="4526280"/>
            <a:ext cx="868680" cy="0"/>
          </a:xfrm>
          <a:prstGeom prst="line">
            <a:avLst/>
          </a:prstGeom>
          <a:noFill/>
          <a:ln w="25400">
            <a:solidFill>
              <a:srgbClr val="A5AFBD"/>
            </a:solidFill>
            <a:prstDash val="solid"/>
          </a:ln>
        </p:spPr>
        <p:txBody>
          <a:bodyPr/>
          <a:lstStyle/>
          <a:p>
            <a:endParaRPr/>
          </a:p>
        </p:txBody>
      </p:sp>
      <p:sp>
        <p:nvSpPr>
          <p:cNvPr id="12" name="Text 7">
            <a:extLst>
              <a:ext uri="{FF2B5EF4-FFF2-40B4-BE49-F238E27FC236}">
                <a16:creationId xmlns:a16="http://schemas.microsoft.com/office/drawing/2014/main" id="{8AD67280-D8CA-43CB-A947-F2084CC4C3E9}"/>
              </a:ext>
            </a:extLst>
          </p:cNvPr>
          <p:cNvSpPr>
            <a:spLocks noGrp="1"/>
          </p:cNvSpPr>
          <p:nvPr/>
        </p:nvSpPr>
        <p:spPr>
          <a:xfrm>
            <a:off x="1965960" y="5879592"/>
            <a:ext cx="8275320" cy="310896"/>
          </a:xfrm>
          <a:prstGeom prst="rect">
            <a:avLst/>
          </a:prstGeom>
          <a:noFill/>
        </p:spPr>
        <p:txBody>
          <a:bodyPr wrap="square" lIns="0" tIns="0" rIns="0" bIns="0" anchor="ctr"/>
          <a:lstStyle/>
          <a:p>
            <a:pPr marL="0" indent="0" algn="ctr">
              <a:buNone/>
            </a:pPr>
            <a:r>
              <a:rPr sz="1350">
                <a:solidFill>
                  <a:srgbClr val="687386"/>
                </a:solidFill>
                <a:latin typeface="Noto Sans CJK JP"/>
                <a:ea typeface="Noto Sans CJK JP"/>
                <a:cs typeface="Noto Sans CJK JP"/>
              </a:rPr>
              <a:t>2026年8月31日　電力システム研究室　劉 承洋</a:t>
            </a:r>
            <a:endParaRPr sz="1350"/>
          </a:p>
        </p:txBody>
      </p:sp>
      <p:sp>
        <p:nvSpPr>
          <p:cNvPr id="13" name="Text 8">
            <a:extLst>
              <a:ext uri="{FF2B5EF4-FFF2-40B4-BE49-F238E27FC236}">
                <a16:creationId xmlns:a16="http://schemas.microsoft.com/office/drawing/2014/main" id="{629D9C1E-A471-4334-8B0B-7A56674E348B}"/>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1/18</a:t>
            </a:r>
            <a:endParaRPr sz="850"/>
          </a:p>
        </p:txBody>
      </p:sp>
      <p:sp>
        <p:nvSpPr>
          <p:cNvPr id="17" name="正方形/長方形 16">
            <a:extLst>
              <a:ext uri="{FF2B5EF4-FFF2-40B4-BE49-F238E27FC236}">
                <a16:creationId xmlns:a16="http://schemas.microsoft.com/office/drawing/2014/main" id="{3705F59F-D147-417E-B9A0-7925331D4ABB}"/>
              </a:ext>
            </a:extLst>
          </p:cNvPr>
          <p:cNvSpPr>
            <a:spLocks noGrp="1"/>
          </p:cNvSpPr>
          <p:nvPr/>
        </p:nvSpPr>
        <p:spPr>
          <a:xfrm>
            <a:off x="571500" y="5657850"/>
            <a:ext cx="11049000" cy="619125"/>
          </a:xfrm>
          <a:prstGeom prst="rect">
            <a:avLst/>
          </a:prstGeom>
          <a:noFill/>
          <a:ln w="0">
            <a:noFill/>
          </a:ln>
        </p:spPr>
        <p:txBody>
          <a:bodyPr>
            <a:noAutofit/>
          </a:bodyPr>
          <a:lstStyle/>
          <a:p>
            <a:pPr>
              <a:defRPr sz="1800" b="1">
                <a:solidFill>
                  <a:srgbClr val="A23D37"/>
                </a:solidFill>
                <a:latin typeface="Noto Sans CJK JP"/>
                <a:ea typeface="Noto Sans CJK JP"/>
                <a:cs typeface="Noto Sans CJK JP"/>
              </a:defRPr>
            </a:pPr>
            <a:r>
              <a:rPr sz="1800" b="1">
                <a:solidFill>
                  <a:srgbClr val="A23D37"/>
                </a:solidFill>
                <a:latin typeface="Noto Sans CJK JP"/>
                <a:ea typeface="Noto Sans CJK JP"/>
                <a:cs typeface="Noto Sans CJK JP"/>
              </a:rPr>
              <a:t>9月7日 追記：SOC上限90%に不一致。結果は診断用、研究結論には未使用</a:t>
            </a:r>
          </a:p>
        </p:txBody>
      </p:sp>
      <p:sp>
        <p:nvSpPr>
          <p:cNvPr id="18" name="正方形/長方形 17">
            <a:extLst>
              <a:ext uri="{FF2B5EF4-FFF2-40B4-BE49-F238E27FC236}">
                <a16:creationId xmlns:a16="http://schemas.microsoft.com/office/drawing/2014/main" id="{A42EBFBC-C08E-4622-A822-5E19D922486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64589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26C4CFA-F270-4C5D-8F5E-E1417DBB7DC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研究背景</a:t>
            </a:r>
            <a:endParaRPr sz="2800" dirty="0"/>
          </a:p>
        </p:txBody>
      </p:sp>
      <p:sp>
        <p:nvSpPr>
          <p:cNvPr id="3" name="Shape 1">
            <a:extLst>
              <a:ext uri="{FF2B5EF4-FFF2-40B4-BE49-F238E27FC236}">
                <a16:creationId xmlns:a16="http://schemas.microsoft.com/office/drawing/2014/main" id="{F6728271-8C4D-4856-AB54-2E351D6BB6F1}"/>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C42D1C7-5AD7-4E9A-BF97-BDB436EA080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12A12E9-C1EB-49AB-85D0-68D0D59EB993}"/>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2/18</a:t>
            </a:r>
            <a:endParaRPr sz="850"/>
          </a:p>
        </p:txBody>
      </p:sp>
      <p:sp>
        <p:nvSpPr>
          <p:cNvPr id="6" name="Text 4">
            <a:extLst>
              <a:ext uri="{FF2B5EF4-FFF2-40B4-BE49-F238E27FC236}">
                <a16:creationId xmlns:a16="http://schemas.microsoft.com/office/drawing/2014/main" id="{93352480-DD92-4D05-9FB6-97C72C446B41}"/>
              </a:ext>
            </a:extLst>
          </p:cNvPr>
          <p:cNvSpPr>
            <a:spLocks noGrp="1"/>
          </p:cNvSpPr>
          <p:nvPr/>
        </p:nvSpPr>
        <p:spPr>
          <a:xfrm>
            <a:off x="640080" y="868680"/>
            <a:ext cx="10927080" cy="438912"/>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交通分野の脱炭素化に向けて電気バスの導入が進む一方、営業所では次の3つを同時に満たす必要がある。</a:t>
            </a:r>
            <a:endParaRPr sz="1800"/>
          </a:p>
        </p:txBody>
      </p:sp>
      <p:sp>
        <p:nvSpPr>
          <p:cNvPr id="7" name="Shape 5">
            <a:extLst>
              <a:ext uri="{FF2B5EF4-FFF2-40B4-BE49-F238E27FC236}">
                <a16:creationId xmlns:a16="http://schemas.microsoft.com/office/drawing/2014/main" id="{BFDE0B61-F68B-414A-9C56-B5D3F294E67E}"/>
              </a:ext>
            </a:extLst>
          </p:cNvPr>
          <p:cNvSpPr>
            <a:spLocks noGrp="1"/>
          </p:cNvSpPr>
          <p:nvPr/>
        </p:nvSpPr>
        <p:spPr>
          <a:xfrm>
            <a:off x="68580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9928" y="1856232"/>
            <a:ext cx="731520" cy="731520"/>
          </a:xfrm>
          <a:prstGeom prst="rect">
            <a:avLst/>
          </a:prstGeom>
        </p:spPr>
      </p:pic>
      <p:sp>
        <p:nvSpPr>
          <p:cNvPr id="9" name="Text 6">
            <a:extLst>
              <a:ext uri="{FF2B5EF4-FFF2-40B4-BE49-F238E27FC236}">
                <a16:creationId xmlns:a16="http://schemas.microsoft.com/office/drawing/2014/main" id="{43C5844F-5E4F-47F8-9197-88CC33906F3D}"/>
              </a:ext>
            </a:extLst>
          </p:cNvPr>
          <p:cNvSpPr>
            <a:spLocks noGrp="1"/>
          </p:cNvSpPr>
          <p:nvPr/>
        </p:nvSpPr>
        <p:spPr>
          <a:xfrm>
            <a:off x="100584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運行</a:t>
            </a:r>
            <a:endParaRPr sz="2100"/>
          </a:p>
        </p:txBody>
      </p:sp>
      <p:sp>
        <p:nvSpPr>
          <p:cNvPr id="10" name="Text 7">
            <a:extLst>
              <a:ext uri="{FF2B5EF4-FFF2-40B4-BE49-F238E27FC236}">
                <a16:creationId xmlns:a16="http://schemas.microsoft.com/office/drawing/2014/main" id="{9941D139-DB68-45DA-A5A1-C27B4F8C37FD}"/>
              </a:ext>
            </a:extLst>
          </p:cNvPr>
          <p:cNvSpPr>
            <a:spLocks noGrp="1"/>
          </p:cNvSpPr>
          <p:nvPr/>
        </p:nvSpPr>
        <p:spPr>
          <a:xfrm>
            <a:off x="100584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決められた便を</a:t>
            </a:r>
            <a:endParaRPr sz="1600"/>
          </a:p>
          <a:p>
            <a:pPr marL="0" indent="0" algn="ctr">
              <a:buNone/>
            </a:pPr>
            <a:r>
              <a:rPr sz="1600">
                <a:solidFill>
                  <a:srgbClr val="687386"/>
                </a:solidFill>
                <a:latin typeface="Noto Sans CJK JP"/>
                <a:ea typeface="Noto Sans CJK JP"/>
                <a:cs typeface="Noto Sans CJK JP"/>
              </a:rPr>
              <a:t>欠かさず走らせる</a:t>
            </a:r>
            <a:endParaRPr sz="1600"/>
          </a:p>
        </p:txBody>
      </p:sp>
      <p:sp>
        <p:nvSpPr>
          <p:cNvPr id="11" name="Shape 8">
            <a:extLst>
              <a:ext uri="{FF2B5EF4-FFF2-40B4-BE49-F238E27FC236}">
                <a16:creationId xmlns:a16="http://schemas.microsoft.com/office/drawing/2014/main" id="{A93289D7-4E97-43F5-8073-9621593A1EA9}"/>
              </a:ext>
            </a:extLst>
          </p:cNvPr>
          <p:cNvSpPr>
            <a:spLocks noGrp="1"/>
          </p:cNvSpPr>
          <p:nvPr/>
        </p:nvSpPr>
        <p:spPr>
          <a:xfrm>
            <a:off x="425196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76088" y="1856232"/>
            <a:ext cx="731520" cy="731520"/>
          </a:xfrm>
          <a:prstGeom prst="rect">
            <a:avLst/>
          </a:prstGeom>
        </p:spPr>
      </p:pic>
      <p:sp>
        <p:nvSpPr>
          <p:cNvPr id="13" name="Text 9">
            <a:extLst>
              <a:ext uri="{FF2B5EF4-FFF2-40B4-BE49-F238E27FC236}">
                <a16:creationId xmlns:a16="http://schemas.microsoft.com/office/drawing/2014/main" id="{CE3417DB-5AFE-4A1F-88A2-8C70BBC34FEC}"/>
              </a:ext>
            </a:extLst>
          </p:cNvPr>
          <p:cNvSpPr>
            <a:spLocks noGrp="1"/>
          </p:cNvSpPr>
          <p:nvPr/>
        </p:nvSpPr>
        <p:spPr>
          <a:xfrm>
            <a:off x="457200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充電・設備</a:t>
            </a:r>
            <a:endParaRPr sz="2100"/>
          </a:p>
        </p:txBody>
      </p:sp>
      <p:sp>
        <p:nvSpPr>
          <p:cNvPr id="14" name="Text 10">
            <a:extLst>
              <a:ext uri="{FF2B5EF4-FFF2-40B4-BE49-F238E27FC236}">
                <a16:creationId xmlns:a16="http://schemas.microsoft.com/office/drawing/2014/main" id="{6514F49C-985B-4173-8639-9B0D04232942}"/>
              </a:ext>
            </a:extLst>
          </p:cNvPr>
          <p:cNvSpPr>
            <a:spLocks noGrp="1"/>
          </p:cNvSpPr>
          <p:nvPr/>
        </p:nvSpPr>
        <p:spPr>
          <a:xfrm>
            <a:off x="457200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限られた充電器と</a:t>
            </a:r>
            <a:endParaRPr sz="1600"/>
          </a:p>
          <a:p>
            <a:pPr marL="0" indent="0" algn="ctr">
              <a:buNone/>
            </a:pPr>
            <a:r>
              <a:rPr sz="1600">
                <a:solidFill>
                  <a:srgbClr val="687386"/>
                </a:solidFill>
                <a:latin typeface="Noto Sans CJK JP"/>
                <a:ea typeface="Noto Sans CJK JP"/>
                <a:cs typeface="Noto Sans CJK JP"/>
              </a:rPr>
              <a:t>受電容量の中で充電する</a:t>
            </a:r>
            <a:endParaRPr sz="1600"/>
          </a:p>
        </p:txBody>
      </p:sp>
      <p:sp>
        <p:nvSpPr>
          <p:cNvPr id="15" name="Shape 11">
            <a:extLst>
              <a:ext uri="{FF2B5EF4-FFF2-40B4-BE49-F238E27FC236}">
                <a16:creationId xmlns:a16="http://schemas.microsoft.com/office/drawing/2014/main" id="{6CC7CD49-30B6-4E0F-A6B4-B33DA992CDF6}"/>
              </a:ext>
            </a:extLst>
          </p:cNvPr>
          <p:cNvSpPr>
            <a:spLocks noGrp="1"/>
          </p:cNvSpPr>
          <p:nvPr/>
        </p:nvSpPr>
        <p:spPr>
          <a:xfrm>
            <a:off x="781812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42248" y="1856232"/>
            <a:ext cx="731520" cy="731520"/>
          </a:xfrm>
          <a:prstGeom prst="rect">
            <a:avLst/>
          </a:prstGeom>
        </p:spPr>
      </p:pic>
      <p:sp>
        <p:nvSpPr>
          <p:cNvPr id="17" name="Text 12">
            <a:extLst>
              <a:ext uri="{FF2B5EF4-FFF2-40B4-BE49-F238E27FC236}">
                <a16:creationId xmlns:a16="http://schemas.microsoft.com/office/drawing/2014/main" id="{5D0AC001-3ED0-45FE-A78E-09BB251324EF}"/>
              </a:ext>
            </a:extLst>
          </p:cNvPr>
          <p:cNvSpPr>
            <a:spLocks noGrp="1"/>
          </p:cNvSpPr>
          <p:nvPr/>
        </p:nvSpPr>
        <p:spPr>
          <a:xfrm>
            <a:off x="813816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再生可能エネルギー</a:t>
            </a:r>
            <a:endParaRPr sz="2100"/>
          </a:p>
        </p:txBody>
      </p:sp>
      <p:sp>
        <p:nvSpPr>
          <p:cNvPr id="18" name="Text 13">
            <a:extLst>
              <a:ext uri="{FF2B5EF4-FFF2-40B4-BE49-F238E27FC236}">
                <a16:creationId xmlns:a16="http://schemas.microsoft.com/office/drawing/2014/main" id="{358CE00A-8C65-4C61-AC3C-7A284A92B589}"/>
              </a:ext>
            </a:extLst>
          </p:cNvPr>
          <p:cNvSpPr>
            <a:spLocks noGrp="1"/>
          </p:cNvSpPr>
          <p:nvPr/>
        </p:nvSpPr>
        <p:spPr>
          <a:xfrm>
            <a:off x="813816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時間で変わるPVを</a:t>
            </a:r>
            <a:endParaRPr sz="1600"/>
          </a:p>
          <a:p>
            <a:pPr marL="0" indent="0" algn="ctr">
              <a:buNone/>
            </a:pPr>
            <a:r>
              <a:rPr sz="1600">
                <a:solidFill>
                  <a:srgbClr val="687386"/>
                </a:solidFill>
                <a:latin typeface="Noto Sans CJK JP"/>
                <a:ea typeface="Noto Sans CJK JP"/>
                <a:cs typeface="Noto Sans CJK JP"/>
              </a:rPr>
              <a:t>できるだけ有効に使う</a:t>
            </a:r>
            <a:endParaRPr sz="1600"/>
          </a:p>
        </p:txBody>
      </p:sp>
      <p:sp>
        <p:nvSpPr>
          <p:cNvPr id="19" name="Shape 14">
            <a:extLst>
              <a:ext uri="{FF2B5EF4-FFF2-40B4-BE49-F238E27FC236}">
                <a16:creationId xmlns:a16="http://schemas.microsoft.com/office/drawing/2014/main" id="{CECB67F7-7B45-4931-BF58-FBE1EB1265B7}"/>
              </a:ext>
            </a:extLst>
          </p:cNvPr>
          <p:cNvSpPr>
            <a:spLocks noGrp="1"/>
          </p:cNvSpPr>
          <p:nvPr/>
        </p:nvSpPr>
        <p:spPr>
          <a:xfrm>
            <a:off x="1097280" y="4343400"/>
            <a:ext cx="9966960" cy="1225296"/>
          </a:xfrm>
          <a:prstGeom prst="roundRect">
            <a:avLst/>
          </a:prstGeom>
          <a:solidFill>
            <a:srgbClr val="EAF2FB"/>
          </a:solidFill>
          <a:ln w="15240">
            <a:solidFill>
              <a:srgbClr val="356BB3"/>
            </a:solidFill>
            <a:prstDash val="solid"/>
          </a:ln>
        </p:spPr>
        <p:txBody>
          <a:bodyPr/>
          <a:lstStyle/>
          <a:p>
            <a:endParaRPr/>
          </a:p>
        </p:txBody>
      </p:sp>
      <p:sp>
        <p:nvSpPr>
          <p:cNvPr id="20" name="Text 15">
            <a:extLst>
              <a:ext uri="{FF2B5EF4-FFF2-40B4-BE49-F238E27FC236}">
                <a16:creationId xmlns:a16="http://schemas.microsoft.com/office/drawing/2014/main" id="{B3DA66E5-D314-4F96-9A81-19E5E531F97B}"/>
              </a:ext>
            </a:extLst>
          </p:cNvPr>
          <p:cNvSpPr>
            <a:spLocks noGrp="1"/>
          </p:cNvSpPr>
          <p:nvPr/>
        </p:nvSpPr>
        <p:spPr>
          <a:xfrm>
            <a:off x="1417320" y="4553712"/>
            <a:ext cx="1645920" cy="320040"/>
          </a:xfrm>
          <a:prstGeom prst="rect">
            <a:avLst/>
          </a:prstGeom>
          <a:noFill/>
        </p:spPr>
        <p:txBody>
          <a:bodyPr wrap="square" lIns="0" tIns="0" rIns="0" bIns="0" anchor="ctr"/>
          <a:lstStyle/>
          <a:p>
            <a:pPr marL="0" indent="0">
              <a:buNone/>
            </a:pPr>
            <a:r>
              <a:rPr sz="1800" b="1">
                <a:solidFill>
                  <a:srgbClr val="356BB3"/>
                </a:solidFill>
                <a:latin typeface="Noto Sans CJK JP"/>
                <a:ea typeface="Noto Sans CJK JP"/>
                <a:cs typeface="Noto Sans CJK JP"/>
              </a:rPr>
              <a:t>研究のねらい</a:t>
            </a:r>
            <a:endParaRPr sz="1800"/>
          </a:p>
        </p:txBody>
      </p:sp>
      <p:sp>
        <p:nvSpPr>
          <p:cNvPr id="21" name="Text 16">
            <a:extLst>
              <a:ext uri="{FF2B5EF4-FFF2-40B4-BE49-F238E27FC236}">
                <a16:creationId xmlns:a16="http://schemas.microsoft.com/office/drawing/2014/main" id="{216B365F-C629-479D-BE8B-98E3A129D6F4}"/>
              </a:ext>
            </a:extLst>
          </p:cNvPr>
          <p:cNvSpPr>
            <a:spLocks noGrp="1"/>
          </p:cNvSpPr>
          <p:nvPr/>
        </p:nvSpPr>
        <p:spPr>
          <a:xfrm>
            <a:off x="2788920" y="4498848"/>
            <a:ext cx="7726680" cy="7498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「どの便を電気バスに任せるか」と「いつ、どの電源で充電するか」をまとめて考え、</a:t>
            </a:r>
            <a:endParaRPr sz="1800"/>
          </a:p>
          <a:p>
            <a:pPr marL="0" indent="0">
              <a:buNone/>
            </a:pPr>
            <a:r>
              <a:rPr sz="1800" b="1">
                <a:solidFill>
                  <a:srgbClr val="172033"/>
                </a:solidFill>
                <a:latin typeface="Noto Sans CJK JP"/>
                <a:ea typeface="Noto Sans CJK JP"/>
                <a:cs typeface="Noto Sans CJK JP"/>
              </a:rPr>
              <a:t>全便運行を守りながら、PV・蓄電池を使いやすい運用を探す。</a:t>
            </a:r>
            <a:endParaRPr sz="1800"/>
          </a:p>
        </p:txBody>
      </p:sp>
      <p:sp>
        <p:nvSpPr>
          <p:cNvPr id="25" name="正方形/長方形 24">
            <a:extLst>
              <a:ext uri="{FF2B5EF4-FFF2-40B4-BE49-F238E27FC236}">
                <a16:creationId xmlns:a16="http://schemas.microsoft.com/office/drawing/2014/main" id="{545ED8FA-1F93-453B-94F5-0451D055B81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56128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0181F67-0FB5-404E-8639-5C27BA641930}"/>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先行研究から整理した「示すべき図表」と本研究の位置づけ</a:t>
            </a:r>
            <a:endParaRPr sz="2800" dirty="0"/>
          </a:p>
        </p:txBody>
      </p:sp>
      <p:sp>
        <p:nvSpPr>
          <p:cNvPr id="3" name="Shape 1">
            <a:extLst>
              <a:ext uri="{FF2B5EF4-FFF2-40B4-BE49-F238E27FC236}">
                <a16:creationId xmlns:a16="http://schemas.microsoft.com/office/drawing/2014/main" id="{1AFC4F62-C710-467D-9D23-9AEC04DC6DE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81663F6-DF3C-4B0F-BDCD-594895BE9CE4}"/>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5EC9842-91C3-47CA-B9B3-CFFA35B8BC0F}"/>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3/18</a:t>
            </a:r>
            <a:endParaRPr sz="850"/>
          </a:p>
        </p:txBody>
      </p:sp>
      <p:sp>
        <p:nvSpPr>
          <p:cNvPr id="6" name="Text 4">
            <a:extLst>
              <a:ext uri="{FF2B5EF4-FFF2-40B4-BE49-F238E27FC236}">
                <a16:creationId xmlns:a16="http://schemas.microsoft.com/office/drawing/2014/main" id="{CF49FC12-B7E0-46E5-83F2-A1188488B2CB}"/>
              </a:ext>
            </a:extLst>
          </p:cNvPr>
          <p:cNvSpPr>
            <a:spLocks noGrp="1"/>
          </p:cNvSpPr>
          <p:nvPr/>
        </p:nvSpPr>
        <p:spPr>
          <a:xfrm>
            <a:off x="685800" y="859536"/>
            <a:ext cx="10835640" cy="329184"/>
          </a:xfrm>
          <a:prstGeom prst="rect">
            <a:avLst/>
          </a:prstGeom>
          <a:noFill/>
        </p:spPr>
        <p:txBody>
          <a:bodyPr wrap="square" lIns="0" tIns="0" rIns="0" bIns="0" anchor="ctr"/>
          <a:lstStyle/>
          <a:p>
            <a:pPr marL="0" indent="0" algn="ctr">
              <a:buNone/>
            </a:pPr>
            <a:r>
              <a:rPr sz="1750">
                <a:solidFill>
                  <a:srgbClr val="687386"/>
                </a:solidFill>
                <a:latin typeface="Noto Sans CJK JP"/>
                <a:ea typeface="Noto Sans CJK JP"/>
                <a:cs typeface="Noto Sans CJK JP"/>
              </a:rPr>
              <a:t>電気バス研究では、システム構成・入力条件・時間変化・費用との関係をセットで示す例が多い。</a:t>
            </a:r>
            <a:endParaRPr sz="1750"/>
          </a:p>
        </p:txBody>
      </p:sp>
      <p:sp>
        <p:nvSpPr>
          <p:cNvPr id="7" name="Shape 5">
            <a:extLst>
              <a:ext uri="{FF2B5EF4-FFF2-40B4-BE49-F238E27FC236}">
                <a16:creationId xmlns:a16="http://schemas.microsoft.com/office/drawing/2014/main" id="{C92F2860-36C8-48D4-A78D-7A89B3E609FE}"/>
              </a:ext>
            </a:extLst>
          </p:cNvPr>
          <p:cNvSpPr>
            <a:spLocks noGrp="1"/>
          </p:cNvSpPr>
          <p:nvPr/>
        </p:nvSpPr>
        <p:spPr>
          <a:xfrm>
            <a:off x="621792" y="1371600"/>
            <a:ext cx="2834640" cy="630936"/>
          </a:xfrm>
          <a:prstGeom prst="rect">
            <a:avLst/>
          </a:prstGeom>
          <a:solidFill>
            <a:srgbClr val="1F2A5A"/>
          </a:solidFill>
          <a:ln w="8890">
            <a:solidFill>
              <a:srgbClr val="EEF1F5"/>
            </a:solidFill>
            <a:prstDash val="solid"/>
          </a:ln>
        </p:spPr>
        <p:txBody>
          <a:bodyPr/>
          <a:lstStyle/>
          <a:p>
            <a:endParaRPr/>
          </a:p>
        </p:txBody>
      </p:sp>
      <p:sp>
        <p:nvSpPr>
          <p:cNvPr id="8" name="Text 6">
            <a:extLst>
              <a:ext uri="{FF2B5EF4-FFF2-40B4-BE49-F238E27FC236}">
                <a16:creationId xmlns:a16="http://schemas.microsoft.com/office/drawing/2014/main" id="{B8425423-CB5A-4976-9ADF-731DE1865387}"/>
              </a:ext>
            </a:extLst>
          </p:cNvPr>
          <p:cNvSpPr>
            <a:spLocks noGrp="1"/>
          </p:cNvSpPr>
          <p:nvPr/>
        </p:nvSpPr>
        <p:spPr>
          <a:xfrm>
            <a:off x="676656" y="1403604"/>
            <a:ext cx="272491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先行研究でよく示す内容</a:t>
            </a:r>
            <a:endParaRPr sz="1320"/>
          </a:p>
        </p:txBody>
      </p:sp>
      <p:sp>
        <p:nvSpPr>
          <p:cNvPr id="9" name="Shape 7">
            <a:extLst>
              <a:ext uri="{FF2B5EF4-FFF2-40B4-BE49-F238E27FC236}">
                <a16:creationId xmlns:a16="http://schemas.microsoft.com/office/drawing/2014/main" id="{03BFCCE6-2068-4601-A056-B0FE915EC5A0}"/>
              </a:ext>
            </a:extLst>
          </p:cNvPr>
          <p:cNvSpPr>
            <a:spLocks noGrp="1"/>
          </p:cNvSpPr>
          <p:nvPr/>
        </p:nvSpPr>
        <p:spPr>
          <a:xfrm>
            <a:off x="3456432" y="1371600"/>
            <a:ext cx="3794760" cy="630936"/>
          </a:xfrm>
          <a:prstGeom prst="rect">
            <a:avLst/>
          </a:prstGeom>
          <a:solidFill>
            <a:srgbClr val="1F2A5A"/>
          </a:solidFill>
          <a:ln w="8890">
            <a:solidFill>
              <a:srgbClr val="EEF1F5"/>
            </a:solidFill>
            <a:prstDash val="solid"/>
          </a:ln>
        </p:spPr>
        <p:txBody>
          <a:bodyPr/>
          <a:lstStyle/>
          <a:p>
            <a:endParaRPr/>
          </a:p>
        </p:txBody>
      </p:sp>
      <p:sp>
        <p:nvSpPr>
          <p:cNvPr id="10" name="Text 8">
            <a:extLst>
              <a:ext uri="{FF2B5EF4-FFF2-40B4-BE49-F238E27FC236}">
                <a16:creationId xmlns:a16="http://schemas.microsoft.com/office/drawing/2014/main" id="{B82EF3C4-F3E6-443C-9449-01DAE27C06D6}"/>
              </a:ext>
            </a:extLst>
          </p:cNvPr>
          <p:cNvSpPr>
            <a:spLocks noGrp="1"/>
          </p:cNvSpPr>
          <p:nvPr/>
        </p:nvSpPr>
        <p:spPr>
          <a:xfrm>
            <a:off x="3511296" y="1403604"/>
            <a:ext cx="368503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本資料で対応する図・表</a:t>
            </a:r>
            <a:endParaRPr sz="1320"/>
          </a:p>
        </p:txBody>
      </p:sp>
      <p:sp>
        <p:nvSpPr>
          <p:cNvPr id="11" name="Shape 9">
            <a:extLst>
              <a:ext uri="{FF2B5EF4-FFF2-40B4-BE49-F238E27FC236}">
                <a16:creationId xmlns:a16="http://schemas.microsoft.com/office/drawing/2014/main" id="{A2EE671B-4B0B-48BB-BB49-F22B9B221862}"/>
              </a:ext>
            </a:extLst>
          </p:cNvPr>
          <p:cNvSpPr>
            <a:spLocks noGrp="1"/>
          </p:cNvSpPr>
          <p:nvPr/>
        </p:nvSpPr>
        <p:spPr>
          <a:xfrm>
            <a:off x="7251192" y="1371600"/>
            <a:ext cx="4315968" cy="630936"/>
          </a:xfrm>
          <a:prstGeom prst="rect">
            <a:avLst/>
          </a:prstGeom>
          <a:solidFill>
            <a:srgbClr val="1F2A5A"/>
          </a:solidFill>
          <a:ln w="8890">
            <a:solidFill>
              <a:srgbClr val="EEF1F5"/>
            </a:solidFill>
            <a:prstDash val="solid"/>
          </a:ln>
        </p:spPr>
        <p:txBody>
          <a:bodyPr/>
          <a:lstStyle/>
          <a:p>
            <a:endParaRPr/>
          </a:p>
        </p:txBody>
      </p:sp>
      <p:sp>
        <p:nvSpPr>
          <p:cNvPr id="12" name="Text 10">
            <a:extLst>
              <a:ext uri="{FF2B5EF4-FFF2-40B4-BE49-F238E27FC236}">
                <a16:creationId xmlns:a16="http://schemas.microsoft.com/office/drawing/2014/main" id="{6B07495C-F01A-4E3B-9B82-BDD731D45E52}"/>
              </a:ext>
            </a:extLst>
          </p:cNvPr>
          <p:cNvSpPr>
            <a:spLocks noGrp="1"/>
          </p:cNvSpPr>
          <p:nvPr/>
        </p:nvSpPr>
        <p:spPr>
          <a:xfrm>
            <a:off x="7306056" y="1403604"/>
            <a:ext cx="4206240"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参考にした文献</a:t>
            </a:r>
            <a:endParaRPr sz="1320"/>
          </a:p>
        </p:txBody>
      </p:sp>
      <p:sp>
        <p:nvSpPr>
          <p:cNvPr id="13" name="Shape 11">
            <a:extLst>
              <a:ext uri="{FF2B5EF4-FFF2-40B4-BE49-F238E27FC236}">
                <a16:creationId xmlns:a16="http://schemas.microsoft.com/office/drawing/2014/main" id="{A96FFCF4-4725-439A-A674-0812FCD4289F}"/>
              </a:ext>
            </a:extLst>
          </p:cNvPr>
          <p:cNvSpPr>
            <a:spLocks noGrp="1"/>
          </p:cNvSpPr>
          <p:nvPr/>
        </p:nvSpPr>
        <p:spPr>
          <a:xfrm>
            <a:off x="621792" y="2002536"/>
            <a:ext cx="2834640" cy="630936"/>
          </a:xfrm>
          <a:prstGeom prst="rect">
            <a:avLst/>
          </a:prstGeom>
          <a:solidFill>
            <a:srgbClr val="FFFFFF"/>
          </a:solidFill>
          <a:ln w="8890">
            <a:solidFill>
              <a:srgbClr val="EEF1F5"/>
            </a:solidFill>
            <a:prstDash val="solid"/>
          </a:ln>
        </p:spPr>
        <p:txBody>
          <a:bodyPr/>
          <a:lstStyle/>
          <a:p>
            <a:endParaRPr/>
          </a:p>
        </p:txBody>
      </p:sp>
      <p:sp>
        <p:nvSpPr>
          <p:cNvPr id="14" name="Text 12">
            <a:extLst>
              <a:ext uri="{FF2B5EF4-FFF2-40B4-BE49-F238E27FC236}">
                <a16:creationId xmlns:a16="http://schemas.microsoft.com/office/drawing/2014/main" id="{CEB60CE3-2AD2-4796-8492-8DAD82353076}"/>
              </a:ext>
            </a:extLst>
          </p:cNvPr>
          <p:cNvSpPr>
            <a:spLocks noGrp="1"/>
          </p:cNvSpPr>
          <p:nvPr/>
        </p:nvSpPr>
        <p:spPr>
          <a:xfrm>
            <a:off x="676656" y="2034540"/>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営業所・車両・電力設備の構成図</a:t>
            </a:r>
            <a:endParaRPr sz="1220"/>
          </a:p>
        </p:txBody>
      </p:sp>
      <p:sp>
        <p:nvSpPr>
          <p:cNvPr id="15" name="Shape 13">
            <a:extLst>
              <a:ext uri="{FF2B5EF4-FFF2-40B4-BE49-F238E27FC236}">
                <a16:creationId xmlns:a16="http://schemas.microsoft.com/office/drawing/2014/main" id="{4B818FA7-FA5F-4CA5-9AB7-52F436621694}"/>
              </a:ext>
            </a:extLst>
          </p:cNvPr>
          <p:cNvSpPr>
            <a:spLocks noGrp="1"/>
          </p:cNvSpPr>
          <p:nvPr/>
        </p:nvSpPr>
        <p:spPr>
          <a:xfrm>
            <a:off x="3456432" y="2002536"/>
            <a:ext cx="3794760" cy="630936"/>
          </a:xfrm>
          <a:prstGeom prst="rect">
            <a:avLst/>
          </a:prstGeom>
          <a:solidFill>
            <a:srgbClr val="FFFFFF"/>
          </a:solidFill>
          <a:ln w="8890">
            <a:solidFill>
              <a:srgbClr val="EEF1F5"/>
            </a:solidFill>
            <a:prstDash val="solid"/>
          </a:ln>
        </p:spPr>
        <p:txBody>
          <a:bodyPr/>
          <a:lstStyle/>
          <a:p>
            <a:endParaRPr/>
          </a:p>
        </p:txBody>
      </p:sp>
      <p:sp>
        <p:nvSpPr>
          <p:cNvPr id="16" name="Text 14">
            <a:extLst>
              <a:ext uri="{FF2B5EF4-FFF2-40B4-BE49-F238E27FC236}">
                <a16:creationId xmlns:a16="http://schemas.microsoft.com/office/drawing/2014/main" id="{06C7F06F-B588-4199-A040-B42FA0D3E974}"/>
              </a:ext>
            </a:extLst>
          </p:cNvPr>
          <p:cNvSpPr>
            <a:spLocks noGrp="1"/>
          </p:cNvSpPr>
          <p:nvPr/>
        </p:nvSpPr>
        <p:spPr>
          <a:xfrm>
            <a:off x="3511296" y="2034540"/>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対象営業所と比較条件の図</a:t>
            </a:r>
            <a:endParaRPr sz="1220"/>
          </a:p>
        </p:txBody>
      </p:sp>
      <p:sp>
        <p:nvSpPr>
          <p:cNvPr id="17" name="Shape 15">
            <a:extLst>
              <a:ext uri="{FF2B5EF4-FFF2-40B4-BE49-F238E27FC236}">
                <a16:creationId xmlns:a16="http://schemas.microsoft.com/office/drawing/2014/main" id="{9ED8D649-98BA-4EC6-8409-D5F552955BA6}"/>
              </a:ext>
            </a:extLst>
          </p:cNvPr>
          <p:cNvSpPr>
            <a:spLocks noGrp="1"/>
          </p:cNvSpPr>
          <p:nvPr/>
        </p:nvSpPr>
        <p:spPr>
          <a:xfrm>
            <a:off x="7251192" y="2002536"/>
            <a:ext cx="4315968" cy="630936"/>
          </a:xfrm>
          <a:prstGeom prst="rect">
            <a:avLst/>
          </a:prstGeom>
          <a:solidFill>
            <a:srgbClr val="FFFFFF"/>
          </a:solidFill>
          <a:ln w="8890">
            <a:solidFill>
              <a:srgbClr val="EEF1F5"/>
            </a:solidFill>
            <a:prstDash val="solid"/>
          </a:ln>
        </p:spPr>
        <p:txBody>
          <a:bodyPr/>
          <a:lstStyle/>
          <a:p>
            <a:endParaRPr/>
          </a:p>
        </p:txBody>
      </p:sp>
      <p:sp>
        <p:nvSpPr>
          <p:cNvPr id="18" name="Text 16">
            <a:extLst>
              <a:ext uri="{FF2B5EF4-FFF2-40B4-BE49-F238E27FC236}">
                <a16:creationId xmlns:a16="http://schemas.microsoft.com/office/drawing/2014/main" id="{0D1B8800-ABD3-49E7-99D5-B840436016BF}"/>
              </a:ext>
            </a:extLst>
          </p:cNvPr>
          <p:cNvSpPr>
            <a:spLocks noGrp="1"/>
          </p:cNvSpPr>
          <p:nvPr/>
        </p:nvSpPr>
        <p:spPr>
          <a:xfrm>
            <a:off x="7306056" y="2034540"/>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Najafi et al. (2025), Fei et al. (2023)</a:t>
            </a:r>
            <a:endParaRPr sz="1220"/>
          </a:p>
        </p:txBody>
      </p:sp>
      <p:sp>
        <p:nvSpPr>
          <p:cNvPr id="19" name="Shape 17">
            <a:extLst>
              <a:ext uri="{FF2B5EF4-FFF2-40B4-BE49-F238E27FC236}">
                <a16:creationId xmlns:a16="http://schemas.microsoft.com/office/drawing/2014/main" id="{8437EFB5-6400-4ACD-A58A-55CAEF5B115C}"/>
              </a:ext>
            </a:extLst>
          </p:cNvPr>
          <p:cNvSpPr>
            <a:spLocks noGrp="1"/>
          </p:cNvSpPr>
          <p:nvPr/>
        </p:nvSpPr>
        <p:spPr>
          <a:xfrm>
            <a:off x="621792" y="2633472"/>
            <a:ext cx="2834640" cy="630936"/>
          </a:xfrm>
          <a:prstGeom prst="rect">
            <a:avLst/>
          </a:prstGeom>
          <a:solidFill>
            <a:srgbClr val="F8FAFC"/>
          </a:solidFill>
          <a:ln w="8890">
            <a:solidFill>
              <a:srgbClr val="EEF1F5"/>
            </a:solidFill>
            <a:prstDash val="solid"/>
          </a:ln>
        </p:spPr>
        <p:txBody>
          <a:bodyPr/>
          <a:lstStyle/>
          <a:p>
            <a:endParaRPr/>
          </a:p>
        </p:txBody>
      </p:sp>
      <p:sp>
        <p:nvSpPr>
          <p:cNvPr id="20" name="Text 18">
            <a:extLst>
              <a:ext uri="{FF2B5EF4-FFF2-40B4-BE49-F238E27FC236}">
                <a16:creationId xmlns:a16="http://schemas.microsoft.com/office/drawing/2014/main" id="{1C52EF7F-89A0-4283-9C9F-825199C2CEC0}"/>
              </a:ext>
            </a:extLst>
          </p:cNvPr>
          <p:cNvSpPr>
            <a:spLocks noGrp="1"/>
          </p:cNvSpPr>
          <p:nvPr/>
        </p:nvSpPr>
        <p:spPr>
          <a:xfrm>
            <a:off x="676656" y="2665476"/>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電池・充電器・SOC・価格などの入力表</a:t>
            </a:r>
            <a:endParaRPr sz="1220"/>
          </a:p>
        </p:txBody>
      </p:sp>
      <p:sp>
        <p:nvSpPr>
          <p:cNvPr id="21" name="Shape 19">
            <a:extLst>
              <a:ext uri="{FF2B5EF4-FFF2-40B4-BE49-F238E27FC236}">
                <a16:creationId xmlns:a16="http://schemas.microsoft.com/office/drawing/2014/main" id="{56156F26-1668-4333-873D-26D2E1836173}"/>
              </a:ext>
            </a:extLst>
          </p:cNvPr>
          <p:cNvSpPr>
            <a:spLocks noGrp="1"/>
          </p:cNvSpPr>
          <p:nvPr/>
        </p:nvSpPr>
        <p:spPr>
          <a:xfrm>
            <a:off x="3456432" y="2633472"/>
            <a:ext cx="3794760" cy="630936"/>
          </a:xfrm>
          <a:prstGeom prst="rect">
            <a:avLst/>
          </a:prstGeom>
          <a:solidFill>
            <a:srgbClr val="F8FAFC"/>
          </a:solidFill>
          <a:ln w="8890">
            <a:solidFill>
              <a:srgbClr val="EEF1F5"/>
            </a:solidFill>
            <a:prstDash val="solid"/>
          </a:ln>
        </p:spPr>
        <p:txBody>
          <a:bodyPr/>
          <a:lstStyle/>
          <a:p>
            <a:endParaRPr/>
          </a:p>
        </p:txBody>
      </p:sp>
      <p:sp>
        <p:nvSpPr>
          <p:cNvPr id="22" name="Text 20">
            <a:extLst>
              <a:ext uri="{FF2B5EF4-FFF2-40B4-BE49-F238E27FC236}">
                <a16:creationId xmlns:a16="http://schemas.microsoft.com/office/drawing/2014/main" id="{583BC5B8-B5BF-4720-A9C9-98ECB040E724}"/>
              </a:ext>
            </a:extLst>
          </p:cNvPr>
          <p:cNvSpPr>
            <a:spLocks noGrp="1"/>
          </p:cNvSpPr>
          <p:nvPr/>
        </p:nvSpPr>
        <p:spPr>
          <a:xfrm>
            <a:off x="3511296" y="2665476"/>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車両・設備・費用・計算条件の表</a:t>
            </a:r>
            <a:endParaRPr sz="1220"/>
          </a:p>
        </p:txBody>
      </p:sp>
      <p:sp>
        <p:nvSpPr>
          <p:cNvPr id="23" name="Shape 21">
            <a:extLst>
              <a:ext uri="{FF2B5EF4-FFF2-40B4-BE49-F238E27FC236}">
                <a16:creationId xmlns:a16="http://schemas.microsoft.com/office/drawing/2014/main" id="{A928D52B-8206-4B53-A8A5-0A0C14A6F938}"/>
              </a:ext>
            </a:extLst>
          </p:cNvPr>
          <p:cNvSpPr>
            <a:spLocks noGrp="1"/>
          </p:cNvSpPr>
          <p:nvPr/>
        </p:nvSpPr>
        <p:spPr>
          <a:xfrm>
            <a:off x="7251192" y="2633472"/>
            <a:ext cx="4315968" cy="630936"/>
          </a:xfrm>
          <a:prstGeom prst="rect">
            <a:avLst/>
          </a:prstGeom>
          <a:solidFill>
            <a:srgbClr val="F8FAFC"/>
          </a:solidFill>
          <a:ln w="8890">
            <a:solidFill>
              <a:srgbClr val="EEF1F5"/>
            </a:solidFill>
            <a:prstDash val="solid"/>
          </a:ln>
        </p:spPr>
        <p:txBody>
          <a:bodyPr/>
          <a:lstStyle/>
          <a:p>
            <a:endParaRPr/>
          </a:p>
        </p:txBody>
      </p:sp>
      <p:sp>
        <p:nvSpPr>
          <p:cNvPr id="24" name="Text 22">
            <a:extLst>
              <a:ext uri="{FF2B5EF4-FFF2-40B4-BE49-F238E27FC236}">
                <a16:creationId xmlns:a16="http://schemas.microsoft.com/office/drawing/2014/main" id="{FAFD447B-AA40-4E1C-999D-5913EDE1F38E}"/>
              </a:ext>
            </a:extLst>
          </p:cNvPr>
          <p:cNvSpPr>
            <a:spLocks noGrp="1"/>
          </p:cNvSpPr>
          <p:nvPr/>
        </p:nvSpPr>
        <p:spPr>
          <a:xfrm>
            <a:off x="7306056" y="2665476"/>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Zhang et al. (2025)</a:t>
            </a:r>
            <a:endParaRPr sz="1220"/>
          </a:p>
        </p:txBody>
      </p:sp>
      <p:sp>
        <p:nvSpPr>
          <p:cNvPr id="25" name="Shape 23">
            <a:extLst>
              <a:ext uri="{FF2B5EF4-FFF2-40B4-BE49-F238E27FC236}">
                <a16:creationId xmlns:a16="http://schemas.microsoft.com/office/drawing/2014/main" id="{CDFE6C64-1276-4588-BF3E-980FBFF27948}"/>
              </a:ext>
            </a:extLst>
          </p:cNvPr>
          <p:cNvSpPr>
            <a:spLocks noGrp="1"/>
          </p:cNvSpPr>
          <p:nvPr/>
        </p:nvSpPr>
        <p:spPr>
          <a:xfrm>
            <a:off x="621792" y="3264408"/>
            <a:ext cx="2834640" cy="630936"/>
          </a:xfrm>
          <a:prstGeom prst="rect">
            <a:avLst/>
          </a:prstGeom>
          <a:solidFill>
            <a:srgbClr val="FFFFFF"/>
          </a:solidFill>
          <a:ln w="8890">
            <a:solidFill>
              <a:srgbClr val="EEF1F5"/>
            </a:solidFill>
            <a:prstDash val="solid"/>
          </a:ln>
        </p:spPr>
        <p:txBody>
          <a:bodyPr/>
          <a:lstStyle/>
          <a:p>
            <a:endParaRPr/>
          </a:p>
        </p:txBody>
      </p:sp>
      <p:sp>
        <p:nvSpPr>
          <p:cNvPr id="26" name="Text 24">
            <a:extLst>
              <a:ext uri="{FF2B5EF4-FFF2-40B4-BE49-F238E27FC236}">
                <a16:creationId xmlns:a16="http://schemas.microsoft.com/office/drawing/2014/main" id="{B634AC67-5111-47BD-9C81-2A3439A57D66}"/>
              </a:ext>
            </a:extLst>
          </p:cNvPr>
          <p:cNvSpPr>
            <a:spLocks noGrp="1"/>
          </p:cNvSpPr>
          <p:nvPr/>
        </p:nvSpPr>
        <p:spPr>
          <a:xfrm>
            <a:off x="676656" y="3296412"/>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一日の充電・PV・蓄電池の動き</a:t>
            </a:r>
            <a:endParaRPr sz="1220"/>
          </a:p>
        </p:txBody>
      </p:sp>
      <p:sp>
        <p:nvSpPr>
          <p:cNvPr id="27" name="Shape 25">
            <a:extLst>
              <a:ext uri="{FF2B5EF4-FFF2-40B4-BE49-F238E27FC236}">
                <a16:creationId xmlns:a16="http://schemas.microsoft.com/office/drawing/2014/main" id="{9AEDEFCC-A2F8-4AB6-82B1-948A873E159F}"/>
              </a:ext>
            </a:extLst>
          </p:cNvPr>
          <p:cNvSpPr>
            <a:spLocks noGrp="1"/>
          </p:cNvSpPr>
          <p:nvPr/>
        </p:nvSpPr>
        <p:spPr>
          <a:xfrm>
            <a:off x="3456432" y="3264408"/>
            <a:ext cx="3794760" cy="630936"/>
          </a:xfrm>
          <a:prstGeom prst="rect">
            <a:avLst/>
          </a:prstGeom>
          <a:solidFill>
            <a:srgbClr val="FFFFFF"/>
          </a:solidFill>
          <a:ln w="8890">
            <a:solidFill>
              <a:srgbClr val="EEF1F5"/>
            </a:solidFill>
            <a:prstDash val="solid"/>
          </a:ln>
        </p:spPr>
        <p:txBody>
          <a:bodyPr/>
          <a:lstStyle/>
          <a:p>
            <a:endParaRPr/>
          </a:p>
        </p:txBody>
      </p:sp>
      <p:sp>
        <p:nvSpPr>
          <p:cNvPr id="28" name="Text 26">
            <a:extLst>
              <a:ext uri="{FF2B5EF4-FFF2-40B4-BE49-F238E27FC236}">
                <a16:creationId xmlns:a16="http://schemas.microsoft.com/office/drawing/2014/main" id="{7FFA561B-108B-4224-AC68-BC58CC63493A}"/>
              </a:ext>
            </a:extLst>
          </p:cNvPr>
          <p:cNvSpPr>
            <a:spLocks noGrp="1"/>
          </p:cNvSpPr>
          <p:nvPr/>
        </p:nvSpPr>
        <p:spPr>
          <a:xfrm>
            <a:off x="3511296" y="3296412"/>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PV利用、BESS、系統購入の流れ</a:t>
            </a:r>
            <a:endParaRPr sz="1220"/>
          </a:p>
        </p:txBody>
      </p:sp>
      <p:sp>
        <p:nvSpPr>
          <p:cNvPr id="29" name="Shape 27">
            <a:extLst>
              <a:ext uri="{FF2B5EF4-FFF2-40B4-BE49-F238E27FC236}">
                <a16:creationId xmlns:a16="http://schemas.microsoft.com/office/drawing/2014/main" id="{4D67F09F-3CFB-42E9-ADCE-77BF51E6877E}"/>
              </a:ext>
            </a:extLst>
          </p:cNvPr>
          <p:cNvSpPr>
            <a:spLocks noGrp="1"/>
          </p:cNvSpPr>
          <p:nvPr/>
        </p:nvSpPr>
        <p:spPr>
          <a:xfrm>
            <a:off x="7251192" y="3264408"/>
            <a:ext cx="4315968" cy="630936"/>
          </a:xfrm>
          <a:prstGeom prst="rect">
            <a:avLst/>
          </a:prstGeom>
          <a:solidFill>
            <a:srgbClr val="FFFFFF"/>
          </a:solidFill>
          <a:ln w="8890">
            <a:solidFill>
              <a:srgbClr val="EEF1F5"/>
            </a:solidFill>
            <a:prstDash val="solid"/>
          </a:ln>
        </p:spPr>
        <p:txBody>
          <a:bodyPr/>
          <a:lstStyle/>
          <a:p>
            <a:endParaRPr/>
          </a:p>
        </p:txBody>
      </p:sp>
      <p:sp>
        <p:nvSpPr>
          <p:cNvPr id="30" name="Text 28">
            <a:extLst>
              <a:ext uri="{FF2B5EF4-FFF2-40B4-BE49-F238E27FC236}">
                <a16:creationId xmlns:a16="http://schemas.microsoft.com/office/drawing/2014/main" id="{1AC78EE0-F6D2-4A40-8E23-EF7183AB2C3F}"/>
              </a:ext>
            </a:extLst>
          </p:cNvPr>
          <p:cNvSpPr>
            <a:spLocks noGrp="1"/>
          </p:cNvSpPr>
          <p:nvPr/>
        </p:nvSpPr>
        <p:spPr>
          <a:xfrm>
            <a:off x="7306056" y="3296412"/>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Najafi et al. (2025)</a:t>
            </a:r>
            <a:endParaRPr sz="1220"/>
          </a:p>
        </p:txBody>
      </p:sp>
      <p:sp>
        <p:nvSpPr>
          <p:cNvPr id="31" name="Shape 29">
            <a:extLst>
              <a:ext uri="{FF2B5EF4-FFF2-40B4-BE49-F238E27FC236}">
                <a16:creationId xmlns:a16="http://schemas.microsoft.com/office/drawing/2014/main" id="{FD2C4B3A-B977-4FDD-A691-991865B3CD7B}"/>
              </a:ext>
            </a:extLst>
          </p:cNvPr>
          <p:cNvSpPr>
            <a:spLocks noGrp="1"/>
          </p:cNvSpPr>
          <p:nvPr/>
        </p:nvSpPr>
        <p:spPr>
          <a:xfrm>
            <a:off x="621792" y="3895344"/>
            <a:ext cx="2834640" cy="630936"/>
          </a:xfrm>
          <a:prstGeom prst="rect">
            <a:avLst/>
          </a:prstGeom>
          <a:solidFill>
            <a:srgbClr val="F8FAFC"/>
          </a:solidFill>
          <a:ln w="8890">
            <a:solidFill>
              <a:srgbClr val="EEF1F5"/>
            </a:solidFill>
            <a:prstDash val="solid"/>
          </a:ln>
        </p:spPr>
        <p:txBody>
          <a:bodyPr/>
          <a:lstStyle/>
          <a:p>
            <a:endParaRPr/>
          </a:p>
        </p:txBody>
      </p:sp>
      <p:sp>
        <p:nvSpPr>
          <p:cNvPr id="32" name="Text 30">
            <a:extLst>
              <a:ext uri="{FF2B5EF4-FFF2-40B4-BE49-F238E27FC236}">
                <a16:creationId xmlns:a16="http://schemas.microsoft.com/office/drawing/2014/main" id="{37202EDC-05D6-483D-9C55-A61704A408F9}"/>
              </a:ext>
            </a:extLst>
          </p:cNvPr>
          <p:cNvSpPr>
            <a:spLocks noGrp="1"/>
          </p:cNvSpPr>
          <p:nvPr/>
        </p:nvSpPr>
        <p:spPr>
          <a:xfrm>
            <a:off x="676656" y="3927348"/>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車両構成と費用・収益の関係</a:t>
            </a:r>
            <a:endParaRPr sz="1220"/>
          </a:p>
        </p:txBody>
      </p:sp>
      <p:sp>
        <p:nvSpPr>
          <p:cNvPr id="33" name="Shape 31">
            <a:extLst>
              <a:ext uri="{FF2B5EF4-FFF2-40B4-BE49-F238E27FC236}">
                <a16:creationId xmlns:a16="http://schemas.microsoft.com/office/drawing/2014/main" id="{D6039E85-57D6-4676-9135-D7B5715B866D}"/>
              </a:ext>
            </a:extLst>
          </p:cNvPr>
          <p:cNvSpPr>
            <a:spLocks noGrp="1"/>
          </p:cNvSpPr>
          <p:nvPr/>
        </p:nvSpPr>
        <p:spPr>
          <a:xfrm>
            <a:off x="3456432" y="3895344"/>
            <a:ext cx="3794760" cy="630936"/>
          </a:xfrm>
          <a:prstGeom prst="rect">
            <a:avLst/>
          </a:prstGeom>
          <a:solidFill>
            <a:srgbClr val="F8FAFC"/>
          </a:solidFill>
          <a:ln w="8890">
            <a:solidFill>
              <a:srgbClr val="EEF1F5"/>
            </a:solidFill>
            <a:prstDash val="solid"/>
          </a:ln>
        </p:spPr>
        <p:txBody>
          <a:bodyPr/>
          <a:lstStyle/>
          <a:p>
            <a:endParaRPr/>
          </a:p>
        </p:txBody>
      </p:sp>
      <p:sp>
        <p:nvSpPr>
          <p:cNvPr id="34" name="Text 32">
            <a:extLst>
              <a:ext uri="{FF2B5EF4-FFF2-40B4-BE49-F238E27FC236}">
                <a16:creationId xmlns:a16="http://schemas.microsoft.com/office/drawing/2014/main" id="{3723C6DC-09DB-4575-984B-95802803F892}"/>
              </a:ext>
            </a:extLst>
          </p:cNvPr>
          <p:cNvSpPr>
            <a:spLocks noGrp="1"/>
          </p:cNvSpPr>
          <p:nvPr/>
        </p:nvSpPr>
        <p:spPr>
          <a:xfrm>
            <a:off x="3511296" y="3927348"/>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22配車候補のBEV台数と評価額</a:t>
            </a:r>
            <a:endParaRPr sz="1220"/>
          </a:p>
        </p:txBody>
      </p:sp>
      <p:sp>
        <p:nvSpPr>
          <p:cNvPr id="35" name="Shape 33">
            <a:extLst>
              <a:ext uri="{FF2B5EF4-FFF2-40B4-BE49-F238E27FC236}">
                <a16:creationId xmlns:a16="http://schemas.microsoft.com/office/drawing/2014/main" id="{E1103D13-0F2D-4D15-8FC4-DD586828AD00}"/>
              </a:ext>
            </a:extLst>
          </p:cNvPr>
          <p:cNvSpPr>
            <a:spLocks noGrp="1"/>
          </p:cNvSpPr>
          <p:nvPr/>
        </p:nvSpPr>
        <p:spPr>
          <a:xfrm>
            <a:off x="7251192" y="3895344"/>
            <a:ext cx="4315968" cy="630936"/>
          </a:xfrm>
          <a:prstGeom prst="rect">
            <a:avLst/>
          </a:prstGeom>
          <a:solidFill>
            <a:srgbClr val="F8FAFC"/>
          </a:solidFill>
          <a:ln w="8890">
            <a:solidFill>
              <a:srgbClr val="EEF1F5"/>
            </a:solidFill>
            <a:prstDash val="solid"/>
          </a:ln>
        </p:spPr>
        <p:txBody>
          <a:bodyPr/>
          <a:lstStyle/>
          <a:p>
            <a:endParaRPr/>
          </a:p>
        </p:txBody>
      </p:sp>
      <p:sp>
        <p:nvSpPr>
          <p:cNvPr id="36" name="Text 34">
            <a:extLst>
              <a:ext uri="{FF2B5EF4-FFF2-40B4-BE49-F238E27FC236}">
                <a16:creationId xmlns:a16="http://schemas.microsoft.com/office/drawing/2014/main" id="{EC3CBB4F-2C51-4475-ABCD-D3CB9738BE6D}"/>
              </a:ext>
            </a:extLst>
          </p:cNvPr>
          <p:cNvSpPr>
            <a:spLocks noGrp="1"/>
          </p:cNvSpPr>
          <p:nvPr/>
        </p:nvSpPr>
        <p:spPr>
          <a:xfrm>
            <a:off x="7306056" y="3927348"/>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a:t>
            </a:r>
            <a:endParaRPr sz="1220"/>
          </a:p>
        </p:txBody>
      </p:sp>
      <p:sp>
        <p:nvSpPr>
          <p:cNvPr id="37" name="Shape 35">
            <a:extLst>
              <a:ext uri="{FF2B5EF4-FFF2-40B4-BE49-F238E27FC236}">
                <a16:creationId xmlns:a16="http://schemas.microsoft.com/office/drawing/2014/main" id="{5C5A51C9-6FA1-465A-BD32-6F98EFA30101}"/>
              </a:ext>
            </a:extLst>
          </p:cNvPr>
          <p:cNvSpPr>
            <a:spLocks noGrp="1"/>
          </p:cNvSpPr>
          <p:nvPr/>
        </p:nvSpPr>
        <p:spPr>
          <a:xfrm>
            <a:off x="621792" y="4526280"/>
            <a:ext cx="2834640" cy="630936"/>
          </a:xfrm>
          <a:prstGeom prst="rect">
            <a:avLst/>
          </a:prstGeom>
          <a:solidFill>
            <a:srgbClr val="FFFFFF"/>
          </a:solidFill>
          <a:ln w="8890">
            <a:solidFill>
              <a:srgbClr val="EEF1F5"/>
            </a:solidFill>
            <a:prstDash val="solid"/>
          </a:ln>
        </p:spPr>
        <p:txBody>
          <a:bodyPr/>
          <a:lstStyle/>
          <a:p>
            <a:endParaRPr/>
          </a:p>
        </p:txBody>
      </p:sp>
      <p:sp>
        <p:nvSpPr>
          <p:cNvPr id="38" name="Text 36">
            <a:extLst>
              <a:ext uri="{FF2B5EF4-FFF2-40B4-BE49-F238E27FC236}">
                <a16:creationId xmlns:a16="http://schemas.microsoft.com/office/drawing/2014/main" id="{8B1D8B93-3C13-40A4-868A-91EA6236134D}"/>
              </a:ext>
            </a:extLst>
          </p:cNvPr>
          <p:cNvSpPr>
            <a:spLocks noGrp="1"/>
          </p:cNvSpPr>
          <p:nvPr/>
        </p:nvSpPr>
        <p:spPr>
          <a:xfrm>
            <a:off x="676656" y="4558284"/>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便ごとの消費量をどう扱うか</a:t>
            </a:r>
            <a:endParaRPr sz="1220"/>
          </a:p>
        </p:txBody>
      </p:sp>
      <p:sp>
        <p:nvSpPr>
          <p:cNvPr id="39" name="Shape 37">
            <a:extLst>
              <a:ext uri="{FF2B5EF4-FFF2-40B4-BE49-F238E27FC236}">
                <a16:creationId xmlns:a16="http://schemas.microsoft.com/office/drawing/2014/main" id="{5E0576D2-40D6-435D-A396-5F44529C8CF2}"/>
              </a:ext>
            </a:extLst>
          </p:cNvPr>
          <p:cNvSpPr>
            <a:spLocks noGrp="1"/>
          </p:cNvSpPr>
          <p:nvPr/>
        </p:nvSpPr>
        <p:spPr>
          <a:xfrm>
            <a:off x="3456432" y="4526280"/>
            <a:ext cx="3794760" cy="630936"/>
          </a:xfrm>
          <a:prstGeom prst="rect">
            <a:avLst/>
          </a:prstGeom>
          <a:solidFill>
            <a:srgbClr val="FFFFFF"/>
          </a:solidFill>
          <a:ln w="8890">
            <a:solidFill>
              <a:srgbClr val="EEF1F5"/>
            </a:solidFill>
            <a:prstDash val="solid"/>
          </a:ln>
        </p:spPr>
        <p:txBody>
          <a:bodyPr/>
          <a:lstStyle/>
          <a:p>
            <a:endParaRPr/>
          </a:p>
        </p:txBody>
      </p:sp>
      <p:sp>
        <p:nvSpPr>
          <p:cNvPr id="40" name="Text 38">
            <a:extLst>
              <a:ext uri="{FF2B5EF4-FFF2-40B4-BE49-F238E27FC236}">
                <a16:creationId xmlns:a16="http://schemas.microsoft.com/office/drawing/2014/main" id="{14BBC929-068A-4582-B342-86E02D63F3AB}"/>
              </a:ext>
            </a:extLst>
          </p:cNvPr>
          <p:cNvSpPr>
            <a:spLocks noGrp="1"/>
          </p:cNvSpPr>
          <p:nvPr/>
        </p:nvSpPr>
        <p:spPr>
          <a:xfrm>
            <a:off x="3511296" y="4558284"/>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便別入力を用いた配車・充電計算</a:t>
            </a:r>
            <a:endParaRPr sz="1220"/>
          </a:p>
        </p:txBody>
      </p:sp>
      <p:sp>
        <p:nvSpPr>
          <p:cNvPr id="41" name="Shape 39">
            <a:extLst>
              <a:ext uri="{FF2B5EF4-FFF2-40B4-BE49-F238E27FC236}">
                <a16:creationId xmlns:a16="http://schemas.microsoft.com/office/drawing/2014/main" id="{94D244FE-8919-414B-BA54-6A36815FD469}"/>
              </a:ext>
            </a:extLst>
          </p:cNvPr>
          <p:cNvSpPr>
            <a:spLocks noGrp="1"/>
          </p:cNvSpPr>
          <p:nvPr/>
        </p:nvSpPr>
        <p:spPr>
          <a:xfrm>
            <a:off x="7251192" y="4526280"/>
            <a:ext cx="4315968" cy="630936"/>
          </a:xfrm>
          <a:prstGeom prst="rect">
            <a:avLst/>
          </a:prstGeom>
          <a:solidFill>
            <a:srgbClr val="FFFFFF"/>
          </a:solidFill>
          <a:ln w="8890">
            <a:solidFill>
              <a:srgbClr val="EEF1F5"/>
            </a:solidFill>
            <a:prstDash val="solid"/>
          </a:ln>
        </p:spPr>
        <p:txBody>
          <a:bodyPr/>
          <a:lstStyle/>
          <a:p>
            <a:endParaRPr/>
          </a:p>
        </p:txBody>
      </p:sp>
      <p:sp>
        <p:nvSpPr>
          <p:cNvPr id="42" name="Text 40">
            <a:extLst>
              <a:ext uri="{FF2B5EF4-FFF2-40B4-BE49-F238E27FC236}">
                <a16:creationId xmlns:a16="http://schemas.microsoft.com/office/drawing/2014/main" id="{CAE2D172-6599-47C0-8550-1B035839CA8E}"/>
              </a:ext>
            </a:extLst>
          </p:cNvPr>
          <p:cNvSpPr>
            <a:spLocks noGrp="1"/>
          </p:cNvSpPr>
          <p:nvPr/>
        </p:nvSpPr>
        <p:spPr>
          <a:xfrm>
            <a:off x="7306056" y="4558284"/>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He et al. (2023), Zhang et al. (2024)</a:t>
            </a:r>
            <a:endParaRPr sz="1220"/>
          </a:p>
        </p:txBody>
      </p:sp>
      <p:sp>
        <p:nvSpPr>
          <p:cNvPr id="43" name="Shape 41">
            <a:extLst>
              <a:ext uri="{FF2B5EF4-FFF2-40B4-BE49-F238E27FC236}">
                <a16:creationId xmlns:a16="http://schemas.microsoft.com/office/drawing/2014/main" id="{E96FBAC1-1E90-4280-A7FF-BFEA6AF699BA}"/>
              </a:ext>
            </a:extLst>
          </p:cNvPr>
          <p:cNvSpPr>
            <a:spLocks noGrp="1"/>
          </p:cNvSpPr>
          <p:nvPr/>
        </p:nvSpPr>
        <p:spPr>
          <a:xfrm>
            <a:off x="932688" y="5440680"/>
            <a:ext cx="10332720" cy="658368"/>
          </a:xfrm>
          <a:prstGeom prst="roundRect">
            <a:avLst/>
          </a:prstGeom>
          <a:solidFill>
            <a:srgbClr val="E8F6F3"/>
          </a:solidFill>
          <a:ln w="13970">
            <a:solidFill>
              <a:srgbClr val="1F9D8A"/>
            </a:solidFill>
            <a:prstDash val="solid"/>
          </a:ln>
        </p:spPr>
        <p:txBody>
          <a:bodyPr/>
          <a:lstStyle/>
          <a:p>
            <a:endParaRPr/>
          </a:p>
        </p:txBody>
      </p:sp>
      <p:sp>
        <p:nvSpPr>
          <p:cNvPr id="44" name="Text 42">
            <a:extLst>
              <a:ext uri="{FF2B5EF4-FFF2-40B4-BE49-F238E27FC236}">
                <a16:creationId xmlns:a16="http://schemas.microsoft.com/office/drawing/2014/main" id="{0AE507F4-AFF3-4796-AFA1-3CF2A00F78BD}"/>
              </a:ext>
            </a:extLst>
          </p:cNvPr>
          <p:cNvSpPr>
            <a:spLocks noGrp="1"/>
          </p:cNvSpPr>
          <p:nvPr/>
        </p:nvSpPr>
        <p:spPr>
          <a:xfrm>
            <a:off x="1170432" y="5596128"/>
            <a:ext cx="9875520" cy="301752"/>
          </a:xfrm>
          <a:prstGeom prst="rect">
            <a:avLst/>
          </a:prstGeom>
          <a:noFill/>
        </p:spPr>
        <p:txBody>
          <a:bodyPr wrap="square" lIns="0" tIns="0" rIns="0" bIns="0" anchor="ctr"/>
          <a:lstStyle/>
          <a:p>
            <a:pPr marL="0" indent="0" algn="ctr">
              <a:buNone/>
            </a:pPr>
            <a:r>
              <a:rPr b="1" dirty="0">
                <a:solidFill>
                  <a:srgbClr val="1F9D8A"/>
                </a:solidFill>
                <a:latin typeface="Noto Sans CJK JP"/>
                <a:ea typeface="Noto Sans CJK JP"/>
                <a:cs typeface="Noto Sans CJK JP"/>
              </a:rPr>
              <a:t>本研究の焦点：既存営業所の264便を対象に、</a:t>
            </a:r>
            <a:endParaRPr lang="en-US" b="1" dirty="0">
              <a:solidFill>
                <a:srgbClr val="1F9D8A"/>
              </a:solidFill>
              <a:latin typeface="Noto Sans CJK JP"/>
              <a:ea typeface="Noto Sans CJK JP"/>
              <a:cs typeface="Noto Sans CJK JP"/>
            </a:endParaRPr>
          </a:p>
          <a:p>
            <a:pPr marL="0" indent="0" algn="ctr">
              <a:buNone/>
            </a:pPr>
            <a:r>
              <a:rPr b="1" dirty="0" err="1">
                <a:solidFill>
                  <a:srgbClr val="1F9D8A"/>
                </a:solidFill>
                <a:latin typeface="Noto Sans CJK JP"/>
                <a:ea typeface="Noto Sans CJK JP"/>
                <a:cs typeface="Noto Sans CJK JP"/>
              </a:rPr>
              <a:t>BEV／ICEの担当便とPV・BESSを使う充電運用を同時に確認する</a:t>
            </a:r>
            <a:endParaRPr dirty="0"/>
          </a:p>
        </p:txBody>
      </p:sp>
    </p:spTree>
    <p:extLst>
      <p:ext uri="{BB962C8B-B14F-4D97-AF65-F5344CB8AC3E}">
        <p14:creationId xmlns:p14="http://schemas.microsoft.com/office/powerpoint/2010/main" val="842432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7A207E-60EF-43D7-9605-4C7BFA97DB0F}"/>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実験対象</a:t>
            </a:r>
            <a:endParaRPr sz="2800" dirty="0"/>
          </a:p>
        </p:txBody>
      </p:sp>
      <p:sp>
        <p:nvSpPr>
          <p:cNvPr id="3" name="Shape 1">
            <a:extLst>
              <a:ext uri="{FF2B5EF4-FFF2-40B4-BE49-F238E27FC236}">
                <a16:creationId xmlns:a16="http://schemas.microsoft.com/office/drawing/2014/main" id="{EB903414-EC62-41F8-AF74-290DB5B5B5E4}"/>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F19B819-781B-466D-9FE8-4B01826AAD2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1217988F-D59E-440A-9205-EBD73154290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4/18</a:t>
            </a:r>
            <a:endParaRPr sz="850"/>
          </a:p>
        </p:txBody>
      </p:sp>
      <p:sp>
        <p:nvSpPr>
          <p:cNvPr id="6" name="Shape 4">
            <a:extLst>
              <a:ext uri="{FF2B5EF4-FFF2-40B4-BE49-F238E27FC236}">
                <a16:creationId xmlns:a16="http://schemas.microsoft.com/office/drawing/2014/main" id="{3077A169-85BE-45C0-B034-F6A6BA70A795}"/>
              </a:ext>
            </a:extLst>
          </p:cNvPr>
          <p:cNvSpPr>
            <a:spLocks noGrp="1"/>
          </p:cNvSpPr>
          <p:nvPr/>
        </p:nvSpPr>
        <p:spPr>
          <a:xfrm>
            <a:off x="594360" y="914400"/>
            <a:ext cx="4572000" cy="5349240"/>
          </a:xfrm>
          <a:prstGeom prst="roundRect">
            <a:avLst>
              <a:gd name="adj" fmla="val 1600"/>
            </a:avLst>
          </a:prstGeom>
          <a:solidFill>
            <a:srgbClr val="F8FAFC"/>
          </a:solidFill>
          <a:ln w="1270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3384ED77-9FCF-4D61-BC9A-5AB450A2187E}"/>
              </a:ext>
            </a:extLst>
          </p:cNvPr>
          <p:cNvSpPr>
            <a:spLocks noGrp="1"/>
          </p:cNvSpPr>
          <p:nvPr/>
        </p:nvSpPr>
        <p:spPr>
          <a:xfrm>
            <a:off x="896112" y="1143000"/>
            <a:ext cx="3675888" cy="329184"/>
          </a:xfrm>
          <a:prstGeom prst="rect">
            <a:avLst/>
          </a:prstGeom>
          <a:noFill/>
        </p:spPr>
        <p:txBody>
          <a:bodyPr wrap="square" lIns="0" tIns="0" rIns="0" bIns="0" anchor="ctr"/>
          <a:lstStyle/>
          <a:p>
            <a:pPr marL="0" indent="0">
              <a:buNone/>
            </a:pPr>
            <a:r>
              <a:rPr sz="2000" b="1" dirty="0" err="1">
                <a:solidFill>
                  <a:srgbClr val="172033"/>
                </a:solidFill>
                <a:latin typeface="Noto Sans CJK JP"/>
                <a:ea typeface="Noto Sans CJK JP"/>
                <a:cs typeface="Noto Sans CJK JP"/>
              </a:rPr>
              <a:t>共通して固定する条件</a:t>
            </a:r>
            <a:endParaRPr sz="2000" dirty="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20" y="1755648"/>
            <a:ext cx="548640" cy="502920"/>
          </a:xfrm>
          <a:prstGeom prst="rect">
            <a:avLst/>
          </a:prstGeom>
        </p:spPr>
      </p:pic>
      <p:sp>
        <p:nvSpPr>
          <p:cNvPr id="9" name="Text 6">
            <a:extLst>
              <a:ext uri="{FF2B5EF4-FFF2-40B4-BE49-F238E27FC236}">
                <a16:creationId xmlns:a16="http://schemas.microsoft.com/office/drawing/2014/main" id="{048D8B11-30DC-4E7C-BCF0-723C22AD2BA8}"/>
              </a:ext>
            </a:extLst>
          </p:cNvPr>
          <p:cNvSpPr>
            <a:spLocks noGrp="1"/>
          </p:cNvSpPr>
          <p:nvPr/>
        </p:nvSpPr>
        <p:spPr>
          <a:xfrm>
            <a:off x="917448" y="1706118"/>
            <a:ext cx="3675888" cy="310896"/>
          </a:xfrm>
          <a:prstGeom prst="rect">
            <a:avLst/>
          </a:prstGeom>
          <a:noFill/>
        </p:spPr>
        <p:txBody>
          <a:bodyPr wrap="square" lIns="0" tIns="0" rIns="0" bIns="0" anchor="ctr"/>
          <a:lstStyle/>
          <a:p>
            <a:pPr marL="0" indent="0">
              <a:buNone/>
            </a:pPr>
            <a:r>
              <a:rPr sz="1750" b="1" dirty="0">
                <a:solidFill>
                  <a:srgbClr val="1F2A5A"/>
                </a:solidFill>
                <a:latin typeface="Noto Sans CJK JP"/>
                <a:ea typeface="Noto Sans CJK JP"/>
                <a:cs typeface="Noto Sans CJK JP"/>
              </a:rPr>
              <a:t>弦巻営業所・平日264便（16路線）</a:t>
            </a:r>
            <a:endParaRPr sz="1750" dirty="0"/>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2487168"/>
            <a:ext cx="548640" cy="475488"/>
          </a:xfrm>
          <a:prstGeom prst="rect">
            <a:avLst/>
          </a:prstGeom>
        </p:spPr>
      </p:pic>
      <p:sp>
        <p:nvSpPr>
          <p:cNvPr id="11" name="Text 7">
            <a:extLst>
              <a:ext uri="{FF2B5EF4-FFF2-40B4-BE49-F238E27FC236}">
                <a16:creationId xmlns:a16="http://schemas.microsoft.com/office/drawing/2014/main" id="{655A02AD-6EE6-4486-BE06-19405E9661BE}"/>
              </a:ext>
            </a:extLst>
          </p:cNvPr>
          <p:cNvSpPr>
            <a:spLocks noGrp="1"/>
          </p:cNvSpPr>
          <p:nvPr/>
        </p:nvSpPr>
        <p:spPr>
          <a:xfrm>
            <a:off x="917448" y="2446782"/>
            <a:ext cx="2971800" cy="310896"/>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車両60台：BEV 35台／ICE 25台</a:t>
            </a:r>
            <a:endParaRPr sz="1700"/>
          </a:p>
        </p:txBody>
      </p:sp>
      <p:pic>
        <p:nvPicPr>
          <p:cNvPr id="52"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0120" y="3218688"/>
            <a:ext cx="502920" cy="502920"/>
          </a:xfrm>
          <a:prstGeom prst="rect">
            <a:avLst/>
          </a:prstGeom>
        </p:spPr>
      </p:pic>
      <p:sp>
        <p:nvSpPr>
          <p:cNvPr id="13" name="Text 8">
            <a:extLst>
              <a:ext uri="{FF2B5EF4-FFF2-40B4-BE49-F238E27FC236}">
                <a16:creationId xmlns:a16="http://schemas.microsoft.com/office/drawing/2014/main" id="{D292F56C-D7D4-4950-B1F5-10BC64823F85}"/>
              </a:ext>
            </a:extLst>
          </p:cNvPr>
          <p:cNvSpPr>
            <a:spLocks noGrp="1"/>
          </p:cNvSpPr>
          <p:nvPr/>
        </p:nvSpPr>
        <p:spPr>
          <a:xfrm>
            <a:off x="917448" y="3178302"/>
            <a:ext cx="3776472" cy="310896"/>
          </a:xfrm>
          <a:prstGeom prst="rect">
            <a:avLst/>
          </a:prstGeom>
          <a:noFill/>
        </p:spPr>
        <p:txBody>
          <a:bodyPr wrap="square" lIns="0" tIns="0" rIns="0" bIns="0" anchor="ctr"/>
          <a:lstStyle/>
          <a:p>
            <a:pPr marL="0" indent="0">
              <a:buNone/>
            </a:pPr>
            <a:r>
              <a:rPr sz="1700" b="1" dirty="0" err="1">
                <a:solidFill>
                  <a:srgbClr val="172033"/>
                </a:solidFill>
                <a:latin typeface="Noto Sans CJK JP"/>
                <a:ea typeface="Noto Sans CJK JP"/>
                <a:cs typeface="Noto Sans CJK JP"/>
              </a:rPr>
              <a:t>充電器・BESS・受電上限・料金は同一</a:t>
            </a:r>
            <a:endParaRPr sz="1700" dirty="0"/>
          </a:p>
        </p:txBody>
      </p:sp>
      <p:pic>
        <p:nvPicPr>
          <p:cNvPr id="54"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0120" y="3950208"/>
            <a:ext cx="502920" cy="502920"/>
          </a:xfrm>
          <a:prstGeom prst="rect">
            <a:avLst/>
          </a:prstGeom>
        </p:spPr>
      </p:pic>
      <p:sp>
        <p:nvSpPr>
          <p:cNvPr id="15" name="Text 9">
            <a:extLst>
              <a:ext uri="{FF2B5EF4-FFF2-40B4-BE49-F238E27FC236}">
                <a16:creationId xmlns:a16="http://schemas.microsoft.com/office/drawing/2014/main" id="{76B7376F-41F4-4856-BF06-7B74414CC934}"/>
              </a:ext>
            </a:extLst>
          </p:cNvPr>
          <p:cNvSpPr>
            <a:spLocks noGrp="1"/>
          </p:cNvSpPr>
          <p:nvPr/>
        </p:nvSpPr>
        <p:spPr>
          <a:xfrm>
            <a:off x="917448" y="3909822"/>
            <a:ext cx="3675888" cy="310896"/>
          </a:xfrm>
          <a:prstGeom prst="rect">
            <a:avLst/>
          </a:prstGeom>
          <a:noFill/>
        </p:spPr>
        <p:txBody>
          <a:bodyPr wrap="square" lIns="0" tIns="0" rIns="0" bIns="0" anchor="ctr"/>
          <a:lstStyle/>
          <a:p>
            <a:pPr marL="0" indent="0">
              <a:buNone/>
            </a:pPr>
            <a:r>
              <a:rPr sz="1700" b="1" dirty="0">
                <a:solidFill>
                  <a:srgbClr val="172033"/>
                </a:solidFill>
                <a:latin typeface="Noto Sans CJK JP"/>
                <a:ea typeface="Noto Sans CJK JP"/>
                <a:cs typeface="Noto Sans CJK JP"/>
              </a:rPr>
              <a:t>15分単位、1時間ごとに運用を見直す</a:t>
            </a:r>
            <a:endParaRPr sz="1700" dirty="0"/>
          </a:p>
        </p:txBody>
      </p:sp>
      <p:sp>
        <p:nvSpPr>
          <p:cNvPr id="16" name="Shape 10">
            <a:extLst>
              <a:ext uri="{FF2B5EF4-FFF2-40B4-BE49-F238E27FC236}">
                <a16:creationId xmlns:a16="http://schemas.microsoft.com/office/drawing/2014/main" id="{50E7229C-FD62-445C-A9B7-AC621C9CB474}"/>
              </a:ext>
            </a:extLst>
          </p:cNvPr>
          <p:cNvSpPr>
            <a:spLocks noGrp="1"/>
          </p:cNvSpPr>
          <p:nvPr/>
        </p:nvSpPr>
        <p:spPr>
          <a:xfrm>
            <a:off x="960120" y="4754880"/>
            <a:ext cx="3822192" cy="841248"/>
          </a:xfrm>
          <a:prstGeom prst="roundRect">
            <a:avLst/>
          </a:prstGeom>
          <a:solidFill>
            <a:srgbClr val="FFFFFF"/>
          </a:solidFill>
          <a:ln w="12700">
            <a:solidFill>
              <a:srgbClr val="356BB3"/>
            </a:solidFill>
            <a:prstDash val="solid"/>
          </a:ln>
        </p:spPr>
        <p:txBody>
          <a:bodyPr/>
          <a:lstStyle/>
          <a:p>
            <a:endParaRPr/>
          </a:p>
        </p:txBody>
      </p:sp>
      <p:sp>
        <p:nvSpPr>
          <p:cNvPr id="17" name="Text 11">
            <a:extLst>
              <a:ext uri="{FF2B5EF4-FFF2-40B4-BE49-F238E27FC236}">
                <a16:creationId xmlns:a16="http://schemas.microsoft.com/office/drawing/2014/main" id="{E9D4474D-520E-4FDB-A980-E4C0457E0AE9}"/>
              </a:ext>
            </a:extLst>
          </p:cNvPr>
          <p:cNvSpPr>
            <a:spLocks noGrp="1"/>
          </p:cNvSpPr>
          <p:nvPr/>
        </p:nvSpPr>
        <p:spPr>
          <a:xfrm>
            <a:off x="1188720" y="4919472"/>
            <a:ext cx="3383280" cy="457200"/>
          </a:xfrm>
          <a:prstGeom prst="rect">
            <a:avLst/>
          </a:prstGeom>
          <a:noFill/>
        </p:spPr>
        <p:txBody>
          <a:bodyPr wrap="square" lIns="0" tIns="0" rIns="0" bIns="0" anchor="ctr"/>
          <a:lstStyle/>
          <a:p>
            <a:pPr marL="0" indent="0" algn="ctr">
              <a:buNone/>
            </a:pPr>
            <a:r>
              <a:rPr sz="1550" b="1" dirty="0" err="1">
                <a:solidFill>
                  <a:srgbClr val="1F2A5A"/>
                </a:solidFill>
                <a:latin typeface="Noto Sans CJK JP"/>
                <a:ea typeface="Noto Sans CJK JP"/>
                <a:cs typeface="Noto Sans CJK JP"/>
              </a:rPr>
              <a:t>比較したいこと</a:t>
            </a:r>
            <a:endParaRPr sz="1550" dirty="0"/>
          </a:p>
          <a:p>
            <a:pPr marL="0" indent="0" algn="ctr">
              <a:buNone/>
            </a:pPr>
            <a:r>
              <a:rPr sz="1550" b="1" dirty="0" err="1">
                <a:solidFill>
                  <a:srgbClr val="1F2A5A"/>
                </a:solidFill>
                <a:latin typeface="Noto Sans CJK JP"/>
                <a:ea typeface="Noto Sans CJK JP"/>
                <a:cs typeface="Noto Sans CJK JP"/>
              </a:rPr>
              <a:t>PV量の違いで、配車・電力・費用が</a:t>
            </a:r>
            <a:endParaRPr lang="en-US" sz="1550" b="1" dirty="0">
              <a:solidFill>
                <a:srgbClr val="1F2A5A"/>
              </a:solidFill>
              <a:latin typeface="Noto Sans CJK JP"/>
              <a:ea typeface="Noto Sans CJK JP"/>
              <a:cs typeface="Noto Sans CJK JP"/>
            </a:endParaRPr>
          </a:p>
          <a:p>
            <a:pPr marL="0" indent="0" algn="ctr">
              <a:buNone/>
            </a:pPr>
            <a:r>
              <a:rPr sz="1550" b="1" dirty="0" err="1">
                <a:solidFill>
                  <a:srgbClr val="1F2A5A"/>
                </a:solidFill>
                <a:latin typeface="Noto Sans CJK JP"/>
                <a:ea typeface="Noto Sans CJK JP"/>
                <a:cs typeface="Noto Sans CJK JP"/>
              </a:rPr>
              <a:t>どう変わるか</a:t>
            </a:r>
            <a:endParaRPr sz="1550" dirty="0"/>
          </a:p>
        </p:txBody>
      </p:sp>
      <p:sp>
        <p:nvSpPr>
          <p:cNvPr id="18" name="Shape 12">
            <a:extLst>
              <a:ext uri="{FF2B5EF4-FFF2-40B4-BE49-F238E27FC236}">
                <a16:creationId xmlns:a16="http://schemas.microsoft.com/office/drawing/2014/main" id="{0EDADDDE-E2ED-4FB6-A380-A5B4520511EE}"/>
              </a:ext>
            </a:extLst>
          </p:cNvPr>
          <p:cNvSpPr>
            <a:spLocks noGrp="1"/>
          </p:cNvSpPr>
          <p:nvPr/>
        </p:nvSpPr>
        <p:spPr>
          <a:xfrm>
            <a:off x="5440680" y="914400"/>
            <a:ext cx="2788920" cy="5349240"/>
          </a:xfrm>
          <a:prstGeom prst="roundRect">
            <a:avLst>
              <a:gd name="adj" fmla="val 2623"/>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19" name="Shape 13">
            <a:extLst>
              <a:ext uri="{FF2B5EF4-FFF2-40B4-BE49-F238E27FC236}">
                <a16:creationId xmlns:a16="http://schemas.microsoft.com/office/drawing/2014/main" id="{FA3EED99-A4FB-4D9B-867C-1E7C2D7C162E}"/>
              </a:ext>
            </a:extLst>
          </p:cNvPr>
          <p:cNvSpPr>
            <a:spLocks noGrp="1"/>
          </p:cNvSpPr>
          <p:nvPr/>
        </p:nvSpPr>
        <p:spPr>
          <a:xfrm>
            <a:off x="6062472" y="1188720"/>
            <a:ext cx="1508760" cy="310896"/>
          </a:xfrm>
          <a:prstGeom prst="roundRect">
            <a:avLst/>
          </a:prstGeom>
          <a:solidFill>
            <a:srgbClr val="E7B34B"/>
          </a:solidFill>
          <a:ln w="12700">
            <a:solidFill>
              <a:srgbClr val="E7B34B"/>
            </a:solidFill>
            <a:prstDash val="solid"/>
          </a:ln>
        </p:spPr>
        <p:txBody>
          <a:bodyPr/>
          <a:lstStyle/>
          <a:p>
            <a:endParaRPr/>
          </a:p>
        </p:txBody>
      </p:sp>
      <p:sp>
        <p:nvSpPr>
          <p:cNvPr id="20" name="Text 14">
            <a:extLst>
              <a:ext uri="{FF2B5EF4-FFF2-40B4-BE49-F238E27FC236}">
                <a16:creationId xmlns:a16="http://schemas.microsoft.com/office/drawing/2014/main" id="{338CC92D-D7C8-4C7A-A267-62B48CB9F0A2}"/>
              </a:ext>
            </a:extLst>
          </p:cNvPr>
          <p:cNvSpPr>
            <a:spLocks noGrp="1"/>
          </p:cNvSpPr>
          <p:nvPr/>
        </p:nvSpPr>
        <p:spPr>
          <a:xfrm>
            <a:off x="6108192" y="1207008"/>
            <a:ext cx="141732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pic>
        <p:nvPicPr>
          <p:cNvPr id="61"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46520" y="1865376"/>
            <a:ext cx="749808" cy="749808"/>
          </a:xfrm>
          <a:prstGeom prst="rect">
            <a:avLst/>
          </a:prstGeom>
        </p:spPr>
      </p:pic>
      <p:sp>
        <p:nvSpPr>
          <p:cNvPr id="22" name="Text 15">
            <a:extLst>
              <a:ext uri="{FF2B5EF4-FFF2-40B4-BE49-F238E27FC236}">
                <a16:creationId xmlns:a16="http://schemas.microsoft.com/office/drawing/2014/main" id="{E7004631-83FB-42D7-8B58-C403B9A044F7}"/>
              </a:ext>
            </a:extLst>
          </p:cNvPr>
          <p:cNvSpPr>
            <a:spLocks noGrp="1"/>
          </p:cNvSpPr>
          <p:nvPr/>
        </p:nvSpPr>
        <p:spPr>
          <a:xfrm>
            <a:off x="5806440"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23" name="Text 16">
            <a:extLst>
              <a:ext uri="{FF2B5EF4-FFF2-40B4-BE49-F238E27FC236}">
                <a16:creationId xmlns:a16="http://schemas.microsoft.com/office/drawing/2014/main" id="{B64BBA42-8F46-40BD-B287-C8EE75712FD5}"/>
              </a:ext>
            </a:extLst>
          </p:cNvPr>
          <p:cNvSpPr>
            <a:spLocks noGrp="1"/>
          </p:cNvSpPr>
          <p:nvPr/>
        </p:nvSpPr>
        <p:spPr>
          <a:xfrm>
            <a:off x="5742432"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2025/08/05由来</a:t>
            </a:r>
            <a:endParaRPr sz="1700"/>
          </a:p>
        </p:txBody>
      </p:sp>
      <p:sp>
        <p:nvSpPr>
          <p:cNvPr id="24" name="Text 17">
            <a:extLst>
              <a:ext uri="{FF2B5EF4-FFF2-40B4-BE49-F238E27FC236}">
                <a16:creationId xmlns:a16="http://schemas.microsoft.com/office/drawing/2014/main" id="{F38C7F0B-45C0-4A84-A78B-65E01CE2BAB2}"/>
              </a:ext>
            </a:extLst>
          </p:cNvPr>
          <p:cNvSpPr>
            <a:spLocks noGrp="1"/>
          </p:cNvSpPr>
          <p:nvPr/>
        </p:nvSpPr>
        <p:spPr>
          <a:xfrm>
            <a:off x="5760720" y="3675888"/>
            <a:ext cx="2148840" cy="310896"/>
          </a:xfrm>
          <a:prstGeom prst="rect">
            <a:avLst/>
          </a:prstGeom>
          <a:noFill/>
        </p:spPr>
        <p:txBody>
          <a:bodyPr wrap="square" lIns="0" tIns="0" rIns="0" bIns="0" anchor="ctr"/>
          <a:lstStyle/>
          <a:p>
            <a:pPr marL="0" indent="0" algn="ctr">
              <a:buNone/>
            </a:pPr>
            <a:r>
              <a:rPr sz="1900" b="1">
                <a:solidFill>
                  <a:srgbClr val="1F9D8A"/>
                </a:solidFill>
                <a:latin typeface="Noto Sans CJK JP"/>
                <a:ea typeface="Noto Sans CJK JP"/>
                <a:cs typeface="Noto Sans CJK JP"/>
              </a:rPr>
              <a:t>日合計 6,056 kWh</a:t>
            </a:r>
            <a:endParaRPr sz="1900"/>
          </a:p>
        </p:txBody>
      </p:sp>
      <p:sp>
        <p:nvSpPr>
          <p:cNvPr id="25" name="Text 18">
            <a:extLst>
              <a:ext uri="{FF2B5EF4-FFF2-40B4-BE49-F238E27FC236}">
                <a16:creationId xmlns:a16="http://schemas.microsoft.com/office/drawing/2014/main" id="{5EF663B6-7A4C-42C1-B6AD-CD30986EC997}"/>
              </a:ext>
            </a:extLst>
          </p:cNvPr>
          <p:cNvSpPr>
            <a:spLocks noGrp="1"/>
          </p:cNvSpPr>
          <p:nvPr/>
        </p:nvSpPr>
        <p:spPr>
          <a:xfrm>
            <a:off x="5833872" y="4709160"/>
            <a:ext cx="2011680" cy="256032"/>
          </a:xfrm>
          <a:prstGeom prst="rect">
            <a:avLst/>
          </a:prstGeom>
          <a:noFill/>
        </p:spPr>
        <p:txBody>
          <a:bodyPr wrap="square" lIns="0" tIns="0" rIns="0" bIns="0" anchor="ctr"/>
          <a:lstStyle/>
          <a:p>
            <a:pPr marL="0" indent="0" algn="ctr">
              <a:buNone/>
            </a:pPr>
            <a:r>
              <a:rPr sz="1300">
                <a:solidFill>
                  <a:srgbClr val="687386"/>
                </a:solidFill>
                <a:latin typeface="Noto Sans CJK JP"/>
                <a:ea typeface="Noto Sans CJK JP"/>
                <a:cs typeface="Noto Sans CJK JP"/>
              </a:rPr>
              <a:t>平日時刻表は共通</a:t>
            </a:r>
            <a:endParaRPr sz="1300"/>
          </a:p>
        </p:txBody>
      </p:sp>
      <p:sp>
        <p:nvSpPr>
          <p:cNvPr id="26" name="Shape 19">
            <a:extLst>
              <a:ext uri="{FF2B5EF4-FFF2-40B4-BE49-F238E27FC236}">
                <a16:creationId xmlns:a16="http://schemas.microsoft.com/office/drawing/2014/main" id="{D2BD06FB-A974-47AB-911E-6056EDB11750}"/>
              </a:ext>
            </a:extLst>
          </p:cNvPr>
          <p:cNvSpPr>
            <a:spLocks noGrp="1"/>
          </p:cNvSpPr>
          <p:nvPr/>
        </p:nvSpPr>
        <p:spPr>
          <a:xfrm>
            <a:off x="8485632" y="914400"/>
            <a:ext cx="2788920" cy="5349240"/>
          </a:xfrm>
          <a:prstGeom prst="roundRect">
            <a:avLst>
              <a:gd name="adj" fmla="val 2623"/>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7" name="Shape 20">
            <a:extLst>
              <a:ext uri="{FF2B5EF4-FFF2-40B4-BE49-F238E27FC236}">
                <a16:creationId xmlns:a16="http://schemas.microsoft.com/office/drawing/2014/main" id="{44366DAF-A63A-40AA-A91D-F70D2C9E8C6C}"/>
              </a:ext>
            </a:extLst>
          </p:cNvPr>
          <p:cNvSpPr>
            <a:spLocks noGrp="1"/>
          </p:cNvSpPr>
          <p:nvPr/>
        </p:nvSpPr>
        <p:spPr>
          <a:xfrm>
            <a:off x="9125712" y="1188720"/>
            <a:ext cx="1508760" cy="310896"/>
          </a:xfrm>
          <a:prstGeom prst="roundRect">
            <a:avLst/>
          </a:prstGeom>
          <a:solidFill>
            <a:srgbClr val="356BB3"/>
          </a:solidFill>
          <a:ln w="12700">
            <a:solidFill>
              <a:srgbClr val="356BB3"/>
            </a:solidFill>
            <a:prstDash val="solid"/>
          </a:ln>
        </p:spPr>
        <p:txBody>
          <a:bodyPr/>
          <a:lstStyle/>
          <a:p>
            <a:endParaRPr/>
          </a:p>
        </p:txBody>
      </p:sp>
      <p:sp>
        <p:nvSpPr>
          <p:cNvPr id="28" name="Text 21">
            <a:extLst>
              <a:ext uri="{FF2B5EF4-FFF2-40B4-BE49-F238E27FC236}">
                <a16:creationId xmlns:a16="http://schemas.microsoft.com/office/drawing/2014/main" id="{D5467780-8986-42EA-B2C5-196C8646E7C5}"/>
              </a:ext>
            </a:extLst>
          </p:cNvPr>
          <p:cNvSpPr>
            <a:spLocks noGrp="1"/>
          </p:cNvSpPr>
          <p:nvPr/>
        </p:nvSpPr>
        <p:spPr>
          <a:xfrm>
            <a:off x="9171432" y="1207008"/>
            <a:ext cx="141732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pic>
        <p:nvPicPr>
          <p:cNvPr id="69" name="Image 5"/>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91472" y="1865376"/>
            <a:ext cx="749808" cy="749808"/>
          </a:xfrm>
          <a:prstGeom prst="rect">
            <a:avLst/>
          </a:prstGeom>
        </p:spPr>
      </p:pic>
      <p:sp>
        <p:nvSpPr>
          <p:cNvPr id="30" name="Text 22">
            <a:extLst>
              <a:ext uri="{FF2B5EF4-FFF2-40B4-BE49-F238E27FC236}">
                <a16:creationId xmlns:a16="http://schemas.microsoft.com/office/drawing/2014/main" id="{84805115-A23F-4EC1-9C80-561139DCB8BD}"/>
              </a:ext>
            </a:extLst>
          </p:cNvPr>
          <p:cNvSpPr>
            <a:spLocks noGrp="1"/>
          </p:cNvSpPr>
          <p:nvPr/>
        </p:nvSpPr>
        <p:spPr>
          <a:xfrm>
            <a:off x="8851392"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31" name="Text 23">
            <a:extLst>
              <a:ext uri="{FF2B5EF4-FFF2-40B4-BE49-F238E27FC236}">
                <a16:creationId xmlns:a16="http://schemas.microsoft.com/office/drawing/2014/main" id="{1897930D-E48A-463B-B6D7-924341FEFB2C}"/>
              </a:ext>
            </a:extLst>
          </p:cNvPr>
          <p:cNvSpPr>
            <a:spLocks noGrp="1"/>
          </p:cNvSpPr>
          <p:nvPr/>
        </p:nvSpPr>
        <p:spPr>
          <a:xfrm>
            <a:off x="8796528"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2025/08/10由来</a:t>
            </a:r>
            <a:endParaRPr sz="1700"/>
          </a:p>
        </p:txBody>
      </p:sp>
      <p:sp>
        <p:nvSpPr>
          <p:cNvPr id="32" name="Text 24">
            <a:extLst>
              <a:ext uri="{FF2B5EF4-FFF2-40B4-BE49-F238E27FC236}">
                <a16:creationId xmlns:a16="http://schemas.microsoft.com/office/drawing/2014/main" id="{464BC369-F557-4C25-A086-91A262227C7B}"/>
              </a:ext>
            </a:extLst>
          </p:cNvPr>
          <p:cNvSpPr>
            <a:spLocks noGrp="1"/>
          </p:cNvSpPr>
          <p:nvPr/>
        </p:nvSpPr>
        <p:spPr>
          <a:xfrm>
            <a:off x="8814816" y="3675888"/>
            <a:ext cx="2148840" cy="310896"/>
          </a:xfrm>
          <a:prstGeom prst="rect">
            <a:avLst/>
          </a:prstGeom>
          <a:noFill/>
        </p:spPr>
        <p:txBody>
          <a:bodyPr wrap="square" lIns="0" tIns="0" rIns="0" bIns="0" anchor="ctr"/>
          <a:lstStyle/>
          <a:p>
            <a:pPr marL="0" indent="0" algn="ctr">
              <a:buNone/>
            </a:pPr>
            <a:r>
              <a:rPr sz="1900" b="1">
                <a:solidFill>
                  <a:srgbClr val="356BB3"/>
                </a:solidFill>
                <a:latin typeface="Noto Sans CJK JP"/>
                <a:ea typeface="Noto Sans CJK JP"/>
                <a:cs typeface="Noto Sans CJK JP"/>
              </a:rPr>
              <a:t>日合計 996 kWh</a:t>
            </a:r>
            <a:endParaRPr sz="1900"/>
          </a:p>
        </p:txBody>
      </p:sp>
      <p:sp>
        <p:nvSpPr>
          <p:cNvPr id="33" name="Text 25">
            <a:extLst>
              <a:ext uri="{FF2B5EF4-FFF2-40B4-BE49-F238E27FC236}">
                <a16:creationId xmlns:a16="http://schemas.microsoft.com/office/drawing/2014/main" id="{1F4D5A3F-628D-4666-966F-0AB17DF0B33D}"/>
              </a:ext>
            </a:extLst>
          </p:cNvPr>
          <p:cNvSpPr>
            <a:spLocks noGrp="1"/>
          </p:cNvSpPr>
          <p:nvPr/>
        </p:nvSpPr>
        <p:spPr>
          <a:xfrm>
            <a:off x="8705088" y="4645152"/>
            <a:ext cx="2395728" cy="384048"/>
          </a:xfrm>
          <a:prstGeom prst="rect">
            <a:avLst/>
          </a:prstGeom>
          <a:noFill/>
        </p:spPr>
        <p:txBody>
          <a:bodyPr wrap="square" lIns="0" tIns="0" rIns="0" bIns="0" anchor="ctr"/>
          <a:lstStyle/>
          <a:p>
            <a:pPr marL="0" indent="0" algn="ctr">
              <a:buNone/>
            </a:pPr>
            <a:r>
              <a:rPr sz="1250" b="1">
                <a:solidFill>
                  <a:srgbClr val="C94C4C"/>
                </a:solidFill>
                <a:latin typeface="Noto Sans CJK JP"/>
                <a:ea typeface="Noto Sans CJK JP"/>
                <a:cs typeface="Noto Sans CJK JP"/>
              </a:rPr>
              <a:t>実際の日曜運行ではない</a:t>
            </a:r>
            <a:endParaRPr sz="1250"/>
          </a:p>
        </p:txBody>
      </p:sp>
      <p:sp>
        <p:nvSpPr>
          <p:cNvPr id="34" name="Text 26">
            <a:extLst>
              <a:ext uri="{FF2B5EF4-FFF2-40B4-BE49-F238E27FC236}">
                <a16:creationId xmlns:a16="http://schemas.microsoft.com/office/drawing/2014/main" id="{FFEB6D2D-DAAE-4230-B021-555923A0418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dirty="0">
                <a:solidFill>
                  <a:srgbClr val="7B8494"/>
                </a:solidFill>
                <a:latin typeface="Noto Sans CJK JP"/>
                <a:ea typeface="Noto Sans CJK JP"/>
                <a:cs typeface="Noto Sans CJK JP"/>
              </a:rPr>
              <a:t>実験の範囲：一つの営業所・一つの平日時刻表・2種類のPV入力による比較</a:t>
            </a:r>
            <a:endParaRPr sz="720" dirty="0"/>
          </a:p>
        </p:txBody>
      </p:sp>
      <p:sp>
        <p:nvSpPr>
          <p:cNvPr id="41" name="正方形/長方形 40">
            <a:extLst>
              <a:ext uri="{FF2B5EF4-FFF2-40B4-BE49-F238E27FC236}">
                <a16:creationId xmlns:a16="http://schemas.microsoft.com/office/drawing/2014/main" id="{82D83459-46C6-4790-A2C9-B106038E89C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18253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6E1250F-3AE2-4DB5-AD22-E98A2CC7AADC}"/>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研究手法：複数の配車案を作り、充電・電力運用まで確認して選ぶ</a:t>
            </a:r>
            <a:endParaRPr sz="2550"/>
          </a:p>
        </p:txBody>
      </p:sp>
      <p:sp>
        <p:nvSpPr>
          <p:cNvPr id="3" name="Shape 1">
            <a:extLst>
              <a:ext uri="{FF2B5EF4-FFF2-40B4-BE49-F238E27FC236}">
                <a16:creationId xmlns:a16="http://schemas.microsoft.com/office/drawing/2014/main" id="{68D077FB-5624-4A7A-BD74-92A4121552ED}"/>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67C2E81B-7091-44CE-BA81-BFADE016CD0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5D63863C-1828-484D-90A3-0C95C7E8383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5/18</a:t>
            </a:r>
            <a:endParaRPr sz="850"/>
          </a:p>
        </p:txBody>
      </p:sp>
      <p:sp>
        <p:nvSpPr>
          <p:cNvPr id="6" name="Text 4">
            <a:extLst>
              <a:ext uri="{FF2B5EF4-FFF2-40B4-BE49-F238E27FC236}">
                <a16:creationId xmlns:a16="http://schemas.microsoft.com/office/drawing/2014/main" id="{A0D0A03F-4BBB-4EB6-9E96-F59E204FD9F5}"/>
              </a:ext>
            </a:extLst>
          </p:cNvPr>
          <p:cNvSpPr>
            <a:spLocks noGrp="1"/>
          </p:cNvSpPr>
          <p:nvPr/>
        </p:nvSpPr>
        <p:spPr>
          <a:xfrm>
            <a:off x="731520" y="877824"/>
            <a:ext cx="10789920" cy="320040"/>
          </a:xfrm>
          <a:prstGeom prst="rect">
            <a:avLst/>
          </a:prstGeom>
          <a:noFill/>
        </p:spPr>
        <p:txBody>
          <a:bodyPr wrap="square" lIns="0" tIns="0" rIns="0" bIns="0" anchor="ctr"/>
          <a:lstStyle/>
          <a:p>
            <a:pPr marL="0" indent="0" algn="ctr">
              <a:buNone/>
            </a:pPr>
            <a:r>
              <a:rPr sz="1800" dirty="0">
                <a:solidFill>
                  <a:srgbClr val="687386"/>
                </a:solidFill>
                <a:latin typeface="Noto Sans CJK JP"/>
                <a:ea typeface="Noto Sans CJK JP"/>
                <a:cs typeface="Noto Sans CJK JP"/>
              </a:rPr>
              <a:t>次の5段階の処理を行っている。</a:t>
            </a:r>
            <a:endParaRPr sz="1800" dirty="0"/>
          </a:p>
        </p:txBody>
      </p:sp>
      <p:sp>
        <p:nvSpPr>
          <p:cNvPr id="7" name="Shape 5">
            <a:extLst>
              <a:ext uri="{FF2B5EF4-FFF2-40B4-BE49-F238E27FC236}">
                <a16:creationId xmlns:a16="http://schemas.microsoft.com/office/drawing/2014/main" id="{DE222A30-B4EA-4287-89ED-A3490F20EBCC}"/>
              </a:ext>
            </a:extLst>
          </p:cNvPr>
          <p:cNvSpPr>
            <a:spLocks noGrp="1"/>
          </p:cNvSpPr>
          <p:nvPr/>
        </p:nvSpPr>
        <p:spPr>
          <a:xfrm>
            <a:off x="50292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5"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0432" y="1810512"/>
            <a:ext cx="640080" cy="640080"/>
          </a:xfrm>
          <a:prstGeom prst="rect">
            <a:avLst/>
          </a:prstGeom>
        </p:spPr>
      </p:pic>
      <p:sp>
        <p:nvSpPr>
          <p:cNvPr id="9" name="Text 6">
            <a:extLst>
              <a:ext uri="{FF2B5EF4-FFF2-40B4-BE49-F238E27FC236}">
                <a16:creationId xmlns:a16="http://schemas.microsoft.com/office/drawing/2014/main" id="{CBFBE497-9383-4ED9-8FAA-B4CAB3A03170}"/>
              </a:ext>
            </a:extLst>
          </p:cNvPr>
          <p:cNvSpPr>
            <a:spLocks noGrp="1"/>
          </p:cNvSpPr>
          <p:nvPr/>
        </p:nvSpPr>
        <p:spPr>
          <a:xfrm>
            <a:off x="475488"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① </a:t>
            </a:r>
            <a:r>
              <a:rPr sz="1750" b="1" dirty="0" err="1">
                <a:solidFill>
                  <a:srgbClr val="172033"/>
                </a:solidFill>
                <a:latin typeface="Noto Sans CJK JP"/>
                <a:ea typeface="Noto Sans CJK JP"/>
                <a:cs typeface="Noto Sans CJK JP"/>
              </a:rPr>
              <a:t>入力を読み込む</a:t>
            </a:r>
            <a:endParaRPr sz="1750" dirty="0"/>
          </a:p>
        </p:txBody>
      </p:sp>
      <p:sp>
        <p:nvSpPr>
          <p:cNvPr id="10" name="Text 7">
            <a:extLst>
              <a:ext uri="{FF2B5EF4-FFF2-40B4-BE49-F238E27FC236}">
                <a16:creationId xmlns:a16="http://schemas.microsoft.com/office/drawing/2014/main" id="{82D4DA3E-1CF1-4819-BCF8-B9FEEEC375AB}"/>
              </a:ext>
            </a:extLst>
          </p:cNvPr>
          <p:cNvSpPr>
            <a:spLocks noGrp="1"/>
          </p:cNvSpPr>
          <p:nvPr/>
        </p:nvSpPr>
        <p:spPr>
          <a:xfrm>
            <a:off x="66751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時刻表・車両・充電器・</a:t>
            </a:r>
            <a:endParaRPr sz="1420"/>
          </a:p>
          <a:p>
            <a:pPr marL="0" indent="0" algn="ctr">
              <a:buNone/>
            </a:pPr>
            <a:r>
              <a:rPr sz="1420">
                <a:solidFill>
                  <a:srgbClr val="687386"/>
                </a:solidFill>
                <a:latin typeface="Noto Sans CJK JP"/>
                <a:ea typeface="Noto Sans CJK JP"/>
                <a:cs typeface="Noto Sans CJK JP"/>
              </a:rPr>
              <a:t>PV・蓄電池</a:t>
            </a:r>
            <a:endParaRPr sz="1420"/>
          </a:p>
        </p:txBody>
      </p:sp>
      <p:sp>
        <p:nvSpPr>
          <p:cNvPr id="11" name="Shape 8">
            <a:extLst>
              <a:ext uri="{FF2B5EF4-FFF2-40B4-BE49-F238E27FC236}">
                <a16:creationId xmlns:a16="http://schemas.microsoft.com/office/drawing/2014/main" id="{893E8F1E-A820-4F10-8062-F3661A309E73}"/>
              </a:ext>
            </a:extLst>
          </p:cNvPr>
          <p:cNvSpPr>
            <a:spLocks noGrp="1"/>
          </p:cNvSpPr>
          <p:nvPr/>
        </p:nvSpPr>
        <p:spPr>
          <a:xfrm>
            <a:off x="2478024" y="2852928"/>
            <a:ext cx="320040" cy="347472"/>
          </a:xfrm>
          <a:prstGeom prst="chevron">
            <a:avLst/>
          </a:prstGeom>
          <a:solidFill>
            <a:srgbClr val="A5AFBD"/>
          </a:solidFill>
          <a:ln w="12700">
            <a:solidFill>
              <a:srgbClr val="A5AFBD"/>
            </a:solidFill>
            <a:prstDash val="solid"/>
          </a:ln>
        </p:spPr>
        <p:txBody>
          <a:bodyPr/>
          <a:lstStyle/>
          <a:p>
            <a:endParaRPr/>
          </a:p>
        </p:txBody>
      </p:sp>
      <p:sp>
        <p:nvSpPr>
          <p:cNvPr id="12" name="Shape 9">
            <a:extLst>
              <a:ext uri="{FF2B5EF4-FFF2-40B4-BE49-F238E27FC236}">
                <a16:creationId xmlns:a16="http://schemas.microsoft.com/office/drawing/2014/main" id="{D3E14541-C704-4973-8F15-AC3E9EDDD341}"/>
              </a:ext>
            </a:extLst>
          </p:cNvPr>
          <p:cNvSpPr>
            <a:spLocks noGrp="1"/>
          </p:cNvSpPr>
          <p:nvPr/>
        </p:nvSpPr>
        <p:spPr>
          <a:xfrm>
            <a:off x="283464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152" y="1810512"/>
            <a:ext cx="640080" cy="640080"/>
          </a:xfrm>
          <a:prstGeom prst="rect">
            <a:avLst/>
          </a:prstGeom>
        </p:spPr>
      </p:pic>
      <p:sp>
        <p:nvSpPr>
          <p:cNvPr id="14" name="Text 10">
            <a:extLst>
              <a:ext uri="{FF2B5EF4-FFF2-40B4-BE49-F238E27FC236}">
                <a16:creationId xmlns:a16="http://schemas.microsoft.com/office/drawing/2014/main" id="{07DF305E-79E9-48E0-9A88-79C696D0BCB4}"/>
              </a:ext>
            </a:extLst>
          </p:cNvPr>
          <p:cNvSpPr>
            <a:spLocks noGrp="1"/>
          </p:cNvSpPr>
          <p:nvPr/>
        </p:nvSpPr>
        <p:spPr>
          <a:xfrm>
            <a:off x="2807208" y="2587752"/>
            <a:ext cx="182880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② </a:t>
            </a:r>
            <a:r>
              <a:rPr sz="1750" b="1" dirty="0" err="1">
                <a:solidFill>
                  <a:srgbClr val="172033"/>
                </a:solidFill>
                <a:latin typeface="Noto Sans CJK JP"/>
                <a:ea typeface="Noto Sans CJK JP"/>
                <a:cs typeface="Noto Sans CJK JP"/>
              </a:rPr>
              <a:t>配車案を作る</a:t>
            </a:r>
            <a:endParaRPr sz="1750" dirty="0"/>
          </a:p>
        </p:txBody>
      </p:sp>
      <p:sp>
        <p:nvSpPr>
          <p:cNvPr id="15" name="Text 11">
            <a:extLst>
              <a:ext uri="{FF2B5EF4-FFF2-40B4-BE49-F238E27FC236}">
                <a16:creationId xmlns:a16="http://schemas.microsoft.com/office/drawing/2014/main" id="{E782BD54-D61A-4B98-8C9B-ADB25B8DECDF}"/>
              </a:ext>
            </a:extLst>
          </p:cNvPr>
          <p:cNvSpPr>
            <a:spLocks noGrp="1"/>
          </p:cNvSpPr>
          <p:nvPr/>
        </p:nvSpPr>
        <p:spPr>
          <a:xfrm>
            <a:off x="299923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BEV／ICEの担当を</a:t>
            </a:r>
            <a:endParaRPr sz="1420"/>
          </a:p>
          <a:p>
            <a:pPr marL="0" indent="0" algn="ctr">
              <a:buNone/>
            </a:pPr>
            <a:r>
              <a:rPr sz="1420">
                <a:solidFill>
                  <a:srgbClr val="687386"/>
                </a:solidFill>
                <a:latin typeface="Noto Sans CJK JP"/>
                <a:ea typeface="Noto Sans CJK JP"/>
                <a:cs typeface="Noto Sans CJK JP"/>
              </a:rPr>
              <a:t>複数案つくる</a:t>
            </a:r>
            <a:endParaRPr sz="1420"/>
          </a:p>
        </p:txBody>
      </p:sp>
      <p:sp>
        <p:nvSpPr>
          <p:cNvPr id="16" name="Shape 12">
            <a:extLst>
              <a:ext uri="{FF2B5EF4-FFF2-40B4-BE49-F238E27FC236}">
                <a16:creationId xmlns:a16="http://schemas.microsoft.com/office/drawing/2014/main" id="{0E96F4F2-563B-4539-9B14-42FB5D8F0128}"/>
              </a:ext>
            </a:extLst>
          </p:cNvPr>
          <p:cNvSpPr>
            <a:spLocks noGrp="1"/>
          </p:cNvSpPr>
          <p:nvPr/>
        </p:nvSpPr>
        <p:spPr>
          <a:xfrm>
            <a:off x="4809744" y="2852928"/>
            <a:ext cx="320040" cy="347472"/>
          </a:xfrm>
          <a:prstGeom prst="chevron">
            <a:avLst/>
          </a:prstGeom>
          <a:solidFill>
            <a:srgbClr val="A5AFBD"/>
          </a:solidFill>
          <a:ln w="12700">
            <a:solidFill>
              <a:srgbClr val="A5AFBD"/>
            </a:solidFill>
            <a:prstDash val="solid"/>
          </a:ln>
        </p:spPr>
        <p:txBody>
          <a:bodyPr/>
          <a:lstStyle/>
          <a:p>
            <a:endParaRPr/>
          </a:p>
        </p:txBody>
      </p:sp>
      <p:sp>
        <p:nvSpPr>
          <p:cNvPr id="17" name="Shape 13">
            <a:extLst>
              <a:ext uri="{FF2B5EF4-FFF2-40B4-BE49-F238E27FC236}">
                <a16:creationId xmlns:a16="http://schemas.microsoft.com/office/drawing/2014/main" id="{1184E149-7433-4E2C-8842-8B3D3F0775B8}"/>
              </a:ext>
            </a:extLst>
          </p:cNvPr>
          <p:cNvSpPr>
            <a:spLocks noGrp="1"/>
          </p:cNvSpPr>
          <p:nvPr/>
        </p:nvSpPr>
        <p:spPr>
          <a:xfrm>
            <a:off x="516636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5"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3872" y="1810512"/>
            <a:ext cx="640080" cy="640080"/>
          </a:xfrm>
          <a:prstGeom prst="rect">
            <a:avLst/>
          </a:prstGeom>
        </p:spPr>
      </p:pic>
      <p:sp>
        <p:nvSpPr>
          <p:cNvPr id="19" name="Text 14">
            <a:extLst>
              <a:ext uri="{FF2B5EF4-FFF2-40B4-BE49-F238E27FC236}">
                <a16:creationId xmlns:a16="http://schemas.microsoft.com/office/drawing/2014/main" id="{B8BFB8BB-1AA3-43BD-80D7-1FF7EFDAB1A7}"/>
              </a:ext>
            </a:extLst>
          </p:cNvPr>
          <p:cNvSpPr>
            <a:spLocks noGrp="1"/>
          </p:cNvSpPr>
          <p:nvPr/>
        </p:nvSpPr>
        <p:spPr>
          <a:xfrm>
            <a:off x="5157216"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③ </a:t>
            </a:r>
            <a:r>
              <a:rPr sz="1750" b="1" dirty="0" err="1">
                <a:solidFill>
                  <a:srgbClr val="172033"/>
                </a:solidFill>
                <a:latin typeface="Noto Sans CJK JP"/>
                <a:ea typeface="Noto Sans CJK JP"/>
                <a:cs typeface="Noto Sans CJK JP"/>
              </a:rPr>
              <a:t>電力を調整する</a:t>
            </a:r>
            <a:endParaRPr sz="1750" dirty="0"/>
          </a:p>
        </p:txBody>
      </p:sp>
      <p:sp>
        <p:nvSpPr>
          <p:cNvPr id="20" name="Text 15">
            <a:extLst>
              <a:ext uri="{FF2B5EF4-FFF2-40B4-BE49-F238E27FC236}">
                <a16:creationId xmlns:a16="http://schemas.microsoft.com/office/drawing/2014/main" id="{9DB29B0C-F96F-456A-B5CB-6BD5421D7564}"/>
              </a:ext>
            </a:extLst>
          </p:cNvPr>
          <p:cNvSpPr>
            <a:spLocks noGrp="1"/>
          </p:cNvSpPr>
          <p:nvPr/>
        </p:nvSpPr>
        <p:spPr>
          <a:xfrm>
            <a:off x="533095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各案について充電・</a:t>
            </a:r>
            <a:endParaRPr sz="1420"/>
          </a:p>
          <a:p>
            <a:pPr marL="0" indent="0" algn="ctr">
              <a:buNone/>
            </a:pPr>
            <a:r>
              <a:rPr sz="1420">
                <a:solidFill>
                  <a:srgbClr val="687386"/>
                </a:solidFill>
                <a:latin typeface="Noto Sans CJK JP"/>
                <a:ea typeface="Noto Sans CJK JP"/>
                <a:cs typeface="Noto Sans CJK JP"/>
              </a:rPr>
              <a:t>PV・BESSを調整</a:t>
            </a:r>
            <a:endParaRPr sz="1420"/>
          </a:p>
        </p:txBody>
      </p:sp>
      <p:sp>
        <p:nvSpPr>
          <p:cNvPr id="21" name="Shape 16">
            <a:extLst>
              <a:ext uri="{FF2B5EF4-FFF2-40B4-BE49-F238E27FC236}">
                <a16:creationId xmlns:a16="http://schemas.microsoft.com/office/drawing/2014/main" id="{F70EF973-21D1-4987-B02F-D1D7F7E87AF0}"/>
              </a:ext>
            </a:extLst>
          </p:cNvPr>
          <p:cNvSpPr>
            <a:spLocks noGrp="1"/>
          </p:cNvSpPr>
          <p:nvPr/>
        </p:nvSpPr>
        <p:spPr>
          <a:xfrm>
            <a:off x="7141464" y="2852928"/>
            <a:ext cx="320040" cy="347472"/>
          </a:xfrm>
          <a:prstGeom prst="chevron">
            <a:avLst/>
          </a:prstGeom>
          <a:solidFill>
            <a:srgbClr val="A5AFBD"/>
          </a:solidFill>
          <a:ln w="12700">
            <a:solidFill>
              <a:srgbClr val="A5AFBD"/>
            </a:solidFill>
            <a:prstDash val="solid"/>
          </a:ln>
        </p:spPr>
        <p:txBody>
          <a:bodyPr/>
          <a:lstStyle/>
          <a:p>
            <a:endParaRPr/>
          </a:p>
        </p:txBody>
      </p:sp>
      <p:sp>
        <p:nvSpPr>
          <p:cNvPr id="22" name="Shape 17">
            <a:extLst>
              <a:ext uri="{FF2B5EF4-FFF2-40B4-BE49-F238E27FC236}">
                <a16:creationId xmlns:a16="http://schemas.microsoft.com/office/drawing/2014/main" id="{3765C56C-43CD-4F1E-877F-37390AACF980}"/>
              </a:ext>
            </a:extLst>
          </p:cNvPr>
          <p:cNvSpPr>
            <a:spLocks noGrp="1"/>
          </p:cNvSpPr>
          <p:nvPr/>
        </p:nvSpPr>
        <p:spPr>
          <a:xfrm>
            <a:off x="749808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0"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65592" y="1810512"/>
            <a:ext cx="640080" cy="640080"/>
          </a:xfrm>
          <a:prstGeom prst="rect">
            <a:avLst/>
          </a:prstGeom>
        </p:spPr>
      </p:pic>
      <p:sp>
        <p:nvSpPr>
          <p:cNvPr id="24" name="Text 18">
            <a:extLst>
              <a:ext uri="{FF2B5EF4-FFF2-40B4-BE49-F238E27FC236}">
                <a16:creationId xmlns:a16="http://schemas.microsoft.com/office/drawing/2014/main" id="{68D7EC75-2AB9-4972-AFEE-552ED5E630D9}"/>
              </a:ext>
            </a:extLst>
          </p:cNvPr>
          <p:cNvSpPr>
            <a:spLocks noGrp="1"/>
          </p:cNvSpPr>
          <p:nvPr/>
        </p:nvSpPr>
        <p:spPr>
          <a:xfrm>
            <a:off x="7351776" y="2596896"/>
            <a:ext cx="2295144"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④ 1時間ごとに見直す</a:t>
            </a:r>
            <a:endParaRPr sz="1750" dirty="0"/>
          </a:p>
        </p:txBody>
      </p:sp>
      <p:sp>
        <p:nvSpPr>
          <p:cNvPr id="25" name="Text 19">
            <a:extLst>
              <a:ext uri="{FF2B5EF4-FFF2-40B4-BE49-F238E27FC236}">
                <a16:creationId xmlns:a16="http://schemas.microsoft.com/office/drawing/2014/main" id="{5EEDEFFC-3353-4A6C-A790-1049A3782203}"/>
              </a:ext>
            </a:extLst>
          </p:cNvPr>
          <p:cNvSpPr>
            <a:spLocks noGrp="1"/>
          </p:cNvSpPr>
          <p:nvPr/>
        </p:nvSpPr>
        <p:spPr>
          <a:xfrm>
            <a:off x="766267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実際に進む時間に合わせて</a:t>
            </a:r>
            <a:endParaRPr sz="1420"/>
          </a:p>
          <a:p>
            <a:pPr marL="0" indent="0" algn="ctr">
              <a:buNone/>
            </a:pPr>
            <a:r>
              <a:rPr sz="1420">
                <a:solidFill>
                  <a:srgbClr val="687386"/>
                </a:solidFill>
                <a:latin typeface="Noto Sans CJK JP"/>
                <a:ea typeface="Noto Sans CJK JP"/>
                <a:cs typeface="Noto Sans CJK JP"/>
              </a:rPr>
              <a:t>残りの運用を再計算</a:t>
            </a:r>
            <a:endParaRPr sz="1420"/>
          </a:p>
        </p:txBody>
      </p:sp>
      <p:sp>
        <p:nvSpPr>
          <p:cNvPr id="26" name="Shape 20">
            <a:extLst>
              <a:ext uri="{FF2B5EF4-FFF2-40B4-BE49-F238E27FC236}">
                <a16:creationId xmlns:a16="http://schemas.microsoft.com/office/drawing/2014/main" id="{A1F98B22-9B4E-455F-BE78-43982C44EB08}"/>
              </a:ext>
            </a:extLst>
          </p:cNvPr>
          <p:cNvSpPr>
            <a:spLocks noGrp="1"/>
          </p:cNvSpPr>
          <p:nvPr/>
        </p:nvSpPr>
        <p:spPr>
          <a:xfrm>
            <a:off x="9473184" y="2852928"/>
            <a:ext cx="320040" cy="347472"/>
          </a:xfrm>
          <a:prstGeom prst="chevron">
            <a:avLst/>
          </a:prstGeom>
          <a:solidFill>
            <a:srgbClr val="A5AFBD"/>
          </a:solidFill>
          <a:ln w="12700">
            <a:solidFill>
              <a:srgbClr val="A5AFBD"/>
            </a:solidFill>
            <a:prstDash val="solid"/>
          </a:ln>
        </p:spPr>
        <p:txBody>
          <a:bodyPr/>
          <a:lstStyle/>
          <a:p>
            <a:endParaRPr/>
          </a:p>
        </p:txBody>
      </p:sp>
      <p:sp>
        <p:nvSpPr>
          <p:cNvPr id="27" name="Shape 21">
            <a:extLst>
              <a:ext uri="{FF2B5EF4-FFF2-40B4-BE49-F238E27FC236}">
                <a16:creationId xmlns:a16="http://schemas.microsoft.com/office/drawing/2014/main" id="{B57AC011-16CF-45D9-AF7D-2F441D409353}"/>
              </a:ext>
            </a:extLst>
          </p:cNvPr>
          <p:cNvSpPr>
            <a:spLocks noGrp="1"/>
          </p:cNvSpPr>
          <p:nvPr/>
        </p:nvSpPr>
        <p:spPr>
          <a:xfrm>
            <a:off x="982980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5"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97312" y="1810512"/>
            <a:ext cx="640080" cy="640080"/>
          </a:xfrm>
          <a:prstGeom prst="rect">
            <a:avLst/>
          </a:prstGeom>
        </p:spPr>
      </p:pic>
      <p:sp>
        <p:nvSpPr>
          <p:cNvPr id="29" name="Text 22">
            <a:extLst>
              <a:ext uri="{FF2B5EF4-FFF2-40B4-BE49-F238E27FC236}">
                <a16:creationId xmlns:a16="http://schemas.microsoft.com/office/drawing/2014/main" id="{3B490B42-C1FC-4175-9175-FAC20D99A7B4}"/>
              </a:ext>
            </a:extLst>
          </p:cNvPr>
          <p:cNvSpPr>
            <a:spLocks noGrp="1"/>
          </p:cNvSpPr>
          <p:nvPr/>
        </p:nvSpPr>
        <p:spPr>
          <a:xfrm>
            <a:off x="9846895" y="2587752"/>
            <a:ext cx="1917192"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⑤ </a:t>
            </a:r>
            <a:r>
              <a:rPr sz="1750" b="1" dirty="0" err="1">
                <a:solidFill>
                  <a:srgbClr val="172033"/>
                </a:solidFill>
                <a:latin typeface="Noto Sans CJK JP"/>
                <a:ea typeface="Noto Sans CJK JP"/>
                <a:cs typeface="Noto Sans CJK JP"/>
              </a:rPr>
              <a:t>結果を検算する</a:t>
            </a:r>
            <a:endParaRPr sz="1750" dirty="0"/>
          </a:p>
        </p:txBody>
      </p:sp>
      <p:sp>
        <p:nvSpPr>
          <p:cNvPr id="30" name="Text 23">
            <a:extLst>
              <a:ext uri="{FF2B5EF4-FFF2-40B4-BE49-F238E27FC236}">
                <a16:creationId xmlns:a16="http://schemas.microsoft.com/office/drawing/2014/main" id="{66D980DD-F971-4116-A346-8E56266EDDDE}"/>
              </a:ext>
            </a:extLst>
          </p:cNvPr>
          <p:cNvSpPr>
            <a:spLocks noGrp="1"/>
          </p:cNvSpPr>
          <p:nvPr/>
        </p:nvSpPr>
        <p:spPr>
          <a:xfrm>
            <a:off x="999439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全便・SOC・電力・費用が</a:t>
            </a:r>
            <a:endParaRPr sz="1420"/>
          </a:p>
          <a:p>
            <a:pPr marL="0" indent="0" algn="ctr">
              <a:buNone/>
            </a:pPr>
            <a:r>
              <a:rPr sz="1420">
                <a:solidFill>
                  <a:srgbClr val="687386"/>
                </a:solidFill>
                <a:latin typeface="Noto Sans CJK JP"/>
                <a:ea typeface="Noto Sans CJK JP"/>
                <a:cs typeface="Noto Sans CJK JP"/>
              </a:rPr>
              <a:t>矛盾していないか確認</a:t>
            </a:r>
            <a:endParaRPr sz="1420"/>
          </a:p>
        </p:txBody>
      </p:sp>
      <p:sp>
        <p:nvSpPr>
          <p:cNvPr id="31" name="Shape 24">
            <a:extLst>
              <a:ext uri="{FF2B5EF4-FFF2-40B4-BE49-F238E27FC236}">
                <a16:creationId xmlns:a16="http://schemas.microsoft.com/office/drawing/2014/main" id="{C9329E0E-C103-44B2-8C60-9F4B325B917C}"/>
              </a:ext>
            </a:extLst>
          </p:cNvPr>
          <p:cNvSpPr>
            <a:spLocks noGrp="1"/>
          </p:cNvSpPr>
          <p:nvPr/>
        </p:nvSpPr>
        <p:spPr>
          <a:xfrm>
            <a:off x="1143000" y="5257800"/>
            <a:ext cx="9875520" cy="658368"/>
          </a:xfrm>
          <a:prstGeom prst="roundRect">
            <a:avLst/>
          </a:prstGeom>
          <a:solidFill>
            <a:srgbClr val="EAF2FB"/>
          </a:solidFill>
          <a:ln w="12700">
            <a:solidFill>
              <a:srgbClr val="356BB3"/>
            </a:solidFill>
            <a:prstDash val="solid"/>
          </a:ln>
        </p:spPr>
        <p:txBody>
          <a:bodyPr/>
          <a:lstStyle/>
          <a:p>
            <a:endParaRPr/>
          </a:p>
        </p:txBody>
      </p:sp>
      <p:sp>
        <p:nvSpPr>
          <p:cNvPr id="32" name="Text 25">
            <a:extLst>
              <a:ext uri="{FF2B5EF4-FFF2-40B4-BE49-F238E27FC236}">
                <a16:creationId xmlns:a16="http://schemas.microsoft.com/office/drawing/2014/main" id="{A63F3BFE-B5B6-49BD-91B9-028F97A4CADB}"/>
              </a:ext>
            </a:extLst>
          </p:cNvPr>
          <p:cNvSpPr>
            <a:spLocks noGrp="1"/>
          </p:cNvSpPr>
          <p:nvPr/>
        </p:nvSpPr>
        <p:spPr>
          <a:xfrm>
            <a:off x="1417320" y="5431536"/>
            <a:ext cx="9326880" cy="310896"/>
          </a:xfrm>
          <a:prstGeom prst="rect">
            <a:avLst/>
          </a:prstGeom>
          <a:noFill/>
        </p:spPr>
        <p:txBody>
          <a:bodyPr wrap="square" lIns="0" tIns="0" rIns="0" bIns="0" anchor="ctr"/>
          <a:lstStyle/>
          <a:p>
            <a:pPr marL="0" indent="0" algn="ctr">
              <a:buNone/>
            </a:pPr>
            <a:r>
              <a:rPr sz="1800" b="1">
                <a:solidFill>
                  <a:srgbClr val="1F2A5A"/>
                </a:solidFill>
                <a:latin typeface="Noto Sans CJK JP"/>
                <a:ea typeface="Noto Sans CJK JP"/>
                <a:cs typeface="Noto Sans CJK JP"/>
              </a:rPr>
              <a:t>ここでいう「最適化」＝ 条件を守りながら、より良い組合せをコンピュータで探す処理</a:t>
            </a:r>
            <a:endParaRPr sz="1800"/>
          </a:p>
        </p:txBody>
      </p:sp>
      <p:sp>
        <p:nvSpPr>
          <p:cNvPr id="38" name="正方形/長方形 37">
            <a:extLst>
              <a:ext uri="{FF2B5EF4-FFF2-40B4-BE49-F238E27FC236}">
                <a16:creationId xmlns:a16="http://schemas.microsoft.com/office/drawing/2014/main" id="{2727D209-69BC-4CEF-99D3-0086835A653A}"/>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3733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E749435-89E4-4FC2-988F-B7B5FD2F116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設定パラメータ①：運行・車両・営業所設備</a:t>
            </a:r>
            <a:endParaRPr sz="2550"/>
          </a:p>
        </p:txBody>
      </p:sp>
      <p:sp>
        <p:nvSpPr>
          <p:cNvPr id="3" name="Shape 1">
            <a:extLst>
              <a:ext uri="{FF2B5EF4-FFF2-40B4-BE49-F238E27FC236}">
                <a16:creationId xmlns:a16="http://schemas.microsoft.com/office/drawing/2014/main" id="{E1DF6668-FA55-4E29-8531-DA2EAF3BB5A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F8E3481-74AB-46E5-B3B1-A04423C1DA7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05A4F731-E03F-4228-9C53-98BD39B5B6B5}"/>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6/18</a:t>
            </a:r>
            <a:endParaRPr sz="850"/>
          </a:p>
        </p:txBody>
      </p:sp>
      <p:sp>
        <p:nvSpPr>
          <p:cNvPr id="6" name="Text 4">
            <a:extLst>
              <a:ext uri="{FF2B5EF4-FFF2-40B4-BE49-F238E27FC236}">
                <a16:creationId xmlns:a16="http://schemas.microsoft.com/office/drawing/2014/main" id="{44B1C782-98B0-4F58-A814-878D13D7FA38}"/>
              </a:ext>
            </a:extLst>
          </p:cNvPr>
          <p:cNvSpPr>
            <a:spLocks noGrp="1"/>
          </p:cNvSpPr>
          <p:nvPr/>
        </p:nvSpPr>
        <p:spPr>
          <a:xfrm>
            <a:off x="685800" y="841248"/>
            <a:ext cx="10835640" cy="310896"/>
          </a:xfrm>
          <a:prstGeom prst="rect">
            <a:avLst/>
          </a:prstGeom>
          <a:noFill/>
        </p:spPr>
        <p:txBody>
          <a:bodyPr wrap="square" lIns="0" tIns="0" rIns="0" bIns="0" anchor="ctr"/>
          <a:lstStyle/>
          <a:p>
            <a:pPr marL="0" indent="0" algn="ctr">
              <a:buNone/>
            </a:pPr>
            <a:r>
              <a:rPr sz="1700">
                <a:solidFill>
                  <a:srgbClr val="687386"/>
                </a:solidFill>
                <a:latin typeface="Noto Sans CJK JP"/>
                <a:ea typeface="Noto Sans CJK JP"/>
                <a:cs typeface="Noto Sans CJK JP"/>
              </a:rPr>
              <a:t>先行研究と同様に、結果へ影響する前提条件を表として明示する。</a:t>
            </a:r>
            <a:endParaRPr sz="1700"/>
          </a:p>
        </p:txBody>
      </p:sp>
      <p:sp>
        <p:nvSpPr>
          <p:cNvPr id="7" name="Shape 5">
            <a:extLst>
              <a:ext uri="{FF2B5EF4-FFF2-40B4-BE49-F238E27FC236}">
                <a16:creationId xmlns:a16="http://schemas.microsoft.com/office/drawing/2014/main" id="{7464A3A4-6DBF-4089-A041-5EF4D00E6CA0}"/>
              </a:ext>
            </a:extLst>
          </p:cNvPr>
          <p:cNvSpPr>
            <a:spLocks noGrp="1"/>
          </p:cNvSpPr>
          <p:nvPr/>
        </p:nvSpPr>
        <p:spPr>
          <a:xfrm>
            <a:off x="621792"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8" name="Shape 6">
            <a:extLst>
              <a:ext uri="{FF2B5EF4-FFF2-40B4-BE49-F238E27FC236}">
                <a16:creationId xmlns:a16="http://schemas.microsoft.com/office/drawing/2014/main" id="{92C9ABF5-EFAD-4E38-BD1D-8BE17058CAD7}"/>
              </a:ext>
            </a:extLst>
          </p:cNvPr>
          <p:cNvSpPr>
            <a:spLocks noGrp="1"/>
          </p:cNvSpPr>
          <p:nvPr/>
        </p:nvSpPr>
        <p:spPr>
          <a:xfrm>
            <a:off x="621792" y="1234440"/>
            <a:ext cx="3611880" cy="438912"/>
          </a:xfrm>
          <a:prstGeom prst="rect">
            <a:avLst/>
          </a:prstGeom>
          <a:solidFill>
            <a:srgbClr val="1F2A5A"/>
          </a:solidFill>
          <a:ln w="12700">
            <a:solidFill>
              <a:srgbClr val="1F2A5A"/>
            </a:solidFill>
            <a:prstDash val="solid"/>
          </a:ln>
        </p:spPr>
        <p:txBody>
          <a:bodyPr/>
          <a:lstStyle/>
          <a:p>
            <a:endParaRPr/>
          </a:p>
        </p:txBody>
      </p:sp>
      <p:sp>
        <p:nvSpPr>
          <p:cNvPr id="9" name="Text 7">
            <a:extLst>
              <a:ext uri="{FF2B5EF4-FFF2-40B4-BE49-F238E27FC236}">
                <a16:creationId xmlns:a16="http://schemas.microsoft.com/office/drawing/2014/main" id="{E091ED2F-DE15-42F5-8E1D-A23E439935B9}"/>
              </a:ext>
            </a:extLst>
          </p:cNvPr>
          <p:cNvSpPr>
            <a:spLocks noGrp="1"/>
          </p:cNvSpPr>
          <p:nvPr/>
        </p:nvSpPr>
        <p:spPr>
          <a:xfrm>
            <a:off x="731520"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運行条件</a:t>
            </a:r>
            <a:endParaRPr sz="1650"/>
          </a:p>
        </p:txBody>
      </p:sp>
      <p:sp>
        <p:nvSpPr>
          <p:cNvPr id="10" name="Shape 8">
            <a:extLst>
              <a:ext uri="{FF2B5EF4-FFF2-40B4-BE49-F238E27FC236}">
                <a16:creationId xmlns:a16="http://schemas.microsoft.com/office/drawing/2014/main" id="{DC27B73D-C73E-4CBC-8105-D07DCF283B3C}"/>
              </a:ext>
            </a:extLst>
          </p:cNvPr>
          <p:cNvSpPr>
            <a:spLocks noGrp="1"/>
          </p:cNvSpPr>
          <p:nvPr/>
        </p:nvSpPr>
        <p:spPr>
          <a:xfrm>
            <a:off x="694944" y="1764792"/>
            <a:ext cx="3465576" cy="502920"/>
          </a:xfrm>
          <a:prstGeom prst="rect">
            <a:avLst/>
          </a:prstGeom>
          <a:solidFill>
            <a:srgbClr val="F8FAFC"/>
          </a:solidFill>
          <a:ln w="12700">
            <a:solidFill>
              <a:srgbClr val="F8FAFC"/>
            </a:solidFill>
            <a:prstDash val="solid"/>
          </a:ln>
        </p:spPr>
        <p:txBody>
          <a:bodyPr/>
          <a:lstStyle/>
          <a:p>
            <a:endParaRPr/>
          </a:p>
        </p:txBody>
      </p:sp>
      <p:sp>
        <p:nvSpPr>
          <p:cNvPr id="11" name="Text 9">
            <a:extLst>
              <a:ext uri="{FF2B5EF4-FFF2-40B4-BE49-F238E27FC236}">
                <a16:creationId xmlns:a16="http://schemas.microsoft.com/office/drawing/2014/main" id="{37491B82-CD1D-4812-B150-91216DA2A166}"/>
              </a:ext>
            </a:extLst>
          </p:cNvPr>
          <p:cNvSpPr>
            <a:spLocks noGrp="1"/>
          </p:cNvSpPr>
          <p:nvPr/>
        </p:nvSpPr>
        <p:spPr>
          <a:xfrm>
            <a:off x="777240"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対象営業所</a:t>
            </a:r>
            <a:endParaRPr sz="1230"/>
          </a:p>
        </p:txBody>
      </p:sp>
      <p:sp>
        <p:nvSpPr>
          <p:cNvPr id="12" name="Text 10">
            <a:extLst>
              <a:ext uri="{FF2B5EF4-FFF2-40B4-BE49-F238E27FC236}">
                <a16:creationId xmlns:a16="http://schemas.microsoft.com/office/drawing/2014/main" id="{9BDBDBBD-EF4F-4C50-9D90-3E917C40F12D}"/>
              </a:ext>
            </a:extLst>
          </p:cNvPr>
          <p:cNvSpPr>
            <a:spLocks noGrp="1"/>
          </p:cNvSpPr>
          <p:nvPr/>
        </p:nvSpPr>
        <p:spPr>
          <a:xfrm>
            <a:off x="2138782"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弦巻営業所</a:t>
            </a:r>
            <a:endParaRPr sz="1230"/>
          </a:p>
        </p:txBody>
      </p:sp>
      <p:sp>
        <p:nvSpPr>
          <p:cNvPr id="13" name="Text 11">
            <a:extLst>
              <a:ext uri="{FF2B5EF4-FFF2-40B4-BE49-F238E27FC236}">
                <a16:creationId xmlns:a16="http://schemas.microsoft.com/office/drawing/2014/main" id="{A8F89D4B-A65E-47E9-B7D6-AFE8176E1155}"/>
              </a:ext>
            </a:extLst>
          </p:cNvPr>
          <p:cNvSpPr>
            <a:spLocks noGrp="1"/>
          </p:cNvSpPr>
          <p:nvPr/>
        </p:nvSpPr>
        <p:spPr>
          <a:xfrm>
            <a:off x="777240"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時刻表</a:t>
            </a:r>
            <a:endParaRPr sz="1230"/>
          </a:p>
        </p:txBody>
      </p:sp>
      <p:sp>
        <p:nvSpPr>
          <p:cNvPr id="14" name="Text 12">
            <a:extLst>
              <a:ext uri="{FF2B5EF4-FFF2-40B4-BE49-F238E27FC236}">
                <a16:creationId xmlns:a16="http://schemas.microsoft.com/office/drawing/2014/main" id="{F52AB1D4-53EE-4D52-B053-0536219FDCA0}"/>
              </a:ext>
            </a:extLst>
          </p:cNvPr>
          <p:cNvSpPr>
            <a:spLocks noGrp="1"/>
          </p:cNvSpPr>
          <p:nvPr/>
        </p:nvSpPr>
        <p:spPr>
          <a:xfrm>
            <a:off x="2138782"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平日 264便／16路線</a:t>
            </a:r>
            <a:endParaRPr sz="1230"/>
          </a:p>
        </p:txBody>
      </p:sp>
      <p:sp>
        <p:nvSpPr>
          <p:cNvPr id="15" name="Shape 13">
            <a:extLst>
              <a:ext uri="{FF2B5EF4-FFF2-40B4-BE49-F238E27FC236}">
                <a16:creationId xmlns:a16="http://schemas.microsoft.com/office/drawing/2014/main" id="{53FB90C2-D3F7-4285-989E-7C0A1594ACCF}"/>
              </a:ext>
            </a:extLst>
          </p:cNvPr>
          <p:cNvSpPr>
            <a:spLocks noGrp="1"/>
          </p:cNvSpPr>
          <p:nvPr/>
        </p:nvSpPr>
        <p:spPr>
          <a:xfrm>
            <a:off x="694944" y="2898648"/>
            <a:ext cx="3465576" cy="502920"/>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AC312587-B510-42F6-B8DB-D6A97018F3D8}"/>
              </a:ext>
            </a:extLst>
          </p:cNvPr>
          <p:cNvSpPr>
            <a:spLocks noGrp="1"/>
          </p:cNvSpPr>
          <p:nvPr/>
        </p:nvSpPr>
        <p:spPr>
          <a:xfrm>
            <a:off x="777240"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内部時間刻み</a:t>
            </a:r>
            <a:endParaRPr sz="1230"/>
          </a:p>
        </p:txBody>
      </p:sp>
      <p:sp>
        <p:nvSpPr>
          <p:cNvPr id="17" name="Text 15">
            <a:extLst>
              <a:ext uri="{FF2B5EF4-FFF2-40B4-BE49-F238E27FC236}">
                <a16:creationId xmlns:a16="http://schemas.microsoft.com/office/drawing/2014/main" id="{943A2989-64F2-4E37-BC57-BBFF9A3BC765}"/>
              </a:ext>
            </a:extLst>
          </p:cNvPr>
          <p:cNvSpPr>
            <a:spLocks noGrp="1"/>
          </p:cNvSpPr>
          <p:nvPr/>
        </p:nvSpPr>
        <p:spPr>
          <a:xfrm>
            <a:off x="2138782"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15分（1日96区間）</a:t>
            </a:r>
            <a:endParaRPr sz="1230"/>
          </a:p>
        </p:txBody>
      </p:sp>
      <p:sp>
        <p:nvSpPr>
          <p:cNvPr id="18" name="Text 16">
            <a:extLst>
              <a:ext uri="{FF2B5EF4-FFF2-40B4-BE49-F238E27FC236}">
                <a16:creationId xmlns:a16="http://schemas.microsoft.com/office/drawing/2014/main" id="{8DCB750A-CB7D-4FF3-94F3-CCB0C7159C84}"/>
              </a:ext>
            </a:extLst>
          </p:cNvPr>
          <p:cNvSpPr>
            <a:spLocks noGrp="1"/>
          </p:cNvSpPr>
          <p:nvPr/>
        </p:nvSpPr>
        <p:spPr>
          <a:xfrm>
            <a:off x="777240"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運用見直し</a:t>
            </a:r>
            <a:endParaRPr sz="1230"/>
          </a:p>
        </p:txBody>
      </p:sp>
      <p:sp>
        <p:nvSpPr>
          <p:cNvPr id="19" name="Text 17">
            <a:extLst>
              <a:ext uri="{FF2B5EF4-FFF2-40B4-BE49-F238E27FC236}">
                <a16:creationId xmlns:a16="http://schemas.microsoft.com/office/drawing/2014/main" id="{E7436D4C-8D83-4367-809A-BD0E0F88FD40}"/>
              </a:ext>
            </a:extLst>
          </p:cNvPr>
          <p:cNvSpPr>
            <a:spLocks noGrp="1"/>
          </p:cNvSpPr>
          <p:nvPr/>
        </p:nvSpPr>
        <p:spPr>
          <a:xfrm>
            <a:off x="2138782"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60分ごと・24回</a:t>
            </a:r>
            <a:endParaRPr sz="1230"/>
          </a:p>
        </p:txBody>
      </p:sp>
      <p:sp>
        <p:nvSpPr>
          <p:cNvPr id="20" name="Shape 18">
            <a:extLst>
              <a:ext uri="{FF2B5EF4-FFF2-40B4-BE49-F238E27FC236}">
                <a16:creationId xmlns:a16="http://schemas.microsoft.com/office/drawing/2014/main" id="{B19E7703-9F91-48C2-A88F-65F59D599D3F}"/>
              </a:ext>
            </a:extLst>
          </p:cNvPr>
          <p:cNvSpPr>
            <a:spLocks noGrp="1"/>
          </p:cNvSpPr>
          <p:nvPr/>
        </p:nvSpPr>
        <p:spPr>
          <a:xfrm>
            <a:off x="694944" y="4032504"/>
            <a:ext cx="3465576" cy="502920"/>
          </a:xfrm>
          <a:prstGeom prst="rect">
            <a:avLst/>
          </a:prstGeom>
          <a:solidFill>
            <a:srgbClr val="F8FAFC"/>
          </a:solidFill>
          <a:ln w="12700">
            <a:solidFill>
              <a:srgbClr val="F8FAFC"/>
            </a:solidFill>
            <a:prstDash val="solid"/>
          </a:ln>
        </p:spPr>
        <p:txBody>
          <a:bodyPr/>
          <a:lstStyle/>
          <a:p>
            <a:endParaRPr/>
          </a:p>
        </p:txBody>
      </p:sp>
      <p:sp>
        <p:nvSpPr>
          <p:cNvPr id="21" name="Text 19">
            <a:extLst>
              <a:ext uri="{FF2B5EF4-FFF2-40B4-BE49-F238E27FC236}">
                <a16:creationId xmlns:a16="http://schemas.microsoft.com/office/drawing/2014/main" id="{153DED7D-D18F-44B7-B92B-EA8417751AD0}"/>
              </a:ext>
            </a:extLst>
          </p:cNvPr>
          <p:cNvSpPr>
            <a:spLocks noGrp="1"/>
          </p:cNvSpPr>
          <p:nvPr/>
        </p:nvSpPr>
        <p:spPr>
          <a:xfrm>
            <a:off x="777240"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比較日</a:t>
            </a:r>
            <a:endParaRPr sz="1230"/>
          </a:p>
        </p:txBody>
      </p:sp>
      <p:sp>
        <p:nvSpPr>
          <p:cNvPr id="22" name="Text 20">
            <a:extLst>
              <a:ext uri="{FF2B5EF4-FFF2-40B4-BE49-F238E27FC236}">
                <a16:creationId xmlns:a16="http://schemas.microsoft.com/office/drawing/2014/main" id="{8DC2ACCF-8532-4848-9242-D2F08F3A7FC6}"/>
              </a:ext>
            </a:extLst>
          </p:cNvPr>
          <p:cNvSpPr>
            <a:spLocks noGrp="1"/>
          </p:cNvSpPr>
          <p:nvPr/>
        </p:nvSpPr>
        <p:spPr>
          <a:xfrm>
            <a:off x="2138782"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運行日は2025/08/05で固定</a:t>
            </a:r>
            <a:endParaRPr sz="1230"/>
          </a:p>
        </p:txBody>
      </p:sp>
      <p:sp>
        <p:nvSpPr>
          <p:cNvPr id="23" name="Text 21">
            <a:extLst>
              <a:ext uri="{FF2B5EF4-FFF2-40B4-BE49-F238E27FC236}">
                <a16:creationId xmlns:a16="http://schemas.microsoft.com/office/drawing/2014/main" id="{E9502974-953B-4ECE-BD05-F25FEB996708}"/>
              </a:ext>
            </a:extLst>
          </p:cNvPr>
          <p:cNvSpPr>
            <a:spLocks noGrp="1"/>
          </p:cNvSpPr>
          <p:nvPr/>
        </p:nvSpPr>
        <p:spPr>
          <a:xfrm>
            <a:off x="777240"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高PV入力</a:t>
            </a:r>
            <a:endParaRPr sz="1230"/>
          </a:p>
        </p:txBody>
      </p:sp>
      <p:sp>
        <p:nvSpPr>
          <p:cNvPr id="24" name="Text 22">
            <a:extLst>
              <a:ext uri="{FF2B5EF4-FFF2-40B4-BE49-F238E27FC236}">
                <a16:creationId xmlns:a16="http://schemas.microsoft.com/office/drawing/2014/main" id="{387C9B89-CA36-4714-9455-09D9A2ED68BA}"/>
              </a:ext>
            </a:extLst>
          </p:cNvPr>
          <p:cNvSpPr>
            <a:spLocks noGrp="1"/>
          </p:cNvSpPr>
          <p:nvPr/>
        </p:nvSpPr>
        <p:spPr>
          <a:xfrm>
            <a:off x="2138782"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2025/08/05由来</a:t>
            </a:r>
            <a:endParaRPr sz="1230"/>
          </a:p>
        </p:txBody>
      </p:sp>
      <p:sp>
        <p:nvSpPr>
          <p:cNvPr id="25" name="Shape 23">
            <a:extLst>
              <a:ext uri="{FF2B5EF4-FFF2-40B4-BE49-F238E27FC236}">
                <a16:creationId xmlns:a16="http://schemas.microsoft.com/office/drawing/2014/main" id="{64A5ECEC-2060-482D-9061-36E7484BC43E}"/>
              </a:ext>
            </a:extLst>
          </p:cNvPr>
          <p:cNvSpPr>
            <a:spLocks noGrp="1"/>
          </p:cNvSpPr>
          <p:nvPr/>
        </p:nvSpPr>
        <p:spPr>
          <a:xfrm>
            <a:off x="694944" y="5166360"/>
            <a:ext cx="3465576" cy="502920"/>
          </a:xfrm>
          <a:prstGeom prst="rect">
            <a:avLst/>
          </a:prstGeom>
          <a:solidFill>
            <a:srgbClr val="F8FAFC"/>
          </a:solidFill>
          <a:ln w="12700">
            <a:solidFill>
              <a:srgbClr val="F8FAFC"/>
            </a:solidFill>
            <a:prstDash val="solid"/>
          </a:ln>
        </p:spPr>
        <p:txBody>
          <a:bodyPr/>
          <a:lstStyle/>
          <a:p>
            <a:endParaRPr/>
          </a:p>
        </p:txBody>
      </p:sp>
      <p:sp>
        <p:nvSpPr>
          <p:cNvPr id="26" name="Text 24">
            <a:extLst>
              <a:ext uri="{FF2B5EF4-FFF2-40B4-BE49-F238E27FC236}">
                <a16:creationId xmlns:a16="http://schemas.microsoft.com/office/drawing/2014/main" id="{C879B4BE-E54E-42D7-A5C6-8203AB60A163}"/>
              </a:ext>
            </a:extLst>
          </p:cNvPr>
          <p:cNvSpPr>
            <a:spLocks noGrp="1"/>
          </p:cNvSpPr>
          <p:nvPr/>
        </p:nvSpPr>
        <p:spPr>
          <a:xfrm>
            <a:off x="777240"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低PV入力</a:t>
            </a:r>
            <a:endParaRPr sz="1230"/>
          </a:p>
        </p:txBody>
      </p:sp>
      <p:sp>
        <p:nvSpPr>
          <p:cNvPr id="27" name="Text 25">
            <a:extLst>
              <a:ext uri="{FF2B5EF4-FFF2-40B4-BE49-F238E27FC236}">
                <a16:creationId xmlns:a16="http://schemas.microsoft.com/office/drawing/2014/main" id="{874EE7B2-5251-43F7-B19C-1825B6BD3215}"/>
              </a:ext>
            </a:extLst>
          </p:cNvPr>
          <p:cNvSpPr>
            <a:spLocks noGrp="1"/>
          </p:cNvSpPr>
          <p:nvPr/>
        </p:nvSpPr>
        <p:spPr>
          <a:xfrm>
            <a:off x="2138782"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2025/08/10由来</a:t>
            </a:r>
            <a:endParaRPr sz="1230"/>
          </a:p>
        </p:txBody>
      </p:sp>
      <p:sp>
        <p:nvSpPr>
          <p:cNvPr id="28" name="Shape 26">
            <a:extLst>
              <a:ext uri="{FF2B5EF4-FFF2-40B4-BE49-F238E27FC236}">
                <a16:creationId xmlns:a16="http://schemas.microsoft.com/office/drawing/2014/main" id="{6DDD1A3A-3572-438A-9F0D-3EC1278BF64D}"/>
              </a:ext>
            </a:extLst>
          </p:cNvPr>
          <p:cNvSpPr>
            <a:spLocks noGrp="1"/>
          </p:cNvSpPr>
          <p:nvPr/>
        </p:nvSpPr>
        <p:spPr>
          <a:xfrm>
            <a:off x="4297680"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9" name="Shape 27">
            <a:extLst>
              <a:ext uri="{FF2B5EF4-FFF2-40B4-BE49-F238E27FC236}">
                <a16:creationId xmlns:a16="http://schemas.microsoft.com/office/drawing/2014/main" id="{E4D48CD6-AFD2-4E2B-8AF4-64172F126610}"/>
              </a:ext>
            </a:extLst>
          </p:cNvPr>
          <p:cNvSpPr>
            <a:spLocks noGrp="1"/>
          </p:cNvSpPr>
          <p:nvPr/>
        </p:nvSpPr>
        <p:spPr>
          <a:xfrm>
            <a:off x="4297680" y="1234440"/>
            <a:ext cx="3611880" cy="438912"/>
          </a:xfrm>
          <a:prstGeom prst="rect">
            <a:avLst/>
          </a:prstGeom>
          <a:solidFill>
            <a:srgbClr val="1F9D8A"/>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6576F9CC-92E6-40FB-B3EC-ECF3DDD339F2}"/>
              </a:ext>
            </a:extLst>
          </p:cNvPr>
          <p:cNvSpPr>
            <a:spLocks noGrp="1"/>
          </p:cNvSpPr>
          <p:nvPr/>
        </p:nvSpPr>
        <p:spPr>
          <a:xfrm>
            <a:off x="4407408"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車両条件</a:t>
            </a:r>
            <a:endParaRPr sz="1650"/>
          </a:p>
        </p:txBody>
      </p:sp>
      <p:sp>
        <p:nvSpPr>
          <p:cNvPr id="31" name="Shape 29">
            <a:extLst>
              <a:ext uri="{FF2B5EF4-FFF2-40B4-BE49-F238E27FC236}">
                <a16:creationId xmlns:a16="http://schemas.microsoft.com/office/drawing/2014/main" id="{025C8065-999C-4FEA-B16C-9E4088827E9F}"/>
              </a:ext>
            </a:extLst>
          </p:cNvPr>
          <p:cNvSpPr>
            <a:spLocks noGrp="1"/>
          </p:cNvSpPr>
          <p:nvPr/>
        </p:nvSpPr>
        <p:spPr>
          <a:xfrm>
            <a:off x="4370832" y="1764792"/>
            <a:ext cx="3465576" cy="502920"/>
          </a:xfrm>
          <a:prstGeom prst="rect">
            <a:avLst/>
          </a:prstGeom>
          <a:solidFill>
            <a:srgbClr val="F8FAFC"/>
          </a:solidFill>
          <a:ln w="12700">
            <a:solidFill>
              <a:srgbClr val="F8FAFC"/>
            </a:solidFill>
            <a:prstDash val="solid"/>
          </a:ln>
        </p:spPr>
        <p:txBody>
          <a:bodyPr/>
          <a:lstStyle/>
          <a:p>
            <a:endParaRPr/>
          </a:p>
        </p:txBody>
      </p:sp>
      <p:sp>
        <p:nvSpPr>
          <p:cNvPr id="32" name="Text 30">
            <a:extLst>
              <a:ext uri="{FF2B5EF4-FFF2-40B4-BE49-F238E27FC236}">
                <a16:creationId xmlns:a16="http://schemas.microsoft.com/office/drawing/2014/main" id="{3958A23F-356F-4652-BED8-715371580206}"/>
              </a:ext>
            </a:extLst>
          </p:cNvPr>
          <p:cNvSpPr>
            <a:spLocks noGrp="1"/>
          </p:cNvSpPr>
          <p:nvPr/>
        </p:nvSpPr>
        <p:spPr>
          <a:xfrm>
            <a:off x="4453128"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有効車両</a:t>
            </a:r>
            <a:endParaRPr sz="1230"/>
          </a:p>
        </p:txBody>
      </p:sp>
      <p:sp>
        <p:nvSpPr>
          <p:cNvPr id="33" name="Text 31">
            <a:extLst>
              <a:ext uri="{FF2B5EF4-FFF2-40B4-BE49-F238E27FC236}">
                <a16:creationId xmlns:a16="http://schemas.microsoft.com/office/drawing/2014/main" id="{CAA15C11-C5D9-46F3-823E-6A6980E0686B}"/>
              </a:ext>
            </a:extLst>
          </p:cNvPr>
          <p:cNvSpPr>
            <a:spLocks noGrp="1"/>
          </p:cNvSpPr>
          <p:nvPr/>
        </p:nvSpPr>
        <p:spPr>
          <a:xfrm>
            <a:off x="5814670"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BEV 35台／ICE 25台</a:t>
            </a:r>
            <a:endParaRPr sz="1230"/>
          </a:p>
        </p:txBody>
      </p:sp>
      <p:sp>
        <p:nvSpPr>
          <p:cNvPr id="34" name="Text 32">
            <a:extLst>
              <a:ext uri="{FF2B5EF4-FFF2-40B4-BE49-F238E27FC236}">
                <a16:creationId xmlns:a16="http://schemas.microsoft.com/office/drawing/2014/main" id="{F70595F3-B148-45BA-908F-B291037E772A}"/>
              </a:ext>
            </a:extLst>
          </p:cNvPr>
          <p:cNvSpPr>
            <a:spLocks noGrp="1"/>
          </p:cNvSpPr>
          <p:nvPr/>
        </p:nvSpPr>
        <p:spPr>
          <a:xfrm>
            <a:off x="4453128"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BEV電池容量</a:t>
            </a:r>
            <a:endParaRPr sz="1230"/>
          </a:p>
        </p:txBody>
      </p:sp>
      <p:sp>
        <p:nvSpPr>
          <p:cNvPr id="35" name="Text 33">
            <a:extLst>
              <a:ext uri="{FF2B5EF4-FFF2-40B4-BE49-F238E27FC236}">
                <a16:creationId xmlns:a16="http://schemas.microsoft.com/office/drawing/2014/main" id="{6FBE3BC1-A49B-4065-A621-A68379D20EDA}"/>
              </a:ext>
            </a:extLst>
          </p:cNvPr>
          <p:cNvSpPr>
            <a:spLocks noGrp="1"/>
          </p:cNvSpPr>
          <p:nvPr/>
        </p:nvSpPr>
        <p:spPr>
          <a:xfrm>
            <a:off x="5814670"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314 kWh／台</a:t>
            </a:r>
            <a:endParaRPr sz="1230"/>
          </a:p>
        </p:txBody>
      </p:sp>
      <p:sp>
        <p:nvSpPr>
          <p:cNvPr id="36" name="Shape 34">
            <a:extLst>
              <a:ext uri="{FF2B5EF4-FFF2-40B4-BE49-F238E27FC236}">
                <a16:creationId xmlns:a16="http://schemas.microsoft.com/office/drawing/2014/main" id="{90B45736-62F9-4E0F-842A-0742EA7A3E86}"/>
              </a:ext>
            </a:extLst>
          </p:cNvPr>
          <p:cNvSpPr>
            <a:spLocks noGrp="1"/>
          </p:cNvSpPr>
          <p:nvPr/>
        </p:nvSpPr>
        <p:spPr>
          <a:xfrm>
            <a:off x="4370832" y="2898648"/>
            <a:ext cx="3465576" cy="502920"/>
          </a:xfrm>
          <a:prstGeom prst="rect">
            <a:avLst/>
          </a:prstGeom>
          <a:solidFill>
            <a:srgbClr val="F8FAFC"/>
          </a:solidFill>
          <a:ln w="12700">
            <a:solidFill>
              <a:srgbClr val="F8FAFC"/>
            </a:solidFill>
            <a:prstDash val="solid"/>
          </a:ln>
        </p:spPr>
        <p:txBody>
          <a:bodyPr/>
          <a:lstStyle/>
          <a:p>
            <a:endParaRPr/>
          </a:p>
        </p:txBody>
      </p:sp>
      <p:sp>
        <p:nvSpPr>
          <p:cNvPr id="37" name="Text 35">
            <a:extLst>
              <a:ext uri="{FF2B5EF4-FFF2-40B4-BE49-F238E27FC236}">
                <a16:creationId xmlns:a16="http://schemas.microsoft.com/office/drawing/2014/main" id="{9EDEB79C-107F-46FF-89F9-D6B13C5F7BDC}"/>
              </a:ext>
            </a:extLst>
          </p:cNvPr>
          <p:cNvSpPr>
            <a:spLocks noGrp="1"/>
          </p:cNvSpPr>
          <p:nvPr/>
        </p:nvSpPr>
        <p:spPr>
          <a:xfrm>
            <a:off x="4453128"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BEV電費</a:t>
            </a:r>
            <a:endParaRPr sz="1230"/>
          </a:p>
        </p:txBody>
      </p:sp>
      <p:sp>
        <p:nvSpPr>
          <p:cNvPr id="38" name="Text 36">
            <a:extLst>
              <a:ext uri="{FF2B5EF4-FFF2-40B4-BE49-F238E27FC236}">
                <a16:creationId xmlns:a16="http://schemas.microsoft.com/office/drawing/2014/main" id="{2D623BB4-BCA9-4D0F-9E14-14B086BE1261}"/>
              </a:ext>
            </a:extLst>
          </p:cNvPr>
          <p:cNvSpPr>
            <a:spLocks noGrp="1"/>
          </p:cNvSpPr>
          <p:nvPr/>
        </p:nvSpPr>
        <p:spPr>
          <a:xfrm>
            <a:off x="5814670"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1.316 kWh/km</a:t>
            </a:r>
            <a:endParaRPr sz="1230"/>
          </a:p>
        </p:txBody>
      </p:sp>
      <p:sp>
        <p:nvSpPr>
          <p:cNvPr id="39" name="Text 37">
            <a:extLst>
              <a:ext uri="{FF2B5EF4-FFF2-40B4-BE49-F238E27FC236}">
                <a16:creationId xmlns:a16="http://schemas.microsoft.com/office/drawing/2014/main" id="{BA3065C4-5876-40BE-96FE-9C210B0E0475}"/>
              </a:ext>
            </a:extLst>
          </p:cNvPr>
          <p:cNvSpPr>
            <a:spLocks noGrp="1"/>
          </p:cNvSpPr>
          <p:nvPr/>
        </p:nvSpPr>
        <p:spPr>
          <a:xfrm>
            <a:off x="4453128"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BEV充電上限</a:t>
            </a:r>
            <a:endParaRPr sz="1230"/>
          </a:p>
        </p:txBody>
      </p:sp>
      <p:sp>
        <p:nvSpPr>
          <p:cNvPr id="40" name="Text 38">
            <a:extLst>
              <a:ext uri="{FF2B5EF4-FFF2-40B4-BE49-F238E27FC236}">
                <a16:creationId xmlns:a16="http://schemas.microsoft.com/office/drawing/2014/main" id="{DD09A3A0-0EDB-430A-B713-76829F82007E}"/>
              </a:ext>
            </a:extLst>
          </p:cNvPr>
          <p:cNvSpPr>
            <a:spLocks noGrp="1"/>
          </p:cNvSpPr>
          <p:nvPr/>
        </p:nvSpPr>
        <p:spPr>
          <a:xfrm>
            <a:off x="5814670"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kW／台</a:t>
            </a:r>
            <a:endParaRPr sz="1230"/>
          </a:p>
        </p:txBody>
      </p:sp>
      <p:sp>
        <p:nvSpPr>
          <p:cNvPr id="41" name="Shape 39">
            <a:extLst>
              <a:ext uri="{FF2B5EF4-FFF2-40B4-BE49-F238E27FC236}">
                <a16:creationId xmlns:a16="http://schemas.microsoft.com/office/drawing/2014/main" id="{7BE3B5C5-7943-432D-B6AA-F6D5BEC72A30}"/>
              </a:ext>
            </a:extLst>
          </p:cNvPr>
          <p:cNvSpPr>
            <a:spLocks noGrp="1"/>
          </p:cNvSpPr>
          <p:nvPr/>
        </p:nvSpPr>
        <p:spPr>
          <a:xfrm>
            <a:off x="4370832" y="4032504"/>
            <a:ext cx="3465576" cy="502920"/>
          </a:xfrm>
          <a:prstGeom prst="rect">
            <a:avLst/>
          </a:prstGeom>
          <a:solidFill>
            <a:srgbClr val="F8FAFC"/>
          </a:solidFill>
          <a:ln w="12700">
            <a:solidFill>
              <a:srgbClr val="F8FAFC"/>
            </a:solidFill>
            <a:prstDash val="solid"/>
          </a:ln>
        </p:spPr>
        <p:txBody>
          <a:bodyPr/>
          <a:lstStyle/>
          <a:p>
            <a:endParaRPr/>
          </a:p>
        </p:txBody>
      </p:sp>
      <p:sp>
        <p:nvSpPr>
          <p:cNvPr id="42" name="Text 40">
            <a:extLst>
              <a:ext uri="{FF2B5EF4-FFF2-40B4-BE49-F238E27FC236}">
                <a16:creationId xmlns:a16="http://schemas.microsoft.com/office/drawing/2014/main" id="{F0B89DA9-ED8C-4AC9-A8F2-FAE4E5175D86}"/>
              </a:ext>
            </a:extLst>
          </p:cNvPr>
          <p:cNvSpPr>
            <a:spLocks noGrp="1"/>
          </p:cNvSpPr>
          <p:nvPr/>
        </p:nvSpPr>
        <p:spPr>
          <a:xfrm>
            <a:off x="4453128"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 SOC範囲</a:t>
            </a:r>
            <a:endParaRPr sz="1230"/>
          </a:p>
        </p:txBody>
      </p:sp>
      <p:sp>
        <p:nvSpPr>
          <p:cNvPr id="43" name="Text 41">
            <a:extLst>
              <a:ext uri="{FF2B5EF4-FFF2-40B4-BE49-F238E27FC236}">
                <a16:creationId xmlns:a16="http://schemas.microsoft.com/office/drawing/2014/main" id="{80F7087F-2E58-41D6-9A77-0BE690B4593D}"/>
              </a:ext>
            </a:extLst>
          </p:cNvPr>
          <p:cNvSpPr>
            <a:spLocks noGrp="1"/>
          </p:cNvSpPr>
          <p:nvPr/>
        </p:nvSpPr>
        <p:spPr>
          <a:xfrm>
            <a:off x="5814670"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入力20～90% ※</a:t>
            </a:r>
            <a:endParaRPr sz="1230"/>
          </a:p>
        </p:txBody>
      </p:sp>
      <p:sp>
        <p:nvSpPr>
          <p:cNvPr id="44" name="Text 42">
            <a:extLst>
              <a:ext uri="{FF2B5EF4-FFF2-40B4-BE49-F238E27FC236}">
                <a16:creationId xmlns:a16="http://schemas.microsoft.com/office/drawing/2014/main" id="{B7E171A9-3AC7-4F25-93CB-904DBF09D2A2}"/>
              </a:ext>
            </a:extLst>
          </p:cNvPr>
          <p:cNvSpPr>
            <a:spLocks noGrp="1"/>
          </p:cNvSpPr>
          <p:nvPr/>
        </p:nvSpPr>
        <p:spPr>
          <a:xfrm>
            <a:off x="4453128"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BEV初期SOC</a:t>
            </a:r>
            <a:endParaRPr sz="1230"/>
          </a:p>
        </p:txBody>
      </p:sp>
      <p:sp>
        <p:nvSpPr>
          <p:cNvPr id="45" name="Text 43">
            <a:extLst>
              <a:ext uri="{FF2B5EF4-FFF2-40B4-BE49-F238E27FC236}">
                <a16:creationId xmlns:a16="http://schemas.microsoft.com/office/drawing/2014/main" id="{794869E8-5F43-4251-93E4-31AA6FD06421}"/>
              </a:ext>
            </a:extLst>
          </p:cNvPr>
          <p:cNvSpPr>
            <a:spLocks noGrp="1"/>
          </p:cNvSpPr>
          <p:nvPr/>
        </p:nvSpPr>
        <p:spPr>
          <a:xfrm>
            <a:off x="5814670"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車両別 21.95～77.43%</a:t>
            </a:r>
            <a:endParaRPr sz="1230"/>
          </a:p>
        </p:txBody>
      </p:sp>
      <p:sp>
        <p:nvSpPr>
          <p:cNvPr id="46" name="Shape 44">
            <a:extLst>
              <a:ext uri="{FF2B5EF4-FFF2-40B4-BE49-F238E27FC236}">
                <a16:creationId xmlns:a16="http://schemas.microsoft.com/office/drawing/2014/main" id="{C1D511C8-3D56-4729-ADFB-F34BF2CA71FC}"/>
              </a:ext>
            </a:extLst>
          </p:cNvPr>
          <p:cNvSpPr>
            <a:spLocks noGrp="1"/>
          </p:cNvSpPr>
          <p:nvPr/>
        </p:nvSpPr>
        <p:spPr>
          <a:xfrm>
            <a:off x="4370832" y="5166360"/>
            <a:ext cx="3465576" cy="502920"/>
          </a:xfrm>
          <a:prstGeom prst="rect">
            <a:avLst/>
          </a:prstGeom>
          <a:solidFill>
            <a:srgbClr val="F8FAFC"/>
          </a:solidFill>
          <a:ln w="12700">
            <a:solidFill>
              <a:srgbClr val="F8FAFC"/>
            </a:solidFill>
            <a:prstDash val="solid"/>
          </a:ln>
        </p:spPr>
        <p:txBody>
          <a:bodyPr/>
          <a:lstStyle/>
          <a:p>
            <a:endParaRPr/>
          </a:p>
        </p:txBody>
      </p:sp>
      <p:sp>
        <p:nvSpPr>
          <p:cNvPr id="47" name="Text 45">
            <a:extLst>
              <a:ext uri="{FF2B5EF4-FFF2-40B4-BE49-F238E27FC236}">
                <a16:creationId xmlns:a16="http://schemas.microsoft.com/office/drawing/2014/main" id="{D31E0F83-EEA8-45C7-856B-5281A15E40F4}"/>
              </a:ext>
            </a:extLst>
          </p:cNvPr>
          <p:cNvSpPr>
            <a:spLocks noGrp="1"/>
          </p:cNvSpPr>
          <p:nvPr/>
        </p:nvSpPr>
        <p:spPr>
          <a:xfrm>
            <a:off x="4453128"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ICE条件</a:t>
            </a:r>
            <a:endParaRPr sz="1230"/>
          </a:p>
        </p:txBody>
      </p:sp>
      <p:sp>
        <p:nvSpPr>
          <p:cNvPr id="48" name="Text 46">
            <a:extLst>
              <a:ext uri="{FF2B5EF4-FFF2-40B4-BE49-F238E27FC236}">
                <a16:creationId xmlns:a16="http://schemas.microsoft.com/office/drawing/2014/main" id="{7EB1C77E-4965-4E08-8244-1FA36374898B}"/>
              </a:ext>
            </a:extLst>
          </p:cNvPr>
          <p:cNvSpPr>
            <a:spLocks noGrp="1"/>
          </p:cNvSpPr>
          <p:nvPr/>
        </p:nvSpPr>
        <p:spPr>
          <a:xfrm>
            <a:off x="5814670"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160 L・4.52 km/L</a:t>
            </a:r>
            <a:endParaRPr sz="1230"/>
          </a:p>
        </p:txBody>
      </p:sp>
      <p:sp>
        <p:nvSpPr>
          <p:cNvPr id="49" name="Shape 47">
            <a:extLst>
              <a:ext uri="{FF2B5EF4-FFF2-40B4-BE49-F238E27FC236}">
                <a16:creationId xmlns:a16="http://schemas.microsoft.com/office/drawing/2014/main" id="{3FC92214-EC9F-4CD8-AF6C-A22D1ED2EFB6}"/>
              </a:ext>
            </a:extLst>
          </p:cNvPr>
          <p:cNvSpPr>
            <a:spLocks noGrp="1"/>
          </p:cNvSpPr>
          <p:nvPr/>
        </p:nvSpPr>
        <p:spPr>
          <a:xfrm>
            <a:off x="7973568"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50" name="Shape 48">
            <a:extLst>
              <a:ext uri="{FF2B5EF4-FFF2-40B4-BE49-F238E27FC236}">
                <a16:creationId xmlns:a16="http://schemas.microsoft.com/office/drawing/2014/main" id="{E0EF02C9-102B-4887-919E-3A63373C6112}"/>
              </a:ext>
            </a:extLst>
          </p:cNvPr>
          <p:cNvSpPr>
            <a:spLocks noGrp="1"/>
          </p:cNvSpPr>
          <p:nvPr/>
        </p:nvSpPr>
        <p:spPr>
          <a:xfrm>
            <a:off x="7973568" y="1234440"/>
            <a:ext cx="3611880" cy="438912"/>
          </a:xfrm>
          <a:prstGeom prst="rect">
            <a:avLst/>
          </a:prstGeom>
          <a:solidFill>
            <a:srgbClr val="356BB3"/>
          </a:solidFill>
          <a:ln w="12700">
            <a:solidFill>
              <a:srgbClr val="356BB3"/>
            </a:solidFill>
            <a:prstDash val="solid"/>
          </a:ln>
        </p:spPr>
        <p:txBody>
          <a:bodyPr/>
          <a:lstStyle/>
          <a:p>
            <a:endParaRPr/>
          </a:p>
        </p:txBody>
      </p:sp>
      <p:sp>
        <p:nvSpPr>
          <p:cNvPr id="51" name="Text 49">
            <a:extLst>
              <a:ext uri="{FF2B5EF4-FFF2-40B4-BE49-F238E27FC236}">
                <a16:creationId xmlns:a16="http://schemas.microsoft.com/office/drawing/2014/main" id="{5189E6E4-E1CE-488B-8362-E8745737B32D}"/>
              </a:ext>
            </a:extLst>
          </p:cNvPr>
          <p:cNvSpPr>
            <a:spLocks noGrp="1"/>
          </p:cNvSpPr>
          <p:nvPr/>
        </p:nvSpPr>
        <p:spPr>
          <a:xfrm>
            <a:off x="8083296"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営業所設備</a:t>
            </a:r>
            <a:endParaRPr sz="1650"/>
          </a:p>
        </p:txBody>
      </p:sp>
      <p:sp>
        <p:nvSpPr>
          <p:cNvPr id="52" name="Shape 50">
            <a:extLst>
              <a:ext uri="{FF2B5EF4-FFF2-40B4-BE49-F238E27FC236}">
                <a16:creationId xmlns:a16="http://schemas.microsoft.com/office/drawing/2014/main" id="{CF03D7CC-82FD-48B5-9317-A8CAB3B98EC8}"/>
              </a:ext>
            </a:extLst>
          </p:cNvPr>
          <p:cNvSpPr>
            <a:spLocks noGrp="1"/>
          </p:cNvSpPr>
          <p:nvPr/>
        </p:nvSpPr>
        <p:spPr>
          <a:xfrm>
            <a:off x="8046720" y="1764792"/>
            <a:ext cx="3465576" cy="502920"/>
          </a:xfrm>
          <a:prstGeom prst="rect">
            <a:avLst/>
          </a:prstGeom>
          <a:solidFill>
            <a:srgbClr val="F8FAFC"/>
          </a:solidFill>
          <a:ln w="12700">
            <a:solidFill>
              <a:srgbClr val="F8FAFC"/>
            </a:solidFill>
            <a:prstDash val="solid"/>
          </a:ln>
        </p:spPr>
        <p:txBody>
          <a:bodyPr/>
          <a:lstStyle/>
          <a:p>
            <a:endParaRPr/>
          </a:p>
        </p:txBody>
      </p:sp>
      <p:sp>
        <p:nvSpPr>
          <p:cNvPr id="53" name="Text 51">
            <a:extLst>
              <a:ext uri="{FF2B5EF4-FFF2-40B4-BE49-F238E27FC236}">
                <a16:creationId xmlns:a16="http://schemas.microsoft.com/office/drawing/2014/main" id="{F16EB42D-D067-417E-BAB4-596D7584C711}"/>
              </a:ext>
            </a:extLst>
          </p:cNvPr>
          <p:cNvSpPr>
            <a:spLocks noGrp="1"/>
          </p:cNvSpPr>
          <p:nvPr/>
        </p:nvSpPr>
        <p:spPr>
          <a:xfrm>
            <a:off x="8129016"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充電器</a:t>
            </a:r>
            <a:endParaRPr sz="1230"/>
          </a:p>
        </p:txBody>
      </p:sp>
      <p:sp>
        <p:nvSpPr>
          <p:cNvPr id="54" name="Text 52">
            <a:extLst>
              <a:ext uri="{FF2B5EF4-FFF2-40B4-BE49-F238E27FC236}">
                <a16:creationId xmlns:a16="http://schemas.microsoft.com/office/drawing/2014/main" id="{EE3FD58F-CCD1-4450-B575-EF4C7A36D0E4}"/>
              </a:ext>
            </a:extLst>
          </p:cNvPr>
          <p:cNvSpPr>
            <a:spLocks noGrp="1"/>
          </p:cNvSpPr>
          <p:nvPr/>
        </p:nvSpPr>
        <p:spPr>
          <a:xfrm>
            <a:off x="9490558"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 × 10基</a:t>
            </a:r>
            <a:endParaRPr sz="1230"/>
          </a:p>
        </p:txBody>
      </p:sp>
      <p:sp>
        <p:nvSpPr>
          <p:cNvPr id="55" name="Text 53">
            <a:extLst>
              <a:ext uri="{FF2B5EF4-FFF2-40B4-BE49-F238E27FC236}">
                <a16:creationId xmlns:a16="http://schemas.microsoft.com/office/drawing/2014/main" id="{6ADBF6D5-7736-4F02-876B-047FE07F2D77}"/>
              </a:ext>
            </a:extLst>
          </p:cNvPr>
          <p:cNvSpPr>
            <a:spLocks noGrp="1"/>
          </p:cNvSpPr>
          <p:nvPr/>
        </p:nvSpPr>
        <p:spPr>
          <a:xfrm>
            <a:off x="8129016"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同時接続</a:t>
            </a:r>
            <a:endParaRPr sz="1230"/>
          </a:p>
        </p:txBody>
      </p:sp>
      <p:sp>
        <p:nvSpPr>
          <p:cNvPr id="56" name="Text 54">
            <a:extLst>
              <a:ext uri="{FF2B5EF4-FFF2-40B4-BE49-F238E27FC236}">
                <a16:creationId xmlns:a16="http://schemas.microsoft.com/office/drawing/2014/main" id="{3C934A50-527C-4DB7-9BFF-998A99AEC89F}"/>
              </a:ext>
            </a:extLst>
          </p:cNvPr>
          <p:cNvSpPr>
            <a:spLocks noGrp="1"/>
          </p:cNvSpPr>
          <p:nvPr/>
        </p:nvSpPr>
        <p:spPr>
          <a:xfrm>
            <a:off x="9490558"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各1ポート</a:t>
            </a:r>
            <a:endParaRPr sz="1230"/>
          </a:p>
        </p:txBody>
      </p:sp>
      <p:sp>
        <p:nvSpPr>
          <p:cNvPr id="57" name="Shape 55">
            <a:extLst>
              <a:ext uri="{FF2B5EF4-FFF2-40B4-BE49-F238E27FC236}">
                <a16:creationId xmlns:a16="http://schemas.microsoft.com/office/drawing/2014/main" id="{9AE86734-FCD1-4BEA-97D2-8B215ABDCC86}"/>
              </a:ext>
            </a:extLst>
          </p:cNvPr>
          <p:cNvSpPr>
            <a:spLocks noGrp="1"/>
          </p:cNvSpPr>
          <p:nvPr/>
        </p:nvSpPr>
        <p:spPr>
          <a:xfrm>
            <a:off x="8046720" y="2898648"/>
            <a:ext cx="3465576" cy="502920"/>
          </a:xfrm>
          <a:prstGeom prst="rect">
            <a:avLst/>
          </a:prstGeom>
          <a:solidFill>
            <a:srgbClr val="F8FAFC"/>
          </a:solidFill>
          <a:ln w="12700">
            <a:solidFill>
              <a:srgbClr val="F8FAFC"/>
            </a:solidFill>
            <a:prstDash val="solid"/>
          </a:ln>
        </p:spPr>
        <p:txBody>
          <a:bodyPr/>
          <a:lstStyle/>
          <a:p>
            <a:endParaRPr/>
          </a:p>
        </p:txBody>
      </p:sp>
      <p:sp>
        <p:nvSpPr>
          <p:cNvPr id="58" name="Text 56">
            <a:extLst>
              <a:ext uri="{FF2B5EF4-FFF2-40B4-BE49-F238E27FC236}">
                <a16:creationId xmlns:a16="http://schemas.microsoft.com/office/drawing/2014/main" id="{C5A115C4-B2EF-461B-ADB5-618D3F9C1FD9}"/>
              </a:ext>
            </a:extLst>
          </p:cNvPr>
          <p:cNvSpPr>
            <a:spLocks noGrp="1"/>
          </p:cNvSpPr>
          <p:nvPr/>
        </p:nvSpPr>
        <p:spPr>
          <a:xfrm>
            <a:off x="8129016"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V2G</a:t>
            </a:r>
            <a:endParaRPr sz="1230"/>
          </a:p>
        </p:txBody>
      </p:sp>
      <p:sp>
        <p:nvSpPr>
          <p:cNvPr id="59" name="Text 57">
            <a:extLst>
              <a:ext uri="{FF2B5EF4-FFF2-40B4-BE49-F238E27FC236}">
                <a16:creationId xmlns:a16="http://schemas.microsoft.com/office/drawing/2014/main" id="{B4D59C78-621D-414C-BE66-62567E5BF404}"/>
              </a:ext>
            </a:extLst>
          </p:cNvPr>
          <p:cNvSpPr>
            <a:spLocks noGrp="1"/>
          </p:cNvSpPr>
          <p:nvPr/>
        </p:nvSpPr>
        <p:spPr>
          <a:xfrm>
            <a:off x="9490558"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0" name="Text 58">
            <a:extLst>
              <a:ext uri="{FF2B5EF4-FFF2-40B4-BE49-F238E27FC236}">
                <a16:creationId xmlns:a16="http://schemas.microsoft.com/office/drawing/2014/main" id="{046BB6D0-BA0C-4C4F-97BA-F59FE1D729B6}"/>
              </a:ext>
            </a:extLst>
          </p:cNvPr>
          <p:cNvSpPr>
            <a:spLocks noGrp="1"/>
          </p:cNvSpPr>
          <p:nvPr/>
        </p:nvSpPr>
        <p:spPr>
          <a:xfrm>
            <a:off x="8129016"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受電上限</a:t>
            </a:r>
            <a:endParaRPr sz="1230"/>
          </a:p>
        </p:txBody>
      </p:sp>
      <p:sp>
        <p:nvSpPr>
          <p:cNvPr id="61" name="Text 59">
            <a:extLst>
              <a:ext uri="{FF2B5EF4-FFF2-40B4-BE49-F238E27FC236}">
                <a16:creationId xmlns:a16="http://schemas.microsoft.com/office/drawing/2014/main" id="{C46E2C58-F138-4179-A194-3A3BDC43474B}"/>
              </a:ext>
            </a:extLst>
          </p:cNvPr>
          <p:cNvSpPr>
            <a:spLocks noGrp="1"/>
          </p:cNvSpPr>
          <p:nvPr/>
        </p:nvSpPr>
        <p:spPr>
          <a:xfrm>
            <a:off x="9490558"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 kW</a:t>
            </a:r>
            <a:endParaRPr sz="1230"/>
          </a:p>
        </p:txBody>
      </p:sp>
      <p:sp>
        <p:nvSpPr>
          <p:cNvPr id="62" name="Shape 60">
            <a:extLst>
              <a:ext uri="{FF2B5EF4-FFF2-40B4-BE49-F238E27FC236}">
                <a16:creationId xmlns:a16="http://schemas.microsoft.com/office/drawing/2014/main" id="{2EC825D0-17F5-4DAF-B079-4653B02AD507}"/>
              </a:ext>
            </a:extLst>
          </p:cNvPr>
          <p:cNvSpPr>
            <a:spLocks noGrp="1"/>
          </p:cNvSpPr>
          <p:nvPr/>
        </p:nvSpPr>
        <p:spPr>
          <a:xfrm>
            <a:off x="8046720" y="4032504"/>
            <a:ext cx="3465576" cy="502920"/>
          </a:xfrm>
          <a:prstGeom prst="rect">
            <a:avLst/>
          </a:prstGeom>
          <a:solidFill>
            <a:srgbClr val="F8FAFC"/>
          </a:solidFill>
          <a:ln w="12700">
            <a:solidFill>
              <a:srgbClr val="F8FAFC"/>
            </a:solidFill>
            <a:prstDash val="solid"/>
          </a:ln>
        </p:spPr>
        <p:txBody>
          <a:bodyPr/>
          <a:lstStyle/>
          <a:p>
            <a:endParaRPr/>
          </a:p>
        </p:txBody>
      </p:sp>
      <p:sp>
        <p:nvSpPr>
          <p:cNvPr id="63" name="Text 61">
            <a:extLst>
              <a:ext uri="{FF2B5EF4-FFF2-40B4-BE49-F238E27FC236}">
                <a16:creationId xmlns:a16="http://schemas.microsoft.com/office/drawing/2014/main" id="{6552AE15-7877-4B03-A7D8-4A05C2697309}"/>
              </a:ext>
            </a:extLst>
          </p:cNvPr>
          <p:cNvSpPr>
            <a:spLocks noGrp="1"/>
          </p:cNvSpPr>
          <p:nvPr/>
        </p:nvSpPr>
        <p:spPr>
          <a:xfrm>
            <a:off x="8129016"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PV定格</a:t>
            </a:r>
            <a:endParaRPr sz="1230"/>
          </a:p>
        </p:txBody>
      </p:sp>
      <p:sp>
        <p:nvSpPr>
          <p:cNvPr id="64" name="Text 62">
            <a:extLst>
              <a:ext uri="{FF2B5EF4-FFF2-40B4-BE49-F238E27FC236}">
                <a16:creationId xmlns:a16="http://schemas.microsoft.com/office/drawing/2014/main" id="{40B1434A-CC8C-4054-A6B2-3403F37F0B3B}"/>
              </a:ext>
            </a:extLst>
          </p:cNvPr>
          <p:cNvSpPr>
            <a:spLocks noGrp="1"/>
          </p:cNvSpPr>
          <p:nvPr/>
        </p:nvSpPr>
        <p:spPr>
          <a:xfrm>
            <a:off x="9490558"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1,000 kW</a:t>
            </a:r>
            <a:endParaRPr sz="1230"/>
          </a:p>
        </p:txBody>
      </p:sp>
      <p:sp>
        <p:nvSpPr>
          <p:cNvPr id="65" name="Text 63">
            <a:extLst>
              <a:ext uri="{FF2B5EF4-FFF2-40B4-BE49-F238E27FC236}">
                <a16:creationId xmlns:a16="http://schemas.microsoft.com/office/drawing/2014/main" id="{08F726D5-31AC-4E7D-8352-1D170AC4EF70}"/>
              </a:ext>
            </a:extLst>
          </p:cNvPr>
          <p:cNvSpPr>
            <a:spLocks noGrp="1"/>
          </p:cNvSpPr>
          <p:nvPr/>
        </p:nvSpPr>
        <p:spPr>
          <a:xfrm>
            <a:off x="8129016"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a:t>
            </a:r>
            <a:endParaRPr sz="1230"/>
          </a:p>
        </p:txBody>
      </p:sp>
      <p:sp>
        <p:nvSpPr>
          <p:cNvPr id="66" name="Text 64">
            <a:extLst>
              <a:ext uri="{FF2B5EF4-FFF2-40B4-BE49-F238E27FC236}">
                <a16:creationId xmlns:a16="http://schemas.microsoft.com/office/drawing/2014/main" id="{959EBCEC-789D-42BB-BC20-EFAEA1E333B5}"/>
              </a:ext>
            </a:extLst>
          </p:cNvPr>
          <p:cNvSpPr>
            <a:spLocks noGrp="1"/>
          </p:cNvSpPr>
          <p:nvPr/>
        </p:nvSpPr>
        <p:spPr>
          <a:xfrm>
            <a:off x="9490558"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6,000 kWh／900 kW</a:t>
            </a:r>
            <a:endParaRPr sz="1230"/>
          </a:p>
        </p:txBody>
      </p:sp>
      <p:sp>
        <p:nvSpPr>
          <p:cNvPr id="67" name="Shape 65">
            <a:extLst>
              <a:ext uri="{FF2B5EF4-FFF2-40B4-BE49-F238E27FC236}">
                <a16:creationId xmlns:a16="http://schemas.microsoft.com/office/drawing/2014/main" id="{E5C26234-4373-4A17-8ED4-599785FFBAC8}"/>
              </a:ext>
            </a:extLst>
          </p:cNvPr>
          <p:cNvSpPr>
            <a:spLocks noGrp="1"/>
          </p:cNvSpPr>
          <p:nvPr/>
        </p:nvSpPr>
        <p:spPr>
          <a:xfrm>
            <a:off x="8046720" y="5166360"/>
            <a:ext cx="3465576" cy="502920"/>
          </a:xfrm>
          <a:prstGeom prst="rect">
            <a:avLst/>
          </a:prstGeom>
          <a:solidFill>
            <a:srgbClr val="F8FAFC"/>
          </a:solidFill>
          <a:ln w="12700">
            <a:solidFill>
              <a:srgbClr val="F8FAFC"/>
            </a:solidFill>
            <a:prstDash val="solid"/>
          </a:ln>
        </p:spPr>
        <p:txBody>
          <a:bodyPr/>
          <a:lstStyle/>
          <a:p>
            <a:endParaRPr/>
          </a:p>
        </p:txBody>
      </p:sp>
      <p:sp>
        <p:nvSpPr>
          <p:cNvPr id="68" name="Text 66">
            <a:extLst>
              <a:ext uri="{FF2B5EF4-FFF2-40B4-BE49-F238E27FC236}">
                <a16:creationId xmlns:a16="http://schemas.microsoft.com/office/drawing/2014/main" id="{89C4F706-C63D-485B-B5D2-F26B48DB73F1}"/>
              </a:ext>
            </a:extLst>
          </p:cNvPr>
          <p:cNvSpPr>
            <a:spLocks noGrp="1"/>
          </p:cNvSpPr>
          <p:nvPr/>
        </p:nvSpPr>
        <p:spPr>
          <a:xfrm>
            <a:off x="8129016"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BESS境界</a:t>
            </a:r>
            <a:endParaRPr sz="1230"/>
          </a:p>
        </p:txBody>
      </p:sp>
      <p:sp>
        <p:nvSpPr>
          <p:cNvPr id="69" name="Text 67">
            <a:extLst>
              <a:ext uri="{FF2B5EF4-FFF2-40B4-BE49-F238E27FC236}">
                <a16:creationId xmlns:a16="http://schemas.microsoft.com/office/drawing/2014/main" id="{1A328454-1E53-42A1-8304-BAFE98595095}"/>
              </a:ext>
            </a:extLst>
          </p:cNvPr>
          <p:cNvSpPr>
            <a:spLocks noGrp="1"/>
          </p:cNvSpPr>
          <p:nvPr/>
        </p:nvSpPr>
        <p:spPr>
          <a:xfrm>
            <a:off x="9490558"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3,000 → 3,000 kWh</a:t>
            </a:r>
            <a:endParaRPr sz="1230"/>
          </a:p>
        </p:txBody>
      </p:sp>
      <p:sp>
        <p:nvSpPr>
          <p:cNvPr id="70" name="Text 68">
            <a:extLst>
              <a:ext uri="{FF2B5EF4-FFF2-40B4-BE49-F238E27FC236}">
                <a16:creationId xmlns:a16="http://schemas.microsoft.com/office/drawing/2014/main" id="{6A9CCA51-D1A0-4322-88FE-CC364F3DF9D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 入力SOC上限90%に不一致。補足17を参照。</a:t>
            </a:r>
            <a:endParaRPr sz="720"/>
          </a:p>
        </p:txBody>
      </p:sp>
      <p:sp>
        <p:nvSpPr>
          <p:cNvPr id="71" name="正方形/長方形 70">
            <a:extLst>
              <a:ext uri="{FF2B5EF4-FFF2-40B4-BE49-F238E27FC236}">
                <a16:creationId xmlns:a16="http://schemas.microsoft.com/office/drawing/2014/main" id="{22CCEB4A-B06D-4C7F-BA97-03132329AB5E}"/>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8056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347827-0210-435C-8376-D1B54DDC191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設定パラメータ②：費用・計算・配車候補の条件</a:t>
            </a:r>
            <a:endParaRPr sz="2550"/>
          </a:p>
        </p:txBody>
      </p:sp>
      <p:sp>
        <p:nvSpPr>
          <p:cNvPr id="3" name="Shape 1">
            <a:extLst>
              <a:ext uri="{FF2B5EF4-FFF2-40B4-BE49-F238E27FC236}">
                <a16:creationId xmlns:a16="http://schemas.microsoft.com/office/drawing/2014/main" id="{7835C446-E8EE-4476-A254-225D4D5AE7A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B44425A6-B446-4A0D-B479-7B17C779FE6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48F67B8-8E5B-45C0-90F3-141AA0340B2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7/18</a:t>
            </a:r>
            <a:endParaRPr sz="850"/>
          </a:p>
        </p:txBody>
      </p:sp>
      <p:sp>
        <p:nvSpPr>
          <p:cNvPr id="6" name="Shape 4">
            <a:extLst>
              <a:ext uri="{FF2B5EF4-FFF2-40B4-BE49-F238E27FC236}">
                <a16:creationId xmlns:a16="http://schemas.microsoft.com/office/drawing/2014/main" id="{D142CF2B-293A-4834-A74E-0A70DF85B865}"/>
              </a:ext>
            </a:extLst>
          </p:cNvPr>
          <p:cNvSpPr>
            <a:spLocks noGrp="1"/>
          </p:cNvSpPr>
          <p:nvPr/>
        </p:nvSpPr>
        <p:spPr>
          <a:xfrm>
            <a:off x="6858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29780DAD-84EF-48B3-8C1E-94F0B9F3C3E6}"/>
              </a:ext>
            </a:extLst>
          </p:cNvPr>
          <p:cNvSpPr>
            <a:spLocks noGrp="1"/>
          </p:cNvSpPr>
          <p:nvPr/>
        </p:nvSpPr>
        <p:spPr>
          <a:xfrm>
            <a:off x="685800" y="1097280"/>
            <a:ext cx="3520440" cy="438912"/>
          </a:xfrm>
          <a:prstGeom prst="rect">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1C1D5185-465D-4D42-917C-CFF4D76DD0B0}"/>
              </a:ext>
            </a:extLst>
          </p:cNvPr>
          <p:cNvSpPr>
            <a:spLocks noGrp="1"/>
          </p:cNvSpPr>
          <p:nvPr/>
        </p:nvSpPr>
        <p:spPr>
          <a:xfrm>
            <a:off x="7955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費用の設定</a:t>
            </a:r>
            <a:endParaRPr sz="1650"/>
          </a:p>
        </p:txBody>
      </p:sp>
      <p:sp>
        <p:nvSpPr>
          <p:cNvPr id="9" name="Shape 7">
            <a:extLst>
              <a:ext uri="{FF2B5EF4-FFF2-40B4-BE49-F238E27FC236}">
                <a16:creationId xmlns:a16="http://schemas.microsoft.com/office/drawing/2014/main" id="{216EFD2C-A7FE-4F5A-9359-D0EDD31BC926}"/>
              </a:ext>
            </a:extLst>
          </p:cNvPr>
          <p:cNvSpPr>
            <a:spLocks noGrp="1"/>
          </p:cNvSpPr>
          <p:nvPr/>
        </p:nvSpPr>
        <p:spPr>
          <a:xfrm>
            <a:off x="758952" y="1627632"/>
            <a:ext cx="3374136" cy="502920"/>
          </a:xfrm>
          <a:prstGeom prst="rect">
            <a:avLst/>
          </a:prstGeom>
          <a:solidFill>
            <a:srgbClr val="F8FAFC"/>
          </a:solidFill>
          <a:ln w="12700">
            <a:solidFill>
              <a:srgbClr val="F8FAFC"/>
            </a:solidFill>
            <a:prstDash val="solid"/>
          </a:ln>
        </p:spPr>
        <p:txBody>
          <a:bodyPr/>
          <a:lstStyle/>
          <a:p>
            <a:endParaRPr/>
          </a:p>
        </p:txBody>
      </p:sp>
      <p:sp>
        <p:nvSpPr>
          <p:cNvPr id="10" name="Text 8">
            <a:extLst>
              <a:ext uri="{FF2B5EF4-FFF2-40B4-BE49-F238E27FC236}">
                <a16:creationId xmlns:a16="http://schemas.microsoft.com/office/drawing/2014/main" id="{410F6E2C-5864-47B2-819B-D7510BD55650}"/>
              </a:ext>
            </a:extLst>
          </p:cNvPr>
          <p:cNvSpPr>
            <a:spLocks noGrp="1"/>
          </p:cNvSpPr>
          <p:nvPr/>
        </p:nvSpPr>
        <p:spPr>
          <a:xfrm>
            <a:off x="8412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系統電力単価</a:t>
            </a:r>
            <a:endParaRPr sz="1230"/>
          </a:p>
        </p:txBody>
      </p:sp>
      <p:sp>
        <p:nvSpPr>
          <p:cNvPr id="11" name="Text 9">
            <a:extLst>
              <a:ext uri="{FF2B5EF4-FFF2-40B4-BE49-F238E27FC236}">
                <a16:creationId xmlns:a16="http://schemas.microsoft.com/office/drawing/2014/main" id="{5611BED1-C6DC-4AB6-879E-2370F8C9E8BB}"/>
              </a:ext>
            </a:extLst>
          </p:cNvPr>
          <p:cNvSpPr>
            <a:spLocks noGrp="1"/>
          </p:cNvSpPr>
          <p:nvPr/>
        </p:nvSpPr>
        <p:spPr>
          <a:xfrm>
            <a:off x="21643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 円/kWh</a:t>
            </a:r>
            <a:endParaRPr sz="1230"/>
          </a:p>
        </p:txBody>
      </p:sp>
      <p:sp>
        <p:nvSpPr>
          <p:cNvPr id="12" name="Text 10">
            <a:extLst>
              <a:ext uri="{FF2B5EF4-FFF2-40B4-BE49-F238E27FC236}">
                <a16:creationId xmlns:a16="http://schemas.microsoft.com/office/drawing/2014/main" id="{9E021594-8487-40EE-9B7D-D99F94058565}"/>
              </a:ext>
            </a:extLst>
          </p:cNvPr>
          <p:cNvSpPr>
            <a:spLocks noGrp="1"/>
          </p:cNvSpPr>
          <p:nvPr/>
        </p:nvSpPr>
        <p:spPr>
          <a:xfrm>
            <a:off x="8412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軽油単価</a:t>
            </a:r>
            <a:endParaRPr sz="1230"/>
          </a:p>
        </p:txBody>
      </p:sp>
      <p:sp>
        <p:nvSpPr>
          <p:cNvPr id="13" name="Text 11">
            <a:extLst>
              <a:ext uri="{FF2B5EF4-FFF2-40B4-BE49-F238E27FC236}">
                <a16:creationId xmlns:a16="http://schemas.microsoft.com/office/drawing/2014/main" id="{E23A6E8E-1F44-49E5-95AD-9653CC2E25C3}"/>
              </a:ext>
            </a:extLst>
          </p:cNvPr>
          <p:cNvSpPr>
            <a:spLocks noGrp="1"/>
          </p:cNvSpPr>
          <p:nvPr/>
        </p:nvSpPr>
        <p:spPr>
          <a:xfrm>
            <a:off x="21643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150 円/L</a:t>
            </a:r>
            <a:endParaRPr sz="1230"/>
          </a:p>
        </p:txBody>
      </p:sp>
      <p:sp>
        <p:nvSpPr>
          <p:cNvPr id="14" name="Shape 12">
            <a:extLst>
              <a:ext uri="{FF2B5EF4-FFF2-40B4-BE49-F238E27FC236}">
                <a16:creationId xmlns:a16="http://schemas.microsoft.com/office/drawing/2014/main" id="{35ED7FEF-E28B-46F1-8075-66AE0556D427}"/>
              </a:ext>
            </a:extLst>
          </p:cNvPr>
          <p:cNvSpPr>
            <a:spLocks noGrp="1"/>
          </p:cNvSpPr>
          <p:nvPr/>
        </p:nvSpPr>
        <p:spPr>
          <a:xfrm>
            <a:off x="758952" y="2761488"/>
            <a:ext cx="3374136" cy="502920"/>
          </a:xfrm>
          <a:prstGeom prst="rect">
            <a:avLst/>
          </a:prstGeom>
          <a:solidFill>
            <a:srgbClr val="F8FAFC"/>
          </a:solidFill>
          <a:ln w="12700">
            <a:solidFill>
              <a:srgbClr val="F8FAFC"/>
            </a:solidFill>
            <a:prstDash val="solid"/>
          </a:ln>
        </p:spPr>
        <p:txBody>
          <a:bodyPr/>
          <a:lstStyle/>
          <a:p>
            <a:endParaRPr/>
          </a:p>
        </p:txBody>
      </p:sp>
      <p:sp>
        <p:nvSpPr>
          <p:cNvPr id="15" name="Text 13">
            <a:extLst>
              <a:ext uri="{FF2B5EF4-FFF2-40B4-BE49-F238E27FC236}">
                <a16:creationId xmlns:a16="http://schemas.microsoft.com/office/drawing/2014/main" id="{73123381-66EC-4C10-9BC4-28E6AD3CC7FA}"/>
              </a:ext>
            </a:extLst>
          </p:cNvPr>
          <p:cNvSpPr>
            <a:spLocks noGrp="1"/>
          </p:cNvSpPr>
          <p:nvPr/>
        </p:nvSpPr>
        <p:spPr>
          <a:xfrm>
            <a:off x="8412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車両使用費</a:t>
            </a:r>
            <a:endParaRPr sz="1230"/>
          </a:p>
        </p:txBody>
      </p:sp>
      <p:sp>
        <p:nvSpPr>
          <p:cNvPr id="16" name="Text 14">
            <a:extLst>
              <a:ext uri="{FF2B5EF4-FFF2-40B4-BE49-F238E27FC236}">
                <a16:creationId xmlns:a16="http://schemas.microsoft.com/office/drawing/2014/main" id="{B212940D-7A70-438A-8CD0-CE0F40DA7FAA}"/>
              </a:ext>
            </a:extLst>
          </p:cNvPr>
          <p:cNvSpPr>
            <a:spLocks noGrp="1"/>
          </p:cNvSpPr>
          <p:nvPr/>
        </p:nvSpPr>
        <p:spPr>
          <a:xfrm>
            <a:off x="21643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20,000 円/台日</a:t>
            </a:r>
            <a:endParaRPr sz="1230"/>
          </a:p>
        </p:txBody>
      </p:sp>
      <p:sp>
        <p:nvSpPr>
          <p:cNvPr id="17" name="Text 15">
            <a:extLst>
              <a:ext uri="{FF2B5EF4-FFF2-40B4-BE49-F238E27FC236}">
                <a16:creationId xmlns:a16="http://schemas.microsoft.com/office/drawing/2014/main" id="{9797BC7E-EE66-4E25-B03D-9CD3E8E2CE20}"/>
              </a:ext>
            </a:extLst>
          </p:cNvPr>
          <p:cNvSpPr>
            <a:spLocks noGrp="1"/>
          </p:cNvSpPr>
          <p:nvPr/>
        </p:nvSpPr>
        <p:spPr>
          <a:xfrm>
            <a:off x="8412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CO₂価格</a:t>
            </a:r>
            <a:endParaRPr sz="1230"/>
          </a:p>
        </p:txBody>
      </p:sp>
      <p:sp>
        <p:nvSpPr>
          <p:cNvPr id="18" name="Text 16">
            <a:extLst>
              <a:ext uri="{FF2B5EF4-FFF2-40B4-BE49-F238E27FC236}">
                <a16:creationId xmlns:a16="http://schemas.microsoft.com/office/drawing/2014/main" id="{3903C632-35D6-451B-9DA9-EB0746014309}"/>
              </a:ext>
            </a:extLst>
          </p:cNvPr>
          <p:cNvSpPr>
            <a:spLocks noGrp="1"/>
          </p:cNvSpPr>
          <p:nvPr/>
        </p:nvSpPr>
        <p:spPr>
          <a:xfrm>
            <a:off x="21643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 円/kg</a:t>
            </a:r>
            <a:endParaRPr sz="1230"/>
          </a:p>
        </p:txBody>
      </p:sp>
      <p:sp>
        <p:nvSpPr>
          <p:cNvPr id="19" name="Shape 17">
            <a:extLst>
              <a:ext uri="{FF2B5EF4-FFF2-40B4-BE49-F238E27FC236}">
                <a16:creationId xmlns:a16="http://schemas.microsoft.com/office/drawing/2014/main" id="{421626A3-C017-46E3-8A6C-F5770097F896}"/>
              </a:ext>
            </a:extLst>
          </p:cNvPr>
          <p:cNvSpPr>
            <a:spLocks noGrp="1"/>
          </p:cNvSpPr>
          <p:nvPr/>
        </p:nvSpPr>
        <p:spPr>
          <a:xfrm>
            <a:off x="758952" y="3895344"/>
            <a:ext cx="3374136" cy="502920"/>
          </a:xfrm>
          <a:prstGeom prst="rect">
            <a:avLst/>
          </a:prstGeom>
          <a:solidFill>
            <a:srgbClr val="F8FAFC"/>
          </a:solidFill>
          <a:ln w="12700">
            <a:solidFill>
              <a:srgbClr val="F8FAFC"/>
            </a:solidFill>
            <a:prstDash val="solid"/>
          </a:ln>
        </p:spPr>
        <p:txBody>
          <a:bodyPr/>
          <a:lstStyle/>
          <a:p>
            <a:endParaRPr/>
          </a:p>
        </p:txBody>
      </p:sp>
      <p:sp>
        <p:nvSpPr>
          <p:cNvPr id="20" name="Text 18">
            <a:extLst>
              <a:ext uri="{FF2B5EF4-FFF2-40B4-BE49-F238E27FC236}">
                <a16:creationId xmlns:a16="http://schemas.microsoft.com/office/drawing/2014/main" id="{A4479872-C0D4-427A-B55B-0126410E22AD}"/>
              </a:ext>
            </a:extLst>
          </p:cNvPr>
          <p:cNvSpPr>
            <a:spLocks noGrp="1"/>
          </p:cNvSpPr>
          <p:nvPr/>
        </p:nvSpPr>
        <p:spPr>
          <a:xfrm>
            <a:off x="8412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需要料金</a:t>
            </a:r>
            <a:endParaRPr sz="1230"/>
          </a:p>
        </p:txBody>
      </p:sp>
      <p:sp>
        <p:nvSpPr>
          <p:cNvPr id="21" name="Text 19">
            <a:extLst>
              <a:ext uri="{FF2B5EF4-FFF2-40B4-BE49-F238E27FC236}">
                <a16:creationId xmlns:a16="http://schemas.microsoft.com/office/drawing/2014/main" id="{B06BF83C-9FCA-45D9-AF76-5E362A4AA4DE}"/>
              </a:ext>
            </a:extLst>
          </p:cNvPr>
          <p:cNvSpPr>
            <a:spLocks noGrp="1"/>
          </p:cNvSpPr>
          <p:nvPr/>
        </p:nvSpPr>
        <p:spPr>
          <a:xfrm>
            <a:off x="21643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a:t>
            </a:r>
            <a:endParaRPr sz="1230"/>
          </a:p>
        </p:txBody>
      </p:sp>
      <p:sp>
        <p:nvSpPr>
          <p:cNvPr id="22" name="Text 20">
            <a:extLst>
              <a:ext uri="{FF2B5EF4-FFF2-40B4-BE49-F238E27FC236}">
                <a16:creationId xmlns:a16="http://schemas.microsoft.com/office/drawing/2014/main" id="{756AC043-3784-42A5-9C7D-31F038FB598E}"/>
              </a:ext>
            </a:extLst>
          </p:cNvPr>
          <p:cNvSpPr>
            <a:spLocks noGrp="1"/>
          </p:cNvSpPr>
          <p:nvPr/>
        </p:nvSpPr>
        <p:spPr>
          <a:xfrm>
            <a:off x="8412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売電単価</a:t>
            </a:r>
            <a:endParaRPr sz="1230"/>
          </a:p>
        </p:txBody>
      </p:sp>
      <p:sp>
        <p:nvSpPr>
          <p:cNvPr id="23" name="Text 21">
            <a:extLst>
              <a:ext uri="{FF2B5EF4-FFF2-40B4-BE49-F238E27FC236}">
                <a16:creationId xmlns:a16="http://schemas.microsoft.com/office/drawing/2014/main" id="{4540841A-80BB-46F0-A7B3-9E49C305D2D4}"/>
              </a:ext>
            </a:extLst>
          </p:cNvPr>
          <p:cNvSpPr>
            <a:spLocks noGrp="1"/>
          </p:cNvSpPr>
          <p:nvPr/>
        </p:nvSpPr>
        <p:spPr>
          <a:xfrm>
            <a:off x="21643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円/kWh</a:t>
            </a:r>
            <a:endParaRPr sz="1230"/>
          </a:p>
        </p:txBody>
      </p:sp>
      <p:sp>
        <p:nvSpPr>
          <p:cNvPr id="24" name="Shape 22">
            <a:extLst>
              <a:ext uri="{FF2B5EF4-FFF2-40B4-BE49-F238E27FC236}">
                <a16:creationId xmlns:a16="http://schemas.microsoft.com/office/drawing/2014/main" id="{31CA7CE1-6770-4404-90FB-813797A79004}"/>
              </a:ext>
            </a:extLst>
          </p:cNvPr>
          <p:cNvSpPr>
            <a:spLocks noGrp="1"/>
          </p:cNvSpPr>
          <p:nvPr/>
        </p:nvSpPr>
        <p:spPr>
          <a:xfrm>
            <a:off x="758952" y="5029200"/>
            <a:ext cx="3374136" cy="502920"/>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8B95ECCF-7385-479A-9ECE-7DE9C40C607D}"/>
              </a:ext>
            </a:extLst>
          </p:cNvPr>
          <p:cNvSpPr>
            <a:spLocks noGrp="1"/>
          </p:cNvSpPr>
          <p:nvPr/>
        </p:nvSpPr>
        <p:spPr>
          <a:xfrm>
            <a:off x="8412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含まない費用</a:t>
            </a:r>
            <a:endParaRPr sz="1230"/>
          </a:p>
        </p:txBody>
      </p:sp>
      <p:sp>
        <p:nvSpPr>
          <p:cNvPr id="26" name="Text 24">
            <a:extLst>
              <a:ext uri="{FF2B5EF4-FFF2-40B4-BE49-F238E27FC236}">
                <a16:creationId xmlns:a16="http://schemas.microsoft.com/office/drawing/2014/main" id="{358BC8F8-57FD-4B09-8251-7F343D949463}"/>
              </a:ext>
            </a:extLst>
          </p:cNvPr>
          <p:cNvSpPr>
            <a:spLocks noGrp="1"/>
          </p:cNvSpPr>
          <p:nvPr/>
        </p:nvSpPr>
        <p:spPr>
          <a:xfrm>
            <a:off x="2164385" y="5065776"/>
            <a:ext cx="1865833" cy="338328"/>
          </a:xfrm>
          <a:prstGeom prst="rect">
            <a:avLst/>
          </a:prstGeom>
          <a:noFill/>
        </p:spPr>
        <p:txBody>
          <a:bodyPr wrap="square" lIns="0" tIns="0" rIns="0" bIns="0" anchor="ctr">
            <a:normAutofit lnSpcReduction="10000"/>
          </a:bodyPr>
          <a:lstStyle/>
          <a:p>
            <a:pPr marL="0" indent="0" algn="r">
              <a:buNone/>
            </a:pPr>
            <a:r>
              <a:rPr sz="1230">
                <a:solidFill>
                  <a:srgbClr val="687386"/>
                </a:solidFill>
                <a:latin typeface="Noto Sans CJK JP"/>
                <a:ea typeface="Noto Sans CJK JP"/>
                <a:cs typeface="Noto Sans CJK JP"/>
              </a:rPr>
              <a:t>設備費・劣化費・運転士費</a:t>
            </a:r>
            <a:endParaRPr sz="1230"/>
          </a:p>
        </p:txBody>
      </p:sp>
      <p:sp>
        <p:nvSpPr>
          <p:cNvPr id="27" name="Shape 25">
            <a:extLst>
              <a:ext uri="{FF2B5EF4-FFF2-40B4-BE49-F238E27FC236}">
                <a16:creationId xmlns:a16="http://schemas.microsoft.com/office/drawing/2014/main" id="{2FB4BE6A-C2D6-4FD0-8ED4-632BCBBDFED1}"/>
              </a:ext>
            </a:extLst>
          </p:cNvPr>
          <p:cNvSpPr>
            <a:spLocks noGrp="1"/>
          </p:cNvSpPr>
          <p:nvPr/>
        </p:nvSpPr>
        <p:spPr>
          <a:xfrm>
            <a:off x="43434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8" name="Shape 26">
            <a:extLst>
              <a:ext uri="{FF2B5EF4-FFF2-40B4-BE49-F238E27FC236}">
                <a16:creationId xmlns:a16="http://schemas.microsoft.com/office/drawing/2014/main" id="{575E5619-E8C6-4C78-AAF2-D6B045EABE79}"/>
              </a:ext>
            </a:extLst>
          </p:cNvPr>
          <p:cNvSpPr>
            <a:spLocks noGrp="1"/>
          </p:cNvSpPr>
          <p:nvPr/>
        </p:nvSpPr>
        <p:spPr>
          <a:xfrm>
            <a:off x="4343400" y="1097280"/>
            <a:ext cx="3520440" cy="438912"/>
          </a:xfrm>
          <a:prstGeom prst="rect">
            <a:avLst/>
          </a:prstGeom>
          <a:solidFill>
            <a:srgbClr val="356BB3"/>
          </a:solidFill>
          <a:ln w="12700">
            <a:solidFill>
              <a:srgbClr val="356BB3"/>
            </a:solidFill>
            <a:prstDash val="solid"/>
          </a:ln>
        </p:spPr>
        <p:txBody>
          <a:bodyPr/>
          <a:lstStyle/>
          <a:p>
            <a:endParaRPr/>
          </a:p>
        </p:txBody>
      </p:sp>
      <p:sp>
        <p:nvSpPr>
          <p:cNvPr id="29" name="Text 27">
            <a:extLst>
              <a:ext uri="{FF2B5EF4-FFF2-40B4-BE49-F238E27FC236}">
                <a16:creationId xmlns:a16="http://schemas.microsoft.com/office/drawing/2014/main" id="{4F5B923D-537D-4331-89D0-A503C36BEA3C}"/>
              </a:ext>
            </a:extLst>
          </p:cNvPr>
          <p:cNvSpPr>
            <a:spLocks noGrp="1"/>
          </p:cNvSpPr>
          <p:nvPr/>
        </p:nvSpPr>
        <p:spPr>
          <a:xfrm>
            <a:off x="44531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計算の設定</a:t>
            </a:r>
            <a:endParaRPr sz="1650"/>
          </a:p>
        </p:txBody>
      </p:sp>
      <p:sp>
        <p:nvSpPr>
          <p:cNvPr id="30" name="Shape 28">
            <a:extLst>
              <a:ext uri="{FF2B5EF4-FFF2-40B4-BE49-F238E27FC236}">
                <a16:creationId xmlns:a16="http://schemas.microsoft.com/office/drawing/2014/main" id="{A87C6D16-32E6-4B09-B39C-F760C883E4DF}"/>
              </a:ext>
            </a:extLst>
          </p:cNvPr>
          <p:cNvSpPr>
            <a:spLocks noGrp="1"/>
          </p:cNvSpPr>
          <p:nvPr/>
        </p:nvSpPr>
        <p:spPr>
          <a:xfrm>
            <a:off x="4416552" y="1627632"/>
            <a:ext cx="3374136" cy="502920"/>
          </a:xfrm>
          <a:prstGeom prst="rect">
            <a:avLst/>
          </a:prstGeom>
          <a:solidFill>
            <a:srgbClr val="F8FAFC"/>
          </a:solidFill>
          <a:ln w="12700">
            <a:solidFill>
              <a:srgbClr val="F8FAFC"/>
            </a:solidFill>
            <a:prstDash val="solid"/>
          </a:ln>
        </p:spPr>
        <p:txBody>
          <a:bodyPr/>
          <a:lstStyle/>
          <a:p>
            <a:endParaRPr/>
          </a:p>
        </p:txBody>
      </p:sp>
      <p:sp>
        <p:nvSpPr>
          <p:cNvPr id="31" name="Text 29">
            <a:extLst>
              <a:ext uri="{FF2B5EF4-FFF2-40B4-BE49-F238E27FC236}">
                <a16:creationId xmlns:a16="http://schemas.microsoft.com/office/drawing/2014/main" id="{EBEB9F09-88A1-487C-BF61-184299A139AA}"/>
              </a:ext>
            </a:extLst>
          </p:cNvPr>
          <p:cNvSpPr>
            <a:spLocks noGrp="1"/>
          </p:cNvSpPr>
          <p:nvPr/>
        </p:nvSpPr>
        <p:spPr>
          <a:xfrm>
            <a:off x="44988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計算方式</a:t>
            </a:r>
            <a:endParaRPr sz="1230"/>
          </a:p>
        </p:txBody>
      </p:sp>
      <p:sp>
        <p:nvSpPr>
          <p:cNvPr id="32" name="Text 30">
            <a:extLst>
              <a:ext uri="{FF2B5EF4-FFF2-40B4-BE49-F238E27FC236}">
                <a16:creationId xmlns:a16="http://schemas.microsoft.com/office/drawing/2014/main" id="{E1D212F2-B5B7-49B8-BDBC-10EA7B2DE0E6}"/>
              </a:ext>
            </a:extLst>
          </p:cNvPr>
          <p:cNvSpPr>
            <a:spLocks noGrp="1"/>
          </p:cNvSpPr>
          <p:nvPr/>
        </p:nvSpPr>
        <p:spPr>
          <a:xfrm>
            <a:off x="58219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二段階方式</a:t>
            </a:r>
            <a:endParaRPr sz="1230"/>
          </a:p>
        </p:txBody>
      </p:sp>
      <p:sp>
        <p:nvSpPr>
          <p:cNvPr id="33" name="Text 31">
            <a:extLst>
              <a:ext uri="{FF2B5EF4-FFF2-40B4-BE49-F238E27FC236}">
                <a16:creationId xmlns:a16="http://schemas.microsoft.com/office/drawing/2014/main" id="{595091FF-DE2D-49B5-B2AC-3ACD8BAA0AE6}"/>
              </a:ext>
            </a:extLst>
          </p:cNvPr>
          <p:cNvSpPr>
            <a:spLocks noGrp="1"/>
          </p:cNvSpPr>
          <p:nvPr/>
        </p:nvSpPr>
        <p:spPr>
          <a:xfrm>
            <a:off x="44988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全体上限</a:t>
            </a:r>
            <a:endParaRPr sz="1230"/>
          </a:p>
        </p:txBody>
      </p:sp>
      <p:sp>
        <p:nvSpPr>
          <p:cNvPr id="34" name="Text 32">
            <a:extLst>
              <a:ext uri="{FF2B5EF4-FFF2-40B4-BE49-F238E27FC236}">
                <a16:creationId xmlns:a16="http://schemas.microsoft.com/office/drawing/2014/main" id="{E0CE6D66-6BA2-432C-BD96-1670788C8A06}"/>
              </a:ext>
            </a:extLst>
          </p:cNvPr>
          <p:cNvSpPr>
            <a:spLocks noGrp="1"/>
          </p:cNvSpPr>
          <p:nvPr/>
        </p:nvSpPr>
        <p:spPr>
          <a:xfrm>
            <a:off x="58219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585秒</a:t>
            </a:r>
            <a:endParaRPr sz="1230"/>
          </a:p>
        </p:txBody>
      </p:sp>
      <p:sp>
        <p:nvSpPr>
          <p:cNvPr id="35" name="Shape 33">
            <a:extLst>
              <a:ext uri="{FF2B5EF4-FFF2-40B4-BE49-F238E27FC236}">
                <a16:creationId xmlns:a16="http://schemas.microsoft.com/office/drawing/2014/main" id="{800E2987-D1F5-4F60-A880-4D8AE922E511}"/>
              </a:ext>
            </a:extLst>
          </p:cNvPr>
          <p:cNvSpPr>
            <a:spLocks noGrp="1"/>
          </p:cNvSpPr>
          <p:nvPr/>
        </p:nvSpPr>
        <p:spPr>
          <a:xfrm>
            <a:off x="4416552" y="2761488"/>
            <a:ext cx="3374136" cy="502920"/>
          </a:xfrm>
          <a:prstGeom prst="rect">
            <a:avLst/>
          </a:prstGeom>
          <a:solidFill>
            <a:srgbClr val="F8FAFC"/>
          </a:solidFill>
          <a:ln w="12700">
            <a:solidFill>
              <a:srgbClr val="F8FAFC"/>
            </a:solidFill>
            <a:prstDash val="solid"/>
          </a:ln>
        </p:spPr>
        <p:txBody>
          <a:bodyPr/>
          <a:lstStyle/>
          <a:p>
            <a:endParaRPr/>
          </a:p>
        </p:txBody>
      </p:sp>
      <p:sp>
        <p:nvSpPr>
          <p:cNvPr id="36" name="Text 34">
            <a:extLst>
              <a:ext uri="{FF2B5EF4-FFF2-40B4-BE49-F238E27FC236}">
                <a16:creationId xmlns:a16="http://schemas.microsoft.com/office/drawing/2014/main" id="{3508A801-337F-4E32-9E2B-8A1EAF44CCC2}"/>
              </a:ext>
            </a:extLst>
          </p:cNvPr>
          <p:cNvSpPr>
            <a:spLocks noGrp="1"/>
          </p:cNvSpPr>
          <p:nvPr/>
        </p:nvSpPr>
        <p:spPr>
          <a:xfrm>
            <a:off x="44988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配車側上限</a:t>
            </a:r>
            <a:endParaRPr sz="1230"/>
          </a:p>
        </p:txBody>
      </p:sp>
      <p:sp>
        <p:nvSpPr>
          <p:cNvPr id="37" name="Text 35">
            <a:extLst>
              <a:ext uri="{FF2B5EF4-FFF2-40B4-BE49-F238E27FC236}">
                <a16:creationId xmlns:a16="http://schemas.microsoft.com/office/drawing/2014/main" id="{D96A02C1-5289-4FF2-964F-4C45FB27ED1F}"/>
              </a:ext>
            </a:extLst>
          </p:cNvPr>
          <p:cNvSpPr>
            <a:spLocks noGrp="1"/>
          </p:cNvSpPr>
          <p:nvPr/>
        </p:nvSpPr>
        <p:spPr>
          <a:xfrm>
            <a:off x="58219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435秒</a:t>
            </a:r>
            <a:endParaRPr sz="1230"/>
          </a:p>
        </p:txBody>
      </p:sp>
      <p:sp>
        <p:nvSpPr>
          <p:cNvPr id="38" name="Text 36">
            <a:extLst>
              <a:ext uri="{FF2B5EF4-FFF2-40B4-BE49-F238E27FC236}">
                <a16:creationId xmlns:a16="http://schemas.microsoft.com/office/drawing/2014/main" id="{C6CB0A2C-B86A-4BDA-B17F-FA731C81A009}"/>
              </a:ext>
            </a:extLst>
          </p:cNvPr>
          <p:cNvSpPr>
            <a:spLocks noGrp="1"/>
          </p:cNvSpPr>
          <p:nvPr/>
        </p:nvSpPr>
        <p:spPr>
          <a:xfrm>
            <a:off x="44988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充電側上限</a:t>
            </a:r>
            <a:endParaRPr sz="1230"/>
          </a:p>
        </p:txBody>
      </p:sp>
      <p:sp>
        <p:nvSpPr>
          <p:cNvPr id="39" name="Text 37">
            <a:extLst>
              <a:ext uri="{FF2B5EF4-FFF2-40B4-BE49-F238E27FC236}">
                <a16:creationId xmlns:a16="http://schemas.microsoft.com/office/drawing/2014/main" id="{39487F8F-EC0A-4C26-8369-723989D65645}"/>
              </a:ext>
            </a:extLst>
          </p:cNvPr>
          <p:cNvSpPr>
            <a:spLocks noGrp="1"/>
          </p:cNvSpPr>
          <p:nvPr/>
        </p:nvSpPr>
        <p:spPr>
          <a:xfrm>
            <a:off x="58219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30秒／候補</a:t>
            </a:r>
            <a:endParaRPr sz="1230"/>
          </a:p>
        </p:txBody>
      </p:sp>
      <p:sp>
        <p:nvSpPr>
          <p:cNvPr id="40" name="Shape 38">
            <a:extLst>
              <a:ext uri="{FF2B5EF4-FFF2-40B4-BE49-F238E27FC236}">
                <a16:creationId xmlns:a16="http://schemas.microsoft.com/office/drawing/2014/main" id="{0FD3B2ED-DBFD-4B0B-9B78-3D0E9E714394}"/>
              </a:ext>
            </a:extLst>
          </p:cNvPr>
          <p:cNvSpPr>
            <a:spLocks noGrp="1"/>
          </p:cNvSpPr>
          <p:nvPr/>
        </p:nvSpPr>
        <p:spPr>
          <a:xfrm>
            <a:off x="4416552" y="3895344"/>
            <a:ext cx="3374136" cy="502920"/>
          </a:xfrm>
          <a:prstGeom prst="rect">
            <a:avLst/>
          </a:prstGeom>
          <a:solidFill>
            <a:srgbClr val="F8FAFC"/>
          </a:solidFill>
          <a:ln w="12700">
            <a:solidFill>
              <a:srgbClr val="F8FAFC"/>
            </a:solidFill>
            <a:prstDash val="solid"/>
          </a:ln>
        </p:spPr>
        <p:txBody>
          <a:bodyPr/>
          <a:lstStyle/>
          <a:p>
            <a:endParaRPr/>
          </a:p>
        </p:txBody>
      </p:sp>
      <p:sp>
        <p:nvSpPr>
          <p:cNvPr id="41" name="Text 39">
            <a:extLst>
              <a:ext uri="{FF2B5EF4-FFF2-40B4-BE49-F238E27FC236}">
                <a16:creationId xmlns:a16="http://schemas.microsoft.com/office/drawing/2014/main" id="{80A08E88-83E0-4389-A287-9504FB04B5AF}"/>
              </a:ext>
            </a:extLst>
          </p:cNvPr>
          <p:cNvSpPr>
            <a:spLocks noGrp="1"/>
          </p:cNvSpPr>
          <p:nvPr/>
        </p:nvSpPr>
        <p:spPr>
          <a:xfrm>
            <a:off x="44988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乱数seed</a:t>
            </a:r>
            <a:endParaRPr sz="1230"/>
          </a:p>
        </p:txBody>
      </p:sp>
      <p:sp>
        <p:nvSpPr>
          <p:cNvPr id="42" name="Text 40">
            <a:extLst>
              <a:ext uri="{FF2B5EF4-FFF2-40B4-BE49-F238E27FC236}">
                <a16:creationId xmlns:a16="http://schemas.microsoft.com/office/drawing/2014/main" id="{7E98C2A6-03FF-47A2-9EE8-EDC4A2FDDB89}"/>
              </a:ext>
            </a:extLst>
          </p:cNvPr>
          <p:cNvSpPr>
            <a:spLocks noGrp="1"/>
          </p:cNvSpPr>
          <p:nvPr/>
        </p:nvSpPr>
        <p:spPr>
          <a:xfrm>
            <a:off x="58219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42</a:t>
            </a:r>
            <a:endParaRPr sz="1230"/>
          </a:p>
        </p:txBody>
      </p:sp>
      <p:sp>
        <p:nvSpPr>
          <p:cNvPr id="43" name="Text 41">
            <a:extLst>
              <a:ext uri="{FF2B5EF4-FFF2-40B4-BE49-F238E27FC236}">
                <a16:creationId xmlns:a16="http://schemas.microsoft.com/office/drawing/2014/main" id="{2F2A8A8E-7927-4955-B39D-CEDA407E11ED}"/>
              </a:ext>
            </a:extLst>
          </p:cNvPr>
          <p:cNvSpPr>
            <a:spLocks noGrp="1"/>
          </p:cNvSpPr>
          <p:nvPr/>
        </p:nvSpPr>
        <p:spPr>
          <a:xfrm>
            <a:off x="44988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CPU thread</a:t>
            </a:r>
            <a:endParaRPr sz="1230"/>
          </a:p>
        </p:txBody>
      </p:sp>
      <p:sp>
        <p:nvSpPr>
          <p:cNvPr id="44" name="Text 42">
            <a:extLst>
              <a:ext uri="{FF2B5EF4-FFF2-40B4-BE49-F238E27FC236}">
                <a16:creationId xmlns:a16="http://schemas.microsoft.com/office/drawing/2014/main" id="{D21BD47E-E6A6-4197-9AE5-96FAAAFE9323}"/>
              </a:ext>
            </a:extLst>
          </p:cNvPr>
          <p:cNvSpPr>
            <a:spLocks noGrp="1"/>
          </p:cNvSpPr>
          <p:nvPr/>
        </p:nvSpPr>
        <p:spPr>
          <a:xfrm>
            <a:off x="58219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a:t>
            </a:r>
            <a:endParaRPr sz="1230"/>
          </a:p>
        </p:txBody>
      </p:sp>
      <p:sp>
        <p:nvSpPr>
          <p:cNvPr id="45" name="Shape 43">
            <a:extLst>
              <a:ext uri="{FF2B5EF4-FFF2-40B4-BE49-F238E27FC236}">
                <a16:creationId xmlns:a16="http://schemas.microsoft.com/office/drawing/2014/main" id="{C7B2E4DE-0160-4CE5-AA85-2C2FC3B39A11}"/>
              </a:ext>
            </a:extLst>
          </p:cNvPr>
          <p:cNvSpPr>
            <a:spLocks noGrp="1"/>
          </p:cNvSpPr>
          <p:nvPr/>
        </p:nvSpPr>
        <p:spPr>
          <a:xfrm>
            <a:off x="4416552" y="5029200"/>
            <a:ext cx="3374136" cy="502920"/>
          </a:xfrm>
          <a:prstGeom prst="rect">
            <a:avLst/>
          </a:prstGeom>
          <a:solidFill>
            <a:srgbClr val="F8FAFC"/>
          </a:solidFill>
          <a:ln w="12700">
            <a:solidFill>
              <a:srgbClr val="F8FAFC"/>
            </a:solidFill>
            <a:prstDash val="solid"/>
          </a:ln>
        </p:spPr>
        <p:txBody>
          <a:bodyPr/>
          <a:lstStyle/>
          <a:p>
            <a:endParaRPr/>
          </a:p>
        </p:txBody>
      </p:sp>
      <p:sp>
        <p:nvSpPr>
          <p:cNvPr id="46" name="Text 44">
            <a:extLst>
              <a:ext uri="{FF2B5EF4-FFF2-40B4-BE49-F238E27FC236}">
                <a16:creationId xmlns:a16="http://schemas.microsoft.com/office/drawing/2014/main" id="{72BD7AC5-314F-41F0-B271-01F9F4D8BF1A}"/>
              </a:ext>
            </a:extLst>
          </p:cNvPr>
          <p:cNvSpPr>
            <a:spLocks noGrp="1"/>
          </p:cNvSpPr>
          <p:nvPr/>
        </p:nvSpPr>
        <p:spPr>
          <a:xfrm>
            <a:off x="44988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目標gap</a:t>
            </a:r>
            <a:endParaRPr sz="1230"/>
          </a:p>
        </p:txBody>
      </p:sp>
      <p:sp>
        <p:nvSpPr>
          <p:cNvPr id="47" name="Text 45">
            <a:extLst>
              <a:ext uri="{FF2B5EF4-FFF2-40B4-BE49-F238E27FC236}">
                <a16:creationId xmlns:a16="http://schemas.microsoft.com/office/drawing/2014/main" id="{EF118C5E-A08A-47BF-AA63-59ED8E34DFC8}"/>
              </a:ext>
            </a:extLst>
          </p:cNvPr>
          <p:cNvSpPr>
            <a:spLocks noGrp="1"/>
          </p:cNvSpPr>
          <p:nvPr/>
        </p:nvSpPr>
        <p:spPr>
          <a:xfrm>
            <a:off x="58219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a:t>
            </a:r>
            <a:endParaRPr sz="1230"/>
          </a:p>
        </p:txBody>
      </p:sp>
      <p:sp>
        <p:nvSpPr>
          <p:cNvPr id="48" name="Shape 46">
            <a:extLst>
              <a:ext uri="{FF2B5EF4-FFF2-40B4-BE49-F238E27FC236}">
                <a16:creationId xmlns:a16="http://schemas.microsoft.com/office/drawing/2014/main" id="{AAE485A2-D914-4F9D-ACB6-21470F1EBFFC}"/>
              </a:ext>
            </a:extLst>
          </p:cNvPr>
          <p:cNvSpPr>
            <a:spLocks noGrp="1"/>
          </p:cNvSpPr>
          <p:nvPr/>
        </p:nvSpPr>
        <p:spPr>
          <a:xfrm>
            <a:off x="80010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49" name="Shape 47">
            <a:extLst>
              <a:ext uri="{FF2B5EF4-FFF2-40B4-BE49-F238E27FC236}">
                <a16:creationId xmlns:a16="http://schemas.microsoft.com/office/drawing/2014/main" id="{023ED6AC-0E9F-4B23-8241-379350DD4C33}"/>
              </a:ext>
            </a:extLst>
          </p:cNvPr>
          <p:cNvSpPr>
            <a:spLocks noGrp="1"/>
          </p:cNvSpPr>
          <p:nvPr/>
        </p:nvSpPr>
        <p:spPr>
          <a:xfrm>
            <a:off x="8001000" y="1097280"/>
            <a:ext cx="3520440" cy="438912"/>
          </a:xfrm>
          <a:prstGeom prst="rect">
            <a:avLst/>
          </a:prstGeom>
          <a:solidFill>
            <a:srgbClr val="1F9D8A"/>
          </a:solidFill>
          <a:ln w="12700">
            <a:solidFill>
              <a:srgbClr val="1F9D8A"/>
            </a:solidFill>
            <a:prstDash val="solid"/>
          </a:ln>
        </p:spPr>
        <p:txBody>
          <a:bodyPr/>
          <a:lstStyle/>
          <a:p>
            <a:endParaRPr/>
          </a:p>
        </p:txBody>
      </p:sp>
      <p:sp>
        <p:nvSpPr>
          <p:cNvPr id="50" name="Text 48">
            <a:extLst>
              <a:ext uri="{FF2B5EF4-FFF2-40B4-BE49-F238E27FC236}">
                <a16:creationId xmlns:a16="http://schemas.microsoft.com/office/drawing/2014/main" id="{06BE499C-CF94-480F-A3E8-BB05D74963F8}"/>
              </a:ext>
            </a:extLst>
          </p:cNvPr>
          <p:cNvSpPr>
            <a:spLocks noGrp="1"/>
          </p:cNvSpPr>
          <p:nvPr/>
        </p:nvSpPr>
        <p:spPr>
          <a:xfrm>
            <a:off x="81107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候補比較の設定</a:t>
            </a:r>
            <a:endParaRPr sz="1650"/>
          </a:p>
        </p:txBody>
      </p:sp>
      <p:sp>
        <p:nvSpPr>
          <p:cNvPr id="51" name="Shape 49">
            <a:extLst>
              <a:ext uri="{FF2B5EF4-FFF2-40B4-BE49-F238E27FC236}">
                <a16:creationId xmlns:a16="http://schemas.microsoft.com/office/drawing/2014/main" id="{F6EF3D38-A057-40C5-AFB6-A4BB977B1302}"/>
              </a:ext>
            </a:extLst>
          </p:cNvPr>
          <p:cNvSpPr>
            <a:spLocks noGrp="1"/>
          </p:cNvSpPr>
          <p:nvPr/>
        </p:nvSpPr>
        <p:spPr>
          <a:xfrm>
            <a:off x="8074152" y="1627632"/>
            <a:ext cx="3374136" cy="502920"/>
          </a:xfrm>
          <a:prstGeom prst="rect">
            <a:avLst/>
          </a:prstGeom>
          <a:solidFill>
            <a:srgbClr val="F8FAFC"/>
          </a:solidFill>
          <a:ln w="12700">
            <a:solidFill>
              <a:srgbClr val="F8FAFC"/>
            </a:solidFill>
            <a:prstDash val="solid"/>
          </a:ln>
        </p:spPr>
        <p:txBody>
          <a:bodyPr/>
          <a:lstStyle/>
          <a:p>
            <a:endParaRPr/>
          </a:p>
        </p:txBody>
      </p:sp>
      <p:sp>
        <p:nvSpPr>
          <p:cNvPr id="52" name="Text 50">
            <a:extLst>
              <a:ext uri="{FF2B5EF4-FFF2-40B4-BE49-F238E27FC236}">
                <a16:creationId xmlns:a16="http://schemas.microsoft.com/office/drawing/2014/main" id="{F5FB37FD-B886-4EEB-BC09-6C2DF2E6EC60}"/>
              </a:ext>
            </a:extLst>
          </p:cNvPr>
          <p:cNvSpPr>
            <a:spLocks noGrp="1"/>
          </p:cNvSpPr>
          <p:nvPr/>
        </p:nvSpPr>
        <p:spPr>
          <a:xfrm>
            <a:off x="81564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評価候補数</a:t>
            </a:r>
            <a:endParaRPr sz="1230"/>
          </a:p>
        </p:txBody>
      </p:sp>
      <p:sp>
        <p:nvSpPr>
          <p:cNvPr id="53" name="Text 51">
            <a:extLst>
              <a:ext uri="{FF2B5EF4-FFF2-40B4-BE49-F238E27FC236}">
                <a16:creationId xmlns:a16="http://schemas.microsoft.com/office/drawing/2014/main" id="{6BCA7291-30B2-4080-8790-27BE7B447E21}"/>
              </a:ext>
            </a:extLst>
          </p:cNvPr>
          <p:cNvSpPr>
            <a:spLocks noGrp="1"/>
          </p:cNvSpPr>
          <p:nvPr/>
        </p:nvSpPr>
        <p:spPr>
          <a:xfrm>
            <a:off x="94795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22案</a:t>
            </a:r>
            <a:endParaRPr sz="1230"/>
          </a:p>
        </p:txBody>
      </p:sp>
      <p:sp>
        <p:nvSpPr>
          <p:cNvPr id="54" name="Text 52">
            <a:extLst>
              <a:ext uri="{FF2B5EF4-FFF2-40B4-BE49-F238E27FC236}">
                <a16:creationId xmlns:a16="http://schemas.microsoft.com/office/drawing/2014/main" id="{6C1A1828-8920-4504-9E7B-73DBDC5C58CA}"/>
              </a:ext>
            </a:extLst>
          </p:cNvPr>
          <p:cNvSpPr>
            <a:spLocks noGrp="1"/>
          </p:cNvSpPr>
          <p:nvPr/>
        </p:nvSpPr>
        <p:spPr>
          <a:xfrm>
            <a:off x="81564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構成探索幅</a:t>
            </a:r>
            <a:endParaRPr sz="1230"/>
          </a:p>
        </p:txBody>
      </p:sp>
      <p:sp>
        <p:nvSpPr>
          <p:cNvPr id="55" name="Text 53">
            <a:extLst>
              <a:ext uri="{FF2B5EF4-FFF2-40B4-BE49-F238E27FC236}">
                <a16:creationId xmlns:a16="http://schemas.microsoft.com/office/drawing/2014/main" id="{C6678595-F97A-4216-8AE3-CBC85693C901}"/>
              </a:ext>
            </a:extLst>
          </p:cNvPr>
          <p:cNvSpPr>
            <a:spLocks noGrp="1"/>
          </p:cNvSpPr>
          <p:nvPr/>
        </p:nvSpPr>
        <p:spPr>
          <a:xfrm>
            <a:off x="94795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±4台相当</a:t>
            </a:r>
            <a:endParaRPr sz="1230"/>
          </a:p>
        </p:txBody>
      </p:sp>
      <p:sp>
        <p:nvSpPr>
          <p:cNvPr id="56" name="Shape 54">
            <a:extLst>
              <a:ext uri="{FF2B5EF4-FFF2-40B4-BE49-F238E27FC236}">
                <a16:creationId xmlns:a16="http://schemas.microsoft.com/office/drawing/2014/main" id="{4457F84C-8F67-4F25-987D-236037AB566B}"/>
              </a:ext>
            </a:extLst>
          </p:cNvPr>
          <p:cNvSpPr>
            <a:spLocks noGrp="1"/>
          </p:cNvSpPr>
          <p:nvPr/>
        </p:nvSpPr>
        <p:spPr>
          <a:xfrm>
            <a:off x="8074152" y="2761488"/>
            <a:ext cx="3374136" cy="502920"/>
          </a:xfrm>
          <a:prstGeom prst="rect">
            <a:avLst/>
          </a:prstGeom>
          <a:solidFill>
            <a:srgbClr val="F8FAFC"/>
          </a:solidFill>
          <a:ln w="12700">
            <a:solidFill>
              <a:srgbClr val="F8FAFC"/>
            </a:solidFill>
            <a:prstDash val="solid"/>
          </a:ln>
        </p:spPr>
        <p:txBody>
          <a:bodyPr/>
          <a:lstStyle/>
          <a:p>
            <a:endParaRPr/>
          </a:p>
        </p:txBody>
      </p:sp>
      <p:sp>
        <p:nvSpPr>
          <p:cNvPr id="57" name="Text 55">
            <a:extLst>
              <a:ext uri="{FF2B5EF4-FFF2-40B4-BE49-F238E27FC236}">
                <a16:creationId xmlns:a16="http://schemas.microsoft.com/office/drawing/2014/main" id="{10419867-8D44-42F6-A4CA-59550A7C6888}"/>
              </a:ext>
            </a:extLst>
          </p:cNvPr>
          <p:cNvSpPr>
            <a:spLocks noGrp="1"/>
          </p:cNvSpPr>
          <p:nvPr/>
        </p:nvSpPr>
        <p:spPr>
          <a:xfrm>
            <a:off x="81564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BEV候補範囲</a:t>
            </a:r>
            <a:endParaRPr sz="1230"/>
          </a:p>
        </p:txBody>
      </p:sp>
      <p:sp>
        <p:nvSpPr>
          <p:cNvPr id="58" name="Text 56">
            <a:extLst>
              <a:ext uri="{FF2B5EF4-FFF2-40B4-BE49-F238E27FC236}">
                <a16:creationId xmlns:a16="http://schemas.microsoft.com/office/drawing/2014/main" id="{BABF9501-37C4-401A-9926-1E628F7E825C}"/>
              </a:ext>
            </a:extLst>
          </p:cNvPr>
          <p:cNvSpPr>
            <a:spLocks noGrp="1"/>
          </p:cNvSpPr>
          <p:nvPr/>
        </p:nvSpPr>
        <p:spPr>
          <a:xfrm>
            <a:off x="94795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15～35台</a:t>
            </a:r>
            <a:endParaRPr sz="1230"/>
          </a:p>
        </p:txBody>
      </p:sp>
      <p:sp>
        <p:nvSpPr>
          <p:cNvPr id="59" name="Text 57">
            <a:extLst>
              <a:ext uri="{FF2B5EF4-FFF2-40B4-BE49-F238E27FC236}">
                <a16:creationId xmlns:a16="http://schemas.microsoft.com/office/drawing/2014/main" id="{5F4F837E-C3EE-4E92-BAD1-B3BCF83BF625}"/>
              </a:ext>
            </a:extLst>
          </p:cNvPr>
          <p:cNvSpPr>
            <a:spLocks noGrp="1"/>
          </p:cNvSpPr>
          <p:nvPr/>
        </p:nvSpPr>
        <p:spPr>
          <a:xfrm>
            <a:off x="81564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候補探索時間</a:t>
            </a:r>
            <a:endParaRPr sz="1230"/>
          </a:p>
        </p:txBody>
      </p:sp>
      <p:sp>
        <p:nvSpPr>
          <p:cNvPr id="60" name="Text 58">
            <a:extLst>
              <a:ext uri="{FF2B5EF4-FFF2-40B4-BE49-F238E27FC236}">
                <a16:creationId xmlns:a16="http://schemas.microsoft.com/office/drawing/2014/main" id="{EFC6CE69-FF63-460A-8290-70B82FCE2773}"/>
              </a:ext>
            </a:extLst>
          </p:cNvPr>
          <p:cNvSpPr>
            <a:spLocks noGrp="1"/>
          </p:cNvSpPr>
          <p:nvPr/>
        </p:nvSpPr>
        <p:spPr>
          <a:xfrm>
            <a:off x="94795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120秒</a:t>
            </a:r>
            <a:endParaRPr sz="1230"/>
          </a:p>
        </p:txBody>
      </p:sp>
      <p:sp>
        <p:nvSpPr>
          <p:cNvPr id="61" name="Shape 59">
            <a:extLst>
              <a:ext uri="{FF2B5EF4-FFF2-40B4-BE49-F238E27FC236}">
                <a16:creationId xmlns:a16="http://schemas.microsoft.com/office/drawing/2014/main" id="{94F233CA-B6B1-404C-B23E-4A8291198D4D}"/>
              </a:ext>
            </a:extLst>
          </p:cNvPr>
          <p:cNvSpPr>
            <a:spLocks noGrp="1"/>
          </p:cNvSpPr>
          <p:nvPr/>
        </p:nvSpPr>
        <p:spPr>
          <a:xfrm>
            <a:off x="8074152" y="3895344"/>
            <a:ext cx="3374136" cy="502920"/>
          </a:xfrm>
          <a:prstGeom prst="rect">
            <a:avLst/>
          </a:prstGeom>
          <a:solidFill>
            <a:srgbClr val="F8FAFC"/>
          </a:solidFill>
          <a:ln w="12700">
            <a:solidFill>
              <a:srgbClr val="F8FAFC"/>
            </a:solidFill>
            <a:prstDash val="solid"/>
          </a:ln>
        </p:spPr>
        <p:txBody>
          <a:bodyPr/>
          <a:lstStyle/>
          <a:p>
            <a:endParaRPr/>
          </a:p>
        </p:txBody>
      </p:sp>
      <p:sp>
        <p:nvSpPr>
          <p:cNvPr id="62" name="Text 60">
            <a:extLst>
              <a:ext uri="{FF2B5EF4-FFF2-40B4-BE49-F238E27FC236}">
                <a16:creationId xmlns:a16="http://schemas.microsoft.com/office/drawing/2014/main" id="{F0F628B2-1B72-4C6D-8D01-A97EAF30C088}"/>
              </a:ext>
            </a:extLst>
          </p:cNvPr>
          <p:cNvSpPr>
            <a:spLocks noGrp="1"/>
          </p:cNvSpPr>
          <p:nvPr/>
        </p:nvSpPr>
        <p:spPr>
          <a:xfrm>
            <a:off x="81564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最終選択</a:t>
            </a:r>
            <a:endParaRPr sz="1230"/>
          </a:p>
        </p:txBody>
      </p:sp>
      <p:sp>
        <p:nvSpPr>
          <p:cNvPr id="63" name="Text 61">
            <a:extLst>
              <a:ext uri="{FF2B5EF4-FFF2-40B4-BE49-F238E27FC236}">
                <a16:creationId xmlns:a16="http://schemas.microsoft.com/office/drawing/2014/main" id="{A441EA04-1122-4AA7-95A0-0119E79D81C3}"/>
              </a:ext>
            </a:extLst>
          </p:cNvPr>
          <p:cNvSpPr>
            <a:spLocks noGrp="1"/>
          </p:cNvSpPr>
          <p:nvPr/>
        </p:nvSpPr>
        <p:spPr>
          <a:xfrm>
            <a:off x="94795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費用→使用台数→配車ID</a:t>
            </a:r>
            <a:endParaRPr sz="1230"/>
          </a:p>
        </p:txBody>
      </p:sp>
      <p:sp>
        <p:nvSpPr>
          <p:cNvPr id="64" name="Text 62">
            <a:extLst>
              <a:ext uri="{FF2B5EF4-FFF2-40B4-BE49-F238E27FC236}">
                <a16:creationId xmlns:a16="http://schemas.microsoft.com/office/drawing/2014/main" id="{F6398034-1D44-4AF1-9E0C-97FF2DB2DFFB}"/>
              </a:ext>
            </a:extLst>
          </p:cNvPr>
          <p:cNvSpPr>
            <a:spLocks noGrp="1"/>
          </p:cNvSpPr>
          <p:nvPr/>
        </p:nvSpPr>
        <p:spPr>
          <a:xfrm>
            <a:off x="81564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全便条件</a:t>
            </a:r>
            <a:endParaRPr sz="1230"/>
          </a:p>
        </p:txBody>
      </p:sp>
      <p:sp>
        <p:nvSpPr>
          <p:cNvPr id="65" name="Text 63">
            <a:extLst>
              <a:ext uri="{FF2B5EF4-FFF2-40B4-BE49-F238E27FC236}">
                <a16:creationId xmlns:a16="http://schemas.microsoft.com/office/drawing/2014/main" id="{8E0AF785-40EB-4492-AC89-B80DA27BFF0B}"/>
              </a:ext>
            </a:extLst>
          </p:cNvPr>
          <p:cNvSpPr>
            <a:spLocks noGrp="1"/>
          </p:cNvSpPr>
          <p:nvPr/>
        </p:nvSpPr>
        <p:spPr>
          <a:xfrm>
            <a:off x="94795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未担当便を許さない</a:t>
            </a:r>
            <a:endParaRPr sz="1230"/>
          </a:p>
        </p:txBody>
      </p:sp>
      <p:sp>
        <p:nvSpPr>
          <p:cNvPr id="66" name="Shape 64">
            <a:extLst>
              <a:ext uri="{FF2B5EF4-FFF2-40B4-BE49-F238E27FC236}">
                <a16:creationId xmlns:a16="http://schemas.microsoft.com/office/drawing/2014/main" id="{2C5E465A-E0E4-4277-9F19-2AC3BDB95324}"/>
              </a:ext>
            </a:extLst>
          </p:cNvPr>
          <p:cNvSpPr>
            <a:spLocks noGrp="1"/>
          </p:cNvSpPr>
          <p:nvPr/>
        </p:nvSpPr>
        <p:spPr>
          <a:xfrm>
            <a:off x="8074152" y="5029200"/>
            <a:ext cx="3374136" cy="502920"/>
          </a:xfrm>
          <a:prstGeom prst="rect">
            <a:avLst/>
          </a:prstGeom>
          <a:solidFill>
            <a:srgbClr val="F8FAFC"/>
          </a:solidFill>
          <a:ln w="12700">
            <a:solidFill>
              <a:srgbClr val="F8FAFC"/>
            </a:solidFill>
            <a:prstDash val="solid"/>
          </a:ln>
        </p:spPr>
        <p:txBody>
          <a:bodyPr/>
          <a:lstStyle/>
          <a:p>
            <a:endParaRPr/>
          </a:p>
        </p:txBody>
      </p:sp>
      <p:sp>
        <p:nvSpPr>
          <p:cNvPr id="67" name="Text 65">
            <a:extLst>
              <a:ext uri="{FF2B5EF4-FFF2-40B4-BE49-F238E27FC236}">
                <a16:creationId xmlns:a16="http://schemas.microsoft.com/office/drawing/2014/main" id="{4E72B209-8A2D-4FE9-84AC-B824C0185994}"/>
              </a:ext>
            </a:extLst>
          </p:cNvPr>
          <p:cNvSpPr>
            <a:spLocks noGrp="1"/>
          </p:cNvSpPr>
          <p:nvPr/>
        </p:nvSpPr>
        <p:spPr>
          <a:xfrm>
            <a:off x="81564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後処理修正</a:t>
            </a:r>
            <a:endParaRPr sz="1230"/>
          </a:p>
        </p:txBody>
      </p:sp>
      <p:sp>
        <p:nvSpPr>
          <p:cNvPr id="68" name="Text 66">
            <a:extLst>
              <a:ext uri="{FF2B5EF4-FFF2-40B4-BE49-F238E27FC236}">
                <a16:creationId xmlns:a16="http://schemas.microsoft.com/office/drawing/2014/main" id="{A815534E-DF56-48BC-8CD0-60797647E2EF}"/>
              </a:ext>
            </a:extLst>
          </p:cNvPr>
          <p:cNvSpPr>
            <a:spLocks noGrp="1"/>
          </p:cNvSpPr>
          <p:nvPr/>
        </p:nvSpPr>
        <p:spPr>
          <a:xfrm>
            <a:off x="94795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9" name="Shape 67">
            <a:extLst>
              <a:ext uri="{FF2B5EF4-FFF2-40B4-BE49-F238E27FC236}">
                <a16:creationId xmlns:a16="http://schemas.microsoft.com/office/drawing/2014/main" id="{B3D5F21A-1961-472A-9EBA-50889B59D75D}"/>
              </a:ext>
            </a:extLst>
          </p:cNvPr>
          <p:cNvSpPr>
            <a:spLocks noGrp="1"/>
          </p:cNvSpPr>
          <p:nvPr/>
        </p:nvSpPr>
        <p:spPr>
          <a:xfrm>
            <a:off x="1078992" y="5989320"/>
            <a:ext cx="10012680" cy="347472"/>
          </a:xfrm>
          <a:prstGeom prst="roundRect">
            <a:avLst/>
          </a:prstGeom>
          <a:solidFill>
            <a:srgbClr val="FCECEC"/>
          </a:solidFill>
          <a:ln w="11430">
            <a:solidFill>
              <a:srgbClr val="C94C4C"/>
            </a:solidFill>
            <a:prstDash val="solid"/>
          </a:ln>
        </p:spPr>
        <p:txBody>
          <a:bodyPr/>
          <a:lstStyle/>
          <a:p>
            <a:endParaRPr/>
          </a:p>
        </p:txBody>
      </p:sp>
      <p:sp>
        <p:nvSpPr>
          <p:cNvPr id="70" name="Text 68">
            <a:extLst>
              <a:ext uri="{FF2B5EF4-FFF2-40B4-BE49-F238E27FC236}">
                <a16:creationId xmlns:a16="http://schemas.microsoft.com/office/drawing/2014/main" id="{04374599-0800-49B7-B665-CAA1C3A969CA}"/>
              </a:ext>
            </a:extLst>
          </p:cNvPr>
          <p:cNvSpPr>
            <a:spLocks noGrp="1"/>
          </p:cNvSpPr>
          <p:nvPr/>
        </p:nvSpPr>
        <p:spPr>
          <a:xfrm>
            <a:off x="1298448" y="6053328"/>
            <a:ext cx="9555480" cy="201168"/>
          </a:xfrm>
          <a:prstGeom prst="rect">
            <a:avLst/>
          </a:prstGeom>
          <a:noFill/>
        </p:spPr>
        <p:txBody>
          <a:bodyPr wrap="square" lIns="0" tIns="0" rIns="0" bIns="0" anchor="ctr"/>
          <a:lstStyle/>
          <a:p>
            <a:pPr marL="0" indent="0" algn="ctr">
              <a:buNone/>
            </a:pPr>
            <a:r>
              <a:rPr sz="1400" b="1">
                <a:solidFill>
                  <a:srgbClr val="C94C4C"/>
                </a:solidFill>
                <a:latin typeface="Noto Sans CJK JP"/>
                <a:ea typeface="Noto Sans CJK JP"/>
                <a:cs typeface="Noto Sans CJK JP"/>
              </a:rPr>
              <a:t>注意：ここでの評価額はモデル内の比較指標であり、設備投資を含む実際の総費用ではない。</a:t>
            </a:r>
            <a:endParaRPr sz="1400"/>
          </a:p>
        </p:txBody>
      </p:sp>
      <p:sp>
        <p:nvSpPr>
          <p:cNvPr id="71" name="正方形/長方形 70">
            <a:extLst>
              <a:ext uri="{FF2B5EF4-FFF2-40B4-BE49-F238E27FC236}">
                <a16:creationId xmlns:a16="http://schemas.microsoft.com/office/drawing/2014/main" id="{32200175-30CA-40C4-BFC9-396E309C294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30985386"/>
      </p:ext>
    </p:extLst>
  </p:cSld>
  <p:clrMapOvr>
    <a:masterClrMapping/>
  </p:clrMapOvr>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CF1CDE-0169-4A0F-8403-3E713055C597}"/>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直したこと：配車を1案だけで決めず、22案を比べる</a:t>
            </a:r>
          </a:p>
        </p:txBody>
      </p:sp>
      <p:sp>
        <p:nvSpPr>
          <p:cNvPr id="2" name="">
            <a:extLst xmlns:a="http://schemas.openxmlformats.org/drawingml/2006/main">
              <a:ext uri="{FF2B5EF4-FFF2-40B4-BE49-F238E27FC236}">
                <a16:creationId xmlns:a16="http://schemas.microsoft.com/office/drawing/2014/main" id="{58CED43C-9544-4F33-AAF3-F41F65AB322D}"/>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配車案＝「どの便を、どの電気バス・ディーゼルバスが走るか」の組合せ</a:t>
            </a:r>
          </a:p>
        </p:txBody>
      </p:sp>
      <p:graphicFrame>
        <p:nvGraphicFramePr>
          <p:cNvPr id="10"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725" b="1">
                          <a:solidFill>
                            <a:srgbClr val="FFFFFF"/>
                          </a:solidFill>
                          <a:latin typeface="Noto Sans CJK JP"/>
                          <a:ea typeface="Noto Sans CJK JP"/>
                          <a:cs typeface="Noto Sans CJK JP"/>
                        </a:rPr>
                        <a:t>修正前</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修正後</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何が変わる？</a:t>
                      </a:r>
                    </a:p>
                  </a:txBody>
                  <a:tcPr marL="91440" marR="91440" marT="45720" marB="45720">
                    <a:solidFill>
                      <a:srgbClr val="202B58"/>
                    </a:solidFill>
                  </a:tcPr>
                </a:tc>
              </a:tr>
              <a:tr h="869156">
                <a:tc>
                  <a:txBody>
                    <a:bodyPr/>
                    <a:lstStyle/>
                    <a:p>
                      <a:r>
                        <a:rPr sz="1725" b="0">
                          <a:solidFill>
                            <a:srgbClr val="202B58"/>
                          </a:solidFill>
                          <a:latin typeface="Noto Sans CJK JP"/>
                          <a:ea typeface="Noto Sans CJK JP"/>
                          <a:cs typeface="Noto Sans CJK JP"/>
                        </a:rPr>
                        <a:t>詳しく費用を計算するのは</a:t>
                      </a:r>
                    </a:p>
                    <a:p>
                      <a:r>
                        <a:rPr sz="1725" b="0">
                          <a:solidFill>
                            <a:srgbClr val="202B58"/>
                          </a:solidFill>
                          <a:latin typeface="Noto Sans CJK JP"/>
                          <a:ea typeface="Noto Sans CJK JP"/>
                          <a:cs typeface="Noto Sans CJK JP"/>
                        </a:rPr>
                        <a:t>1案だけ</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22案の費用を計算する</a:t>
                      </a:r>
                    </a:p>
                    <a:p>
                      <a:r>
                        <a:rPr sz="1725" b="0">
                          <a:solidFill>
                            <a:srgbClr val="202B58"/>
                          </a:solidFill>
                          <a:latin typeface="Noto Sans CJK JP"/>
                          <a:ea typeface="Noto Sans CJK JP"/>
                          <a:cs typeface="Noto Sans CJK JP"/>
                        </a:rPr>
                        <a:t>比較する案が21案増えた</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電気バスの台数や担当便が</a:t>
                      </a:r>
                    </a:p>
                    <a:p>
                      <a:r>
                        <a:rPr sz="1725" b="0">
                          <a:solidFill>
                            <a:srgbClr val="202B58"/>
                          </a:solidFill>
                          <a:latin typeface="Noto Sans CJK JP"/>
                          <a:ea typeface="Noto Sans CJK JP"/>
                          <a:cs typeface="Noto Sans CJK JP"/>
                        </a:rPr>
                        <a:t>違う案を選べる</a:t>
                      </a:r>
                    </a:p>
                  </a:txBody>
                  <a:tcPr marL="91440" marR="91440" marT="45720" marB="45720">
                    <a:solidFill>
                      <a:srgbClr val="F1F5F8"/>
                    </a:solidFill>
                  </a:tcPr>
                </a:tc>
              </a:tr>
              <a:tr h="869156">
                <a:tc>
                  <a:txBody>
                    <a:bodyPr/>
                    <a:lstStyle/>
                    <a:p>
                      <a:r>
                        <a:rPr sz="1725" b="0">
                          <a:solidFill>
                            <a:srgbClr val="202B58"/>
                          </a:solidFill>
                          <a:latin typeface="Noto Sans CJK JP"/>
                          <a:ea typeface="Noto Sans CJK JP"/>
                          <a:cs typeface="Noto Sans CJK JP"/>
                        </a:rPr>
                        <a:t>太陽光発電量（PV）は</a:t>
                      </a:r>
                    </a:p>
                    <a:p>
                      <a:r>
                        <a:rPr sz="1725" b="0">
                          <a:solidFill>
                            <a:srgbClr val="202B58"/>
                          </a:solidFill>
                          <a:latin typeface="Noto Sans CJK JP"/>
                          <a:ea typeface="Noto Sans CJK JP"/>
                          <a:cs typeface="Noto Sans CJK JP"/>
                        </a:rPr>
                        <a:t>以前から費用計算に入っていた</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各案で充電の仕方を計算し</a:t>
                      </a:r>
                    </a:p>
                    <a:p>
                      <a:r>
                        <a:rPr sz="1725" b="0">
                          <a:solidFill>
                            <a:srgbClr val="202B58"/>
                          </a:solidFill>
                          <a:latin typeface="Noto Sans CJK JP"/>
                          <a:ea typeface="Noto Sans CJK JP"/>
                          <a:cs typeface="Noto Sans CJK JP"/>
                        </a:rPr>
                        <a:t>費用の小さい案を選ぶ</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PV量で各案の費用が変わり</a:t>
                      </a:r>
                    </a:p>
                    <a:p>
                      <a:r>
                        <a:rPr sz="1725" b="0">
                          <a:solidFill>
                            <a:srgbClr val="202B58"/>
                          </a:solidFill>
                          <a:latin typeface="Noto Sans CJK JP"/>
                          <a:ea typeface="Noto Sans CJK JP"/>
                          <a:cs typeface="Noto Sans CJK JP"/>
                        </a:rPr>
                        <a:t>選ばれる配車も変わりうる</a:t>
                      </a:r>
                    </a:p>
                  </a:txBody>
                  <a:tcPr marL="91440" marR="91440" marT="45720" marB="45720">
                    <a:solidFill>
                      <a:srgbClr val="FFFFFF"/>
                    </a:solidFill>
                  </a:tcPr>
                </a:tc>
              </a:tr>
              <a:tr h="869156">
                <a:tc>
                  <a:txBody>
                    <a:bodyPr/>
                    <a:lstStyle/>
                    <a:p>
                      <a:r>
                        <a:rPr sz="1725" b="0">
                          <a:solidFill>
                            <a:srgbClr val="202B58"/>
                          </a:solidFill>
                          <a:latin typeface="Noto Sans CJK JP"/>
                          <a:ea typeface="Noto Sans CJK JP"/>
                          <a:cs typeface="Noto Sans CJK JP"/>
                        </a:rPr>
                        <a:t>1案だけでは、別の配車が</a:t>
                      </a:r>
                    </a:p>
                    <a:p>
                      <a:r>
                        <a:rPr sz="1725" b="0">
                          <a:solidFill>
                            <a:srgbClr val="202B58"/>
                          </a:solidFill>
                          <a:latin typeface="Noto Sans CJK JP"/>
                          <a:ea typeface="Noto Sans CJK JP"/>
                          <a:cs typeface="Noto Sans CJK JP"/>
                        </a:rPr>
                        <a:t>安くなる可能性を比べられない</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同じ22案を高PV・低PVで評価</a:t>
                      </a:r>
                    </a:p>
                    <a:p>
                      <a:r>
                        <a:rPr sz="1725" b="0">
                          <a:solidFill>
                            <a:srgbClr val="202B58"/>
                          </a:solidFill>
                          <a:latin typeface="Noto Sans CJK JP"/>
                          <a:ea typeface="Noto Sans CJK JP"/>
                          <a:cs typeface="Noto Sans CJK JP"/>
                        </a:rPr>
                        <a:t>22案×2条件＝44回の比較</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実際に選ぶ案が変わった</a:t>
                      </a:r>
                    </a:p>
                    <a:p>
                      <a:r>
                        <a:rPr sz="1725" b="0">
                          <a:solidFill>
                            <a:srgbClr val="202B58"/>
                          </a:solidFill>
                          <a:latin typeface="Noto Sans CJK JP"/>
                          <a:ea typeface="Noto Sans CJK JP"/>
                          <a:cs typeface="Noto Sans CJK JP"/>
                        </a:rPr>
                        <a:t>次ページで金額を示す</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61CF3038-59B0-4143-886B-206DCD2837E5}"/>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変更の要点：PVの計算を追加したのではなく、費用を比べる配車の選択肢を増やした。</a:t>
            </a:r>
          </a:p>
        </p:txBody>
      </p:sp>
      <p:sp>
        <p:nvSpPr>
          <p:cNvPr id="5" name="">
            <a:extLst xmlns:a="http://schemas.openxmlformats.org/drawingml/2006/main">
              <a:ext uri="{FF2B5EF4-FFF2-40B4-BE49-F238E27FC236}">
                <a16:creationId xmlns:a16="http://schemas.microsoft.com/office/drawing/2014/main" id="{DF374327-03D8-449B-95D9-1BF12D5465BF}"/>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診断用の結果。SOC（電池残量）の上限に不一致があり、修正後の再計算が必要。</a:t>
            </a:r>
          </a:p>
        </p:txBody>
      </p:sp>
      <p:sp>
        <p:nvSpPr>
          <p:cNvPr id="6" name="">
            <a:extLst xmlns:a="http://schemas.openxmlformats.org/drawingml/2006/main">
              <a:ext uri="{FF2B5EF4-FFF2-40B4-BE49-F238E27FC236}">
                <a16:creationId xmlns:a16="http://schemas.microsoft.com/office/drawing/2014/main" id="{E77575BC-DF90-4BA6-BAD3-ECE299F4E6F1}"/>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8/18</a:t>
            </a:r>
          </a:p>
        </p:txBody>
      </p:sp>
      <p:sp>
        <p:nvSpPr>
          <p:cNvPr id="7" name="">
            <a:extLst xmlns:a="http://schemas.openxmlformats.org/drawingml/2006/main">
              <a:ext uri="{FF2B5EF4-FFF2-40B4-BE49-F238E27FC236}">
                <a16:creationId xmlns:a16="http://schemas.microsoft.com/office/drawing/2014/main" id="{AF49A5D8-F2A0-4D3E-B1AC-7EAF0A1C8C73}"/>
              </a:ext>
            </a:extLst>
          </p:cNvPr>
          <p:cNvSpPr>
            <a:spLocks xmlns:a="http://schemas.openxmlformats.org/drawingml/2006/main" noGrp="1"/>
          </p:cNvSpPr>
          <p:nvPr/>
        </p:nvSpPr>
        <p:spPr>
          <a:xfrm xmlns:a="http://schemas.openxmlformats.org/drawingml/2006/main">
            <a:off x="571500" y="66675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20154611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F3014F-2BC0-42DF-A48A-4B9954096FF4}"/>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金額で見る：太陽光発電量で、安い配車が入れ替わる</a:t>
            </a:r>
          </a:p>
        </p:txBody>
      </p:sp>
      <p:sp>
        <p:nvSpPr>
          <p:cNvPr id="2" name="">
            <a:extLst xmlns:a="http://schemas.openxmlformats.org/drawingml/2006/main">
              <a:ext uri="{FF2B5EF4-FFF2-40B4-BE49-F238E27FC236}">
                <a16:creationId xmlns:a16="http://schemas.microsoft.com/office/drawing/2014/main" id="{8C90783B-98FC-4E11-9846-F843FCEB82B4}"/>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同じ2案を比べる。A・Bとも32台で264便を運行／金額は一日計画の評価額</a:t>
            </a:r>
          </a:p>
        </p:txBody>
      </p:sp>
      <p:graphicFrame>
        <p:nvGraphicFramePr>
          <p:cNvPr id="10"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725" b="1">
                          <a:solidFill>
                            <a:srgbClr val="FFFFFF"/>
                          </a:solidFill>
                          <a:latin typeface="Noto Sans CJK JP"/>
                          <a:ea typeface="Noto Sans CJK JP"/>
                          <a:cs typeface="Noto Sans CJK JP"/>
                        </a:rPr>
                        <a:t>比較する配車</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高PV：太陽光が多い日</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低PV：太陽光が少ない日</a:t>
                      </a:r>
                    </a:p>
                  </a:txBody>
                  <a:tcPr marL="91440" marR="91440" marT="45720" marB="45720">
                    <a:solidFill>
                      <a:srgbClr val="202B58"/>
                    </a:solidFill>
                  </a:tcPr>
                </a:tc>
              </a:tr>
              <a:tr h="869156">
                <a:tc>
                  <a:txBody>
                    <a:bodyPr/>
                    <a:lstStyle/>
                    <a:p>
                      <a:r>
                        <a:rPr sz="1725" b="0">
                          <a:solidFill>
                            <a:srgbClr val="202B58"/>
                          </a:solidFill>
                          <a:latin typeface="Noto Sans CJK JP"/>
                          <a:ea typeface="Noto Sans CJK JP"/>
                          <a:cs typeface="Noto Sans CJK JP"/>
                        </a:rPr>
                        <a:t>A：電気28台＋ディーゼル4台</a:t>
                      </a:r>
                    </a:p>
                    <a:p>
                      <a:r>
                        <a:rPr sz="1725" b="0">
                          <a:solidFill>
                            <a:srgbClr val="202B58"/>
                          </a:solidFill>
                          <a:latin typeface="Noto Sans CJK JP"/>
                          <a:ea typeface="Noto Sans CJK JP"/>
                          <a:cs typeface="Noto Sans CJK JP"/>
                        </a:rPr>
                        <a:t>電気バスが担当する便：199便</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660,984 円／日</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706,714 円／日</a:t>
                      </a:r>
                    </a:p>
                  </a:txBody>
                  <a:tcPr marL="91440" marR="91440" marT="45720" marB="45720">
                    <a:solidFill>
                      <a:srgbClr val="F1F5F8"/>
                    </a:solidFill>
                  </a:tcPr>
                </a:tc>
              </a:tr>
              <a:tr h="869156">
                <a:tc>
                  <a:txBody>
                    <a:bodyPr/>
                    <a:lstStyle/>
                    <a:p>
                      <a:r>
                        <a:rPr sz="1725" b="0">
                          <a:solidFill>
                            <a:srgbClr val="202B58"/>
                          </a:solidFill>
                          <a:latin typeface="Noto Sans CJK JP"/>
                          <a:ea typeface="Noto Sans CJK JP"/>
                          <a:cs typeface="Noto Sans CJK JP"/>
                        </a:rPr>
                        <a:t>B：電気21台＋ディーゼル11台</a:t>
                      </a:r>
                    </a:p>
                    <a:p>
                      <a:r>
                        <a:rPr sz="1725" b="0">
                          <a:solidFill>
                            <a:srgbClr val="202B58"/>
                          </a:solidFill>
                          <a:latin typeface="Noto Sans CJK JP"/>
                          <a:ea typeface="Noto Sans CJK JP"/>
                          <a:cs typeface="Noto Sans CJK JP"/>
                        </a:rPr>
                        <a:t>電気バスが担当する便：91便</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694,608 円／日</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698,296 円／日</a:t>
                      </a:r>
                    </a:p>
                  </a:txBody>
                  <a:tcPr marL="91440" marR="91440" marT="45720" marB="45720">
                    <a:solidFill>
                      <a:srgbClr val="FFFFFF"/>
                    </a:solidFill>
                  </a:tcPr>
                </a:tc>
              </a:tr>
              <a:tr h="869156">
                <a:tc>
                  <a:txBody>
                    <a:bodyPr/>
                    <a:lstStyle/>
                    <a:p>
                      <a:r>
                        <a:rPr sz="1725" b="0">
                          <a:solidFill>
                            <a:srgbClr val="202B58"/>
                          </a:solidFill>
                          <a:latin typeface="Noto Sans CJK JP"/>
                          <a:ea typeface="Noto Sans CJK JP"/>
                          <a:cs typeface="Noto Sans CJK JP"/>
                        </a:rPr>
                        <a:t>費用が小さいのは？</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Aが33,624円安い</a:t>
                      </a:r>
                    </a:p>
                    <a:p>
                      <a:r>
                        <a:rPr sz="1725" b="0">
                          <a:solidFill>
                            <a:srgbClr val="202B58"/>
                          </a:solidFill>
                          <a:latin typeface="Noto Sans CJK JP"/>
                          <a:ea typeface="Noto Sans CJK JP"/>
                          <a:cs typeface="Noto Sans CJK JP"/>
                        </a:rPr>
                        <a:t>→ 電気バス28台の案を選ぶ</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Bが8,418円安い</a:t>
                      </a:r>
                    </a:p>
                    <a:p>
                      <a:r>
                        <a:rPr sz="1725" b="0">
                          <a:solidFill>
                            <a:srgbClr val="202B58"/>
                          </a:solidFill>
                          <a:latin typeface="Noto Sans CJK JP"/>
                          <a:ea typeface="Noto Sans CJK JP"/>
                          <a:cs typeface="Noto Sans CJK JP"/>
                        </a:rPr>
                        <a:t>→ 電気バス21台の案を選ぶ</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D1D226A1-B431-4067-84A5-75EA4741F334}"/>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高PVでは、低PVより電気バスが7台多く、担当便が108便多い案が選ばれた。</a:t>
            </a:r>
          </a:p>
        </p:txBody>
      </p:sp>
      <p:sp>
        <p:nvSpPr>
          <p:cNvPr id="5" name="">
            <a:extLst xmlns:a="http://schemas.openxmlformats.org/drawingml/2006/main">
              <a:ext uri="{FF2B5EF4-FFF2-40B4-BE49-F238E27FC236}">
                <a16:creationId xmlns:a16="http://schemas.microsoft.com/office/drawing/2014/main" id="{B0532B4A-7B3E-4464-BB8A-8F7721C23151}"/>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診断用：22案全体でも各列の案が最小。修正前後の改善額ではなく、同じPV条件内の費用差。</a:t>
            </a:r>
          </a:p>
        </p:txBody>
      </p:sp>
      <p:sp>
        <p:nvSpPr>
          <p:cNvPr id="6" name="">
            <a:extLst xmlns:a="http://schemas.openxmlformats.org/drawingml/2006/main">
              <a:ext uri="{FF2B5EF4-FFF2-40B4-BE49-F238E27FC236}">
                <a16:creationId xmlns:a16="http://schemas.microsoft.com/office/drawing/2014/main" id="{4F9D56F1-B73B-4374-9242-EDC83E5F5607}"/>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9/18</a:t>
            </a:r>
          </a:p>
        </p:txBody>
      </p:sp>
      <p:sp>
        <p:nvSpPr>
          <p:cNvPr id="7" name="">
            <a:extLst xmlns:a="http://schemas.openxmlformats.org/drawingml/2006/main">
              <a:ext uri="{FF2B5EF4-FFF2-40B4-BE49-F238E27FC236}">
                <a16:creationId xmlns:a16="http://schemas.microsoft.com/office/drawing/2014/main" id="{60E2106A-CD66-4330-9697-C7455E5AC54B}"/>
              </a:ext>
            </a:extLst>
          </p:cNvPr>
          <p:cNvSpPr>
            <a:spLocks xmlns:a="http://schemas.openxmlformats.org/drawingml/2006/main" noGrp="1"/>
          </p:cNvSpPr>
          <p:nvPr/>
        </p:nvSpPr>
        <p:spPr>
          <a:xfrm xmlns:a="http://schemas.openxmlformats.org/drawingml/2006/main">
            <a:off x="571500" y="66675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1975627259"/>
      </p:ext>
    </p:extLst>
  </p:cSl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C2FCD2B-E8AD-4123-946F-1EA56D3D055F}"/>
              </a:ext>
            </a:extLst>
          </p:cNvPr>
          <p:cNvSpPr>
            <a:spLocks noGrp="1"/>
          </p:cNvSpPr>
          <p:nvPr/>
        </p:nvSpPr>
        <p:spPr>
          <a:xfrm>
            <a:off x="429967" y="149915"/>
            <a:ext cx="1190509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最新結果</a:t>
            </a:r>
            <a:r>
              <a:rPr sz="2800" b="1" dirty="0">
                <a:solidFill>
                  <a:srgbClr val="111827"/>
                </a:solidFill>
                <a:latin typeface="Noto Sans CJK JP"/>
                <a:ea typeface="Noto Sans CJK JP"/>
                <a:cs typeface="Noto Sans CJK JP"/>
              </a:rPr>
              <a:t>①：</a:t>
            </a:r>
            <a:endParaRPr lang="en-US" sz="2800" b="1" dirty="0">
              <a:solidFill>
                <a:srgbClr val="111827"/>
              </a:solidFill>
              <a:latin typeface="Noto Sans CJK JP"/>
              <a:ea typeface="Noto Sans CJK JP"/>
              <a:cs typeface="Noto Sans CJK JP"/>
            </a:endParaRPr>
          </a:p>
          <a:p>
            <a:pPr marL="0" indent="0">
              <a:buNone/>
            </a:pPr>
            <a:r>
              <a:rPr sz="2800" b="1" dirty="0" err="1">
                <a:solidFill>
                  <a:srgbClr val="111827"/>
                </a:solidFill>
                <a:latin typeface="Noto Sans CJK JP"/>
                <a:ea typeface="Noto Sans CJK JP"/>
                <a:cs typeface="Noto Sans CJK JP"/>
              </a:rPr>
              <a:t>高PV条件ではBEVを多く、低PV条件ではICEを多く使う配車になった</a:t>
            </a:r>
            <a:endParaRPr sz="2800" dirty="0"/>
          </a:p>
        </p:txBody>
      </p:sp>
      <p:sp>
        <p:nvSpPr>
          <p:cNvPr id="3" name="Shape 1">
            <a:extLst>
              <a:ext uri="{FF2B5EF4-FFF2-40B4-BE49-F238E27FC236}">
                <a16:creationId xmlns:a16="http://schemas.microsoft.com/office/drawing/2014/main" id="{F385379B-34DE-4E43-8E2A-EB8868C6C85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315109B-9443-496F-9F4D-7942B3526B3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2256569-0C77-4252-B138-5DDD5682B4D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10/18</a:t>
            </a:r>
            <a:endParaRPr sz="850"/>
          </a:p>
        </p:txBody>
      </p:sp>
      <p:sp>
        <p:nvSpPr>
          <p:cNvPr id="6" name="Shape 4">
            <a:extLst>
              <a:ext uri="{FF2B5EF4-FFF2-40B4-BE49-F238E27FC236}">
                <a16:creationId xmlns:a16="http://schemas.microsoft.com/office/drawing/2014/main" id="{69823FAB-F712-461C-81DE-2576DA17BFA9}"/>
              </a:ext>
            </a:extLst>
          </p:cNvPr>
          <p:cNvSpPr>
            <a:spLocks noGrp="1"/>
          </p:cNvSpPr>
          <p:nvPr/>
        </p:nvSpPr>
        <p:spPr>
          <a:xfrm>
            <a:off x="4160520" y="932688"/>
            <a:ext cx="146304" cy="146304"/>
          </a:xfrm>
          <a:prstGeom prst="rect">
            <a:avLst/>
          </a:prstGeom>
          <a:solidFill>
            <a:srgbClr val="1F9D8A"/>
          </a:solidFill>
          <a:ln w="12700">
            <a:solidFill>
              <a:srgbClr val="1F9D8A"/>
            </a:solidFill>
            <a:prstDash val="solid"/>
          </a:ln>
        </p:spPr>
        <p:txBody>
          <a:bodyPr/>
          <a:lstStyle/>
          <a:p>
            <a:endParaRPr/>
          </a:p>
        </p:txBody>
      </p:sp>
      <p:sp>
        <p:nvSpPr>
          <p:cNvPr id="7" name="Text 5">
            <a:extLst>
              <a:ext uri="{FF2B5EF4-FFF2-40B4-BE49-F238E27FC236}">
                <a16:creationId xmlns:a16="http://schemas.microsoft.com/office/drawing/2014/main" id="{DD9A89D1-03A7-41B3-B18D-BA727C25BE39}"/>
              </a:ext>
            </a:extLst>
          </p:cNvPr>
          <p:cNvSpPr>
            <a:spLocks noGrp="1"/>
          </p:cNvSpPr>
          <p:nvPr/>
        </p:nvSpPr>
        <p:spPr>
          <a:xfrm>
            <a:off x="436168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BEV</a:t>
            </a:r>
            <a:endParaRPr sz="1050"/>
          </a:p>
        </p:txBody>
      </p:sp>
      <p:sp>
        <p:nvSpPr>
          <p:cNvPr id="8" name="Shape 6">
            <a:extLst>
              <a:ext uri="{FF2B5EF4-FFF2-40B4-BE49-F238E27FC236}">
                <a16:creationId xmlns:a16="http://schemas.microsoft.com/office/drawing/2014/main" id="{590E53D8-9836-409E-8792-174840932EAA}"/>
              </a:ext>
            </a:extLst>
          </p:cNvPr>
          <p:cNvSpPr>
            <a:spLocks noGrp="1"/>
          </p:cNvSpPr>
          <p:nvPr/>
        </p:nvSpPr>
        <p:spPr>
          <a:xfrm>
            <a:off x="5577840" y="932688"/>
            <a:ext cx="146304" cy="146304"/>
          </a:xfrm>
          <a:prstGeom prst="rect">
            <a:avLst/>
          </a:prstGeom>
          <a:solidFill>
            <a:srgbClr val="8C6D5A"/>
          </a:solidFill>
          <a:ln w="12700">
            <a:solidFill>
              <a:srgbClr val="8C6D5A"/>
            </a:solidFill>
            <a:prstDash val="solid"/>
          </a:ln>
        </p:spPr>
        <p:txBody>
          <a:bodyPr/>
          <a:lstStyle/>
          <a:p>
            <a:endParaRPr/>
          </a:p>
        </p:txBody>
      </p:sp>
      <p:sp>
        <p:nvSpPr>
          <p:cNvPr id="9" name="Text 7">
            <a:extLst>
              <a:ext uri="{FF2B5EF4-FFF2-40B4-BE49-F238E27FC236}">
                <a16:creationId xmlns:a16="http://schemas.microsoft.com/office/drawing/2014/main" id="{11D09BF2-F9BB-418D-A583-8D92D01778F2}"/>
              </a:ext>
            </a:extLst>
          </p:cNvPr>
          <p:cNvSpPr>
            <a:spLocks noGrp="1"/>
          </p:cNvSpPr>
          <p:nvPr/>
        </p:nvSpPr>
        <p:spPr>
          <a:xfrm>
            <a:off x="577900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ICE</a:t>
            </a:r>
            <a:endParaRPr sz="1050"/>
          </a:p>
        </p:txBody>
      </p:sp>
      <p:sp>
        <p:nvSpPr>
          <p:cNvPr id="10" name="Text 8">
            <a:extLst>
              <a:ext uri="{FF2B5EF4-FFF2-40B4-BE49-F238E27FC236}">
                <a16:creationId xmlns:a16="http://schemas.microsoft.com/office/drawing/2014/main" id="{D31931E1-B63C-4114-B6DB-606AF09391B0}"/>
              </a:ext>
            </a:extLst>
          </p:cNvPr>
          <p:cNvSpPr>
            <a:spLocks noGrp="1"/>
          </p:cNvSpPr>
          <p:nvPr/>
        </p:nvSpPr>
        <p:spPr>
          <a:xfrm>
            <a:off x="731520" y="1234440"/>
            <a:ext cx="438912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使用車両（合計32台）</a:t>
            </a:r>
            <a:endParaRPr sz="1800"/>
          </a:p>
        </p:txBody>
      </p:sp>
      <p:sp>
        <p:nvSpPr>
          <p:cNvPr id="11" name="Shape 9">
            <a:extLst>
              <a:ext uri="{FF2B5EF4-FFF2-40B4-BE49-F238E27FC236}">
                <a16:creationId xmlns:a16="http://schemas.microsoft.com/office/drawing/2014/main" id="{35D3047C-C3F6-4DAA-A33A-6894A59AB4E7}"/>
              </a:ext>
            </a:extLst>
          </p:cNvPr>
          <p:cNvSpPr>
            <a:spLocks noGrp="1"/>
          </p:cNvSpPr>
          <p:nvPr/>
        </p:nvSpPr>
        <p:spPr>
          <a:xfrm>
            <a:off x="1920240" y="1783080"/>
            <a:ext cx="3440430" cy="530352"/>
          </a:xfrm>
          <a:prstGeom prst="rect">
            <a:avLst/>
          </a:prstGeom>
          <a:solidFill>
            <a:srgbClr val="1F9D8A"/>
          </a:solidFill>
          <a:ln w="10160">
            <a:solidFill>
              <a:srgbClr val="FFFFFF"/>
            </a:solidFill>
            <a:prstDash val="solid"/>
          </a:ln>
        </p:spPr>
        <p:txBody>
          <a:bodyPr/>
          <a:lstStyle/>
          <a:p>
            <a:endParaRPr/>
          </a:p>
        </p:txBody>
      </p:sp>
      <p:sp>
        <p:nvSpPr>
          <p:cNvPr id="12" name="Text 10">
            <a:extLst>
              <a:ext uri="{FF2B5EF4-FFF2-40B4-BE49-F238E27FC236}">
                <a16:creationId xmlns:a16="http://schemas.microsoft.com/office/drawing/2014/main" id="{1856538D-EC0A-46E8-8642-20202C18A670}"/>
              </a:ext>
            </a:extLst>
          </p:cNvPr>
          <p:cNvSpPr>
            <a:spLocks noGrp="1"/>
          </p:cNvSpPr>
          <p:nvPr/>
        </p:nvSpPr>
        <p:spPr>
          <a:xfrm>
            <a:off x="1920240" y="1801368"/>
            <a:ext cx="344043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28</a:t>
            </a:r>
            <a:endParaRPr sz="1400"/>
          </a:p>
        </p:txBody>
      </p:sp>
      <p:sp>
        <p:nvSpPr>
          <p:cNvPr id="13" name="Shape 11">
            <a:extLst>
              <a:ext uri="{FF2B5EF4-FFF2-40B4-BE49-F238E27FC236}">
                <a16:creationId xmlns:a16="http://schemas.microsoft.com/office/drawing/2014/main" id="{9120252E-2498-438A-8F5F-50E394EBFA97}"/>
              </a:ext>
            </a:extLst>
          </p:cNvPr>
          <p:cNvSpPr>
            <a:spLocks noGrp="1"/>
          </p:cNvSpPr>
          <p:nvPr/>
        </p:nvSpPr>
        <p:spPr>
          <a:xfrm>
            <a:off x="5360670" y="1783080"/>
            <a:ext cx="491490" cy="530352"/>
          </a:xfrm>
          <a:prstGeom prst="rect">
            <a:avLst/>
          </a:prstGeom>
          <a:solidFill>
            <a:srgbClr val="8C6D5A"/>
          </a:solidFill>
          <a:ln w="10160">
            <a:solidFill>
              <a:srgbClr val="FFFFFF"/>
            </a:solidFill>
            <a:prstDash val="solid"/>
          </a:ln>
        </p:spPr>
        <p:txBody>
          <a:bodyPr/>
          <a:lstStyle/>
          <a:p>
            <a:endParaRPr/>
          </a:p>
        </p:txBody>
      </p:sp>
      <p:sp>
        <p:nvSpPr>
          <p:cNvPr id="14" name="Text 12">
            <a:extLst>
              <a:ext uri="{FF2B5EF4-FFF2-40B4-BE49-F238E27FC236}">
                <a16:creationId xmlns:a16="http://schemas.microsoft.com/office/drawing/2014/main" id="{09CC5A8D-CFD8-4537-B6CE-81261A4F0044}"/>
              </a:ext>
            </a:extLst>
          </p:cNvPr>
          <p:cNvSpPr>
            <a:spLocks noGrp="1"/>
          </p:cNvSpPr>
          <p:nvPr/>
        </p:nvSpPr>
        <p:spPr>
          <a:xfrm>
            <a:off x="5360670" y="1801368"/>
            <a:ext cx="49149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4</a:t>
            </a:r>
            <a:endParaRPr sz="1400"/>
          </a:p>
        </p:txBody>
      </p:sp>
      <p:sp>
        <p:nvSpPr>
          <p:cNvPr id="15" name="Text 13">
            <a:extLst>
              <a:ext uri="{FF2B5EF4-FFF2-40B4-BE49-F238E27FC236}">
                <a16:creationId xmlns:a16="http://schemas.microsoft.com/office/drawing/2014/main" id="{280FFBE5-D7C6-43EB-9579-D7EB11A1CD78}"/>
              </a:ext>
            </a:extLst>
          </p:cNvPr>
          <p:cNvSpPr>
            <a:spLocks noGrp="1"/>
          </p:cNvSpPr>
          <p:nvPr/>
        </p:nvSpPr>
        <p:spPr>
          <a:xfrm>
            <a:off x="96012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16" name="Shape 14">
            <a:extLst>
              <a:ext uri="{FF2B5EF4-FFF2-40B4-BE49-F238E27FC236}">
                <a16:creationId xmlns:a16="http://schemas.microsoft.com/office/drawing/2014/main" id="{CF27E7F8-C855-4D1B-A294-A11D1207841A}"/>
              </a:ext>
            </a:extLst>
          </p:cNvPr>
          <p:cNvSpPr>
            <a:spLocks noGrp="1"/>
          </p:cNvSpPr>
          <p:nvPr/>
        </p:nvSpPr>
        <p:spPr>
          <a:xfrm>
            <a:off x="1920240" y="2560320"/>
            <a:ext cx="2580323" cy="530352"/>
          </a:xfrm>
          <a:prstGeom prst="rect">
            <a:avLst/>
          </a:prstGeom>
          <a:solidFill>
            <a:srgbClr val="1F9D8A"/>
          </a:solidFill>
          <a:ln w="1016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E02CAC21-21BC-4EBB-A872-142AA1EF1D87}"/>
              </a:ext>
            </a:extLst>
          </p:cNvPr>
          <p:cNvSpPr>
            <a:spLocks noGrp="1"/>
          </p:cNvSpPr>
          <p:nvPr/>
        </p:nvSpPr>
        <p:spPr>
          <a:xfrm>
            <a:off x="1920240" y="2578608"/>
            <a:ext cx="2580323"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21</a:t>
            </a:r>
            <a:endParaRPr sz="1400"/>
          </a:p>
        </p:txBody>
      </p:sp>
      <p:sp>
        <p:nvSpPr>
          <p:cNvPr id="18" name="Shape 16">
            <a:extLst>
              <a:ext uri="{FF2B5EF4-FFF2-40B4-BE49-F238E27FC236}">
                <a16:creationId xmlns:a16="http://schemas.microsoft.com/office/drawing/2014/main" id="{F9A51F47-7C64-4681-A85D-C92337E22588}"/>
              </a:ext>
            </a:extLst>
          </p:cNvPr>
          <p:cNvSpPr>
            <a:spLocks noGrp="1"/>
          </p:cNvSpPr>
          <p:nvPr/>
        </p:nvSpPr>
        <p:spPr>
          <a:xfrm>
            <a:off x="4500563" y="2560320"/>
            <a:ext cx="1351598" cy="530352"/>
          </a:xfrm>
          <a:prstGeom prst="rect">
            <a:avLst/>
          </a:prstGeom>
          <a:solidFill>
            <a:srgbClr val="8C6D5A"/>
          </a:solidFill>
          <a:ln w="10160">
            <a:solidFill>
              <a:srgbClr val="FFFFFF"/>
            </a:solidFill>
            <a:prstDash val="solid"/>
          </a:ln>
        </p:spPr>
        <p:txBody>
          <a:bodyPr/>
          <a:lstStyle/>
          <a:p>
            <a:endParaRPr/>
          </a:p>
        </p:txBody>
      </p:sp>
      <p:sp>
        <p:nvSpPr>
          <p:cNvPr id="19" name="Text 17">
            <a:extLst>
              <a:ext uri="{FF2B5EF4-FFF2-40B4-BE49-F238E27FC236}">
                <a16:creationId xmlns:a16="http://schemas.microsoft.com/office/drawing/2014/main" id="{D925D86A-FD30-4415-B218-9D837AD6211C}"/>
              </a:ext>
            </a:extLst>
          </p:cNvPr>
          <p:cNvSpPr>
            <a:spLocks noGrp="1"/>
          </p:cNvSpPr>
          <p:nvPr/>
        </p:nvSpPr>
        <p:spPr>
          <a:xfrm>
            <a:off x="4500563" y="2578608"/>
            <a:ext cx="1351598"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11</a:t>
            </a:r>
            <a:endParaRPr sz="1400"/>
          </a:p>
        </p:txBody>
      </p:sp>
      <p:sp>
        <p:nvSpPr>
          <p:cNvPr id="20" name="Text 18">
            <a:extLst>
              <a:ext uri="{FF2B5EF4-FFF2-40B4-BE49-F238E27FC236}">
                <a16:creationId xmlns:a16="http://schemas.microsoft.com/office/drawing/2014/main" id="{DBA223C8-B9CB-458A-A936-D84711B3F409}"/>
              </a:ext>
            </a:extLst>
          </p:cNvPr>
          <p:cNvSpPr>
            <a:spLocks noGrp="1"/>
          </p:cNvSpPr>
          <p:nvPr/>
        </p:nvSpPr>
        <p:spPr>
          <a:xfrm>
            <a:off x="96012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21" name="Text 19">
            <a:extLst>
              <a:ext uri="{FF2B5EF4-FFF2-40B4-BE49-F238E27FC236}">
                <a16:creationId xmlns:a16="http://schemas.microsoft.com/office/drawing/2014/main" id="{7C20EBD0-834D-454D-868F-1415100355CD}"/>
              </a:ext>
            </a:extLst>
          </p:cNvPr>
          <p:cNvSpPr>
            <a:spLocks noGrp="1"/>
          </p:cNvSpPr>
          <p:nvPr/>
        </p:nvSpPr>
        <p:spPr>
          <a:xfrm>
            <a:off x="6355080" y="1234440"/>
            <a:ext cx="429768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担当便数（合計264便）</a:t>
            </a:r>
            <a:endParaRPr sz="1800"/>
          </a:p>
        </p:txBody>
      </p:sp>
      <p:sp>
        <p:nvSpPr>
          <p:cNvPr id="22" name="Shape 20">
            <a:extLst>
              <a:ext uri="{FF2B5EF4-FFF2-40B4-BE49-F238E27FC236}">
                <a16:creationId xmlns:a16="http://schemas.microsoft.com/office/drawing/2014/main" id="{CE276629-DB16-4EE1-9CA8-7EEA2C153002}"/>
              </a:ext>
            </a:extLst>
          </p:cNvPr>
          <p:cNvSpPr>
            <a:spLocks noGrp="1"/>
          </p:cNvSpPr>
          <p:nvPr/>
        </p:nvSpPr>
        <p:spPr>
          <a:xfrm>
            <a:off x="7452360" y="1783080"/>
            <a:ext cx="2550275" cy="530352"/>
          </a:xfrm>
          <a:prstGeom prst="rect">
            <a:avLst/>
          </a:prstGeom>
          <a:solidFill>
            <a:srgbClr val="1F9D8A"/>
          </a:solidFill>
          <a:ln w="10160">
            <a:solidFill>
              <a:srgbClr val="FFFFFF"/>
            </a:solidFill>
            <a:prstDash val="solid"/>
          </a:ln>
        </p:spPr>
        <p:txBody>
          <a:bodyPr/>
          <a:lstStyle/>
          <a:p>
            <a:endParaRPr/>
          </a:p>
        </p:txBody>
      </p:sp>
      <p:sp>
        <p:nvSpPr>
          <p:cNvPr id="23" name="Text 21">
            <a:extLst>
              <a:ext uri="{FF2B5EF4-FFF2-40B4-BE49-F238E27FC236}">
                <a16:creationId xmlns:a16="http://schemas.microsoft.com/office/drawing/2014/main" id="{9855E36E-025E-45BA-8A5A-0A24B8C0A1CA}"/>
              </a:ext>
            </a:extLst>
          </p:cNvPr>
          <p:cNvSpPr>
            <a:spLocks noGrp="1"/>
          </p:cNvSpPr>
          <p:nvPr/>
        </p:nvSpPr>
        <p:spPr>
          <a:xfrm>
            <a:off x="7452360" y="1801368"/>
            <a:ext cx="255027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199</a:t>
            </a:r>
            <a:endParaRPr sz="1400"/>
          </a:p>
        </p:txBody>
      </p:sp>
      <p:sp>
        <p:nvSpPr>
          <p:cNvPr id="24" name="Shape 22">
            <a:extLst>
              <a:ext uri="{FF2B5EF4-FFF2-40B4-BE49-F238E27FC236}">
                <a16:creationId xmlns:a16="http://schemas.microsoft.com/office/drawing/2014/main" id="{6BF36D65-B1D0-4B5D-89DB-C84759821F59}"/>
              </a:ext>
            </a:extLst>
          </p:cNvPr>
          <p:cNvSpPr>
            <a:spLocks noGrp="1"/>
          </p:cNvSpPr>
          <p:nvPr/>
        </p:nvSpPr>
        <p:spPr>
          <a:xfrm>
            <a:off x="10002635" y="1783080"/>
            <a:ext cx="833005" cy="530352"/>
          </a:xfrm>
          <a:prstGeom prst="rect">
            <a:avLst/>
          </a:prstGeom>
          <a:solidFill>
            <a:srgbClr val="8C6D5A"/>
          </a:solidFill>
          <a:ln w="10160">
            <a:solidFill>
              <a:srgbClr val="FFFFFF"/>
            </a:solidFill>
            <a:prstDash val="solid"/>
          </a:ln>
        </p:spPr>
        <p:txBody>
          <a:bodyPr/>
          <a:lstStyle/>
          <a:p>
            <a:endParaRPr/>
          </a:p>
        </p:txBody>
      </p:sp>
      <p:sp>
        <p:nvSpPr>
          <p:cNvPr id="25" name="Text 23">
            <a:extLst>
              <a:ext uri="{FF2B5EF4-FFF2-40B4-BE49-F238E27FC236}">
                <a16:creationId xmlns:a16="http://schemas.microsoft.com/office/drawing/2014/main" id="{273E9C9B-2346-4C16-99E2-A054C8B9567A}"/>
              </a:ext>
            </a:extLst>
          </p:cNvPr>
          <p:cNvSpPr>
            <a:spLocks noGrp="1"/>
          </p:cNvSpPr>
          <p:nvPr/>
        </p:nvSpPr>
        <p:spPr>
          <a:xfrm>
            <a:off x="10002635" y="1801368"/>
            <a:ext cx="83300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65</a:t>
            </a:r>
            <a:endParaRPr sz="1400"/>
          </a:p>
        </p:txBody>
      </p:sp>
      <p:sp>
        <p:nvSpPr>
          <p:cNvPr id="26" name="Text 24">
            <a:extLst>
              <a:ext uri="{FF2B5EF4-FFF2-40B4-BE49-F238E27FC236}">
                <a16:creationId xmlns:a16="http://schemas.microsoft.com/office/drawing/2014/main" id="{81933FDF-EA25-4585-A93B-ABD0566E7B0F}"/>
              </a:ext>
            </a:extLst>
          </p:cNvPr>
          <p:cNvSpPr>
            <a:spLocks noGrp="1"/>
          </p:cNvSpPr>
          <p:nvPr/>
        </p:nvSpPr>
        <p:spPr>
          <a:xfrm>
            <a:off x="649224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27" name="Shape 25">
            <a:extLst>
              <a:ext uri="{FF2B5EF4-FFF2-40B4-BE49-F238E27FC236}">
                <a16:creationId xmlns:a16="http://schemas.microsoft.com/office/drawing/2014/main" id="{3ACB8EB3-8E45-481D-AF15-6AA352FE9DEF}"/>
              </a:ext>
            </a:extLst>
          </p:cNvPr>
          <p:cNvSpPr>
            <a:spLocks noGrp="1"/>
          </p:cNvSpPr>
          <p:nvPr/>
        </p:nvSpPr>
        <p:spPr>
          <a:xfrm>
            <a:off x="7452360" y="2560320"/>
            <a:ext cx="1166206" cy="530352"/>
          </a:xfrm>
          <a:prstGeom prst="rect">
            <a:avLst/>
          </a:prstGeom>
          <a:solidFill>
            <a:srgbClr val="1F9D8A"/>
          </a:solidFill>
          <a:ln w="10160">
            <a:solidFill>
              <a:srgbClr val="FFFFFF"/>
            </a:solidFill>
            <a:prstDash val="solid"/>
          </a:ln>
        </p:spPr>
        <p:txBody>
          <a:bodyPr/>
          <a:lstStyle/>
          <a:p>
            <a:endParaRPr/>
          </a:p>
        </p:txBody>
      </p:sp>
      <p:sp>
        <p:nvSpPr>
          <p:cNvPr id="28" name="Text 26">
            <a:extLst>
              <a:ext uri="{FF2B5EF4-FFF2-40B4-BE49-F238E27FC236}">
                <a16:creationId xmlns:a16="http://schemas.microsoft.com/office/drawing/2014/main" id="{DA9CC502-43D4-4E37-9671-76F6EC59A92F}"/>
              </a:ext>
            </a:extLst>
          </p:cNvPr>
          <p:cNvSpPr>
            <a:spLocks noGrp="1"/>
          </p:cNvSpPr>
          <p:nvPr/>
        </p:nvSpPr>
        <p:spPr>
          <a:xfrm>
            <a:off x="7452360" y="2578608"/>
            <a:ext cx="1166206"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91</a:t>
            </a:r>
            <a:endParaRPr sz="1400"/>
          </a:p>
        </p:txBody>
      </p:sp>
      <p:sp>
        <p:nvSpPr>
          <p:cNvPr id="29" name="Shape 27">
            <a:extLst>
              <a:ext uri="{FF2B5EF4-FFF2-40B4-BE49-F238E27FC236}">
                <a16:creationId xmlns:a16="http://schemas.microsoft.com/office/drawing/2014/main" id="{1DF4F242-15D9-46B8-A1C5-24B3BDA8EE3F}"/>
              </a:ext>
            </a:extLst>
          </p:cNvPr>
          <p:cNvSpPr>
            <a:spLocks noGrp="1"/>
          </p:cNvSpPr>
          <p:nvPr/>
        </p:nvSpPr>
        <p:spPr>
          <a:xfrm>
            <a:off x="8618566" y="2560320"/>
            <a:ext cx="2217074" cy="530352"/>
          </a:xfrm>
          <a:prstGeom prst="rect">
            <a:avLst/>
          </a:prstGeom>
          <a:solidFill>
            <a:srgbClr val="8C6D5A"/>
          </a:solidFill>
          <a:ln w="10160">
            <a:solidFill>
              <a:srgbClr val="FFFFFF"/>
            </a:solidFill>
            <a:prstDash val="solid"/>
          </a:ln>
        </p:spPr>
        <p:txBody>
          <a:bodyPr/>
          <a:lstStyle/>
          <a:p>
            <a:endParaRPr/>
          </a:p>
        </p:txBody>
      </p:sp>
      <p:sp>
        <p:nvSpPr>
          <p:cNvPr id="30" name="Text 28">
            <a:extLst>
              <a:ext uri="{FF2B5EF4-FFF2-40B4-BE49-F238E27FC236}">
                <a16:creationId xmlns:a16="http://schemas.microsoft.com/office/drawing/2014/main" id="{0858363B-6D51-48FB-9F18-0B833CFEABC7}"/>
              </a:ext>
            </a:extLst>
          </p:cNvPr>
          <p:cNvSpPr>
            <a:spLocks noGrp="1"/>
          </p:cNvSpPr>
          <p:nvPr/>
        </p:nvSpPr>
        <p:spPr>
          <a:xfrm>
            <a:off x="8618566" y="2578608"/>
            <a:ext cx="2217074"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173</a:t>
            </a:r>
            <a:endParaRPr sz="1400"/>
          </a:p>
        </p:txBody>
      </p:sp>
      <p:sp>
        <p:nvSpPr>
          <p:cNvPr id="31" name="Text 29">
            <a:extLst>
              <a:ext uri="{FF2B5EF4-FFF2-40B4-BE49-F238E27FC236}">
                <a16:creationId xmlns:a16="http://schemas.microsoft.com/office/drawing/2014/main" id="{F683C998-0A91-4323-B3B4-6C80DD02B99A}"/>
              </a:ext>
            </a:extLst>
          </p:cNvPr>
          <p:cNvSpPr>
            <a:spLocks noGrp="1"/>
          </p:cNvSpPr>
          <p:nvPr/>
        </p:nvSpPr>
        <p:spPr>
          <a:xfrm>
            <a:off x="649224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32" name="Shape 30">
            <a:extLst>
              <a:ext uri="{FF2B5EF4-FFF2-40B4-BE49-F238E27FC236}">
                <a16:creationId xmlns:a16="http://schemas.microsoft.com/office/drawing/2014/main" id="{DAC7B438-2318-4638-8A82-D3CE154D8D5F}"/>
              </a:ext>
            </a:extLst>
          </p:cNvPr>
          <p:cNvSpPr>
            <a:spLocks noGrp="1"/>
          </p:cNvSpPr>
          <p:nvPr/>
        </p:nvSpPr>
        <p:spPr>
          <a:xfrm>
            <a:off x="731520" y="3703320"/>
            <a:ext cx="3429000" cy="1572768"/>
          </a:xfrm>
          <a:prstGeom prst="roundRect">
            <a:avLst>
              <a:gd name="adj" fmla="val 4651"/>
            </a:avLst>
          </a:prstGeom>
          <a:solidFill>
            <a:srgbClr val="E8F6F3"/>
          </a:solidFill>
          <a:ln w="12700">
            <a:solidFill>
              <a:srgbClr val="1F9D8A"/>
            </a:solidFill>
            <a:prstDash val="solid"/>
          </a:ln>
        </p:spPr>
        <p:txBody>
          <a:bodyPr/>
          <a:lstStyle/>
          <a:p>
            <a:endParaRPr/>
          </a:p>
        </p:txBody>
      </p:sp>
      <p:pic>
        <p:nvPicPr>
          <p:cNvPr id="80"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 y="4005072"/>
            <a:ext cx="475488" cy="475488"/>
          </a:xfrm>
          <a:prstGeom prst="rect">
            <a:avLst/>
          </a:prstGeom>
        </p:spPr>
      </p:pic>
      <p:sp>
        <p:nvSpPr>
          <p:cNvPr id="34" name="Text 31">
            <a:extLst>
              <a:ext uri="{FF2B5EF4-FFF2-40B4-BE49-F238E27FC236}">
                <a16:creationId xmlns:a16="http://schemas.microsoft.com/office/drawing/2014/main" id="{9CA28977-0949-41E7-9335-0F540913C2ED}"/>
              </a:ext>
            </a:extLst>
          </p:cNvPr>
          <p:cNvSpPr>
            <a:spLocks noGrp="1"/>
          </p:cNvSpPr>
          <p:nvPr/>
        </p:nvSpPr>
        <p:spPr>
          <a:xfrm>
            <a:off x="1664208"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高PV条件</a:t>
            </a:r>
            <a:endParaRPr sz="1800"/>
          </a:p>
        </p:txBody>
      </p:sp>
      <p:sp>
        <p:nvSpPr>
          <p:cNvPr id="35" name="Text 32">
            <a:extLst>
              <a:ext uri="{FF2B5EF4-FFF2-40B4-BE49-F238E27FC236}">
                <a16:creationId xmlns:a16="http://schemas.microsoft.com/office/drawing/2014/main" id="{8A1276ED-A41E-46D1-9C2A-E22B6EDC0324}"/>
              </a:ext>
            </a:extLst>
          </p:cNvPr>
          <p:cNvSpPr>
            <a:spLocks noGrp="1"/>
          </p:cNvSpPr>
          <p:nvPr/>
        </p:nvSpPr>
        <p:spPr>
          <a:xfrm>
            <a:off x="1005840"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28台・199便</a:t>
            </a:r>
            <a:endParaRPr sz="1550"/>
          </a:p>
          <a:p>
            <a:pPr marL="0" indent="0" algn="ctr">
              <a:buNone/>
            </a:pPr>
            <a:r>
              <a:rPr sz="1550">
                <a:solidFill>
                  <a:srgbClr val="687386"/>
                </a:solidFill>
                <a:latin typeface="Noto Sans CJK JP"/>
                <a:ea typeface="Noto Sans CJK JP"/>
                <a:cs typeface="Noto Sans CJK JP"/>
              </a:rPr>
              <a:t>→ BEV担当便が多い保存結果</a:t>
            </a:r>
            <a:endParaRPr sz="1550"/>
          </a:p>
        </p:txBody>
      </p:sp>
      <p:sp>
        <p:nvSpPr>
          <p:cNvPr id="36" name="Shape 33">
            <a:extLst>
              <a:ext uri="{FF2B5EF4-FFF2-40B4-BE49-F238E27FC236}">
                <a16:creationId xmlns:a16="http://schemas.microsoft.com/office/drawing/2014/main" id="{8F2ABA4B-D2AA-4A21-973C-483E02E361C1}"/>
              </a:ext>
            </a:extLst>
          </p:cNvPr>
          <p:cNvSpPr>
            <a:spLocks noGrp="1"/>
          </p:cNvSpPr>
          <p:nvPr/>
        </p:nvSpPr>
        <p:spPr>
          <a:xfrm>
            <a:off x="4407408" y="3703320"/>
            <a:ext cx="3429000" cy="1572768"/>
          </a:xfrm>
          <a:prstGeom prst="roundRect">
            <a:avLst>
              <a:gd name="adj" fmla="val 4651"/>
            </a:avLst>
          </a:prstGeom>
          <a:solidFill>
            <a:srgbClr val="EAF2FB"/>
          </a:solidFill>
          <a:ln w="12700">
            <a:solidFill>
              <a:srgbClr val="356BB3"/>
            </a:solidFill>
            <a:prstDash val="solid"/>
          </a:ln>
        </p:spPr>
        <p:txBody>
          <a:bodyPr/>
          <a:lstStyle/>
          <a:p>
            <a:endParaRPr/>
          </a:p>
        </p:txBody>
      </p:sp>
      <p:pic>
        <p:nvPicPr>
          <p:cNvPr id="84"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81728" y="4005072"/>
            <a:ext cx="502920" cy="475488"/>
          </a:xfrm>
          <a:prstGeom prst="rect">
            <a:avLst/>
          </a:prstGeom>
        </p:spPr>
      </p:pic>
      <p:sp>
        <p:nvSpPr>
          <p:cNvPr id="38" name="Text 34">
            <a:extLst>
              <a:ext uri="{FF2B5EF4-FFF2-40B4-BE49-F238E27FC236}">
                <a16:creationId xmlns:a16="http://schemas.microsoft.com/office/drawing/2014/main" id="{CF3D9155-32E5-4524-9564-5387BAA16EB9}"/>
              </a:ext>
            </a:extLst>
          </p:cNvPr>
          <p:cNvSpPr>
            <a:spLocks noGrp="1"/>
          </p:cNvSpPr>
          <p:nvPr/>
        </p:nvSpPr>
        <p:spPr>
          <a:xfrm>
            <a:off x="5349240"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低PV条件</a:t>
            </a:r>
            <a:endParaRPr sz="1800"/>
          </a:p>
        </p:txBody>
      </p:sp>
      <p:sp>
        <p:nvSpPr>
          <p:cNvPr id="39" name="Text 35">
            <a:extLst>
              <a:ext uri="{FF2B5EF4-FFF2-40B4-BE49-F238E27FC236}">
                <a16:creationId xmlns:a16="http://schemas.microsoft.com/office/drawing/2014/main" id="{8BC01A59-D220-4153-9CEF-E471CFBE6D78}"/>
              </a:ext>
            </a:extLst>
          </p:cNvPr>
          <p:cNvSpPr>
            <a:spLocks noGrp="1"/>
          </p:cNvSpPr>
          <p:nvPr/>
        </p:nvSpPr>
        <p:spPr>
          <a:xfrm>
            <a:off x="4681728"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21台・91便</a:t>
            </a:r>
            <a:endParaRPr sz="1550"/>
          </a:p>
          <a:p>
            <a:pPr marL="0" indent="0" algn="ctr">
              <a:buNone/>
            </a:pPr>
            <a:r>
              <a:rPr sz="1550">
                <a:solidFill>
                  <a:srgbClr val="687386"/>
                </a:solidFill>
                <a:latin typeface="Noto Sans CJK JP"/>
                <a:ea typeface="Noto Sans CJK JP"/>
                <a:cs typeface="Noto Sans CJK JP"/>
              </a:rPr>
              <a:t>→ ICE担当便が多い保存結果</a:t>
            </a:r>
            <a:endParaRPr sz="1550"/>
          </a:p>
        </p:txBody>
      </p:sp>
      <p:sp>
        <p:nvSpPr>
          <p:cNvPr id="40" name="Shape 36">
            <a:extLst>
              <a:ext uri="{FF2B5EF4-FFF2-40B4-BE49-F238E27FC236}">
                <a16:creationId xmlns:a16="http://schemas.microsoft.com/office/drawing/2014/main" id="{E8A10767-6C0F-4A63-A6F3-87C3744264BB}"/>
              </a:ext>
            </a:extLst>
          </p:cNvPr>
          <p:cNvSpPr>
            <a:spLocks noGrp="1"/>
          </p:cNvSpPr>
          <p:nvPr/>
        </p:nvSpPr>
        <p:spPr>
          <a:xfrm>
            <a:off x="8083296" y="3703320"/>
            <a:ext cx="3429000" cy="1572768"/>
          </a:xfrm>
          <a:prstGeom prst="roundRect">
            <a:avLst>
              <a:gd name="adj" fmla="val 4651"/>
            </a:avLst>
          </a:prstGeom>
          <a:solidFill>
            <a:srgbClr val="F8FAFC"/>
          </a:solidFill>
          <a:ln w="12700">
            <a:solidFill>
              <a:srgbClr val="EEF1F5"/>
            </a:solidFill>
            <a:prstDash val="solid"/>
          </a:ln>
        </p:spPr>
        <p:txBody>
          <a:bodyPr/>
          <a:lstStyle/>
          <a:p>
            <a:endParaRPr/>
          </a:p>
        </p:txBody>
      </p:sp>
      <p:pic>
        <p:nvPicPr>
          <p:cNvPr id="88"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7616" y="4005072"/>
            <a:ext cx="457200" cy="457200"/>
          </a:xfrm>
          <a:prstGeom prst="rect">
            <a:avLst/>
          </a:prstGeom>
        </p:spPr>
      </p:pic>
      <p:sp>
        <p:nvSpPr>
          <p:cNvPr id="42" name="Text 37">
            <a:extLst>
              <a:ext uri="{FF2B5EF4-FFF2-40B4-BE49-F238E27FC236}">
                <a16:creationId xmlns:a16="http://schemas.microsoft.com/office/drawing/2014/main" id="{B60E9869-D1FE-40C7-8CBC-3B8869CA77C3}"/>
              </a:ext>
            </a:extLst>
          </p:cNvPr>
          <p:cNvSpPr>
            <a:spLocks noGrp="1"/>
          </p:cNvSpPr>
          <p:nvPr/>
        </p:nvSpPr>
        <p:spPr>
          <a:xfrm>
            <a:off x="9015984" y="3913632"/>
            <a:ext cx="10058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共通</a:t>
            </a:r>
            <a:endParaRPr sz="1800"/>
          </a:p>
        </p:txBody>
      </p:sp>
      <p:sp>
        <p:nvSpPr>
          <p:cNvPr id="43" name="Text 38">
            <a:extLst>
              <a:ext uri="{FF2B5EF4-FFF2-40B4-BE49-F238E27FC236}">
                <a16:creationId xmlns:a16="http://schemas.microsoft.com/office/drawing/2014/main" id="{03E47449-1D86-4E40-8A70-CC0F8F1F5A8C}"/>
              </a:ext>
            </a:extLst>
          </p:cNvPr>
          <p:cNvSpPr>
            <a:spLocks noGrp="1"/>
          </p:cNvSpPr>
          <p:nvPr/>
        </p:nvSpPr>
        <p:spPr>
          <a:xfrm>
            <a:off x="8357616"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264/264便を運行</a:t>
            </a:r>
            <a:endParaRPr sz="1550"/>
          </a:p>
          <a:p>
            <a:pPr marL="0" indent="0" algn="ctr">
              <a:buNone/>
            </a:pPr>
            <a:r>
              <a:rPr sz="1550">
                <a:solidFill>
                  <a:srgbClr val="687386"/>
                </a:solidFill>
                <a:latin typeface="Noto Sans CJK JP"/>
                <a:ea typeface="Noto Sans CJK JP"/>
                <a:cs typeface="Noto Sans CJK JP"/>
              </a:rPr>
              <a:t>使用総台数はどちらも32台</a:t>
            </a:r>
            <a:endParaRPr sz="1550"/>
          </a:p>
        </p:txBody>
      </p:sp>
      <p:sp>
        <p:nvSpPr>
          <p:cNvPr id="44" name="Text 39">
            <a:extLst>
              <a:ext uri="{FF2B5EF4-FFF2-40B4-BE49-F238E27FC236}">
                <a16:creationId xmlns:a16="http://schemas.microsoft.com/office/drawing/2014/main" id="{23230E42-A982-43CE-A3D1-9A6785AFAFB0}"/>
              </a:ext>
            </a:extLst>
          </p:cNvPr>
          <p:cNvSpPr>
            <a:spLocks noGrp="1"/>
          </p:cNvSpPr>
          <p:nvPr/>
        </p:nvSpPr>
        <p:spPr>
          <a:xfrm>
            <a:off x="1828800" y="5797296"/>
            <a:ext cx="8595360" cy="237744"/>
          </a:xfrm>
          <a:prstGeom prst="rect">
            <a:avLst/>
          </a:prstGeom>
          <a:noFill/>
        </p:spPr>
        <p:txBody>
          <a:bodyPr wrap="square" lIns="0" tIns="0" rIns="0" bIns="0" anchor="ctr"/>
          <a:lstStyle/>
          <a:p>
            <a:pPr marL="0" indent="0" algn="ctr">
              <a:buNone/>
            </a:pPr>
            <a:r>
              <a:rPr sz="1080">
                <a:solidFill>
                  <a:srgbClr val="C94C4C"/>
                </a:solidFill>
                <a:latin typeface="Noto Sans CJK JP"/>
                <a:ea typeface="Noto Sans CJK JP"/>
                <a:cs typeface="Noto Sans CJK JP"/>
              </a:rPr>
              <a:t>※ 2つの固定条件での結果であり、一般的な天候効果を示すものではない</a:t>
            </a:r>
            <a:endParaRPr sz="1080"/>
          </a:p>
        </p:txBody>
      </p:sp>
      <p:sp>
        <p:nvSpPr>
          <p:cNvPr id="48" name="正方形/長方形 47">
            <a:extLst>
              <a:ext uri="{FF2B5EF4-FFF2-40B4-BE49-F238E27FC236}">
                <a16:creationId xmlns:a16="http://schemas.microsoft.com/office/drawing/2014/main" id="{669B609C-919B-4197-9836-E85DBCD25C2C}"/>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6046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F3C9D5F-5202-43DE-AD12-E73EFC5F02A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先行研究にならい、車両構成と費用の関係を候補ごとに確認</a:t>
            </a:r>
            <a:endParaRPr sz="2550"/>
          </a:p>
        </p:txBody>
      </p:sp>
      <p:sp>
        <p:nvSpPr>
          <p:cNvPr id="3" name="Shape 1">
            <a:extLst>
              <a:ext uri="{FF2B5EF4-FFF2-40B4-BE49-F238E27FC236}">
                <a16:creationId xmlns:a16="http://schemas.microsoft.com/office/drawing/2014/main" id="{7BD475C6-BD36-4A2C-93C3-9EA2276183F9}"/>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9C47CDF3-B45E-481F-B09D-C764EB2C4DA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63AD49D9-8D72-428A-A10D-7BB7FBF07E1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11/18</a:t>
            </a:r>
            <a:endParaRPr sz="850"/>
          </a:p>
        </p:txBody>
      </p:sp>
      <p:pic>
        <p:nvPicPr>
          <p:cNvPr id="27" name="Image 0"/>
          <p:cNvPicPr>
            <a:picLocks noChangeAspect="1"/>
          </p:cNvPicPr>
          <p:nvPr/>
        </p:nvPicPr>
        <p:blipFill>
          <a:blip r:embed="rId3"/>
          <a:stretch>
            <a:fillRect/>
          </a:stretch>
        </p:blipFill>
        <p:spPr>
          <a:xfrm>
            <a:off x="594360" y="960120"/>
            <a:ext cx="7498080" cy="4343400"/>
          </a:xfrm>
          <a:prstGeom prst="rect">
            <a:avLst/>
          </a:prstGeom>
        </p:spPr>
      </p:pic>
      <p:sp>
        <p:nvSpPr>
          <p:cNvPr id="7" name="Shape 4">
            <a:extLst>
              <a:ext uri="{FF2B5EF4-FFF2-40B4-BE49-F238E27FC236}">
                <a16:creationId xmlns:a16="http://schemas.microsoft.com/office/drawing/2014/main" id="{1A6434E7-3639-4703-B6A3-95DD1D1A7E10}"/>
              </a:ext>
            </a:extLst>
          </p:cNvPr>
          <p:cNvSpPr>
            <a:spLocks noGrp="1"/>
          </p:cNvSpPr>
          <p:nvPr/>
        </p:nvSpPr>
        <p:spPr>
          <a:xfrm>
            <a:off x="8275320" y="1078992"/>
            <a:ext cx="3246120" cy="4041648"/>
          </a:xfrm>
          <a:prstGeom prst="roundRect">
            <a:avLst>
              <a:gd name="adj" fmla="val 225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8" name="Text 5">
            <a:extLst>
              <a:ext uri="{FF2B5EF4-FFF2-40B4-BE49-F238E27FC236}">
                <a16:creationId xmlns:a16="http://schemas.microsoft.com/office/drawing/2014/main" id="{1B8D6076-C429-4113-84DF-980A62CC5384}"/>
              </a:ext>
            </a:extLst>
          </p:cNvPr>
          <p:cNvSpPr>
            <a:spLocks noGrp="1"/>
          </p:cNvSpPr>
          <p:nvPr/>
        </p:nvSpPr>
        <p:spPr>
          <a:xfrm>
            <a:off x="8567928" y="1344168"/>
            <a:ext cx="2514600" cy="329184"/>
          </a:xfrm>
          <a:prstGeom prst="rect">
            <a:avLst/>
          </a:prstGeom>
          <a:noFill/>
        </p:spPr>
        <p:txBody>
          <a:bodyPr wrap="square" lIns="0" tIns="0" rIns="0" bIns="0" anchor="ctr"/>
          <a:lstStyle/>
          <a:p>
            <a:pPr marL="0" indent="0" algn="ctr">
              <a:buNone/>
            </a:pPr>
            <a:r>
              <a:rPr sz="2000" b="1">
                <a:solidFill>
                  <a:srgbClr val="172033"/>
                </a:solidFill>
                <a:latin typeface="Noto Sans CJK JP"/>
                <a:ea typeface="Noto Sans CJK JP"/>
                <a:cs typeface="Noto Sans CJK JP"/>
              </a:rPr>
              <a:t>図から読めること</a:t>
            </a:r>
            <a:endParaRPr sz="2000"/>
          </a:p>
        </p:txBody>
      </p:sp>
      <p:sp>
        <p:nvSpPr>
          <p:cNvPr id="9" name="Shape 6">
            <a:extLst>
              <a:ext uri="{FF2B5EF4-FFF2-40B4-BE49-F238E27FC236}">
                <a16:creationId xmlns:a16="http://schemas.microsoft.com/office/drawing/2014/main" id="{BA3E87F4-EABD-431D-9C4A-5065F5A5EB89}"/>
              </a:ext>
            </a:extLst>
          </p:cNvPr>
          <p:cNvSpPr>
            <a:spLocks noGrp="1"/>
          </p:cNvSpPr>
          <p:nvPr/>
        </p:nvSpPr>
        <p:spPr>
          <a:xfrm>
            <a:off x="8540496" y="2066544"/>
            <a:ext cx="91440" cy="91440"/>
          </a:xfrm>
          <a:prstGeom prst="ellipse">
            <a:avLst/>
          </a:prstGeom>
          <a:solidFill>
            <a:srgbClr val="356BB3"/>
          </a:solidFill>
          <a:ln w="12700">
            <a:solidFill>
              <a:srgbClr val="356BB3"/>
            </a:solidFill>
            <a:prstDash val="solid"/>
          </a:ln>
        </p:spPr>
        <p:txBody>
          <a:bodyPr/>
          <a:lstStyle/>
          <a:p>
            <a:endParaRPr/>
          </a:p>
        </p:txBody>
      </p:sp>
      <p:sp>
        <p:nvSpPr>
          <p:cNvPr id="10" name="Text 7">
            <a:extLst>
              <a:ext uri="{FF2B5EF4-FFF2-40B4-BE49-F238E27FC236}">
                <a16:creationId xmlns:a16="http://schemas.microsoft.com/office/drawing/2014/main" id="{169AE80B-1B7D-4EBD-9B7E-7F0A0E658170}"/>
              </a:ext>
            </a:extLst>
          </p:cNvPr>
          <p:cNvSpPr>
            <a:spLocks noGrp="1"/>
          </p:cNvSpPr>
          <p:nvPr/>
        </p:nvSpPr>
        <p:spPr>
          <a:xfrm>
            <a:off x="8705088" y="192024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高PV条件はBEV 28台の候補を選択</a:t>
            </a:r>
            <a:endParaRPr sz="1430"/>
          </a:p>
        </p:txBody>
      </p:sp>
      <p:sp>
        <p:nvSpPr>
          <p:cNvPr id="11" name="Shape 8">
            <a:extLst>
              <a:ext uri="{FF2B5EF4-FFF2-40B4-BE49-F238E27FC236}">
                <a16:creationId xmlns:a16="http://schemas.microsoft.com/office/drawing/2014/main" id="{9ED3F980-3414-4B5B-8DCE-FAE6C78BDC06}"/>
              </a:ext>
            </a:extLst>
          </p:cNvPr>
          <p:cNvSpPr>
            <a:spLocks noGrp="1"/>
          </p:cNvSpPr>
          <p:nvPr/>
        </p:nvSpPr>
        <p:spPr>
          <a:xfrm>
            <a:off x="8540496" y="2672334"/>
            <a:ext cx="91440" cy="91440"/>
          </a:xfrm>
          <a:prstGeom prst="ellipse">
            <a:avLst/>
          </a:prstGeom>
          <a:solidFill>
            <a:srgbClr val="356BB3"/>
          </a:solidFill>
          <a:ln w="12700">
            <a:solidFill>
              <a:srgbClr val="356BB3"/>
            </a:solidFill>
            <a:prstDash val="solid"/>
          </a:ln>
        </p:spPr>
        <p:txBody>
          <a:bodyPr/>
          <a:lstStyle/>
          <a:p>
            <a:endParaRPr/>
          </a:p>
        </p:txBody>
      </p:sp>
      <p:sp>
        <p:nvSpPr>
          <p:cNvPr id="12" name="Text 9">
            <a:extLst>
              <a:ext uri="{FF2B5EF4-FFF2-40B4-BE49-F238E27FC236}">
                <a16:creationId xmlns:a16="http://schemas.microsoft.com/office/drawing/2014/main" id="{5D8D9423-671B-4DD4-AE0D-437D6C64AB60}"/>
              </a:ext>
            </a:extLst>
          </p:cNvPr>
          <p:cNvSpPr>
            <a:spLocks noGrp="1"/>
          </p:cNvSpPr>
          <p:nvPr/>
        </p:nvSpPr>
        <p:spPr>
          <a:xfrm>
            <a:off x="8705088" y="252603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低PV条件はBEV 21台の候補を選択</a:t>
            </a:r>
            <a:endParaRPr sz="1430"/>
          </a:p>
        </p:txBody>
      </p:sp>
      <p:sp>
        <p:nvSpPr>
          <p:cNvPr id="13" name="Shape 10">
            <a:extLst>
              <a:ext uri="{FF2B5EF4-FFF2-40B4-BE49-F238E27FC236}">
                <a16:creationId xmlns:a16="http://schemas.microsoft.com/office/drawing/2014/main" id="{C4B3D581-59A5-4E08-8C32-1A972F38AFD0}"/>
              </a:ext>
            </a:extLst>
          </p:cNvPr>
          <p:cNvSpPr>
            <a:spLocks noGrp="1"/>
          </p:cNvSpPr>
          <p:nvPr/>
        </p:nvSpPr>
        <p:spPr>
          <a:xfrm>
            <a:off x="8540496" y="3278124"/>
            <a:ext cx="91440" cy="91440"/>
          </a:xfrm>
          <a:prstGeom prst="ellipse">
            <a:avLst/>
          </a:prstGeom>
          <a:solidFill>
            <a:srgbClr val="356BB3"/>
          </a:solidFill>
          <a:ln w="12700">
            <a:solidFill>
              <a:srgbClr val="356BB3"/>
            </a:solidFill>
            <a:prstDash val="solid"/>
          </a:ln>
        </p:spPr>
        <p:txBody>
          <a:bodyPr/>
          <a:lstStyle/>
          <a:p>
            <a:endParaRPr/>
          </a:p>
        </p:txBody>
      </p:sp>
      <p:sp>
        <p:nvSpPr>
          <p:cNvPr id="14" name="Text 11">
            <a:extLst>
              <a:ext uri="{FF2B5EF4-FFF2-40B4-BE49-F238E27FC236}">
                <a16:creationId xmlns:a16="http://schemas.microsoft.com/office/drawing/2014/main" id="{1180D69E-4326-4D51-A91B-A788E2C7649C}"/>
              </a:ext>
            </a:extLst>
          </p:cNvPr>
          <p:cNvSpPr>
            <a:spLocks noGrp="1"/>
          </p:cNvSpPr>
          <p:nvPr/>
        </p:nvSpPr>
        <p:spPr>
          <a:xfrm>
            <a:off x="8705088" y="313182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同じ候補でもPV条件で評価額が変わる</a:t>
            </a:r>
            <a:endParaRPr sz="1430"/>
          </a:p>
        </p:txBody>
      </p:sp>
      <p:sp>
        <p:nvSpPr>
          <p:cNvPr id="15" name="Shape 12">
            <a:extLst>
              <a:ext uri="{FF2B5EF4-FFF2-40B4-BE49-F238E27FC236}">
                <a16:creationId xmlns:a16="http://schemas.microsoft.com/office/drawing/2014/main" id="{ADB1432F-BE2F-436A-B307-B2BE5477B2D7}"/>
              </a:ext>
            </a:extLst>
          </p:cNvPr>
          <p:cNvSpPr>
            <a:spLocks noGrp="1"/>
          </p:cNvSpPr>
          <p:nvPr/>
        </p:nvSpPr>
        <p:spPr>
          <a:xfrm>
            <a:off x="8540496" y="3883914"/>
            <a:ext cx="91440" cy="91440"/>
          </a:xfrm>
          <a:prstGeom prst="ellipse">
            <a:avLst/>
          </a:prstGeom>
          <a:solidFill>
            <a:srgbClr val="356BB3"/>
          </a:solidFill>
          <a:ln w="12700">
            <a:solidFill>
              <a:srgbClr val="356BB3"/>
            </a:solidFill>
            <a:prstDash val="solid"/>
          </a:ln>
        </p:spPr>
        <p:txBody>
          <a:bodyPr/>
          <a:lstStyle/>
          <a:p>
            <a:endParaRPr/>
          </a:p>
        </p:txBody>
      </p:sp>
      <p:sp>
        <p:nvSpPr>
          <p:cNvPr id="16" name="Text 13">
            <a:extLst>
              <a:ext uri="{FF2B5EF4-FFF2-40B4-BE49-F238E27FC236}">
                <a16:creationId xmlns:a16="http://schemas.microsoft.com/office/drawing/2014/main" id="{439D9F0E-68EB-4716-81C9-2CE3520A8B77}"/>
              </a:ext>
            </a:extLst>
          </p:cNvPr>
          <p:cNvSpPr>
            <a:spLocks noGrp="1"/>
          </p:cNvSpPr>
          <p:nvPr/>
        </p:nvSpPr>
        <p:spPr>
          <a:xfrm>
            <a:off x="8705088" y="373761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BEVを増やせば必ず安くなるわけではない</a:t>
            </a:r>
            <a:endParaRPr sz="1430"/>
          </a:p>
        </p:txBody>
      </p:sp>
      <p:sp>
        <p:nvSpPr>
          <p:cNvPr id="17" name="Shape 14">
            <a:extLst>
              <a:ext uri="{FF2B5EF4-FFF2-40B4-BE49-F238E27FC236}">
                <a16:creationId xmlns:a16="http://schemas.microsoft.com/office/drawing/2014/main" id="{014B0BEF-8112-4517-B25C-20A119C34B21}"/>
              </a:ext>
            </a:extLst>
          </p:cNvPr>
          <p:cNvSpPr>
            <a:spLocks noGrp="1"/>
          </p:cNvSpPr>
          <p:nvPr/>
        </p:nvSpPr>
        <p:spPr>
          <a:xfrm>
            <a:off x="8549640" y="4526280"/>
            <a:ext cx="2697480" cy="384048"/>
          </a:xfrm>
          <a:prstGeom prst="roundRect">
            <a:avLst/>
          </a:prstGeom>
          <a:solidFill>
            <a:srgbClr val="FFF5D8"/>
          </a:solidFill>
          <a:ln w="12700">
            <a:solidFill>
              <a:srgbClr val="E7B34B"/>
            </a:solidFill>
            <a:prstDash val="solid"/>
          </a:ln>
        </p:spPr>
        <p:txBody>
          <a:bodyPr/>
          <a:lstStyle/>
          <a:p>
            <a:endParaRPr/>
          </a:p>
        </p:txBody>
      </p:sp>
      <p:sp>
        <p:nvSpPr>
          <p:cNvPr id="18" name="Text 15">
            <a:extLst>
              <a:ext uri="{FF2B5EF4-FFF2-40B4-BE49-F238E27FC236}">
                <a16:creationId xmlns:a16="http://schemas.microsoft.com/office/drawing/2014/main" id="{9970B710-CF81-4738-B465-856CE5C61119}"/>
              </a:ext>
            </a:extLst>
          </p:cNvPr>
          <p:cNvSpPr>
            <a:spLocks noGrp="1"/>
          </p:cNvSpPr>
          <p:nvPr/>
        </p:nvSpPr>
        <p:spPr>
          <a:xfrm>
            <a:off x="8732520" y="4617720"/>
            <a:ext cx="2331720" cy="201168"/>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有限22候補内の比較</a:t>
            </a:r>
            <a:endParaRPr sz="1400"/>
          </a:p>
        </p:txBody>
      </p:sp>
      <p:sp>
        <p:nvSpPr>
          <p:cNvPr id="19" name="Text 16">
            <a:extLst>
              <a:ext uri="{FF2B5EF4-FFF2-40B4-BE49-F238E27FC236}">
                <a16:creationId xmlns:a16="http://schemas.microsoft.com/office/drawing/2014/main" id="{E3097DFF-0864-4F57-9761-4798307A7DD4}"/>
              </a:ext>
            </a:extLst>
          </p:cNvPr>
          <p:cNvSpPr>
            <a:spLocks noGrp="1"/>
          </p:cNvSpPr>
          <p:nvPr/>
        </p:nvSpPr>
        <p:spPr>
          <a:xfrm>
            <a:off x="1005840" y="5742432"/>
            <a:ext cx="10149840" cy="274320"/>
          </a:xfrm>
          <a:prstGeom prst="rect">
            <a:avLst/>
          </a:prstGeom>
          <a:noFill/>
        </p:spPr>
        <p:txBody>
          <a:bodyPr wrap="square" lIns="0" tIns="0" rIns="0" bIns="0" anchor="ctr"/>
          <a:lstStyle/>
          <a:p>
            <a:pPr marL="0" indent="0" algn="ctr">
              <a:buNone/>
            </a:pPr>
            <a:r>
              <a:rPr sz="1100">
                <a:solidFill>
                  <a:srgbClr val="C94C4C"/>
                </a:solidFill>
                <a:latin typeface="Noto Sans CJK JP"/>
                <a:ea typeface="Noto Sans CJK JP"/>
                <a:cs typeface="Noto Sans CJK JP"/>
              </a:rPr>
              <a:t>因果関係や全候補の最適性を示す図ではない</a:t>
            </a:r>
            <a:endParaRPr sz="1100"/>
          </a:p>
        </p:txBody>
      </p:sp>
      <p:sp>
        <p:nvSpPr>
          <p:cNvPr id="20" name="Text 17">
            <a:extLst>
              <a:ext uri="{FF2B5EF4-FFF2-40B4-BE49-F238E27FC236}">
                <a16:creationId xmlns:a16="http://schemas.microsoft.com/office/drawing/2014/main" id="{43276C9E-D349-43EC-BCEA-36B684D3121A}"/>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図の構成は Fei et al., Transportation Research Part C 149 (2023) の「台数と収益」の示し方を参考に、本研究データで再作成</a:t>
            </a:r>
            <a:endParaRPr sz="720"/>
          </a:p>
        </p:txBody>
      </p:sp>
      <p:sp>
        <p:nvSpPr>
          <p:cNvPr id="22" name="正方形/長方形 21">
            <a:extLst>
              <a:ext uri="{FF2B5EF4-FFF2-40B4-BE49-F238E27FC236}">
                <a16:creationId xmlns:a16="http://schemas.microsoft.com/office/drawing/2014/main" id="{0221EC9E-C8F6-44B4-8762-9E9667D253D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0244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593590-4A6D-4457-9026-7D860AECE8A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最新結果②：低PV条件では、主に燃料使用の増加によって評価額が高くなった</a:t>
            </a:r>
            <a:endParaRPr sz="2550"/>
          </a:p>
        </p:txBody>
      </p:sp>
      <p:sp>
        <p:nvSpPr>
          <p:cNvPr id="3" name="Shape 1">
            <a:extLst>
              <a:ext uri="{FF2B5EF4-FFF2-40B4-BE49-F238E27FC236}">
                <a16:creationId xmlns:a16="http://schemas.microsoft.com/office/drawing/2014/main" id="{56D5AE46-33FF-462C-A3E4-93E001BF645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527E08D5-8DD5-4C83-81CC-F3C920CC717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D69897D-E7D2-464C-8D5E-6A06D915BC7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12/18</a:t>
            </a:r>
            <a:endParaRPr sz="850"/>
          </a:p>
        </p:txBody>
      </p:sp>
      <p:sp>
        <p:nvSpPr>
          <p:cNvPr id="6" name="Text 4">
            <a:extLst>
              <a:ext uri="{FF2B5EF4-FFF2-40B4-BE49-F238E27FC236}">
                <a16:creationId xmlns:a16="http://schemas.microsoft.com/office/drawing/2014/main" id="{F1B13F9B-7161-4E6B-A615-E81E0EC04652}"/>
              </a:ext>
            </a:extLst>
          </p:cNvPr>
          <p:cNvSpPr>
            <a:spLocks noGrp="1"/>
          </p:cNvSpPr>
          <p:nvPr/>
        </p:nvSpPr>
        <p:spPr>
          <a:xfrm>
            <a:off x="731520" y="932688"/>
            <a:ext cx="37490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モデル上の24時間評価額</a:t>
            </a:r>
            <a:endParaRPr sz="1800"/>
          </a:p>
        </p:txBody>
      </p:sp>
      <p:sp>
        <p:nvSpPr>
          <p:cNvPr id="7" name="Shape 5">
            <a:extLst>
              <a:ext uri="{FF2B5EF4-FFF2-40B4-BE49-F238E27FC236}">
                <a16:creationId xmlns:a16="http://schemas.microsoft.com/office/drawing/2014/main" id="{478D4919-0F47-41DF-BACB-1101C771796F}"/>
              </a:ext>
            </a:extLst>
          </p:cNvPr>
          <p:cNvSpPr>
            <a:spLocks noGrp="1"/>
          </p:cNvSpPr>
          <p:nvPr/>
        </p:nvSpPr>
        <p:spPr>
          <a:xfrm>
            <a:off x="1325880" y="2369195"/>
            <a:ext cx="1234440" cy="2980045"/>
          </a:xfrm>
          <a:prstGeom prst="roundRect">
            <a:avLst/>
          </a:prstGeom>
          <a:solidFill>
            <a:srgbClr val="1F9D8A"/>
          </a:solidFill>
          <a:ln w="12700">
            <a:solidFill>
              <a:srgbClr val="1F9D8A"/>
            </a:solidFill>
            <a:prstDash val="solid"/>
          </a:ln>
        </p:spPr>
        <p:txBody>
          <a:bodyPr/>
          <a:lstStyle/>
          <a:p>
            <a:endParaRPr/>
          </a:p>
        </p:txBody>
      </p:sp>
      <p:sp>
        <p:nvSpPr>
          <p:cNvPr id="8" name="Text 6">
            <a:extLst>
              <a:ext uri="{FF2B5EF4-FFF2-40B4-BE49-F238E27FC236}">
                <a16:creationId xmlns:a16="http://schemas.microsoft.com/office/drawing/2014/main" id="{A4685A9A-9AA1-43A4-9871-9032559FA35E}"/>
              </a:ext>
            </a:extLst>
          </p:cNvPr>
          <p:cNvSpPr>
            <a:spLocks noGrp="1"/>
          </p:cNvSpPr>
          <p:nvPr/>
        </p:nvSpPr>
        <p:spPr>
          <a:xfrm>
            <a:off x="1188720" y="1930283"/>
            <a:ext cx="1508760" cy="310896"/>
          </a:xfrm>
          <a:prstGeom prst="rect">
            <a:avLst/>
          </a:prstGeom>
          <a:noFill/>
        </p:spPr>
        <p:txBody>
          <a:bodyPr wrap="square" lIns="0" tIns="0" rIns="0" bIns="0" anchor="ctr"/>
          <a:lstStyle/>
          <a:p>
            <a:pPr marL="0" indent="0" algn="ctr">
              <a:buNone/>
            </a:pPr>
            <a:r>
              <a:rPr sz="1700" b="1">
                <a:solidFill>
                  <a:srgbClr val="1F9D8A"/>
                </a:solidFill>
                <a:latin typeface="Noto Sans CJK JP"/>
                <a:ea typeface="Noto Sans CJK JP"/>
                <a:cs typeface="Noto Sans CJK JP"/>
              </a:rPr>
              <a:t>661千円</a:t>
            </a:r>
            <a:endParaRPr sz="1700"/>
          </a:p>
        </p:txBody>
      </p:sp>
      <p:sp>
        <p:nvSpPr>
          <p:cNvPr id="9" name="Text 7">
            <a:extLst>
              <a:ext uri="{FF2B5EF4-FFF2-40B4-BE49-F238E27FC236}">
                <a16:creationId xmlns:a16="http://schemas.microsoft.com/office/drawing/2014/main" id="{77A1D659-B0FC-41D0-8DC6-0D5F6A395F7A}"/>
              </a:ext>
            </a:extLst>
          </p:cNvPr>
          <p:cNvSpPr>
            <a:spLocks noGrp="1"/>
          </p:cNvSpPr>
          <p:nvPr/>
        </p:nvSpPr>
        <p:spPr>
          <a:xfrm>
            <a:off x="132588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高PV</a:t>
            </a:r>
            <a:endParaRPr sz="1400"/>
          </a:p>
        </p:txBody>
      </p:sp>
      <p:sp>
        <p:nvSpPr>
          <p:cNvPr id="10" name="Shape 8">
            <a:extLst>
              <a:ext uri="{FF2B5EF4-FFF2-40B4-BE49-F238E27FC236}">
                <a16:creationId xmlns:a16="http://schemas.microsoft.com/office/drawing/2014/main" id="{6E697084-1A84-4B82-87C3-56391929B654}"/>
              </a:ext>
            </a:extLst>
          </p:cNvPr>
          <p:cNvSpPr>
            <a:spLocks noGrp="1"/>
          </p:cNvSpPr>
          <p:nvPr/>
        </p:nvSpPr>
        <p:spPr>
          <a:xfrm>
            <a:off x="3337560" y="2199608"/>
            <a:ext cx="1234440" cy="3149632"/>
          </a:xfrm>
          <a:prstGeom prst="roundRect">
            <a:avLst/>
          </a:prstGeom>
          <a:solidFill>
            <a:srgbClr val="356BB3"/>
          </a:solidFill>
          <a:ln w="12700">
            <a:solidFill>
              <a:srgbClr val="356BB3"/>
            </a:solidFill>
            <a:prstDash val="solid"/>
          </a:ln>
        </p:spPr>
        <p:txBody>
          <a:bodyPr/>
          <a:lstStyle/>
          <a:p>
            <a:endParaRPr/>
          </a:p>
        </p:txBody>
      </p:sp>
      <p:sp>
        <p:nvSpPr>
          <p:cNvPr id="11" name="Text 9">
            <a:extLst>
              <a:ext uri="{FF2B5EF4-FFF2-40B4-BE49-F238E27FC236}">
                <a16:creationId xmlns:a16="http://schemas.microsoft.com/office/drawing/2014/main" id="{A17A244D-0CE0-4ED3-A408-454F12C81ED4}"/>
              </a:ext>
            </a:extLst>
          </p:cNvPr>
          <p:cNvSpPr>
            <a:spLocks noGrp="1"/>
          </p:cNvSpPr>
          <p:nvPr/>
        </p:nvSpPr>
        <p:spPr>
          <a:xfrm>
            <a:off x="3200400" y="1760696"/>
            <a:ext cx="1508760" cy="310896"/>
          </a:xfrm>
          <a:prstGeom prst="rect">
            <a:avLst/>
          </a:prstGeom>
          <a:noFill/>
        </p:spPr>
        <p:txBody>
          <a:bodyPr wrap="square" lIns="0" tIns="0" rIns="0" bIns="0" anchor="ctr"/>
          <a:lstStyle/>
          <a:p>
            <a:pPr marL="0" indent="0" algn="ctr">
              <a:buNone/>
            </a:pPr>
            <a:r>
              <a:rPr sz="1700" b="1">
                <a:solidFill>
                  <a:srgbClr val="356BB3"/>
                </a:solidFill>
                <a:latin typeface="Noto Sans CJK JP"/>
                <a:ea typeface="Noto Sans CJK JP"/>
                <a:cs typeface="Noto Sans CJK JP"/>
              </a:rPr>
              <a:t>699千円</a:t>
            </a:r>
            <a:endParaRPr sz="1700"/>
          </a:p>
        </p:txBody>
      </p:sp>
      <p:sp>
        <p:nvSpPr>
          <p:cNvPr id="12" name="Text 10">
            <a:extLst>
              <a:ext uri="{FF2B5EF4-FFF2-40B4-BE49-F238E27FC236}">
                <a16:creationId xmlns:a16="http://schemas.microsoft.com/office/drawing/2014/main" id="{2D495615-F082-4D54-BEC5-FAA02636E808}"/>
              </a:ext>
            </a:extLst>
          </p:cNvPr>
          <p:cNvSpPr>
            <a:spLocks noGrp="1"/>
          </p:cNvSpPr>
          <p:nvPr/>
        </p:nvSpPr>
        <p:spPr>
          <a:xfrm>
            <a:off x="333756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低PV</a:t>
            </a:r>
            <a:endParaRPr sz="1400"/>
          </a:p>
        </p:txBody>
      </p:sp>
      <p:sp>
        <p:nvSpPr>
          <p:cNvPr id="13" name="Shape 11">
            <a:extLst>
              <a:ext uri="{FF2B5EF4-FFF2-40B4-BE49-F238E27FC236}">
                <a16:creationId xmlns:a16="http://schemas.microsoft.com/office/drawing/2014/main" id="{5E36993A-9539-4DE6-9DDF-53C65D7E92BD}"/>
              </a:ext>
            </a:extLst>
          </p:cNvPr>
          <p:cNvSpPr>
            <a:spLocks noGrp="1"/>
          </p:cNvSpPr>
          <p:nvPr/>
        </p:nvSpPr>
        <p:spPr>
          <a:xfrm>
            <a:off x="868680" y="5349240"/>
            <a:ext cx="4251960" cy="0"/>
          </a:xfrm>
          <a:prstGeom prst="line">
            <a:avLst/>
          </a:prstGeom>
          <a:noFill/>
          <a:ln w="12700">
            <a:solidFill>
              <a:srgbClr val="A5AFBD"/>
            </a:solidFill>
            <a:prstDash val="solid"/>
          </a:ln>
        </p:spPr>
        <p:txBody>
          <a:bodyPr/>
          <a:lstStyle/>
          <a:p>
            <a:endParaRPr/>
          </a:p>
        </p:txBody>
      </p:sp>
      <p:sp>
        <p:nvSpPr>
          <p:cNvPr id="14" name="Shape 12">
            <a:extLst>
              <a:ext uri="{FF2B5EF4-FFF2-40B4-BE49-F238E27FC236}">
                <a16:creationId xmlns:a16="http://schemas.microsoft.com/office/drawing/2014/main" id="{D07EEC27-96AC-493C-ADE5-453CB6CC3B82}"/>
              </a:ext>
            </a:extLst>
          </p:cNvPr>
          <p:cNvSpPr>
            <a:spLocks noGrp="1"/>
          </p:cNvSpPr>
          <p:nvPr/>
        </p:nvSpPr>
        <p:spPr>
          <a:xfrm>
            <a:off x="5577840" y="932688"/>
            <a:ext cx="5669280" cy="4892040"/>
          </a:xfrm>
          <a:prstGeom prst="roundRect">
            <a:avLst>
              <a:gd name="adj" fmla="val 1495"/>
            </a:avLst>
          </a:prstGeom>
          <a:solidFill>
            <a:srgbClr val="F8FAFC"/>
          </a:solidFill>
          <a:ln w="1270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BFFC5C7-A44F-4AC2-ABE0-AD0DB5997BE2}"/>
              </a:ext>
            </a:extLst>
          </p:cNvPr>
          <p:cNvSpPr>
            <a:spLocks noGrp="1"/>
          </p:cNvSpPr>
          <p:nvPr/>
        </p:nvSpPr>
        <p:spPr>
          <a:xfrm>
            <a:off x="5925312" y="1225296"/>
            <a:ext cx="301752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差額 37,615円の内訳</a:t>
            </a:r>
            <a:endParaRPr sz="200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5312" y="1920240"/>
            <a:ext cx="384048" cy="384048"/>
          </a:xfrm>
          <a:prstGeom prst="rect">
            <a:avLst/>
          </a:prstGeom>
        </p:spPr>
      </p:pic>
      <p:sp>
        <p:nvSpPr>
          <p:cNvPr id="17" name="Text 14">
            <a:extLst>
              <a:ext uri="{FF2B5EF4-FFF2-40B4-BE49-F238E27FC236}">
                <a16:creationId xmlns:a16="http://schemas.microsoft.com/office/drawing/2014/main" id="{C17C3D7F-F398-426C-B2CA-01D0D51067FB}"/>
              </a:ext>
            </a:extLst>
          </p:cNvPr>
          <p:cNvSpPr>
            <a:spLocks noGrp="1"/>
          </p:cNvSpPr>
          <p:nvPr/>
        </p:nvSpPr>
        <p:spPr>
          <a:xfrm>
            <a:off x="6473952" y="1920240"/>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燃料費</a:t>
            </a:r>
            <a:endParaRPr sz="1600"/>
          </a:p>
        </p:txBody>
      </p:sp>
      <p:sp>
        <p:nvSpPr>
          <p:cNvPr id="18" name="Shape 15">
            <a:extLst>
              <a:ext uri="{FF2B5EF4-FFF2-40B4-BE49-F238E27FC236}">
                <a16:creationId xmlns:a16="http://schemas.microsoft.com/office/drawing/2014/main" id="{978E9A59-47A5-4D1B-9AA4-BAA4980F015C}"/>
              </a:ext>
            </a:extLst>
          </p:cNvPr>
          <p:cNvSpPr>
            <a:spLocks noGrp="1"/>
          </p:cNvSpPr>
          <p:nvPr/>
        </p:nvSpPr>
        <p:spPr>
          <a:xfrm>
            <a:off x="7635240" y="1956816"/>
            <a:ext cx="2880360" cy="292608"/>
          </a:xfrm>
          <a:prstGeom prst="roundRect">
            <a:avLst/>
          </a:prstGeom>
          <a:solidFill>
            <a:srgbClr val="E98B3A"/>
          </a:solidFill>
          <a:ln w="12700">
            <a:solidFill>
              <a:srgbClr val="E98B3A"/>
            </a:solidFill>
            <a:prstDash val="solid"/>
          </a:ln>
        </p:spPr>
        <p:txBody>
          <a:bodyPr/>
          <a:lstStyle/>
          <a:p>
            <a:endParaRPr/>
          </a:p>
        </p:txBody>
      </p:sp>
      <p:sp>
        <p:nvSpPr>
          <p:cNvPr id="19" name="Text 16">
            <a:extLst>
              <a:ext uri="{FF2B5EF4-FFF2-40B4-BE49-F238E27FC236}">
                <a16:creationId xmlns:a16="http://schemas.microsoft.com/office/drawing/2014/main" id="{AF4A88AB-E7CB-4662-8CDE-1A8F7313D71E}"/>
              </a:ext>
            </a:extLst>
          </p:cNvPr>
          <p:cNvSpPr>
            <a:spLocks noGrp="1"/>
          </p:cNvSpPr>
          <p:nvPr/>
        </p:nvSpPr>
        <p:spPr>
          <a:xfrm>
            <a:off x="9727418" y="1651391"/>
            <a:ext cx="1143000" cy="320040"/>
          </a:xfrm>
          <a:prstGeom prst="rect">
            <a:avLst/>
          </a:prstGeom>
          <a:noFill/>
        </p:spPr>
        <p:txBody>
          <a:bodyPr wrap="square" lIns="0" tIns="0" rIns="0" bIns="0" anchor="ctr"/>
          <a:lstStyle/>
          <a:p>
            <a:pPr marL="0" indent="0" algn="r">
              <a:buNone/>
            </a:pPr>
            <a:r>
              <a:rPr sz="1400" b="1">
                <a:solidFill>
                  <a:srgbClr val="E98B3A"/>
                </a:solidFill>
                <a:latin typeface="Noto Sans CJK JP"/>
                <a:ea typeface="Noto Sans CJK JP"/>
                <a:cs typeface="Noto Sans CJK JP"/>
              </a:rPr>
              <a:t>+33,054円</a:t>
            </a:r>
            <a:endParaRPr sz="1400"/>
          </a:p>
        </p:txBody>
      </p:sp>
      <p:pic>
        <p:nvPicPr>
          <p:cNvPr id="52"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5312" y="2907792"/>
            <a:ext cx="384048" cy="384048"/>
          </a:xfrm>
          <a:prstGeom prst="rect">
            <a:avLst/>
          </a:prstGeom>
        </p:spPr>
      </p:pic>
      <p:sp>
        <p:nvSpPr>
          <p:cNvPr id="21" name="Text 17">
            <a:extLst>
              <a:ext uri="{FF2B5EF4-FFF2-40B4-BE49-F238E27FC236}">
                <a16:creationId xmlns:a16="http://schemas.microsoft.com/office/drawing/2014/main" id="{D7ED5D00-D706-4BC3-B55A-45DACAA8C8A0}"/>
              </a:ext>
            </a:extLst>
          </p:cNvPr>
          <p:cNvSpPr>
            <a:spLocks noGrp="1"/>
          </p:cNvSpPr>
          <p:nvPr/>
        </p:nvSpPr>
        <p:spPr>
          <a:xfrm>
            <a:off x="6473952" y="2907792"/>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系統電力費</a:t>
            </a:r>
            <a:endParaRPr sz="1600"/>
          </a:p>
        </p:txBody>
      </p:sp>
      <p:sp>
        <p:nvSpPr>
          <p:cNvPr id="22" name="Shape 18">
            <a:extLst>
              <a:ext uri="{FF2B5EF4-FFF2-40B4-BE49-F238E27FC236}">
                <a16:creationId xmlns:a16="http://schemas.microsoft.com/office/drawing/2014/main" id="{AB33B671-6453-45EF-9FA7-4A1D030360E1}"/>
              </a:ext>
            </a:extLst>
          </p:cNvPr>
          <p:cNvSpPr>
            <a:spLocks noGrp="1"/>
          </p:cNvSpPr>
          <p:nvPr/>
        </p:nvSpPr>
        <p:spPr>
          <a:xfrm>
            <a:off x="7635240" y="2944368"/>
            <a:ext cx="342116" cy="292608"/>
          </a:xfrm>
          <a:prstGeom prst="roundRect">
            <a:avLst/>
          </a:prstGeom>
          <a:solidFill>
            <a:srgbClr val="356BB3"/>
          </a:solidFill>
          <a:ln w="12700">
            <a:solidFill>
              <a:srgbClr val="356BB3"/>
            </a:solidFill>
            <a:prstDash val="solid"/>
          </a:ln>
        </p:spPr>
        <p:txBody>
          <a:bodyPr/>
          <a:lstStyle/>
          <a:p>
            <a:endParaRPr/>
          </a:p>
        </p:txBody>
      </p:sp>
      <p:sp>
        <p:nvSpPr>
          <p:cNvPr id="23" name="Text 19">
            <a:extLst>
              <a:ext uri="{FF2B5EF4-FFF2-40B4-BE49-F238E27FC236}">
                <a16:creationId xmlns:a16="http://schemas.microsoft.com/office/drawing/2014/main" id="{9FD57954-EBD1-40CF-BAA4-35BCAA16BC5E}"/>
              </a:ext>
            </a:extLst>
          </p:cNvPr>
          <p:cNvSpPr>
            <a:spLocks noGrp="1"/>
          </p:cNvSpPr>
          <p:nvPr/>
        </p:nvSpPr>
        <p:spPr>
          <a:xfrm>
            <a:off x="9738360" y="2889504"/>
            <a:ext cx="1143000" cy="320040"/>
          </a:xfrm>
          <a:prstGeom prst="rect">
            <a:avLst/>
          </a:prstGeom>
          <a:noFill/>
        </p:spPr>
        <p:txBody>
          <a:bodyPr wrap="square" lIns="0" tIns="0" rIns="0" bIns="0" anchor="ctr"/>
          <a:lstStyle/>
          <a:p>
            <a:pPr marL="0" indent="0" algn="r">
              <a:buNone/>
            </a:pPr>
            <a:r>
              <a:rPr sz="1400" b="1">
                <a:solidFill>
                  <a:srgbClr val="356BB3"/>
                </a:solidFill>
                <a:latin typeface="Noto Sans CJK JP"/>
                <a:ea typeface="Noto Sans CJK JP"/>
                <a:cs typeface="Noto Sans CJK JP"/>
              </a:rPr>
              <a:t>+3,926円</a:t>
            </a:r>
            <a:endParaRPr sz="1400"/>
          </a:p>
        </p:txBody>
      </p:sp>
      <p:pic>
        <p:nvPicPr>
          <p:cNvPr id="5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5312" y="3895344"/>
            <a:ext cx="384048" cy="384048"/>
          </a:xfrm>
          <a:prstGeom prst="rect">
            <a:avLst/>
          </a:prstGeom>
        </p:spPr>
      </p:pic>
      <p:sp>
        <p:nvSpPr>
          <p:cNvPr id="25" name="Text 20">
            <a:extLst>
              <a:ext uri="{FF2B5EF4-FFF2-40B4-BE49-F238E27FC236}">
                <a16:creationId xmlns:a16="http://schemas.microsoft.com/office/drawing/2014/main" id="{99B8A9E4-8588-423D-B37A-54029CE7C0B7}"/>
              </a:ext>
            </a:extLst>
          </p:cNvPr>
          <p:cNvSpPr>
            <a:spLocks noGrp="1"/>
          </p:cNvSpPr>
          <p:nvPr/>
        </p:nvSpPr>
        <p:spPr>
          <a:xfrm>
            <a:off x="6473952" y="3895344"/>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CO₂費用</a:t>
            </a:r>
            <a:endParaRPr sz="1600"/>
          </a:p>
        </p:txBody>
      </p:sp>
      <p:sp>
        <p:nvSpPr>
          <p:cNvPr id="26" name="Shape 21">
            <a:extLst>
              <a:ext uri="{FF2B5EF4-FFF2-40B4-BE49-F238E27FC236}">
                <a16:creationId xmlns:a16="http://schemas.microsoft.com/office/drawing/2014/main" id="{68A5D526-7DDA-4B50-AB42-856B254579F0}"/>
              </a:ext>
            </a:extLst>
          </p:cNvPr>
          <p:cNvSpPr>
            <a:spLocks noGrp="1"/>
          </p:cNvSpPr>
          <p:nvPr/>
        </p:nvSpPr>
        <p:spPr>
          <a:xfrm>
            <a:off x="7635240" y="3931920"/>
            <a:ext cx="55335" cy="292608"/>
          </a:xfrm>
          <a:prstGeom prst="roundRect">
            <a:avLst/>
          </a:prstGeom>
          <a:solidFill>
            <a:srgbClr val="3B8D5A"/>
          </a:solidFill>
          <a:ln w="12700">
            <a:solidFill>
              <a:srgbClr val="3B8D5A"/>
            </a:solidFill>
            <a:prstDash val="solid"/>
          </a:ln>
        </p:spPr>
        <p:txBody>
          <a:bodyPr/>
          <a:lstStyle/>
          <a:p>
            <a:endParaRPr/>
          </a:p>
        </p:txBody>
      </p:sp>
      <p:sp>
        <p:nvSpPr>
          <p:cNvPr id="27" name="Text 22">
            <a:extLst>
              <a:ext uri="{FF2B5EF4-FFF2-40B4-BE49-F238E27FC236}">
                <a16:creationId xmlns:a16="http://schemas.microsoft.com/office/drawing/2014/main" id="{1306AA6C-8C05-48AF-8C8E-D6436A47C3F3}"/>
              </a:ext>
            </a:extLst>
          </p:cNvPr>
          <p:cNvSpPr>
            <a:spLocks noGrp="1"/>
          </p:cNvSpPr>
          <p:nvPr/>
        </p:nvSpPr>
        <p:spPr>
          <a:xfrm>
            <a:off x="9738360" y="3877056"/>
            <a:ext cx="1143000" cy="320040"/>
          </a:xfrm>
          <a:prstGeom prst="rect">
            <a:avLst/>
          </a:prstGeom>
          <a:noFill/>
        </p:spPr>
        <p:txBody>
          <a:bodyPr wrap="square" lIns="0" tIns="0" rIns="0" bIns="0" anchor="ctr"/>
          <a:lstStyle/>
          <a:p>
            <a:pPr marL="0" indent="0" algn="r">
              <a:buNone/>
            </a:pPr>
            <a:r>
              <a:rPr sz="1400" b="1">
                <a:solidFill>
                  <a:srgbClr val="3B8D5A"/>
                </a:solidFill>
                <a:latin typeface="Noto Sans CJK JP"/>
                <a:ea typeface="Noto Sans CJK JP"/>
                <a:cs typeface="Noto Sans CJK JP"/>
              </a:rPr>
              <a:t>+635円</a:t>
            </a:r>
            <a:endParaRPr sz="1400"/>
          </a:p>
        </p:txBody>
      </p:sp>
      <p:sp>
        <p:nvSpPr>
          <p:cNvPr id="28" name="Text 23">
            <a:extLst>
              <a:ext uri="{FF2B5EF4-FFF2-40B4-BE49-F238E27FC236}">
                <a16:creationId xmlns:a16="http://schemas.microsoft.com/office/drawing/2014/main" id="{40AFFF15-3579-4184-A0E1-92C07434DEA4}"/>
              </a:ext>
            </a:extLst>
          </p:cNvPr>
          <p:cNvSpPr>
            <a:spLocks noGrp="1"/>
          </p:cNvSpPr>
          <p:nvPr/>
        </p:nvSpPr>
        <p:spPr>
          <a:xfrm>
            <a:off x="6400800" y="4983480"/>
            <a:ext cx="3931920" cy="347472"/>
          </a:xfrm>
          <a:prstGeom prst="rect">
            <a:avLst/>
          </a:prstGeom>
          <a:noFill/>
        </p:spPr>
        <p:txBody>
          <a:bodyPr wrap="square" lIns="0" tIns="0" rIns="0" bIns="0" anchor="ctr"/>
          <a:lstStyle/>
          <a:p>
            <a:pPr marL="0" indent="0" algn="ctr">
              <a:buNone/>
            </a:pPr>
            <a:r>
              <a:rPr sz="1900" b="1">
                <a:solidFill>
                  <a:srgbClr val="E98B3A"/>
                </a:solidFill>
                <a:latin typeface="Noto Sans CJK JP"/>
                <a:ea typeface="Noto Sans CJK JP"/>
                <a:cs typeface="Noto Sans CJK JP"/>
              </a:rPr>
              <a:t>差額の約88%が燃料費</a:t>
            </a:r>
            <a:endParaRPr sz="1900"/>
          </a:p>
        </p:txBody>
      </p:sp>
      <p:sp>
        <p:nvSpPr>
          <p:cNvPr id="29" name="Text 24">
            <a:extLst>
              <a:ext uri="{FF2B5EF4-FFF2-40B4-BE49-F238E27FC236}">
                <a16:creationId xmlns:a16="http://schemas.microsoft.com/office/drawing/2014/main" id="{603DF6F7-3F1D-4C29-AB78-75C15B972F9F}"/>
              </a:ext>
            </a:extLst>
          </p:cNvPr>
          <p:cNvSpPr>
            <a:spLocks noGrp="1"/>
          </p:cNvSpPr>
          <p:nvPr/>
        </p:nvSpPr>
        <p:spPr>
          <a:xfrm>
            <a:off x="5989320" y="5440680"/>
            <a:ext cx="4800600" cy="256032"/>
          </a:xfrm>
          <a:prstGeom prst="rect">
            <a:avLst/>
          </a:prstGeom>
          <a:noFill/>
        </p:spPr>
        <p:txBody>
          <a:bodyPr wrap="square" lIns="0" tIns="0" rIns="0" bIns="0" anchor="ctr"/>
          <a:lstStyle/>
          <a:p>
            <a:pPr marL="0" indent="0" algn="ctr">
              <a:buNone/>
            </a:pPr>
            <a:r>
              <a:rPr sz="1050">
                <a:solidFill>
                  <a:srgbClr val="C94C4C"/>
                </a:solidFill>
                <a:latin typeface="Noto Sans CJK JP"/>
                <a:ea typeface="Noto Sans CJK JP"/>
                <a:cs typeface="Noto Sans CJK JP"/>
              </a:rPr>
              <a:t>※ 設備投資・電池劣化・運転士費などは含まれていない</a:t>
            </a:r>
            <a:endParaRPr sz="1050"/>
          </a:p>
        </p:txBody>
      </p:sp>
      <p:sp>
        <p:nvSpPr>
          <p:cNvPr id="33" name="正方形/長方形 32">
            <a:extLst>
              <a:ext uri="{FF2B5EF4-FFF2-40B4-BE49-F238E27FC236}">
                <a16:creationId xmlns:a16="http://schemas.microsoft.com/office/drawing/2014/main" id="{0D58AF24-6413-437F-9BF0-33187210D55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75055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4C32B03-CA23-4F68-A075-810CED28BB7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先行研究の電力フロー図にならい、PV・BESS・系統の流れを日合計で整理</a:t>
            </a:r>
            <a:endParaRPr sz="2550"/>
          </a:p>
        </p:txBody>
      </p:sp>
      <p:sp>
        <p:nvSpPr>
          <p:cNvPr id="3" name="Shape 1">
            <a:extLst>
              <a:ext uri="{FF2B5EF4-FFF2-40B4-BE49-F238E27FC236}">
                <a16:creationId xmlns:a16="http://schemas.microsoft.com/office/drawing/2014/main" id="{33DF4B8D-2022-443D-ACA0-02F02DD317D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498E48DE-8034-4296-8405-CC3D7E341DA7}"/>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8CBC2A5-78B0-4861-9E25-72D7D771A3A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13/18</a:t>
            </a:r>
            <a:endParaRPr sz="850"/>
          </a:p>
        </p:txBody>
      </p:sp>
      <p:sp>
        <p:nvSpPr>
          <p:cNvPr id="6" name="Shape 4">
            <a:extLst>
              <a:ext uri="{FF2B5EF4-FFF2-40B4-BE49-F238E27FC236}">
                <a16:creationId xmlns:a16="http://schemas.microsoft.com/office/drawing/2014/main" id="{1847EBEB-15A0-4EAD-B084-A9AA8760E99D}"/>
              </a:ext>
            </a:extLst>
          </p:cNvPr>
          <p:cNvSpPr>
            <a:spLocks noGrp="1"/>
          </p:cNvSpPr>
          <p:nvPr/>
        </p:nvSpPr>
        <p:spPr>
          <a:xfrm>
            <a:off x="566928" y="1051560"/>
            <a:ext cx="5394960" cy="5166360"/>
          </a:xfrm>
          <a:prstGeom prst="roundRect">
            <a:avLst>
              <a:gd name="adj" fmla="val 1416"/>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AC071677-8796-4CA1-BAA6-909E779326B2}"/>
              </a:ext>
            </a:extLst>
          </p:cNvPr>
          <p:cNvSpPr>
            <a:spLocks noGrp="1"/>
          </p:cNvSpPr>
          <p:nvPr/>
        </p:nvSpPr>
        <p:spPr>
          <a:xfrm>
            <a:off x="886968" y="1298448"/>
            <a:ext cx="1417320" cy="310896"/>
          </a:xfrm>
          <a:prstGeom prst="roundRect">
            <a:avLst/>
          </a:prstGeom>
          <a:solidFill>
            <a:srgbClr val="E7B34B"/>
          </a:solidFill>
          <a:ln w="12700">
            <a:solidFill>
              <a:srgbClr val="E7B34B"/>
            </a:solidFill>
            <a:prstDash val="solid"/>
          </a:ln>
        </p:spPr>
        <p:txBody>
          <a:bodyPr/>
          <a:lstStyle/>
          <a:p>
            <a:endParaRPr/>
          </a:p>
        </p:txBody>
      </p:sp>
      <p:sp>
        <p:nvSpPr>
          <p:cNvPr id="8" name="Text 6">
            <a:extLst>
              <a:ext uri="{FF2B5EF4-FFF2-40B4-BE49-F238E27FC236}">
                <a16:creationId xmlns:a16="http://schemas.microsoft.com/office/drawing/2014/main" id="{8748098A-70F2-4EA8-90FB-3AE941BA88E0}"/>
              </a:ext>
            </a:extLst>
          </p:cNvPr>
          <p:cNvSpPr>
            <a:spLocks noGrp="1"/>
          </p:cNvSpPr>
          <p:nvPr/>
        </p:nvSpPr>
        <p:spPr>
          <a:xfrm>
            <a:off x="932688" y="1316736"/>
            <a:ext cx="132588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sp>
        <p:nvSpPr>
          <p:cNvPr id="9" name="Text 7">
            <a:extLst>
              <a:ext uri="{FF2B5EF4-FFF2-40B4-BE49-F238E27FC236}">
                <a16:creationId xmlns:a16="http://schemas.microsoft.com/office/drawing/2014/main" id="{DAAB448E-3BE2-46F5-8BB0-19D1737D50A0}"/>
              </a:ext>
            </a:extLst>
          </p:cNvPr>
          <p:cNvSpPr>
            <a:spLocks noGrp="1"/>
          </p:cNvSpPr>
          <p:nvPr/>
        </p:nvSpPr>
        <p:spPr>
          <a:xfrm>
            <a:off x="91440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6,056 kWh</a:t>
            </a:r>
            <a:endParaRPr sz="1700"/>
          </a:p>
        </p:txBody>
      </p:sp>
      <p:sp>
        <p:nvSpPr>
          <p:cNvPr id="10" name="Shape 8">
            <a:extLst>
              <a:ext uri="{FF2B5EF4-FFF2-40B4-BE49-F238E27FC236}">
                <a16:creationId xmlns:a16="http://schemas.microsoft.com/office/drawing/2014/main" id="{9C7A4332-706B-4BBE-9F23-184CD3835275}"/>
              </a:ext>
            </a:extLst>
          </p:cNvPr>
          <p:cNvSpPr>
            <a:spLocks noGrp="1"/>
          </p:cNvSpPr>
          <p:nvPr/>
        </p:nvSpPr>
        <p:spPr>
          <a:xfrm>
            <a:off x="2139696" y="2075688"/>
            <a:ext cx="438912" cy="347472"/>
          </a:xfrm>
          <a:prstGeom prst="chevron">
            <a:avLst/>
          </a:prstGeom>
          <a:solidFill>
            <a:srgbClr val="A5AFBD"/>
          </a:solidFill>
          <a:ln w="12700">
            <a:solidFill>
              <a:srgbClr val="A5AFBD"/>
            </a:solidFill>
            <a:prstDash val="solid"/>
          </a:ln>
        </p:spPr>
        <p:txBody>
          <a:bodyPr/>
          <a:lstStyle/>
          <a:p>
            <a:endParaRPr/>
          </a:p>
        </p:txBody>
      </p:sp>
      <p:sp>
        <p:nvSpPr>
          <p:cNvPr id="11" name="Shape 9">
            <a:extLst>
              <a:ext uri="{FF2B5EF4-FFF2-40B4-BE49-F238E27FC236}">
                <a16:creationId xmlns:a16="http://schemas.microsoft.com/office/drawing/2014/main" id="{4A2EA28A-A620-4E92-B91D-C66E4544F765}"/>
              </a:ext>
            </a:extLst>
          </p:cNvPr>
          <p:cNvSpPr>
            <a:spLocks noGrp="1"/>
          </p:cNvSpPr>
          <p:nvPr/>
        </p:nvSpPr>
        <p:spPr>
          <a:xfrm>
            <a:off x="262432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12" name="Text 10">
            <a:extLst>
              <a:ext uri="{FF2B5EF4-FFF2-40B4-BE49-F238E27FC236}">
                <a16:creationId xmlns:a16="http://schemas.microsoft.com/office/drawing/2014/main" id="{FA23755E-57EA-4447-8C13-257BD60C9F5C}"/>
              </a:ext>
            </a:extLst>
          </p:cNvPr>
          <p:cNvSpPr>
            <a:spLocks noGrp="1"/>
          </p:cNvSpPr>
          <p:nvPr/>
        </p:nvSpPr>
        <p:spPr>
          <a:xfrm>
            <a:off x="274320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110 kWh</a:t>
            </a:r>
            <a:endParaRPr sz="1350"/>
          </a:p>
        </p:txBody>
      </p:sp>
      <p:sp>
        <p:nvSpPr>
          <p:cNvPr id="13" name="Shape 11">
            <a:extLst>
              <a:ext uri="{FF2B5EF4-FFF2-40B4-BE49-F238E27FC236}">
                <a16:creationId xmlns:a16="http://schemas.microsoft.com/office/drawing/2014/main" id="{E9C86D70-EA44-4E5D-826C-7898E5EA93AF}"/>
              </a:ext>
            </a:extLst>
          </p:cNvPr>
          <p:cNvSpPr>
            <a:spLocks noGrp="1"/>
          </p:cNvSpPr>
          <p:nvPr/>
        </p:nvSpPr>
        <p:spPr>
          <a:xfrm>
            <a:off x="262432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14" name="Text 12">
            <a:extLst>
              <a:ext uri="{FF2B5EF4-FFF2-40B4-BE49-F238E27FC236}">
                <a16:creationId xmlns:a16="http://schemas.microsoft.com/office/drawing/2014/main" id="{4F11FFD8-7492-4128-A3A7-C11826A44301}"/>
              </a:ext>
            </a:extLst>
          </p:cNvPr>
          <p:cNvSpPr>
            <a:spLocks noGrp="1"/>
          </p:cNvSpPr>
          <p:nvPr/>
        </p:nvSpPr>
        <p:spPr>
          <a:xfrm>
            <a:off x="274320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2,573 kWh</a:t>
            </a:r>
            <a:endParaRPr sz="1350"/>
          </a:p>
        </p:txBody>
      </p:sp>
      <p:sp>
        <p:nvSpPr>
          <p:cNvPr id="15" name="Shape 13">
            <a:extLst>
              <a:ext uri="{FF2B5EF4-FFF2-40B4-BE49-F238E27FC236}">
                <a16:creationId xmlns:a16="http://schemas.microsoft.com/office/drawing/2014/main" id="{92341828-1600-41A2-B920-2B3C650582D5}"/>
              </a:ext>
            </a:extLst>
          </p:cNvPr>
          <p:cNvSpPr>
            <a:spLocks noGrp="1"/>
          </p:cNvSpPr>
          <p:nvPr/>
        </p:nvSpPr>
        <p:spPr>
          <a:xfrm>
            <a:off x="436168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16" name="Text 14">
            <a:extLst>
              <a:ext uri="{FF2B5EF4-FFF2-40B4-BE49-F238E27FC236}">
                <a16:creationId xmlns:a16="http://schemas.microsoft.com/office/drawing/2014/main" id="{60F0BA4A-BFE6-4D2D-8A67-BF67CE52F2D9}"/>
              </a:ext>
            </a:extLst>
          </p:cNvPr>
          <p:cNvSpPr>
            <a:spLocks noGrp="1"/>
          </p:cNvSpPr>
          <p:nvPr/>
        </p:nvSpPr>
        <p:spPr>
          <a:xfrm>
            <a:off x="447141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2,322 kWh</a:t>
            </a:r>
            <a:endParaRPr sz="1320"/>
          </a:p>
        </p:txBody>
      </p:sp>
      <p:sp>
        <p:nvSpPr>
          <p:cNvPr id="17" name="Shape 15">
            <a:extLst>
              <a:ext uri="{FF2B5EF4-FFF2-40B4-BE49-F238E27FC236}">
                <a16:creationId xmlns:a16="http://schemas.microsoft.com/office/drawing/2014/main" id="{FBB98E90-3674-4A96-B1C8-9D4D4F65EC79}"/>
              </a:ext>
            </a:extLst>
          </p:cNvPr>
          <p:cNvSpPr>
            <a:spLocks noGrp="1"/>
          </p:cNvSpPr>
          <p:nvPr/>
        </p:nvSpPr>
        <p:spPr>
          <a:xfrm>
            <a:off x="3977640" y="3227832"/>
            <a:ext cx="310896" cy="310896"/>
          </a:xfrm>
          <a:prstGeom prst="chevron">
            <a:avLst/>
          </a:prstGeom>
          <a:solidFill>
            <a:srgbClr val="356BB3"/>
          </a:solidFill>
          <a:ln w="12700">
            <a:solidFill>
              <a:srgbClr val="356BB3"/>
            </a:solidFill>
            <a:prstDash val="solid"/>
          </a:ln>
        </p:spPr>
        <p:txBody>
          <a:bodyPr/>
          <a:lstStyle/>
          <a:p>
            <a:endParaRPr/>
          </a:p>
        </p:txBody>
      </p:sp>
      <p:sp>
        <p:nvSpPr>
          <p:cNvPr id="18" name="Shape 16">
            <a:extLst>
              <a:ext uri="{FF2B5EF4-FFF2-40B4-BE49-F238E27FC236}">
                <a16:creationId xmlns:a16="http://schemas.microsoft.com/office/drawing/2014/main" id="{9691BBC3-93C6-4DE1-B6A5-C9B14C5EE8C2}"/>
              </a:ext>
            </a:extLst>
          </p:cNvPr>
          <p:cNvSpPr>
            <a:spLocks noGrp="1"/>
          </p:cNvSpPr>
          <p:nvPr/>
        </p:nvSpPr>
        <p:spPr>
          <a:xfrm>
            <a:off x="262432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19" name="Text 17">
            <a:extLst>
              <a:ext uri="{FF2B5EF4-FFF2-40B4-BE49-F238E27FC236}">
                <a16:creationId xmlns:a16="http://schemas.microsoft.com/office/drawing/2014/main" id="{B4C37740-2CD7-43BA-A984-D26077783B25}"/>
              </a:ext>
            </a:extLst>
          </p:cNvPr>
          <p:cNvSpPr>
            <a:spLocks noGrp="1"/>
          </p:cNvSpPr>
          <p:nvPr/>
        </p:nvSpPr>
        <p:spPr>
          <a:xfrm>
            <a:off x="274320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3,373 kWh</a:t>
            </a:r>
            <a:endParaRPr sz="1320"/>
          </a:p>
        </p:txBody>
      </p:sp>
      <p:sp>
        <p:nvSpPr>
          <p:cNvPr id="20" name="Shape 18">
            <a:extLst>
              <a:ext uri="{FF2B5EF4-FFF2-40B4-BE49-F238E27FC236}">
                <a16:creationId xmlns:a16="http://schemas.microsoft.com/office/drawing/2014/main" id="{7030130F-A37A-4991-B0F6-3642392262FA}"/>
              </a:ext>
            </a:extLst>
          </p:cNvPr>
          <p:cNvSpPr>
            <a:spLocks noGrp="1"/>
          </p:cNvSpPr>
          <p:nvPr/>
        </p:nvSpPr>
        <p:spPr>
          <a:xfrm>
            <a:off x="436168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21" name="Text 19">
            <a:extLst>
              <a:ext uri="{FF2B5EF4-FFF2-40B4-BE49-F238E27FC236}">
                <a16:creationId xmlns:a16="http://schemas.microsoft.com/office/drawing/2014/main" id="{C4B2003D-30C4-4934-BF37-A3D0F86AE1B5}"/>
              </a:ext>
            </a:extLst>
          </p:cNvPr>
          <p:cNvSpPr>
            <a:spLocks noGrp="1"/>
          </p:cNvSpPr>
          <p:nvPr/>
        </p:nvSpPr>
        <p:spPr>
          <a:xfrm>
            <a:off x="446227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0 kWh</a:t>
            </a:r>
            <a:endParaRPr sz="1320"/>
          </a:p>
        </p:txBody>
      </p:sp>
      <p:sp>
        <p:nvSpPr>
          <p:cNvPr id="22" name="Text 20">
            <a:extLst>
              <a:ext uri="{FF2B5EF4-FFF2-40B4-BE49-F238E27FC236}">
                <a16:creationId xmlns:a16="http://schemas.microsoft.com/office/drawing/2014/main" id="{8D6E8F26-25FE-43D7-BEE8-14849A0A00BB}"/>
              </a:ext>
            </a:extLst>
          </p:cNvPr>
          <p:cNvSpPr>
            <a:spLocks noGrp="1"/>
          </p:cNvSpPr>
          <p:nvPr/>
        </p:nvSpPr>
        <p:spPr>
          <a:xfrm>
            <a:off x="408736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23" name="Text 21">
            <a:extLst>
              <a:ext uri="{FF2B5EF4-FFF2-40B4-BE49-F238E27FC236}">
                <a16:creationId xmlns:a16="http://schemas.microsoft.com/office/drawing/2014/main" id="{BBE9E4FC-3CEB-4FC1-B0BC-B056F6DCFECE}"/>
              </a:ext>
            </a:extLst>
          </p:cNvPr>
          <p:cNvSpPr>
            <a:spLocks noGrp="1"/>
          </p:cNvSpPr>
          <p:nvPr/>
        </p:nvSpPr>
        <p:spPr>
          <a:xfrm>
            <a:off x="417880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約251 kWh</a:t>
            </a:r>
            <a:endParaRPr sz="1150"/>
          </a:p>
        </p:txBody>
      </p:sp>
      <p:sp>
        <p:nvSpPr>
          <p:cNvPr id="24" name="Shape 22">
            <a:extLst>
              <a:ext uri="{FF2B5EF4-FFF2-40B4-BE49-F238E27FC236}">
                <a16:creationId xmlns:a16="http://schemas.microsoft.com/office/drawing/2014/main" id="{7A2D9474-8560-4A28-AD67-38A4CC26AA50}"/>
              </a:ext>
            </a:extLst>
          </p:cNvPr>
          <p:cNvSpPr>
            <a:spLocks noGrp="1"/>
          </p:cNvSpPr>
          <p:nvPr/>
        </p:nvSpPr>
        <p:spPr>
          <a:xfrm>
            <a:off x="6236208" y="1051560"/>
            <a:ext cx="5394960" cy="5166360"/>
          </a:xfrm>
          <a:prstGeom prst="roundRect">
            <a:avLst>
              <a:gd name="adj" fmla="val 1416"/>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5" name="Shape 23">
            <a:extLst>
              <a:ext uri="{FF2B5EF4-FFF2-40B4-BE49-F238E27FC236}">
                <a16:creationId xmlns:a16="http://schemas.microsoft.com/office/drawing/2014/main" id="{2B46223B-ADED-4A35-A69C-82D8198BCC68}"/>
              </a:ext>
            </a:extLst>
          </p:cNvPr>
          <p:cNvSpPr>
            <a:spLocks noGrp="1"/>
          </p:cNvSpPr>
          <p:nvPr/>
        </p:nvSpPr>
        <p:spPr>
          <a:xfrm>
            <a:off x="6556248" y="1298448"/>
            <a:ext cx="1417320" cy="310896"/>
          </a:xfrm>
          <a:prstGeom prst="roundRect">
            <a:avLst/>
          </a:prstGeom>
          <a:solidFill>
            <a:srgbClr val="356BB3"/>
          </a:solidFill>
          <a:ln w="12700">
            <a:solidFill>
              <a:srgbClr val="356BB3"/>
            </a:solidFill>
            <a:prstDash val="solid"/>
          </a:ln>
        </p:spPr>
        <p:txBody>
          <a:bodyPr/>
          <a:lstStyle/>
          <a:p>
            <a:endParaRPr/>
          </a:p>
        </p:txBody>
      </p:sp>
      <p:sp>
        <p:nvSpPr>
          <p:cNvPr id="26" name="Text 24">
            <a:extLst>
              <a:ext uri="{FF2B5EF4-FFF2-40B4-BE49-F238E27FC236}">
                <a16:creationId xmlns:a16="http://schemas.microsoft.com/office/drawing/2014/main" id="{EDBE79E5-0C5B-4B65-A0A5-3FCB08686213}"/>
              </a:ext>
            </a:extLst>
          </p:cNvPr>
          <p:cNvSpPr>
            <a:spLocks noGrp="1"/>
          </p:cNvSpPr>
          <p:nvPr/>
        </p:nvSpPr>
        <p:spPr>
          <a:xfrm>
            <a:off x="6601968" y="1316736"/>
            <a:ext cx="132588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sp>
        <p:nvSpPr>
          <p:cNvPr id="27" name="Text 25">
            <a:extLst>
              <a:ext uri="{FF2B5EF4-FFF2-40B4-BE49-F238E27FC236}">
                <a16:creationId xmlns:a16="http://schemas.microsoft.com/office/drawing/2014/main" id="{CC6BED1F-3BAA-4458-83C0-478474F6EC2C}"/>
              </a:ext>
            </a:extLst>
          </p:cNvPr>
          <p:cNvSpPr>
            <a:spLocks noGrp="1"/>
          </p:cNvSpPr>
          <p:nvPr/>
        </p:nvSpPr>
        <p:spPr>
          <a:xfrm>
            <a:off x="658368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996 kWh</a:t>
            </a:r>
            <a:endParaRPr sz="1700"/>
          </a:p>
        </p:txBody>
      </p:sp>
      <p:sp>
        <p:nvSpPr>
          <p:cNvPr id="28" name="Shape 26">
            <a:extLst>
              <a:ext uri="{FF2B5EF4-FFF2-40B4-BE49-F238E27FC236}">
                <a16:creationId xmlns:a16="http://schemas.microsoft.com/office/drawing/2014/main" id="{38CF063C-DF3E-4335-B89E-AD01D445E769}"/>
              </a:ext>
            </a:extLst>
          </p:cNvPr>
          <p:cNvSpPr>
            <a:spLocks noGrp="1"/>
          </p:cNvSpPr>
          <p:nvPr/>
        </p:nvSpPr>
        <p:spPr>
          <a:xfrm>
            <a:off x="7808976" y="2075688"/>
            <a:ext cx="438912" cy="347472"/>
          </a:xfrm>
          <a:prstGeom prst="chevron">
            <a:avLst/>
          </a:prstGeom>
          <a:solidFill>
            <a:srgbClr val="A5AFBD"/>
          </a:solidFill>
          <a:ln w="12700">
            <a:solidFill>
              <a:srgbClr val="A5AFBD"/>
            </a:solidFill>
            <a:prstDash val="solid"/>
          </a:ln>
        </p:spPr>
        <p:txBody>
          <a:bodyPr/>
          <a:lstStyle/>
          <a:p>
            <a:endParaRPr/>
          </a:p>
        </p:txBody>
      </p:sp>
      <p:sp>
        <p:nvSpPr>
          <p:cNvPr id="29" name="Shape 27">
            <a:extLst>
              <a:ext uri="{FF2B5EF4-FFF2-40B4-BE49-F238E27FC236}">
                <a16:creationId xmlns:a16="http://schemas.microsoft.com/office/drawing/2014/main" id="{28F2DEC1-C69A-4336-8878-7683A85C6787}"/>
              </a:ext>
            </a:extLst>
          </p:cNvPr>
          <p:cNvSpPr>
            <a:spLocks noGrp="1"/>
          </p:cNvSpPr>
          <p:nvPr/>
        </p:nvSpPr>
        <p:spPr>
          <a:xfrm>
            <a:off x="829360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4DEDFF65-C2BB-4597-A093-66C5B5BF44F4}"/>
              </a:ext>
            </a:extLst>
          </p:cNvPr>
          <p:cNvSpPr>
            <a:spLocks noGrp="1"/>
          </p:cNvSpPr>
          <p:nvPr/>
        </p:nvSpPr>
        <p:spPr>
          <a:xfrm>
            <a:off x="841248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231 kWh</a:t>
            </a:r>
            <a:endParaRPr sz="1350"/>
          </a:p>
        </p:txBody>
      </p:sp>
      <p:sp>
        <p:nvSpPr>
          <p:cNvPr id="31" name="Shape 29">
            <a:extLst>
              <a:ext uri="{FF2B5EF4-FFF2-40B4-BE49-F238E27FC236}">
                <a16:creationId xmlns:a16="http://schemas.microsoft.com/office/drawing/2014/main" id="{3CBA8231-8516-4B25-9E8A-D93C585BBC1F}"/>
              </a:ext>
            </a:extLst>
          </p:cNvPr>
          <p:cNvSpPr>
            <a:spLocks noGrp="1"/>
          </p:cNvSpPr>
          <p:nvPr/>
        </p:nvSpPr>
        <p:spPr>
          <a:xfrm>
            <a:off x="829360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32" name="Text 30">
            <a:extLst>
              <a:ext uri="{FF2B5EF4-FFF2-40B4-BE49-F238E27FC236}">
                <a16:creationId xmlns:a16="http://schemas.microsoft.com/office/drawing/2014/main" id="{9D3A50D4-E160-4E49-8ED4-1D49B33EC37C}"/>
              </a:ext>
            </a:extLst>
          </p:cNvPr>
          <p:cNvSpPr>
            <a:spLocks noGrp="1"/>
          </p:cNvSpPr>
          <p:nvPr/>
        </p:nvSpPr>
        <p:spPr>
          <a:xfrm>
            <a:off x="841248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766 kWh</a:t>
            </a:r>
            <a:endParaRPr sz="1350"/>
          </a:p>
        </p:txBody>
      </p:sp>
      <p:sp>
        <p:nvSpPr>
          <p:cNvPr id="33" name="Shape 31">
            <a:extLst>
              <a:ext uri="{FF2B5EF4-FFF2-40B4-BE49-F238E27FC236}">
                <a16:creationId xmlns:a16="http://schemas.microsoft.com/office/drawing/2014/main" id="{7CD4EB70-9CAE-418F-8921-0E564B88039F}"/>
              </a:ext>
            </a:extLst>
          </p:cNvPr>
          <p:cNvSpPr>
            <a:spLocks noGrp="1"/>
          </p:cNvSpPr>
          <p:nvPr/>
        </p:nvSpPr>
        <p:spPr>
          <a:xfrm>
            <a:off x="1003096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E7F2F7ED-3263-4F91-AD29-7B16726FA90E}"/>
              </a:ext>
            </a:extLst>
          </p:cNvPr>
          <p:cNvSpPr>
            <a:spLocks noGrp="1"/>
          </p:cNvSpPr>
          <p:nvPr/>
        </p:nvSpPr>
        <p:spPr>
          <a:xfrm>
            <a:off x="1014069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691 kWh</a:t>
            </a:r>
            <a:endParaRPr sz="1320"/>
          </a:p>
        </p:txBody>
      </p:sp>
      <p:sp>
        <p:nvSpPr>
          <p:cNvPr id="35" name="Shape 33">
            <a:extLst>
              <a:ext uri="{FF2B5EF4-FFF2-40B4-BE49-F238E27FC236}">
                <a16:creationId xmlns:a16="http://schemas.microsoft.com/office/drawing/2014/main" id="{7AA7F1B2-CDA8-4A3D-9035-90FDFFF530E9}"/>
              </a:ext>
            </a:extLst>
          </p:cNvPr>
          <p:cNvSpPr>
            <a:spLocks noGrp="1"/>
          </p:cNvSpPr>
          <p:nvPr/>
        </p:nvSpPr>
        <p:spPr>
          <a:xfrm>
            <a:off x="9646920" y="3227832"/>
            <a:ext cx="310896" cy="310896"/>
          </a:xfrm>
          <a:prstGeom prst="chevron">
            <a:avLst/>
          </a:prstGeom>
          <a:solidFill>
            <a:srgbClr val="356BB3"/>
          </a:solidFill>
          <a:ln w="12700">
            <a:solidFill>
              <a:srgbClr val="356BB3"/>
            </a:solidFill>
            <a:prstDash val="solid"/>
          </a:ln>
        </p:spPr>
        <p:txBody>
          <a:bodyPr/>
          <a:lstStyle/>
          <a:p>
            <a:endParaRPr/>
          </a:p>
        </p:txBody>
      </p:sp>
      <p:sp>
        <p:nvSpPr>
          <p:cNvPr id="36" name="Shape 34">
            <a:extLst>
              <a:ext uri="{FF2B5EF4-FFF2-40B4-BE49-F238E27FC236}">
                <a16:creationId xmlns:a16="http://schemas.microsoft.com/office/drawing/2014/main" id="{85E11BAC-8D1E-4B2F-9DE0-9C00DD97D1FA}"/>
              </a:ext>
            </a:extLst>
          </p:cNvPr>
          <p:cNvSpPr>
            <a:spLocks noGrp="1"/>
          </p:cNvSpPr>
          <p:nvPr/>
        </p:nvSpPr>
        <p:spPr>
          <a:xfrm>
            <a:off x="829360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37" name="Text 35">
            <a:extLst>
              <a:ext uri="{FF2B5EF4-FFF2-40B4-BE49-F238E27FC236}">
                <a16:creationId xmlns:a16="http://schemas.microsoft.com/office/drawing/2014/main" id="{746AA561-BFCC-40A4-9E53-88C217656BC4}"/>
              </a:ext>
            </a:extLst>
          </p:cNvPr>
          <p:cNvSpPr>
            <a:spLocks noGrp="1"/>
          </p:cNvSpPr>
          <p:nvPr/>
        </p:nvSpPr>
        <p:spPr>
          <a:xfrm>
            <a:off x="841248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0 kWh</a:t>
            </a:r>
            <a:endParaRPr sz="1320"/>
          </a:p>
        </p:txBody>
      </p:sp>
      <p:sp>
        <p:nvSpPr>
          <p:cNvPr id="38" name="Shape 36">
            <a:extLst>
              <a:ext uri="{FF2B5EF4-FFF2-40B4-BE49-F238E27FC236}">
                <a16:creationId xmlns:a16="http://schemas.microsoft.com/office/drawing/2014/main" id="{DF623506-4A31-4359-A491-C7F8606F6235}"/>
              </a:ext>
            </a:extLst>
          </p:cNvPr>
          <p:cNvSpPr>
            <a:spLocks noGrp="1"/>
          </p:cNvSpPr>
          <p:nvPr/>
        </p:nvSpPr>
        <p:spPr>
          <a:xfrm>
            <a:off x="1003096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39" name="Text 37">
            <a:extLst>
              <a:ext uri="{FF2B5EF4-FFF2-40B4-BE49-F238E27FC236}">
                <a16:creationId xmlns:a16="http://schemas.microsoft.com/office/drawing/2014/main" id="{39E2A20B-C3C1-4027-B6B5-B545FDBF7BA6}"/>
              </a:ext>
            </a:extLst>
          </p:cNvPr>
          <p:cNvSpPr>
            <a:spLocks noGrp="1"/>
          </p:cNvSpPr>
          <p:nvPr/>
        </p:nvSpPr>
        <p:spPr>
          <a:xfrm>
            <a:off x="1013155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131 kWh</a:t>
            </a:r>
            <a:endParaRPr sz="1320"/>
          </a:p>
        </p:txBody>
      </p:sp>
      <p:sp>
        <p:nvSpPr>
          <p:cNvPr id="40" name="Text 38">
            <a:extLst>
              <a:ext uri="{FF2B5EF4-FFF2-40B4-BE49-F238E27FC236}">
                <a16:creationId xmlns:a16="http://schemas.microsoft.com/office/drawing/2014/main" id="{30471338-BA7F-44E4-9312-4309A8FB5514}"/>
              </a:ext>
            </a:extLst>
          </p:cNvPr>
          <p:cNvSpPr>
            <a:spLocks noGrp="1"/>
          </p:cNvSpPr>
          <p:nvPr/>
        </p:nvSpPr>
        <p:spPr>
          <a:xfrm>
            <a:off x="975664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41" name="Text 39">
            <a:extLst>
              <a:ext uri="{FF2B5EF4-FFF2-40B4-BE49-F238E27FC236}">
                <a16:creationId xmlns:a16="http://schemas.microsoft.com/office/drawing/2014/main" id="{2F36A98F-9257-422F-9727-404FE5DD49D3}"/>
              </a:ext>
            </a:extLst>
          </p:cNvPr>
          <p:cNvSpPr>
            <a:spLocks noGrp="1"/>
          </p:cNvSpPr>
          <p:nvPr/>
        </p:nvSpPr>
        <p:spPr>
          <a:xfrm>
            <a:off x="984808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約75 kWh</a:t>
            </a:r>
            <a:endParaRPr sz="1150"/>
          </a:p>
        </p:txBody>
      </p:sp>
      <p:sp>
        <p:nvSpPr>
          <p:cNvPr id="42" name="Text 40">
            <a:extLst>
              <a:ext uri="{FF2B5EF4-FFF2-40B4-BE49-F238E27FC236}">
                <a16:creationId xmlns:a16="http://schemas.microsoft.com/office/drawing/2014/main" id="{3C23D7E9-BD04-414B-8ECB-4AF14573E6C2}"/>
              </a:ext>
            </a:extLst>
          </p:cNvPr>
          <p:cNvSpPr>
            <a:spLocks noGrp="1"/>
          </p:cNvSpPr>
          <p:nvPr/>
        </p:nvSpPr>
        <p:spPr>
          <a:xfrm>
            <a:off x="452628" y="5791747"/>
            <a:ext cx="10378440" cy="292608"/>
          </a:xfrm>
          <a:prstGeom prst="rect">
            <a:avLst/>
          </a:prstGeom>
          <a:noFill/>
        </p:spPr>
        <p:txBody>
          <a:bodyPr wrap="square" lIns="0" tIns="0" rIns="0" bIns="0" anchor="ctr"/>
          <a:lstStyle/>
          <a:p>
            <a:pPr marL="0" indent="0" algn="ctr">
              <a:buNone/>
            </a:pPr>
            <a:r>
              <a:rPr sz="1450" b="1">
                <a:solidFill>
                  <a:srgbClr val="1F2A5A"/>
                </a:solidFill>
                <a:latin typeface="Noto Sans CJK JP"/>
                <a:ea typeface="Noto Sans CJK JP"/>
                <a:cs typeface="Noto Sans CJK JP"/>
              </a:rPr>
              <a:t>高PVでは抑制が発生。原因の特定は未実施。低PVでは不足分を系統から補う</a:t>
            </a:r>
            <a:endParaRPr sz="1450"/>
          </a:p>
        </p:txBody>
      </p:sp>
      <p:sp>
        <p:nvSpPr>
          <p:cNvPr id="43" name="Text 41">
            <a:extLst>
              <a:ext uri="{FF2B5EF4-FFF2-40B4-BE49-F238E27FC236}">
                <a16:creationId xmlns:a16="http://schemas.microsoft.com/office/drawing/2014/main" id="{7FB25F67-FEFD-43E5-94F2-77976483FB14}"/>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参考構成：Fei et al. (2023) の時間別充放電図、Najafi et al. (2025) の交通・電力システム統合図を参考に、本研究の日合計値で再構成</a:t>
            </a:r>
            <a:endParaRPr sz="720"/>
          </a:p>
        </p:txBody>
      </p:sp>
      <p:sp>
        <p:nvSpPr>
          <p:cNvPr id="44" name="正方形/長方形 43">
            <a:extLst>
              <a:ext uri="{FF2B5EF4-FFF2-40B4-BE49-F238E27FC236}">
                <a16:creationId xmlns:a16="http://schemas.microsoft.com/office/drawing/2014/main" id="{A8330E53-019D-4CAF-8A7F-4DD8B3AAA4A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24599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E3E2E29-08E0-4D79-A254-5D0D5B3D8E5B}"/>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主要結果を一覧表で確認</a:t>
            </a:r>
            <a:endParaRPr sz="2550"/>
          </a:p>
        </p:txBody>
      </p:sp>
      <p:sp>
        <p:nvSpPr>
          <p:cNvPr id="3" name="Shape 1">
            <a:extLst>
              <a:ext uri="{FF2B5EF4-FFF2-40B4-BE49-F238E27FC236}">
                <a16:creationId xmlns:a16="http://schemas.microsoft.com/office/drawing/2014/main" id="{B1BAB34C-331F-43FE-A0C6-16198B5A954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E8265301-590A-4564-A751-C6961064F48E}"/>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1D79260-1116-40F3-A8F5-68DC03D61C1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14/18</a:t>
            </a:r>
            <a:endParaRPr sz="850"/>
          </a:p>
        </p:txBody>
      </p:sp>
      <p:sp>
        <p:nvSpPr>
          <p:cNvPr id="6" name="Shape 4">
            <a:extLst>
              <a:ext uri="{FF2B5EF4-FFF2-40B4-BE49-F238E27FC236}">
                <a16:creationId xmlns:a16="http://schemas.microsoft.com/office/drawing/2014/main" id="{D99B4DD8-B8E0-47AD-9974-9BC613DBC7E1}"/>
              </a:ext>
            </a:extLst>
          </p:cNvPr>
          <p:cNvSpPr>
            <a:spLocks noGrp="1"/>
          </p:cNvSpPr>
          <p:nvPr/>
        </p:nvSpPr>
        <p:spPr>
          <a:xfrm>
            <a:off x="566928" y="1024128"/>
            <a:ext cx="2057400" cy="502920"/>
          </a:xfrm>
          <a:prstGeom prst="rect">
            <a:avLst/>
          </a:prstGeom>
          <a:solidFill>
            <a:srgbClr val="1F2A5A"/>
          </a:solidFill>
          <a:ln w="889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61CDC3A0-F5BC-473C-A39C-1B4AB8B3A303}"/>
              </a:ext>
            </a:extLst>
          </p:cNvPr>
          <p:cNvSpPr>
            <a:spLocks noGrp="1"/>
          </p:cNvSpPr>
          <p:nvPr/>
        </p:nvSpPr>
        <p:spPr>
          <a:xfrm>
            <a:off x="621792" y="1056132"/>
            <a:ext cx="1947672"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指標</a:t>
            </a:r>
            <a:endParaRPr sz="1330"/>
          </a:p>
        </p:txBody>
      </p:sp>
      <p:sp>
        <p:nvSpPr>
          <p:cNvPr id="8" name="Shape 6">
            <a:extLst>
              <a:ext uri="{FF2B5EF4-FFF2-40B4-BE49-F238E27FC236}">
                <a16:creationId xmlns:a16="http://schemas.microsoft.com/office/drawing/2014/main" id="{021EB9F9-5738-4DA2-94AB-158BA5F43BF2}"/>
              </a:ext>
            </a:extLst>
          </p:cNvPr>
          <p:cNvSpPr>
            <a:spLocks noGrp="1"/>
          </p:cNvSpPr>
          <p:nvPr/>
        </p:nvSpPr>
        <p:spPr>
          <a:xfrm>
            <a:off x="2624328" y="1024128"/>
            <a:ext cx="2148840" cy="502920"/>
          </a:xfrm>
          <a:prstGeom prst="rect">
            <a:avLst/>
          </a:prstGeom>
          <a:solidFill>
            <a:srgbClr val="1F2A5A"/>
          </a:solidFill>
          <a:ln w="8890">
            <a:solidFill>
              <a:srgbClr val="EEF1F5"/>
            </a:solidFill>
            <a:prstDash val="solid"/>
          </a:ln>
        </p:spPr>
        <p:txBody>
          <a:bodyPr/>
          <a:lstStyle/>
          <a:p>
            <a:endParaRPr/>
          </a:p>
        </p:txBody>
      </p:sp>
      <p:sp>
        <p:nvSpPr>
          <p:cNvPr id="9" name="Text 7">
            <a:extLst>
              <a:ext uri="{FF2B5EF4-FFF2-40B4-BE49-F238E27FC236}">
                <a16:creationId xmlns:a16="http://schemas.microsoft.com/office/drawing/2014/main" id="{4431F065-999C-4892-8F41-5672D3F8AA11}"/>
              </a:ext>
            </a:extLst>
          </p:cNvPr>
          <p:cNvSpPr>
            <a:spLocks noGrp="1"/>
          </p:cNvSpPr>
          <p:nvPr/>
        </p:nvSpPr>
        <p:spPr>
          <a:xfrm>
            <a:off x="267919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高PV条件</a:t>
            </a:r>
            <a:endParaRPr sz="1330"/>
          </a:p>
        </p:txBody>
      </p:sp>
      <p:sp>
        <p:nvSpPr>
          <p:cNvPr id="10" name="Shape 8">
            <a:extLst>
              <a:ext uri="{FF2B5EF4-FFF2-40B4-BE49-F238E27FC236}">
                <a16:creationId xmlns:a16="http://schemas.microsoft.com/office/drawing/2014/main" id="{A3C83DAF-8320-4E6A-9A1E-CFB5E908FB6A}"/>
              </a:ext>
            </a:extLst>
          </p:cNvPr>
          <p:cNvSpPr>
            <a:spLocks noGrp="1"/>
          </p:cNvSpPr>
          <p:nvPr/>
        </p:nvSpPr>
        <p:spPr>
          <a:xfrm>
            <a:off x="4773168" y="1024128"/>
            <a:ext cx="2148840" cy="502920"/>
          </a:xfrm>
          <a:prstGeom prst="rect">
            <a:avLst/>
          </a:prstGeom>
          <a:solidFill>
            <a:srgbClr val="1F2A5A"/>
          </a:solidFill>
          <a:ln w="8890">
            <a:solidFill>
              <a:srgbClr val="EEF1F5"/>
            </a:solidFill>
            <a:prstDash val="solid"/>
          </a:ln>
        </p:spPr>
        <p:txBody>
          <a:bodyPr/>
          <a:lstStyle/>
          <a:p>
            <a:endParaRPr/>
          </a:p>
        </p:txBody>
      </p:sp>
      <p:sp>
        <p:nvSpPr>
          <p:cNvPr id="11" name="Text 9">
            <a:extLst>
              <a:ext uri="{FF2B5EF4-FFF2-40B4-BE49-F238E27FC236}">
                <a16:creationId xmlns:a16="http://schemas.microsoft.com/office/drawing/2014/main" id="{FBF65E2A-8E7A-4483-9C16-6D8EEB4C26AB}"/>
              </a:ext>
            </a:extLst>
          </p:cNvPr>
          <p:cNvSpPr>
            <a:spLocks noGrp="1"/>
          </p:cNvSpPr>
          <p:nvPr/>
        </p:nvSpPr>
        <p:spPr>
          <a:xfrm>
            <a:off x="482803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低PV条件</a:t>
            </a:r>
            <a:endParaRPr sz="1330"/>
          </a:p>
        </p:txBody>
      </p:sp>
      <p:sp>
        <p:nvSpPr>
          <p:cNvPr id="12" name="Shape 10">
            <a:extLst>
              <a:ext uri="{FF2B5EF4-FFF2-40B4-BE49-F238E27FC236}">
                <a16:creationId xmlns:a16="http://schemas.microsoft.com/office/drawing/2014/main" id="{CCE99ED2-6BB8-4161-A6BA-FC9832136891}"/>
              </a:ext>
            </a:extLst>
          </p:cNvPr>
          <p:cNvSpPr>
            <a:spLocks noGrp="1"/>
          </p:cNvSpPr>
          <p:nvPr/>
        </p:nvSpPr>
        <p:spPr>
          <a:xfrm>
            <a:off x="6922008" y="1024128"/>
            <a:ext cx="4681728" cy="502920"/>
          </a:xfrm>
          <a:prstGeom prst="rect">
            <a:avLst/>
          </a:prstGeom>
          <a:solidFill>
            <a:srgbClr val="1F2A5A"/>
          </a:solidFill>
          <a:ln w="8890">
            <a:solidFill>
              <a:srgbClr val="EEF1F5"/>
            </a:solidFill>
            <a:prstDash val="solid"/>
          </a:ln>
        </p:spPr>
        <p:txBody>
          <a:bodyPr/>
          <a:lstStyle/>
          <a:p>
            <a:endParaRPr/>
          </a:p>
        </p:txBody>
      </p:sp>
      <p:sp>
        <p:nvSpPr>
          <p:cNvPr id="13" name="Text 11">
            <a:extLst>
              <a:ext uri="{FF2B5EF4-FFF2-40B4-BE49-F238E27FC236}">
                <a16:creationId xmlns:a16="http://schemas.microsoft.com/office/drawing/2014/main" id="{21A2B9BA-A6C0-4471-8716-A9616C2C2791}"/>
              </a:ext>
            </a:extLst>
          </p:cNvPr>
          <p:cNvSpPr>
            <a:spLocks noGrp="1"/>
          </p:cNvSpPr>
          <p:nvPr/>
        </p:nvSpPr>
        <p:spPr>
          <a:xfrm>
            <a:off x="6976872" y="1056132"/>
            <a:ext cx="4572000"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読み方</a:t>
            </a:r>
            <a:endParaRPr sz="1330"/>
          </a:p>
        </p:txBody>
      </p:sp>
      <p:sp>
        <p:nvSpPr>
          <p:cNvPr id="14" name="Shape 12">
            <a:extLst>
              <a:ext uri="{FF2B5EF4-FFF2-40B4-BE49-F238E27FC236}">
                <a16:creationId xmlns:a16="http://schemas.microsoft.com/office/drawing/2014/main" id="{F7312650-5FF9-467F-BF2F-6B050E2D3A6C}"/>
              </a:ext>
            </a:extLst>
          </p:cNvPr>
          <p:cNvSpPr>
            <a:spLocks noGrp="1"/>
          </p:cNvSpPr>
          <p:nvPr/>
        </p:nvSpPr>
        <p:spPr>
          <a:xfrm>
            <a:off x="566928" y="1527048"/>
            <a:ext cx="2057400" cy="502920"/>
          </a:xfrm>
          <a:prstGeom prst="rect">
            <a:avLst/>
          </a:prstGeom>
          <a:solidFill>
            <a:srgbClr val="FFFFFF"/>
          </a:solidFill>
          <a:ln w="889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5BF5694-7634-4972-92EE-271A4EF9FD85}"/>
              </a:ext>
            </a:extLst>
          </p:cNvPr>
          <p:cNvSpPr>
            <a:spLocks noGrp="1"/>
          </p:cNvSpPr>
          <p:nvPr/>
        </p:nvSpPr>
        <p:spPr>
          <a:xfrm>
            <a:off x="621792" y="15590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PV発電量</a:t>
            </a:r>
            <a:endParaRPr sz="1260"/>
          </a:p>
        </p:txBody>
      </p:sp>
      <p:sp>
        <p:nvSpPr>
          <p:cNvPr id="16" name="Shape 14">
            <a:extLst>
              <a:ext uri="{FF2B5EF4-FFF2-40B4-BE49-F238E27FC236}">
                <a16:creationId xmlns:a16="http://schemas.microsoft.com/office/drawing/2014/main" id="{50BB1DC7-143C-4875-9580-23C923241CE8}"/>
              </a:ext>
            </a:extLst>
          </p:cNvPr>
          <p:cNvSpPr>
            <a:spLocks noGrp="1"/>
          </p:cNvSpPr>
          <p:nvPr/>
        </p:nvSpPr>
        <p:spPr>
          <a:xfrm>
            <a:off x="2624328" y="1527048"/>
            <a:ext cx="2148840" cy="502920"/>
          </a:xfrm>
          <a:prstGeom prst="rect">
            <a:avLst/>
          </a:prstGeom>
          <a:solidFill>
            <a:srgbClr val="FFFFFF"/>
          </a:solidFill>
          <a:ln w="8890">
            <a:solidFill>
              <a:srgbClr val="EEF1F5"/>
            </a:solidFill>
            <a:prstDash val="solid"/>
          </a:ln>
        </p:spPr>
        <p:txBody>
          <a:bodyPr/>
          <a:lstStyle/>
          <a:p>
            <a:endParaRPr/>
          </a:p>
        </p:txBody>
      </p:sp>
      <p:sp>
        <p:nvSpPr>
          <p:cNvPr id="17" name="Text 15">
            <a:extLst>
              <a:ext uri="{FF2B5EF4-FFF2-40B4-BE49-F238E27FC236}">
                <a16:creationId xmlns:a16="http://schemas.microsoft.com/office/drawing/2014/main" id="{84C879E8-B493-4AB7-9CDE-85EB0CD6C037}"/>
              </a:ext>
            </a:extLst>
          </p:cNvPr>
          <p:cNvSpPr>
            <a:spLocks noGrp="1"/>
          </p:cNvSpPr>
          <p:nvPr/>
        </p:nvSpPr>
        <p:spPr>
          <a:xfrm>
            <a:off x="267919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6,056 kWh</a:t>
            </a:r>
            <a:endParaRPr sz="1260"/>
          </a:p>
        </p:txBody>
      </p:sp>
      <p:sp>
        <p:nvSpPr>
          <p:cNvPr id="18" name="Shape 16">
            <a:extLst>
              <a:ext uri="{FF2B5EF4-FFF2-40B4-BE49-F238E27FC236}">
                <a16:creationId xmlns:a16="http://schemas.microsoft.com/office/drawing/2014/main" id="{1A18FDD7-9AFE-4EE7-BAC5-B472EEED4027}"/>
              </a:ext>
            </a:extLst>
          </p:cNvPr>
          <p:cNvSpPr>
            <a:spLocks noGrp="1"/>
          </p:cNvSpPr>
          <p:nvPr/>
        </p:nvSpPr>
        <p:spPr>
          <a:xfrm>
            <a:off x="4773168" y="1527048"/>
            <a:ext cx="2148840" cy="502920"/>
          </a:xfrm>
          <a:prstGeom prst="rect">
            <a:avLst/>
          </a:prstGeom>
          <a:solidFill>
            <a:srgbClr val="FFFFFF"/>
          </a:solidFill>
          <a:ln w="8890">
            <a:solidFill>
              <a:srgbClr val="EEF1F5"/>
            </a:solidFill>
            <a:prstDash val="solid"/>
          </a:ln>
        </p:spPr>
        <p:txBody>
          <a:bodyPr/>
          <a:lstStyle/>
          <a:p>
            <a:endParaRPr/>
          </a:p>
        </p:txBody>
      </p:sp>
      <p:sp>
        <p:nvSpPr>
          <p:cNvPr id="19" name="Text 17">
            <a:extLst>
              <a:ext uri="{FF2B5EF4-FFF2-40B4-BE49-F238E27FC236}">
                <a16:creationId xmlns:a16="http://schemas.microsoft.com/office/drawing/2014/main" id="{ED9FA1A8-FAB2-496C-94C1-6339DA85D269}"/>
              </a:ext>
            </a:extLst>
          </p:cNvPr>
          <p:cNvSpPr>
            <a:spLocks noGrp="1"/>
          </p:cNvSpPr>
          <p:nvPr/>
        </p:nvSpPr>
        <p:spPr>
          <a:xfrm>
            <a:off x="482803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996 kWh</a:t>
            </a:r>
            <a:endParaRPr sz="1260"/>
          </a:p>
        </p:txBody>
      </p:sp>
      <p:sp>
        <p:nvSpPr>
          <p:cNvPr id="20" name="Shape 18">
            <a:extLst>
              <a:ext uri="{FF2B5EF4-FFF2-40B4-BE49-F238E27FC236}">
                <a16:creationId xmlns:a16="http://schemas.microsoft.com/office/drawing/2014/main" id="{FDE7F658-93E0-44EB-A324-B4D0384FD986}"/>
              </a:ext>
            </a:extLst>
          </p:cNvPr>
          <p:cNvSpPr>
            <a:spLocks noGrp="1"/>
          </p:cNvSpPr>
          <p:nvPr/>
        </p:nvSpPr>
        <p:spPr>
          <a:xfrm>
            <a:off x="6922008" y="1527048"/>
            <a:ext cx="4681728" cy="502920"/>
          </a:xfrm>
          <a:prstGeom prst="rect">
            <a:avLst/>
          </a:prstGeom>
          <a:solidFill>
            <a:srgbClr val="FFFFFF"/>
          </a:solidFill>
          <a:ln w="8890">
            <a:solidFill>
              <a:srgbClr val="EEF1F5"/>
            </a:solidFill>
            <a:prstDash val="solid"/>
          </a:ln>
        </p:spPr>
        <p:txBody>
          <a:bodyPr/>
          <a:lstStyle/>
          <a:p>
            <a:endParaRPr/>
          </a:p>
        </p:txBody>
      </p:sp>
      <p:sp>
        <p:nvSpPr>
          <p:cNvPr id="21" name="Text 19">
            <a:extLst>
              <a:ext uri="{FF2B5EF4-FFF2-40B4-BE49-F238E27FC236}">
                <a16:creationId xmlns:a16="http://schemas.microsoft.com/office/drawing/2014/main" id="{602D7D87-B338-42F7-B4F5-23F6B42785FF}"/>
              </a:ext>
            </a:extLst>
          </p:cNvPr>
          <p:cNvSpPr>
            <a:spLocks noGrp="1"/>
          </p:cNvSpPr>
          <p:nvPr/>
        </p:nvSpPr>
        <p:spPr>
          <a:xfrm>
            <a:off x="6976872" y="15590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入力として大きく異なる</a:t>
            </a:r>
            <a:endParaRPr sz="1260"/>
          </a:p>
        </p:txBody>
      </p:sp>
      <p:sp>
        <p:nvSpPr>
          <p:cNvPr id="22" name="Shape 20">
            <a:extLst>
              <a:ext uri="{FF2B5EF4-FFF2-40B4-BE49-F238E27FC236}">
                <a16:creationId xmlns:a16="http://schemas.microsoft.com/office/drawing/2014/main" id="{4101F794-9953-4D77-9F23-B48B4FE4EA39}"/>
              </a:ext>
            </a:extLst>
          </p:cNvPr>
          <p:cNvSpPr>
            <a:spLocks noGrp="1"/>
          </p:cNvSpPr>
          <p:nvPr/>
        </p:nvSpPr>
        <p:spPr>
          <a:xfrm>
            <a:off x="566928" y="2029968"/>
            <a:ext cx="2057400" cy="502920"/>
          </a:xfrm>
          <a:prstGeom prst="rect">
            <a:avLst/>
          </a:prstGeom>
          <a:solidFill>
            <a:srgbClr val="F8FAFC"/>
          </a:solidFill>
          <a:ln w="8890">
            <a:solidFill>
              <a:srgbClr val="EEF1F5"/>
            </a:solidFill>
            <a:prstDash val="solid"/>
          </a:ln>
        </p:spPr>
        <p:txBody>
          <a:bodyPr/>
          <a:lstStyle/>
          <a:p>
            <a:endParaRPr/>
          </a:p>
        </p:txBody>
      </p:sp>
      <p:sp>
        <p:nvSpPr>
          <p:cNvPr id="23" name="Text 21">
            <a:extLst>
              <a:ext uri="{FF2B5EF4-FFF2-40B4-BE49-F238E27FC236}">
                <a16:creationId xmlns:a16="http://schemas.microsoft.com/office/drawing/2014/main" id="{45D8FDF5-F57A-4B6A-80AC-BB9ACF3562DB}"/>
              </a:ext>
            </a:extLst>
          </p:cNvPr>
          <p:cNvSpPr>
            <a:spLocks noGrp="1"/>
          </p:cNvSpPr>
          <p:nvPr/>
        </p:nvSpPr>
        <p:spPr>
          <a:xfrm>
            <a:off x="621792" y="20619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使用車両</a:t>
            </a:r>
            <a:endParaRPr sz="1260"/>
          </a:p>
        </p:txBody>
      </p:sp>
      <p:sp>
        <p:nvSpPr>
          <p:cNvPr id="24" name="Shape 22">
            <a:extLst>
              <a:ext uri="{FF2B5EF4-FFF2-40B4-BE49-F238E27FC236}">
                <a16:creationId xmlns:a16="http://schemas.microsoft.com/office/drawing/2014/main" id="{E56F0C56-5B7A-4AE5-BF32-E194E4E245DD}"/>
              </a:ext>
            </a:extLst>
          </p:cNvPr>
          <p:cNvSpPr>
            <a:spLocks noGrp="1"/>
          </p:cNvSpPr>
          <p:nvPr/>
        </p:nvSpPr>
        <p:spPr>
          <a:xfrm>
            <a:off x="2624328" y="2029968"/>
            <a:ext cx="2148840" cy="502920"/>
          </a:xfrm>
          <a:prstGeom prst="rect">
            <a:avLst/>
          </a:prstGeom>
          <a:solidFill>
            <a:srgbClr val="F8FAFC"/>
          </a:solidFill>
          <a:ln w="8890">
            <a:solidFill>
              <a:srgbClr val="EEF1F5"/>
            </a:solidFill>
            <a:prstDash val="solid"/>
          </a:ln>
        </p:spPr>
        <p:txBody>
          <a:bodyPr/>
          <a:lstStyle/>
          <a:p>
            <a:endParaRPr/>
          </a:p>
        </p:txBody>
      </p:sp>
      <p:sp>
        <p:nvSpPr>
          <p:cNvPr id="25" name="Text 23">
            <a:extLst>
              <a:ext uri="{FF2B5EF4-FFF2-40B4-BE49-F238E27FC236}">
                <a16:creationId xmlns:a16="http://schemas.microsoft.com/office/drawing/2014/main" id="{DC8D11B5-8C32-4643-8A82-5361F7B7FE9D}"/>
              </a:ext>
            </a:extLst>
          </p:cNvPr>
          <p:cNvSpPr>
            <a:spLocks noGrp="1"/>
          </p:cNvSpPr>
          <p:nvPr/>
        </p:nvSpPr>
        <p:spPr>
          <a:xfrm>
            <a:off x="267919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28／ICE 4台</a:t>
            </a:r>
            <a:endParaRPr sz="1260"/>
          </a:p>
        </p:txBody>
      </p:sp>
      <p:sp>
        <p:nvSpPr>
          <p:cNvPr id="26" name="Shape 24">
            <a:extLst>
              <a:ext uri="{FF2B5EF4-FFF2-40B4-BE49-F238E27FC236}">
                <a16:creationId xmlns:a16="http://schemas.microsoft.com/office/drawing/2014/main" id="{E8BFA9AE-F1D1-4BCF-BAFA-34F7A9995CBC}"/>
              </a:ext>
            </a:extLst>
          </p:cNvPr>
          <p:cNvSpPr>
            <a:spLocks noGrp="1"/>
          </p:cNvSpPr>
          <p:nvPr/>
        </p:nvSpPr>
        <p:spPr>
          <a:xfrm>
            <a:off x="4773168" y="2029968"/>
            <a:ext cx="2148840" cy="502920"/>
          </a:xfrm>
          <a:prstGeom prst="rect">
            <a:avLst/>
          </a:prstGeom>
          <a:solidFill>
            <a:srgbClr val="F8FAFC"/>
          </a:solidFill>
          <a:ln w="8890">
            <a:solidFill>
              <a:srgbClr val="EEF1F5"/>
            </a:solidFill>
            <a:prstDash val="solid"/>
          </a:ln>
        </p:spPr>
        <p:txBody>
          <a:bodyPr/>
          <a:lstStyle/>
          <a:p>
            <a:endParaRPr/>
          </a:p>
        </p:txBody>
      </p:sp>
      <p:sp>
        <p:nvSpPr>
          <p:cNvPr id="27" name="Text 25">
            <a:extLst>
              <a:ext uri="{FF2B5EF4-FFF2-40B4-BE49-F238E27FC236}">
                <a16:creationId xmlns:a16="http://schemas.microsoft.com/office/drawing/2014/main" id="{363B231F-4941-46D2-82FE-8D7EFB864F2E}"/>
              </a:ext>
            </a:extLst>
          </p:cNvPr>
          <p:cNvSpPr>
            <a:spLocks noGrp="1"/>
          </p:cNvSpPr>
          <p:nvPr/>
        </p:nvSpPr>
        <p:spPr>
          <a:xfrm>
            <a:off x="482803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21／ICE 11台</a:t>
            </a:r>
            <a:endParaRPr sz="1260"/>
          </a:p>
        </p:txBody>
      </p:sp>
      <p:sp>
        <p:nvSpPr>
          <p:cNvPr id="28" name="Shape 26">
            <a:extLst>
              <a:ext uri="{FF2B5EF4-FFF2-40B4-BE49-F238E27FC236}">
                <a16:creationId xmlns:a16="http://schemas.microsoft.com/office/drawing/2014/main" id="{EBE3383F-C90F-493D-9165-B055ADE74363}"/>
              </a:ext>
            </a:extLst>
          </p:cNvPr>
          <p:cNvSpPr>
            <a:spLocks noGrp="1"/>
          </p:cNvSpPr>
          <p:nvPr/>
        </p:nvSpPr>
        <p:spPr>
          <a:xfrm>
            <a:off x="6922008" y="2029968"/>
            <a:ext cx="4681728" cy="502920"/>
          </a:xfrm>
          <a:prstGeom prst="rect">
            <a:avLst/>
          </a:prstGeom>
          <a:solidFill>
            <a:srgbClr val="F8FAFC"/>
          </a:solidFill>
          <a:ln w="8890">
            <a:solidFill>
              <a:srgbClr val="EEF1F5"/>
            </a:solidFill>
            <a:prstDash val="solid"/>
          </a:ln>
        </p:spPr>
        <p:txBody>
          <a:bodyPr/>
          <a:lstStyle/>
          <a:p>
            <a:endParaRPr/>
          </a:p>
        </p:txBody>
      </p:sp>
      <p:sp>
        <p:nvSpPr>
          <p:cNvPr id="29" name="Text 27">
            <a:extLst>
              <a:ext uri="{FF2B5EF4-FFF2-40B4-BE49-F238E27FC236}">
                <a16:creationId xmlns:a16="http://schemas.microsoft.com/office/drawing/2014/main" id="{C52F10F2-5294-4C0F-AF26-B3D7516D4E5D}"/>
              </a:ext>
            </a:extLst>
          </p:cNvPr>
          <p:cNvSpPr>
            <a:spLocks noGrp="1"/>
          </p:cNvSpPr>
          <p:nvPr/>
        </p:nvSpPr>
        <p:spPr>
          <a:xfrm>
            <a:off x="6976872" y="20619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総使用台数は32台で共通</a:t>
            </a:r>
            <a:endParaRPr sz="1260"/>
          </a:p>
        </p:txBody>
      </p:sp>
      <p:sp>
        <p:nvSpPr>
          <p:cNvPr id="30" name="Shape 28">
            <a:extLst>
              <a:ext uri="{FF2B5EF4-FFF2-40B4-BE49-F238E27FC236}">
                <a16:creationId xmlns:a16="http://schemas.microsoft.com/office/drawing/2014/main" id="{28F7BFD4-ACAD-419D-8FE2-C6E90686E4CA}"/>
              </a:ext>
            </a:extLst>
          </p:cNvPr>
          <p:cNvSpPr>
            <a:spLocks noGrp="1"/>
          </p:cNvSpPr>
          <p:nvPr/>
        </p:nvSpPr>
        <p:spPr>
          <a:xfrm>
            <a:off x="566928" y="2532888"/>
            <a:ext cx="2057400" cy="502920"/>
          </a:xfrm>
          <a:prstGeom prst="rect">
            <a:avLst/>
          </a:prstGeom>
          <a:solidFill>
            <a:srgbClr val="FFFFFF"/>
          </a:solidFill>
          <a:ln w="8890">
            <a:solidFill>
              <a:srgbClr val="EEF1F5"/>
            </a:solidFill>
            <a:prstDash val="solid"/>
          </a:ln>
        </p:spPr>
        <p:txBody>
          <a:bodyPr/>
          <a:lstStyle/>
          <a:p>
            <a:endParaRPr/>
          </a:p>
        </p:txBody>
      </p:sp>
      <p:sp>
        <p:nvSpPr>
          <p:cNvPr id="31" name="Text 29">
            <a:extLst>
              <a:ext uri="{FF2B5EF4-FFF2-40B4-BE49-F238E27FC236}">
                <a16:creationId xmlns:a16="http://schemas.microsoft.com/office/drawing/2014/main" id="{18C2D499-E3ED-41B5-A11B-76073A412087}"/>
              </a:ext>
            </a:extLst>
          </p:cNvPr>
          <p:cNvSpPr>
            <a:spLocks noGrp="1"/>
          </p:cNvSpPr>
          <p:nvPr/>
        </p:nvSpPr>
        <p:spPr>
          <a:xfrm>
            <a:off x="621792" y="25648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担当便</a:t>
            </a:r>
            <a:endParaRPr sz="1260"/>
          </a:p>
        </p:txBody>
      </p:sp>
      <p:sp>
        <p:nvSpPr>
          <p:cNvPr id="32" name="Shape 30">
            <a:extLst>
              <a:ext uri="{FF2B5EF4-FFF2-40B4-BE49-F238E27FC236}">
                <a16:creationId xmlns:a16="http://schemas.microsoft.com/office/drawing/2014/main" id="{7EBF3695-328B-4E73-9194-5109C33C0092}"/>
              </a:ext>
            </a:extLst>
          </p:cNvPr>
          <p:cNvSpPr>
            <a:spLocks noGrp="1"/>
          </p:cNvSpPr>
          <p:nvPr/>
        </p:nvSpPr>
        <p:spPr>
          <a:xfrm>
            <a:off x="2624328" y="2532888"/>
            <a:ext cx="2148840" cy="502920"/>
          </a:xfrm>
          <a:prstGeom prst="rect">
            <a:avLst/>
          </a:prstGeom>
          <a:solidFill>
            <a:srgbClr val="FFFFFF"/>
          </a:solidFill>
          <a:ln w="8890">
            <a:solidFill>
              <a:srgbClr val="EEF1F5"/>
            </a:solidFill>
            <a:prstDash val="solid"/>
          </a:ln>
        </p:spPr>
        <p:txBody>
          <a:bodyPr/>
          <a:lstStyle/>
          <a:p>
            <a:endParaRPr/>
          </a:p>
        </p:txBody>
      </p:sp>
      <p:sp>
        <p:nvSpPr>
          <p:cNvPr id="33" name="Text 31">
            <a:extLst>
              <a:ext uri="{FF2B5EF4-FFF2-40B4-BE49-F238E27FC236}">
                <a16:creationId xmlns:a16="http://schemas.microsoft.com/office/drawing/2014/main" id="{B5A1C9BB-7866-48BB-B112-D91BDBAE9F55}"/>
              </a:ext>
            </a:extLst>
          </p:cNvPr>
          <p:cNvSpPr>
            <a:spLocks noGrp="1"/>
          </p:cNvSpPr>
          <p:nvPr/>
        </p:nvSpPr>
        <p:spPr>
          <a:xfrm>
            <a:off x="267919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199／ICE 65便</a:t>
            </a:r>
            <a:endParaRPr sz="1260"/>
          </a:p>
        </p:txBody>
      </p:sp>
      <p:sp>
        <p:nvSpPr>
          <p:cNvPr id="34" name="Shape 32">
            <a:extLst>
              <a:ext uri="{FF2B5EF4-FFF2-40B4-BE49-F238E27FC236}">
                <a16:creationId xmlns:a16="http://schemas.microsoft.com/office/drawing/2014/main" id="{77921EDE-C508-4F4C-A8BB-0414B939FD6E}"/>
              </a:ext>
            </a:extLst>
          </p:cNvPr>
          <p:cNvSpPr>
            <a:spLocks noGrp="1"/>
          </p:cNvSpPr>
          <p:nvPr/>
        </p:nvSpPr>
        <p:spPr>
          <a:xfrm>
            <a:off x="4773168" y="2532888"/>
            <a:ext cx="2148840" cy="502920"/>
          </a:xfrm>
          <a:prstGeom prst="rect">
            <a:avLst/>
          </a:prstGeom>
          <a:solidFill>
            <a:srgbClr val="FFFFFF"/>
          </a:solidFill>
          <a:ln w="8890">
            <a:solidFill>
              <a:srgbClr val="EEF1F5"/>
            </a:solidFill>
            <a:prstDash val="solid"/>
          </a:ln>
        </p:spPr>
        <p:txBody>
          <a:bodyPr/>
          <a:lstStyle/>
          <a:p>
            <a:endParaRPr/>
          </a:p>
        </p:txBody>
      </p:sp>
      <p:sp>
        <p:nvSpPr>
          <p:cNvPr id="35" name="Text 33">
            <a:extLst>
              <a:ext uri="{FF2B5EF4-FFF2-40B4-BE49-F238E27FC236}">
                <a16:creationId xmlns:a16="http://schemas.microsoft.com/office/drawing/2014/main" id="{39493B54-3664-4581-B547-A6B384909506}"/>
              </a:ext>
            </a:extLst>
          </p:cNvPr>
          <p:cNvSpPr>
            <a:spLocks noGrp="1"/>
          </p:cNvSpPr>
          <p:nvPr/>
        </p:nvSpPr>
        <p:spPr>
          <a:xfrm>
            <a:off x="482803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91／ICE 173便</a:t>
            </a:r>
            <a:endParaRPr sz="1260"/>
          </a:p>
        </p:txBody>
      </p:sp>
      <p:sp>
        <p:nvSpPr>
          <p:cNvPr id="36" name="Shape 34">
            <a:extLst>
              <a:ext uri="{FF2B5EF4-FFF2-40B4-BE49-F238E27FC236}">
                <a16:creationId xmlns:a16="http://schemas.microsoft.com/office/drawing/2014/main" id="{194F7B39-3DAC-4D43-8118-C9A1F7F95FCB}"/>
              </a:ext>
            </a:extLst>
          </p:cNvPr>
          <p:cNvSpPr>
            <a:spLocks noGrp="1"/>
          </p:cNvSpPr>
          <p:nvPr/>
        </p:nvSpPr>
        <p:spPr>
          <a:xfrm>
            <a:off x="6922008" y="2532888"/>
            <a:ext cx="4681728" cy="502920"/>
          </a:xfrm>
          <a:prstGeom prst="rect">
            <a:avLst/>
          </a:prstGeom>
          <a:solidFill>
            <a:srgbClr val="FFFFFF"/>
          </a:solidFill>
          <a:ln w="8890">
            <a:solidFill>
              <a:srgbClr val="EEF1F5"/>
            </a:solidFill>
            <a:prstDash val="solid"/>
          </a:ln>
        </p:spPr>
        <p:txBody>
          <a:bodyPr/>
          <a:lstStyle/>
          <a:p>
            <a:endParaRPr/>
          </a:p>
        </p:txBody>
      </p:sp>
      <p:sp>
        <p:nvSpPr>
          <p:cNvPr id="37" name="Text 35">
            <a:extLst>
              <a:ext uri="{FF2B5EF4-FFF2-40B4-BE49-F238E27FC236}">
                <a16:creationId xmlns:a16="http://schemas.microsoft.com/office/drawing/2014/main" id="{2325C9CB-BC12-4E7B-BB44-DF698B9A33D8}"/>
              </a:ext>
            </a:extLst>
          </p:cNvPr>
          <p:cNvSpPr>
            <a:spLocks noGrp="1"/>
          </p:cNvSpPr>
          <p:nvPr/>
        </p:nvSpPr>
        <p:spPr>
          <a:xfrm>
            <a:off x="6976872" y="25648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低PVではICE担当が増加</a:t>
            </a:r>
            <a:endParaRPr sz="1260"/>
          </a:p>
        </p:txBody>
      </p:sp>
      <p:sp>
        <p:nvSpPr>
          <p:cNvPr id="38" name="Shape 36">
            <a:extLst>
              <a:ext uri="{FF2B5EF4-FFF2-40B4-BE49-F238E27FC236}">
                <a16:creationId xmlns:a16="http://schemas.microsoft.com/office/drawing/2014/main" id="{FF21281C-6BAB-4328-A45E-A0D7A8A4D9D5}"/>
              </a:ext>
            </a:extLst>
          </p:cNvPr>
          <p:cNvSpPr>
            <a:spLocks noGrp="1"/>
          </p:cNvSpPr>
          <p:nvPr/>
        </p:nvSpPr>
        <p:spPr>
          <a:xfrm>
            <a:off x="566928" y="3035808"/>
            <a:ext cx="2057400" cy="502920"/>
          </a:xfrm>
          <a:prstGeom prst="rect">
            <a:avLst/>
          </a:prstGeom>
          <a:solidFill>
            <a:srgbClr val="F8FAFC"/>
          </a:solidFill>
          <a:ln w="8890">
            <a:solidFill>
              <a:srgbClr val="EEF1F5"/>
            </a:solidFill>
            <a:prstDash val="solid"/>
          </a:ln>
        </p:spPr>
        <p:txBody>
          <a:bodyPr/>
          <a:lstStyle/>
          <a:p>
            <a:endParaRPr/>
          </a:p>
        </p:txBody>
      </p:sp>
      <p:sp>
        <p:nvSpPr>
          <p:cNvPr id="39" name="Text 37">
            <a:extLst>
              <a:ext uri="{FF2B5EF4-FFF2-40B4-BE49-F238E27FC236}">
                <a16:creationId xmlns:a16="http://schemas.microsoft.com/office/drawing/2014/main" id="{34F41625-25A4-4816-92ED-F053E8A2FB7A}"/>
              </a:ext>
            </a:extLst>
          </p:cNvPr>
          <p:cNvSpPr>
            <a:spLocks noGrp="1"/>
          </p:cNvSpPr>
          <p:nvPr/>
        </p:nvSpPr>
        <p:spPr>
          <a:xfrm>
            <a:off x="621792" y="30678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燃料使用量</a:t>
            </a:r>
            <a:endParaRPr sz="1260"/>
          </a:p>
        </p:txBody>
      </p:sp>
      <p:sp>
        <p:nvSpPr>
          <p:cNvPr id="40" name="Shape 38">
            <a:extLst>
              <a:ext uri="{FF2B5EF4-FFF2-40B4-BE49-F238E27FC236}">
                <a16:creationId xmlns:a16="http://schemas.microsoft.com/office/drawing/2014/main" id="{56E5F27B-AD74-4533-9EAC-DF4CAD3E69D3}"/>
              </a:ext>
            </a:extLst>
          </p:cNvPr>
          <p:cNvSpPr>
            <a:spLocks noGrp="1"/>
          </p:cNvSpPr>
          <p:nvPr/>
        </p:nvSpPr>
        <p:spPr>
          <a:xfrm>
            <a:off x="2624328" y="3035808"/>
            <a:ext cx="2148840" cy="502920"/>
          </a:xfrm>
          <a:prstGeom prst="rect">
            <a:avLst/>
          </a:prstGeom>
          <a:solidFill>
            <a:srgbClr val="F8FAFC"/>
          </a:solidFill>
          <a:ln w="8890">
            <a:solidFill>
              <a:srgbClr val="EEF1F5"/>
            </a:solidFill>
            <a:prstDash val="solid"/>
          </a:ln>
        </p:spPr>
        <p:txBody>
          <a:bodyPr/>
          <a:lstStyle/>
          <a:p>
            <a:endParaRPr/>
          </a:p>
        </p:txBody>
      </p:sp>
      <p:sp>
        <p:nvSpPr>
          <p:cNvPr id="41" name="Text 39">
            <a:extLst>
              <a:ext uri="{FF2B5EF4-FFF2-40B4-BE49-F238E27FC236}">
                <a16:creationId xmlns:a16="http://schemas.microsoft.com/office/drawing/2014/main" id="{26AF694C-C605-4F41-ADE2-F7697F8B4F39}"/>
              </a:ext>
            </a:extLst>
          </p:cNvPr>
          <p:cNvSpPr>
            <a:spLocks noGrp="1"/>
          </p:cNvSpPr>
          <p:nvPr/>
        </p:nvSpPr>
        <p:spPr>
          <a:xfrm>
            <a:off x="267919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137.5 L</a:t>
            </a:r>
            <a:endParaRPr sz="1260"/>
          </a:p>
        </p:txBody>
      </p:sp>
      <p:sp>
        <p:nvSpPr>
          <p:cNvPr id="42" name="Shape 40">
            <a:extLst>
              <a:ext uri="{FF2B5EF4-FFF2-40B4-BE49-F238E27FC236}">
                <a16:creationId xmlns:a16="http://schemas.microsoft.com/office/drawing/2014/main" id="{6BB7ACE0-53FD-40B6-908C-A04E9F90B687}"/>
              </a:ext>
            </a:extLst>
          </p:cNvPr>
          <p:cNvSpPr>
            <a:spLocks noGrp="1"/>
          </p:cNvSpPr>
          <p:nvPr/>
        </p:nvSpPr>
        <p:spPr>
          <a:xfrm>
            <a:off x="4773168" y="3035808"/>
            <a:ext cx="2148840" cy="502920"/>
          </a:xfrm>
          <a:prstGeom prst="rect">
            <a:avLst/>
          </a:prstGeom>
          <a:solidFill>
            <a:srgbClr val="F8FAFC"/>
          </a:solidFill>
          <a:ln w="8890">
            <a:solidFill>
              <a:srgbClr val="EEF1F5"/>
            </a:solidFill>
            <a:prstDash val="solid"/>
          </a:ln>
        </p:spPr>
        <p:txBody>
          <a:bodyPr/>
          <a:lstStyle/>
          <a:p>
            <a:endParaRPr/>
          </a:p>
        </p:txBody>
      </p:sp>
      <p:sp>
        <p:nvSpPr>
          <p:cNvPr id="43" name="Text 41">
            <a:extLst>
              <a:ext uri="{FF2B5EF4-FFF2-40B4-BE49-F238E27FC236}">
                <a16:creationId xmlns:a16="http://schemas.microsoft.com/office/drawing/2014/main" id="{5E3DE8E6-F2D5-4A0C-A5C1-7D6BD0ADAF90}"/>
              </a:ext>
            </a:extLst>
          </p:cNvPr>
          <p:cNvSpPr>
            <a:spLocks noGrp="1"/>
          </p:cNvSpPr>
          <p:nvPr/>
        </p:nvSpPr>
        <p:spPr>
          <a:xfrm>
            <a:off x="482803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357.9 L</a:t>
            </a:r>
            <a:endParaRPr sz="1260"/>
          </a:p>
        </p:txBody>
      </p:sp>
      <p:sp>
        <p:nvSpPr>
          <p:cNvPr id="44" name="Shape 42">
            <a:extLst>
              <a:ext uri="{FF2B5EF4-FFF2-40B4-BE49-F238E27FC236}">
                <a16:creationId xmlns:a16="http://schemas.microsoft.com/office/drawing/2014/main" id="{C2FA9D75-A401-4559-8FCB-5F922AF2645B}"/>
              </a:ext>
            </a:extLst>
          </p:cNvPr>
          <p:cNvSpPr>
            <a:spLocks noGrp="1"/>
          </p:cNvSpPr>
          <p:nvPr/>
        </p:nvSpPr>
        <p:spPr>
          <a:xfrm>
            <a:off x="6922008" y="3035808"/>
            <a:ext cx="4681728" cy="502920"/>
          </a:xfrm>
          <a:prstGeom prst="rect">
            <a:avLst/>
          </a:prstGeom>
          <a:solidFill>
            <a:srgbClr val="F8FAFC"/>
          </a:solidFill>
          <a:ln w="8890">
            <a:solidFill>
              <a:srgbClr val="EEF1F5"/>
            </a:solidFill>
            <a:prstDash val="solid"/>
          </a:ln>
        </p:spPr>
        <p:txBody>
          <a:bodyPr/>
          <a:lstStyle/>
          <a:p>
            <a:endParaRPr/>
          </a:p>
        </p:txBody>
      </p:sp>
      <p:sp>
        <p:nvSpPr>
          <p:cNvPr id="45" name="Text 43">
            <a:extLst>
              <a:ext uri="{FF2B5EF4-FFF2-40B4-BE49-F238E27FC236}">
                <a16:creationId xmlns:a16="http://schemas.microsoft.com/office/drawing/2014/main" id="{0340FD39-9AB4-4DD3-849F-57FB2ED77062}"/>
              </a:ext>
            </a:extLst>
          </p:cNvPr>
          <p:cNvSpPr>
            <a:spLocks noGrp="1"/>
          </p:cNvSpPr>
          <p:nvPr/>
        </p:nvSpPr>
        <p:spPr>
          <a:xfrm>
            <a:off x="6976872" y="30678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費用差の主因</a:t>
            </a:r>
            <a:endParaRPr sz="1260"/>
          </a:p>
        </p:txBody>
      </p:sp>
      <p:sp>
        <p:nvSpPr>
          <p:cNvPr id="46" name="Shape 44">
            <a:extLst>
              <a:ext uri="{FF2B5EF4-FFF2-40B4-BE49-F238E27FC236}">
                <a16:creationId xmlns:a16="http://schemas.microsoft.com/office/drawing/2014/main" id="{A4D27A22-1D1B-4041-A634-8A54BF2197FB}"/>
              </a:ext>
            </a:extLst>
          </p:cNvPr>
          <p:cNvSpPr>
            <a:spLocks noGrp="1"/>
          </p:cNvSpPr>
          <p:nvPr/>
        </p:nvSpPr>
        <p:spPr>
          <a:xfrm>
            <a:off x="566928" y="3538728"/>
            <a:ext cx="2057400" cy="502920"/>
          </a:xfrm>
          <a:prstGeom prst="rect">
            <a:avLst/>
          </a:prstGeom>
          <a:solidFill>
            <a:srgbClr val="FFFFFF"/>
          </a:solidFill>
          <a:ln w="8890">
            <a:solidFill>
              <a:srgbClr val="EEF1F5"/>
            </a:solidFill>
            <a:prstDash val="solid"/>
          </a:ln>
        </p:spPr>
        <p:txBody>
          <a:bodyPr/>
          <a:lstStyle/>
          <a:p>
            <a:endParaRPr/>
          </a:p>
        </p:txBody>
      </p:sp>
      <p:sp>
        <p:nvSpPr>
          <p:cNvPr id="47" name="Text 45">
            <a:extLst>
              <a:ext uri="{FF2B5EF4-FFF2-40B4-BE49-F238E27FC236}">
                <a16:creationId xmlns:a16="http://schemas.microsoft.com/office/drawing/2014/main" id="{22323662-3EBD-416B-B8A0-0953F843525B}"/>
              </a:ext>
            </a:extLst>
          </p:cNvPr>
          <p:cNvSpPr>
            <a:spLocks noGrp="1"/>
          </p:cNvSpPr>
          <p:nvPr/>
        </p:nvSpPr>
        <p:spPr>
          <a:xfrm>
            <a:off x="621792" y="357073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系統購入量</a:t>
            </a:r>
            <a:endParaRPr sz="1260"/>
          </a:p>
        </p:txBody>
      </p:sp>
      <p:sp>
        <p:nvSpPr>
          <p:cNvPr id="48" name="Shape 46">
            <a:extLst>
              <a:ext uri="{FF2B5EF4-FFF2-40B4-BE49-F238E27FC236}">
                <a16:creationId xmlns:a16="http://schemas.microsoft.com/office/drawing/2014/main" id="{686B7BAF-04A5-4D2C-9224-8B1C3FCDDE46}"/>
              </a:ext>
            </a:extLst>
          </p:cNvPr>
          <p:cNvSpPr>
            <a:spLocks noGrp="1"/>
          </p:cNvSpPr>
          <p:nvPr/>
        </p:nvSpPr>
        <p:spPr>
          <a:xfrm>
            <a:off x="2624328" y="3538728"/>
            <a:ext cx="2148840" cy="502920"/>
          </a:xfrm>
          <a:prstGeom prst="rect">
            <a:avLst/>
          </a:prstGeom>
          <a:solidFill>
            <a:srgbClr val="FFFFFF"/>
          </a:solidFill>
          <a:ln w="8890">
            <a:solidFill>
              <a:srgbClr val="EEF1F5"/>
            </a:solidFill>
            <a:prstDash val="solid"/>
          </a:ln>
        </p:spPr>
        <p:txBody>
          <a:bodyPr/>
          <a:lstStyle/>
          <a:p>
            <a:endParaRPr/>
          </a:p>
        </p:txBody>
      </p:sp>
      <p:sp>
        <p:nvSpPr>
          <p:cNvPr id="49" name="Text 47">
            <a:extLst>
              <a:ext uri="{FF2B5EF4-FFF2-40B4-BE49-F238E27FC236}">
                <a16:creationId xmlns:a16="http://schemas.microsoft.com/office/drawing/2014/main" id="{0961A8F0-1933-4910-B693-AA482A703817}"/>
              </a:ext>
            </a:extLst>
          </p:cNvPr>
          <p:cNvSpPr>
            <a:spLocks noGrp="1"/>
          </p:cNvSpPr>
          <p:nvPr/>
        </p:nvSpPr>
        <p:spPr>
          <a:xfrm>
            <a:off x="267919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0.0 kWh</a:t>
            </a:r>
            <a:endParaRPr sz="1260"/>
          </a:p>
        </p:txBody>
      </p:sp>
      <p:sp>
        <p:nvSpPr>
          <p:cNvPr id="50" name="Shape 48">
            <a:extLst>
              <a:ext uri="{FF2B5EF4-FFF2-40B4-BE49-F238E27FC236}">
                <a16:creationId xmlns:a16="http://schemas.microsoft.com/office/drawing/2014/main" id="{6E382C5E-2FE0-4A58-A058-FA0220A01CB6}"/>
              </a:ext>
            </a:extLst>
          </p:cNvPr>
          <p:cNvSpPr>
            <a:spLocks noGrp="1"/>
          </p:cNvSpPr>
          <p:nvPr/>
        </p:nvSpPr>
        <p:spPr>
          <a:xfrm>
            <a:off x="4773168" y="3538728"/>
            <a:ext cx="2148840" cy="502920"/>
          </a:xfrm>
          <a:prstGeom prst="rect">
            <a:avLst/>
          </a:prstGeom>
          <a:solidFill>
            <a:srgbClr val="FFFFFF"/>
          </a:solidFill>
          <a:ln w="8890">
            <a:solidFill>
              <a:srgbClr val="EEF1F5"/>
            </a:solidFill>
            <a:prstDash val="solid"/>
          </a:ln>
        </p:spPr>
        <p:txBody>
          <a:bodyPr/>
          <a:lstStyle/>
          <a:p>
            <a:endParaRPr/>
          </a:p>
        </p:txBody>
      </p:sp>
      <p:sp>
        <p:nvSpPr>
          <p:cNvPr id="51" name="Text 49">
            <a:extLst>
              <a:ext uri="{FF2B5EF4-FFF2-40B4-BE49-F238E27FC236}">
                <a16:creationId xmlns:a16="http://schemas.microsoft.com/office/drawing/2014/main" id="{1E1C25D1-2C04-4374-AA67-FAE82F42ED24}"/>
              </a:ext>
            </a:extLst>
          </p:cNvPr>
          <p:cNvSpPr>
            <a:spLocks noGrp="1"/>
          </p:cNvSpPr>
          <p:nvPr/>
        </p:nvSpPr>
        <p:spPr>
          <a:xfrm>
            <a:off x="482803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130.9 kWh</a:t>
            </a:r>
            <a:endParaRPr sz="1260"/>
          </a:p>
        </p:txBody>
      </p:sp>
      <p:sp>
        <p:nvSpPr>
          <p:cNvPr id="52" name="Shape 50">
            <a:extLst>
              <a:ext uri="{FF2B5EF4-FFF2-40B4-BE49-F238E27FC236}">
                <a16:creationId xmlns:a16="http://schemas.microsoft.com/office/drawing/2014/main" id="{2F6F8E19-D1BD-4232-84B6-D6DBB67070E8}"/>
              </a:ext>
            </a:extLst>
          </p:cNvPr>
          <p:cNvSpPr>
            <a:spLocks noGrp="1"/>
          </p:cNvSpPr>
          <p:nvPr/>
        </p:nvSpPr>
        <p:spPr>
          <a:xfrm>
            <a:off x="6922008" y="3538728"/>
            <a:ext cx="4681728" cy="502920"/>
          </a:xfrm>
          <a:prstGeom prst="rect">
            <a:avLst/>
          </a:prstGeom>
          <a:solidFill>
            <a:srgbClr val="FFFFFF"/>
          </a:solidFill>
          <a:ln w="8890">
            <a:solidFill>
              <a:srgbClr val="EEF1F5"/>
            </a:solidFill>
            <a:prstDash val="solid"/>
          </a:ln>
        </p:spPr>
        <p:txBody>
          <a:bodyPr/>
          <a:lstStyle/>
          <a:p>
            <a:endParaRPr/>
          </a:p>
        </p:txBody>
      </p:sp>
      <p:sp>
        <p:nvSpPr>
          <p:cNvPr id="53" name="Text 51">
            <a:extLst>
              <a:ext uri="{FF2B5EF4-FFF2-40B4-BE49-F238E27FC236}">
                <a16:creationId xmlns:a16="http://schemas.microsoft.com/office/drawing/2014/main" id="{6A189E89-12DF-4EDB-AE62-D809F7CFCF3A}"/>
              </a:ext>
            </a:extLst>
          </p:cNvPr>
          <p:cNvSpPr>
            <a:spLocks noGrp="1"/>
          </p:cNvSpPr>
          <p:nvPr/>
        </p:nvSpPr>
        <p:spPr>
          <a:xfrm>
            <a:off x="6976872" y="357073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低PVで不足分を補給</a:t>
            </a:r>
            <a:endParaRPr sz="1260"/>
          </a:p>
        </p:txBody>
      </p:sp>
      <p:sp>
        <p:nvSpPr>
          <p:cNvPr id="54" name="Shape 52">
            <a:extLst>
              <a:ext uri="{FF2B5EF4-FFF2-40B4-BE49-F238E27FC236}">
                <a16:creationId xmlns:a16="http://schemas.microsoft.com/office/drawing/2014/main" id="{427FE63F-01D6-4402-BAAA-0676BA97C2C2}"/>
              </a:ext>
            </a:extLst>
          </p:cNvPr>
          <p:cNvSpPr>
            <a:spLocks noGrp="1"/>
          </p:cNvSpPr>
          <p:nvPr/>
        </p:nvSpPr>
        <p:spPr>
          <a:xfrm>
            <a:off x="566928" y="4041648"/>
            <a:ext cx="2057400" cy="502920"/>
          </a:xfrm>
          <a:prstGeom prst="rect">
            <a:avLst/>
          </a:prstGeom>
          <a:solidFill>
            <a:srgbClr val="F8FAFC"/>
          </a:solidFill>
          <a:ln w="8890">
            <a:solidFill>
              <a:srgbClr val="EEF1F5"/>
            </a:solidFill>
            <a:prstDash val="solid"/>
          </a:ln>
        </p:spPr>
        <p:txBody>
          <a:bodyPr/>
          <a:lstStyle/>
          <a:p>
            <a:endParaRPr/>
          </a:p>
        </p:txBody>
      </p:sp>
      <p:sp>
        <p:nvSpPr>
          <p:cNvPr id="55" name="Text 53">
            <a:extLst>
              <a:ext uri="{FF2B5EF4-FFF2-40B4-BE49-F238E27FC236}">
                <a16:creationId xmlns:a16="http://schemas.microsoft.com/office/drawing/2014/main" id="{B44F2139-C3B9-4D64-9237-2F5ABAA003DF}"/>
              </a:ext>
            </a:extLst>
          </p:cNvPr>
          <p:cNvSpPr>
            <a:spLocks noGrp="1"/>
          </p:cNvSpPr>
          <p:nvPr/>
        </p:nvSpPr>
        <p:spPr>
          <a:xfrm>
            <a:off x="621792" y="40736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PV抑制量</a:t>
            </a:r>
            <a:endParaRPr sz="1260"/>
          </a:p>
        </p:txBody>
      </p:sp>
      <p:sp>
        <p:nvSpPr>
          <p:cNvPr id="56" name="Shape 54">
            <a:extLst>
              <a:ext uri="{FF2B5EF4-FFF2-40B4-BE49-F238E27FC236}">
                <a16:creationId xmlns:a16="http://schemas.microsoft.com/office/drawing/2014/main" id="{34C8B8DA-4FCF-4D79-B976-2A73FD201DAC}"/>
              </a:ext>
            </a:extLst>
          </p:cNvPr>
          <p:cNvSpPr>
            <a:spLocks noGrp="1"/>
          </p:cNvSpPr>
          <p:nvPr/>
        </p:nvSpPr>
        <p:spPr>
          <a:xfrm>
            <a:off x="2624328" y="4041648"/>
            <a:ext cx="2148840" cy="502920"/>
          </a:xfrm>
          <a:prstGeom prst="rect">
            <a:avLst/>
          </a:prstGeom>
          <a:solidFill>
            <a:srgbClr val="F8FAFC"/>
          </a:solidFill>
          <a:ln w="8890">
            <a:solidFill>
              <a:srgbClr val="EEF1F5"/>
            </a:solidFill>
            <a:prstDash val="solid"/>
          </a:ln>
        </p:spPr>
        <p:txBody>
          <a:bodyPr/>
          <a:lstStyle/>
          <a:p>
            <a:endParaRPr/>
          </a:p>
        </p:txBody>
      </p:sp>
      <p:sp>
        <p:nvSpPr>
          <p:cNvPr id="57" name="Text 55">
            <a:extLst>
              <a:ext uri="{FF2B5EF4-FFF2-40B4-BE49-F238E27FC236}">
                <a16:creationId xmlns:a16="http://schemas.microsoft.com/office/drawing/2014/main" id="{39735486-A1C2-4745-AD6B-A9D35A983EC4}"/>
              </a:ext>
            </a:extLst>
          </p:cNvPr>
          <p:cNvSpPr>
            <a:spLocks noGrp="1"/>
          </p:cNvSpPr>
          <p:nvPr/>
        </p:nvSpPr>
        <p:spPr>
          <a:xfrm>
            <a:off x="267919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3,373 kWh</a:t>
            </a:r>
            <a:endParaRPr sz="1260"/>
          </a:p>
        </p:txBody>
      </p:sp>
      <p:sp>
        <p:nvSpPr>
          <p:cNvPr id="58" name="Shape 56">
            <a:extLst>
              <a:ext uri="{FF2B5EF4-FFF2-40B4-BE49-F238E27FC236}">
                <a16:creationId xmlns:a16="http://schemas.microsoft.com/office/drawing/2014/main" id="{49A3951B-CC41-4F4D-AFB5-E826252FA85B}"/>
              </a:ext>
            </a:extLst>
          </p:cNvPr>
          <p:cNvSpPr>
            <a:spLocks noGrp="1"/>
          </p:cNvSpPr>
          <p:nvPr/>
        </p:nvSpPr>
        <p:spPr>
          <a:xfrm>
            <a:off x="4773168" y="4041648"/>
            <a:ext cx="2148840" cy="502920"/>
          </a:xfrm>
          <a:prstGeom prst="rect">
            <a:avLst/>
          </a:prstGeom>
          <a:solidFill>
            <a:srgbClr val="F8FAFC"/>
          </a:solidFill>
          <a:ln w="8890">
            <a:solidFill>
              <a:srgbClr val="EEF1F5"/>
            </a:solidFill>
            <a:prstDash val="solid"/>
          </a:ln>
        </p:spPr>
        <p:txBody>
          <a:bodyPr/>
          <a:lstStyle/>
          <a:p>
            <a:endParaRPr/>
          </a:p>
        </p:txBody>
      </p:sp>
      <p:sp>
        <p:nvSpPr>
          <p:cNvPr id="59" name="Text 57">
            <a:extLst>
              <a:ext uri="{FF2B5EF4-FFF2-40B4-BE49-F238E27FC236}">
                <a16:creationId xmlns:a16="http://schemas.microsoft.com/office/drawing/2014/main" id="{F751D0B0-92CC-45E8-B557-C26E9303E716}"/>
              </a:ext>
            </a:extLst>
          </p:cNvPr>
          <p:cNvSpPr>
            <a:spLocks noGrp="1"/>
          </p:cNvSpPr>
          <p:nvPr/>
        </p:nvSpPr>
        <p:spPr>
          <a:xfrm>
            <a:off x="482803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ほぼ0 kWh</a:t>
            </a:r>
            <a:endParaRPr sz="1260"/>
          </a:p>
        </p:txBody>
      </p:sp>
      <p:sp>
        <p:nvSpPr>
          <p:cNvPr id="60" name="Shape 58">
            <a:extLst>
              <a:ext uri="{FF2B5EF4-FFF2-40B4-BE49-F238E27FC236}">
                <a16:creationId xmlns:a16="http://schemas.microsoft.com/office/drawing/2014/main" id="{43D263B7-B851-47AB-A157-F9F8AE5D9A63}"/>
              </a:ext>
            </a:extLst>
          </p:cNvPr>
          <p:cNvSpPr>
            <a:spLocks noGrp="1"/>
          </p:cNvSpPr>
          <p:nvPr/>
        </p:nvSpPr>
        <p:spPr>
          <a:xfrm>
            <a:off x="6922008" y="4041648"/>
            <a:ext cx="4681728" cy="502920"/>
          </a:xfrm>
          <a:prstGeom prst="rect">
            <a:avLst/>
          </a:prstGeom>
          <a:solidFill>
            <a:srgbClr val="F8FAFC"/>
          </a:solidFill>
          <a:ln w="8890">
            <a:solidFill>
              <a:srgbClr val="EEF1F5"/>
            </a:solidFill>
            <a:prstDash val="solid"/>
          </a:ln>
        </p:spPr>
        <p:txBody>
          <a:bodyPr/>
          <a:lstStyle/>
          <a:p>
            <a:endParaRPr/>
          </a:p>
        </p:txBody>
      </p:sp>
      <p:sp>
        <p:nvSpPr>
          <p:cNvPr id="61" name="Text 59">
            <a:extLst>
              <a:ext uri="{FF2B5EF4-FFF2-40B4-BE49-F238E27FC236}">
                <a16:creationId xmlns:a16="http://schemas.microsoft.com/office/drawing/2014/main" id="{70C14C7D-B177-479E-B20B-0C9B37B17EED}"/>
              </a:ext>
            </a:extLst>
          </p:cNvPr>
          <p:cNvSpPr>
            <a:spLocks noGrp="1"/>
          </p:cNvSpPr>
          <p:nvPr/>
        </p:nvSpPr>
        <p:spPr>
          <a:xfrm>
            <a:off x="6976872" y="40736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高PVで抑制、原因は未確定</a:t>
            </a:r>
            <a:endParaRPr sz="1260"/>
          </a:p>
        </p:txBody>
      </p:sp>
      <p:sp>
        <p:nvSpPr>
          <p:cNvPr id="62" name="Shape 60">
            <a:extLst>
              <a:ext uri="{FF2B5EF4-FFF2-40B4-BE49-F238E27FC236}">
                <a16:creationId xmlns:a16="http://schemas.microsoft.com/office/drawing/2014/main" id="{F93BC8C4-E78C-4C13-9F38-3F1F9B62CD20}"/>
              </a:ext>
            </a:extLst>
          </p:cNvPr>
          <p:cNvSpPr>
            <a:spLocks noGrp="1"/>
          </p:cNvSpPr>
          <p:nvPr/>
        </p:nvSpPr>
        <p:spPr>
          <a:xfrm>
            <a:off x="566928" y="4544568"/>
            <a:ext cx="2057400" cy="502920"/>
          </a:xfrm>
          <a:prstGeom prst="rect">
            <a:avLst/>
          </a:prstGeom>
          <a:solidFill>
            <a:srgbClr val="FFFFFF"/>
          </a:solidFill>
          <a:ln w="8890">
            <a:solidFill>
              <a:srgbClr val="EEF1F5"/>
            </a:solidFill>
            <a:prstDash val="solid"/>
          </a:ln>
        </p:spPr>
        <p:txBody>
          <a:bodyPr/>
          <a:lstStyle/>
          <a:p>
            <a:endParaRPr/>
          </a:p>
        </p:txBody>
      </p:sp>
      <p:sp>
        <p:nvSpPr>
          <p:cNvPr id="63" name="Text 61">
            <a:extLst>
              <a:ext uri="{FF2B5EF4-FFF2-40B4-BE49-F238E27FC236}">
                <a16:creationId xmlns:a16="http://schemas.microsoft.com/office/drawing/2014/main" id="{A8EC16AF-394E-4A96-AC4A-6F9FA0D35E69}"/>
              </a:ext>
            </a:extLst>
          </p:cNvPr>
          <p:cNvSpPr>
            <a:spLocks noGrp="1"/>
          </p:cNvSpPr>
          <p:nvPr/>
        </p:nvSpPr>
        <p:spPr>
          <a:xfrm>
            <a:off x="621792" y="45765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24時間評価額</a:t>
            </a:r>
            <a:endParaRPr sz="1260"/>
          </a:p>
        </p:txBody>
      </p:sp>
      <p:sp>
        <p:nvSpPr>
          <p:cNvPr id="64" name="Shape 62">
            <a:extLst>
              <a:ext uri="{FF2B5EF4-FFF2-40B4-BE49-F238E27FC236}">
                <a16:creationId xmlns:a16="http://schemas.microsoft.com/office/drawing/2014/main" id="{D78B3D12-A10D-451F-A93D-6DE937F2789E}"/>
              </a:ext>
            </a:extLst>
          </p:cNvPr>
          <p:cNvSpPr>
            <a:spLocks noGrp="1"/>
          </p:cNvSpPr>
          <p:nvPr/>
        </p:nvSpPr>
        <p:spPr>
          <a:xfrm>
            <a:off x="2624328" y="4544568"/>
            <a:ext cx="2148840" cy="502920"/>
          </a:xfrm>
          <a:prstGeom prst="rect">
            <a:avLst/>
          </a:prstGeom>
          <a:solidFill>
            <a:srgbClr val="FFFFFF"/>
          </a:solidFill>
          <a:ln w="8890">
            <a:solidFill>
              <a:srgbClr val="EEF1F5"/>
            </a:solidFill>
            <a:prstDash val="solid"/>
          </a:ln>
        </p:spPr>
        <p:txBody>
          <a:bodyPr/>
          <a:lstStyle/>
          <a:p>
            <a:endParaRPr/>
          </a:p>
        </p:txBody>
      </p:sp>
      <p:sp>
        <p:nvSpPr>
          <p:cNvPr id="65" name="Text 63">
            <a:extLst>
              <a:ext uri="{FF2B5EF4-FFF2-40B4-BE49-F238E27FC236}">
                <a16:creationId xmlns:a16="http://schemas.microsoft.com/office/drawing/2014/main" id="{2F9B22E3-2F7E-4C5E-8EBF-72E17230B3C7}"/>
              </a:ext>
            </a:extLst>
          </p:cNvPr>
          <p:cNvSpPr>
            <a:spLocks noGrp="1"/>
          </p:cNvSpPr>
          <p:nvPr/>
        </p:nvSpPr>
        <p:spPr>
          <a:xfrm>
            <a:off x="267919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660,984円</a:t>
            </a:r>
            <a:endParaRPr sz="1260"/>
          </a:p>
        </p:txBody>
      </p:sp>
      <p:sp>
        <p:nvSpPr>
          <p:cNvPr id="66" name="Shape 64">
            <a:extLst>
              <a:ext uri="{FF2B5EF4-FFF2-40B4-BE49-F238E27FC236}">
                <a16:creationId xmlns:a16="http://schemas.microsoft.com/office/drawing/2014/main" id="{5438A004-0D30-4278-A4AA-D482598B53F5}"/>
              </a:ext>
            </a:extLst>
          </p:cNvPr>
          <p:cNvSpPr>
            <a:spLocks noGrp="1"/>
          </p:cNvSpPr>
          <p:nvPr/>
        </p:nvSpPr>
        <p:spPr>
          <a:xfrm>
            <a:off x="4773168" y="4544568"/>
            <a:ext cx="2148840" cy="502920"/>
          </a:xfrm>
          <a:prstGeom prst="rect">
            <a:avLst/>
          </a:prstGeom>
          <a:solidFill>
            <a:srgbClr val="FFFFFF"/>
          </a:solidFill>
          <a:ln w="8890">
            <a:solidFill>
              <a:srgbClr val="EEF1F5"/>
            </a:solidFill>
            <a:prstDash val="solid"/>
          </a:ln>
        </p:spPr>
        <p:txBody>
          <a:bodyPr/>
          <a:lstStyle/>
          <a:p>
            <a:endParaRPr/>
          </a:p>
        </p:txBody>
      </p:sp>
      <p:sp>
        <p:nvSpPr>
          <p:cNvPr id="67" name="Text 65">
            <a:extLst>
              <a:ext uri="{FF2B5EF4-FFF2-40B4-BE49-F238E27FC236}">
                <a16:creationId xmlns:a16="http://schemas.microsoft.com/office/drawing/2014/main" id="{371598D6-221F-4E53-89FC-0F8FF505874F}"/>
              </a:ext>
            </a:extLst>
          </p:cNvPr>
          <p:cNvSpPr>
            <a:spLocks noGrp="1"/>
          </p:cNvSpPr>
          <p:nvPr/>
        </p:nvSpPr>
        <p:spPr>
          <a:xfrm>
            <a:off x="482803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698,599円</a:t>
            </a:r>
            <a:endParaRPr sz="1260"/>
          </a:p>
        </p:txBody>
      </p:sp>
      <p:sp>
        <p:nvSpPr>
          <p:cNvPr id="68" name="Shape 66">
            <a:extLst>
              <a:ext uri="{FF2B5EF4-FFF2-40B4-BE49-F238E27FC236}">
                <a16:creationId xmlns:a16="http://schemas.microsoft.com/office/drawing/2014/main" id="{1C69630C-C779-4DA0-B41A-ED5A6C77C810}"/>
              </a:ext>
            </a:extLst>
          </p:cNvPr>
          <p:cNvSpPr>
            <a:spLocks noGrp="1"/>
          </p:cNvSpPr>
          <p:nvPr/>
        </p:nvSpPr>
        <p:spPr>
          <a:xfrm>
            <a:off x="6922008" y="4544568"/>
            <a:ext cx="4681728" cy="502920"/>
          </a:xfrm>
          <a:prstGeom prst="rect">
            <a:avLst/>
          </a:prstGeom>
          <a:solidFill>
            <a:srgbClr val="FFFFFF"/>
          </a:solidFill>
          <a:ln w="8890">
            <a:solidFill>
              <a:srgbClr val="EEF1F5"/>
            </a:solidFill>
            <a:prstDash val="solid"/>
          </a:ln>
        </p:spPr>
        <p:txBody>
          <a:bodyPr/>
          <a:lstStyle/>
          <a:p>
            <a:endParaRPr/>
          </a:p>
        </p:txBody>
      </p:sp>
      <p:sp>
        <p:nvSpPr>
          <p:cNvPr id="69" name="Text 67">
            <a:extLst>
              <a:ext uri="{FF2B5EF4-FFF2-40B4-BE49-F238E27FC236}">
                <a16:creationId xmlns:a16="http://schemas.microsoft.com/office/drawing/2014/main" id="{A1F2E92E-3AE8-4A02-A17B-06B51D68D6E6}"/>
              </a:ext>
            </a:extLst>
          </p:cNvPr>
          <p:cNvSpPr>
            <a:spLocks noGrp="1"/>
          </p:cNvSpPr>
          <p:nvPr/>
        </p:nvSpPr>
        <p:spPr>
          <a:xfrm>
            <a:off x="6976872" y="45765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差額 +37,615円</a:t>
            </a:r>
            <a:endParaRPr sz="1260"/>
          </a:p>
        </p:txBody>
      </p:sp>
      <p:sp>
        <p:nvSpPr>
          <p:cNvPr id="70" name="Shape 68">
            <a:extLst>
              <a:ext uri="{FF2B5EF4-FFF2-40B4-BE49-F238E27FC236}">
                <a16:creationId xmlns:a16="http://schemas.microsoft.com/office/drawing/2014/main" id="{536A3D6E-49F9-4613-8079-9457EAA4E3C3}"/>
              </a:ext>
            </a:extLst>
          </p:cNvPr>
          <p:cNvSpPr>
            <a:spLocks noGrp="1"/>
          </p:cNvSpPr>
          <p:nvPr/>
        </p:nvSpPr>
        <p:spPr>
          <a:xfrm>
            <a:off x="566928" y="5047488"/>
            <a:ext cx="2057400" cy="502920"/>
          </a:xfrm>
          <a:prstGeom prst="rect">
            <a:avLst/>
          </a:prstGeom>
          <a:solidFill>
            <a:srgbClr val="F8FAFC"/>
          </a:solidFill>
          <a:ln w="8890">
            <a:solidFill>
              <a:srgbClr val="EEF1F5"/>
            </a:solidFill>
            <a:prstDash val="solid"/>
          </a:ln>
        </p:spPr>
        <p:txBody>
          <a:bodyPr/>
          <a:lstStyle/>
          <a:p>
            <a:endParaRPr/>
          </a:p>
        </p:txBody>
      </p:sp>
      <p:sp>
        <p:nvSpPr>
          <p:cNvPr id="71" name="Text 69">
            <a:extLst>
              <a:ext uri="{FF2B5EF4-FFF2-40B4-BE49-F238E27FC236}">
                <a16:creationId xmlns:a16="http://schemas.microsoft.com/office/drawing/2014/main" id="{660A0BBC-9752-4567-9899-1744CDED0F2C}"/>
              </a:ext>
            </a:extLst>
          </p:cNvPr>
          <p:cNvSpPr>
            <a:spLocks noGrp="1"/>
          </p:cNvSpPr>
          <p:nvPr/>
        </p:nvSpPr>
        <p:spPr>
          <a:xfrm>
            <a:off x="621792" y="50794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計算の詰まり具合</a:t>
            </a:r>
            <a:endParaRPr sz="1260"/>
          </a:p>
        </p:txBody>
      </p:sp>
      <p:sp>
        <p:nvSpPr>
          <p:cNvPr id="72" name="Shape 70">
            <a:extLst>
              <a:ext uri="{FF2B5EF4-FFF2-40B4-BE49-F238E27FC236}">
                <a16:creationId xmlns:a16="http://schemas.microsoft.com/office/drawing/2014/main" id="{C01C973D-1300-4AD1-B9BD-22C971E54AB0}"/>
              </a:ext>
            </a:extLst>
          </p:cNvPr>
          <p:cNvSpPr>
            <a:spLocks noGrp="1"/>
          </p:cNvSpPr>
          <p:nvPr/>
        </p:nvSpPr>
        <p:spPr>
          <a:xfrm>
            <a:off x="2624328" y="5047488"/>
            <a:ext cx="2148840" cy="502920"/>
          </a:xfrm>
          <a:prstGeom prst="rect">
            <a:avLst/>
          </a:prstGeom>
          <a:solidFill>
            <a:srgbClr val="F8FAFC"/>
          </a:solidFill>
          <a:ln w="8890">
            <a:solidFill>
              <a:srgbClr val="EEF1F5"/>
            </a:solidFill>
            <a:prstDash val="solid"/>
          </a:ln>
        </p:spPr>
        <p:txBody>
          <a:bodyPr/>
          <a:lstStyle/>
          <a:p>
            <a:endParaRPr/>
          </a:p>
        </p:txBody>
      </p:sp>
      <p:sp>
        <p:nvSpPr>
          <p:cNvPr id="73" name="Text 71">
            <a:extLst>
              <a:ext uri="{FF2B5EF4-FFF2-40B4-BE49-F238E27FC236}">
                <a16:creationId xmlns:a16="http://schemas.microsoft.com/office/drawing/2014/main" id="{D19CE388-C520-4A58-AC6E-7BD2B8B61F94}"/>
              </a:ext>
            </a:extLst>
          </p:cNvPr>
          <p:cNvSpPr>
            <a:spLocks noGrp="1"/>
          </p:cNvSpPr>
          <p:nvPr/>
        </p:nvSpPr>
        <p:spPr>
          <a:xfrm>
            <a:off x="267919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約9.52%</a:t>
            </a:r>
            <a:endParaRPr sz="1260"/>
          </a:p>
        </p:txBody>
      </p:sp>
      <p:sp>
        <p:nvSpPr>
          <p:cNvPr id="74" name="Shape 72">
            <a:extLst>
              <a:ext uri="{FF2B5EF4-FFF2-40B4-BE49-F238E27FC236}">
                <a16:creationId xmlns:a16="http://schemas.microsoft.com/office/drawing/2014/main" id="{69282DF6-0A2D-44A3-B7E6-5353ABA5B545}"/>
              </a:ext>
            </a:extLst>
          </p:cNvPr>
          <p:cNvSpPr>
            <a:spLocks noGrp="1"/>
          </p:cNvSpPr>
          <p:nvPr/>
        </p:nvSpPr>
        <p:spPr>
          <a:xfrm>
            <a:off x="4773168" y="5047488"/>
            <a:ext cx="2148840" cy="502920"/>
          </a:xfrm>
          <a:prstGeom prst="rect">
            <a:avLst/>
          </a:prstGeom>
          <a:solidFill>
            <a:srgbClr val="F8FAFC"/>
          </a:solidFill>
          <a:ln w="8890">
            <a:solidFill>
              <a:srgbClr val="EEF1F5"/>
            </a:solidFill>
            <a:prstDash val="solid"/>
          </a:ln>
        </p:spPr>
        <p:txBody>
          <a:bodyPr/>
          <a:lstStyle/>
          <a:p>
            <a:endParaRPr/>
          </a:p>
        </p:txBody>
      </p:sp>
      <p:sp>
        <p:nvSpPr>
          <p:cNvPr id="75" name="Text 73">
            <a:extLst>
              <a:ext uri="{FF2B5EF4-FFF2-40B4-BE49-F238E27FC236}">
                <a16:creationId xmlns:a16="http://schemas.microsoft.com/office/drawing/2014/main" id="{2005341F-ED67-438E-A26B-0679F2844A02}"/>
              </a:ext>
            </a:extLst>
          </p:cNvPr>
          <p:cNvSpPr>
            <a:spLocks noGrp="1"/>
          </p:cNvSpPr>
          <p:nvPr/>
        </p:nvSpPr>
        <p:spPr>
          <a:xfrm>
            <a:off x="482803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約1.66%</a:t>
            </a:r>
            <a:endParaRPr sz="1260"/>
          </a:p>
        </p:txBody>
      </p:sp>
      <p:sp>
        <p:nvSpPr>
          <p:cNvPr id="76" name="Shape 74">
            <a:extLst>
              <a:ext uri="{FF2B5EF4-FFF2-40B4-BE49-F238E27FC236}">
                <a16:creationId xmlns:a16="http://schemas.microsoft.com/office/drawing/2014/main" id="{32B5ECBE-4347-4CC2-B696-2A9C9F180DF4}"/>
              </a:ext>
            </a:extLst>
          </p:cNvPr>
          <p:cNvSpPr>
            <a:spLocks noGrp="1"/>
          </p:cNvSpPr>
          <p:nvPr/>
        </p:nvSpPr>
        <p:spPr>
          <a:xfrm>
            <a:off x="6922008" y="5047488"/>
            <a:ext cx="4681728" cy="502920"/>
          </a:xfrm>
          <a:prstGeom prst="rect">
            <a:avLst/>
          </a:prstGeom>
          <a:solidFill>
            <a:srgbClr val="F8FAFC"/>
          </a:solidFill>
          <a:ln w="8890">
            <a:solidFill>
              <a:srgbClr val="EEF1F5"/>
            </a:solidFill>
            <a:prstDash val="solid"/>
          </a:ln>
        </p:spPr>
        <p:txBody>
          <a:bodyPr/>
          <a:lstStyle/>
          <a:p>
            <a:endParaRPr/>
          </a:p>
        </p:txBody>
      </p:sp>
      <p:sp>
        <p:nvSpPr>
          <p:cNvPr id="77" name="Text 75">
            <a:extLst>
              <a:ext uri="{FF2B5EF4-FFF2-40B4-BE49-F238E27FC236}">
                <a16:creationId xmlns:a16="http://schemas.microsoft.com/office/drawing/2014/main" id="{5AC81830-614D-40FB-A934-B912115791BE}"/>
              </a:ext>
            </a:extLst>
          </p:cNvPr>
          <p:cNvSpPr>
            <a:spLocks noGrp="1"/>
          </p:cNvSpPr>
          <p:nvPr/>
        </p:nvSpPr>
        <p:spPr>
          <a:xfrm>
            <a:off x="6976872" y="50794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配車側の目安。最終費用の誤差ではない</a:t>
            </a:r>
            <a:endParaRPr sz="1260"/>
          </a:p>
        </p:txBody>
      </p:sp>
      <p:sp>
        <p:nvSpPr>
          <p:cNvPr id="78" name="Shape 76">
            <a:extLst>
              <a:ext uri="{FF2B5EF4-FFF2-40B4-BE49-F238E27FC236}">
                <a16:creationId xmlns:a16="http://schemas.microsoft.com/office/drawing/2014/main" id="{28D7C953-5FF2-4676-A67F-C4C522AD224E}"/>
              </a:ext>
            </a:extLst>
          </p:cNvPr>
          <p:cNvSpPr>
            <a:spLocks noGrp="1"/>
          </p:cNvSpPr>
          <p:nvPr/>
        </p:nvSpPr>
        <p:spPr>
          <a:xfrm>
            <a:off x="566928" y="5550408"/>
            <a:ext cx="2057400" cy="502920"/>
          </a:xfrm>
          <a:prstGeom prst="rect">
            <a:avLst/>
          </a:prstGeom>
          <a:solidFill>
            <a:srgbClr val="FFFFFF"/>
          </a:solidFill>
          <a:ln w="8890">
            <a:solidFill>
              <a:srgbClr val="EEF1F5"/>
            </a:solidFill>
            <a:prstDash val="solid"/>
          </a:ln>
        </p:spPr>
        <p:txBody>
          <a:bodyPr/>
          <a:lstStyle/>
          <a:p>
            <a:endParaRPr/>
          </a:p>
        </p:txBody>
      </p:sp>
      <p:sp>
        <p:nvSpPr>
          <p:cNvPr id="79" name="Text 77">
            <a:extLst>
              <a:ext uri="{FF2B5EF4-FFF2-40B4-BE49-F238E27FC236}">
                <a16:creationId xmlns:a16="http://schemas.microsoft.com/office/drawing/2014/main" id="{8666370D-49B1-4B9D-85A7-05C5153D27E9}"/>
              </a:ext>
            </a:extLst>
          </p:cNvPr>
          <p:cNvSpPr>
            <a:spLocks noGrp="1"/>
          </p:cNvSpPr>
          <p:nvPr/>
        </p:nvSpPr>
        <p:spPr>
          <a:xfrm>
            <a:off x="621792" y="55824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検算</a:t>
            </a:r>
            <a:endParaRPr sz="1260"/>
          </a:p>
        </p:txBody>
      </p:sp>
      <p:sp>
        <p:nvSpPr>
          <p:cNvPr id="80" name="Shape 78">
            <a:extLst>
              <a:ext uri="{FF2B5EF4-FFF2-40B4-BE49-F238E27FC236}">
                <a16:creationId xmlns:a16="http://schemas.microsoft.com/office/drawing/2014/main" id="{CD1E3BFB-B6AC-4983-8989-7107CE179541}"/>
              </a:ext>
            </a:extLst>
          </p:cNvPr>
          <p:cNvSpPr>
            <a:spLocks noGrp="1"/>
          </p:cNvSpPr>
          <p:nvPr/>
        </p:nvSpPr>
        <p:spPr>
          <a:xfrm>
            <a:off x="2624328" y="5550408"/>
            <a:ext cx="2148840" cy="502920"/>
          </a:xfrm>
          <a:prstGeom prst="rect">
            <a:avLst/>
          </a:prstGeom>
          <a:solidFill>
            <a:srgbClr val="FFFFFF"/>
          </a:solidFill>
          <a:ln w="8890">
            <a:solidFill>
              <a:srgbClr val="EEF1F5"/>
            </a:solidFill>
            <a:prstDash val="solid"/>
          </a:ln>
        </p:spPr>
        <p:txBody>
          <a:bodyPr/>
          <a:lstStyle/>
          <a:p>
            <a:endParaRPr/>
          </a:p>
        </p:txBody>
      </p:sp>
      <p:sp>
        <p:nvSpPr>
          <p:cNvPr id="81" name="Text 79">
            <a:extLst>
              <a:ext uri="{FF2B5EF4-FFF2-40B4-BE49-F238E27FC236}">
                <a16:creationId xmlns:a16="http://schemas.microsoft.com/office/drawing/2014/main" id="{062E4B78-E8CE-46DF-A311-032D73DFFD94}"/>
              </a:ext>
            </a:extLst>
          </p:cNvPr>
          <p:cNvSpPr>
            <a:spLocks noGrp="1"/>
          </p:cNvSpPr>
          <p:nvPr/>
        </p:nvSpPr>
        <p:spPr>
          <a:xfrm>
            <a:off x="267919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2" name="Shape 80">
            <a:extLst>
              <a:ext uri="{FF2B5EF4-FFF2-40B4-BE49-F238E27FC236}">
                <a16:creationId xmlns:a16="http://schemas.microsoft.com/office/drawing/2014/main" id="{BE39CAEC-65F9-48C9-9283-15D79E1553E1}"/>
              </a:ext>
            </a:extLst>
          </p:cNvPr>
          <p:cNvSpPr>
            <a:spLocks noGrp="1"/>
          </p:cNvSpPr>
          <p:nvPr/>
        </p:nvSpPr>
        <p:spPr>
          <a:xfrm>
            <a:off x="4773168" y="5550408"/>
            <a:ext cx="2148840" cy="502920"/>
          </a:xfrm>
          <a:prstGeom prst="rect">
            <a:avLst/>
          </a:prstGeom>
          <a:solidFill>
            <a:srgbClr val="FFFFFF"/>
          </a:solidFill>
          <a:ln w="8890">
            <a:solidFill>
              <a:srgbClr val="EEF1F5"/>
            </a:solidFill>
            <a:prstDash val="solid"/>
          </a:ln>
        </p:spPr>
        <p:txBody>
          <a:bodyPr/>
          <a:lstStyle/>
          <a:p>
            <a:endParaRPr/>
          </a:p>
        </p:txBody>
      </p:sp>
      <p:sp>
        <p:nvSpPr>
          <p:cNvPr id="83" name="Text 81">
            <a:extLst>
              <a:ext uri="{FF2B5EF4-FFF2-40B4-BE49-F238E27FC236}">
                <a16:creationId xmlns:a16="http://schemas.microsoft.com/office/drawing/2014/main" id="{60FF258E-DE8B-4481-92FF-FFE7A490D83E}"/>
              </a:ext>
            </a:extLst>
          </p:cNvPr>
          <p:cNvSpPr>
            <a:spLocks noGrp="1"/>
          </p:cNvSpPr>
          <p:nvPr/>
        </p:nvSpPr>
        <p:spPr>
          <a:xfrm>
            <a:off x="482803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4" name="Shape 82">
            <a:extLst>
              <a:ext uri="{FF2B5EF4-FFF2-40B4-BE49-F238E27FC236}">
                <a16:creationId xmlns:a16="http://schemas.microsoft.com/office/drawing/2014/main" id="{1A5A6CE0-EA6E-4268-8305-1DE03FF403E4}"/>
              </a:ext>
            </a:extLst>
          </p:cNvPr>
          <p:cNvSpPr>
            <a:spLocks noGrp="1"/>
          </p:cNvSpPr>
          <p:nvPr/>
        </p:nvSpPr>
        <p:spPr>
          <a:xfrm>
            <a:off x="6922008" y="5550408"/>
            <a:ext cx="4681728" cy="502920"/>
          </a:xfrm>
          <a:prstGeom prst="rect">
            <a:avLst/>
          </a:prstGeom>
          <a:solidFill>
            <a:srgbClr val="FFFFFF"/>
          </a:solidFill>
          <a:ln w="8890">
            <a:solidFill>
              <a:srgbClr val="EEF1F5"/>
            </a:solidFill>
            <a:prstDash val="solid"/>
          </a:ln>
        </p:spPr>
        <p:txBody>
          <a:bodyPr/>
          <a:lstStyle/>
          <a:p>
            <a:endParaRPr/>
          </a:p>
        </p:txBody>
      </p:sp>
      <p:sp>
        <p:nvSpPr>
          <p:cNvPr id="85" name="Text 83">
            <a:extLst>
              <a:ext uri="{FF2B5EF4-FFF2-40B4-BE49-F238E27FC236}">
                <a16:creationId xmlns:a16="http://schemas.microsoft.com/office/drawing/2014/main" id="{9AE6E848-9078-4989-AF6A-353104852227}"/>
              </a:ext>
            </a:extLst>
          </p:cNvPr>
          <p:cNvSpPr>
            <a:spLocks noGrp="1"/>
          </p:cNvSpPr>
          <p:nvPr/>
        </p:nvSpPr>
        <p:spPr>
          <a:xfrm>
            <a:off x="6976872" y="55824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旧検証PASS。SOC上限は不一致</a:t>
            </a:r>
            <a:endParaRPr sz="1260"/>
          </a:p>
        </p:txBody>
      </p:sp>
      <p:sp>
        <p:nvSpPr>
          <p:cNvPr id="86" name="Shape 84">
            <a:extLst>
              <a:ext uri="{FF2B5EF4-FFF2-40B4-BE49-F238E27FC236}">
                <a16:creationId xmlns:a16="http://schemas.microsoft.com/office/drawing/2014/main" id="{BE16A918-0B63-416D-9C5F-7087F6BB48DB}"/>
              </a:ext>
            </a:extLst>
          </p:cNvPr>
          <p:cNvSpPr>
            <a:spLocks noGrp="1"/>
          </p:cNvSpPr>
          <p:nvPr/>
        </p:nvSpPr>
        <p:spPr>
          <a:xfrm>
            <a:off x="1033272" y="6016752"/>
            <a:ext cx="10149840" cy="310896"/>
          </a:xfrm>
          <a:prstGeom prst="roundRect">
            <a:avLst/>
          </a:prstGeom>
          <a:solidFill>
            <a:srgbClr val="E8F6F3"/>
          </a:solidFill>
          <a:ln w="11430">
            <a:solidFill>
              <a:srgbClr val="1F9D8A"/>
            </a:solidFill>
            <a:prstDash val="solid"/>
          </a:ln>
        </p:spPr>
        <p:txBody>
          <a:bodyPr/>
          <a:lstStyle/>
          <a:p>
            <a:endParaRPr/>
          </a:p>
        </p:txBody>
      </p:sp>
      <p:sp>
        <p:nvSpPr>
          <p:cNvPr id="87" name="Text 85">
            <a:extLst>
              <a:ext uri="{FF2B5EF4-FFF2-40B4-BE49-F238E27FC236}">
                <a16:creationId xmlns:a16="http://schemas.microsoft.com/office/drawing/2014/main" id="{6651702A-CE23-4BFE-AC86-6CCA22AA863A}"/>
              </a:ext>
            </a:extLst>
          </p:cNvPr>
          <p:cNvSpPr>
            <a:spLocks noGrp="1"/>
          </p:cNvSpPr>
          <p:nvPr/>
        </p:nvSpPr>
        <p:spPr>
          <a:xfrm>
            <a:off x="1234440" y="6071616"/>
            <a:ext cx="9738360" cy="201168"/>
          </a:xfrm>
          <a:prstGeom prst="rect">
            <a:avLst/>
          </a:prstGeom>
          <a:noFill/>
        </p:spPr>
        <p:txBody>
          <a:bodyPr wrap="square" lIns="0" tIns="0" rIns="0" bIns="0" anchor="ctr"/>
          <a:lstStyle/>
          <a:p>
            <a:pPr marL="0" indent="0" algn="ctr">
              <a:buNone/>
            </a:pPr>
            <a:r>
              <a:rPr sz="1480" b="1">
                <a:solidFill>
                  <a:srgbClr val="1F9D8A"/>
                </a:solidFill>
                <a:latin typeface="Noto Sans CJK JP"/>
                <a:ea typeface="Noto Sans CJK JP"/>
                <a:cs typeface="Noto Sans CJK JP"/>
              </a:rPr>
              <a:t>訂正：保存結果は診断用。SOC上限を修正し、新しい実験で再検証する。</a:t>
            </a:r>
            <a:endParaRPr sz="1480"/>
          </a:p>
        </p:txBody>
      </p:sp>
      <p:sp>
        <p:nvSpPr>
          <p:cNvPr id="88" name="正方形/長方形 87">
            <a:extLst>
              <a:ext uri="{FF2B5EF4-FFF2-40B4-BE49-F238E27FC236}">
                <a16:creationId xmlns:a16="http://schemas.microsoft.com/office/drawing/2014/main" id="{3AFF115B-4670-4C0F-A2CC-4BAAF5EF7D2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98074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3F8838-3849-4CD2-B5A7-6DC36581EC1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結果の信頼性：一日を進めながら24回見直し、最後に全体を検算</a:t>
            </a:r>
            <a:endParaRPr sz="2550"/>
          </a:p>
        </p:txBody>
      </p:sp>
      <p:sp>
        <p:nvSpPr>
          <p:cNvPr id="3" name="Shape 1">
            <a:extLst>
              <a:ext uri="{FF2B5EF4-FFF2-40B4-BE49-F238E27FC236}">
                <a16:creationId xmlns:a16="http://schemas.microsoft.com/office/drawing/2014/main" id="{381FD17C-0252-481D-9F55-24D6FF1859B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E5D9BCF-2420-43F9-9B14-8C165758301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EDE350F3-5610-4EE7-A242-4208A9A548B9}"/>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15/18</a:t>
            </a:r>
            <a:endParaRPr sz="850"/>
          </a:p>
        </p:txBody>
      </p:sp>
      <p:sp>
        <p:nvSpPr>
          <p:cNvPr id="6" name="Text 4">
            <a:extLst>
              <a:ext uri="{FF2B5EF4-FFF2-40B4-BE49-F238E27FC236}">
                <a16:creationId xmlns:a16="http://schemas.microsoft.com/office/drawing/2014/main" id="{4BEDB73E-29BD-4ECA-B681-10D9DB59AE16}"/>
              </a:ext>
            </a:extLst>
          </p:cNvPr>
          <p:cNvSpPr>
            <a:spLocks noGrp="1"/>
          </p:cNvSpPr>
          <p:nvPr/>
        </p:nvSpPr>
        <p:spPr>
          <a:xfrm>
            <a:off x="685800" y="914400"/>
            <a:ext cx="10835640" cy="329184"/>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「朝に作った計画をそのまま使う」のではなく、1時間ごとに残り時間の充電計画を更新する。</a:t>
            </a:r>
            <a:endParaRPr sz="1800"/>
          </a:p>
        </p:txBody>
      </p:sp>
      <p:sp>
        <p:nvSpPr>
          <p:cNvPr id="7" name="Shape 5">
            <a:extLst>
              <a:ext uri="{FF2B5EF4-FFF2-40B4-BE49-F238E27FC236}">
                <a16:creationId xmlns:a16="http://schemas.microsoft.com/office/drawing/2014/main" id="{563C2B73-C529-47E3-B5FA-A27E15EFD588}"/>
              </a:ext>
            </a:extLst>
          </p:cNvPr>
          <p:cNvSpPr>
            <a:spLocks noGrp="1"/>
          </p:cNvSpPr>
          <p:nvPr/>
        </p:nvSpPr>
        <p:spPr>
          <a:xfrm>
            <a:off x="914400" y="1965960"/>
            <a:ext cx="10149840" cy="0"/>
          </a:xfrm>
          <a:prstGeom prst="line">
            <a:avLst/>
          </a:prstGeom>
          <a:noFill/>
          <a:ln w="38100">
            <a:solidFill>
              <a:srgbClr val="356BB3"/>
            </a:solidFill>
            <a:prstDash val="solid"/>
          </a:ln>
        </p:spPr>
        <p:txBody>
          <a:bodyPr/>
          <a:lstStyle/>
          <a:p>
            <a:endParaRPr/>
          </a:p>
        </p:txBody>
      </p:sp>
      <p:sp>
        <p:nvSpPr>
          <p:cNvPr id="8" name="Shape 6">
            <a:extLst>
              <a:ext uri="{FF2B5EF4-FFF2-40B4-BE49-F238E27FC236}">
                <a16:creationId xmlns:a16="http://schemas.microsoft.com/office/drawing/2014/main" id="{871C5A2D-1F8B-46A7-819C-B405EC3B391A}"/>
              </a:ext>
            </a:extLst>
          </p:cNvPr>
          <p:cNvSpPr>
            <a:spLocks noGrp="1"/>
          </p:cNvSpPr>
          <p:nvPr/>
        </p:nvSpPr>
        <p:spPr>
          <a:xfrm>
            <a:off x="804672" y="1856232"/>
            <a:ext cx="219456" cy="219456"/>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F216EB68-7D40-4268-9555-ECD673CDAB9B}"/>
              </a:ext>
            </a:extLst>
          </p:cNvPr>
          <p:cNvSpPr>
            <a:spLocks noGrp="1"/>
          </p:cNvSpPr>
          <p:nvPr/>
        </p:nvSpPr>
        <p:spPr>
          <a:xfrm>
            <a:off x="59436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00:00</a:t>
            </a:r>
            <a:endParaRPr sz="1100"/>
          </a:p>
        </p:txBody>
      </p:sp>
      <p:sp>
        <p:nvSpPr>
          <p:cNvPr id="10" name="Shape 8">
            <a:extLst>
              <a:ext uri="{FF2B5EF4-FFF2-40B4-BE49-F238E27FC236}">
                <a16:creationId xmlns:a16="http://schemas.microsoft.com/office/drawing/2014/main" id="{75C170B5-3CC9-4DFC-8DFB-CDCD4A91444E}"/>
              </a:ext>
            </a:extLst>
          </p:cNvPr>
          <p:cNvSpPr>
            <a:spLocks noGrp="1"/>
          </p:cNvSpPr>
          <p:nvPr/>
        </p:nvSpPr>
        <p:spPr>
          <a:xfrm>
            <a:off x="3342132" y="1856232"/>
            <a:ext cx="219456" cy="219456"/>
          </a:xfrm>
          <a:prstGeom prst="ellipse">
            <a:avLst/>
          </a:prstGeom>
          <a:solidFill>
            <a:srgbClr val="356BB3"/>
          </a:solidFill>
          <a:ln w="12700">
            <a:solidFill>
              <a:srgbClr val="FFFFFF"/>
            </a:solidFill>
            <a:prstDash val="solid"/>
          </a:ln>
        </p:spPr>
        <p:txBody>
          <a:bodyPr/>
          <a:lstStyle/>
          <a:p>
            <a:endParaRPr/>
          </a:p>
        </p:txBody>
      </p:sp>
      <p:sp>
        <p:nvSpPr>
          <p:cNvPr id="11" name="Text 9">
            <a:extLst>
              <a:ext uri="{FF2B5EF4-FFF2-40B4-BE49-F238E27FC236}">
                <a16:creationId xmlns:a16="http://schemas.microsoft.com/office/drawing/2014/main" id="{06690D15-2CE7-408B-BB4C-C5A75FF14E4A}"/>
              </a:ext>
            </a:extLst>
          </p:cNvPr>
          <p:cNvSpPr>
            <a:spLocks noGrp="1"/>
          </p:cNvSpPr>
          <p:nvPr/>
        </p:nvSpPr>
        <p:spPr>
          <a:xfrm>
            <a:off x="313182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06:00</a:t>
            </a:r>
            <a:endParaRPr sz="1100"/>
          </a:p>
        </p:txBody>
      </p:sp>
      <p:sp>
        <p:nvSpPr>
          <p:cNvPr id="12" name="Shape 10">
            <a:extLst>
              <a:ext uri="{FF2B5EF4-FFF2-40B4-BE49-F238E27FC236}">
                <a16:creationId xmlns:a16="http://schemas.microsoft.com/office/drawing/2014/main" id="{78ACFD35-0C79-4A02-8DED-9258D1798DC9}"/>
              </a:ext>
            </a:extLst>
          </p:cNvPr>
          <p:cNvSpPr>
            <a:spLocks noGrp="1"/>
          </p:cNvSpPr>
          <p:nvPr/>
        </p:nvSpPr>
        <p:spPr>
          <a:xfrm>
            <a:off x="5879592" y="1856232"/>
            <a:ext cx="219456" cy="219456"/>
          </a:xfrm>
          <a:prstGeom prst="ellipse">
            <a:avLst/>
          </a:prstGeom>
          <a:solidFill>
            <a:srgbClr val="356BB3"/>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F04A0C31-7EB6-49B0-8E9B-B5EF046FB294}"/>
              </a:ext>
            </a:extLst>
          </p:cNvPr>
          <p:cNvSpPr>
            <a:spLocks noGrp="1"/>
          </p:cNvSpPr>
          <p:nvPr/>
        </p:nvSpPr>
        <p:spPr>
          <a:xfrm>
            <a:off x="566928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12:00</a:t>
            </a:r>
            <a:endParaRPr sz="1100"/>
          </a:p>
        </p:txBody>
      </p:sp>
      <p:sp>
        <p:nvSpPr>
          <p:cNvPr id="14" name="Shape 12">
            <a:extLst>
              <a:ext uri="{FF2B5EF4-FFF2-40B4-BE49-F238E27FC236}">
                <a16:creationId xmlns:a16="http://schemas.microsoft.com/office/drawing/2014/main" id="{4916206F-E6F7-4449-BF37-DC832AFAFDBD}"/>
              </a:ext>
            </a:extLst>
          </p:cNvPr>
          <p:cNvSpPr>
            <a:spLocks noGrp="1"/>
          </p:cNvSpPr>
          <p:nvPr/>
        </p:nvSpPr>
        <p:spPr>
          <a:xfrm>
            <a:off x="8417052" y="1856232"/>
            <a:ext cx="219456" cy="219456"/>
          </a:xfrm>
          <a:prstGeom prst="ellipse">
            <a:avLst/>
          </a:prstGeom>
          <a:solidFill>
            <a:srgbClr val="356BB3"/>
          </a:solidFill>
          <a:ln w="12700">
            <a:solidFill>
              <a:srgbClr val="FFFFFF"/>
            </a:solidFill>
            <a:prstDash val="solid"/>
          </a:ln>
        </p:spPr>
        <p:txBody>
          <a:bodyPr/>
          <a:lstStyle/>
          <a:p>
            <a:endParaRPr/>
          </a:p>
        </p:txBody>
      </p:sp>
      <p:sp>
        <p:nvSpPr>
          <p:cNvPr id="15" name="Text 13">
            <a:extLst>
              <a:ext uri="{FF2B5EF4-FFF2-40B4-BE49-F238E27FC236}">
                <a16:creationId xmlns:a16="http://schemas.microsoft.com/office/drawing/2014/main" id="{0C9E7432-5959-4374-BC10-B759CA2B1F1E}"/>
              </a:ext>
            </a:extLst>
          </p:cNvPr>
          <p:cNvSpPr>
            <a:spLocks noGrp="1"/>
          </p:cNvSpPr>
          <p:nvPr/>
        </p:nvSpPr>
        <p:spPr>
          <a:xfrm>
            <a:off x="820674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18:00</a:t>
            </a:r>
            <a:endParaRPr sz="1100"/>
          </a:p>
        </p:txBody>
      </p:sp>
      <p:sp>
        <p:nvSpPr>
          <p:cNvPr id="16" name="Shape 14">
            <a:extLst>
              <a:ext uri="{FF2B5EF4-FFF2-40B4-BE49-F238E27FC236}">
                <a16:creationId xmlns:a16="http://schemas.microsoft.com/office/drawing/2014/main" id="{D1785A28-061A-476B-B18A-E232CFFE0862}"/>
              </a:ext>
            </a:extLst>
          </p:cNvPr>
          <p:cNvSpPr>
            <a:spLocks noGrp="1"/>
          </p:cNvSpPr>
          <p:nvPr/>
        </p:nvSpPr>
        <p:spPr>
          <a:xfrm>
            <a:off x="10954512" y="1856232"/>
            <a:ext cx="219456" cy="219456"/>
          </a:xfrm>
          <a:prstGeom prst="ellipse">
            <a:avLst/>
          </a:prstGeom>
          <a:solidFill>
            <a:srgbClr val="356BB3"/>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0FFEB057-DED1-4E4D-A902-0C8E20F23817}"/>
              </a:ext>
            </a:extLst>
          </p:cNvPr>
          <p:cNvSpPr>
            <a:spLocks noGrp="1"/>
          </p:cNvSpPr>
          <p:nvPr/>
        </p:nvSpPr>
        <p:spPr>
          <a:xfrm>
            <a:off x="1074420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24:00</a:t>
            </a:r>
            <a:endParaRPr sz="1100"/>
          </a:p>
        </p:txBody>
      </p:sp>
      <p:sp>
        <p:nvSpPr>
          <p:cNvPr id="18" name="Shape 16">
            <a:extLst>
              <a:ext uri="{FF2B5EF4-FFF2-40B4-BE49-F238E27FC236}">
                <a16:creationId xmlns:a16="http://schemas.microsoft.com/office/drawing/2014/main" id="{2C17AA41-D8DE-498B-9337-D4FBB960C98B}"/>
              </a:ext>
            </a:extLst>
          </p:cNvPr>
          <p:cNvSpPr>
            <a:spLocks noGrp="1"/>
          </p:cNvSpPr>
          <p:nvPr/>
        </p:nvSpPr>
        <p:spPr>
          <a:xfrm>
            <a:off x="1125855" y="1792224"/>
            <a:ext cx="0" cy="155448"/>
          </a:xfrm>
          <a:prstGeom prst="line">
            <a:avLst/>
          </a:prstGeom>
          <a:noFill/>
          <a:ln w="17780">
            <a:solidFill>
              <a:srgbClr val="1F9D8A"/>
            </a:solidFill>
            <a:prstDash val="solid"/>
          </a:ln>
        </p:spPr>
        <p:txBody>
          <a:bodyPr/>
          <a:lstStyle/>
          <a:p>
            <a:endParaRPr/>
          </a:p>
        </p:txBody>
      </p:sp>
      <p:sp>
        <p:nvSpPr>
          <p:cNvPr id="19" name="Shape 17">
            <a:extLst>
              <a:ext uri="{FF2B5EF4-FFF2-40B4-BE49-F238E27FC236}">
                <a16:creationId xmlns:a16="http://schemas.microsoft.com/office/drawing/2014/main" id="{E0D33716-F33C-4570-BEFE-21EB8FB0BA4D}"/>
              </a:ext>
            </a:extLst>
          </p:cNvPr>
          <p:cNvSpPr>
            <a:spLocks noGrp="1"/>
          </p:cNvSpPr>
          <p:nvPr/>
        </p:nvSpPr>
        <p:spPr>
          <a:xfrm>
            <a:off x="1548765" y="1792224"/>
            <a:ext cx="0" cy="155448"/>
          </a:xfrm>
          <a:prstGeom prst="line">
            <a:avLst/>
          </a:prstGeom>
          <a:noFill/>
          <a:ln w="17780">
            <a:solidFill>
              <a:srgbClr val="5B8FD3"/>
            </a:solidFill>
            <a:prstDash val="solid"/>
          </a:ln>
        </p:spPr>
        <p:txBody>
          <a:bodyPr/>
          <a:lstStyle/>
          <a:p>
            <a:endParaRPr/>
          </a:p>
        </p:txBody>
      </p:sp>
      <p:sp>
        <p:nvSpPr>
          <p:cNvPr id="20" name="Shape 18">
            <a:extLst>
              <a:ext uri="{FF2B5EF4-FFF2-40B4-BE49-F238E27FC236}">
                <a16:creationId xmlns:a16="http://schemas.microsoft.com/office/drawing/2014/main" id="{D96102B4-B705-47FD-ABF1-E69983B323AD}"/>
              </a:ext>
            </a:extLst>
          </p:cNvPr>
          <p:cNvSpPr>
            <a:spLocks noGrp="1"/>
          </p:cNvSpPr>
          <p:nvPr/>
        </p:nvSpPr>
        <p:spPr>
          <a:xfrm>
            <a:off x="1971675" y="1792224"/>
            <a:ext cx="0" cy="155448"/>
          </a:xfrm>
          <a:prstGeom prst="line">
            <a:avLst/>
          </a:prstGeom>
          <a:noFill/>
          <a:ln w="17780">
            <a:solidFill>
              <a:srgbClr val="1F9D8A"/>
            </a:solidFill>
            <a:prstDash val="solid"/>
          </a:ln>
        </p:spPr>
        <p:txBody>
          <a:bodyPr/>
          <a:lstStyle/>
          <a:p>
            <a:endParaRPr/>
          </a:p>
        </p:txBody>
      </p:sp>
      <p:sp>
        <p:nvSpPr>
          <p:cNvPr id="21" name="Shape 19">
            <a:extLst>
              <a:ext uri="{FF2B5EF4-FFF2-40B4-BE49-F238E27FC236}">
                <a16:creationId xmlns:a16="http://schemas.microsoft.com/office/drawing/2014/main" id="{34C370A0-8E1D-4658-9F91-716DF9A05DA4}"/>
              </a:ext>
            </a:extLst>
          </p:cNvPr>
          <p:cNvSpPr>
            <a:spLocks noGrp="1"/>
          </p:cNvSpPr>
          <p:nvPr/>
        </p:nvSpPr>
        <p:spPr>
          <a:xfrm>
            <a:off x="2394585" y="1792224"/>
            <a:ext cx="0" cy="155448"/>
          </a:xfrm>
          <a:prstGeom prst="line">
            <a:avLst/>
          </a:prstGeom>
          <a:noFill/>
          <a:ln w="17780">
            <a:solidFill>
              <a:srgbClr val="5B8FD3"/>
            </a:solidFill>
            <a:prstDash val="solid"/>
          </a:ln>
        </p:spPr>
        <p:txBody>
          <a:bodyPr/>
          <a:lstStyle/>
          <a:p>
            <a:endParaRPr/>
          </a:p>
        </p:txBody>
      </p:sp>
      <p:sp>
        <p:nvSpPr>
          <p:cNvPr id="22" name="Shape 20">
            <a:extLst>
              <a:ext uri="{FF2B5EF4-FFF2-40B4-BE49-F238E27FC236}">
                <a16:creationId xmlns:a16="http://schemas.microsoft.com/office/drawing/2014/main" id="{70BC5DF3-C130-4253-9352-369EB56A1EC3}"/>
              </a:ext>
            </a:extLst>
          </p:cNvPr>
          <p:cNvSpPr>
            <a:spLocks noGrp="1"/>
          </p:cNvSpPr>
          <p:nvPr/>
        </p:nvSpPr>
        <p:spPr>
          <a:xfrm>
            <a:off x="2817495" y="1792224"/>
            <a:ext cx="0" cy="155448"/>
          </a:xfrm>
          <a:prstGeom prst="line">
            <a:avLst/>
          </a:prstGeom>
          <a:noFill/>
          <a:ln w="17780">
            <a:solidFill>
              <a:srgbClr val="1F9D8A"/>
            </a:solidFill>
            <a:prstDash val="solid"/>
          </a:ln>
        </p:spPr>
        <p:txBody>
          <a:bodyPr/>
          <a:lstStyle/>
          <a:p>
            <a:endParaRPr/>
          </a:p>
        </p:txBody>
      </p:sp>
      <p:sp>
        <p:nvSpPr>
          <p:cNvPr id="23" name="Shape 21">
            <a:extLst>
              <a:ext uri="{FF2B5EF4-FFF2-40B4-BE49-F238E27FC236}">
                <a16:creationId xmlns:a16="http://schemas.microsoft.com/office/drawing/2014/main" id="{83EC5EBC-4252-4412-82EA-2DF4A58004EA}"/>
              </a:ext>
            </a:extLst>
          </p:cNvPr>
          <p:cNvSpPr>
            <a:spLocks noGrp="1"/>
          </p:cNvSpPr>
          <p:nvPr/>
        </p:nvSpPr>
        <p:spPr>
          <a:xfrm>
            <a:off x="3240405" y="1792224"/>
            <a:ext cx="0" cy="155448"/>
          </a:xfrm>
          <a:prstGeom prst="line">
            <a:avLst/>
          </a:prstGeom>
          <a:noFill/>
          <a:ln w="17780">
            <a:solidFill>
              <a:srgbClr val="5B8FD3"/>
            </a:solidFill>
            <a:prstDash val="solid"/>
          </a:ln>
        </p:spPr>
        <p:txBody>
          <a:bodyPr/>
          <a:lstStyle/>
          <a:p>
            <a:endParaRPr/>
          </a:p>
        </p:txBody>
      </p:sp>
      <p:sp>
        <p:nvSpPr>
          <p:cNvPr id="24" name="Shape 22">
            <a:extLst>
              <a:ext uri="{FF2B5EF4-FFF2-40B4-BE49-F238E27FC236}">
                <a16:creationId xmlns:a16="http://schemas.microsoft.com/office/drawing/2014/main" id="{4F3EC16E-D11A-4DC8-AE28-F8291457F4E1}"/>
              </a:ext>
            </a:extLst>
          </p:cNvPr>
          <p:cNvSpPr>
            <a:spLocks noGrp="1"/>
          </p:cNvSpPr>
          <p:nvPr/>
        </p:nvSpPr>
        <p:spPr>
          <a:xfrm>
            <a:off x="3663315" y="1792224"/>
            <a:ext cx="0" cy="155448"/>
          </a:xfrm>
          <a:prstGeom prst="line">
            <a:avLst/>
          </a:prstGeom>
          <a:noFill/>
          <a:ln w="17780">
            <a:solidFill>
              <a:srgbClr val="1F9D8A"/>
            </a:solidFill>
            <a:prstDash val="solid"/>
          </a:ln>
        </p:spPr>
        <p:txBody>
          <a:bodyPr/>
          <a:lstStyle/>
          <a:p>
            <a:endParaRPr/>
          </a:p>
        </p:txBody>
      </p:sp>
      <p:sp>
        <p:nvSpPr>
          <p:cNvPr id="25" name="Shape 23">
            <a:extLst>
              <a:ext uri="{FF2B5EF4-FFF2-40B4-BE49-F238E27FC236}">
                <a16:creationId xmlns:a16="http://schemas.microsoft.com/office/drawing/2014/main" id="{9127A2D2-17BC-43F8-AB3D-F9004D341DC9}"/>
              </a:ext>
            </a:extLst>
          </p:cNvPr>
          <p:cNvSpPr>
            <a:spLocks noGrp="1"/>
          </p:cNvSpPr>
          <p:nvPr/>
        </p:nvSpPr>
        <p:spPr>
          <a:xfrm>
            <a:off x="4086225" y="1792224"/>
            <a:ext cx="0" cy="155448"/>
          </a:xfrm>
          <a:prstGeom prst="line">
            <a:avLst/>
          </a:prstGeom>
          <a:noFill/>
          <a:ln w="17780">
            <a:solidFill>
              <a:srgbClr val="5B8FD3"/>
            </a:solidFill>
            <a:prstDash val="solid"/>
          </a:ln>
        </p:spPr>
        <p:txBody>
          <a:bodyPr/>
          <a:lstStyle/>
          <a:p>
            <a:endParaRPr/>
          </a:p>
        </p:txBody>
      </p:sp>
      <p:sp>
        <p:nvSpPr>
          <p:cNvPr id="26" name="Shape 24">
            <a:extLst>
              <a:ext uri="{FF2B5EF4-FFF2-40B4-BE49-F238E27FC236}">
                <a16:creationId xmlns:a16="http://schemas.microsoft.com/office/drawing/2014/main" id="{F844AB68-DA1E-4303-8A3E-C8DA03A4463B}"/>
              </a:ext>
            </a:extLst>
          </p:cNvPr>
          <p:cNvSpPr>
            <a:spLocks noGrp="1"/>
          </p:cNvSpPr>
          <p:nvPr/>
        </p:nvSpPr>
        <p:spPr>
          <a:xfrm>
            <a:off x="4509135" y="1792224"/>
            <a:ext cx="0" cy="155448"/>
          </a:xfrm>
          <a:prstGeom prst="line">
            <a:avLst/>
          </a:prstGeom>
          <a:noFill/>
          <a:ln w="17780">
            <a:solidFill>
              <a:srgbClr val="1F9D8A"/>
            </a:solidFill>
            <a:prstDash val="solid"/>
          </a:ln>
        </p:spPr>
        <p:txBody>
          <a:bodyPr/>
          <a:lstStyle/>
          <a:p>
            <a:endParaRPr/>
          </a:p>
        </p:txBody>
      </p:sp>
      <p:sp>
        <p:nvSpPr>
          <p:cNvPr id="27" name="Shape 25">
            <a:extLst>
              <a:ext uri="{FF2B5EF4-FFF2-40B4-BE49-F238E27FC236}">
                <a16:creationId xmlns:a16="http://schemas.microsoft.com/office/drawing/2014/main" id="{DF9E933D-75CF-41FB-A9A0-FDF800626B57}"/>
              </a:ext>
            </a:extLst>
          </p:cNvPr>
          <p:cNvSpPr>
            <a:spLocks noGrp="1"/>
          </p:cNvSpPr>
          <p:nvPr/>
        </p:nvSpPr>
        <p:spPr>
          <a:xfrm>
            <a:off x="4932045" y="1792224"/>
            <a:ext cx="0" cy="155448"/>
          </a:xfrm>
          <a:prstGeom prst="line">
            <a:avLst/>
          </a:prstGeom>
          <a:noFill/>
          <a:ln w="17780">
            <a:solidFill>
              <a:srgbClr val="5B8FD3"/>
            </a:solidFill>
            <a:prstDash val="solid"/>
          </a:ln>
        </p:spPr>
        <p:txBody>
          <a:bodyPr/>
          <a:lstStyle/>
          <a:p>
            <a:endParaRPr/>
          </a:p>
        </p:txBody>
      </p:sp>
      <p:sp>
        <p:nvSpPr>
          <p:cNvPr id="28" name="Shape 26">
            <a:extLst>
              <a:ext uri="{FF2B5EF4-FFF2-40B4-BE49-F238E27FC236}">
                <a16:creationId xmlns:a16="http://schemas.microsoft.com/office/drawing/2014/main" id="{3E3AFBCB-5FC8-4621-AB30-6567CF21DD3C}"/>
              </a:ext>
            </a:extLst>
          </p:cNvPr>
          <p:cNvSpPr>
            <a:spLocks noGrp="1"/>
          </p:cNvSpPr>
          <p:nvPr/>
        </p:nvSpPr>
        <p:spPr>
          <a:xfrm>
            <a:off x="5354955" y="1792224"/>
            <a:ext cx="0" cy="155448"/>
          </a:xfrm>
          <a:prstGeom prst="line">
            <a:avLst/>
          </a:prstGeom>
          <a:noFill/>
          <a:ln w="17780">
            <a:solidFill>
              <a:srgbClr val="1F9D8A"/>
            </a:solidFill>
            <a:prstDash val="solid"/>
          </a:ln>
        </p:spPr>
        <p:txBody>
          <a:bodyPr/>
          <a:lstStyle/>
          <a:p>
            <a:endParaRPr/>
          </a:p>
        </p:txBody>
      </p:sp>
      <p:sp>
        <p:nvSpPr>
          <p:cNvPr id="29" name="Shape 27">
            <a:extLst>
              <a:ext uri="{FF2B5EF4-FFF2-40B4-BE49-F238E27FC236}">
                <a16:creationId xmlns:a16="http://schemas.microsoft.com/office/drawing/2014/main" id="{ABDCE523-8D43-4A24-8014-9551441FF337}"/>
              </a:ext>
            </a:extLst>
          </p:cNvPr>
          <p:cNvSpPr>
            <a:spLocks noGrp="1"/>
          </p:cNvSpPr>
          <p:nvPr/>
        </p:nvSpPr>
        <p:spPr>
          <a:xfrm>
            <a:off x="5777865" y="1792224"/>
            <a:ext cx="0" cy="155448"/>
          </a:xfrm>
          <a:prstGeom prst="line">
            <a:avLst/>
          </a:prstGeom>
          <a:noFill/>
          <a:ln w="17780">
            <a:solidFill>
              <a:srgbClr val="5B8FD3"/>
            </a:solidFill>
            <a:prstDash val="solid"/>
          </a:ln>
        </p:spPr>
        <p:txBody>
          <a:bodyPr/>
          <a:lstStyle/>
          <a:p>
            <a:endParaRPr/>
          </a:p>
        </p:txBody>
      </p:sp>
      <p:sp>
        <p:nvSpPr>
          <p:cNvPr id="30" name="Shape 28">
            <a:extLst>
              <a:ext uri="{FF2B5EF4-FFF2-40B4-BE49-F238E27FC236}">
                <a16:creationId xmlns:a16="http://schemas.microsoft.com/office/drawing/2014/main" id="{68417181-33E0-4C49-AE82-CAD573BC522B}"/>
              </a:ext>
            </a:extLst>
          </p:cNvPr>
          <p:cNvSpPr>
            <a:spLocks noGrp="1"/>
          </p:cNvSpPr>
          <p:nvPr/>
        </p:nvSpPr>
        <p:spPr>
          <a:xfrm>
            <a:off x="6200775" y="1792224"/>
            <a:ext cx="0" cy="155448"/>
          </a:xfrm>
          <a:prstGeom prst="line">
            <a:avLst/>
          </a:prstGeom>
          <a:noFill/>
          <a:ln w="17780">
            <a:solidFill>
              <a:srgbClr val="1F9D8A"/>
            </a:solidFill>
            <a:prstDash val="solid"/>
          </a:ln>
        </p:spPr>
        <p:txBody>
          <a:bodyPr/>
          <a:lstStyle/>
          <a:p>
            <a:endParaRPr/>
          </a:p>
        </p:txBody>
      </p:sp>
      <p:sp>
        <p:nvSpPr>
          <p:cNvPr id="31" name="Shape 29">
            <a:extLst>
              <a:ext uri="{FF2B5EF4-FFF2-40B4-BE49-F238E27FC236}">
                <a16:creationId xmlns:a16="http://schemas.microsoft.com/office/drawing/2014/main" id="{DC1F0A8E-097C-4A96-8170-103C8221412A}"/>
              </a:ext>
            </a:extLst>
          </p:cNvPr>
          <p:cNvSpPr>
            <a:spLocks noGrp="1"/>
          </p:cNvSpPr>
          <p:nvPr/>
        </p:nvSpPr>
        <p:spPr>
          <a:xfrm>
            <a:off x="6623685" y="1792224"/>
            <a:ext cx="0" cy="155448"/>
          </a:xfrm>
          <a:prstGeom prst="line">
            <a:avLst/>
          </a:prstGeom>
          <a:noFill/>
          <a:ln w="17780">
            <a:solidFill>
              <a:srgbClr val="5B8FD3"/>
            </a:solidFill>
            <a:prstDash val="solid"/>
          </a:ln>
        </p:spPr>
        <p:txBody>
          <a:bodyPr/>
          <a:lstStyle/>
          <a:p>
            <a:endParaRPr/>
          </a:p>
        </p:txBody>
      </p:sp>
      <p:sp>
        <p:nvSpPr>
          <p:cNvPr id="32" name="Shape 30">
            <a:extLst>
              <a:ext uri="{FF2B5EF4-FFF2-40B4-BE49-F238E27FC236}">
                <a16:creationId xmlns:a16="http://schemas.microsoft.com/office/drawing/2014/main" id="{DCBE8B02-1C65-4614-800B-5FC02F258095}"/>
              </a:ext>
            </a:extLst>
          </p:cNvPr>
          <p:cNvSpPr>
            <a:spLocks noGrp="1"/>
          </p:cNvSpPr>
          <p:nvPr/>
        </p:nvSpPr>
        <p:spPr>
          <a:xfrm>
            <a:off x="7046595" y="1792224"/>
            <a:ext cx="0" cy="155448"/>
          </a:xfrm>
          <a:prstGeom prst="line">
            <a:avLst/>
          </a:prstGeom>
          <a:noFill/>
          <a:ln w="17780">
            <a:solidFill>
              <a:srgbClr val="1F9D8A"/>
            </a:solidFill>
            <a:prstDash val="solid"/>
          </a:ln>
        </p:spPr>
        <p:txBody>
          <a:bodyPr/>
          <a:lstStyle/>
          <a:p>
            <a:endParaRPr/>
          </a:p>
        </p:txBody>
      </p:sp>
      <p:sp>
        <p:nvSpPr>
          <p:cNvPr id="33" name="Shape 31">
            <a:extLst>
              <a:ext uri="{FF2B5EF4-FFF2-40B4-BE49-F238E27FC236}">
                <a16:creationId xmlns:a16="http://schemas.microsoft.com/office/drawing/2014/main" id="{159ABA33-2FFC-4096-BC3F-26472C95EAA7}"/>
              </a:ext>
            </a:extLst>
          </p:cNvPr>
          <p:cNvSpPr>
            <a:spLocks noGrp="1"/>
          </p:cNvSpPr>
          <p:nvPr/>
        </p:nvSpPr>
        <p:spPr>
          <a:xfrm>
            <a:off x="7469505" y="1792224"/>
            <a:ext cx="0" cy="155448"/>
          </a:xfrm>
          <a:prstGeom prst="line">
            <a:avLst/>
          </a:prstGeom>
          <a:noFill/>
          <a:ln w="17780">
            <a:solidFill>
              <a:srgbClr val="5B8FD3"/>
            </a:solidFill>
            <a:prstDash val="solid"/>
          </a:ln>
        </p:spPr>
        <p:txBody>
          <a:bodyPr/>
          <a:lstStyle/>
          <a:p>
            <a:endParaRPr/>
          </a:p>
        </p:txBody>
      </p:sp>
      <p:sp>
        <p:nvSpPr>
          <p:cNvPr id="34" name="Shape 32">
            <a:extLst>
              <a:ext uri="{FF2B5EF4-FFF2-40B4-BE49-F238E27FC236}">
                <a16:creationId xmlns:a16="http://schemas.microsoft.com/office/drawing/2014/main" id="{9C5B9A19-ED55-44B9-875F-16CC4454CC8A}"/>
              </a:ext>
            </a:extLst>
          </p:cNvPr>
          <p:cNvSpPr>
            <a:spLocks noGrp="1"/>
          </p:cNvSpPr>
          <p:nvPr/>
        </p:nvSpPr>
        <p:spPr>
          <a:xfrm>
            <a:off x="7892415" y="1792224"/>
            <a:ext cx="0" cy="155448"/>
          </a:xfrm>
          <a:prstGeom prst="line">
            <a:avLst/>
          </a:prstGeom>
          <a:noFill/>
          <a:ln w="17780">
            <a:solidFill>
              <a:srgbClr val="1F9D8A"/>
            </a:solidFill>
            <a:prstDash val="solid"/>
          </a:ln>
        </p:spPr>
        <p:txBody>
          <a:bodyPr/>
          <a:lstStyle/>
          <a:p>
            <a:endParaRPr/>
          </a:p>
        </p:txBody>
      </p:sp>
      <p:sp>
        <p:nvSpPr>
          <p:cNvPr id="35" name="Shape 33">
            <a:extLst>
              <a:ext uri="{FF2B5EF4-FFF2-40B4-BE49-F238E27FC236}">
                <a16:creationId xmlns:a16="http://schemas.microsoft.com/office/drawing/2014/main" id="{E9FA5334-59D5-44D2-9D46-26C8D33E797D}"/>
              </a:ext>
            </a:extLst>
          </p:cNvPr>
          <p:cNvSpPr>
            <a:spLocks noGrp="1"/>
          </p:cNvSpPr>
          <p:nvPr/>
        </p:nvSpPr>
        <p:spPr>
          <a:xfrm>
            <a:off x="8315325" y="1792224"/>
            <a:ext cx="0" cy="155448"/>
          </a:xfrm>
          <a:prstGeom prst="line">
            <a:avLst/>
          </a:prstGeom>
          <a:noFill/>
          <a:ln w="17780">
            <a:solidFill>
              <a:srgbClr val="5B8FD3"/>
            </a:solidFill>
            <a:prstDash val="solid"/>
          </a:ln>
        </p:spPr>
        <p:txBody>
          <a:bodyPr/>
          <a:lstStyle/>
          <a:p>
            <a:endParaRPr/>
          </a:p>
        </p:txBody>
      </p:sp>
      <p:sp>
        <p:nvSpPr>
          <p:cNvPr id="36" name="Shape 34">
            <a:extLst>
              <a:ext uri="{FF2B5EF4-FFF2-40B4-BE49-F238E27FC236}">
                <a16:creationId xmlns:a16="http://schemas.microsoft.com/office/drawing/2014/main" id="{79664153-5284-45F1-9474-85DEF8382096}"/>
              </a:ext>
            </a:extLst>
          </p:cNvPr>
          <p:cNvSpPr>
            <a:spLocks noGrp="1"/>
          </p:cNvSpPr>
          <p:nvPr/>
        </p:nvSpPr>
        <p:spPr>
          <a:xfrm>
            <a:off x="8738235" y="1792224"/>
            <a:ext cx="0" cy="155448"/>
          </a:xfrm>
          <a:prstGeom prst="line">
            <a:avLst/>
          </a:prstGeom>
          <a:noFill/>
          <a:ln w="17780">
            <a:solidFill>
              <a:srgbClr val="1F9D8A"/>
            </a:solidFill>
            <a:prstDash val="solid"/>
          </a:ln>
        </p:spPr>
        <p:txBody>
          <a:bodyPr/>
          <a:lstStyle/>
          <a:p>
            <a:endParaRPr/>
          </a:p>
        </p:txBody>
      </p:sp>
      <p:sp>
        <p:nvSpPr>
          <p:cNvPr id="37" name="Shape 35">
            <a:extLst>
              <a:ext uri="{FF2B5EF4-FFF2-40B4-BE49-F238E27FC236}">
                <a16:creationId xmlns:a16="http://schemas.microsoft.com/office/drawing/2014/main" id="{00ED0461-B6AD-4FA5-992B-94578E86E02B}"/>
              </a:ext>
            </a:extLst>
          </p:cNvPr>
          <p:cNvSpPr>
            <a:spLocks noGrp="1"/>
          </p:cNvSpPr>
          <p:nvPr/>
        </p:nvSpPr>
        <p:spPr>
          <a:xfrm>
            <a:off x="9161145" y="1792224"/>
            <a:ext cx="0" cy="155448"/>
          </a:xfrm>
          <a:prstGeom prst="line">
            <a:avLst/>
          </a:prstGeom>
          <a:noFill/>
          <a:ln w="17780">
            <a:solidFill>
              <a:srgbClr val="5B8FD3"/>
            </a:solidFill>
            <a:prstDash val="solid"/>
          </a:ln>
        </p:spPr>
        <p:txBody>
          <a:bodyPr/>
          <a:lstStyle/>
          <a:p>
            <a:endParaRPr/>
          </a:p>
        </p:txBody>
      </p:sp>
      <p:sp>
        <p:nvSpPr>
          <p:cNvPr id="38" name="Shape 36">
            <a:extLst>
              <a:ext uri="{FF2B5EF4-FFF2-40B4-BE49-F238E27FC236}">
                <a16:creationId xmlns:a16="http://schemas.microsoft.com/office/drawing/2014/main" id="{656A5DB1-B214-42C7-9968-60EC3763497D}"/>
              </a:ext>
            </a:extLst>
          </p:cNvPr>
          <p:cNvSpPr>
            <a:spLocks noGrp="1"/>
          </p:cNvSpPr>
          <p:nvPr/>
        </p:nvSpPr>
        <p:spPr>
          <a:xfrm>
            <a:off x="9584055" y="1792224"/>
            <a:ext cx="0" cy="155448"/>
          </a:xfrm>
          <a:prstGeom prst="line">
            <a:avLst/>
          </a:prstGeom>
          <a:noFill/>
          <a:ln w="17780">
            <a:solidFill>
              <a:srgbClr val="1F9D8A"/>
            </a:solidFill>
            <a:prstDash val="solid"/>
          </a:ln>
        </p:spPr>
        <p:txBody>
          <a:bodyPr/>
          <a:lstStyle/>
          <a:p>
            <a:endParaRPr/>
          </a:p>
        </p:txBody>
      </p:sp>
      <p:sp>
        <p:nvSpPr>
          <p:cNvPr id="39" name="Shape 37">
            <a:extLst>
              <a:ext uri="{FF2B5EF4-FFF2-40B4-BE49-F238E27FC236}">
                <a16:creationId xmlns:a16="http://schemas.microsoft.com/office/drawing/2014/main" id="{574FB0CE-3B6D-4620-BF41-8FB76D8694EE}"/>
              </a:ext>
            </a:extLst>
          </p:cNvPr>
          <p:cNvSpPr>
            <a:spLocks noGrp="1"/>
          </p:cNvSpPr>
          <p:nvPr/>
        </p:nvSpPr>
        <p:spPr>
          <a:xfrm>
            <a:off x="10006965" y="1792224"/>
            <a:ext cx="0" cy="155448"/>
          </a:xfrm>
          <a:prstGeom prst="line">
            <a:avLst/>
          </a:prstGeom>
          <a:noFill/>
          <a:ln w="17780">
            <a:solidFill>
              <a:srgbClr val="5B8FD3"/>
            </a:solidFill>
            <a:prstDash val="solid"/>
          </a:ln>
        </p:spPr>
        <p:txBody>
          <a:bodyPr/>
          <a:lstStyle/>
          <a:p>
            <a:endParaRPr/>
          </a:p>
        </p:txBody>
      </p:sp>
      <p:sp>
        <p:nvSpPr>
          <p:cNvPr id="40" name="Shape 38">
            <a:extLst>
              <a:ext uri="{FF2B5EF4-FFF2-40B4-BE49-F238E27FC236}">
                <a16:creationId xmlns:a16="http://schemas.microsoft.com/office/drawing/2014/main" id="{655E3E57-DAFA-429E-AB0F-FD4D85C74FAC}"/>
              </a:ext>
            </a:extLst>
          </p:cNvPr>
          <p:cNvSpPr>
            <a:spLocks noGrp="1"/>
          </p:cNvSpPr>
          <p:nvPr/>
        </p:nvSpPr>
        <p:spPr>
          <a:xfrm>
            <a:off x="10429875" y="1792224"/>
            <a:ext cx="0" cy="155448"/>
          </a:xfrm>
          <a:prstGeom prst="line">
            <a:avLst/>
          </a:prstGeom>
          <a:noFill/>
          <a:ln w="17780">
            <a:solidFill>
              <a:srgbClr val="1F9D8A"/>
            </a:solidFill>
            <a:prstDash val="solid"/>
          </a:ln>
        </p:spPr>
        <p:txBody>
          <a:bodyPr/>
          <a:lstStyle/>
          <a:p>
            <a:endParaRPr/>
          </a:p>
        </p:txBody>
      </p:sp>
      <p:sp>
        <p:nvSpPr>
          <p:cNvPr id="41" name="Shape 39">
            <a:extLst>
              <a:ext uri="{FF2B5EF4-FFF2-40B4-BE49-F238E27FC236}">
                <a16:creationId xmlns:a16="http://schemas.microsoft.com/office/drawing/2014/main" id="{0D8EE0A7-C085-48EB-AC94-AF6F6335C4A9}"/>
              </a:ext>
            </a:extLst>
          </p:cNvPr>
          <p:cNvSpPr>
            <a:spLocks noGrp="1"/>
          </p:cNvSpPr>
          <p:nvPr/>
        </p:nvSpPr>
        <p:spPr>
          <a:xfrm>
            <a:off x="10852785" y="1792224"/>
            <a:ext cx="0" cy="155448"/>
          </a:xfrm>
          <a:prstGeom prst="line">
            <a:avLst/>
          </a:prstGeom>
          <a:noFill/>
          <a:ln w="17780">
            <a:solidFill>
              <a:srgbClr val="5B8FD3"/>
            </a:solidFill>
            <a:prstDash val="solid"/>
          </a:ln>
        </p:spPr>
        <p:txBody>
          <a:bodyPr/>
          <a:lstStyle/>
          <a:p>
            <a:endParaRPr/>
          </a:p>
        </p:txBody>
      </p:sp>
      <p:sp>
        <p:nvSpPr>
          <p:cNvPr id="42" name="Text 40">
            <a:extLst>
              <a:ext uri="{FF2B5EF4-FFF2-40B4-BE49-F238E27FC236}">
                <a16:creationId xmlns:a16="http://schemas.microsoft.com/office/drawing/2014/main" id="{32D17C5E-7080-4F4B-9E48-ADE2AF5C55B3}"/>
              </a:ext>
            </a:extLst>
          </p:cNvPr>
          <p:cNvSpPr>
            <a:spLocks noGrp="1"/>
          </p:cNvSpPr>
          <p:nvPr/>
        </p:nvSpPr>
        <p:spPr>
          <a:xfrm>
            <a:off x="4526280" y="1389888"/>
            <a:ext cx="3017520" cy="347472"/>
          </a:xfrm>
          <a:prstGeom prst="rect">
            <a:avLst/>
          </a:prstGeom>
          <a:noFill/>
        </p:spPr>
        <p:txBody>
          <a:bodyPr wrap="square" lIns="0" tIns="0" rIns="0" bIns="0" anchor="ctr"/>
          <a:lstStyle/>
          <a:p>
            <a:pPr marL="0" indent="0" algn="ctr">
              <a:buNone/>
            </a:pPr>
            <a:r>
              <a:rPr sz="2200" b="1">
                <a:solidFill>
                  <a:srgbClr val="3B8D5A"/>
                </a:solidFill>
                <a:latin typeface="Noto Sans CJK JP"/>
                <a:ea typeface="Noto Sans CJK JP"/>
                <a:cs typeface="Noto Sans CJK JP"/>
              </a:rPr>
              <a:t>旧検証は24回通過</a:t>
            </a:r>
            <a:endParaRPr sz="2200"/>
          </a:p>
        </p:txBody>
      </p:sp>
      <p:sp>
        <p:nvSpPr>
          <p:cNvPr id="43" name="Shape 41">
            <a:extLst>
              <a:ext uri="{FF2B5EF4-FFF2-40B4-BE49-F238E27FC236}">
                <a16:creationId xmlns:a16="http://schemas.microsoft.com/office/drawing/2014/main" id="{DD148213-F95A-4C38-B02B-D87F1B55A0DE}"/>
              </a:ext>
            </a:extLst>
          </p:cNvPr>
          <p:cNvSpPr>
            <a:spLocks noGrp="1"/>
          </p:cNvSpPr>
          <p:nvPr/>
        </p:nvSpPr>
        <p:spPr>
          <a:xfrm>
            <a:off x="777240" y="2907792"/>
            <a:ext cx="3337560" cy="2331720"/>
          </a:xfrm>
          <a:prstGeom prst="roundRect">
            <a:avLst>
              <a:gd name="adj" fmla="val 3137"/>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10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8992" y="3200400"/>
            <a:ext cx="512064" cy="512064"/>
          </a:xfrm>
          <a:prstGeom prst="rect">
            <a:avLst/>
          </a:prstGeom>
        </p:spPr>
      </p:pic>
      <p:sp>
        <p:nvSpPr>
          <p:cNvPr id="45" name="Text 42">
            <a:extLst>
              <a:ext uri="{FF2B5EF4-FFF2-40B4-BE49-F238E27FC236}">
                <a16:creationId xmlns:a16="http://schemas.microsoft.com/office/drawing/2014/main" id="{7A4AB310-6636-495F-A744-7A9ABBB342B9}"/>
              </a:ext>
            </a:extLst>
          </p:cNvPr>
          <p:cNvSpPr>
            <a:spLocks noGrp="1"/>
          </p:cNvSpPr>
          <p:nvPr/>
        </p:nvSpPr>
        <p:spPr>
          <a:xfrm>
            <a:off x="1783080"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15分 × 96区間</a:t>
            </a:r>
            <a:endParaRPr sz="2000"/>
          </a:p>
        </p:txBody>
      </p:sp>
      <p:sp>
        <p:nvSpPr>
          <p:cNvPr id="46" name="Text 43">
            <a:extLst>
              <a:ext uri="{FF2B5EF4-FFF2-40B4-BE49-F238E27FC236}">
                <a16:creationId xmlns:a16="http://schemas.microsoft.com/office/drawing/2014/main" id="{E94C80BF-4CDF-4C1B-9D9F-FF3891608B93}"/>
              </a:ext>
            </a:extLst>
          </p:cNvPr>
          <p:cNvSpPr>
            <a:spLocks noGrp="1"/>
          </p:cNvSpPr>
          <p:nvPr/>
        </p:nvSpPr>
        <p:spPr>
          <a:xfrm>
            <a:off x="105156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PV・系統電力・BESSの動きを</a:t>
            </a:r>
            <a:endParaRPr sz="1550"/>
          </a:p>
          <a:p>
            <a:pPr marL="0" indent="0" algn="ctr">
              <a:buNone/>
            </a:pPr>
            <a:r>
              <a:rPr sz="1550">
                <a:solidFill>
                  <a:srgbClr val="687386"/>
                </a:solidFill>
                <a:latin typeface="Noto Sans CJK JP"/>
                <a:ea typeface="Noto Sans CJK JP"/>
                <a:cs typeface="Noto Sans CJK JP"/>
              </a:rPr>
              <a:t>一日分つなげて確認</a:t>
            </a:r>
            <a:endParaRPr sz="1550"/>
          </a:p>
        </p:txBody>
      </p:sp>
      <p:sp>
        <p:nvSpPr>
          <p:cNvPr id="47" name="Shape 44">
            <a:extLst>
              <a:ext uri="{FF2B5EF4-FFF2-40B4-BE49-F238E27FC236}">
                <a16:creationId xmlns:a16="http://schemas.microsoft.com/office/drawing/2014/main" id="{088CAEBF-5E5D-4E0E-BD4B-DA0F78775F3F}"/>
              </a:ext>
            </a:extLst>
          </p:cNvPr>
          <p:cNvSpPr>
            <a:spLocks noGrp="1"/>
          </p:cNvSpPr>
          <p:nvPr/>
        </p:nvSpPr>
        <p:spPr>
          <a:xfrm>
            <a:off x="4407408" y="2907792"/>
            <a:ext cx="3337560" cy="2331720"/>
          </a:xfrm>
          <a:prstGeom prst="roundRect">
            <a:avLst>
              <a:gd name="adj" fmla="val 3137"/>
            </a:avLst>
          </a:prstGeom>
          <a:solidFill>
            <a:srgbClr val="E8F6F3"/>
          </a:solidFill>
          <a:ln w="12700">
            <a:solidFill>
              <a:srgbClr val="1F9D8A"/>
            </a:solidFill>
            <a:prstDash val="solid"/>
          </a:ln>
          <a:effectLst>
            <a:outerShdw blurRad="19050" dist="50800" dir="2700000" algn="bl" rotWithShape="0">
              <a:srgbClr val="A0A8B5">
                <a:alpha val="18000"/>
              </a:srgbClr>
            </a:outerShdw>
          </a:effectLst>
        </p:spPr>
        <p:txBody>
          <a:bodyPr/>
          <a:lstStyle/>
          <a:p>
            <a:endParaRPr/>
          </a:p>
        </p:txBody>
      </p:sp>
      <p:pic>
        <p:nvPicPr>
          <p:cNvPr id="10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3200400"/>
            <a:ext cx="512064" cy="512064"/>
          </a:xfrm>
          <a:prstGeom prst="rect">
            <a:avLst/>
          </a:prstGeom>
        </p:spPr>
      </p:pic>
      <p:sp>
        <p:nvSpPr>
          <p:cNvPr id="49" name="Text 45">
            <a:extLst>
              <a:ext uri="{FF2B5EF4-FFF2-40B4-BE49-F238E27FC236}">
                <a16:creationId xmlns:a16="http://schemas.microsoft.com/office/drawing/2014/main" id="{390AE810-7E88-4AC2-BFDE-DFF94DF029B2}"/>
              </a:ext>
            </a:extLst>
          </p:cNvPr>
          <p:cNvSpPr>
            <a:spLocks noGrp="1"/>
          </p:cNvSpPr>
          <p:nvPr/>
        </p:nvSpPr>
        <p:spPr>
          <a:xfrm>
            <a:off x="5413248"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物理条件の確認</a:t>
            </a:r>
            <a:endParaRPr sz="2000"/>
          </a:p>
        </p:txBody>
      </p:sp>
      <p:sp>
        <p:nvSpPr>
          <p:cNvPr id="50" name="Text 46">
            <a:extLst>
              <a:ext uri="{FF2B5EF4-FFF2-40B4-BE49-F238E27FC236}">
                <a16:creationId xmlns:a16="http://schemas.microsoft.com/office/drawing/2014/main" id="{304A3345-9996-4686-83DB-B895E81B328F}"/>
              </a:ext>
            </a:extLst>
          </p:cNvPr>
          <p:cNvSpPr>
            <a:spLocks noGrp="1"/>
          </p:cNvSpPr>
          <p:nvPr/>
        </p:nvSpPr>
        <p:spPr>
          <a:xfrm>
            <a:off x="4681728"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入力SOC上限90%に不一致。</a:t>
            </a:r>
            <a:endParaRPr sz="1550"/>
          </a:p>
          <a:p>
            <a:pPr marL="0" indent="0" algn="ctr">
              <a:buNone/>
            </a:pPr>
            <a:r>
              <a:rPr sz="1550">
                <a:solidFill>
                  <a:srgbClr val="687386"/>
                </a:solidFill>
                <a:latin typeface="Noto Sans CJK JP"/>
                <a:ea typeface="Noto Sans CJK JP"/>
                <a:cs typeface="Noto Sans CJK JP"/>
              </a:rPr>
              <a:t>旧検証の範囲に限界がある</a:t>
            </a:r>
            <a:endParaRPr sz="1550"/>
          </a:p>
        </p:txBody>
      </p:sp>
      <p:sp>
        <p:nvSpPr>
          <p:cNvPr id="51" name="Shape 47">
            <a:extLst>
              <a:ext uri="{FF2B5EF4-FFF2-40B4-BE49-F238E27FC236}">
                <a16:creationId xmlns:a16="http://schemas.microsoft.com/office/drawing/2014/main" id="{BF08CBBF-B114-43AC-9F1A-8E610CAAFD06}"/>
              </a:ext>
            </a:extLst>
          </p:cNvPr>
          <p:cNvSpPr>
            <a:spLocks noGrp="1"/>
          </p:cNvSpPr>
          <p:nvPr/>
        </p:nvSpPr>
        <p:spPr>
          <a:xfrm>
            <a:off x="8037576" y="2907792"/>
            <a:ext cx="3337560" cy="2331720"/>
          </a:xfrm>
          <a:prstGeom prst="roundRect">
            <a:avLst>
              <a:gd name="adj" fmla="val 3137"/>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pic>
        <p:nvPicPr>
          <p:cNvPr id="11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9328" y="3200400"/>
            <a:ext cx="512064" cy="512064"/>
          </a:xfrm>
          <a:prstGeom prst="rect">
            <a:avLst/>
          </a:prstGeom>
        </p:spPr>
      </p:pic>
      <p:sp>
        <p:nvSpPr>
          <p:cNvPr id="53" name="Text 48">
            <a:extLst>
              <a:ext uri="{FF2B5EF4-FFF2-40B4-BE49-F238E27FC236}">
                <a16:creationId xmlns:a16="http://schemas.microsoft.com/office/drawing/2014/main" id="{AF413D56-D966-40CE-8E43-1B0A4B192B13}"/>
              </a:ext>
            </a:extLst>
          </p:cNvPr>
          <p:cNvSpPr>
            <a:spLocks noGrp="1"/>
          </p:cNvSpPr>
          <p:nvPr/>
        </p:nvSpPr>
        <p:spPr>
          <a:xfrm>
            <a:off x="9052560" y="3163824"/>
            <a:ext cx="178308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証拠の紐づけ</a:t>
            </a:r>
            <a:endParaRPr sz="2000"/>
          </a:p>
        </p:txBody>
      </p:sp>
      <p:sp>
        <p:nvSpPr>
          <p:cNvPr id="54" name="Text 49">
            <a:extLst>
              <a:ext uri="{FF2B5EF4-FFF2-40B4-BE49-F238E27FC236}">
                <a16:creationId xmlns:a16="http://schemas.microsoft.com/office/drawing/2014/main" id="{B2010189-07D7-4CFB-82F4-FAC691AA9DB6}"/>
              </a:ext>
            </a:extLst>
          </p:cNvPr>
          <p:cNvSpPr>
            <a:spLocks noGrp="1"/>
          </p:cNvSpPr>
          <p:nvPr/>
        </p:nvSpPr>
        <p:spPr>
          <a:xfrm>
            <a:off x="832104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入力・コード・出力・費用を</a:t>
            </a:r>
            <a:endParaRPr sz="1550"/>
          </a:p>
          <a:p>
            <a:pPr marL="0" indent="0" algn="ctr">
              <a:buNone/>
            </a:pPr>
            <a:r>
              <a:rPr sz="1550">
                <a:solidFill>
                  <a:srgbClr val="687386"/>
                </a:solidFill>
                <a:latin typeface="Noto Sans CJK JP"/>
                <a:ea typeface="Noto Sans CJK JP"/>
                <a:cs typeface="Noto Sans CJK JP"/>
              </a:rPr>
              <a:t>同じ実行として記録</a:t>
            </a:r>
            <a:endParaRPr sz="1550"/>
          </a:p>
        </p:txBody>
      </p:sp>
      <p:sp>
        <p:nvSpPr>
          <p:cNvPr id="55" name="Text 50">
            <a:extLst>
              <a:ext uri="{FF2B5EF4-FFF2-40B4-BE49-F238E27FC236}">
                <a16:creationId xmlns:a16="http://schemas.microsoft.com/office/drawing/2014/main" id="{5A77A6BD-AED6-4A2C-9860-631FD294EBC9}"/>
              </a:ext>
            </a:extLst>
          </p:cNvPr>
          <p:cNvSpPr>
            <a:spLocks noGrp="1"/>
          </p:cNvSpPr>
          <p:nvPr/>
        </p:nvSpPr>
        <p:spPr>
          <a:xfrm>
            <a:off x="1143000" y="5760720"/>
            <a:ext cx="9875520" cy="347472"/>
          </a:xfrm>
          <a:prstGeom prst="rect">
            <a:avLst/>
          </a:prstGeom>
          <a:noFill/>
        </p:spPr>
        <p:txBody>
          <a:bodyPr wrap="square" lIns="0" tIns="0" rIns="0" bIns="0" anchor="ctr"/>
          <a:lstStyle/>
          <a:p>
            <a:pPr marL="0" indent="0" algn="ctr">
              <a:buNone/>
            </a:pPr>
            <a:r>
              <a:rPr sz="1750" b="1">
                <a:solidFill>
                  <a:srgbClr val="1F2A5A"/>
                </a:solidFill>
                <a:latin typeface="Noto Sans CJK JP"/>
                <a:ea typeface="Noto Sans CJK JP"/>
                <a:cs typeface="Noto Sans CJK JP"/>
              </a:rPr>
              <a:t>結果だけでなく、「どの入力とコードで出した結果か」まで追える状態にした。</a:t>
            </a:r>
            <a:endParaRPr sz="1750"/>
          </a:p>
        </p:txBody>
      </p:sp>
      <p:sp>
        <p:nvSpPr>
          <p:cNvPr id="59" name="正方形/長方形 58">
            <a:extLst>
              <a:ext uri="{FF2B5EF4-FFF2-40B4-BE49-F238E27FC236}">
                <a16:creationId xmlns:a16="http://schemas.microsoft.com/office/drawing/2014/main" id="{BFA52BA3-3770-4AD2-AC3E-610C2B7FD473}"/>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7561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FEBD103-46A8-4949-A0F0-F5DBB9FB0F0D}"/>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現在の限界：SOC上限に不一致。数値は診断用</a:t>
            </a:r>
            <a:endParaRPr sz="2550"/>
          </a:p>
        </p:txBody>
      </p:sp>
      <p:sp>
        <p:nvSpPr>
          <p:cNvPr id="3" name="Shape 1">
            <a:extLst>
              <a:ext uri="{FF2B5EF4-FFF2-40B4-BE49-F238E27FC236}">
                <a16:creationId xmlns:a16="http://schemas.microsoft.com/office/drawing/2014/main" id="{EF7216F5-415C-4E01-977E-811C4F9FF8F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77B6169-4A93-477F-A02B-577947BE23B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73C2935C-E990-40A3-802D-4AF01463ADA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16/18</a:t>
            </a:r>
            <a:endParaRPr sz="850"/>
          </a:p>
        </p:txBody>
      </p:sp>
      <p:sp>
        <p:nvSpPr>
          <p:cNvPr id="6" name="Shape 4">
            <a:extLst>
              <a:ext uri="{FF2B5EF4-FFF2-40B4-BE49-F238E27FC236}">
                <a16:creationId xmlns:a16="http://schemas.microsoft.com/office/drawing/2014/main" id="{E9B639B4-D99A-49C5-ABEF-F27AE9B4DBF8}"/>
              </a:ext>
            </a:extLst>
          </p:cNvPr>
          <p:cNvSpPr>
            <a:spLocks noGrp="1"/>
          </p:cNvSpPr>
          <p:nvPr/>
        </p:nvSpPr>
        <p:spPr>
          <a:xfrm>
            <a:off x="822960" y="1078992"/>
            <a:ext cx="10607040" cy="749808"/>
          </a:xfrm>
          <a:prstGeom prst="roundRect">
            <a:avLst/>
          </a:prstGeom>
          <a:solidFill>
            <a:srgbClr val="F8FAFC"/>
          </a:solidFill>
          <a:ln w="12700">
            <a:solidFill>
              <a:srgbClr val="EEF1F5"/>
            </a:solidFill>
            <a:prstDash val="solid"/>
          </a:ln>
        </p:spPr>
        <p:txBody>
          <a:bodyPr/>
          <a:lstStyle/>
          <a:p>
            <a:endParaRPr/>
          </a:p>
        </p:txBody>
      </p:sp>
      <p:sp>
        <p:nvSpPr>
          <p:cNvPr id="7" name="Shape 5">
            <a:extLst>
              <a:ext uri="{FF2B5EF4-FFF2-40B4-BE49-F238E27FC236}">
                <a16:creationId xmlns:a16="http://schemas.microsoft.com/office/drawing/2014/main" id="{27913878-79E8-40E9-845C-A9BF9880DE4B}"/>
              </a:ext>
            </a:extLst>
          </p:cNvPr>
          <p:cNvSpPr>
            <a:spLocks noGrp="1"/>
          </p:cNvSpPr>
          <p:nvPr/>
        </p:nvSpPr>
        <p:spPr>
          <a:xfrm>
            <a:off x="1051560" y="1243584"/>
            <a:ext cx="384048" cy="384048"/>
          </a:xfrm>
          <a:prstGeom prst="ellipse">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7DF13629-D283-431B-B841-D69CF33D1B1F}"/>
              </a:ext>
            </a:extLst>
          </p:cNvPr>
          <p:cNvSpPr>
            <a:spLocks noGrp="1"/>
          </p:cNvSpPr>
          <p:nvPr/>
        </p:nvSpPr>
        <p:spPr>
          <a:xfrm>
            <a:off x="1051560" y="1197864"/>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9" name="Text 7">
            <a:extLst>
              <a:ext uri="{FF2B5EF4-FFF2-40B4-BE49-F238E27FC236}">
                <a16:creationId xmlns:a16="http://schemas.microsoft.com/office/drawing/2014/main" id="{5721751E-805E-436A-B9A7-7919210EA34B}"/>
              </a:ext>
            </a:extLst>
          </p:cNvPr>
          <p:cNvSpPr>
            <a:spLocks noGrp="1"/>
          </p:cNvSpPr>
          <p:nvPr/>
        </p:nvSpPr>
        <p:spPr>
          <a:xfrm>
            <a:off x="1664208" y="1188720"/>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すべての配車を調べたわけではない</a:t>
            </a:r>
            <a:endParaRPr sz="1700"/>
          </a:p>
        </p:txBody>
      </p:sp>
      <p:sp>
        <p:nvSpPr>
          <p:cNvPr id="10" name="Text 8">
            <a:extLst>
              <a:ext uri="{FF2B5EF4-FFF2-40B4-BE49-F238E27FC236}">
                <a16:creationId xmlns:a16="http://schemas.microsoft.com/office/drawing/2014/main" id="{6458ACD3-7934-4BE6-9330-C7821417B7C0}"/>
              </a:ext>
            </a:extLst>
          </p:cNvPr>
          <p:cNvSpPr>
            <a:spLocks noGrp="1"/>
          </p:cNvSpPr>
          <p:nvPr/>
        </p:nvSpPr>
        <p:spPr>
          <a:xfrm>
            <a:off x="4983480" y="1188720"/>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評価した有限の配車案の中から選んでいる。</a:t>
            </a:r>
            <a:endParaRPr sz="1500"/>
          </a:p>
        </p:txBody>
      </p:sp>
      <p:sp>
        <p:nvSpPr>
          <p:cNvPr id="11" name="Shape 9">
            <a:extLst>
              <a:ext uri="{FF2B5EF4-FFF2-40B4-BE49-F238E27FC236}">
                <a16:creationId xmlns:a16="http://schemas.microsoft.com/office/drawing/2014/main" id="{D4931454-0F62-4ADD-80D5-0FC39CACD628}"/>
              </a:ext>
            </a:extLst>
          </p:cNvPr>
          <p:cNvSpPr>
            <a:spLocks noGrp="1"/>
          </p:cNvSpPr>
          <p:nvPr/>
        </p:nvSpPr>
        <p:spPr>
          <a:xfrm>
            <a:off x="822960" y="2048256"/>
            <a:ext cx="10607040" cy="749808"/>
          </a:xfrm>
          <a:prstGeom prst="roundRect">
            <a:avLst/>
          </a:prstGeom>
          <a:solidFill>
            <a:srgbClr val="FFFFFF"/>
          </a:solidFill>
          <a:ln w="12700">
            <a:solidFill>
              <a:srgbClr val="EEF1F5"/>
            </a:solidFill>
            <a:prstDash val="solid"/>
          </a:ln>
        </p:spPr>
        <p:txBody>
          <a:bodyPr/>
          <a:lstStyle/>
          <a:p>
            <a:endParaRPr/>
          </a:p>
        </p:txBody>
      </p:sp>
      <p:sp>
        <p:nvSpPr>
          <p:cNvPr id="12" name="Shape 10">
            <a:extLst>
              <a:ext uri="{FF2B5EF4-FFF2-40B4-BE49-F238E27FC236}">
                <a16:creationId xmlns:a16="http://schemas.microsoft.com/office/drawing/2014/main" id="{8CD2B79D-25AF-43DD-B647-A2CB864EAEA9}"/>
              </a:ext>
            </a:extLst>
          </p:cNvPr>
          <p:cNvSpPr>
            <a:spLocks noGrp="1"/>
          </p:cNvSpPr>
          <p:nvPr/>
        </p:nvSpPr>
        <p:spPr>
          <a:xfrm>
            <a:off x="1051560" y="2212848"/>
            <a:ext cx="384048" cy="384048"/>
          </a:xfrm>
          <a:prstGeom prst="ellipse">
            <a:avLst/>
          </a:prstGeom>
          <a:solidFill>
            <a:srgbClr val="C94C4C"/>
          </a:solidFill>
          <a:ln w="12700">
            <a:solidFill>
              <a:srgbClr val="C94C4C"/>
            </a:solidFill>
            <a:prstDash val="solid"/>
          </a:ln>
        </p:spPr>
        <p:txBody>
          <a:bodyPr/>
          <a:lstStyle/>
          <a:p>
            <a:endParaRPr/>
          </a:p>
        </p:txBody>
      </p:sp>
      <p:sp>
        <p:nvSpPr>
          <p:cNvPr id="13" name="Text 11">
            <a:extLst>
              <a:ext uri="{FF2B5EF4-FFF2-40B4-BE49-F238E27FC236}">
                <a16:creationId xmlns:a16="http://schemas.microsoft.com/office/drawing/2014/main" id="{D3CD7C4A-9942-4D58-8FA2-77686E12E282}"/>
              </a:ext>
            </a:extLst>
          </p:cNvPr>
          <p:cNvSpPr>
            <a:spLocks noGrp="1"/>
          </p:cNvSpPr>
          <p:nvPr/>
        </p:nvSpPr>
        <p:spPr>
          <a:xfrm>
            <a:off x="1051560" y="2167128"/>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4" name="Text 12">
            <a:extLst>
              <a:ext uri="{FF2B5EF4-FFF2-40B4-BE49-F238E27FC236}">
                <a16:creationId xmlns:a16="http://schemas.microsoft.com/office/drawing/2014/main" id="{1CEFA120-18D9-4CDE-8F56-A95C7879F668}"/>
              </a:ext>
            </a:extLst>
          </p:cNvPr>
          <p:cNvSpPr>
            <a:spLocks noGrp="1"/>
          </p:cNvSpPr>
          <p:nvPr/>
        </p:nvSpPr>
        <p:spPr>
          <a:xfrm>
            <a:off x="1664208" y="2157984"/>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高PV条件は計算を詰める余地がある</a:t>
            </a:r>
            <a:endParaRPr sz="1700"/>
          </a:p>
        </p:txBody>
      </p:sp>
      <p:sp>
        <p:nvSpPr>
          <p:cNvPr id="15" name="Text 13">
            <a:extLst>
              <a:ext uri="{FF2B5EF4-FFF2-40B4-BE49-F238E27FC236}">
                <a16:creationId xmlns:a16="http://schemas.microsoft.com/office/drawing/2014/main" id="{8D63CC1F-DA28-4E90-9C2A-47B9C792ED8C}"/>
              </a:ext>
            </a:extLst>
          </p:cNvPr>
          <p:cNvSpPr>
            <a:spLocks noGrp="1"/>
          </p:cNvSpPr>
          <p:nvPr/>
        </p:nvSpPr>
        <p:spPr>
          <a:xfrm>
            <a:off x="4983480" y="2157984"/>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計算の詰まり具合の目安は約9.5%（低PVは約1.7%）。</a:t>
            </a:r>
            <a:endParaRPr sz="1500"/>
          </a:p>
        </p:txBody>
      </p:sp>
      <p:sp>
        <p:nvSpPr>
          <p:cNvPr id="16" name="Shape 14">
            <a:extLst>
              <a:ext uri="{FF2B5EF4-FFF2-40B4-BE49-F238E27FC236}">
                <a16:creationId xmlns:a16="http://schemas.microsoft.com/office/drawing/2014/main" id="{24FFB3D5-113B-4A5E-9B1C-E5150CE45C87}"/>
              </a:ext>
            </a:extLst>
          </p:cNvPr>
          <p:cNvSpPr>
            <a:spLocks noGrp="1"/>
          </p:cNvSpPr>
          <p:nvPr/>
        </p:nvSpPr>
        <p:spPr>
          <a:xfrm>
            <a:off x="822960" y="3017520"/>
            <a:ext cx="10607040" cy="749808"/>
          </a:xfrm>
          <a:prstGeom prst="roundRect">
            <a:avLst/>
          </a:prstGeom>
          <a:solidFill>
            <a:srgbClr val="F8FAFC"/>
          </a:solidFill>
          <a:ln w="12700">
            <a:solidFill>
              <a:srgbClr val="EEF1F5"/>
            </a:solidFill>
            <a:prstDash val="solid"/>
          </a:ln>
        </p:spPr>
        <p:txBody>
          <a:bodyPr/>
          <a:lstStyle/>
          <a:p>
            <a:endParaRPr/>
          </a:p>
        </p:txBody>
      </p:sp>
      <p:sp>
        <p:nvSpPr>
          <p:cNvPr id="17" name="Shape 15">
            <a:extLst>
              <a:ext uri="{FF2B5EF4-FFF2-40B4-BE49-F238E27FC236}">
                <a16:creationId xmlns:a16="http://schemas.microsoft.com/office/drawing/2014/main" id="{8D2AB7DF-D8F2-44ED-8465-10B726374C17}"/>
              </a:ext>
            </a:extLst>
          </p:cNvPr>
          <p:cNvSpPr>
            <a:spLocks noGrp="1"/>
          </p:cNvSpPr>
          <p:nvPr/>
        </p:nvSpPr>
        <p:spPr>
          <a:xfrm>
            <a:off x="1051560" y="3182112"/>
            <a:ext cx="384048" cy="384048"/>
          </a:xfrm>
          <a:prstGeom prst="ellipse">
            <a:avLst/>
          </a:prstGeom>
          <a:solidFill>
            <a:srgbClr val="E7B34B"/>
          </a:solidFill>
          <a:ln w="12700">
            <a:solidFill>
              <a:srgbClr val="E7B34B"/>
            </a:solidFill>
            <a:prstDash val="solid"/>
          </a:ln>
        </p:spPr>
        <p:txBody>
          <a:bodyPr/>
          <a:lstStyle/>
          <a:p>
            <a:endParaRPr/>
          </a:p>
        </p:txBody>
      </p:sp>
      <p:sp>
        <p:nvSpPr>
          <p:cNvPr id="18" name="Text 16">
            <a:extLst>
              <a:ext uri="{FF2B5EF4-FFF2-40B4-BE49-F238E27FC236}">
                <a16:creationId xmlns:a16="http://schemas.microsoft.com/office/drawing/2014/main" id="{BFCE2319-0756-4EA3-8161-B99289680084}"/>
              </a:ext>
            </a:extLst>
          </p:cNvPr>
          <p:cNvSpPr>
            <a:spLocks noGrp="1"/>
          </p:cNvSpPr>
          <p:nvPr/>
        </p:nvSpPr>
        <p:spPr>
          <a:xfrm>
            <a:off x="1051560" y="3136392"/>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9" name="Text 17">
            <a:extLst>
              <a:ext uri="{FF2B5EF4-FFF2-40B4-BE49-F238E27FC236}">
                <a16:creationId xmlns:a16="http://schemas.microsoft.com/office/drawing/2014/main" id="{A31E83DB-B0C9-42AE-817D-20FCF1DE1C0C}"/>
              </a:ext>
            </a:extLst>
          </p:cNvPr>
          <p:cNvSpPr>
            <a:spLocks noGrp="1"/>
          </p:cNvSpPr>
          <p:nvPr/>
        </p:nvSpPr>
        <p:spPr>
          <a:xfrm>
            <a:off x="1664208" y="3127248"/>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低PV条件は次点との差が小さい</a:t>
            </a:r>
            <a:endParaRPr sz="1700"/>
          </a:p>
        </p:txBody>
      </p:sp>
      <p:sp>
        <p:nvSpPr>
          <p:cNvPr id="20" name="Text 18">
            <a:extLst>
              <a:ext uri="{FF2B5EF4-FFF2-40B4-BE49-F238E27FC236}">
                <a16:creationId xmlns:a16="http://schemas.microsoft.com/office/drawing/2014/main" id="{B52A3B88-8012-4944-8EEA-3F7C7F47D20F}"/>
              </a:ext>
            </a:extLst>
          </p:cNvPr>
          <p:cNvSpPr>
            <a:spLocks noGrp="1"/>
          </p:cNvSpPr>
          <p:nvPr/>
        </p:nvSpPr>
        <p:spPr>
          <a:xfrm>
            <a:off x="4983480" y="3127248"/>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別の配車案が約567円差であり、選択の安定性を確認したい。</a:t>
            </a:r>
            <a:endParaRPr sz="1500"/>
          </a:p>
        </p:txBody>
      </p:sp>
      <p:sp>
        <p:nvSpPr>
          <p:cNvPr id="21" name="Shape 19">
            <a:extLst>
              <a:ext uri="{FF2B5EF4-FFF2-40B4-BE49-F238E27FC236}">
                <a16:creationId xmlns:a16="http://schemas.microsoft.com/office/drawing/2014/main" id="{C40CA4F5-3162-4EC2-BC7E-A352C17C2DAA}"/>
              </a:ext>
            </a:extLst>
          </p:cNvPr>
          <p:cNvSpPr>
            <a:spLocks noGrp="1"/>
          </p:cNvSpPr>
          <p:nvPr/>
        </p:nvSpPr>
        <p:spPr>
          <a:xfrm>
            <a:off x="822960" y="3986784"/>
            <a:ext cx="10607040" cy="749808"/>
          </a:xfrm>
          <a:prstGeom prst="roundRect">
            <a:avLst/>
          </a:prstGeom>
          <a:solidFill>
            <a:srgbClr val="FFFFFF"/>
          </a:solidFill>
          <a:ln w="12700">
            <a:solidFill>
              <a:srgbClr val="EEF1F5"/>
            </a:solidFill>
            <a:prstDash val="solid"/>
          </a:ln>
        </p:spPr>
        <p:txBody>
          <a:bodyPr/>
          <a:lstStyle/>
          <a:p>
            <a:endParaRPr/>
          </a:p>
        </p:txBody>
      </p:sp>
      <p:sp>
        <p:nvSpPr>
          <p:cNvPr id="22" name="Shape 20">
            <a:extLst>
              <a:ext uri="{FF2B5EF4-FFF2-40B4-BE49-F238E27FC236}">
                <a16:creationId xmlns:a16="http://schemas.microsoft.com/office/drawing/2014/main" id="{59BB314D-1975-43B5-8CCB-478C67FECA8D}"/>
              </a:ext>
            </a:extLst>
          </p:cNvPr>
          <p:cNvSpPr>
            <a:spLocks noGrp="1"/>
          </p:cNvSpPr>
          <p:nvPr/>
        </p:nvSpPr>
        <p:spPr>
          <a:xfrm>
            <a:off x="1051560" y="4151376"/>
            <a:ext cx="384048" cy="384048"/>
          </a:xfrm>
          <a:prstGeom prst="ellipse">
            <a:avLst/>
          </a:prstGeom>
          <a:solidFill>
            <a:srgbClr val="356BB3"/>
          </a:solidFill>
          <a:ln w="12700">
            <a:solidFill>
              <a:srgbClr val="356BB3"/>
            </a:solidFill>
            <a:prstDash val="solid"/>
          </a:ln>
        </p:spPr>
        <p:txBody>
          <a:bodyPr/>
          <a:lstStyle/>
          <a:p>
            <a:endParaRPr/>
          </a:p>
        </p:txBody>
      </p:sp>
      <p:sp>
        <p:nvSpPr>
          <p:cNvPr id="23" name="Text 21">
            <a:extLst>
              <a:ext uri="{FF2B5EF4-FFF2-40B4-BE49-F238E27FC236}">
                <a16:creationId xmlns:a16="http://schemas.microsoft.com/office/drawing/2014/main" id="{910A7CE5-AA00-4BBB-84F7-D80590AF6E7D}"/>
              </a:ext>
            </a:extLst>
          </p:cNvPr>
          <p:cNvSpPr>
            <a:spLocks noGrp="1"/>
          </p:cNvSpPr>
          <p:nvPr/>
        </p:nvSpPr>
        <p:spPr>
          <a:xfrm>
            <a:off x="1051560" y="4105656"/>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4" name="Text 22">
            <a:extLst>
              <a:ext uri="{FF2B5EF4-FFF2-40B4-BE49-F238E27FC236}">
                <a16:creationId xmlns:a16="http://schemas.microsoft.com/office/drawing/2014/main" id="{9E068F1D-C730-47AE-98D3-80A504B24C9D}"/>
              </a:ext>
            </a:extLst>
          </p:cNvPr>
          <p:cNvSpPr>
            <a:spLocks noGrp="1"/>
          </p:cNvSpPr>
          <p:nvPr/>
        </p:nvSpPr>
        <p:spPr>
          <a:xfrm>
            <a:off x="1664208" y="4096512"/>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2つの条件だけでは一般化できない</a:t>
            </a:r>
            <a:endParaRPr sz="1700"/>
          </a:p>
        </p:txBody>
      </p:sp>
      <p:sp>
        <p:nvSpPr>
          <p:cNvPr id="25" name="Text 23">
            <a:extLst>
              <a:ext uri="{FF2B5EF4-FFF2-40B4-BE49-F238E27FC236}">
                <a16:creationId xmlns:a16="http://schemas.microsoft.com/office/drawing/2014/main" id="{1DF647F1-2D45-4A9F-9E9C-113DA7388D81}"/>
              </a:ext>
            </a:extLst>
          </p:cNvPr>
          <p:cNvSpPr>
            <a:spLocks noGrp="1"/>
          </p:cNvSpPr>
          <p:nvPr/>
        </p:nvSpPr>
        <p:spPr>
          <a:xfrm>
            <a:off x="4983480" y="4096512"/>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「雨なら必ずこうなる」という結論ではない。</a:t>
            </a:r>
            <a:endParaRPr sz="1500"/>
          </a:p>
        </p:txBody>
      </p:sp>
      <p:sp>
        <p:nvSpPr>
          <p:cNvPr id="26" name="Shape 24">
            <a:extLst>
              <a:ext uri="{FF2B5EF4-FFF2-40B4-BE49-F238E27FC236}">
                <a16:creationId xmlns:a16="http://schemas.microsoft.com/office/drawing/2014/main" id="{18C799BC-F614-4CDE-B74A-9477FE5AA9AB}"/>
              </a:ext>
            </a:extLst>
          </p:cNvPr>
          <p:cNvSpPr>
            <a:spLocks noGrp="1"/>
          </p:cNvSpPr>
          <p:nvPr/>
        </p:nvSpPr>
        <p:spPr>
          <a:xfrm>
            <a:off x="822960" y="4956048"/>
            <a:ext cx="10607040" cy="749808"/>
          </a:xfrm>
          <a:prstGeom prst="roundRect">
            <a:avLst/>
          </a:prstGeom>
          <a:solidFill>
            <a:srgbClr val="F8FAFC"/>
          </a:solidFill>
          <a:ln w="12700">
            <a:solidFill>
              <a:srgbClr val="EEF1F5"/>
            </a:solidFill>
            <a:prstDash val="solid"/>
          </a:ln>
        </p:spPr>
        <p:txBody>
          <a:bodyPr/>
          <a:lstStyle/>
          <a:p>
            <a:endParaRPr/>
          </a:p>
        </p:txBody>
      </p:sp>
      <p:sp>
        <p:nvSpPr>
          <p:cNvPr id="27" name="Shape 25">
            <a:extLst>
              <a:ext uri="{FF2B5EF4-FFF2-40B4-BE49-F238E27FC236}">
                <a16:creationId xmlns:a16="http://schemas.microsoft.com/office/drawing/2014/main" id="{5E31F430-0A46-4465-B077-3222677E8341}"/>
              </a:ext>
            </a:extLst>
          </p:cNvPr>
          <p:cNvSpPr>
            <a:spLocks noGrp="1"/>
          </p:cNvSpPr>
          <p:nvPr/>
        </p:nvSpPr>
        <p:spPr>
          <a:xfrm>
            <a:off x="1051560" y="5120640"/>
            <a:ext cx="384048" cy="384048"/>
          </a:xfrm>
          <a:prstGeom prst="ellipse">
            <a:avLst/>
          </a:prstGeom>
          <a:solidFill>
            <a:srgbClr val="687386"/>
          </a:solidFill>
          <a:ln w="12700">
            <a:solidFill>
              <a:srgbClr val="687386"/>
            </a:solidFill>
            <a:prstDash val="solid"/>
          </a:ln>
        </p:spPr>
        <p:txBody>
          <a:bodyPr/>
          <a:lstStyle/>
          <a:p>
            <a:endParaRPr/>
          </a:p>
        </p:txBody>
      </p:sp>
      <p:sp>
        <p:nvSpPr>
          <p:cNvPr id="28" name="Text 26">
            <a:extLst>
              <a:ext uri="{FF2B5EF4-FFF2-40B4-BE49-F238E27FC236}">
                <a16:creationId xmlns:a16="http://schemas.microsoft.com/office/drawing/2014/main" id="{AD410792-5730-4425-B9EF-2934A9EA7D53}"/>
              </a:ext>
            </a:extLst>
          </p:cNvPr>
          <p:cNvSpPr>
            <a:spLocks noGrp="1"/>
          </p:cNvSpPr>
          <p:nvPr/>
        </p:nvSpPr>
        <p:spPr>
          <a:xfrm>
            <a:off x="1051560" y="5074920"/>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9" name="Text 27">
            <a:extLst>
              <a:ext uri="{FF2B5EF4-FFF2-40B4-BE49-F238E27FC236}">
                <a16:creationId xmlns:a16="http://schemas.microsoft.com/office/drawing/2014/main" id="{A5A79DFB-3DAA-48B1-A464-58018A6D5084}"/>
              </a:ext>
            </a:extLst>
          </p:cNvPr>
          <p:cNvSpPr>
            <a:spLocks noGrp="1"/>
          </p:cNvSpPr>
          <p:nvPr/>
        </p:nvSpPr>
        <p:spPr>
          <a:xfrm>
            <a:off x="1664208" y="5065776"/>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費用の範囲が限定される</a:t>
            </a:r>
            <a:endParaRPr sz="1700"/>
          </a:p>
        </p:txBody>
      </p:sp>
      <p:sp>
        <p:nvSpPr>
          <p:cNvPr id="30" name="Text 28">
            <a:extLst>
              <a:ext uri="{FF2B5EF4-FFF2-40B4-BE49-F238E27FC236}">
                <a16:creationId xmlns:a16="http://schemas.microsoft.com/office/drawing/2014/main" id="{523E0A9D-3240-49EE-A940-9BC4590A1448}"/>
              </a:ext>
            </a:extLst>
          </p:cNvPr>
          <p:cNvSpPr>
            <a:spLocks noGrp="1"/>
          </p:cNvSpPr>
          <p:nvPr/>
        </p:nvSpPr>
        <p:spPr>
          <a:xfrm>
            <a:off x="4983480" y="5065776"/>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設備投資・電池劣化・運転士費などは未反映。</a:t>
            </a:r>
            <a:endParaRPr sz="1500"/>
          </a:p>
        </p:txBody>
      </p:sp>
      <p:sp>
        <p:nvSpPr>
          <p:cNvPr id="31" name="Shape 29">
            <a:extLst>
              <a:ext uri="{FF2B5EF4-FFF2-40B4-BE49-F238E27FC236}">
                <a16:creationId xmlns:a16="http://schemas.microsoft.com/office/drawing/2014/main" id="{D2543A51-4000-45A9-B175-76D3D7E90C6E}"/>
              </a:ext>
            </a:extLst>
          </p:cNvPr>
          <p:cNvSpPr>
            <a:spLocks noGrp="1"/>
          </p:cNvSpPr>
          <p:nvPr/>
        </p:nvSpPr>
        <p:spPr>
          <a:xfrm>
            <a:off x="1234440" y="5989320"/>
            <a:ext cx="9692640" cy="365760"/>
          </a:xfrm>
          <a:prstGeom prst="roundRect">
            <a:avLst/>
          </a:prstGeom>
          <a:solidFill>
            <a:srgbClr val="FCECEC"/>
          </a:solidFill>
          <a:ln w="12700">
            <a:solidFill>
              <a:srgbClr val="C94C4C"/>
            </a:solidFill>
            <a:prstDash val="solid"/>
          </a:ln>
        </p:spPr>
        <p:txBody>
          <a:bodyPr/>
          <a:lstStyle/>
          <a:p>
            <a:endParaRPr/>
          </a:p>
        </p:txBody>
      </p:sp>
      <p:sp>
        <p:nvSpPr>
          <p:cNvPr id="32" name="Text 30">
            <a:extLst>
              <a:ext uri="{FF2B5EF4-FFF2-40B4-BE49-F238E27FC236}">
                <a16:creationId xmlns:a16="http://schemas.microsoft.com/office/drawing/2014/main" id="{3FFFAB70-8EA8-4273-A55E-1220E67A7092}"/>
              </a:ext>
            </a:extLst>
          </p:cNvPr>
          <p:cNvSpPr>
            <a:spLocks noGrp="1"/>
          </p:cNvSpPr>
          <p:nvPr/>
        </p:nvSpPr>
        <p:spPr>
          <a:xfrm>
            <a:off x="1417320" y="6062472"/>
            <a:ext cx="9326880" cy="219456"/>
          </a:xfrm>
          <a:prstGeom prst="rect">
            <a:avLst/>
          </a:prstGeom>
          <a:noFill/>
        </p:spPr>
        <p:txBody>
          <a:bodyPr wrap="square" lIns="0" tIns="0" rIns="0" bIns="0" anchor="ctr"/>
          <a:lstStyle/>
          <a:p>
            <a:pPr marL="0" indent="0" algn="ctr">
              <a:buNone/>
            </a:pPr>
            <a:r>
              <a:rPr sz="1650" b="1">
                <a:solidFill>
                  <a:srgbClr val="C94C4C"/>
                </a:solidFill>
                <a:latin typeface="Noto Sans CJK JP"/>
                <a:ea typeface="Noto Sans CJK JP"/>
                <a:cs typeface="Noto Sans CJK JP"/>
              </a:rPr>
              <a:t>先にSOC上限の契約修正・独立検証・再実験を行い、その後に比較する。</a:t>
            </a:r>
            <a:endParaRPr sz="1650"/>
          </a:p>
        </p:txBody>
      </p:sp>
      <p:sp>
        <p:nvSpPr>
          <p:cNvPr id="33" name="正方形/長方形 32">
            <a:extLst>
              <a:ext uri="{FF2B5EF4-FFF2-40B4-BE49-F238E27FC236}">
                <a16:creationId xmlns:a16="http://schemas.microsoft.com/office/drawing/2014/main" id="{AF889BA3-3D2D-4706-ADC8-A9C9F296862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0834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DEB6CE6-C1AD-4214-B821-F4190502F7A8}"/>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11月に向けた次の作業と、ご相談したいこと</a:t>
            </a:r>
            <a:endParaRPr sz="2550"/>
          </a:p>
        </p:txBody>
      </p:sp>
      <p:sp>
        <p:nvSpPr>
          <p:cNvPr id="3" name="Shape 1">
            <a:extLst>
              <a:ext uri="{FF2B5EF4-FFF2-40B4-BE49-F238E27FC236}">
                <a16:creationId xmlns:a16="http://schemas.microsoft.com/office/drawing/2014/main" id="{6357F63A-B967-4128-A559-F95205A82D1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B2F199B-9735-4F3D-B05F-AD206B1E9693}"/>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40D3FAF3-0B66-4A28-84B8-4D01CECE2D17}"/>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17/18</a:t>
            </a:r>
            <a:endParaRPr sz="850"/>
          </a:p>
        </p:txBody>
      </p:sp>
      <p:sp>
        <p:nvSpPr>
          <p:cNvPr id="6" name="Shape 4">
            <a:extLst>
              <a:ext uri="{FF2B5EF4-FFF2-40B4-BE49-F238E27FC236}">
                <a16:creationId xmlns:a16="http://schemas.microsoft.com/office/drawing/2014/main" id="{5BBE372A-2941-4FA5-B965-E90086F43802}"/>
              </a:ext>
            </a:extLst>
          </p:cNvPr>
          <p:cNvSpPr>
            <a:spLocks noGrp="1"/>
          </p:cNvSpPr>
          <p:nvPr/>
        </p:nvSpPr>
        <p:spPr>
          <a:xfrm>
            <a:off x="621792" y="1024128"/>
            <a:ext cx="5486400" cy="5257800"/>
          </a:xfrm>
          <a:prstGeom prst="roundRect">
            <a:avLst>
              <a:gd name="adj" fmla="val 1391"/>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7" name="Text 5">
            <a:extLst>
              <a:ext uri="{FF2B5EF4-FFF2-40B4-BE49-F238E27FC236}">
                <a16:creationId xmlns:a16="http://schemas.microsoft.com/office/drawing/2014/main" id="{BA6AB9EC-5A4C-4E44-B161-AC18504E65D1}"/>
              </a:ext>
            </a:extLst>
          </p:cNvPr>
          <p:cNvSpPr>
            <a:spLocks noGrp="1"/>
          </p:cNvSpPr>
          <p:nvPr/>
        </p:nvSpPr>
        <p:spPr>
          <a:xfrm>
            <a:off x="932688" y="1298448"/>
            <a:ext cx="2286000" cy="329184"/>
          </a:xfrm>
          <a:prstGeom prst="rect">
            <a:avLst/>
          </a:prstGeom>
          <a:noFill/>
        </p:spPr>
        <p:txBody>
          <a:bodyPr wrap="square" lIns="0" tIns="0" rIns="0" bIns="0" anchor="ctr"/>
          <a:lstStyle/>
          <a:p>
            <a:pPr marL="0" indent="0">
              <a:buNone/>
            </a:pPr>
            <a:r>
              <a:rPr sz="2100" b="1">
                <a:solidFill>
                  <a:srgbClr val="1F2A5A"/>
                </a:solidFill>
                <a:latin typeface="Noto Sans CJK JP"/>
                <a:ea typeface="Noto Sans CJK JP"/>
                <a:cs typeface="Noto Sans CJK JP"/>
              </a:rPr>
              <a:t>次に優先する作業</a:t>
            </a:r>
            <a:endParaRPr sz="2100"/>
          </a:p>
        </p:txBody>
      </p:sp>
      <p:sp>
        <p:nvSpPr>
          <p:cNvPr id="8" name="Shape 6">
            <a:extLst>
              <a:ext uri="{FF2B5EF4-FFF2-40B4-BE49-F238E27FC236}">
                <a16:creationId xmlns:a16="http://schemas.microsoft.com/office/drawing/2014/main" id="{D1EED8CF-60B6-476B-AB46-7643B586184F}"/>
              </a:ext>
            </a:extLst>
          </p:cNvPr>
          <p:cNvSpPr>
            <a:spLocks noGrp="1"/>
          </p:cNvSpPr>
          <p:nvPr/>
        </p:nvSpPr>
        <p:spPr>
          <a:xfrm>
            <a:off x="960120" y="1920240"/>
            <a:ext cx="438912" cy="438912"/>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A84D0BD6-689F-4F47-A122-AE7B55F86772}"/>
              </a:ext>
            </a:extLst>
          </p:cNvPr>
          <p:cNvSpPr>
            <a:spLocks noGrp="1"/>
          </p:cNvSpPr>
          <p:nvPr/>
        </p:nvSpPr>
        <p:spPr>
          <a:xfrm>
            <a:off x="960120" y="1883664"/>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1</a:t>
            </a:r>
            <a:endParaRPr sz="1500"/>
          </a:p>
        </p:txBody>
      </p:sp>
      <p:sp>
        <p:nvSpPr>
          <p:cNvPr id="10" name="Text 8">
            <a:extLst>
              <a:ext uri="{FF2B5EF4-FFF2-40B4-BE49-F238E27FC236}">
                <a16:creationId xmlns:a16="http://schemas.microsoft.com/office/drawing/2014/main" id="{55D0C3C8-690D-4A72-9CE8-8325614E412A}"/>
              </a:ext>
            </a:extLst>
          </p:cNvPr>
          <p:cNvSpPr>
            <a:spLocks noGrp="1"/>
          </p:cNvSpPr>
          <p:nvPr/>
        </p:nvSpPr>
        <p:spPr>
          <a:xfrm>
            <a:off x="1572768" y="1874520"/>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小規模比較</a:t>
            </a:r>
            <a:endParaRPr sz="1750"/>
          </a:p>
        </p:txBody>
      </p:sp>
      <p:sp>
        <p:nvSpPr>
          <p:cNvPr id="11" name="Text 9">
            <a:extLst>
              <a:ext uri="{FF2B5EF4-FFF2-40B4-BE49-F238E27FC236}">
                <a16:creationId xmlns:a16="http://schemas.microsoft.com/office/drawing/2014/main" id="{ED424846-D88F-4A56-A325-25EE05817CDF}"/>
              </a:ext>
            </a:extLst>
          </p:cNvPr>
          <p:cNvSpPr>
            <a:spLocks noGrp="1"/>
          </p:cNvSpPr>
          <p:nvPr/>
        </p:nvSpPr>
        <p:spPr>
          <a:xfrm>
            <a:off x="3063240" y="1856232"/>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8・12・24便で、現在方式と一体型の参照方法を比較</a:t>
            </a:r>
            <a:endParaRPr sz="1420"/>
          </a:p>
        </p:txBody>
      </p:sp>
      <p:sp>
        <p:nvSpPr>
          <p:cNvPr id="12" name="Shape 10">
            <a:extLst>
              <a:ext uri="{FF2B5EF4-FFF2-40B4-BE49-F238E27FC236}">
                <a16:creationId xmlns:a16="http://schemas.microsoft.com/office/drawing/2014/main" id="{81A4B74B-2BBE-4FCF-8F2C-6F7457A668D8}"/>
              </a:ext>
            </a:extLst>
          </p:cNvPr>
          <p:cNvSpPr>
            <a:spLocks noGrp="1"/>
          </p:cNvSpPr>
          <p:nvPr/>
        </p:nvSpPr>
        <p:spPr>
          <a:xfrm>
            <a:off x="960120" y="3035808"/>
            <a:ext cx="438912" cy="438912"/>
          </a:xfrm>
          <a:prstGeom prst="ellipse">
            <a:avLst/>
          </a:prstGeom>
          <a:solidFill>
            <a:srgbClr val="1F9D8A"/>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60D226EE-1B5C-48B4-89F8-91FA834B86FC}"/>
              </a:ext>
            </a:extLst>
          </p:cNvPr>
          <p:cNvSpPr>
            <a:spLocks noGrp="1"/>
          </p:cNvSpPr>
          <p:nvPr/>
        </p:nvSpPr>
        <p:spPr>
          <a:xfrm>
            <a:off x="960120" y="2999232"/>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2</a:t>
            </a:r>
            <a:endParaRPr sz="1500"/>
          </a:p>
        </p:txBody>
      </p:sp>
      <p:sp>
        <p:nvSpPr>
          <p:cNvPr id="14" name="Text 12">
            <a:extLst>
              <a:ext uri="{FF2B5EF4-FFF2-40B4-BE49-F238E27FC236}">
                <a16:creationId xmlns:a16="http://schemas.microsoft.com/office/drawing/2014/main" id="{0F34D315-55CD-46CD-B2D9-FC5FE31276CF}"/>
              </a:ext>
            </a:extLst>
          </p:cNvPr>
          <p:cNvSpPr>
            <a:spLocks noGrp="1"/>
          </p:cNvSpPr>
          <p:nvPr/>
        </p:nvSpPr>
        <p:spPr>
          <a:xfrm>
            <a:off x="1572768" y="2990088"/>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選択結果の安定性</a:t>
            </a:r>
            <a:endParaRPr sz="1750"/>
          </a:p>
        </p:txBody>
      </p:sp>
      <p:sp>
        <p:nvSpPr>
          <p:cNvPr id="15" name="Text 13">
            <a:extLst>
              <a:ext uri="{FF2B5EF4-FFF2-40B4-BE49-F238E27FC236}">
                <a16:creationId xmlns:a16="http://schemas.microsoft.com/office/drawing/2014/main" id="{A106F6D0-677F-43AF-8DD8-339603F05243}"/>
              </a:ext>
            </a:extLst>
          </p:cNvPr>
          <p:cNvSpPr>
            <a:spLocks noGrp="1"/>
          </p:cNvSpPr>
          <p:nvPr/>
        </p:nvSpPr>
        <p:spPr>
          <a:xfrm>
            <a:off x="3063240" y="2971800"/>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候補範囲と計算時間を分けて変え、最終配車の変化を確認</a:t>
            </a:r>
            <a:endParaRPr sz="1420"/>
          </a:p>
        </p:txBody>
      </p:sp>
      <p:sp>
        <p:nvSpPr>
          <p:cNvPr id="16" name="Shape 14">
            <a:extLst>
              <a:ext uri="{FF2B5EF4-FFF2-40B4-BE49-F238E27FC236}">
                <a16:creationId xmlns:a16="http://schemas.microsoft.com/office/drawing/2014/main" id="{0E4E46ED-0BE8-4604-B729-F9B325E0DA25}"/>
              </a:ext>
            </a:extLst>
          </p:cNvPr>
          <p:cNvSpPr>
            <a:spLocks noGrp="1"/>
          </p:cNvSpPr>
          <p:nvPr/>
        </p:nvSpPr>
        <p:spPr>
          <a:xfrm>
            <a:off x="960120" y="4151376"/>
            <a:ext cx="438912" cy="438912"/>
          </a:xfrm>
          <a:prstGeom prst="ellipse">
            <a:avLst/>
          </a:prstGeom>
          <a:solidFill>
            <a:srgbClr val="E7B34B"/>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3E1DA2BC-8D00-4DD1-8D3F-E3C696987A8A}"/>
              </a:ext>
            </a:extLst>
          </p:cNvPr>
          <p:cNvSpPr>
            <a:spLocks noGrp="1"/>
          </p:cNvSpPr>
          <p:nvPr/>
        </p:nvSpPr>
        <p:spPr>
          <a:xfrm>
            <a:off x="960120" y="4114800"/>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3</a:t>
            </a:r>
            <a:endParaRPr sz="1500"/>
          </a:p>
        </p:txBody>
      </p:sp>
      <p:sp>
        <p:nvSpPr>
          <p:cNvPr id="18" name="Text 16">
            <a:extLst>
              <a:ext uri="{FF2B5EF4-FFF2-40B4-BE49-F238E27FC236}">
                <a16:creationId xmlns:a16="http://schemas.microsoft.com/office/drawing/2014/main" id="{D9F1B793-518C-41C4-BD78-561427814F06}"/>
              </a:ext>
            </a:extLst>
          </p:cNvPr>
          <p:cNvSpPr>
            <a:spLocks noGrp="1"/>
          </p:cNvSpPr>
          <p:nvPr/>
        </p:nvSpPr>
        <p:spPr>
          <a:xfrm>
            <a:off x="1572768" y="4105656"/>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結果の固定</a:t>
            </a:r>
            <a:endParaRPr sz="1750"/>
          </a:p>
        </p:txBody>
      </p:sp>
      <p:sp>
        <p:nvSpPr>
          <p:cNvPr id="19" name="Text 17">
            <a:extLst>
              <a:ext uri="{FF2B5EF4-FFF2-40B4-BE49-F238E27FC236}">
                <a16:creationId xmlns:a16="http://schemas.microsoft.com/office/drawing/2014/main" id="{9D888B86-80C3-40F1-9119-BE6EAA292A9B}"/>
              </a:ext>
            </a:extLst>
          </p:cNvPr>
          <p:cNvSpPr>
            <a:spLocks noGrp="1"/>
          </p:cNvSpPr>
          <p:nvPr/>
        </p:nvSpPr>
        <p:spPr>
          <a:xfrm>
            <a:off x="3063240" y="4087368"/>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10月末までに図表・中間発表・大会原稿の内容を確定</a:t>
            </a:r>
            <a:endParaRPr sz="1420"/>
          </a:p>
        </p:txBody>
      </p:sp>
      <p:sp>
        <p:nvSpPr>
          <p:cNvPr id="20" name="Shape 18">
            <a:extLst>
              <a:ext uri="{FF2B5EF4-FFF2-40B4-BE49-F238E27FC236}">
                <a16:creationId xmlns:a16="http://schemas.microsoft.com/office/drawing/2014/main" id="{4C795923-2056-4948-99C6-D0B96A080365}"/>
              </a:ext>
            </a:extLst>
          </p:cNvPr>
          <p:cNvSpPr>
            <a:spLocks noGrp="1"/>
          </p:cNvSpPr>
          <p:nvPr/>
        </p:nvSpPr>
        <p:spPr>
          <a:xfrm>
            <a:off x="960120" y="5321808"/>
            <a:ext cx="4773168" cy="475488"/>
          </a:xfrm>
          <a:prstGeom prst="roundRect">
            <a:avLst/>
          </a:prstGeom>
          <a:solidFill>
            <a:srgbClr val="FFFFFF"/>
          </a:solidFill>
          <a:ln w="12700">
            <a:solidFill>
              <a:srgbClr val="356BB3"/>
            </a:solidFill>
            <a:prstDash val="solid"/>
          </a:ln>
        </p:spPr>
        <p:txBody>
          <a:bodyPr/>
          <a:lstStyle/>
          <a:p>
            <a:endParaRPr/>
          </a:p>
        </p:txBody>
      </p:sp>
      <p:sp>
        <p:nvSpPr>
          <p:cNvPr id="21" name="Text 19">
            <a:extLst>
              <a:ext uri="{FF2B5EF4-FFF2-40B4-BE49-F238E27FC236}">
                <a16:creationId xmlns:a16="http://schemas.microsoft.com/office/drawing/2014/main" id="{FB196CB0-15AF-4937-AD87-465664E7C746}"/>
              </a:ext>
            </a:extLst>
          </p:cNvPr>
          <p:cNvSpPr>
            <a:spLocks noGrp="1"/>
          </p:cNvSpPr>
          <p:nvPr/>
        </p:nvSpPr>
        <p:spPr>
          <a:xfrm>
            <a:off x="1188720" y="5431536"/>
            <a:ext cx="4315968" cy="246888"/>
          </a:xfrm>
          <a:prstGeom prst="rect">
            <a:avLst/>
          </a:prstGeom>
          <a:noFill/>
        </p:spPr>
        <p:txBody>
          <a:bodyPr wrap="square" lIns="0" tIns="0" rIns="0" bIns="0" anchor="ctr"/>
          <a:lstStyle/>
          <a:p>
            <a:pPr marL="0" indent="0" algn="ctr">
              <a:buNone/>
            </a:pPr>
            <a:r>
              <a:rPr sz="1450" b="1">
                <a:solidFill>
                  <a:srgbClr val="356BB3"/>
                </a:solidFill>
                <a:latin typeface="Noto Sans CJK JP"/>
                <a:ea typeface="Noto Sans CJK JP"/>
                <a:cs typeface="Noto Sans CJK JP"/>
              </a:rPr>
              <a:t>優先：SOC上限を修正し、独立検証後に新しいSHAで再実験する。</a:t>
            </a:r>
            <a:endParaRPr sz="1450"/>
          </a:p>
        </p:txBody>
      </p:sp>
      <p:sp>
        <p:nvSpPr>
          <p:cNvPr id="22" name="Shape 20">
            <a:extLst>
              <a:ext uri="{FF2B5EF4-FFF2-40B4-BE49-F238E27FC236}">
                <a16:creationId xmlns:a16="http://schemas.microsoft.com/office/drawing/2014/main" id="{3610F42D-1078-4F24-80D5-C3B2E080DFF3}"/>
              </a:ext>
            </a:extLst>
          </p:cNvPr>
          <p:cNvSpPr>
            <a:spLocks noGrp="1"/>
          </p:cNvSpPr>
          <p:nvPr/>
        </p:nvSpPr>
        <p:spPr>
          <a:xfrm>
            <a:off x="6355080" y="1024128"/>
            <a:ext cx="5212080" cy="5257800"/>
          </a:xfrm>
          <a:prstGeom prst="roundRect">
            <a:avLst>
              <a:gd name="adj" fmla="val 140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3" name="Text 21">
            <a:extLst>
              <a:ext uri="{FF2B5EF4-FFF2-40B4-BE49-F238E27FC236}">
                <a16:creationId xmlns:a16="http://schemas.microsoft.com/office/drawing/2014/main" id="{885FC72B-5A9D-49B4-9E5A-E67A3BC24CCE}"/>
              </a:ext>
            </a:extLst>
          </p:cNvPr>
          <p:cNvSpPr>
            <a:spLocks noGrp="1"/>
          </p:cNvSpPr>
          <p:nvPr/>
        </p:nvSpPr>
        <p:spPr>
          <a:xfrm>
            <a:off x="6656832" y="1298448"/>
            <a:ext cx="2834640" cy="329184"/>
          </a:xfrm>
          <a:prstGeom prst="rect">
            <a:avLst/>
          </a:prstGeom>
          <a:noFill/>
        </p:spPr>
        <p:txBody>
          <a:bodyPr wrap="square" lIns="0" tIns="0" rIns="0" bIns="0" anchor="ctr"/>
          <a:lstStyle/>
          <a:p>
            <a:pPr marL="0" indent="0">
              <a:buNone/>
            </a:pPr>
            <a:r>
              <a:rPr sz="2100" b="1">
                <a:solidFill>
                  <a:srgbClr val="172033"/>
                </a:solidFill>
                <a:latin typeface="Noto Sans CJK JP"/>
                <a:ea typeface="Noto Sans CJK JP"/>
                <a:cs typeface="Noto Sans CJK JP"/>
              </a:rPr>
              <a:t>指導教員に確認したい4点</a:t>
            </a:r>
            <a:endParaRPr sz="2100"/>
          </a:p>
        </p:txBody>
      </p:sp>
      <p:sp>
        <p:nvSpPr>
          <p:cNvPr id="24" name="Shape 22">
            <a:extLst>
              <a:ext uri="{FF2B5EF4-FFF2-40B4-BE49-F238E27FC236}">
                <a16:creationId xmlns:a16="http://schemas.microsoft.com/office/drawing/2014/main" id="{EB76536E-8FA5-4237-B17A-CA4B731B1B48}"/>
              </a:ext>
            </a:extLst>
          </p:cNvPr>
          <p:cNvSpPr>
            <a:spLocks noGrp="1"/>
          </p:cNvSpPr>
          <p:nvPr/>
        </p:nvSpPr>
        <p:spPr>
          <a:xfrm>
            <a:off x="6720840" y="1938528"/>
            <a:ext cx="347472" cy="347472"/>
          </a:xfrm>
          <a:prstGeom prst="ellipse">
            <a:avLst/>
          </a:prstGeom>
          <a:solidFill>
            <a:srgbClr val="1F2A5A"/>
          </a:solidFill>
          <a:ln w="12700">
            <a:solidFill>
              <a:srgbClr val="1F2A5A"/>
            </a:solidFill>
            <a:prstDash val="solid"/>
          </a:ln>
        </p:spPr>
        <p:txBody>
          <a:bodyPr/>
          <a:lstStyle/>
          <a:p>
            <a:endParaRPr/>
          </a:p>
        </p:txBody>
      </p:sp>
      <p:sp>
        <p:nvSpPr>
          <p:cNvPr id="25" name="Text 23">
            <a:extLst>
              <a:ext uri="{FF2B5EF4-FFF2-40B4-BE49-F238E27FC236}">
                <a16:creationId xmlns:a16="http://schemas.microsoft.com/office/drawing/2014/main" id="{4CD551EA-F386-42CD-9B25-EE78217CF243}"/>
              </a:ext>
            </a:extLst>
          </p:cNvPr>
          <p:cNvSpPr>
            <a:spLocks noGrp="1"/>
          </p:cNvSpPr>
          <p:nvPr/>
        </p:nvSpPr>
        <p:spPr>
          <a:xfrm>
            <a:off x="6720840" y="1911096"/>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1</a:t>
            </a:r>
            <a:endParaRPr sz="1250"/>
          </a:p>
        </p:txBody>
      </p:sp>
      <p:sp>
        <p:nvSpPr>
          <p:cNvPr id="26" name="Text 24">
            <a:extLst>
              <a:ext uri="{FF2B5EF4-FFF2-40B4-BE49-F238E27FC236}">
                <a16:creationId xmlns:a16="http://schemas.microsoft.com/office/drawing/2014/main" id="{DA9A471A-A79E-46CE-BCE9-EB1AA65FE30C}"/>
              </a:ext>
            </a:extLst>
          </p:cNvPr>
          <p:cNvSpPr>
            <a:spLocks noGrp="1"/>
          </p:cNvSpPr>
          <p:nvPr/>
        </p:nvSpPr>
        <p:spPr>
          <a:xfrm>
            <a:off x="7269480" y="1920240"/>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全国大会は小規模比較を中心にしてよいか</a:t>
            </a:r>
            <a:endParaRPr sz="1520"/>
          </a:p>
        </p:txBody>
      </p:sp>
      <p:sp>
        <p:nvSpPr>
          <p:cNvPr id="27" name="Shape 25">
            <a:extLst>
              <a:ext uri="{FF2B5EF4-FFF2-40B4-BE49-F238E27FC236}">
                <a16:creationId xmlns:a16="http://schemas.microsoft.com/office/drawing/2014/main" id="{B7F9A9A2-1DB8-4989-9FD2-BE51CE5B0A86}"/>
              </a:ext>
            </a:extLst>
          </p:cNvPr>
          <p:cNvSpPr>
            <a:spLocks noGrp="1"/>
          </p:cNvSpPr>
          <p:nvPr/>
        </p:nvSpPr>
        <p:spPr>
          <a:xfrm>
            <a:off x="6720840" y="2697480"/>
            <a:ext cx="347472" cy="347472"/>
          </a:xfrm>
          <a:prstGeom prst="ellipse">
            <a:avLst/>
          </a:prstGeom>
          <a:solidFill>
            <a:srgbClr val="1F2A5A"/>
          </a:solidFill>
          <a:ln w="12700">
            <a:solidFill>
              <a:srgbClr val="1F2A5A"/>
            </a:solidFill>
            <a:prstDash val="solid"/>
          </a:ln>
        </p:spPr>
        <p:txBody>
          <a:bodyPr/>
          <a:lstStyle/>
          <a:p>
            <a:endParaRPr/>
          </a:p>
        </p:txBody>
      </p:sp>
      <p:sp>
        <p:nvSpPr>
          <p:cNvPr id="28" name="Text 26">
            <a:extLst>
              <a:ext uri="{FF2B5EF4-FFF2-40B4-BE49-F238E27FC236}">
                <a16:creationId xmlns:a16="http://schemas.microsoft.com/office/drawing/2014/main" id="{E0B859A1-A4EB-4033-818D-87625BADFACE}"/>
              </a:ext>
            </a:extLst>
          </p:cNvPr>
          <p:cNvSpPr>
            <a:spLocks noGrp="1"/>
          </p:cNvSpPr>
          <p:nvPr/>
        </p:nvSpPr>
        <p:spPr>
          <a:xfrm>
            <a:off x="6720840" y="2670048"/>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2</a:t>
            </a:r>
            <a:endParaRPr sz="1250"/>
          </a:p>
        </p:txBody>
      </p:sp>
      <p:sp>
        <p:nvSpPr>
          <p:cNvPr id="29" name="Text 27">
            <a:extLst>
              <a:ext uri="{FF2B5EF4-FFF2-40B4-BE49-F238E27FC236}">
                <a16:creationId xmlns:a16="http://schemas.microsoft.com/office/drawing/2014/main" id="{EDEB31D4-F1D8-4F4F-B281-B1288BBF4D89}"/>
              </a:ext>
            </a:extLst>
          </p:cNvPr>
          <p:cNvSpPr>
            <a:spLocks noGrp="1"/>
          </p:cNvSpPr>
          <p:nvPr/>
        </p:nvSpPr>
        <p:spPr>
          <a:xfrm>
            <a:off x="7269480" y="2679192"/>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SOC上限の修正・再検証を最優先としてよいか</a:t>
            </a:r>
            <a:endParaRPr sz="1520"/>
          </a:p>
        </p:txBody>
      </p:sp>
      <p:sp>
        <p:nvSpPr>
          <p:cNvPr id="30" name="Shape 28">
            <a:extLst>
              <a:ext uri="{FF2B5EF4-FFF2-40B4-BE49-F238E27FC236}">
                <a16:creationId xmlns:a16="http://schemas.microsoft.com/office/drawing/2014/main" id="{F508137F-64CD-4DC5-B17E-687A6374195B}"/>
              </a:ext>
            </a:extLst>
          </p:cNvPr>
          <p:cNvSpPr>
            <a:spLocks noGrp="1"/>
          </p:cNvSpPr>
          <p:nvPr/>
        </p:nvSpPr>
        <p:spPr>
          <a:xfrm>
            <a:off x="6720840" y="3456432"/>
            <a:ext cx="347472" cy="347472"/>
          </a:xfrm>
          <a:prstGeom prst="ellipse">
            <a:avLst/>
          </a:prstGeom>
          <a:solidFill>
            <a:srgbClr val="1F2A5A"/>
          </a:solidFill>
          <a:ln w="12700">
            <a:solidFill>
              <a:srgbClr val="1F2A5A"/>
            </a:solidFill>
            <a:prstDash val="solid"/>
          </a:ln>
        </p:spPr>
        <p:txBody>
          <a:bodyPr/>
          <a:lstStyle/>
          <a:p>
            <a:endParaRPr/>
          </a:p>
        </p:txBody>
      </p:sp>
      <p:sp>
        <p:nvSpPr>
          <p:cNvPr id="31" name="Text 29">
            <a:extLst>
              <a:ext uri="{FF2B5EF4-FFF2-40B4-BE49-F238E27FC236}">
                <a16:creationId xmlns:a16="http://schemas.microsoft.com/office/drawing/2014/main" id="{116AE69B-30EB-4FE6-A70F-83D844F382C1}"/>
              </a:ext>
            </a:extLst>
          </p:cNvPr>
          <p:cNvSpPr>
            <a:spLocks noGrp="1"/>
          </p:cNvSpPr>
          <p:nvPr/>
        </p:nvSpPr>
        <p:spPr>
          <a:xfrm>
            <a:off x="6720840" y="3429000"/>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3</a:t>
            </a:r>
            <a:endParaRPr sz="1250"/>
          </a:p>
        </p:txBody>
      </p:sp>
      <p:sp>
        <p:nvSpPr>
          <p:cNvPr id="32" name="Text 30">
            <a:extLst>
              <a:ext uri="{FF2B5EF4-FFF2-40B4-BE49-F238E27FC236}">
                <a16:creationId xmlns:a16="http://schemas.microsoft.com/office/drawing/2014/main" id="{ACC34AB2-A35B-434C-BFC3-FDA1D048A698}"/>
              </a:ext>
            </a:extLst>
          </p:cNvPr>
          <p:cNvSpPr>
            <a:spLocks noGrp="1"/>
          </p:cNvSpPr>
          <p:nvPr/>
        </p:nvSpPr>
        <p:spPr>
          <a:xfrm>
            <a:off x="7269480" y="3438144"/>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低PV側の候補差をどこまで追加確認するか</a:t>
            </a:r>
            <a:endParaRPr sz="1520"/>
          </a:p>
        </p:txBody>
      </p:sp>
      <p:sp>
        <p:nvSpPr>
          <p:cNvPr id="33" name="Shape 31">
            <a:extLst>
              <a:ext uri="{FF2B5EF4-FFF2-40B4-BE49-F238E27FC236}">
                <a16:creationId xmlns:a16="http://schemas.microsoft.com/office/drawing/2014/main" id="{FAE9040B-57EE-4844-BE15-880495BB53E2}"/>
              </a:ext>
            </a:extLst>
          </p:cNvPr>
          <p:cNvSpPr>
            <a:spLocks noGrp="1"/>
          </p:cNvSpPr>
          <p:nvPr/>
        </p:nvSpPr>
        <p:spPr>
          <a:xfrm>
            <a:off x="6720840" y="4215384"/>
            <a:ext cx="347472" cy="347472"/>
          </a:xfrm>
          <a:prstGeom prst="ellipse">
            <a:avLst/>
          </a:prstGeom>
          <a:solidFill>
            <a:srgbClr val="1F2A5A"/>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3BA5DB8C-8C24-493F-B56B-5FB3EDCEA081}"/>
              </a:ext>
            </a:extLst>
          </p:cNvPr>
          <p:cNvSpPr>
            <a:spLocks noGrp="1"/>
          </p:cNvSpPr>
          <p:nvPr/>
        </p:nvSpPr>
        <p:spPr>
          <a:xfrm>
            <a:off x="6720840" y="4187952"/>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4</a:t>
            </a:r>
            <a:endParaRPr sz="1250"/>
          </a:p>
        </p:txBody>
      </p:sp>
      <p:sp>
        <p:nvSpPr>
          <p:cNvPr id="35" name="Text 33">
            <a:extLst>
              <a:ext uri="{FF2B5EF4-FFF2-40B4-BE49-F238E27FC236}">
                <a16:creationId xmlns:a16="http://schemas.microsoft.com/office/drawing/2014/main" id="{DBB7583F-60CF-44D3-BE97-FF03799A0226}"/>
              </a:ext>
            </a:extLst>
          </p:cNvPr>
          <p:cNvSpPr>
            <a:spLocks noGrp="1"/>
          </p:cNvSpPr>
          <p:nvPr/>
        </p:nvSpPr>
        <p:spPr>
          <a:xfrm>
            <a:off x="7269480" y="4197096"/>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設備費・劣化費なしの費用範囲で発表してよいか</a:t>
            </a:r>
            <a:endParaRPr sz="1520"/>
          </a:p>
        </p:txBody>
      </p:sp>
      <p:sp>
        <p:nvSpPr>
          <p:cNvPr id="36" name="Shape 34">
            <a:extLst>
              <a:ext uri="{FF2B5EF4-FFF2-40B4-BE49-F238E27FC236}">
                <a16:creationId xmlns:a16="http://schemas.microsoft.com/office/drawing/2014/main" id="{2D17D8FB-4F14-4D1E-8F4E-16F073F639DE}"/>
              </a:ext>
            </a:extLst>
          </p:cNvPr>
          <p:cNvSpPr>
            <a:spLocks noGrp="1"/>
          </p:cNvSpPr>
          <p:nvPr/>
        </p:nvSpPr>
        <p:spPr>
          <a:xfrm>
            <a:off x="6720840" y="5257800"/>
            <a:ext cx="4434840" cy="566928"/>
          </a:xfrm>
          <a:prstGeom prst="roundRect">
            <a:avLst/>
          </a:prstGeom>
          <a:solidFill>
            <a:srgbClr val="E8F6F3"/>
          </a:solidFill>
          <a:ln w="12700">
            <a:solidFill>
              <a:srgbClr val="1F9D8A"/>
            </a:solidFill>
            <a:prstDash val="solid"/>
          </a:ln>
        </p:spPr>
        <p:txBody>
          <a:bodyPr/>
          <a:lstStyle/>
          <a:p>
            <a:endParaRPr/>
          </a:p>
        </p:txBody>
      </p:sp>
      <p:sp>
        <p:nvSpPr>
          <p:cNvPr id="37" name="Text 35">
            <a:extLst>
              <a:ext uri="{FF2B5EF4-FFF2-40B4-BE49-F238E27FC236}">
                <a16:creationId xmlns:a16="http://schemas.microsoft.com/office/drawing/2014/main" id="{D47D9357-891D-467B-9882-8C78F73C3079}"/>
              </a:ext>
            </a:extLst>
          </p:cNvPr>
          <p:cNvSpPr>
            <a:spLocks noGrp="1"/>
          </p:cNvSpPr>
          <p:nvPr/>
        </p:nvSpPr>
        <p:spPr>
          <a:xfrm>
            <a:off x="6931152" y="5358384"/>
            <a:ext cx="4005072" cy="347472"/>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現状：2条件の保存結果にSOC上限の不一致を確認。</a:t>
            </a:r>
            <a:endParaRPr sz="1350"/>
          </a:p>
          <a:p>
            <a:pPr marL="0" indent="0" algn="ctr">
              <a:buNone/>
            </a:pPr>
            <a:r>
              <a:rPr sz="1350" b="1">
                <a:solidFill>
                  <a:srgbClr val="1F9D8A"/>
                </a:solidFill>
                <a:latin typeface="Noto Sans CJK JP"/>
                <a:ea typeface="Noto Sans CJK JP"/>
                <a:cs typeface="Noto Sans CJK JP"/>
              </a:rPr>
              <a:t>数値は診断用。研究結論には使用しない。</a:t>
            </a:r>
            <a:endParaRPr sz="1350"/>
          </a:p>
        </p:txBody>
      </p:sp>
      <p:sp>
        <p:nvSpPr>
          <p:cNvPr id="38" name="正方形/長方形 37">
            <a:extLst>
              <a:ext uri="{FF2B5EF4-FFF2-40B4-BE49-F238E27FC236}">
                <a16:creationId xmlns:a16="http://schemas.microsoft.com/office/drawing/2014/main" id="{220E7C76-7740-477E-9571-2B72EC3AE9B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6708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8737D2-1382-4A99-9206-D72927AAC01E}"/>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参考にした先行研究</a:t>
            </a:r>
            <a:endParaRPr sz="2550"/>
          </a:p>
        </p:txBody>
      </p:sp>
      <p:sp>
        <p:nvSpPr>
          <p:cNvPr id="3" name="Shape 1">
            <a:extLst>
              <a:ext uri="{FF2B5EF4-FFF2-40B4-BE49-F238E27FC236}">
                <a16:creationId xmlns:a16="http://schemas.microsoft.com/office/drawing/2014/main" id="{F7FA09FE-1F13-4B33-A227-C97452C9EE2F}"/>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7BADA38-0D24-42FA-9631-A552FECD16E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進捗報告（参考）</a:t>
            </a:r>
            <a:endParaRPr sz="850"/>
          </a:p>
        </p:txBody>
      </p:sp>
      <p:sp>
        <p:nvSpPr>
          <p:cNvPr id="5" name="Text 3">
            <a:extLst>
              <a:ext uri="{FF2B5EF4-FFF2-40B4-BE49-F238E27FC236}">
                <a16:creationId xmlns:a16="http://schemas.microsoft.com/office/drawing/2014/main" id="{41A07E7E-6F6E-4093-9F5B-7C8A84270EE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18/18</a:t>
            </a:r>
            <a:endParaRPr sz="850"/>
          </a:p>
        </p:txBody>
      </p:sp>
      <p:sp>
        <p:nvSpPr>
          <p:cNvPr id="6" name="Shape 4">
            <a:extLst>
              <a:ext uri="{FF2B5EF4-FFF2-40B4-BE49-F238E27FC236}">
                <a16:creationId xmlns:a16="http://schemas.microsoft.com/office/drawing/2014/main" id="{1640C39C-79AA-492C-AC41-8B134ED004AE}"/>
              </a:ext>
            </a:extLst>
          </p:cNvPr>
          <p:cNvSpPr>
            <a:spLocks noGrp="1"/>
          </p:cNvSpPr>
          <p:nvPr/>
        </p:nvSpPr>
        <p:spPr>
          <a:xfrm>
            <a:off x="640080" y="941832"/>
            <a:ext cx="10927080" cy="694944"/>
          </a:xfrm>
          <a:prstGeom prst="rect">
            <a:avLst/>
          </a:prstGeom>
          <a:solidFill>
            <a:srgbClr val="F8FAFC"/>
          </a:solidFill>
          <a:ln w="12700">
            <a:solidFill>
              <a:srgbClr val="F8FAFC"/>
            </a:solidFill>
            <a:prstDash val="solid"/>
          </a:ln>
        </p:spPr>
        <p:txBody>
          <a:bodyPr/>
          <a:lstStyle/>
          <a:p>
            <a:endParaRPr/>
          </a:p>
        </p:txBody>
      </p:sp>
      <p:sp>
        <p:nvSpPr>
          <p:cNvPr id="7" name="Text 5">
            <a:extLst>
              <a:ext uri="{FF2B5EF4-FFF2-40B4-BE49-F238E27FC236}">
                <a16:creationId xmlns:a16="http://schemas.microsoft.com/office/drawing/2014/main" id="{8DE19BA3-CBFF-4035-916E-7CBCFFE8C19C}"/>
              </a:ext>
            </a:extLst>
          </p:cNvPr>
          <p:cNvSpPr>
            <a:spLocks noGrp="1"/>
          </p:cNvSpPr>
          <p:nvPr/>
        </p:nvSpPr>
        <p:spPr>
          <a:xfrm>
            <a:off x="804672" y="98755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[1]</a:t>
            </a:r>
            <a:endParaRPr sz="1300"/>
          </a:p>
        </p:txBody>
      </p:sp>
      <p:sp>
        <p:nvSpPr>
          <p:cNvPr id="8" name="Text 6">
            <a:extLst>
              <a:ext uri="{FF2B5EF4-FFF2-40B4-BE49-F238E27FC236}">
                <a16:creationId xmlns:a16="http://schemas.microsoft.com/office/drawing/2014/main" id="{3C5B0F1E-2079-4F8C-9A02-BB0C7E9741FF}"/>
              </a:ext>
            </a:extLst>
          </p:cNvPr>
          <p:cNvSpPr>
            <a:spLocks noGrp="1"/>
          </p:cNvSpPr>
          <p:nvPr/>
        </p:nvSpPr>
        <p:spPr>
          <a:xfrm>
            <a:off x="1261872" y="98755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Fei, F. et al.</a:t>
            </a:r>
            <a:endParaRPr sz="1300"/>
          </a:p>
        </p:txBody>
      </p:sp>
      <p:sp>
        <p:nvSpPr>
          <p:cNvPr id="9" name="Text 7">
            <a:extLst>
              <a:ext uri="{FF2B5EF4-FFF2-40B4-BE49-F238E27FC236}">
                <a16:creationId xmlns:a16="http://schemas.microsoft.com/office/drawing/2014/main" id="{FA83ED0E-4146-4D08-9FF8-41068084AA11}"/>
              </a:ext>
            </a:extLst>
          </p:cNvPr>
          <p:cNvSpPr>
            <a:spLocks noGrp="1"/>
          </p:cNvSpPr>
          <p:nvPr/>
        </p:nvSpPr>
        <p:spPr>
          <a:xfrm>
            <a:off x="2880360" y="96926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Exploring the profitability of using electric bus fleets for transport and power grid services</a:t>
            </a:r>
            <a:endParaRPr sz="1220"/>
          </a:p>
        </p:txBody>
      </p:sp>
      <p:sp>
        <p:nvSpPr>
          <p:cNvPr id="10" name="Text 8">
            <a:extLst>
              <a:ext uri="{FF2B5EF4-FFF2-40B4-BE49-F238E27FC236}">
                <a16:creationId xmlns:a16="http://schemas.microsoft.com/office/drawing/2014/main" id="{C3CDFA5B-DD2D-4C77-AEEA-9607135D72B0}"/>
              </a:ext>
            </a:extLst>
          </p:cNvPr>
          <p:cNvSpPr>
            <a:spLocks noGrp="1"/>
          </p:cNvSpPr>
          <p:nvPr/>
        </p:nvSpPr>
        <p:spPr>
          <a:xfrm>
            <a:off x="8942832" y="97840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C, 149, 104060, 2023</a:t>
            </a:r>
            <a:endParaRPr sz="1080"/>
          </a:p>
        </p:txBody>
      </p:sp>
      <p:sp>
        <p:nvSpPr>
          <p:cNvPr id="11" name="Text 9">
            <a:extLst>
              <a:ext uri="{FF2B5EF4-FFF2-40B4-BE49-F238E27FC236}">
                <a16:creationId xmlns:a16="http://schemas.microsoft.com/office/drawing/2014/main" id="{EA9C5CD7-BC48-4903-9415-41C352562841}"/>
              </a:ext>
            </a:extLst>
          </p:cNvPr>
          <p:cNvSpPr>
            <a:spLocks noGrp="1"/>
          </p:cNvSpPr>
          <p:nvPr/>
        </p:nvSpPr>
        <p:spPr>
          <a:xfrm>
            <a:off x="804672" y="1783080"/>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[2]</a:t>
            </a:r>
            <a:endParaRPr sz="1300"/>
          </a:p>
        </p:txBody>
      </p:sp>
      <p:sp>
        <p:nvSpPr>
          <p:cNvPr id="12" name="Text 10">
            <a:extLst>
              <a:ext uri="{FF2B5EF4-FFF2-40B4-BE49-F238E27FC236}">
                <a16:creationId xmlns:a16="http://schemas.microsoft.com/office/drawing/2014/main" id="{EA4F402A-E80E-4A81-9A23-CE39D4AC50E8}"/>
              </a:ext>
            </a:extLst>
          </p:cNvPr>
          <p:cNvSpPr>
            <a:spLocks noGrp="1"/>
          </p:cNvSpPr>
          <p:nvPr/>
        </p:nvSpPr>
        <p:spPr>
          <a:xfrm>
            <a:off x="1261872" y="1783080"/>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Najafi, A. et al.</a:t>
            </a:r>
            <a:endParaRPr sz="1300"/>
          </a:p>
        </p:txBody>
      </p:sp>
      <p:sp>
        <p:nvSpPr>
          <p:cNvPr id="13" name="Text 11">
            <a:extLst>
              <a:ext uri="{FF2B5EF4-FFF2-40B4-BE49-F238E27FC236}">
                <a16:creationId xmlns:a16="http://schemas.microsoft.com/office/drawing/2014/main" id="{21077379-CEFD-41E0-A096-06A1864E3176}"/>
              </a:ext>
            </a:extLst>
          </p:cNvPr>
          <p:cNvSpPr>
            <a:spLocks noGrp="1"/>
          </p:cNvSpPr>
          <p:nvPr/>
        </p:nvSpPr>
        <p:spPr>
          <a:xfrm>
            <a:off x="2880360" y="1764792"/>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Integrated optimization of charging infrastructure, electric bus scheduling and energy systems</a:t>
            </a:r>
            <a:endParaRPr sz="1220"/>
          </a:p>
        </p:txBody>
      </p:sp>
      <p:sp>
        <p:nvSpPr>
          <p:cNvPr id="14" name="Text 12">
            <a:extLst>
              <a:ext uri="{FF2B5EF4-FFF2-40B4-BE49-F238E27FC236}">
                <a16:creationId xmlns:a16="http://schemas.microsoft.com/office/drawing/2014/main" id="{F19AFFA2-1352-4497-9D6D-DAEF19D4BF46}"/>
              </a:ext>
            </a:extLst>
          </p:cNvPr>
          <p:cNvSpPr>
            <a:spLocks noGrp="1"/>
          </p:cNvSpPr>
          <p:nvPr/>
        </p:nvSpPr>
        <p:spPr>
          <a:xfrm>
            <a:off x="8942832" y="1773936"/>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141, 104664, 2025</a:t>
            </a:r>
            <a:endParaRPr sz="1080"/>
          </a:p>
        </p:txBody>
      </p:sp>
      <p:sp>
        <p:nvSpPr>
          <p:cNvPr id="15" name="Shape 13">
            <a:extLst>
              <a:ext uri="{FF2B5EF4-FFF2-40B4-BE49-F238E27FC236}">
                <a16:creationId xmlns:a16="http://schemas.microsoft.com/office/drawing/2014/main" id="{594FC5B8-B0BA-476C-B8AE-89F172DBECD4}"/>
              </a:ext>
            </a:extLst>
          </p:cNvPr>
          <p:cNvSpPr>
            <a:spLocks noGrp="1"/>
          </p:cNvSpPr>
          <p:nvPr/>
        </p:nvSpPr>
        <p:spPr>
          <a:xfrm>
            <a:off x="640080" y="2532888"/>
            <a:ext cx="10927080" cy="694944"/>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D0539F84-1A52-4948-A7B1-7F3EE95C5CE8}"/>
              </a:ext>
            </a:extLst>
          </p:cNvPr>
          <p:cNvSpPr>
            <a:spLocks noGrp="1"/>
          </p:cNvSpPr>
          <p:nvPr/>
        </p:nvSpPr>
        <p:spPr>
          <a:xfrm>
            <a:off x="804672" y="2578608"/>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[3]</a:t>
            </a:r>
            <a:endParaRPr sz="1300"/>
          </a:p>
        </p:txBody>
      </p:sp>
      <p:sp>
        <p:nvSpPr>
          <p:cNvPr id="17" name="Text 15">
            <a:extLst>
              <a:ext uri="{FF2B5EF4-FFF2-40B4-BE49-F238E27FC236}">
                <a16:creationId xmlns:a16="http://schemas.microsoft.com/office/drawing/2014/main" id="{CFE58BB1-4162-428C-8DCE-F1B77DE51654}"/>
              </a:ext>
            </a:extLst>
          </p:cNvPr>
          <p:cNvSpPr>
            <a:spLocks noGrp="1"/>
          </p:cNvSpPr>
          <p:nvPr/>
        </p:nvSpPr>
        <p:spPr>
          <a:xfrm>
            <a:off x="1261872" y="2578608"/>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M. et al.</a:t>
            </a:r>
            <a:endParaRPr sz="1300"/>
          </a:p>
        </p:txBody>
      </p:sp>
      <p:sp>
        <p:nvSpPr>
          <p:cNvPr id="18" name="Text 16">
            <a:extLst>
              <a:ext uri="{FF2B5EF4-FFF2-40B4-BE49-F238E27FC236}">
                <a16:creationId xmlns:a16="http://schemas.microsoft.com/office/drawing/2014/main" id="{3451FC09-10AB-4EFF-836E-22C730C300E9}"/>
              </a:ext>
            </a:extLst>
          </p:cNvPr>
          <p:cNvSpPr>
            <a:spLocks noGrp="1"/>
          </p:cNvSpPr>
          <p:nvPr/>
        </p:nvSpPr>
        <p:spPr>
          <a:xfrm>
            <a:off x="2880360" y="2560320"/>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Optimal Electric Bus Charging Scheduling with Multiple Vehicle and Charger Types Considering Compatibility</a:t>
            </a:r>
            <a:endParaRPr sz="1220"/>
          </a:p>
        </p:txBody>
      </p:sp>
      <p:sp>
        <p:nvSpPr>
          <p:cNvPr id="19" name="Text 17">
            <a:extLst>
              <a:ext uri="{FF2B5EF4-FFF2-40B4-BE49-F238E27FC236}">
                <a16:creationId xmlns:a16="http://schemas.microsoft.com/office/drawing/2014/main" id="{55CA32C7-295F-4C7E-96DC-73D6D5757D07}"/>
              </a:ext>
            </a:extLst>
          </p:cNvPr>
          <p:cNvSpPr>
            <a:spLocks noGrp="1"/>
          </p:cNvSpPr>
          <p:nvPr/>
        </p:nvSpPr>
        <p:spPr>
          <a:xfrm>
            <a:off x="8942832" y="2569464"/>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2025</a:t>
            </a:r>
            <a:endParaRPr sz="1080"/>
          </a:p>
        </p:txBody>
      </p:sp>
      <p:sp>
        <p:nvSpPr>
          <p:cNvPr id="20" name="Text 18">
            <a:extLst>
              <a:ext uri="{FF2B5EF4-FFF2-40B4-BE49-F238E27FC236}">
                <a16:creationId xmlns:a16="http://schemas.microsoft.com/office/drawing/2014/main" id="{B910187C-115A-4366-98D2-20E628F8A2CC}"/>
              </a:ext>
            </a:extLst>
          </p:cNvPr>
          <p:cNvSpPr>
            <a:spLocks noGrp="1"/>
          </p:cNvSpPr>
          <p:nvPr/>
        </p:nvSpPr>
        <p:spPr>
          <a:xfrm>
            <a:off x="804672" y="3374136"/>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[4]</a:t>
            </a:r>
            <a:endParaRPr sz="1300"/>
          </a:p>
        </p:txBody>
      </p:sp>
      <p:sp>
        <p:nvSpPr>
          <p:cNvPr id="21" name="Text 19">
            <a:extLst>
              <a:ext uri="{FF2B5EF4-FFF2-40B4-BE49-F238E27FC236}">
                <a16:creationId xmlns:a16="http://schemas.microsoft.com/office/drawing/2014/main" id="{D5A3DAC9-F037-4194-BA2E-C3BA25676A60}"/>
              </a:ext>
            </a:extLst>
          </p:cNvPr>
          <p:cNvSpPr>
            <a:spLocks noGrp="1"/>
          </p:cNvSpPr>
          <p:nvPr/>
        </p:nvSpPr>
        <p:spPr>
          <a:xfrm>
            <a:off x="1261872" y="3374136"/>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He, J. et al.</a:t>
            </a:r>
            <a:endParaRPr sz="1300"/>
          </a:p>
        </p:txBody>
      </p:sp>
      <p:sp>
        <p:nvSpPr>
          <p:cNvPr id="22" name="Text 20">
            <a:extLst>
              <a:ext uri="{FF2B5EF4-FFF2-40B4-BE49-F238E27FC236}">
                <a16:creationId xmlns:a16="http://schemas.microsoft.com/office/drawing/2014/main" id="{8C6FED8A-BC37-4534-8025-ACA95A87136A}"/>
              </a:ext>
            </a:extLst>
          </p:cNvPr>
          <p:cNvSpPr>
            <a:spLocks noGrp="1"/>
          </p:cNvSpPr>
          <p:nvPr/>
        </p:nvSpPr>
        <p:spPr>
          <a:xfrm>
            <a:off x="2880360" y="3355848"/>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Battery electricity bus charging schedule considering bus journey’s energy consumption estimation</a:t>
            </a:r>
            <a:endParaRPr sz="1220"/>
          </a:p>
        </p:txBody>
      </p:sp>
      <p:sp>
        <p:nvSpPr>
          <p:cNvPr id="23" name="Text 21">
            <a:extLst>
              <a:ext uri="{FF2B5EF4-FFF2-40B4-BE49-F238E27FC236}">
                <a16:creationId xmlns:a16="http://schemas.microsoft.com/office/drawing/2014/main" id="{3DDA8E7E-96D6-4D3C-8A6D-7ED3A255EF90}"/>
              </a:ext>
            </a:extLst>
          </p:cNvPr>
          <p:cNvSpPr>
            <a:spLocks noGrp="1"/>
          </p:cNvSpPr>
          <p:nvPr/>
        </p:nvSpPr>
        <p:spPr>
          <a:xfrm>
            <a:off x="8942832" y="3364992"/>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115, 103587, 2023</a:t>
            </a:r>
            <a:endParaRPr sz="1080"/>
          </a:p>
        </p:txBody>
      </p:sp>
      <p:sp>
        <p:nvSpPr>
          <p:cNvPr id="24" name="Shape 22">
            <a:extLst>
              <a:ext uri="{FF2B5EF4-FFF2-40B4-BE49-F238E27FC236}">
                <a16:creationId xmlns:a16="http://schemas.microsoft.com/office/drawing/2014/main" id="{440A58C1-4442-4331-879D-7A8ABEBA8C76}"/>
              </a:ext>
            </a:extLst>
          </p:cNvPr>
          <p:cNvSpPr>
            <a:spLocks noGrp="1"/>
          </p:cNvSpPr>
          <p:nvPr/>
        </p:nvSpPr>
        <p:spPr>
          <a:xfrm>
            <a:off x="640080" y="4123944"/>
            <a:ext cx="10927080" cy="694944"/>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2558099B-AA46-4BE9-AAB2-76C804CE25EF}"/>
              </a:ext>
            </a:extLst>
          </p:cNvPr>
          <p:cNvSpPr>
            <a:spLocks noGrp="1"/>
          </p:cNvSpPr>
          <p:nvPr/>
        </p:nvSpPr>
        <p:spPr>
          <a:xfrm>
            <a:off x="804672" y="4169664"/>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[5]</a:t>
            </a:r>
            <a:endParaRPr sz="1300"/>
          </a:p>
        </p:txBody>
      </p:sp>
      <p:sp>
        <p:nvSpPr>
          <p:cNvPr id="26" name="Text 24">
            <a:extLst>
              <a:ext uri="{FF2B5EF4-FFF2-40B4-BE49-F238E27FC236}">
                <a16:creationId xmlns:a16="http://schemas.microsoft.com/office/drawing/2014/main" id="{A7B208E4-3D2A-4540-B4A2-E63E4EB99385}"/>
              </a:ext>
            </a:extLst>
          </p:cNvPr>
          <p:cNvSpPr>
            <a:spLocks noGrp="1"/>
          </p:cNvSpPr>
          <p:nvPr/>
        </p:nvSpPr>
        <p:spPr>
          <a:xfrm>
            <a:off x="1261872" y="4169664"/>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Z. et al.</a:t>
            </a:r>
            <a:endParaRPr sz="1300"/>
          </a:p>
        </p:txBody>
      </p:sp>
      <p:sp>
        <p:nvSpPr>
          <p:cNvPr id="27" name="Text 25">
            <a:extLst>
              <a:ext uri="{FF2B5EF4-FFF2-40B4-BE49-F238E27FC236}">
                <a16:creationId xmlns:a16="http://schemas.microsoft.com/office/drawing/2014/main" id="{E76A7628-9B8A-4D1A-98B7-4ACECAB71480}"/>
              </a:ext>
            </a:extLst>
          </p:cNvPr>
          <p:cNvSpPr>
            <a:spLocks noGrp="1"/>
          </p:cNvSpPr>
          <p:nvPr/>
        </p:nvSpPr>
        <p:spPr>
          <a:xfrm>
            <a:off x="2880360" y="4151376"/>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Analysis and estimation of energy consumption of electric buses using real-world data</a:t>
            </a:r>
            <a:endParaRPr sz="1220"/>
          </a:p>
        </p:txBody>
      </p:sp>
      <p:sp>
        <p:nvSpPr>
          <p:cNvPr id="28" name="Text 26">
            <a:extLst>
              <a:ext uri="{FF2B5EF4-FFF2-40B4-BE49-F238E27FC236}">
                <a16:creationId xmlns:a16="http://schemas.microsoft.com/office/drawing/2014/main" id="{F7131349-D19E-4F27-9D40-B4C2725431C0}"/>
              </a:ext>
            </a:extLst>
          </p:cNvPr>
          <p:cNvSpPr>
            <a:spLocks noGrp="1"/>
          </p:cNvSpPr>
          <p:nvPr/>
        </p:nvSpPr>
        <p:spPr>
          <a:xfrm>
            <a:off x="8942832" y="4160520"/>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126, 104017, 2024</a:t>
            </a:r>
            <a:endParaRPr sz="1080"/>
          </a:p>
        </p:txBody>
      </p:sp>
      <p:sp>
        <p:nvSpPr>
          <p:cNvPr id="29" name="Text 27">
            <a:extLst>
              <a:ext uri="{FF2B5EF4-FFF2-40B4-BE49-F238E27FC236}">
                <a16:creationId xmlns:a16="http://schemas.microsoft.com/office/drawing/2014/main" id="{EBA10569-C37B-4AAD-AFF2-216508A039F6}"/>
              </a:ext>
            </a:extLst>
          </p:cNvPr>
          <p:cNvSpPr>
            <a:spLocks noGrp="1"/>
          </p:cNvSpPr>
          <p:nvPr/>
        </p:nvSpPr>
        <p:spPr>
          <a:xfrm>
            <a:off x="804672" y="496519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[6]</a:t>
            </a:r>
            <a:endParaRPr sz="1300"/>
          </a:p>
        </p:txBody>
      </p:sp>
      <p:sp>
        <p:nvSpPr>
          <p:cNvPr id="30" name="Text 28">
            <a:extLst>
              <a:ext uri="{FF2B5EF4-FFF2-40B4-BE49-F238E27FC236}">
                <a16:creationId xmlns:a16="http://schemas.microsoft.com/office/drawing/2014/main" id="{5B69C464-CF74-45A6-8B15-6974B6A68631}"/>
              </a:ext>
            </a:extLst>
          </p:cNvPr>
          <p:cNvSpPr>
            <a:spLocks noGrp="1"/>
          </p:cNvSpPr>
          <p:nvPr/>
        </p:nvSpPr>
        <p:spPr>
          <a:xfrm>
            <a:off x="1261872" y="496519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Blades, L.A.W. et al.</a:t>
            </a:r>
            <a:endParaRPr sz="1300"/>
          </a:p>
        </p:txBody>
      </p:sp>
      <p:sp>
        <p:nvSpPr>
          <p:cNvPr id="31" name="Text 29">
            <a:extLst>
              <a:ext uri="{FF2B5EF4-FFF2-40B4-BE49-F238E27FC236}">
                <a16:creationId xmlns:a16="http://schemas.microsoft.com/office/drawing/2014/main" id="{9A52961A-2035-42F7-918E-9352FAAE81D8}"/>
              </a:ext>
            </a:extLst>
          </p:cNvPr>
          <p:cNvSpPr>
            <a:spLocks noGrp="1"/>
          </p:cNvSpPr>
          <p:nvPr/>
        </p:nvSpPr>
        <p:spPr>
          <a:xfrm>
            <a:off x="2880360" y="494690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Predicting energy consumption of zero emission buses using route feature selection methods</a:t>
            </a:r>
            <a:endParaRPr sz="1220"/>
          </a:p>
        </p:txBody>
      </p:sp>
      <p:sp>
        <p:nvSpPr>
          <p:cNvPr id="32" name="Text 30">
            <a:extLst>
              <a:ext uri="{FF2B5EF4-FFF2-40B4-BE49-F238E27FC236}">
                <a16:creationId xmlns:a16="http://schemas.microsoft.com/office/drawing/2014/main" id="{E0C191E8-6882-4F63-85C2-EE69B4B79833}"/>
              </a:ext>
            </a:extLst>
          </p:cNvPr>
          <p:cNvSpPr>
            <a:spLocks noGrp="1"/>
          </p:cNvSpPr>
          <p:nvPr/>
        </p:nvSpPr>
        <p:spPr>
          <a:xfrm>
            <a:off x="8942832" y="495604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130, 104158, 2024</a:t>
            </a:r>
            <a:endParaRPr sz="1080"/>
          </a:p>
        </p:txBody>
      </p:sp>
      <p:sp>
        <p:nvSpPr>
          <p:cNvPr id="33" name="Shape 31">
            <a:extLst>
              <a:ext uri="{FF2B5EF4-FFF2-40B4-BE49-F238E27FC236}">
                <a16:creationId xmlns:a16="http://schemas.microsoft.com/office/drawing/2014/main" id="{E5D4AB67-5825-4BD6-934E-17522AAF4512}"/>
              </a:ext>
            </a:extLst>
          </p:cNvPr>
          <p:cNvSpPr>
            <a:spLocks noGrp="1"/>
          </p:cNvSpPr>
          <p:nvPr/>
        </p:nvSpPr>
        <p:spPr>
          <a:xfrm>
            <a:off x="1143000" y="5925312"/>
            <a:ext cx="9875520" cy="402336"/>
          </a:xfrm>
          <a:prstGeom prst="roundRect">
            <a:avLst/>
          </a:prstGeom>
          <a:solidFill>
            <a:srgbClr val="EAF2FB"/>
          </a:solidFill>
          <a:ln w="11430">
            <a:solidFill>
              <a:srgbClr val="356BB3"/>
            </a:solidFill>
            <a:prstDash val="solid"/>
          </a:ln>
        </p:spPr>
        <p:txBody>
          <a:bodyPr/>
          <a:lstStyle/>
          <a:p>
            <a:endParaRPr/>
          </a:p>
        </p:txBody>
      </p:sp>
      <p:sp>
        <p:nvSpPr>
          <p:cNvPr id="34" name="Text 32">
            <a:extLst>
              <a:ext uri="{FF2B5EF4-FFF2-40B4-BE49-F238E27FC236}">
                <a16:creationId xmlns:a16="http://schemas.microsoft.com/office/drawing/2014/main" id="{95541513-16E6-4797-973F-C9A15BC80080}"/>
              </a:ext>
            </a:extLst>
          </p:cNvPr>
          <p:cNvSpPr>
            <a:spLocks noGrp="1"/>
          </p:cNvSpPr>
          <p:nvPr/>
        </p:nvSpPr>
        <p:spPr>
          <a:xfrm>
            <a:off x="1353312" y="6016752"/>
            <a:ext cx="9464040" cy="210312"/>
          </a:xfrm>
          <a:prstGeom prst="rect">
            <a:avLst/>
          </a:prstGeom>
          <a:noFill/>
        </p:spPr>
        <p:txBody>
          <a:bodyPr wrap="square" lIns="0" tIns="0" rIns="0" bIns="0" anchor="ctr"/>
          <a:lstStyle/>
          <a:p>
            <a:pPr marL="0" indent="0" algn="ctr">
              <a:buNone/>
            </a:pPr>
            <a:r>
              <a:rPr sz="1400" b="1">
                <a:solidFill>
                  <a:srgbClr val="1F2A5A"/>
                </a:solidFill>
                <a:latin typeface="Noto Sans CJK JP"/>
                <a:ea typeface="Noto Sans CJK JP"/>
                <a:cs typeface="Noto Sans CJK JP"/>
              </a:rPr>
              <a:t>本資料の図は先行研究の構成を参考にしつつ、すべて本研究の入力・結果から再作成した。</a:t>
            </a:r>
            <a:endParaRPr sz="1400"/>
          </a:p>
        </p:txBody>
      </p:sp>
      <p:sp>
        <p:nvSpPr>
          <p:cNvPr id="35" name="正方形/長方形 34">
            <a:extLst>
              <a:ext uri="{FF2B5EF4-FFF2-40B4-BE49-F238E27FC236}">
                <a16:creationId xmlns:a16="http://schemas.microsoft.com/office/drawing/2014/main" id="{43475D36-1C66-4872-AADF-990AFFCF5C8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51895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20640A4-1A02-41BF-AFD0-23FA8641B65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補足資料：先生の質問との対応</a:t>
            </a:r>
          </a:p>
        </p:txBody>
      </p:sp>
      <p:sp>
        <p:nvSpPr>
          <p:cNvPr id="2" name="正方形/長方形 1">
            <a:extLst>
              <a:ext uri="{FF2B5EF4-FFF2-40B4-BE49-F238E27FC236}">
                <a16:creationId xmlns:a16="http://schemas.microsoft.com/office/drawing/2014/main" id="{3D02C225-66BE-4B05-A71F-452771BD698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日合計の説明を、時間別の動きと計算根拠までつなげる</a:t>
            </a:r>
          </a:p>
        </p:txBody>
      </p:sp>
      <p:sp>
        <p:nvSpPr>
          <p:cNvPr id="3" name="正方形/長方形 2">
            <a:extLst>
              <a:ext uri="{FF2B5EF4-FFF2-40B4-BE49-F238E27FC236}">
                <a16:creationId xmlns:a16="http://schemas.microsoft.com/office/drawing/2014/main" id="{F16897BD-8B64-4E4E-98EC-352BCEC13B7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新しい計算結果を増やさず、保存済み結果から説明の不足を補った</a:t>
            </a:r>
          </a:p>
        </p:txBody>
      </p:sp>
      <p:sp>
        <p:nvSpPr>
          <p:cNvPr id="4" name="正方形/長方形 3">
            <a:extLst>
              <a:ext uri="{FF2B5EF4-FFF2-40B4-BE49-F238E27FC236}">
                <a16:creationId xmlns:a16="http://schemas.microsoft.com/office/drawing/2014/main" id="{3EEDF587-056C-4C15-B0AF-14C3A8270D4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Slackで確認した研究上の指摘を要約。先生の承認・納得を得たという意味ではない。</a:t>
            </a:r>
          </a:p>
        </p:txBody>
      </p:sp>
      <p:sp>
        <p:nvSpPr>
          <p:cNvPr id="5" name="正方形/長方形 4">
            <a:extLst>
              <a:ext uri="{FF2B5EF4-FFF2-40B4-BE49-F238E27FC236}">
                <a16:creationId xmlns:a16="http://schemas.microsoft.com/office/drawing/2014/main" id="{F8902E4D-6A10-4FA0-864D-71B8AB09EAF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143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確認したい点</a:t>
                      </a:r>
                    </a:p>
                  </a:txBody>
                  <a:tcPr>
                    <a:solidFill>
                      <a:srgbClr val="202B58"/>
                    </a:solidFill>
                  </a:tcPr>
                </a:tc>
                <a:tc>
                  <a:txBody>
                    <a:bodyPr/>
                    <a:lstStyle/>
                    <a:p>
                      <a:r>
                        <a:rPr sz="1725" b="1">
                          <a:solidFill>
                            <a:srgbClr val="FFFFFF"/>
                          </a:solidFill>
                          <a:latin typeface="Noto Sans CJK JP"/>
                          <a:ea typeface="Noto Sans CJK JP"/>
                          <a:cs typeface="Noto Sans CJK JP"/>
                        </a:rPr>
                        <a:t>本編での状態</a:t>
                      </a:r>
                    </a:p>
                  </a:txBody>
                  <a:tcPr>
                    <a:solidFill>
                      <a:srgbClr val="202B58"/>
                    </a:solidFill>
                  </a:tcPr>
                </a:tc>
                <a:tc>
                  <a:txBody>
                    <a:bodyPr/>
                    <a:lstStyle/>
                    <a:p>
                      <a:r>
                        <a:rPr sz="1725" b="1">
                          <a:solidFill>
                            <a:srgbClr val="FFFFFF"/>
                          </a:solidFill>
                          <a:latin typeface="Noto Sans CJK JP"/>
                          <a:ea typeface="Noto Sans CJK JP"/>
                          <a:cs typeface="Noto Sans CJK JP"/>
                        </a:rPr>
                        <a:t>補足の回答</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何を直したか・用語</a:t>
                      </a:r>
                    </a:p>
                  </a:txBody>
                  <a:tcPr>
                    <a:solidFill>
                      <a:srgbClr val="F1F5F8"/>
                    </a:solidFill>
                  </a:tcPr>
                </a:tc>
                <a:tc>
                  <a:txBody>
                    <a:bodyPr/>
                    <a:lstStyle/>
                    <a:p>
                      <a:r>
                        <a:rPr sz="1725" b="0">
                          <a:solidFill>
                            <a:srgbClr val="202B58"/>
                          </a:solidFill>
                          <a:latin typeface="Noto Sans CJK JP"/>
                          <a:ea typeface="Noto Sans CJK JP"/>
                          <a:cs typeface="Noto Sans CJK JP"/>
                        </a:rPr>
                        <a:t>8–9枚目に差分あり</a:t>
                      </a:r>
                    </a:p>
                  </a:txBody>
                  <a:tcPr>
                    <a:solidFill>
                      <a:srgbClr val="F1F5F8"/>
                    </a:solidFill>
                  </a:tcPr>
                </a:tc>
                <a:tc>
                  <a:txBody>
                    <a:bodyPr/>
                    <a:lstStyle/>
                    <a:p>
                      <a:r>
                        <a:rPr sz="1725" b="0">
                          <a:solidFill>
                            <a:srgbClr val="202B58"/>
                          </a:solidFill>
                          <a:latin typeface="Noto Sans CJK JP"/>
                          <a:ea typeface="Noto Sans CJK JP"/>
                          <a:cs typeface="Noto Sans CJK JP"/>
                        </a:rPr>
                        <a:t>方法・用語の定義</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晴雨の電力と燃料</a:t>
                      </a:r>
                    </a:p>
                  </a:txBody>
                  <a:tcPr>
                    <a:solidFill>
                      <a:srgbClr val="FFFFFF"/>
                    </a:solidFill>
                  </a:tcPr>
                </a:tc>
                <a:tc>
                  <a:txBody>
                    <a:bodyPr/>
                    <a:lstStyle/>
                    <a:p>
                      <a:r>
                        <a:rPr sz="1725" b="0">
                          <a:solidFill>
                            <a:srgbClr val="202B58"/>
                          </a:solidFill>
                          <a:latin typeface="Noto Sans CJK JP"/>
                          <a:ea typeface="Noto Sans CJK JP"/>
                          <a:cs typeface="Noto Sans CJK JP"/>
                        </a:rPr>
                        <a:t>12–14枚目は日合計中心</a:t>
                      </a:r>
                    </a:p>
                  </a:txBody>
                  <a:tcPr>
                    <a:solidFill>
                      <a:srgbClr val="FFFFFF"/>
                    </a:solidFill>
                  </a:tcPr>
                </a:tc>
                <a:tc>
                  <a:txBody>
                    <a:bodyPr/>
                    <a:lstStyle/>
                    <a:p>
                      <a:r>
                        <a:rPr sz="1725" b="0">
                          <a:solidFill>
                            <a:srgbClr val="202B58"/>
                          </a:solidFill>
                          <a:latin typeface="Noto Sans CJK JP"/>
                          <a:ea typeface="Noto Sans CJK JP"/>
                          <a:cs typeface="Noto Sans CJK JP"/>
                        </a:rPr>
                        <a:t>15分電力・配車距離・費用</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充電時間と台数のピーク</a:t>
                      </a:r>
                    </a:p>
                  </a:txBody>
                  <a:tcPr>
                    <a:solidFill>
                      <a:srgbClr val="F1F5F8"/>
                    </a:solidFill>
                  </a:tcPr>
                </a:tc>
                <a:tc>
                  <a:txBody>
                    <a:bodyPr/>
                    <a:lstStyle/>
                    <a:p>
                      <a:r>
                        <a:rPr sz="1725" b="0">
                          <a:solidFill>
                            <a:srgbClr val="202B58"/>
                          </a:solidFill>
                          <a:latin typeface="Noto Sans CJK JP"/>
                          <a:ea typeface="Noto Sans CJK JP"/>
                          <a:cs typeface="Noto Sans CJK JP"/>
                        </a:rPr>
                        <a:t>時間別の根拠が不足</a:t>
                      </a:r>
                    </a:p>
                  </a:txBody>
                  <a:tcPr>
                    <a:solidFill>
                      <a:srgbClr val="F1F5F8"/>
                    </a:solidFill>
                  </a:tcPr>
                </a:tc>
                <a:tc>
                  <a:txBody>
                    <a:bodyPr/>
                    <a:lstStyle/>
                    <a:p>
                      <a:r>
                        <a:rPr sz="1725" b="0">
                          <a:solidFill>
                            <a:srgbClr val="202B58"/>
                          </a:solidFill>
                          <a:latin typeface="Noto Sans CJK JP"/>
                          <a:ea typeface="Noto Sans CJK JP"/>
                          <a:cs typeface="Noto Sans CJK JP"/>
                        </a:rPr>
                        <a:t>正電力セッション数・車両例</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BESSの始終端と上下限</a:t>
                      </a:r>
                    </a:p>
                  </a:txBody>
                  <a:tcPr>
                    <a:solidFill>
                      <a:srgbClr val="FFFFFF"/>
                    </a:solidFill>
                  </a:tcPr>
                </a:tc>
                <a:tc>
                  <a:txBody>
                    <a:bodyPr/>
                    <a:lstStyle/>
                    <a:p>
                      <a:r>
                        <a:rPr sz="1725" b="0">
                          <a:solidFill>
                            <a:srgbClr val="202B58"/>
                          </a:solidFill>
                          <a:latin typeface="Noto Sans CJK JP"/>
                          <a:ea typeface="Noto Sans CJK JP"/>
                          <a:cs typeface="Noto Sans CJK JP"/>
                        </a:rPr>
                        <a:t>日量フロー中心</a:t>
                      </a:r>
                    </a:p>
                  </a:txBody>
                  <a:tcPr>
                    <a:solidFill>
                      <a:srgbClr val="FFFFFF"/>
                    </a:solidFill>
                  </a:tcPr>
                </a:tc>
                <a:tc>
                  <a:txBody>
                    <a:bodyPr/>
                    <a:lstStyle/>
                    <a:p>
                      <a:r>
                        <a:rPr sz="1725" b="0">
                          <a:solidFill>
                            <a:srgbClr val="202B58"/>
                          </a:solidFill>
                          <a:latin typeface="Noto Sans CJK JP"/>
                          <a:ea typeface="Noto Sans CJK JP"/>
                          <a:cs typeface="Noto Sans CJK JP"/>
                        </a:rPr>
                        <a:t>残量軌跡と始終端の数値</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台数費用・計算時間</a:t>
                      </a:r>
                    </a:p>
                  </a:txBody>
                  <a:tcPr>
                    <a:solidFill>
                      <a:srgbClr val="F1F5F8"/>
                    </a:solidFill>
                  </a:tcPr>
                </a:tc>
                <a:tc>
                  <a:txBody>
                    <a:bodyPr/>
                    <a:lstStyle/>
                    <a:p>
                      <a:r>
                        <a:rPr sz="1725" b="0">
                          <a:solidFill>
                            <a:srgbClr val="202B58"/>
                          </a:solidFill>
                          <a:latin typeface="Noto Sans CJK JP"/>
                          <a:ea typeface="Noto Sans CJK JP"/>
                          <a:cs typeface="Noto Sans CJK JP"/>
                        </a:rPr>
                        <a:t>設定値のみでは不十分</a:t>
                      </a:r>
                    </a:p>
                  </a:txBody>
                  <a:tcPr>
                    <a:solidFill>
                      <a:srgbClr val="F1F5F8"/>
                    </a:solidFill>
                  </a:tcPr>
                </a:tc>
                <a:tc>
                  <a:txBody>
                    <a:bodyPr/>
                    <a:lstStyle/>
                    <a:p>
                      <a:r>
                        <a:rPr sz="1725" b="0">
                          <a:solidFill>
                            <a:srgbClr val="202B58"/>
                          </a:solidFill>
                          <a:latin typeface="Noto Sans CJK JP"/>
                          <a:ea typeface="Noto Sans CJK JP"/>
                          <a:cs typeface="Noto Sans CJK JP"/>
                        </a:rPr>
                        <a:t>費用式・実測時間・残る検証</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0EB779E-34C0-4259-AA3A-8B7C81DE50E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22720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F80DAF2-DBCF-45C9-96B1-DDD76DCC5B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先行文献から取り入れた図表の構成</a:t>
            </a:r>
          </a:p>
        </p:txBody>
      </p:sp>
      <p:sp>
        <p:nvSpPr>
          <p:cNvPr id="2" name="正方形/長方形 1">
            <a:extLst>
              <a:ext uri="{FF2B5EF4-FFF2-40B4-BE49-F238E27FC236}">
                <a16:creationId xmlns:a16="http://schemas.microsoft.com/office/drawing/2014/main" id="{419B5B27-DFD0-4F2F-AF8A-367FE35C1B1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論文の図を貼るのではなく、本研究の数値を同じ観点で示す</a:t>
            </a:r>
          </a:p>
        </p:txBody>
      </p:sp>
      <p:sp>
        <p:nvSpPr>
          <p:cNvPr id="3" name="正方形/長方形 2">
            <a:extLst>
              <a:ext uri="{FF2B5EF4-FFF2-40B4-BE49-F238E27FC236}">
                <a16:creationId xmlns:a16="http://schemas.microsoft.com/office/drawing/2014/main" id="{6AAB1F11-427B-453F-8526-54549FFF5AD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残量・電力・運行・費用・計算時間を対応させる</a:t>
            </a:r>
          </a:p>
        </p:txBody>
      </p:sp>
      <p:sp>
        <p:nvSpPr>
          <p:cNvPr id="4" name="正方形/長方形 3">
            <a:extLst>
              <a:ext uri="{FF2B5EF4-FFF2-40B4-BE49-F238E27FC236}">
                <a16:creationId xmlns:a16="http://schemas.microsoft.com/office/drawing/2014/main" id="{DCE62EEA-343D-4F13-8415-A4989B74D30E}"/>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文献の条件・費用範囲・通貨は本研究と異なる。直接の性能比較には使わない。</a:t>
            </a:r>
          </a:p>
        </p:txBody>
      </p:sp>
      <p:sp>
        <p:nvSpPr>
          <p:cNvPr id="5" name="正方形/長方形 4">
            <a:extLst>
              <a:ext uri="{FF2B5EF4-FFF2-40B4-BE49-F238E27FC236}">
                <a16:creationId xmlns:a16="http://schemas.microsoft.com/office/drawing/2014/main" id="{6F3CC606-5E29-418C-A6CB-2C32B2AD2422}"/>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571875">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44855">
                <a:tc>
                  <a:txBody>
                    <a:bodyPr/>
                    <a:lstStyle/>
                    <a:p>
                      <a:r>
                        <a:rPr sz="1725" b="1">
                          <a:solidFill>
                            <a:srgbClr val="FFFFFF"/>
                          </a:solidFill>
                          <a:latin typeface="Noto Sans CJK JP"/>
                          <a:ea typeface="Noto Sans CJK JP"/>
                          <a:cs typeface="Noto Sans CJK JP"/>
                        </a:rPr>
                        <a:t>原本で確認した例</a:t>
                      </a:r>
                    </a:p>
                  </a:txBody>
                  <a:tcPr>
                    <a:solidFill>
                      <a:srgbClr val="202B58"/>
                    </a:solidFill>
                  </a:tcPr>
                </a:tc>
                <a:tc>
                  <a:txBody>
                    <a:bodyPr/>
                    <a:lstStyle/>
                    <a:p>
                      <a:r>
                        <a:rPr sz="1725" b="1">
                          <a:solidFill>
                            <a:srgbClr val="FFFFFF"/>
                          </a:solidFill>
                          <a:latin typeface="Noto Sans CJK JP"/>
                          <a:ea typeface="Noto Sans CJK JP"/>
                          <a:cs typeface="Noto Sans CJK JP"/>
                        </a:rPr>
                        <a:t>図表の役割</a:t>
                      </a:r>
                    </a:p>
                  </a:txBody>
                  <a:tcPr>
                    <a:solidFill>
                      <a:srgbClr val="202B58"/>
                    </a:solidFill>
                  </a:tcPr>
                </a:tc>
                <a:tc>
                  <a:txBody>
                    <a:bodyPr/>
                    <a:lstStyle/>
                    <a:p>
                      <a:r>
                        <a:rPr sz="1725" b="1">
                          <a:solidFill>
                            <a:srgbClr val="FFFFFF"/>
                          </a:solidFill>
                          <a:latin typeface="Noto Sans CJK JP"/>
                          <a:ea typeface="Noto Sans CJK JP"/>
                          <a:cs typeface="Noto Sans CJK JP"/>
                        </a:rPr>
                        <a:t>今回の資料</a:t>
                      </a:r>
                    </a:p>
                  </a:txBody>
                  <a:tcPr>
                    <a:solidFill>
                      <a:srgbClr val="202B58"/>
                    </a:solidFill>
                  </a:tcPr>
                </a:tc>
                <a:extLst>
                  <a:ext uri="{0D108BD9-81ED-4DB2-BD59-A6C34878D82A}">
                    <a16:rowId xmlns:a16="http://schemas.microsoft.com/office/drawing/2014/main" val="10000"/>
                  </a:ext>
                </a:extLst>
              </a:tr>
              <a:tr h="744855">
                <a:tc>
                  <a:txBody>
                    <a:bodyPr/>
                    <a:lstStyle/>
                    <a:p>
                      <a:r>
                        <a:rPr sz="1725" b="0">
                          <a:solidFill>
                            <a:srgbClr val="202B58"/>
                          </a:solidFill>
                          <a:latin typeface="Noto Sans CJK JP"/>
                          <a:ea typeface="Noto Sans CJK JP"/>
                          <a:cs typeface="Noto Sans CJK JP"/>
                        </a:rPr>
                        <a:t>Huら (2025) Fig.6</a:t>
                      </a:r>
                    </a:p>
                  </a:txBody>
                  <a:tcPr>
                    <a:solidFill>
                      <a:srgbClr val="F1F5F8"/>
                    </a:solidFill>
                  </a:tcPr>
                </a:tc>
                <a:tc>
                  <a:txBody>
                    <a:bodyPr/>
                    <a:lstStyle/>
                    <a:p>
                      <a:r>
                        <a:rPr sz="1725" b="0">
                          <a:solidFill>
                            <a:srgbClr val="202B58"/>
                          </a:solidFill>
                          <a:latin typeface="Noto Sans CJK JP"/>
                          <a:ea typeface="Noto Sans CJK JP"/>
                          <a:cs typeface="Noto Sans CJK JP"/>
                        </a:rPr>
                        <a:t>SOCと充電時刻を対応</a:t>
                      </a:r>
                    </a:p>
                  </a:txBody>
                  <a:tcPr>
                    <a:solidFill>
                      <a:srgbClr val="F1F5F8"/>
                    </a:solidFill>
                  </a:tcPr>
                </a:tc>
                <a:tc>
                  <a:txBody>
                    <a:bodyPr/>
                    <a:lstStyle/>
                    <a:p>
                      <a:r>
                        <a:rPr sz="1725" b="0">
                          <a:solidFill>
                            <a:srgbClr val="202B58"/>
                          </a:solidFill>
                          <a:latin typeface="Noto Sans CJK JP"/>
                          <a:ea typeface="Noto Sans CJK JP"/>
                          <a:cs typeface="Noto Sans CJK JP"/>
                        </a:rPr>
                        <a:t>車両例の残量・充電電力</a:t>
                      </a:r>
                    </a:p>
                  </a:txBody>
                  <a:tcPr>
                    <a:solidFill>
                      <a:srgbClr val="F1F5F8"/>
                    </a:solidFill>
                  </a:tcPr>
                </a:tc>
                <a:extLst>
                  <a:ext uri="{0D108BD9-81ED-4DB2-BD59-A6C34878D82A}">
                    <a16:rowId xmlns:a16="http://schemas.microsoft.com/office/drawing/2014/main" val="10001"/>
                  </a:ext>
                </a:extLst>
              </a:tr>
              <a:tr h="744855">
                <a:tc>
                  <a:txBody>
                    <a:bodyPr/>
                    <a:lstStyle/>
                    <a:p>
                      <a:r>
                        <a:rPr sz="1725" b="0">
                          <a:solidFill>
                            <a:srgbClr val="202B58"/>
                          </a:solidFill>
                          <a:latin typeface="Noto Sans CJK JP"/>
                          <a:ea typeface="Noto Sans CJK JP"/>
                          <a:cs typeface="Noto Sans CJK JP"/>
                        </a:rPr>
                        <a:t>Huら (2025) Fig.8–9</a:t>
                      </a:r>
                    </a:p>
                  </a:txBody>
                  <a:tcPr>
                    <a:solidFill>
                      <a:srgbClr val="FFFFFF"/>
                    </a:solidFill>
                  </a:tcPr>
                </a:tc>
                <a:tc>
                  <a:txBody>
                    <a:bodyPr/>
                    <a:lstStyle/>
                    <a:p>
                      <a:r>
                        <a:rPr sz="1725" b="0">
                          <a:solidFill>
                            <a:srgbClr val="202B58"/>
                          </a:solidFill>
                          <a:latin typeface="Noto Sans CJK JP"/>
                          <a:ea typeface="Noto Sans CJK JP"/>
                          <a:cs typeface="Noto Sans CJK JP"/>
                        </a:rPr>
                        <a:t>蓄電池と供給量を時間比較</a:t>
                      </a:r>
                    </a:p>
                  </a:txBody>
                  <a:tcPr>
                    <a:solidFill>
                      <a:srgbClr val="FFFFFF"/>
                    </a:solidFill>
                  </a:tcPr>
                </a:tc>
                <a:tc>
                  <a:txBody>
                    <a:bodyPr/>
                    <a:lstStyle/>
                    <a:p>
                      <a:r>
                        <a:rPr sz="1725" b="0">
                          <a:solidFill>
                            <a:srgbClr val="202B58"/>
                          </a:solidFill>
                          <a:latin typeface="Noto Sans CJK JP"/>
                          <a:ea typeface="Noto Sans CJK JP"/>
                          <a:cs typeface="Noto Sans CJK JP"/>
                        </a:rPr>
                        <a:t>BESS残量・15分電力</a:t>
                      </a:r>
                    </a:p>
                  </a:txBody>
                  <a:tcPr>
                    <a:solidFill>
                      <a:srgbClr val="FFFFFF"/>
                    </a:solidFill>
                  </a:tcPr>
                </a:tc>
                <a:extLst>
                  <a:ext uri="{0D108BD9-81ED-4DB2-BD59-A6C34878D82A}">
                    <a16:rowId xmlns:a16="http://schemas.microsoft.com/office/drawing/2014/main" val="10002"/>
                  </a:ext>
                </a:extLst>
              </a:tr>
              <a:tr h="744855">
                <a:tc>
                  <a:txBody>
                    <a:bodyPr/>
                    <a:lstStyle/>
                    <a:p>
                      <a:r>
                        <a:rPr sz="1725" b="0">
                          <a:solidFill>
                            <a:srgbClr val="202B58"/>
                          </a:solidFill>
                          <a:latin typeface="Noto Sans CJK JP"/>
                          <a:ea typeface="Noto Sans CJK JP"/>
                          <a:cs typeface="Noto Sans CJK JP"/>
                        </a:rPr>
                        <a:t>Huら (2025) Table 5</a:t>
                      </a:r>
                    </a:p>
                  </a:txBody>
                  <a:tcPr>
                    <a:solidFill>
                      <a:srgbClr val="F1F5F8"/>
                    </a:solidFill>
                  </a:tcPr>
                </a:tc>
                <a:tc>
                  <a:txBody>
                    <a:bodyPr/>
                    <a:lstStyle/>
                    <a:p>
                      <a:r>
                        <a:rPr sz="1725" b="0">
                          <a:solidFill>
                            <a:srgbClr val="202B58"/>
                          </a:solidFill>
                          <a:latin typeface="Noto Sans CJK JP"/>
                          <a:ea typeface="Noto Sans CJK JP"/>
                          <a:cs typeface="Noto Sans CJK JP"/>
                        </a:rPr>
                        <a:t>費用と電力量を分解</a:t>
                      </a:r>
                    </a:p>
                  </a:txBody>
                  <a:tcPr>
                    <a:solidFill>
                      <a:srgbClr val="F1F5F8"/>
                    </a:solidFill>
                  </a:tcPr>
                </a:tc>
                <a:tc>
                  <a:txBody>
                    <a:bodyPr/>
                    <a:lstStyle/>
                    <a:p>
                      <a:r>
                        <a:rPr sz="1725" b="0">
                          <a:solidFill>
                            <a:srgbClr val="202B58"/>
                          </a:solidFill>
                          <a:latin typeface="Noto Sans CJK JP"/>
                          <a:ea typeface="Noto Sans CJK JP"/>
                          <a:cs typeface="Noto Sans CJK JP"/>
                        </a:rPr>
                        <a:t>最終台帳に一致する内訳表</a:t>
                      </a:r>
                    </a:p>
                  </a:txBody>
                  <a:tcPr>
                    <a:solidFill>
                      <a:srgbClr val="F1F5F8"/>
                    </a:solidFill>
                  </a:tcPr>
                </a:tc>
                <a:extLst>
                  <a:ext uri="{0D108BD9-81ED-4DB2-BD59-A6C34878D82A}">
                    <a16:rowId xmlns:a16="http://schemas.microsoft.com/office/drawing/2014/main" val="10003"/>
                  </a:ext>
                </a:extLst>
              </a:tr>
              <a:tr h="744855">
                <a:tc>
                  <a:txBody>
                    <a:bodyPr/>
                    <a:lstStyle/>
                    <a:p>
                      <a:r>
                        <a:rPr sz="1725" b="0">
                          <a:solidFill>
                            <a:srgbClr val="202B58"/>
                          </a:solidFill>
                          <a:latin typeface="Noto Sans CJK JP"/>
                          <a:ea typeface="Noto Sans CJK JP"/>
                          <a:cs typeface="Noto Sans CJK JP"/>
                        </a:rPr>
                        <a:t>Zhouら (2025) Table 5</a:t>
                      </a:r>
                    </a:p>
                  </a:txBody>
                  <a:tcPr>
                    <a:solidFill>
                      <a:srgbClr val="FFFFFF"/>
                    </a:solidFill>
                  </a:tcPr>
                </a:tc>
                <a:tc>
                  <a:txBody>
                    <a:bodyPr/>
                    <a:lstStyle/>
                    <a:p>
                      <a:r>
                        <a:rPr sz="1725" b="0">
                          <a:solidFill>
                            <a:srgbClr val="202B58"/>
                          </a:solidFill>
                          <a:latin typeface="Noto Sans CJK JP"/>
                          <a:ea typeface="Noto Sans CJK JP"/>
                          <a:cs typeface="Noto Sans CJK JP"/>
                        </a:rPr>
                        <a:t>費用と計算時間を併記</a:t>
                      </a:r>
                    </a:p>
                  </a:txBody>
                  <a:tcPr>
                    <a:solidFill>
                      <a:srgbClr val="FFFFFF"/>
                    </a:solidFill>
                  </a:tcPr>
                </a:tc>
                <a:tc>
                  <a:txBody>
                    <a:bodyPr/>
                    <a:lstStyle/>
                    <a:p>
                      <a:r>
                        <a:rPr sz="1725" b="0">
                          <a:solidFill>
                            <a:srgbClr val="202B58"/>
                          </a:solidFill>
                          <a:latin typeface="Noto Sans CJK JP"/>
                          <a:ea typeface="Noto Sans CJK JP"/>
                          <a:cs typeface="Noto Sans CJK JP"/>
                        </a:rPr>
                        <a:t>設定時間と実測時間を区別</a:t>
                      </a:r>
                    </a:p>
                  </a:txBody>
                  <a:tcPr>
                    <a:solidFill>
                      <a:srgbClr val="FFFFFF"/>
                    </a:solidFill>
                  </a:tcPr>
                </a:tc>
                <a:extLst>
                  <a:ext uri="{0D108BD9-81ED-4DB2-BD59-A6C34878D82A}">
                    <a16:rowId xmlns:a16="http://schemas.microsoft.com/office/drawing/2014/main" val="10004"/>
                  </a:ext>
                </a:extLst>
              </a:tr>
            </a:tbl>
          </a:graphicData>
        </a:graphic>
      </p:graphicFrame>
      <p:sp>
        <p:nvSpPr>
          <p:cNvPr id="7" name="正方形/長方形 6">
            <a:extLst>
              <a:ext uri="{FF2B5EF4-FFF2-40B4-BE49-F238E27FC236}">
                <a16:creationId xmlns:a16="http://schemas.microsoft.com/office/drawing/2014/main" id="{EEB4EF69-4DDD-4D2D-B457-66CBA784419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866426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C5300B1-34FA-4DED-9A84-A9287DEA5A38}"/>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PV発電の行き先：15分ごとの比較</a:t>
            </a:r>
          </a:p>
        </p:txBody>
      </p:sp>
      <p:sp>
        <p:nvSpPr>
          <p:cNvPr id="2" name="正方形/長方形 1">
            <a:extLst>
              <a:ext uri="{FF2B5EF4-FFF2-40B4-BE49-F238E27FC236}">
                <a16:creationId xmlns:a16="http://schemas.microsoft.com/office/drawing/2014/main" id="{8550A68D-C583-4AF6-B197-7833DA088BB9}"/>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同一の縦軸。電力 [kW] = 各15分枠の電力量 [kWh] ÷ 0.25 h</a:t>
            </a:r>
          </a:p>
        </p:txBody>
      </p:sp>
      <p:sp>
        <p:nvSpPr>
          <p:cNvPr id="3" name="正方形/長方形 2">
            <a:extLst>
              <a:ext uri="{FF2B5EF4-FFF2-40B4-BE49-F238E27FC236}">
                <a16:creationId xmlns:a16="http://schemas.microsoft.com/office/drawing/2014/main" id="{9B2A371A-3FB5-48A0-902C-FAD72B329C5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高PVの抑制は日中に発生し、低PVの抑制はほぼゼロ</a:t>
            </a:r>
          </a:p>
        </p:txBody>
      </p:sp>
      <p:sp>
        <p:nvSpPr>
          <p:cNvPr id="4" name="正方形/長方形 3">
            <a:extLst>
              <a:ext uri="{FF2B5EF4-FFF2-40B4-BE49-F238E27FC236}">
                <a16:creationId xmlns:a16="http://schemas.microsoft.com/office/drawing/2014/main" id="{E1D55384-9F7E-41C6-8388-ABC43372D59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営業所・時刻別のsolver-nativeフロー。抑制原因の反実仮想による分解は未実施。</a:t>
            </a:r>
          </a:p>
        </p:txBody>
      </p:sp>
      <p:sp>
        <p:nvSpPr>
          <p:cNvPr id="5" name="正方形/長方形 4">
            <a:extLst>
              <a:ext uri="{FF2B5EF4-FFF2-40B4-BE49-F238E27FC236}">
                <a16:creationId xmlns:a16="http://schemas.microsoft.com/office/drawing/2014/main" id="{4EF81F14-34CE-4B4F-B9BB-AA0E6C76911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3</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FDE0EA81-0F8F-40ED-A172-E8EC32147BA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7825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8504BE4-2CC0-4340-9FBD-F9B957A83B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BEV充電電力と系統購入の時間分布</a:t>
            </a:r>
          </a:p>
        </p:txBody>
      </p:sp>
      <p:sp>
        <p:nvSpPr>
          <p:cNvPr id="2" name="正方形/長方形 1">
            <a:extLst>
              <a:ext uri="{FF2B5EF4-FFF2-40B4-BE49-F238E27FC236}">
                <a16:creationId xmlns:a16="http://schemas.microsoft.com/office/drawing/2014/main" id="{9097180C-118E-4365-9F72-EA7FEA9E5B3D}"/>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各供給元の電力合計が、バスへの充電器入力となる</a:t>
            </a:r>
          </a:p>
        </p:txBody>
      </p:sp>
      <p:sp>
        <p:nvSpPr>
          <p:cNvPr id="3" name="正方形/長方形 2">
            <a:extLst>
              <a:ext uri="{FF2B5EF4-FFF2-40B4-BE49-F238E27FC236}">
                <a16:creationId xmlns:a16="http://schemas.microsoft.com/office/drawing/2014/main" id="{552A0243-55F0-4A68-B049-1F17948C94BC}"/>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高PVは系統購入ゼロ。低PVの系統購入は合計130.85 kWh</a:t>
            </a:r>
          </a:p>
        </p:txBody>
      </p:sp>
      <p:sp>
        <p:nvSpPr>
          <p:cNvPr id="4" name="正方形/長方形 3">
            <a:extLst>
              <a:ext uri="{FF2B5EF4-FFF2-40B4-BE49-F238E27FC236}">
                <a16:creationId xmlns:a16="http://schemas.microsoft.com/office/drawing/2014/main" id="{2E2658E8-EFC9-46F6-A6A2-8C6E6E943939}"/>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折れ線は15分平均の段差表示。車両ごとの電源割当は比例配分であり、ここでは使わない。</a:t>
            </a:r>
          </a:p>
        </p:txBody>
      </p:sp>
      <p:sp>
        <p:nvSpPr>
          <p:cNvPr id="5" name="正方形/長方形 4">
            <a:extLst>
              <a:ext uri="{FF2B5EF4-FFF2-40B4-BE49-F238E27FC236}">
                <a16:creationId xmlns:a16="http://schemas.microsoft.com/office/drawing/2014/main" id="{51656624-BFFE-4271-ADF6-A3C099EB9DE5}"/>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4</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054304BC-EAA8-43A1-8E5F-CE38B9B7BBB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42000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0C22517-4454-4935-BF34-22D44080F96C}"/>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BESS残量：両条件とも3,000 kWhへ戻る</a:t>
            </a:r>
          </a:p>
        </p:txBody>
      </p:sp>
      <p:sp>
        <p:nvSpPr>
          <p:cNvPr id="2" name="正方形/長方形 1">
            <a:extLst>
              <a:ext uri="{FF2B5EF4-FFF2-40B4-BE49-F238E27FC236}">
                <a16:creationId xmlns:a16="http://schemas.microsoft.com/office/drawing/2014/main" id="{BDC559DC-E283-416B-B29F-24F20FC3AA11}"/>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設備容量6,000 kWh、許容範囲1,200～4,800 kWh</a:t>
            </a:r>
          </a:p>
        </p:txBody>
      </p:sp>
      <p:sp>
        <p:nvSpPr>
          <p:cNvPr id="3" name="正方形/長方形 2">
            <a:extLst>
              <a:ext uri="{FF2B5EF4-FFF2-40B4-BE49-F238E27FC236}">
                <a16:creationId xmlns:a16="http://schemas.microsoft.com/office/drawing/2014/main" id="{2C446443-1B82-4FD2-8B23-BC124FFF0F6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初期エネルギーの使い切りで、当日の費用を下げてはいない</a:t>
            </a:r>
          </a:p>
        </p:txBody>
      </p:sp>
      <p:sp>
        <p:nvSpPr>
          <p:cNvPr id="4" name="正方形/長方形 3">
            <a:extLst>
              <a:ext uri="{FF2B5EF4-FFF2-40B4-BE49-F238E27FC236}">
                <a16:creationId xmlns:a16="http://schemas.microsoft.com/office/drawing/2014/main" id="{7EDB0CBD-39EB-4111-BBD4-EF8E7DA94FF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残量は各15分枠の終端値。高PVの最小値は数値誤差を丸めて1,200 kWh。</a:t>
            </a:r>
          </a:p>
        </p:txBody>
      </p:sp>
      <p:sp>
        <p:nvSpPr>
          <p:cNvPr id="5" name="正方形/長方形 4">
            <a:extLst>
              <a:ext uri="{FF2B5EF4-FFF2-40B4-BE49-F238E27FC236}">
                <a16:creationId xmlns:a16="http://schemas.microsoft.com/office/drawing/2014/main" id="{6FD45247-B95F-41F0-A5B8-F3531B5781C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5</a:t>
            </a:r>
          </a:p>
        </p:txBody>
      </p:sp>
      <p:graphicFrame>
        <p:nvGraphicFramePr>
          <p:cNvPr id="14" name="Chart"/>
          <p:cNvGraphicFramePr/>
          <p:nvPr/>
        </p:nvGraphicFramePr>
        <p:xfrm>
          <a:off x="619125" y="1562100"/>
          <a:ext cx="10953750" cy="27622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表 14"/>
          <p:cNvGraphicFramePr/>
          <p:nvPr/>
        </p:nvGraphicFramePr>
        <p:xfrm>
          <a:off x="571500" y="4476750"/>
          <a:ext cx="11049000" cy="1057275"/>
        </p:xfrm>
        <a:graphic>
          <a:graphicData uri="http://schemas.openxmlformats.org/drawingml/2006/table">
            <a:tbl>
              <a:tblPr/>
              <a:tblGrid>
                <a:gridCol w="2476500">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714625">
                  <a:extLst>
                    <a:ext uri="{9D8B030D-6E8A-4147-A177-3AD203B41FA5}">
                      <a16:colId xmlns:a16="http://schemas.microsoft.com/office/drawing/2014/main" val="20004"/>
                    </a:ext>
                  </a:extLst>
                </a:gridCol>
              </a:tblGrid>
              <a:tr h="352425">
                <a:tc>
                  <a:txBody>
                    <a:bodyPr/>
                    <a:lstStyle/>
                    <a:p>
                      <a:r>
                        <a:rPr sz="1500" b="1">
                          <a:solidFill>
                            <a:srgbClr val="FFFFFF"/>
                          </a:solidFill>
                          <a:latin typeface="Noto Sans CJK JP"/>
                          <a:ea typeface="Noto Sans CJK JP"/>
                          <a:cs typeface="Noto Sans CJK JP"/>
                        </a:rPr>
                        <a:t>条件</a:t>
                      </a:r>
                    </a:p>
                  </a:txBody>
                  <a:tcPr>
                    <a:solidFill>
                      <a:srgbClr val="202B58"/>
                    </a:solidFill>
                  </a:tcPr>
                </a:tc>
                <a:tc>
                  <a:txBody>
                    <a:bodyPr/>
                    <a:lstStyle/>
                    <a:p>
                      <a:r>
                        <a:rPr sz="1500" b="1">
                          <a:solidFill>
                            <a:srgbClr val="FFFFFF"/>
                          </a:solidFill>
                          <a:latin typeface="Noto Sans CJK JP"/>
                          <a:ea typeface="Noto Sans CJK JP"/>
                          <a:cs typeface="Noto Sans CJK JP"/>
                        </a:rPr>
                        <a:t>開始</a:t>
                      </a:r>
                    </a:p>
                  </a:txBody>
                  <a:tcPr>
                    <a:solidFill>
                      <a:srgbClr val="202B58"/>
                    </a:solidFill>
                  </a:tcPr>
                </a:tc>
                <a:tc>
                  <a:txBody>
                    <a:bodyPr/>
                    <a:lstStyle/>
                    <a:p>
                      <a:r>
                        <a:rPr sz="1500" b="1">
                          <a:solidFill>
                            <a:srgbClr val="FFFFFF"/>
                          </a:solidFill>
                          <a:latin typeface="Noto Sans CJK JP"/>
                          <a:ea typeface="Noto Sans CJK JP"/>
                          <a:cs typeface="Noto Sans CJK JP"/>
                        </a:rPr>
                        <a:t>最小</a:t>
                      </a:r>
                    </a:p>
                  </a:txBody>
                  <a:tcPr>
                    <a:solidFill>
                      <a:srgbClr val="202B58"/>
                    </a:solidFill>
                  </a:tcPr>
                </a:tc>
                <a:tc>
                  <a:txBody>
                    <a:bodyPr/>
                    <a:lstStyle/>
                    <a:p>
                      <a:r>
                        <a:rPr sz="1500" b="1">
                          <a:solidFill>
                            <a:srgbClr val="FFFFFF"/>
                          </a:solidFill>
                          <a:latin typeface="Noto Sans CJK JP"/>
                          <a:ea typeface="Noto Sans CJK JP"/>
                          <a:cs typeface="Noto Sans CJK JP"/>
                        </a:rPr>
                        <a:t>最大</a:t>
                      </a:r>
                    </a:p>
                  </a:txBody>
                  <a:tcPr>
                    <a:solidFill>
                      <a:srgbClr val="202B58"/>
                    </a:solidFill>
                  </a:tcPr>
                </a:tc>
                <a:tc>
                  <a:txBody>
                    <a:bodyPr/>
                    <a:lstStyle/>
                    <a:p>
                      <a:r>
                        <a:rPr sz="1500" b="1">
                          <a:solidFill>
                            <a:srgbClr val="FFFFFF"/>
                          </a:solidFill>
                          <a:latin typeface="Noto Sans CJK JP"/>
                          <a:ea typeface="Noto Sans CJK JP"/>
                          <a:cs typeface="Noto Sans CJK JP"/>
                        </a:rPr>
                        <a:t>終了 / 差</a:t>
                      </a:r>
                    </a:p>
                  </a:txBody>
                  <a:tcPr>
                    <a:solidFill>
                      <a:srgbClr val="202B58"/>
                    </a:solidFill>
                  </a:tcPr>
                </a:tc>
                <a:extLst>
                  <a:ext uri="{0D108BD9-81ED-4DB2-BD59-A6C34878D82A}">
                    <a16:rowId xmlns:a16="http://schemas.microsoft.com/office/drawing/2014/main" val="10000"/>
                  </a:ext>
                </a:extLst>
              </a:tr>
              <a:tr h="352425">
                <a:tc>
                  <a:txBody>
                    <a:bodyPr/>
                    <a:lstStyle/>
                    <a:p>
                      <a:r>
                        <a:rPr sz="1500" b="0">
                          <a:solidFill>
                            <a:srgbClr val="202B58"/>
                          </a:solidFill>
                          <a:latin typeface="Noto Sans CJK JP"/>
                          <a:ea typeface="Noto Sans CJK JP"/>
                          <a:cs typeface="Noto Sans CJK JP"/>
                        </a:rPr>
                        <a:t>高PV（SUNNY）</a:t>
                      </a:r>
                    </a:p>
                  </a:txBody>
                  <a:tcPr>
                    <a:solidFill>
                      <a:srgbClr val="F1F5F8"/>
                    </a:solidFill>
                  </a:tcPr>
                </a:tc>
                <a:tc>
                  <a:txBody>
                    <a:bodyPr/>
                    <a:lstStyle/>
                    <a:p>
                      <a:r>
                        <a:rPr sz="1500" b="0">
                          <a:solidFill>
                            <a:srgbClr val="202B58"/>
                          </a:solidFill>
                          <a:latin typeface="Noto Sans CJK JP"/>
                          <a:ea typeface="Noto Sans CJK JP"/>
                          <a:cs typeface="Noto Sans CJK JP"/>
                        </a:rPr>
                        <a:t>3,000</a:t>
                      </a:r>
                    </a:p>
                  </a:txBody>
                  <a:tcPr>
                    <a:solidFill>
                      <a:srgbClr val="F1F5F8"/>
                    </a:solidFill>
                  </a:tcPr>
                </a:tc>
                <a:tc>
                  <a:txBody>
                    <a:bodyPr/>
                    <a:lstStyle/>
                    <a:p>
                      <a:r>
                        <a:rPr sz="1500" b="0">
                          <a:solidFill>
                            <a:srgbClr val="202B58"/>
                          </a:solidFill>
                          <a:latin typeface="Noto Sans CJK JP"/>
                          <a:ea typeface="Noto Sans CJK JP"/>
                          <a:cs typeface="Noto Sans CJK JP"/>
                        </a:rPr>
                        <a:t>1,200.0</a:t>
                      </a:r>
                    </a:p>
                  </a:txBody>
                  <a:tcPr>
                    <a:solidFill>
                      <a:srgbClr val="F1F5F8"/>
                    </a:solidFill>
                  </a:tcPr>
                </a:tc>
                <a:tc>
                  <a:txBody>
                    <a:bodyPr/>
                    <a:lstStyle/>
                    <a:p>
                      <a:r>
                        <a:rPr sz="1500" b="0">
                          <a:solidFill>
                            <a:srgbClr val="202B58"/>
                          </a:solidFill>
                          <a:latin typeface="Noto Sans CJK JP"/>
                          <a:ea typeface="Noto Sans CJK JP"/>
                          <a:cs typeface="Noto Sans CJK JP"/>
                        </a:rPr>
                        <a:t>3,644.3</a:t>
                      </a:r>
                    </a:p>
                  </a:txBody>
                  <a:tcPr>
                    <a:solidFill>
                      <a:srgbClr val="F1F5F8"/>
                    </a:solidFill>
                  </a:tcPr>
                </a:tc>
                <a:tc>
                  <a:txBody>
                    <a:bodyPr/>
                    <a:lstStyle/>
                    <a:p>
                      <a:r>
                        <a:rPr sz="1500" b="0">
                          <a:solidFill>
                            <a:srgbClr val="202B58"/>
                          </a:solidFill>
                          <a:latin typeface="Noto Sans CJK JP"/>
                          <a:ea typeface="Noto Sans CJK JP"/>
                          <a:cs typeface="Noto Sans CJK JP"/>
                        </a:rPr>
                        <a:t>3,000 / 0 kWh</a:t>
                      </a:r>
                    </a:p>
                  </a:txBody>
                  <a:tcPr>
                    <a:solidFill>
                      <a:srgbClr val="F1F5F8"/>
                    </a:solidFill>
                  </a:tcPr>
                </a:tc>
                <a:extLst>
                  <a:ext uri="{0D108BD9-81ED-4DB2-BD59-A6C34878D82A}">
                    <a16:rowId xmlns:a16="http://schemas.microsoft.com/office/drawing/2014/main" val="10001"/>
                  </a:ext>
                </a:extLst>
              </a:tr>
              <a:tr h="352425">
                <a:tc>
                  <a:txBody>
                    <a:bodyPr/>
                    <a:lstStyle/>
                    <a:p>
                      <a:r>
                        <a:rPr sz="1500" b="0">
                          <a:solidFill>
                            <a:srgbClr val="202B58"/>
                          </a:solidFill>
                          <a:latin typeface="Noto Sans CJK JP"/>
                          <a:ea typeface="Noto Sans CJK JP"/>
                          <a:cs typeface="Noto Sans CJK JP"/>
                        </a:rPr>
                        <a:t>低PV（RAIN）</a:t>
                      </a:r>
                    </a:p>
                  </a:txBody>
                  <a:tcPr>
                    <a:solidFill>
                      <a:srgbClr val="FFFFFF"/>
                    </a:solidFill>
                  </a:tcPr>
                </a:tc>
                <a:tc>
                  <a:txBody>
                    <a:bodyPr/>
                    <a:lstStyle/>
                    <a:p>
                      <a:r>
                        <a:rPr sz="1500" b="0">
                          <a:solidFill>
                            <a:srgbClr val="202B58"/>
                          </a:solidFill>
                          <a:latin typeface="Noto Sans CJK JP"/>
                          <a:ea typeface="Noto Sans CJK JP"/>
                          <a:cs typeface="Noto Sans CJK JP"/>
                        </a:rPr>
                        <a:t>3,000</a:t>
                      </a:r>
                    </a:p>
                  </a:txBody>
                  <a:tcPr>
                    <a:solidFill>
                      <a:srgbClr val="FFFFFF"/>
                    </a:solidFill>
                  </a:tcPr>
                </a:tc>
                <a:tc>
                  <a:txBody>
                    <a:bodyPr/>
                    <a:lstStyle/>
                    <a:p>
                      <a:r>
                        <a:rPr sz="1500" b="0">
                          <a:solidFill>
                            <a:srgbClr val="202B58"/>
                          </a:solidFill>
                          <a:latin typeface="Noto Sans CJK JP"/>
                          <a:ea typeface="Noto Sans CJK JP"/>
                          <a:cs typeface="Noto Sans CJK JP"/>
                        </a:rPr>
                        <a:t>2,609.5</a:t>
                      </a:r>
                    </a:p>
                  </a:txBody>
                  <a:tcPr>
                    <a:solidFill>
                      <a:srgbClr val="FFFFFF"/>
                    </a:solidFill>
                  </a:tcPr>
                </a:tc>
                <a:tc>
                  <a:txBody>
                    <a:bodyPr/>
                    <a:lstStyle/>
                    <a:p>
                      <a:r>
                        <a:rPr sz="1500" b="0">
                          <a:solidFill>
                            <a:srgbClr val="202B58"/>
                          </a:solidFill>
                          <a:latin typeface="Noto Sans CJK JP"/>
                          <a:ea typeface="Noto Sans CJK JP"/>
                          <a:cs typeface="Noto Sans CJK JP"/>
                        </a:rPr>
                        <a:t>3,336.9</a:t>
                      </a:r>
                    </a:p>
                  </a:txBody>
                  <a:tcPr>
                    <a:solidFill>
                      <a:srgbClr val="FFFFFF"/>
                    </a:solidFill>
                  </a:tcPr>
                </a:tc>
                <a:tc>
                  <a:txBody>
                    <a:bodyPr/>
                    <a:lstStyle/>
                    <a:p>
                      <a:r>
                        <a:rPr sz="1500" b="0">
                          <a:solidFill>
                            <a:srgbClr val="202B58"/>
                          </a:solidFill>
                          <a:latin typeface="Noto Sans CJK JP"/>
                          <a:ea typeface="Noto Sans CJK JP"/>
                          <a:cs typeface="Noto Sans CJK JP"/>
                        </a:rPr>
                        <a:t>3,000 / 0 kWh</a:t>
                      </a:r>
                    </a:p>
                  </a:txBody>
                  <a:tcPr>
                    <a:solidFill>
                      <a:srgbClr val="FFFFFF"/>
                    </a:solidFill>
                  </a:tcPr>
                </a:tc>
                <a:extLst>
                  <a:ext uri="{0D108BD9-81ED-4DB2-BD59-A6C34878D82A}">
                    <a16:rowId xmlns:a16="http://schemas.microsoft.com/office/drawing/2014/main" val="10002"/>
                  </a:ext>
                </a:extLst>
              </a:tr>
            </a:tbl>
          </a:graphicData>
        </a:graphic>
      </p:graphicFrame>
      <p:sp>
        <p:nvSpPr>
          <p:cNvPr id="8" name="正方形/長方形 7">
            <a:extLst>
              <a:ext uri="{FF2B5EF4-FFF2-40B4-BE49-F238E27FC236}">
                <a16:creationId xmlns:a16="http://schemas.microsoft.com/office/drawing/2014/main" id="{8446D710-EF6C-44A8-9543-D78A69C63B84}"/>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8051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BACDEB1-DB2D-468F-B8D6-119B930D94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BESSの充電・放電電力</a:t>
            </a:r>
          </a:p>
        </p:txBody>
      </p:sp>
      <p:sp>
        <p:nvSpPr>
          <p:cNvPr id="2" name="正方形/長方形 1">
            <a:extLst>
              <a:ext uri="{FF2B5EF4-FFF2-40B4-BE49-F238E27FC236}">
                <a16:creationId xmlns:a16="http://schemas.microsoft.com/office/drawing/2014/main" id="{74F25E81-9430-4F8C-B25A-69F22D7A9B87}"/>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両方向を正値で表示。SOCは充電効率95%・放電効率95%で更新</a:t>
            </a:r>
          </a:p>
        </p:txBody>
      </p:sp>
      <p:sp>
        <p:nvSpPr>
          <p:cNvPr id="3" name="正方形/長方形 2">
            <a:extLst>
              <a:ext uri="{FF2B5EF4-FFF2-40B4-BE49-F238E27FC236}">
                <a16:creationId xmlns:a16="http://schemas.microsoft.com/office/drawing/2014/main" id="{50CA869F-2332-490D-9163-147CF7A5FF06}"/>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高PVでは日中に蓄え、バスの充電時に放電する</a:t>
            </a:r>
          </a:p>
        </p:txBody>
      </p:sp>
      <p:sp>
        <p:nvSpPr>
          <p:cNvPr id="4" name="正方形/長方形 3">
            <a:extLst>
              <a:ext uri="{FF2B5EF4-FFF2-40B4-BE49-F238E27FC236}">
                <a16:creationId xmlns:a16="http://schemas.microsoft.com/office/drawing/2014/main" id="{2CAC5693-FB44-485B-928A-F9E17E7DA1C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充電電力と放電電力の差だけではSOC差にならない。両方向の効率を含める。</a:t>
            </a:r>
          </a:p>
        </p:txBody>
      </p:sp>
      <p:sp>
        <p:nvSpPr>
          <p:cNvPr id="5" name="正方形/長方形 4">
            <a:extLst>
              <a:ext uri="{FF2B5EF4-FFF2-40B4-BE49-F238E27FC236}">
                <a16:creationId xmlns:a16="http://schemas.microsoft.com/office/drawing/2014/main" id="{D4071752-476D-4ACA-A30A-BFC1B75F2744}"/>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6</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737A2823-711C-467A-AC7A-DC05EBFB7C1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802570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8193867-DFD9-4AF4-BE5A-5A22AFE88DA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同時充電台数と、充電に必要な時間</a:t>
            </a:r>
          </a:p>
        </p:txBody>
      </p:sp>
      <p:sp>
        <p:nvSpPr>
          <p:cNvPr id="2" name="正方形/長方形 1">
            <a:extLst>
              <a:ext uri="{FF2B5EF4-FFF2-40B4-BE49-F238E27FC236}">
                <a16:creationId xmlns:a16="http://schemas.microsoft.com/office/drawing/2014/main" id="{01E24B0E-C1EC-464C-A03C-2A2BD9BFE83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15分単位。正の充電電力を持つ車両数を集計</a:t>
            </a:r>
          </a:p>
        </p:txBody>
      </p:sp>
      <p:sp>
        <p:nvSpPr>
          <p:cNvPr id="3" name="正方形/長方形 2">
            <a:extLst>
              <a:ext uri="{FF2B5EF4-FFF2-40B4-BE49-F238E27FC236}">
                <a16:creationId xmlns:a16="http://schemas.microsoft.com/office/drawing/2014/main" id="{33755CEC-D80F-41E5-AC18-39389B04097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「同時に10台」と「1台が短時間で満充電」は別の数量</a:t>
            </a:r>
          </a:p>
        </p:txBody>
      </p:sp>
      <p:sp>
        <p:nvSpPr>
          <p:cNvPr id="4" name="正方形/長方形 3">
            <a:extLst>
              <a:ext uri="{FF2B5EF4-FFF2-40B4-BE49-F238E27FC236}">
                <a16:creationId xmlns:a16="http://schemas.microsoft.com/office/drawing/2014/main" id="{E7CAA4B5-6BAD-4509-9535-5187C12E40C0}"/>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台数は電力&gt;1e−6 kWのセッション数。接続中台数・待ち台数・必要最小ポート数ではない。</a:t>
            </a:r>
          </a:p>
        </p:txBody>
      </p:sp>
      <p:sp>
        <p:nvSpPr>
          <p:cNvPr id="5" name="正方形/長方形 4">
            <a:extLst>
              <a:ext uri="{FF2B5EF4-FFF2-40B4-BE49-F238E27FC236}">
                <a16:creationId xmlns:a16="http://schemas.microsoft.com/office/drawing/2014/main" id="{3961D7BA-5E94-4EC5-9FED-CAAF51B67186}"/>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7</a:t>
            </a:r>
          </a:p>
        </p:txBody>
      </p:sp>
      <p:graphicFrame>
        <p:nvGraphicFramePr>
          <p:cNvPr id="15" name="Chart"/>
          <p:cNvGraphicFramePr/>
          <p:nvPr/>
        </p:nvGraphicFramePr>
        <p:xfrm>
          <a:off x="619125" y="1628775"/>
          <a:ext cx="10953750" cy="27622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959F48E8-F1C1-4A87-A465-1EAC17500169}"/>
              </a:ext>
            </a:extLst>
          </p:cNvPr>
          <p:cNvSpPr>
            <a:spLocks noGrp="1"/>
          </p:cNvSpPr>
          <p:nvPr/>
        </p:nvSpPr>
        <p:spPr>
          <a:xfrm>
            <a:off x="762000" y="4552950"/>
            <a:ext cx="10572750" cy="428625"/>
          </a:xfrm>
          <a:prstGeom prst="rect">
            <a:avLst/>
          </a:prstGeom>
          <a:noFill/>
          <a:ln w="0">
            <a:noFill/>
          </a:ln>
        </p:spPr>
        <p:txBody>
          <a:bodyPr>
            <a:noAutofit/>
          </a:bodyPr>
          <a:lstStyle/>
          <a:p>
            <a:pPr>
              <a:defRPr sz="1950" b="1">
                <a:solidFill>
                  <a:srgbClr val="202B58"/>
                </a:solidFill>
                <a:latin typeface="Noto Sans CJK JP"/>
                <a:ea typeface="Noto Sans CJK JP"/>
                <a:cs typeface="Noto Sans CJK JP"/>
              </a:defRPr>
            </a:pPr>
            <a:r>
              <a:rPr sz="1950" b="1">
                <a:solidFill>
                  <a:srgbClr val="202B58"/>
                </a:solidFill>
                <a:latin typeface="Noto Sans CJK JP"/>
                <a:ea typeface="Noto Sans CJK JP"/>
                <a:cs typeface="Noto Sans CJK JP"/>
              </a:rPr>
              <a:t>20%から80%まで：314 × (0.80−0.20) = 188.4 kWh</a:t>
            </a:r>
          </a:p>
        </p:txBody>
      </p:sp>
      <p:sp>
        <p:nvSpPr>
          <p:cNvPr id="8" name="正方形/長方形 7">
            <a:extLst>
              <a:ext uri="{FF2B5EF4-FFF2-40B4-BE49-F238E27FC236}">
                <a16:creationId xmlns:a16="http://schemas.microsoft.com/office/drawing/2014/main" id="{61F6E3B4-5BA7-41A7-AB63-C489BFC48FC0}"/>
              </a:ext>
            </a:extLst>
          </p:cNvPr>
          <p:cNvSpPr>
            <a:spLocks noGrp="1"/>
          </p:cNvSpPr>
          <p:nvPr/>
        </p:nvSpPr>
        <p:spPr>
          <a:xfrm>
            <a:off x="762000" y="5019675"/>
            <a:ext cx="10572750" cy="428625"/>
          </a:xfrm>
          <a:prstGeom prst="rect">
            <a:avLst/>
          </a:prstGeom>
          <a:noFill/>
          <a:ln w="0">
            <a:noFill/>
          </a:ln>
        </p:spPr>
        <p:txBody>
          <a:bodyPr>
            <a:noAutofit/>
          </a:bodyPr>
          <a:lstStyle/>
          <a:p>
            <a:pPr>
              <a:defRPr sz="1950" b="0">
                <a:solidFill>
                  <a:srgbClr val="202B58"/>
                </a:solidFill>
                <a:latin typeface="Noto Sans CJK JP"/>
                <a:ea typeface="Noto Sans CJK JP"/>
                <a:cs typeface="Noto Sans CJK JP"/>
              </a:defRPr>
            </a:pPr>
            <a:r>
              <a:rPr sz="1950" b="0">
                <a:solidFill>
                  <a:srgbClr val="202B58"/>
                </a:solidFill>
                <a:latin typeface="Noto Sans CJK JP"/>
                <a:ea typeface="Noto Sans CJK JP"/>
                <a:cs typeface="Noto Sans CJK JP"/>
              </a:rPr>
              <a:t>90 kWで連続充電しても、無損失の理論最短は2.09時間</a:t>
            </a:r>
          </a:p>
        </p:txBody>
      </p:sp>
      <p:sp>
        <p:nvSpPr>
          <p:cNvPr id="9" name="正方形/長方形 8">
            <a:extLst>
              <a:ext uri="{FF2B5EF4-FFF2-40B4-BE49-F238E27FC236}">
                <a16:creationId xmlns:a16="http://schemas.microsoft.com/office/drawing/2014/main" id="{C68C5983-032E-4A07-B4C9-7D19026F981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63973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225A9587-8BB5-4D33-8F05-1C82DED8CA8B}"/>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車両別の充電電力：最大充電量の車両例</a:t>
            </a:r>
          </a:p>
        </p:txBody>
      </p:sp>
      <p:sp>
        <p:nvSpPr>
          <p:cNvPr id="2" name="正方形/長方形 1">
            <a:extLst>
              <a:ext uri="{FF2B5EF4-FFF2-40B4-BE49-F238E27FC236}">
                <a16:creationId xmlns:a16="http://schemas.microsoft.com/office/drawing/2014/main" id="{E4D04605-60AA-4EE5-979A-B01AE8D6D133}"/>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各条件で一日の充電器入力が最大の1台を選ぶ。同一車両・平均車両の比較ではない</a:t>
            </a:r>
          </a:p>
        </p:txBody>
      </p:sp>
      <p:sp>
        <p:nvSpPr>
          <p:cNvPr id="3" name="正方形/長方形 2">
            <a:extLst>
              <a:ext uri="{FF2B5EF4-FFF2-40B4-BE49-F238E27FC236}">
                <a16:creationId xmlns:a16="http://schemas.microsoft.com/office/drawing/2014/main" id="{80C4C46D-1685-4D4E-89F5-4C111DE617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高PVの例は4.00時間、低PVの例は3.25時間に分けて充電</a:t>
            </a:r>
          </a:p>
        </p:txBody>
      </p:sp>
      <p:sp>
        <p:nvSpPr>
          <p:cNvPr id="4" name="正方形/長方形 3">
            <a:extLst>
              <a:ext uri="{FF2B5EF4-FFF2-40B4-BE49-F238E27FC236}">
                <a16:creationId xmlns:a16="http://schemas.microsoft.com/office/drawing/2014/main" id="{81C48A75-95AC-4E6A-994C-A5353FF33635}"/>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時間は正の充電電力がある15分枠の合計。連続した充電時間ではない。</a:t>
            </a:r>
          </a:p>
        </p:txBody>
      </p:sp>
      <p:sp>
        <p:nvSpPr>
          <p:cNvPr id="5" name="正方形/長方形 4">
            <a:extLst>
              <a:ext uri="{FF2B5EF4-FFF2-40B4-BE49-F238E27FC236}">
                <a16:creationId xmlns:a16="http://schemas.microsoft.com/office/drawing/2014/main" id="{53B16305-BB59-4094-BEBF-AD068CD107B0}"/>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8</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17F22ED9-A8A6-4FC0-A390-A8C509FFE95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28422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AB0E2-AC41-4BEA-88A2-817C6ECA9417}"/>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同じ車両例のSOC軌跡</a:t>
            </a:r>
          </a:p>
        </p:txBody>
      </p:sp>
      <p:sp>
        <p:nvSpPr>
          <p:cNvPr id="2" name="正方形/長方形 1">
            <a:extLst>
              <a:ext uri="{FF2B5EF4-FFF2-40B4-BE49-F238E27FC236}">
                <a16:creationId xmlns:a16="http://schemas.microsoft.com/office/drawing/2014/main" id="{19C246C4-C00D-4910-80C6-421C3B21BC4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前ページの各車両を追跡。上昇は充電、低下はモデル上の運行消費</a:t>
            </a:r>
          </a:p>
        </p:txBody>
      </p:sp>
      <p:sp>
        <p:nvSpPr>
          <p:cNvPr id="3" name="正方形/長方形 2">
            <a:extLst>
              <a:ext uri="{FF2B5EF4-FFF2-40B4-BE49-F238E27FC236}">
                <a16:creationId xmlns:a16="http://schemas.microsoft.com/office/drawing/2014/main" id="{E4724D43-2454-4D61-8372-1756259E4B1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高PVの例は最大93.37%。入力上限90%との不一致を検出</a:t>
            </a:r>
          </a:p>
        </p:txBody>
      </p:sp>
      <p:sp>
        <p:nvSpPr>
          <p:cNvPr id="4" name="正方形/長方形 3">
            <a:extLst>
              <a:ext uri="{FF2B5EF4-FFF2-40B4-BE49-F238E27FC236}">
                <a16:creationId xmlns:a16="http://schemas.microsoft.com/office/drawing/2014/main" id="{78BE83F5-D0BE-4ECE-A4FF-44496D2728B3}"/>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SOCは15分枠の開始値と24時終端値。上限線は入力指定値。保存モデルは容量100%を上限とする。</a:t>
            </a:r>
          </a:p>
        </p:txBody>
      </p:sp>
      <p:sp>
        <p:nvSpPr>
          <p:cNvPr id="5" name="正方形/長方形 4">
            <a:extLst>
              <a:ext uri="{FF2B5EF4-FFF2-40B4-BE49-F238E27FC236}">
                <a16:creationId xmlns:a16="http://schemas.microsoft.com/office/drawing/2014/main" id="{F560B12D-C42D-41AC-BFF6-AE1C3B0E21F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9</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3A446CD0-A253-4A83-879D-E7099474908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63149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7AA13DF-0E84-4723-BF0E-18365F9ACC79}"/>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配車と燃料：便数だけでなく距離で確認</a:t>
            </a:r>
          </a:p>
        </p:txBody>
      </p:sp>
      <p:sp>
        <p:nvSpPr>
          <p:cNvPr id="2" name="正方形/長方形 1">
            <a:extLst>
              <a:ext uri="{FF2B5EF4-FFF2-40B4-BE49-F238E27FC236}">
                <a16:creationId xmlns:a16="http://schemas.microsoft.com/office/drawing/2014/main" id="{B055709C-DFB1-405D-9CD2-0A5024EC027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営業便の総距離は両条件とも2,136.74 km。担当車種だけが変わる</a:t>
            </a:r>
          </a:p>
        </p:txBody>
      </p:sp>
      <p:sp>
        <p:nvSpPr>
          <p:cNvPr id="3" name="正方形/長方形 2">
            <a:extLst>
              <a:ext uri="{FF2B5EF4-FFF2-40B4-BE49-F238E27FC236}">
                <a16:creationId xmlns:a16="http://schemas.microsoft.com/office/drawing/2014/main" id="{6D042869-F73E-4349-8440-612DC07A50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高PVではBEVが担う営業距離が増え、燃料消費が減った</a:t>
            </a:r>
          </a:p>
        </p:txBody>
      </p:sp>
      <p:sp>
        <p:nvSpPr>
          <p:cNvPr id="4" name="正方形/長方形 3">
            <a:extLst>
              <a:ext uri="{FF2B5EF4-FFF2-40B4-BE49-F238E27FC236}">
                <a16:creationId xmlns:a16="http://schemas.microsoft.com/office/drawing/2014/main" id="{207D3E1B-FCCF-4055-8A1E-D6E8A0903AC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営業距離は回送を除く。燃料は回送等を含む最終台帳であり、営業距離だけから再計算しない。</a:t>
            </a:r>
          </a:p>
        </p:txBody>
      </p:sp>
      <p:sp>
        <p:nvSpPr>
          <p:cNvPr id="5" name="正方形/長方形 4">
            <a:extLst>
              <a:ext uri="{FF2B5EF4-FFF2-40B4-BE49-F238E27FC236}">
                <a16:creationId xmlns:a16="http://schemas.microsoft.com/office/drawing/2014/main" id="{14E83421-AED2-4148-85B2-4119DF3680ED}"/>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10</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43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指標</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稼働台数 BEV / ICE</a:t>
                      </a:r>
                    </a:p>
                  </a:txBody>
                  <a:tcPr>
                    <a:solidFill>
                      <a:srgbClr val="F1F5F8"/>
                    </a:solidFill>
                  </a:tcPr>
                </a:tc>
                <a:tc>
                  <a:txBody>
                    <a:bodyPr/>
                    <a:lstStyle/>
                    <a:p>
                      <a:r>
                        <a:rPr sz="1725" b="0">
                          <a:solidFill>
                            <a:srgbClr val="202B58"/>
                          </a:solidFill>
                          <a:latin typeface="Noto Sans CJK JP"/>
                          <a:ea typeface="Noto Sans CJK JP"/>
                          <a:cs typeface="Noto Sans CJK JP"/>
                        </a:rPr>
                        <a:t>28 / 4</a:t>
                      </a:r>
                    </a:p>
                  </a:txBody>
                  <a:tcPr>
                    <a:solidFill>
                      <a:srgbClr val="F1F5F8"/>
                    </a:solidFill>
                  </a:tcPr>
                </a:tc>
                <a:tc>
                  <a:txBody>
                    <a:bodyPr/>
                    <a:lstStyle/>
                    <a:p>
                      <a:r>
                        <a:rPr sz="1725" b="0">
                          <a:solidFill>
                            <a:srgbClr val="202B58"/>
                          </a:solidFill>
                          <a:latin typeface="Noto Sans CJK JP"/>
                          <a:ea typeface="Noto Sans CJK JP"/>
                          <a:cs typeface="Noto Sans CJK JP"/>
                        </a:rPr>
                        <a:t>21 / 11</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担当便 BEV / ICE</a:t>
                      </a:r>
                    </a:p>
                  </a:txBody>
                  <a:tcPr>
                    <a:solidFill>
                      <a:srgbClr val="FFFFFF"/>
                    </a:solidFill>
                  </a:tcPr>
                </a:tc>
                <a:tc>
                  <a:txBody>
                    <a:bodyPr/>
                    <a:lstStyle/>
                    <a:p>
                      <a:r>
                        <a:rPr sz="1725" b="0">
                          <a:solidFill>
                            <a:srgbClr val="202B58"/>
                          </a:solidFill>
                          <a:latin typeface="Noto Sans CJK JP"/>
                          <a:ea typeface="Noto Sans CJK JP"/>
                          <a:cs typeface="Noto Sans CJK JP"/>
                        </a:rPr>
                        <a:t>199 / 65</a:t>
                      </a:r>
                    </a:p>
                  </a:txBody>
                  <a:tcPr>
                    <a:solidFill>
                      <a:srgbClr val="FFFFFF"/>
                    </a:solidFill>
                  </a:tcPr>
                </a:tc>
                <a:tc>
                  <a:txBody>
                    <a:bodyPr/>
                    <a:lstStyle/>
                    <a:p>
                      <a:r>
                        <a:rPr sz="1725" b="0">
                          <a:solidFill>
                            <a:srgbClr val="202B58"/>
                          </a:solidFill>
                          <a:latin typeface="Noto Sans CJK JP"/>
                          <a:ea typeface="Noto Sans CJK JP"/>
                          <a:cs typeface="Noto Sans CJK JP"/>
                        </a:rPr>
                        <a:t>91 / 173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BEV営業距離 [km]</a:t>
                      </a:r>
                    </a:p>
                  </a:txBody>
                  <a:tcPr>
                    <a:solidFill>
                      <a:srgbClr val="F1F5F8"/>
                    </a:solidFill>
                  </a:tcPr>
                </a:tc>
                <a:tc>
                  <a:txBody>
                    <a:bodyPr/>
                    <a:lstStyle/>
                    <a:p>
                      <a:r>
                        <a:rPr sz="1725" b="0">
                          <a:solidFill>
                            <a:srgbClr val="202B58"/>
                          </a:solidFill>
                          <a:latin typeface="Noto Sans CJK JP"/>
                          <a:ea typeface="Noto Sans CJK JP"/>
                          <a:cs typeface="Noto Sans CJK JP"/>
                        </a:rPr>
                        <a:t>1,555.04</a:t>
                      </a:r>
                    </a:p>
                  </a:txBody>
                  <a:tcPr>
                    <a:solidFill>
                      <a:srgbClr val="F1F5F8"/>
                    </a:solidFill>
                  </a:tcPr>
                </a:tc>
                <a:tc>
                  <a:txBody>
                    <a:bodyPr/>
                    <a:lstStyle/>
                    <a:p>
                      <a:r>
                        <a:rPr sz="1725" b="0">
                          <a:solidFill>
                            <a:srgbClr val="202B58"/>
                          </a:solidFill>
                          <a:latin typeface="Noto Sans CJK JP"/>
                          <a:ea typeface="Noto Sans CJK JP"/>
                          <a:cs typeface="Noto Sans CJK JP"/>
                        </a:rPr>
                        <a:t>635.21</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ICE営業距離 [km]</a:t>
                      </a:r>
                    </a:p>
                  </a:txBody>
                  <a:tcPr>
                    <a:solidFill>
                      <a:srgbClr val="FFFFFF"/>
                    </a:solidFill>
                  </a:tcPr>
                </a:tc>
                <a:tc>
                  <a:txBody>
                    <a:bodyPr/>
                    <a:lstStyle/>
                    <a:p>
                      <a:r>
                        <a:rPr sz="1725" b="0">
                          <a:solidFill>
                            <a:srgbClr val="202B58"/>
                          </a:solidFill>
                          <a:latin typeface="Noto Sans CJK JP"/>
                          <a:ea typeface="Noto Sans CJK JP"/>
                          <a:cs typeface="Noto Sans CJK JP"/>
                        </a:rPr>
                        <a:t>581.70</a:t>
                      </a:r>
                    </a:p>
                  </a:txBody>
                  <a:tcPr>
                    <a:solidFill>
                      <a:srgbClr val="FFFFFF"/>
                    </a:solidFill>
                  </a:tcPr>
                </a:tc>
                <a:tc>
                  <a:txBody>
                    <a:bodyPr/>
                    <a:lstStyle/>
                    <a:p>
                      <a:r>
                        <a:rPr sz="1725" b="0">
                          <a:solidFill>
                            <a:srgbClr val="202B58"/>
                          </a:solidFill>
                          <a:latin typeface="Noto Sans CJK JP"/>
                          <a:ea typeface="Noto Sans CJK JP"/>
                          <a:cs typeface="Noto Sans CJK JP"/>
                        </a:rPr>
                        <a:t>1,501.52</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燃料消費 [L]</a:t>
                      </a:r>
                    </a:p>
                  </a:txBody>
                  <a:tcPr>
                    <a:solidFill>
                      <a:srgbClr val="F1F5F8"/>
                    </a:solidFill>
                  </a:tcPr>
                </a:tc>
                <a:tc>
                  <a:txBody>
                    <a:bodyPr/>
                    <a:lstStyle/>
                    <a:p>
                      <a:r>
                        <a:rPr sz="1725" b="0">
                          <a:solidFill>
                            <a:srgbClr val="202B58"/>
                          </a:solidFill>
                          <a:latin typeface="Noto Sans CJK JP"/>
                          <a:ea typeface="Noto Sans CJK JP"/>
                          <a:cs typeface="Noto Sans CJK JP"/>
                        </a:rPr>
                        <a:t>137.521</a:t>
                      </a:r>
                    </a:p>
                  </a:txBody>
                  <a:tcPr>
                    <a:solidFill>
                      <a:srgbClr val="F1F5F8"/>
                    </a:solidFill>
                  </a:tcPr>
                </a:tc>
                <a:tc>
                  <a:txBody>
                    <a:bodyPr/>
                    <a:lstStyle/>
                    <a:p>
                      <a:r>
                        <a:rPr sz="1725" b="0">
                          <a:solidFill>
                            <a:srgbClr val="202B58"/>
                          </a:solidFill>
                          <a:latin typeface="Noto Sans CJK JP"/>
                          <a:ea typeface="Noto Sans CJK JP"/>
                          <a:cs typeface="Noto Sans CJK JP"/>
                        </a:rPr>
                        <a:t>357.881</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A14C6159-8CD4-4419-A02F-D1FA73E8783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654465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9D32986-E0F5-47B2-ACB9-BA9C4DD339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使用台数費用を含む、一日の評価額</a:t>
            </a:r>
          </a:p>
        </p:txBody>
      </p:sp>
      <p:sp>
        <p:nvSpPr>
          <p:cNvPr id="2" name="正方形/長方形 1">
            <a:extLst>
              <a:ext uri="{FF2B5EF4-FFF2-40B4-BE49-F238E27FC236}">
                <a16:creationId xmlns:a16="http://schemas.microsoft.com/office/drawing/2014/main" id="{91B67599-6331-4A32-8271-23F05C8CA1D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C使用 = 20,000 JPY/台日 × 使用台数。係数は固定、使用台数は配車で決まる</a:t>
            </a:r>
          </a:p>
        </p:txBody>
      </p:sp>
      <p:sp>
        <p:nvSpPr>
          <p:cNvPr id="3" name="正方形/長方形 2">
            <a:extLst>
              <a:ext uri="{FF2B5EF4-FFF2-40B4-BE49-F238E27FC236}">
                <a16:creationId xmlns:a16="http://schemas.microsoft.com/office/drawing/2014/main" id="{76F15758-CCED-4C36-B9E8-2597E78FCF6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使用台数は両条件32台。差額37,614.84円の主因は燃料費</a:t>
            </a:r>
          </a:p>
        </p:txBody>
      </p:sp>
      <p:sp>
        <p:nvSpPr>
          <p:cNvPr id="4" name="正方形/長方形 3">
            <a:extLst>
              <a:ext uri="{FF2B5EF4-FFF2-40B4-BE49-F238E27FC236}">
                <a16:creationId xmlns:a16="http://schemas.microsoft.com/office/drawing/2014/main" id="{E025BEA4-4542-4F43-A217-CAED733864A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燃料は未補給分の在庫評価を含む。現金支払額・総保有費用とは異なる。</a:t>
            </a:r>
          </a:p>
        </p:txBody>
      </p:sp>
      <p:sp>
        <p:nvSpPr>
          <p:cNvPr id="5" name="正方形/長方形 4">
            <a:extLst>
              <a:ext uri="{FF2B5EF4-FFF2-40B4-BE49-F238E27FC236}">
                <a16:creationId xmlns:a16="http://schemas.microsoft.com/office/drawing/2014/main" id="{F218264B-EABC-436E-8FF6-5607DDF9D16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71475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42887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項目 [JPY/日]</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tc>
                  <a:txBody>
                    <a:bodyPr/>
                    <a:lstStyle/>
                    <a:p>
                      <a:r>
                        <a:rPr sz="1725" b="1">
                          <a:solidFill>
                            <a:srgbClr val="FFFFFF"/>
                          </a:solidFill>
                          <a:latin typeface="Noto Sans CJK JP"/>
                          <a:ea typeface="Noto Sans CJK JP"/>
                          <a:cs typeface="Noto Sans CJK JP"/>
                        </a:rPr>
                        <a:t>低PV − 高PV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車両使用費</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燃料費</a:t>
                      </a:r>
                    </a:p>
                  </a:txBody>
                  <a:tcPr>
                    <a:solidFill>
                      <a:srgbClr val="FFFFFF"/>
                    </a:solidFill>
                  </a:tcPr>
                </a:tc>
                <a:tc>
                  <a:txBody>
                    <a:bodyPr/>
                    <a:lstStyle/>
                    <a:p>
                      <a:r>
                        <a:rPr sz="1725" b="0">
                          <a:solidFill>
                            <a:srgbClr val="202B58"/>
                          </a:solidFill>
                          <a:latin typeface="Noto Sans CJK JP"/>
                          <a:ea typeface="Noto Sans CJK JP"/>
                          <a:cs typeface="Noto Sans CJK JP"/>
                        </a:rPr>
                        <a:t>20,628.17</a:t>
                      </a:r>
                    </a:p>
                  </a:txBody>
                  <a:tcPr>
                    <a:solidFill>
                      <a:srgbClr val="FFFFFF"/>
                    </a:solidFill>
                  </a:tcPr>
                </a:tc>
                <a:tc>
                  <a:txBody>
                    <a:bodyPr/>
                    <a:lstStyle/>
                    <a:p>
                      <a:r>
                        <a:rPr sz="1725" b="0">
                          <a:solidFill>
                            <a:srgbClr val="202B58"/>
                          </a:solidFill>
                          <a:latin typeface="Noto Sans CJK JP"/>
                          <a:ea typeface="Noto Sans CJK JP"/>
                          <a:cs typeface="Noto Sans CJK JP"/>
                        </a:rPr>
                        <a:t>53,682.20</a:t>
                      </a:r>
                    </a:p>
                  </a:txBody>
                  <a:tcPr>
                    <a:solidFill>
                      <a:srgbClr val="FFFFFF"/>
                    </a:solidFill>
                  </a:tcPr>
                </a:tc>
                <a:tc>
                  <a:txBody>
                    <a:bodyPr/>
                    <a:lstStyle/>
                    <a:p>
                      <a:r>
                        <a:rPr sz="1725" b="0">
                          <a:solidFill>
                            <a:srgbClr val="202B58"/>
                          </a:solidFill>
                          <a:latin typeface="Noto Sans CJK JP"/>
                          <a:ea typeface="Noto Sans CJK JP"/>
                          <a:cs typeface="Noto Sans CJK JP"/>
                        </a:rPr>
                        <a:t>33,054.03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系統電気料金</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CO₂費</a:t>
                      </a:r>
                    </a:p>
                  </a:txBody>
                  <a:tcPr>
                    <a:solidFill>
                      <a:srgbClr val="FFFFFF"/>
                    </a:solidFill>
                  </a:tcPr>
                </a:tc>
                <a:tc>
                  <a:txBody>
                    <a:bodyPr/>
                    <a:lstStyle/>
                    <a:p>
                      <a:r>
                        <a:rPr sz="1725" b="0">
                          <a:solidFill>
                            <a:srgbClr val="202B58"/>
                          </a:solidFill>
                          <a:latin typeface="Noto Sans CJK JP"/>
                          <a:ea typeface="Noto Sans CJK JP"/>
                          <a:cs typeface="Noto Sans CJK JP"/>
                        </a:rPr>
                        <a:t>355.62</a:t>
                      </a:r>
                    </a:p>
                  </a:txBody>
                  <a:tcPr>
                    <a:solidFill>
                      <a:srgbClr val="FFFFFF"/>
                    </a:solidFill>
                  </a:tcPr>
                </a:tc>
                <a:tc>
                  <a:txBody>
                    <a:bodyPr/>
                    <a:lstStyle/>
                    <a:p>
                      <a:r>
                        <a:rPr sz="1725" b="0">
                          <a:solidFill>
                            <a:srgbClr val="202B58"/>
                          </a:solidFill>
                          <a:latin typeface="Noto Sans CJK JP"/>
                          <a:ea typeface="Noto Sans CJK JP"/>
                          <a:cs typeface="Noto Sans CJK JP"/>
                        </a:rPr>
                        <a:t>990.87</a:t>
                      </a:r>
                    </a:p>
                  </a:txBody>
                  <a:tcPr>
                    <a:solidFill>
                      <a:srgbClr val="FFFFFF"/>
                    </a:solidFill>
                  </a:tcPr>
                </a:tc>
                <a:tc>
                  <a:txBody>
                    <a:bodyPr/>
                    <a:lstStyle/>
                    <a:p>
                      <a:r>
                        <a:rPr sz="1725" b="0">
                          <a:solidFill>
                            <a:srgbClr val="202B58"/>
                          </a:solidFill>
                          <a:latin typeface="Noto Sans CJK JP"/>
                          <a:ea typeface="Noto Sans CJK JP"/>
                          <a:cs typeface="Noto Sans CJK JP"/>
                        </a:rPr>
                        <a:t>635.25</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合計</a:t>
                      </a:r>
                    </a:p>
                  </a:txBody>
                  <a:tcPr>
                    <a:solidFill>
                      <a:srgbClr val="F1F5F8"/>
                    </a:solidFill>
                  </a:tcPr>
                </a:tc>
                <a:tc>
                  <a:txBody>
                    <a:bodyPr/>
                    <a:lstStyle/>
                    <a:p>
                      <a:r>
                        <a:rPr sz="1725" b="0">
                          <a:solidFill>
                            <a:srgbClr val="202B58"/>
                          </a:solidFill>
                          <a:latin typeface="Noto Sans CJK JP"/>
                          <a:ea typeface="Noto Sans CJK JP"/>
                          <a:cs typeface="Noto Sans CJK JP"/>
                        </a:rPr>
                        <a:t>660,983.78</a:t>
                      </a:r>
                    </a:p>
                  </a:txBody>
                  <a:tcPr>
                    <a:solidFill>
                      <a:srgbClr val="F1F5F8"/>
                    </a:solidFill>
                  </a:tcPr>
                </a:tc>
                <a:tc>
                  <a:txBody>
                    <a:bodyPr/>
                    <a:lstStyle/>
                    <a:p>
                      <a:r>
                        <a:rPr sz="1725" b="0">
                          <a:solidFill>
                            <a:srgbClr val="202B58"/>
                          </a:solidFill>
                          <a:latin typeface="Noto Sans CJK JP"/>
                          <a:ea typeface="Noto Sans CJK JP"/>
                          <a:cs typeface="Noto Sans CJK JP"/>
                        </a:rPr>
                        <a:t>698,598.63</a:t>
                      </a:r>
                    </a:p>
                  </a:txBody>
                  <a:tcPr>
                    <a:solidFill>
                      <a:srgbClr val="F1F5F8"/>
                    </a:solidFill>
                  </a:tcPr>
                </a:tc>
                <a:tc>
                  <a:txBody>
                    <a:bodyPr/>
                    <a:lstStyle/>
                    <a:p>
                      <a:r>
                        <a:rPr sz="1725" b="0">
                          <a:solidFill>
                            <a:srgbClr val="202B58"/>
                          </a:solidFill>
                          <a:latin typeface="Noto Sans CJK JP"/>
                          <a:ea typeface="Noto Sans CJK JP"/>
                          <a:cs typeface="Noto Sans CJK JP"/>
                        </a:rPr>
                        <a:t>37,614.84</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DB30C9B-4C64-40AE-9353-C7C5C362BBC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87760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F2291C6-8DF0-4ED1-A8A3-3CEBD9E240ED}"/>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計算時間：設定上限と実測を分ける</a:t>
            </a:r>
          </a:p>
        </p:txBody>
      </p:sp>
      <p:sp>
        <p:nvSpPr>
          <p:cNvPr id="2" name="正方形/長方形 1">
            <a:extLst>
              <a:ext uri="{FF2B5EF4-FFF2-40B4-BE49-F238E27FC236}">
                <a16:creationId xmlns:a16="http://schemas.microsoft.com/office/drawing/2014/main" id="{8DFFCC10-993A-4768-A537-C5350C7B8C7C}"/>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Intel Core i7-12700、Gurobi 13.0.1、1 thread、seed 42</a:t>
            </a:r>
          </a:p>
        </p:txBody>
      </p:sp>
      <p:sp>
        <p:nvSpPr>
          <p:cNvPr id="3" name="正方形/長方形 2">
            <a:extLst>
              <a:ext uri="{FF2B5EF4-FFF2-40B4-BE49-F238E27FC236}">
                <a16:creationId xmlns:a16="http://schemas.microsoft.com/office/drawing/2014/main" id="{4ECF33BB-A06F-457E-B6D2-9197AAA6727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毎時処理は配車を固定し、残り一日の充電・電力運用だけを再計算</a:t>
            </a:r>
          </a:p>
        </p:txBody>
      </p:sp>
      <p:sp>
        <p:nvSpPr>
          <p:cNvPr id="4" name="正方形/長方形 3">
            <a:extLst>
              <a:ext uri="{FF2B5EF4-FFF2-40B4-BE49-F238E27FC236}">
                <a16:creationId xmlns:a16="http://schemas.microsoft.com/office/drawing/2014/main" id="{36047FCF-D7B7-4986-A530-4D3120EECB6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実測は保存フィールドの範囲。候補生成等を含む全工程のwall timeや速度改善率とは異なる。</a:t>
            </a:r>
          </a:p>
        </p:txBody>
      </p:sp>
      <p:sp>
        <p:nvSpPr>
          <p:cNvPr id="5" name="正方形/長方形 4">
            <a:extLst>
              <a:ext uri="{FF2B5EF4-FFF2-40B4-BE49-F238E27FC236}">
                <a16:creationId xmlns:a16="http://schemas.microsoft.com/office/drawing/2014/main" id="{8E47EE80-672B-4B43-B241-321142D418AA}"/>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466725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47875">
                  <a:extLst>
                    <a:ext uri="{9D8B030D-6E8A-4147-A177-3AD203B41FA5}">
                      <a16:colId xmlns:a16="http://schemas.microsoft.com/office/drawing/2014/main" val="20002"/>
                    </a:ext>
                  </a:extLst>
                </a:gridCol>
                <a:gridCol w="2047875">
                  <a:extLst>
                    <a:ext uri="{9D8B030D-6E8A-4147-A177-3AD203B41FA5}">
                      <a16:colId xmlns:a16="http://schemas.microsoft.com/office/drawing/2014/main" val="20003"/>
                    </a:ext>
                  </a:extLst>
                </a:gridCol>
              </a:tblGrid>
              <a:tr h="620713">
                <a:tc>
                  <a:txBody>
                    <a:bodyPr/>
                    <a:lstStyle/>
                    <a:p>
                      <a:r>
                        <a:rPr sz="1575" b="1">
                          <a:solidFill>
                            <a:srgbClr val="FFFFFF"/>
                          </a:solidFill>
                          <a:latin typeface="Noto Sans CJK JP"/>
                          <a:ea typeface="Noto Sans CJK JP"/>
                          <a:cs typeface="Noto Sans CJK JP"/>
                        </a:rPr>
                        <a:t>時間項目 [秒]</a:t>
                      </a:r>
                    </a:p>
                  </a:txBody>
                  <a:tcPr>
                    <a:solidFill>
                      <a:srgbClr val="202B58"/>
                    </a:solidFill>
                  </a:tcPr>
                </a:tc>
                <a:tc>
                  <a:txBody>
                    <a:bodyPr/>
                    <a:lstStyle/>
                    <a:p>
                      <a:r>
                        <a:rPr sz="1575" b="1">
                          <a:solidFill>
                            <a:srgbClr val="FFFFFF"/>
                          </a:solidFill>
                          <a:latin typeface="Noto Sans CJK JP"/>
                          <a:ea typeface="Noto Sans CJK JP"/>
                          <a:cs typeface="Noto Sans CJK JP"/>
                        </a:rPr>
                        <a:t>上限設定</a:t>
                      </a:r>
                    </a:p>
                  </a:txBody>
                  <a:tcPr>
                    <a:solidFill>
                      <a:srgbClr val="202B58"/>
                    </a:solidFill>
                  </a:tcPr>
                </a:tc>
                <a:tc>
                  <a:txBody>
                    <a:bodyPr/>
                    <a:lstStyle/>
                    <a:p>
                      <a:r>
                        <a:rPr sz="1575" b="1">
                          <a:solidFill>
                            <a:srgbClr val="FFFFFF"/>
                          </a:solidFill>
                          <a:latin typeface="Noto Sans CJK JP"/>
                          <a:ea typeface="Noto Sans CJK JP"/>
                          <a:cs typeface="Noto Sans CJK JP"/>
                        </a:rPr>
                        <a:t>高PV 実測</a:t>
                      </a:r>
                    </a:p>
                  </a:txBody>
                  <a:tcPr>
                    <a:solidFill>
                      <a:srgbClr val="202B58"/>
                    </a:solidFill>
                  </a:tcPr>
                </a:tc>
                <a:tc>
                  <a:txBody>
                    <a:bodyPr/>
                    <a:lstStyle/>
                    <a:p>
                      <a:r>
                        <a:rPr sz="1575" b="1">
                          <a:solidFill>
                            <a:srgbClr val="FFFFFF"/>
                          </a:solidFill>
                          <a:latin typeface="Noto Sans CJK JP"/>
                          <a:ea typeface="Noto Sans CJK JP"/>
                          <a:cs typeface="Noto Sans CJK JP"/>
                        </a:rPr>
                        <a:t>低PV 実測</a:t>
                      </a:r>
                    </a:p>
                  </a:txBody>
                  <a:tcPr>
                    <a:solidFill>
                      <a:srgbClr val="202B58"/>
                    </a:solidFill>
                  </a:tcPr>
                </a:tc>
                <a:extLst>
                  <a:ext uri="{0D108BD9-81ED-4DB2-BD59-A6C34878D82A}">
                    <a16:rowId xmlns:a16="http://schemas.microsoft.com/office/drawing/2014/main" val="10000"/>
                  </a:ext>
                </a:extLst>
              </a:tr>
              <a:tr h="620713">
                <a:tc>
                  <a:txBody>
                    <a:bodyPr/>
                    <a:lstStyle/>
                    <a:p>
                      <a:r>
                        <a:rPr sz="1575" b="0">
                          <a:solidFill>
                            <a:srgbClr val="202B58"/>
                          </a:solidFill>
                          <a:latin typeface="Noto Sans CJK JP"/>
                          <a:ea typeface="Noto Sans CJK JP"/>
                          <a:cs typeface="Noto Sans CJK JP"/>
                        </a:rPr>
                        <a:t>Stage 1</a:t>
                      </a:r>
                    </a:p>
                  </a:txBody>
                  <a:tcPr>
                    <a:solidFill>
                      <a:srgbClr val="F1F5F8"/>
                    </a:solidFill>
                  </a:tcPr>
                </a:tc>
                <a:tc>
                  <a:txBody>
                    <a:bodyPr/>
                    <a:lstStyle/>
                    <a:p>
                      <a:r>
                        <a:rPr sz="1575" b="0">
                          <a:solidFill>
                            <a:srgbClr val="202B58"/>
                          </a:solidFill>
                          <a:latin typeface="Noto Sans CJK JP"/>
                          <a:ea typeface="Noto Sans CJK JP"/>
                          <a:cs typeface="Noto Sans CJK JP"/>
                        </a:rPr>
                        <a:t>435</a:t>
                      </a:r>
                    </a:p>
                  </a:txBody>
                  <a:tcPr>
                    <a:solidFill>
                      <a:srgbClr val="F1F5F8"/>
                    </a:solidFill>
                  </a:tcPr>
                </a:tc>
                <a:tc>
                  <a:txBody>
                    <a:bodyPr/>
                    <a:lstStyle/>
                    <a:p>
                      <a:r>
                        <a:rPr sz="1575" b="0">
                          <a:solidFill>
                            <a:srgbClr val="202B58"/>
                          </a:solidFill>
                          <a:latin typeface="Noto Sans CJK JP"/>
                          <a:ea typeface="Noto Sans CJK JP"/>
                          <a:cs typeface="Noto Sans CJK JP"/>
                        </a:rPr>
                        <a:t>378.97</a:t>
                      </a:r>
                    </a:p>
                  </a:txBody>
                  <a:tcPr>
                    <a:solidFill>
                      <a:srgbClr val="F1F5F8"/>
                    </a:solidFill>
                  </a:tcPr>
                </a:tc>
                <a:tc>
                  <a:txBody>
                    <a:bodyPr/>
                    <a:lstStyle/>
                    <a:p>
                      <a:r>
                        <a:rPr sz="1575" b="0">
                          <a:solidFill>
                            <a:srgbClr val="202B58"/>
                          </a:solidFill>
                          <a:latin typeface="Noto Sans CJK JP"/>
                          <a:ea typeface="Noto Sans CJK JP"/>
                          <a:cs typeface="Noto Sans CJK JP"/>
                        </a:rPr>
                        <a:t>378.64</a:t>
                      </a:r>
                    </a:p>
                  </a:txBody>
                  <a:tcPr>
                    <a:solidFill>
                      <a:srgbClr val="F1F5F8"/>
                    </a:solidFill>
                  </a:tcPr>
                </a:tc>
                <a:extLst>
                  <a:ext uri="{0D108BD9-81ED-4DB2-BD59-A6C34878D82A}">
                    <a16:rowId xmlns:a16="http://schemas.microsoft.com/office/drawing/2014/main" val="10001"/>
                  </a:ext>
                </a:extLst>
              </a:tr>
              <a:tr h="620713">
                <a:tc>
                  <a:txBody>
                    <a:bodyPr/>
                    <a:lstStyle/>
                    <a:p>
                      <a:r>
                        <a:rPr sz="1575" b="0">
                          <a:solidFill>
                            <a:srgbClr val="202B58"/>
                          </a:solidFill>
                          <a:latin typeface="Noto Sans CJK JP"/>
                          <a:ea typeface="Noto Sans CJK JP"/>
                          <a:cs typeface="Noto Sans CJK JP"/>
                        </a:rPr>
                        <a:t>採用候補のStage 2</a:t>
                      </a:r>
                    </a:p>
                  </a:txBody>
                  <a:tcPr>
                    <a:solidFill>
                      <a:srgbClr val="FFFFFF"/>
                    </a:solidFill>
                  </a:tcPr>
                </a:tc>
                <a:tc>
                  <a:txBody>
                    <a:bodyPr/>
                    <a:lstStyle/>
                    <a:p>
                      <a:r>
                        <a:rPr sz="1575" b="0">
                          <a:solidFill>
                            <a:srgbClr val="202B58"/>
                          </a:solidFill>
                          <a:latin typeface="Noto Sans CJK JP"/>
                          <a:ea typeface="Noto Sans CJK JP"/>
                          <a:cs typeface="Noto Sans CJK JP"/>
                        </a:rPr>
                        <a:t>30 / 候補</a:t>
                      </a:r>
                    </a:p>
                  </a:txBody>
                  <a:tcPr>
                    <a:solidFill>
                      <a:srgbClr val="FFFFFF"/>
                    </a:solidFill>
                  </a:tcPr>
                </a:tc>
                <a:tc>
                  <a:txBody>
                    <a:bodyPr/>
                    <a:lstStyle/>
                    <a:p>
                      <a:r>
                        <a:rPr sz="1575" b="0">
                          <a:solidFill>
                            <a:srgbClr val="202B58"/>
                          </a:solidFill>
                          <a:latin typeface="Noto Sans CJK JP"/>
                          <a:ea typeface="Noto Sans CJK JP"/>
                          <a:cs typeface="Noto Sans CJK JP"/>
                        </a:rPr>
                        <a:t>2.01</a:t>
                      </a:r>
                    </a:p>
                  </a:txBody>
                  <a:tcPr>
                    <a:solidFill>
                      <a:srgbClr val="FFFFFF"/>
                    </a:solidFill>
                  </a:tcPr>
                </a:tc>
                <a:tc>
                  <a:txBody>
                    <a:bodyPr/>
                    <a:lstStyle/>
                    <a:p>
                      <a:r>
                        <a:rPr sz="1575" b="0">
                          <a:solidFill>
                            <a:srgbClr val="202B58"/>
                          </a:solidFill>
                          <a:latin typeface="Noto Sans CJK JP"/>
                          <a:ea typeface="Noto Sans CJK JP"/>
                          <a:cs typeface="Noto Sans CJK JP"/>
                        </a:rPr>
                        <a:t>1.38</a:t>
                      </a:r>
                    </a:p>
                  </a:txBody>
                  <a:tcPr>
                    <a:solidFill>
                      <a:srgbClr val="FFFFFF"/>
                    </a:solidFill>
                  </a:tcPr>
                </a:tc>
                <a:extLst>
                  <a:ext uri="{0D108BD9-81ED-4DB2-BD59-A6C34878D82A}">
                    <a16:rowId xmlns:a16="http://schemas.microsoft.com/office/drawing/2014/main" val="10002"/>
                  </a:ext>
                </a:extLst>
              </a:tr>
              <a:tr h="620713">
                <a:tc>
                  <a:txBody>
                    <a:bodyPr/>
                    <a:lstStyle/>
                    <a:p>
                      <a:r>
                        <a:rPr sz="1575" b="0">
                          <a:solidFill>
                            <a:srgbClr val="202B58"/>
                          </a:solidFill>
                          <a:latin typeface="Noto Sans CJK JP"/>
                          <a:ea typeface="Noto Sans CJK JP"/>
                          <a:cs typeface="Noto Sans CJK JP"/>
                        </a:rPr>
                        <a:t>保存solve_time_seconds</a:t>
                      </a:r>
                    </a:p>
                  </a:txBody>
                  <a:tcPr>
                    <a:solidFill>
                      <a:srgbClr val="F1F5F8"/>
                    </a:solidFill>
                  </a:tcPr>
                </a:tc>
                <a:tc>
                  <a:txBody>
                    <a:bodyPr/>
                    <a:lstStyle/>
                    <a:p>
                      <a:r>
                        <a:rPr sz="1575" b="0">
                          <a:solidFill>
                            <a:srgbClr val="202B58"/>
                          </a:solidFill>
                          <a:latin typeface="Noto Sans CJK JP"/>
                          <a:ea typeface="Noto Sans CJK JP"/>
                          <a:cs typeface="Noto Sans CJK JP"/>
                        </a:rPr>
                        <a:t>全体要求585</a:t>
                      </a:r>
                    </a:p>
                  </a:txBody>
                  <a:tcPr>
                    <a:solidFill>
                      <a:srgbClr val="F1F5F8"/>
                    </a:solidFill>
                  </a:tcPr>
                </a:tc>
                <a:tc>
                  <a:txBody>
                    <a:bodyPr/>
                    <a:lstStyle/>
                    <a:p>
                      <a:r>
                        <a:rPr sz="1575" b="0">
                          <a:solidFill>
                            <a:srgbClr val="202B58"/>
                          </a:solidFill>
                          <a:latin typeface="Noto Sans CJK JP"/>
                          <a:ea typeface="Noto Sans CJK JP"/>
                          <a:cs typeface="Noto Sans CJK JP"/>
                        </a:rPr>
                        <a:t>380.98</a:t>
                      </a:r>
                    </a:p>
                  </a:txBody>
                  <a:tcPr>
                    <a:solidFill>
                      <a:srgbClr val="F1F5F8"/>
                    </a:solidFill>
                  </a:tcPr>
                </a:tc>
                <a:tc>
                  <a:txBody>
                    <a:bodyPr/>
                    <a:lstStyle/>
                    <a:p>
                      <a:r>
                        <a:rPr sz="1575" b="0">
                          <a:solidFill>
                            <a:srgbClr val="202B58"/>
                          </a:solidFill>
                          <a:latin typeface="Noto Sans CJK JP"/>
                          <a:ea typeface="Noto Sans CJK JP"/>
                          <a:cs typeface="Noto Sans CJK JP"/>
                        </a:rPr>
                        <a:t>380.02</a:t>
                      </a:r>
                    </a:p>
                  </a:txBody>
                  <a:tcPr>
                    <a:solidFill>
                      <a:srgbClr val="F1F5F8"/>
                    </a:solidFill>
                  </a:tcPr>
                </a:tc>
                <a:extLst>
                  <a:ext uri="{0D108BD9-81ED-4DB2-BD59-A6C34878D82A}">
                    <a16:rowId xmlns:a16="http://schemas.microsoft.com/office/drawing/2014/main" val="10003"/>
                  </a:ext>
                </a:extLst>
              </a:tr>
              <a:tr h="620713">
                <a:tc>
                  <a:txBody>
                    <a:bodyPr/>
                    <a:lstStyle/>
                    <a:p>
                      <a:r>
                        <a:rPr sz="1575" b="0">
                          <a:solidFill>
                            <a:srgbClr val="202B58"/>
                          </a:solidFill>
                          <a:latin typeface="Noto Sans CJK JP"/>
                          <a:ea typeface="Noto Sans CJK JP"/>
                          <a:cs typeface="Noto Sans CJK JP"/>
                        </a:rPr>
                        <a:t>毎時処理24回のelapsed合計</a:t>
                      </a:r>
                    </a:p>
                  </a:txBody>
                  <a:tcPr>
                    <a:solidFill>
                      <a:srgbClr val="FFFFFF"/>
                    </a:solidFill>
                  </a:tcPr>
                </a:tc>
                <a:tc>
                  <a:txBody>
                    <a:bodyPr/>
                    <a:lstStyle/>
                    <a:p>
                      <a:r>
                        <a:rPr sz="1575" b="0">
                          <a:solidFill>
                            <a:srgbClr val="202B58"/>
                          </a:solidFill>
                          <a:latin typeface="Noto Sans CJK JP"/>
                          <a:ea typeface="Noto Sans CJK JP"/>
                          <a:cs typeface="Noto Sans CJK JP"/>
                        </a:rPr>
                        <a:t>solver 30 / 回</a:t>
                      </a:r>
                    </a:p>
                  </a:txBody>
                  <a:tcPr>
                    <a:solidFill>
                      <a:srgbClr val="FFFFFF"/>
                    </a:solidFill>
                  </a:tcPr>
                </a:tc>
                <a:tc>
                  <a:txBody>
                    <a:bodyPr/>
                    <a:lstStyle/>
                    <a:p>
                      <a:r>
                        <a:rPr sz="1575" b="0">
                          <a:solidFill>
                            <a:srgbClr val="202B58"/>
                          </a:solidFill>
                          <a:latin typeface="Noto Sans CJK JP"/>
                          <a:ea typeface="Noto Sans CJK JP"/>
                          <a:cs typeface="Noto Sans CJK JP"/>
                        </a:rPr>
                        <a:t>99.01</a:t>
                      </a:r>
                    </a:p>
                  </a:txBody>
                  <a:tcPr>
                    <a:solidFill>
                      <a:srgbClr val="FFFFFF"/>
                    </a:solidFill>
                  </a:tcPr>
                </a:tc>
                <a:tc>
                  <a:txBody>
                    <a:bodyPr/>
                    <a:lstStyle/>
                    <a:p>
                      <a:r>
                        <a:rPr sz="1575" b="0">
                          <a:solidFill>
                            <a:srgbClr val="202B58"/>
                          </a:solidFill>
                          <a:latin typeface="Noto Sans CJK JP"/>
                          <a:ea typeface="Noto Sans CJK JP"/>
                          <a:cs typeface="Noto Sans CJK JP"/>
                        </a:rPr>
                        <a:t>95.66</a:t>
                      </a:r>
                    </a:p>
                  </a:txBody>
                  <a:tcPr>
                    <a:solidFill>
                      <a:srgbClr val="FFFFFF"/>
                    </a:solidFill>
                  </a:tcPr>
                </a:tc>
                <a:extLst>
                  <a:ext uri="{0D108BD9-81ED-4DB2-BD59-A6C34878D82A}">
                    <a16:rowId xmlns:a16="http://schemas.microsoft.com/office/drawing/2014/main" val="10004"/>
                  </a:ext>
                </a:extLst>
              </a:tr>
              <a:tr h="620713">
                <a:tc>
                  <a:txBody>
                    <a:bodyPr/>
                    <a:lstStyle/>
                    <a:p>
                      <a:r>
                        <a:rPr sz="1575" b="0">
                          <a:solidFill>
                            <a:srgbClr val="202B58"/>
                          </a:solidFill>
                          <a:latin typeface="Noto Sans CJK JP"/>
                          <a:ea typeface="Noto Sans CJK JP"/>
                          <a:cs typeface="Noto Sans CJK JP"/>
                        </a:rPr>
                        <a:t>毎時処理elapsed最大</a:t>
                      </a:r>
                    </a:p>
                  </a:txBody>
                  <a:tcPr>
                    <a:solidFill>
                      <a:srgbClr val="F1F5F8"/>
                    </a:solidFill>
                  </a:tcPr>
                </a:tc>
                <a:tc>
                  <a:txBody>
                    <a:bodyPr/>
                    <a:lstStyle/>
                    <a:p>
                      <a:r>
                        <a:rPr sz="1575" b="0">
                          <a:solidFill>
                            <a:srgbClr val="202B58"/>
                          </a:solidFill>
                          <a:latin typeface="Noto Sans CJK JP"/>
                          <a:ea typeface="Noto Sans CJK JP"/>
                          <a:cs typeface="Noto Sans CJK JP"/>
                        </a:rPr>
                        <a:t>solver 30 / 回</a:t>
                      </a:r>
                    </a:p>
                  </a:txBody>
                  <a:tcPr>
                    <a:solidFill>
                      <a:srgbClr val="F1F5F8"/>
                    </a:solidFill>
                  </a:tcPr>
                </a:tc>
                <a:tc>
                  <a:txBody>
                    <a:bodyPr/>
                    <a:lstStyle/>
                    <a:p>
                      <a:r>
                        <a:rPr sz="1575" b="0">
                          <a:solidFill>
                            <a:srgbClr val="202B58"/>
                          </a:solidFill>
                          <a:latin typeface="Noto Sans CJK JP"/>
                          <a:ea typeface="Noto Sans CJK JP"/>
                          <a:cs typeface="Noto Sans CJK JP"/>
                        </a:rPr>
                        <a:t>5.35</a:t>
                      </a:r>
                    </a:p>
                  </a:txBody>
                  <a:tcPr>
                    <a:solidFill>
                      <a:srgbClr val="F1F5F8"/>
                    </a:solidFill>
                  </a:tcPr>
                </a:tc>
                <a:tc>
                  <a:txBody>
                    <a:bodyPr/>
                    <a:lstStyle/>
                    <a:p>
                      <a:r>
                        <a:rPr sz="1575" b="0">
                          <a:solidFill>
                            <a:srgbClr val="202B58"/>
                          </a:solidFill>
                          <a:latin typeface="Noto Sans CJK JP"/>
                          <a:ea typeface="Noto Sans CJK JP"/>
                          <a:cs typeface="Noto Sans CJK JP"/>
                        </a:rPr>
                        <a:t>5.05</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32D48628-D1E0-423B-A4C3-D40A3377A5B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83732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37C94CD-5754-4368-ACF9-9039B55BCEBA}"/>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毎時再計算の処理時間：24回すべてを表示</a:t>
            </a:r>
          </a:p>
        </p:txBody>
      </p:sp>
      <p:sp>
        <p:nvSpPr>
          <p:cNvPr id="2" name="正方形/長方形 1">
            <a:extLst>
              <a:ext uri="{FF2B5EF4-FFF2-40B4-BE49-F238E27FC236}">
                <a16:creationId xmlns:a16="http://schemas.microsoft.com/office/drawing/2014/main" id="{A6277490-B4D3-4327-BA53-B48C85E45DA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elapsed_secondsはsolverだけでなく、その毎時処理に含まれる処理を計測</a:t>
            </a:r>
          </a:p>
        </p:txBody>
      </p:sp>
      <p:sp>
        <p:nvSpPr>
          <p:cNvPr id="3" name="正方形/長方形 2">
            <a:extLst>
              <a:ext uri="{FF2B5EF4-FFF2-40B4-BE49-F238E27FC236}">
                <a16:creationId xmlns:a16="http://schemas.microsoft.com/office/drawing/2014/main" id="{0DE113F2-8AFE-4B3A-8CE0-C6B18F628F5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今回の固定2条件では、各回の処理は約3～5.4秒だった</a:t>
            </a:r>
          </a:p>
        </p:txBody>
      </p:sp>
      <p:sp>
        <p:nvSpPr>
          <p:cNvPr id="4" name="正方形/長方形 3">
            <a:extLst>
              <a:ext uri="{FF2B5EF4-FFF2-40B4-BE49-F238E27FC236}">
                <a16:creationId xmlns:a16="http://schemas.microsoft.com/office/drawing/2014/main" id="{F9D0B8C5-24A6-4E60-98CE-E08FAD75558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単発の保存実行における値。分布の安定性・旧方式への高速化率・実運用応答保証は未検証。</a:t>
            </a:r>
          </a:p>
        </p:txBody>
      </p:sp>
      <p:sp>
        <p:nvSpPr>
          <p:cNvPr id="5" name="正方形/長方形 4">
            <a:extLst>
              <a:ext uri="{FF2B5EF4-FFF2-40B4-BE49-F238E27FC236}">
                <a16:creationId xmlns:a16="http://schemas.microsoft.com/office/drawing/2014/main" id="{2C0160D8-5944-431E-AC71-C6E0B52226B3}"/>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13</a:t>
            </a:r>
          </a:p>
        </p:txBody>
      </p:sp>
      <p:graphicFrame>
        <p:nvGraphicFramePr>
          <p:cNvPr id="13" name="Chart"/>
          <p:cNvGraphicFramePr/>
          <p:nvPr/>
        </p:nvGraphicFramePr>
        <p:xfrm>
          <a:off x="619125" y="1704975"/>
          <a:ext cx="109537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657F5EC8-0BED-4F4A-AB31-F2558B5B25B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641019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306DAB2-9C33-40E0-AE1C-0241A03B6EF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Stage 1もPVを考慮する：問題は通常経路の候補不足</a:t>
            </a:r>
          </a:p>
        </p:txBody>
      </p:sp>
      <p:sp>
        <p:nvSpPr>
          <p:cNvPr id="2" name="正方形/長方形 1">
            <a:extLst>
              <a:ext uri="{FF2B5EF4-FFF2-40B4-BE49-F238E27FC236}">
                <a16:creationId xmlns:a16="http://schemas.microsoft.com/office/drawing/2014/main" id="{48120611-2EFB-4C1D-B422-B54506CF21E6}"/>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保存実行では15分単位の電力評価が有効。充電器割当・BESSモードを連続緩和</a:t>
            </a:r>
          </a:p>
        </p:txBody>
      </p:sp>
      <p:graphicFrame>
        <p:nvGraphicFramePr>
          <p:cNvPr id="10" name="表 9"/>
          <p:cNvGraphicFramePr/>
          <p:nvPr/>
        </p:nvGraphicFramePr>
        <p:xfrm>
          <a:off x="571500" y="1714500"/>
          <a:ext cx="11049000" cy="3476625"/>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計算の役割</a:t>
                      </a:r>
                    </a:p>
                  </a:txBody>
                  <a:tcPr>
                    <a:solidFill>
                      <a:srgbClr val="202B58"/>
                    </a:solidFill>
                  </a:tcPr>
                </a:tc>
                <a:tc>
                  <a:txBody>
                    <a:bodyPr/>
                    <a:lstStyle/>
                    <a:p>
                      <a:r>
                        <a:rPr sz="1725" b="1">
                          <a:solidFill>
                            <a:srgbClr val="FFFFFF"/>
                          </a:solidFill>
                          <a:latin typeface="Noto Sans CJK JP"/>
                          <a:ea typeface="Noto Sans CJK JP"/>
                          <a:cs typeface="Noto Sans CJK JP"/>
                        </a:rPr>
                        <a:t>考慮するもの</a:t>
                      </a:r>
                    </a:p>
                  </a:txBody>
                  <a:tcPr>
                    <a:solidFill>
                      <a:srgbClr val="202B58"/>
                    </a:solidFill>
                  </a:tcPr>
                </a:tc>
                <a:tc>
                  <a:txBody>
                    <a:bodyPr/>
                    <a:lstStyle/>
                    <a:p>
                      <a:r>
                        <a:rPr sz="1725" b="1">
                          <a:solidFill>
                            <a:srgbClr val="FFFFFF"/>
                          </a:solidFill>
                          <a:latin typeface="Noto Sans CJK JP"/>
                          <a:ea typeface="Noto Sans CJK JP"/>
                          <a:cs typeface="Noto Sans CJK JP"/>
                        </a:rPr>
                        <a:t>確認上の限界</a:t>
                      </a:r>
                    </a:p>
                  </a:txBody>
                  <a:tcPr>
                    <a:solidFill>
                      <a:srgbClr val="202B58"/>
                    </a:solidFill>
                  </a:tcPr>
                </a:tc>
                <a:extLst>
                  <a:ext uri="{0D108BD9-81ED-4DB2-BD59-A6C34878D82A}">
                    <a16:rowId xmlns:a16="http://schemas.microsoft.com/office/drawing/2014/main" val="10000"/>
                  </a:ext>
                </a:extLst>
              </a:tr>
              <a:tr h="869156">
                <a:tc>
                  <a:txBody>
                    <a:bodyPr/>
                    <a:lstStyle/>
                    <a:p>
                      <a:r>
                        <a:rPr sz="1725" b="0">
                          <a:solidFill>
                            <a:srgbClr val="202B58"/>
                          </a:solidFill>
                          <a:latin typeface="Noto Sans CJK JP"/>
                          <a:ea typeface="Noto Sans CJK JP"/>
                          <a:cs typeface="Noto Sans CJK JP"/>
                        </a:rPr>
                        <a:t>Stage 1：配車候補を作る</a:t>
                      </a:r>
                    </a:p>
                  </a:txBody>
                  <a:tcPr>
                    <a:solidFill>
                      <a:srgbClr val="F1F5F8"/>
                    </a:solidFill>
                  </a:tcPr>
                </a:tc>
                <a:tc>
                  <a:txBody>
                    <a:bodyPr/>
                    <a:lstStyle/>
                    <a:p>
                      <a:r>
                        <a:rPr sz="1725" b="0">
                          <a:solidFill>
                            <a:srgbClr val="202B58"/>
                          </a:solidFill>
                          <a:latin typeface="Noto Sans CJK JP"/>
                          <a:ea typeface="Noto Sans CJK JP"/>
                          <a:cs typeface="Noto Sans CJK JP"/>
                        </a:rPr>
                        <a:t>便割当と時刻別の電力費用</a:t>
                      </a:r>
                    </a:p>
                    <a:p>
                      <a:r>
                        <a:rPr sz="1725" b="0">
                          <a:solidFill>
                            <a:srgbClr val="202B58"/>
                          </a:solidFill>
                          <a:latin typeface="Noto Sans CJK JP"/>
                          <a:ea typeface="Noto Sans CJK JP"/>
                          <a:cs typeface="Noto Sans CJK JP"/>
                        </a:rPr>
                        <a:t>PV・BESS・料金も目的へ入る</a:t>
                      </a:r>
                    </a:p>
                  </a:txBody>
                  <a:tcPr>
                    <a:solidFill>
                      <a:srgbClr val="F1F5F8"/>
                    </a:solidFill>
                  </a:tcPr>
                </a:tc>
                <a:tc>
                  <a:txBody>
                    <a:bodyPr/>
                    <a:lstStyle/>
                    <a:p>
                      <a:r>
                        <a:rPr sz="1725" b="0">
                          <a:solidFill>
                            <a:srgbClr val="202B58"/>
                          </a:solidFill>
                          <a:latin typeface="Noto Sans CJK JP"/>
                          <a:ea typeface="Noto Sans CJK JP"/>
                          <a:cs typeface="Noto Sans CJK JP"/>
                        </a:rPr>
                        <a:t>充電器割当とBESSモード等を緩和</a:t>
                      </a:r>
                    </a:p>
                    <a:p>
                      <a:r>
                        <a:rPr sz="1725" b="0">
                          <a:solidFill>
                            <a:srgbClr val="202B58"/>
                          </a:solidFill>
                          <a:latin typeface="Noto Sans CJK JP"/>
                          <a:ea typeface="Noto Sans CJK JP"/>
                          <a:cs typeface="Noto Sans CJK JP"/>
                        </a:rPr>
                        <a:t>最終費用の最適性保証ではない</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Stage 2：候補を詳しく評価</a:t>
                      </a:r>
                    </a:p>
                  </a:txBody>
                  <a:tcPr>
                    <a:solidFill>
                      <a:srgbClr val="FFFFFF"/>
                    </a:solidFill>
                  </a:tcPr>
                </a:tc>
                <a:tc>
                  <a:txBody>
                    <a:bodyPr/>
                    <a:lstStyle/>
                    <a:p>
                      <a:r>
                        <a:rPr sz="1725" b="0">
                          <a:solidFill>
                            <a:srgbClr val="202B58"/>
                          </a:solidFill>
                          <a:latin typeface="Noto Sans CJK JP"/>
                          <a:ea typeface="Noto Sans CJK JP"/>
                          <a:cs typeface="Noto Sans CJK JP"/>
                        </a:rPr>
                        <a:t>配車固定で充電器・電力を計算</a:t>
                      </a:r>
                    </a:p>
                    <a:p>
                      <a:r>
                        <a:rPr sz="1725" b="0">
                          <a:solidFill>
                            <a:srgbClr val="202B58"/>
                          </a:solidFill>
                          <a:latin typeface="Noto Sans CJK JP"/>
                          <a:ea typeface="Noto Sans CJK JP"/>
                          <a:cs typeface="Noto Sans CJK JP"/>
                        </a:rPr>
                        <a:t>費用の小さい候補を選ぶ</a:t>
                      </a:r>
                    </a:p>
                  </a:txBody>
                  <a:tcPr>
                    <a:solidFill>
                      <a:srgbClr val="FFFFFF"/>
                    </a:solidFill>
                  </a:tcPr>
                </a:tc>
                <a:tc>
                  <a:txBody>
                    <a:bodyPr/>
                    <a:lstStyle/>
                    <a:p>
                      <a:r>
                        <a:rPr sz="1725" b="0">
                          <a:solidFill>
                            <a:srgbClr val="202B58"/>
                          </a:solidFill>
                          <a:latin typeface="Noto Sans CJK JP"/>
                          <a:ea typeface="Noto Sans CJK JP"/>
                          <a:cs typeface="Noto Sans CJK JP"/>
                        </a:rPr>
                        <a:t>渡された候補の外は探さない</a:t>
                      </a:r>
                    </a:p>
                    <a:p>
                      <a:r>
                        <a:rPr sz="1725" b="0">
                          <a:solidFill>
                            <a:srgbClr val="202B58"/>
                          </a:solidFill>
                          <a:latin typeface="Noto Sans CJK JP"/>
                          <a:ea typeface="Noto Sans CJK JP"/>
                          <a:cs typeface="Noto Sans CJK JP"/>
                        </a:rPr>
                        <a:t>入力SOC上限に不一致が残る</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毎時Rolling：運用を更新</a:t>
                      </a:r>
                    </a:p>
                  </a:txBody>
                  <a:tcPr>
                    <a:solidFill>
                      <a:srgbClr val="F1F5F8"/>
                    </a:solidFill>
                  </a:tcPr>
                </a:tc>
                <a:tc>
                  <a:txBody>
                    <a:bodyPr/>
                    <a:lstStyle/>
                    <a:p>
                      <a:r>
                        <a:rPr sz="1725" b="0">
                          <a:solidFill>
                            <a:srgbClr val="202B58"/>
                          </a:solidFill>
                          <a:latin typeface="Noto Sans CJK JP"/>
                          <a:ea typeface="Noto Sans CJK JP"/>
                          <a:cs typeface="Noto Sans CJK JP"/>
                        </a:rPr>
                        <a:t>配車固定で残り一日を再計算</a:t>
                      </a:r>
                    </a:p>
                    <a:p>
                      <a:r>
                        <a:rPr sz="1725" b="0">
                          <a:solidFill>
                            <a:srgbClr val="202B58"/>
                          </a:solidFill>
                          <a:latin typeface="Noto Sans CJK JP"/>
                          <a:ea typeface="Noto Sans CJK JP"/>
                          <a:cs typeface="Noto Sans CJK JP"/>
                        </a:rPr>
                        <a:t>先頭60分を実行として採用</a:t>
                      </a:r>
                    </a:p>
                  </a:txBody>
                  <a:tcPr>
                    <a:solidFill>
                      <a:srgbClr val="F1F5F8"/>
                    </a:solidFill>
                  </a:tcPr>
                </a:tc>
                <a:tc>
                  <a:txBody>
                    <a:bodyPr/>
                    <a:lstStyle/>
                    <a:p>
                      <a:r>
                        <a:rPr sz="1725" b="0">
                          <a:solidFill>
                            <a:srgbClr val="202B58"/>
                          </a:solidFill>
                          <a:latin typeface="Noto Sans CJK JP"/>
                          <a:ea typeface="Noto Sans CJK JP"/>
                          <a:cs typeface="Noto Sans CJK JP"/>
                        </a:rPr>
                        <a:t>配車の車種構成を毎時</a:t>
                      </a:r>
                    </a:p>
                    <a:p>
                      <a:r>
                        <a:rPr sz="1725" b="0">
                          <a:solidFill>
                            <a:srgbClr val="202B58"/>
                          </a:solidFill>
                          <a:latin typeface="Noto Sans CJK JP"/>
                          <a:ea typeface="Noto Sans CJK JP"/>
                          <a:cs typeface="Noto Sans CJK JP"/>
                        </a:rPr>
                        <a:t>選び直しているわけではない</a:t>
                      </a: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3CCD7D6A-CE9F-444B-B890-608E9F7ECB33}"/>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候補を1案から22案へ広げ、既にあるPV評価を「配車の選択肢」に生かした</a:t>
            </a:r>
          </a:p>
        </p:txBody>
      </p:sp>
      <p:sp>
        <p:nvSpPr>
          <p:cNvPr id="5" name="正方形/長方形 4">
            <a:extLst>
              <a:ext uri="{FF2B5EF4-FFF2-40B4-BE49-F238E27FC236}">
                <a16:creationId xmlns:a16="http://schemas.microsoft.com/office/drawing/2014/main" id="{57FE257B-35FC-4552-B29E-B13A32F6A928}"/>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DIAGNOSTIC：Stage 1のgapは代理目的。入力SOC上限を修正し、新しい凍結実験で再検証する。</a:t>
            </a:r>
          </a:p>
        </p:txBody>
      </p:sp>
      <p:sp>
        <p:nvSpPr>
          <p:cNvPr id="6" name="正方形/長方形 5">
            <a:extLst>
              <a:ext uri="{FF2B5EF4-FFF2-40B4-BE49-F238E27FC236}">
                <a16:creationId xmlns:a16="http://schemas.microsoft.com/office/drawing/2014/main" id="{03E27C27-0B4C-45DD-ADD5-E8484434F59B}"/>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補足 14</a:t>
            </a:r>
          </a:p>
        </p:txBody>
      </p:sp>
      <p:sp>
        <p:nvSpPr>
          <p:cNvPr id="7" name="正方形/長方形 6">
            <a:extLst>
              <a:ext uri="{FF2B5EF4-FFF2-40B4-BE49-F238E27FC236}">
                <a16:creationId xmlns:a16="http://schemas.microsoft.com/office/drawing/2014/main" id="{63481158-29F7-477E-8307-910A8861FC4D}"/>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272331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0F4F739-DDC4-405E-A701-C69B7F43D8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先行文献の性能表と、本研究の残る比較</a:t>
            </a:r>
          </a:p>
        </p:txBody>
      </p:sp>
      <p:sp>
        <p:nvSpPr>
          <p:cNvPr id="2" name="正方形/長方形 1">
            <a:extLst>
              <a:ext uri="{FF2B5EF4-FFF2-40B4-BE49-F238E27FC236}">
                <a16:creationId xmlns:a16="http://schemas.microsoft.com/office/drawing/2014/main" id="{F924BAF3-8B50-4381-9797-E7BB265F286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Zhouら (2025) Table 5の一部を再構成。論文内の50便・418便の比較</a:t>
            </a:r>
          </a:p>
        </p:txBody>
      </p:sp>
      <p:sp>
        <p:nvSpPr>
          <p:cNvPr id="3" name="正方形/長方形 2">
            <a:extLst>
              <a:ext uri="{FF2B5EF4-FFF2-40B4-BE49-F238E27FC236}">
                <a16:creationId xmlns:a16="http://schemas.microsoft.com/office/drawing/2014/main" id="{42B68AEE-71DE-47B4-B729-A30DC0B3B2C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費用と時間を併記する形式を採用し、本研究のbaseline比較は未実施と明示</a:t>
            </a:r>
          </a:p>
        </p:txBody>
      </p:sp>
      <p:sp>
        <p:nvSpPr>
          <p:cNvPr id="4" name="正方形/長方形 3">
            <a:extLst>
              <a:ext uri="{FF2B5EF4-FFF2-40B4-BE49-F238E27FC236}">
                <a16:creationId xmlns:a16="http://schemas.microsoft.com/office/drawing/2014/main" id="{EEB68266-9B26-480E-9779-D7410F1A344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CNYとJPY、V2G、費用範囲、計算機が異なる。本研究と直接比較して速い・安いとは言えない。</a:t>
            </a:r>
          </a:p>
        </p:txBody>
      </p:sp>
      <p:sp>
        <p:nvSpPr>
          <p:cNvPr id="5" name="正方形/長方形 4">
            <a:extLst>
              <a:ext uri="{FF2B5EF4-FFF2-40B4-BE49-F238E27FC236}">
                <a16:creationId xmlns:a16="http://schemas.microsoft.com/office/drawing/2014/main" id="{264147FD-3421-4D96-8AEE-FD859DBD0D0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15</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0002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規模</a:t>
                      </a:r>
                    </a:p>
                  </a:txBody>
                  <a:tcPr>
                    <a:solidFill>
                      <a:srgbClr val="202B58"/>
                    </a:solidFill>
                  </a:tcPr>
                </a:tc>
                <a:tc>
                  <a:txBody>
                    <a:bodyPr/>
                    <a:lstStyle/>
                    <a:p>
                      <a:r>
                        <a:rPr sz="1725" b="1">
                          <a:solidFill>
                            <a:srgbClr val="FFFFFF"/>
                          </a:solidFill>
                          <a:latin typeface="Noto Sans CJK JP"/>
                          <a:ea typeface="Noto Sans CJK JP"/>
                          <a:cs typeface="Noto Sans CJK JP"/>
                        </a:rPr>
                        <a:t>手法</a:t>
                      </a:r>
                    </a:p>
                  </a:txBody>
                  <a:tcPr>
                    <a:solidFill>
                      <a:srgbClr val="202B58"/>
                    </a:solidFill>
                  </a:tcPr>
                </a:tc>
                <a:tc>
                  <a:txBody>
                    <a:bodyPr/>
                    <a:lstStyle/>
                    <a:p>
                      <a:r>
                        <a:rPr sz="1725" b="1">
                          <a:solidFill>
                            <a:srgbClr val="FFFFFF"/>
                          </a:solidFill>
                          <a:latin typeface="Noto Sans CJK JP"/>
                          <a:ea typeface="Noto Sans CJK JP"/>
                          <a:cs typeface="Noto Sans CJK JP"/>
                        </a:rPr>
                        <a:t>費用 [CNY]</a:t>
                      </a:r>
                    </a:p>
                  </a:txBody>
                  <a:tcPr>
                    <a:solidFill>
                      <a:srgbClr val="202B58"/>
                    </a:solidFill>
                  </a:tcPr>
                </a:tc>
                <a:tc>
                  <a:txBody>
                    <a:bodyPr/>
                    <a:lstStyle/>
                    <a:p>
                      <a:r>
                        <a:rPr sz="1725" b="1">
                          <a:solidFill>
                            <a:srgbClr val="FFFFFF"/>
                          </a:solidFill>
                          <a:latin typeface="Noto Sans CJK JP"/>
                          <a:ea typeface="Noto Sans CJK JP"/>
                          <a:cs typeface="Noto Sans CJK JP"/>
                        </a:rPr>
                        <a:t>時間 [秒]</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50便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4,599.4</a:t>
                      </a:r>
                    </a:p>
                  </a:txBody>
                  <a:tcPr>
                    <a:solidFill>
                      <a:srgbClr val="F1F5F8"/>
                    </a:solidFill>
                  </a:tcPr>
                </a:tc>
                <a:tc>
                  <a:txBody>
                    <a:bodyPr/>
                    <a:lstStyle/>
                    <a:p>
                      <a:r>
                        <a:rPr sz="1725" b="0">
                          <a:solidFill>
                            <a:srgbClr val="202B58"/>
                          </a:solidFill>
                          <a:latin typeface="Noto Sans CJK JP"/>
                          <a:ea typeface="Noto Sans CJK JP"/>
                          <a:cs typeface="Noto Sans CJK JP"/>
                        </a:rPr>
                        <a:t>617.6</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50便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4,630.9</a:t>
                      </a:r>
                    </a:p>
                  </a:txBody>
                  <a:tcPr>
                    <a:solidFill>
                      <a:srgbClr val="FFFFFF"/>
                    </a:solidFill>
                  </a:tcPr>
                </a:tc>
                <a:tc>
                  <a:txBody>
                    <a:bodyPr/>
                    <a:lstStyle/>
                    <a:p>
                      <a:r>
                        <a:rPr sz="1725" b="0">
                          <a:solidFill>
                            <a:srgbClr val="202B58"/>
                          </a:solidFill>
                          <a:latin typeface="Noto Sans CJK JP"/>
                          <a:ea typeface="Noto Sans CJK JP"/>
                          <a:cs typeface="Noto Sans CJK JP"/>
                        </a:rPr>
                        <a:t>14.7</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418便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実行可能解なし</a:t>
                      </a:r>
                    </a:p>
                  </a:txBody>
                  <a:tcPr>
                    <a:solidFill>
                      <a:srgbClr val="F1F5F8"/>
                    </a:solidFill>
                  </a:tcPr>
                </a:tc>
                <a:tc>
                  <a:txBody>
                    <a:bodyPr/>
                    <a:lstStyle/>
                    <a:p>
                      <a:r>
                        <a:rPr sz="1725" b="0">
                          <a:solidFill>
                            <a:srgbClr val="202B58"/>
                          </a:solidFill>
                          <a:latin typeface="Noto Sans CJK JP"/>
                          <a:ea typeface="Noto Sans CJK JP"/>
                          <a:cs typeface="Noto Sans CJK JP"/>
                        </a:rPr>
                        <a:t>6時間制限</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418便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8,758.3</a:t>
                      </a:r>
                    </a:p>
                  </a:txBody>
                  <a:tcPr>
                    <a:solidFill>
                      <a:srgbClr val="FFFFFF"/>
                    </a:solidFill>
                  </a:tcPr>
                </a:tc>
                <a:tc>
                  <a:txBody>
                    <a:bodyPr/>
                    <a:lstStyle/>
                    <a:p>
                      <a:r>
                        <a:rPr sz="1725" b="0">
                          <a:solidFill>
                            <a:srgbClr val="202B58"/>
                          </a:solidFill>
                          <a:latin typeface="Noto Sans CJK JP"/>
                          <a:ea typeface="Noto Sans CJK JP"/>
                          <a:cs typeface="Noto Sans CJK JP"/>
                        </a:rPr>
                        <a:t>202.3</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本研究 264便</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同条件baseline比較</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DC30F130-7C43-4219-A0F5-A82E5349BF2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06044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B7D5856-05BE-4B52-BB58-CC8DFE88DAD4}"/>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発表で示せる結論と、残る研究上の確認</a:t>
            </a:r>
          </a:p>
        </p:txBody>
      </p:sp>
      <p:sp>
        <p:nvSpPr>
          <p:cNvPr id="2" name="正方形/長方形 1">
            <a:extLst>
              <a:ext uri="{FF2B5EF4-FFF2-40B4-BE49-F238E27FC236}">
                <a16:creationId xmlns:a16="http://schemas.microsoft.com/office/drawing/2014/main" id="{4035B469-C26A-4881-B83F-0F8C43E09675}"/>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説明資料の補強と、研究としての採択・最適性・発表承認は別の段階</a:t>
            </a:r>
          </a:p>
        </p:txBody>
      </p:sp>
      <p:sp>
        <p:nvSpPr>
          <p:cNvPr id="3" name="正方形/長方形 2">
            <a:extLst>
              <a:ext uri="{FF2B5EF4-FFF2-40B4-BE49-F238E27FC236}">
                <a16:creationId xmlns:a16="http://schemas.microsoft.com/office/drawing/2014/main" id="{B5DCDB5B-AA95-4F8E-A6CA-002A4C59EE8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保存された2条件の結果を示し、SOC上限の不一致を優先して修正する</a:t>
            </a:r>
          </a:p>
        </p:txBody>
      </p:sp>
      <p:sp>
        <p:nvSpPr>
          <p:cNvPr id="4" name="正方形/長方形 3">
            <a:extLst>
              <a:ext uri="{FF2B5EF4-FFF2-40B4-BE49-F238E27FC236}">
                <a16:creationId xmlns:a16="http://schemas.microsoft.com/office/drawing/2014/main" id="{9103C1A7-E0C3-4AE9-A583-F8D0DBCFC44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teacher_release_status = BLOCKED。未検証項目を解決済みとして発表しない。</a:t>
            </a:r>
          </a:p>
        </p:txBody>
      </p:sp>
      <p:sp>
        <p:nvSpPr>
          <p:cNvPr id="5" name="正方形/長方形 4">
            <a:extLst>
              <a:ext uri="{FF2B5EF4-FFF2-40B4-BE49-F238E27FC236}">
                <a16:creationId xmlns:a16="http://schemas.microsoft.com/office/drawing/2014/main" id="{5A9877F9-BD98-481C-841C-70C24E058E1F}"/>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16</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667000">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項目</a:t>
                      </a:r>
                    </a:p>
                  </a:txBody>
                  <a:tcPr>
                    <a:solidFill>
                      <a:srgbClr val="202B58"/>
                    </a:solidFill>
                  </a:tcPr>
                </a:tc>
                <a:tc>
                  <a:txBody>
                    <a:bodyPr/>
                    <a:lstStyle/>
                    <a:p>
                      <a:r>
                        <a:rPr sz="1725" b="1">
                          <a:solidFill>
                            <a:srgbClr val="FFFFFF"/>
                          </a:solidFill>
                          <a:latin typeface="Noto Sans CJK JP"/>
                          <a:ea typeface="Noto Sans CJK JP"/>
                          <a:cs typeface="Noto Sans CJK JP"/>
                        </a:rPr>
                        <a:t>今回示すもの</a:t>
                      </a:r>
                    </a:p>
                  </a:txBody>
                  <a:tcPr>
                    <a:solidFill>
                      <a:srgbClr val="202B58"/>
                    </a:solidFill>
                  </a:tcPr>
                </a:tc>
                <a:tc>
                  <a:txBody>
                    <a:bodyPr/>
                    <a:lstStyle/>
                    <a:p>
                      <a:r>
                        <a:rPr sz="1725" b="1">
                          <a:solidFill>
                            <a:srgbClr val="FFFFFF"/>
                          </a:solidFill>
                          <a:latin typeface="Noto Sans CJK JP"/>
                          <a:ea typeface="Noto Sans CJK JP"/>
                          <a:cs typeface="Noto Sans CJK JP"/>
                        </a:rPr>
                        <a:t>残る確認</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物理・会計</a:t>
                      </a:r>
                    </a:p>
                  </a:txBody>
                  <a:tcPr>
                    <a:solidFill>
                      <a:srgbClr val="F1F5F8"/>
                    </a:solidFill>
                  </a:tcPr>
                </a:tc>
                <a:tc>
                  <a:txBody>
                    <a:bodyPr/>
                    <a:lstStyle/>
                    <a:p>
                      <a:r>
                        <a:rPr sz="1725" b="0">
                          <a:solidFill>
                            <a:srgbClr val="202B58"/>
                          </a:solidFill>
                          <a:latin typeface="Noto Sans CJK JP"/>
                          <a:ea typeface="Noto Sans CJK JP"/>
                          <a:cs typeface="Noto Sans CJK JP"/>
                        </a:rPr>
                        <a:t>台帳一致、SOC上限に不一致</a:t>
                      </a:r>
                    </a:p>
                  </a:txBody>
                  <a:tcPr>
                    <a:solidFill>
                      <a:srgbClr val="F1F5F8"/>
                    </a:solidFill>
                  </a:tcPr>
                </a:tc>
                <a:tc>
                  <a:txBody>
                    <a:bodyPr/>
                    <a:lstStyle/>
                    <a:p>
                      <a:r>
                        <a:rPr sz="1725" b="0">
                          <a:solidFill>
                            <a:srgbClr val="202B58"/>
                          </a:solidFill>
                          <a:latin typeface="Noto Sans CJK JP"/>
                          <a:ea typeface="Noto Sans CJK JP"/>
                          <a:cs typeface="Noto Sans CJK JP"/>
                        </a:rPr>
                        <a:t>上限修正と新しい凍結実験</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最適性</a:t>
                      </a:r>
                    </a:p>
                  </a:txBody>
                  <a:tcPr>
                    <a:solidFill>
                      <a:srgbClr val="FFFFFF"/>
                    </a:solidFill>
                  </a:tcPr>
                </a:tc>
                <a:tc>
                  <a:txBody>
                    <a:bodyPr/>
                    <a:lstStyle/>
                    <a:p>
                      <a:r>
                        <a:rPr sz="1725" b="0">
                          <a:solidFill>
                            <a:srgbClr val="202B58"/>
                          </a:solidFill>
                          <a:latin typeface="Noto Sans CJK JP"/>
                          <a:ea typeface="Noto Sans CJK JP"/>
                          <a:cs typeface="Noto Sans CJK JP"/>
                        </a:rPr>
                        <a:t>22候補内の選択結果</a:t>
                      </a:r>
                    </a:p>
                  </a:txBody>
                  <a:tcPr>
                    <a:solidFill>
                      <a:srgbClr val="FFFFFF"/>
                    </a:solidFill>
                  </a:tcPr>
                </a:tc>
                <a:tc>
                  <a:txBody>
                    <a:bodyPr/>
                    <a:lstStyle/>
                    <a:p>
                      <a:r>
                        <a:rPr sz="1725" b="0">
                          <a:solidFill>
                            <a:srgbClr val="202B58"/>
                          </a:solidFill>
                          <a:latin typeface="Noto Sans CJK JP"/>
                          <a:ea typeface="Noto Sans CJK JP"/>
                          <a:cs typeface="Noto Sans CJK JP"/>
                        </a:rPr>
                        <a:t>統合全体の最適性・候補安定性</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計算時間</a:t>
                      </a:r>
                    </a:p>
                  </a:txBody>
                  <a:tcPr>
                    <a:solidFill>
                      <a:srgbClr val="F1F5F8"/>
                    </a:solidFill>
                  </a:tcPr>
                </a:tc>
                <a:tc>
                  <a:txBody>
                    <a:bodyPr/>
                    <a:lstStyle/>
                    <a:p>
                      <a:r>
                        <a:rPr sz="1725" b="0">
                          <a:solidFill>
                            <a:srgbClr val="202B58"/>
                          </a:solidFill>
                          <a:latin typeface="Noto Sans CJK JP"/>
                          <a:ea typeface="Noto Sans CJK JP"/>
                          <a:cs typeface="Noto Sans CJK JP"/>
                        </a:rPr>
                        <a:t>保存された実測値</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同条件baseline・複数回測定</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PV抑制</a:t>
                      </a:r>
                    </a:p>
                  </a:txBody>
                  <a:tcPr>
                    <a:solidFill>
                      <a:srgbClr val="FFFFFF"/>
                    </a:solidFill>
                  </a:tcPr>
                </a:tc>
                <a:tc>
                  <a:txBody>
                    <a:bodyPr/>
                    <a:lstStyle/>
                    <a:p>
                      <a:r>
                        <a:rPr sz="1725" b="0">
                          <a:solidFill>
                            <a:srgbClr val="202B58"/>
                          </a:solidFill>
                          <a:latin typeface="Noto Sans CJK JP"/>
                          <a:ea typeface="Noto Sans CJK JP"/>
                          <a:cs typeface="Noto Sans CJK JP"/>
                        </a:rPr>
                        <a:t>いつ・どれだけ発生したか</a:t>
                      </a:r>
                    </a:p>
                  </a:txBody>
                  <a:tcPr>
                    <a:solidFill>
                      <a:srgbClr val="FFFFFF"/>
                    </a:solidFill>
                  </a:tcPr>
                </a:tc>
                <a:tc>
                  <a:txBody>
                    <a:bodyPr/>
                    <a:lstStyle/>
                    <a:p>
                      <a:r>
                        <a:rPr sz="1725" b="0">
                          <a:solidFill>
                            <a:srgbClr val="202B58"/>
                          </a:solidFill>
                          <a:latin typeface="Noto Sans CJK JP"/>
                          <a:ea typeface="Noto Sans CJK JP"/>
                          <a:cs typeface="Noto Sans CJK JP"/>
                        </a:rPr>
                        <a:t>配車や設備条件の因果分解</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研究公開・承認</a:t>
                      </a:r>
                    </a:p>
                  </a:txBody>
                  <a:tcPr>
                    <a:solidFill>
                      <a:srgbClr val="F1F5F8"/>
                    </a:solidFill>
                  </a:tcPr>
                </a:tc>
                <a:tc>
                  <a:txBody>
                    <a:bodyPr/>
                    <a:lstStyle/>
                    <a:p>
                      <a:r>
                        <a:rPr sz="1725" b="0">
                          <a:solidFill>
                            <a:srgbClr val="202B58"/>
                          </a:solidFill>
                          <a:latin typeface="Noto Sans CJK JP"/>
                          <a:ea typeface="Noto Sans CJK JP"/>
                          <a:cs typeface="Noto Sans CJK JP"/>
                        </a:rPr>
                        <a:t>実験SHAと出典を明示</a:t>
                      </a:r>
                    </a:p>
                  </a:txBody>
                  <a:tcPr>
                    <a:solidFill>
                      <a:srgbClr val="F1F5F8"/>
                    </a:solidFill>
                  </a:tcPr>
                </a:tc>
                <a:tc>
                  <a:txBody>
                    <a:bodyPr/>
                    <a:lstStyle/>
                    <a:p>
                      <a:r>
                        <a:rPr sz="1725" b="0">
                          <a:solidFill>
                            <a:srgbClr val="202B58"/>
                          </a:solidFill>
                          <a:latin typeface="Noto Sans CJK JP"/>
                          <a:ea typeface="Noto Sans CJK JP"/>
                          <a:cs typeface="Noto Sans CJK JP"/>
                        </a:rPr>
                        <a:t>来歴の残件・独立レビュー・承認</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D302620-EC33-4D03-9E16-FF5EBEFCC5A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56930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C86540B-E930-45C3-AD43-162F6677FE0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追加確認：BEVの入力SOC上限と実行結果が不一致</a:t>
            </a:r>
          </a:p>
        </p:txBody>
      </p:sp>
      <p:sp>
        <p:nvSpPr>
          <p:cNvPr id="2" name="正方形/長方形 1">
            <a:extLst>
              <a:ext uri="{FF2B5EF4-FFF2-40B4-BE49-F238E27FC236}">
                <a16:creationId xmlns:a16="http://schemas.microsoft.com/office/drawing/2014/main" id="{6BB9CC0B-C2ED-4CC6-BCEE-FE59F6A8929F}"/>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P1：入力maxSoc=0.90に対し、実験SHA bb0c005のStage 2は容量100%を上限としていた</a:t>
            </a:r>
          </a:p>
        </p:txBody>
      </p:sp>
      <p:sp>
        <p:nvSpPr>
          <p:cNvPr id="3" name="正方形/長方形 2">
            <a:extLst>
              <a:ext uri="{FF2B5EF4-FFF2-40B4-BE49-F238E27FC236}">
                <a16:creationId xmlns:a16="http://schemas.microsoft.com/office/drawing/2014/main" id="{F7B8F56E-C1EC-4A77-BB67-22665B25747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上限の契約を直し、独立検証を追加してから、クリーンな新SHAで再実験する</a:t>
            </a:r>
          </a:p>
        </p:txBody>
      </p:sp>
      <p:sp>
        <p:nvSpPr>
          <p:cNvPr id="4" name="正方形/長方形 3">
            <a:extLst>
              <a:ext uri="{FF2B5EF4-FFF2-40B4-BE49-F238E27FC236}">
                <a16:creationId xmlns:a16="http://schemas.microsoft.com/office/drawing/2014/main" id="{992184B0-CE6E-4993-BDE8-6C707CD8F9A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図表のためにSOC値を切り詰めたり、入力上限を100%に読み替えたりしていない。</a:t>
            </a:r>
          </a:p>
        </p:txBody>
      </p:sp>
      <p:sp>
        <p:nvSpPr>
          <p:cNvPr id="5" name="正方形/長方形 4">
            <a:extLst>
              <a:ext uri="{FF2B5EF4-FFF2-40B4-BE49-F238E27FC236}">
                <a16:creationId xmlns:a16="http://schemas.microsoft.com/office/drawing/2014/main" id="{4A3735A7-8266-426D-8D1D-6A4483912F7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17</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91125">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650" b="1">
                          <a:solidFill>
                            <a:srgbClr val="FFFFFF"/>
                          </a:solidFill>
                          <a:latin typeface="Noto Sans CJK JP"/>
                          <a:ea typeface="Noto Sans CJK JP"/>
                          <a:cs typeface="Noto Sans CJK JP"/>
                        </a:rPr>
                        <a:t>確認項目</a:t>
                      </a:r>
                    </a:p>
                  </a:txBody>
                  <a:tcPr>
                    <a:solidFill>
                      <a:srgbClr val="202B58"/>
                    </a:solidFill>
                  </a:tcPr>
                </a:tc>
                <a:tc>
                  <a:txBody>
                    <a:bodyPr/>
                    <a:lstStyle/>
                    <a:p>
                      <a:r>
                        <a:rPr sz="1650" b="1">
                          <a:solidFill>
                            <a:srgbClr val="FFFFFF"/>
                          </a:solidFill>
                          <a:latin typeface="Noto Sans CJK JP"/>
                          <a:ea typeface="Noto Sans CJK JP"/>
                          <a:cs typeface="Noto Sans CJK JP"/>
                        </a:rPr>
                        <a:t>高PV</a:t>
                      </a:r>
                    </a:p>
                  </a:txBody>
                  <a:tcPr>
                    <a:solidFill>
                      <a:srgbClr val="202B58"/>
                    </a:solidFill>
                  </a:tcPr>
                </a:tc>
                <a:tc>
                  <a:txBody>
                    <a:bodyPr/>
                    <a:lstStyle/>
                    <a:p>
                      <a:r>
                        <a:rPr sz="165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650" b="0">
                          <a:solidFill>
                            <a:srgbClr val="202B58"/>
                          </a:solidFill>
                          <a:latin typeface="Noto Sans CJK JP"/>
                          <a:ea typeface="Noto Sans CJK JP"/>
                          <a:cs typeface="Noto Sans CJK JP"/>
                        </a:rPr>
                        <a:t>Preparedで指定したSOC上限</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extLst>
                  <a:ext uri="{0D108BD9-81ED-4DB2-BD59-A6C34878D82A}">
                    <a16:rowId xmlns:a16="http://schemas.microsoft.com/office/drawing/2014/main" val="10001"/>
                  </a:ext>
                </a:extLst>
              </a:tr>
              <a:tr h="620713">
                <a:tc>
                  <a:txBody>
                    <a:bodyPr/>
                    <a:lstStyle/>
                    <a:p>
                      <a:r>
                        <a:rPr sz="1650" b="0">
                          <a:solidFill>
                            <a:srgbClr val="202B58"/>
                          </a:solidFill>
                          <a:latin typeface="Noto Sans CJK JP"/>
                          <a:ea typeface="Noto Sans CJK JP"/>
                          <a:cs typeface="Noto Sans CJK JP"/>
                        </a:rPr>
                        <a:t>保存された最大SOC</a:t>
                      </a:r>
                    </a:p>
                  </a:txBody>
                  <a:tcPr>
                    <a:solidFill>
                      <a:srgbClr val="FFFFFF"/>
                    </a:solidFill>
                  </a:tcPr>
                </a:tc>
                <a:tc>
                  <a:txBody>
                    <a:bodyPr/>
                    <a:lstStyle/>
                    <a:p>
                      <a:r>
                        <a:rPr sz="1650" b="0">
                          <a:solidFill>
                            <a:srgbClr val="202B58"/>
                          </a:solidFill>
                          <a:latin typeface="Noto Sans CJK JP"/>
                          <a:ea typeface="Noto Sans CJK JP"/>
                          <a:cs typeface="Noto Sans CJK JP"/>
                        </a:rPr>
                        <a:t>93.375%</a:t>
                      </a:r>
                    </a:p>
                  </a:txBody>
                  <a:tcPr>
                    <a:solidFill>
                      <a:srgbClr val="FFFFFF"/>
                    </a:solidFill>
                  </a:tcPr>
                </a:tc>
                <a:tc>
                  <a:txBody>
                    <a:bodyPr/>
                    <a:lstStyle/>
                    <a:p>
                      <a:r>
                        <a:rPr sz="1650" b="0">
                          <a:solidFill>
                            <a:srgbClr val="202B58"/>
                          </a:solidFill>
                          <a:latin typeface="Noto Sans CJK JP"/>
                          <a:ea typeface="Noto Sans CJK JP"/>
                          <a:cs typeface="Noto Sans CJK JP"/>
                        </a:rPr>
                        <a:t>83.186%</a:t>
                      </a:r>
                    </a:p>
                  </a:txBody>
                  <a:tcPr>
                    <a:solidFill>
                      <a:srgbClr val="FFFFFF"/>
                    </a:solidFill>
                  </a:tcPr>
                </a:tc>
                <a:extLst>
                  <a:ext uri="{0D108BD9-81ED-4DB2-BD59-A6C34878D82A}">
                    <a16:rowId xmlns:a16="http://schemas.microsoft.com/office/drawing/2014/main" val="10002"/>
                  </a:ext>
                </a:extLst>
              </a:tr>
              <a:tr h="620713">
                <a:tc>
                  <a:txBody>
                    <a:bodyPr/>
                    <a:lstStyle/>
                    <a:p>
                      <a:r>
                        <a:rPr sz="1650" b="0">
                          <a:solidFill>
                            <a:srgbClr val="202B58"/>
                          </a:solidFill>
                          <a:latin typeface="Noto Sans CJK JP"/>
                          <a:ea typeface="Noto Sans CJK JP"/>
                          <a:cs typeface="Noto Sans CJK JP"/>
                        </a:rPr>
                        <a:t>90%超過の車両数</a:t>
                      </a:r>
                    </a:p>
                  </a:txBody>
                  <a:tcPr>
                    <a:solidFill>
                      <a:srgbClr val="F1F5F8"/>
                    </a:solidFill>
                  </a:tcPr>
                </a:tc>
                <a:tc>
                  <a:txBody>
                    <a:bodyPr/>
                    <a:lstStyle/>
                    <a:p>
                      <a:r>
                        <a:rPr sz="1650" b="0">
                          <a:solidFill>
                            <a:srgbClr val="202B58"/>
                          </a:solidFill>
                          <a:latin typeface="Noto Sans CJK JP"/>
                          <a:ea typeface="Noto Sans CJK JP"/>
                          <a:cs typeface="Noto Sans CJK JP"/>
                        </a:rPr>
                        <a:t>3</a:t>
                      </a:r>
                    </a:p>
                  </a:txBody>
                  <a:tcPr>
                    <a:solidFill>
                      <a:srgbClr val="F1F5F8"/>
                    </a:solidFill>
                  </a:tcPr>
                </a:tc>
                <a:tc>
                  <a:txBody>
                    <a:bodyPr/>
                    <a:lstStyle/>
                    <a:p>
                      <a:r>
                        <a:rPr sz="1650" b="0">
                          <a:solidFill>
                            <a:srgbClr val="202B58"/>
                          </a:solidFill>
                          <a:latin typeface="Noto Sans CJK JP"/>
                          <a:ea typeface="Noto Sans CJK JP"/>
                          <a:cs typeface="Noto Sans CJK JP"/>
                        </a:rPr>
                        <a:t>0</a:t>
                      </a:r>
                    </a:p>
                  </a:txBody>
                  <a:tcPr>
                    <a:solidFill>
                      <a:srgbClr val="F1F5F8"/>
                    </a:solidFill>
                  </a:tcPr>
                </a:tc>
                <a:extLst>
                  <a:ext uri="{0D108BD9-81ED-4DB2-BD59-A6C34878D82A}">
                    <a16:rowId xmlns:a16="http://schemas.microsoft.com/office/drawing/2014/main" val="10003"/>
                  </a:ext>
                </a:extLst>
              </a:tr>
              <a:tr h="620713">
                <a:tc>
                  <a:txBody>
                    <a:bodyPr/>
                    <a:lstStyle/>
                    <a:p>
                      <a:r>
                        <a:rPr sz="1650" b="0">
                          <a:solidFill>
                            <a:srgbClr val="202B58"/>
                          </a:solidFill>
                          <a:latin typeface="Noto Sans CJK JP"/>
                          <a:ea typeface="Noto Sans CJK JP"/>
                          <a:cs typeface="Noto Sans CJK JP"/>
                        </a:rPr>
                        <a:t>90%超過の車両×15分境界点</a:t>
                      </a:r>
                    </a:p>
                  </a:txBody>
                  <a:tcPr>
                    <a:solidFill>
                      <a:srgbClr val="FFFFFF"/>
                    </a:solidFill>
                  </a:tcPr>
                </a:tc>
                <a:tc>
                  <a:txBody>
                    <a:bodyPr/>
                    <a:lstStyle/>
                    <a:p>
                      <a:r>
                        <a:rPr sz="1650" b="0">
                          <a:solidFill>
                            <a:srgbClr val="202B58"/>
                          </a:solidFill>
                          <a:latin typeface="Noto Sans CJK JP"/>
                          <a:ea typeface="Noto Sans CJK JP"/>
                          <a:cs typeface="Noto Sans CJK JP"/>
                        </a:rPr>
                        <a:t>12</a:t>
                      </a:r>
                    </a:p>
                  </a:txBody>
                  <a:tcPr>
                    <a:solidFill>
                      <a:srgbClr val="FFFFFF"/>
                    </a:solidFill>
                  </a:tcPr>
                </a:tc>
                <a:tc>
                  <a:txBody>
                    <a:bodyPr/>
                    <a:lstStyle/>
                    <a:p>
                      <a:r>
                        <a:rPr sz="1650" b="0">
                          <a:solidFill>
                            <a:srgbClr val="202B58"/>
                          </a:solidFill>
                          <a:latin typeface="Noto Sans CJK JP"/>
                          <a:ea typeface="Noto Sans CJK JP"/>
                          <a:cs typeface="Noto Sans CJK JP"/>
                        </a:rPr>
                        <a:t>0</a:t>
                      </a:r>
                    </a:p>
                  </a:txBody>
                  <a:tcPr>
                    <a:solidFill>
                      <a:srgbClr val="FFFFFF"/>
                    </a:solidFill>
                  </a:tcPr>
                </a:tc>
                <a:extLst>
                  <a:ext uri="{0D108BD9-81ED-4DB2-BD59-A6C34878D82A}">
                    <a16:rowId xmlns:a16="http://schemas.microsoft.com/office/drawing/2014/main" val="10004"/>
                  </a:ext>
                </a:extLst>
              </a:tr>
              <a:tr h="620713">
                <a:tc>
                  <a:txBody>
                    <a:bodyPr/>
                    <a:lstStyle/>
                    <a:p>
                      <a:r>
                        <a:rPr sz="1650" b="0">
                          <a:solidFill>
                            <a:srgbClr val="202B58"/>
                          </a:solidFill>
                          <a:latin typeface="Noto Sans CJK JP"/>
                          <a:ea typeface="Noto Sans CJK JP"/>
                          <a:cs typeface="Noto Sans CJK JP"/>
                        </a:rPr>
                        <a:t>今回の扱い</a:t>
                      </a:r>
                    </a:p>
                  </a:txBody>
                  <a:tcPr>
                    <a:solidFill>
                      <a:srgbClr val="F1F5F8"/>
                    </a:solidFill>
                  </a:tcPr>
                </a:tc>
                <a:tc>
                  <a:txBody>
                    <a:bodyPr/>
                    <a:lstStyle/>
                    <a:p>
                      <a:r>
                        <a:rPr sz="1650" b="0">
                          <a:solidFill>
                            <a:srgbClr val="202B58"/>
                          </a:solidFill>
                          <a:latin typeface="Noto Sans CJK JP"/>
                          <a:ea typeface="Noto Sans CJK JP"/>
                          <a:cs typeface="Noto Sans CJK JP"/>
                        </a:rPr>
                        <a:t>診断用、研究結論には未使用</a:t>
                      </a:r>
                    </a:p>
                  </a:txBody>
                  <a:tcPr>
                    <a:solidFill>
                      <a:srgbClr val="F1F5F8"/>
                    </a:solidFill>
                  </a:tcPr>
                </a:tc>
                <a:tc>
                  <a:txBody>
                    <a:bodyPr/>
                    <a:lstStyle/>
                    <a:p>
                      <a:r>
                        <a:rPr sz="1650" b="0">
                          <a:solidFill>
                            <a:srgbClr val="202B58"/>
                          </a:solidFill>
                          <a:latin typeface="Noto Sans CJK JP"/>
                          <a:ea typeface="Noto Sans CJK JP"/>
                          <a:cs typeface="Noto Sans CJK JP"/>
                        </a:rPr>
                        <a:t>比較ペアとして診断用</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CD31548-C97C-49CB-A557-E9A11D0109D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48370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1DAD7B2-347B-48CA-8D90-9ABCA5CAF0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晴条件でも、BEV全35台は使っていない</a:t>
            </a:r>
          </a:p>
        </p:txBody>
      </p:sp>
      <p:sp>
        <p:nvSpPr>
          <p:cNvPr id="2" name="正方形/長方形 1">
            <a:extLst>
              <a:ext uri="{FF2B5EF4-FFF2-40B4-BE49-F238E27FC236}">
                <a16:creationId xmlns:a16="http://schemas.microsoft.com/office/drawing/2014/main" id="{C87309AB-1B7C-489E-A035-DC41483082B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8月29日のPrepared入力：BEV 35台・ICE 25台。両PV条件で共通</a:t>
            </a:r>
          </a:p>
        </p:txBody>
      </p:sp>
      <p:sp>
        <p:nvSpPr>
          <p:cNvPr id="3" name="正方形/長方形 2">
            <a:extLst>
              <a:ext uri="{FF2B5EF4-FFF2-40B4-BE49-F238E27FC236}">
                <a16:creationId xmlns:a16="http://schemas.microsoft.com/office/drawing/2014/main" id="{206CC7B5-9D68-4390-83F1-77C22E082FE2}"/>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高PVはBEV 28/35台（80%）、低PVは21/35台（60%）を使用</a:t>
            </a:r>
          </a:p>
        </p:txBody>
      </p:sp>
      <p:sp>
        <p:nvSpPr>
          <p:cNvPr id="4" name="正方形/長方形 3">
            <a:extLst>
              <a:ext uri="{FF2B5EF4-FFF2-40B4-BE49-F238E27FC236}">
                <a16:creationId xmlns:a16="http://schemas.microsoft.com/office/drawing/2014/main" id="{61081AF3-CFA0-4EA7-8815-AF816FD76EA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未使用の原因は、この集計だけでは特定できない。全台使用を強制した比較は未実施。</a:t>
            </a:r>
          </a:p>
        </p:txBody>
      </p:sp>
      <p:sp>
        <p:nvSpPr>
          <p:cNvPr id="5" name="正方形/長方形 4">
            <a:extLst>
              <a:ext uri="{FF2B5EF4-FFF2-40B4-BE49-F238E27FC236}">
                <a16:creationId xmlns:a16="http://schemas.microsoft.com/office/drawing/2014/main" id="{608AF927-927C-49D4-8374-96A7B37429D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18</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238750">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800" b="1">
                          <a:solidFill>
                            <a:srgbClr val="FFFFFF"/>
                          </a:solidFill>
                          <a:latin typeface="Noto Sans CJK JP"/>
                          <a:ea typeface="Noto Sans CJK JP"/>
                          <a:cs typeface="Noto Sans CJK JP"/>
                        </a:rPr>
                        <a:t>台数 [台]</a:t>
                      </a:r>
                    </a:p>
                  </a:txBody>
                  <a:tcPr>
                    <a:solidFill>
                      <a:srgbClr val="202B58"/>
                    </a:solidFill>
                  </a:tcPr>
                </a:tc>
                <a:tc>
                  <a:txBody>
                    <a:bodyPr/>
                    <a:lstStyle/>
                    <a:p>
                      <a:r>
                        <a:rPr sz="1800" b="1">
                          <a:solidFill>
                            <a:srgbClr val="FFFFFF"/>
                          </a:solidFill>
                          <a:latin typeface="Noto Sans CJK JP"/>
                          <a:ea typeface="Noto Sans CJK JP"/>
                          <a:cs typeface="Noto Sans CJK JP"/>
                        </a:rPr>
                        <a:t>高PV</a:t>
                      </a:r>
                    </a:p>
                  </a:txBody>
                  <a:tcPr>
                    <a:solidFill>
                      <a:srgbClr val="202B58"/>
                    </a:solidFill>
                  </a:tcPr>
                </a:tc>
                <a:tc>
                  <a:txBody>
                    <a:bodyPr/>
                    <a:lstStyle/>
                    <a:p>
                      <a:r>
                        <a:rPr sz="180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800" b="0">
                          <a:solidFill>
                            <a:srgbClr val="202B58"/>
                          </a:solidFill>
                          <a:latin typeface="Noto Sans CJK JP"/>
                          <a:ea typeface="Noto Sans CJK JP"/>
                          <a:cs typeface="Noto Sans CJK JP"/>
                        </a:rPr>
                        <a:t>入力 BEV / ICE</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extLst>
                  <a:ext uri="{0D108BD9-81ED-4DB2-BD59-A6C34878D82A}">
                    <a16:rowId xmlns:a16="http://schemas.microsoft.com/office/drawing/2014/main" val="10001"/>
                  </a:ext>
                </a:extLst>
              </a:tr>
              <a:tr h="620713">
                <a:tc>
                  <a:txBody>
                    <a:bodyPr/>
                    <a:lstStyle/>
                    <a:p>
                      <a:r>
                        <a:rPr sz="1800" b="0">
                          <a:solidFill>
                            <a:srgbClr val="202B58"/>
                          </a:solidFill>
                          <a:latin typeface="Noto Sans CJK JP"/>
                          <a:ea typeface="Noto Sans CJK JP"/>
                          <a:cs typeface="Noto Sans CJK JP"/>
                        </a:rPr>
                        <a:t>使用 BEV / ICE</a:t>
                      </a:r>
                    </a:p>
                  </a:txBody>
                  <a:tcPr>
                    <a:solidFill>
                      <a:srgbClr val="FFFFFF"/>
                    </a:solidFill>
                  </a:tcPr>
                </a:tc>
                <a:tc>
                  <a:txBody>
                    <a:bodyPr/>
                    <a:lstStyle/>
                    <a:p>
                      <a:r>
                        <a:rPr sz="1800" b="0">
                          <a:solidFill>
                            <a:srgbClr val="202B58"/>
                          </a:solidFill>
                          <a:latin typeface="Noto Sans CJK JP"/>
                          <a:ea typeface="Noto Sans CJK JP"/>
                          <a:cs typeface="Noto Sans CJK JP"/>
                        </a:rPr>
                        <a:t>28 / 4</a:t>
                      </a:r>
                    </a:p>
                  </a:txBody>
                  <a:tcPr>
                    <a:solidFill>
                      <a:srgbClr val="FFFFFF"/>
                    </a:solidFill>
                  </a:tcPr>
                </a:tc>
                <a:tc>
                  <a:txBody>
                    <a:bodyPr/>
                    <a:lstStyle/>
                    <a:p>
                      <a:r>
                        <a:rPr sz="1800" b="0">
                          <a:solidFill>
                            <a:srgbClr val="202B58"/>
                          </a:solidFill>
                          <a:latin typeface="Noto Sans CJK JP"/>
                          <a:ea typeface="Noto Sans CJK JP"/>
                          <a:cs typeface="Noto Sans CJK JP"/>
                        </a:rPr>
                        <a:t>21 / 11</a:t>
                      </a:r>
                    </a:p>
                  </a:txBody>
                  <a:tcPr>
                    <a:solidFill>
                      <a:srgbClr val="FFFFFF"/>
                    </a:solidFill>
                  </a:tcPr>
                </a:tc>
                <a:extLst>
                  <a:ext uri="{0D108BD9-81ED-4DB2-BD59-A6C34878D82A}">
                    <a16:rowId xmlns:a16="http://schemas.microsoft.com/office/drawing/2014/main" val="10002"/>
                  </a:ext>
                </a:extLst>
              </a:tr>
              <a:tr h="620713">
                <a:tc>
                  <a:txBody>
                    <a:bodyPr/>
                    <a:lstStyle/>
                    <a:p>
                      <a:r>
                        <a:rPr sz="1800" b="0">
                          <a:solidFill>
                            <a:srgbClr val="202B58"/>
                          </a:solidFill>
                          <a:latin typeface="Noto Sans CJK JP"/>
                          <a:ea typeface="Noto Sans CJK JP"/>
                          <a:cs typeface="Noto Sans CJK JP"/>
                        </a:rPr>
                        <a:t>未使用 BEV / ICE</a:t>
                      </a:r>
                    </a:p>
                  </a:txBody>
                  <a:tcPr>
                    <a:solidFill>
                      <a:srgbClr val="F1F5F8"/>
                    </a:solidFill>
                  </a:tcPr>
                </a:tc>
                <a:tc>
                  <a:txBody>
                    <a:bodyPr/>
                    <a:lstStyle/>
                    <a:p>
                      <a:r>
                        <a:rPr sz="1800" b="0">
                          <a:solidFill>
                            <a:srgbClr val="202B58"/>
                          </a:solidFill>
                          <a:latin typeface="Noto Sans CJK JP"/>
                          <a:ea typeface="Noto Sans CJK JP"/>
                          <a:cs typeface="Noto Sans CJK JP"/>
                        </a:rPr>
                        <a:t>7 / 21</a:t>
                      </a:r>
                    </a:p>
                  </a:txBody>
                  <a:tcPr>
                    <a:solidFill>
                      <a:srgbClr val="F1F5F8"/>
                    </a:solidFill>
                  </a:tcPr>
                </a:tc>
                <a:tc>
                  <a:txBody>
                    <a:bodyPr/>
                    <a:lstStyle/>
                    <a:p>
                      <a:r>
                        <a:rPr sz="1800" b="0">
                          <a:solidFill>
                            <a:srgbClr val="202B58"/>
                          </a:solidFill>
                          <a:latin typeface="Noto Sans CJK JP"/>
                          <a:ea typeface="Noto Sans CJK JP"/>
                          <a:cs typeface="Noto Sans CJK JP"/>
                        </a:rPr>
                        <a:t>14 / 14</a:t>
                      </a:r>
                    </a:p>
                  </a:txBody>
                  <a:tcPr>
                    <a:solidFill>
                      <a:srgbClr val="F1F5F8"/>
                    </a:solidFill>
                  </a:tcPr>
                </a:tc>
                <a:extLst>
                  <a:ext uri="{0D108BD9-81ED-4DB2-BD59-A6C34878D82A}">
                    <a16:rowId xmlns:a16="http://schemas.microsoft.com/office/drawing/2014/main" val="10003"/>
                  </a:ext>
                </a:extLst>
              </a:tr>
              <a:tr h="620713">
                <a:tc>
                  <a:txBody>
                    <a:bodyPr/>
                    <a:lstStyle/>
                    <a:p>
                      <a:r>
                        <a:rPr sz="1800" b="0">
                          <a:solidFill>
                            <a:srgbClr val="202B58"/>
                          </a:solidFill>
                          <a:latin typeface="Noto Sans CJK JP"/>
                          <a:ea typeface="Noto Sans CJK JP"/>
                          <a:cs typeface="Noto Sans CJK JP"/>
                        </a:rPr>
                        <a:t>BEV使用率（台数）</a:t>
                      </a:r>
                    </a:p>
                  </a:txBody>
                  <a:tcPr>
                    <a:solidFill>
                      <a:srgbClr val="FFFFFF"/>
                    </a:solidFill>
                  </a:tcPr>
                </a:tc>
                <a:tc>
                  <a:txBody>
                    <a:bodyPr/>
                    <a:lstStyle/>
                    <a:p>
                      <a:r>
                        <a:rPr sz="1800" b="0">
                          <a:solidFill>
                            <a:srgbClr val="202B58"/>
                          </a:solidFill>
                          <a:latin typeface="Noto Sans CJK JP"/>
                          <a:ea typeface="Noto Sans CJK JP"/>
                          <a:cs typeface="Noto Sans CJK JP"/>
                        </a:rPr>
                        <a:t>80%</a:t>
                      </a:r>
                    </a:p>
                  </a:txBody>
                  <a:tcPr>
                    <a:solidFill>
                      <a:srgbClr val="FFFFFF"/>
                    </a:solidFill>
                  </a:tcPr>
                </a:tc>
                <a:tc>
                  <a:txBody>
                    <a:bodyPr/>
                    <a:lstStyle/>
                    <a:p>
                      <a:r>
                        <a:rPr sz="1800" b="0">
                          <a:solidFill>
                            <a:srgbClr val="202B58"/>
                          </a:solidFill>
                          <a:latin typeface="Noto Sans CJK JP"/>
                          <a:ea typeface="Noto Sans CJK JP"/>
                          <a:cs typeface="Noto Sans CJK JP"/>
                        </a:rPr>
                        <a:t>60%</a:t>
                      </a:r>
                    </a:p>
                  </a:txBody>
                  <a:tcPr>
                    <a:solidFill>
                      <a:srgbClr val="FFFFFF"/>
                    </a:solidFill>
                  </a:tcPr>
                </a:tc>
                <a:extLst>
                  <a:ext uri="{0D108BD9-81ED-4DB2-BD59-A6C34878D82A}">
                    <a16:rowId xmlns:a16="http://schemas.microsoft.com/office/drawing/2014/main" val="10004"/>
                  </a:ext>
                </a:extLst>
              </a:tr>
              <a:tr h="620713">
                <a:tc>
                  <a:txBody>
                    <a:bodyPr/>
                    <a:lstStyle/>
                    <a:p>
                      <a:r>
                        <a:rPr sz="1800" b="0">
                          <a:solidFill>
                            <a:srgbClr val="202B58"/>
                          </a:solidFill>
                          <a:latin typeface="Noto Sans CJK JP"/>
                          <a:ea typeface="Noto Sans CJK JP"/>
                          <a:cs typeface="Noto Sans CJK JP"/>
                        </a:rPr>
                        <a:t>使用台数 合計</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5A0CB313-BAD5-4A30-A342-FB7FD4DC986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50314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2508C2F-8B0F-40EE-9B50-E32E18F23651}"/>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低PVの買電ピーク：6:15の電力収支</a:t>
            </a:r>
          </a:p>
        </p:txBody>
      </p:sp>
      <p:sp>
        <p:nvSpPr>
          <p:cNvPr id="2" name="正方形/長方形 1">
            <a:extLst>
              <a:ext uri="{FF2B5EF4-FFF2-40B4-BE49-F238E27FC236}">
                <a16:creationId xmlns:a16="http://schemas.microsoft.com/office/drawing/2014/main" id="{2ECD19EC-213F-46B8-A4D3-601BD38BC5E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今回の保存実行の15分平均電力。6月の旧結果にあった10時ピークとは別</a:t>
            </a:r>
          </a:p>
        </p:txBody>
      </p:sp>
      <p:sp>
        <p:nvSpPr>
          <p:cNvPr id="3" name="正方形/長方形 2">
            <a:extLst>
              <a:ext uri="{FF2B5EF4-FFF2-40B4-BE49-F238E27FC236}">
                <a16:creationId xmlns:a16="http://schemas.microsoft.com/office/drawing/2014/main" id="{089DEE36-32DE-4747-9922-A37DFB7F1F0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6:15–6:30：充電 177.55 = PV 55.25 + BESS 0.00 + 系統 122.30 kW</a:t>
            </a:r>
          </a:p>
        </p:txBody>
      </p:sp>
      <p:sp>
        <p:nvSpPr>
          <p:cNvPr id="4" name="正方形/長方形 3">
            <a:extLst>
              <a:ext uri="{FF2B5EF4-FFF2-40B4-BE49-F238E27FC236}">
                <a16:creationId xmlns:a16="http://schemas.microsoft.com/office/drawing/2014/main" id="{A4070C62-E4B6-4FB2-9469-0E70687DBA06}"/>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系統購入量と全充電電力を区別する。朝ラッシュ後の帰庫が原因という説明は今回未検証。</a:t>
            </a:r>
          </a:p>
        </p:txBody>
      </p:sp>
      <p:sp>
        <p:nvSpPr>
          <p:cNvPr id="5" name="正方形/長方形 4">
            <a:extLst>
              <a:ext uri="{FF2B5EF4-FFF2-40B4-BE49-F238E27FC236}">
                <a16:creationId xmlns:a16="http://schemas.microsoft.com/office/drawing/2014/main" id="{E0A6D641-F2B1-49E5-90FA-E9B27C82C0C9}"/>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19</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810250">
                  <a:extLst>
                    <a:ext uri="{9D8B030D-6E8A-4147-A177-3AD203B41FA5}">
                      <a16:colId xmlns:a16="http://schemas.microsoft.com/office/drawing/2014/main" val="20000"/>
                    </a:ext>
                  </a:extLst>
                </a:gridCol>
                <a:gridCol w="5238750">
                  <a:extLst>
                    <a:ext uri="{9D8B030D-6E8A-4147-A177-3AD203B41FA5}">
                      <a16:colId xmlns:a16="http://schemas.microsoft.com/office/drawing/2014/main" val="20001"/>
                    </a:ext>
                  </a:extLst>
                </a:gridCol>
              </a:tblGrid>
              <a:tr h="620713">
                <a:tc>
                  <a:txBody>
                    <a:bodyPr/>
                    <a:lstStyle/>
                    <a:p>
                      <a:r>
                        <a:rPr sz="1725" b="1">
                          <a:solidFill>
                            <a:srgbClr val="FFFFFF"/>
                          </a:solidFill>
                          <a:latin typeface="Noto Sans CJK JP"/>
                          <a:ea typeface="Noto Sans CJK JP"/>
                          <a:cs typeface="Noto Sans CJK JP"/>
                        </a:rPr>
                        <a:t>6:15–6:30の確認項目</a:t>
                      </a:r>
                    </a:p>
                  </a:txBody>
                  <a:tcPr>
                    <a:solidFill>
                      <a:srgbClr val="202B58"/>
                    </a:solidFill>
                  </a:tcPr>
                </a:tc>
                <a:tc>
                  <a:txBody>
                    <a:bodyPr/>
                    <a:lstStyle/>
                    <a:p>
                      <a:r>
                        <a:rPr sz="1725" b="1">
                          <a:solidFill>
                            <a:srgbClr val="FFFFFF"/>
                          </a:solidFill>
                          <a:latin typeface="Noto Sans CJK JP"/>
                          <a:ea typeface="Noto Sans CJK JP"/>
                          <a:cs typeface="Noto Sans CJK JP"/>
                        </a:rPr>
                        <a:t>値</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全充電器入力</a:t>
                      </a:r>
                    </a:p>
                  </a:txBody>
                  <a:tcPr>
                    <a:solidFill>
                      <a:srgbClr val="F1F5F8"/>
                    </a:solidFill>
                  </a:tcPr>
                </a:tc>
                <a:tc>
                  <a:txBody>
                    <a:bodyPr/>
                    <a:lstStyle/>
                    <a:p>
                      <a:r>
                        <a:rPr sz="1725" b="0">
                          <a:solidFill>
                            <a:srgbClr val="202B58"/>
                          </a:solidFill>
                          <a:latin typeface="Noto Sans CJK JP"/>
                          <a:ea typeface="Noto Sans CJK JP"/>
                          <a:cs typeface="Noto Sans CJK JP"/>
                        </a:rPr>
                        <a:t>177.55 kW</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PV / BESS / 系統</a:t>
                      </a:r>
                    </a:p>
                  </a:txBody>
                  <a:tcPr>
                    <a:solidFill>
                      <a:srgbClr val="FFFFFF"/>
                    </a:solidFill>
                  </a:tcPr>
                </a:tc>
                <a:tc>
                  <a:txBody>
                    <a:bodyPr/>
                    <a:lstStyle/>
                    <a:p>
                      <a:r>
                        <a:rPr sz="1725" b="0">
                          <a:solidFill>
                            <a:srgbClr val="202B58"/>
                          </a:solidFill>
                          <a:latin typeface="Noto Sans CJK JP"/>
                          <a:ea typeface="Noto Sans CJK JP"/>
                          <a:cs typeface="Noto Sans CJK JP"/>
                        </a:rPr>
                        <a:t>55.25 / 0.00 / 122.30 kW</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15分の系統購入電力量</a:t>
                      </a:r>
                    </a:p>
                  </a:txBody>
                  <a:tcPr>
                    <a:solidFill>
                      <a:srgbClr val="F1F5F8"/>
                    </a:solidFill>
                  </a:tcPr>
                </a:tc>
                <a:tc>
                  <a:txBody>
                    <a:bodyPr/>
                    <a:lstStyle/>
                    <a:p>
                      <a:r>
                        <a:rPr sz="1725" b="0">
                          <a:solidFill>
                            <a:srgbClr val="202B58"/>
                          </a:solidFill>
                          <a:latin typeface="Noto Sans CJK JP"/>
                          <a:ea typeface="Noto Sans CJK JP"/>
                          <a:cs typeface="Noto Sans CJK JP"/>
                        </a:rPr>
                        <a:t>30.575 kWh</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正電力の充電セッション数</a:t>
                      </a:r>
                    </a:p>
                  </a:txBody>
                  <a:tcPr>
                    <a:solidFill>
                      <a:srgbClr val="FFFFFF"/>
                    </a:solidFill>
                  </a:tcPr>
                </a:tc>
                <a:tc>
                  <a:txBody>
                    <a:bodyPr/>
                    <a:lstStyle/>
                    <a:p>
                      <a:r>
                        <a:rPr sz="1725" b="0">
                          <a:solidFill>
                            <a:srgbClr val="202B58"/>
                          </a:solidFill>
                          <a:latin typeface="Noto Sans CJK JP"/>
                          <a:ea typeface="Noto Sans CJK JP"/>
                          <a:cs typeface="Noto Sans CJK JP"/>
                        </a:rPr>
                        <a:t>4台（電力 &gt; 1e−6 kW）</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うち1 kW以上</a:t>
                      </a:r>
                    </a:p>
                  </a:txBody>
                  <a:tcPr>
                    <a:solidFill>
                      <a:srgbClr val="F1F5F8"/>
                    </a:solidFill>
                  </a:tcPr>
                </a:tc>
                <a:tc>
                  <a:txBody>
                    <a:bodyPr/>
                    <a:lstStyle/>
                    <a:p>
                      <a:r>
                        <a:rPr sz="1725" b="0">
                          <a:solidFill>
                            <a:srgbClr val="202B58"/>
                          </a:solidFill>
                          <a:latin typeface="Noto Sans CJK JP"/>
                          <a:ea typeface="Noto Sans CJK JP"/>
                          <a:cs typeface="Noto Sans CJK JP"/>
                        </a:rPr>
                        <a:t>3台</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4C39BC6B-9377-4278-8E6B-A3E91F452808}"/>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5114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8020</Words>
  <Application>Microsoft Office PowerPoint</Application>
  <DocSecurity>0</DocSecurity>
  <PresentationFormat>ワイド画面</PresentationFormat>
  <Paragraphs>990</Paragraphs>
  <Slides>37</Slides>
  <Notes>37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37</vt:i4>
      </vt:variant>
    </vt:vector>
  </HeadingPairs>
  <TitlesOfParts>
    <vt:vector size="40"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1</cp:revision>
  <dcterms:created xsi:type="dcterms:W3CDTF">2026-09-07T04:25:58Z</dcterms:created>
  <dcterms:modified xsi:type="dcterms:W3CDTF">2026-09-08T06:27:16Z</dcterms:modified>
</cp:coreProperties>
</file>