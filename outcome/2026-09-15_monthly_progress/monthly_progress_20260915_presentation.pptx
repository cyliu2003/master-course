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8.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2.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82cbf00277484a" /><Relationship Type="http://schemas.openxmlformats.org/officeDocument/2006/relationships/extended-properties" Target="/docProps/app.xml" Id="R243de5ce3e7141d8" /><Relationship Type="http://schemas.openxmlformats.org/officeDocument/2006/relationships/officeDocument" Target="/ppt/presentation.xml" Id="R5aa7957ffc8342d6" /></Relationships>
</file>

<file path=ppt/presentation.xml><?xml version="1.0" encoding="utf-8"?>
<p:presentation xmlns:p="http://schemas.openxmlformats.org/presentationml/2006/main">
  <p:sldMasterIdLst>
    <p:sldMasterId xmlns:r="http://schemas.openxmlformats.org/officeDocument/2006/relationships" id="2147483648" r:id="Refdab41f66204ff0"/>
  </p:sldMasterIdLst>
  <p:notesMasterIdLst>
    <p:notesMasterId xmlns:r="http://schemas.openxmlformats.org/officeDocument/2006/relationships" r:id="R15c43f8def31490f"/>
  </p:notesMasterIdLst>
  <p:sldIdLst>
    <p:sldId xmlns:r="http://schemas.openxmlformats.org/officeDocument/2006/relationships" id="256" r:id="R9d28b828fb4f40a2"/>
    <p:sldId xmlns:r="http://schemas.openxmlformats.org/officeDocument/2006/relationships" id="257" r:id="R1372d2cb9e52462e"/>
    <p:sldId xmlns:r="http://schemas.openxmlformats.org/officeDocument/2006/relationships" id="258" r:id="R090a6a6958b045bf"/>
    <p:sldId xmlns:r="http://schemas.openxmlformats.org/officeDocument/2006/relationships" id="259" r:id="R3516309aa6da4a7d"/>
    <p:sldId xmlns:r="http://schemas.openxmlformats.org/officeDocument/2006/relationships" id="260" r:id="R52cb25097bf24433"/>
    <p:sldId xmlns:r="http://schemas.openxmlformats.org/officeDocument/2006/relationships" id="261" r:id="R640a9f65b9dd4805"/>
    <p:sldId xmlns:r="http://schemas.openxmlformats.org/officeDocument/2006/relationships" id="262" r:id="Rd272b5509ea14f37"/>
    <p:sldId xmlns:r="http://schemas.openxmlformats.org/officeDocument/2006/relationships" id="263" r:id="R73c4d82134fd45a4"/>
    <p:sldId xmlns:r="http://schemas.openxmlformats.org/officeDocument/2006/relationships" id="264" r:id="Rccdfdc49748a44fe"/>
    <p:sldId xmlns:r="http://schemas.openxmlformats.org/officeDocument/2006/relationships" id="265" r:id="Rd50de8c739594867"/>
    <p:sldId xmlns:r="http://schemas.openxmlformats.org/officeDocument/2006/relationships" id="266" r:id="R86444e057cf74e68"/>
    <p:sldId xmlns:r="http://schemas.openxmlformats.org/officeDocument/2006/relationships" id="267" r:id="Re2d46fc1abf74823"/>
    <p:sldId xmlns:r="http://schemas.openxmlformats.org/officeDocument/2006/relationships" id="268" r:id="R845053874cb34f7b"/>
    <p:sldId xmlns:r="http://schemas.openxmlformats.org/officeDocument/2006/relationships" id="269" r:id="R5cfef8d765a44e2d"/>
    <p:sldId xmlns:r="http://schemas.openxmlformats.org/officeDocument/2006/relationships" id="270" r:id="Rc92a022fb5634b58"/>
    <p:sldId xmlns:r="http://schemas.openxmlformats.org/officeDocument/2006/relationships" id="271" r:id="R07902beffaef4538"/>
    <p:sldId xmlns:r="http://schemas.openxmlformats.org/officeDocument/2006/relationships" id="272" r:id="Rf0b52f8509eb4b25"/>
    <p:sldId xmlns:r="http://schemas.openxmlformats.org/officeDocument/2006/relationships" id="273" r:id="R0152ce08c77b43e0"/>
    <p:sldId xmlns:r="http://schemas.openxmlformats.org/officeDocument/2006/relationships" id="274" r:id="R1fa097d05e014801"/>
    <p:sldId xmlns:r="http://schemas.openxmlformats.org/officeDocument/2006/relationships" id="275" r:id="Rd8614b774b4c492c"/>
    <p:sldId xmlns:r="http://schemas.openxmlformats.org/officeDocument/2006/relationships" id="276" r:id="Ra796ed100cbc41b8"/>
    <p:sldId xmlns:r="http://schemas.openxmlformats.org/officeDocument/2006/relationships" id="277" r:id="Rc0247f7edbf14a02"/>
    <p:sldId xmlns:r="http://schemas.openxmlformats.org/officeDocument/2006/relationships" id="278" r:id="R9797b23584d045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dfecbb2c1884163" /><Relationship Type="http://schemas.openxmlformats.org/officeDocument/2006/relationships/slideMaster" Target="/ppt/slideMasters/slideMaster1.xml" Id="Refdab41f66204ff0" /><Relationship Type="http://schemas.openxmlformats.org/officeDocument/2006/relationships/notesMaster" Target="/ppt/notesMasters/notesMaster1.xml" Id="R15c43f8def31490f" /><Relationship Type="http://schemas.openxmlformats.org/officeDocument/2006/relationships/presProps" Target="/ppt/presProps.xml" Id="R776b076400a64ee0" /><Relationship Type="http://schemas.openxmlformats.org/officeDocument/2006/relationships/viewProps" Target="/ppt/viewProps.xml" Id="R9017bade54574ba3" /><Relationship Type="http://schemas.openxmlformats.org/officeDocument/2006/relationships/tableStyles" Target="/ppt/tableStyles.xml" Id="R89977167adf94c25" /><Relationship Type="http://schemas.openxmlformats.org/officeDocument/2006/relationships/slide" Target="/ppt/slides/slide1.xml" Id="R9d28b828fb4f40a2" /><Relationship Type="http://schemas.openxmlformats.org/officeDocument/2006/relationships/slide" Target="/ppt/slides/slide2.xml" Id="R1372d2cb9e52462e" /><Relationship Type="http://schemas.openxmlformats.org/officeDocument/2006/relationships/slide" Target="/ppt/slides/slide3.xml" Id="R090a6a6958b045bf" /><Relationship Type="http://schemas.openxmlformats.org/officeDocument/2006/relationships/slide" Target="/ppt/slides/slide4.xml" Id="R3516309aa6da4a7d" /><Relationship Type="http://schemas.openxmlformats.org/officeDocument/2006/relationships/slide" Target="/ppt/slides/slide5.xml" Id="R52cb25097bf24433" /><Relationship Type="http://schemas.openxmlformats.org/officeDocument/2006/relationships/slide" Target="/ppt/slides/slide6.xml" Id="R640a9f65b9dd4805" /><Relationship Type="http://schemas.openxmlformats.org/officeDocument/2006/relationships/slide" Target="/ppt/slides/slide7.xml" Id="Rd272b5509ea14f37" /><Relationship Type="http://schemas.openxmlformats.org/officeDocument/2006/relationships/slide" Target="/ppt/slides/slide8.xml" Id="R73c4d82134fd45a4" /><Relationship Type="http://schemas.openxmlformats.org/officeDocument/2006/relationships/slide" Target="/ppt/slides/slide9.xml" Id="Rccdfdc49748a44fe" /><Relationship Type="http://schemas.openxmlformats.org/officeDocument/2006/relationships/slide" Target="/ppt/slides/slide10.xml" Id="Rd50de8c739594867" /><Relationship Type="http://schemas.openxmlformats.org/officeDocument/2006/relationships/slide" Target="/ppt/slides/slide11.xml" Id="R86444e057cf74e68" /><Relationship Type="http://schemas.openxmlformats.org/officeDocument/2006/relationships/slide" Target="/ppt/slides/slide12.xml" Id="Re2d46fc1abf74823" /><Relationship Type="http://schemas.openxmlformats.org/officeDocument/2006/relationships/slide" Target="/ppt/slides/slide13.xml" Id="R845053874cb34f7b" /><Relationship Type="http://schemas.openxmlformats.org/officeDocument/2006/relationships/slide" Target="/ppt/slides/slide14.xml" Id="R5cfef8d765a44e2d" /><Relationship Type="http://schemas.openxmlformats.org/officeDocument/2006/relationships/slide" Target="/ppt/slides/slide15.xml" Id="Rc92a022fb5634b58" /><Relationship Type="http://schemas.openxmlformats.org/officeDocument/2006/relationships/slide" Target="/ppt/slides/slide16.xml" Id="R07902beffaef4538" /><Relationship Type="http://schemas.openxmlformats.org/officeDocument/2006/relationships/slide" Target="/ppt/slides/slide17.xml" Id="Rf0b52f8509eb4b25" /><Relationship Type="http://schemas.openxmlformats.org/officeDocument/2006/relationships/slide" Target="/ppt/slides/slide18.xml" Id="R0152ce08c77b43e0" /><Relationship Type="http://schemas.openxmlformats.org/officeDocument/2006/relationships/slide" Target="/ppt/slides/slide19.xml" Id="R1fa097d05e014801" /><Relationship Type="http://schemas.openxmlformats.org/officeDocument/2006/relationships/slide" Target="/ppt/slides/slide20.xml" Id="Rd8614b774b4c492c" /><Relationship Type="http://schemas.openxmlformats.org/officeDocument/2006/relationships/slide" Target="/ppt/slides/slide21.xml" Id="Ra796ed100cbc41b8" /><Relationship Type="http://schemas.openxmlformats.org/officeDocument/2006/relationships/slide" Target="/ppt/slides/slide22.xml" Id="Rc0247f7edbf14a02" /><Relationship Type="http://schemas.openxmlformats.org/officeDocument/2006/relationships/slide" Target="/ppt/slides/slide23.xml" Id="R9797b23584d045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d6631128294c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9bcb7743da4545" /><Relationship Type="http://schemas.openxmlformats.org/officeDocument/2006/relationships/notesMaster" Target="/ppt/notesMasters/notesMaster1.xml" Id="R9bf07c5c446d45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bf67262c83457c" /><Relationship Type="http://schemas.openxmlformats.org/officeDocument/2006/relationships/notesMaster" Target="/ppt/notesMasters/notesMaster1.xml" Id="R7a5165e07e1241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b91f01231345bc" /><Relationship Type="http://schemas.openxmlformats.org/officeDocument/2006/relationships/notesMaster" Target="/ppt/notesMasters/notesMaster1.xml" Id="R1df89b22a4a64d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553cce877d487c" /><Relationship Type="http://schemas.openxmlformats.org/officeDocument/2006/relationships/notesMaster" Target="/ppt/notesMasters/notesMaster1.xml" Id="Rd120469a709d44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a887de3b3245fa" /><Relationship Type="http://schemas.openxmlformats.org/officeDocument/2006/relationships/notesMaster" Target="/ppt/notesMasters/notesMaster1.xml" Id="Rd572fd7d5ff342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5bcea726f444a9" /><Relationship Type="http://schemas.openxmlformats.org/officeDocument/2006/relationships/notesMaster" Target="/ppt/notesMasters/notesMaster1.xml" Id="R71db66c5e32d48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87a1a0940c4638" /><Relationship Type="http://schemas.openxmlformats.org/officeDocument/2006/relationships/notesMaster" Target="/ppt/notesMasters/notesMaster1.xml" Id="R8e1b3df4f9b448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85914a2c094b96" /><Relationship Type="http://schemas.openxmlformats.org/officeDocument/2006/relationships/notesMaster" Target="/ppt/notesMasters/notesMaster1.xml" Id="Rf2d44ef2024846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e296aa536142c2" /><Relationship Type="http://schemas.openxmlformats.org/officeDocument/2006/relationships/notesMaster" Target="/ppt/notesMasters/notesMaster1.xml" Id="R82ffdaeee24749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e5622c1feb4dd3" /><Relationship Type="http://schemas.openxmlformats.org/officeDocument/2006/relationships/notesMaster" Target="/ppt/notesMasters/notesMaster1.xml" Id="R44f2071b91e24d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c6b6ed3bdd4971" /><Relationship Type="http://schemas.openxmlformats.org/officeDocument/2006/relationships/notesMaster" Target="/ppt/notesMasters/notesMaster1.xml" Id="R3c1c778620dc43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08c2e48b454f7e" /><Relationship Type="http://schemas.openxmlformats.org/officeDocument/2006/relationships/notesMaster" Target="/ppt/notesMasters/notesMaster1.xml" Id="R3b311deceea04a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a5d33d01674084" /><Relationship Type="http://schemas.openxmlformats.org/officeDocument/2006/relationships/notesMaster" Target="/ppt/notesMasters/notesMaster1.xml" Id="R17aebd0819d74e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aaa42d595b4540" /><Relationship Type="http://schemas.openxmlformats.org/officeDocument/2006/relationships/notesMaster" Target="/ppt/notesMasters/notesMaster1.xml" Id="Re29f1fab262240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9831461b504af9" /><Relationship Type="http://schemas.openxmlformats.org/officeDocument/2006/relationships/notesMaster" Target="/ppt/notesMasters/notesMaster1.xml" Id="R1bace54f65694d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1a0d5b79d84d02" /><Relationship Type="http://schemas.openxmlformats.org/officeDocument/2006/relationships/notesMaster" Target="/ppt/notesMasters/notesMaster1.xml" Id="R040b49d6a40f45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a82896584e46ae" /><Relationship Type="http://schemas.openxmlformats.org/officeDocument/2006/relationships/notesMaster" Target="/ppt/notesMasters/notesMaster1.xml" Id="R03d0d9b56ddc48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fd77c40dda4bb6" /><Relationship Type="http://schemas.openxmlformats.org/officeDocument/2006/relationships/notesMaster" Target="/ppt/notesMasters/notesMaster1.xml" Id="Rb17d39cde3924a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7311db57d44373" /><Relationship Type="http://schemas.openxmlformats.org/officeDocument/2006/relationships/notesMaster" Target="/ppt/notesMasters/notesMaster1.xml" Id="R4d6c6d39b41b4db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d230a6d6cf49c7" /><Relationship Type="http://schemas.openxmlformats.org/officeDocument/2006/relationships/notesMaster" Target="/ppt/notesMasters/notesMaster1.xml" Id="R6060e01a644043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ce59f2de7b5416c" /><Relationship Type="http://schemas.openxmlformats.org/officeDocument/2006/relationships/notesMaster" Target="/ppt/notesMasters/notesMaster1.xml" Id="R30459cc36ea94d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726050f71b4f57" /><Relationship Type="http://schemas.openxmlformats.org/officeDocument/2006/relationships/notesMaster" Target="/ppt/notesMasters/notesMaster1.xml" Id="R0aca7a00a88d4f3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9ce9f51a6b94f7e" /><Relationship Type="http://schemas.openxmlformats.org/officeDocument/2006/relationships/notesMaster" Target="/ppt/notesMasters/notesMaster1.xml" Id="R376523122b9d42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今回は、各月から曜日構成を揃えた1週間を選び、12週間の運用を比較した結果を報告します。12週すべての物理・会計検証が完了しました。一方、最適性や季節全体への一般化はまだ主張しません。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研究の目的は前回と共通です。便を欠かさず運行する制約の下で、車種の担当と充電・電源の使い方を考えます。今回の受電200 kWは有料超過を許す契約基準であり、物理的な上限ではありません。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回は高PV・低PVの一日比較でした。今回は2025年の各月から1週を選び、全便運行と電力・会計の整合を週間単位で確認しています。前回のSOC不一致を含む古い数値は、新しい結果へ混ぜていません。BESSの終端条件と受電超過の扱いが変わったことも明示しま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平性として揃えたのは曜日構成と運行・設備条件です。各月の最初の、祝日を含まない月内完結の月曜から日曜を選びました。年末年始や祝日がある月は後の週になります。同じ便原本、1,704便、営業便の代理距離13,925.43 kmを確認しました。</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入力はBEV35台とICE25台ですが、毎週全60台を使うことを強制していません。15分で計算し、1時間ごとに残りの充電を更新します。BEVは週末の残量復元を守り、BESSは最低残量を守る条件です。両者を同じ終端条件として説明しないことが大切で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1は便の担当を決める配車側の探索です。Stage 2はその配車に対する充電・PV・蓄電池の計画を求めます。その後、毎時残りの充電計画を更新し、実際のPVを反映して先頭1時間だけを採用します。最後に168時間の計画全体と費用を独立に検算します。前回の22案比較と同じ実験ではあり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週すべてで168時間の更新と672区間の実行が完了しました。物理検証では未担当便、時間重複、SOC上下限、充電器の容量や同時利用などを検査しています。確定費用と日別台帳の差は1e-6円以内です。旧版で成功した週は流用せず、同じ固定版で全12週を実行しました。</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7月は選択12週で最も発電が多い一方、14.1 MWh程度を抑制しています。3月は発電14.9 MWhで最少でした。発電量だけで費用を説明せず、いつ使えるか、どれだけ蓄電池へ回るかを見ます。抑制の原因を設備容量だけに断定することはできません。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購入量は3月が最多、7月が最少で、差は約6,048 kWhです。月によってピークの違いもあり、購入量が少なければ必ずピークが小さいという関係ではありません。3月の最大ピークがいつ発生したかは補足21ページで確認します。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は総費用で、約422万円から466万円です。大部分は車両使用費なので、右の使用費以外の内訳も示しました。3月は契約超過費が大きく、11月や12月は電力費も増えています。係数が一定でも、使用車両日数が205と206で2万円変わる点に注意しま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夏は選択3週の平均購入量と費用が最も低く、PV抑制率は最も高い結果です。春は3月の大きな費用とピークの影響を受けています。冬も2月の購入量が少なく、季節内のばらつきがあります。そのため季節の平均だけで順位を一般化し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費用最大の3月と最小の7月は、どちらも車両使用費412万円です。総費用差44.6万円は電力・燃料・CO2・契約超過費の差で説明できます。3月の超過料金は約27万円で、車両使用費を除いた費用の半分を占めます。PVだけの効果を分けるには、同じ配車などを固定した追加比較が必要で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点は1時間に発電・購入した電力量です。1週間の始めを0時間とし、24時間ごとに日が変わります。3月には開始直後に購入が集中し、7月には日中の発電量が大きい日が並びます。この図だけで充電集中の原因や最適な設備容量を断定し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3月と7月のBESS残量を同じ軸で示しています。上下限は守っていますが、終端は初期より低くなっています。各週を同じ初期残量から独立に開始しているため、毎週同じ在庫を無料で取り出せるような年間計算はできません。連続運用や始終端一致は今後の検証条件で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週の使用台数は毎日使用した台数の合計とは異なります。週に一度でも使用した車両は32台ですが、使用車両日数は205または206です。BEV担当便は1539便から1571便で月ごとに違います。前回の28台と21台という一日比較を今回の結果へ流用してい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前日処理の時間は各ケースsummaryのday_ahead_secondsを用いました。これはsolver内部時間だけを意味しません。Stage 1のgapは目標10%に届いておらず、得られた実行可能解を比較している状態です。12週を完走したことと、最適性を証明したことは別です。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つの大きな制限があります。第一に月1週のため天候の偏りがあり、3月は月平均より日射が35.2%少ない週です。第二に気温による空調負荷が未入力で、2026年時刻表を使う診断です。第三に初期BESS在庫と費用範囲、最適性未達があるため、年間費用や設備採算にそのまま拡張でき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成果は、12週すべてで物理と会計を確認した運用比較を得られたことです。夏は買電が少ない一方でPV抑制が大きく、3月は受電集中と超過費が目立ちます。まず同じ気象・配車を固定し、受電ピークと充電時刻を変える比較を行うと、その効果を切り分けられます。BESS終端条件と連続運用、比較週数の拡充、最適性の改善は別に検証しま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質問時に月別の数値を確認するための表です。費用の合計には車両使用費、電力、燃料、CO2、契約超過を含みます。台日は日ごとの使用台数の合計です。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質問時に月別の数値を確認するための表です。費用の合計には車両使用費、電力、燃料、CO2、契約超過を含みます。台日は日ごとの使用台数の合計です。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月の最大ピークは昼ではなく、初日の1時15分です。この15分には10台が正の電力で充電し、全量を系統から購入していました。BESSが放電しなかった事実は確認できますが、その理由を容量不足や帰庫時刻と断定してはいけません。元の制約と他の候補を比較して原因を調べる必要がありま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日充電はMethod1、毎時はMethod0とし、どの月も同じ規則を使いました。両方MIPFocus1、PresolveとAggregateは0、制約と整数の許容値は1e-9です。これらは数値求解の設定で、物理制約を緩めたものではありません。旧版の1〜10月や1〜7月の成功週は今回の集計には混ぜていません。</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Vは電気バス、ICEはエンジンバス、BESSは定置用蓄電池です。PV利用は直接充電とBESS充電の和で、BESS放電を再加算しません。前回資料に掲載された先行研究の数値は今回の実験と条件が異なるので、この資料では直接比較していません。原本へのリンクは下記と各ページのノートに記載しています。</a:t>
            </a:r>
          </a:p>
          <a:p xmlns:a="http://schemas.openxmlformats.org/drawingml/2006/main">
            <a:r>
              <a:t/>
            </a:r>
          </a:p>
          <a:p xmlns:a="http://schemas.openxmlformats.org/drawingml/2006/main">
            <a:r>
              <a:t>出典：docs/notes/SHIBU21_23_MONTHLY_PHASE_SEARCH_RESULTS_20260915.json。固定ソースSHA 7c7c2334040d54722d2f1c354634269d35f8d1de。各週の最終費用は rolling_hourly_chain/executed_day_accounting.json。原本パスとSHAは同JSONのsource_evidence、追加集計：tmp/monthly_progress_20260915/evidence.json。月1週を選んだ記述的な診断比較であり、研究採用はBLOCKED。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c4b61e31f0455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674c0fec084e7f" /><Relationship Type="http://schemas.openxmlformats.org/officeDocument/2006/relationships/slideLayout" Target="/ppt/slideLayouts/slideLayout1.xml" Id="Ra92a2e8af1af4ed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2a2e8af1af4ed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795bade0fa49f9" /><Relationship Type="http://schemas.openxmlformats.org/officeDocument/2006/relationships/image" Target="/ppt/media/image.png" Id="R67abf520429b4761" /><Relationship Type="http://schemas.openxmlformats.org/officeDocument/2006/relationships/image" Target="/ppt/media/image2.png" Id="R3d425215e2e64779" /><Relationship Type="http://schemas.openxmlformats.org/officeDocument/2006/relationships/image" Target="/ppt/media/image3.png" Id="Rf6480d9d2048443d" /><Relationship Type="http://schemas.openxmlformats.org/officeDocument/2006/relationships/notesSlide" Target="/ppt/notesSlides/notesSlide1.xml" Id="Rfa6d29901d5d45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66775fe6b54a5c" /><Relationship Type="http://schemas.openxmlformats.org/officeDocument/2006/relationships/image" Target="/ppt/media/image2.png" Id="R1bc5227b556a4d10" /><Relationship Type="http://schemas.openxmlformats.org/officeDocument/2006/relationships/image" Target="/ppt/media/image4.png" Id="R86f522f776ab435b" /><Relationship Type="http://schemas.openxmlformats.org/officeDocument/2006/relationships/image" Target="/ppt/media/image.png" Id="R6165e40b1c4c4c80" /><Relationship Type="http://schemas.openxmlformats.org/officeDocument/2006/relationships/notesSlide" Target="/ppt/notesSlides/notesSlide2.xml" Id="R818ba3d0a0c741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18b62e7e494a53" /><Relationship Type="http://schemas.openxmlformats.org/officeDocument/2006/relationships/notesSlide" Target="/ppt/notesSlides/notesSlide3.xml" Id="R3953c91dd4b640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6ed169e4a540bc" /><Relationship Type="http://schemas.openxmlformats.org/officeDocument/2006/relationships/notesSlide" Target="/ppt/notesSlides/notesSlide4.xml" Id="R3bc748f316ab41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66885b32944a2f" /><Relationship Type="http://schemas.openxmlformats.org/officeDocument/2006/relationships/notesSlide" Target="/ppt/notesSlides/notesSlide5.xml" Id="Rccf1e3319c464b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69a411faab4be6" /><Relationship Type="http://schemas.openxmlformats.org/officeDocument/2006/relationships/notesSlide" Target="/ppt/notesSlides/notesSlide6.xml" Id="Rd42056117aa845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f24de0a8cb43ef" /><Relationship Type="http://schemas.openxmlformats.org/officeDocument/2006/relationships/notesSlide" Target="/ppt/notesSlides/notesSlide7.xml" Id="Ra095f8b256454e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57bb7d41824b13" /><Relationship Type="http://schemas.openxmlformats.org/officeDocument/2006/relationships/chart" Target="/ppt/slides/charts/chart1.xml" Id="R33259a8633d24822" /><Relationship Type="http://schemas.openxmlformats.org/officeDocument/2006/relationships/notesSlide" Target="/ppt/notesSlides/notesSlide8.xml" Id="R18b31ce07c3447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4108bd6d2e443b" /><Relationship Type="http://schemas.openxmlformats.org/officeDocument/2006/relationships/chart" Target="/ppt/slides/charts/chart2.xml" Id="R6e9209bbbe8f4467" /><Relationship Type="http://schemas.openxmlformats.org/officeDocument/2006/relationships/chart" Target="/ppt/slides/charts/chart3.xml" Id="Rf8f6587671434e71" /><Relationship Type="http://schemas.openxmlformats.org/officeDocument/2006/relationships/notesSlide" Target="/ppt/notesSlides/notesSlide9.xml" Id="Rc5009b9c7d6b4e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ec91696b014d42" /><Relationship Type="http://schemas.openxmlformats.org/officeDocument/2006/relationships/chart" Target="/ppt/slides/charts/chart4.xml" Id="R9bf2c8e434c6443e" /><Relationship Type="http://schemas.openxmlformats.org/officeDocument/2006/relationships/chart" Target="/ppt/slides/charts/chart5.xml" Id="Ra759de4eb1744dd4" /><Relationship Type="http://schemas.openxmlformats.org/officeDocument/2006/relationships/notesSlide" Target="/ppt/notesSlides/notesSlide10.xml" Id="R27939ee90b204f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819062229e74029" /><Relationship Type="http://schemas.openxmlformats.org/officeDocument/2006/relationships/notesSlide" Target="/ppt/notesSlides/notesSlide11.xml" Id="R7acd9f1807e64a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9632833cf14a95" /><Relationship Type="http://schemas.openxmlformats.org/officeDocument/2006/relationships/notesSlide" Target="/ppt/notesSlides/notesSlide12.xml" Id="Rff20bf266a2b47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9a18f3051f84ba1" /><Relationship Type="http://schemas.openxmlformats.org/officeDocument/2006/relationships/chart" Target="/ppt/slides/charts/chart6.xml" Id="Rce8048f93863466b" /><Relationship Type="http://schemas.openxmlformats.org/officeDocument/2006/relationships/chart" Target="/ppt/slides/charts/chart7.xml" Id="R2ac3ffb8ca884442" /><Relationship Type="http://schemas.openxmlformats.org/officeDocument/2006/relationships/notesSlide" Target="/ppt/notesSlides/notesSlide13.xml" Id="Rbdcc551454324d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587adf5470044f9" /><Relationship Type="http://schemas.openxmlformats.org/officeDocument/2006/relationships/chart" Target="/ppt/slides/charts/chart8.xml" Id="Rd2197ed069424921" /><Relationship Type="http://schemas.openxmlformats.org/officeDocument/2006/relationships/notesSlide" Target="/ppt/notesSlides/notesSlide14.xml" Id="Rc99f46e1d7404d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428a7a3c8314eba" /><Relationship Type="http://schemas.openxmlformats.org/officeDocument/2006/relationships/chart" Target="/ppt/slides/charts/chart9.xml" Id="R17a5148947f142c8" /><Relationship Type="http://schemas.openxmlformats.org/officeDocument/2006/relationships/chart" Target="/ppt/slides/charts/chart10.xml" Id="Rb86612e30ea04f2d" /><Relationship Type="http://schemas.openxmlformats.org/officeDocument/2006/relationships/notesSlide" Target="/ppt/notesSlides/notesSlide15.xml" Id="Ra91292c8cf1049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184dd7dc644ce0" /><Relationship Type="http://schemas.openxmlformats.org/officeDocument/2006/relationships/chart" Target="/ppt/slides/charts/chart11.xml" Id="Rd616f9713af949c5" /><Relationship Type="http://schemas.openxmlformats.org/officeDocument/2006/relationships/notesSlide" Target="/ppt/notesSlides/notesSlide16.xml" Id="Rc007d5430bf6490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b31ed74e8d4fad" /><Relationship Type="http://schemas.openxmlformats.org/officeDocument/2006/relationships/notesSlide" Target="/ppt/notesSlides/notesSlide17.xml" Id="R95618eeba6ba4f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f1a47d039ae4531" /><Relationship Type="http://schemas.openxmlformats.org/officeDocument/2006/relationships/notesSlide" Target="/ppt/notesSlides/notesSlide18.xml" Id="R3bc454e700cd484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a39a48211884e50" /><Relationship Type="http://schemas.openxmlformats.org/officeDocument/2006/relationships/notesSlide" Target="/ppt/notesSlides/notesSlide19.xml" Id="Rcb8b33125eb74eb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952c18d8a2d4782" /><Relationship Type="http://schemas.openxmlformats.org/officeDocument/2006/relationships/notesSlide" Target="/ppt/notesSlides/notesSlide20.xml" Id="R1dac047deff7422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6f47442c747415a" /><Relationship Type="http://schemas.openxmlformats.org/officeDocument/2006/relationships/chart" Target="/ppt/slides/charts/chart12.xml" Id="R3a36e1050b3d4d7a" /><Relationship Type="http://schemas.openxmlformats.org/officeDocument/2006/relationships/notesSlide" Target="/ppt/notesSlides/notesSlide21.xml" Id="Rb9ce20691f5d4a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030de07f9e64f17" /><Relationship Type="http://schemas.openxmlformats.org/officeDocument/2006/relationships/notesSlide" Target="/ppt/notesSlides/notesSlide22.xml" Id="R74fb649b17fa463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2f421d176554536" /><Relationship Type="http://schemas.openxmlformats.org/officeDocument/2006/relationships/notesSlide" Target="/ppt/notesSlides/notesSlide23.xml" Id="Rfb5437f4dce849a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PV発電の行き先</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stacked"/>
        <c:varyColors val="0"/>
        <c:ser>
          <c:idx val="0"/>
          <c:order val="0"/>
          <c:tx>
            <c:v>バスへ直接</c:v>
          </c:tx>
          <c:spPr>
            <a:solidFill xmlns:a="http://schemas.openxmlformats.org/drawingml/2006/main">
              <a:srgbClr val="159A8C"/>
            </a:solidFill>
            <a:ln xmlns:a="http://schemas.openxmlformats.org/drawingml/2006/main" w="0">
              <a:solidFill>
                <a:srgbClr val="159A8C"/>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2.101061</c:v>
                </c:pt>
                <c:pt idx="1">
                  <c:v>1.892601</c:v>
                </c:pt>
                <c:pt idx="2">
                  <c:v>2.428499</c:v>
                </c:pt>
                <c:pt idx="3">
                  <c:v>1.293491</c:v>
                </c:pt>
                <c:pt idx="4">
                  <c:v>2.905971</c:v>
                </c:pt>
                <c:pt idx="5">
                  <c:v>3.000981</c:v>
                </c:pt>
                <c:pt idx="6">
                  <c:v>2.261012</c:v>
                </c:pt>
                <c:pt idx="7">
                  <c:v>2.149493</c:v>
                </c:pt>
                <c:pt idx="8">
                  <c:v>2.768442</c:v>
                </c:pt>
                <c:pt idx="9">
                  <c:v>2.620937</c:v>
                </c:pt>
                <c:pt idx="10">
                  <c:v>2.431497</c:v>
                </c:pt>
                <c:pt idx="11">
                  <c:v>2.115791</c:v>
                </c:pt>
              </c:numCache>
            </c:numRef>
          </c:val>
        </c:ser>
        <c:ser>
          <c:idx val="1"/>
          <c:order val="1"/>
          <c:tx>
            <c:v>BESSへ充電</c:v>
          </c:tx>
          <c:spPr>
            <a:solidFill xmlns:a="http://schemas.openxmlformats.org/drawingml/2006/main">
              <a:srgbClr val="8BBDA8"/>
            </a:solidFill>
            <a:ln xmlns:a="http://schemas.openxmlformats.org/drawingml/2006/main" w="0">
              <a:solidFill>
                <a:srgbClr val="8BBDA8"/>
              </a:solidFill>
            </a:ln>
          </c:spPr>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11.55901</c:v>
                </c:pt>
                <c:pt idx="1">
                  <c:v>15.702212</c:v>
                </c:pt>
                <c:pt idx="2">
                  <c:v>8.824333</c:v>
                </c:pt>
                <c:pt idx="3">
                  <c:v>15.488135</c:v>
                </c:pt>
                <c:pt idx="4">
                  <c:v>12.5291</c:v>
                </c:pt>
                <c:pt idx="5">
                  <c:v>13.728068</c:v>
                </c:pt>
                <c:pt idx="6">
                  <c:v>15.635233</c:v>
                </c:pt>
                <c:pt idx="7">
                  <c:v>14.715045</c:v>
                </c:pt>
                <c:pt idx="8">
                  <c:v>13.06038</c:v>
                </c:pt>
                <c:pt idx="9">
                  <c:v>12.453913</c:v>
                </c:pt>
                <c:pt idx="10">
                  <c:v>9.482467</c:v>
                </c:pt>
                <c:pt idx="11">
                  <c:v>11.403618</c:v>
                </c:pt>
              </c:numCache>
            </c:numRef>
          </c:val>
        </c:ser>
        <c:ser>
          <c:idx val="2"/>
          <c:order val="2"/>
          <c:tx>
            <c:v>抑制</c:v>
          </c:tx>
          <c:spPr>
            <a:solidFill xmlns:a="http://schemas.openxmlformats.org/drawingml/2006/main">
              <a:srgbClr val="D0CEC7"/>
            </a:solidFill>
            <a:ln xmlns:a="http://schemas.openxmlformats.org/drawingml/2006/main" w="0">
              <a:solidFill>
                <a:srgbClr val="D0CEC7"/>
              </a:solidFill>
            </a:ln>
          </c:spPr>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2.043466</c:v>
                </c:pt>
                <c:pt idx="1">
                  <c:v>3.745924</c:v>
                </c:pt>
                <c:pt idx="2">
                  <c:v>3.603043</c:v>
                </c:pt>
                <c:pt idx="3">
                  <c:v>9.571986</c:v>
                </c:pt>
                <c:pt idx="4">
                  <c:v>11.188841</c:v>
                </c:pt>
                <c:pt idx="5">
                  <c:v>14.844202</c:v>
                </c:pt>
                <c:pt idx="6">
                  <c:v>14.130055</c:v>
                </c:pt>
                <c:pt idx="7">
                  <c:v>13.673199</c:v>
                </c:pt>
                <c:pt idx="8">
                  <c:v>11.949603</c:v>
                </c:pt>
                <c:pt idx="9">
                  <c:v>2.194175</c:v>
                </c:pt>
                <c:pt idx="10">
                  <c:v>3.933224</c:v>
                </c:pt>
                <c:pt idx="11">
                  <c:v>2.076178</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ctr"/>
          <c:showLegendKey val="0"/>
          <c:showVal val="0"/>
          <c:showCatName val="0"/>
          <c:showSerName val="0"/>
          <c:showPercent val="0"/>
          <c:showBubbleSize val="0"/>
          <c:showLeaderLines val="0"/>
        </c:dLbls>
        <c:gapWidth val="6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4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MWh／選択週</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購入電力量</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clustered"/>
        <c:varyColors val="0"/>
        <c:ser>
          <c:idx val="0"/>
          <c:order val="0"/>
          <c:tx>
            <c:v>系統購入</c:v>
          </c:tx>
          <c:spPr>
            <a:solidFill xmlns:a="http://schemas.openxmlformats.org/drawingml/2006/main">
              <a:srgbClr val="316DB6"/>
            </a:solidFill>
            <a:ln xmlns:a="http://schemas.openxmlformats.org/drawingml/2006/main" w="0">
              <a:solidFill>
                <a:srgbClr val="316DB6"/>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5.621675</c:v>
                </c:pt>
                <c:pt idx="1">
                  <c:v>2.123523</c:v>
                </c:pt>
                <c:pt idx="2">
                  <c:v>7.794056</c:v>
                </c:pt>
                <c:pt idx="3">
                  <c:v>2.70669</c:v>
                </c:pt>
                <c:pt idx="4">
                  <c:v>3.981889</c:v>
                </c:pt>
                <c:pt idx="5">
                  <c:v>2.804812</c:v>
                </c:pt>
                <c:pt idx="6">
                  <c:v>1.74637</c:v>
                </c:pt>
                <c:pt idx="7">
                  <c:v>2.723825</c:v>
                </c:pt>
                <c:pt idx="8">
                  <c:v>3.619456</c:v>
                </c:pt>
                <c:pt idx="9">
                  <c:v>4.29415</c:v>
                </c:pt>
                <c:pt idx="10">
                  <c:v>7.302402</c:v>
                </c:pt>
                <c:pt idx="11">
                  <c:v>5.695416</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outEnd"/>
          <c:showLegendKey val="0"/>
          <c:showVal val="0"/>
          <c:showCatName val="0"/>
          <c:showSerName val="0"/>
          <c:showPercent val="0"/>
          <c:showBubbleSize val="0"/>
          <c:showLeaderLines val="0"/>
        </c:dLbls>
        <c:gapWidth val="6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9"/>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MWh／選択週</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最大15分平均受電</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clustered"/>
        <c:varyColors val="0"/>
        <c:ser>
          <c:idx val="0"/>
          <c:order val="0"/>
          <c:tx>
            <c:v>受電ピーク</c:v>
          </c:tx>
          <c:spPr>
            <a:solidFill xmlns:a="http://schemas.openxmlformats.org/drawingml/2006/main">
              <a:srgbClr val="316DB6"/>
            </a:solidFill>
            <a:ln xmlns:a="http://schemas.openxmlformats.org/drawingml/2006/main" w="0">
              <a:solidFill>
                <a:srgbClr val="316DB6"/>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256.786</c:v>
                </c:pt>
                <c:pt idx="1">
                  <c:v>200</c:v>
                </c:pt>
                <c:pt idx="2">
                  <c:v>849.4416</c:v>
                </c:pt>
                <c:pt idx="3">
                  <c:v>420.0001</c:v>
                </c:pt>
                <c:pt idx="4">
                  <c:v>358.573</c:v>
                </c:pt>
                <c:pt idx="5">
                  <c:v>244.106036</c:v>
                </c:pt>
                <c:pt idx="6">
                  <c:v>227.008</c:v>
                </c:pt>
                <c:pt idx="7">
                  <c:v>419.9999</c:v>
                </c:pt>
                <c:pt idx="8">
                  <c:v>270</c:v>
                </c:pt>
                <c:pt idx="9">
                  <c:v>209.643</c:v>
                </c:pt>
                <c:pt idx="10">
                  <c:v>234.781274</c:v>
                </c:pt>
                <c:pt idx="11">
                  <c:v>263.706838</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outEnd"/>
          <c:showLegendKey val="0"/>
          <c:showVal val="0"/>
          <c:showCatName val="0"/>
          <c:showSerName val="0"/>
          <c:showPercent val="0"/>
          <c:showBubbleSize val="0"/>
          <c:showLeaderLines val="0"/>
        </c:dLbls>
        <c:gapWidth val="6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確定週間費用</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clustered"/>
        <c:varyColors val="0"/>
        <c:ser>
          <c:idx val="0"/>
          <c:order val="0"/>
          <c:tx>
            <c:v>総費用</c:v>
          </c:tx>
          <c:spPr>
            <a:solidFill xmlns:a="http://schemas.openxmlformats.org/drawingml/2006/main">
              <a:srgbClr val="316DB6"/>
            </a:solidFill>
            <a:ln xmlns:a="http://schemas.openxmlformats.org/drawingml/2006/main" w="0">
              <a:solidFill>
                <a:srgbClr val="316DB6"/>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431.625383</c:v>
                </c:pt>
                <c:pt idx="1">
                  <c:v>422.273453</c:v>
                </c:pt>
                <c:pt idx="2">
                  <c:v>466.450252</c:v>
                </c:pt>
                <c:pt idx="3">
                  <c:v>437.826934</c:v>
                </c:pt>
                <c:pt idx="4">
                  <c:v>434.427784</c:v>
                </c:pt>
                <c:pt idx="5">
                  <c:v>424.832492</c:v>
                </c:pt>
                <c:pt idx="6">
                  <c:v>421.856855</c:v>
                </c:pt>
                <c:pt idx="7">
                  <c:v>439.175364</c:v>
                </c:pt>
                <c:pt idx="8">
                  <c:v>432.085366</c:v>
                </c:pt>
                <c:pt idx="9">
                  <c:v>426.927017</c:v>
                </c:pt>
                <c:pt idx="10">
                  <c:v>442.460199</c:v>
                </c:pt>
                <c:pt idx="11">
                  <c:v>444.218729</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outEnd"/>
          <c:showLegendKey val="0"/>
          <c:showVal val="0"/>
          <c:showCatName val="0"/>
          <c:showSerName val="0"/>
          <c:showPercent val="0"/>
          <c:showBubbleSize val="0"/>
          <c:showLeaderLines val="0"/>
        </c:dLbls>
        <c:gapWidth val="6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52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万円／選択週</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車両使用費以外</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stacked"/>
        <c:varyColors val="0"/>
        <c:ser>
          <c:idx val="0"/>
          <c:order val="0"/>
          <c:tx>
            <c:v>電力</c:v>
          </c:tx>
          <c:spPr>
            <a:solidFill xmlns:a="http://schemas.openxmlformats.org/drawingml/2006/main">
              <a:srgbClr val="316DB6"/>
            </a:solidFill>
            <a:ln xmlns:a="http://schemas.openxmlformats.org/drawingml/2006/main" w="0">
              <a:solidFill>
                <a:srgbClr val="316DB6"/>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16.865026</c:v>
                </c:pt>
                <c:pt idx="1">
                  <c:v>6.37057</c:v>
                </c:pt>
                <c:pt idx="2">
                  <c:v>23.382169</c:v>
                </c:pt>
                <c:pt idx="3">
                  <c:v>8.120071</c:v>
                </c:pt>
                <c:pt idx="4">
                  <c:v>11.945668</c:v>
                </c:pt>
                <c:pt idx="5">
                  <c:v>8.414436</c:v>
                </c:pt>
                <c:pt idx="6">
                  <c:v>5.239109</c:v>
                </c:pt>
                <c:pt idx="7">
                  <c:v>8.171475</c:v>
                </c:pt>
                <c:pt idx="8">
                  <c:v>10.858367</c:v>
                </c:pt>
                <c:pt idx="9">
                  <c:v>12.882449</c:v>
                </c:pt>
                <c:pt idx="10">
                  <c:v>21.907206</c:v>
                </c:pt>
                <c:pt idx="11">
                  <c:v>17.086247</c:v>
                </c:pt>
              </c:numCache>
            </c:numRef>
          </c:val>
        </c:ser>
        <c:ser>
          <c:idx val="1"/>
          <c:order val="1"/>
          <c:tx>
            <c:v>燃料</c:v>
          </c:tx>
          <c:spPr>
            <a:solidFill xmlns:a="http://schemas.openxmlformats.org/drawingml/2006/main">
              <a:srgbClr val="BD9544"/>
            </a:solidFill>
            <a:ln xmlns:a="http://schemas.openxmlformats.org/drawingml/2006/main" w="0">
              <a:solidFill>
                <a:srgbClr val="BD9544"/>
              </a:solidFill>
            </a:ln>
          </c:spPr>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3.631788</c:v>
                </c:pt>
                <c:pt idx="1">
                  <c:v>3.738522</c:v>
                </c:pt>
                <c:pt idx="2">
                  <c:v>3.595495</c:v>
                </c:pt>
                <c:pt idx="3">
                  <c:v>4.224908</c:v>
                </c:pt>
                <c:pt idx="4">
                  <c:v>3.646951</c:v>
                </c:pt>
                <c:pt idx="5">
                  <c:v>3.646951</c:v>
                </c:pt>
                <c:pt idx="6">
                  <c:v>3.852787</c:v>
                </c:pt>
                <c:pt idx="7">
                  <c:v>3.684194</c:v>
                </c:pt>
                <c:pt idx="8">
                  <c:v>3.783661</c:v>
                </c:pt>
                <c:pt idx="9">
                  <c:v>3.631788</c:v>
                </c:pt>
                <c:pt idx="10">
                  <c:v>3.53038</c:v>
                </c:pt>
                <c:pt idx="11">
                  <c:v>3.842427</c:v>
                </c:pt>
              </c:numCache>
            </c:numRef>
          </c:val>
        </c:ser>
        <c:ser>
          <c:idx val="2"/>
          <c:order val="2"/>
          <c:tx>
            <c:v>CO₂</c:v>
          </c:tx>
          <c:spPr>
            <a:solidFill xmlns:a="http://schemas.openxmlformats.org/drawingml/2006/main">
              <a:srgbClr val="8FA57A"/>
            </a:solidFill>
            <a:ln xmlns:a="http://schemas.openxmlformats.org/drawingml/2006/main" w="0">
              <a:solidFill>
                <a:srgbClr val="8FA57A"/>
              </a:solidFill>
            </a:ln>
          </c:spPr>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0.337532</c:v>
                </c:pt>
                <c:pt idx="1">
                  <c:v>0.164361</c:v>
                </c:pt>
                <c:pt idx="2">
                  <c:v>0.446915</c:v>
                </c:pt>
                <c:pt idx="3">
                  <c:v>0.203483</c:v>
                </c:pt>
                <c:pt idx="4">
                  <c:v>0.254877</c:v>
                </c:pt>
                <c:pt idx="5">
                  <c:v>0.196023</c:v>
                </c:pt>
                <c:pt idx="6">
                  <c:v>0.148246</c:v>
                </c:pt>
                <c:pt idx="7">
                  <c:v>0.193989</c:v>
                </c:pt>
                <c:pt idx="8">
                  <c:v>0.240193</c:v>
                </c:pt>
                <c:pt idx="9">
                  <c:v>0.271155</c:v>
                </c:pt>
                <c:pt idx="10">
                  <c:v>0.420644</c:v>
                </c:pt>
                <c:pt idx="11">
                  <c:v>0.344644</c:v>
                </c:pt>
              </c:numCache>
            </c:numRef>
          </c:val>
        </c:ser>
        <c:ser>
          <c:idx val="3"/>
          <c:order val="3"/>
          <c:tx>
            <c:v>契約超過</c:v>
          </c:tx>
          <c:spPr>
            <a:solidFill xmlns:a="http://schemas.openxmlformats.org/drawingml/2006/main">
              <a:srgbClr val="BA4F50"/>
            </a:solidFill>
            <a:ln xmlns:a="http://schemas.openxmlformats.org/drawingml/2006/main" w="0">
              <a:solidFill>
                <a:srgbClr val="BA4F50"/>
              </a:solidFill>
            </a:ln>
          </c:spPr>
          <c:cat>
            <c:strRef>
              <c:f>'Chart Data'!$G$2:$G$13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Data'!$H$2:$H$13</c:f>
              <c:numCache>
                <c:formatCode>0</c:formatCode>
                <c:ptCount val="12"/>
                <c:pt idx="0">
                  <c:v>0.791038</c:v>
                </c:pt>
                <c:pt idx="1">
                  <c:v>0</c:v>
                </c:pt>
                <c:pt idx="2">
                  <c:v>27.025672</c:v>
                </c:pt>
                <c:pt idx="3">
                  <c:v>13.278471</c:v>
                </c:pt>
                <c:pt idx="4">
                  <c:v>6.580287</c:v>
                </c:pt>
                <c:pt idx="5">
                  <c:v>0.575082</c:v>
                </c:pt>
                <c:pt idx="6">
                  <c:v>0.616713</c:v>
                </c:pt>
                <c:pt idx="7">
                  <c:v>15.125706</c:v>
                </c:pt>
                <c:pt idx="8">
                  <c:v>5.203145</c:v>
                </c:pt>
                <c:pt idx="9">
                  <c:v>0.141625</c:v>
                </c:pt>
                <c:pt idx="10">
                  <c:v>4.601969</c:v>
                </c:pt>
                <c:pt idx="11">
                  <c:v>10.945411</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ctr"/>
          <c:showLegendKey val="0"/>
          <c:showVal val="0"/>
          <c:showCatName val="0"/>
          <c:showSerName val="0"/>
          <c:showPercent val="0"/>
          <c:showBubbleSize val="0"/>
          <c:showLeaderLines val="0"/>
        </c:dLbls>
        <c:gapWidth val="6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6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万円／選択週</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2025-03-03開始週</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scatterChart>
        <c:scatterStyle val="line"/>
        <c:ser>
          <c:idx val="0"/>
          <c:order val="0"/>
          <c:tx>
            <c:v>PV発電</c:v>
          </c:tx>
          <c:spPr>
            <a:ln xmlns:a="http://schemas.openxmlformats.org/drawingml/2006/main" w="19050">
              <a:solidFill>
                <a:srgbClr val="159A8C"/>
              </a:solidFill>
            </a:ln>
          </c:spPr>
          <c:marker>
            <c:symbol val="none"/>
          </c:marker>
          <c:xVal>
            <c:numRef>
              <c:f>'Chart Data'!$A$2:$A$169</c:f>
              <c:numCache>
                <c:formatCode>General</c:formatCode>
                <c:ptCount val="16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numCache>
            </c:numRef>
          </c:xVal>
          <c:yVal>
            <c:numRef>
              <c:f>'Chart Data'!$B$2:$B$169</c:f>
              <c:numCache>
                <c:formatCode>0</c:formatCode>
                <c:ptCount val="168"/>
                <c:pt idx="0">
                  <c:v>0</c:v>
                </c:pt>
                <c:pt idx="1">
                  <c:v>0</c:v>
                </c:pt>
                <c:pt idx="2">
                  <c:v>0</c:v>
                </c:pt>
                <c:pt idx="3">
                  <c:v>0</c:v>
                </c:pt>
                <c:pt idx="4">
                  <c:v>0</c:v>
                </c:pt>
                <c:pt idx="5">
                  <c:v>0</c:v>
                </c:pt>
                <c:pt idx="6">
                  <c:v>2.975</c:v>
                </c:pt>
                <c:pt idx="7">
                  <c:v>26.5625</c:v>
                </c:pt>
                <c:pt idx="8">
                  <c:v>44.8375</c:v>
                </c:pt>
                <c:pt idx="9">
                  <c:v>37.825</c:v>
                </c:pt>
                <c:pt idx="10">
                  <c:v>38.8875</c:v>
                </c:pt>
                <c:pt idx="11">
                  <c:v>98.6</c:v>
                </c:pt>
                <c:pt idx="12">
                  <c:v>57.5875</c:v>
                </c:pt>
                <c:pt idx="13">
                  <c:v>75.8625</c:v>
                </c:pt>
                <c:pt idx="14">
                  <c:v>58.8625</c:v>
                </c:pt>
                <c:pt idx="15">
                  <c:v>70.3375</c:v>
                </c:pt>
                <c:pt idx="16">
                  <c:v>30.8125</c:v>
                </c:pt>
                <c:pt idx="17">
                  <c:v>4.0375</c:v>
                </c:pt>
                <c:pt idx="18">
                  <c:v>0</c:v>
                </c:pt>
                <c:pt idx="19">
                  <c:v>0</c:v>
                </c:pt>
                <c:pt idx="20">
                  <c:v>0</c:v>
                </c:pt>
                <c:pt idx="21">
                  <c:v>0</c:v>
                </c:pt>
                <c:pt idx="22">
                  <c:v>0</c:v>
                </c:pt>
                <c:pt idx="23">
                  <c:v>0</c:v>
                </c:pt>
                <c:pt idx="24">
                  <c:v>0</c:v>
                </c:pt>
                <c:pt idx="25">
                  <c:v>0</c:v>
                </c:pt>
                <c:pt idx="26">
                  <c:v>0</c:v>
                </c:pt>
                <c:pt idx="27">
                  <c:v>0</c:v>
                </c:pt>
                <c:pt idx="28">
                  <c:v>0</c:v>
                </c:pt>
                <c:pt idx="29">
                  <c:v>0</c:v>
                </c:pt>
                <c:pt idx="30">
                  <c:v>15.725</c:v>
                </c:pt>
                <c:pt idx="31">
                  <c:v>75.8625</c:v>
                </c:pt>
                <c:pt idx="32">
                  <c:v>142.375</c:v>
                </c:pt>
                <c:pt idx="33">
                  <c:v>162.5625</c:v>
                </c:pt>
                <c:pt idx="34">
                  <c:v>198.475</c:v>
                </c:pt>
                <c:pt idx="35">
                  <c:v>179.35</c:v>
                </c:pt>
                <c:pt idx="36">
                  <c:v>125.375</c:v>
                </c:pt>
                <c:pt idx="37">
                  <c:v>136.85</c:v>
                </c:pt>
                <c:pt idx="38">
                  <c:v>91.8</c:v>
                </c:pt>
                <c:pt idx="39">
                  <c:v>63.1125</c:v>
                </c:pt>
                <c:pt idx="40">
                  <c:v>23.1625</c:v>
                </c:pt>
                <c:pt idx="41">
                  <c:v>1.9125</c:v>
                </c:pt>
                <c:pt idx="42">
                  <c:v>0</c:v>
                </c:pt>
                <c:pt idx="43">
                  <c:v>0</c:v>
                </c:pt>
                <c:pt idx="44">
                  <c:v>0</c:v>
                </c:pt>
                <c:pt idx="45">
                  <c:v>0</c:v>
                </c:pt>
                <c:pt idx="46">
                  <c:v>0</c:v>
                </c:pt>
                <c:pt idx="47">
                  <c:v>0</c:v>
                </c:pt>
                <c:pt idx="48">
                  <c:v>0</c:v>
                </c:pt>
                <c:pt idx="49">
                  <c:v>0</c:v>
                </c:pt>
                <c:pt idx="50">
                  <c:v>0</c:v>
                </c:pt>
                <c:pt idx="51">
                  <c:v>0</c:v>
                </c:pt>
                <c:pt idx="52">
                  <c:v>0</c:v>
                </c:pt>
                <c:pt idx="53">
                  <c:v>0</c:v>
                </c:pt>
                <c:pt idx="54">
                  <c:v>7.225</c:v>
                </c:pt>
                <c:pt idx="55">
                  <c:v>48.2375</c:v>
                </c:pt>
                <c:pt idx="56">
                  <c:v>115.3875</c:v>
                </c:pt>
                <c:pt idx="57">
                  <c:v>170</c:v>
                </c:pt>
                <c:pt idx="58">
                  <c:v>108.375</c:v>
                </c:pt>
                <c:pt idx="59">
                  <c:v>128.35</c:v>
                </c:pt>
                <c:pt idx="60">
                  <c:v>178.5</c:v>
                </c:pt>
                <c:pt idx="61">
                  <c:v>158.1</c:v>
                </c:pt>
                <c:pt idx="62">
                  <c:v>108.8</c:v>
                </c:pt>
                <c:pt idx="63">
                  <c:v>94.9875</c:v>
                </c:pt>
                <c:pt idx="64">
                  <c:v>39.1</c:v>
                </c:pt>
                <c:pt idx="65">
                  <c:v>3.6125</c:v>
                </c:pt>
                <c:pt idx="66">
                  <c:v>0</c:v>
                </c:pt>
                <c:pt idx="67">
                  <c:v>0</c:v>
                </c:pt>
                <c:pt idx="68">
                  <c:v>0</c:v>
                </c:pt>
                <c:pt idx="69">
                  <c:v>0</c:v>
                </c:pt>
                <c:pt idx="70">
                  <c:v>0</c:v>
                </c:pt>
                <c:pt idx="71">
                  <c:v>0</c:v>
                </c:pt>
                <c:pt idx="72">
                  <c:v>0</c:v>
                </c:pt>
                <c:pt idx="73">
                  <c:v>0</c:v>
                </c:pt>
                <c:pt idx="74">
                  <c:v>0</c:v>
                </c:pt>
                <c:pt idx="75">
                  <c:v>0</c:v>
                </c:pt>
                <c:pt idx="76">
                  <c:v>0</c:v>
                </c:pt>
                <c:pt idx="77">
                  <c:v>0</c:v>
                </c:pt>
                <c:pt idx="78">
                  <c:v>7.4375</c:v>
                </c:pt>
                <c:pt idx="79">
                  <c:v>58.0125</c:v>
                </c:pt>
                <c:pt idx="80">
                  <c:v>105.1875</c:v>
                </c:pt>
                <c:pt idx="81">
                  <c:v>91.8</c:v>
                </c:pt>
                <c:pt idx="82">
                  <c:v>168.0875</c:v>
                </c:pt>
                <c:pt idx="83">
                  <c:v>169.3625</c:v>
                </c:pt>
                <c:pt idx="84">
                  <c:v>178.2875</c:v>
                </c:pt>
                <c:pt idx="85">
                  <c:v>219.9375</c:v>
                </c:pt>
                <c:pt idx="86">
                  <c:v>137.0625</c:v>
                </c:pt>
                <c:pt idx="87">
                  <c:v>98.175</c:v>
                </c:pt>
                <c:pt idx="88">
                  <c:v>28.9</c:v>
                </c:pt>
                <c:pt idx="89">
                  <c:v>2.975</c:v>
                </c:pt>
                <c:pt idx="90">
                  <c:v>0</c:v>
                </c:pt>
                <c:pt idx="91">
                  <c:v>0</c:v>
                </c:pt>
                <c:pt idx="92">
                  <c:v>0</c:v>
                </c:pt>
                <c:pt idx="93">
                  <c:v>0</c:v>
                </c:pt>
                <c:pt idx="94">
                  <c:v>0</c:v>
                </c:pt>
                <c:pt idx="95">
                  <c:v>0</c:v>
                </c:pt>
                <c:pt idx="96">
                  <c:v>0</c:v>
                </c:pt>
                <c:pt idx="97">
                  <c:v>0</c:v>
                </c:pt>
                <c:pt idx="98">
                  <c:v>0</c:v>
                </c:pt>
                <c:pt idx="99">
                  <c:v>0</c:v>
                </c:pt>
                <c:pt idx="100">
                  <c:v>0</c:v>
                </c:pt>
                <c:pt idx="101">
                  <c:v>0</c:v>
                </c:pt>
                <c:pt idx="102">
                  <c:v>38.4625</c:v>
                </c:pt>
                <c:pt idx="103">
                  <c:v>207.1875</c:v>
                </c:pt>
                <c:pt idx="104">
                  <c:v>387.3875</c:v>
                </c:pt>
                <c:pt idx="105">
                  <c:v>536.9875</c:v>
                </c:pt>
                <c:pt idx="106">
                  <c:v>638.35</c:v>
                </c:pt>
                <c:pt idx="107">
                  <c:v>683.825</c:v>
                </c:pt>
                <c:pt idx="108">
                  <c:v>671.5</c:v>
                </c:pt>
                <c:pt idx="109">
                  <c:v>603.7125</c:v>
                </c:pt>
                <c:pt idx="110">
                  <c:v>486.4125</c:v>
                </c:pt>
                <c:pt idx="111">
                  <c:v>331.075</c:v>
                </c:pt>
                <c:pt idx="112">
                  <c:v>153.6375</c:v>
                </c:pt>
                <c:pt idx="113">
                  <c:v>15.725</c:v>
                </c:pt>
                <c:pt idx="114">
                  <c:v>0</c:v>
                </c:pt>
                <c:pt idx="115">
                  <c:v>0</c:v>
                </c:pt>
                <c:pt idx="116">
                  <c:v>0</c:v>
                </c:pt>
                <c:pt idx="117">
                  <c:v>0</c:v>
                </c:pt>
                <c:pt idx="118">
                  <c:v>0</c:v>
                </c:pt>
                <c:pt idx="119">
                  <c:v>0</c:v>
                </c:pt>
                <c:pt idx="120">
                  <c:v>0</c:v>
                </c:pt>
                <c:pt idx="121">
                  <c:v>0</c:v>
                </c:pt>
                <c:pt idx="122">
                  <c:v>0</c:v>
                </c:pt>
                <c:pt idx="123">
                  <c:v>0</c:v>
                </c:pt>
                <c:pt idx="124">
                  <c:v>0</c:v>
                </c:pt>
                <c:pt idx="125">
                  <c:v>0</c:v>
                </c:pt>
                <c:pt idx="126">
                  <c:v>9.1375</c:v>
                </c:pt>
                <c:pt idx="127">
                  <c:v>65.875</c:v>
                </c:pt>
                <c:pt idx="128">
                  <c:v>150.45</c:v>
                </c:pt>
                <c:pt idx="129">
                  <c:v>146.4125</c:v>
                </c:pt>
                <c:pt idx="130">
                  <c:v>151.0875</c:v>
                </c:pt>
                <c:pt idx="131">
                  <c:v>152.3625</c:v>
                </c:pt>
                <c:pt idx="132">
                  <c:v>163.4125</c:v>
                </c:pt>
                <c:pt idx="133">
                  <c:v>87.55</c:v>
                </c:pt>
                <c:pt idx="134">
                  <c:v>119.85</c:v>
                </c:pt>
                <c:pt idx="135">
                  <c:v>144.2875</c:v>
                </c:pt>
                <c:pt idx="136">
                  <c:v>34.2125</c:v>
                </c:pt>
                <c:pt idx="137">
                  <c:v>2.7625</c:v>
                </c:pt>
                <c:pt idx="138">
                  <c:v>0</c:v>
                </c:pt>
                <c:pt idx="139">
                  <c:v>0</c:v>
                </c:pt>
                <c:pt idx="140">
                  <c:v>0</c:v>
                </c:pt>
                <c:pt idx="141">
                  <c:v>0</c:v>
                </c:pt>
                <c:pt idx="142">
                  <c:v>0</c:v>
                </c:pt>
                <c:pt idx="143">
                  <c:v>0</c:v>
                </c:pt>
                <c:pt idx="144">
                  <c:v>0</c:v>
                </c:pt>
                <c:pt idx="145">
                  <c:v>0</c:v>
                </c:pt>
                <c:pt idx="146">
                  <c:v>0</c:v>
                </c:pt>
                <c:pt idx="147">
                  <c:v>0</c:v>
                </c:pt>
                <c:pt idx="148">
                  <c:v>0</c:v>
                </c:pt>
                <c:pt idx="149">
                  <c:v>0</c:v>
                </c:pt>
                <c:pt idx="150">
                  <c:v>25.7125</c:v>
                </c:pt>
                <c:pt idx="151">
                  <c:v>168.3</c:v>
                </c:pt>
                <c:pt idx="152">
                  <c:v>363.375</c:v>
                </c:pt>
                <c:pt idx="153">
                  <c:v>519.35</c:v>
                </c:pt>
                <c:pt idx="154">
                  <c:v>626.45</c:v>
                </c:pt>
                <c:pt idx="155">
                  <c:v>680.2125</c:v>
                </c:pt>
                <c:pt idx="156">
                  <c:v>675.1125</c:v>
                </c:pt>
                <c:pt idx="157">
                  <c:v>611.575</c:v>
                </c:pt>
                <c:pt idx="158">
                  <c:v>496.4</c:v>
                </c:pt>
                <c:pt idx="159">
                  <c:v>334.05</c:v>
                </c:pt>
                <c:pt idx="160">
                  <c:v>164.475</c:v>
                </c:pt>
                <c:pt idx="161">
                  <c:v>19.55</c:v>
                </c:pt>
                <c:pt idx="162">
                  <c:v>0</c:v>
                </c:pt>
                <c:pt idx="163">
                  <c:v>0</c:v>
                </c:pt>
                <c:pt idx="164">
                  <c:v>0</c:v>
                </c:pt>
                <c:pt idx="165">
                  <c:v>0</c:v>
                </c:pt>
                <c:pt idx="166">
                  <c:v>0</c:v>
                </c:pt>
                <c:pt idx="167">
                  <c:v>0</c:v>
                </c:pt>
              </c:numCache>
            </c:numRef>
          </c:yVal>
        </c:ser>
        <c:ser>
          <c:idx val="1"/>
          <c:order val="1"/>
          <c:tx>
            <c:v>系統購入</c:v>
          </c:tx>
          <c:spPr>
            <a:ln xmlns:a="http://schemas.openxmlformats.org/drawingml/2006/main" w="19050">
              <a:solidFill>
                <a:srgbClr val="316DB6"/>
              </a:solidFill>
            </a:ln>
          </c:spPr>
          <c:marker>
            <c:symbol val="none"/>
          </c:marker>
          <c:xVal>
            <c:numRef>
              <c:f>'Chart Data'!$C$2:$C$169</c:f>
              <c:numCache>
                <c:formatCode>General</c:formatCode>
                <c:ptCount val="16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numCache>
            </c:numRef>
          </c:xVal>
          <c:yVal>
            <c:numRef>
              <c:f>'Chart Data'!$D$2:$D$169</c:f>
              <c:numCache>
                <c:formatCode>0</c:formatCode>
                <c:ptCount val="168"/>
                <c:pt idx="0">
                  <c:v>0</c:v>
                </c:pt>
                <c:pt idx="1">
                  <c:v>739.777183</c:v>
                </c:pt>
                <c:pt idx="2">
                  <c:v>0</c:v>
                </c:pt>
                <c:pt idx="3">
                  <c:v>0</c:v>
                </c:pt>
                <c:pt idx="4">
                  <c:v>0</c:v>
                </c:pt>
                <c:pt idx="5">
                  <c:v>0</c:v>
                </c:pt>
                <c:pt idx="6">
                  <c:v>12.76625</c:v>
                </c:pt>
                <c:pt idx="7">
                  <c:v>0</c:v>
                </c:pt>
                <c:pt idx="8">
                  <c:v>0</c:v>
                </c:pt>
                <c:pt idx="9">
                  <c:v>0</c:v>
                </c:pt>
                <c:pt idx="10">
                  <c:v>0</c:v>
                </c:pt>
                <c:pt idx="11">
                  <c:v>0</c:v>
                </c:pt>
                <c:pt idx="12">
                  <c:v>0</c:v>
                </c:pt>
                <c:pt idx="13">
                  <c:v>0</c:v>
                </c:pt>
                <c:pt idx="14">
                  <c:v>0</c:v>
                </c:pt>
                <c:pt idx="15">
                  <c:v>4.804725</c:v>
                </c:pt>
                <c:pt idx="16">
                  <c:v>0</c:v>
                </c:pt>
                <c:pt idx="17">
                  <c:v>0</c:v>
                </c:pt>
                <c:pt idx="18">
                  <c:v>0</c:v>
                </c:pt>
                <c:pt idx="19">
                  <c:v>0</c:v>
                </c:pt>
                <c:pt idx="20">
                  <c:v>0</c:v>
                </c:pt>
                <c:pt idx="21">
                  <c:v>15</c:v>
                </c:pt>
                <c:pt idx="22">
                  <c:v>114.218894</c:v>
                </c:pt>
                <c:pt idx="23">
                  <c:v>67.500025</c:v>
                </c:pt>
                <c:pt idx="24">
                  <c:v>75.000025</c:v>
                </c:pt>
                <c:pt idx="25">
                  <c:v>200</c:v>
                </c:pt>
                <c:pt idx="26">
                  <c:v>50</c:v>
                </c:pt>
                <c:pt idx="27">
                  <c:v>183.315659</c:v>
                </c:pt>
                <c:pt idx="28">
                  <c:v>150</c:v>
                </c:pt>
                <c:pt idx="29">
                  <c:v>34.184316</c:v>
                </c:pt>
                <c:pt idx="30">
                  <c:v>59.2075</c:v>
                </c:pt>
                <c:pt idx="31">
                  <c:v>0</c:v>
                </c:pt>
                <c:pt idx="32">
                  <c:v>0</c:v>
                </c:pt>
                <c:pt idx="33">
                  <c:v>0</c:v>
                </c:pt>
                <c:pt idx="34">
                  <c:v>0</c:v>
                </c:pt>
                <c:pt idx="35">
                  <c:v>0</c:v>
                </c:pt>
                <c:pt idx="36">
                  <c:v>0</c:v>
                </c:pt>
                <c:pt idx="37">
                  <c:v>0</c:v>
                </c:pt>
                <c:pt idx="38">
                  <c:v>0</c:v>
                </c:pt>
                <c:pt idx="39">
                  <c:v>0</c:v>
                </c:pt>
                <c:pt idx="40">
                  <c:v>0</c:v>
                </c:pt>
                <c:pt idx="41">
                  <c:v>0</c:v>
                </c:pt>
                <c:pt idx="42">
                  <c:v>0</c:v>
                </c:pt>
                <c:pt idx="43">
                  <c:v>37.5</c:v>
                </c:pt>
                <c:pt idx="44">
                  <c:v>105</c:v>
                </c:pt>
                <c:pt idx="45">
                  <c:v>117.250777</c:v>
                </c:pt>
                <c:pt idx="46">
                  <c:v>190.000025</c:v>
                </c:pt>
                <c:pt idx="47">
                  <c:v>112.499925</c:v>
                </c:pt>
                <c:pt idx="48">
                  <c:v>176.652354</c:v>
                </c:pt>
                <c:pt idx="49">
                  <c:v>136.800424</c:v>
                </c:pt>
                <c:pt idx="50">
                  <c:v>147.993422</c:v>
                </c:pt>
                <c:pt idx="51">
                  <c:v>200</c:v>
                </c:pt>
                <c:pt idx="52">
                  <c:v>200</c:v>
                </c:pt>
                <c:pt idx="53">
                  <c:v>118.211041</c:v>
                </c:pt>
                <c:pt idx="54">
                  <c:v>64.216871</c:v>
                </c:pt>
                <c:pt idx="55">
                  <c:v>0</c:v>
                </c:pt>
                <c:pt idx="56">
                  <c:v>0</c:v>
                </c:pt>
                <c:pt idx="57">
                  <c:v>0</c:v>
                </c:pt>
                <c:pt idx="58">
                  <c:v>0</c:v>
                </c:pt>
                <c:pt idx="59">
                  <c:v>0</c:v>
                </c:pt>
                <c:pt idx="60">
                  <c:v>0</c:v>
                </c:pt>
                <c:pt idx="61">
                  <c:v>0</c:v>
                </c:pt>
                <c:pt idx="62">
                  <c:v>0</c:v>
                </c:pt>
                <c:pt idx="63">
                  <c:v>3.5875</c:v>
                </c:pt>
                <c:pt idx="64">
                  <c:v>30.397709</c:v>
                </c:pt>
                <c:pt idx="65">
                  <c:v>0</c:v>
                </c:pt>
                <c:pt idx="66">
                  <c:v>0.0001</c:v>
                </c:pt>
                <c:pt idx="67">
                  <c:v>0.0001</c:v>
                </c:pt>
                <c:pt idx="68">
                  <c:v>34.019073</c:v>
                </c:pt>
                <c:pt idx="69">
                  <c:v>97.500075</c:v>
                </c:pt>
                <c:pt idx="70">
                  <c:v>195</c:v>
                </c:pt>
                <c:pt idx="71">
                  <c:v>188.321681</c:v>
                </c:pt>
                <c:pt idx="72">
                  <c:v>161.23265</c:v>
                </c:pt>
                <c:pt idx="73">
                  <c:v>200</c:v>
                </c:pt>
                <c:pt idx="74">
                  <c:v>198.100477</c:v>
                </c:pt>
                <c:pt idx="75">
                  <c:v>200</c:v>
                </c:pt>
                <c:pt idx="76">
                  <c:v>200</c:v>
                </c:pt>
                <c:pt idx="77">
                  <c:v>150</c:v>
                </c:pt>
                <c:pt idx="78">
                  <c:v>108.378459</c:v>
                </c:pt>
                <c:pt idx="79">
                  <c:v>0</c:v>
                </c:pt>
                <c:pt idx="80">
                  <c:v>0</c:v>
                </c:pt>
                <c:pt idx="81">
                  <c:v>0</c:v>
                </c:pt>
                <c:pt idx="82">
                  <c:v>0</c:v>
                </c:pt>
                <c:pt idx="83">
                  <c:v>0</c:v>
                </c:pt>
                <c:pt idx="84">
                  <c:v>0</c:v>
                </c:pt>
                <c:pt idx="85">
                  <c:v>0</c:v>
                </c:pt>
                <c:pt idx="86">
                  <c:v>0</c:v>
                </c:pt>
                <c:pt idx="87">
                  <c:v>6.1125</c:v>
                </c:pt>
                <c:pt idx="88">
                  <c:v>45.4705</c:v>
                </c:pt>
                <c:pt idx="89">
                  <c:v>4.8095</c:v>
                </c:pt>
                <c:pt idx="90">
                  <c:v>0</c:v>
                </c:pt>
                <c:pt idx="91">
                  <c:v>0</c:v>
                </c:pt>
                <c:pt idx="92">
                  <c:v>0</c:v>
                </c:pt>
                <c:pt idx="93">
                  <c:v>45</c:v>
                </c:pt>
                <c:pt idx="94">
                  <c:v>147.5</c:v>
                </c:pt>
                <c:pt idx="95">
                  <c:v>200</c:v>
                </c:pt>
                <c:pt idx="96">
                  <c:v>160.37717</c:v>
                </c:pt>
                <c:pt idx="97">
                  <c:v>200</c:v>
                </c:pt>
                <c:pt idx="98">
                  <c:v>182.14273</c:v>
                </c:pt>
                <c:pt idx="99">
                  <c:v>175.802594</c:v>
                </c:pt>
                <c:pt idx="100">
                  <c:v>150</c:v>
                </c:pt>
                <c:pt idx="101">
                  <c:v>171.161083</c:v>
                </c:pt>
                <c:pt idx="102">
                  <c:v>98.31875</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13.085</c:v>
                </c:pt>
                <c:pt idx="127">
                  <c:v>22.728289</c:v>
                </c:pt>
                <c:pt idx="128">
                  <c:v>15.2</c:v>
                </c:pt>
                <c:pt idx="129">
                  <c:v>0</c:v>
                </c:pt>
                <c:pt idx="130">
                  <c:v>0</c:v>
                </c:pt>
                <c:pt idx="131">
                  <c:v>0</c:v>
                </c:pt>
                <c:pt idx="132">
                  <c:v>0</c:v>
                </c:pt>
                <c:pt idx="133">
                  <c:v>0</c:v>
                </c:pt>
                <c:pt idx="134">
                  <c:v>0</c:v>
                </c:pt>
                <c:pt idx="135">
                  <c:v>0</c:v>
                </c:pt>
                <c:pt idx="136">
                  <c:v>0</c:v>
                </c:pt>
                <c:pt idx="137">
                  <c:v>0</c:v>
                </c:pt>
                <c:pt idx="138">
                  <c:v>0</c:v>
                </c:pt>
                <c:pt idx="139">
                  <c:v>0</c:v>
                </c:pt>
                <c:pt idx="140">
                  <c:v>0</c:v>
                </c:pt>
                <c:pt idx="141">
                  <c:v>52.335155</c:v>
                </c:pt>
                <c:pt idx="142">
                  <c:v>0</c:v>
                </c:pt>
                <c:pt idx="143">
                  <c:v>0</c:v>
                </c:pt>
                <c:pt idx="144">
                  <c:v>110.0002</c:v>
                </c:pt>
                <c:pt idx="145">
                  <c:v>104.730475</c:v>
                </c:pt>
                <c:pt idx="146">
                  <c:v>155.0001</c:v>
                </c:pt>
                <c:pt idx="147">
                  <c:v>150</c:v>
                </c:pt>
                <c:pt idx="148">
                  <c:v>115</c:v>
                </c:pt>
                <c:pt idx="149">
                  <c:v>200</c:v>
                </c:pt>
                <c:pt idx="150">
                  <c:v>113.068434</c:v>
                </c:pt>
                <c:pt idx="151">
                  <c:v>0.77925</c:v>
                </c:pt>
                <c:pt idx="152">
                  <c:v>0</c:v>
                </c:pt>
                <c:pt idx="153">
                  <c:v>0</c:v>
                </c:pt>
                <c:pt idx="154">
                  <c:v>0</c:v>
                </c:pt>
                <c:pt idx="155">
                  <c:v>0</c:v>
                </c:pt>
                <c:pt idx="156">
                  <c:v>0</c:v>
                </c:pt>
                <c:pt idx="157">
                  <c:v>0</c:v>
                </c:pt>
                <c:pt idx="158">
                  <c:v>0</c:v>
                </c:pt>
                <c:pt idx="159">
                  <c:v>0</c:v>
                </c:pt>
                <c:pt idx="160">
                  <c:v>0</c:v>
                </c:pt>
                <c:pt idx="161">
                  <c:v>0</c:v>
                </c:pt>
                <c:pt idx="162">
                  <c:v>0</c:v>
                </c:pt>
                <c:pt idx="163">
                  <c:v>25.353824</c:v>
                </c:pt>
                <c:pt idx="164">
                  <c:v>51.643688</c:v>
                </c:pt>
                <c:pt idx="165">
                  <c:v>0</c:v>
                </c:pt>
                <c:pt idx="166">
                  <c:v>0</c:v>
                </c:pt>
                <c:pt idx="167">
                  <c:v>0</c:v>
                </c:pt>
              </c:numCache>
            </c:numRef>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kWh／1時間</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50112"/>
      </c:valAx>
      <c:valAx>
        <c:axId val="48650112"/>
        <c:scaling>
          <c:orientation val="minMax"/>
          <c:max val="168"/>
          <c:min val="0"/>
        </c:scaling>
        <c:delete val="0"/>
        <c:axPos val="b"/>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週開始からの時間 [h]</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72768"/>
        <c:majorUnit val="2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2025-07-07開始週</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scatterChart>
        <c:scatterStyle val="line"/>
        <c:ser>
          <c:idx val="0"/>
          <c:order val="0"/>
          <c:tx>
            <c:v>PV発電</c:v>
          </c:tx>
          <c:spPr>
            <a:ln xmlns:a="http://schemas.openxmlformats.org/drawingml/2006/main" w="19050">
              <a:solidFill>
                <a:srgbClr val="159A8C"/>
              </a:solidFill>
            </a:ln>
          </c:spPr>
          <c:marker>
            <c:symbol val="none"/>
          </c:marker>
          <c:xVal>
            <c:numRef>
              <c:f>'Chart Data'!$A$2:$A$169</c:f>
              <c:numCache>
                <c:formatCode>General</c:formatCode>
                <c:ptCount val="16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numCache>
            </c:numRef>
          </c:xVal>
          <c:yVal>
            <c:numRef>
              <c:f>'Chart Data'!$B$2:$B$169</c:f>
              <c:numCache>
                <c:formatCode>0</c:formatCode>
                <c:ptCount val="168"/>
                <c:pt idx="0">
                  <c:v>0</c:v>
                </c:pt>
                <c:pt idx="1">
                  <c:v>0</c:v>
                </c:pt>
                <c:pt idx="2">
                  <c:v>0</c:v>
                </c:pt>
                <c:pt idx="3">
                  <c:v>0</c:v>
                </c:pt>
                <c:pt idx="4">
                  <c:v>2.3375</c:v>
                </c:pt>
                <c:pt idx="5">
                  <c:v>34.2125</c:v>
                </c:pt>
                <c:pt idx="6">
                  <c:v>124.95</c:v>
                </c:pt>
                <c:pt idx="7">
                  <c:v>225.4625</c:v>
                </c:pt>
                <c:pt idx="8">
                  <c:v>344.0375</c:v>
                </c:pt>
                <c:pt idx="9">
                  <c:v>443.4875</c:v>
                </c:pt>
                <c:pt idx="10">
                  <c:v>496.4</c:v>
                </c:pt>
                <c:pt idx="11">
                  <c:v>525.9375</c:v>
                </c:pt>
                <c:pt idx="12">
                  <c:v>523.6</c:v>
                </c:pt>
                <c:pt idx="13">
                  <c:v>480.675</c:v>
                </c:pt>
                <c:pt idx="14">
                  <c:v>427.125</c:v>
                </c:pt>
                <c:pt idx="15">
                  <c:v>345.95</c:v>
                </c:pt>
                <c:pt idx="16">
                  <c:v>213.775</c:v>
                </c:pt>
                <c:pt idx="17">
                  <c:v>92.65</c:v>
                </c:pt>
                <c:pt idx="18">
                  <c:v>15.9375</c:v>
                </c:pt>
                <c:pt idx="19">
                  <c:v>0</c:v>
                </c:pt>
                <c:pt idx="20">
                  <c:v>0</c:v>
                </c:pt>
                <c:pt idx="21">
                  <c:v>0</c:v>
                </c:pt>
                <c:pt idx="22">
                  <c:v>0</c:v>
                </c:pt>
                <c:pt idx="23">
                  <c:v>0</c:v>
                </c:pt>
                <c:pt idx="24">
                  <c:v>0</c:v>
                </c:pt>
                <c:pt idx="25">
                  <c:v>0</c:v>
                </c:pt>
                <c:pt idx="26">
                  <c:v>0</c:v>
                </c:pt>
                <c:pt idx="27">
                  <c:v>0</c:v>
                </c:pt>
                <c:pt idx="28">
                  <c:v>2.975</c:v>
                </c:pt>
                <c:pt idx="29">
                  <c:v>60.9875</c:v>
                </c:pt>
                <c:pt idx="30">
                  <c:v>193.8</c:v>
                </c:pt>
                <c:pt idx="31">
                  <c:v>366.775</c:v>
                </c:pt>
                <c:pt idx="32">
                  <c:v>528.0625</c:v>
                </c:pt>
                <c:pt idx="33">
                  <c:v>602.8625</c:v>
                </c:pt>
                <c:pt idx="34">
                  <c:v>703.8</c:v>
                </c:pt>
                <c:pt idx="35">
                  <c:v>764.3625</c:v>
                </c:pt>
                <c:pt idx="36">
                  <c:v>734.825</c:v>
                </c:pt>
                <c:pt idx="37">
                  <c:v>615.1875</c:v>
                </c:pt>
                <c:pt idx="38">
                  <c:v>509.575</c:v>
                </c:pt>
                <c:pt idx="39">
                  <c:v>427.7625</c:v>
                </c:pt>
                <c:pt idx="40">
                  <c:v>277.7375</c:v>
                </c:pt>
                <c:pt idx="41">
                  <c:v>126.225</c:v>
                </c:pt>
                <c:pt idx="42">
                  <c:v>24.4375</c:v>
                </c:pt>
                <c:pt idx="43">
                  <c:v>0</c:v>
                </c:pt>
                <c:pt idx="44">
                  <c:v>0</c:v>
                </c:pt>
                <c:pt idx="45">
                  <c:v>0</c:v>
                </c:pt>
                <c:pt idx="46">
                  <c:v>0</c:v>
                </c:pt>
                <c:pt idx="47">
                  <c:v>0</c:v>
                </c:pt>
                <c:pt idx="48">
                  <c:v>0</c:v>
                </c:pt>
                <c:pt idx="49">
                  <c:v>0</c:v>
                </c:pt>
                <c:pt idx="50">
                  <c:v>0</c:v>
                </c:pt>
                <c:pt idx="51">
                  <c:v>0</c:v>
                </c:pt>
                <c:pt idx="52">
                  <c:v>2.55</c:v>
                </c:pt>
                <c:pt idx="53">
                  <c:v>53.3375</c:v>
                </c:pt>
                <c:pt idx="54">
                  <c:v>160.225</c:v>
                </c:pt>
                <c:pt idx="55">
                  <c:v>347.0125</c:v>
                </c:pt>
                <c:pt idx="56">
                  <c:v>507.6625</c:v>
                </c:pt>
                <c:pt idx="57">
                  <c:v>633.0375</c:v>
                </c:pt>
                <c:pt idx="58">
                  <c:v>685.95</c:v>
                </c:pt>
                <c:pt idx="59">
                  <c:v>750.3375</c:v>
                </c:pt>
                <c:pt idx="60">
                  <c:v>743.325</c:v>
                </c:pt>
                <c:pt idx="61">
                  <c:v>685.1</c:v>
                </c:pt>
                <c:pt idx="62">
                  <c:v>582.8875</c:v>
                </c:pt>
                <c:pt idx="63">
                  <c:v>432.8625</c:v>
                </c:pt>
                <c:pt idx="64">
                  <c:v>282.8375</c:v>
                </c:pt>
                <c:pt idx="65">
                  <c:v>137.9125</c:v>
                </c:pt>
                <c:pt idx="66">
                  <c:v>25.925</c:v>
                </c:pt>
                <c:pt idx="67">
                  <c:v>0</c:v>
                </c:pt>
                <c:pt idx="68">
                  <c:v>0</c:v>
                </c:pt>
                <c:pt idx="69">
                  <c:v>0</c:v>
                </c:pt>
                <c:pt idx="70">
                  <c:v>0</c:v>
                </c:pt>
                <c:pt idx="71">
                  <c:v>0</c:v>
                </c:pt>
                <c:pt idx="72">
                  <c:v>0</c:v>
                </c:pt>
                <c:pt idx="73">
                  <c:v>0</c:v>
                </c:pt>
                <c:pt idx="74">
                  <c:v>0</c:v>
                </c:pt>
                <c:pt idx="75">
                  <c:v>0</c:v>
                </c:pt>
                <c:pt idx="76">
                  <c:v>2.7625</c:v>
                </c:pt>
                <c:pt idx="77">
                  <c:v>76.2875</c:v>
                </c:pt>
                <c:pt idx="78">
                  <c:v>212.7125</c:v>
                </c:pt>
                <c:pt idx="79">
                  <c:v>378.8875</c:v>
                </c:pt>
                <c:pt idx="80">
                  <c:v>527.2125</c:v>
                </c:pt>
                <c:pt idx="81">
                  <c:v>650.8875</c:v>
                </c:pt>
                <c:pt idx="82">
                  <c:v>648.3375</c:v>
                </c:pt>
                <c:pt idx="83">
                  <c:v>634.1</c:v>
                </c:pt>
                <c:pt idx="84">
                  <c:v>697.85</c:v>
                </c:pt>
                <c:pt idx="85">
                  <c:v>620.925</c:v>
                </c:pt>
                <c:pt idx="86">
                  <c:v>525.725</c:v>
                </c:pt>
                <c:pt idx="87">
                  <c:v>276.4625</c:v>
                </c:pt>
                <c:pt idx="88">
                  <c:v>181.9</c:v>
                </c:pt>
                <c:pt idx="89">
                  <c:v>34.85</c:v>
                </c:pt>
                <c:pt idx="90">
                  <c:v>4.25</c:v>
                </c:pt>
                <c:pt idx="91">
                  <c:v>0</c:v>
                </c:pt>
                <c:pt idx="92">
                  <c:v>0</c:v>
                </c:pt>
                <c:pt idx="93">
                  <c:v>0</c:v>
                </c:pt>
                <c:pt idx="94">
                  <c:v>0</c:v>
                </c:pt>
                <c:pt idx="95">
                  <c:v>0</c:v>
                </c:pt>
                <c:pt idx="96">
                  <c:v>0</c:v>
                </c:pt>
                <c:pt idx="97">
                  <c:v>0</c:v>
                </c:pt>
                <c:pt idx="98">
                  <c:v>0</c:v>
                </c:pt>
                <c:pt idx="99">
                  <c:v>0</c:v>
                </c:pt>
                <c:pt idx="100">
                  <c:v>2.55</c:v>
                </c:pt>
                <c:pt idx="101">
                  <c:v>39.3125</c:v>
                </c:pt>
                <c:pt idx="102">
                  <c:v>93.7125</c:v>
                </c:pt>
                <c:pt idx="103">
                  <c:v>158.95</c:v>
                </c:pt>
                <c:pt idx="104">
                  <c:v>211.0125</c:v>
                </c:pt>
                <c:pt idx="105">
                  <c:v>179.5625</c:v>
                </c:pt>
                <c:pt idx="106">
                  <c:v>208.25</c:v>
                </c:pt>
                <c:pt idx="107">
                  <c:v>257.975</c:v>
                </c:pt>
                <c:pt idx="108">
                  <c:v>140.8875</c:v>
                </c:pt>
                <c:pt idx="109">
                  <c:v>135.15</c:v>
                </c:pt>
                <c:pt idx="110">
                  <c:v>153.425</c:v>
                </c:pt>
                <c:pt idx="111">
                  <c:v>172.125</c:v>
                </c:pt>
                <c:pt idx="112">
                  <c:v>102.425</c:v>
                </c:pt>
                <c:pt idx="113">
                  <c:v>52.9125</c:v>
                </c:pt>
                <c:pt idx="114">
                  <c:v>7.0125</c:v>
                </c:pt>
                <c:pt idx="115">
                  <c:v>0</c:v>
                </c:pt>
                <c:pt idx="116">
                  <c:v>0</c:v>
                </c:pt>
                <c:pt idx="117">
                  <c:v>0</c:v>
                </c:pt>
                <c:pt idx="118">
                  <c:v>0</c:v>
                </c:pt>
                <c:pt idx="119">
                  <c:v>0</c:v>
                </c:pt>
                <c:pt idx="120">
                  <c:v>0</c:v>
                </c:pt>
                <c:pt idx="121">
                  <c:v>0</c:v>
                </c:pt>
                <c:pt idx="122">
                  <c:v>0</c:v>
                </c:pt>
                <c:pt idx="123">
                  <c:v>0</c:v>
                </c:pt>
                <c:pt idx="124">
                  <c:v>2.3375</c:v>
                </c:pt>
                <c:pt idx="125">
                  <c:v>57.5875</c:v>
                </c:pt>
                <c:pt idx="126">
                  <c:v>129.4125</c:v>
                </c:pt>
                <c:pt idx="127">
                  <c:v>209.95</c:v>
                </c:pt>
                <c:pt idx="128">
                  <c:v>286.2375</c:v>
                </c:pt>
                <c:pt idx="129">
                  <c:v>266.05</c:v>
                </c:pt>
                <c:pt idx="130">
                  <c:v>237.15</c:v>
                </c:pt>
                <c:pt idx="131">
                  <c:v>260.3125</c:v>
                </c:pt>
                <c:pt idx="132">
                  <c:v>300.9</c:v>
                </c:pt>
                <c:pt idx="133">
                  <c:v>306.2125</c:v>
                </c:pt>
                <c:pt idx="134">
                  <c:v>272.425</c:v>
                </c:pt>
                <c:pt idx="135">
                  <c:v>180.8375</c:v>
                </c:pt>
                <c:pt idx="136">
                  <c:v>104.975</c:v>
                </c:pt>
                <c:pt idx="137">
                  <c:v>49.9375</c:v>
                </c:pt>
                <c:pt idx="138">
                  <c:v>10.4125</c:v>
                </c:pt>
                <c:pt idx="139">
                  <c:v>0</c:v>
                </c:pt>
                <c:pt idx="140">
                  <c:v>0</c:v>
                </c:pt>
                <c:pt idx="141">
                  <c:v>0</c:v>
                </c:pt>
                <c:pt idx="142">
                  <c:v>0</c:v>
                </c:pt>
                <c:pt idx="143">
                  <c:v>0</c:v>
                </c:pt>
                <c:pt idx="144">
                  <c:v>0</c:v>
                </c:pt>
                <c:pt idx="145">
                  <c:v>0</c:v>
                </c:pt>
                <c:pt idx="146">
                  <c:v>0</c:v>
                </c:pt>
                <c:pt idx="147">
                  <c:v>0</c:v>
                </c:pt>
                <c:pt idx="148">
                  <c:v>1.275</c:v>
                </c:pt>
                <c:pt idx="149">
                  <c:v>53.55</c:v>
                </c:pt>
                <c:pt idx="150">
                  <c:v>145.5625</c:v>
                </c:pt>
                <c:pt idx="151">
                  <c:v>294.525</c:v>
                </c:pt>
                <c:pt idx="152">
                  <c:v>427.125</c:v>
                </c:pt>
                <c:pt idx="153">
                  <c:v>573.75</c:v>
                </c:pt>
                <c:pt idx="154">
                  <c:v>648.7625</c:v>
                </c:pt>
                <c:pt idx="155">
                  <c:v>668.1</c:v>
                </c:pt>
                <c:pt idx="156">
                  <c:v>686.5875</c:v>
                </c:pt>
                <c:pt idx="157">
                  <c:v>688.925</c:v>
                </c:pt>
                <c:pt idx="158">
                  <c:v>616.8875</c:v>
                </c:pt>
                <c:pt idx="159">
                  <c:v>494.4875</c:v>
                </c:pt>
                <c:pt idx="160">
                  <c:v>280.7125</c:v>
                </c:pt>
                <c:pt idx="161">
                  <c:v>94.775</c:v>
                </c:pt>
                <c:pt idx="162">
                  <c:v>21.25</c:v>
                </c:pt>
                <c:pt idx="163">
                  <c:v>0</c:v>
                </c:pt>
                <c:pt idx="164">
                  <c:v>0</c:v>
                </c:pt>
                <c:pt idx="165">
                  <c:v>0</c:v>
                </c:pt>
                <c:pt idx="166">
                  <c:v>0</c:v>
                </c:pt>
                <c:pt idx="167">
                  <c:v>0</c:v>
                </c:pt>
              </c:numCache>
            </c:numRef>
          </c:yVal>
        </c:ser>
        <c:ser>
          <c:idx val="1"/>
          <c:order val="1"/>
          <c:tx>
            <c:v>系統購入</c:v>
          </c:tx>
          <c:spPr>
            <a:ln xmlns:a="http://schemas.openxmlformats.org/drawingml/2006/main" w="19050">
              <a:solidFill>
                <a:srgbClr val="316DB6"/>
              </a:solidFill>
            </a:ln>
          </c:spPr>
          <c:marker>
            <c:symbol val="none"/>
          </c:marker>
          <c:xVal>
            <c:numRef>
              <c:f>'Chart Data'!$C$2:$C$169</c:f>
              <c:numCache>
                <c:formatCode>General</c:formatCode>
                <c:ptCount val="16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numCache>
            </c:numRef>
          </c:xVal>
          <c:yVal>
            <c:numRef>
              <c:f>'Chart Data'!$D$2:$D$169</c:f>
              <c:numCache>
                <c:formatCode>0</c:formatCode>
                <c:ptCount val="168"/>
                <c:pt idx="0">
                  <c:v>0</c:v>
                </c:pt>
                <c:pt idx="1">
                  <c:v>0</c:v>
                </c:pt>
                <c:pt idx="2">
                  <c:v>0</c:v>
                </c:pt>
                <c:pt idx="3">
                  <c:v>0</c:v>
                </c:pt>
                <c:pt idx="4">
                  <c:v>0.22975</c:v>
                </c:pt>
                <c:pt idx="5">
                  <c:v>15.293</c:v>
                </c:pt>
                <c:pt idx="6">
                  <c:v>7.62725</c:v>
                </c:pt>
                <c:pt idx="7">
                  <c:v>0</c:v>
                </c:pt>
                <c:pt idx="8">
                  <c:v>0</c:v>
                </c:pt>
                <c:pt idx="9">
                  <c:v>0</c:v>
                </c:pt>
                <c:pt idx="10">
                  <c:v>0</c:v>
                </c:pt>
                <c:pt idx="11">
                  <c:v>0</c:v>
                </c:pt>
                <c:pt idx="12">
                  <c:v>0</c:v>
                </c:pt>
                <c:pt idx="13">
                  <c:v>0</c:v>
                </c:pt>
                <c:pt idx="14">
                  <c:v>0</c:v>
                </c:pt>
                <c:pt idx="15">
                  <c:v>0</c:v>
                </c:pt>
                <c:pt idx="16">
                  <c:v>0</c:v>
                </c:pt>
                <c:pt idx="17">
                  <c:v>0</c:v>
                </c:pt>
                <c:pt idx="18">
                  <c:v>0.69625</c:v>
                </c:pt>
                <c:pt idx="19">
                  <c:v>15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36.8625</c:v>
                </c:pt>
                <c:pt idx="91">
                  <c:v>0</c:v>
                </c:pt>
                <c:pt idx="92">
                  <c:v>7.5</c:v>
                </c:pt>
                <c:pt idx="93">
                  <c:v>0</c:v>
                </c:pt>
                <c:pt idx="94">
                  <c:v>0</c:v>
                </c:pt>
                <c:pt idx="95">
                  <c:v>13.063171</c:v>
                </c:pt>
                <c:pt idx="96">
                  <c:v>0</c:v>
                </c:pt>
                <c:pt idx="97">
                  <c:v>0</c:v>
                </c:pt>
                <c:pt idx="98">
                  <c:v>0</c:v>
                </c:pt>
                <c:pt idx="99">
                  <c:v>0</c:v>
                </c:pt>
                <c:pt idx="100">
                  <c:v>0</c:v>
                </c:pt>
                <c:pt idx="101">
                  <c:v>8.68725</c:v>
                </c:pt>
                <c:pt idx="102">
                  <c:v>22.659</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52.5</c:v>
                </c:pt>
                <c:pt idx="119">
                  <c:v>30.000125</c:v>
                </c:pt>
                <c:pt idx="120">
                  <c:v>44.526851</c:v>
                </c:pt>
                <c:pt idx="121">
                  <c:v>60</c:v>
                </c:pt>
                <c:pt idx="122">
                  <c:v>127.684301</c:v>
                </c:pt>
                <c:pt idx="123">
                  <c:v>183.202192</c:v>
                </c:pt>
                <c:pt idx="124">
                  <c:v>165.685794</c:v>
                </c:pt>
                <c:pt idx="125">
                  <c:v>155.315586</c:v>
                </c:pt>
                <c:pt idx="126">
                  <c:v>187.470406</c:v>
                </c:pt>
                <c:pt idx="127">
                  <c:v>27.418821</c:v>
                </c:pt>
                <c:pt idx="128">
                  <c:v>0</c:v>
                </c:pt>
                <c:pt idx="129">
                  <c:v>0</c:v>
                </c:pt>
                <c:pt idx="130">
                  <c:v>0</c:v>
                </c:pt>
                <c:pt idx="131">
                  <c:v>0</c:v>
                </c:pt>
                <c:pt idx="132">
                  <c:v>0</c:v>
                </c:pt>
                <c:pt idx="133">
                  <c:v>0</c:v>
                </c:pt>
                <c:pt idx="134">
                  <c:v>0</c:v>
                </c:pt>
                <c:pt idx="135">
                  <c:v>0</c:v>
                </c:pt>
                <c:pt idx="136">
                  <c:v>0</c:v>
                </c:pt>
                <c:pt idx="137">
                  <c:v>0</c:v>
                </c:pt>
                <c:pt idx="138">
                  <c:v>0</c:v>
                </c:pt>
                <c:pt idx="139">
                  <c:v>0</c:v>
                </c:pt>
                <c:pt idx="140">
                  <c:v>2.5E-05</c:v>
                </c:pt>
                <c:pt idx="141">
                  <c:v>15</c:v>
                </c:pt>
                <c:pt idx="142">
                  <c:v>28.779879</c:v>
                </c:pt>
                <c:pt idx="143">
                  <c:v>0</c:v>
                </c:pt>
                <c:pt idx="144">
                  <c:v>0</c:v>
                </c:pt>
                <c:pt idx="145">
                  <c:v>2.5E-05</c:v>
                </c:pt>
                <c:pt idx="146">
                  <c:v>96.911316</c:v>
                </c:pt>
                <c:pt idx="147">
                  <c:v>82.50015</c:v>
                </c:pt>
                <c:pt idx="148">
                  <c:v>100.1155</c:v>
                </c:pt>
                <c:pt idx="149">
                  <c:v>160.610522</c:v>
                </c:pt>
                <c:pt idx="150">
                  <c:v>100.507362</c:v>
                </c:pt>
                <c:pt idx="151">
                  <c:v>0</c:v>
                </c:pt>
                <c:pt idx="152">
                  <c:v>0</c:v>
                </c:pt>
                <c:pt idx="153">
                  <c:v>0</c:v>
                </c:pt>
                <c:pt idx="154">
                  <c:v>0</c:v>
                </c:pt>
                <c:pt idx="155">
                  <c:v>0</c:v>
                </c:pt>
                <c:pt idx="156">
                  <c:v>0</c:v>
                </c:pt>
                <c:pt idx="157">
                  <c:v>0</c:v>
                </c:pt>
                <c:pt idx="158">
                  <c:v>0</c:v>
                </c:pt>
                <c:pt idx="159">
                  <c:v>0</c:v>
                </c:pt>
                <c:pt idx="160">
                  <c:v>0</c:v>
                </c:pt>
                <c:pt idx="161">
                  <c:v>0</c:v>
                </c:pt>
                <c:pt idx="162">
                  <c:v>0.52275</c:v>
                </c:pt>
                <c:pt idx="163">
                  <c:v>0</c:v>
                </c:pt>
                <c:pt idx="164">
                  <c:v>0</c:v>
                </c:pt>
                <c:pt idx="165">
                  <c:v>0</c:v>
                </c:pt>
                <c:pt idx="166">
                  <c:v>0</c:v>
                </c:pt>
                <c:pt idx="167">
                  <c:v>0</c:v>
                </c:pt>
              </c:numCache>
            </c:numRef>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kWh／1時間</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50112"/>
      </c:valAx>
      <c:valAx>
        <c:axId val="48650112"/>
        <c:scaling>
          <c:orientation val="minMax"/>
          <c:max val="168"/>
          <c:min val="0"/>
        </c:scaling>
        <c:delete val="0"/>
        <c:axPos val="b"/>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週開始からの時間 [h]</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72768"/>
        <c:majorUnit val="2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BESSエネルギー残量</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scatterChart>
        <c:scatterStyle val="line"/>
        <c:ser>
          <c:idx val="0"/>
          <c:order val="0"/>
          <c:tx>
            <c:v>3月3日週</c:v>
          </c:tx>
          <c:spPr>
            <a:ln xmlns:a="http://schemas.openxmlformats.org/drawingml/2006/main" w="19050">
              <a:solidFill>
                <a:srgbClr val="316DB6"/>
              </a:solidFill>
            </a:ln>
          </c:spPr>
          <c:marker>
            <c:symbol val="none"/>
          </c:marker>
          <c:xVal>
            <c:numRef>
              <c:f>'Chart Data'!$A$2:$A$674</c:f>
              <c:numCache>
                <c:formatCode>General</c:formatCode>
                <c:ptCount val="673"/>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numCache>
            </c:numRef>
          </c:xVal>
          <c:yVal>
            <c:numRef>
              <c:f>'Chart Data'!$B$2:$B$674</c:f>
              <c:numCache>
                <c:formatCode>0</c:formatCode>
                <c:ptCount val="673"/>
                <c:pt idx="0">
                  <c:v>3000</c:v>
                </c:pt>
                <c:pt idx="1">
                  <c:v>3000</c:v>
                </c:pt>
                <c:pt idx="2">
                  <c:v>3000</c:v>
                </c:pt>
                <c:pt idx="3">
                  <c:v>3000</c:v>
                </c:pt>
                <c:pt idx="4">
                  <c:v>3000</c:v>
                </c:pt>
                <c:pt idx="5">
                  <c:v>3000</c:v>
                </c:pt>
                <c:pt idx="6">
                  <c:v>3000</c:v>
                </c:pt>
                <c:pt idx="7">
                  <c:v>3000</c:v>
                </c:pt>
                <c:pt idx="8">
                  <c:v>3000</c:v>
                </c:pt>
                <c:pt idx="9">
                  <c:v>2938.577272</c:v>
                </c:pt>
                <c:pt idx="10">
                  <c:v>2917.81891</c:v>
                </c:pt>
                <c:pt idx="11">
                  <c:v>2917.818773</c:v>
                </c:pt>
                <c:pt idx="12">
                  <c:v>2873.001353</c:v>
                </c:pt>
                <c:pt idx="13">
                  <c:v>2814.117954</c:v>
                </c:pt>
                <c:pt idx="14">
                  <c:v>2743.065322</c:v>
                </c:pt>
                <c:pt idx="15">
                  <c:v>2706.002571</c:v>
                </c:pt>
                <c:pt idx="16">
                  <c:v>2706.002571</c:v>
                </c:pt>
                <c:pt idx="17">
                  <c:v>2702.789248</c:v>
                </c:pt>
                <c:pt idx="18">
                  <c:v>2684.171893</c:v>
                </c:pt>
                <c:pt idx="19">
                  <c:v>2657.27436</c:v>
                </c:pt>
                <c:pt idx="20">
                  <c:v>2644.698103</c:v>
                </c:pt>
                <c:pt idx="21">
                  <c:v>2557.855998</c:v>
                </c:pt>
                <c:pt idx="22">
                  <c:v>2480.164108</c:v>
                </c:pt>
                <c:pt idx="23">
                  <c:v>2410.174317</c:v>
                </c:pt>
                <c:pt idx="24">
                  <c:v>2331.226948</c:v>
                </c:pt>
                <c:pt idx="25">
                  <c:v>2287.308683</c:v>
                </c:pt>
                <c:pt idx="26">
                  <c:v>2271.51921</c:v>
                </c:pt>
                <c:pt idx="27">
                  <c:v>2260.690262</c:v>
                </c:pt>
                <c:pt idx="28">
                  <c:v>2256.062631</c:v>
                </c:pt>
                <c:pt idx="29">
                  <c:v>2258.081381</c:v>
                </c:pt>
                <c:pt idx="30">
                  <c:v>2263.330131</c:v>
                </c:pt>
                <c:pt idx="31">
                  <c:v>2270.193881</c:v>
                </c:pt>
                <c:pt idx="32">
                  <c:v>2281.297006</c:v>
                </c:pt>
                <c:pt idx="33">
                  <c:v>2281.297006</c:v>
                </c:pt>
                <c:pt idx="34">
                  <c:v>2281.297006</c:v>
                </c:pt>
                <c:pt idx="35">
                  <c:v>2287.353256</c:v>
                </c:pt>
                <c:pt idx="36">
                  <c:v>2299.062006</c:v>
                </c:pt>
                <c:pt idx="37">
                  <c:v>2299.062006</c:v>
                </c:pt>
                <c:pt idx="38">
                  <c:v>2299.062006</c:v>
                </c:pt>
                <c:pt idx="39">
                  <c:v>2299.062006</c:v>
                </c:pt>
                <c:pt idx="40">
                  <c:v>2311.578256</c:v>
                </c:pt>
                <c:pt idx="41">
                  <c:v>2319.249506</c:v>
                </c:pt>
                <c:pt idx="42">
                  <c:v>2329.343256</c:v>
                </c:pt>
                <c:pt idx="43">
                  <c:v>2337.418256</c:v>
                </c:pt>
                <c:pt idx="44">
                  <c:v>2348.521381</c:v>
                </c:pt>
                <c:pt idx="45">
                  <c:v>2369.314482</c:v>
                </c:pt>
                <c:pt idx="46">
                  <c:v>2393.135708</c:v>
                </c:pt>
                <c:pt idx="47">
                  <c:v>2419.581309</c:v>
                </c:pt>
                <c:pt idx="48">
                  <c:v>2442.191286</c:v>
                </c:pt>
                <c:pt idx="49">
                  <c:v>2459.754387</c:v>
                </c:pt>
                <c:pt idx="50">
                  <c:v>2471.261238</c:v>
                </c:pt>
                <c:pt idx="51">
                  <c:v>2483.575589</c:v>
                </c:pt>
                <c:pt idx="52">
                  <c:v>2496.899316</c:v>
                </c:pt>
                <c:pt idx="53">
                  <c:v>2512.039941</c:v>
                </c:pt>
                <c:pt idx="54">
                  <c:v>2527.382441</c:v>
                </c:pt>
                <c:pt idx="55">
                  <c:v>2546.964316</c:v>
                </c:pt>
                <c:pt idx="56">
                  <c:v>2568.968691</c:v>
                </c:pt>
                <c:pt idx="57">
                  <c:v>2591.982441</c:v>
                </c:pt>
                <c:pt idx="58">
                  <c:v>2602.681816</c:v>
                </c:pt>
                <c:pt idx="59">
                  <c:v>2614.592441</c:v>
                </c:pt>
                <c:pt idx="60">
                  <c:v>2624.888066</c:v>
                </c:pt>
                <c:pt idx="61">
                  <c:v>2642.047417</c:v>
                </c:pt>
                <c:pt idx="62">
                  <c:v>2642.047417</c:v>
                </c:pt>
                <c:pt idx="63">
                  <c:v>2660.014268</c:v>
                </c:pt>
                <c:pt idx="64">
                  <c:v>2675.760494</c:v>
                </c:pt>
                <c:pt idx="65">
                  <c:v>2688.074846</c:v>
                </c:pt>
                <c:pt idx="66">
                  <c:v>2696.095387</c:v>
                </c:pt>
                <c:pt idx="67">
                  <c:v>2701.545988</c:v>
                </c:pt>
                <c:pt idx="68">
                  <c:v>2704.170339</c:v>
                </c:pt>
                <c:pt idx="69">
                  <c:v>2706.592412</c:v>
                </c:pt>
                <c:pt idx="70">
                  <c:v>2707.454751</c:v>
                </c:pt>
                <c:pt idx="71">
                  <c:v>2707.454751</c:v>
                </c:pt>
                <c:pt idx="72">
                  <c:v>2707.454751</c:v>
                </c:pt>
                <c:pt idx="73">
                  <c:v>2707.454751</c:v>
                </c:pt>
                <c:pt idx="74">
                  <c:v>2707.454751</c:v>
                </c:pt>
                <c:pt idx="75">
                  <c:v>2707.454751</c:v>
                </c:pt>
                <c:pt idx="76">
                  <c:v>2707.454751</c:v>
                </c:pt>
                <c:pt idx="77">
                  <c:v>2707.454751</c:v>
                </c:pt>
                <c:pt idx="78">
                  <c:v>2707.454751</c:v>
                </c:pt>
                <c:pt idx="79">
                  <c:v>2707.454751</c:v>
                </c:pt>
                <c:pt idx="80">
                  <c:v>2707.454751</c:v>
                </c:pt>
                <c:pt idx="81">
                  <c:v>2707.454751</c:v>
                </c:pt>
                <c:pt idx="82">
                  <c:v>2707.454751</c:v>
                </c:pt>
                <c:pt idx="83">
                  <c:v>2707.454751</c:v>
                </c:pt>
                <c:pt idx="84">
                  <c:v>2707.454751</c:v>
                </c:pt>
                <c:pt idx="85">
                  <c:v>2707.454751</c:v>
                </c:pt>
                <c:pt idx="86">
                  <c:v>2707.454751</c:v>
                </c:pt>
                <c:pt idx="87">
                  <c:v>2707.454751</c:v>
                </c:pt>
                <c:pt idx="88">
                  <c:v>2707.454751</c:v>
                </c:pt>
                <c:pt idx="89">
                  <c:v>2707.454751</c:v>
                </c:pt>
                <c:pt idx="90">
                  <c:v>2707.454751</c:v>
                </c:pt>
                <c:pt idx="91">
                  <c:v>2707.454751</c:v>
                </c:pt>
                <c:pt idx="92">
                  <c:v>2707.454751</c:v>
                </c:pt>
                <c:pt idx="93">
                  <c:v>2707.454751</c:v>
                </c:pt>
                <c:pt idx="94">
                  <c:v>2707.454751</c:v>
                </c:pt>
                <c:pt idx="95">
                  <c:v>2707.454751</c:v>
                </c:pt>
                <c:pt idx="96">
                  <c:v>2707.454751</c:v>
                </c:pt>
                <c:pt idx="97">
                  <c:v>2707.454724</c:v>
                </c:pt>
                <c:pt idx="98">
                  <c:v>2682.707858</c:v>
                </c:pt>
                <c:pt idx="99">
                  <c:v>2659.023647</c:v>
                </c:pt>
                <c:pt idx="100">
                  <c:v>2627.444673</c:v>
                </c:pt>
                <c:pt idx="101">
                  <c:v>2627.444673</c:v>
                </c:pt>
                <c:pt idx="102">
                  <c:v>2616.918358</c:v>
                </c:pt>
                <c:pt idx="103">
                  <c:v>2590.602542</c:v>
                </c:pt>
                <c:pt idx="104">
                  <c:v>2586.190677</c:v>
                </c:pt>
                <c:pt idx="105">
                  <c:v>2586.190677</c:v>
                </c:pt>
                <c:pt idx="106">
                  <c:v>2515.138019</c:v>
                </c:pt>
                <c:pt idx="107">
                  <c:v>2498.93347</c:v>
                </c:pt>
                <c:pt idx="108">
                  <c:v>2475.24926</c:v>
                </c:pt>
                <c:pt idx="109">
                  <c:v>2475.24926</c:v>
                </c:pt>
                <c:pt idx="110">
                  <c:v>2475.24926</c:v>
                </c:pt>
                <c:pt idx="111">
                  <c:v>2475.24926</c:v>
                </c:pt>
                <c:pt idx="112">
                  <c:v>2415.187263</c:v>
                </c:pt>
                <c:pt idx="113">
                  <c:v>2359.924079</c:v>
                </c:pt>
                <c:pt idx="114">
                  <c:v>2251.802987</c:v>
                </c:pt>
                <c:pt idx="115">
                  <c:v>2193.90825</c:v>
                </c:pt>
                <c:pt idx="116">
                  <c:v>2160.251319</c:v>
                </c:pt>
                <c:pt idx="117">
                  <c:v>2004.621868</c:v>
                </c:pt>
                <c:pt idx="118">
                  <c:v>1791.463973</c:v>
                </c:pt>
                <c:pt idx="119">
                  <c:v>1597.817291</c:v>
                </c:pt>
                <c:pt idx="120">
                  <c:v>1423.746765</c:v>
                </c:pt>
                <c:pt idx="121">
                  <c:v>1248.945384</c:v>
                </c:pt>
                <c:pt idx="122">
                  <c:v>1207.453279</c:v>
                </c:pt>
                <c:pt idx="123">
                  <c:v>1207.453279</c:v>
                </c:pt>
                <c:pt idx="124">
                  <c:v>1216.335779</c:v>
                </c:pt>
                <c:pt idx="125">
                  <c:v>1227.035154</c:v>
                </c:pt>
                <c:pt idx="126">
                  <c:v>1240.157029</c:v>
                </c:pt>
                <c:pt idx="127">
                  <c:v>1261.555779</c:v>
                </c:pt>
                <c:pt idx="128">
                  <c:v>1288.405154</c:v>
                </c:pt>
                <c:pt idx="129">
                  <c:v>1319.493904</c:v>
                </c:pt>
                <c:pt idx="130">
                  <c:v>1350.582654</c:v>
                </c:pt>
                <c:pt idx="131">
                  <c:v>1385.103279</c:v>
                </c:pt>
                <c:pt idx="132">
                  <c:v>1423.661404</c:v>
                </c:pt>
                <c:pt idx="133">
                  <c:v>1464.843904</c:v>
                </c:pt>
                <c:pt idx="134">
                  <c:v>1503.603904</c:v>
                </c:pt>
                <c:pt idx="135">
                  <c:v>1540.143279</c:v>
                </c:pt>
                <c:pt idx="136">
                  <c:v>1578.095779</c:v>
                </c:pt>
                <c:pt idx="137">
                  <c:v>1623.315779</c:v>
                </c:pt>
                <c:pt idx="138">
                  <c:v>1667.930154</c:v>
                </c:pt>
                <c:pt idx="139">
                  <c:v>1727.483279</c:v>
                </c:pt>
                <c:pt idx="140">
                  <c:v>1766.647029</c:v>
                </c:pt>
                <c:pt idx="141">
                  <c:v>1806.618279</c:v>
                </c:pt>
                <c:pt idx="142">
                  <c:v>1855.472029</c:v>
                </c:pt>
                <c:pt idx="143">
                  <c:v>1899.278904</c:v>
                </c:pt>
                <c:pt idx="144">
                  <c:v>1937.029529</c:v>
                </c:pt>
                <c:pt idx="145">
                  <c:v>1971.146404</c:v>
                </c:pt>
                <c:pt idx="146">
                  <c:v>1990.122654</c:v>
                </c:pt>
                <c:pt idx="147">
                  <c:v>2020.202029</c:v>
                </c:pt>
                <c:pt idx="148">
                  <c:v>2056.135779</c:v>
                </c:pt>
                <c:pt idx="149">
                  <c:v>2095.905154</c:v>
                </c:pt>
                <c:pt idx="150">
                  <c:v>2132.848279</c:v>
                </c:pt>
                <c:pt idx="151">
                  <c:v>2161.918279</c:v>
                </c:pt>
                <c:pt idx="152">
                  <c:v>2186.143279</c:v>
                </c:pt>
                <c:pt idx="153">
                  <c:v>2211.377654</c:v>
                </c:pt>
                <c:pt idx="154">
                  <c:v>2233.180154</c:v>
                </c:pt>
                <c:pt idx="155">
                  <c:v>2254.377029</c:v>
                </c:pt>
                <c:pt idx="156">
                  <c:v>2273.353279</c:v>
                </c:pt>
                <c:pt idx="157">
                  <c:v>2291.320154</c:v>
                </c:pt>
                <c:pt idx="158">
                  <c:v>2308.277654</c:v>
                </c:pt>
                <c:pt idx="159">
                  <c:v>2322.812654</c:v>
                </c:pt>
                <c:pt idx="160">
                  <c:v>2333.310154</c:v>
                </c:pt>
                <c:pt idx="161">
                  <c:v>2342.394529</c:v>
                </c:pt>
                <c:pt idx="162">
                  <c:v>2349.258279</c:v>
                </c:pt>
                <c:pt idx="163">
                  <c:v>2353.295779</c:v>
                </c:pt>
                <c:pt idx="164">
                  <c:v>2355.314529</c:v>
                </c:pt>
                <c:pt idx="165">
                  <c:v>2356.727654</c:v>
                </c:pt>
                <c:pt idx="166">
                  <c:v>2357.131404</c:v>
                </c:pt>
                <c:pt idx="167">
                  <c:v>2357.131404</c:v>
                </c:pt>
                <c:pt idx="168">
                  <c:v>2357.131404</c:v>
                </c:pt>
                <c:pt idx="169">
                  <c:v>2357.131404</c:v>
                </c:pt>
                <c:pt idx="170">
                  <c:v>2357.131404</c:v>
                </c:pt>
                <c:pt idx="171">
                  <c:v>2357.131404</c:v>
                </c:pt>
                <c:pt idx="172">
                  <c:v>2357.131404</c:v>
                </c:pt>
                <c:pt idx="173">
                  <c:v>2357.131404</c:v>
                </c:pt>
                <c:pt idx="174">
                  <c:v>2357.131404</c:v>
                </c:pt>
                <c:pt idx="175">
                  <c:v>2357.131404</c:v>
                </c:pt>
                <c:pt idx="176">
                  <c:v>2357.131404</c:v>
                </c:pt>
                <c:pt idx="177">
                  <c:v>2357.131404</c:v>
                </c:pt>
                <c:pt idx="178">
                  <c:v>2357.131404</c:v>
                </c:pt>
                <c:pt idx="179">
                  <c:v>2357.131404</c:v>
                </c:pt>
                <c:pt idx="180">
                  <c:v>2357.131404</c:v>
                </c:pt>
                <c:pt idx="181">
                  <c:v>2357.131404</c:v>
                </c:pt>
                <c:pt idx="182">
                  <c:v>2357.131404</c:v>
                </c:pt>
                <c:pt idx="183">
                  <c:v>2357.131404</c:v>
                </c:pt>
                <c:pt idx="184">
                  <c:v>2357.131404</c:v>
                </c:pt>
                <c:pt idx="185">
                  <c:v>2357.131404</c:v>
                </c:pt>
                <c:pt idx="186">
                  <c:v>2357.131404</c:v>
                </c:pt>
                <c:pt idx="187">
                  <c:v>2357.131404</c:v>
                </c:pt>
                <c:pt idx="188">
                  <c:v>2357.131404</c:v>
                </c:pt>
                <c:pt idx="189">
                  <c:v>2357.131404</c:v>
                </c:pt>
                <c:pt idx="190">
                  <c:v>2357.131404</c:v>
                </c:pt>
                <c:pt idx="191">
                  <c:v>2357.131404</c:v>
                </c:pt>
                <c:pt idx="192">
                  <c:v>2357.131404</c:v>
                </c:pt>
                <c:pt idx="193">
                  <c:v>2357.131404</c:v>
                </c:pt>
                <c:pt idx="194">
                  <c:v>2357.131404</c:v>
                </c:pt>
                <c:pt idx="195">
                  <c:v>2357.131404</c:v>
                </c:pt>
                <c:pt idx="196">
                  <c:v>2357.131404</c:v>
                </c:pt>
                <c:pt idx="197">
                  <c:v>2357.131404</c:v>
                </c:pt>
                <c:pt idx="198">
                  <c:v>2357.131404</c:v>
                </c:pt>
                <c:pt idx="199">
                  <c:v>2357.131404</c:v>
                </c:pt>
                <c:pt idx="200">
                  <c:v>2357.131404</c:v>
                </c:pt>
                <c:pt idx="201">
                  <c:v>2354.499825</c:v>
                </c:pt>
                <c:pt idx="202">
                  <c:v>2354.499825</c:v>
                </c:pt>
                <c:pt idx="203">
                  <c:v>2354.499825</c:v>
                </c:pt>
                <c:pt idx="204">
                  <c:v>2354.499825</c:v>
                </c:pt>
                <c:pt idx="205">
                  <c:v>2354.499825</c:v>
                </c:pt>
                <c:pt idx="206">
                  <c:v>2324.693789</c:v>
                </c:pt>
                <c:pt idx="207">
                  <c:v>2324.693789</c:v>
                </c:pt>
                <c:pt idx="208">
                  <c:v>2324.693789</c:v>
                </c:pt>
                <c:pt idx="209">
                  <c:v>2246.263979</c:v>
                </c:pt>
                <c:pt idx="210">
                  <c:v>2164.685005</c:v>
                </c:pt>
                <c:pt idx="211">
                  <c:v>2075.211426</c:v>
                </c:pt>
                <c:pt idx="212">
                  <c:v>1954.158794</c:v>
                </c:pt>
                <c:pt idx="213">
                  <c:v>1778.014309</c:v>
                </c:pt>
                <c:pt idx="214">
                  <c:v>1560.602157</c:v>
                </c:pt>
                <c:pt idx="215">
                  <c:v>1400.169176</c:v>
                </c:pt>
                <c:pt idx="216">
                  <c:v>1304.082414</c:v>
                </c:pt>
                <c:pt idx="217">
                  <c:v>1200</c:v>
                </c:pt>
                <c:pt idx="218">
                  <c:v>1200</c:v>
                </c:pt>
                <c:pt idx="219">
                  <c:v>1200</c:v>
                </c:pt>
                <c:pt idx="220">
                  <c:v>1204.0375</c:v>
                </c:pt>
                <c:pt idx="221">
                  <c:v>1210.4975</c:v>
                </c:pt>
                <c:pt idx="222">
                  <c:v>1220.389375</c:v>
                </c:pt>
                <c:pt idx="223">
                  <c:v>1233.309375</c:v>
                </c:pt>
                <c:pt idx="224">
                  <c:v>1249.863125</c:v>
                </c:pt>
                <c:pt idx="225">
                  <c:v>1269.445</c:v>
                </c:pt>
                <c:pt idx="226">
                  <c:v>1292.660625</c:v>
                </c:pt>
                <c:pt idx="227">
                  <c:v>1323.749375</c:v>
                </c:pt>
                <c:pt idx="228">
                  <c:v>1359.48125</c:v>
                </c:pt>
                <c:pt idx="229">
                  <c:v>1399.85625</c:v>
                </c:pt>
                <c:pt idx="230">
                  <c:v>1438.414375</c:v>
                </c:pt>
                <c:pt idx="231">
                  <c:v>1480.404375</c:v>
                </c:pt>
                <c:pt idx="232">
                  <c:v>1520.98125</c:v>
                </c:pt>
                <c:pt idx="233">
                  <c:v>1554.694375</c:v>
                </c:pt>
                <c:pt idx="234">
                  <c:v>1581.341875</c:v>
                </c:pt>
                <c:pt idx="235">
                  <c:v>1603.34625</c:v>
                </c:pt>
                <c:pt idx="236">
                  <c:v>1623.9375</c:v>
                </c:pt>
                <c:pt idx="237">
                  <c:v>1657.650625</c:v>
                </c:pt>
                <c:pt idx="238">
                  <c:v>1685.913125</c:v>
                </c:pt>
                <c:pt idx="239">
                  <c:v>1717.405625</c:v>
                </c:pt>
                <c:pt idx="240">
                  <c:v>1745.87</c:v>
                </c:pt>
                <c:pt idx="241">
                  <c:v>1786.64875</c:v>
                </c:pt>
                <c:pt idx="242">
                  <c:v>1827.4275</c:v>
                </c:pt>
                <c:pt idx="243">
                  <c:v>1865.78375</c:v>
                </c:pt>
                <c:pt idx="244">
                  <c:v>1915.445</c:v>
                </c:pt>
                <c:pt idx="245">
                  <c:v>1963.693125</c:v>
                </c:pt>
                <c:pt idx="246">
                  <c:v>2006.28875</c:v>
                </c:pt>
                <c:pt idx="247">
                  <c:v>2038.58875</c:v>
                </c:pt>
                <c:pt idx="248">
                  <c:v>2065.64</c:v>
                </c:pt>
                <c:pt idx="249">
                  <c:v>2095.315625</c:v>
                </c:pt>
                <c:pt idx="250">
                  <c:v>2121.155625</c:v>
                </c:pt>
                <c:pt idx="251">
                  <c:v>2142.150625</c:v>
                </c:pt>
                <c:pt idx="252">
                  <c:v>2154.75</c:v>
                </c:pt>
                <c:pt idx="253">
                  <c:v>2158.205625</c:v>
                </c:pt>
                <c:pt idx="254">
                  <c:v>2162.266875</c:v>
                </c:pt>
                <c:pt idx="255">
                  <c:v>2162.89625</c:v>
                </c:pt>
                <c:pt idx="256">
                  <c:v>2162.89625</c:v>
                </c:pt>
                <c:pt idx="257">
                  <c:v>2162.89625</c:v>
                </c:pt>
                <c:pt idx="258">
                  <c:v>2162.89625</c:v>
                </c:pt>
                <c:pt idx="259">
                  <c:v>2162.89625</c:v>
                </c:pt>
                <c:pt idx="260">
                  <c:v>2162.89625</c:v>
                </c:pt>
                <c:pt idx="261">
                  <c:v>2165.520625</c:v>
                </c:pt>
                <c:pt idx="262">
                  <c:v>2166.328125</c:v>
                </c:pt>
                <c:pt idx="263">
                  <c:v>2166.328125</c:v>
                </c:pt>
                <c:pt idx="264">
                  <c:v>2166.328125</c:v>
                </c:pt>
                <c:pt idx="265">
                  <c:v>2166.328125</c:v>
                </c:pt>
                <c:pt idx="266">
                  <c:v>2166.328125</c:v>
                </c:pt>
                <c:pt idx="267">
                  <c:v>2166.328125</c:v>
                </c:pt>
                <c:pt idx="268">
                  <c:v>2166.328125</c:v>
                </c:pt>
                <c:pt idx="269">
                  <c:v>2166.328125</c:v>
                </c:pt>
                <c:pt idx="270">
                  <c:v>2166.328125</c:v>
                </c:pt>
                <c:pt idx="271">
                  <c:v>2166.328125</c:v>
                </c:pt>
                <c:pt idx="272">
                  <c:v>2166.328125</c:v>
                </c:pt>
                <c:pt idx="273">
                  <c:v>2166.328125</c:v>
                </c:pt>
                <c:pt idx="274">
                  <c:v>2166.328125</c:v>
                </c:pt>
                <c:pt idx="275">
                  <c:v>2166.328125</c:v>
                </c:pt>
                <c:pt idx="276">
                  <c:v>2166.328125</c:v>
                </c:pt>
                <c:pt idx="277">
                  <c:v>2166.328125</c:v>
                </c:pt>
                <c:pt idx="278">
                  <c:v>2166.328125</c:v>
                </c:pt>
                <c:pt idx="279">
                  <c:v>2166.328125</c:v>
                </c:pt>
                <c:pt idx="280">
                  <c:v>2166.328125</c:v>
                </c:pt>
                <c:pt idx="281">
                  <c:v>2166.328125</c:v>
                </c:pt>
                <c:pt idx="282">
                  <c:v>2166.328125</c:v>
                </c:pt>
                <c:pt idx="283">
                  <c:v>2166.328125</c:v>
                </c:pt>
                <c:pt idx="284">
                  <c:v>2166.328125</c:v>
                </c:pt>
                <c:pt idx="285">
                  <c:v>2166.328125</c:v>
                </c:pt>
                <c:pt idx="286">
                  <c:v>2166.328125</c:v>
                </c:pt>
                <c:pt idx="287">
                  <c:v>2166.328125</c:v>
                </c:pt>
                <c:pt idx="288">
                  <c:v>2166.328125</c:v>
                </c:pt>
                <c:pt idx="289">
                  <c:v>2166.328125</c:v>
                </c:pt>
                <c:pt idx="290">
                  <c:v>2166.328125</c:v>
                </c:pt>
                <c:pt idx="291">
                  <c:v>2166.328125</c:v>
                </c:pt>
                <c:pt idx="292">
                  <c:v>2166.328125</c:v>
                </c:pt>
                <c:pt idx="293">
                  <c:v>2166.328125</c:v>
                </c:pt>
                <c:pt idx="294">
                  <c:v>2166.328125</c:v>
                </c:pt>
                <c:pt idx="295">
                  <c:v>2127.137173</c:v>
                </c:pt>
                <c:pt idx="296">
                  <c:v>2116.610805</c:v>
                </c:pt>
                <c:pt idx="297">
                  <c:v>2116.610805</c:v>
                </c:pt>
                <c:pt idx="298">
                  <c:v>2116.610805</c:v>
                </c:pt>
                <c:pt idx="299">
                  <c:v>2116.610805</c:v>
                </c:pt>
                <c:pt idx="300">
                  <c:v>2116.610805</c:v>
                </c:pt>
                <c:pt idx="301">
                  <c:v>2116.610805</c:v>
                </c:pt>
                <c:pt idx="302">
                  <c:v>2066.610805</c:v>
                </c:pt>
                <c:pt idx="303">
                  <c:v>2052.540228</c:v>
                </c:pt>
                <c:pt idx="304">
                  <c:v>2052.540228</c:v>
                </c:pt>
                <c:pt idx="305">
                  <c:v>2001.096398</c:v>
                </c:pt>
                <c:pt idx="306">
                  <c:v>2001.096398</c:v>
                </c:pt>
                <c:pt idx="307">
                  <c:v>1958.991003</c:v>
                </c:pt>
                <c:pt idx="308">
                  <c:v>1866.027151</c:v>
                </c:pt>
                <c:pt idx="309">
                  <c:v>1800.237572</c:v>
                </c:pt>
                <c:pt idx="310">
                  <c:v>1607.541818</c:v>
                </c:pt>
                <c:pt idx="311">
                  <c:v>1461.613698</c:v>
                </c:pt>
                <c:pt idx="312">
                  <c:v>1316.876856</c:v>
                </c:pt>
                <c:pt idx="313">
                  <c:v>1230.034593</c:v>
                </c:pt>
                <c:pt idx="314">
                  <c:v>1212.835909</c:v>
                </c:pt>
                <c:pt idx="315">
                  <c:v>1202.849737</c:v>
                </c:pt>
                <c:pt idx="316">
                  <c:v>1200</c:v>
                </c:pt>
                <c:pt idx="317">
                  <c:v>1207.873125</c:v>
                </c:pt>
                <c:pt idx="318">
                  <c:v>1220.389375</c:v>
                </c:pt>
                <c:pt idx="319">
                  <c:v>1235.731875</c:v>
                </c:pt>
                <c:pt idx="320">
                  <c:v>1255.111875</c:v>
                </c:pt>
                <c:pt idx="321">
                  <c:v>1276.106875</c:v>
                </c:pt>
                <c:pt idx="322">
                  <c:v>1304.369375</c:v>
                </c:pt>
                <c:pt idx="323">
                  <c:v>1334.246875</c:v>
                </c:pt>
                <c:pt idx="324">
                  <c:v>1355.04</c:v>
                </c:pt>
                <c:pt idx="325">
                  <c:v>1374.82375</c:v>
                </c:pt>
                <c:pt idx="326">
                  <c:v>1393.194375</c:v>
                </c:pt>
                <c:pt idx="327">
                  <c:v>1417.823125</c:v>
                </c:pt>
                <c:pt idx="328">
                  <c:v>1442.25</c:v>
                </c:pt>
                <c:pt idx="329">
                  <c:v>1487.47</c:v>
                </c:pt>
                <c:pt idx="330">
                  <c:v>1523.201875</c:v>
                </c:pt>
                <c:pt idx="331">
                  <c:v>1562.16375</c:v>
                </c:pt>
                <c:pt idx="332">
                  <c:v>1601.933125</c:v>
                </c:pt>
                <c:pt idx="333">
                  <c:v>1639.481875</c:v>
                </c:pt>
                <c:pt idx="334">
                  <c:v>1683.28875</c:v>
                </c:pt>
                <c:pt idx="335">
                  <c:v>1719.424375</c:v>
                </c:pt>
                <c:pt idx="336">
                  <c:v>1762.8275</c:v>
                </c:pt>
                <c:pt idx="337">
                  <c:v>1809.864375</c:v>
                </c:pt>
                <c:pt idx="338">
                  <c:v>1852.661875</c:v>
                </c:pt>
                <c:pt idx="339">
                  <c:v>1888.7975</c:v>
                </c:pt>
                <c:pt idx="340">
                  <c:v>1932.200625</c:v>
                </c:pt>
                <c:pt idx="341">
                  <c:v>1978.631875</c:v>
                </c:pt>
                <c:pt idx="342">
                  <c:v>2029.3025</c:v>
                </c:pt>
                <c:pt idx="343">
                  <c:v>2086.836875</c:v>
                </c:pt>
                <c:pt idx="344">
                  <c:v>2141.14125</c:v>
                </c:pt>
                <c:pt idx="345">
                  <c:v>2172.168629</c:v>
                </c:pt>
                <c:pt idx="346">
                  <c:v>2205.679855</c:v>
                </c:pt>
                <c:pt idx="347">
                  <c:v>2244.843581</c:v>
                </c:pt>
                <c:pt idx="348">
                  <c:v>2270.279807</c:v>
                </c:pt>
                <c:pt idx="349">
                  <c:v>2284.311782</c:v>
                </c:pt>
                <c:pt idx="350">
                  <c:v>2311.161134</c:v>
                </c:pt>
                <c:pt idx="351">
                  <c:v>2311.161134</c:v>
                </c:pt>
                <c:pt idx="352">
                  <c:v>2311.161134</c:v>
                </c:pt>
                <c:pt idx="353">
                  <c:v>2311.161134</c:v>
                </c:pt>
                <c:pt idx="354">
                  <c:v>2311.161134</c:v>
                </c:pt>
                <c:pt idx="355">
                  <c:v>2311.161134</c:v>
                </c:pt>
                <c:pt idx="356">
                  <c:v>2311.161134</c:v>
                </c:pt>
                <c:pt idx="357">
                  <c:v>2311.161134</c:v>
                </c:pt>
                <c:pt idx="358">
                  <c:v>2311.161134</c:v>
                </c:pt>
                <c:pt idx="359">
                  <c:v>2311.161134</c:v>
                </c:pt>
                <c:pt idx="360">
                  <c:v>2311.161134</c:v>
                </c:pt>
                <c:pt idx="361">
                  <c:v>2311.161134</c:v>
                </c:pt>
                <c:pt idx="362">
                  <c:v>2311.161134</c:v>
                </c:pt>
                <c:pt idx="363">
                  <c:v>2311.161134</c:v>
                </c:pt>
                <c:pt idx="364">
                  <c:v>2311.161134</c:v>
                </c:pt>
                <c:pt idx="365">
                  <c:v>2311.161134</c:v>
                </c:pt>
                <c:pt idx="366">
                  <c:v>2311.161134</c:v>
                </c:pt>
                <c:pt idx="367">
                  <c:v>2311.161134</c:v>
                </c:pt>
                <c:pt idx="368">
                  <c:v>2311.161134</c:v>
                </c:pt>
                <c:pt idx="369">
                  <c:v>2311.161134</c:v>
                </c:pt>
                <c:pt idx="370">
                  <c:v>2311.161134</c:v>
                </c:pt>
                <c:pt idx="371">
                  <c:v>2311.161134</c:v>
                </c:pt>
                <c:pt idx="372">
                  <c:v>2311.161134</c:v>
                </c:pt>
                <c:pt idx="373">
                  <c:v>2311.161134</c:v>
                </c:pt>
                <c:pt idx="374">
                  <c:v>2311.161134</c:v>
                </c:pt>
                <c:pt idx="375">
                  <c:v>2311.161134</c:v>
                </c:pt>
                <c:pt idx="376">
                  <c:v>2311.161134</c:v>
                </c:pt>
                <c:pt idx="377">
                  <c:v>2311.161134</c:v>
                </c:pt>
                <c:pt idx="378">
                  <c:v>2311.161134</c:v>
                </c:pt>
                <c:pt idx="379">
                  <c:v>2311.161134</c:v>
                </c:pt>
                <c:pt idx="380">
                  <c:v>2311.161134</c:v>
                </c:pt>
                <c:pt idx="381">
                  <c:v>2311.161134</c:v>
                </c:pt>
                <c:pt idx="382">
                  <c:v>2311.161134</c:v>
                </c:pt>
                <c:pt idx="383">
                  <c:v>2311.161134</c:v>
                </c:pt>
                <c:pt idx="384">
                  <c:v>2311.161134</c:v>
                </c:pt>
                <c:pt idx="385">
                  <c:v>2311.161134</c:v>
                </c:pt>
                <c:pt idx="386">
                  <c:v>2311.161134</c:v>
                </c:pt>
                <c:pt idx="387">
                  <c:v>2311.161134</c:v>
                </c:pt>
                <c:pt idx="388">
                  <c:v>2311.161134</c:v>
                </c:pt>
                <c:pt idx="389">
                  <c:v>2311.161134</c:v>
                </c:pt>
                <c:pt idx="390">
                  <c:v>2311.161134</c:v>
                </c:pt>
                <c:pt idx="391">
                  <c:v>2311.161134</c:v>
                </c:pt>
                <c:pt idx="392">
                  <c:v>2311.161134</c:v>
                </c:pt>
                <c:pt idx="393">
                  <c:v>2311.161134</c:v>
                </c:pt>
                <c:pt idx="394">
                  <c:v>2311.161134</c:v>
                </c:pt>
                <c:pt idx="395">
                  <c:v>2311.161134</c:v>
                </c:pt>
                <c:pt idx="396">
                  <c:v>2311.161134</c:v>
                </c:pt>
                <c:pt idx="397">
                  <c:v>2311.161134</c:v>
                </c:pt>
                <c:pt idx="398">
                  <c:v>2311.161134</c:v>
                </c:pt>
                <c:pt idx="399">
                  <c:v>2311.161134</c:v>
                </c:pt>
                <c:pt idx="400">
                  <c:v>2311.161134</c:v>
                </c:pt>
                <c:pt idx="401">
                  <c:v>2228.403935</c:v>
                </c:pt>
                <c:pt idx="402">
                  <c:v>2062.614461</c:v>
                </c:pt>
                <c:pt idx="403">
                  <c:v>1965.24604</c:v>
                </c:pt>
                <c:pt idx="404">
                  <c:v>1844.193408</c:v>
                </c:pt>
                <c:pt idx="405">
                  <c:v>1696.937101</c:v>
                </c:pt>
                <c:pt idx="406">
                  <c:v>1579.745569</c:v>
                </c:pt>
                <c:pt idx="407">
                  <c:v>1480.049927</c:v>
                </c:pt>
                <c:pt idx="408">
                  <c:v>1343.207795</c:v>
                </c:pt>
                <c:pt idx="409">
                  <c:v>1232.625026</c:v>
                </c:pt>
                <c:pt idx="410">
                  <c:v>1200</c:v>
                </c:pt>
                <c:pt idx="411">
                  <c:v>1200</c:v>
                </c:pt>
                <c:pt idx="412">
                  <c:v>1200</c:v>
                </c:pt>
                <c:pt idx="413">
                  <c:v>1218.733288</c:v>
                </c:pt>
                <c:pt idx="414">
                  <c:v>1244.787988</c:v>
                </c:pt>
                <c:pt idx="415">
                  <c:v>1277.70905</c:v>
                </c:pt>
                <c:pt idx="416">
                  <c:v>1317.500038</c:v>
                </c:pt>
                <c:pt idx="417">
                  <c:v>1363.489063</c:v>
                </c:pt>
                <c:pt idx="418">
                  <c:v>1363.489063</c:v>
                </c:pt>
                <c:pt idx="419">
                  <c:v>1421.528125</c:v>
                </c:pt>
                <c:pt idx="420">
                  <c:v>1486.480575</c:v>
                </c:pt>
                <c:pt idx="421">
                  <c:v>1486.480575</c:v>
                </c:pt>
                <c:pt idx="422">
                  <c:v>1541.178068</c:v>
                </c:pt>
                <c:pt idx="423">
                  <c:v>1621.864893</c:v>
                </c:pt>
                <c:pt idx="424">
                  <c:v>1707.974318</c:v>
                </c:pt>
                <c:pt idx="425">
                  <c:v>1799.217781</c:v>
                </c:pt>
                <c:pt idx="426">
                  <c:v>1895.702156</c:v>
                </c:pt>
                <c:pt idx="427">
                  <c:v>1994.229981</c:v>
                </c:pt>
                <c:pt idx="428">
                  <c:v>2095.333493</c:v>
                </c:pt>
                <c:pt idx="429">
                  <c:v>2196.712031</c:v>
                </c:pt>
                <c:pt idx="430">
                  <c:v>2300.349668</c:v>
                </c:pt>
                <c:pt idx="431">
                  <c:v>2405.034443</c:v>
                </c:pt>
                <c:pt idx="432">
                  <c:v>2510.344081</c:v>
                </c:pt>
                <c:pt idx="433">
                  <c:v>2616.107818</c:v>
                </c:pt>
                <c:pt idx="434">
                  <c:v>2719.519831</c:v>
                </c:pt>
                <c:pt idx="435">
                  <c:v>2821.140856</c:v>
                </c:pt>
                <c:pt idx="436">
                  <c:v>2920.189993</c:v>
                </c:pt>
                <c:pt idx="437">
                  <c:v>3017.020406</c:v>
                </c:pt>
                <c:pt idx="438">
                  <c:v>3110.403981</c:v>
                </c:pt>
                <c:pt idx="439">
                  <c:v>3201.082906</c:v>
                </c:pt>
                <c:pt idx="440">
                  <c:v>3288.837018</c:v>
                </c:pt>
                <c:pt idx="441">
                  <c:v>3371.162831</c:v>
                </c:pt>
                <c:pt idx="442">
                  <c:v>3450.246293</c:v>
                </c:pt>
                <c:pt idx="443">
                  <c:v>3522.750768</c:v>
                </c:pt>
                <c:pt idx="444">
                  <c:v>3589.264781</c:v>
                </c:pt>
                <c:pt idx="445">
                  <c:v>3649.626118</c:v>
                </c:pt>
                <c:pt idx="446">
                  <c:v>3704.183431</c:v>
                </c:pt>
                <c:pt idx="447">
                  <c:v>3751.201306</c:v>
                </c:pt>
                <c:pt idx="448">
                  <c:v>3790.571918</c:v>
                </c:pt>
                <c:pt idx="449">
                  <c:v>3822.329231</c:v>
                </c:pt>
                <c:pt idx="450">
                  <c:v>3846.978643</c:v>
                </c:pt>
                <c:pt idx="451">
                  <c:v>3865.151193</c:v>
                </c:pt>
                <c:pt idx="452">
                  <c:v>3877.071318</c:v>
                </c:pt>
                <c:pt idx="453">
                  <c:v>3883.309493</c:v>
                </c:pt>
                <c:pt idx="454">
                  <c:v>3884.989806</c:v>
                </c:pt>
                <c:pt idx="455">
                  <c:v>3884.989806</c:v>
                </c:pt>
                <c:pt idx="456">
                  <c:v>3884.989806</c:v>
                </c:pt>
                <c:pt idx="457">
                  <c:v>3884.989806</c:v>
                </c:pt>
                <c:pt idx="458">
                  <c:v>3884.989806</c:v>
                </c:pt>
                <c:pt idx="459">
                  <c:v>3884.989806</c:v>
                </c:pt>
                <c:pt idx="460">
                  <c:v>3884.989806</c:v>
                </c:pt>
                <c:pt idx="461">
                  <c:v>3884.989806</c:v>
                </c:pt>
                <c:pt idx="462">
                  <c:v>3884.989806</c:v>
                </c:pt>
                <c:pt idx="463">
                  <c:v>3884.989806</c:v>
                </c:pt>
                <c:pt idx="464">
                  <c:v>3884.989806</c:v>
                </c:pt>
                <c:pt idx="465">
                  <c:v>3884.989806</c:v>
                </c:pt>
                <c:pt idx="466">
                  <c:v>3884.989806</c:v>
                </c:pt>
                <c:pt idx="467">
                  <c:v>3884.989806</c:v>
                </c:pt>
                <c:pt idx="468">
                  <c:v>3884.989806</c:v>
                </c:pt>
                <c:pt idx="469">
                  <c:v>3884.989806</c:v>
                </c:pt>
                <c:pt idx="470">
                  <c:v>3884.989806</c:v>
                </c:pt>
                <c:pt idx="471">
                  <c:v>3884.989806</c:v>
                </c:pt>
                <c:pt idx="472">
                  <c:v>3884.989806</c:v>
                </c:pt>
                <c:pt idx="473">
                  <c:v>3869.200332</c:v>
                </c:pt>
                <c:pt idx="474">
                  <c:v>3853.410858</c:v>
                </c:pt>
                <c:pt idx="475">
                  <c:v>3853.410858</c:v>
                </c:pt>
                <c:pt idx="476">
                  <c:v>3853.410858</c:v>
                </c:pt>
                <c:pt idx="477">
                  <c:v>3853.410858</c:v>
                </c:pt>
                <c:pt idx="478">
                  <c:v>3849.701729</c:v>
                </c:pt>
                <c:pt idx="479">
                  <c:v>3841.806992</c:v>
                </c:pt>
                <c:pt idx="480">
                  <c:v>3841.806992</c:v>
                </c:pt>
                <c:pt idx="481">
                  <c:v>3820.753966</c:v>
                </c:pt>
                <c:pt idx="482">
                  <c:v>3770.178003</c:v>
                </c:pt>
                <c:pt idx="483">
                  <c:v>3691.230608</c:v>
                </c:pt>
                <c:pt idx="484">
                  <c:v>3620.72084</c:v>
                </c:pt>
                <c:pt idx="485">
                  <c:v>3565.457682</c:v>
                </c:pt>
                <c:pt idx="486">
                  <c:v>3494.40505</c:v>
                </c:pt>
                <c:pt idx="487">
                  <c:v>3423.352419</c:v>
                </c:pt>
                <c:pt idx="488">
                  <c:v>3383.878734</c:v>
                </c:pt>
                <c:pt idx="489">
                  <c:v>3350.696578</c:v>
                </c:pt>
                <c:pt idx="490">
                  <c:v>3303.328157</c:v>
                </c:pt>
                <c:pt idx="491">
                  <c:v>3291.9432</c:v>
                </c:pt>
                <c:pt idx="492">
                  <c:v>3268.258989</c:v>
                </c:pt>
                <c:pt idx="493">
                  <c:v>3236.680042</c:v>
                </c:pt>
                <c:pt idx="494">
                  <c:v>3189.311621</c:v>
                </c:pt>
                <c:pt idx="495">
                  <c:v>3173.522068</c:v>
                </c:pt>
                <c:pt idx="496">
                  <c:v>3123.597846</c:v>
                </c:pt>
                <c:pt idx="497">
                  <c:v>3022.786239</c:v>
                </c:pt>
                <c:pt idx="498">
                  <c:v>2916.255522</c:v>
                </c:pt>
                <c:pt idx="499">
                  <c:v>2799.132194</c:v>
                </c:pt>
                <c:pt idx="500">
                  <c:v>2668.411867</c:v>
                </c:pt>
                <c:pt idx="501">
                  <c:v>2483.468334</c:v>
                </c:pt>
                <c:pt idx="502">
                  <c:v>2298.688044</c:v>
                </c:pt>
                <c:pt idx="503">
                  <c:v>2136.297883</c:v>
                </c:pt>
                <c:pt idx="504">
                  <c:v>2014.516055</c:v>
                </c:pt>
                <c:pt idx="505">
                  <c:v>1850.330274</c:v>
                </c:pt>
                <c:pt idx="506">
                  <c:v>1716.119748</c:v>
                </c:pt>
                <c:pt idx="507">
                  <c:v>1629.048169</c:v>
                </c:pt>
                <c:pt idx="508">
                  <c:v>1595.840801</c:v>
                </c:pt>
                <c:pt idx="509">
                  <c:v>1572.15659</c:v>
                </c:pt>
                <c:pt idx="510">
                  <c:v>1572.15659</c:v>
                </c:pt>
                <c:pt idx="511">
                  <c:v>1572.15659</c:v>
                </c:pt>
                <c:pt idx="512">
                  <c:v>1574.804715</c:v>
                </c:pt>
                <c:pt idx="513">
                  <c:v>1595.680941</c:v>
                </c:pt>
                <c:pt idx="514">
                  <c:v>1595.680941</c:v>
                </c:pt>
                <c:pt idx="515">
                  <c:v>1595.680941</c:v>
                </c:pt>
                <c:pt idx="516">
                  <c:v>1629.272291</c:v>
                </c:pt>
                <c:pt idx="517">
                  <c:v>1661.168541</c:v>
                </c:pt>
                <c:pt idx="518">
                  <c:v>1699.928541</c:v>
                </c:pt>
                <c:pt idx="519">
                  <c:v>1735.862291</c:v>
                </c:pt>
                <c:pt idx="520">
                  <c:v>1754.114166</c:v>
                </c:pt>
                <c:pt idx="521">
                  <c:v>1758.460416</c:v>
                </c:pt>
                <c:pt idx="522">
                  <c:v>1759.778541</c:v>
                </c:pt>
                <c:pt idx="523">
                  <c:v>1769.088541</c:v>
                </c:pt>
                <c:pt idx="524">
                  <c:v>1790.772291</c:v>
                </c:pt>
                <c:pt idx="525">
                  <c:v>1824.485416</c:v>
                </c:pt>
                <c:pt idx="526">
                  <c:v>1864.254791</c:v>
                </c:pt>
                <c:pt idx="527">
                  <c:v>1900.794166</c:v>
                </c:pt>
                <c:pt idx="528">
                  <c:v>1935.516666</c:v>
                </c:pt>
                <c:pt idx="529">
                  <c:v>1978.314166</c:v>
                </c:pt>
                <c:pt idx="530">
                  <c:v>2027.975416</c:v>
                </c:pt>
                <c:pt idx="531">
                  <c:v>2072.791666</c:v>
                </c:pt>
                <c:pt idx="532">
                  <c:v>2090.758541</c:v>
                </c:pt>
                <c:pt idx="533">
                  <c:v>2110.340416</c:v>
                </c:pt>
                <c:pt idx="534">
                  <c:v>2127.499791</c:v>
                </c:pt>
                <c:pt idx="535">
                  <c:v>2145.264791</c:v>
                </c:pt>
                <c:pt idx="536">
                  <c:v>2173.931041</c:v>
                </c:pt>
                <c:pt idx="537">
                  <c:v>2195.531666</c:v>
                </c:pt>
                <c:pt idx="538">
                  <c:v>2220.766041</c:v>
                </c:pt>
                <c:pt idx="539">
                  <c:v>2245.394791</c:v>
                </c:pt>
                <c:pt idx="540">
                  <c:v>2287.788541</c:v>
                </c:pt>
                <c:pt idx="541">
                  <c:v>2348.668341</c:v>
                </c:pt>
                <c:pt idx="542">
                  <c:v>2383.390841</c:v>
                </c:pt>
                <c:pt idx="543">
                  <c:v>2400.348341</c:v>
                </c:pt>
                <c:pt idx="544">
                  <c:v>2411.653341</c:v>
                </c:pt>
                <c:pt idx="545">
                  <c:v>2424.573341</c:v>
                </c:pt>
                <c:pt idx="546">
                  <c:v>2435.474591</c:v>
                </c:pt>
                <c:pt idx="547">
                  <c:v>2441.127091</c:v>
                </c:pt>
                <c:pt idx="548">
                  <c:v>2444.155216</c:v>
                </c:pt>
                <c:pt idx="549">
                  <c:v>2445.770216</c:v>
                </c:pt>
                <c:pt idx="550">
                  <c:v>2446.577716</c:v>
                </c:pt>
                <c:pt idx="551">
                  <c:v>2446.577716</c:v>
                </c:pt>
                <c:pt idx="552">
                  <c:v>2446.577716</c:v>
                </c:pt>
                <c:pt idx="553">
                  <c:v>2446.577716</c:v>
                </c:pt>
                <c:pt idx="554">
                  <c:v>2446.577716</c:v>
                </c:pt>
                <c:pt idx="555">
                  <c:v>2446.577716</c:v>
                </c:pt>
                <c:pt idx="556">
                  <c:v>2446.577716</c:v>
                </c:pt>
                <c:pt idx="557">
                  <c:v>2446.577716</c:v>
                </c:pt>
                <c:pt idx="558">
                  <c:v>2446.577716</c:v>
                </c:pt>
                <c:pt idx="559">
                  <c:v>2446.577716</c:v>
                </c:pt>
                <c:pt idx="560">
                  <c:v>2446.577716</c:v>
                </c:pt>
                <c:pt idx="561">
                  <c:v>2446.577716</c:v>
                </c:pt>
                <c:pt idx="562">
                  <c:v>2446.577716</c:v>
                </c:pt>
                <c:pt idx="563">
                  <c:v>2446.577716</c:v>
                </c:pt>
                <c:pt idx="564">
                  <c:v>2446.577716</c:v>
                </c:pt>
                <c:pt idx="565">
                  <c:v>2446.577716</c:v>
                </c:pt>
                <c:pt idx="566">
                  <c:v>2446.577716</c:v>
                </c:pt>
                <c:pt idx="567">
                  <c:v>2446.577716</c:v>
                </c:pt>
                <c:pt idx="568">
                  <c:v>2446.577716</c:v>
                </c:pt>
                <c:pt idx="569">
                  <c:v>2446.577716</c:v>
                </c:pt>
                <c:pt idx="570">
                  <c:v>2446.577716</c:v>
                </c:pt>
                <c:pt idx="571">
                  <c:v>2446.577716</c:v>
                </c:pt>
                <c:pt idx="572">
                  <c:v>2446.577716</c:v>
                </c:pt>
                <c:pt idx="573">
                  <c:v>2446.577716</c:v>
                </c:pt>
                <c:pt idx="574">
                  <c:v>2446.577716</c:v>
                </c:pt>
                <c:pt idx="575">
                  <c:v>2446.577716</c:v>
                </c:pt>
                <c:pt idx="576">
                  <c:v>2446.577716</c:v>
                </c:pt>
                <c:pt idx="577">
                  <c:v>2446.577716</c:v>
                </c:pt>
                <c:pt idx="578">
                  <c:v>2446.577716</c:v>
                </c:pt>
                <c:pt idx="579">
                  <c:v>2446.577716</c:v>
                </c:pt>
                <c:pt idx="580">
                  <c:v>2446.577716</c:v>
                </c:pt>
                <c:pt idx="581">
                  <c:v>2446.577716</c:v>
                </c:pt>
                <c:pt idx="582">
                  <c:v>2446.577716</c:v>
                </c:pt>
                <c:pt idx="583">
                  <c:v>2430.788243</c:v>
                </c:pt>
                <c:pt idx="584">
                  <c:v>2417.346532</c:v>
                </c:pt>
                <c:pt idx="585">
                  <c:v>2417.346532</c:v>
                </c:pt>
                <c:pt idx="586">
                  <c:v>2417.346532</c:v>
                </c:pt>
                <c:pt idx="587">
                  <c:v>2417.346532</c:v>
                </c:pt>
                <c:pt idx="588">
                  <c:v>2417.346506</c:v>
                </c:pt>
                <c:pt idx="589">
                  <c:v>2417.346506</c:v>
                </c:pt>
                <c:pt idx="590">
                  <c:v>2417.346506</c:v>
                </c:pt>
                <c:pt idx="591">
                  <c:v>2417.346506</c:v>
                </c:pt>
                <c:pt idx="592">
                  <c:v>2377.872795</c:v>
                </c:pt>
                <c:pt idx="593">
                  <c:v>2372.177153</c:v>
                </c:pt>
                <c:pt idx="594">
                  <c:v>2187.550512</c:v>
                </c:pt>
                <c:pt idx="595">
                  <c:v>2005.971565</c:v>
                </c:pt>
                <c:pt idx="596">
                  <c:v>1913.00766</c:v>
                </c:pt>
                <c:pt idx="597">
                  <c:v>1823.520578</c:v>
                </c:pt>
                <c:pt idx="598">
                  <c:v>1701.530437</c:v>
                </c:pt>
                <c:pt idx="599">
                  <c:v>1589.059932</c:v>
                </c:pt>
                <c:pt idx="600">
                  <c:v>1452.180762</c:v>
                </c:pt>
                <c:pt idx="601">
                  <c:v>1306.377213</c:v>
                </c:pt>
                <c:pt idx="602">
                  <c:v>1232.699482</c:v>
                </c:pt>
                <c:pt idx="603">
                  <c:v>1232.699482</c:v>
                </c:pt>
                <c:pt idx="604">
                  <c:v>1232.699482</c:v>
                </c:pt>
                <c:pt idx="605">
                  <c:v>1231.085482</c:v>
                </c:pt>
                <c:pt idx="606">
                  <c:v>1231.085482</c:v>
                </c:pt>
                <c:pt idx="607">
                  <c:v>1231.085482</c:v>
                </c:pt>
                <c:pt idx="608">
                  <c:v>1231.085482</c:v>
                </c:pt>
                <c:pt idx="609">
                  <c:v>1242.783069</c:v>
                </c:pt>
                <c:pt idx="610">
                  <c:v>1254.631069</c:v>
                </c:pt>
                <c:pt idx="611">
                  <c:v>1271.268419</c:v>
                </c:pt>
                <c:pt idx="612">
                  <c:v>1294.850507</c:v>
                </c:pt>
                <c:pt idx="613">
                  <c:v>1323.792969</c:v>
                </c:pt>
                <c:pt idx="614">
                  <c:v>1365.064532</c:v>
                </c:pt>
                <c:pt idx="615">
                  <c:v>1425.765494</c:v>
                </c:pt>
                <c:pt idx="616">
                  <c:v>1491.903782</c:v>
                </c:pt>
                <c:pt idx="617">
                  <c:v>1535.216288</c:v>
                </c:pt>
                <c:pt idx="618">
                  <c:v>1569.802029</c:v>
                </c:pt>
                <c:pt idx="619">
                  <c:v>1613.269148</c:v>
                </c:pt>
                <c:pt idx="620">
                  <c:v>1694.400787</c:v>
                </c:pt>
                <c:pt idx="621">
                  <c:v>1775.772799</c:v>
                </c:pt>
                <c:pt idx="622">
                  <c:v>1859.402012</c:v>
                </c:pt>
                <c:pt idx="623">
                  <c:v>1951.191012</c:v>
                </c:pt>
                <c:pt idx="624">
                  <c:v>2036.468213</c:v>
                </c:pt>
                <c:pt idx="625">
                  <c:v>2072.316463</c:v>
                </c:pt>
                <c:pt idx="626">
                  <c:v>2098.650202</c:v>
                </c:pt>
                <c:pt idx="627">
                  <c:v>2130.293514</c:v>
                </c:pt>
                <c:pt idx="628">
                  <c:v>2145.086653</c:v>
                </c:pt>
                <c:pt idx="629">
                  <c:v>2145.086653</c:v>
                </c:pt>
                <c:pt idx="630">
                  <c:v>2145.086653</c:v>
                </c:pt>
                <c:pt idx="631">
                  <c:v>2145.086653</c:v>
                </c:pt>
                <c:pt idx="632">
                  <c:v>2169.891391</c:v>
                </c:pt>
                <c:pt idx="633">
                  <c:v>2217.730279</c:v>
                </c:pt>
                <c:pt idx="634">
                  <c:v>2240.950654</c:v>
                </c:pt>
                <c:pt idx="635">
                  <c:v>2264.673104</c:v>
                </c:pt>
                <c:pt idx="636">
                  <c:v>2326.95074</c:v>
                </c:pt>
                <c:pt idx="637">
                  <c:v>2326.95074</c:v>
                </c:pt>
                <c:pt idx="638">
                  <c:v>2330.259106</c:v>
                </c:pt>
                <c:pt idx="639">
                  <c:v>2349.741659</c:v>
                </c:pt>
                <c:pt idx="640">
                  <c:v>2368.648773</c:v>
                </c:pt>
                <c:pt idx="641">
                  <c:v>2368.648773</c:v>
                </c:pt>
                <c:pt idx="642">
                  <c:v>2374.094442</c:v>
                </c:pt>
                <c:pt idx="643">
                  <c:v>2374.094442</c:v>
                </c:pt>
                <c:pt idx="644">
                  <c:v>2374.094442</c:v>
                </c:pt>
                <c:pt idx="645">
                  <c:v>2376.230992</c:v>
                </c:pt>
                <c:pt idx="646">
                  <c:v>2376.230992</c:v>
                </c:pt>
                <c:pt idx="647">
                  <c:v>2376.230992</c:v>
                </c:pt>
                <c:pt idx="648">
                  <c:v>2376.230992</c:v>
                </c:pt>
                <c:pt idx="649">
                  <c:v>2376.230992</c:v>
                </c:pt>
                <c:pt idx="650">
                  <c:v>2376.230992</c:v>
                </c:pt>
                <c:pt idx="651">
                  <c:v>2376.230992</c:v>
                </c:pt>
                <c:pt idx="652">
                  <c:v>2376.230992</c:v>
                </c:pt>
                <c:pt idx="653">
                  <c:v>2376.230966</c:v>
                </c:pt>
                <c:pt idx="654">
                  <c:v>2347.656018</c:v>
                </c:pt>
                <c:pt idx="655">
                  <c:v>2347.656018</c:v>
                </c:pt>
                <c:pt idx="656">
                  <c:v>2284.498097</c:v>
                </c:pt>
                <c:pt idx="657">
                  <c:v>2284.498097</c:v>
                </c:pt>
                <c:pt idx="658">
                  <c:v>2284.498097</c:v>
                </c:pt>
                <c:pt idx="659">
                  <c:v>2284.498097</c:v>
                </c:pt>
                <c:pt idx="660">
                  <c:v>2284.498097</c:v>
                </c:pt>
                <c:pt idx="661">
                  <c:v>2282.351732</c:v>
                </c:pt>
                <c:pt idx="662">
                  <c:v>2258.017009</c:v>
                </c:pt>
                <c:pt idx="663">
                  <c:v>2240.931584</c:v>
                </c:pt>
                <c:pt idx="664">
                  <c:v>2217.247347</c:v>
                </c:pt>
                <c:pt idx="665">
                  <c:v>2138.299978</c:v>
                </c:pt>
                <c:pt idx="666">
                  <c:v>2075.141952</c:v>
                </c:pt>
                <c:pt idx="667">
                  <c:v>1972.510373</c:v>
                </c:pt>
                <c:pt idx="668">
                  <c:v>1861.984057</c:v>
                </c:pt>
                <c:pt idx="669">
                  <c:v>1732.932004</c:v>
                </c:pt>
                <c:pt idx="670">
                  <c:v>1535.563635</c:v>
                </c:pt>
                <c:pt idx="671">
                  <c:v>1322.405793</c:v>
                </c:pt>
                <c:pt idx="672">
                  <c:v>1200</c:v>
                </c:pt>
              </c:numCache>
            </c:numRef>
          </c:yVal>
        </c:ser>
        <c:ser>
          <c:idx val="1"/>
          <c:order val="1"/>
          <c:tx>
            <c:v>7月7日週</c:v>
          </c:tx>
          <c:spPr>
            <a:ln xmlns:a="http://schemas.openxmlformats.org/drawingml/2006/main" w="19050">
              <a:solidFill>
                <a:srgbClr val="159A8C"/>
              </a:solidFill>
            </a:ln>
          </c:spPr>
          <c:marker>
            <c:symbol val="none"/>
          </c:marker>
          <c:xVal>
            <c:numRef>
              <c:f>'Chart Data'!$C$2:$C$674</c:f>
              <c:numCache>
                <c:formatCode>General</c:formatCode>
                <c:ptCount val="673"/>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numCache>
            </c:numRef>
          </c:xVal>
          <c:yVal>
            <c:numRef>
              <c:f>'Chart Data'!$D$2:$D$674</c:f>
              <c:numCache>
                <c:formatCode>0</c:formatCode>
                <c:ptCount val="673"/>
                <c:pt idx="0">
                  <c:v>3000</c:v>
                </c:pt>
                <c:pt idx="1">
                  <c:v>3000</c:v>
                </c:pt>
                <c:pt idx="2">
                  <c:v>3000</c:v>
                </c:pt>
                <c:pt idx="3">
                  <c:v>2992.105263</c:v>
                </c:pt>
                <c:pt idx="4">
                  <c:v>2992.105263</c:v>
                </c:pt>
                <c:pt idx="5">
                  <c:v>2853.361097</c:v>
                </c:pt>
                <c:pt idx="6">
                  <c:v>2640.203202</c:v>
                </c:pt>
                <c:pt idx="7">
                  <c:v>2429.086358</c:v>
                </c:pt>
                <c:pt idx="8">
                  <c:v>2228.264886</c:v>
                </c:pt>
                <c:pt idx="9">
                  <c:v>2212.475413</c:v>
                </c:pt>
                <c:pt idx="10">
                  <c:v>2212.475413</c:v>
                </c:pt>
                <c:pt idx="11">
                  <c:v>2204.580702</c:v>
                </c:pt>
                <c:pt idx="12">
                  <c:v>2188.791229</c:v>
                </c:pt>
                <c:pt idx="13">
                  <c:v>2138.399867</c:v>
                </c:pt>
                <c:pt idx="14">
                  <c:v>2067.347235</c:v>
                </c:pt>
                <c:pt idx="15">
                  <c:v>1980.50513</c:v>
                </c:pt>
                <c:pt idx="16">
                  <c:v>1925.241946</c:v>
                </c:pt>
                <c:pt idx="17">
                  <c:v>1925.241835</c:v>
                </c:pt>
                <c:pt idx="18">
                  <c:v>1905.808155</c:v>
                </c:pt>
                <c:pt idx="19">
                  <c:v>1882.123945</c:v>
                </c:pt>
                <c:pt idx="20">
                  <c:v>1853.023682</c:v>
                </c:pt>
                <c:pt idx="21">
                  <c:v>1843.04684</c:v>
                </c:pt>
                <c:pt idx="22">
                  <c:v>1817.108305</c:v>
                </c:pt>
                <c:pt idx="23">
                  <c:v>1777.165384</c:v>
                </c:pt>
                <c:pt idx="24">
                  <c:v>1730.030475</c:v>
                </c:pt>
                <c:pt idx="25">
                  <c:v>1663.560765</c:v>
                </c:pt>
                <c:pt idx="26">
                  <c:v>1663.560765</c:v>
                </c:pt>
                <c:pt idx="27">
                  <c:v>1663.560765</c:v>
                </c:pt>
                <c:pt idx="28">
                  <c:v>1663.560765</c:v>
                </c:pt>
                <c:pt idx="29">
                  <c:v>1663.560765</c:v>
                </c:pt>
                <c:pt idx="30">
                  <c:v>1663.560765</c:v>
                </c:pt>
                <c:pt idx="31">
                  <c:v>1663.560765</c:v>
                </c:pt>
                <c:pt idx="32">
                  <c:v>1663.560765</c:v>
                </c:pt>
                <c:pt idx="33">
                  <c:v>1663.560765</c:v>
                </c:pt>
                <c:pt idx="34">
                  <c:v>1739.26389</c:v>
                </c:pt>
                <c:pt idx="35">
                  <c:v>1739.26389</c:v>
                </c:pt>
                <c:pt idx="36">
                  <c:v>1739.26389</c:v>
                </c:pt>
                <c:pt idx="37">
                  <c:v>1739.26389</c:v>
                </c:pt>
                <c:pt idx="38">
                  <c:v>1739.26389</c:v>
                </c:pt>
                <c:pt idx="39">
                  <c:v>1739.26389</c:v>
                </c:pt>
                <c:pt idx="40">
                  <c:v>1739.26389</c:v>
                </c:pt>
                <c:pt idx="41">
                  <c:v>1739.26389</c:v>
                </c:pt>
                <c:pt idx="42">
                  <c:v>1739.26389</c:v>
                </c:pt>
                <c:pt idx="43">
                  <c:v>1739.26389</c:v>
                </c:pt>
                <c:pt idx="44">
                  <c:v>1861.398265</c:v>
                </c:pt>
                <c:pt idx="45">
                  <c:v>1900.900474</c:v>
                </c:pt>
                <c:pt idx="46">
                  <c:v>1900.900474</c:v>
                </c:pt>
                <c:pt idx="47">
                  <c:v>1900.900474</c:v>
                </c:pt>
                <c:pt idx="48">
                  <c:v>2026.264849</c:v>
                </c:pt>
                <c:pt idx="49">
                  <c:v>2132.434604</c:v>
                </c:pt>
                <c:pt idx="50">
                  <c:v>2258.404604</c:v>
                </c:pt>
                <c:pt idx="51">
                  <c:v>2382.557729</c:v>
                </c:pt>
                <c:pt idx="52">
                  <c:v>2504.288354</c:v>
                </c:pt>
                <c:pt idx="53">
                  <c:v>2622.990831</c:v>
                </c:pt>
                <c:pt idx="54">
                  <c:v>2738.261456</c:v>
                </c:pt>
                <c:pt idx="55">
                  <c:v>2850.907706</c:v>
                </c:pt>
                <c:pt idx="56">
                  <c:v>2960.929581</c:v>
                </c:pt>
                <c:pt idx="57">
                  <c:v>3067.047906</c:v>
                </c:pt>
                <c:pt idx="58">
                  <c:v>3167.623693</c:v>
                </c:pt>
                <c:pt idx="59">
                  <c:v>3264.923168</c:v>
                </c:pt>
                <c:pt idx="60">
                  <c:v>3355.543431</c:v>
                </c:pt>
                <c:pt idx="61">
                  <c:v>3439.443393</c:v>
                </c:pt>
                <c:pt idx="62">
                  <c:v>3514.515718</c:v>
                </c:pt>
                <c:pt idx="63">
                  <c:v>3582.578706</c:v>
                </c:pt>
                <c:pt idx="64">
                  <c:v>3643.871043</c:v>
                </c:pt>
                <c:pt idx="65">
                  <c:v>3698.855381</c:v>
                </c:pt>
                <c:pt idx="66">
                  <c:v>3747.640731</c:v>
                </c:pt>
                <c:pt idx="67">
                  <c:v>3789.859681</c:v>
                </c:pt>
                <c:pt idx="68">
                  <c:v>3825.590843</c:v>
                </c:pt>
                <c:pt idx="69">
                  <c:v>3854.662743</c:v>
                </c:pt>
                <c:pt idx="70">
                  <c:v>3877.144968</c:v>
                </c:pt>
                <c:pt idx="71">
                  <c:v>3893.723893</c:v>
                </c:pt>
                <c:pt idx="72">
                  <c:v>3905.498906</c:v>
                </c:pt>
                <c:pt idx="73">
                  <c:v>3905.498906</c:v>
                </c:pt>
                <c:pt idx="74">
                  <c:v>3905.498906</c:v>
                </c:pt>
                <c:pt idx="75">
                  <c:v>3905.498906</c:v>
                </c:pt>
                <c:pt idx="76">
                  <c:v>3890.517262</c:v>
                </c:pt>
                <c:pt idx="77">
                  <c:v>3866.833052</c:v>
                </c:pt>
                <c:pt idx="78">
                  <c:v>3866.833052</c:v>
                </c:pt>
                <c:pt idx="79">
                  <c:v>3866.833052</c:v>
                </c:pt>
                <c:pt idx="80">
                  <c:v>3866.833052</c:v>
                </c:pt>
                <c:pt idx="81">
                  <c:v>3866.833052</c:v>
                </c:pt>
                <c:pt idx="82">
                  <c:v>3866.833052</c:v>
                </c:pt>
                <c:pt idx="83">
                  <c:v>3866.833052</c:v>
                </c:pt>
                <c:pt idx="84">
                  <c:v>3866.833052</c:v>
                </c:pt>
                <c:pt idx="85">
                  <c:v>3866.833052</c:v>
                </c:pt>
                <c:pt idx="86">
                  <c:v>3866.833052</c:v>
                </c:pt>
                <c:pt idx="87">
                  <c:v>3866.833052</c:v>
                </c:pt>
                <c:pt idx="88">
                  <c:v>3866.833052</c:v>
                </c:pt>
                <c:pt idx="89">
                  <c:v>3866.833052</c:v>
                </c:pt>
                <c:pt idx="90">
                  <c:v>3866.833052</c:v>
                </c:pt>
                <c:pt idx="91">
                  <c:v>3866.833052</c:v>
                </c:pt>
                <c:pt idx="92">
                  <c:v>3866.833052</c:v>
                </c:pt>
                <c:pt idx="93">
                  <c:v>3851.043578</c:v>
                </c:pt>
                <c:pt idx="94">
                  <c:v>3851.043525</c:v>
                </c:pt>
                <c:pt idx="95">
                  <c:v>3851.043473</c:v>
                </c:pt>
                <c:pt idx="96">
                  <c:v>3851.043394</c:v>
                </c:pt>
                <c:pt idx="97">
                  <c:v>3803.162072</c:v>
                </c:pt>
                <c:pt idx="98">
                  <c:v>3653.162072</c:v>
                </c:pt>
                <c:pt idx="99">
                  <c:v>3554.934899</c:v>
                </c:pt>
                <c:pt idx="100">
                  <c:v>3460.198004</c:v>
                </c:pt>
                <c:pt idx="101">
                  <c:v>3404.93482</c:v>
                </c:pt>
                <c:pt idx="102">
                  <c:v>3357.566372</c:v>
                </c:pt>
                <c:pt idx="103">
                  <c:v>3294.408425</c:v>
                </c:pt>
                <c:pt idx="104">
                  <c:v>3218.603896</c:v>
                </c:pt>
                <c:pt idx="105">
                  <c:v>3102.013142</c:v>
                </c:pt>
                <c:pt idx="106">
                  <c:v>2999.381563</c:v>
                </c:pt>
                <c:pt idx="107">
                  <c:v>2906.048711</c:v>
                </c:pt>
                <c:pt idx="108">
                  <c:v>2756.048711</c:v>
                </c:pt>
                <c:pt idx="109">
                  <c:v>2645.522395</c:v>
                </c:pt>
                <c:pt idx="110">
                  <c:v>2517.198785</c:v>
                </c:pt>
                <c:pt idx="111">
                  <c:v>2382.988259</c:v>
                </c:pt>
                <c:pt idx="112">
                  <c:v>2232.988259</c:v>
                </c:pt>
                <c:pt idx="113">
                  <c:v>2201.409312</c:v>
                </c:pt>
                <c:pt idx="114">
                  <c:v>2161.935627</c:v>
                </c:pt>
                <c:pt idx="115">
                  <c:v>2130.356654</c:v>
                </c:pt>
                <c:pt idx="116">
                  <c:v>2055.813854</c:v>
                </c:pt>
                <c:pt idx="117">
                  <c:v>1915.156185</c:v>
                </c:pt>
                <c:pt idx="118">
                  <c:v>1736.883028</c:v>
                </c:pt>
                <c:pt idx="119">
                  <c:v>1566.977124</c:v>
                </c:pt>
                <c:pt idx="120">
                  <c:v>1390.545018</c:v>
                </c:pt>
                <c:pt idx="121">
                  <c:v>1316.010545</c:v>
                </c:pt>
                <c:pt idx="122">
                  <c:v>1260.747387</c:v>
                </c:pt>
                <c:pt idx="123">
                  <c:v>1260.747387</c:v>
                </c:pt>
                <c:pt idx="124">
                  <c:v>1306.330287</c:v>
                </c:pt>
                <c:pt idx="125">
                  <c:v>1358.776699</c:v>
                </c:pt>
                <c:pt idx="126">
                  <c:v>1358.776699</c:v>
                </c:pt>
                <c:pt idx="127">
                  <c:v>1358.776699</c:v>
                </c:pt>
                <c:pt idx="128">
                  <c:v>1432.890474</c:v>
                </c:pt>
                <c:pt idx="129">
                  <c:v>1432.890474</c:v>
                </c:pt>
                <c:pt idx="130">
                  <c:v>1432.890474</c:v>
                </c:pt>
                <c:pt idx="131">
                  <c:v>1432.890474</c:v>
                </c:pt>
                <c:pt idx="132">
                  <c:v>1432.890474</c:v>
                </c:pt>
                <c:pt idx="133">
                  <c:v>1540.538062</c:v>
                </c:pt>
                <c:pt idx="134">
                  <c:v>1651.692574</c:v>
                </c:pt>
                <c:pt idx="135">
                  <c:v>1767.999887</c:v>
                </c:pt>
                <c:pt idx="136">
                  <c:v>1767.999887</c:v>
                </c:pt>
                <c:pt idx="137">
                  <c:v>1767.999887</c:v>
                </c:pt>
                <c:pt idx="138">
                  <c:v>1890.218574</c:v>
                </c:pt>
                <c:pt idx="139">
                  <c:v>2014.999649</c:v>
                </c:pt>
                <c:pt idx="140">
                  <c:v>2014.999649</c:v>
                </c:pt>
                <c:pt idx="141">
                  <c:v>2145.882812</c:v>
                </c:pt>
                <c:pt idx="142">
                  <c:v>2145.882812</c:v>
                </c:pt>
                <c:pt idx="143">
                  <c:v>2145.882812</c:v>
                </c:pt>
                <c:pt idx="144">
                  <c:v>2145.882812</c:v>
                </c:pt>
                <c:pt idx="145">
                  <c:v>2145.882812</c:v>
                </c:pt>
                <c:pt idx="146">
                  <c:v>2220.415361</c:v>
                </c:pt>
                <c:pt idx="147">
                  <c:v>2350.650149</c:v>
                </c:pt>
                <c:pt idx="148">
                  <c:v>2477.221974</c:v>
                </c:pt>
                <c:pt idx="149">
                  <c:v>2601.799986</c:v>
                </c:pt>
                <c:pt idx="150">
                  <c:v>2725.542949</c:v>
                </c:pt>
                <c:pt idx="151">
                  <c:v>2843.503736</c:v>
                </c:pt>
                <c:pt idx="152">
                  <c:v>2955.879949</c:v>
                </c:pt>
                <c:pt idx="153">
                  <c:v>3040.596199</c:v>
                </c:pt>
                <c:pt idx="154">
                  <c:v>3132.456922</c:v>
                </c:pt>
                <c:pt idx="155">
                  <c:v>3229.730486</c:v>
                </c:pt>
                <c:pt idx="156">
                  <c:v>3320.325288</c:v>
                </c:pt>
                <c:pt idx="157">
                  <c:v>3404.199838</c:v>
                </c:pt>
                <c:pt idx="158">
                  <c:v>3479.246988</c:v>
                </c:pt>
                <c:pt idx="159">
                  <c:v>3547.284088</c:v>
                </c:pt>
                <c:pt idx="160">
                  <c:v>3608.549588</c:v>
                </c:pt>
                <c:pt idx="161">
                  <c:v>3659.125706</c:v>
                </c:pt>
                <c:pt idx="162">
                  <c:v>3702.018221</c:v>
                </c:pt>
                <c:pt idx="163">
                  <c:v>3744.205346</c:v>
                </c:pt>
                <c:pt idx="164">
                  <c:v>3779.903258</c:v>
                </c:pt>
                <c:pt idx="165">
                  <c:v>3782.757203</c:v>
                </c:pt>
                <c:pt idx="166">
                  <c:v>3783.829729</c:v>
                </c:pt>
                <c:pt idx="167">
                  <c:v>3800.374193</c:v>
                </c:pt>
                <c:pt idx="168">
                  <c:v>3810.551322</c:v>
                </c:pt>
                <c:pt idx="169">
                  <c:v>3817.475048</c:v>
                </c:pt>
                <c:pt idx="170">
                  <c:v>3822.181348</c:v>
                </c:pt>
                <c:pt idx="171">
                  <c:v>3822.181348</c:v>
                </c:pt>
                <c:pt idx="172">
                  <c:v>3822.181348</c:v>
                </c:pt>
                <c:pt idx="173">
                  <c:v>3806.391875</c:v>
                </c:pt>
                <c:pt idx="174">
                  <c:v>3782.707664</c:v>
                </c:pt>
                <c:pt idx="175">
                  <c:v>3782.707638</c:v>
                </c:pt>
                <c:pt idx="176">
                  <c:v>3782.707611</c:v>
                </c:pt>
                <c:pt idx="177">
                  <c:v>3766.918138</c:v>
                </c:pt>
                <c:pt idx="178">
                  <c:v>3728.296151</c:v>
                </c:pt>
                <c:pt idx="179">
                  <c:v>3704.611915</c:v>
                </c:pt>
                <c:pt idx="180">
                  <c:v>3680.927704</c:v>
                </c:pt>
                <c:pt idx="181">
                  <c:v>3673.032967</c:v>
                </c:pt>
                <c:pt idx="182">
                  <c:v>3657.243493</c:v>
                </c:pt>
                <c:pt idx="183">
                  <c:v>3629.58902</c:v>
                </c:pt>
                <c:pt idx="184">
                  <c:v>3582.220599</c:v>
                </c:pt>
                <c:pt idx="185">
                  <c:v>3582.220572</c:v>
                </c:pt>
                <c:pt idx="186">
                  <c:v>3582.220572</c:v>
                </c:pt>
                <c:pt idx="187">
                  <c:v>3582.220572</c:v>
                </c:pt>
                <c:pt idx="188">
                  <c:v>3582.220572</c:v>
                </c:pt>
                <c:pt idx="189">
                  <c:v>3510.7328</c:v>
                </c:pt>
                <c:pt idx="190">
                  <c:v>3383.317712</c:v>
                </c:pt>
                <c:pt idx="191">
                  <c:v>3241.212396</c:v>
                </c:pt>
                <c:pt idx="192">
                  <c:v>3121.539009</c:v>
                </c:pt>
                <c:pt idx="193">
                  <c:v>3004.692614</c:v>
                </c:pt>
                <c:pt idx="194">
                  <c:v>2878.376825</c:v>
                </c:pt>
                <c:pt idx="195">
                  <c:v>2807.324141</c:v>
                </c:pt>
                <c:pt idx="196">
                  <c:v>2732.955591</c:v>
                </c:pt>
                <c:pt idx="197">
                  <c:v>2715.977611</c:v>
                </c:pt>
                <c:pt idx="198">
                  <c:v>2715.977585</c:v>
                </c:pt>
                <c:pt idx="199">
                  <c:v>2715.977558</c:v>
                </c:pt>
                <c:pt idx="200">
                  <c:v>2660.7144</c:v>
                </c:pt>
                <c:pt idx="201">
                  <c:v>2644.924927</c:v>
                </c:pt>
                <c:pt idx="202">
                  <c:v>2621.240716</c:v>
                </c:pt>
                <c:pt idx="203">
                  <c:v>2603.669644</c:v>
                </c:pt>
                <c:pt idx="204">
                  <c:v>2564.19596</c:v>
                </c:pt>
                <c:pt idx="205">
                  <c:v>2564.19596</c:v>
                </c:pt>
                <c:pt idx="206">
                  <c:v>2536.16847</c:v>
                </c:pt>
                <c:pt idx="207">
                  <c:v>2512.484207</c:v>
                </c:pt>
                <c:pt idx="208">
                  <c:v>2442.880488</c:v>
                </c:pt>
                <c:pt idx="209">
                  <c:v>2384.900555</c:v>
                </c:pt>
                <c:pt idx="210">
                  <c:v>2329.376991</c:v>
                </c:pt>
                <c:pt idx="211">
                  <c:v>2211.735159</c:v>
                </c:pt>
                <c:pt idx="212">
                  <c:v>2076.593961</c:v>
                </c:pt>
                <c:pt idx="213">
                  <c:v>1915.593076</c:v>
                </c:pt>
                <c:pt idx="214">
                  <c:v>1723.285495</c:v>
                </c:pt>
                <c:pt idx="215">
                  <c:v>1564.603126</c:v>
                </c:pt>
                <c:pt idx="216">
                  <c:v>1441.211649</c:v>
                </c:pt>
                <c:pt idx="217">
                  <c:v>1322.790622</c:v>
                </c:pt>
                <c:pt idx="218">
                  <c:v>1259.632728</c:v>
                </c:pt>
                <c:pt idx="219">
                  <c:v>1259.632728</c:v>
                </c:pt>
                <c:pt idx="220">
                  <c:v>1259.632728</c:v>
                </c:pt>
                <c:pt idx="221">
                  <c:v>1259.632728</c:v>
                </c:pt>
                <c:pt idx="222">
                  <c:v>1259.632728</c:v>
                </c:pt>
                <c:pt idx="223">
                  <c:v>1259.632728</c:v>
                </c:pt>
                <c:pt idx="224">
                  <c:v>1259.632728</c:v>
                </c:pt>
                <c:pt idx="225">
                  <c:v>1259.632728</c:v>
                </c:pt>
                <c:pt idx="226">
                  <c:v>1259.632728</c:v>
                </c:pt>
                <c:pt idx="227">
                  <c:v>1259.632728</c:v>
                </c:pt>
                <c:pt idx="228">
                  <c:v>1362.22774</c:v>
                </c:pt>
                <c:pt idx="229">
                  <c:v>1362.22774</c:v>
                </c:pt>
                <c:pt idx="230">
                  <c:v>1362.22774</c:v>
                </c:pt>
                <c:pt idx="231">
                  <c:v>1478.416065</c:v>
                </c:pt>
                <c:pt idx="232">
                  <c:v>1478.416065</c:v>
                </c:pt>
                <c:pt idx="233">
                  <c:v>1478.416065</c:v>
                </c:pt>
                <c:pt idx="234">
                  <c:v>1600.53999</c:v>
                </c:pt>
                <c:pt idx="235">
                  <c:v>1725.232715</c:v>
                </c:pt>
                <c:pt idx="236">
                  <c:v>1853.15259</c:v>
                </c:pt>
                <c:pt idx="237">
                  <c:v>1983.957853</c:v>
                </c:pt>
                <c:pt idx="238">
                  <c:v>2115.836615</c:v>
                </c:pt>
                <c:pt idx="239">
                  <c:v>2178.732706</c:v>
                </c:pt>
                <c:pt idx="240">
                  <c:v>2309.645319</c:v>
                </c:pt>
                <c:pt idx="241">
                  <c:v>2309.645319</c:v>
                </c:pt>
                <c:pt idx="242">
                  <c:v>2309.645319</c:v>
                </c:pt>
                <c:pt idx="243">
                  <c:v>2439.830944</c:v>
                </c:pt>
                <c:pt idx="244">
                  <c:v>2566.358119</c:v>
                </c:pt>
                <c:pt idx="245">
                  <c:v>2690.894331</c:v>
                </c:pt>
                <c:pt idx="246">
                  <c:v>2814.597394</c:v>
                </c:pt>
                <c:pt idx="247">
                  <c:v>2932.520894</c:v>
                </c:pt>
                <c:pt idx="248">
                  <c:v>3044.862194</c:v>
                </c:pt>
                <c:pt idx="249">
                  <c:v>3150.920194</c:v>
                </c:pt>
                <c:pt idx="250">
                  <c:v>3251.437794</c:v>
                </c:pt>
                <c:pt idx="251">
                  <c:v>3282.197176</c:v>
                </c:pt>
                <c:pt idx="252">
                  <c:v>3372.759726</c:v>
                </c:pt>
                <c:pt idx="253">
                  <c:v>3449.476501</c:v>
                </c:pt>
                <c:pt idx="254">
                  <c:v>3516.940196</c:v>
                </c:pt>
                <c:pt idx="255">
                  <c:v>3584.944283</c:v>
                </c:pt>
                <c:pt idx="256">
                  <c:v>3646.175583</c:v>
                </c:pt>
                <c:pt idx="257">
                  <c:v>3701.095796</c:v>
                </c:pt>
                <c:pt idx="258">
                  <c:v>3749.813221</c:v>
                </c:pt>
                <c:pt idx="259">
                  <c:v>3791.960921</c:v>
                </c:pt>
                <c:pt idx="260">
                  <c:v>3827.617983</c:v>
                </c:pt>
                <c:pt idx="261">
                  <c:v>3856.613646</c:v>
                </c:pt>
                <c:pt idx="262">
                  <c:v>3879.019633</c:v>
                </c:pt>
                <c:pt idx="263">
                  <c:v>3895.523508</c:v>
                </c:pt>
                <c:pt idx="264">
                  <c:v>3907.223233</c:v>
                </c:pt>
                <c:pt idx="265">
                  <c:v>3914.955521</c:v>
                </c:pt>
                <c:pt idx="266">
                  <c:v>3919.617646</c:v>
                </c:pt>
                <c:pt idx="267">
                  <c:v>3921.636396</c:v>
                </c:pt>
                <c:pt idx="268">
                  <c:v>3921.637583</c:v>
                </c:pt>
                <c:pt idx="269">
                  <c:v>3921.637583</c:v>
                </c:pt>
                <c:pt idx="270">
                  <c:v>3921.637583</c:v>
                </c:pt>
                <c:pt idx="271">
                  <c:v>3921.637583</c:v>
                </c:pt>
                <c:pt idx="272">
                  <c:v>3921.637583</c:v>
                </c:pt>
                <c:pt idx="273">
                  <c:v>3921.637583</c:v>
                </c:pt>
                <c:pt idx="274">
                  <c:v>3921.637583</c:v>
                </c:pt>
                <c:pt idx="275">
                  <c:v>3921.637583</c:v>
                </c:pt>
                <c:pt idx="276">
                  <c:v>3921.637583</c:v>
                </c:pt>
                <c:pt idx="277">
                  <c:v>3921.637583</c:v>
                </c:pt>
                <c:pt idx="278">
                  <c:v>3921.637583</c:v>
                </c:pt>
                <c:pt idx="279">
                  <c:v>3921.637583</c:v>
                </c:pt>
                <c:pt idx="280">
                  <c:v>3921.637583</c:v>
                </c:pt>
                <c:pt idx="281">
                  <c:v>3921.637583</c:v>
                </c:pt>
                <c:pt idx="282">
                  <c:v>3921.637583</c:v>
                </c:pt>
                <c:pt idx="283">
                  <c:v>3921.637583</c:v>
                </c:pt>
                <c:pt idx="284">
                  <c:v>3921.637583</c:v>
                </c:pt>
                <c:pt idx="285">
                  <c:v>3842.690188</c:v>
                </c:pt>
                <c:pt idx="286">
                  <c:v>3703.441277</c:v>
                </c:pt>
                <c:pt idx="287">
                  <c:v>3553.441277</c:v>
                </c:pt>
                <c:pt idx="288">
                  <c:v>3427.125409</c:v>
                </c:pt>
                <c:pt idx="289">
                  <c:v>3313.108978</c:v>
                </c:pt>
                <c:pt idx="290">
                  <c:v>3149.139371</c:v>
                </c:pt>
                <c:pt idx="291">
                  <c:v>3023.350023</c:v>
                </c:pt>
                <c:pt idx="292">
                  <c:v>2936.507865</c:v>
                </c:pt>
                <c:pt idx="293">
                  <c:v>2920.718391</c:v>
                </c:pt>
                <c:pt idx="294">
                  <c:v>2920.718391</c:v>
                </c:pt>
                <c:pt idx="295">
                  <c:v>2920.718391</c:v>
                </c:pt>
                <c:pt idx="296">
                  <c:v>2920.718391</c:v>
                </c:pt>
                <c:pt idx="297">
                  <c:v>2875.285557</c:v>
                </c:pt>
                <c:pt idx="298">
                  <c:v>2757.648806</c:v>
                </c:pt>
                <c:pt idx="299">
                  <c:v>2647.122464</c:v>
                </c:pt>
                <c:pt idx="300">
                  <c:v>2510.905479</c:v>
                </c:pt>
                <c:pt idx="301">
                  <c:v>2447.648141</c:v>
                </c:pt>
                <c:pt idx="302">
                  <c:v>2431.858641</c:v>
                </c:pt>
                <c:pt idx="303">
                  <c:v>2422.720865</c:v>
                </c:pt>
                <c:pt idx="304">
                  <c:v>2391.141918</c:v>
                </c:pt>
                <c:pt idx="305">
                  <c:v>2332.1262</c:v>
                </c:pt>
                <c:pt idx="306">
                  <c:v>2202.976328</c:v>
                </c:pt>
                <c:pt idx="307">
                  <c:v>2129.212696</c:v>
                </c:pt>
                <c:pt idx="308">
                  <c:v>2060.855845</c:v>
                </c:pt>
                <c:pt idx="309">
                  <c:v>1974.890205</c:v>
                </c:pt>
                <c:pt idx="310">
                  <c:v>1777.115723</c:v>
                </c:pt>
                <c:pt idx="311">
                  <c:v>1580.352193</c:v>
                </c:pt>
                <c:pt idx="312">
                  <c:v>1423.899471</c:v>
                </c:pt>
                <c:pt idx="313">
                  <c:v>1254.273945</c:v>
                </c:pt>
                <c:pt idx="314">
                  <c:v>1200</c:v>
                </c:pt>
                <c:pt idx="315">
                  <c:v>1213.882837</c:v>
                </c:pt>
                <c:pt idx="316">
                  <c:v>1213.882837</c:v>
                </c:pt>
                <c:pt idx="317">
                  <c:v>1213.882837</c:v>
                </c:pt>
                <c:pt idx="318">
                  <c:v>1213.882837</c:v>
                </c:pt>
                <c:pt idx="319">
                  <c:v>1213.882837</c:v>
                </c:pt>
                <c:pt idx="320">
                  <c:v>1213.882837</c:v>
                </c:pt>
                <c:pt idx="321">
                  <c:v>1213.882837</c:v>
                </c:pt>
                <c:pt idx="322">
                  <c:v>1213.882837</c:v>
                </c:pt>
                <c:pt idx="323">
                  <c:v>1311.716687</c:v>
                </c:pt>
                <c:pt idx="324">
                  <c:v>1414.167537</c:v>
                </c:pt>
                <c:pt idx="325">
                  <c:v>1414.167537</c:v>
                </c:pt>
                <c:pt idx="326">
                  <c:v>1525.068637</c:v>
                </c:pt>
                <c:pt idx="327">
                  <c:v>1525.068637</c:v>
                </c:pt>
                <c:pt idx="328">
                  <c:v>1525.068637</c:v>
                </c:pt>
                <c:pt idx="329">
                  <c:v>1647.480887</c:v>
                </c:pt>
                <c:pt idx="330">
                  <c:v>1647.480887</c:v>
                </c:pt>
                <c:pt idx="331">
                  <c:v>1647.480887</c:v>
                </c:pt>
                <c:pt idx="332">
                  <c:v>1756.149658</c:v>
                </c:pt>
                <c:pt idx="333">
                  <c:v>1886.872983</c:v>
                </c:pt>
                <c:pt idx="334">
                  <c:v>2018.675508</c:v>
                </c:pt>
                <c:pt idx="335">
                  <c:v>2150.50772</c:v>
                </c:pt>
                <c:pt idx="336">
                  <c:v>2281.35502</c:v>
                </c:pt>
                <c:pt idx="337">
                  <c:v>2382.174833</c:v>
                </c:pt>
                <c:pt idx="338">
                  <c:v>2514.775595</c:v>
                </c:pt>
                <c:pt idx="339">
                  <c:v>2644.907308</c:v>
                </c:pt>
                <c:pt idx="340">
                  <c:v>2771.384133</c:v>
                </c:pt>
                <c:pt idx="341">
                  <c:v>2895.872608</c:v>
                </c:pt>
                <c:pt idx="342">
                  <c:v>3019.529595</c:v>
                </c:pt>
                <c:pt idx="343">
                  <c:v>3137.40987</c:v>
                </c:pt>
                <c:pt idx="344">
                  <c:v>3249.709608</c:v>
                </c:pt>
                <c:pt idx="345">
                  <c:v>3355.727684</c:v>
                </c:pt>
                <c:pt idx="346">
                  <c:v>3456.206334</c:v>
                </c:pt>
                <c:pt idx="347">
                  <c:v>3553.407484</c:v>
                </c:pt>
                <c:pt idx="348">
                  <c:v>3631.129359</c:v>
                </c:pt>
                <c:pt idx="349">
                  <c:v>3692.095609</c:v>
                </c:pt>
                <c:pt idx="350">
                  <c:v>3760.934984</c:v>
                </c:pt>
                <c:pt idx="351">
                  <c:v>3828.898459</c:v>
                </c:pt>
                <c:pt idx="352">
                  <c:v>3882.799084</c:v>
                </c:pt>
                <c:pt idx="353">
                  <c:v>3925.394709</c:v>
                </c:pt>
                <c:pt idx="354">
                  <c:v>3971.422209</c:v>
                </c:pt>
                <c:pt idx="355">
                  <c:v>4013.523121</c:v>
                </c:pt>
                <c:pt idx="356">
                  <c:v>4049.131734</c:v>
                </c:pt>
                <c:pt idx="357">
                  <c:v>4066.694859</c:v>
                </c:pt>
                <c:pt idx="358">
                  <c:v>4073.154859</c:v>
                </c:pt>
                <c:pt idx="359">
                  <c:v>4079.614859</c:v>
                </c:pt>
                <c:pt idx="360">
                  <c:v>4082.239234</c:v>
                </c:pt>
                <c:pt idx="361">
                  <c:v>4084.459859</c:v>
                </c:pt>
                <c:pt idx="362">
                  <c:v>4085.671109</c:v>
                </c:pt>
                <c:pt idx="363">
                  <c:v>4085.671109</c:v>
                </c:pt>
                <c:pt idx="364">
                  <c:v>4085.671109</c:v>
                </c:pt>
                <c:pt idx="365">
                  <c:v>4085.671109</c:v>
                </c:pt>
                <c:pt idx="366">
                  <c:v>4085.671109</c:v>
                </c:pt>
                <c:pt idx="367">
                  <c:v>4085.671109</c:v>
                </c:pt>
                <c:pt idx="368">
                  <c:v>4085.671109</c:v>
                </c:pt>
                <c:pt idx="369">
                  <c:v>4085.671109</c:v>
                </c:pt>
                <c:pt idx="370">
                  <c:v>4085.671109</c:v>
                </c:pt>
                <c:pt idx="371">
                  <c:v>4085.671109</c:v>
                </c:pt>
                <c:pt idx="372">
                  <c:v>4085.671109</c:v>
                </c:pt>
                <c:pt idx="373">
                  <c:v>4046.197425</c:v>
                </c:pt>
                <c:pt idx="374">
                  <c:v>4006.818059</c:v>
                </c:pt>
                <c:pt idx="375">
                  <c:v>3967.344375</c:v>
                </c:pt>
                <c:pt idx="376">
                  <c:v>3943.660164</c:v>
                </c:pt>
                <c:pt idx="377">
                  <c:v>3912.081217</c:v>
                </c:pt>
                <c:pt idx="378">
                  <c:v>3864.712769</c:v>
                </c:pt>
                <c:pt idx="379">
                  <c:v>3809.449611</c:v>
                </c:pt>
                <c:pt idx="380">
                  <c:v>3769.975927</c:v>
                </c:pt>
                <c:pt idx="381">
                  <c:v>3769.975927</c:v>
                </c:pt>
                <c:pt idx="382">
                  <c:v>3769.975927</c:v>
                </c:pt>
                <c:pt idx="383">
                  <c:v>3769.975927</c:v>
                </c:pt>
                <c:pt idx="384">
                  <c:v>3769.975927</c:v>
                </c:pt>
                <c:pt idx="385">
                  <c:v>3746.291717</c:v>
                </c:pt>
                <c:pt idx="386">
                  <c:v>3722.607585</c:v>
                </c:pt>
                <c:pt idx="387">
                  <c:v>3706.818085</c:v>
                </c:pt>
                <c:pt idx="388">
                  <c:v>3663.854207</c:v>
                </c:pt>
                <c:pt idx="389">
                  <c:v>3546.435428</c:v>
                </c:pt>
                <c:pt idx="390">
                  <c:v>3380.645954</c:v>
                </c:pt>
                <c:pt idx="391">
                  <c:v>3239.454845</c:v>
                </c:pt>
                <c:pt idx="392">
                  <c:v>3103.892645</c:v>
                </c:pt>
                <c:pt idx="393">
                  <c:v>2979.227775</c:v>
                </c:pt>
                <c:pt idx="394">
                  <c:v>2809.119778</c:v>
                </c:pt>
                <c:pt idx="395">
                  <c:v>2684.509048</c:v>
                </c:pt>
                <c:pt idx="396">
                  <c:v>2551.212674</c:v>
                </c:pt>
                <c:pt idx="397">
                  <c:v>2456.475832</c:v>
                </c:pt>
                <c:pt idx="398">
                  <c:v>2323.479791</c:v>
                </c:pt>
                <c:pt idx="399">
                  <c:v>2205.058712</c:v>
                </c:pt>
                <c:pt idx="400">
                  <c:v>2098.595194</c:v>
                </c:pt>
                <c:pt idx="401">
                  <c:v>2082.805747</c:v>
                </c:pt>
                <c:pt idx="402">
                  <c:v>2067.016273</c:v>
                </c:pt>
                <c:pt idx="403">
                  <c:v>2043.332063</c:v>
                </c:pt>
                <c:pt idx="404">
                  <c:v>1989.869958</c:v>
                </c:pt>
                <c:pt idx="405">
                  <c:v>1855.195064</c:v>
                </c:pt>
                <c:pt idx="406">
                  <c:v>1643.406643</c:v>
                </c:pt>
                <c:pt idx="407">
                  <c:v>1441.68629</c:v>
                </c:pt>
                <c:pt idx="408">
                  <c:v>1280.533106</c:v>
                </c:pt>
                <c:pt idx="409">
                  <c:v>1200.415758</c:v>
                </c:pt>
                <c:pt idx="410">
                  <c:v>1200</c:v>
                </c:pt>
                <c:pt idx="411">
                  <c:v>1200</c:v>
                </c:pt>
                <c:pt idx="412">
                  <c:v>1200</c:v>
                </c:pt>
                <c:pt idx="413">
                  <c:v>1224.62875</c:v>
                </c:pt>
                <c:pt idx="414">
                  <c:v>1256.525</c:v>
                </c:pt>
                <c:pt idx="415">
                  <c:v>1256.525</c:v>
                </c:pt>
                <c:pt idx="416">
                  <c:v>1256.525</c:v>
                </c:pt>
                <c:pt idx="417">
                  <c:v>1256.525</c:v>
                </c:pt>
                <c:pt idx="418">
                  <c:v>1256.525</c:v>
                </c:pt>
                <c:pt idx="419">
                  <c:v>1256.525</c:v>
                </c:pt>
                <c:pt idx="420">
                  <c:v>1256.525</c:v>
                </c:pt>
                <c:pt idx="421">
                  <c:v>1256.525</c:v>
                </c:pt>
                <c:pt idx="422">
                  <c:v>1256.525</c:v>
                </c:pt>
                <c:pt idx="423">
                  <c:v>1256.525</c:v>
                </c:pt>
                <c:pt idx="424">
                  <c:v>1256.525</c:v>
                </c:pt>
                <c:pt idx="425">
                  <c:v>1256.525</c:v>
                </c:pt>
                <c:pt idx="426">
                  <c:v>1256.525</c:v>
                </c:pt>
                <c:pt idx="427">
                  <c:v>1297.505625</c:v>
                </c:pt>
                <c:pt idx="428">
                  <c:v>1354.2325</c:v>
                </c:pt>
                <c:pt idx="429">
                  <c:v>1354.2325</c:v>
                </c:pt>
                <c:pt idx="430">
                  <c:v>1354.2325</c:v>
                </c:pt>
                <c:pt idx="431">
                  <c:v>1354.2325</c:v>
                </c:pt>
                <c:pt idx="432">
                  <c:v>1407.12375</c:v>
                </c:pt>
                <c:pt idx="433">
                  <c:v>1452.545625</c:v>
                </c:pt>
                <c:pt idx="434">
                  <c:v>1490.901875</c:v>
                </c:pt>
                <c:pt idx="435">
                  <c:v>1518.9625</c:v>
                </c:pt>
                <c:pt idx="436">
                  <c:v>1537.483565</c:v>
                </c:pt>
                <c:pt idx="437">
                  <c:v>1564.534815</c:v>
                </c:pt>
                <c:pt idx="438">
                  <c:v>1585.126065</c:v>
                </c:pt>
                <c:pt idx="439">
                  <c:v>1616.41669</c:v>
                </c:pt>
                <c:pt idx="440">
                  <c:v>1665.876065</c:v>
                </c:pt>
                <c:pt idx="441">
                  <c:v>1712.91294</c:v>
                </c:pt>
                <c:pt idx="442">
                  <c:v>1751.67294</c:v>
                </c:pt>
                <c:pt idx="443">
                  <c:v>1780.541065</c:v>
                </c:pt>
                <c:pt idx="444">
                  <c:v>1811.629815</c:v>
                </c:pt>
                <c:pt idx="445">
                  <c:v>1846.95794</c:v>
                </c:pt>
                <c:pt idx="446">
                  <c:v>1894.802315</c:v>
                </c:pt>
                <c:pt idx="447">
                  <c:v>1942.041065</c:v>
                </c:pt>
                <c:pt idx="448">
                  <c:v>1975.148565</c:v>
                </c:pt>
                <c:pt idx="449">
                  <c:v>1999.57544</c:v>
                </c:pt>
                <c:pt idx="450">
                  <c:v>2022.18544</c:v>
                </c:pt>
                <c:pt idx="451">
                  <c:v>2048.227315</c:v>
                </c:pt>
                <c:pt idx="452">
                  <c:v>2072.452315</c:v>
                </c:pt>
                <c:pt idx="453">
                  <c:v>2089.813565</c:v>
                </c:pt>
                <c:pt idx="454">
                  <c:v>2104.752315</c:v>
                </c:pt>
                <c:pt idx="455">
                  <c:v>2115.04794</c:v>
                </c:pt>
                <c:pt idx="456">
                  <c:v>2122.71919</c:v>
                </c:pt>
                <c:pt idx="457">
                  <c:v>2126.75669</c:v>
                </c:pt>
                <c:pt idx="458">
                  <c:v>2128.77544</c:v>
                </c:pt>
                <c:pt idx="459">
                  <c:v>2129.381065</c:v>
                </c:pt>
                <c:pt idx="460">
                  <c:v>2129.381065</c:v>
                </c:pt>
                <c:pt idx="461">
                  <c:v>2129.381065</c:v>
                </c:pt>
                <c:pt idx="462">
                  <c:v>2129.381065</c:v>
                </c:pt>
                <c:pt idx="463">
                  <c:v>2129.381065</c:v>
                </c:pt>
                <c:pt idx="464">
                  <c:v>2129.381065</c:v>
                </c:pt>
                <c:pt idx="465">
                  <c:v>2129.381065</c:v>
                </c:pt>
                <c:pt idx="466">
                  <c:v>2129.381065</c:v>
                </c:pt>
                <c:pt idx="467">
                  <c:v>2129.381065</c:v>
                </c:pt>
                <c:pt idx="468">
                  <c:v>2129.381065</c:v>
                </c:pt>
                <c:pt idx="469">
                  <c:v>2129.381065</c:v>
                </c:pt>
                <c:pt idx="470">
                  <c:v>2129.381065</c:v>
                </c:pt>
                <c:pt idx="471">
                  <c:v>2129.381065</c:v>
                </c:pt>
                <c:pt idx="472">
                  <c:v>2129.381065</c:v>
                </c:pt>
                <c:pt idx="473">
                  <c:v>2129.381065</c:v>
                </c:pt>
                <c:pt idx="474">
                  <c:v>2129.381065</c:v>
                </c:pt>
                <c:pt idx="475">
                  <c:v>2129.381065</c:v>
                </c:pt>
                <c:pt idx="476">
                  <c:v>2129.381065</c:v>
                </c:pt>
                <c:pt idx="477">
                  <c:v>2129.381065</c:v>
                </c:pt>
                <c:pt idx="478">
                  <c:v>2129.381065</c:v>
                </c:pt>
                <c:pt idx="479">
                  <c:v>2129.381065</c:v>
                </c:pt>
                <c:pt idx="480">
                  <c:v>2129.381065</c:v>
                </c:pt>
                <c:pt idx="481">
                  <c:v>2129.381065</c:v>
                </c:pt>
                <c:pt idx="482">
                  <c:v>2129.381065</c:v>
                </c:pt>
                <c:pt idx="483">
                  <c:v>2129.381065</c:v>
                </c:pt>
                <c:pt idx="484">
                  <c:v>2129.381065</c:v>
                </c:pt>
                <c:pt idx="485">
                  <c:v>2129.381065</c:v>
                </c:pt>
                <c:pt idx="486">
                  <c:v>2129.381065</c:v>
                </c:pt>
                <c:pt idx="487">
                  <c:v>2129.381065</c:v>
                </c:pt>
                <c:pt idx="488">
                  <c:v>2129.381065</c:v>
                </c:pt>
                <c:pt idx="489">
                  <c:v>2129.381065</c:v>
                </c:pt>
                <c:pt idx="490">
                  <c:v>2129.381065</c:v>
                </c:pt>
                <c:pt idx="491">
                  <c:v>2129.381065</c:v>
                </c:pt>
                <c:pt idx="492">
                  <c:v>2129.381065</c:v>
                </c:pt>
                <c:pt idx="493">
                  <c:v>2067.346676</c:v>
                </c:pt>
                <c:pt idx="494">
                  <c:v>1987.208509</c:v>
                </c:pt>
                <c:pt idx="495">
                  <c:v>1892.471719</c:v>
                </c:pt>
                <c:pt idx="496">
                  <c:v>1775.174225</c:v>
                </c:pt>
                <c:pt idx="497">
                  <c:v>1775.174225</c:v>
                </c:pt>
                <c:pt idx="498">
                  <c:v>1775.174225</c:v>
                </c:pt>
                <c:pt idx="499">
                  <c:v>1707.863685</c:v>
                </c:pt>
                <c:pt idx="500">
                  <c:v>1616.011699</c:v>
                </c:pt>
                <c:pt idx="501">
                  <c:v>1479.084461</c:v>
                </c:pt>
                <c:pt idx="502">
                  <c:v>1362.321481</c:v>
                </c:pt>
                <c:pt idx="503">
                  <c:v>1263.655666</c:v>
                </c:pt>
                <c:pt idx="504">
                  <c:v>1202.631579</c:v>
                </c:pt>
                <c:pt idx="505">
                  <c:v>1200</c:v>
                </c:pt>
                <c:pt idx="506">
                  <c:v>1200</c:v>
                </c:pt>
                <c:pt idx="507">
                  <c:v>1200</c:v>
                </c:pt>
                <c:pt idx="508">
                  <c:v>1200</c:v>
                </c:pt>
                <c:pt idx="509">
                  <c:v>1200</c:v>
                </c:pt>
                <c:pt idx="510">
                  <c:v>1200</c:v>
                </c:pt>
                <c:pt idx="511">
                  <c:v>1200</c:v>
                </c:pt>
                <c:pt idx="512">
                  <c:v>1200</c:v>
                </c:pt>
                <c:pt idx="513">
                  <c:v>1200</c:v>
                </c:pt>
                <c:pt idx="514">
                  <c:v>1200</c:v>
                </c:pt>
                <c:pt idx="515">
                  <c:v>1200</c:v>
                </c:pt>
                <c:pt idx="516">
                  <c:v>1200</c:v>
                </c:pt>
                <c:pt idx="517">
                  <c:v>1200</c:v>
                </c:pt>
                <c:pt idx="518">
                  <c:v>1200</c:v>
                </c:pt>
                <c:pt idx="519">
                  <c:v>1200</c:v>
                </c:pt>
                <c:pt idx="520">
                  <c:v>1200</c:v>
                </c:pt>
                <c:pt idx="521">
                  <c:v>1200</c:v>
                </c:pt>
                <c:pt idx="522">
                  <c:v>1200</c:v>
                </c:pt>
                <c:pt idx="523">
                  <c:v>1255.515625</c:v>
                </c:pt>
                <c:pt idx="524">
                  <c:v>1310.6275</c:v>
                </c:pt>
                <c:pt idx="525">
                  <c:v>1310.6275</c:v>
                </c:pt>
                <c:pt idx="526">
                  <c:v>1362.45</c:v>
                </c:pt>
                <c:pt idx="527">
                  <c:v>1426.848125</c:v>
                </c:pt>
                <c:pt idx="528">
                  <c:v>1496.495</c:v>
                </c:pt>
                <c:pt idx="529">
                  <c:v>1496.495</c:v>
                </c:pt>
                <c:pt idx="530">
                  <c:v>1496.495</c:v>
                </c:pt>
                <c:pt idx="531">
                  <c:v>1496.495</c:v>
                </c:pt>
                <c:pt idx="532">
                  <c:v>1567.95875</c:v>
                </c:pt>
                <c:pt idx="533">
                  <c:v>1643.05625</c:v>
                </c:pt>
                <c:pt idx="534">
                  <c:v>1719.365</c:v>
                </c:pt>
                <c:pt idx="535">
                  <c:v>1794.05875</c:v>
                </c:pt>
                <c:pt idx="536">
                  <c:v>1858.860625</c:v>
                </c:pt>
                <c:pt idx="537">
                  <c:v>1932.14125</c:v>
                </c:pt>
                <c:pt idx="538">
                  <c:v>2009.2575</c:v>
                </c:pt>
                <c:pt idx="539">
                  <c:v>2070.425625</c:v>
                </c:pt>
                <c:pt idx="540">
                  <c:v>2117.664375</c:v>
                </c:pt>
                <c:pt idx="541">
                  <c:v>2164.2975</c:v>
                </c:pt>
                <c:pt idx="542">
                  <c:v>2212.545625</c:v>
                </c:pt>
                <c:pt idx="543">
                  <c:v>2256.3525</c:v>
                </c:pt>
                <c:pt idx="544">
                  <c:v>2289.46</c:v>
                </c:pt>
                <c:pt idx="545">
                  <c:v>2316.915</c:v>
                </c:pt>
                <c:pt idx="546">
                  <c:v>2337.304375</c:v>
                </c:pt>
                <c:pt idx="547">
                  <c:v>2358.905</c:v>
                </c:pt>
                <c:pt idx="548">
                  <c:v>2389.18625</c:v>
                </c:pt>
                <c:pt idx="549">
                  <c:v>2406.749375</c:v>
                </c:pt>
                <c:pt idx="550">
                  <c:v>2420.67875</c:v>
                </c:pt>
                <c:pt idx="551">
                  <c:v>2430.166875</c:v>
                </c:pt>
                <c:pt idx="552">
                  <c:v>2436.626875</c:v>
                </c:pt>
                <c:pt idx="553">
                  <c:v>2441.875625</c:v>
                </c:pt>
                <c:pt idx="554">
                  <c:v>2444.90375</c:v>
                </c:pt>
                <c:pt idx="555">
                  <c:v>2446.316875</c:v>
                </c:pt>
                <c:pt idx="556">
                  <c:v>2446.316875</c:v>
                </c:pt>
                <c:pt idx="557">
                  <c:v>2446.316875</c:v>
                </c:pt>
                <c:pt idx="558">
                  <c:v>2446.316875</c:v>
                </c:pt>
                <c:pt idx="559">
                  <c:v>2446.316875</c:v>
                </c:pt>
                <c:pt idx="560">
                  <c:v>2446.316875</c:v>
                </c:pt>
                <c:pt idx="561">
                  <c:v>2446.316875</c:v>
                </c:pt>
                <c:pt idx="562">
                  <c:v>2432.401277</c:v>
                </c:pt>
                <c:pt idx="563">
                  <c:v>2432.401251</c:v>
                </c:pt>
                <c:pt idx="564">
                  <c:v>2432.401251</c:v>
                </c:pt>
                <c:pt idx="565">
                  <c:v>2432.401251</c:v>
                </c:pt>
                <c:pt idx="566">
                  <c:v>2432.401251</c:v>
                </c:pt>
                <c:pt idx="567">
                  <c:v>2432.401251</c:v>
                </c:pt>
                <c:pt idx="568">
                  <c:v>2432.401251</c:v>
                </c:pt>
                <c:pt idx="569">
                  <c:v>2432.401251</c:v>
                </c:pt>
                <c:pt idx="570">
                  <c:v>2432.401251</c:v>
                </c:pt>
                <c:pt idx="571">
                  <c:v>2432.401251</c:v>
                </c:pt>
                <c:pt idx="572">
                  <c:v>2432.401251</c:v>
                </c:pt>
                <c:pt idx="573">
                  <c:v>2432.401251</c:v>
                </c:pt>
                <c:pt idx="574">
                  <c:v>2432.401251</c:v>
                </c:pt>
                <c:pt idx="575">
                  <c:v>2432.401251</c:v>
                </c:pt>
                <c:pt idx="576">
                  <c:v>2432.401251</c:v>
                </c:pt>
                <c:pt idx="577">
                  <c:v>2432.401251</c:v>
                </c:pt>
                <c:pt idx="578">
                  <c:v>2432.401251</c:v>
                </c:pt>
                <c:pt idx="579">
                  <c:v>2432.401251</c:v>
                </c:pt>
                <c:pt idx="580">
                  <c:v>2432.401251</c:v>
                </c:pt>
                <c:pt idx="581">
                  <c:v>2416.611777</c:v>
                </c:pt>
                <c:pt idx="582">
                  <c:v>2411.752173</c:v>
                </c:pt>
                <c:pt idx="583">
                  <c:v>2411.752173</c:v>
                </c:pt>
                <c:pt idx="584">
                  <c:v>2411.752147</c:v>
                </c:pt>
                <c:pt idx="585">
                  <c:v>2411.752147</c:v>
                </c:pt>
                <c:pt idx="586">
                  <c:v>2411.752147</c:v>
                </c:pt>
                <c:pt idx="587">
                  <c:v>2411.752147</c:v>
                </c:pt>
                <c:pt idx="588">
                  <c:v>2411.752147</c:v>
                </c:pt>
                <c:pt idx="589">
                  <c:v>2411.752147</c:v>
                </c:pt>
                <c:pt idx="590">
                  <c:v>2355.909673</c:v>
                </c:pt>
                <c:pt idx="591">
                  <c:v>2245.383357</c:v>
                </c:pt>
                <c:pt idx="592">
                  <c:v>2150.646515</c:v>
                </c:pt>
                <c:pt idx="593">
                  <c:v>2041.360352</c:v>
                </c:pt>
                <c:pt idx="594">
                  <c:v>2041.360352</c:v>
                </c:pt>
                <c:pt idx="595">
                  <c:v>1922.037686</c:v>
                </c:pt>
                <c:pt idx="596">
                  <c:v>1829.499232</c:v>
                </c:pt>
                <c:pt idx="597">
                  <c:v>1676.573209</c:v>
                </c:pt>
                <c:pt idx="598">
                  <c:v>1510.78363</c:v>
                </c:pt>
                <c:pt idx="599">
                  <c:v>1361.233279</c:v>
                </c:pt>
                <c:pt idx="600">
                  <c:v>1275.452395</c:v>
                </c:pt>
                <c:pt idx="601">
                  <c:v>1200</c:v>
                </c:pt>
                <c:pt idx="602">
                  <c:v>1200</c:v>
                </c:pt>
                <c:pt idx="603">
                  <c:v>1200</c:v>
                </c:pt>
                <c:pt idx="604">
                  <c:v>1200</c:v>
                </c:pt>
                <c:pt idx="605">
                  <c:v>1200</c:v>
                </c:pt>
                <c:pt idx="606">
                  <c:v>1200</c:v>
                </c:pt>
                <c:pt idx="607">
                  <c:v>1202.329637</c:v>
                </c:pt>
                <c:pt idx="608">
                  <c:v>1202.329637</c:v>
                </c:pt>
                <c:pt idx="609">
                  <c:v>1202.329637</c:v>
                </c:pt>
                <c:pt idx="610">
                  <c:v>1202.329637</c:v>
                </c:pt>
                <c:pt idx="611">
                  <c:v>1202.329637</c:v>
                </c:pt>
                <c:pt idx="612">
                  <c:v>1202.329637</c:v>
                </c:pt>
                <c:pt idx="613">
                  <c:v>1266.5247</c:v>
                </c:pt>
                <c:pt idx="614">
                  <c:v>1266.5247</c:v>
                </c:pt>
                <c:pt idx="615">
                  <c:v>1266.5247</c:v>
                </c:pt>
                <c:pt idx="616">
                  <c:v>1382.829813</c:v>
                </c:pt>
                <c:pt idx="617">
                  <c:v>1483.522688</c:v>
                </c:pt>
                <c:pt idx="618">
                  <c:v>1483.522688</c:v>
                </c:pt>
                <c:pt idx="619">
                  <c:v>1483.522688</c:v>
                </c:pt>
                <c:pt idx="620">
                  <c:v>1483.522688</c:v>
                </c:pt>
                <c:pt idx="621">
                  <c:v>1613.976213</c:v>
                </c:pt>
                <c:pt idx="622">
                  <c:v>1745.524613</c:v>
                </c:pt>
                <c:pt idx="623">
                  <c:v>1877.118613</c:v>
                </c:pt>
                <c:pt idx="624">
                  <c:v>2007.7429</c:v>
                </c:pt>
                <c:pt idx="625">
                  <c:v>2130.916575</c:v>
                </c:pt>
                <c:pt idx="626">
                  <c:v>2263.312375</c:v>
                </c:pt>
                <c:pt idx="627">
                  <c:v>2386.154217</c:v>
                </c:pt>
                <c:pt idx="628">
                  <c:v>2512.447929</c:v>
                </c:pt>
                <c:pt idx="629">
                  <c:v>2608.259467</c:v>
                </c:pt>
                <c:pt idx="630">
                  <c:v>2708.289738</c:v>
                </c:pt>
                <c:pt idx="631">
                  <c:v>2797.502385</c:v>
                </c:pt>
                <c:pt idx="632">
                  <c:v>2888.264174</c:v>
                </c:pt>
                <c:pt idx="633">
                  <c:v>2947.440821</c:v>
                </c:pt>
                <c:pt idx="634">
                  <c:v>3005.011249</c:v>
                </c:pt>
                <c:pt idx="635">
                  <c:v>3102.049854</c:v>
                </c:pt>
                <c:pt idx="636">
                  <c:v>3178.159294</c:v>
                </c:pt>
                <c:pt idx="637">
                  <c:v>3247.545845</c:v>
                </c:pt>
                <c:pt idx="638">
                  <c:v>3320.043409</c:v>
                </c:pt>
                <c:pt idx="639">
                  <c:v>3360.482267</c:v>
                </c:pt>
                <c:pt idx="640">
                  <c:v>3400.126004</c:v>
                </c:pt>
                <c:pt idx="641">
                  <c:v>3400.126004</c:v>
                </c:pt>
                <c:pt idx="642">
                  <c:v>3405.066944</c:v>
                </c:pt>
                <c:pt idx="643">
                  <c:v>3446.979899</c:v>
                </c:pt>
                <c:pt idx="644">
                  <c:v>3482.396517</c:v>
                </c:pt>
                <c:pt idx="645">
                  <c:v>3488.281178</c:v>
                </c:pt>
                <c:pt idx="646">
                  <c:v>3510.450544</c:v>
                </c:pt>
                <c:pt idx="647">
                  <c:v>3526.725398</c:v>
                </c:pt>
                <c:pt idx="648">
                  <c:v>3526.725398</c:v>
                </c:pt>
                <c:pt idx="649">
                  <c:v>3526.725398</c:v>
                </c:pt>
                <c:pt idx="650">
                  <c:v>3526.725398</c:v>
                </c:pt>
                <c:pt idx="651">
                  <c:v>3526.725398</c:v>
                </c:pt>
                <c:pt idx="652">
                  <c:v>3526.725398</c:v>
                </c:pt>
                <c:pt idx="653">
                  <c:v>3492.27156</c:v>
                </c:pt>
                <c:pt idx="654">
                  <c:v>3397.534718</c:v>
                </c:pt>
                <c:pt idx="655">
                  <c:v>3397.534586</c:v>
                </c:pt>
                <c:pt idx="656">
                  <c:v>3381.744981</c:v>
                </c:pt>
                <c:pt idx="657">
                  <c:v>3247.534455</c:v>
                </c:pt>
                <c:pt idx="658">
                  <c:v>3163.457744</c:v>
                </c:pt>
                <c:pt idx="659">
                  <c:v>3115.384312</c:v>
                </c:pt>
                <c:pt idx="660">
                  <c:v>2973.279023</c:v>
                </c:pt>
                <c:pt idx="661">
                  <c:v>2862.105106</c:v>
                </c:pt>
                <c:pt idx="662">
                  <c:v>2741.230233</c:v>
                </c:pt>
                <c:pt idx="663">
                  <c:v>2612.76808</c:v>
                </c:pt>
                <c:pt idx="664">
                  <c:v>2470.66279</c:v>
                </c:pt>
                <c:pt idx="665">
                  <c:v>2352.380736</c:v>
                </c:pt>
                <c:pt idx="666">
                  <c:v>2241.854368</c:v>
                </c:pt>
                <c:pt idx="667">
                  <c:v>2126.481219</c:v>
                </c:pt>
                <c:pt idx="668">
                  <c:v>1960.691745</c:v>
                </c:pt>
                <c:pt idx="669">
                  <c:v>1784.210526</c:v>
                </c:pt>
                <c:pt idx="670">
                  <c:v>1586.842079</c:v>
                </c:pt>
                <c:pt idx="671">
                  <c:v>1357.894711</c:v>
                </c:pt>
                <c:pt idx="672">
                  <c:v>1200</c:v>
                </c:pt>
              </c:numCache>
            </c:numRef>
          </c:yVal>
        </c:ser>
        <c:ser>
          <c:idx val="2"/>
          <c:order val="2"/>
          <c:tx>
            <c:v>下限1,200</c:v>
          </c:tx>
          <c:spPr>
            <a:ln xmlns:a="http://schemas.openxmlformats.org/drawingml/2006/main" w="9525">
              <a:solidFill>
                <a:srgbClr val="999999"/>
              </a:solidFill>
            </a:ln>
          </c:spPr>
          <c:marker>
            <c:symbol val="none"/>
          </c:marker>
          <c:xVal>
            <c:numRef>
              <c:f>'Chart Data'!$E$2:$E$3</c:f>
              <c:numCache>
                <c:formatCode>General</c:formatCode>
                <c:ptCount val="2"/>
                <c:pt idx="0">
                  <c:v>0</c:v>
                </c:pt>
                <c:pt idx="1">
                  <c:v>168</c:v>
                </c:pt>
              </c:numCache>
            </c:numRef>
          </c:xVal>
          <c:yVal>
            <c:numRef>
              <c:f>'Chart Data'!$F$2:$F$3</c:f>
              <c:numCache>
                <c:formatCode>0</c:formatCode>
                <c:ptCount val="2"/>
                <c:pt idx="0">
                  <c:v>1200</c:v>
                </c:pt>
                <c:pt idx="1">
                  <c:v>1200</c:v>
                </c:pt>
              </c:numCache>
            </c:numRef>
          </c:yVal>
        </c:ser>
        <c:ser>
          <c:idx val="3"/>
          <c:order val="3"/>
          <c:tx>
            <c:v>上限4,800</c:v>
          </c:tx>
          <c:spPr>
            <a:ln xmlns:a="http://schemas.openxmlformats.org/drawingml/2006/main" w="9525">
              <a:solidFill>
                <a:srgbClr val="BBBBBB"/>
              </a:solidFill>
            </a:ln>
          </c:spPr>
          <c:marker>
            <c:symbol val="none"/>
          </c:marker>
          <c:xVal>
            <c:numRef>
              <c:f>'Chart Data'!$G$2:$G$3</c:f>
              <c:numCache>
                <c:formatCode>General</c:formatCode>
                <c:ptCount val="2"/>
                <c:pt idx="0">
                  <c:v>0</c:v>
                </c:pt>
                <c:pt idx="1">
                  <c:v>168</c:v>
                </c:pt>
              </c:numCache>
            </c:numRef>
          </c:xVal>
          <c:yVal>
            <c:numRef>
              <c:f>'Chart Data'!$H$2:$H$3</c:f>
              <c:numCache>
                <c:formatCode>0</c:formatCode>
                <c:ptCount val="2"/>
                <c:pt idx="0">
                  <c:v>4800</c:v>
                </c:pt>
                <c:pt idx="1">
                  <c:v>4800</c:v>
                </c:pt>
              </c:numCache>
            </c:numRef>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6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kWh</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50112"/>
      </c:valAx>
      <c:valAx>
        <c:axId val="48650112"/>
        <c:scaling>
          <c:orientation val="minMax"/>
          <c:max val="168"/>
          <c:min val="0"/>
        </c:scaling>
        <c:delete val="0"/>
        <c:axPos val="b"/>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週開始からの時間 [h]</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72768"/>
        <c:majorUnit val="2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使用車両［週内のユニーク台数］</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stacked"/>
        <c:varyColors val="0"/>
        <c:ser>
          <c:idx val="0"/>
          <c:order val="0"/>
          <c:tx>
            <c:v>BEV</c:v>
          </c:tx>
          <c:spPr>
            <a:solidFill xmlns:a="http://schemas.openxmlformats.org/drawingml/2006/main">
              <a:srgbClr val="159A8C"/>
            </a:solidFill>
            <a:ln xmlns:a="http://schemas.openxmlformats.org/drawingml/2006/main" w="0">
              <a:solidFill>
                <a:srgbClr val="159A8C"/>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26</c:v>
                </c:pt>
                <c:pt idx="1">
                  <c:v>26</c:v>
                </c:pt>
                <c:pt idx="2">
                  <c:v>26</c:v>
                </c:pt>
                <c:pt idx="3">
                  <c:v>25</c:v>
                </c:pt>
                <c:pt idx="4">
                  <c:v>26</c:v>
                </c:pt>
                <c:pt idx="5">
                  <c:v>26</c:v>
                </c:pt>
                <c:pt idx="6">
                  <c:v>26</c:v>
                </c:pt>
                <c:pt idx="7">
                  <c:v>26</c:v>
                </c:pt>
                <c:pt idx="8">
                  <c:v>26</c:v>
                </c:pt>
                <c:pt idx="9">
                  <c:v>26</c:v>
                </c:pt>
                <c:pt idx="10">
                  <c:v>26</c:v>
                </c:pt>
                <c:pt idx="11">
                  <c:v>26</c:v>
                </c:pt>
              </c:numCache>
            </c:numRef>
          </c:val>
        </c:ser>
        <c:ser>
          <c:idx val="1"/>
          <c:order val="1"/>
          <c:tx>
            <c:v>ICE</c:v>
          </c:tx>
          <c:spPr>
            <a:solidFill xmlns:a="http://schemas.openxmlformats.org/drawingml/2006/main">
              <a:srgbClr val="BD9544"/>
            </a:solidFill>
            <a:ln xmlns:a="http://schemas.openxmlformats.org/drawingml/2006/main" w="0">
              <a:solidFill>
                <a:srgbClr val="BD9544"/>
              </a:solidFill>
            </a:ln>
          </c:spPr>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6</c:v>
                </c:pt>
                <c:pt idx="1">
                  <c:v>6</c:v>
                </c:pt>
                <c:pt idx="2">
                  <c:v>6</c:v>
                </c:pt>
                <c:pt idx="3">
                  <c:v>7</c:v>
                </c:pt>
                <c:pt idx="4">
                  <c:v>6</c:v>
                </c:pt>
                <c:pt idx="5">
                  <c:v>6</c:v>
                </c:pt>
                <c:pt idx="6">
                  <c:v>6</c:v>
                </c:pt>
                <c:pt idx="7">
                  <c:v>6</c:v>
                </c:pt>
                <c:pt idx="8">
                  <c:v>6</c:v>
                </c:pt>
                <c:pt idx="9">
                  <c:v>6</c:v>
                </c:pt>
                <c:pt idx="10">
                  <c:v>6</c:v>
                </c:pt>
                <c:pt idx="11">
                  <c:v>6</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ctr"/>
          <c:showLegendKey val="0"/>
          <c:showVal val="0"/>
          <c:showCatName val="0"/>
          <c:showSerName val="0"/>
          <c:showPercent val="0"/>
          <c:showBubbleSize val="0"/>
          <c:showLeaderLines val="0"/>
        </c:dLbls>
        <c:gapWidth val="6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4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台</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担当便数</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stacked"/>
        <c:varyColors val="0"/>
        <c:ser>
          <c:idx val="0"/>
          <c:order val="0"/>
          <c:tx>
            <c:v>BEV</c:v>
          </c:tx>
          <c:spPr>
            <a:solidFill xmlns:a="http://schemas.openxmlformats.org/drawingml/2006/main">
              <a:srgbClr val="159A8C"/>
            </a:solidFill>
            <a:ln xmlns:a="http://schemas.openxmlformats.org/drawingml/2006/main" w="0">
              <a:solidFill>
                <a:srgbClr val="159A8C"/>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1571</c:v>
                </c:pt>
                <c:pt idx="1">
                  <c:v>1569</c:v>
                </c:pt>
                <c:pt idx="2">
                  <c:v>1562</c:v>
                </c:pt>
                <c:pt idx="3">
                  <c:v>1539</c:v>
                </c:pt>
                <c:pt idx="4">
                  <c:v>1569</c:v>
                </c:pt>
                <c:pt idx="5">
                  <c:v>1569</c:v>
                </c:pt>
                <c:pt idx="6">
                  <c:v>1557</c:v>
                </c:pt>
                <c:pt idx="7">
                  <c:v>1566</c:v>
                </c:pt>
                <c:pt idx="8">
                  <c:v>1564</c:v>
                </c:pt>
                <c:pt idx="9">
                  <c:v>1571</c:v>
                </c:pt>
                <c:pt idx="10">
                  <c:v>1565</c:v>
                </c:pt>
                <c:pt idx="11">
                  <c:v>1563</c:v>
                </c:pt>
              </c:numCache>
            </c:numRef>
          </c:val>
        </c:ser>
        <c:ser>
          <c:idx val="1"/>
          <c:order val="1"/>
          <c:tx>
            <c:v>ICE</c:v>
          </c:tx>
          <c:spPr>
            <a:solidFill xmlns:a="http://schemas.openxmlformats.org/drawingml/2006/main">
              <a:srgbClr val="BD9544"/>
            </a:solidFill>
            <a:ln xmlns:a="http://schemas.openxmlformats.org/drawingml/2006/main" w="0">
              <a:solidFill>
                <a:srgbClr val="BD9544"/>
              </a:solidFill>
            </a:ln>
          </c:spPr>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133</c:v>
                </c:pt>
                <c:pt idx="1">
                  <c:v>135</c:v>
                </c:pt>
                <c:pt idx="2">
                  <c:v>142</c:v>
                </c:pt>
                <c:pt idx="3">
                  <c:v>165</c:v>
                </c:pt>
                <c:pt idx="4">
                  <c:v>135</c:v>
                </c:pt>
                <c:pt idx="5">
                  <c:v>135</c:v>
                </c:pt>
                <c:pt idx="6">
                  <c:v>147</c:v>
                </c:pt>
                <c:pt idx="7">
                  <c:v>138</c:v>
                </c:pt>
                <c:pt idx="8">
                  <c:v>140</c:v>
                </c:pt>
                <c:pt idx="9">
                  <c:v>133</c:v>
                </c:pt>
                <c:pt idx="10">
                  <c:v>139</c:v>
                </c:pt>
                <c:pt idx="11">
                  <c:v>141</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ctr"/>
          <c:showLegendKey val="0"/>
          <c:showVal val="0"/>
          <c:showCatName val="0"/>
          <c:showSerName val="0"/>
          <c:showPercent val="0"/>
          <c:showBubbleSize val="0"/>
          <c:showLeaderLines val="0"/>
        </c:dLbls>
        <c:gapWidth val="6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18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便／選択週</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前日処理の実測</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barChart>
        <c:barDir val="col"/>
        <c:grouping val="clustered"/>
        <c:varyColors val="0"/>
        <c:ser>
          <c:idx val="0"/>
          <c:order val="0"/>
          <c:tx>
            <c:v>day_ahead_seconds</c:v>
          </c:tx>
          <c:spPr>
            <a:solidFill xmlns:a="http://schemas.openxmlformats.org/drawingml/2006/main">
              <a:srgbClr val="316DB6"/>
            </a:solidFill>
            <a:ln xmlns:a="http://schemas.openxmlformats.org/drawingml/2006/main" w="0">
              <a:solidFill>
                <a:srgbClr val="316DB6"/>
              </a:solidFill>
            </a:ln>
          </c:spPr>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447.077292</c:v>
                </c:pt>
                <c:pt idx="1">
                  <c:v>458.333338</c:v>
                </c:pt>
                <c:pt idx="2">
                  <c:v>461.20147</c:v>
                </c:pt>
                <c:pt idx="3">
                  <c:v>445.241223</c:v>
                </c:pt>
                <c:pt idx="4">
                  <c:v>452.277501</c:v>
                </c:pt>
                <c:pt idx="5">
                  <c:v>450.360556</c:v>
                </c:pt>
                <c:pt idx="6">
                  <c:v>453.434689</c:v>
                </c:pt>
                <c:pt idx="7">
                  <c:v>450.285684</c:v>
                </c:pt>
                <c:pt idx="8">
                  <c:v>452.366202</c:v>
                </c:pt>
                <c:pt idx="9">
                  <c:v>458.821917</c:v>
                </c:pt>
                <c:pt idx="10">
                  <c:v>449.828282</c:v>
                </c:pt>
                <c:pt idx="11">
                  <c:v>457.986696</c:v>
                </c:pt>
              </c:numCache>
            </c:numRef>
          </c:val>
        </c:ser>
        <c:dLbls>
          <c:txPr>
            <a:bodyPr xmlns:a="http://schemas.openxmlformats.org/drawingml/2006/main" anchorCtr="1"/>
            <a:lstStyle xmlns:a="http://schemas.openxmlformats.org/drawingml/2006/main"/>
            <a:p xmlns:a="http://schemas.openxmlformats.org/drawingml/2006/main">
              <a:pPr>
                <a:defRPr sz="1200">
                  <a:latin typeface="Noto Sans JP"/>
                  <a:ea typeface="Noto Sans JP"/>
                  <a:cs typeface="Noto Sans JP"/>
                </a:defRPr>
              </a:pPr>
            </a:p>
          </c:txPr>
          <c:dLblPos val="outEnd"/>
          <c:showLegendKey val="0"/>
          <c:showVal val="0"/>
          <c:showCatName val="0"/>
          <c:showSerName val="0"/>
          <c:showPercent val="0"/>
          <c:showBubbleSize val="0"/>
          <c:showLeaderLines val="0"/>
        </c:dLbls>
        <c:gapWidth val="6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72768"/>
      </c:catAx>
      <c:valAx>
        <c:axId val="48672768"/>
        <c:scaling>
          <c:orientation val="minMax"/>
          <c:max val="55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秒</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JP"/>
                <a:ea typeface="Noto Sans JP"/>
                <a:cs typeface="Noto Sans JP"/>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B58"/>
                </a:solidFill>
                <a:latin typeface="Noto Sans JP"/>
                <a:ea typeface="Noto Sans JP"/>
                <a:cs typeface="Noto Sans JP"/>
              </a:rPr>
              <a:t>3月3日の受電</a:t>
            </a:r>
          </a:p>
        </c:rich>
      </c:tx>
      <c:overlay val="0"/>
      <c:txPr>
        <a:bodyPr xmlns:a="http://schemas.openxmlformats.org/drawingml/2006/main" anchorCtr="1"/>
        <a:lstStyle xmlns:a="http://schemas.openxmlformats.org/drawingml/2006/main"/>
        <a:p xmlns:a="http://schemas.openxmlformats.org/drawingml/2006/main">
          <a:pPr>
            <a:defRPr sz="1725" b="1">
              <a:solidFill>
                <a:srgbClr val="202B58"/>
              </a:solidFill>
              <a:latin typeface="Noto Sans JP"/>
              <a:ea typeface="Noto Sans JP"/>
              <a:cs typeface="Noto Sans JP"/>
            </a:defRPr>
          </a:pPr>
        </a:p>
      </c:txPr>
    </c:title>
    <c:plotArea>
      <c:scatterChart>
        <c:scatterStyle val="line"/>
        <c:ser>
          <c:idx val="0"/>
          <c:order val="0"/>
          <c:tx>
            <c:v>系統受電</c:v>
          </c:tx>
          <c:spPr>
            <a:ln xmlns:a="http://schemas.openxmlformats.org/drawingml/2006/main" w="19050">
              <a:solidFill>
                <a:srgbClr val="316DB6"/>
              </a:solidFill>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522.565877</c:v>
                </c:pt>
                <c:pt idx="9">
                  <c:v>522.565877</c:v>
                </c:pt>
                <c:pt idx="10">
                  <c:v>849.4416</c:v>
                </c:pt>
                <c:pt idx="11">
                  <c:v>849.4416</c:v>
                </c:pt>
                <c:pt idx="12">
                  <c:v>780.630367</c:v>
                </c:pt>
                <c:pt idx="13">
                  <c:v>780.630367</c:v>
                </c:pt>
                <c:pt idx="14">
                  <c:v>806.470888</c:v>
                </c:pt>
                <c:pt idx="15">
                  <c:v>806.470888</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15.45</c:v>
                </c:pt>
                <c:pt idx="53">
                  <c:v>15.45</c:v>
                </c:pt>
                <c:pt idx="54">
                  <c:v>35.615</c:v>
                </c:pt>
                <c:pt idx="55">
                  <c:v>35.615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19.2189</c:v>
                </c:pt>
                <c:pt idx="123">
                  <c:v>19.2189</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60</c:v>
                </c:pt>
                <c:pt idx="175">
                  <c:v>60</c:v>
                </c:pt>
                <c:pt idx="176">
                  <c:v>52.005868</c:v>
                </c:pt>
                <c:pt idx="177">
                  <c:v>52.005868</c:v>
                </c:pt>
                <c:pt idx="178">
                  <c:v>90.0001</c:v>
                </c:pt>
                <c:pt idx="179">
                  <c:v>90.0001</c:v>
                </c:pt>
                <c:pt idx="180">
                  <c:v>120.0003</c:v>
                </c:pt>
                <c:pt idx="181">
                  <c:v>120.0003</c:v>
                </c:pt>
                <c:pt idx="182">
                  <c:v>194.869308</c:v>
                </c:pt>
                <c:pt idx="183">
                  <c:v>194.869308</c:v>
                </c:pt>
                <c:pt idx="184">
                  <c:v>60</c:v>
                </c:pt>
                <c:pt idx="185">
                  <c:v>60</c:v>
                </c:pt>
                <c:pt idx="186">
                  <c:v>150</c:v>
                </c:pt>
                <c:pt idx="187">
                  <c:v>150</c:v>
                </c:pt>
                <c:pt idx="188">
                  <c:v>60</c:v>
                </c:pt>
                <c:pt idx="189">
                  <c:v>60</c:v>
                </c:pt>
                <c:pt idx="190">
                  <c:v>0.0001</c:v>
                </c:pt>
                <c:pt idx="191">
                  <c:v>0.0001</c:v>
                </c:pt>
              </c:numCache>
            </c:numRef>
          </c:yVal>
        </c:ser>
        <c:ser>
          <c:idx val="1"/>
          <c:order val="1"/>
          <c:tx>
            <c:v>契約基準200 kW</c:v>
          </c:tx>
          <c:spPr>
            <a:ln xmlns:a="http://schemas.openxmlformats.org/drawingml/2006/main" w="19050">
              <a:solidFill>
                <a:srgbClr val="BA4F50"/>
              </a:solidFill>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200</c:v>
                </c:pt>
                <c:pt idx="1">
                  <c:v>200</c:v>
                </c:pt>
              </c:numCache>
            </c:numRef>
          </c:yVal>
        </c:ser>
        <c:dLbls>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00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kW</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50112"/>
      </c:valAx>
      <c:valAx>
        <c:axId val="48650112"/>
        <c:scaling>
          <c:orientation val="minMax"/>
          <c:max val="24"/>
          <c:min val="0"/>
        </c:scaling>
        <c:delete val="0"/>
        <c:axPos val="b"/>
        <c:title>
          <c:tx>
            <c:rich>
              <a:bodyPr xmlns:a="http://schemas.openxmlformats.org/drawingml/2006/main"/>
              <a:lstStyle xmlns:a="http://schemas.openxmlformats.org/drawingml/2006/main"/>
              <a:p xmlns:a="http://schemas.openxmlformats.org/drawingml/2006/main">
                <a:r>
                  <a:rPr>
                    <a:latin typeface="Noto Sans JP"/>
                    <a:ea typeface="Noto Sans JP"/>
                    <a:cs typeface="Noto Sans JP"/>
                  </a:rPr>
                  <a:t>時刻 [h]</a:t>
                </a:r>
              </a:p>
            </c:rich>
          </c:tx>
          <c:overlay val="0"/>
          <c:txPr>
            <a:bodyPr xmlns:a="http://schemas.openxmlformats.org/drawingml/2006/main" anchorCtr="1"/>
            <a:lstStyle xmlns:a="http://schemas.openxmlformats.org/drawingml/2006/main"/>
            <a:p xmlns:a="http://schemas.openxmlformats.org/drawingml/2006/main">
              <a:pPr>
                <a:defRPr>
                  <a:latin typeface="Noto Sans JP"/>
                  <a:ea typeface="Noto Sans JP"/>
                  <a:cs typeface="Noto Sans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Noto Sans JP"/>
                <a:ea typeface="Noto Sans JP"/>
                <a:cs typeface="Noto Sans JP"/>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Noto Sans JP"/>
              <a:ea typeface="Noto Sans JP"/>
              <a:cs typeface="Noto Sans JP"/>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7F947BF-05E9-4B46-ABAF-397CB3F72438}"/>
              </a:ext>
            </a:extLst>
          </p:cNvPr>
          <p:cNvSpPr>
            <a:spLocks xmlns:a="http://schemas.openxmlformats.org/drawingml/2006/main" noGrp="1"/>
          </p:cNvSpPr>
          <p:nvPr/>
        </p:nvSpPr>
        <p:spPr>
          <a:xfrm xmlns:a="http://schemas.openxmlformats.org/drawingml/2006/main">
            <a:off x="0" y="0"/>
            <a:ext cx="12191695" cy="320040"/>
          </a:xfrm>
          <a:prstGeom xmlns:a="http://schemas.openxmlformats.org/drawingml/2006/main" prst="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0B185A98-C200-4DE7-B8BD-318DEDF1B845}"/>
              </a:ext>
            </a:extLst>
          </p:cNvPr>
          <p:cNvSpPr>
            <a:spLocks xmlns:a="http://schemas.openxmlformats.org/drawingml/2006/main" noGrp="1"/>
          </p:cNvSpPr>
          <p:nvPr/>
        </p:nvSpPr>
        <p:spPr>
          <a:xfrm xmlns:a="http://schemas.openxmlformats.org/drawingml/2006/main">
            <a:off x="594360" y="1051560"/>
            <a:ext cx="10972800" cy="1298448"/>
          </a:xfrm>
          <a:prstGeom xmlns:a="http://schemas.openxmlformats.org/drawingml/2006/main" prst="roundRect">
            <a:avLst/>
          </a:prstGeom>
          <a:solidFill xmlns:a="http://schemas.openxmlformats.org/drawingml/2006/main">
            <a:srgbClr val="1F2A5A"/>
          </a:solidFill>
          <a:ln xmlns:a="http://schemas.openxmlformats.org/drawingml/2006/main" w="12700">
            <a:solidFill>
              <a:srgbClr val="1F2A5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1B72CB76-D951-46FB-94A0-79DC7EA0FF34}"/>
              </a:ext>
            </a:extLst>
          </p:cNvPr>
          <p:cNvSpPr>
            <a:spLocks xmlns:a="http://schemas.openxmlformats.org/drawingml/2006/main" noGrp="1"/>
          </p:cNvSpPr>
          <p:nvPr/>
        </p:nvSpPr>
        <p:spPr>
          <a:xfrm xmlns:a="http://schemas.openxmlformats.org/drawingml/2006/main">
            <a:off x="960120" y="1344168"/>
            <a:ext cx="102412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3400" b="1">
                <a:solidFill>
                  <a:srgbClr val="FFFFFF"/>
                </a:solidFill>
                <a:latin typeface="Noto Sans JP"/>
                <a:ea typeface="Noto Sans JP"/>
                <a:cs typeface="Noto Sans JP"/>
              </a:rPr>
              <a:t>修士論文研究　9月進捗報告</a:t>
            </a:r>
            <a:endParaRPr sz="3400"/>
          </a:p>
        </p:txBody>
      </p:sp>
      <p:sp>
        <p:nvSpPr>
          <p:cNvPr id="5" name="Text 3">
            <a:extLst xmlns:a="http://schemas.openxmlformats.org/drawingml/2006/main">
              <a:ext uri="{FF2B5EF4-FFF2-40B4-BE49-F238E27FC236}">
                <a16:creationId xmlns:a16="http://schemas.microsoft.com/office/drawing/2014/main" id="{E09DD3D2-2374-4F6A-B395-16FAE8CB90A4}"/>
              </a:ext>
            </a:extLst>
          </p:cNvPr>
          <p:cNvSpPr>
            <a:spLocks xmlns:a="http://schemas.openxmlformats.org/drawingml/2006/main" noGrp="1"/>
          </p:cNvSpPr>
          <p:nvPr/>
        </p:nvSpPr>
        <p:spPr>
          <a:xfrm xmlns:a="http://schemas.openxmlformats.org/drawingml/2006/main">
            <a:off x="1143000" y="2679192"/>
            <a:ext cx="9921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2200" b="1">
                <a:solidFill>
                  <a:srgbClr val="172033"/>
                </a:solidFill>
                <a:latin typeface="Noto Sans JP"/>
                <a:ea typeface="Noto Sans JP"/>
                <a:cs typeface="Noto Sans JP"/>
              </a:rPr>
              <a:t>PV余剰電力を考慮した BEV／エンジンバス混成運用の配車・充電計画</a:t>
            </a:r>
            <a:endParaRPr sz="2200"/>
          </a:p>
        </p:txBody>
      </p:sp>
      <p:sp>
        <p:nvSpPr>
          <p:cNvPr id="6" name="Text 4">
            <a:extLst xmlns:a="http://schemas.openxmlformats.org/drawingml/2006/main">
              <a:ext uri="{FF2B5EF4-FFF2-40B4-BE49-F238E27FC236}">
                <a16:creationId xmlns:a16="http://schemas.microsoft.com/office/drawing/2014/main" id="{2BC3DD9E-8941-4DB2-9F1C-A62DA5014D2C}"/>
              </a:ext>
            </a:extLst>
          </p:cNvPr>
          <p:cNvSpPr>
            <a:spLocks xmlns:a="http://schemas.openxmlformats.org/drawingml/2006/main" noGrp="1"/>
          </p:cNvSpPr>
          <p:nvPr/>
        </p:nvSpPr>
        <p:spPr>
          <a:xfrm xmlns:a="http://schemas.openxmlformats.org/drawingml/2006/main">
            <a:off x="1920240" y="3419856"/>
            <a:ext cx="8366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1600">
                <a:solidFill>
                  <a:srgbClr val="687386"/>
                </a:solidFill>
                <a:latin typeface="Noto Sans JP"/>
                <a:ea typeface="Noto Sans JP"/>
                <a:cs typeface="Noto Sans JP"/>
              </a:rPr>
              <a:t>各月1週・平日5日＋土休日2日の運用比較</a:t>
            </a:r>
            <a:endParaRPr sz="160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67abf520429b4761"/>
          <a:srcRect xmlns:a="http://schemas.openxmlformats.org/drawingml/2006/main" l="0" t="0" r="0" b="0"/>
          <a:stretch xmlns:a="http://schemas.openxmlformats.org/drawingml/2006/main">
            <a:fillRect l="0" t="0" r="0" b="0"/>
          </a:stretch>
        </p:blipFill>
        <p:spPr>
          <a:xfrm xmlns:a="http://schemas.openxmlformats.org/drawingml/2006/main">
            <a:off x="3154680" y="4187952"/>
            <a:ext cx="658368" cy="658368"/>
          </a:xfrm>
          <a:prstGeom xmlns:a="http://schemas.openxmlformats.org/drawingml/2006/main" prst="rect">
            <a:avLst/>
          </a:prstGeom>
        </p:spPr>
      </p:pic>
      <p:pic>
        <p:nvPicPr>
          <p:cNvPr id="28" name="Image 1"/>
          <p:cNvPicPr>
            <a:picLocks xmlns:a="http://schemas.openxmlformats.org/drawingml/2006/main" noChangeAspect="1"/>
          </p:cNvPicPr>
          <p:nvPr/>
        </p:nvPicPr>
        <p:blipFill>
          <a:blip xmlns:r="http://schemas.openxmlformats.org/officeDocument/2006/relationships" xmlns:a="http://schemas.openxmlformats.org/drawingml/2006/main" r:embed="R3d425215e2e64779"/>
          <a:srcRect xmlns:a="http://schemas.openxmlformats.org/drawingml/2006/main" l="0" t="2314" r="0" b="2314"/>
          <a:stretch xmlns:a="http://schemas.openxmlformats.org/drawingml/2006/main">
            <a:fillRect l="0" t="0" r="0" b="0"/>
          </a:stretch>
        </p:blipFill>
        <p:spPr>
          <a:xfrm xmlns:a="http://schemas.openxmlformats.org/drawingml/2006/main">
            <a:off x="4709160" y="4133088"/>
            <a:ext cx="841248" cy="713232"/>
          </a:xfrm>
          <a:prstGeom xmlns:a="http://schemas.openxmlformats.org/drawingml/2006/main" prst="rect">
            <a:avLst/>
          </a:prstGeom>
        </p:spPr>
      </p:pic>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f6480d9d2048443d"/>
          <a:srcRect xmlns:a="http://schemas.openxmlformats.org/drawingml/2006/main" l="0" t="3357" r="0" b="3357"/>
          <a:stretch xmlns:a="http://schemas.openxmlformats.org/drawingml/2006/main">
            <a:fillRect l="0" t="0" r="0" b="0"/>
          </a:stretch>
        </p:blipFill>
        <p:spPr>
          <a:xfrm xmlns:a="http://schemas.openxmlformats.org/drawingml/2006/main">
            <a:off x="6473952" y="4206240"/>
            <a:ext cx="749808" cy="621792"/>
          </a:xfrm>
          <a:prstGeom xmlns:a="http://schemas.openxmlformats.org/drawingml/2006/main" prst="rect">
            <a:avLst/>
          </a:prstGeom>
        </p:spPr>
      </p:pic>
      <p:sp>
        <p:nvSpPr>
          <p:cNvPr id="10" name="Shape 5">
            <a:extLst xmlns:a="http://schemas.openxmlformats.org/drawingml/2006/main">
              <a:ext uri="{FF2B5EF4-FFF2-40B4-BE49-F238E27FC236}">
                <a16:creationId xmlns:a16="http://schemas.microsoft.com/office/drawing/2014/main" id="{0C3764EE-FB6A-4592-9518-D2CD62CDB4F1}"/>
              </a:ext>
            </a:extLst>
          </p:cNvPr>
          <p:cNvSpPr>
            <a:spLocks xmlns:a="http://schemas.openxmlformats.org/drawingml/2006/main" noGrp="1"/>
          </p:cNvSpPr>
          <p:nvPr/>
        </p:nvSpPr>
        <p:spPr>
          <a:xfrm xmlns:a="http://schemas.openxmlformats.org/drawingml/2006/main">
            <a:off x="3794760" y="4526280"/>
            <a:ext cx="82296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6">
            <a:extLst xmlns:a="http://schemas.openxmlformats.org/drawingml/2006/main">
              <a:ext uri="{FF2B5EF4-FFF2-40B4-BE49-F238E27FC236}">
                <a16:creationId xmlns:a16="http://schemas.microsoft.com/office/drawing/2014/main" id="{3C9284E0-B9C9-4314-9E87-3B035B107DD8}"/>
              </a:ext>
            </a:extLst>
          </p:cNvPr>
          <p:cNvSpPr>
            <a:spLocks xmlns:a="http://schemas.openxmlformats.org/drawingml/2006/main" noGrp="1"/>
          </p:cNvSpPr>
          <p:nvPr/>
        </p:nvSpPr>
        <p:spPr>
          <a:xfrm xmlns:a="http://schemas.openxmlformats.org/drawingml/2006/main">
            <a:off x="5559552" y="4526280"/>
            <a:ext cx="868680" cy="0"/>
          </a:xfrm>
          <a:prstGeom xmlns:a="http://schemas.openxmlformats.org/drawingml/2006/main" prst="line">
            <a:avLst/>
          </a:prstGeom>
          <a:noFill xmlns:a="http://schemas.openxmlformats.org/drawingml/2006/main"/>
          <a:ln xmlns:a="http://schemas.openxmlformats.org/drawingml/2006/main" w="25400">
            <a:solidFill>
              <a:srgbClr val="A5AFBD"/>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7">
            <a:extLst xmlns:a="http://schemas.openxmlformats.org/drawingml/2006/main">
              <a:ext uri="{FF2B5EF4-FFF2-40B4-BE49-F238E27FC236}">
                <a16:creationId xmlns:a16="http://schemas.microsoft.com/office/drawing/2014/main" id="{8AD67280-D8CA-43CB-A947-F2084CC4C3E9}"/>
              </a:ext>
            </a:extLst>
          </p:cNvPr>
          <p:cNvSpPr>
            <a:spLocks xmlns:a="http://schemas.openxmlformats.org/drawingml/2006/main" noGrp="1"/>
          </p:cNvSpPr>
          <p:nvPr/>
        </p:nvSpPr>
        <p:spPr>
          <a:xfrm xmlns:a="http://schemas.openxmlformats.org/drawingml/2006/main">
            <a:off x="1965960" y="5879592"/>
            <a:ext cx="82753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1350">
                <a:solidFill>
                  <a:srgbClr val="687386"/>
                </a:solidFill>
                <a:latin typeface="Noto Sans JP"/>
                <a:ea typeface="Noto Sans JP"/>
                <a:cs typeface="Noto Sans JP"/>
              </a:rPr>
              <a:t>2026年9月15日　電力システム研究室　劉 承洋</a:t>
            </a:r>
            <a:endParaRPr sz="1350"/>
          </a:p>
        </p:txBody>
      </p:sp>
      <p:sp>
        <p:nvSpPr>
          <p:cNvPr id="13" name="Text 8">
            <a:extLst xmlns:a="http://schemas.openxmlformats.org/drawingml/2006/main">
              <a:ext uri="{FF2B5EF4-FFF2-40B4-BE49-F238E27FC236}">
                <a16:creationId xmlns:a16="http://schemas.microsoft.com/office/drawing/2014/main" id="{629D9C1E-A471-4334-8B0B-7A56674E348B}"/>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defRPr>
                <a:latin typeface="Noto Sans JP"/>
                <a:ea typeface="Noto Sans JP"/>
                <a:cs typeface="Noto Sans JP"/>
              </a:defRPr>
            </a:pPr>
            <a:r>
              <a:rPr sz="850">
                <a:solidFill>
                  <a:srgbClr val="687386"/>
                </a:solidFill>
                <a:latin typeface="Noto Sans JP"/>
                <a:ea typeface="Noto Sans JP"/>
                <a:cs typeface="Noto Sans JP"/>
              </a:rPr>
              <a:t>1/23</a:t>
            </a:r>
            <a:endParaRPr sz="850"/>
          </a:p>
        </p:txBody>
      </p:sp>
      <p:sp>
        <p:nvSpPr>
          <p:cNvPr id="17" name="正方形/長方形 16">
            <a:extLst xmlns:a="http://schemas.openxmlformats.org/drawingml/2006/main">
              <a:ext uri="{FF2B5EF4-FFF2-40B4-BE49-F238E27FC236}">
                <a16:creationId xmlns:a16="http://schemas.microsoft.com/office/drawing/2014/main" id="{3705F59F-D147-417E-B9A0-7925331D4ABB}"/>
              </a:ext>
            </a:extLst>
          </p:cNvPr>
          <p:cNvSpPr>
            <a:spLocks xmlns:a="http://schemas.openxmlformats.org/drawingml/2006/main" noGrp="1"/>
          </p:cNvSpPr>
          <p:nvPr/>
        </p:nvSpPr>
        <p:spPr>
          <a:xfrm xmlns:a="http://schemas.openxmlformats.org/drawingml/2006/main">
            <a:off x="666750" y="5238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59A8C"/>
                </a:solidFill>
                <a:latin typeface="Noto Sans JP"/>
                <a:ea typeface="Noto Sans JP"/>
                <a:cs typeface="Noto Sans JP"/>
              </a:defRPr>
            </a:pPr>
            <a:r>
              <a:rPr sz="1725" b="1">
                <a:solidFill>
                  <a:srgbClr val="159A8C"/>
                </a:solidFill>
                <a:latin typeface="Noto Sans JP"/>
                <a:ea typeface="Noto Sans JP"/>
                <a:cs typeface="Noto Sans JP"/>
              </a:rPr>
              <a:t>12週の物理・会計検証が完了。季節別の傾向と残る課題を報告</a:t>
            </a:r>
          </a:p>
        </p:txBody>
      </p:sp>
      <p:sp>
        <p:nvSpPr>
          <p:cNvPr id="18" name="正方形/長方形 17">
            <a:extLst xmlns:a="http://schemas.openxmlformats.org/drawingml/2006/main">
              <a:ext uri="{FF2B5EF4-FFF2-40B4-BE49-F238E27FC236}">
                <a16:creationId xmlns:a16="http://schemas.microsoft.com/office/drawing/2014/main" id="{A42EBFBC-C08E-4622-A822-5E19D922486D}"/>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BA4F50"/>
                </a:solidFill>
                <a:latin typeface="Noto Sans JP"/>
                <a:ea typeface="Noto Sans JP"/>
                <a:cs typeface="Noto Sans JP"/>
              </a:defRPr>
            </a:pPr>
            <a:r>
              <a:rPr sz="1050" b="0">
                <a:solidFill>
                  <a:srgbClr val="BA4F50"/>
                </a:solidFill>
                <a:latin typeface="Noto Sans JP"/>
                <a:ea typeface="Noto Sans JP"/>
                <a:cs typeface="Noto Sans JP"/>
              </a:rPr>
              <a:t>診断結果 ／ 最適性・年間効果の検証と研究採用は未完了</a:t>
            </a:r>
          </a:p>
        </p:txBody>
      </p:sp>
    </p:spTree>
    <p:extLst>
      <p:ext uri="{BB962C8B-B14F-4D97-AF65-F5344CB8AC3E}">
        <p14:creationId xmlns:p14="http://schemas.microsoft.com/office/powerpoint/2010/main" val="10645890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26C4CFA-F270-4C5D-8F5E-E1417DBB7DC7}"/>
              </a:ext>
            </a:extLst>
          </p:cNvPr>
          <p:cNvSpPr>
            <a:spLocks xmlns:a="http://schemas.openxmlformats.org/drawingml/2006/main" noGrp="1"/>
          </p:cNvSpPr>
          <p:nvPr/>
        </p:nvSpPr>
        <p:spPr>
          <a:xfrm xmlns:a="http://schemas.openxmlformats.org/drawingml/2006/main">
            <a:off x="411480" y="164592"/>
            <a:ext cx="10927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Noto Sans JP"/>
                <a:ea typeface="Noto Sans JP"/>
                <a:cs typeface="Noto Sans JP"/>
              </a:defRPr>
            </a:pPr>
            <a:r>
              <a:rPr sz="2800" b="1">
                <a:solidFill>
                  <a:srgbClr val="111827"/>
                </a:solidFill>
                <a:latin typeface="Noto Sans JP"/>
                <a:ea typeface="Noto Sans JP"/>
                <a:cs typeface="Noto Sans JP"/>
              </a:rPr>
              <a:t>研究背景</a:t>
            </a:r>
            <a:endParaRPr sz="2800"/>
          </a:p>
        </p:txBody>
      </p:sp>
      <p:sp>
        <p:nvSpPr>
          <p:cNvPr id="3" name="Shape 1">
            <a:extLst xmlns:a="http://schemas.openxmlformats.org/drawingml/2006/main">
              <a:ext uri="{FF2B5EF4-FFF2-40B4-BE49-F238E27FC236}">
                <a16:creationId xmlns:a16="http://schemas.microsoft.com/office/drawing/2014/main" id="{F6728271-8C4D-4856-AB54-2E351D6BB6F1}"/>
              </a:ext>
            </a:extLst>
          </p:cNvPr>
          <p:cNvSpPr>
            <a:spLocks xmlns:a="http://schemas.openxmlformats.org/drawingml/2006/main" noGrp="1"/>
          </p:cNvSpPr>
          <p:nvPr/>
        </p:nvSpPr>
        <p:spPr>
          <a:xfrm xmlns:a="http://schemas.openxmlformats.org/drawingml/2006/main">
            <a:off x="411480" y="658368"/>
            <a:ext cx="11201400" cy="0"/>
          </a:xfrm>
          <a:prstGeom xmlns:a="http://schemas.openxmlformats.org/drawingml/2006/main" prst="line">
            <a:avLst/>
          </a:prstGeom>
          <a:noFill xmlns:a="http://schemas.openxmlformats.org/drawingml/2006/main"/>
          <a:ln xmlns:a="http://schemas.openxmlformats.org/drawingml/2006/main" w="2286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C42D1C7-5AD7-4E9A-BF97-BDB436EA0802}"/>
              </a:ext>
            </a:extLst>
          </p:cNvPr>
          <p:cNvSpPr>
            <a:spLocks xmlns:a="http://schemas.openxmlformats.org/drawingml/2006/main" noGrp="1"/>
          </p:cNvSpPr>
          <p:nvPr/>
        </p:nvSpPr>
        <p:spPr>
          <a:xfrm xmlns:a="http://schemas.openxmlformats.org/drawingml/2006/main">
            <a:off x="438912" y="6547104"/>
            <a:ext cx="3840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Noto Sans JP"/>
                <a:ea typeface="Noto Sans JP"/>
                <a:cs typeface="Noto Sans JP"/>
              </a:defRPr>
            </a:pPr>
            <a:r>
              <a:rPr sz="850">
                <a:solidFill>
                  <a:srgbClr val="687386"/>
                </a:solidFill>
                <a:latin typeface="Noto Sans JP"/>
                <a:ea typeface="Noto Sans JP"/>
                <a:cs typeface="Noto Sans JP"/>
              </a:rPr>
              <a:t>修士論文 進捗報告</a:t>
            </a:r>
            <a:endParaRPr sz="850"/>
          </a:p>
        </p:txBody>
      </p:sp>
      <p:sp>
        <p:nvSpPr>
          <p:cNvPr id="5" name="Text 3">
            <a:extLst xmlns:a="http://schemas.openxmlformats.org/drawingml/2006/main">
              <a:ext uri="{FF2B5EF4-FFF2-40B4-BE49-F238E27FC236}">
                <a16:creationId xmlns:a16="http://schemas.microsoft.com/office/drawing/2014/main" id="{A12A12E9-C1EB-49AB-85D0-68D0D59EB993}"/>
              </a:ext>
            </a:extLst>
          </p:cNvPr>
          <p:cNvSpPr>
            <a:spLocks xmlns:a="http://schemas.openxmlformats.org/drawingml/2006/main" noGrp="1"/>
          </p:cNvSpPr>
          <p:nvPr/>
        </p:nvSpPr>
        <p:spPr>
          <a:xfrm xmlns:a="http://schemas.openxmlformats.org/drawingml/2006/main">
            <a:off x="11064240" y="6510528"/>
            <a:ext cx="685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defRPr>
                <a:latin typeface="Noto Sans JP"/>
                <a:ea typeface="Noto Sans JP"/>
                <a:cs typeface="Noto Sans JP"/>
              </a:defRPr>
            </a:pPr>
            <a:r>
              <a:rPr sz="850">
                <a:solidFill>
                  <a:srgbClr val="687386"/>
                </a:solidFill>
                <a:latin typeface="Noto Sans JP"/>
                <a:ea typeface="Noto Sans JP"/>
                <a:cs typeface="Noto Sans JP"/>
              </a:rPr>
              <a:t>2/23</a:t>
            </a:r>
            <a:endParaRPr sz="850"/>
          </a:p>
        </p:txBody>
      </p:sp>
      <p:sp>
        <p:nvSpPr>
          <p:cNvPr id="6" name="Text 4">
            <a:extLst xmlns:a="http://schemas.openxmlformats.org/drawingml/2006/main">
              <a:ext uri="{FF2B5EF4-FFF2-40B4-BE49-F238E27FC236}">
                <a16:creationId xmlns:a16="http://schemas.microsoft.com/office/drawing/2014/main" id="{93352480-DD92-4D05-9FB6-97C72C446B41}"/>
              </a:ext>
            </a:extLst>
          </p:cNvPr>
          <p:cNvSpPr>
            <a:spLocks xmlns:a="http://schemas.openxmlformats.org/drawingml/2006/main" noGrp="1"/>
          </p:cNvSpPr>
          <p:nvPr/>
        </p:nvSpPr>
        <p:spPr>
          <a:xfrm xmlns:a="http://schemas.openxmlformats.org/drawingml/2006/main">
            <a:off x="640080" y="868680"/>
            <a:ext cx="109270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1800">
                <a:solidFill>
                  <a:srgbClr val="172033"/>
                </a:solidFill>
                <a:latin typeface="Noto Sans JP"/>
                <a:ea typeface="Noto Sans JP"/>
                <a:cs typeface="Noto Sans JP"/>
              </a:rPr>
              <a:t>交通分野の脱炭素化に向けて電気バスの導入が進む一方、営業所では次の3つを同時に満たす必要がある。</a:t>
            </a:r>
            <a:endParaRPr sz="1800"/>
          </a:p>
        </p:txBody>
      </p:sp>
      <p:sp>
        <p:nvSpPr>
          <p:cNvPr id="7" name="Shape 5">
            <a:extLst xmlns:a="http://schemas.openxmlformats.org/drawingml/2006/main">
              <a:ext uri="{FF2B5EF4-FFF2-40B4-BE49-F238E27FC236}">
                <a16:creationId xmlns:a16="http://schemas.microsoft.com/office/drawing/2014/main" id="{BFDE0B61-F68B-414A-9C56-B5D3F294E67E}"/>
              </a:ext>
            </a:extLst>
          </p:cNvPr>
          <p:cNvSpPr>
            <a:spLocks xmlns:a="http://schemas.openxmlformats.org/drawingml/2006/main" noGrp="1"/>
          </p:cNvSpPr>
          <p:nvPr/>
        </p:nvSpPr>
        <p:spPr>
          <a:xfrm xmlns:a="http://schemas.openxmlformats.org/drawingml/2006/main">
            <a:off x="68580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1bc5227b556a4d10"/>
          <a:srcRect xmlns:a="http://schemas.openxmlformats.org/drawingml/2006/main" l="5552" t="0" r="5552" b="0"/>
          <a:stretch xmlns:a="http://schemas.openxmlformats.org/drawingml/2006/main">
            <a:fillRect l="0" t="0" r="0" b="0"/>
          </a:stretch>
        </p:blipFill>
        <p:spPr>
          <a:xfrm xmlns:a="http://schemas.openxmlformats.org/drawingml/2006/main">
            <a:off x="1709928" y="1856232"/>
            <a:ext cx="731520" cy="73152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43C5844F-5E4F-47F8-9197-88CC33906F3D}"/>
              </a:ext>
            </a:extLst>
          </p:cNvPr>
          <p:cNvSpPr>
            <a:spLocks xmlns:a="http://schemas.openxmlformats.org/drawingml/2006/main" noGrp="1"/>
          </p:cNvSpPr>
          <p:nvPr/>
        </p:nvSpPr>
        <p:spPr>
          <a:xfrm xmlns:a="http://schemas.openxmlformats.org/drawingml/2006/main">
            <a:off x="100584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2100" b="1">
                <a:solidFill>
                  <a:srgbClr val="172033"/>
                </a:solidFill>
                <a:latin typeface="Noto Sans JP"/>
                <a:ea typeface="Noto Sans JP"/>
                <a:cs typeface="Noto Sans JP"/>
              </a:rPr>
              <a:t>運行</a:t>
            </a:r>
            <a:endParaRPr sz="2100"/>
          </a:p>
        </p:txBody>
      </p:sp>
      <p:sp>
        <p:nvSpPr>
          <p:cNvPr id="10" name="Text 7">
            <a:extLst xmlns:a="http://schemas.openxmlformats.org/drawingml/2006/main">
              <a:ext uri="{FF2B5EF4-FFF2-40B4-BE49-F238E27FC236}">
                <a16:creationId xmlns:a16="http://schemas.microsoft.com/office/drawing/2014/main" id="{9941D139-DB68-45DA-A5A1-C27B4F8C37FD}"/>
              </a:ext>
            </a:extLst>
          </p:cNvPr>
          <p:cNvSpPr>
            <a:spLocks xmlns:a="http://schemas.openxmlformats.org/drawingml/2006/main" noGrp="1"/>
          </p:cNvSpPr>
          <p:nvPr/>
        </p:nvSpPr>
        <p:spPr>
          <a:xfrm xmlns:a="http://schemas.openxmlformats.org/drawingml/2006/main">
            <a:off x="100584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1600">
                <a:solidFill>
                  <a:srgbClr val="687386"/>
                </a:solidFill>
                <a:latin typeface="Noto Sans JP"/>
                <a:ea typeface="Noto Sans JP"/>
                <a:cs typeface="Noto Sans JP"/>
              </a:rPr>
              <a:t>決められた便を</a:t>
            </a:r>
            <a:endParaRPr sz="1600"/>
          </a:p>
          <a:p xmlns:a="http://schemas.openxmlformats.org/drawingml/2006/main">
            <a:pPr marL="0" indent="0" algn="ctr">
              <a:buNone/>
              <a:defRPr>
                <a:latin typeface="Noto Sans JP"/>
                <a:ea typeface="Noto Sans JP"/>
                <a:cs typeface="Noto Sans JP"/>
              </a:defRPr>
            </a:pPr>
            <a:r>
              <a:rPr sz="1600">
                <a:solidFill>
                  <a:srgbClr val="687386"/>
                </a:solidFill>
                <a:latin typeface="Noto Sans JP"/>
                <a:ea typeface="Noto Sans JP"/>
                <a:cs typeface="Noto Sans JP"/>
              </a:rPr>
              <a:t>欠かさず走らせる</a:t>
            </a:r>
            <a:endParaRPr sz="1600"/>
          </a:p>
        </p:txBody>
      </p:sp>
      <p:sp>
        <p:nvSpPr>
          <p:cNvPr id="11" name="Shape 8">
            <a:extLst xmlns:a="http://schemas.openxmlformats.org/drawingml/2006/main">
              <a:ext uri="{FF2B5EF4-FFF2-40B4-BE49-F238E27FC236}">
                <a16:creationId xmlns:a16="http://schemas.microsoft.com/office/drawing/2014/main" id="{A93289D7-4E97-43F5-8073-9621593A1EA9}"/>
              </a:ext>
            </a:extLst>
          </p:cNvPr>
          <p:cNvSpPr>
            <a:spLocks xmlns:a="http://schemas.openxmlformats.org/drawingml/2006/main" noGrp="1"/>
          </p:cNvSpPr>
          <p:nvPr/>
        </p:nvSpPr>
        <p:spPr>
          <a:xfrm xmlns:a="http://schemas.openxmlformats.org/drawingml/2006/main">
            <a:off x="425196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39" name="Image 1"/>
          <p:cNvPicPr>
            <a:picLocks xmlns:a="http://schemas.openxmlformats.org/drawingml/2006/main" noChangeAspect="1"/>
          </p:cNvPicPr>
          <p:nvPr/>
        </p:nvPicPr>
        <p:blipFill>
          <a:blip xmlns:r="http://schemas.openxmlformats.org/officeDocument/2006/relationships" xmlns:a="http://schemas.openxmlformats.org/drawingml/2006/main" r:embed="R86f522f776ab435b"/>
          <a:srcRect xmlns:a="http://schemas.openxmlformats.org/drawingml/2006/main" l="0" t="6257" r="0" b="6257"/>
          <a:stretch xmlns:a="http://schemas.openxmlformats.org/drawingml/2006/main">
            <a:fillRect l="0" t="0" r="0" b="0"/>
          </a:stretch>
        </p:blipFill>
        <p:spPr>
          <a:xfrm xmlns:a="http://schemas.openxmlformats.org/drawingml/2006/main">
            <a:off x="5276088" y="1856232"/>
            <a:ext cx="731520" cy="73152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CE3417DB-5AFE-4A1F-88A2-8C70BBC34FEC}"/>
              </a:ext>
            </a:extLst>
          </p:cNvPr>
          <p:cNvSpPr>
            <a:spLocks xmlns:a="http://schemas.openxmlformats.org/drawingml/2006/main" noGrp="1"/>
          </p:cNvSpPr>
          <p:nvPr/>
        </p:nvSpPr>
        <p:spPr>
          <a:xfrm xmlns:a="http://schemas.openxmlformats.org/drawingml/2006/main">
            <a:off x="457200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2100" b="1">
                <a:solidFill>
                  <a:srgbClr val="172033"/>
                </a:solidFill>
                <a:latin typeface="Noto Sans JP"/>
                <a:ea typeface="Noto Sans JP"/>
                <a:cs typeface="Noto Sans JP"/>
              </a:rPr>
              <a:t>充電・設備</a:t>
            </a:r>
            <a:endParaRPr sz="2100"/>
          </a:p>
        </p:txBody>
      </p:sp>
      <p:sp>
        <p:nvSpPr>
          <p:cNvPr id="14" name="Text 10">
            <a:extLst xmlns:a="http://schemas.openxmlformats.org/drawingml/2006/main">
              <a:ext uri="{FF2B5EF4-FFF2-40B4-BE49-F238E27FC236}">
                <a16:creationId xmlns:a16="http://schemas.microsoft.com/office/drawing/2014/main" id="{6514F49C-985B-4173-8639-9B0D04232942}"/>
              </a:ext>
            </a:extLst>
          </p:cNvPr>
          <p:cNvSpPr>
            <a:spLocks xmlns:a="http://schemas.openxmlformats.org/drawingml/2006/main" noGrp="1"/>
          </p:cNvSpPr>
          <p:nvPr/>
        </p:nvSpPr>
        <p:spPr>
          <a:xfrm xmlns:a="http://schemas.openxmlformats.org/drawingml/2006/main">
            <a:off x="457200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1600">
                <a:solidFill>
                  <a:srgbClr val="687386"/>
                </a:solidFill>
                <a:latin typeface="Noto Sans JP"/>
                <a:ea typeface="Noto Sans JP"/>
                <a:cs typeface="Noto Sans JP"/>
              </a:rPr>
              <a:t>充電器の制約と</a:t>
            </a:r>
            <a:endParaRPr sz="1600"/>
          </a:p>
          <a:p xmlns:a="http://schemas.openxmlformats.org/drawingml/2006/main">
            <a:pPr marL="0" indent="0" algn="ctr">
              <a:buNone/>
              <a:defRPr>
                <a:latin typeface="Noto Sans JP"/>
                <a:ea typeface="Noto Sans JP"/>
                <a:cs typeface="Noto Sans JP"/>
              </a:defRPr>
            </a:pPr>
            <a:r>
              <a:rPr sz="1600">
                <a:solidFill>
                  <a:srgbClr val="687386"/>
                </a:solidFill>
                <a:latin typeface="Noto Sans JP"/>
                <a:ea typeface="Noto Sans JP"/>
                <a:cs typeface="Noto Sans JP"/>
              </a:rPr>
              <a:t>受電ピークを考える</a:t>
            </a:r>
            <a:endParaRPr sz="1600"/>
          </a:p>
        </p:txBody>
      </p:sp>
      <p:sp>
        <p:nvSpPr>
          <p:cNvPr id="15" name="Shape 11">
            <a:extLst xmlns:a="http://schemas.openxmlformats.org/drawingml/2006/main">
              <a:ext uri="{FF2B5EF4-FFF2-40B4-BE49-F238E27FC236}">
                <a16:creationId xmlns:a16="http://schemas.microsoft.com/office/drawing/2014/main" id="{6CC7CD49-30B6-4E0F-A6B4-B33DA992CDF6}"/>
              </a:ext>
            </a:extLst>
          </p:cNvPr>
          <p:cNvSpPr>
            <a:spLocks xmlns:a="http://schemas.openxmlformats.org/drawingml/2006/main" noGrp="1"/>
          </p:cNvSpPr>
          <p:nvPr/>
        </p:nvSpPr>
        <p:spPr>
          <a:xfrm xmlns:a="http://schemas.openxmlformats.org/drawingml/2006/main">
            <a:off x="7818120" y="1600200"/>
            <a:ext cx="2788920" cy="2423160"/>
          </a:xfrm>
          <a:prstGeom xmlns:a="http://schemas.openxmlformats.org/drawingml/2006/main" prst="roundRect">
            <a:avLst>
              <a:gd name="adj" fmla="val 3019"/>
            </a:avLst>
          </a:prstGeom>
          <a:solidFill xmlns:a="http://schemas.openxmlformats.org/drawingml/2006/main">
            <a:srgbClr val="F8FAFC"/>
          </a:solidFill>
          <a:ln xmlns:a="http://schemas.openxmlformats.org/drawingml/2006/main" w="12700">
            <a:solidFill>
              <a:srgbClr val="EEF1F5"/>
            </a:solidFill>
            <a:prstDash val="solid"/>
          </a:ln>
          <a:effectLst xmlns:a="http://schemas.openxmlformats.org/drawingml/2006/main">
            <a:outerShdw blurRad="19050" dist="50800" dir="2700000" algn="bl" rotWithShape="0">
              <a:srgbClr val="A0A8B5">
                <a:alpha val="18000"/>
              </a:srgbClr>
            </a:outerShdw>
          </a:effectLst>
        </p:spPr>
        <p:txBody>
          <a:bodyPr xmlns:a="http://schemas.openxmlformats.org/drawingml/2006/main"/>
          <a:lstStyle xmlns:a="http://schemas.openxmlformats.org/drawingml/2006/main"/>
          <a:p xmlns:a="http://schemas.openxmlformats.org/drawingml/2006/main">
            <a:endParaRPr/>
          </a:p>
        </p:txBody>
      </p:sp>
      <p:pic>
        <p:nvPicPr>
          <p:cNvPr id="43" name="Image 2"/>
          <p:cNvPicPr>
            <a:picLocks xmlns:a="http://schemas.openxmlformats.org/drawingml/2006/main" noChangeAspect="1"/>
          </p:cNvPicPr>
          <p:nvPr/>
        </p:nvPicPr>
        <p:blipFill>
          <a:blip xmlns:r="http://schemas.openxmlformats.org/officeDocument/2006/relationships" xmlns:a="http://schemas.openxmlformats.org/drawingml/2006/main" r:embed="R6165e40b1c4c4c80"/>
          <a:srcRect xmlns:a="http://schemas.openxmlformats.org/drawingml/2006/main" l="0" t="0" r="0" b="0"/>
          <a:stretch xmlns:a="http://schemas.openxmlformats.org/drawingml/2006/main">
            <a:fillRect l="0" t="0" r="0" b="0"/>
          </a:stretch>
        </p:blipFill>
        <p:spPr>
          <a:xfrm xmlns:a="http://schemas.openxmlformats.org/drawingml/2006/main">
            <a:off x="8842248" y="1856232"/>
            <a:ext cx="731520" cy="73152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5D0AC001-3ED0-45FE-A78E-09BB251324EF}"/>
              </a:ext>
            </a:extLst>
          </p:cNvPr>
          <p:cNvSpPr>
            <a:spLocks xmlns:a="http://schemas.openxmlformats.org/drawingml/2006/main" noGrp="1"/>
          </p:cNvSpPr>
          <p:nvPr/>
        </p:nvSpPr>
        <p:spPr>
          <a:xfrm xmlns:a="http://schemas.openxmlformats.org/drawingml/2006/main">
            <a:off x="8138160" y="2670048"/>
            <a:ext cx="214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2100" b="1">
                <a:solidFill>
                  <a:srgbClr val="172033"/>
                </a:solidFill>
                <a:latin typeface="Noto Sans JP"/>
                <a:ea typeface="Noto Sans JP"/>
                <a:cs typeface="Noto Sans JP"/>
              </a:rPr>
              <a:t>PVの活用</a:t>
            </a:r>
            <a:endParaRPr sz="2100"/>
          </a:p>
        </p:txBody>
      </p:sp>
      <p:sp>
        <p:nvSpPr>
          <p:cNvPr id="18" name="Text 13">
            <a:extLst xmlns:a="http://schemas.openxmlformats.org/drawingml/2006/main">
              <a:ext uri="{FF2B5EF4-FFF2-40B4-BE49-F238E27FC236}">
                <a16:creationId xmlns:a16="http://schemas.microsoft.com/office/drawing/2014/main" id="{358CE00A-8C65-4C61-AC3C-7A284A92B589}"/>
              </a:ext>
            </a:extLst>
          </p:cNvPr>
          <p:cNvSpPr>
            <a:spLocks xmlns:a="http://schemas.openxmlformats.org/drawingml/2006/main" noGrp="1"/>
          </p:cNvSpPr>
          <p:nvPr/>
        </p:nvSpPr>
        <p:spPr>
          <a:xfrm xmlns:a="http://schemas.openxmlformats.org/drawingml/2006/main">
            <a:off x="8138160" y="3108960"/>
            <a:ext cx="21488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a:latin typeface="Noto Sans JP"/>
                <a:ea typeface="Noto Sans JP"/>
                <a:cs typeface="Noto Sans JP"/>
              </a:defRPr>
            </a:pPr>
            <a:r>
              <a:rPr sz="1600">
                <a:solidFill>
                  <a:srgbClr val="687386"/>
                </a:solidFill>
                <a:latin typeface="Noto Sans JP"/>
                <a:ea typeface="Noto Sans JP"/>
                <a:cs typeface="Noto Sans JP"/>
              </a:rPr>
              <a:t>時間で変わるPVを</a:t>
            </a:r>
            <a:endParaRPr sz="1600"/>
          </a:p>
          <a:p xmlns:a="http://schemas.openxmlformats.org/drawingml/2006/main">
            <a:pPr marL="0" indent="0" algn="ctr">
              <a:buNone/>
              <a:defRPr>
                <a:latin typeface="Noto Sans JP"/>
                <a:ea typeface="Noto Sans JP"/>
                <a:cs typeface="Noto Sans JP"/>
              </a:defRPr>
            </a:pPr>
            <a:r>
              <a:rPr sz="1600">
                <a:solidFill>
                  <a:srgbClr val="687386"/>
                </a:solidFill>
                <a:latin typeface="Noto Sans JP"/>
                <a:ea typeface="Noto Sans JP"/>
                <a:cs typeface="Noto Sans JP"/>
              </a:rPr>
              <a:t>できるだけ有効に使う</a:t>
            </a:r>
            <a:endParaRPr sz="1600"/>
          </a:p>
        </p:txBody>
      </p:sp>
      <p:sp>
        <p:nvSpPr>
          <p:cNvPr id="19" name="Shape 14">
            <a:extLst xmlns:a="http://schemas.openxmlformats.org/drawingml/2006/main">
              <a:ext uri="{FF2B5EF4-FFF2-40B4-BE49-F238E27FC236}">
                <a16:creationId xmlns:a16="http://schemas.microsoft.com/office/drawing/2014/main" id="{CECB67F7-7B45-4931-BF58-FBE1EB1265B7}"/>
              </a:ext>
            </a:extLst>
          </p:cNvPr>
          <p:cNvSpPr>
            <a:spLocks xmlns:a="http://schemas.openxmlformats.org/drawingml/2006/main" noGrp="1"/>
          </p:cNvSpPr>
          <p:nvPr/>
        </p:nvSpPr>
        <p:spPr>
          <a:xfrm xmlns:a="http://schemas.openxmlformats.org/drawingml/2006/main">
            <a:off x="1097280" y="4343400"/>
            <a:ext cx="9966960" cy="1225296"/>
          </a:xfrm>
          <a:prstGeom xmlns:a="http://schemas.openxmlformats.org/drawingml/2006/main" prst="roundRect">
            <a:avLst/>
          </a:prstGeom>
          <a:solidFill xmlns:a="http://schemas.openxmlformats.org/drawingml/2006/main">
            <a:srgbClr val="EAF2FB"/>
          </a:solidFill>
          <a:ln xmlns:a="http://schemas.openxmlformats.org/drawingml/2006/main" w="15240">
            <a:solidFill>
              <a:srgbClr val="356BB3"/>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5">
            <a:extLst xmlns:a="http://schemas.openxmlformats.org/drawingml/2006/main">
              <a:ext uri="{FF2B5EF4-FFF2-40B4-BE49-F238E27FC236}">
                <a16:creationId xmlns:a16="http://schemas.microsoft.com/office/drawing/2014/main" id="{B3DA66E5-D314-4F96-9A81-19E5E531F97B}"/>
              </a:ext>
            </a:extLst>
          </p:cNvPr>
          <p:cNvSpPr>
            <a:spLocks xmlns:a="http://schemas.openxmlformats.org/drawingml/2006/main" noGrp="1"/>
          </p:cNvSpPr>
          <p:nvPr/>
        </p:nvSpPr>
        <p:spPr>
          <a:xfrm xmlns:a="http://schemas.openxmlformats.org/drawingml/2006/main">
            <a:off x="1417320" y="4553712"/>
            <a:ext cx="1645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Noto Sans JP"/>
                <a:ea typeface="Noto Sans JP"/>
                <a:cs typeface="Noto Sans JP"/>
              </a:defRPr>
            </a:pPr>
            <a:r>
              <a:rPr sz="1800" b="1">
                <a:solidFill>
                  <a:srgbClr val="356BB3"/>
                </a:solidFill>
                <a:latin typeface="Noto Sans JP"/>
                <a:ea typeface="Noto Sans JP"/>
                <a:cs typeface="Noto Sans JP"/>
              </a:rPr>
              <a:t>研究のねらい</a:t>
            </a:r>
            <a:endParaRPr sz="1800"/>
          </a:p>
        </p:txBody>
      </p:sp>
      <p:sp>
        <p:nvSpPr>
          <p:cNvPr id="21" name="Text 16">
            <a:extLst xmlns:a="http://schemas.openxmlformats.org/drawingml/2006/main">
              <a:ext uri="{FF2B5EF4-FFF2-40B4-BE49-F238E27FC236}">
                <a16:creationId xmlns:a16="http://schemas.microsoft.com/office/drawing/2014/main" id="{216B365F-C629-479D-BE8B-98E3A129D6F4}"/>
              </a:ext>
            </a:extLst>
          </p:cNvPr>
          <p:cNvSpPr>
            <a:spLocks xmlns:a="http://schemas.openxmlformats.org/drawingml/2006/main" noGrp="1"/>
          </p:cNvSpPr>
          <p:nvPr/>
        </p:nvSpPr>
        <p:spPr>
          <a:xfrm xmlns:a="http://schemas.openxmlformats.org/drawingml/2006/main">
            <a:off x="3190875" y="4524375"/>
            <a:ext cx="7429500" cy="7810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Noto Sans JP"/>
                <a:ea typeface="Noto Sans JP"/>
                <a:cs typeface="Noto Sans JP"/>
              </a:defRPr>
            </a:pPr>
            <a:r>
              <a:rPr sz="1800" b="1">
                <a:solidFill>
                  <a:srgbClr val="172033"/>
                </a:solidFill>
                <a:latin typeface="Noto Sans JP"/>
                <a:ea typeface="Noto Sans JP"/>
                <a:cs typeface="Noto Sans JP"/>
              </a:rPr>
              <a:t>便の担当と、充電時刻・電源をまとめて考える。</a:t>
            </a:r>
            <a:endParaRPr sz="1800"/>
          </a:p>
          <a:p xmlns:a="http://schemas.openxmlformats.org/drawingml/2006/main">
            <a:pPr marL="0" indent="0">
              <a:buNone/>
              <a:defRPr>
                <a:latin typeface="Noto Sans JP"/>
                <a:ea typeface="Noto Sans JP"/>
                <a:cs typeface="Noto Sans JP"/>
              </a:defRPr>
            </a:pPr>
            <a:r>
              <a:rPr sz="1800" b="1">
                <a:solidFill>
                  <a:srgbClr val="172033"/>
                </a:solidFill>
                <a:latin typeface="Noto Sans JP"/>
                <a:ea typeface="Noto Sans JP"/>
                <a:cs typeface="Noto Sans JP"/>
              </a:rPr>
              <a:t>全便運行を守り、PV・蓄電池を活用する。</a:t>
            </a:r>
            <a:endParaRPr sz="1800"/>
          </a:p>
        </p:txBody>
      </p:sp>
      <p:sp>
        <p:nvSpPr>
          <p:cNvPr id="25" name="正方形/長方形 24">
            <a:extLst xmlns:a="http://schemas.openxmlformats.org/drawingml/2006/main">
              <a:ext uri="{FF2B5EF4-FFF2-40B4-BE49-F238E27FC236}">
                <a16:creationId xmlns:a16="http://schemas.microsoft.com/office/drawing/2014/main" id="{545ED8FA-1F93-453B-94F5-0451D055B811}"/>
              </a:ext>
            </a:extLst>
          </p:cNvPr>
          <p:cNvSpPr>
            <a:spLocks xmlns:a="http://schemas.openxmlformats.org/drawingml/2006/main" noGrp="1"/>
          </p:cNvSpPr>
          <p:nvPr/>
        </p:nvSpPr>
        <p:spPr>
          <a:xfrm xmlns:a="http://schemas.openxmlformats.org/drawingml/2006/main">
            <a:off x="571500" y="6667500"/>
            <a:ext cx="1104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BA4F50"/>
                </a:solidFill>
                <a:latin typeface="Noto Sans JP"/>
                <a:ea typeface="Noto Sans JP"/>
                <a:cs typeface="Noto Sans JP"/>
              </a:defRPr>
            </a:pPr>
            <a:r>
              <a:rPr sz="1050" b="0">
                <a:solidFill>
                  <a:srgbClr val="BA4F50"/>
                </a:solidFill>
                <a:latin typeface="Noto Sans JP"/>
                <a:ea typeface="Noto Sans JP"/>
                <a:cs typeface="Noto Sans JP"/>
              </a:rPr>
              <a:t>診断結果 ／ PV・蓄電池と混成バスの運用を対象とする</a:t>
            </a:r>
          </a:p>
        </p:txBody>
      </p:sp>
    </p:spTree>
    <p:extLst>
      <p:ext uri="{BB962C8B-B14F-4D97-AF65-F5344CB8AC3E}">
        <p14:creationId xmlns:p14="http://schemas.microsoft.com/office/powerpoint/2010/main" val="15612883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6A9A96-DAD1-48BD-A45E-21D79187695A}"/>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前回からの変更点</a:t>
            </a:r>
          </a:p>
        </p:txBody>
      </p:sp>
      <p:sp>
        <p:nvSpPr>
          <p:cNvPr id="2" name="">
            <a:extLst xmlns:a="http://schemas.openxmlformats.org/drawingml/2006/main">
              <a:ext uri="{FF2B5EF4-FFF2-40B4-BE49-F238E27FC236}">
                <a16:creationId xmlns:a16="http://schemas.microsoft.com/office/drawing/2014/main" id="{BEB126F7-96E2-4B3F-8387-9177F1ACF08F}"/>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一日・2種類のPV入力から、曜日構成を揃えた月別12週へ</a:t>
            </a:r>
          </a:p>
        </p:txBody>
      </p:sp>
      <p:sp>
        <p:nvSpPr>
          <p:cNvPr id="3" name="">
            <a:extLst xmlns:a="http://schemas.openxmlformats.org/drawingml/2006/main">
              <a:ext uri="{FF2B5EF4-FFF2-40B4-BE49-F238E27FC236}">
                <a16:creationId xmlns:a16="http://schemas.microsoft.com/office/drawing/2014/main" id="{7D0B7170-5D3B-4E84-B169-8730452C51DA}"/>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今回の前進：週を通した運用を、全12か月で検算できた</a:t>
            </a:r>
          </a:p>
        </p:txBody>
      </p:sp>
      <p:sp>
        <p:nvSpPr>
          <p:cNvPr id="4" name="">
            <a:extLst xmlns:a="http://schemas.openxmlformats.org/drawingml/2006/main">
              <a:ext uri="{FF2B5EF4-FFF2-40B4-BE49-F238E27FC236}">
                <a16:creationId xmlns:a16="http://schemas.microsoft.com/office/drawing/2014/main" id="{566F605C-6BE1-48DC-871C-57F048029699}"/>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対象・期間・探索条件が異なるため、前回との費用差を改善率とは扱わない。</a:t>
            </a:r>
          </a:p>
        </p:txBody>
      </p:sp>
      <p:sp>
        <p:nvSpPr>
          <p:cNvPr id="5" name="">
            <a:extLst xmlns:a="http://schemas.openxmlformats.org/drawingml/2006/main">
              <a:ext uri="{FF2B5EF4-FFF2-40B4-BE49-F238E27FC236}">
                <a16:creationId xmlns:a16="http://schemas.microsoft.com/office/drawing/2014/main" id="{C5AD3366-416C-4914-8BA4-203151149EC6}"/>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47D32159-142A-4EA0-BB7F-E52AA31AB5BF}"/>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3/23</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2190750"/>
                <a:gridCol w="4191000"/>
                <a:gridCol w="4667250"/>
              </a:tblGrid>
              <a:tr h="530679">
                <a:tc>
                  <a:txBody>
                    <a:bodyPr/>
                    <a:lstStyle/>
                    <a:p>
                      <a:r>
                        <a:rPr sz="1650" b="1">
                          <a:solidFill>
                            <a:srgbClr val="FFFFFF"/>
                          </a:solidFill>
                          <a:latin typeface="Noto Sans JP"/>
                          <a:ea typeface="Noto Sans JP"/>
                          <a:cs typeface="Noto Sans JP"/>
                        </a:rPr>
                        <a:t>項目</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前回の資料</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今回の結果</a:t>
                      </a:r>
                    </a:p>
                  </a:txBody>
                  <a:tcPr marL="91440" marR="91440" marT="45720" marB="45720">
                    <a:solidFill>
                      <a:srgbClr val="202B58"/>
                    </a:solidFill>
                  </a:tcPr>
                </a:tc>
              </a:tr>
              <a:tr h="530679">
                <a:tc>
                  <a:txBody>
                    <a:bodyPr/>
                    <a:lstStyle/>
                    <a:p>
                      <a:r>
                        <a:rPr sz="1650" b="0">
                          <a:solidFill>
                            <a:srgbClr val="202B58"/>
                          </a:solidFill>
                          <a:latin typeface="Noto Sans JP"/>
                          <a:ea typeface="Noto Sans JP"/>
                          <a:cs typeface="Noto Sans JP"/>
                        </a:rPr>
                        <a:t>期間・比較</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一日 × 高PV／低PV</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7日 × 12か月（84日分）</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対象</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平日264便・16路線</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渋21〜23・1,704便／週</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曜日</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同じ平日時刻表</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平日5日＋土曜1日＋日曜1日</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物理検証</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SOC上限に不一致あり</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全12週：違反0件</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蓄電池の終端</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初期残量へ戻す</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最低残量を守る（在庫減少あり）</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受電200 kW</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受電上限として説明</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契約基準。超過は500円/kWh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735385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BCFD2A-47AE-4769-A54A-73B089EF3079}"/>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実験対象と週の選び方</a:t>
            </a:r>
          </a:p>
        </p:txBody>
      </p:sp>
      <p:sp>
        <p:nvSpPr>
          <p:cNvPr id="2" name="">
            <a:extLst xmlns:a="http://schemas.openxmlformats.org/drawingml/2006/main">
              <a:ext uri="{FF2B5EF4-FFF2-40B4-BE49-F238E27FC236}">
                <a16:creationId xmlns:a16="http://schemas.microsoft.com/office/drawing/2014/main" id="{3EABA7A8-9FE5-4D86-824F-BAB859211F94}"/>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弦巻営業所・渋21〜23／各月内で完結する月曜〜日曜</a:t>
            </a:r>
          </a:p>
        </p:txBody>
      </p:sp>
      <p:sp>
        <p:nvSpPr>
          <p:cNvPr id="3" name="">
            <a:extLst xmlns:a="http://schemas.openxmlformats.org/drawingml/2006/main">
              <a:ext uri="{FF2B5EF4-FFF2-40B4-BE49-F238E27FC236}">
                <a16:creationId xmlns:a16="http://schemas.microsoft.com/office/drawing/2014/main" id="{C54AA47D-6CD8-4EF7-B20E-98AB12C5980C}"/>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祝日を含まない週をカレンダーから選び、PVや費用で選び直さない</a:t>
            </a:r>
          </a:p>
        </p:txBody>
      </p:sp>
      <p:sp>
        <p:nvSpPr>
          <p:cNvPr id="4" name="">
            <a:extLst xmlns:a="http://schemas.openxmlformats.org/drawingml/2006/main">
              <a:ext uri="{FF2B5EF4-FFF2-40B4-BE49-F238E27FC236}">
                <a16:creationId xmlns:a16="http://schemas.microsoft.com/office/drawing/2014/main" id="{549671CE-08FA-468C-A8A2-1D6953A1618D}"/>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各月1週は月平均の推定ではない。冬は同一年の12・1・2月の非連続な週。</a:t>
            </a:r>
          </a:p>
        </p:txBody>
      </p:sp>
      <p:sp>
        <p:nvSpPr>
          <p:cNvPr id="5" name="">
            <a:extLst xmlns:a="http://schemas.openxmlformats.org/drawingml/2006/main">
              <a:ext uri="{FF2B5EF4-FFF2-40B4-BE49-F238E27FC236}">
                <a16:creationId xmlns:a16="http://schemas.microsoft.com/office/drawing/2014/main" id="{1D73F35C-CBD1-4565-83B6-1426F6EB1443}"/>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D6416D01-4B37-459C-95E6-FA00911C8961}"/>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4/23</a:t>
            </a:r>
          </a:p>
        </p:txBody>
      </p:sp>
      <p:graphicFrame>
        <p:nvGraphicFramePr>
          <p:cNvPr id="15" name=""/>
          <p:cNvGraphicFramePr/>
          <p:nvPr/>
        </p:nvGraphicFramePr>
        <p:xfrm>
          <a:off xmlns:a="http://schemas.openxmlformats.org/drawingml/2006/main" x="571500" y="1695450"/>
          <a:ext xmlns:a="http://schemas.openxmlformats.org/drawingml/2006/main" cx="5334000" cy="3714750"/>
        </p:xfrm>
        <a:graphic xmlns:a="http://schemas.openxmlformats.org/drawingml/2006/main">
          <a:graphicData uri="http://schemas.openxmlformats.org/drawingml/2006/table">
            <a:tbl>
              <a:tblPr/>
              <a:tblGrid>
                <a:gridCol w="857250"/>
                <a:gridCol w="2190750"/>
                <a:gridCol w="2286000"/>
              </a:tblGrid>
              <a:tr h="530679">
                <a:tc>
                  <a:txBody>
                    <a:bodyPr/>
                    <a:lstStyle/>
                    <a:p>
                      <a:r>
                        <a:rPr sz="1725" b="1">
                          <a:solidFill>
                            <a:srgbClr val="FFFFFF"/>
                          </a:solidFill>
                          <a:latin typeface="Noto Sans JP"/>
                          <a:ea typeface="Noto Sans JP"/>
                          <a:cs typeface="Noto Sans JP"/>
                        </a:rPr>
                        <a:t>月</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2025年の選択期間</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平日 / 土 / 日</a:t>
                      </a:r>
                    </a:p>
                  </a:txBody>
                  <a:tcPr marL="91440" marR="91440" marT="45720" marB="45720">
                    <a:solidFill>
                      <a:srgbClr val="202B58"/>
                    </a:solidFill>
                  </a:tcPr>
                </a:tc>
              </a:tr>
              <a:tr h="530679">
                <a:tc>
                  <a:txBody>
                    <a:bodyPr/>
                    <a:lstStyle/>
                    <a:p>
                      <a:r>
                        <a:rPr sz="1725" b="0">
                          <a:solidFill>
                            <a:srgbClr val="202B58"/>
                          </a:solidFill>
                          <a:latin typeface="Noto Sans JP"/>
                          <a:ea typeface="Noto Sans JP"/>
                          <a:cs typeface="Noto Sans JP"/>
                        </a:rPr>
                        <a:t>1月</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01/06〜12</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2月</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02/03〜09</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3月</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03/03〜09</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4月</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04/07〜13</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5月</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05/12〜18</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6月</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06/02〜08</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FFFFF"/>
                    </a:solidFill>
                  </a:tcPr>
                </a:tc>
              </a:tr>
            </a:tbl>
          </a:graphicData>
        </a:graphic>
      </p:graphicFrame>
      <p:graphicFrame>
        <p:nvGraphicFramePr>
          <p:cNvPr id="16" name=""/>
          <p:cNvGraphicFramePr/>
          <p:nvPr/>
        </p:nvGraphicFramePr>
        <p:xfrm>
          <a:off xmlns:a="http://schemas.openxmlformats.org/drawingml/2006/main" x="6286500" y="1695450"/>
          <a:ext xmlns:a="http://schemas.openxmlformats.org/drawingml/2006/main" cx="5334000" cy="3714750"/>
        </p:xfrm>
        <a:graphic xmlns:a="http://schemas.openxmlformats.org/drawingml/2006/main">
          <a:graphicData uri="http://schemas.openxmlformats.org/drawingml/2006/table">
            <a:tbl>
              <a:tblPr/>
              <a:tblGrid>
                <a:gridCol w="857250"/>
                <a:gridCol w="2190750"/>
                <a:gridCol w="2286000"/>
              </a:tblGrid>
              <a:tr h="530679">
                <a:tc>
                  <a:txBody>
                    <a:bodyPr/>
                    <a:lstStyle/>
                    <a:p>
                      <a:r>
                        <a:rPr sz="1725" b="1">
                          <a:solidFill>
                            <a:srgbClr val="FFFFFF"/>
                          </a:solidFill>
                          <a:latin typeface="Noto Sans JP"/>
                          <a:ea typeface="Noto Sans JP"/>
                          <a:cs typeface="Noto Sans JP"/>
                        </a:rPr>
                        <a:t>月</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2025年の選択期間</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平日 / 土 / 日</a:t>
                      </a:r>
                    </a:p>
                  </a:txBody>
                  <a:tcPr marL="91440" marR="91440" marT="45720" marB="45720">
                    <a:solidFill>
                      <a:srgbClr val="202B58"/>
                    </a:solidFill>
                  </a:tcPr>
                </a:tc>
              </a:tr>
              <a:tr h="530679">
                <a:tc>
                  <a:txBody>
                    <a:bodyPr/>
                    <a:lstStyle/>
                    <a:p>
                      <a:r>
                        <a:rPr sz="1725" b="0">
                          <a:solidFill>
                            <a:srgbClr val="202B58"/>
                          </a:solidFill>
                          <a:latin typeface="Noto Sans JP"/>
                          <a:ea typeface="Noto Sans JP"/>
                          <a:cs typeface="Noto Sans JP"/>
                        </a:rPr>
                        <a:t>7月</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07/07〜13</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8月</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08/04〜10</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9月</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09/01〜07</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10月</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10/06〜12</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11月</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11/10〜16</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12月</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12/01〜07</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 / 1 / 1</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114782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431A00-82D0-4F86-8548-52907587454C}"/>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運行・車両・設備の共通条件</a:t>
            </a:r>
          </a:p>
        </p:txBody>
      </p:sp>
      <p:sp>
        <p:nvSpPr>
          <p:cNvPr id="2" name="">
            <a:extLst xmlns:a="http://schemas.openxmlformats.org/drawingml/2006/main">
              <a:ext uri="{FF2B5EF4-FFF2-40B4-BE49-F238E27FC236}">
                <a16:creationId xmlns:a16="http://schemas.microsoft.com/office/drawing/2014/main" id="{83A485FA-4FE9-401A-B8F2-FE4DD5352B5E}"/>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全月で同じ原本・車両パラメータ・充電器・予測モデルを使用</a:t>
            </a:r>
          </a:p>
        </p:txBody>
      </p:sp>
      <p:sp>
        <p:nvSpPr>
          <p:cNvPr id="3" name="">
            <a:extLst xmlns:a="http://schemas.openxmlformats.org/drawingml/2006/main">
              <a:ext uri="{FF2B5EF4-FFF2-40B4-BE49-F238E27FC236}">
                <a16:creationId xmlns:a16="http://schemas.microsoft.com/office/drawing/2014/main" id="{64FD60CB-CCFE-4B47-8F3D-18BC7A2B2704}"/>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週の始めは同じ初期状態。運行を続けながら、充電と電源配分を更新する</a:t>
            </a:r>
          </a:p>
        </p:txBody>
      </p:sp>
      <p:sp>
        <p:nvSpPr>
          <p:cNvPr id="4" name="">
            <a:extLst xmlns:a="http://schemas.openxmlformats.org/drawingml/2006/main">
              <a:ext uri="{FF2B5EF4-FFF2-40B4-BE49-F238E27FC236}">
                <a16:creationId xmlns:a16="http://schemas.microsoft.com/office/drawing/2014/main" id="{14C9EB3C-D0CE-4A44-9C34-0A2E4E4217B3}"/>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営業便距離は座標による代理値。2026年時刻表を2025年の日付へ対応させた診断。</a:t>
            </a:r>
          </a:p>
        </p:txBody>
      </p:sp>
      <p:sp>
        <p:nvSpPr>
          <p:cNvPr id="5" name="">
            <a:extLst xmlns:a="http://schemas.openxmlformats.org/drawingml/2006/main">
              <a:ext uri="{FF2B5EF4-FFF2-40B4-BE49-F238E27FC236}">
                <a16:creationId xmlns:a16="http://schemas.microsoft.com/office/drawing/2014/main" id="{6647308A-9A06-4B45-BACF-B81AEA299643}"/>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05CEE6D3-6678-42C7-8BA2-497B666EB347}"/>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5/23</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1714500"/>
                <a:gridCol w="5048250"/>
                <a:gridCol w="4286250"/>
              </a:tblGrid>
              <a:tr h="464344">
                <a:tc>
                  <a:txBody>
                    <a:bodyPr/>
                    <a:lstStyle/>
                    <a:p>
                      <a:r>
                        <a:rPr sz="1575" b="1">
                          <a:solidFill>
                            <a:srgbClr val="FFFFFF"/>
                          </a:solidFill>
                          <a:latin typeface="Noto Sans JP"/>
                          <a:ea typeface="Noto Sans JP"/>
                          <a:cs typeface="Noto Sans JP"/>
                        </a:rPr>
                        <a:t>分類</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設定</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読み方</a:t>
                      </a:r>
                    </a:p>
                  </a:txBody>
                  <a:tcPr marL="91440" marR="91440" marT="45720" marB="45720">
                    <a:solidFill>
                      <a:srgbClr val="202B58"/>
                    </a:solidFill>
                  </a:tcPr>
                </a:tc>
              </a:tr>
              <a:tr h="464344">
                <a:tc>
                  <a:txBody>
                    <a:bodyPr/>
                    <a:lstStyle/>
                    <a:p>
                      <a:r>
                        <a:rPr sz="1575" b="0">
                          <a:solidFill>
                            <a:srgbClr val="202B58"/>
                          </a:solidFill>
                          <a:latin typeface="Noto Sans JP"/>
                          <a:ea typeface="Noto Sans JP"/>
                          <a:cs typeface="Noto Sans JP"/>
                        </a:rPr>
                        <a:t>運行</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1,704便／週・15分 × 672区間</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平日5日・土日各1日</a:t>
                      </a:r>
                    </a:p>
                  </a:txBody>
                  <a:tcPr marL="91440" marR="91440" marT="45720" marB="45720">
                    <a:solidFill>
                      <a:srgbClr val="F1F5F8"/>
                    </a:solidFill>
                  </a:tcPr>
                </a:tc>
              </a:tr>
              <a:tr h="464344">
                <a:tc>
                  <a:txBody>
                    <a:bodyPr/>
                    <a:lstStyle/>
                    <a:p>
                      <a:r>
                        <a:rPr sz="1575" b="0">
                          <a:solidFill>
                            <a:srgbClr val="202B58"/>
                          </a:solidFill>
                          <a:latin typeface="Noto Sans JP"/>
                          <a:ea typeface="Noto Sans JP"/>
                          <a:cs typeface="Noto Sans JP"/>
                        </a:rPr>
                        <a:t>車両</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入力BEV35台・ICE25台</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使用台数は配車で決まる</a:t>
                      </a:r>
                    </a:p>
                  </a:txBody>
                  <a:tcPr marL="91440" marR="91440" marT="45720" marB="45720">
                    <a:solidFill>
                      <a:srgbClr val="FFFFFF"/>
                    </a:solidFill>
                  </a:tcPr>
                </a:tc>
              </a:tr>
              <a:tr h="464344">
                <a:tc>
                  <a:txBody>
                    <a:bodyPr/>
                    <a:lstStyle/>
                    <a:p>
                      <a:r>
                        <a:rPr sz="1575" b="0">
                          <a:solidFill>
                            <a:srgbClr val="202B58"/>
                          </a:solidFill>
                          <a:latin typeface="Noto Sans JP"/>
                          <a:ea typeface="Noto Sans JP"/>
                          <a:cs typeface="Noto Sans JP"/>
                        </a:rPr>
                        <a:t>BEV</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314 kWh・90 kW／台・SOC20〜90%</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週末に所定の残量へ復元</a:t>
                      </a:r>
                    </a:p>
                  </a:txBody>
                  <a:tcPr marL="91440" marR="91440" marT="45720" marB="45720">
                    <a:solidFill>
                      <a:srgbClr val="F1F5F8"/>
                    </a:solidFill>
                  </a:tcPr>
                </a:tc>
              </a:tr>
              <a:tr h="464344">
                <a:tc>
                  <a:txBody>
                    <a:bodyPr/>
                    <a:lstStyle/>
                    <a:p>
                      <a:r>
                        <a:rPr sz="1575" b="0">
                          <a:solidFill>
                            <a:srgbClr val="202B58"/>
                          </a:solidFill>
                          <a:latin typeface="Noto Sans JP"/>
                          <a:ea typeface="Noto Sans JP"/>
                          <a:cs typeface="Noto Sans JP"/>
                        </a:rPr>
                        <a:t>充電設備</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90 kW × 10基・各1ポート</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V2Gは使用しない</a:t>
                      </a:r>
                    </a:p>
                  </a:txBody>
                  <a:tcPr marL="91440" marR="91440" marT="45720" marB="45720">
                    <a:solidFill>
                      <a:srgbClr val="FFFFFF"/>
                    </a:solidFill>
                  </a:tcPr>
                </a:tc>
              </a:tr>
              <a:tr h="464344">
                <a:tc>
                  <a:txBody>
                    <a:bodyPr/>
                    <a:lstStyle/>
                    <a:p>
                      <a:r>
                        <a:rPr sz="1575" b="0">
                          <a:solidFill>
                            <a:srgbClr val="202B58"/>
                          </a:solidFill>
                          <a:latin typeface="Noto Sans JP"/>
                          <a:ea typeface="Noto Sans JP"/>
                          <a:cs typeface="Noto Sans JP"/>
                        </a:rPr>
                        <a:t>PV／BESS</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PV定格1,000 kW／BESS 6,000 kWh</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BESS出力900 kW</a:t>
                      </a:r>
                    </a:p>
                  </a:txBody>
                  <a:tcPr marL="91440" marR="91440" marT="45720" marB="45720">
                    <a:solidFill>
                      <a:srgbClr val="F1F5F8"/>
                    </a:solidFill>
                  </a:tcPr>
                </a:tc>
              </a:tr>
              <a:tr h="464344">
                <a:tc>
                  <a:txBody>
                    <a:bodyPr/>
                    <a:lstStyle/>
                    <a:p>
                      <a:r>
                        <a:rPr sz="1575" b="0">
                          <a:solidFill>
                            <a:srgbClr val="202B58"/>
                          </a:solidFill>
                          <a:latin typeface="Noto Sans JP"/>
                          <a:ea typeface="Noto Sans JP"/>
                          <a:cs typeface="Noto Sans JP"/>
                        </a:rPr>
                        <a:t>BESS残量</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初期3,000・下限1,200・上限4,800 kWh</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終端を初期へ戻す制約はない</a:t>
                      </a:r>
                    </a:p>
                  </a:txBody>
                  <a:tcPr marL="91440" marR="91440" marT="45720" marB="45720">
                    <a:solidFill>
                      <a:srgbClr val="FFFFFF"/>
                    </a:solidFill>
                  </a:tcPr>
                </a:tc>
              </a:tr>
              <a:tr h="464344">
                <a:tc>
                  <a:txBody>
                    <a:bodyPr/>
                    <a:lstStyle/>
                    <a:p>
                      <a:r>
                        <a:rPr sz="1575" b="0">
                          <a:solidFill>
                            <a:srgbClr val="202B58"/>
                          </a:solidFill>
                          <a:latin typeface="Noto Sans JP"/>
                          <a:ea typeface="Noto Sans JP"/>
                          <a:cs typeface="Noto Sans JP"/>
                        </a:rPr>
                        <a:t>PV予測／需要</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2024年学習のclimatology／固定電費</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気温による空調需要は未入力</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9967649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47377E-39DE-48B1-881A-B8B9D6106523}"/>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研究手法：前日計画と1時間ごとの更新</a:t>
            </a:r>
          </a:p>
        </p:txBody>
      </p:sp>
      <p:sp>
        <p:nvSpPr>
          <p:cNvPr id="2" name="">
            <a:extLst xmlns:a="http://schemas.openxmlformats.org/drawingml/2006/main">
              <a:ext uri="{FF2B5EF4-FFF2-40B4-BE49-F238E27FC236}">
                <a16:creationId xmlns:a16="http://schemas.microsoft.com/office/drawing/2014/main" id="{84886BF6-BF92-4F4F-9C0D-BBC66CA1786E}"/>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配車を決めた後、PVの変化に合わせて残り時間の充電を更新</a:t>
            </a:r>
          </a:p>
        </p:txBody>
      </p:sp>
      <p:sp>
        <p:nvSpPr>
          <p:cNvPr id="3" name="">
            <a:extLst xmlns:a="http://schemas.openxmlformats.org/drawingml/2006/main">
              <a:ext uri="{FF2B5EF4-FFF2-40B4-BE49-F238E27FC236}">
                <a16:creationId xmlns:a16="http://schemas.microsoft.com/office/drawing/2014/main" id="{C0BCCD5C-CD94-46A2-81D0-570DF244431E}"/>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毎時の更新で配車は固定し、先頭1時間の実行を168回つなぐ</a:t>
            </a:r>
          </a:p>
        </p:txBody>
      </p:sp>
      <p:sp>
        <p:nvSpPr>
          <p:cNvPr id="4" name="">
            <a:extLst xmlns:a="http://schemas.openxmlformats.org/drawingml/2006/main">
              <a:ext uri="{FF2B5EF4-FFF2-40B4-BE49-F238E27FC236}">
                <a16:creationId xmlns:a16="http://schemas.microsoft.com/office/drawing/2014/main" id="{50A5C0D1-DBFD-46AC-8429-D486E8AB0233}"/>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二段階解法の実行可能解であり、配車と充電の統合全体最適性は保証しない。</a:t>
            </a:r>
          </a:p>
        </p:txBody>
      </p:sp>
      <p:sp>
        <p:nvSpPr>
          <p:cNvPr id="5" name="">
            <a:extLst xmlns:a="http://schemas.openxmlformats.org/drawingml/2006/main">
              <a:ext uri="{FF2B5EF4-FFF2-40B4-BE49-F238E27FC236}">
                <a16:creationId xmlns:a16="http://schemas.microsoft.com/office/drawing/2014/main" id="{389423BE-4C73-47FD-B997-2EC3943954F2}"/>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8320D2F3-77E9-4559-A690-2418AA260A94}"/>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6/23</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2571750"/>
                <a:gridCol w="5143500"/>
                <a:gridCol w="3333750"/>
              </a:tblGrid>
              <a:tr h="619125">
                <a:tc>
                  <a:txBody>
                    <a:bodyPr/>
                    <a:lstStyle/>
                    <a:p>
                      <a:r>
                        <a:rPr sz="1725" b="1">
                          <a:solidFill>
                            <a:srgbClr val="FFFFFF"/>
                          </a:solidFill>
                          <a:latin typeface="Noto Sans JP"/>
                          <a:ea typeface="Noto Sans JP"/>
                          <a:cs typeface="Noto Sans JP"/>
                        </a:rPr>
                        <a:t>段階</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決めること・使う情報</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出力</a:t>
                      </a:r>
                    </a:p>
                  </a:txBody>
                  <a:tcPr marL="91440" marR="91440" marT="45720" marB="45720">
                    <a:solidFill>
                      <a:srgbClr val="202B58"/>
                    </a:solidFill>
                  </a:tcPr>
                </a:tc>
              </a:tr>
              <a:tr h="619125">
                <a:tc>
                  <a:txBody>
                    <a:bodyPr/>
                    <a:lstStyle/>
                    <a:p>
                      <a:r>
                        <a:rPr sz="1725" b="0">
                          <a:solidFill>
                            <a:srgbClr val="202B58"/>
                          </a:solidFill>
                          <a:latin typeface="Noto Sans JP"/>
                          <a:ea typeface="Noto Sans JP"/>
                          <a:cs typeface="Noto Sans JP"/>
                        </a:rPr>
                        <a:t>1　入力の固定</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時刻表・車両・料金・PV履歴と予測</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同じ比較条件を記録</a:t>
                      </a:r>
                    </a:p>
                  </a:txBody>
                  <a:tcPr marL="91440" marR="91440" marT="45720" marB="45720">
                    <a:solidFill>
                      <a:srgbClr val="F1F5F8"/>
                    </a:solidFill>
                  </a:tcPr>
                </a:tc>
              </a:tr>
              <a:tr h="619125">
                <a:tc>
                  <a:txBody>
                    <a:bodyPr/>
                    <a:lstStyle/>
                    <a:p>
                      <a:r>
                        <a:rPr sz="1725" b="0">
                          <a:solidFill>
                            <a:srgbClr val="202B58"/>
                          </a:solidFill>
                          <a:latin typeface="Noto Sans JP"/>
                          <a:ea typeface="Noto Sans JP"/>
                          <a:cs typeface="Noto Sans JP"/>
                        </a:rPr>
                        <a:t>2　前日：配車の探索</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BEV／ICEの担当便、実行可能な接続</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便の担当を固定</a:t>
                      </a:r>
                    </a:p>
                  </a:txBody>
                  <a:tcPr marL="91440" marR="91440" marT="45720" marB="45720">
                    <a:solidFill>
                      <a:srgbClr val="FFFFFF"/>
                    </a:solidFill>
                  </a:tcPr>
                </a:tc>
              </a:tr>
              <a:tr h="619125">
                <a:tc>
                  <a:txBody>
                    <a:bodyPr/>
                    <a:lstStyle/>
                    <a:p>
                      <a:r>
                        <a:rPr sz="1725" b="0">
                          <a:solidFill>
                            <a:srgbClr val="202B58"/>
                          </a:solidFill>
                          <a:latin typeface="Noto Sans JP"/>
                          <a:ea typeface="Noto Sans JP"/>
                          <a:cs typeface="Noto Sans JP"/>
                        </a:rPr>
                        <a:t>3　前日：充電の計算</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充電器、PV・BESS・系統の利用</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週間の初期計画</a:t>
                      </a:r>
                    </a:p>
                  </a:txBody>
                  <a:tcPr marL="91440" marR="91440" marT="45720" marB="45720">
                    <a:solidFill>
                      <a:srgbClr val="F1F5F8"/>
                    </a:solidFill>
                  </a:tcPr>
                </a:tc>
              </a:tr>
              <a:tr h="619125">
                <a:tc>
                  <a:txBody>
                    <a:bodyPr/>
                    <a:lstStyle/>
                    <a:p>
                      <a:r>
                        <a:rPr sz="1725" b="0">
                          <a:solidFill>
                            <a:srgbClr val="202B58"/>
                          </a:solidFill>
                          <a:latin typeface="Noto Sans JP"/>
                          <a:ea typeface="Noto Sans JP"/>
                          <a:cs typeface="Noto Sans JP"/>
                        </a:rPr>
                        <a:t>4　毎時更新</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現在残量とPV情報を反映</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先頭1時間を実行として採用</a:t>
                      </a:r>
                    </a:p>
                  </a:txBody>
                  <a:tcPr marL="91440" marR="91440" marT="45720" marB="45720">
                    <a:solidFill>
                      <a:srgbClr val="FFFFFF"/>
                    </a:solidFill>
                  </a:tcPr>
                </a:tc>
              </a:tr>
              <a:tr h="619125">
                <a:tc>
                  <a:txBody>
                    <a:bodyPr/>
                    <a:lstStyle/>
                    <a:p>
                      <a:r>
                        <a:rPr sz="1725" b="0">
                          <a:solidFill>
                            <a:srgbClr val="202B58"/>
                          </a:solidFill>
                          <a:latin typeface="Noto Sans JP"/>
                          <a:ea typeface="Noto Sans JP"/>
                          <a:cs typeface="Noto Sans JP"/>
                        </a:rPr>
                        <a:t>5　週間の検算</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全便、SOC、充電器、電力収支、台帳</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各168時間・672区間を照合</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20074478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D75E0F-34DD-401B-9D0A-EEB07E12DCBB}"/>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計算の完了と検証結果</a:t>
            </a:r>
          </a:p>
        </p:txBody>
      </p:sp>
      <p:sp>
        <p:nvSpPr>
          <p:cNvPr id="2" name="">
            <a:extLst xmlns:a="http://schemas.openxmlformats.org/drawingml/2006/main">
              <a:ext uri="{FF2B5EF4-FFF2-40B4-BE49-F238E27FC236}">
                <a16:creationId xmlns:a16="http://schemas.microsoft.com/office/drawing/2014/main" id="{24891B7D-9E39-43EC-92CD-DC8A31274834}"/>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同じ固定ソース版で12週を新規実行し、全週の独立監査が通過</a:t>
            </a:r>
          </a:p>
        </p:txBody>
      </p:sp>
      <p:sp>
        <p:nvSpPr>
          <p:cNvPr id="3" name="">
            <a:extLst xmlns:a="http://schemas.openxmlformats.org/drawingml/2006/main">
              <a:ext uri="{FF2B5EF4-FFF2-40B4-BE49-F238E27FC236}">
                <a16:creationId xmlns:a16="http://schemas.microsoft.com/office/drawing/2014/main" id="{EC048336-0C07-485E-8A28-93D0373EFD38}"/>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全12週で、未担当便・SOC違反・充電器違反は0件</a:t>
            </a:r>
          </a:p>
        </p:txBody>
      </p:sp>
      <p:sp>
        <p:nvSpPr>
          <p:cNvPr id="4" name="">
            <a:extLst xmlns:a="http://schemas.openxmlformats.org/drawingml/2006/main">
              <a:ext uri="{FF2B5EF4-FFF2-40B4-BE49-F238E27FC236}">
                <a16:creationId xmlns:a16="http://schemas.microsoft.com/office/drawing/2014/main" id="{3AD60A81-F8F8-4D3C-831A-09FDEF2D8DD8}"/>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物理・会計の通過は、最適性・研究採用・先生の承認を意味しない。</a:t>
            </a:r>
          </a:p>
        </p:txBody>
      </p:sp>
      <p:sp>
        <p:nvSpPr>
          <p:cNvPr id="5" name="">
            <a:extLst xmlns:a="http://schemas.openxmlformats.org/drawingml/2006/main">
              <a:ext uri="{FF2B5EF4-FFF2-40B4-BE49-F238E27FC236}">
                <a16:creationId xmlns:a16="http://schemas.microsoft.com/office/drawing/2014/main" id="{F1189FF5-6A75-4DAF-A69A-0E91340136DA}"/>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4F7FFE41-B1AB-4A54-82C6-1E5F884292F0}"/>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7/23</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3238500"/>
                <a:gridCol w="3429000"/>
                <a:gridCol w="4381500"/>
              </a:tblGrid>
              <a:tr h="619125">
                <a:tc>
                  <a:txBody>
                    <a:bodyPr/>
                    <a:lstStyle/>
                    <a:p>
                      <a:r>
                        <a:rPr sz="1725" b="1">
                          <a:solidFill>
                            <a:srgbClr val="FFFFFF"/>
                          </a:solidFill>
                          <a:latin typeface="Noto Sans JP"/>
                          <a:ea typeface="Noto Sans JP"/>
                          <a:cs typeface="Noto Sans JP"/>
                        </a:rPr>
                        <a:t>確認項目</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今回の結果</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確認範囲</a:t>
                      </a:r>
                    </a:p>
                  </a:txBody>
                  <a:tcPr marL="91440" marR="91440" marT="45720" marB="45720">
                    <a:solidFill>
                      <a:srgbClr val="202B58"/>
                    </a:solidFill>
                  </a:tcPr>
                </a:tc>
              </a:tr>
              <a:tr h="619125">
                <a:tc>
                  <a:txBody>
                    <a:bodyPr/>
                    <a:lstStyle/>
                    <a:p>
                      <a:r>
                        <a:rPr sz="1725" b="0">
                          <a:solidFill>
                            <a:srgbClr val="202B58"/>
                          </a:solidFill>
                          <a:latin typeface="Noto Sans JP"/>
                          <a:ea typeface="Noto Sans JP"/>
                          <a:cs typeface="Noto Sans JP"/>
                        </a:rPr>
                        <a:t>全12週の計算</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12 / 12週</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各週168時間・672区間</a:t>
                      </a:r>
                    </a:p>
                  </a:txBody>
                  <a:tcPr marL="91440" marR="91440" marT="45720" marB="45720">
                    <a:solidFill>
                      <a:srgbClr val="F1F5F8"/>
                    </a:solidFill>
                  </a:tcPr>
                </a:tc>
              </a:tr>
              <a:tr h="619125">
                <a:tc>
                  <a:txBody>
                    <a:bodyPr/>
                    <a:lstStyle/>
                    <a:p>
                      <a:r>
                        <a:rPr sz="1725" b="0">
                          <a:solidFill>
                            <a:srgbClr val="202B58"/>
                          </a:solidFill>
                          <a:latin typeface="Noto Sans JP"/>
                          <a:ea typeface="Noto Sans JP"/>
                          <a:cs typeface="Noto Sans JP"/>
                        </a:rPr>
                        <a:t>全便運行・物理</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1,704便／週・違反0件</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SOC・時間接続・充電器・燃料</a:t>
                      </a:r>
                    </a:p>
                  </a:txBody>
                  <a:tcPr marL="91440" marR="91440" marT="45720" marB="45720">
                    <a:solidFill>
                      <a:srgbClr val="FFFFFF"/>
                    </a:solidFill>
                  </a:tcPr>
                </a:tc>
              </a:tr>
              <a:tr h="619125">
                <a:tc>
                  <a:txBody>
                    <a:bodyPr/>
                    <a:lstStyle/>
                    <a:p>
                      <a:r>
                        <a:rPr sz="1725" b="0">
                          <a:solidFill>
                            <a:srgbClr val="202B58"/>
                          </a:solidFill>
                          <a:latin typeface="Noto Sans JP"/>
                          <a:ea typeface="Noto Sans JP"/>
                          <a:cs typeface="Noto Sans JP"/>
                        </a:rPr>
                        <a:t>確定会計</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日別台帳との差 ≤ 0.000001円</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電力・燃料・使用費・契約超過</a:t>
                      </a:r>
                    </a:p>
                  </a:txBody>
                  <a:tcPr marL="91440" marR="91440" marT="45720" marB="45720">
                    <a:solidFill>
                      <a:srgbClr val="F1F5F8"/>
                    </a:solidFill>
                  </a:tcPr>
                </a:tc>
              </a:tr>
              <a:tr h="619125">
                <a:tc>
                  <a:txBody>
                    <a:bodyPr/>
                    <a:lstStyle/>
                    <a:p>
                      <a:r>
                        <a:rPr sz="1725" b="0">
                          <a:solidFill>
                            <a:srgbClr val="202B58"/>
                          </a:solidFill>
                          <a:latin typeface="Noto Sans JP"/>
                          <a:ea typeface="Noto Sans JP"/>
                          <a:cs typeface="Noto Sans JP"/>
                        </a:rPr>
                        <a:t>接続候補</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実行可能な接続の除外0</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全接続を保持</a:t>
                      </a:r>
                    </a:p>
                  </a:txBody>
                  <a:tcPr marL="91440" marR="91440" marT="45720" marB="45720">
                    <a:solidFill>
                      <a:srgbClr val="FFFFFF"/>
                    </a:solidFill>
                  </a:tcPr>
                </a:tc>
              </a:tr>
              <a:tr h="619125">
                <a:tc>
                  <a:txBody>
                    <a:bodyPr/>
                    <a:lstStyle/>
                    <a:p>
                      <a:r>
                        <a:rPr sz="1725" b="0">
                          <a:solidFill>
                            <a:srgbClr val="202B58"/>
                          </a:solidFill>
                          <a:latin typeface="Noto Sans JP"/>
                          <a:ea typeface="Noto Sans JP"/>
                          <a:cs typeface="Noto Sans JP"/>
                        </a:rPr>
                        <a:t>コード・原本</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開始前後clean・同じSHA</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固定7c7c2334・旧結果の混在なし</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212415574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A42F97-47BD-4A3C-B444-7CF3792E426C}"/>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月別のPV発電量と利用先</a:t>
            </a:r>
          </a:p>
        </p:txBody>
      </p:sp>
      <p:sp>
        <p:nvSpPr>
          <p:cNvPr id="2" name="">
            <a:extLst xmlns:a="http://schemas.openxmlformats.org/drawingml/2006/main">
              <a:ext uri="{FF2B5EF4-FFF2-40B4-BE49-F238E27FC236}">
                <a16:creationId xmlns:a16="http://schemas.microsoft.com/office/drawing/2014/main" id="{BD92FB6D-73AF-44E7-9BC1-6C50A4EADE79}"/>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発電量を「バスへ直接」「BESSへ充電」「抑制」に分ける</a:t>
            </a:r>
          </a:p>
        </p:txBody>
      </p:sp>
      <p:sp>
        <p:nvSpPr>
          <p:cNvPr id="3" name="">
            <a:extLst xmlns:a="http://schemas.openxmlformats.org/drawingml/2006/main">
              <a:ext uri="{FF2B5EF4-FFF2-40B4-BE49-F238E27FC236}">
                <a16:creationId xmlns:a16="http://schemas.microsoft.com/office/drawing/2014/main" id="{C8E4DE51-A007-4219-9FC2-0E231B56C291}"/>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7月は発電32.0 MWh／週、そのうち44.1%を抑制</a:t>
            </a:r>
          </a:p>
        </p:txBody>
      </p:sp>
      <p:sp>
        <p:nvSpPr>
          <p:cNvPr id="4" name="">
            <a:extLst xmlns:a="http://schemas.openxmlformats.org/drawingml/2006/main">
              <a:ext uri="{FF2B5EF4-FFF2-40B4-BE49-F238E27FC236}">
                <a16:creationId xmlns:a16="http://schemas.microsoft.com/office/drawing/2014/main" id="{FA51508E-360F-405A-8A4B-A53A84FF1E3E}"/>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BESSへの充電はPV利用に含むが、全量が同じ週にバスへ届いたとは限らない。</a:t>
            </a:r>
          </a:p>
        </p:txBody>
      </p:sp>
      <p:sp>
        <p:nvSpPr>
          <p:cNvPr id="5" name="">
            <a:extLst xmlns:a="http://schemas.openxmlformats.org/drawingml/2006/main">
              <a:ext uri="{FF2B5EF4-FFF2-40B4-BE49-F238E27FC236}">
                <a16:creationId xmlns:a16="http://schemas.microsoft.com/office/drawing/2014/main" id="{35EC0E75-1C0B-424D-B71F-9520D437464D}"/>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46C6EBBA-5421-4076-9379-5C4316A2AC4E}"/>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8/23</a:t>
            </a:r>
          </a:p>
        </p:txBody>
      </p:sp>
      <p:graphicFrame>
        <p:nvGraphicFramePr>
          <p:cNvPr id="14" name="Chart"/>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33259a8633d24822"/>
          </a:graphicData>
        </a:graphic>
      </p:graphicFrame>
    </p:spTree>
    <p:extLst>
      <p:ext uri="{BB962C8B-B14F-4D97-AF65-F5344CB8AC3E}">
        <p14:creationId xmlns:p14="http://schemas.microsoft.com/office/powerpoint/2010/main" val="16501611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31D470-7EFF-402E-97B4-F29B21D9535E}"/>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購入電力量と受電ピーク</a:t>
            </a:r>
          </a:p>
        </p:txBody>
      </p:sp>
      <p:sp>
        <p:nvSpPr>
          <p:cNvPr id="2" name="">
            <a:extLst xmlns:a="http://schemas.openxmlformats.org/drawingml/2006/main">
              <a:ext uri="{FF2B5EF4-FFF2-40B4-BE49-F238E27FC236}">
                <a16:creationId xmlns:a16="http://schemas.microsoft.com/office/drawing/2014/main" id="{CC2C7016-09B7-40B8-A2D5-D511F98E186A}"/>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電力量は積算値、ピークは最大15分平均電力</a:t>
            </a:r>
          </a:p>
        </p:txBody>
      </p:sp>
      <p:sp>
        <p:nvSpPr>
          <p:cNvPr id="3" name="">
            <a:extLst xmlns:a="http://schemas.openxmlformats.org/drawingml/2006/main">
              <a:ext uri="{FF2B5EF4-FFF2-40B4-BE49-F238E27FC236}">
                <a16:creationId xmlns:a16="http://schemas.microsoft.com/office/drawing/2014/main" id="{C26811E2-0428-401A-AF57-607C7FF30E99}"/>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3月：購入7,794 kWh・ピーク849 kW／7月：1,746 kWh・227 kW</a:t>
            </a:r>
          </a:p>
        </p:txBody>
      </p:sp>
      <p:sp>
        <p:nvSpPr>
          <p:cNvPr id="4" name="">
            <a:extLst xmlns:a="http://schemas.openxmlformats.org/drawingml/2006/main">
              <a:ext uri="{FF2B5EF4-FFF2-40B4-BE49-F238E27FC236}">
                <a16:creationId xmlns:a16="http://schemas.microsoft.com/office/drawing/2014/main" id="{55F0D22D-F1BE-4505-8EC9-55FE1627718D}"/>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契約基準200 kWは超過料金を伴う基準値。設備の物理的な受電上限ではない。</a:t>
            </a:r>
          </a:p>
        </p:txBody>
      </p:sp>
      <p:sp>
        <p:nvSpPr>
          <p:cNvPr id="5" name="">
            <a:extLst xmlns:a="http://schemas.openxmlformats.org/drawingml/2006/main">
              <a:ext uri="{FF2B5EF4-FFF2-40B4-BE49-F238E27FC236}">
                <a16:creationId xmlns:a16="http://schemas.microsoft.com/office/drawing/2014/main" id="{BD923F29-2CFB-4AE4-B3FF-86BDB84FDBE0}"/>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476C1FC9-266C-4B8E-AA10-C7FE4F39BE7C}"/>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9/23</a:t>
            </a:r>
          </a:p>
        </p:txBody>
      </p:sp>
      <p:graphicFrame>
        <p:nvGraphicFramePr>
          <p:cNvPr id="15" name="Chart"/>
          <p:cNvGraphicFramePr/>
          <p:nvPr/>
        </p:nvGraphicFramePr>
        <p:xfrm>
          <a:off xmlns:a="http://schemas.openxmlformats.org/drawingml/2006/main" x="571500" y="16954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6e9209bbbe8f4467"/>
          </a:graphicData>
        </a:graphic>
      </p:graphicFrame>
      <p:graphicFrame>
        <p:nvGraphicFramePr>
          <p:cNvPr id="16" name="Chart"/>
          <p:cNvGraphicFramePr/>
          <p:nvPr/>
        </p:nvGraphicFramePr>
        <p:xfrm>
          <a:off xmlns:a="http://schemas.openxmlformats.org/drawingml/2006/main" x="6238875" y="16954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f8f6587671434e71"/>
          </a:graphicData>
        </a:graphic>
      </p:graphicFrame>
    </p:spTree>
    <p:extLst>
      <p:ext uri="{BB962C8B-B14F-4D97-AF65-F5344CB8AC3E}">
        <p14:creationId xmlns:p14="http://schemas.microsoft.com/office/powerpoint/2010/main" val="2065341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54A38C-AE72-40F8-9F29-A0B066D258BF}"/>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費用の内訳：車両使用費と変動する費用</a:t>
            </a:r>
          </a:p>
        </p:txBody>
      </p:sp>
      <p:sp>
        <p:nvSpPr>
          <p:cNvPr id="2" name="">
            <a:extLst xmlns:a="http://schemas.openxmlformats.org/drawingml/2006/main">
              <a:ext uri="{FF2B5EF4-FFF2-40B4-BE49-F238E27FC236}">
                <a16:creationId xmlns:a16="http://schemas.microsoft.com/office/drawing/2014/main" id="{ACAA9A3D-B9E0-4644-AB28-10218E96BFFC}"/>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全月で20,000円／台日。使用車両日数は205〜206台日／週</a:t>
            </a:r>
          </a:p>
        </p:txBody>
      </p:sp>
      <p:sp>
        <p:nvSpPr>
          <p:cNvPr id="3" name="">
            <a:extLst xmlns:a="http://schemas.openxmlformats.org/drawingml/2006/main">
              <a:ext uri="{FF2B5EF4-FFF2-40B4-BE49-F238E27FC236}">
                <a16:creationId xmlns:a16="http://schemas.microsoft.com/office/drawing/2014/main" id="{BAF8C62B-2EE6-493B-86E3-748591317BFA}"/>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総費用の88〜98%は車両使用費。季節差は内訳と併せて読む</a:t>
            </a:r>
          </a:p>
        </p:txBody>
      </p:sp>
      <p:sp>
        <p:nvSpPr>
          <p:cNvPr id="4" name="">
            <a:extLst xmlns:a="http://schemas.openxmlformats.org/drawingml/2006/main">
              <a:ext uri="{FF2B5EF4-FFF2-40B4-BE49-F238E27FC236}">
                <a16:creationId xmlns:a16="http://schemas.microsoft.com/office/drawing/2014/main" id="{65641ADF-874F-47C4-89DE-3906A80DB27A}"/>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PV・BESS設備費、蓄電池劣化費、運転士費等は含まない。投資採算の比較ではない。</a:t>
            </a:r>
          </a:p>
        </p:txBody>
      </p:sp>
      <p:sp>
        <p:nvSpPr>
          <p:cNvPr id="5" name="">
            <a:extLst xmlns:a="http://schemas.openxmlformats.org/drawingml/2006/main">
              <a:ext uri="{FF2B5EF4-FFF2-40B4-BE49-F238E27FC236}">
                <a16:creationId xmlns:a16="http://schemas.microsoft.com/office/drawing/2014/main" id="{A8FB71EE-5B87-46AA-A72C-5CE21B70EE8D}"/>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5D440E93-2590-434A-8516-9F38040FFA52}"/>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10/23</a:t>
            </a:r>
          </a:p>
        </p:txBody>
      </p:sp>
      <p:graphicFrame>
        <p:nvGraphicFramePr>
          <p:cNvPr id="15" name="Chart"/>
          <p:cNvGraphicFramePr/>
          <p:nvPr/>
        </p:nvGraphicFramePr>
        <p:xfrm>
          <a:off xmlns:a="http://schemas.openxmlformats.org/drawingml/2006/main" x="571500" y="1695450"/>
          <a:ext xmlns:a="http://schemas.openxmlformats.org/drawingml/2006/main" cx="4857750" cy="3714750"/>
        </p:xfrm>
        <a:graphic xmlns:a="http://schemas.openxmlformats.org/drawingml/2006/main">
          <a:graphicData uri="http://schemas.openxmlformats.org/drawingml/2006/chart">
            <c:chart xmlns:r="http://schemas.openxmlformats.org/officeDocument/2006/relationships" xmlns:c="http://schemas.openxmlformats.org/drawingml/2006/chart" r:id="R9bf2c8e434c6443e"/>
          </a:graphicData>
        </a:graphic>
      </p:graphicFrame>
      <p:graphicFrame>
        <p:nvGraphicFramePr>
          <p:cNvPr id="16" name="Chart"/>
          <p:cNvGraphicFramePr/>
          <p:nvPr/>
        </p:nvGraphicFramePr>
        <p:xfrm>
          <a:off xmlns:a="http://schemas.openxmlformats.org/drawingml/2006/main" x="5810250" y="1695450"/>
          <a:ext xmlns:a="http://schemas.openxmlformats.org/drawingml/2006/main" cx="5810250" cy="3714750"/>
        </p:xfrm>
        <a:graphic xmlns:a="http://schemas.openxmlformats.org/drawingml/2006/main">
          <a:graphicData uri="http://schemas.openxmlformats.org/drawingml/2006/chart">
            <c:chart xmlns:r="http://schemas.openxmlformats.org/officeDocument/2006/relationships" xmlns:c="http://schemas.openxmlformats.org/drawingml/2006/chart" r:id="Ra759de4eb1744dd4"/>
          </a:graphicData>
        </a:graphic>
      </p:graphicFrame>
    </p:spTree>
    <p:extLst>
      <p:ext uri="{BB962C8B-B14F-4D97-AF65-F5344CB8AC3E}">
        <p14:creationId xmlns:p14="http://schemas.microsoft.com/office/powerpoint/2010/main" val="9540407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05E902-581D-4ECA-8016-62BCB8E9FDB0}"/>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季節別の結果：各季節の選択3週を比較</a:t>
            </a:r>
          </a:p>
        </p:txBody>
      </p:sp>
      <p:sp>
        <p:nvSpPr>
          <p:cNvPr id="2" name="">
            <a:extLst xmlns:a="http://schemas.openxmlformats.org/drawingml/2006/main">
              <a:ext uri="{FF2B5EF4-FFF2-40B4-BE49-F238E27FC236}">
                <a16:creationId xmlns:a16="http://schemas.microsoft.com/office/drawing/2014/main" id="{19413686-CEF3-4439-AC89-C1E5C794C97E}"/>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平均費用・平均購入量と、季節内の範囲を併記</a:t>
            </a:r>
          </a:p>
        </p:txBody>
      </p:sp>
      <p:sp>
        <p:nvSpPr>
          <p:cNvPr id="3" name="">
            <a:extLst xmlns:a="http://schemas.openxmlformats.org/drawingml/2006/main">
              <a:ext uri="{FF2B5EF4-FFF2-40B4-BE49-F238E27FC236}">
                <a16:creationId xmlns:a16="http://schemas.microsoft.com/office/drawing/2014/main" id="{DB7F6273-1589-49CE-9F0D-FF8E7386F4AD}"/>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夏の平均購入量は2,425 kWh／週、秋は5,072 kWh／週</a:t>
            </a:r>
          </a:p>
        </p:txBody>
      </p:sp>
      <p:sp>
        <p:nvSpPr>
          <p:cNvPr id="4" name="">
            <a:extLst xmlns:a="http://schemas.openxmlformats.org/drawingml/2006/main">
              <a:ext uri="{FF2B5EF4-FFF2-40B4-BE49-F238E27FC236}">
                <a16:creationId xmlns:a16="http://schemas.microsoft.com/office/drawing/2014/main" id="{E46AEBF2-1C86-433D-A958-20D219B0D914}"/>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各3週の記述統計。季節全体の期待値、連続21日間、統計的な季節効果ではない。</a:t>
            </a:r>
          </a:p>
        </p:txBody>
      </p:sp>
      <p:sp>
        <p:nvSpPr>
          <p:cNvPr id="5" name="">
            <a:extLst xmlns:a="http://schemas.openxmlformats.org/drawingml/2006/main">
              <a:ext uri="{FF2B5EF4-FFF2-40B4-BE49-F238E27FC236}">
                <a16:creationId xmlns:a16="http://schemas.microsoft.com/office/drawing/2014/main" id="{7C0C3B69-9B67-4D03-9EA9-CE8715F4957E}"/>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3470C012-3EF5-4FB6-B686-B7B4EA41EEA0}"/>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11/23</a:t>
            </a:r>
          </a:p>
        </p:txBody>
      </p:sp>
      <p:graphicFrame>
        <p:nvGraphicFramePr>
          <p:cNvPr id="15" name=""/>
          <p:cNvGraphicFramePr/>
          <p:nvPr/>
        </p:nvGraphicFramePr>
        <p:xfrm>
          <a:off xmlns:a="http://schemas.openxmlformats.org/drawingml/2006/main" x="571500" y="1781175"/>
          <a:ext xmlns:a="http://schemas.openxmlformats.org/drawingml/2006/main" cx="11049000" cy="3048000"/>
        </p:xfrm>
        <a:graphic xmlns:a="http://schemas.openxmlformats.org/drawingml/2006/main">
          <a:graphicData uri="http://schemas.openxmlformats.org/drawingml/2006/table">
            <a:tbl>
              <a:tblPr/>
              <a:tblGrid>
                <a:gridCol w="1143000"/>
                <a:gridCol w="2619375"/>
                <a:gridCol w="2619375"/>
                <a:gridCol w="2762250"/>
                <a:gridCol w="1905000"/>
              </a:tblGrid>
              <a:tr h="609600">
                <a:tc>
                  <a:txBody>
                    <a:bodyPr/>
                    <a:lstStyle/>
                    <a:p>
                      <a:r>
                        <a:rPr sz="1725" b="1">
                          <a:solidFill>
                            <a:srgbClr val="FFFFFF"/>
                          </a:solidFill>
                          <a:latin typeface="Noto Sans JP"/>
                          <a:ea typeface="Noto Sans JP"/>
                          <a:cs typeface="Noto Sans JP"/>
                        </a:rPr>
                        <a:t>季節</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費用［万円／週］</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購入量［kWh／週］</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購入量の範囲</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PV抑制率</a:t>
                      </a:r>
                    </a:p>
                  </a:txBody>
                  <a:tcPr marL="91440" marR="91440" marT="45720" marB="45720">
                    <a:solidFill>
                      <a:srgbClr val="202B58"/>
                    </a:solidFill>
                  </a:tcPr>
                </a:tc>
              </a:tr>
              <a:tr h="609600">
                <a:tc>
                  <a:txBody>
                    <a:bodyPr/>
                    <a:lstStyle/>
                    <a:p>
                      <a:r>
                        <a:rPr sz="1725" b="0">
                          <a:solidFill>
                            <a:srgbClr val="202B58"/>
                          </a:solidFill>
                          <a:latin typeface="Noto Sans JP"/>
                          <a:ea typeface="Noto Sans JP"/>
                          <a:cs typeface="Noto Sans JP"/>
                        </a:rPr>
                        <a:t>冬</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432.7</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4,480</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2,124〜5,695</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14.9%</a:t>
                      </a:r>
                    </a:p>
                  </a:txBody>
                  <a:tcPr marL="91440" marR="91440" marT="45720" marB="45720">
                    <a:solidFill>
                      <a:srgbClr val="F1F5F8"/>
                    </a:solidFill>
                  </a:tcPr>
                </a:tc>
              </a:tr>
              <a:tr h="609600">
                <a:tc>
                  <a:txBody>
                    <a:bodyPr/>
                    <a:lstStyle/>
                    <a:p>
                      <a:r>
                        <a:rPr sz="1725" b="0">
                          <a:solidFill>
                            <a:srgbClr val="202B58"/>
                          </a:solidFill>
                          <a:latin typeface="Noto Sans JP"/>
                          <a:ea typeface="Noto Sans JP"/>
                          <a:cs typeface="Noto Sans JP"/>
                        </a:rPr>
                        <a:t>春</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446.2</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4,828</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2,707〜7,794</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35.9%</a:t>
                      </a:r>
                    </a:p>
                  </a:txBody>
                  <a:tcPr marL="91440" marR="91440" marT="45720" marB="45720">
                    <a:solidFill>
                      <a:srgbClr val="FFFFFF"/>
                    </a:solidFill>
                  </a:tcPr>
                </a:tc>
              </a:tr>
              <a:tr h="609600">
                <a:tc>
                  <a:txBody>
                    <a:bodyPr/>
                    <a:lstStyle/>
                    <a:p>
                      <a:r>
                        <a:rPr sz="1725" b="0">
                          <a:solidFill>
                            <a:srgbClr val="202B58"/>
                          </a:solidFill>
                          <a:latin typeface="Noto Sans JP"/>
                          <a:ea typeface="Noto Sans JP"/>
                          <a:cs typeface="Noto Sans JP"/>
                        </a:rPr>
                        <a:t>夏</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428.6</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2,425</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1,746〜2,805</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45.3%</a:t>
                      </a:r>
                    </a:p>
                  </a:txBody>
                  <a:tcPr marL="91440" marR="91440" marT="45720" marB="45720">
                    <a:solidFill>
                      <a:srgbClr val="F1F5F8"/>
                    </a:solidFill>
                  </a:tcPr>
                </a:tc>
              </a:tr>
              <a:tr h="609600">
                <a:tc>
                  <a:txBody>
                    <a:bodyPr/>
                    <a:lstStyle/>
                    <a:p>
                      <a:r>
                        <a:rPr sz="1725" b="0">
                          <a:solidFill>
                            <a:srgbClr val="202B58"/>
                          </a:solidFill>
                          <a:latin typeface="Noto Sans JP"/>
                          <a:ea typeface="Noto Sans JP"/>
                          <a:cs typeface="Noto Sans JP"/>
                        </a:rPr>
                        <a:t>秋</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433.8</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5,072</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3,619〜7,302</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29.7%</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7478476-12AD-4F07-AE3C-F5CD0FFE6E07}"/>
              </a:ext>
            </a:extLst>
          </p:cNvPr>
          <p:cNvSpPr>
            <a:spLocks xmlns:a="http://schemas.openxmlformats.org/drawingml/2006/main" noGrp="1"/>
          </p:cNvSpPr>
          <p:nvPr/>
        </p:nvSpPr>
        <p:spPr>
          <a:xfrm xmlns:a="http://schemas.openxmlformats.org/drawingml/2006/main">
            <a:off x="685800" y="50673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費用は週平均、PV抑制率は各季節3週の合計発電量に対する比率</a:t>
            </a:r>
          </a:p>
        </p:txBody>
      </p:sp>
    </p:spTree>
    <p:extLst>
      <p:ext uri="{BB962C8B-B14F-4D97-AF65-F5344CB8AC3E}">
        <p14:creationId xmlns:p14="http://schemas.microsoft.com/office/powerpoint/2010/main" val="18537996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C8598C-07E5-4FE8-8408-4879948E4AFA}"/>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3月と7月：週間費用差は44.6万円</a:t>
            </a:r>
          </a:p>
        </p:txBody>
      </p:sp>
      <p:sp>
        <p:nvSpPr>
          <p:cNvPr id="2" name="">
            <a:extLst xmlns:a="http://schemas.openxmlformats.org/drawingml/2006/main">
              <a:ext uri="{FF2B5EF4-FFF2-40B4-BE49-F238E27FC236}">
                <a16:creationId xmlns:a16="http://schemas.microsoft.com/office/drawing/2014/main" id="{0564AA7D-DAB0-42FA-B0F8-E2FCA77E8B71}"/>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選択12週の費用最大・最小を、同じ費用項目で比較</a:t>
            </a:r>
          </a:p>
        </p:txBody>
      </p:sp>
      <p:sp>
        <p:nvSpPr>
          <p:cNvPr id="3" name="">
            <a:extLst xmlns:a="http://schemas.openxmlformats.org/drawingml/2006/main">
              <a:ext uri="{FF2B5EF4-FFF2-40B4-BE49-F238E27FC236}">
                <a16:creationId xmlns:a16="http://schemas.microsoft.com/office/drawing/2014/main" id="{AB8141D2-8D54-41A3-8562-ECE9B623FFD2}"/>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3月の契約超過費は27.0万円。使用費以外の費用の約50%を占める</a:t>
            </a:r>
          </a:p>
        </p:txBody>
      </p:sp>
      <p:sp>
        <p:nvSpPr>
          <p:cNvPr id="4" name="">
            <a:extLst xmlns:a="http://schemas.openxmlformats.org/drawingml/2006/main">
              <a:ext uri="{FF2B5EF4-FFF2-40B4-BE49-F238E27FC236}">
                <a16:creationId xmlns:a16="http://schemas.microsoft.com/office/drawing/2014/main" id="{C5B3CDCD-19F4-4C73-A431-967168508535}"/>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配車・PV予測誤差・探索結果も異なるため、差額をPV単独の削減効果とは呼ばない。</a:t>
            </a:r>
          </a:p>
        </p:txBody>
      </p:sp>
      <p:sp>
        <p:nvSpPr>
          <p:cNvPr id="5" name="">
            <a:extLst xmlns:a="http://schemas.openxmlformats.org/drawingml/2006/main">
              <a:ext uri="{FF2B5EF4-FFF2-40B4-BE49-F238E27FC236}">
                <a16:creationId xmlns:a16="http://schemas.microsoft.com/office/drawing/2014/main" id="{C3A5303B-92DE-43A8-BC7E-684FDF689331}"/>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D0246CB7-5E8C-4214-8100-C0102F561CB2}"/>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12/23</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3333750"/>
                <a:gridCol w="2571750"/>
                <a:gridCol w="2571750"/>
                <a:gridCol w="2571750"/>
              </a:tblGrid>
              <a:tr h="530679">
                <a:tc>
                  <a:txBody>
                    <a:bodyPr/>
                    <a:lstStyle/>
                    <a:p>
                      <a:r>
                        <a:rPr sz="1725" b="1">
                          <a:solidFill>
                            <a:srgbClr val="FFFFFF"/>
                          </a:solidFill>
                          <a:latin typeface="Noto Sans JP"/>
                          <a:ea typeface="Noto Sans JP"/>
                          <a:cs typeface="Noto Sans JP"/>
                        </a:rPr>
                        <a:t>項目［円／選択週］</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3月3日週</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7月7日週</a:t>
                      </a:r>
                    </a:p>
                  </a:txBody>
                  <a:tcPr marL="91440" marR="91440" marT="45720" marB="45720">
                    <a:solidFill>
                      <a:srgbClr val="202B58"/>
                    </a:solidFill>
                  </a:tcPr>
                </a:tc>
                <a:tc>
                  <a:txBody>
                    <a:bodyPr/>
                    <a:lstStyle/>
                    <a:p>
                      <a:r>
                        <a:rPr sz="1725" b="1">
                          <a:solidFill>
                            <a:srgbClr val="FFFFFF"/>
                          </a:solidFill>
                          <a:latin typeface="Noto Sans JP"/>
                          <a:ea typeface="Noto Sans JP"/>
                          <a:cs typeface="Noto Sans JP"/>
                        </a:rPr>
                        <a:t>3月 − 7月</a:t>
                      </a:r>
                    </a:p>
                  </a:txBody>
                  <a:tcPr marL="91440" marR="91440" marT="45720" marB="45720">
                    <a:solidFill>
                      <a:srgbClr val="202B58"/>
                    </a:solidFill>
                  </a:tcPr>
                </a:tc>
              </a:tr>
              <a:tr h="530679">
                <a:tc>
                  <a:txBody>
                    <a:bodyPr/>
                    <a:lstStyle/>
                    <a:p>
                      <a:r>
                        <a:rPr sz="1725" b="0">
                          <a:solidFill>
                            <a:srgbClr val="202B58"/>
                          </a:solidFill>
                          <a:latin typeface="Noto Sans JP"/>
                          <a:ea typeface="Noto Sans JP"/>
                          <a:cs typeface="Noto Sans JP"/>
                        </a:rPr>
                        <a:t>車両使用費</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4,120,000.00</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4,120,000.00</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0.00</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購入電力費</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233,821.69</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52,391.09</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181,430.60</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燃料費</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35,954.95</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38,527.87</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-2,572.92</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CO₂費用</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4,469.15</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1,482.46</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2,986.70</a:t>
                      </a:r>
                    </a:p>
                  </a:txBody>
                  <a:tcPr marL="91440" marR="91440" marT="45720" marB="45720">
                    <a:solidFill>
                      <a:srgbClr val="FFFFFF"/>
                    </a:solidFill>
                  </a:tcPr>
                </a:tc>
              </a:tr>
              <a:tr h="530679">
                <a:tc>
                  <a:txBody>
                    <a:bodyPr/>
                    <a:lstStyle/>
                    <a:p>
                      <a:r>
                        <a:rPr sz="1725" b="0">
                          <a:solidFill>
                            <a:srgbClr val="202B58"/>
                          </a:solidFill>
                          <a:latin typeface="Noto Sans JP"/>
                          <a:ea typeface="Noto Sans JP"/>
                          <a:cs typeface="Noto Sans JP"/>
                        </a:rPr>
                        <a:t>契約超過費</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270,256.72</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6,167.13</a:t>
                      </a:r>
                    </a:p>
                  </a:txBody>
                  <a:tcPr marL="91440" marR="91440" marT="45720" marB="45720">
                    <a:solidFill>
                      <a:srgbClr val="F1F5F8"/>
                    </a:solidFill>
                  </a:tcPr>
                </a:tc>
                <a:tc>
                  <a:txBody>
                    <a:bodyPr/>
                    <a:lstStyle/>
                    <a:p>
                      <a:r>
                        <a:rPr sz="1725" b="0">
                          <a:solidFill>
                            <a:srgbClr val="202B58"/>
                          </a:solidFill>
                          <a:latin typeface="Noto Sans JP"/>
                          <a:ea typeface="Noto Sans JP"/>
                          <a:cs typeface="Noto Sans JP"/>
                        </a:rPr>
                        <a:t>264,089.59</a:t>
                      </a:r>
                    </a:p>
                  </a:txBody>
                  <a:tcPr marL="91440" marR="91440" marT="45720" marB="45720">
                    <a:solidFill>
                      <a:srgbClr val="F1F5F8"/>
                    </a:solidFill>
                  </a:tcPr>
                </a:tc>
              </a:tr>
              <a:tr h="530679">
                <a:tc>
                  <a:txBody>
                    <a:bodyPr/>
                    <a:lstStyle/>
                    <a:p>
                      <a:r>
                        <a:rPr sz="1725" b="0">
                          <a:solidFill>
                            <a:srgbClr val="202B58"/>
                          </a:solidFill>
                          <a:latin typeface="Noto Sans JP"/>
                          <a:ea typeface="Noto Sans JP"/>
                          <a:cs typeface="Noto Sans JP"/>
                        </a:rPr>
                        <a:t>合計</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4,664,502.52</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4,218,568.55</a:t>
                      </a:r>
                    </a:p>
                  </a:txBody>
                  <a:tcPr marL="91440" marR="91440" marT="45720" marB="45720">
                    <a:solidFill>
                      <a:srgbClr val="FFFFFF"/>
                    </a:solidFill>
                  </a:tcPr>
                </a:tc>
                <a:tc>
                  <a:txBody>
                    <a:bodyPr/>
                    <a:lstStyle/>
                    <a:p>
                      <a:r>
                        <a:rPr sz="1725" b="0">
                          <a:solidFill>
                            <a:srgbClr val="202B58"/>
                          </a:solidFill>
                          <a:latin typeface="Noto Sans JP"/>
                          <a:ea typeface="Noto Sans JP"/>
                          <a:cs typeface="Noto Sans JP"/>
                        </a:rPr>
                        <a:t>445,933.97</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711066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FF3AB3-1E53-4790-8F67-E19D84D4B366}"/>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3月と7月の週間推移：PVと系統購入</a:t>
            </a:r>
          </a:p>
        </p:txBody>
      </p:sp>
      <p:sp>
        <p:nvSpPr>
          <p:cNvPr id="2" name="">
            <a:extLst xmlns:a="http://schemas.openxmlformats.org/drawingml/2006/main">
              <a:ext uri="{FF2B5EF4-FFF2-40B4-BE49-F238E27FC236}">
                <a16:creationId xmlns:a16="http://schemas.microsoft.com/office/drawing/2014/main" id="{4A9B57C1-1CD2-489E-889D-20F04DD4CCB3}"/>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15分の確定実行値を1時間単位に合計して表示</a:t>
            </a:r>
          </a:p>
        </p:txBody>
      </p:sp>
      <p:sp>
        <p:nvSpPr>
          <p:cNvPr id="3" name="">
            <a:extLst xmlns:a="http://schemas.openxmlformats.org/drawingml/2006/main">
              <a:ext uri="{FF2B5EF4-FFF2-40B4-BE49-F238E27FC236}">
                <a16:creationId xmlns:a16="http://schemas.microsoft.com/office/drawing/2014/main" id="{CF53ED8A-5707-4203-8A5A-849B54A6924A}"/>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総量の違いに加え、PVがある時間と購入が必要な時間の対応を確認する</a:t>
            </a:r>
          </a:p>
        </p:txBody>
      </p:sp>
      <p:sp>
        <p:nvSpPr>
          <p:cNvPr id="4" name="">
            <a:extLst xmlns:a="http://schemas.openxmlformats.org/drawingml/2006/main">
              <a:ext uri="{FF2B5EF4-FFF2-40B4-BE49-F238E27FC236}">
                <a16:creationId xmlns:a16="http://schemas.microsoft.com/office/drawing/2014/main" id="{32AE1B91-8FE8-4833-A833-8FA0E50E4462}"/>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縦軸は1時間当たりの電力量。15分平均の最大受電ピークとは区別する。</a:t>
            </a:r>
          </a:p>
        </p:txBody>
      </p:sp>
      <p:sp>
        <p:nvSpPr>
          <p:cNvPr id="5" name="">
            <a:extLst xmlns:a="http://schemas.openxmlformats.org/drawingml/2006/main">
              <a:ext uri="{FF2B5EF4-FFF2-40B4-BE49-F238E27FC236}">
                <a16:creationId xmlns:a16="http://schemas.microsoft.com/office/drawing/2014/main" id="{A9FE2CEF-67A1-4CBB-ACA4-7490B57DD25D}"/>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838888C2-23DC-43E6-B2AD-19AA702FBE26}"/>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13/23</a:t>
            </a:r>
          </a:p>
        </p:txBody>
      </p:sp>
      <p:graphicFrame>
        <p:nvGraphicFramePr>
          <p:cNvPr id="15" name="Chart"/>
          <p:cNvGraphicFramePr/>
          <p:nvPr/>
        </p:nvGraphicFramePr>
        <p:xfrm>
          <a:off xmlns:a="http://schemas.openxmlformats.org/drawingml/2006/main" x="571500" y="16954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ce8048f93863466b"/>
          </a:graphicData>
        </a:graphic>
      </p:graphicFrame>
      <p:graphicFrame>
        <p:nvGraphicFramePr>
          <p:cNvPr id="16" name="Chart"/>
          <p:cNvGraphicFramePr/>
          <p:nvPr/>
        </p:nvGraphicFramePr>
        <p:xfrm>
          <a:off xmlns:a="http://schemas.openxmlformats.org/drawingml/2006/main" x="6238875" y="16954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2ac3ffb8ca884442"/>
          </a:graphicData>
        </a:graphic>
      </p:graphicFrame>
    </p:spTree>
    <p:extLst>
      <p:ext uri="{BB962C8B-B14F-4D97-AF65-F5344CB8AC3E}">
        <p14:creationId xmlns:p14="http://schemas.microsoft.com/office/powerpoint/2010/main" val="19786014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956905-6438-4643-A62A-FB01EA0DA635}"/>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BESS残量：毎週の初期在庫を使う条件</a:t>
            </a:r>
          </a:p>
        </p:txBody>
      </p:sp>
      <p:sp>
        <p:nvSpPr>
          <p:cNvPr id="2" name="">
            <a:extLst xmlns:a="http://schemas.openxmlformats.org/drawingml/2006/main">
              <a:ext uri="{FF2B5EF4-FFF2-40B4-BE49-F238E27FC236}">
                <a16:creationId xmlns:a16="http://schemas.microsoft.com/office/drawing/2014/main" id="{9E826A77-C9C4-47BE-B22F-1B1FC229F1B7}"/>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設備6,000 kWh／初期3,000 kWh／許容範囲1,200〜4,800 kWh</a:t>
            </a:r>
          </a:p>
        </p:txBody>
      </p:sp>
      <p:sp>
        <p:nvSpPr>
          <p:cNvPr id="3" name="">
            <a:extLst xmlns:a="http://schemas.openxmlformats.org/drawingml/2006/main">
              <a:ext uri="{FF2B5EF4-FFF2-40B4-BE49-F238E27FC236}">
                <a16:creationId xmlns:a16="http://schemas.microsoft.com/office/drawing/2014/main" id="{87BD4852-AFE4-42D2-8CE1-43F1DE2F428A}"/>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全12週の在庫減少は1,786.6〜1,800.0 kWh。連続運用の節約へ外挿しない</a:t>
            </a:r>
          </a:p>
        </p:txBody>
      </p:sp>
      <p:sp>
        <p:nvSpPr>
          <p:cNvPr id="4" name="">
            <a:extLst xmlns:a="http://schemas.openxmlformats.org/drawingml/2006/main">
              <a:ext uri="{FF2B5EF4-FFF2-40B4-BE49-F238E27FC236}">
                <a16:creationId xmlns:a16="http://schemas.microsoft.com/office/drawing/2014/main" id="{DDAA8F54-F304-4A97-90A7-0D6D6BF48F10}"/>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前回の「初期残量へ戻す」条件とは異なる。BEVの週末復元条件とは別。</a:t>
            </a:r>
          </a:p>
        </p:txBody>
      </p:sp>
      <p:sp>
        <p:nvSpPr>
          <p:cNvPr id="5" name="">
            <a:extLst xmlns:a="http://schemas.openxmlformats.org/drawingml/2006/main">
              <a:ext uri="{FF2B5EF4-FFF2-40B4-BE49-F238E27FC236}">
                <a16:creationId xmlns:a16="http://schemas.microsoft.com/office/drawing/2014/main" id="{B24ADADD-40DA-493D-AA1F-5E9C03E9966F}"/>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F5426971-3661-406A-AA95-210152DDFF66}"/>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14/23</a:t>
            </a:r>
          </a:p>
        </p:txBody>
      </p:sp>
      <p:graphicFrame>
        <p:nvGraphicFramePr>
          <p:cNvPr id="14" name="Chart"/>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chart">
            <c:chart xmlns:r="http://schemas.openxmlformats.org/officeDocument/2006/relationships" xmlns:c="http://schemas.openxmlformats.org/drawingml/2006/chart" r:id="Rd2197ed069424921"/>
          </a:graphicData>
        </a:graphic>
      </p:graphicFrame>
    </p:spTree>
    <p:extLst>
      <p:ext uri="{BB962C8B-B14F-4D97-AF65-F5344CB8AC3E}">
        <p14:creationId xmlns:p14="http://schemas.microsoft.com/office/powerpoint/2010/main" val="14421753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569CB3-F3A1-4554-9294-F581119F5965}"/>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BEV／ICEの担当と使用台数</a:t>
            </a:r>
          </a:p>
        </p:txBody>
      </p:sp>
      <p:sp>
        <p:nvSpPr>
          <p:cNvPr id="2" name="">
            <a:extLst xmlns:a="http://schemas.openxmlformats.org/drawingml/2006/main">
              <a:ext uri="{FF2B5EF4-FFF2-40B4-BE49-F238E27FC236}">
                <a16:creationId xmlns:a16="http://schemas.microsoft.com/office/drawing/2014/main" id="{C926E53A-0243-4145-A19E-8D40FF59B5A9}"/>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入力60台に対し、各週に使用したユニークな車両は32台</a:t>
            </a:r>
          </a:p>
        </p:txBody>
      </p:sp>
      <p:sp>
        <p:nvSpPr>
          <p:cNvPr id="3" name="">
            <a:extLst xmlns:a="http://schemas.openxmlformats.org/drawingml/2006/main">
              <a:ext uri="{FF2B5EF4-FFF2-40B4-BE49-F238E27FC236}">
                <a16:creationId xmlns:a16="http://schemas.microsoft.com/office/drawing/2014/main" id="{0C7C3CBA-6E9F-4294-BF1F-728ECB71CFB4}"/>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4月はBEV25＋ICE7台、他の11週はBEV26＋ICE6台</a:t>
            </a:r>
          </a:p>
        </p:txBody>
      </p:sp>
      <p:sp>
        <p:nvSpPr>
          <p:cNvPr id="4" name="">
            <a:extLst xmlns:a="http://schemas.openxmlformats.org/drawingml/2006/main">
              <a:ext uri="{FF2B5EF4-FFF2-40B4-BE49-F238E27FC236}">
                <a16:creationId xmlns:a16="http://schemas.microsoft.com/office/drawing/2014/main" id="{6A8594CD-9FF9-4F50-8B0D-1F2FE5A3E891}"/>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同じ台数でも担当便は異なる。台数だけからPV効果や配車の同一性を判断しない。</a:t>
            </a:r>
          </a:p>
        </p:txBody>
      </p:sp>
      <p:sp>
        <p:nvSpPr>
          <p:cNvPr id="5" name="">
            <a:extLst xmlns:a="http://schemas.openxmlformats.org/drawingml/2006/main">
              <a:ext uri="{FF2B5EF4-FFF2-40B4-BE49-F238E27FC236}">
                <a16:creationId xmlns:a16="http://schemas.microsoft.com/office/drawing/2014/main" id="{99BC7F8D-6ECF-4B2A-BC0E-D2536F8D6D4A}"/>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EB74FA35-9FBC-4468-AEED-356C2007EF07}"/>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15/23</a:t>
            </a:r>
          </a:p>
        </p:txBody>
      </p:sp>
      <p:graphicFrame>
        <p:nvGraphicFramePr>
          <p:cNvPr id="15" name="Chart"/>
          <p:cNvGraphicFramePr/>
          <p:nvPr/>
        </p:nvGraphicFramePr>
        <p:xfrm>
          <a:off xmlns:a="http://schemas.openxmlformats.org/drawingml/2006/main" x="571500" y="16954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17a5148947f142c8"/>
          </a:graphicData>
        </a:graphic>
      </p:graphicFrame>
      <p:graphicFrame>
        <p:nvGraphicFramePr>
          <p:cNvPr id="16" name="Chart"/>
          <p:cNvGraphicFramePr/>
          <p:nvPr/>
        </p:nvGraphicFramePr>
        <p:xfrm>
          <a:off xmlns:a="http://schemas.openxmlformats.org/drawingml/2006/main" x="6238875" y="16954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b86612e30ea04f2d"/>
          </a:graphicData>
        </a:graphic>
      </p:graphicFrame>
    </p:spTree>
    <p:extLst>
      <p:ext uri="{BB962C8B-B14F-4D97-AF65-F5344CB8AC3E}">
        <p14:creationId xmlns:p14="http://schemas.microsoft.com/office/powerpoint/2010/main" val="4569125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9985F1-9A11-40E2-AF71-466FB41CCDF9}"/>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計算時間と最適性の到達度</a:t>
            </a:r>
          </a:p>
        </p:txBody>
      </p:sp>
      <p:sp>
        <p:nvSpPr>
          <p:cNvPr id="2" name="">
            <a:extLst xmlns:a="http://schemas.openxmlformats.org/drawingml/2006/main">
              <a:ext uri="{FF2B5EF4-FFF2-40B4-BE49-F238E27FC236}">
                <a16:creationId xmlns:a16="http://schemas.microsoft.com/office/drawing/2014/main" id="{1FB3DAD8-38B6-46E0-9A38-DD34540030C7}"/>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前日処理の保存実測値と、配車側Stage 1のgapを区別する</a:t>
            </a:r>
          </a:p>
        </p:txBody>
      </p:sp>
      <p:sp>
        <p:nvSpPr>
          <p:cNvPr id="3" name="">
            <a:extLst xmlns:a="http://schemas.openxmlformats.org/drawingml/2006/main">
              <a:ext uri="{FF2B5EF4-FFF2-40B4-BE49-F238E27FC236}">
                <a16:creationId xmlns:a16="http://schemas.microsoft.com/office/drawing/2014/main" id="{ED83D585-827C-4B5E-AE56-82CDA067B531}"/>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前日処理は約445〜461秒。Stage 1 gapは84.6〜85.2%で目標未達</a:t>
            </a:r>
          </a:p>
        </p:txBody>
      </p:sp>
      <p:sp>
        <p:nvSpPr>
          <p:cNvPr id="4" name="">
            <a:extLst xmlns:a="http://schemas.openxmlformats.org/drawingml/2006/main">
              <a:ext uri="{FF2B5EF4-FFF2-40B4-BE49-F238E27FC236}">
                <a16:creationId xmlns:a16="http://schemas.microsoft.com/office/drawing/2014/main" id="{6066C512-FA2A-40CB-867A-D4C0A49C8BD7}"/>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gapは週間確定費用の誤差率ではない。同一条件baselineの速度比較も未実施。</a:t>
            </a:r>
          </a:p>
        </p:txBody>
      </p:sp>
      <p:sp>
        <p:nvSpPr>
          <p:cNvPr id="5" name="">
            <a:extLst xmlns:a="http://schemas.openxmlformats.org/drawingml/2006/main">
              <a:ext uri="{FF2B5EF4-FFF2-40B4-BE49-F238E27FC236}">
                <a16:creationId xmlns:a16="http://schemas.microsoft.com/office/drawing/2014/main" id="{F6533B07-E4C3-4C60-9A1C-3727317FF11A}"/>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3BA1EC19-079F-47B9-BBC6-BDB72FD8C0F8}"/>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16/23</a:t>
            </a:r>
          </a:p>
        </p:txBody>
      </p:sp>
      <p:graphicFrame>
        <p:nvGraphicFramePr>
          <p:cNvPr id="15" name="Chart"/>
          <p:cNvGraphicFramePr/>
          <p:nvPr/>
        </p:nvGraphicFramePr>
        <p:xfrm>
          <a:off xmlns:a="http://schemas.openxmlformats.org/drawingml/2006/main" x="571500" y="1695450"/>
          <a:ext xmlns:a="http://schemas.openxmlformats.org/drawingml/2006/main" cx="5810250" cy="3714750"/>
        </p:xfrm>
        <a:graphic xmlns:a="http://schemas.openxmlformats.org/drawingml/2006/main">
          <a:graphicData uri="http://schemas.openxmlformats.org/drawingml/2006/chart">
            <c:chart xmlns:r="http://schemas.openxmlformats.org/officeDocument/2006/relationships" xmlns:c="http://schemas.openxmlformats.org/drawingml/2006/chart" r:id="Rd616f9713af949c5"/>
          </a:graphicData>
        </a:graphic>
      </p:graphicFrame>
      <p:graphicFrame>
        <p:nvGraphicFramePr>
          <p:cNvPr id="16" name=""/>
          <p:cNvGraphicFramePr/>
          <p:nvPr/>
        </p:nvGraphicFramePr>
        <p:xfrm>
          <a:off xmlns:a="http://schemas.openxmlformats.org/drawingml/2006/main" x="6667500" y="1800225"/>
          <a:ext xmlns:a="http://schemas.openxmlformats.org/drawingml/2006/main" cx="4953000" cy="3238500"/>
        </p:xfrm>
        <a:graphic xmlns:a="http://schemas.openxmlformats.org/drawingml/2006/main">
          <a:graphicData uri="http://schemas.openxmlformats.org/drawingml/2006/table">
            <a:tbl>
              <a:tblPr/>
              <a:tblGrid>
                <a:gridCol w="2238375"/>
                <a:gridCol w="2714625"/>
              </a:tblGrid>
              <a:tr h="539750">
                <a:tc>
                  <a:txBody>
                    <a:bodyPr/>
                    <a:lstStyle/>
                    <a:p>
                      <a:r>
                        <a:rPr sz="1650" b="1">
                          <a:solidFill>
                            <a:srgbClr val="FFFFFF"/>
                          </a:solidFill>
                          <a:latin typeface="Noto Sans JP"/>
                          <a:ea typeface="Noto Sans JP"/>
                          <a:cs typeface="Noto Sans JP"/>
                        </a:rPr>
                        <a:t>項目</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全月共通</a:t>
                      </a:r>
                    </a:p>
                  </a:txBody>
                  <a:tcPr marL="91440" marR="91440" marT="45720" marB="45720">
                    <a:solidFill>
                      <a:srgbClr val="202B58"/>
                    </a:solidFill>
                  </a:tcPr>
                </a:tc>
              </a:tr>
              <a:tr h="539750">
                <a:tc>
                  <a:txBody>
                    <a:bodyPr/>
                    <a:lstStyle/>
                    <a:p>
                      <a:r>
                        <a:rPr sz="1650" b="0">
                          <a:solidFill>
                            <a:srgbClr val="202B58"/>
                          </a:solidFill>
                          <a:latin typeface="Noto Sans JP"/>
                          <a:ea typeface="Noto Sans JP"/>
                          <a:cs typeface="Noto Sans JP"/>
                        </a:rPr>
                        <a:t>前日全体の上限</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900秒</a:t>
                      </a:r>
                    </a:p>
                  </a:txBody>
                  <a:tcPr marL="91440" marR="91440" marT="45720" marB="45720">
                    <a:solidFill>
                      <a:srgbClr val="F1F5F8"/>
                    </a:solidFill>
                  </a:tcPr>
                </a:tc>
              </a:tr>
              <a:tr h="539750">
                <a:tc>
                  <a:txBody>
                    <a:bodyPr/>
                    <a:lstStyle/>
                    <a:p>
                      <a:r>
                        <a:rPr sz="1650" b="0">
                          <a:solidFill>
                            <a:srgbClr val="202B58"/>
                          </a:solidFill>
                          <a:latin typeface="Noto Sans JP"/>
                          <a:ea typeface="Noto Sans JP"/>
                          <a:cs typeface="Noto Sans JP"/>
                        </a:rPr>
                        <a:t>配車／充電の上限</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各120秒</a:t>
                      </a:r>
                    </a:p>
                  </a:txBody>
                  <a:tcPr marL="91440" marR="91440" marT="45720" marB="45720">
                    <a:solidFill>
                      <a:srgbClr val="FFFFFF"/>
                    </a:solidFill>
                  </a:tcPr>
                </a:tc>
              </a:tr>
              <a:tr h="539750">
                <a:tc>
                  <a:txBody>
                    <a:bodyPr/>
                    <a:lstStyle/>
                    <a:p>
                      <a:r>
                        <a:rPr sz="1650" b="0">
                          <a:solidFill>
                            <a:srgbClr val="202B58"/>
                          </a:solidFill>
                          <a:latin typeface="Noto Sans JP"/>
                          <a:ea typeface="Noto Sans JP"/>
                          <a:cs typeface="Noto Sans JP"/>
                        </a:rPr>
                        <a:t>毎時更新の上限</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15秒／回</a:t>
                      </a:r>
                    </a:p>
                  </a:txBody>
                  <a:tcPr marL="91440" marR="91440" marT="45720" marB="45720">
                    <a:solidFill>
                      <a:srgbClr val="F1F5F8"/>
                    </a:solidFill>
                  </a:tcPr>
                </a:tc>
              </a:tr>
              <a:tr h="539750">
                <a:tc>
                  <a:txBody>
                    <a:bodyPr/>
                    <a:lstStyle/>
                    <a:p>
                      <a:r>
                        <a:rPr sz="1650" b="0">
                          <a:solidFill>
                            <a:srgbClr val="202B58"/>
                          </a:solidFill>
                          <a:latin typeface="Noto Sans JP"/>
                          <a:ea typeface="Noto Sans JP"/>
                          <a:cs typeface="Noto Sans JP"/>
                        </a:rPr>
                        <a:t>seed / threads</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 / 12</a:t>
                      </a:r>
                    </a:p>
                  </a:txBody>
                  <a:tcPr marL="91440" marR="91440" marT="45720" marB="45720">
                    <a:solidFill>
                      <a:srgbClr val="FFFFFF"/>
                    </a:solidFill>
                  </a:tcPr>
                </a:tc>
              </a:tr>
              <a:tr h="539750">
                <a:tc>
                  <a:txBody>
                    <a:bodyPr/>
                    <a:lstStyle/>
                    <a:p>
                      <a:r>
                        <a:rPr sz="1650" b="0">
                          <a:solidFill>
                            <a:srgbClr val="202B58"/>
                          </a:solidFill>
                          <a:latin typeface="Noto Sans JP"/>
                          <a:ea typeface="Noto Sans JP"/>
                          <a:cs typeface="Noto Sans JP"/>
                        </a:rPr>
                        <a:t>Stage 1目標gap</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10%</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16216999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8CDC5E-2489-472D-BC07-15AC803B1E7D}"/>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今回の結果から言える範囲</a:t>
            </a:r>
          </a:p>
        </p:txBody>
      </p:sp>
      <p:sp>
        <p:nvSpPr>
          <p:cNvPr id="2" name="">
            <a:extLst xmlns:a="http://schemas.openxmlformats.org/drawingml/2006/main">
              <a:ext uri="{FF2B5EF4-FFF2-40B4-BE49-F238E27FC236}">
                <a16:creationId xmlns:a16="http://schemas.microsoft.com/office/drawing/2014/main" id="{EE42E43B-F55D-4EAB-ACBE-F5309C4D71E5}"/>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曜日構成を揃えた12週の記述的比較として報告</a:t>
            </a:r>
          </a:p>
        </p:txBody>
      </p:sp>
      <p:sp>
        <p:nvSpPr>
          <p:cNvPr id="3" name="">
            <a:extLst xmlns:a="http://schemas.openxmlformats.org/drawingml/2006/main">
              <a:ext uri="{FF2B5EF4-FFF2-40B4-BE49-F238E27FC236}">
                <a16:creationId xmlns:a16="http://schemas.microsoft.com/office/drawing/2014/main" id="{00322AFD-A9D7-450C-BA15-31D17830BD5A}"/>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物理・会計の完了を示し、季節一般・年間効果・PV単独の因果は主張しない</a:t>
            </a:r>
          </a:p>
        </p:txBody>
      </p:sp>
      <p:sp>
        <p:nvSpPr>
          <p:cNvPr id="4" name="">
            <a:extLst xmlns:a="http://schemas.openxmlformats.org/drawingml/2006/main">
              <a:ext uri="{FF2B5EF4-FFF2-40B4-BE49-F238E27FC236}">
                <a16:creationId xmlns:a16="http://schemas.microsoft.com/office/drawing/2014/main" id="{06005593-FA6B-4B6A-A860-CF599FD3E571}"/>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研究採用BLOCKED：最適性、正式fleet来歴、実距離等の未解消条件を維持。</a:t>
            </a:r>
          </a:p>
        </p:txBody>
      </p:sp>
      <p:sp>
        <p:nvSpPr>
          <p:cNvPr id="5" name="">
            <a:extLst xmlns:a="http://schemas.openxmlformats.org/drawingml/2006/main">
              <a:ext uri="{FF2B5EF4-FFF2-40B4-BE49-F238E27FC236}">
                <a16:creationId xmlns:a16="http://schemas.microsoft.com/office/drawing/2014/main" id="{2E3A1917-8349-4B65-A866-8613838B4F5D}"/>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82B67060-E9DD-4C70-8757-EE5180D68F2B}"/>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17/23</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2238375"/>
                <a:gridCol w="4095750"/>
                <a:gridCol w="4714875"/>
              </a:tblGrid>
              <a:tr h="619125">
                <a:tc>
                  <a:txBody>
                    <a:bodyPr/>
                    <a:lstStyle/>
                    <a:p>
                      <a:r>
                        <a:rPr sz="1650" b="1">
                          <a:solidFill>
                            <a:srgbClr val="FFFFFF"/>
                          </a:solidFill>
                          <a:latin typeface="Noto Sans JP"/>
                          <a:ea typeface="Noto Sans JP"/>
                          <a:cs typeface="Noto Sans JP"/>
                        </a:rPr>
                        <a:t>論点</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今回確認できたこと</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残る制限</a:t>
                      </a:r>
                    </a:p>
                  </a:txBody>
                  <a:tcPr marL="91440" marR="91440" marT="45720" marB="45720">
                    <a:solidFill>
                      <a:srgbClr val="202B58"/>
                    </a:solidFill>
                  </a:tcPr>
                </a:tc>
              </a:tr>
              <a:tr h="619125">
                <a:tc>
                  <a:txBody>
                    <a:bodyPr/>
                    <a:lstStyle/>
                    <a:p>
                      <a:r>
                        <a:rPr sz="1650" b="0">
                          <a:solidFill>
                            <a:srgbClr val="202B58"/>
                          </a:solidFill>
                          <a:latin typeface="Noto Sans JP"/>
                          <a:ea typeface="Noto Sans JP"/>
                          <a:cs typeface="Noto Sans JP"/>
                        </a:rPr>
                        <a:t>比較の公平性</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各週5平日＋土日、同じ運行・設備</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月1週。3月は月平均GHI比−35.2%</a:t>
                      </a:r>
                    </a:p>
                  </a:txBody>
                  <a:tcPr marL="91440" marR="91440" marT="45720" marB="45720">
                    <a:solidFill>
                      <a:srgbClr val="F1F5F8"/>
                    </a:solidFill>
                  </a:tcPr>
                </a:tc>
              </a:tr>
              <a:tr h="619125">
                <a:tc>
                  <a:txBody>
                    <a:bodyPr/>
                    <a:lstStyle/>
                    <a:p>
                      <a:r>
                        <a:rPr sz="1650" b="0">
                          <a:solidFill>
                            <a:srgbClr val="202B58"/>
                          </a:solidFill>
                          <a:latin typeface="Noto Sans JP"/>
                          <a:ea typeface="Noto Sans JP"/>
                          <a:cs typeface="Noto Sans JP"/>
                        </a:rPr>
                        <a:t>季節の入力</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2025年PV履歴と2024年学習予測</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空調需要なし・2026年時刻表</a:t>
                      </a:r>
                    </a:p>
                  </a:txBody>
                  <a:tcPr marL="91440" marR="91440" marT="45720" marB="45720">
                    <a:solidFill>
                      <a:srgbClr val="FFFFFF"/>
                    </a:solidFill>
                  </a:tcPr>
                </a:tc>
              </a:tr>
              <a:tr h="619125">
                <a:tc>
                  <a:txBody>
                    <a:bodyPr/>
                    <a:lstStyle/>
                    <a:p>
                      <a:r>
                        <a:rPr sz="1650" b="0">
                          <a:solidFill>
                            <a:srgbClr val="202B58"/>
                          </a:solidFill>
                          <a:latin typeface="Noto Sans JP"/>
                          <a:ea typeface="Noto Sans JP"/>
                          <a:cs typeface="Noto Sans JP"/>
                        </a:rPr>
                        <a:t>エネルギー・費用</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物理制約と確定台帳を照合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BESS在庫使用・設備／劣化費等なし</a:t>
                      </a:r>
                    </a:p>
                  </a:txBody>
                  <a:tcPr marL="91440" marR="91440" marT="45720" marB="45720">
                    <a:solidFill>
                      <a:srgbClr val="F1F5F8"/>
                    </a:solidFill>
                  </a:tcPr>
                </a:tc>
              </a:tr>
              <a:tr h="619125">
                <a:tc>
                  <a:txBody>
                    <a:bodyPr/>
                    <a:lstStyle/>
                    <a:p>
                      <a:r>
                        <a:rPr sz="1650" b="0">
                          <a:solidFill>
                            <a:srgbClr val="202B58"/>
                          </a:solidFill>
                          <a:latin typeface="Noto Sans JP"/>
                          <a:ea typeface="Noto Sans JP"/>
                          <a:cs typeface="Noto Sans JP"/>
                        </a:rPr>
                        <a:t>最適性・因果</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得られた実行可能解を比較</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gap未達・配車や予測誤差も異なる</a:t>
                      </a:r>
                    </a:p>
                  </a:txBody>
                  <a:tcPr marL="91440" marR="91440" marT="45720" marB="45720">
                    <a:solidFill>
                      <a:srgbClr val="FFFFFF"/>
                    </a:solidFill>
                  </a:tcPr>
                </a:tc>
              </a:tr>
              <a:tr h="619125">
                <a:tc>
                  <a:txBody>
                    <a:bodyPr/>
                    <a:lstStyle/>
                    <a:p>
                      <a:r>
                        <a:rPr sz="1650" b="0">
                          <a:solidFill>
                            <a:srgbClr val="202B58"/>
                          </a:solidFill>
                          <a:latin typeface="Noto Sans JP"/>
                          <a:ea typeface="Noto Sans JP"/>
                          <a:cs typeface="Noto Sans JP"/>
                        </a:rPr>
                        <a:t>研究採用</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再現用コード・入力・結果の紐づけ</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正式fleet、代理距離、既存資料の残件</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12097414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2F4A87-03B7-48CA-A0AE-DD71951B8DF8}"/>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今回のまとめと次の検証</a:t>
            </a:r>
          </a:p>
        </p:txBody>
      </p:sp>
      <p:sp>
        <p:nvSpPr>
          <p:cNvPr id="2" name="">
            <a:extLst xmlns:a="http://schemas.openxmlformats.org/drawingml/2006/main">
              <a:ext uri="{FF2B5EF4-FFF2-40B4-BE49-F238E27FC236}">
                <a16:creationId xmlns:a16="http://schemas.microsoft.com/office/drawing/2014/main" id="{72AC8C17-F5A9-4EDA-8F84-1013DEB093A7}"/>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12週の実行結果から、PVの使い残しと受電ピークを次の論点へ</a:t>
            </a:r>
          </a:p>
        </p:txBody>
      </p:sp>
      <p:sp>
        <p:nvSpPr>
          <p:cNvPr id="3" name="">
            <a:extLst xmlns:a="http://schemas.openxmlformats.org/drawingml/2006/main">
              <a:ext uri="{FF2B5EF4-FFF2-40B4-BE49-F238E27FC236}">
                <a16:creationId xmlns:a16="http://schemas.microsoft.com/office/drawing/2014/main" id="{09DB39B8-4B51-46FD-A465-ABE858292737}"/>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曜日構成を揃えた全12週で運用が成立し、費用差の内訳を説明できた</a:t>
            </a:r>
          </a:p>
        </p:txBody>
      </p:sp>
      <p:sp>
        <p:nvSpPr>
          <p:cNvPr id="4" name="">
            <a:extLst xmlns:a="http://schemas.openxmlformats.org/drawingml/2006/main">
              <a:ext uri="{FF2B5EF4-FFF2-40B4-BE49-F238E27FC236}">
                <a16:creationId xmlns:a16="http://schemas.microsoft.com/office/drawing/2014/main" id="{FCB6A2D2-7B75-4521-AA3A-00444D3E92A7}"/>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以下は今後の比較案。効果が確認済みという意味ではない。</a:t>
            </a:r>
          </a:p>
        </p:txBody>
      </p:sp>
      <p:sp>
        <p:nvSpPr>
          <p:cNvPr id="5" name="">
            <a:extLst xmlns:a="http://schemas.openxmlformats.org/drawingml/2006/main">
              <a:ext uri="{FF2B5EF4-FFF2-40B4-BE49-F238E27FC236}">
                <a16:creationId xmlns:a16="http://schemas.microsoft.com/office/drawing/2014/main" id="{596BEAFC-28B2-48A9-B7D1-08FDA4F50A63}"/>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2B89557E-3CF9-4075-BE15-BFDA2F60914C}"/>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18/23</a:t>
            </a:r>
          </a:p>
        </p:txBody>
      </p:sp>
      <p:graphicFrame>
        <p:nvGraphicFramePr>
          <p:cNvPr id="14" name=""/>
          <p:cNvGraphicFramePr/>
          <p:nvPr/>
        </p:nvGraphicFramePr>
        <p:xfrm>
          <a:off xmlns:a="http://schemas.openxmlformats.org/drawingml/2006/main" x="571500" y="1905000"/>
          <a:ext xmlns:a="http://schemas.openxmlformats.org/drawingml/2006/main" cx="11049000" cy="3238500"/>
        </p:xfrm>
        <a:graphic xmlns:a="http://schemas.openxmlformats.org/drawingml/2006/main">
          <a:graphicData uri="http://schemas.openxmlformats.org/drawingml/2006/table">
            <a:tbl>
              <a:tblPr/>
              <a:tblGrid>
                <a:gridCol w="5810250"/>
                <a:gridCol w="5238750"/>
              </a:tblGrid>
              <a:tr h="647700">
                <a:tc>
                  <a:txBody>
                    <a:bodyPr/>
                    <a:lstStyle/>
                    <a:p>
                      <a:r>
                        <a:rPr sz="1800" b="1">
                          <a:solidFill>
                            <a:srgbClr val="FFFFFF"/>
                          </a:solidFill>
                          <a:latin typeface="Noto Sans JP"/>
                          <a:ea typeface="Noto Sans JP"/>
                          <a:cs typeface="Noto Sans JP"/>
                        </a:rPr>
                        <a:t>観察した結果</a:t>
                      </a:r>
                    </a:p>
                  </a:txBody>
                  <a:tcPr marL="91440" marR="91440" marT="45720" marB="45720">
                    <a:solidFill>
                      <a:srgbClr val="202B58"/>
                    </a:solidFill>
                  </a:tcPr>
                </a:tc>
                <a:tc>
                  <a:txBody>
                    <a:bodyPr/>
                    <a:lstStyle/>
                    <a:p>
                      <a:r>
                        <a:rPr sz="1800" b="1">
                          <a:solidFill>
                            <a:srgbClr val="FFFFFF"/>
                          </a:solidFill>
                          <a:latin typeface="Noto Sans JP"/>
                          <a:ea typeface="Noto Sans JP"/>
                          <a:cs typeface="Noto Sans JP"/>
                        </a:rPr>
                        <a:t>次に確かめること</a:t>
                      </a:r>
                    </a:p>
                  </a:txBody>
                  <a:tcPr marL="91440" marR="91440" marT="45720" marB="45720">
                    <a:solidFill>
                      <a:srgbClr val="202B58"/>
                    </a:solidFill>
                  </a:tcPr>
                </a:tc>
              </a:tr>
              <a:tr h="647700">
                <a:tc>
                  <a:txBody>
                    <a:bodyPr/>
                    <a:lstStyle/>
                    <a:p>
                      <a:r>
                        <a:rPr sz="1800" b="0">
                          <a:solidFill>
                            <a:srgbClr val="202B58"/>
                          </a:solidFill>
                          <a:latin typeface="Noto Sans JP"/>
                          <a:ea typeface="Noto Sans JP"/>
                          <a:cs typeface="Noto Sans JP"/>
                        </a:rPr>
                        <a:t>夏：購入2,425 kWh／週、PV抑制45.3%</a:t>
                      </a:r>
                    </a:p>
                  </a:txBody>
                  <a:tcPr marL="91440" marR="91440" marT="45720" marB="45720">
                    <a:solidFill>
                      <a:srgbClr val="F1F5F8"/>
                    </a:solidFill>
                  </a:tcPr>
                </a:tc>
                <a:tc>
                  <a:txBody>
                    <a:bodyPr/>
                    <a:lstStyle/>
                    <a:p>
                      <a:r>
                        <a:rPr sz="1800" b="0">
                          <a:solidFill>
                            <a:srgbClr val="202B58"/>
                          </a:solidFill>
                          <a:latin typeface="Noto Sans JP"/>
                          <a:ea typeface="Noto Sans JP"/>
                          <a:cs typeface="Noto Sans JP"/>
                        </a:rPr>
                        <a:t>同じ気象・配車で、充電時刻とBESS条件を比較</a:t>
                      </a:r>
                    </a:p>
                  </a:txBody>
                  <a:tcPr marL="91440" marR="91440" marT="45720" marB="45720">
                    <a:solidFill>
                      <a:srgbClr val="F1F5F8"/>
                    </a:solidFill>
                  </a:tcPr>
                </a:tc>
              </a:tr>
              <a:tr h="647700">
                <a:tc>
                  <a:txBody>
                    <a:bodyPr/>
                    <a:lstStyle/>
                    <a:p>
                      <a:r>
                        <a:rPr sz="1800" b="0">
                          <a:solidFill>
                            <a:srgbClr val="202B58"/>
                          </a:solidFill>
                          <a:latin typeface="Noto Sans JP"/>
                          <a:ea typeface="Noto Sans JP"/>
                          <a:cs typeface="Noto Sans JP"/>
                        </a:rPr>
                        <a:t>3月：受電849 kW、契約超過費27.0万円</a:t>
                      </a:r>
                    </a:p>
                  </a:txBody>
                  <a:tcPr marL="91440" marR="91440" marT="45720" marB="45720">
                    <a:solidFill>
                      <a:srgbClr val="FFFFFF"/>
                    </a:solidFill>
                  </a:tcPr>
                </a:tc>
                <a:tc>
                  <a:txBody>
                    <a:bodyPr/>
                    <a:lstStyle/>
                    <a:p>
                      <a:r>
                        <a:rPr sz="1800" b="0">
                          <a:solidFill>
                            <a:srgbClr val="202B58"/>
                          </a:solidFill>
                          <a:latin typeface="Noto Sans JP"/>
                          <a:ea typeface="Noto Sans JP"/>
                          <a:cs typeface="Noto Sans JP"/>
                        </a:rPr>
                        <a:t>最大受電を抑える政策の費用・運行への影響</a:t>
                      </a:r>
                    </a:p>
                  </a:txBody>
                  <a:tcPr marL="91440" marR="91440" marT="45720" marB="45720">
                    <a:solidFill>
                      <a:srgbClr val="FFFFFF"/>
                    </a:solidFill>
                  </a:tcPr>
                </a:tc>
              </a:tr>
              <a:tr h="647700">
                <a:tc>
                  <a:txBody>
                    <a:bodyPr/>
                    <a:lstStyle/>
                    <a:p>
                      <a:r>
                        <a:rPr sz="1800" b="0">
                          <a:solidFill>
                            <a:srgbClr val="202B58"/>
                          </a:solidFill>
                          <a:latin typeface="Noto Sans JP"/>
                          <a:ea typeface="Noto Sans JP"/>
                          <a:cs typeface="Noto Sans JP"/>
                        </a:rPr>
                        <a:t>各週：BESS初期在庫を約1,800 kWh使用</a:t>
                      </a:r>
                    </a:p>
                  </a:txBody>
                  <a:tcPr marL="91440" marR="91440" marT="45720" marB="45720">
                    <a:solidFill>
                      <a:srgbClr val="F1F5F8"/>
                    </a:solidFill>
                  </a:tcPr>
                </a:tc>
                <a:tc>
                  <a:txBody>
                    <a:bodyPr/>
                    <a:lstStyle/>
                    <a:p>
                      <a:r>
                        <a:rPr sz="1800" b="0">
                          <a:solidFill>
                            <a:srgbClr val="202B58"/>
                          </a:solidFill>
                          <a:latin typeface="Noto Sans JP"/>
                          <a:ea typeface="Noto Sans JP"/>
                          <a:cs typeface="Noto Sans JP"/>
                        </a:rPr>
                        <a:t>始終端一致または連続運用で再比較</a:t>
                      </a:r>
                    </a:p>
                  </a:txBody>
                  <a:tcPr marL="91440" marR="91440" marT="45720" marB="45720">
                    <a:solidFill>
                      <a:srgbClr val="F1F5F8"/>
                    </a:solidFill>
                  </a:tcPr>
                </a:tc>
              </a:tr>
              <a:tr h="647700">
                <a:tc>
                  <a:txBody>
                    <a:bodyPr/>
                    <a:lstStyle/>
                    <a:p>
                      <a:r>
                        <a:rPr sz="1800" b="0">
                          <a:solidFill>
                            <a:srgbClr val="202B58"/>
                          </a:solidFill>
                          <a:latin typeface="Noto Sans JP"/>
                          <a:ea typeface="Noto Sans JP"/>
                          <a:cs typeface="Noto Sans JP"/>
                        </a:rPr>
                        <a:t>月1週・Stage 1 gap未達</a:t>
                      </a:r>
                    </a:p>
                  </a:txBody>
                  <a:tcPr marL="91440" marR="91440" marT="45720" marB="45720">
                    <a:solidFill>
                      <a:srgbClr val="FFFFFF"/>
                    </a:solidFill>
                  </a:tcPr>
                </a:tc>
                <a:tc>
                  <a:txBody>
                    <a:bodyPr/>
                    <a:lstStyle/>
                    <a:p>
                      <a:r>
                        <a:rPr sz="1800" b="0">
                          <a:solidFill>
                            <a:srgbClr val="202B58"/>
                          </a:solidFill>
                          <a:latin typeface="Noto Sans JP"/>
                          <a:ea typeface="Noto Sans JP"/>
                          <a:cs typeface="Noto Sans JP"/>
                        </a:rPr>
                        <a:t>複数週の頑健性と、探索・baselineを検証</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4753380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298161-344A-4326-9BA0-51A3583EBE1E}"/>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補足：月別の確定値（1月から6月）</a:t>
            </a:r>
          </a:p>
        </p:txBody>
      </p:sp>
      <p:sp>
        <p:nvSpPr>
          <p:cNvPr id="2" name="">
            <a:extLst xmlns:a="http://schemas.openxmlformats.org/drawingml/2006/main">
              <a:ext uri="{FF2B5EF4-FFF2-40B4-BE49-F238E27FC236}">
                <a16:creationId xmlns:a16="http://schemas.microsoft.com/office/drawing/2014/main" id="{C4EFD5C6-5353-4CA8-ABDC-9A95250C7B4A}"/>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費用は確定会計、電力は672区間の実行値から集計</a:t>
            </a:r>
          </a:p>
        </p:txBody>
      </p:sp>
      <p:sp>
        <p:nvSpPr>
          <p:cNvPr id="3" name="">
            <a:extLst xmlns:a="http://schemas.openxmlformats.org/drawingml/2006/main">
              <a:ext uri="{FF2B5EF4-FFF2-40B4-BE49-F238E27FC236}">
                <a16:creationId xmlns:a16="http://schemas.microsoft.com/office/drawing/2014/main" id="{A91A524B-323E-4770-8656-6C3384B21425}"/>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全週で1,704便・168時間・物理違反0件を確認</a:t>
            </a:r>
          </a:p>
        </p:txBody>
      </p:sp>
      <p:sp>
        <p:nvSpPr>
          <p:cNvPr id="4" name="">
            <a:extLst xmlns:a="http://schemas.openxmlformats.org/drawingml/2006/main">
              <a:ext uri="{FF2B5EF4-FFF2-40B4-BE49-F238E27FC236}">
                <a16:creationId xmlns:a16="http://schemas.microsoft.com/office/drawing/2014/main" id="{3C2787CA-B210-420E-8740-D5D967FB49B8}"/>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表示は丸め値。原本JSONに丸め前の値と出典SHAを保存。</a:t>
            </a:r>
          </a:p>
        </p:txBody>
      </p:sp>
      <p:sp>
        <p:nvSpPr>
          <p:cNvPr id="5" name="">
            <a:extLst xmlns:a="http://schemas.openxmlformats.org/drawingml/2006/main">
              <a:ext uri="{FF2B5EF4-FFF2-40B4-BE49-F238E27FC236}">
                <a16:creationId xmlns:a16="http://schemas.microsoft.com/office/drawing/2014/main" id="{16CA1878-2529-41E9-BDCF-1F6CFA13E798}"/>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5E20A5BE-0563-475B-89CF-433B4B730AF1}"/>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19/23</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1000125"/>
                <a:gridCol w="2143125"/>
                <a:gridCol w="1809750"/>
                <a:gridCol w="2333625"/>
                <a:gridCol w="2047875"/>
                <a:gridCol w="1714500"/>
              </a:tblGrid>
              <a:tr h="530679">
                <a:tc>
                  <a:txBody>
                    <a:bodyPr/>
                    <a:lstStyle/>
                    <a:p>
                      <a:r>
                        <a:rPr sz="1650" b="1">
                          <a:solidFill>
                            <a:srgbClr val="FFFFFF"/>
                          </a:solidFill>
                          <a:latin typeface="Noto Sans JP"/>
                          <a:ea typeface="Noto Sans JP"/>
                          <a:cs typeface="Noto Sans JP"/>
                        </a:rPr>
                        <a:t>月</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費用［万円］</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使用［台日］</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購入［kWh］</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ピーク［kW］</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PV抑制率</a:t>
                      </a:r>
                    </a:p>
                  </a:txBody>
                  <a:tcPr marL="91440" marR="91440" marT="45720" marB="45720">
                    <a:solidFill>
                      <a:srgbClr val="202B58"/>
                    </a:solidFill>
                  </a:tcPr>
                </a:tc>
              </a:tr>
              <a:tr h="530679">
                <a:tc>
                  <a:txBody>
                    <a:bodyPr/>
                    <a:lstStyle/>
                    <a:p>
                      <a:r>
                        <a:rPr sz="1650" b="0">
                          <a:solidFill>
                            <a:srgbClr val="202B58"/>
                          </a:solidFill>
                          <a:latin typeface="Noto Sans JP"/>
                          <a:ea typeface="Noto Sans JP"/>
                          <a:cs typeface="Noto Sans JP"/>
                        </a:rPr>
                        <a:t>1月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431.63</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205</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5,621.7</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256.8</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13.0%</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2月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422.27</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2,123.5</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200.0</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17.6%</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3月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466.45</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7,794.1</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849.4</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24.3%</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4月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437.83</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2,706.7</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420.0</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36.3%</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5月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434.43</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3,981.9</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358.6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42.0%</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6月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424.83</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2,804.8</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244.1</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47.0%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5169459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E576CB-DCD9-4932-91C0-8EEF34CB5114}"/>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補足：月別の確定値（7月から12月）</a:t>
            </a:r>
          </a:p>
        </p:txBody>
      </p:sp>
      <p:sp>
        <p:nvSpPr>
          <p:cNvPr id="2" name="">
            <a:extLst xmlns:a="http://schemas.openxmlformats.org/drawingml/2006/main">
              <a:ext uri="{FF2B5EF4-FFF2-40B4-BE49-F238E27FC236}">
                <a16:creationId xmlns:a16="http://schemas.microsoft.com/office/drawing/2014/main" id="{F0D5CC6C-DE11-45EF-8AA4-30D90D6EFCAF}"/>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費用は確定会計、電力は672区間の実行値から集計</a:t>
            </a:r>
          </a:p>
        </p:txBody>
      </p:sp>
      <p:sp>
        <p:nvSpPr>
          <p:cNvPr id="3" name="">
            <a:extLst xmlns:a="http://schemas.openxmlformats.org/drawingml/2006/main">
              <a:ext uri="{FF2B5EF4-FFF2-40B4-BE49-F238E27FC236}">
                <a16:creationId xmlns:a16="http://schemas.microsoft.com/office/drawing/2014/main" id="{B8AAC3C5-9A4A-4504-9B6D-2D33C66533CC}"/>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全週で1,704便・168時間・物理違反0件を確認</a:t>
            </a:r>
          </a:p>
        </p:txBody>
      </p:sp>
      <p:sp>
        <p:nvSpPr>
          <p:cNvPr id="4" name="">
            <a:extLst xmlns:a="http://schemas.openxmlformats.org/drawingml/2006/main">
              <a:ext uri="{FF2B5EF4-FFF2-40B4-BE49-F238E27FC236}">
                <a16:creationId xmlns:a16="http://schemas.microsoft.com/office/drawing/2014/main" id="{F1AAC4AA-0826-4E6D-864A-D29828B4E566}"/>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表示は丸め値。原本JSONに丸め前の値と出典SHAを保存。</a:t>
            </a:r>
          </a:p>
        </p:txBody>
      </p:sp>
      <p:sp>
        <p:nvSpPr>
          <p:cNvPr id="5" name="">
            <a:extLst xmlns:a="http://schemas.openxmlformats.org/drawingml/2006/main">
              <a:ext uri="{FF2B5EF4-FFF2-40B4-BE49-F238E27FC236}">
                <a16:creationId xmlns:a16="http://schemas.microsoft.com/office/drawing/2014/main" id="{2C04B876-C8BE-43B3-88E1-BE51513804F3}"/>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C7B77537-ADD6-421F-A99E-E2F1858250BC}"/>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20/23</a:t>
            </a:r>
          </a:p>
        </p:txBody>
      </p:sp>
      <p:graphicFrame>
        <p:nvGraphicFramePr>
          <p:cNvPr id="14" name=""/>
          <p:cNvGraphicFramePr/>
          <p:nvPr/>
        </p:nvGraphicFramePr>
        <p:xfrm>
          <a:off xmlns:a="http://schemas.openxmlformats.org/drawingml/2006/main" x="571500" y="1695450"/>
          <a:ext xmlns:a="http://schemas.openxmlformats.org/drawingml/2006/main" cx="11049000" cy="3714750"/>
        </p:xfrm>
        <a:graphic xmlns:a="http://schemas.openxmlformats.org/drawingml/2006/main">
          <a:graphicData uri="http://schemas.openxmlformats.org/drawingml/2006/table">
            <a:tbl>
              <a:tblPr/>
              <a:tblGrid>
                <a:gridCol w="1000125"/>
                <a:gridCol w="2143125"/>
                <a:gridCol w="1809750"/>
                <a:gridCol w="2333625"/>
                <a:gridCol w="2047875"/>
                <a:gridCol w="1714500"/>
              </a:tblGrid>
              <a:tr h="530679">
                <a:tc>
                  <a:txBody>
                    <a:bodyPr/>
                    <a:lstStyle/>
                    <a:p>
                      <a:r>
                        <a:rPr sz="1650" b="1">
                          <a:solidFill>
                            <a:srgbClr val="FFFFFF"/>
                          </a:solidFill>
                          <a:latin typeface="Noto Sans JP"/>
                          <a:ea typeface="Noto Sans JP"/>
                          <a:cs typeface="Noto Sans JP"/>
                        </a:rPr>
                        <a:t>月</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費用［万円］</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使用［台日］</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購入［kWh］</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ピーク［kW］</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PV抑制率</a:t>
                      </a:r>
                    </a:p>
                  </a:txBody>
                  <a:tcPr marL="91440" marR="91440" marT="45720" marB="45720">
                    <a:solidFill>
                      <a:srgbClr val="202B58"/>
                    </a:solidFill>
                  </a:tcPr>
                </a:tc>
              </a:tr>
              <a:tr h="530679">
                <a:tc>
                  <a:txBody>
                    <a:bodyPr/>
                    <a:lstStyle/>
                    <a:p>
                      <a:r>
                        <a:rPr sz="1650" b="0">
                          <a:solidFill>
                            <a:srgbClr val="202B58"/>
                          </a:solidFill>
                          <a:latin typeface="Noto Sans JP"/>
                          <a:ea typeface="Noto Sans JP"/>
                          <a:cs typeface="Noto Sans JP"/>
                        </a:rPr>
                        <a:t>7月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421.86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1,746.4</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227.0</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44.1%</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8月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439.18</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2,723.8</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420.0</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44.8%</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9月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432.09</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3,619.5</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270.0</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43.0%</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10月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426.93</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205</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4,294.1</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209.6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12.7%</a:t>
                      </a:r>
                    </a:p>
                  </a:txBody>
                  <a:tcPr marL="91440" marR="91440" marT="45720" marB="45720">
                    <a:solidFill>
                      <a:srgbClr val="FFFFFF"/>
                    </a:solidFill>
                  </a:tcPr>
                </a:tc>
              </a:tr>
              <a:tr h="530679">
                <a:tc>
                  <a:txBody>
                    <a:bodyPr/>
                    <a:lstStyle/>
                    <a:p>
                      <a:r>
                        <a:rPr sz="1650" b="0">
                          <a:solidFill>
                            <a:srgbClr val="202B58"/>
                          </a:solidFill>
                          <a:latin typeface="Noto Sans JP"/>
                          <a:ea typeface="Noto Sans JP"/>
                          <a:cs typeface="Noto Sans JP"/>
                        </a:rPr>
                        <a:t>11月</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442.46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7,302.4</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234.8</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24.8%</a:t>
                      </a:r>
                    </a:p>
                  </a:txBody>
                  <a:tcPr marL="91440" marR="91440" marT="45720" marB="45720">
                    <a:solidFill>
                      <a:srgbClr val="F1F5F8"/>
                    </a:solidFill>
                  </a:tcPr>
                </a:tc>
              </a:tr>
              <a:tr h="530679">
                <a:tc>
                  <a:txBody>
                    <a:bodyPr/>
                    <a:lstStyle/>
                    <a:p>
                      <a:r>
                        <a:rPr sz="1650" b="0">
                          <a:solidFill>
                            <a:srgbClr val="202B58"/>
                          </a:solidFill>
                          <a:latin typeface="Noto Sans JP"/>
                          <a:ea typeface="Noto Sans JP"/>
                          <a:cs typeface="Noto Sans JP"/>
                        </a:rPr>
                        <a:t>12月</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444.22</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206</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5,695.4</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263.7</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13.3%</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5800451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E2C80E-2825-4BCE-85FD-70BE52978A37}"/>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補足：3月の受電ピークは初日01:15</a:t>
            </a:r>
          </a:p>
        </p:txBody>
      </p:sp>
      <p:sp>
        <p:nvSpPr>
          <p:cNvPr id="2" name="">
            <a:extLst xmlns:a="http://schemas.openxmlformats.org/drawingml/2006/main">
              <a:ext uri="{FF2B5EF4-FFF2-40B4-BE49-F238E27FC236}">
                <a16:creationId xmlns:a16="http://schemas.microsoft.com/office/drawing/2014/main" id="{3568772E-A17D-44EA-816C-A874D9BA7ACE}"/>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2025年3月3日01:15〜01:30／実行済みの15分平均値</a:t>
            </a:r>
          </a:p>
        </p:txBody>
      </p:sp>
      <p:sp>
        <p:nvSpPr>
          <p:cNvPr id="3" name="">
            <a:extLst xmlns:a="http://schemas.openxmlformats.org/drawingml/2006/main">
              <a:ext uri="{FF2B5EF4-FFF2-40B4-BE49-F238E27FC236}">
                <a16:creationId xmlns:a16="http://schemas.microsoft.com/office/drawing/2014/main" id="{A77A140F-9B74-4542-98E7-0E19372705CC}"/>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充電849.4 kW ＝ 系統849.4 ＋ PV 0.0 ＋ BESS 0.0 kW</a:t>
            </a:r>
          </a:p>
        </p:txBody>
      </p:sp>
      <p:sp>
        <p:nvSpPr>
          <p:cNvPr id="4" name="">
            <a:extLst xmlns:a="http://schemas.openxmlformats.org/drawingml/2006/main">
              <a:ext uri="{FF2B5EF4-FFF2-40B4-BE49-F238E27FC236}">
                <a16:creationId xmlns:a16="http://schemas.microsoft.com/office/drawing/2014/main" id="{1B90D318-B7A8-4792-AA55-81B824F23C91}"/>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正電力の充電は10台。夜間集中の理由や、他の実行可能な計画の優劣は未検証。</a:t>
            </a:r>
          </a:p>
        </p:txBody>
      </p:sp>
      <p:sp>
        <p:nvSpPr>
          <p:cNvPr id="5" name="">
            <a:extLst xmlns:a="http://schemas.openxmlformats.org/drawingml/2006/main">
              <a:ext uri="{FF2B5EF4-FFF2-40B4-BE49-F238E27FC236}">
                <a16:creationId xmlns:a16="http://schemas.microsoft.com/office/drawing/2014/main" id="{08D7410A-84E7-4687-9F72-97F5A22D0F25}"/>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10A706CD-E56F-4073-8E2F-05AB795B7B18}"/>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21/23</a:t>
            </a:r>
          </a:p>
        </p:txBody>
      </p:sp>
      <p:graphicFrame>
        <p:nvGraphicFramePr>
          <p:cNvPr id="15" name="Chart"/>
          <p:cNvGraphicFramePr/>
          <p:nvPr/>
        </p:nvGraphicFramePr>
        <p:xfrm>
          <a:off xmlns:a="http://schemas.openxmlformats.org/drawingml/2006/main" x="571500" y="1695450"/>
          <a:ext xmlns:a="http://schemas.openxmlformats.org/drawingml/2006/main" cx="6096000" cy="3714750"/>
        </p:xfrm>
        <a:graphic xmlns:a="http://schemas.openxmlformats.org/drawingml/2006/main">
          <a:graphicData uri="http://schemas.openxmlformats.org/drawingml/2006/chart">
            <c:chart xmlns:r="http://schemas.openxmlformats.org/officeDocument/2006/relationships" xmlns:c="http://schemas.openxmlformats.org/drawingml/2006/chart" r:id="R3a36e1050b3d4d7a"/>
          </a:graphicData>
        </a:graphic>
      </p:graphicFrame>
      <p:graphicFrame>
        <p:nvGraphicFramePr>
          <p:cNvPr id="16" name=""/>
          <p:cNvGraphicFramePr/>
          <p:nvPr/>
        </p:nvGraphicFramePr>
        <p:xfrm>
          <a:off xmlns:a="http://schemas.openxmlformats.org/drawingml/2006/main" x="6858000" y="1828800"/>
          <a:ext xmlns:a="http://schemas.openxmlformats.org/drawingml/2006/main" cx="4762500" cy="3238500"/>
        </p:xfrm>
        <a:graphic xmlns:a="http://schemas.openxmlformats.org/drawingml/2006/main">
          <a:graphicData uri="http://schemas.openxmlformats.org/drawingml/2006/table">
            <a:tbl>
              <a:tblPr/>
              <a:tblGrid>
                <a:gridCol w="2428875"/>
                <a:gridCol w="2333625"/>
              </a:tblGrid>
              <a:tr h="539750">
                <a:tc>
                  <a:txBody>
                    <a:bodyPr/>
                    <a:lstStyle/>
                    <a:p>
                      <a:r>
                        <a:rPr sz="1650" b="1">
                          <a:solidFill>
                            <a:srgbClr val="FFFFFF"/>
                          </a:solidFill>
                          <a:latin typeface="Noto Sans JP"/>
                          <a:ea typeface="Noto Sans JP"/>
                          <a:cs typeface="Noto Sans JP"/>
                        </a:rPr>
                        <a:t>確認項目</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値</a:t>
                      </a:r>
                    </a:p>
                  </a:txBody>
                  <a:tcPr marL="91440" marR="91440" marT="45720" marB="45720">
                    <a:solidFill>
                      <a:srgbClr val="202B58"/>
                    </a:solidFill>
                  </a:tcPr>
                </a:tc>
              </a:tr>
              <a:tr h="539750">
                <a:tc>
                  <a:txBody>
                    <a:bodyPr/>
                    <a:lstStyle/>
                    <a:p>
                      <a:r>
                        <a:rPr sz="1650" b="0">
                          <a:solidFill>
                            <a:srgbClr val="202B58"/>
                          </a:solidFill>
                          <a:latin typeface="Noto Sans JP"/>
                          <a:ea typeface="Noto Sans JP"/>
                          <a:cs typeface="Noto Sans JP"/>
                        </a:rPr>
                        <a:t>ピーク時刻</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01:15〜01:30</a:t>
                      </a:r>
                    </a:p>
                  </a:txBody>
                  <a:tcPr marL="91440" marR="91440" marT="45720" marB="45720">
                    <a:solidFill>
                      <a:srgbClr val="F1F5F8"/>
                    </a:solidFill>
                  </a:tcPr>
                </a:tc>
              </a:tr>
              <a:tr h="539750">
                <a:tc>
                  <a:txBody>
                    <a:bodyPr/>
                    <a:lstStyle/>
                    <a:p>
                      <a:r>
                        <a:rPr sz="1650" b="0">
                          <a:solidFill>
                            <a:srgbClr val="202B58"/>
                          </a:solidFill>
                          <a:latin typeface="Noto Sans JP"/>
                          <a:ea typeface="Noto Sans JP"/>
                          <a:cs typeface="Noto Sans JP"/>
                        </a:rPr>
                        <a:t>系統購入量</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212.36 kWh／15分</a:t>
                      </a:r>
                    </a:p>
                  </a:txBody>
                  <a:tcPr marL="91440" marR="91440" marT="45720" marB="45720">
                    <a:solidFill>
                      <a:srgbClr val="FFFFFF"/>
                    </a:solidFill>
                  </a:tcPr>
                </a:tc>
              </a:tr>
              <a:tr h="539750">
                <a:tc>
                  <a:txBody>
                    <a:bodyPr/>
                    <a:lstStyle/>
                    <a:p>
                      <a:r>
                        <a:rPr sz="1650" b="0">
                          <a:solidFill>
                            <a:srgbClr val="202B58"/>
                          </a:solidFill>
                          <a:latin typeface="Noto Sans JP"/>
                          <a:ea typeface="Noto Sans JP"/>
                          <a:cs typeface="Noto Sans JP"/>
                        </a:rPr>
                        <a:t>正電力の充電</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10台</a:t>
                      </a:r>
                    </a:p>
                  </a:txBody>
                  <a:tcPr marL="91440" marR="91440" marT="45720" marB="45720">
                    <a:solidFill>
                      <a:srgbClr val="F1F5F8"/>
                    </a:solidFill>
                  </a:tcPr>
                </a:tc>
              </a:tr>
              <a:tr h="539750">
                <a:tc>
                  <a:txBody>
                    <a:bodyPr/>
                    <a:lstStyle/>
                    <a:p>
                      <a:r>
                        <a:rPr sz="1650" b="0">
                          <a:solidFill>
                            <a:srgbClr val="202B58"/>
                          </a:solidFill>
                          <a:latin typeface="Noto Sans JP"/>
                          <a:ea typeface="Noto Sans JP"/>
                          <a:cs typeface="Noto Sans JP"/>
                        </a:rPr>
                        <a:t>PV / BESS</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0.0 / 0.0 kW</a:t>
                      </a:r>
                    </a:p>
                  </a:txBody>
                  <a:tcPr marL="91440" marR="91440" marT="45720" marB="45720">
                    <a:solidFill>
                      <a:srgbClr val="FFFFFF"/>
                    </a:solidFill>
                  </a:tcPr>
                </a:tc>
              </a:tr>
              <a:tr h="539750">
                <a:tc>
                  <a:txBody>
                    <a:bodyPr/>
                    <a:lstStyle/>
                    <a:p>
                      <a:r>
                        <a:rPr sz="1650" b="0">
                          <a:solidFill>
                            <a:srgbClr val="202B58"/>
                          </a:solidFill>
                          <a:latin typeface="Noto Sans JP"/>
                          <a:ea typeface="Noto Sans JP"/>
                          <a:cs typeface="Noto Sans JP"/>
                        </a:rPr>
                        <a:t>週間超過費</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270,257円</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195562020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30A67E-A7D7-4AA8-91CB-ADDB52CB642C}"/>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補足：全月共通の探索設定と費用定義</a:t>
            </a:r>
          </a:p>
        </p:txBody>
      </p:sp>
      <p:sp>
        <p:nvSpPr>
          <p:cNvPr id="2" name="">
            <a:extLst xmlns:a="http://schemas.openxmlformats.org/drawingml/2006/main">
              <a:ext uri="{FF2B5EF4-FFF2-40B4-BE49-F238E27FC236}">
                <a16:creationId xmlns:a16="http://schemas.microsoft.com/office/drawing/2014/main" id="{4BD33C5E-8ADD-4EC2-B2F7-B6E04B6DE84B}"/>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途中失敗の週だけを設定変更して採用することはしない</a:t>
            </a:r>
          </a:p>
        </p:txBody>
      </p:sp>
      <p:sp>
        <p:nvSpPr>
          <p:cNvPr id="3" name="">
            <a:extLst xmlns:a="http://schemas.openxmlformats.org/drawingml/2006/main">
              <a:ext uri="{FF2B5EF4-FFF2-40B4-BE49-F238E27FC236}">
                <a16:creationId xmlns:a16="http://schemas.microsoft.com/office/drawing/2014/main" id="{46D025BA-2F03-4529-8720-124BE6F40665}"/>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新しい設定を固定した後、全12週を最初から実行した</a:t>
            </a:r>
          </a:p>
        </p:txBody>
      </p:sp>
      <p:sp>
        <p:nvSpPr>
          <p:cNvPr id="4" name="">
            <a:extLst xmlns:a="http://schemas.openxmlformats.org/drawingml/2006/main">
              <a:ext uri="{FF2B5EF4-FFF2-40B4-BE49-F238E27FC236}">
                <a16:creationId xmlns:a16="http://schemas.microsoft.com/office/drawing/2014/main" id="{451F6C44-7FB9-4DA5-81F3-3D8B89F2B3AA}"/>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探索設定は実行段階で固定。失敗後の後処理修正・物理許容値の緩和はなし。</a:t>
            </a:r>
          </a:p>
        </p:txBody>
      </p:sp>
      <p:sp>
        <p:nvSpPr>
          <p:cNvPr id="5" name="">
            <a:extLst xmlns:a="http://schemas.openxmlformats.org/drawingml/2006/main">
              <a:ext uri="{FF2B5EF4-FFF2-40B4-BE49-F238E27FC236}">
                <a16:creationId xmlns:a16="http://schemas.microsoft.com/office/drawing/2014/main" id="{C4AB2E8E-3E25-490A-A6AD-650C77A785D6}"/>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A3A3FC0C-C803-4BF2-A184-A390FEB44FB5}"/>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22/23</a:t>
            </a:r>
          </a:p>
        </p:txBody>
      </p:sp>
      <p:graphicFrame>
        <p:nvGraphicFramePr>
          <p:cNvPr id="15" name=""/>
          <p:cNvGraphicFramePr/>
          <p:nvPr/>
        </p:nvGraphicFramePr>
        <p:xfrm>
          <a:off xmlns:a="http://schemas.openxmlformats.org/drawingml/2006/main" x="571500" y="1695450"/>
          <a:ext xmlns:a="http://schemas.openxmlformats.org/drawingml/2006/main" cx="5334000" cy="3714750"/>
        </p:xfrm>
        <a:graphic xmlns:a="http://schemas.openxmlformats.org/drawingml/2006/main">
          <a:graphicData uri="http://schemas.openxmlformats.org/drawingml/2006/table">
            <a:tbl>
              <a:tblPr/>
              <a:tblGrid>
                <a:gridCol w="2857500"/>
                <a:gridCol w="2476500"/>
              </a:tblGrid>
              <a:tr h="619125">
                <a:tc>
                  <a:txBody>
                    <a:bodyPr/>
                    <a:lstStyle/>
                    <a:p>
                      <a:r>
                        <a:rPr sz="1650" b="1">
                          <a:solidFill>
                            <a:srgbClr val="FFFFFF"/>
                          </a:solidFill>
                          <a:latin typeface="Noto Sans JP"/>
                          <a:ea typeface="Noto Sans JP"/>
                          <a:cs typeface="Noto Sans JP"/>
                        </a:rPr>
                        <a:t>探索設定</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値</a:t>
                      </a:r>
                    </a:p>
                  </a:txBody>
                  <a:tcPr marL="91440" marR="91440" marT="45720" marB="45720">
                    <a:solidFill>
                      <a:srgbClr val="202B58"/>
                    </a:solidFill>
                  </a:tcPr>
                </a:tc>
              </a:tr>
              <a:tr h="619125">
                <a:tc>
                  <a:txBody>
                    <a:bodyPr/>
                    <a:lstStyle/>
                    <a:p>
                      <a:r>
                        <a:rPr sz="1650" b="0">
                          <a:solidFill>
                            <a:srgbClr val="202B58"/>
                          </a:solidFill>
                          <a:latin typeface="Noto Sans JP"/>
                          <a:ea typeface="Noto Sans JP"/>
                          <a:cs typeface="Noto Sans JP"/>
                        </a:rPr>
                        <a:t>前日 / 毎時のMethod</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1 / 0</a:t>
                      </a:r>
                    </a:p>
                  </a:txBody>
                  <a:tcPr marL="91440" marR="91440" marT="45720" marB="45720">
                    <a:solidFill>
                      <a:srgbClr val="F1F5F8"/>
                    </a:solidFill>
                  </a:tcPr>
                </a:tc>
              </a:tr>
              <a:tr h="619125">
                <a:tc>
                  <a:txBody>
                    <a:bodyPr/>
                    <a:lstStyle/>
                    <a:p>
                      <a:r>
                        <a:rPr sz="1650" b="0">
                          <a:solidFill>
                            <a:srgbClr val="202B58"/>
                          </a:solidFill>
                          <a:latin typeface="Noto Sans JP"/>
                          <a:ea typeface="Noto Sans JP"/>
                          <a:cs typeface="Noto Sans JP"/>
                        </a:rPr>
                        <a:t>MIPFocus</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1</a:t>
                      </a:r>
                    </a:p>
                  </a:txBody>
                  <a:tcPr marL="91440" marR="91440" marT="45720" marB="45720">
                    <a:solidFill>
                      <a:srgbClr val="FFFFFF"/>
                    </a:solidFill>
                  </a:tcPr>
                </a:tc>
              </a:tr>
              <a:tr h="619125">
                <a:tc>
                  <a:txBody>
                    <a:bodyPr/>
                    <a:lstStyle/>
                    <a:p>
                      <a:r>
                        <a:rPr sz="1650" b="0">
                          <a:solidFill>
                            <a:srgbClr val="202B58"/>
                          </a:solidFill>
                          <a:latin typeface="Noto Sans JP"/>
                          <a:ea typeface="Noto Sans JP"/>
                          <a:cs typeface="Noto Sans JP"/>
                        </a:rPr>
                        <a:t>Presolve / Aggregate</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0 / 0</a:t>
                      </a:r>
                    </a:p>
                  </a:txBody>
                  <a:tcPr marL="91440" marR="91440" marT="45720" marB="45720">
                    <a:solidFill>
                      <a:srgbClr val="F1F5F8"/>
                    </a:solidFill>
                  </a:tcPr>
                </a:tc>
              </a:tr>
              <a:tr h="619125">
                <a:tc>
                  <a:txBody>
                    <a:bodyPr/>
                    <a:lstStyle/>
                    <a:p>
                      <a:r>
                        <a:rPr sz="1650" b="0">
                          <a:solidFill>
                            <a:srgbClr val="202B58"/>
                          </a:solidFill>
                          <a:latin typeface="Noto Sans JP"/>
                          <a:ea typeface="Noto Sans JP"/>
                          <a:cs typeface="Noto Sans JP"/>
                        </a:rPr>
                        <a:t>FeasibilityTol / IntFeasTol</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各1e−9</a:t>
                      </a:r>
                    </a:p>
                  </a:txBody>
                  <a:tcPr marL="91440" marR="91440" marT="45720" marB="45720">
                    <a:solidFill>
                      <a:srgbClr val="FFFFFF"/>
                    </a:solidFill>
                  </a:tcPr>
                </a:tc>
              </a:tr>
              <a:tr h="619125">
                <a:tc>
                  <a:txBody>
                    <a:bodyPr/>
                    <a:lstStyle/>
                    <a:p>
                      <a:r>
                        <a:rPr sz="1650" b="0">
                          <a:solidFill>
                            <a:srgbClr val="202B58"/>
                          </a:solidFill>
                          <a:latin typeface="Noto Sans JP"/>
                          <a:ea typeface="Noto Sans JP"/>
                          <a:cs typeface="Noto Sans JP"/>
                        </a:rPr>
                        <a:t>全接続候補</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除外なし</a:t>
                      </a:r>
                    </a:p>
                  </a:txBody>
                  <a:tcPr marL="91440" marR="91440" marT="45720" marB="45720">
                    <a:solidFill>
                      <a:srgbClr val="F1F5F8"/>
                    </a:solidFill>
                  </a:tcPr>
                </a:tc>
              </a:tr>
            </a:tbl>
          </a:graphicData>
        </a:graphic>
      </p:graphicFrame>
      <p:graphicFrame>
        <p:nvGraphicFramePr>
          <p:cNvPr id="16" name=""/>
          <p:cNvGraphicFramePr/>
          <p:nvPr/>
        </p:nvGraphicFramePr>
        <p:xfrm>
          <a:off xmlns:a="http://schemas.openxmlformats.org/drawingml/2006/main" x="6286500" y="1695450"/>
          <a:ext xmlns:a="http://schemas.openxmlformats.org/drawingml/2006/main" cx="5334000" cy="3714750"/>
        </p:xfrm>
        <a:graphic xmlns:a="http://schemas.openxmlformats.org/drawingml/2006/main">
          <a:graphicData uri="http://schemas.openxmlformats.org/drawingml/2006/table">
            <a:tbl>
              <a:tblPr/>
              <a:tblGrid>
                <a:gridCol w="2238375"/>
                <a:gridCol w="3095625"/>
              </a:tblGrid>
              <a:tr h="619125">
                <a:tc>
                  <a:txBody>
                    <a:bodyPr/>
                    <a:lstStyle/>
                    <a:p>
                      <a:r>
                        <a:rPr sz="1575" b="1">
                          <a:solidFill>
                            <a:srgbClr val="FFFFFF"/>
                          </a:solidFill>
                          <a:latin typeface="Noto Sans JP"/>
                          <a:ea typeface="Noto Sans JP"/>
                          <a:cs typeface="Noto Sans JP"/>
                        </a:rPr>
                        <a:t>費用項目</a:t>
                      </a:r>
                    </a:p>
                  </a:txBody>
                  <a:tcPr marL="91440" marR="91440" marT="45720" marB="45720">
                    <a:solidFill>
                      <a:srgbClr val="202B58"/>
                    </a:solidFill>
                  </a:tcPr>
                </a:tc>
                <a:tc>
                  <a:txBody>
                    <a:bodyPr/>
                    <a:lstStyle/>
                    <a:p>
                      <a:r>
                        <a:rPr sz="1575" b="1">
                          <a:solidFill>
                            <a:srgbClr val="FFFFFF"/>
                          </a:solidFill>
                          <a:latin typeface="Noto Sans JP"/>
                          <a:ea typeface="Noto Sans JP"/>
                          <a:cs typeface="Noto Sans JP"/>
                        </a:rPr>
                        <a:t>設定</a:t>
                      </a:r>
                    </a:p>
                  </a:txBody>
                  <a:tcPr marL="91440" marR="91440" marT="45720" marB="45720">
                    <a:solidFill>
                      <a:srgbClr val="202B58"/>
                    </a:solidFill>
                  </a:tcPr>
                </a:tc>
              </a:tr>
              <a:tr h="619125">
                <a:tc>
                  <a:txBody>
                    <a:bodyPr/>
                    <a:lstStyle/>
                    <a:p>
                      <a:r>
                        <a:rPr sz="1575" b="0">
                          <a:solidFill>
                            <a:srgbClr val="202B58"/>
                          </a:solidFill>
                          <a:latin typeface="Noto Sans JP"/>
                          <a:ea typeface="Noto Sans JP"/>
                          <a:cs typeface="Noto Sans JP"/>
                        </a:rPr>
                        <a:t>電力 / 軽油</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30円/kWh / 150円/L</a:t>
                      </a:r>
                    </a:p>
                  </a:txBody>
                  <a:tcPr marL="91440" marR="91440" marT="45720" marB="45720">
                    <a:solidFill>
                      <a:srgbClr val="F1F5F8"/>
                    </a:solidFill>
                  </a:tcPr>
                </a:tc>
              </a:tr>
              <a:tr h="619125">
                <a:tc>
                  <a:txBody>
                    <a:bodyPr/>
                    <a:lstStyle/>
                    <a:p>
                      <a:r>
                        <a:rPr sz="1575" b="0">
                          <a:solidFill>
                            <a:srgbClr val="202B58"/>
                          </a:solidFill>
                          <a:latin typeface="Noto Sans JP"/>
                          <a:ea typeface="Noto Sans JP"/>
                          <a:cs typeface="Noto Sans JP"/>
                        </a:rPr>
                        <a:t>車両使用 / CO₂</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20,000円/台日 / 1円/kg</a:t>
                      </a:r>
                    </a:p>
                  </a:txBody>
                  <a:tcPr marL="91440" marR="91440" marT="45720" marB="45720">
                    <a:solidFill>
                      <a:srgbClr val="FFFFFF"/>
                    </a:solidFill>
                  </a:tcPr>
                </a:tc>
              </a:tr>
              <a:tr h="619125">
                <a:tc>
                  <a:txBody>
                    <a:bodyPr/>
                    <a:lstStyle/>
                    <a:p>
                      <a:r>
                        <a:rPr sz="1575" b="0">
                          <a:solidFill>
                            <a:srgbClr val="202B58"/>
                          </a:solidFill>
                          <a:latin typeface="Noto Sans JP"/>
                          <a:ea typeface="Noto Sans JP"/>
                          <a:cs typeface="Noto Sans JP"/>
                        </a:rPr>
                        <a:t>契約超過</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200 kW超過量 × 500円/kWh</a:t>
                      </a:r>
                    </a:p>
                  </a:txBody>
                  <a:tcPr marL="91440" marR="91440" marT="45720" marB="45720">
                    <a:solidFill>
                      <a:srgbClr val="F1F5F8"/>
                    </a:solidFill>
                  </a:tcPr>
                </a:tc>
              </a:tr>
              <a:tr h="619125">
                <a:tc>
                  <a:txBody>
                    <a:bodyPr/>
                    <a:lstStyle/>
                    <a:p>
                      <a:r>
                        <a:rPr sz="1575" b="0">
                          <a:solidFill>
                            <a:srgbClr val="202B58"/>
                          </a:solidFill>
                          <a:latin typeface="Noto Sans JP"/>
                          <a:ea typeface="Noto Sans JP"/>
                          <a:cs typeface="Noto Sans JP"/>
                        </a:rPr>
                        <a:t>PV / BESS設備費</a:t>
                      </a:r>
                    </a:p>
                  </a:txBody>
                  <a:tcPr marL="91440" marR="91440" marT="45720" marB="45720">
                    <a:solidFill>
                      <a:srgbClr val="FFFFFF"/>
                    </a:solidFill>
                  </a:tcPr>
                </a:tc>
                <a:tc>
                  <a:txBody>
                    <a:bodyPr/>
                    <a:lstStyle/>
                    <a:p>
                      <a:r>
                        <a:rPr sz="1575" b="0">
                          <a:solidFill>
                            <a:srgbClr val="202B58"/>
                          </a:solidFill>
                          <a:latin typeface="Noto Sans JP"/>
                          <a:ea typeface="Noto Sans JP"/>
                          <a:cs typeface="Noto Sans JP"/>
                        </a:rPr>
                        <a:t>今回の計上0</a:t>
                      </a:r>
                    </a:p>
                  </a:txBody>
                  <a:tcPr marL="91440" marR="91440" marT="45720" marB="45720">
                    <a:solidFill>
                      <a:srgbClr val="FFFFFF"/>
                    </a:solidFill>
                  </a:tcPr>
                </a:tc>
              </a:tr>
              <a:tr h="619125">
                <a:tc>
                  <a:txBody>
                    <a:bodyPr/>
                    <a:lstStyle/>
                    <a:p>
                      <a:r>
                        <a:rPr sz="1575" b="0">
                          <a:solidFill>
                            <a:srgbClr val="202B58"/>
                          </a:solidFill>
                          <a:latin typeface="Noto Sans JP"/>
                          <a:ea typeface="Noto Sans JP"/>
                          <a:cs typeface="Noto Sans JP"/>
                        </a:rPr>
                        <a:t>蓄電池劣化費</a:t>
                      </a:r>
                    </a:p>
                  </a:txBody>
                  <a:tcPr marL="91440" marR="91440" marT="45720" marB="45720">
                    <a:solidFill>
                      <a:srgbClr val="F1F5F8"/>
                    </a:solidFill>
                  </a:tcPr>
                </a:tc>
                <a:tc>
                  <a:txBody>
                    <a:bodyPr/>
                    <a:lstStyle/>
                    <a:p>
                      <a:r>
                        <a:rPr sz="1575" b="0">
                          <a:solidFill>
                            <a:srgbClr val="202B58"/>
                          </a:solidFill>
                          <a:latin typeface="Noto Sans JP"/>
                          <a:ea typeface="Noto Sans JP"/>
                          <a:cs typeface="Noto Sans JP"/>
                        </a:rPr>
                        <a:t>今回の計上0</a:t>
                      </a:r>
                    </a:p>
                  </a:txBody>
                  <a:tcPr marL="91440" marR="91440" marT="45720" marB="45720">
                    <a:solidFill>
                      <a:srgbClr val="F1F5F8"/>
                    </a:solidFill>
                  </a:tcPr>
                </a:tc>
              </a:tr>
            </a:tbl>
          </a:graphicData>
        </a:graphic>
      </p:graphicFrame>
    </p:spTree>
    <p:extLst>
      <p:ext uri="{BB962C8B-B14F-4D97-AF65-F5344CB8AC3E}">
        <p14:creationId xmlns:p14="http://schemas.microsoft.com/office/powerpoint/2010/main" val="108487341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AF79EB-F76B-4EDE-90C6-C8B53E68DFF6}"/>
              </a:ext>
            </a:extLst>
          </p:cNvPr>
          <p:cNvSpPr>
            <a:spLocks xmlns:a="http://schemas.openxmlformats.org/drawingml/2006/main" noGrp="1"/>
          </p:cNvSpPr>
          <p:nvPr/>
        </p:nvSpPr>
        <p:spPr>
          <a:xfrm xmlns:a="http://schemas.openxmlformats.org/drawingml/2006/main">
            <a:off x="419100" y="228600"/>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補足：用語と今回の出典</a:t>
            </a:r>
          </a:p>
        </p:txBody>
      </p:sp>
      <p:sp>
        <p:nvSpPr>
          <p:cNvPr id="2" name="">
            <a:extLst xmlns:a="http://schemas.openxmlformats.org/drawingml/2006/main">
              <a:ext uri="{FF2B5EF4-FFF2-40B4-BE49-F238E27FC236}">
                <a16:creationId xmlns:a16="http://schemas.microsoft.com/office/drawing/2014/main" id="{CA9C896D-5E6E-4785-816C-6DBE9F282902}"/>
              </a:ext>
            </a:extLst>
          </p:cNvPr>
          <p:cNvSpPr>
            <a:spLocks xmlns:a="http://schemas.openxmlformats.org/drawingml/2006/main" noGrp="1"/>
          </p:cNvSpPr>
          <p:nvPr/>
        </p:nvSpPr>
        <p:spPr>
          <a:xfrm xmlns:a="http://schemas.openxmlformats.org/drawingml/2006/main">
            <a:off x="571500" y="9810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結果の原本を追跡できる形で、数値と説明を対応させる</a:t>
            </a:r>
          </a:p>
        </p:txBody>
      </p:sp>
      <p:sp>
        <p:nvSpPr>
          <p:cNvPr id="3" name="">
            <a:extLst xmlns:a="http://schemas.openxmlformats.org/drawingml/2006/main">
              <a:ext uri="{FF2B5EF4-FFF2-40B4-BE49-F238E27FC236}">
                <a16:creationId xmlns:a16="http://schemas.microsoft.com/office/drawing/2014/main" id="{7EE6B7E7-9308-4B4A-A0B7-3615D8763A96}"/>
              </a:ext>
            </a:extLst>
          </p:cNvPr>
          <p:cNvSpPr>
            <a:spLocks xmlns:a="http://schemas.openxmlformats.org/drawingml/2006/main" noGrp="1"/>
          </p:cNvSpPr>
          <p:nvPr/>
        </p:nvSpPr>
        <p:spPr>
          <a:xfrm xmlns:a="http://schemas.openxmlformats.org/drawingml/2006/main">
            <a:off x="571500" y="5638800"/>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本文の結論は固定7c7c2334の12週だけに基づく</a:t>
            </a:r>
          </a:p>
        </p:txBody>
      </p:sp>
      <p:sp>
        <p:nvSpPr>
          <p:cNvPr id="4" name="">
            <a:extLst xmlns:a="http://schemas.openxmlformats.org/drawingml/2006/main">
              <a:ext uri="{FF2B5EF4-FFF2-40B4-BE49-F238E27FC236}">
                <a16:creationId xmlns:a16="http://schemas.microsoft.com/office/drawing/2014/main" id="{038B6DF5-8376-43CB-883C-77CFA58B180A}"/>
              </a:ext>
            </a:extLst>
          </p:cNvPr>
          <p:cNvSpPr>
            <a:spLocks xmlns:a="http://schemas.openxmlformats.org/drawingml/2006/main" noGrp="1"/>
          </p:cNvSpPr>
          <p:nvPr/>
        </p:nvSpPr>
        <p:spPr>
          <a:xfrm xmlns:a="http://schemas.openxmlformats.org/drawingml/2006/main">
            <a:off x="571500" y="6248400"/>
            <a:ext cx="1104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JP"/>
                <a:ea typeface="Noto Sans JP"/>
                <a:cs typeface="Noto Sans JP"/>
              </a:defRPr>
            </a:pPr>
            <a:r>
              <a:rPr sz="1275" b="0">
                <a:solidFill>
                  <a:srgbClr val="7E4D36"/>
                </a:solidFill>
                <a:latin typeface="Noto Sans JP"/>
                <a:ea typeface="Noto Sans JP"/>
                <a:cs typeface="Noto Sans JP"/>
              </a:rPr>
              <a:t>前回の資料は構成と見た目を参照。旧版の実験数値は今回の結果へ合算していない。</a:t>
            </a:r>
          </a:p>
        </p:txBody>
      </p:sp>
      <p:sp>
        <p:nvSpPr>
          <p:cNvPr id="5" name="">
            <a:extLst xmlns:a="http://schemas.openxmlformats.org/drawingml/2006/main">
              <a:ext uri="{FF2B5EF4-FFF2-40B4-BE49-F238E27FC236}">
                <a16:creationId xmlns:a16="http://schemas.microsoft.com/office/drawing/2014/main" id="{A5230A23-C334-4538-B76F-9C2A9D53F28E}"/>
              </a:ext>
            </a:extLst>
          </p:cNvPr>
          <p:cNvSpPr>
            <a:spLocks xmlns:a="http://schemas.openxmlformats.org/drawingml/2006/main" noGrp="1"/>
          </p:cNvSpPr>
          <p:nvPr/>
        </p:nvSpPr>
        <p:spPr>
          <a:xfrm xmlns:a="http://schemas.openxmlformats.org/drawingml/2006/main">
            <a:off x="419100" y="6638925"/>
            <a:ext cx="8001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9687B"/>
                </a:solidFill>
                <a:latin typeface="Noto Sans JP"/>
                <a:ea typeface="Noto Sans JP"/>
                <a:cs typeface="Noto Sans JP"/>
              </a:defRPr>
            </a:pPr>
            <a:r>
              <a:rPr sz="900" b="0">
                <a:solidFill>
                  <a:srgbClr val="59687B"/>
                </a:solidFill>
                <a:latin typeface="Noto Sans JP"/>
                <a:ea typeface="Noto Sans JP"/>
                <a:cs typeface="Noto Sans JP"/>
              </a:rPr>
              <a:t>修士論文 進捗報告 ｜ 2026年9月15日</a:t>
            </a:r>
          </a:p>
        </p:txBody>
      </p:sp>
      <p:sp>
        <p:nvSpPr>
          <p:cNvPr id="6" name="">
            <a:extLst xmlns:a="http://schemas.openxmlformats.org/drawingml/2006/main">
              <a:ext uri="{FF2B5EF4-FFF2-40B4-BE49-F238E27FC236}">
                <a16:creationId xmlns:a16="http://schemas.microsoft.com/office/drawing/2014/main" id="{8DBA651B-2524-45CB-B1B4-8564E42498CF}"/>
              </a:ext>
            </a:extLst>
          </p:cNvPr>
          <p:cNvSpPr>
            <a:spLocks xmlns:a="http://schemas.openxmlformats.org/drawingml/2006/main" noGrp="1"/>
          </p:cNvSpPr>
          <p:nvPr/>
        </p:nvSpPr>
        <p:spPr>
          <a:xfrm xmlns:a="http://schemas.openxmlformats.org/drawingml/2006/main">
            <a:off x="11144250" y="66103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9687B"/>
                </a:solidFill>
                <a:latin typeface="Noto Sans JP"/>
                <a:ea typeface="Noto Sans JP"/>
                <a:cs typeface="Noto Sans JP"/>
              </a:defRPr>
            </a:pPr>
            <a:r>
              <a:rPr sz="1050" b="0">
                <a:solidFill>
                  <a:srgbClr val="59687B"/>
                </a:solidFill>
                <a:latin typeface="Noto Sans JP"/>
                <a:ea typeface="Noto Sans JP"/>
                <a:cs typeface="Noto Sans JP"/>
              </a:rPr>
              <a:t>23/23</a:t>
            </a:r>
          </a:p>
        </p:txBody>
      </p:sp>
      <p:graphicFrame>
        <p:nvGraphicFramePr>
          <p:cNvPr id="15" name=""/>
          <p:cNvGraphicFramePr/>
          <p:nvPr/>
        </p:nvGraphicFramePr>
        <p:xfrm>
          <a:off xmlns:a="http://schemas.openxmlformats.org/drawingml/2006/main" x="571500" y="1695450"/>
          <a:ext xmlns:a="http://schemas.openxmlformats.org/drawingml/2006/main" cx="11049000" cy="2781300"/>
        </p:xfrm>
        <a:graphic xmlns:a="http://schemas.openxmlformats.org/drawingml/2006/main">
          <a:graphicData uri="http://schemas.openxmlformats.org/drawingml/2006/table">
            <a:tbl>
              <a:tblPr/>
              <a:tblGrid>
                <a:gridCol w="2571750"/>
                <a:gridCol w="8477250"/>
              </a:tblGrid>
              <a:tr h="463550">
                <a:tc>
                  <a:txBody>
                    <a:bodyPr/>
                    <a:lstStyle/>
                    <a:p>
                      <a:r>
                        <a:rPr sz="1650" b="1">
                          <a:solidFill>
                            <a:srgbClr val="FFFFFF"/>
                          </a:solidFill>
                          <a:latin typeface="Noto Sans JP"/>
                          <a:ea typeface="Noto Sans JP"/>
                          <a:cs typeface="Noto Sans JP"/>
                        </a:rPr>
                        <a:t>用語</a:t>
                      </a:r>
                    </a:p>
                  </a:txBody>
                  <a:tcPr marL="91440" marR="91440" marT="45720" marB="45720">
                    <a:solidFill>
                      <a:srgbClr val="202B58"/>
                    </a:solidFill>
                  </a:tcPr>
                </a:tc>
                <a:tc>
                  <a:txBody>
                    <a:bodyPr/>
                    <a:lstStyle/>
                    <a:p>
                      <a:r>
                        <a:rPr sz="1650" b="1">
                          <a:solidFill>
                            <a:srgbClr val="FFFFFF"/>
                          </a:solidFill>
                          <a:latin typeface="Noto Sans JP"/>
                          <a:ea typeface="Noto Sans JP"/>
                          <a:cs typeface="Noto Sans JP"/>
                        </a:rPr>
                        <a:t>本資料での意味</a:t>
                      </a:r>
                    </a:p>
                  </a:txBody>
                  <a:tcPr marL="91440" marR="91440" marT="45720" marB="45720">
                    <a:solidFill>
                      <a:srgbClr val="202B58"/>
                    </a:solidFill>
                  </a:tcPr>
                </a:tc>
              </a:tr>
              <a:tr h="463550">
                <a:tc>
                  <a:txBody>
                    <a:bodyPr/>
                    <a:lstStyle/>
                    <a:p>
                      <a:r>
                        <a:rPr sz="1650" b="0">
                          <a:solidFill>
                            <a:srgbClr val="202B58"/>
                          </a:solidFill>
                          <a:latin typeface="Noto Sans JP"/>
                          <a:ea typeface="Noto Sans JP"/>
                          <a:cs typeface="Noto Sans JP"/>
                        </a:rPr>
                        <a:t>BEV / ICE / BESS</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電気バス／エンジンバス／定置用蓄電池</a:t>
                      </a:r>
                    </a:p>
                  </a:txBody>
                  <a:tcPr marL="91440" marR="91440" marT="45720" marB="45720">
                    <a:solidFill>
                      <a:srgbClr val="F1F5F8"/>
                    </a:solidFill>
                  </a:tcPr>
                </a:tc>
              </a:tr>
              <a:tr h="463550">
                <a:tc>
                  <a:txBody>
                    <a:bodyPr/>
                    <a:lstStyle/>
                    <a:p>
                      <a:r>
                        <a:rPr sz="1650" b="0">
                          <a:solidFill>
                            <a:srgbClr val="202B58"/>
                          </a:solidFill>
                          <a:latin typeface="Noto Sans JP"/>
                          <a:ea typeface="Noto Sans JP"/>
                          <a:cs typeface="Noto Sans JP"/>
                        </a:rPr>
                        <a:t>kWh / kW</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期間内の電力量／15分平均電力</a:t>
                      </a:r>
                    </a:p>
                  </a:txBody>
                  <a:tcPr marL="91440" marR="91440" marT="45720" marB="45720">
                    <a:solidFill>
                      <a:srgbClr val="FFFFFF"/>
                    </a:solidFill>
                  </a:tcPr>
                </a:tc>
              </a:tr>
              <a:tr h="463550">
                <a:tc>
                  <a:txBody>
                    <a:bodyPr/>
                    <a:lstStyle/>
                    <a:p>
                      <a:r>
                        <a:rPr sz="1650" b="0">
                          <a:solidFill>
                            <a:srgbClr val="202B58"/>
                          </a:solidFill>
                          <a:latin typeface="Noto Sans JP"/>
                          <a:ea typeface="Noto Sans JP"/>
                          <a:cs typeface="Noto Sans JP"/>
                        </a:rPr>
                        <a:t>台 / 台日</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週内のユニーク車両数／日ごとの使用台数の合計</a:t>
                      </a:r>
                    </a:p>
                  </a:txBody>
                  <a:tcPr marL="91440" marR="91440" marT="45720" marB="45720">
                    <a:solidFill>
                      <a:srgbClr val="F1F5F8"/>
                    </a:solidFill>
                  </a:tcPr>
                </a:tc>
              </a:tr>
              <a:tr h="463550">
                <a:tc>
                  <a:txBody>
                    <a:bodyPr/>
                    <a:lstStyle/>
                    <a:p>
                      <a:r>
                        <a:rPr sz="1650" b="0">
                          <a:solidFill>
                            <a:srgbClr val="202B58"/>
                          </a:solidFill>
                          <a:latin typeface="Noto Sans JP"/>
                          <a:ea typeface="Noto Sans JP"/>
                          <a:cs typeface="Noto Sans JP"/>
                        </a:rPr>
                        <a:t>PV利用 / 抑制</a:t>
                      </a:r>
                    </a:p>
                  </a:txBody>
                  <a:tcPr marL="91440" marR="91440" marT="45720" marB="45720">
                    <a:solidFill>
                      <a:srgbClr val="FFFFFF"/>
                    </a:solidFill>
                  </a:tcPr>
                </a:tc>
                <a:tc>
                  <a:txBody>
                    <a:bodyPr/>
                    <a:lstStyle/>
                    <a:p>
                      <a:r>
                        <a:rPr sz="1650" b="0">
                          <a:solidFill>
                            <a:srgbClr val="202B58"/>
                          </a:solidFill>
                          <a:latin typeface="Noto Sans JP"/>
                          <a:ea typeface="Noto Sans JP"/>
                          <a:cs typeface="Noto Sans JP"/>
                        </a:rPr>
                        <a:t>バス直結＋BESS充電／使わず抑えたPV</a:t>
                      </a:r>
                    </a:p>
                  </a:txBody>
                  <a:tcPr marL="91440" marR="91440" marT="45720" marB="45720">
                    <a:solidFill>
                      <a:srgbClr val="FFFFFF"/>
                    </a:solidFill>
                  </a:tcPr>
                </a:tc>
              </a:tr>
              <a:tr h="463550">
                <a:tc>
                  <a:txBody>
                    <a:bodyPr/>
                    <a:lstStyle/>
                    <a:p>
                      <a:r>
                        <a:rPr sz="1650" b="0">
                          <a:solidFill>
                            <a:srgbClr val="202B58"/>
                          </a:solidFill>
                          <a:latin typeface="Noto Sans JP"/>
                          <a:ea typeface="Noto Sans JP"/>
                          <a:cs typeface="Noto Sans JP"/>
                        </a:rPr>
                        <a:t>Stage 1 gap</a:t>
                      </a:r>
                    </a:p>
                  </a:txBody>
                  <a:tcPr marL="91440" marR="91440" marT="45720" marB="45720">
                    <a:solidFill>
                      <a:srgbClr val="F1F5F8"/>
                    </a:solidFill>
                  </a:tcPr>
                </a:tc>
                <a:tc>
                  <a:txBody>
                    <a:bodyPr/>
                    <a:lstStyle/>
                    <a:p>
                      <a:r>
                        <a:rPr sz="1650" b="0">
                          <a:solidFill>
                            <a:srgbClr val="202B58"/>
                          </a:solidFill>
                          <a:latin typeface="Noto Sans JP"/>
                          <a:ea typeface="Noto Sans JP"/>
                          <a:cs typeface="Noto Sans JP"/>
                        </a:rPr>
                        <a:t>配車側目的の最適性指標。確定費用の誤差率ではない</a:t>
                      </a:r>
                    </a:p>
                  </a:txBody>
                  <a:tcPr marL="91440" marR="91440" marT="45720" marB="45720">
                    <a:solidFill>
                      <a:srgbClr val="F1F5F8"/>
                    </a:solidFill>
                  </a:tcPr>
                </a:tc>
              </a:tr>
            </a:tbl>
          </a:graphicData>
        </a:graphic>
      </p:graphicFrame>
      <p:sp>
        <p:nvSpPr>
          <p:cNvPr id="8" name="">
            <a:extLst xmlns:a="http://schemas.openxmlformats.org/drawingml/2006/main">
              <a:ext uri="{FF2B5EF4-FFF2-40B4-BE49-F238E27FC236}">
                <a16:creationId xmlns:a16="http://schemas.microsoft.com/office/drawing/2014/main" id="{D045D9E4-B7F3-4072-83E0-9AFC6CA28DA0}"/>
              </a:ext>
            </a:extLst>
          </p:cNvPr>
          <p:cNvSpPr>
            <a:spLocks xmlns:a="http://schemas.openxmlformats.org/drawingml/2006/main" noGrp="1"/>
          </p:cNvSpPr>
          <p:nvPr/>
        </p:nvSpPr>
        <p:spPr>
          <a:xfrm xmlns:a="http://schemas.openxmlformats.org/drawingml/2006/main">
            <a:off x="609600" y="466725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結果・定義：SHIBU21_23_MONTHLY_PHASE_SEARCH_RESULTS_20260915.md / .json</a:t>
            </a:r>
          </a:p>
          <a:p xmlns:a="http://schemas.openxmlformats.org/drawingml/2006/main">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週選択・条件：SHIBU21_23_MONTHLY_FAIR_WEEKS_20260914.md</a:t>
            </a:r>
          </a:p>
          <a:p xmlns:a="http://schemas.openxmlformats.org/drawingml/2006/main">
            <a:pPr>
              <a:defRPr sz="1350" b="0">
                <a:solidFill>
                  <a:srgbClr val="59687B"/>
                </a:solidFill>
                <a:latin typeface="Noto Sans JP"/>
                <a:ea typeface="Noto Sans JP"/>
                <a:cs typeface="Noto Sans JP"/>
              </a:defRPr>
            </a:pPr>
            <a:r>
              <a:rPr sz="1350" b="0">
                <a:solidFill>
                  <a:srgbClr val="59687B"/>
                </a:solidFill>
                <a:latin typeface="Noto Sans JP"/>
                <a:ea typeface="Noto Sans JP"/>
                <a:cs typeface="Noto Sans JP"/>
              </a:rPr>
              <a:t>月全体との日射比較：SHIBU21_23_MONTHLY_IRRADIANCE_CONTEXT_20260914.md</a:t>
            </a:r>
          </a:p>
        </p:txBody>
      </p:sp>
    </p:spTree>
    <p:extLst>
      <p:ext uri="{BB962C8B-B14F-4D97-AF65-F5344CB8AC3E}">
        <p14:creationId xmlns:p14="http://schemas.microsoft.com/office/powerpoint/2010/main" val="85434702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2026-09-15T05:45:00.1380000Z</dcterms:created>
  <dcterms:modified xsi:type="dcterms:W3CDTF">2026-09-15T05:45:00.1380000Z</dcterms:modified>
</coreProperties>
</file>