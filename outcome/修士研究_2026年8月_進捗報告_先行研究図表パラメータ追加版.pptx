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85864" autoAdjust="0"/>
  </p:normalViewPr>
  <p:slideViewPr>
    <p:cSldViewPr snapToGrid="0" snapToObjects="1">
      <p:cViewPr varScale="1">
        <p:scale>
          <a:sx n="70" d="100"/>
          <a:sy n="70" d="100"/>
        </p:scale>
        <p:origin x="1138" y="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9997209"/>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日は、まず研究の背景と対象を簡単に説明した後、この1か月でモデルと結果をどのように見直したか、最新結果、残っている課題、11月に向けた作業の順で説明する。数式ではなく、処理の流れと結果の意味を中心に話す。</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電気バスの研究というと車両性能だけに見えるが、実際の営業所では、時刻表、充電器、受電上限、太陽光、蓄電池が同時に関係する。本研究では、車両の担当便と営業所の電力の使い方を同じ運用問題として扱っている。</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行研究では、まず対象システムを図で示し、次に車両や充電器などの入力条件を表にまとめ、その後に時間変化や費用との関係を図示する構成が多い。本資料でもその構成を取り入れた。本研究の特徴は、新規設備の設計だけではなく、既存営業所の混成車両を対象に、便の担当と電力運用を一日単位で検証する点である。</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実験では、営業所、時刻表、車両、設備、料金を同じにし、PV入力だけを高い条件と低い条件に変えている。高PVは2025年8月5日由来、低PVは8月10日由来の曲線である。低PV条件は日曜ダイヤではなく、同じ平日264便へ低PV曲線を与えた反実仮想である。</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処理は5段階で説明できる。まず入力を整え、複数の配車案を作る。次に各配車案について充電と電力の使い方を調整する。その後、1時間ごとに残り時間を見直し、最後に便・SOC・電力収支・費用を確認する。</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運行、車両、設備の主な設定値をまとめた。重要なのは、BEVの初期SOCを一律80%としていないこと、充電器は90kWを10基、BESSは6MWh、受電上限は200kWとしていることである。高PVと低PVの間では、これらの非PV条件を固定している。</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費用と計算条件を明示した。結果の評価額には電力、燃料、車両使用、CO2を含むが、設備費や劣化費などは含まない。計算は二段階で、22の配車候補を比較する。したがって、全ての可能性を調べた大域最適解とは言わない。</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前回は、結果が出ても高PVと低PVで同じ配車になり、なぜそうなったかを説明しにくかった。今月は配車案を増やし、同じ運行条件で比較できるようにした。また、日合計だけでなく時間ごとの確認と、入力・コード・出力の紐づけを進めた。</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今月の作業は4段階である。上旬に問題点を洗い出し、中旬に複数配車案を比較する方法へ変更した。下旬に正式条件で再計算し、月末には15分単位の電力データと修論素材、11月の追加検証計画まで整理した。</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最新の結果では、高PV条件でBEV28台・199便、低PV条件でBEV21台・91便となった。以前のような同一配車ではなく、PV条件に応じて配車が変化した。どちらも使用総台数は32台で、264便すべてを運行している。ただし2条件だけなので、一般的な天候効果とは言わない。</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行研究では、バス台数と収益の関係を示す図が使われていた。本研究では、22の配車候補について使用BEV台数と評価額を示した。高PVではBEV28台、低PVでは21台の候補が選ばれた。ただし、BEV台数だけで費用が決まるわけではなく、ICE台数や担当便、充電可能時間も影響する。</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本モデルの費用定義に基づく評価額は、高PV条件約66.1万円、低PV条件約69.9万円で、差は約3.76万円である。差の約88%はエンジンバスの燃料費、約10%が系統電力費である。ただし設備費や劣化費は含まないため、実際の総運用費や採算とは呼ばない。</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電力の流れを日合計で示した。高PV条件では発電量が6056kWhと多いが、直接充電とBESS充電に使えた量は約2683kWhで、3373kWhは抑制された。低PV条件では996kWhをほぼ全量利用し、不足する131kWhを系統から補った。BESSは日初と日末で3000kWhに戻している。</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主要な結果を一覧で示す。高PVではBEV担当が多く、燃料と系統購入が少ない。一方、高PVでも時間が合わずPV抑制が多い。どちらも全便運行と24時間の再計算、物理・会計検算を通過した。計算の詰まり具合は配車側の目安であり、最終費用の誤差ではない。</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一日の計画は、1時間進むごとに残り時間を見直す。24回すべて成立しており、実行した部分を15分単位でつないだ96区間の系列も確認した。さらに、物理条件、費用会計、入力・コード・出力の対応を残し、後から同じ結果を追えるようにした。</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現在の結果は物理的・会計的に成立しているが、すべての可能性を調べた最適解ではない。高PV条件は計算の詰まり具合に余地があり、低PV条件は次点との差が小さい。また2条件だけであり、設備費や劣化費も含まない。これらを明示した上で、追加検証へ進む。</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次の研究は、小規模な比較、選択結果の安定性、10月末の結果固定の順で進めたい。実験前に、全国大会の中心、高PV側の計算の詰まり具合、低PV側の追加確認範囲、費用項目の範囲を相談したい。</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先行研究の中から、本資料の図表構成と研究位置づけに直接関係する文献を示す。図をそのまま転載したのではなく、システム図、入力表、費用と車両構成の関係、電力フローという見せ方を参考に、本研究のデータで再作成した。</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1.svg"/><Relationship Id="rId4" Type="http://schemas.openxmlformats.org/officeDocument/2006/relationships/image" Target="../media/image4.sv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image" Target="../media/image5.svg"/><Relationship Id="rId7" Type="http://schemas.openxmlformats.org/officeDocument/2006/relationships/image" Target="../media/image1.sv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4.sv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7" Type="http://schemas.openxmlformats.org/officeDocument/2006/relationships/image" Target="../media/image12.sv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sv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17.svg"/><Relationship Id="rId5" Type="http://schemas.openxmlformats.org/officeDocument/2006/relationships/image" Target="../media/image16.svg"/><Relationship Id="rId4" Type="http://schemas.openxmlformats.org/officeDocument/2006/relationships/image" Target="../media/image15.svg"/></Relationships>
</file>

<file path=ppt/slides/_rels/slide10.xml.rels><?xml version="1.0" encoding="UTF-8" standalone="yes"?>
<Relationships xmlns="http://schemas.openxmlformats.org/package/2006/relationships"><Relationship Id="rId3" Type="http://schemas.openxmlformats.org/officeDocument/2006/relationships/image" Target="../media/image1.sv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8.svg"/><Relationship Id="rId4" Type="http://schemas.openxmlformats.org/officeDocument/2006/relationships/image" Target="../media/image7.svg"/></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0.sv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21.sv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4.svg"/><Relationship Id="rId4" Type="http://schemas.openxmlformats.org/officeDocument/2006/relationships/image" Target="../media/image23.sv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1695" cy="320040"/>
          </a:xfrm>
          <a:prstGeom prst="rect">
            <a:avLst/>
          </a:prstGeom>
          <a:solidFill>
            <a:srgbClr val="1F2A5A"/>
          </a:solidFill>
          <a:ln w="12700">
            <a:solidFill>
              <a:srgbClr val="1F2A5A"/>
            </a:solidFill>
            <a:prstDash val="solid"/>
          </a:ln>
        </p:spPr>
        <p:txBody>
          <a:bodyPr/>
          <a:lstStyle/>
          <a:p>
            <a:endParaRPr lang="ja-JP" altLang="en-US"/>
          </a:p>
        </p:txBody>
      </p:sp>
      <p:sp>
        <p:nvSpPr>
          <p:cNvPr id="3" name="Shape 1"/>
          <p:cNvSpPr/>
          <p:nvPr/>
        </p:nvSpPr>
        <p:spPr>
          <a:xfrm>
            <a:off x="594360" y="1051560"/>
            <a:ext cx="10972800" cy="1298448"/>
          </a:xfrm>
          <a:prstGeom prst="roundRect">
            <a:avLst/>
          </a:prstGeom>
          <a:solidFill>
            <a:srgbClr val="1F2A5A"/>
          </a:solidFill>
          <a:ln w="12700">
            <a:solidFill>
              <a:srgbClr val="1F2A5A"/>
            </a:solidFill>
            <a:prstDash val="solid"/>
          </a:ln>
        </p:spPr>
        <p:txBody>
          <a:bodyPr/>
          <a:lstStyle/>
          <a:p>
            <a:endParaRPr lang="ja-JP" altLang="en-US"/>
          </a:p>
        </p:txBody>
      </p:sp>
      <p:sp>
        <p:nvSpPr>
          <p:cNvPr id="4" name="Text 2"/>
          <p:cNvSpPr/>
          <p:nvPr/>
        </p:nvSpPr>
        <p:spPr>
          <a:xfrm>
            <a:off x="960120" y="1344168"/>
            <a:ext cx="10241280" cy="658368"/>
          </a:xfrm>
          <a:prstGeom prst="rect">
            <a:avLst/>
          </a:prstGeom>
          <a:noFill/>
          <a:ln/>
        </p:spPr>
        <p:txBody>
          <a:bodyPr wrap="square" lIns="0" tIns="0" rIns="0" bIns="0" rtlCol="0" anchor="ctr"/>
          <a:lstStyle/>
          <a:p>
            <a:pPr marL="0" indent="0" algn="ctr">
              <a:buNone/>
            </a:pPr>
            <a:r>
              <a:rPr lang="en-US" sz="3400" b="1" dirty="0">
                <a:solidFill>
                  <a:srgbClr val="FFFFFF"/>
                </a:solidFill>
                <a:latin typeface="Noto Sans CJK JP" pitchFamily="34" charset="0"/>
                <a:ea typeface="Noto Sans CJK JP" pitchFamily="34" charset="-122"/>
                <a:cs typeface="Noto Sans CJK JP" pitchFamily="34" charset="-120"/>
              </a:rPr>
              <a:t>修士論文研究　8月進捗報告</a:t>
            </a:r>
            <a:endParaRPr lang="en-US" sz="3400" dirty="0"/>
          </a:p>
        </p:txBody>
      </p:sp>
      <p:sp>
        <p:nvSpPr>
          <p:cNvPr id="5" name="Text 3"/>
          <p:cNvSpPr/>
          <p:nvPr/>
        </p:nvSpPr>
        <p:spPr>
          <a:xfrm>
            <a:off x="1143000" y="2679192"/>
            <a:ext cx="9921240" cy="658368"/>
          </a:xfrm>
          <a:prstGeom prst="rect">
            <a:avLst/>
          </a:prstGeom>
          <a:noFill/>
          <a:ln/>
        </p:spPr>
        <p:txBody>
          <a:bodyPr wrap="square" lIns="0" tIns="0" rIns="0" bIns="0" rtlCol="0" anchor="ctr"/>
          <a:lstStyle/>
          <a:p>
            <a:pPr marL="0" indent="0" algn="ctr">
              <a:buNone/>
            </a:pPr>
            <a:r>
              <a:rPr lang="en-US" sz="2200" b="1" dirty="0">
                <a:solidFill>
                  <a:srgbClr val="172033"/>
                </a:solidFill>
                <a:latin typeface="Noto Sans CJK JP" pitchFamily="34" charset="0"/>
                <a:ea typeface="Noto Sans CJK JP" pitchFamily="34" charset="-122"/>
                <a:cs typeface="Noto Sans CJK JP" pitchFamily="34" charset="-120"/>
              </a:rPr>
              <a:t>PV余剰電力を考慮した BEV／エンジンバス混成運用の配車・充電計画</a:t>
            </a:r>
            <a:endParaRPr lang="en-US" sz="2200" dirty="0"/>
          </a:p>
        </p:txBody>
      </p:sp>
      <p:sp>
        <p:nvSpPr>
          <p:cNvPr id="6" name="Text 4"/>
          <p:cNvSpPr/>
          <p:nvPr/>
        </p:nvSpPr>
        <p:spPr>
          <a:xfrm>
            <a:off x="1920240" y="3419856"/>
            <a:ext cx="8366760" cy="365760"/>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 前回からの改善点と、11月に向けた次の検証 ―</a:t>
            </a:r>
            <a:endParaRPr lang="en-US" sz="1600" dirty="0"/>
          </a:p>
        </p:txBody>
      </p:sp>
      <p:pic>
        <p:nvPicPr>
          <p:cNvPr id="7"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154680" y="4187952"/>
            <a:ext cx="658368" cy="658368"/>
          </a:xfrm>
          <a:prstGeom prst="rect">
            <a:avLst/>
          </a:prstGeom>
        </p:spPr>
      </p:pic>
      <p:pic>
        <p:nvPicPr>
          <p:cNvPr id="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4133088"/>
            <a:ext cx="841248" cy="713232"/>
          </a:xfrm>
          <a:prstGeom prst="rect">
            <a:avLst/>
          </a:prstGeom>
        </p:spPr>
      </p:pic>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473952" y="4206240"/>
            <a:ext cx="749808" cy="621792"/>
          </a:xfrm>
          <a:prstGeom prst="rect">
            <a:avLst/>
          </a:prstGeom>
        </p:spPr>
      </p:pic>
      <p:sp>
        <p:nvSpPr>
          <p:cNvPr id="10" name="Shape 5"/>
          <p:cNvSpPr/>
          <p:nvPr/>
        </p:nvSpPr>
        <p:spPr>
          <a:xfrm>
            <a:off x="3794760" y="4526280"/>
            <a:ext cx="822960" cy="0"/>
          </a:xfrm>
          <a:prstGeom prst="line">
            <a:avLst/>
          </a:prstGeom>
          <a:noFill/>
          <a:ln w="25400">
            <a:solidFill>
              <a:srgbClr val="A5AFBD"/>
            </a:solidFill>
            <a:prstDash val="solid"/>
          </a:ln>
        </p:spPr>
        <p:txBody>
          <a:bodyPr/>
          <a:lstStyle/>
          <a:p>
            <a:endParaRPr lang="ja-JP" altLang="en-US"/>
          </a:p>
        </p:txBody>
      </p:sp>
      <p:sp>
        <p:nvSpPr>
          <p:cNvPr id="11" name="Shape 6"/>
          <p:cNvSpPr/>
          <p:nvPr/>
        </p:nvSpPr>
        <p:spPr>
          <a:xfrm>
            <a:off x="5559552" y="4526280"/>
            <a:ext cx="868680" cy="0"/>
          </a:xfrm>
          <a:prstGeom prst="line">
            <a:avLst/>
          </a:prstGeom>
          <a:noFill/>
          <a:ln w="25400">
            <a:solidFill>
              <a:srgbClr val="A5AFBD"/>
            </a:solidFill>
            <a:prstDash val="solid"/>
          </a:ln>
        </p:spPr>
        <p:txBody>
          <a:bodyPr/>
          <a:lstStyle/>
          <a:p>
            <a:endParaRPr lang="ja-JP" altLang="en-US"/>
          </a:p>
        </p:txBody>
      </p:sp>
      <p:sp>
        <p:nvSpPr>
          <p:cNvPr id="12" name="Text 7"/>
          <p:cNvSpPr/>
          <p:nvPr/>
        </p:nvSpPr>
        <p:spPr>
          <a:xfrm>
            <a:off x="1965960" y="5879592"/>
            <a:ext cx="8275320" cy="310896"/>
          </a:xfrm>
          <a:prstGeom prst="rect">
            <a:avLst/>
          </a:prstGeom>
          <a:noFill/>
          <a:ln/>
        </p:spPr>
        <p:txBody>
          <a:bodyPr wrap="square" lIns="0" tIns="0" rIns="0" bIns="0" rtlCol="0" anchor="ctr"/>
          <a:lstStyle/>
          <a:p>
            <a:pPr marL="0" indent="0" algn="ctr">
              <a:buNone/>
            </a:pPr>
            <a:r>
              <a:rPr lang="en-US" sz="1350" dirty="0">
                <a:solidFill>
                  <a:srgbClr val="687386"/>
                </a:solidFill>
                <a:latin typeface="Noto Sans CJK JP" pitchFamily="34" charset="0"/>
                <a:ea typeface="Noto Sans CJK JP" pitchFamily="34" charset="-122"/>
                <a:cs typeface="Noto Sans CJK JP" pitchFamily="34" charset="-120"/>
              </a:rPr>
              <a:t>2026年8月31日　電力システム研究室　劉 承洋</a:t>
            </a:r>
            <a:endParaRPr lang="en-US" sz="1350" dirty="0"/>
          </a:p>
        </p:txBody>
      </p:sp>
      <p:sp>
        <p:nvSpPr>
          <p:cNvPr id="13" name="Text 8"/>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1/18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研究背景：電気バスは「車両」だけでなく「運行と電力」を一緒に考える必要がある</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2/18</a:t>
            </a:r>
            <a:endParaRPr lang="en-US" sz="850" dirty="0"/>
          </a:p>
        </p:txBody>
      </p:sp>
      <p:sp>
        <p:nvSpPr>
          <p:cNvPr id="6" name="Text 4"/>
          <p:cNvSpPr/>
          <p:nvPr/>
        </p:nvSpPr>
        <p:spPr>
          <a:xfrm>
            <a:off x="640080" y="868680"/>
            <a:ext cx="10927080" cy="438912"/>
          </a:xfrm>
          <a:prstGeom prst="rect">
            <a:avLst/>
          </a:prstGeom>
          <a:noFill/>
          <a:ln/>
        </p:spPr>
        <p:txBody>
          <a:bodyPr wrap="square" lIns="0" tIns="0" rIns="0" bIns="0" rtlCol="0" anchor="ctr"/>
          <a:lstStyle/>
          <a:p>
            <a:pPr marL="0" indent="0" algn="ctr">
              <a:buNone/>
            </a:pPr>
            <a:r>
              <a:rPr lang="en-US" sz="1800" dirty="0">
                <a:solidFill>
                  <a:srgbClr val="172033"/>
                </a:solidFill>
                <a:latin typeface="Noto Sans CJK JP" pitchFamily="34" charset="0"/>
                <a:ea typeface="Noto Sans CJK JP" pitchFamily="34" charset="-122"/>
                <a:cs typeface="Noto Sans CJK JP" pitchFamily="34" charset="-120"/>
              </a:rPr>
              <a:t>交通分野の脱炭素化に向けて電気バスの導入が進む一方、営業所では次の3つを同時に満たす必要がある。</a:t>
            </a:r>
            <a:endParaRPr lang="en-US" sz="1800" dirty="0"/>
          </a:p>
        </p:txBody>
      </p:sp>
      <p:sp>
        <p:nvSpPr>
          <p:cNvPr id="7" name="Shape 5"/>
          <p:cNvSpPr/>
          <p:nvPr/>
        </p:nvSpPr>
        <p:spPr>
          <a:xfrm>
            <a:off x="68580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709928" y="1856232"/>
            <a:ext cx="731520" cy="731520"/>
          </a:xfrm>
          <a:prstGeom prst="rect">
            <a:avLst/>
          </a:prstGeom>
        </p:spPr>
      </p:pic>
      <p:sp>
        <p:nvSpPr>
          <p:cNvPr id="9" name="Text 6"/>
          <p:cNvSpPr/>
          <p:nvPr/>
        </p:nvSpPr>
        <p:spPr>
          <a:xfrm>
            <a:off x="100584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運行</a:t>
            </a:r>
            <a:endParaRPr lang="en-US" sz="2100" dirty="0"/>
          </a:p>
        </p:txBody>
      </p:sp>
      <p:sp>
        <p:nvSpPr>
          <p:cNvPr id="10" name="Text 7"/>
          <p:cNvSpPr/>
          <p:nvPr/>
        </p:nvSpPr>
        <p:spPr>
          <a:xfrm>
            <a:off x="100584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決められた便を</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欠かさず走らせる</a:t>
            </a:r>
            <a:endParaRPr lang="en-US" sz="1600" dirty="0"/>
          </a:p>
        </p:txBody>
      </p:sp>
      <p:sp>
        <p:nvSpPr>
          <p:cNvPr id="11" name="Shape 8"/>
          <p:cNvSpPr/>
          <p:nvPr/>
        </p:nvSpPr>
        <p:spPr>
          <a:xfrm>
            <a:off x="425196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276088" y="1856232"/>
            <a:ext cx="731520" cy="731520"/>
          </a:xfrm>
          <a:prstGeom prst="rect">
            <a:avLst/>
          </a:prstGeom>
        </p:spPr>
      </p:pic>
      <p:sp>
        <p:nvSpPr>
          <p:cNvPr id="13" name="Text 9"/>
          <p:cNvSpPr/>
          <p:nvPr/>
        </p:nvSpPr>
        <p:spPr>
          <a:xfrm>
            <a:off x="457200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充電・設備</a:t>
            </a:r>
            <a:endParaRPr lang="en-US" sz="2100" dirty="0"/>
          </a:p>
        </p:txBody>
      </p:sp>
      <p:sp>
        <p:nvSpPr>
          <p:cNvPr id="14" name="Text 10"/>
          <p:cNvSpPr/>
          <p:nvPr/>
        </p:nvSpPr>
        <p:spPr>
          <a:xfrm>
            <a:off x="457200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限られた充電器と</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受電容量の中で充電する</a:t>
            </a:r>
            <a:endParaRPr lang="en-US" sz="1600" dirty="0"/>
          </a:p>
        </p:txBody>
      </p:sp>
      <p:sp>
        <p:nvSpPr>
          <p:cNvPr id="15" name="Shape 11"/>
          <p:cNvSpPr/>
          <p:nvPr/>
        </p:nvSpPr>
        <p:spPr>
          <a:xfrm>
            <a:off x="7818120" y="1600200"/>
            <a:ext cx="2788920" cy="2423160"/>
          </a:xfrm>
          <a:prstGeom prst="roundRect">
            <a:avLst>
              <a:gd name="adj" fmla="val 3019"/>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842248" y="1856232"/>
            <a:ext cx="731520" cy="731520"/>
          </a:xfrm>
          <a:prstGeom prst="rect">
            <a:avLst/>
          </a:prstGeom>
        </p:spPr>
      </p:pic>
      <p:sp>
        <p:nvSpPr>
          <p:cNvPr id="17" name="Text 12"/>
          <p:cNvSpPr/>
          <p:nvPr/>
        </p:nvSpPr>
        <p:spPr>
          <a:xfrm>
            <a:off x="8138160" y="2670048"/>
            <a:ext cx="2148840" cy="347472"/>
          </a:xfrm>
          <a:prstGeom prst="rect">
            <a:avLst/>
          </a:prstGeom>
          <a:noFill/>
          <a:ln/>
        </p:spPr>
        <p:txBody>
          <a:bodyPr wrap="square" lIns="0" tIns="0" rIns="0" bIns="0" rtlCol="0" anchor="ctr"/>
          <a:lstStyle/>
          <a:p>
            <a:pPr marL="0" indent="0" algn="ctr">
              <a:buNone/>
            </a:pPr>
            <a:r>
              <a:rPr lang="en-US" sz="2100" b="1" dirty="0">
                <a:solidFill>
                  <a:srgbClr val="172033"/>
                </a:solidFill>
                <a:latin typeface="Noto Sans CJK JP" pitchFamily="34" charset="0"/>
                <a:ea typeface="Noto Sans CJK JP" pitchFamily="34" charset="-122"/>
                <a:cs typeface="Noto Sans CJK JP" pitchFamily="34" charset="-120"/>
              </a:rPr>
              <a:t>再生可能エネルギー</a:t>
            </a:r>
            <a:endParaRPr lang="en-US" sz="2100" dirty="0"/>
          </a:p>
        </p:txBody>
      </p:sp>
      <p:sp>
        <p:nvSpPr>
          <p:cNvPr id="18" name="Text 13"/>
          <p:cNvSpPr/>
          <p:nvPr/>
        </p:nvSpPr>
        <p:spPr>
          <a:xfrm>
            <a:off x="8138160" y="3108960"/>
            <a:ext cx="2148840" cy="658368"/>
          </a:xfrm>
          <a:prstGeom prst="rect">
            <a:avLst/>
          </a:prstGeom>
          <a:noFill/>
          <a:ln/>
        </p:spPr>
        <p:txBody>
          <a:bodyPr wrap="square" lIns="0" tIns="0" rIns="0" bIns="0" rtlCol="0" anchor="ctr"/>
          <a:lstStyle/>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時間で変わるPVを</a:t>
            </a:r>
            <a:endParaRPr lang="en-US" sz="1600" dirty="0"/>
          </a:p>
          <a:p>
            <a:pPr marL="0" indent="0" algn="ctr">
              <a:buNone/>
            </a:pPr>
            <a:r>
              <a:rPr lang="en-US" sz="1600" dirty="0">
                <a:solidFill>
                  <a:srgbClr val="687386"/>
                </a:solidFill>
                <a:latin typeface="Noto Sans CJK JP" pitchFamily="34" charset="0"/>
                <a:ea typeface="Noto Sans CJK JP" pitchFamily="34" charset="-122"/>
                <a:cs typeface="Noto Sans CJK JP" pitchFamily="34" charset="-120"/>
              </a:rPr>
              <a:t>できるだけ有効に使う</a:t>
            </a:r>
            <a:endParaRPr lang="en-US" sz="1600" dirty="0"/>
          </a:p>
        </p:txBody>
      </p:sp>
      <p:sp>
        <p:nvSpPr>
          <p:cNvPr id="19" name="Shape 14"/>
          <p:cNvSpPr/>
          <p:nvPr/>
        </p:nvSpPr>
        <p:spPr>
          <a:xfrm>
            <a:off x="1097280" y="4343400"/>
            <a:ext cx="9966960" cy="1225296"/>
          </a:xfrm>
          <a:prstGeom prst="roundRect">
            <a:avLst/>
          </a:prstGeom>
          <a:solidFill>
            <a:srgbClr val="EAF2FB"/>
          </a:solidFill>
          <a:ln w="15240">
            <a:solidFill>
              <a:srgbClr val="356BB3"/>
            </a:solidFill>
            <a:prstDash val="solid"/>
          </a:ln>
        </p:spPr>
        <p:txBody>
          <a:bodyPr/>
          <a:lstStyle/>
          <a:p>
            <a:endParaRPr lang="ja-JP" altLang="en-US"/>
          </a:p>
        </p:txBody>
      </p:sp>
      <p:sp>
        <p:nvSpPr>
          <p:cNvPr id="20" name="Text 15"/>
          <p:cNvSpPr/>
          <p:nvPr/>
        </p:nvSpPr>
        <p:spPr>
          <a:xfrm>
            <a:off x="1417320" y="4553712"/>
            <a:ext cx="1645920" cy="320040"/>
          </a:xfrm>
          <a:prstGeom prst="rect">
            <a:avLst/>
          </a:prstGeom>
          <a:noFill/>
          <a:ln/>
        </p:spPr>
        <p:txBody>
          <a:bodyPr wrap="square" lIns="0" tIns="0" rIns="0" bIns="0" rtlCol="0" anchor="ctr"/>
          <a:lstStyle/>
          <a:p>
            <a:pPr marL="0" indent="0">
              <a:buNone/>
            </a:pPr>
            <a:r>
              <a:rPr lang="en-US" sz="1800" b="1" dirty="0">
                <a:solidFill>
                  <a:srgbClr val="356BB3"/>
                </a:solidFill>
                <a:latin typeface="Noto Sans CJK JP" pitchFamily="34" charset="0"/>
                <a:ea typeface="Noto Sans CJK JP" pitchFamily="34" charset="-122"/>
                <a:cs typeface="Noto Sans CJK JP" pitchFamily="34" charset="-120"/>
              </a:rPr>
              <a:t>研究のねらい</a:t>
            </a:r>
            <a:endParaRPr lang="en-US" sz="1800" dirty="0"/>
          </a:p>
        </p:txBody>
      </p:sp>
      <p:sp>
        <p:nvSpPr>
          <p:cNvPr id="21" name="Text 16"/>
          <p:cNvSpPr/>
          <p:nvPr/>
        </p:nvSpPr>
        <p:spPr>
          <a:xfrm>
            <a:off x="2788920" y="4498848"/>
            <a:ext cx="7726680" cy="7498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「どの便を電気バスに任せるか」と「いつ、どの電源で充電するか」をまとめて考え、</a:t>
            </a:r>
            <a:endParaRPr lang="en-US" sz="1800" dirty="0"/>
          </a:p>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全便運行を守りながら、PV・蓄電池を使いやすい運用を探す。</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先行研究から整理した「示すべき図表」と本研究の位置づけ</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3/18</a:t>
            </a:r>
            <a:endParaRPr lang="en-US" sz="850" dirty="0"/>
          </a:p>
        </p:txBody>
      </p:sp>
      <p:sp>
        <p:nvSpPr>
          <p:cNvPr id="6" name="Text 4"/>
          <p:cNvSpPr/>
          <p:nvPr/>
        </p:nvSpPr>
        <p:spPr>
          <a:xfrm>
            <a:off x="685800" y="859536"/>
            <a:ext cx="10835640" cy="329184"/>
          </a:xfrm>
          <a:prstGeom prst="rect">
            <a:avLst/>
          </a:prstGeom>
          <a:noFill/>
          <a:ln/>
        </p:spPr>
        <p:txBody>
          <a:bodyPr wrap="square" lIns="0" tIns="0" rIns="0" bIns="0" rtlCol="0" anchor="ctr"/>
          <a:lstStyle/>
          <a:p>
            <a:pPr marL="0" indent="0" algn="ctr">
              <a:buNone/>
            </a:pPr>
            <a:r>
              <a:rPr lang="en-US" sz="1750" dirty="0">
                <a:solidFill>
                  <a:srgbClr val="687386"/>
                </a:solidFill>
                <a:latin typeface="Noto Sans CJK JP" pitchFamily="34" charset="0"/>
                <a:ea typeface="Noto Sans CJK JP" pitchFamily="34" charset="-122"/>
                <a:cs typeface="Noto Sans CJK JP" pitchFamily="34" charset="-120"/>
              </a:rPr>
              <a:t>電気バス研究では、システム構成・入力条件・時間変化・費用との関係をセットで示す例が多い。</a:t>
            </a:r>
            <a:endParaRPr lang="en-US" sz="1750" dirty="0"/>
          </a:p>
        </p:txBody>
      </p:sp>
      <p:sp>
        <p:nvSpPr>
          <p:cNvPr id="7" name="Shape 5"/>
          <p:cNvSpPr/>
          <p:nvPr/>
        </p:nvSpPr>
        <p:spPr>
          <a:xfrm>
            <a:off x="621792" y="1371600"/>
            <a:ext cx="2834640" cy="630936"/>
          </a:xfrm>
          <a:prstGeom prst="rect">
            <a:avLst/>
          </a:prstGeom>
          <a:solidFill>
            <a:srgbClr val="1F2A5A"/>
          </a:solidFill>
          <a:ln w="8890">
            <a:solidFill>
              <a:srgbClr val="EEF1F5"/>
            </a:solidFill>
            <a:prstDash val="solid"/>
          </a:ln>
        </p:spPr>
        <p:txBody>
          <a:bodyPr/>
          <a:lstStyle/>
          <a:p>
            <a:endParaRPr lang="ja-JP" altLang="en-US"/>
          </a:p>
        </p:txBody>
      </p:sp>
      <p:sp>
        <p:nvSpPr>
          <p:cNvPr id="8" name="Text 6"/>
          <p:cNvSpPr/>
          <p:nvPr/>
        </p:nvSpPr>
        <p:spPr>
          <a:xfrm>
            <a:off x="676656" y="1403604"/>
            <a:ext cx="2724912"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先行研究でよく示す内容</a:t>
            </a:r>
            <a:endParaRPr lang="en-US" sz="1320" dirty="0"/>
          </a:p>
        </p:txBody>
      </p:sp>
      <p:sp>
        <p:nvSpPr>
          <p:cNvPr id="9" name="Shape 7"/>
          <p:cNvSpPr/>
          <p:nvPr/>
        </p:nvSpPr>
        <p:spPr>
          <a:xfrm>
            <a:off x="3456432" y="1371600"/>
            <a:ext cx="3794760" cy="630936"/>
          </a:xfrm>
          <a:prstGeom prst="rect">
            <a:avLst/>
          </a:prstGeom>
          <a:solidFill>
            <a:srgbClr val="1F2A5A"/>
          </a:solidFill>
          <a:ln w="8890">
            <a:solidFill>
              <a:srgbClr val="EEF1F5"/>
            </a:solidFill>
            <a:prstDash val="solid"/>
          </a:ln>
        </p:spPr>
        <p:txBody>
          <a:bodyPr/>
          <a:lstStyle/>
          <a:p>
            <a:endParaRPr lang="ja-JP" altLang="en-US"/>
          </a:p>
        </p:txBody>
      </p:sp>
      <p:sp>
        <p:nvSpPr>
          <p:cNvPr id="10" name="Text 8"/>
          <p:cNvSpPr/>
          <p:nvPr/>
        </p:nvSpPr>
        <p:spPr>
          <a:xfrm>
            <a:off x="3511296" y="1403604"/>
            <a:ext cx="3685032"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本資料で対応する図・表</a:t>
            </a:r>
            <a:endParaRPr lang="en-US" sz="1320" dirty="0"/>
          </a:p>
        </p:txBody>
      </p:sp>
      <p:sp>
        <p:nvSpPr>
          <p:cNvPr id="11" name="Shape 9"/>
          <p:cNvSpPr/>
          <p:nvPr/>
        </p:nvSpPr>
        <p:spPr>
          <a:xfrm>
            <a:off x="7251192" y="1371600"/>
            <a:ext cx="4315968" cy="630936"/>
          </a:xfrm>
          <a:prstGeom prst="rect">
            <a:avLst/>
          </a:prstGeom>
          <a:solidFill>
            <a:srgbClr val="1F2A5A"/>
          </a:solidFill>
          <a:ln w="8890">
            <a:solidFill>
              <a:srgbClr val="EEF1F5"/>
            </a:solidFill>
            <a:prstDash val="solid"/>
          </a:ln>
        </p:spPr>
        <p:txBody>
          <a:bodyPr/>
          <a:lstStyle/>
          <a:p>
            <a:endParaRPr lang="ja-JP" altLang="en-US"/>
          </a:p>
        </p:txBody>
      </p:sp>
      <p:sp>
        <p:nvSpPr>
          <p:cNvPr id="12" name="Text 10"/>
          <p:cNvSpPr/>
          <p:nvPr/>
        </p:nvSpPr>
        <p:spPr>
          <a:xfrm>
            <a:off x="7306056" y="1403604"/>
            <a:ext cx="4206240" cy="566928"/>
          </a:xfrm>
          <a:prstGeom prst="rect">
            <a:avLst/>
          </a:prstGeom>
          <a:noFill/>
          <a:ln/>
        </p:spPr>
        <p:txBody>
          <a:bodyPr wrap="square" lIns="0" tIns="0" rIns="0" bIns="0" rtlCol="0" anchor="ctr">
            <a:normAutofit/>
          </a:bodyPr>
          <a:lstStyle/>
          <a:p>
            <a:pPr marL="0" indent="0" algn="l">
              <a:buNone/>
            </a:pPr>
            <a:r>
              <a:rPr lang="en-US" sz="1320" b="1" dirty="0">
                <a:solidFill>
                  <a:srgbClr val="FFFFFF"/>
                </a:solidFill>
                <a:latin typeface="Noto Sans CJK JP" pitchFamily="34" charset="0"/>
                <a:ea typeface="Noto Sans CJK JP" pitchFamily="34" charset="-122"/>
                <a:cs typeface="Noto Sans CJK JP" pitchFamily="34" charset="-120"/>
              </a:rPr>
              <a:t>参考にした文献</a:t>
            </a:r>
            <a:endParaRPr lang="en-US" sz="1320" dirty="0"/>
          </a:p>
        </p:txBody>
      </p:sp>
      <p:sp>
        <p:nvSpPr>
          <p:cNvPr id="13" name="Shape 11"/>
          <p:cNvSpPr/>
          <p:nvPr/>
        </p:nvSpPr>
        <p:spPr>
          <a:xfrm>
            <a:off x="621792" y="2002536"/>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14" name="Text 12"/>
          <p:cNvSpPr/>
          <p:nvPr/>
        </p:nvSpPr>
        <p:spPr>
          <a:xfrm>
            <a:off x="676656" y="2034540"/>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営業所・車両・電力設備の構成図</a:t>
            </a:r>
            <a:endParaRPr lang="en-US" sz="1220" dirty="0"/>
          </a:p>
        </p:txBody>
      </p:sp>
      <p:sp>
        <p:nvSpPr>
          <p:cNvPr id="15" name="Shape 13"/>
          <p:cNvSpPr/>
          <p:nvPr/>
        </p:nvSpPr>
        <p:spPr>
          <a:xfrm>
            <a:off x="3456432" y="2002536"/>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16" name="Text 14"/>
          <p:cNvSpPr/>
          <p:nvPr/>
        </p:nvSpPr>
        <p:spPr>
          <a:xfrm>
            <a:off x="3511296" y="2034540"/>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対象営業所と比較条件の図</a:t>
            </a:r>
            <a:endParaRPr lang="en-US" sz="1220" dirty="0"/>
          </a:p>
        </p:txBody>
      </p:sp>
      <p:sp>
        <p:nvSpPr>
          <p:cNvPr id="17" name="Shape 15"/>
          <p:cNvSpPr/>
          <p:nvPr/>
        </p:nvSpPr>
        <p:spPr>
          <a:xfrm>
            <a:off x="7251192" y="2002536"/>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18" name="Text 16"/>
          <p:cNvSpPr/>
          <p:nvPr/>
        </p:nvSpPr>
        <p:spPr>
          <a:xfrm>
            <a:off x="7306056" y="2034540"/>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Najafi et al. (2025), Fei et al. (2023)</a:t>
            </a:r>
            <a:endParaRPr lang="en-US" sz="1220" dirty="0"/>
          </a:p>
        </p:txBody>
      </p:sp>
      <p:sp>
        <p:nvSpPr>
          <p:cNvPr id="19" name="Shape 17"/>
          <p:cNvSpPr/>
          <p:nvPr/>
        </p:nvSpPr>
        <p:spPr>
          <a:xfrm>
            <a:off x="621792" y="2633472"/>
            <a:ext cx="2834640" cy="630936"/>
          </a:xfrm>
          <a:prstGeom prst="rect">
            <a:avLst/>
          </a:prstGeom>
          <a:solidFill>
            <a:srgbClr val="F8FAFC"/>
          </a:solidFill>
          <a:ln w="8890">
            <a:solidFill>
              <a:srgbClr val="EEF1F5"/>
            </a:solidFill>
            <a:prstDash val="solid"/>
          </a:ln>
        </p:spPr>
        <p:txBody>
          <a:bodyPr/>
          <a:lstStyle/>
          <a:p>
            <a:endParaRPr lang="ja-JP" altLang="en-US"/>
          </a:p>
        </p:txBody>
      </p:sp>
      <p:sp>
        <p:nvSpPr>
          <p:cNvPr id="20" name="Text 18"/>
          <p:cNvSpPr/>
          <p:nvPr/>
        </p:nvSpPr>
        <p:spPr>
          <a:xfrm>
            <a:off x="676656" y="2665476"/>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電池・充電器・SOC・価格などの入力表</a:t>
            </a:r>
            <a:endParaRPr lang="en-US" sz="1220" dirty="0"/>
          </a:p>
        </p:txBody>
      </p:sp>
      <p:sp>
        <p:nvSpPr>
          <p:cNvPr id="21" name="Shape 19"/>
          <p:cNvSpPr/>
          <p:nvPr/>
        </p:nvSpPr>
        <p:spPr>
          <a:xfrm>
            <a:off x="3456432" y="2633472"/>
            <a:ext cx="3794760" cy="630936"/>
          </a:xfrm>
          <a:prstGeom prst="rect">
            <a:avLst/>
          </a:prstGeom>
          <a:solidFill>
            <a:srgbClr val="F8FAFC"/>
          </a:solidFill>
          <a:ln w="8890">
            <a:solidFill>
              <a:srgbClr val="EEF1F5"/>
            </a:solidFill>
            <a:prstDash val="solid"/>
          </a:ln>
        </p:spPr>
        <p:txBody>
          <a:bodyPr/>
          <a:lstStyle/>
          <a:p>
            <a:endParaRPr lang="ja-JP" altLang="en-US"/>
          </a:p>
        </p:txBody>
      </p:sp>
      <p:sp>
        <p:nvSpPr>
          <p:cNvPr id="22" name="Text 20"/>
          <p:cNvSpPr/>
          <p:nvPr/>
        </p:nvSpPr>
        <p:spPr>
          <a:xfrm>
            <a:off x="3511296" y="2665476"/>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車両・設備・費用・計算条件の表</a:t>
            </a:r>
            <a:endParaRPr lang="en-US" sz="1220" dirty="0"/>
          </a:p>
        </p:txBody>
      </p:sp>
      <p:sp>
        <p:nvSpPr>
          <p:cNvPr id="23" name="Shape 21"/>
          <p:cNvSpPr/>
          <p:nvPr/>
        </p:nvSpPr>
        <p:spPr>
          <a:xfrm>
            <a:off x="7251192" y="2633472"/>
            <a:ext cx="4315968" cy="630936"/>
          </a:xfrm>
          <a:prstGeom prst="rect">
            <a:avLst/>
          </a:prstGeom>
          <a:solidFill>
            <a:srgbClr val="F8FAFC"/>
          </a:solidFill>
          <a:ln w="8890">
            <a:solidFill>
              <a:srgbClr val="EEF1F5"/>
            </a:solidFill>
            <a:prstDash val="solid"/>
          </a:ln>
        </p:spPr>
        <p:txBody>
          <a:bodyPr/>
          <a:lstStyle/>
          <a:p>
            <a:endParaRPr lang="ja-JP" altLang="en-US"/>
          </a:p>
        </p:txBody>
      </p:sp>
      <p:sp>
        <p:nvSpPr>
          <p:cNvPr id="24" name="Text 22"/>
          <p:cNvSpPr/>
          <p:nvPr/>
        </p:nvSpPr>
        <p:spPr>
          <a:xfrm>
            <a:off x="7306056" y="2665476"/>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 Zhang et al. (2025)</a:t>
            </a:r>
            <a:endParaRPr lang="en-US" sz="1220" dirty="0"/>
          </a:p>
        </p:txBody>
      </p:sp>
      <p:sp>
        <p:nvSpPr>
          <p:cNvPr id="25" name="Shape 23"/>
          <p:cNvSpPr/>
          <p:nvPr/>
        </p:nvSpPr>
        <p:spPr>
          <a:xfrm>
            <a:off x="621792" y="3264408"/>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26" name="Text 24"/>
          <p:cNvSpPr/>
          <p:nvPr/>
        </p:nvSpPr>
        <p:spPr>
          <a:xfrm>
            <a:off x="676656" y="3296412"/>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一日の充電・PV・蓄電池の動き</a:t>
            </a:r>
            <a:endParaRPr lang="en-US" sz="1220" dirty="0"/>
          </a:p>
        </p:txBody>
      </p:sp>
      <p:sp>
        <p:nvSpPr>
          <p:cNvPr id="27" name="Shape 25"/>
          <p:cNvSpPr/>
          <p:nvPr/>
        </p:nvSpPr>
        <p:spPr>
          <a:xfrm>
            <a:off x="3456432" y="3264408"/>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28" name="Text 26"/>
          <p:cNvSpPr/>
          <p:nvPr/>
        </p:nvSpPr>
        <p:spPr>
          <a:xfrm>
            <a:off x="3511296" y="3296412"/>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PV利用、BESS、系統購入の流れ</a:t>
            </a:r>
            <a:endParaRPr lang="en-US" sz="1220" dirty="0"/>
          </a:p>
        </p:txBody>
      </p:sp>
      <p:sp>
        <p:nvSpPr>
          <p:cNvPr id="29" name="Shape 27"/>
          <p:cNvSpPr/>
          <p:nvPr/>
        </p:nvSpPr>
        <p:spPr>
          <a:xfrm>
            <a:off x="7251192" y="3264408"/>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30" name="Text 28"/>
          <p:cNvSpPr/>
          <p:nvPr/>
        </p:nvSpPr>
        <p:spPr>
          <a:xfrm>
            <a:off x="7306056" y="3296412"/>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 Najafi et al. (2025)</a:t>
            </a:r>
            <a:endParaRPr lang="en-US" sz="1220" dirty="0"/>
          </a:p>
        </p:txBody>
      </p:sp>
      <p:sp>
        <p:nvSpPr>
          <p:cNvPr id="31" name="Shape 29"/>
          <p:cNvSpPr/>
          <p:nvPr/>
        </p:nvSpPr>
        <p:spPr>
          <a:xfrm>
            <a:off x="621792" y="3895344"/>
            <a:ext cx="2834640" cy="630936"/>
          </a:xfrm>
          <a:prstGeom prst="rect">
            <a:avLst/>
          </a:prstGeom>
          <a:solidFill>
            <a:srgbClr val="F8FAFC"/>
          </a:solidFill>
          <a:ln w="8890">
            <a:solidFill>
              <a:srgbClr val="EEF1F5"/>
            </a:solidFill>
            <a:prstDash val="solid"/>
          </a:ln>
        </p:spPr>
        <p:txBody>
          <a:bodyPr/>
          <a:lstStyle/>
          <a:p>
            <a:endParaRPr lang="ja-JP" altLang="en-US"/>
          </a:p>
        </p:txBody>
      </p:sp>
      <p:sp>
        <p:nvSpPr>
          <p:cNvPr id="32" name="Text 30"/>
          <p:cNvSpPr/>
          <p:nvPr/>
        </p:nvSpPr>
        <p:spPr>
          <a:xfrm>
            <a:off x="676656" y="3927348"/>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車両構成と費用・収益の関係</a:t>
            </a:r>
            <a:endParaRPr lang="en-US" sz="1220" dirty="0"/>
          </a:p>
        </p:txBody>
      </p:sp>
      <p:sp>
        <p:nvSpPr>
          <p:cNvPr id="33" name="Shape 31"/>
          <p:cNvSpPr/>
          <p:nvPr/>
        </p:nvSpPr>
        <p:spPr>
          <a:xfrm>
            <a:off x="3456432" y="3895344"/>
            <a:ext cx="3794760" cy="630936"/>
          </a:xfrm>
          <a:prstGeom prst="rect">
            <a:avLst/>
          </a:prstGeom>
          <a:solidFill>
            <a:srgbClr val="F8FAFC"/>
          </a:solidFill>
          <a:ln w="8890">
            <a:solidFill>
              <a:srgbClr val="EEF1F5"/>
            </a:solidFill>
            <a:prstDash val="solid"/>
          </a:ln>
        </p:spPr>
        <p:txBody>
          <a:bodyPr/>
          <a:lstStyle/>
          <a:p>
            <a:endParaRPr lang="ja-JP" altLang="en-US"/>
          </a:p>
        </p:txBody>
      </p:sp>
      <p:sp>
        <p:nvSpPr>
          <p:cNvPr id="34" name="Text 32"/>
          <p:cNvSpPr/>
          <p:nvPr/>
        </p:nvSpPr>
        <p:spPr>
          <a:xfrm>
            <a:off x="3511296" y="3927348"/>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22配車候補のBEV台数と評価額</a:t>
            </a:r>
            <a:endParaRPr lang="en-US" sz="1220" dirty="0"/>
          </a:p>
        </p:txBody>
      </p:sp>
      <p:sp>
        <p:nvSpPr>
          <p:cNvPr id="35" name="Shape 33"/>
          <p:cNvSpPr/>
          <p:nvPr/>
        </p:nvSpPr>
        <p:spPr>
          <a:xfrm>
            <a:off x="7251192" y="3895344"/>
            <a:ext cx="4315968" cy="630936"/>
          </a:xfrm>
          <a:prstGeom prst="rect">
            <a:avLst/>
          </a:prstGeom>
          <a:solidFill>
            <a:srgbClr val="F8FAFC"/>
          </a:solidFill>
          <a:ln w="8890">
            <a:solidFill>
              <a:srgbClr val="EEF1F5"/>
            </a:solidFill>
            <a:prstDash val="solid"/>
          </a:ln>
        </p:spPr>
        <p:txBody>
          <a:bodyPr/>
          <a:lstStyle/>
          <a:p>
            <a:endParaRPr lang="ja-JP" altLang="en-US"/>
          </a:p>
        </p:txBody>
      </p:sp>
      <p:sp>
        <p:nvSpPr>
          <p:cNvPr id="36" name="Text 34"/>
          <p:cNvSpPr/>
          <p:nvPr/>
        </p:nvSpPr>
        <p:spPr>
          <a:xfrm>
            <a:off x="7306056" y="3927348"/>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Fei et al. (2023)</a:t>
            </a:r>
            <a:endParaRPr lang="en-US" sz="1220" dirty="0"/>
          </a:p>
        </p:txBody>
      </p:sp>
      <p:sp>
        <p:nvSpPr>
          <p:cNvPr id="37" name="Shape 35"/>
          <p:cNvSpPr/>
          <p:nvPr/>
        </p:nvSpPr>
        <p:spPr>
          <a:xfrm>
            <a:off x="621792" y="4526280"/>
            <a:ext cx="2834640" cy="630936"/>
          </a:xfrm>
          <a:prstGeom prst="rect">
            <a:avLst/>
          </a:prstGeom>
          <a:solidFill>
            <a:srgbClr val="FFFFFF"/>
          </a:solidFill>
          <a:ln w="8890">
            <a:solidFill>
              <a:srgbClr val="EEF1F5"/>
            </a:solidFill>
            <a:prstDash val="solid"/>
          </a:ln>
        </p:spPr>
        <p:txBody>
          <a:bodyPr/>
          <a:lstStyle/>
          <a:p>
            <a:endParaRPr lang="ja-JP" altLang="en-US"/>
          </a:p>
        </p:txBody>
      </p:sp>
      <p:sp>
        <p:nvSpPr>
          <p:cNvPr id="38" name="Text 36"/>
          <p:cNvSpPr/>
          <p:nvPr/>
        </p:nvSpPr>
        <p:spPr>
          <a:xfrm>
            <a:off x="676656" y="4558284"/>
            <a:ext cx="2724912" cy="566928"/>
          </a:xfrm>
          <a:prstGeom prst="rect">
            <a:avLst/>
          </a:prstGeom>
          <a:noFill/>
          <a:ln/>
        </p:spPr>
        <p:txBody>
          <a:bodyPr wrap="square" lIns="0" tIns="0" rIns="0" bIns="0" rtlCol="0" anchor="ctr">
            <a:normAutofit/>
          </a:bodyPr>
          <a:lstStyle/>
          <a:p>
            <a:pPr marL="0" indent="0" algn="l">
              <a:buNone/>
            </a:pPr>
            <a:r>
              <a:rPr lang="en-US" sz="1220" b="1" dirty="0">
                <a:solidFill>
                  <a:srgbClr val="172033"/>
                </a:solidFill>
                <a:latin typeface="Noto Sans CJK JP" pitchFamily="34" charset="0"/>
                <a:ea typeface="Noto Sans CJK JP" pitchFamily="34" charset="-122"/>
                <a:cs typeface="Noto Sans CJK JP" pitchFamily="34" charset="-120"/>
              </a:rPr>
              <a:t>便ごとの消費量をどう扱うか</a:t>
            </a:r>
            <a:endParaRPr lang="en-US" sz="1220" dirty="0"/>
          </a:p>
        </p:txBody>
      </p:sp>
      <p:sp>
        <p:nvSpPr>
          <p:cNvPr id="39" name="Shape 37"/>
          <p:cNvSpPr/>
          <p:nvPr/>
        </p:nvSpPr>
        <p:spPr>
          <a:xfrm>
            <a:off x="3456432" y="4526280"/>
            <a:ext cx="3794760" cy="630936"/>
          </a:xfrm>
          <a:prstGeom prst="rect">
            <a:avLst/>
          </a:prstGeom>
          <a:solidFill>
            <a:srgbClr val="FFFFFF"/>
          </a:solidFill>
          <a:ln w="8890">
            <a:solidFill>
              <a:srgbClr val="EEF1F5"/>
            </a:solidFill>
            <a:prstDash val="solid"/>
          </a:ln>
        </p:spPr>
        <p:txBody>
          <a:bodyPr/>
          <a:lstStyle/>
          <a:p>
            <a:endParaRPr lang="ja-JP" altLang="en-US"/>
          </a:p>
        </p:txBody>
      </p:sp>
      <p:sp>
        <p:nvSpPr>
          <p:cNvPr id="40" name="Text 38"/>
          <p:cNvSpPr/>
          <p:nvPr/>
        </p:nvSpPr>
        <p:spPr>
          <a:xfrm>
            <a:off x="3511296" y="4558284"/>
            <a:ext cx="3685032"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便別入力を用いた配車・充電計算</a:t>
            </a:r>
            <a:endParaRPr lang="en-US" sz="1220" dirty="0"/>
          </a:p>
        </p:txBody>
      </p:sp>
      <p:sp>
        <p:nvSpPr>
          <p:cNvPr id="41" name="Shape 39"/>
          <p:cNvSpPr/>
          <p:nvPr/>
        </p:nvSpPr>
        <p:spPr>
          <a:xfrm>
            <a:off x="7251192" y="4526280"/>
            <a:ext cx="4315968" cy="630936"/>
          </a:xfrm>
          <a:prstGeom prst="rect">
            <a:avLst/>
          </a:prstGeom>
          <a:solidFill>
            <a:srgbClr val="FFFFFF"/>
          </a:solidFill>
          <a:ln w="8890">
            <a:solidFill>
              <a:srgbClr val="EEF1F5"/>
            </a:solidFill>
            <a:prstDash val="solid"/>
          </a:ln>
        </p:spPr>
        <p:txBody>
          <a:bodyPr/>
          <a:lstStyle/>
          <a:p>
            <a:endParaRPr lang="ja-JP" altLang="en-US"/>
          </a:p>
        </p:txBody>
      </p:sp>
      <p:sp>
        <p:nvSpPr>
          <p:cNvPr id="42" name="Text 40"/>
          <p:cNvSpPr/>
          <p:nvPr/>
        </p:nvSpPr>
        <p:spPr>
          <a:xfrm>
            <a:off x="7306056" y="4558284"/>
            <a:ext cx="4206240" cy="566928"/>
          </a:xfrm>
          <a:prstGeom prst="rect">
            <a:avLst/>
          </a:prstGeom>
          <a:noFill/>
          <a:ln/>
        </p:spPr>
        <p:txBody>
          <a:bodyPr wrap="square" lIns="0" tIns="0" rIns="0" bIns="0" rtlCol="0" anchor="ctr">
            <a:normAutofit/>
          </a:bodyPr>
          <a:lstStyle/>
          <a:p>
            <a:pPr marL="0" indent="0" algn="l">
              <a:buNone/>
            </a:pPr>
            <a:r>
              <a:rPr lang="en-US" sz="1220" dirty="0">
                <a:solidFill>
                  <a:srgbClr val="172033"/>
                </a:solidFill>
                <a:latin typeface="Noto Sans CJK JP" pitchFamily="34" charset="0"/>
                <a:ea typeface="Noto Sans CJK JP" pitchFamily="34" charset="-122"/>
                <a:cs typeface="Noto Sans CJK JP" pitchFamily="34" charset="-120"/>
              </a:rPr>
              <a:t>He et al. (2023), Zhang et al. (2024)</a:t>
            </a:r>
            <a:endParaRPr lang="en-US" sz="1220" dirty="0"/>
          </a:p>
        </p:txBody>
      </p:sp>
      <p:sp>
        <p:nvSpPr>
          <p:cNvPr id="43" name="Shape 41"/>
          <p:cNvSpPr/>
          <p:nvPr/>
        </p:nvSpPr>
        <p:spPr>
          <a:xfrm>
            <a:off x="932688" y="5440680"/>
            <a:ext cx="10332720" cy="658368"/>
          </a:xfrm>
          <a:prstGeom prst="roundRect">
            <a:avLst/>
          </a:prstGeom>
          <a:solidFill>
            <a:srgbClr val="E8F6F3"/>
          </a:solidFill>
          <a:ln w="13970">
            <a:solidFill>
              <a:srgbClr val="1F9D8A"/>
            </a:solidFill>
            <a:prstDash val="solid"/>
          </a:ln>
        </p:spPr>
        <p:txBody>
          <a:bodyPr/>
          <a:lstStyle/>
          <a:p>
            <a:endParaRPr lang="ja-JP" altLang="en-US"/>
          </a:p>
        </p:txBody>
      </p:sp>
      <p:sp>
        <p:nvSpPr>
          <p:cNvPr id="44" name="Text 42"/>
          <p:cNvSpPr/>
          <p:nvPr/>
        </p:nvSpPr>
        <p:spPr>
          <a:xfrm>
            <a:off x="1170432" y="5596128"/>
            <a:ext cx="9875520" cy="301752"/>
          </a:xfrm>
          <a:prstGeom prst="rect">
            <a:avLst/>
          </a:prstGeom>
          <a:noFill/>
          <a:ln/>
        </p:spPr>
        <p:txBody>
          <a:bodyPr wrap="square" lIns="0" tIns="0" rIns="0" bIns="0" rtlCol="0" anchor="ctr"/>
          <a:lstStyle/>
          <a:p>
            <a:pPr marL="0" indent="0" algn="ctr">
              <a:buNone/>
            </a:pPr>
            <a:r>
              <a:rPr lang="en-US" sz="1650" b="1" dirty="0">
                <a:solidFill>
                  <a:srgbClr val="1F9D8A"/>
                </a:solidFill>
                <a:latin typeface="Noto Sans CJK JP" pitchFamily="34" charset="0"/>
                <a:ea typeface="Noto Sans CJK JP" pitchFamily="34" charset="-122"/>
                <a:cs typeface="Noto Sans CJK JP" pitchFamily="34" charset="-120"/>
              </a:rPr>
              <a:t>本研究の焦点：既存営業所の264便を対象に、BEV／ICEの担当便とPV・BESSを使う充電運用を同時に確認する</a:t>
            </a:r>
            <a:endParaRPr lang="en-US" sz="1650" dirty="0"/>
          </a:p>
        </p:txBody>
      </p:sp>
      <p:sp>
        <p:nvSpPr>
          <p:cNvPr id="45" name="Text 43"/>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参考：No07, No18, No36, No39, No42（添付文献）</a:t>
            </a:r>
            <a:endParaRPr lang="en-US" sz="72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実験対象：同じ平日264便に、PVの多い条件と少ない条件を与えて比較</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4/18</a:t>
            </a:r>
            <a:endParaRPr lang="en-US" sz="850" dirty="0"/>
          </a:p>
        </p:txBody>
      </p:sp>
      <p:sp>
        <p:nvSpPr>
          <p:cNvPr id="6" name="Shape 4"/>
          <p:cNvSpPr/>
          <p:nvPr/>
        </p:nvSpPr>
        <p:spPr>
          <a:xfrm>
            <a:off x="594360" y="914400"/>
            <a:ext cx="4572000" cy="5349240"/>
          </a:xfrm>
          <a:prstGeom prst="roundRect">
            <a:avLst>
              <a:gd name="adj" fmla="val 1600"/>
            </a:avLst>
          </a:prstGeom>
          <a:solidFill>
            <a:srgbClr val="F8FAFC"/>
          </a:solidFill>
          <a:ln w="12700">
            <a:solidFill>
              <a:srgbClr val="EEF1F5"/>
            </a:solidFill>
            <a:prstDash val="solid"/>
          </a:ln>
        </p:spPr>
        <p:txBody>
          <a:bodyPr/>
          <a:lstStyle/>
          <a:p>
            <a:endParaRPr lang="ja-JP" altLang="en-US"/>
          </a:p>
        </p:txBody>
      </p:sp>
      <p:sp>
        <p:nvSpPr>
          <p:cNvPr id="7" name="Text 5"/>
          <p:cNvSpPr/>
          <p:nvPr/>
        </p:nvSpPr>
        <p:spPr>
          <a:xfrm>
            <a:off x="896112" y="1143000"/>
            <a:ext cx="2011680" cy="329184"/>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共通して固定する条件</a:t>
            </a:r>
            <a:endParaRPr lang="en-US" sz="2000" dirty="0"/>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960120" y="1755648"/>
            <a:ext cx="548640" cy="502920"/>
          </a:xfrm>
          <a:prstGeom prst="rect">
            <a:avLst/>
          </a:prstGeom>
        </p:spPr>
      </p:pic>
      <p:sp>
        <p:nvSpPr>
          <p:cNvPr id="9" name="Text 6"/>
          <p:cNvSpPr/>
          <p:nvPr/>
        </p:nvSpPr>
        <p:spPr>
          <a:xfrm>
            <a:off x="1664208" y="1746504"/>
            <a:ext cx="2971800" cy="310896"/>
          </a:xfrm>
          <a:prstGeom prst="rect">
            <a:avLst/>
          </a:prstGeom>
          <a:noFill/>
          <a:ln/>
        </p:spPr>
        <p:txBody>
          <a:bodyPr wrap="square" lIns="0" tIns="0" rIns="0" bIns="0" rtlCol="0" anchor="ctr"/>
          <a:lstStyle/>
          <a:p>
            <a:pPr marL="0" indent="0">
              <a:buNone/>
            </a:pPr>
            <a:r>
              <a:rPr lang="en-US" sz="1750" b="1" dirty="0">
                <a:solidFill>
                  <a:srgbClr val="1F2A5A"/>
                </a:solidFill>
                <a:latin typeface="Noto Sans CJK JP" pitchFamily="34" charset="0"/>
                <a:ea typeface="Noto Sans CJK JP" pitchFamily="34" charset="-122"/>
                <a:cs typeface="Noto Sans CJK JP" pitchFamily="34" charset="-120"/>
              </a:rPr>
              <a:t>弦巻営業所・平日264便（16路線）</a:t>
            </a:r>
            <a:endParaRPr lang="en-US" sz="1750" dirty="0"/>
          </a:p>
        </p:txBody>
      </p:sp>
      <p:pic>
        <p:nvPicPr>
          <p:cNvPr id="1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60120" y="2487168"/>
            <a:ext cx="548640" cy="475488"/>
          </a:xfrm>
          <a:prstGeom prst="rect">
            <a:avLst/>
          </a:prstGeom>
        </p:spPr>
      </p:pic>
      <p:sp>
        <p:nvSpPr>
          <p:cNvPr id="11" name="Text 7"/>
          <p:cNvSpPr/>
          <p:nvPr/>
        </p:nvSpPr>
        <p:spPr>
          <a:xfrm>
            <a:off x="1664208" y="248716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車両60台：BEV 35台／ICE 25台</a:t>
            </a:r>
            <a:endParaRPr lang="en-US" sz="1700" dirty="0"/>
          </a:p>
        </p:txBody>
      </p:sp>
      <p:pic>
        <p:nvPicPr>
          <p:cNvPr id="1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960120" y="3218688"/>
            <a:ext cx="502920" cy="502920"/>
          </a:xfrm>
          <a:prstGeom prst="rect">
            <a:avLst/>
          </a:prstGeom>
        </p:spPr>
      </p:pic>
      <p:sp>
        <p:nvSpPr>
          <p:cNvPr id="13" name="Text 8"/>
          <p:cNvSpPr/>
          <p:nvPr/>
        </p:nvSpPr>
        <p:spPr>
          <a:xfrm>
            <a:off x="1664208" y="321868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充電器・BESS・受電上限・料金は同一</a:t>
            </a:r>
            <a:endParaRPr lang="en-US" sz="1700" dirty="0"/>
          </a:p>
        </p:txBody>
      </p:sp>
      <p:pic>
        <p:nvPicPr>
          <p:cNvPr id="1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60120" y="3950208"/>
            <a:ext cx="502920" cy="502920"/>
          </a:xfrm>
          <a:prstGeom prst="rect">
            <a:avLst/>
          </a:prstGeom>
        </p:spPr>
      </p:pic>
      <p:sp>
        <p:nvSpPr>
          <p:cNvPr id="15" name="Text 9"/>
          <p:cNvSpPr/>
          <p:nvPr/>
        </p:nvSpPr>
        <p:spPr>
          <a:xfrm>
            <a:off x="1664208" y="3950208"/>
            <a:ext cx="2971800" cy="310896"/>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15分単位、1時間ごとに運用を見直す</a:t>
            </a:r>
            <a:endParaRPr lang="en-US" sz="1700" dirty="0"/>
          </a:p>
        </p:txBody>
      </p:sp>
      <p:sp>
        <p:nvSpPr>
          <p:cNvPr id="16" name="Shape 10"/>
          <p:cNvSpPr/>
          <p:nvPr/>
        </p:nvSpPr>
        <p:spPr>
          <a:xfrm>
            <a:off x="960120" y="4754880"/>
            <a:ext cx="3822192" cy="841248"/>
          </a:xfrm>
          <a:prstGeom prst="roundRect">
            <a:avLst/>
          </a:prstGeom>
          <a:solidFill>
            <a:srgbClr val="FFFFFF"/>
          </a:solidFill>
          <a:ln w="12700">
            <a:solidFill>
              <a:srgbClr val="356BB3"/>
            </a:solidFill>
            <a:prstDash val="solid"/>
          </a:ln>
        </p:spPr>
        <p:txBody>
          <a:bodyPr/>
          <a:lstStyle/>
          <a:p>
            <a:endParaRPr lang="ja-JP" altLang="en-US"/>
          </a:p>
        </p:txBody>
      </p:sp>
      <p:sp>
        <p:nvSpPr>
          <p:cNvPr id="17" name="Text 11"/>
          <p:cNvSpPr/>
          <p:nvPr/>
        </p:nvSpPr>
        <p:spPr>
          <a:xfrm>
            <a:off x="1188720" y="4919472"/>
            <a:ext cx="3383280" cy="45720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比較したいこと</a:t>
            </a:r>
            <a:endParaRPr lang="en-US" sz="1550" dirty="0"/>
          </a:p>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PV量の違いで、配車・電力・費用がどう変わるか</a:t>
            </a:r>
            <a:endParaRPr lang="en-US" sz="1550" dirty="0"/>
          </a:p>
        </p:txBody>
      </p:sp>
      <p:sp>
        <p:nvSpPr>
          <p:cNvPr id="18" name="Shape 12"/>
          <p:cNvSpPr/>
          <p:nvPr/>
        </p:nvSpPr>
        <p:spPr>
          <a:xfrm>
            <a:off x="5440680" y="914400"/>
            <a:ext cx="2788920" cy="5349240"/>
          </a:xfrm>
          <a:prstGeom prst="roundRect">
            <a:avLst>
              <a:gd name="adj" fmla="val 2623"/>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19" name="Shape 13"/>
          <p:cNvSpPr/>
          <p:nvPr/>
        </p:nvSpPr>
        <p:spPr>
          <a:xfrm>
            <a:off x="6062472" y="1188720"/>
            <a:ext cx="1508760" cy="310896"/>
          </a:xfrm>
          <a:prstGeom prst="roundRect">
            <a:avLst/>
          </a:prstGeom>
          <a:solidFill>
            <a:srgbClr val="E7B34B"/>
          </a:solidFill>
          <a:ln w="12700">
            <a:solidFill>
              <a:srgbClr val="E7B34B"/>
            </a:solidFill>
            <a:prstDash val="solid"/>
          </a:ln>
        </p:spPr>
        <p:txBody>
          <a:bodyPr/>
          <a:lstStyle/>
          <a:p>
            <a:endParaRPr lang="ja-JP" altLang="en-US"/>
          </a:p>
        </p:txBody>
      </p:sp>
      <p:sp>
        <p:nvSpPr>
          <p:cNvPr id="20" name="Text 14"/>
          <p:cNvSpPr/>
          <p:nvPr/>
        </p:nvSpPr>
        <p:spPr>
          <a:xfrm>
            <a:off x="6108192" y="1207008"/>
            <a:ext cx="1417320" cy="256032"/>
          </a:xfrm>
          <a:prstGeom prst="rect">
            <a:avLst/>
          </a:prstGeom>
          <a:noFill/>
          <a:ln/>
        </p:spPr>
        <p:txBody>
          <a:bodyPr wrap="square" lIns="0" tIns="0" rIns="0" bIns="0" rtlCol="0" anchor="ctr"/>
          <a:lstStyle/>
          <a:p>
            <a:pPr marL="0" indent="0" algn="ctr">
              <a:buNone/>
            </a:pPr>
            <a:r>
              <a:rPr lang="en-US" sz="1050" b="1" dirty="0">
                <a:solidFill>
                  <a:srgbClr val="172033"/>
                </a:solidFill>
                <a:latin typeface="Noto Sans CJK JP" pitchFamily="34" charset="0"/>
                <a:ea typeface="Noto Sans CJK JP" pitchFamily="34" charset="-122"/>
                <a:cs typeface="Noto Sans CJK JP" pitchFamily="34" charset="-120"/>
              </a:rPr>
              <a:t>高PV条件</a:t>
            </a:r>
            <a:endParaRPr lang="en-US" sz="1050" dirty="0"/>
          </a:p>
        </p:txBody>
      </p:sp>
      <p:pic>
        <p:nvPicPr>
          <p:cNvPr id="21"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6446520" y="1865376"/>
            <a:ext cx="749808" cy="749808"/>
          </a:xfrm>
          <a:prstGeom prst="rect">
            <a:avLst/>
          </a:prstGeom>
        </p:spPr>
      </p:pic>
      <p:sp>
        <p:nvSpPr>
          <p:cNvPr id="22" name="Text 15"/>
          <p:cNvSpPr/>
          <p:nvPr/>
        </p:nvSpPr>
        <p:spPr>
          <a:xfrm>
            <a:off x="5806440" y="2761488"/>
            <a:ext cx="205740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PV入力</a:t>
            </a:r>
            <a:endParaRPr lang="en-US" sz="1400" dirty="0"/>
          </a:p>
        </p:txBody>
      </p:sp>
      <p:sp>
        <p:nvSpPr>
          <p:cNvPr id="23" name="Text 16"/>
          <p:cNvSpPr/>
          <p:nvPr/>
        </p:nvSpPr>
        <p:spPr>
          <a:xfrm>
            <a:off x="5742432" y="3090672"/>
            <a:ext cx="2176272" cy="310896"/>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2025/08/05由来</a:t>
            </a:r>
            <a:endParaRPr lang="en-US" sz="1700" dirty="0"/>
          </a:p>
        </p:txBody>
      </p:sp>
      <p:sp>
        <p:nvSpPr>
          <p:cNvPr id="24" name="Text 17"/>
          <p:cNvSpPr/>
          <p:nvPr/>
        </p:nvSpPr>
        <p:spPr>
          <a:xfrm>
            <a:off x="5760720" y="3675888"/>
            <a:ext cx="2148840" cy="310896"/>
          </a:xfrm>
          <a:prstGeom prst="rect">
            <a:avLst/>
          </a:prstGeom>
          <a:noFill/>
          <a:ln/>
        </p:spPr>
        <p:txBody>
          <a:bodyPr wrap="square" lIns="0" tIns="0" rIns="0" bIns="0" rtlCol="0" anchor="ctr"/>
          <a:lstStyle/>
          <a:p>
            <a:pPr marL="0" indent="0" algn="ctr">
              <a:buNone/>
            </a:pPr>
            <a:r>
              <a:rPr lang="en-US" sz="1900" b="1" dirty="0">
                <a:solidFill>
                  <a:srgbClr val="1F9D8A"/>
                </a:solidFill>
                <a:latin typeface="Noto Sans CJK JP" pitchFamily="34" charset="0"/>
                <a:ea typeface="Noto Sans CJK JP" pitchFamily="34" charset="-122"/>
                <a:cs typeface="Noto Sans CJK JP" pitchFamily="34" charset="-120"/>
              </a:rPr>
              <a:t>日合計 6,056 kWh</a:t>
            </a:r>
            <a:endParaRPr lang="en-US" sz="1900" dirty="0"/>
          </a:p>
        </p:txBody>
      </p:sp>
      <p:sp>
        <p:nvSpPr>
          <p:cNvPr id="25" name="Text 18"/>
          <p:cNvSpPr/>
          <p:nvPr/>
        </p:nvSpPr>
        <p:spPr>
          <a:xfrm>
            <a:off x="5833872" y="4709160"/>
            <a:ext cx="2011680" cy="256032"/>
          </a:xfrm>
          <a:prstGeom prst="rect">
            <a:avLst/>
          </a:prstGeom>
          <a:noFill/>
          <a:ln/>
        </p:spPr>
        <p:txBody>
          <a:bodyPr wrap="square" lIns="0" tIns="0" rIns="0" bIns="0" rtlCol="0" anchor="ctr"/>
          <a:lstStyle/>
          <a:p>
            <a:pPr marL="0" indent="0" algn="ctr">
              <a:buNone/>
            </a:pPr>
            <a:r>
              <a:rPr lang="en-US" sz="1300" dirty="0">
                <a:solidFill>
                  <a:srgbClr val="687386"/>
                </a:solidFill>
                <a:latin typeface="Noto Sans CJK JP" pitchFamily="34" charset="0"/>
                <a:ea typeface="Noto Sans CJK JP" pitchFamily="34" charset="-122"/>
                <a:cs typeface="Noto Sans CJK JP" pitchFamily="34" charset="-120"/>
              </a:rPr>
              <a:t>平日時刻表は共通</a:t>
            </a:r>
            <a:endParaRPr lang="en-US" sz="1300" dirty="0"/>
          </a:p>
        </p:txBody>
      </p:sp>
      <p:sp>
        <p:nvSpPr>
          <p:cNvPr id="26" name="Shape 19"/>
          <p:cNvSpPr/>
          <p:nvPr/>
        </p:nvSpPr>
        <p:spPr>
          <a:xfrm>
            <a:off x="8485632" y="914400"/>
            <a:ext cx="2788920" cy="5349240"/>
          </a:xfrm>
          <a:prstGeom prst="roundRect">
            <a:avLst>
              <a:gd name="adj" fmla="val 2623"/>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7" name="Shape 20"/>
          <p:cNvSpPr/>
          <p:nvPr/>
        </p:nvSpPr>
        <p:spPr>
          <a:xfrm>
            <a:off x="9125712" y="1188720"/>
            <a:ext cx="1508760" cy="310896"/>
          </a:xfrm>
          <a:prstGeom prst="roundRect">
            <a:avLst/>
          </a:prstGeom>
          <a:solidFill>
            <a:srgbClr val="356BB3"/>
          </a:solidFill>
          <a:ln w="12700">
            <a:solidFill>
              <a:srgbClr val="356BB3"/>
            </a:solidFill>
            <a:prstDash val="solid"/>
          </a:ln>
        </p:spPr>
        <p:txBody>
          <a:bodyPr/>
          <a:lstStyle/>
          <a:p>
            <a:endParaRPr lang="ja-JP" altLang="en-US"/>
          </a:p>
        </p:txBody>
      </p:sp>
      <p:sp>
        <p:nvSpPr>
          <p:cNvPr id="28" name="Text 21"/>
          <p:cNvSpPr/>
          <p:nvPr/>
        </p:nvSpPr>
        <p:spPr>
          <a:xfrm>
            <a:off x="9171432" y="1207008"/>
            <a:ext cx="141732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低PV条件</a:t>
            </a:r>
            <a:endParaRPr lang="en-US" sz="1050" dirty="0"/>
          </a:p>
        </p:txBody>
      </p:sp>
      <p:pic>
        <p:nvPicPr>
          <p:cNvPr id="2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9491472" y="1865376"/>
            <a:ext cx="749808" cy="749808"/>
          </a:xfrm>
          <a:prstGeom prst="rect">
            <a:avLst/>
          </a:prstGeom>
        </p:spPr>
      </p:pic>
      <p:sp>
        <p:nvSpPr>
          <p:cNvPr id="30" name="Text 22"/>
          <p:cNvSpPr/>
          <p:nvPr/>
        </p:nvSpPr>
        <p:spPr>
          <a:xfrm>
            <a:off x="8851392" y="2761488"/>
            <a:ext cx="205740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PV入力</a:t>
            </a:r>
            <a:endParaRPr lang="en-US" sz="1400" dirty="0"/>
          </a:p>
        </p:txBody>
      </p:sp>
      <p:sp>
        <p:nvSpPr>
          <p:cNvPr id="31" name="Text 23"/>
          <p:cNvSpPr/>
          <p:nvPr/>
        </p:nvSpPr>
        <p:spPr>
          <a:xfrm>
            <a:off x="8796528" y="3090672"/>
            <a:ext cx="2176272" cy="310896"/>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2025/08/10由来</a:t>
            </a:r>
            <a:endParaRPr lang="en-US" sz="1700" dirty="0"/>
          </a:p>
        </p:txBody>
      </p:sp>
      <p:sp>
        <p:nvSpPr>
          <p:cNvPr id="32" name="Text 24"/>
          <p:cNvSpPr/>
          <p:nvPr/>
        </p:nvSpPr>
        <p:spPr>
          <a:xfrm>
            <a:off x="8814816" y="3675888"/>
            <a:ext cx="2148840" cy="310896"/>
          </a:xfrm>
          <a:prstGeom prst="rect">
            <a:avLst/>
          </a:prstGeom>
          <a:noFill/>
          <a:ln/>
        </p:spPr>
        <p:txBody>
          <a:bodyPr wrap="square" lIns="0" tIns="0" rIns="0" bIns="0" rtlCol="0" anchor="ctr"/>
          <a:lstStyle/>
          <a:p>
            <a:pPr marL="0" indent="0" algn="ctr">
              <a:buNone/>
            </a:pPr>
            <a:r>
              <a:rPr lang="en-US" sz="1900" b="1" dirty="0">
                <a:solidFill>
                  <a:srgbClr val="356BB3"/>
                </a:solidFill>
                <a:latin typeface="Noto Sans CJK JP" pitchFamily="34" charset="0"/>
                <a:ea typeface="Noto Sans CJK JP" pitchFamily="34" charset="-122"/>
                <a:cs typeface="Noto Sans CJK JP" pitchFamily="34" charset="-120"/>
              </a:rPr>
              <a:t>日合計 996 kWh</a:t>
            </a:r>
            <a:endParaRPr lang="en-US" sz="1900" dirty="0"/>
          </a:p>
        </p:txBody>
      </p:sp>
      <p:sp>
        <p:nvSpPr>
          <p:cNvPr id="33" name="Text 25"/>
          <p:cNvSpPr/>
          <p:nvPr/>
        </p:nvSpPr>
        <p:spPr>
          <a:xfrm>
            <a:off x="8705088" y="4645152"/>
            <a:ext cx="2395728" cy="384048"/>
          </a:xfrm>
          <a:prstGeom prst="rect">
            <a:avLst/>
          </a:prstGeom>
          <a:noFill/>
          <a:ln/>
        </p:spPr>
        <p:txBody>
          <a:bodyPr wrap="square" lIns="0" tIns="0" rIns="0" bIns="0" rtlCol="0" anchor="ctr"/>
          <a:lstStyle/>
          <a:p>
            <a:pPr marL="0" indent="0" algn="ctr">
              <a:buNone/>
            </a:pPr>
            <a:r>
              <a:rPr lang="en-US" sz="1250" b="1" dirty="0">
                <a:solidFill>
                  <a:srgbClr val="C94C4C"/>
                </a:solidFill>
                <a:latin typeface="Noto Sans CJK JP" pitchFamily="34" charset="0"/>
                <a:ea typeface="Noto Sans CJK JP" pitchFamily="34" charset="-122"/>
                <a:cs typeface="Noto Sans CJK JP" pitchFamily="34" charset="-120"/>
              </a:rPr>
              <a:t>実際の日曜運行ではない</a:t>
            </a:r>
            <a:endParaRPr lang="en-US" sz="1250" dirty="0"/>
          </a:p>
        </p:txBody>
      </p:sp>
      <p:sp>
        <p:nvSpPr>
          <p:cNvPr id="34" name="Text 26"/>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実験の範囲：一つの営業所・一つの平日時刻表・2種類のPV入力による比較</a:t>
            </a:r>
            <a:endParaRPr lang="en-US" sz="7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研究手法：複数の配車案を作り、充電・電力運用まで確認して選ぶ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5/18</a:t>
            </a:r>
            <a:endParaRPr lang="en-US" sz="850" dirty="0"/>
          </a:p>
        </p:txBody>
      </p:sp>
      <p:sp>
        <p:nvSpPr>
          <p:cNvPr id="6" name="Text 4"/>
          <p:cNvSpPr/>
          <p:nvPr/>
        </p:nvSpPr>
        <p:spPr>
          <a:xfrm>
            <a:off x="731520" y="877824"/>
            <a:ext cx="10789920" cy="320040"/>
          </a:xfrm>
          <a:prstGeom prst="rect">
            <a:avLst/>
          </a:prstGeom>
          <a:noFill/>
          <a:ln/>
        </p:spPr>
        <p:txBody>
          <a:bodyPr wrap="square" lIns="0" tIns="0" rIns="0" bIns="0" rtlCol="0" anchor="ctr"/>
          <a:lstStyle/>
          <a:p>
            <a:pPr marL="0" indent="0" algn="ctr">
              <a:buNone/>
            </a:pPr>
            <a:r>
              <a:rPr lang="en-US" sz="1800" dirty="0">
                <a:solidFill>
                  <a:srgbClr val="687386"/>
                </a:solidFill>
                <a:latin typeface="Noto Sans CJK JP" pitchFamily="34" charset="0"/>
                <a:ea typeface="Noto Sans CJK JP" pitchFamily="34" charset="-122"/>
                <a:cs typeface="Noto Sans CJK JP" pitchFamily="34" charset="-120"/>
              </a:rPr>
              <a:t>難しい数式を使わずに言うと、次の5段階の処理を行っている。</a:t>
            </a:r>
            <a:endParaRPr lang="en-US" sz="1800" dirty="0"/>
          </a:p>
        </p:txBody>
      </p:sp>
      <p:sp>
        <p:nvSpPr>
          <p:cNvPr id="7" name="Shape 5"/>
          <p:cNvSpPr/>
          <p:nvPr/>
        </p:nvSpPr>
        <p:spPr>
          <a:xfrm>
            <a:off x="50292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8"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70432" y="1810512"/>
            <a:ext cx="640080" cy="640080"/>
          </a:xfrm>
          <a:prstGeom prst="rect">
            <a:avLst/>
          </a:prstGeom>
        </p:spPr>
      </p:pic>
      <p:sp>
        <p:nvSpPr>
          <p:cNvPr id="9" name="Text 6"/>
          <p:cNvSpPr/>
          <p:nvPr/>
        </p:nvSpPr>
        <p:spPr>
          <a:xfrm>
            <a:off x="66751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① 入力を読み込む</a:t>
            </a:r>
            <a:endParaRPr lang="en-US" sz="1750" dirty="0"/>
          </a:p>
        </p:txBody>
      </p:sp>
      <p:sp>
        <p:nvSpPr>
          <p:cNvPr id="10" name="Text 7"/>
          <p:cNvSpPr/>
          <p:nvPr/>
        </p:nvSpPr>
        <p:spPr>
          <a:xfrm>
            <a:off x="66751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時刻表・車両・充電器・</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PV・蓄電池</a:t>
            </a:r>
            <a:endParaRPr lang="en-US" sz="1420" dirty="0"/>
          </a:p>
        </p:txBody>
      </p:sp>
      <p:sp>
        <p:nvSpPr>
          <p:cNvPr id="11" name="Shape 8"/>
          <p:cNvSpPr/>
          <p:nvPr/>
        </p:nvSpPr>
        <p:spPr>
          <a:xfrm>
            <a:off x="247802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12" name="Shape 9"/>
          <p:cNvSpPr/>
          <p:nvPr/>
        </p:nvSpPr>
        <p:spPr>
          <a:xfrm>
            <a:off x="283464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3"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502152" y="1810512"/>
            <a:ext cx="640080" cy="640080"/>
          </a:xfrm>
          <a:prstGeom prst="rect">
            <a:avLst/>
          </a:prstGeom>
        </p:spPr>
      </p:pic>
      <p:sp>
        <p:nvSpPr>
          <p:cNvPr id="14" name="Text 10"/>
          <p:cNvSpPr/>
          <p:nvPr/>
        </p:nvSpPr>
        <p:spPr>
          <a:xfrm>
            <a:off x="299923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② 配車案を作る</a:t>
            </a:r>
            <a:endParaRPr lang="en-US" sz="1750" dirty="0"/>
          </a:p>
        </p:txBody>
      </p:sp>
      <p:sp>
        <p:nvSpPr>
          <p:cNvPr id="15" name="Text 11"/>
          <p:cNvSpPr/>
          <p:nvPr/>
        </p:nvSpPr>
        <p:spPr>
          <a:xfrm>
            <a:off x="299923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BEV／ICEの担当を</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複数案つくる</a:t>
            </a:r>
            <a:endParaRPr lang="en-US" sz="1420" dirty="0"/>
          </a:p>
        </p:txBody>
      </p:sp>
      <p:sp>
        <p:nvSpPr>
          <p:cNvPr id="16" name="Shape 12"/>
          <p:cNvSpPr/>
          <p:nvPr/>
        </p:nvSpPr>
        <p:spPr>
          <a:xfrm>
            <a:off x="480974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17" name="Shape 13"/>
          <p:cNvSpPr/>
          <p:nvPr/>
        </p:nvSpPr>
        <p:spPr>
          <a:xfrm>
            <a:off x="516636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833872" y="1810512"/>
            <a:ext cx="640080" cy="640080"/>
          </a:xfrm>
          <a:prstGeom prst="rect">
            <a:avLst/>
          </a:prstGeom>
        </p:spPr>
      </p:pic>
      <p:sp>
        <p:nvSpPr>
          <p:cNvPr id="19" name="Text 14"/>
          <p:cNvSpPr/>
          <p:nvPr/>
        </p:nvSpPr>
        <p:spPr>
          <a:xfrm>
            <a:off x="533095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③ 電力を調整する</a:t>
            </a:r>
            <a:endParaRPr lang="en-US" sz="1750" dirty="0"/>
          </a:p>
        </p:txBody>
      </p:sp>
      <p:sp>
        <p:nvSpPr>
          <p:cNvPr id="20" name="Text 15"/>
          <p:cNvSpPr/>
          <p:nvPr/>
        </p:nvSpPr>
        <p:spPr>
          <a:xfrm>
            <a:off x="533095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各案について充電・</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PV・BESSを調整</a:t>
            </a:r>
            <a:endParaRPr lang="en-US" sz="1420" dirty="0"/>
          </a:p>
        </p:txBody>
      </p:sp>
      <p:sp>
        <p:nvSpPr>
          <p:cNvPr id="21" name="Shape 16"/>
          <p:cNvSpPr/>
          <p:nvPr/>
        </p:nvSpPr>
        <p:spPr>
          <a:xfrm>
            <a:off x="714146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22" name="Shape 17"/>
          <p:cNvSpPr/>
          <p:nvPr/>
        </p:nvSpPr>
        <p:spPr>
          <a:xfrm>
            <a:off x="7498080" y="1508760"/>
            <a:ext cx="1965960" cy="3337560"/>
          </a:xfrm>
          <a:prstGeom prst="roundRect">
            <a:avLst>
              <a:gd name="adj" fmla="val 3721"/>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23"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165592" y="1810512"/>
            <a:ext cx="640080" cy="640080"/>
          </a:xfrm>
          <a:prstGeom prst="rect">
            <a:avLst/>
          </a:prstGeom>
        </p:spPr>
      </p:pic>
      <p:sp>
        <p:nvSpPr>
          <p:cNvPr id="24" name="Text 18"/>
          <p:cNvSpPr/>
          <p:nvPr/>
        </p:nvSpPr>
        <p:spPr>
          <a:xfrm>
            <a:off x="766267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④ 1時間ごとに見直す</a:t>
            </a:r>
            <a:endParaRPr lang="en-US" sz="1750" dirty="0"/>
          </a:p>
        </p:txBody>
      </p:sp>
      <p:sp>
        <p:nvSpPr>
          <p:cNvPr id="25" name="Text 19"/>
          <p:cNvSpPr/>
          <p:nvPr/>
        </p:nvSpPr>
        <p:spPr>
          <a:xfrm>
            <a:off x="766267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実際に進む時間に合わせて</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残りの運用を再計算</a:t>
            </a:r>
            <a:endParaRPr lang="en-US" sz="1420" dirty="0"/>
          </a:p>
        </p:txBody>
      </p:sp>
      <p:sp>
        <p:nvSpPr>
          <p:cNvPr id="26" name="Shape 20"/>
          <p:cNvSpPr/>
          <p:nvPr/>
        </p:nvSpPr>
        <p:spPr>
          <a:xfrm>
            <a:off x="9473184" y="2852928"/>
            <a:ext cx="320040" cy="347472"/>
          </a:xfrm>
          <a:prstGeom prst="chevron">
            <a:avLst/>
          </a:prstGeom>
          <a:solidFill>
            <a:srgbClr val="A5AFBD"/>
          </a:solidFill>
          <a:ln w="12700">
            <a:solidFill>
              <a:srgbClr val="A5AFBD"/>
            </a:solidFill>
            <a:prstDash val="solid"/>
          </a:ln>
        </p:spPr>
        <p:txBody>
          <a:bodyPr/>
          <a:lstStyle/>
          <a:p>
            <a:endParaRPr lang="ja-JP" altLang="en-US"/>
          </a:p>
        </p:txBody>
      </p:sp>
      <p:sp>
        <p:nvSpPr>
          <p:cNvPr id="27" name="Shape 21"/>
          <p:cNvSpPr/>
          <p:nvPr/>
        </p:nvSpPr>
        <p:spPr>
          <a:xfrm>
            <a:off x="9829800" y="1508760"/>
            <a:ext cx="1965960" cy="3337560"/>
          </a:xfrm>
          <a:prstGeom prst="roundRect">
            <a:avLst>
              <a:gd name="adj" fmla="val 3721"/>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28"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0497312" y="1810512"/>
            <a:ext cx="640080" cy="640080"/>
          </a:xfrm>
          <a:prstGeom prst="rect">
            <a:avLst/>
          </a:prstGeom>
        </p:spPr>
      </p:pic>
      <p:sp>
        <p:nvSpPr>
          <p:cNvPr id="29" name="Text 22"/>
          <p:cNvSpPr/>
          <p:nvPr/>
        </p:nvSpPr>
        <p:spPr>
          <a:xfrm>
            <a:off x="9994392" y="2587752"/>
            <a:ext cx="1636776" cy="566928"/>
          </a:xfrm>
          <a:prstGeom prst="rect">
            <a:avLst/>
          </a:prstGeom>
          <a:noFill/>
          <a:ln/>
        </p:spPr>
        <p:txBody>
          <a:bodyPr wrap="square" lIns="0" tIns="0" rIns="0" bIns="0" rtlCol="0" anchor="ctr"/>
          <a:lstStyle/>
          <a:p>
            <a:pPr marL="0" indent="0" algn="ctr">
              <a:buNone/>
            </a:pPr>
            <a:r>
              <a:rPr lang="en-US" sz="1750" b="1" dirty="0">
                <a:solidFill>
                  <a:srgbClr val="172033"/>
                </a:solidFill>
                <a:latin typeface="Noto Sans CJK JP" pitchFamily="34" charset="0"/>
                <a:ea typeface="Noto Sans CJK JP" pitchFamily="34" charset="-122"/>
                <a:cs typeface="Noto Sans CJK JP" pitchFamily="34" charset="-120"/>
              </a:rPr>
              <a:t>⑤ 結果を検算する</a:t>
            </a:r>
            <a:endParaRPr lang="en-US" sz="1750" dirty="0"/>
          </a:p>
        </p:txBody>
      </p:sp>
      <p:sp>
        <p:nvSpPr>
          <p:cNvPr id="30" name="Text 23"/>
          <p:cNvSpPr/>
          <p:nvPr/>
        </p:nvSpPr>
        <p:spPr>
          <a:xfrm>
            <a:off x="9994392" y="3310128"/>
            <a:ext cx="1636776" cy="822960"/>
          </a:xfrm>
          <a:prstGeom prst="rect">
            <a:avLst/>
          </a:prstGeom>
          <a:noFill/>
          <a:ln/>
        </p:spPr>
        <p:txBody>
          <a:bodyPr wrap="square" lIns="0" tIns="0" rIns="0" bIns="0" rtlCol="0" anchor="ctr"/>
          <a:lstStyle/>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全便・SOC・電力・費用が</a:t>
            </a:r>
            <a:endParaRPr lang="en-US" sz="1420" dirty="0"/>
          </a:p>
          <a:p>
            <a:pPr marL="0" indent="0" algn="ctr">
              <a:buNone/>
            </a:pPr>
            <a:r>
              <a:rPr lang="en-US" sz="1420" dirty="0">
                <a:solidFill>
                  <a:srgbClr val="687386"/>
                </a:solidFill>
                <a:latin typeface="Noto Sans CJK JP" pitchFamily="34" charset="0"/>
                <a:ea typeface="Noto Sans CJK JP" pitchFamily="34" charset="-122"/>
                <a:cs typeface="Noto Sans CJK JP" pitchFamily="34" charset="-120"/>
              </a:rPr>
              <a:t>矛盾していないか確認</a:t>
            </a:r>
            <a:endParaRPr lang="en-US" sz="1420" dirty="0"/>
          </a:p>
        </p:txBody>
      </p:sp>
      <p:sp>
        <p:nvSpPr>
          <p:cNvPr id="31" name="Shape 24"/>
          <p:cNvSpPr/>
          <p:nvPr/>
        </p:nvSpPr>
        <p:spPr>
          <a:xfrm>
            <a:off x="1143000" y="5257800"/>
            <a:ext cx="9875520" cy="658368"/>
          </a:xfrm>
          <a:prstGeom prst="roundRect">
            <a:avLst/>
          </a:prstGeom>
          <a:solidFill>
            <a:srgbClr val="EAF2FB"/>
          </a:solidFill>
          <a:ln w="12700">
            <a:solidFill>
              <a:srgbClr val="356BB3"/>
            </a:solidFill>
            <a:prstDash val="solid"/>
          </a:ln>
        </p:spPr>
        <p:txBody>
          <a:bodyPr/>
          <a:lstStyle/>
          <a:p>
            <a:endParaRPr lang="ja-JP" altLang="en-US"/>
          </a:p>
        </p:txBody>
      </p:sp>
      <p:sp>
        <p:nvSpPr>
          <p:cNvPr id="32" name="Text 25"/>
          <p:cNvSpPr/>
          <p:nvPr/>
        </p:nvSpPr>
        <p:spPr>
          <a:xfrm>
            <a:off x="1417320" y="5431536"/>
            <a:ext cx="9326880" cy="310896"/>
          </a:xfrm>
          <a:prstGeom prst="rect">
            <a:avLst/>
          </a:prstGeom>
          <a:noFill/>
          <a:ln/>
        </p:spPr>
        <p:txBody>
          <a:bodyPr wrap="square" lIns="0" tIns="0" rIns="0" bIns="0" rtlCol="0" anchor="ctr"/>
          <a:lstStyle/>
          <a:p>
            <a:pPr marL="0" indent="0" algn="ctr">
              <a:buNone/>
            </a:pPr>
            <a:r>
              <a:rPr lang="en-US" sz="1800" b="1" dirty="0">
                <a:solidFill>
                  <a:srgbClr val="1F2A5A"/>
                </a:solidFill>
                <a:latin typeface="Noto Sans CJK JP" pitchFamily="34" charset="0"/>
                <a:ea typeface="Noto Sans CJK JP" pitchFamily="34" charset="-122"/>
                <a:cs typeface="Noto Sans CJK JP" pitchFamily="34" charset="-120"/>
              </a:rPr>
              <a:t>ここでいう「最適化」＝ 条件を守りながら、より良い組合せをコンピュータで探す処理</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設定パラメータ①：運行・車両・営業所設備</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6/18</a:t>
            </a:r>
            <a:endParaRPr lang="en-US" sz="850" dirty="0"/>
          </a:p>
        </p:txBody>
      </p:sp>
      <p:sp>
        <p:nvSpPr>
          <p:cNvPr id="6" name="Text 4"/>
          <p:cNvSpPr/>
          <p:nvPr/>
        </p:nvSpPr>
        <p:spPr>
          <a:xfrm>
            <a:off x="685800" y="841248"/>
            <a:ext cx="10835640" cy="310896"/>
          </a:xfrm>
          <a:prstGeom prst="rect">
            <a:avLst/>
          </a:prstGeom>
          <a:noFill/>
          <a:ln/>
        </p:spPr>
        <p:txBody>
          <a:bodyPr wrap="square" lIns="0" tIns="0" rIns="0" bIns="0" rtlCol="0" anchor="ctr"/>
          <a:lstStyle/>
          <a:p>
            <a:pPr marL="0" indent="0" algn="ctr">
              <a:buNone/>
            </a:pPr>
            <a:r>
              <a:rPr lang="en-US" sz="1700" dirty="0">
                <a:solidFill>
                  <a:srgbClr val="687386"/>
                </a:solidFill>
                <a:latin typeface="Noto Sans CJK JP" pitchFamily="34" charset="0"/>
                <a:ea typeface="Noto Sans CJK JP" pitchFamily="34" charset="-122"/>
                <a:cs typeface="Noto Sans CJK JP" pitchFamily="34" charset="-120"/>
              </a:rPr>
              <a:t>先行研究と同様に、結果へ影響する前提条件を表として明示する。</a:t>
            </a:r>
            <a:endParaRPr lang="en-US" sz="1700" dirty="0"/>
          </a:p>
        </p:txBody>
      </p:sp>
      <p:sp>
        <p:nvSpPr>
          <p:cNvPr id="7" name="Shape 5"/>
          <p:cNvSpPr/>
          <p:nvPr/>
        </p:nvSpPr>
        <p:spPr>
          <a:xfrm>
            <a:off x="621792"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8" name="Shape 6"/>
          <p:cNvSpPr/>
          <p:nvPr/>
        </p:nvSpPr>
        <p:spPr>
          <a:xfrm>
            <a:off x="621792" y="1234440"/>
            <a:ext cx="3611880" cy="438912"/>
          </a:xfrm>
          <a:prstGeom prst="rect">
            <a:avLst/>
          </a:prstGeom>
          <a:solidFill>
            <a:srgbClr val="1F2A5A"/>
          </a:solidFill>
          <a:ln w="12700">
            <a:solidFill>
              <a:srgbClr val="1F2A5A"/>
            </a:solidFill>
            <a:prstDash val="solid"/>
          </a:ln>
        </p:spPr>
        <p:txBody>
          <a:bodyPr/>
          <a:lstStyle/>
          <a:p>
            <a:endParaRPr lang="ja-JP" altLang="en-US"/>
          </a:p>
        </p:txBody>
      </p:sp>
      <p:sp>
        <p:nvSpPr>
          <p:cNvPr id="9" name="Text 7"/>
          <p:cNvSpPr/>
          <p:nvPr/>
        </p:nvSpPr>
        <p:spPr>
          <a:xfrm>
            <a:off x="731520"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運行条件</a:t>
            </a:r>
            <a:endParaRPr lang="en-US" sz="1650" dirty="0"/>
          </a:p>
        </p:txBody>
      </p:sp>
      <p:sp>
        <p:nvSpPr>
          <p:cNvPr id="10" name="Shape 8"/>
          <p:cNvSpPr/>
          <p:nvPr/>
        </p:nvSpPr>
        <p:spPr>
          <a:xfrm>
            <a:off x="694944"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11" name="Text 9"/>
          <p:cNvSpPr/>
          <p:nvPr/>
        </p:nvSpPr>
        <p:spPr>
          <a:xfrm>
            <a:off x="777240"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対象営業所</a:t>
            </a:r>
            <a:endParaRPr lang="en-US" sz="1230" dirty="0"/>
          </a:p>
        </p:txBody>
      </p:sp>
      <p:sp>
        <p:nvSpPr>
          <p:cNvPr id="12" name="Text 10"/>
          <p:cNvSpPr/>
          <p:nvPr/>
        </p:nvSpPr>
        <p:spPr>
          <a:xfrm>
            <a:off x="2138782"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弦巻営業所</a:t>
            </a:r>
            <a:endParaRPr lang="en-US" sz="1230" dirty="0"/>
          </a:p>
        </p:txBody>
      </p:sp>
      <p:sp>
        <p:nvSpPr>
          <p:cNvPr id="13" name="Text 11"/>
          <p:cNvSpPr/>
          <p:nvPr/>
        </p:nvSpPr>
        <p:spPr>
          <a:xfrm>
            <a:off x="777240"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時刻表</a:t>
            </a:r>
            <a:endParaRPr lang="en-US" sz="1230" dirty="0"/>
          </a:p>
        </p:txBody>
      </p:sp>
      <p:sp>
        <p:nvSpPr>
          <p:cNvPr id="14" name="Text 12"/>
          <p:cNvSpPr/>
          <p:nvPr/>
        </p:nvSpPr>
        <p:spPr>
          <a:xfrm>
            <a:off x="2138782"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平日 264便／16路線</a:t>
            </a:r>
            <a:endParaRPr lang="en-US" sz="1230" dirty="0"/>
          </a:p>
        </p:txBody>
      </p:sp>
      <p:sp>
        <p:nvSpPr>
          <p:cNvPr id="15" name="Shape 13"/>
          <p:cNvSpPr/>
          <p:nvPr/>
        </p:nvSpPr>
        <p:spPr>
          <a:xfrm>
            <a:off x="694944"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16" name="Text 14"/>
          <p:cNvSpPr/>
          <p:nvPr/>
        </p:nvSpPr>
        <p:spPr>
          <a:xfrm>
            <a:off x="777240"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内部時間刻み</a:t>
            </a:r>
            <a:endParaRPr lang="en-US" sz="1230" dirty="0"/>
          </a:p>
        </p:txBody>
      </p:sp>
      <p:sp>
        <p:nvSpPr>
          <p:cNvPr id="17" name="Text 15"/>
          <p:cNvSpPr/>
          <p:nvPr/>
        </p:nvSpPr>
        <p:spPr>
          <a:xfrm>
            <a:off x="2138782"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15分（1日96区間）</a:t>
            </a:r>
            <a:endParaRPr lang="en-US" sz="1230" dirty="0"/>
          </a:p>
        </p:txBody>
      </p:sp>
      <p:sp>
        <p:nvSpPr>
          <p:cNvPr id="18" name="Text 16"/>
          <p:cNvSpPr/>
          <p:nvPr/>
        </p:nvSpPr>
        <p:spPr>
          <a:xfrm>
            <a:off x="777240"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運用見直し</a:t>
            </a:r>
            <a:endParaRPr lang="en-US" sz="1230" dirty="0"/>
          </a:p>
        </p:txBody>
      </p:sp>
      <p:sp>
        <p:nvSpPr>
          <p:cNvPr id="19" name="Text 17"/>
          <p:cNvSpPr/>
          <p:nvPr/>
        </p:nvSpPr>
        <p:spPr>
          <a:xfrm>
            <a:off x="2138782"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60分ごと・24回</a:t>
            </a:r>
            <a:endParaRPr lang="en-US" sz="1230" dirty="0"/>
          </a:p>
        </p:txBody>
      </p:sp>
      <p:sp>
        <p:nvSpPr>
          <p:cNvPr id="20" name="Shape 18"/>
          <p:cNvSpPr/>
          <p:nvPr/>
        </p:nvSpPr>
        <p:spPr>
          <a:xfrm>
            <a:off x="694944"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21" name="Text 19"/>
          <p:cNvSpPr/>
          <p:nvPr/>
        </p:nvSpPr>
        <p:spPr>
          <a:xfrm>
            <a:off x="777240"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比較日</a:t>
            </a:r>
            <a:endParaRPr lang="en-US" sz="1230" dirty="0"/>
          </a:p>
        </p:txBody>
      </p:sp>
      <p:sp>
        <p:nvSpPr>
          <p:cNvPr id="22" name="Text 20"/>
          <p:cNvSpPr/>
          <p:nvPr/>
        </p:nvSpPr>
        <p:spPr>
          <a:xfrm>
            <a:off x="2138782"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運行日は2025/08/05で固定</a:t>
            </a:r>
            <a:endParaRPr lang="en-US" sz="1230" dirty="0"/>
          </a:p>
        </p:txBody>
      </p:sp>
      <p:sp>
        <p:nvSpPr>
          <p:cNvPr id="23" name="Text 21"/>
          <p:cNvSpPr/>
          <p:nvPr/>
        </p:nvSpPr>
        <p:spPr>
          <a:xfrm>
            <a:off x="777240"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高PV入力</a:t>
            </a:r>
            <a:endParaRPr lang="en-US" sz="1230" dirty="0"/>
          </a:p>
        </p:txBody>
      </p:sp>
      <p:sp>
        <p:nvSpPr>
          <p:cNvPr id="24" name="Text 22"/>
          <p:cNvSpPr/>
          <p:nvPr/>
        </p:nvSpPr>
        <p:spPr>
          <a:xfrm>
            <a:off x="2138782"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2025/08/05由来</a:t>
            </a:r>
            <a:endParaRPr lang="en-US" sz="1230" dirty="0"/>
          </a:p>
        </p:txBody>
      </p:sp>
      <p:sp>
        <p:nvSpPr>
          <p:cNvPr id="25" name="Shape 23"/>
          <p:cNvSpPr/>
          <p:nvPr/>
        </p:nvSpPr>
        <p:spPr>
          <a:xfrm>
            <a:off x="694944"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26" name="Text 24"/>
          <p:cNvSpPr/>
          <p:nvPr/>
        </p:nvSpPr>
        <p:spPr>
          <a:xfrm>
            <a:off x="777240"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低PV入力</a:t>
            </a:r>
            <a:endParaRPr lang="en-US" sz="1230" dirty="0"/>
          </a:p>
        </p:txBody>
      </p:sp>
      <p:sp>
        <p:nvSpPr>
          <p:cNvPr id="27" name="Text 25"/>
          <p:cNvSpPr/>
          <p:nvPr/>
        </p:nvSpPr>
        <p:spPr>
          <a:xfrm>
            <a:off x="2138782"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2025/08/10由来</a:t>
            </a:r>
            <a:endParaRPr lang="en-US" sz="1230" dirty="0"/>
          </a:p>
        </p:txBody>
      </p:sp>
      <p:sp>
        <p:nvSpPr>
          <p:cNvPr id="28" name="Shape 26"/>
          <p:cNvSpPr/>
          <p:nvPr/>
        </p:nvSpPr>
        <p:spPr>
          <a:xfrm>
            <a:off x="4297680"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9" name="Shape 27"/>
          <p:cNvSpPr/>
          <p:nvPr/>
        </p:nvSpPr>
        <p:spPr>
          <a:xfrm>
            <a:off x="4297680" y="1234440"/>
            <a:ext cx="3611880" cy="438912"/>
          </a:xfrm>
          <a:prstGeom prst="rect">
            <a:avLst/>
          </a:prstGeom>
          <a:solidFill>
            <a:srgbClr val="1F9D8A"/>
          </a:solidFill>
          <a:ln w="12700">
            <a:solidFill>
              <a:srgbClr val="1F9D8A"/>
            </a:solidFill>
            <a:prstDash val="solid"/>
          </a:ln>
        </p:spPr>
        <p:txBody>
          <a:bodyPr/>
          <a:lstStyle/>
          <a:p>
            <a:endParaRPr lang="ja-JP" altLang="en-US"/>
          </a:p>
        </p:txBody>
      </p:sp>
      <p:sp>
        <p:nvSpPr>
          <p:cNvPr id="30" name="Text 28"/>
          <p:cNvSpPr/>
          <p:nvPr/>
        </p:nvSpPr>
        <p:spPr>
          <a:xfrm>
            <a:off x="4407408"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車両条件</a:t>
            </a:r>
            <a:endParaRPr lang="en-US" sz="1650" dirty="0"/>
          </a:p>
        </p:txBody>
      </p:sp>
      <p:sp>
        <p:nvSpPr>
          <p:cNvPr id="31" name="Shape 29"/>
          <p:cNvSpPr/>
          <p:nvPr/>
        </p:nvSpPr>
        <p:spPr>
          <a:xfrm>
            <a:off x="4370832"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32" name="Text 30"/>
          <p:cNvSpPr/>
          <p:nvPr/>
        </p:nvSpPr>
        <p:spPr>
          <a:xfrm>
            <a:off x="4453128"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有効車両</a:t>
            </a:r>
            <a:endParaRPr lang="en-US" sz="1230" dirty="0"/>
          </a:p>
        </p:txBody>
      </p:sp>
      <p:sp>
        <p:nvSpPr>
          <p:cNvPr id="33" name="Text 31"/>
          <p:cNvSpPr/>
          <p:nvPr/>
        </p:nvSpPr>
        <p:spPr>
          <a:xfrm>
            <a:off x="5814670"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BEV 35台／ICE 25台</a:t>
            </a:r>
            <a:endParaRPr lang="en-US" sz="1230" dirty="0"/>
          </a:p>
        </p:txBody>
      </p:sp>
      <p:sp>
        <p:nvSpPr>
          <p:cNvPr id="34" name="Text 32"/>
          <p:cNvSpPr/>
          <p:nvPr/>
        </p:nvSpPr>
        <p:spPr>
          <a:xfrm>
            <a:off x="4453128"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BEV電池容量</a:t>
            </a:r>
            <a:endParaRPr lang="en-US" sz="1230" dirty="0"/>
          </a:p>
        </p:txBody>
      </p:sp>
      <p:sp>
        <p:nvSpPr>
          <p:cNvPr id="35" name="Text 33"/>
          <p:cNvSpPr/>
          <p:nvPr/>
        </p:nvSpPr>
        <p:spPr>
          <a:xfrm>
            <a:off x="5814670"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314 kWh／台</a:t>
            </a:r>
            <a:endParaRPr lang="en-US" sz="1230" dirty="0"/>
          </a:p>
        </p:txBody>
      </p:sp>
      <p:sp>
        <p:nvSpPr>
          <p:cNvPr id="36" name="Shape 34"/>
          <p:cNvSpPr/>
          <p:nvPr/>
        </p:nvSpPr>
        <p:spPr>
          <a:xfrm>
            <a:off x="4370832"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37" name="Text 35"/>
          <p:cNvSpPr/>
          <p:nvPr/>
        </p:nvSpPr>
        <p:spPr>
          <a:xfrm>
            <a:off x="4453128"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BEV電費</a:t>
            </a:r>
            <a:endParaRPr lang="en-US" sz="1230" dirty="0"/>
          </a:p>
        </p:txBody>
      </p:sp>
      <p:sp>
        <p:nvSpPr>
          <p:cNvPr id="38" name="Text 36"/>
          <p:cNvSpPr/>
          <p:nvPr/>
        </p:nvSpPr>
        <p:spPr>
          <a:xfrm>
            <a:off x="5814670"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1.316 kWh/km</a:t>
            </a:r>
            <a:endParaRPr lang="en-US" sz="1230" dirty="0"/>
          </a:p>
        </p:txBody>
      </p:sp>
      <p:sp>
        <p:nvSpPr>
          <p:cNvPr id="39" name="Text 37"/>
          <p:cNvSpPr/>
          <p:nvPr/>
        </p:nvSpPr>
        <p:spPr>
          <a:xfrm>
            <a:off x="4453128"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BEV充電上限</a:t>
            </a:r>
            <a:endParaRPr lang="en-US" sz="1230" dirty="0"/>
          </a:p>
        </p:txBody>
      </p:sp>
      <p:sp>
        <p:nvSpPr>
          <p:cNvPr id="40" name="Text 38"/>
          <p:cNvSpPr/>
          <p:nvPr/>
        </p:nvSpPr>
        <p:spPr>
          <a:xfrm>
            <a:off x="5814670"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90 kW／台</a:t>
            </a:r>
            <a:endParaRPr lang="en-US" sz="1230" dirty="0"/>
          </a:p>
        </p:txBody>
      </p:sp>
      <p:sp>
        <p:nvSpPr>
          <p:cNvPr id="41" name="Shape 39"/>
          <p:cNvSpPr/>
          <p:nvPr/>
        </p:nvSpPr>
        <p:spPr>
          <a:xfrm>
            <a:off x="4370832"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42" name="Text 40"/>
          <p:cNvSpPr/>
          <p:nvPr/>
        </p:nvSpPr>
        <p:spPr>
          <a:xfrm>
            <a:off x="4453128"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 SOC範囲</a:t>
            </a:r>
            <a:endParaRPr lang="en-US" sz="1230" dirty="0"/>
          </a:p>
        </p:txBody>
      </p:sp>
      <p:sp>
        <p:nvSpPr>
          <p:cNvPr id="43" name="Text 41"/>
          <p:cNvSpPr/>
          <p:nvPr/>
        </p:nvSpPr>
        <p:spPr>
          <a:xfrm>
            <a:off x="5814670"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20～90%</a:t>
            </a:r>
            <a:endParaRPr lang="en-US" sz="1230" dirty="0"/>
          </a:p>
        </p:txBody>
      </p:sp>
      <p:sp>
        <p:nvSpPr>
          <p:cNvPr id="44" name="Text 42"/>
          <p:cNvSpPr/>
          <p:nvPr/>
        </p:nvSpPr>
        <p:spPr>
          <a:xfrm>
            <a:off x="4453128"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BEV初期SOC</a:t>
            </a:r>
            <a:endParaRPr lang="en-US" sz="1230" dirty="0"/>
          </a:p>
        </p:txBody>
      </p:sp>
      <p:sp>
        <p:nvSpPr>
          <p:cNvPr id="45" name="Text 43"/>
          <p:cNvSpPr/>
          <p:nvPr/>
        </p:nvSpPr>
        <p:spPr>
          <a:xfrm>
            <a:off x="5814670"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車両別 21.95～77.43%</a:t>
            </a:r>
            <a:endParaRPr lang="en-US" sz="1230" dirty="0"/>
          </a:p>
        </p:txBody>
      </p:sp>
      <p:sp>
        <p:nvSpPr>
          <p:cNvPr id="46" name="Shape 44"/>
          <p:cNvSpPr/>
          <p:nvPr/>
        </p:nvSpPr>
        <p:spPr>
          <a:xfrm>
            <a:off x="4370832"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47" name="Text 45"/>
          <p:cNvSpPr/>
          <p:nvPr/>
        </p:nvSpPr>
        <p:spPr>
          <a:xfrm>
            <a:off x="4453128"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ICE条件</a:t>
            </a:r>
            <a:endParaRPr lang="en-US" sz="1230" dirty="0"/>
          </a:p>
        </p:txBody>
      </p:sp>
      <p:sp>
        <p:nvSpPr>
          <p:cNvPr id="48" name="Text 46"/>
          <p:cNvSpPr/>
          <p:nvPr/>
        </p:nvSpPr>
        <p:spPr>
          <a:xfrm>
            <a:off x="5814670"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160 L・4.52 km/L</a:t>
            </a:r>
            <a:endParaRPr lang="en-US" sz="1230" dirty="0"/>
          </a:p>
        </p:txBody>
      </p:sp>
      <p:sp>
        <p:nvSpPr>
          <p:cNvPr id="49" name="Shape 47"/>
          <p:cNvSpPr/>
          <p:nvPr/>
        </p:nvSpPr>
        <p:spPr>
          <a:xfrm>
            <a:off x="7973568" y="1234440"/>
            <a:ext cx="3611880" cy="4892040"/>
          </a:xfrm>
          <a:prstGeom prst="roundRect">
            <a:avLst>
              <a:gd name="adj" fmla="val 2025"/>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50" name="Shape 48"/>
          <p:cNvSpPr/>
          <p:nvPr/>
        </p:nvSpPr>
        <p:spPr>
          <a:xfrm>
            <a:off x="7973568" y="1234440"/>
            <a:ext cx="3611880" cy="438912"/>
          </a:xfrm>
          <a:prstGeom prst="rect">
            <a:avLst/>
          </a:prstGeom>
          <a:solidFill>
            <a:srgbClr val="356BB3"/>
          </a:solidFill>
          <a:ln w="12700">
            <a:solidFill>
              <a:srgbClr val="356BB3"/>
            </a:solidFill>
            <a:prstDash val="solid"/>
          </a:ln>
        </p:spPr>
        <p:txBody>
          <a:bodyPr/>
          <a:lstStyle/>
          <a:p>
            <a:endParaRPr lang="ja-JP" altLang="en-US"/>
          </a:p>
        </p:txBody>
      </p:sp>
      <p:sp>
        <p:nvSpPr>
          <p:cNvPr id="51" name="Text 49"/>
          <p:cNvSpPr/>
          <p:nvPr/>
        </p:nvSpPr>
        <p:spPr>
          <a:xfrm>
            <a:off x="8083296" y="1298448"/>
            <a:ext cx="339242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営業所設備</a:t>
            </a:r>
            <a:endParaRPr lang="en-US" sz="1650" dirty="0"/>
          </a:p>
        </p:txBody>
      </p:sp>
      <p:sp>
        <p:nvSpPr>
          <p:cNvPr id="52" name="Shape 50"/>
          <p:cNvSpPr/>
          <p:nvPr/>
        </p:nvSpPr>
        <p:spPr>
          <a:xfrm>
            <a:off x="8046720" y="1764792"/>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53" name="Text 51"/>
          <p:cNvSpPr/>
          <p:nvPr/>
        </p:nvSpPr>
        <p:spPr>
          <a:xfrm>
            <a:off x="8129016" y="180136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充電器</a:t>
            </a:r>
            <a:endParaRPr lang="en-US" sz="1230" dirty="0"/>
          </a:p>
        </p:txBody>
      </p:sp>
      <p:sp>
        <p:nvSpPr>
          <p:cNvPr id="54" name="Text 52"/>
          <p:cNvSpPr/>
          <p:nvPr/>
        </p:nvSpPr>
        <p:spPr>
          <a:xfrm>
            <a:off x="9490558" y="180136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90 kW × 10基</a:t>
            </a:r>
            <a:endParaRPr lang="en-US" sz="1230" dirty="0"/>
          </a:p>
        </p:txBody>
      </p:sp>
      <p:sp>
        <p:nvSpPr>
          <p:cNvPr id="55" name="Text 53"/>
          <p:cNvSpPr/>
          <p:nvPr/>
        </p:nvSpPr>
        <p:spPr>
          <a:xfrm>
            <a:off x="8129016" y="236829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同時接続</a:t>
            </a:r>
            <a:endParaRPr lang="en-US" sz="1230" dirty="0"/>
          </a:p>
        </p:txBody>
      </p:sp>
      <p:sp>
        <p:nvSpPr>
          <p:cNvPr id="56" name="Text 54"/>
          <p:cNvSpPr/>
          <p:nvPr/>
        </p:nvSpPr>
        <p:spPr>
          <a:xfrm>
            <a:off x="9490558" y="236829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各1ポート</a:t>
            </a:r>
            <a:endParaRPr lang="en-US" sz="1230" dirty="0"/>
          </a:p>
        </p:txBody>
      </p:sp>
      <p:sp>
        <p:nvSpPr>
          <p:cNvPr id="57" name="Shape 55"/>
          <p:cNvSpPr/>
          <p:nvPr/>
        </p:nvSpPr>
        <p:spPr>
          <a:xfrm>
            <a:off x="8046720" y="2898648"/>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58" name="Text 56"/>
          <p:cNvSpPr/>
          <p:nvPr/>
        </p:nvSpPr>
        <p:spPr>
          <a:xfrm>
            <a:off x="8129016" y="2935224"/>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V2G</a:t>
            </a:r>
            <a:endParaRPr lang="en-US" sz="1230" dirty="0"/>
          </a:p>
        </p:txBody>
      </p:sp>
      <p:sp>
        <p:nvSpPr>
          <p:cNvPr id="59" name="Text 57"/>
          <p:cNvSpPr/>
          <p:nvPr/>
        </p:nvSpPr>
        <p:spPr>
          <a:xfrm>
            <a:off x="9490558" y="2935224"/>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使用しない</a:t>
            </a:r>
            <a:endParaRPr lang="en-US" sz="1230" dirty="0"/>
          </a:p>
        </p:txBody>
      </p:sp>
      <p:sp>
        <p:nvSpPr>
          <p:cNvPr id="60" name="Text 58"/>
          <p:cNvSpPr/>
          <p:nvPr/>
        </p:nvSpPr>
        <p:spPr>
          <a:xfrm>
            <a:off x="8129016" y="3502152"/>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受電上限</a:t>
            </a:r>
            <a:endParaRPr lang="en-US" sz="1230" dirty="0"/>
          </a:p>
        </p:txBody>
      </p:sp>
      <p:sp>
        <p:nvSpPr>
          <p:cNvPr id="61" name="Text 59"/>
          <p:cNvSpPr/>
          <p:nvPr/>
        </p:nvSpPr>
        <p:spPr>
          <a:xfrm>
            <a:off x="9490558" y="3502152"/>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200 kW</a:t>
            </a:r>
            <a:endParaRPr lang="en-US" sz="1230" dirty="0"/>
          </a:p>
        </p:txBody>
      </p:sp>
      <p:sp>
        <p:nvSpPr>
          <p:cNvPr id="62" name="Shape 60"/>
          <p:cNvSpPr/>
          <p:nvPr/>
        </p:nvSpPr>
        <p:spPr>
          <a:xfrm>
            <a:off x="8046720" y="4032504"/>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63" name="Text 61"/>
          <p:cNvSpPr/>
          <p:nvPr/>
        </p:nvSpPr>
        <p:spPr>
          <a:xfrm>
            <a:off x="8129016" y="4069080"/>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PV定格</a:t>
            </a:r>
            <a:endParaRPr lang="en-US" sz="1230" dirty="0"/>
          </a:p>
        </p:txBody>
      </p:sp>
      <p:sp>
        <p:nvSpPr>
          <p:cNvPr id="64" name="Text 62"/>
          <p:cNvSpPr/>
          <p:nvPr/>
        </p:nvSpPr>
        <p:spPr>
          <a:xfrm>
            <a:off x="9490558" y="4069080"/>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1,000 kW</a:t>
            </a:r>
            <a:endParaRPr lang="en-US" sz="1230" dirty="0"/>
          </a:p>
        </p:txBody>
      </p:sp>
      <p:sp>
        <p:nvSpPr>
          <p:cNvPr id="65" name="Text 63"/>
          <p:cNvSpPr/>
          <p:nvPr/>
        </p:nvSpPr>
        <p:spPr>
          <a:xfrm>
            <a:off x="8129016" y="4636008"/>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BESS</a:t>
            </a:r>
            <a:endParaRPr lang="en-US" sz="1230" dirty="0"/>
          </a:p>
        </p:txBody>
      </p:sp>
      <p:sp>
        <p:nvSpPr>
          <p:cNvPr id="66" name="Text 64"/>
          <p:cNvSpPr/>
          <p:nvPr/>
        </p:nvSpPr>
        <p:spPr>
          <a:xfrm>
            <a:off x="9490558" y="4636008"/>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6,000 kWh／900 kW</a:t>
            </a:r>
            <a:endParaRPr lang="en-US" sz="1230" dirty="0"/>
          </a:p>
        </p:txBody>
      </p:sp>
      <p:sp>
        <p:nvSpPr>
          <p:cNvPr id="67" name="Shape 65"/>
          <p:cNvSpPr/>
          <p:nvPr/>
        </p:nvSpPr>
        <p:spPr>
          <a:xfrm>
            <a:off x="8046720" y="5166360"/>
            <a:ext cx="3465576" cy="502920"/>
          </a:xfrm>
          <a:prstGeom prst="rect">
            <a:avLst/>
          </a:prstGeom>
          <a:solidFill>
            <a:srgbClr val="F8FAFC"/>
          </a:solidFill>
          <a:ln w="12700">
            <a:solidFill>
              <a:srgbClr val="F8FAFC"/>
            </a:solidFill>
            <a:prstDash val="solid"/>
          </a:ln>
        </p:spPr>
        <p:txBody>
          <a:bodyPr/>
          <a:lstStyle/>
          <a:p>
            <a:endParaRPr lang="ja-JP" altLang="en-US"/>
          </a:p>
        </p:txBody>
      </p:sp>
      <p:sp>
        <p:nvSpPr>
          <p:cNvPr id="68" name="Text 66"/>
          <p:cNvSpPr/>
          <p:nvPr/>
        </p:nvSpPr>
        <p:spPr>
          <a:xfrm>
            <a:off x="8129016" y="5202936"/>
            <a:ext cx="1444752"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BESS境界</a:t>
            </a:r>
            <a:endParaRPr lang="en-US" sz="1230" dirty="0"/>
          </a:p>
        </p:txBody>
      </p:sp>
      <p:sp>
        <p:nvSpPr>
          <p:cNvPr id="69" name="Text 67"/>
          <p:cNvSpPr/>
          <p:nvPr/>
        </p:nvSpPr>
        <p:spPr>
          <a:xfrm>
            <a:off x="9490558" y="5202936"/>
            <a:ext cx="1914296"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3,000 → 3,000 kWh</a:t>
            </a:r>
            <a:endParaRPr lang="en-US" sz="1230" dirty="0"/>
          </a:p>
        </p:txBody>
      </p:sp>
      <p:sp>
        <p:nvSpPr>
          <p:cNvPr id="70" name="Text 68"/>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参考構成：Fei et al. (2023) のケーススタディ入力表、Zhang et al. (2025) の車両・充電器条件表</a:t>
            </a:r>
            <a:endParaRPr lang="en-US" sz="7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設定パラメータ②：費用・計算・配車候補の条件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7/18</a:t>
            </a:r>
            <a:endParaRPr lang="en-US" sz="850" dirty="0"/>
          </a:p>
        </p:txBody>
      </p:sp>
      <p:sp>
        <p:nvSpPr>
          <p:cNvPr id="6" name="Shape 4"/>
          <p:cNvSpPr/>
          <p:nvPr/>
        </p:nvSpPr>
        <p:spPr>
          <a:xfrm>
            <a:off x="6858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7" name="Shape 5"/>
          <p:cNvSpPr/>
          <p:nvPr/>
        </p:nvSpPr>
        <p:spPr>
          <a:xfrm>
            <a:off x="685800" y="1097280"/>
            <a:ext cx="3520440" cy="438912"/>
          </a:xfrm>
          <a:prstGeom prst="rect">
            <a:avLst/>
          </a:prstGeom>
          <a:solidFill>
            <a:srgbClr val="E98B3A"/>
          </a:solidFill>
          <a:ln w="12700">
            <a:solidFill>
              <a:srgbClr val="E98B3A"/>
            </a:solidFill>
            <a:prstDash val="solid"/>
          </a:ln>
        </p:spPr>
        <p:txBody>
          <a:bodyPr/>
          <a:lstStyle/>
          <a:p>
            <a:endParaRPr lang="ja-JP" altLang="en-US"/>
          </a:p>
        </p:txBody>
      </p:sp>
      <p:sp>
        <p:nvSpPr>
          <p:cNvPr id="8" name="Text 6"/>
          <p:cNvSpPr/>
          <p:nvPr/>
        </p:nvSpPr>
        <p:spPr>
          <a:xfrm>
            <a:off x="7955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費用の設定</a:t>
            </a:r>
            <a:endParaRPr lang="en-US" sz="1650" dirty="0"/>
          </a:p>
        </p:txBody>
      </p:sp>
      <p:sp>
        <p:nvSpPr>
          <p:cNvPr id="9" name="Shape 7"/>
          <p:cNvSpPr/>
          <p:nvPr/>
        </p:nvSpPr>
        <p:spPr>
          <a:xfrm>
            <a:off x="7589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10" name="Text 8"/>
          <p:cNvSpPr/>
          <p:nvPr/>
        </p:nvSpPr>
        <p:spPr>
          <a:xfrm>
            <a:off x="8412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系統電力単価</a:t>
            </a:r>
            <a:endParaRPr lang="en-US" sz="1230" dirty="0"/>
          </a:p>
        </p:txBody>
      </p:sp>
      <p:sp>
        <p:nvSpPr>
          <p:cNvPr id="11" name="Text 9"/>
          <p:cNvSpPr/>
          <p:nvPr/>
        </p:nvSpPr>
        <p:spPr>
          <a:xfrm>
            <a:off x="21643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 円/kWh</a:t>
            </a:r>
            <a:endParaRPr lang="en-US" sz="1230" dirty="0"/>
          </a:p>
        </p:txBody>
      </p:sp>
      <p:sp>
        <p:nvSpPr>
          <p:cNvPr id="12" name="Text 10"/>
          <p:cNvSpPr/>
          <p:nvPr/>
        </p:nvSpPr>
        <p:spPr>
          <a:xfrm>
            <a:off x="8412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軽油単価</a:t>
            </a:r>
            <a:endParaRPr lang="en-US" sz="1230" dirty="0"/>
          </a:p>
        </p:txBody>
      </p:sp>
      <p:sp>
        <p:nvSpPr>
          <p:cNvPr id="13" name="Text 11"/>
          <p:cNvSpPr/>
          <p:nvPr/>
        </p:nvSpPr>
        <p:spPr>
          <a:xfrm>
            <a:off x="21643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150 円/L</a:t>
            </a:r>
            <a:endParaRPr lang="en-US" sz="1230" dirty="0"/>
          </a:p>
        </p:txBody>
      </p:sp>
      <p:sp>
        <p:nvSpPr>
          <p:cNvPr id="14" name="Shape 12"/>
          <p:cNvSpPr/>
          <p:nvPr/>
        </p:nvSpPr>
        <p:spPr>
          <a:xfrm>
            <a:off x="7589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15" name="Text 13"/>
          <p:cNvSpPr/>
          <p:nvPr/>
        </p:nvSpPr>
        <p:spPr>
          <a:xfrm>
            <a:off x="8412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車両使用費</a:t>
            </a:r>
            <a:endParaRPr lang="en-US" sz="1230" dirty="0"/>
          </a:p>
        </p:txBody>
      </p:sp>
      <p:sp>
        <p:nvSpPr>
          <p:cNvPr id="16" name="Text 14"/>
          <p:cNvSpPr/>
          <p:nvPr/>
        </p:nvSpPr>
        <p:spPr>
          <a:xfrm>
            <a:off x="21643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20,000 円/台日</a:t>
            </a:r>
            <a:endParaRPr lang="en-US" sz="1230" dirty="0"/>
          </a:p>
        </p:txBody>
      </p:sp>
      <p:sp>
        <p:nvSpPr>
          <p:cNvPr id="17" name="Text 15"/>
          <p:cNvSpPr/>
          <p:nvPr/>
        </p:nvSpPr>
        <p:spPr>
          <a:xfrm>
            <a:off x="8412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CO₂価格</a:t>
            </a:r>
            <a:endParaRPr lang="en-US" sz="1230" dirty="0"/>
          </a:p>
        </p:txBody>
      </p:sp>
      <p:sp>
        <p:nvSpPr>
          <p:cNvPr id="18" name="Text 16"/>
          <p:cNvSpPr/>
          <p:nvPr/>
        </p:nvSpPr>
        <p:spPr>
          <a:xfrm>
            <a:off x="21643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 円/kg</a:t>
            </a:r>
            <a:endParaRPr lang="en-US" sz="1230" dirty="0"/>
          </a:p>
        </p:txBody>
      </p:sp>
      <p:sp>
        <p:nvSpPr>
          <p:cNvPr id="19" name="Shape 17"/>
          <p:cNvSpPr/>
          <p:nvPr/>
        </p:nvSpPr>
        <p:spPr>
          <a:xfrm>
            <a:off x="7589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20" name="Text 18"/>
          <p:cNvSpPr/>
          <p:nvPr/>
        </p:nvSpPr>
        <p:spPr>
          <a:xfrm>
            <a:off x="8412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需要料金</a:t>
            </a:r>
            <a:endParaRPr lang="en-US" sz="1230" dirty="0"/>
          </a:p>
        </p:txBody>
      </p:sp>
      <p:sp>
        <p:nvSpPr>
          <p:cNvPr id="21" name="Text 19"/>
          <p:cNvSpPr/>
          <p:nvPr/>
        </p:nvSpPr>
        <p:spPr>
          <a:xfrm>
            <a:off x="21643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0 円/kW</a:t>
            </a:r>
            <a:endParaRPr lang="en-US" sz="1230" dirty="0"/>
          </a:p>
        </p:txBody>
      </p:sp>
      <p:sp>
        <p:nvSpPr>
          <p:cNvPr id="22" name="Text 20"/>
          <p:cNvSpPr/>
          <p:nvPr/>
        </p:nvSpPr>
        <p:spPr>
          <a:xfrm>
            <a:off x="8412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売電単価</a:t>
            </a:r>
            <a:endParaRPr lang="en-US" sz="1230" dirty="0"/>
          </a:p>
        </p:txBody>
      </p:sp>
      <p:sp>
        <p:nvSpPr>
          <p:cNvPr id="23" name="Text 21"/>
          <p:cNvSpPr/>
          <p:nvPr/>
        </p:nvSpPr>
        <p:spPr>
          <a:xfrm>
            <a:off x="21643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0 円/kWh</a:t>
            </a:r>
            <a:endParaRPr lang="en-US" sz="1230" dirty="0"/>
          </a:p>
        </p:txBody>
      </p:sp>
      <p:sp>
        <p:nvSpPr>
          <p:cNvPr id="24" name="Shape 22"/>
          <p:cNvSpPr/>
          <p:nvPr/>
        </p:nvSpPr>
        <p:spPr>
          <a:xfrm>
            <a:off x="7589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25" name="Text 23"/>
          <p:cNvSpPr/>
          <p:nvPr/>
        </p:nvSpPr>
        <p:spPr>
          <a:xfrm>
            <a:off x="8412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含まない費用</a:t>
            </a:r>
            <a:endParaRPr lang="en-US" sz="1230" dirty="0"/>
          </a:p>
        </p:txBody>
      </p:sp>
      <p:sp>
        <p:nvSpPr>
          <p:cNvPr id="26" name="Text 24"/>
          <p:cNvSpPr/>
          <p:nvPr/>
        </p:nvSpPr>
        <p:spPr>
          <a:xfrm>
            <a:off x="21643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設備費・劣化費・運転士費</a:t>
            </a:r>
            <a:endParaRPr lang="en-US" sz="1230" dirty="0"/>
          </a:p>
        </p:txBody>
      </p:sp>
      <p:sp>
        <p:nvSpPr>
          <p:cNvPr id="27" name="Shape 25"/>
          <p:cNvSpPr/>
          <p:nvPr/>
        </p:nvSpPr>
        <p:spPr>
          <a:xfrm>
            <a:off x="43434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8" name="Shape 26"/>
          <p:cNvSpPr/>
          <p:nvPr/>
        </p:nvSpPr>
        <p:spPr>
          <a:xfrm>
            <a:off x="4343400" y="1097280"/>
            <a:ext cx="3520440" cy="438912"/>
          </a:xfrm>
          <a:prstGeom prst="rect">
            <a:avLst/>
          </a:prstGeom>
          <a:solidFill>
            <a:srgbClr val="356BB3"/>
          </a:solidFill>
          <a:ln w="12700">
            <a:solidFill>
              <a:srgbClr val="356BB3"/>
            </a:solidFill>
            <a:prstDash val="solid"/>
          </a:ln>
        </p:spPr>
        <p:txBody>
          <a:bodyPr/>
          <a:lstStyle/>
          <a:p>
            <a:endParaRPr lang="ja-JP" altLang="en-US"/>
          </a:p>
        </p:txBody>
      </p:sp>
      <p:sp>
        <p:nvSpPr>
          <p:cNvPr id="29" name="Text 27"/>
          <p:cNvSpPr/>
          <p:nvPr/>
        </p:nvSpPr>
        <p:spPr>
          <a:xfrm>
            <a:off x="44531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計算の設定</a:t>
            </a:r>
            <a:endParaRPr lang="en-US" sz="1650" dirty="0"/>
          </a:p>
        </p:txBody>
      </p:sp>
      <p:sp>
        <p:nvSpPr>
          <p:cNvPr id="30" name="Shape 28"/>
          <p:cNvSpPr/>
          <p:nvPr/>
        </p:nvSpPr>
        <p:spPr>
          <a:xfrm>
            <a:off x="44165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31" name="Text 29"/>
          <p:cNvSpPr/>
          <p:nvPr/>
        </p:nvSpPr>
        <p:spPr>
          <a:xfrm>
            <a:off x="44988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計算方式</a:t>
            </a:r>
            <a:endParaRPr lang="en-US" sz="1230" dirty="0"/>
          </a:p>
        </p:txBody>
      </p:sp>
      <p:sp>
        <p:nvSpPr>
          <p:cNvPr id="32" name="Text 30"/>
          <p:cNvSpPr/>
          <p:nvPr/>
        </p:nvSpPr>
        <p:spPr>
          <a:xfrm>
            <a:off x="58219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二段階方式</a:t>
            </a:r>
            <a:endParaRPr lang="en-US" sz="1230" dirty="0"/>
          </a:p>
        </p:txBody>
      </p:sp>
      <p:sp>
        <p:nvSpPr>
          <p:cNvPr id="33" name="Text 31"/>
          <p:cNvSpPr/>
          <p:nvPr/>
        </p:nvSpPr>
        <p:spPr>
          <a:xfrm>
            <a:off x="44988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全体上限</a:t>
            </a:r>
            <a:endParaRPr lang="en-US" sz="1230" dirty="0"/>
          </a:p>
        </p:txBody>
      </p:sp>
      <p:sp>
        <p:nvSpPr>
          <p:cNvPr id="34" name="Text 32"/>
          <p:cNvSpPr/>
          <p:nvPr/>
        </p:nvSpPr>
        <p:spPr>
          <a:xfrm>
            <a:off x="58219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585秒</a:t>
            </a:r>
            <a:endParaRPr lang="en-US" sz="1230" dirty="0"/>
          </a:p>
        </p:txBody>
      </p:sp>
      <p:sp>
        <p:nvSpPr>
          <p:cNvPr id="35" name="Shape 33"/>
          <p:cNvSpPr/>
          <p:nvPr/>
        </p:nvSpPr>
        <p:spPr>
          <a:xfrm>
            <a:off x="44165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36" name="Text 34"/>
          <p:cNvSpPr/>
          <p:nvPr/>
        </p:nvSpPr>
        <p:spPr>
          <a:xfrm>
            <a:off x="44988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配車側上限</a:t>
            </a:r>
            <a:endParaRPr lang="en-US" sz="1230" dirty="0"/>
          </a:p>
        </p:txBody>
      </p:sp>
      <p:sp>
        <p:nvSpPr>
          <p:cNvPr id="37" name="Text 35"/>
          <p:cNvSpPr/>
          <p:nvPr/>
        </p:nvSpPr>
        <p:spPr>
          <a:xfrm>
            <a:off x="58219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435秒</a:t>
            </a:r>
            <a:endParaRPr lang="en-US" sz="1230" dirty="0"/>
          </a:p>
        </p:txBody>
      </p:sp>
      <p:sp>
        <p:nvSpPr>
          <p:cNvPr id="38" name="Text 36"/>
          <p:cNvSpPr/>
          <p:nvPr/>
        </p:nvSpPr>
        <p:spPr>
          <a:xfrm>
            <a:off x="44988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充電側上限</a:t>
            </a:r>
            <a:endParaRPr lang="en-US" sz="1230" dirty="0"/>
          </a:p>
        </p:txBody>
      </p:sp>
      <p:sp>
        <p:nvSpPr>
          <p:cNvPr id="39" name="Text 37"/>
          <p:cNvSpPr/>
          <p:nvPr/>
        </p:nvSpPr>
        <p:spPr>
          <a:xfrm>
            <a:off x="58219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30秒／候補</a:t>
            </a:r>
            <a:endParaRPr lang="en-US" sz="1230" dirty="0"/>
          </a:p>
        </p:txBody>
      </p:sp>
      <p:sp>
        <p:nvSpPr>
          <p:cNvPr id="40" name="Shape 38"/>
          <p:cNvSpPr/>
          <p:nvPr/>
        </p:nvSpPr>
        <p:spPr>
          <a:xfrm>
            <a:off x="44165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41" name="Text 39"/>
          <p:cNvSpPr/>
          <p:nvPr/>
        </p:nvSpPr>
        <p:spPr>
          <a:xfrm>
            <a:off x="44988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乱数seed</a:t>
            </a:r>
            <a:endParaRPr lang="en-US" sz="1230" dirty="0"/>
          </a:p>
        </p:txBody>
      </p:sp>
      <p:sp>
        <p:nvSpPr>
          <p:cNvPr id="42" name="Text 40"/>
          <p:cNvSpPr/>
          <p:nvPr/>
        </p:nvSpPr>
        <p:spPr>
          <a:xfrm>
            <a:off x="58219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42</a:t>
            </a:r>
            <a:endParaRPr lang="en-US" sz="1230" dirty="0"/>
          </a:p>
        </p:txBody>
      </p:sp>
      <p:sp>
        <p:nvSpPr>
          <p:cNvPr id="43" name="Text 41"/>
          <p:cNvSpPr/>
          <p:nvPr/>
        </p:nvSpPr>
        <p:spPr>
          <a:xfrm>
            <a:off x="44988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CPU thread</a:t>
            </a:r>
            <a:endParaRPr lang="en-US" sz="1230" dirty="0"/>
          </a:p>
        </p:txBody>
      </p:sp>
      <p:sp>
        <p:nvSpPr>
          <p:cNvPr id="44" name="Text 42"/>
          <p:cNvSpPr/>
          <p:nvPr/>
        </p:nvSpPr>
        <p:spPr>
          <a:xfrm>
            <a:off x="58219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a:t>
            </a:r>
            <a:endParaRPr lang="en-US" sz="1230" dirty="0"/>
          </a:p>
        </p:txBody>
      </p:sp>
      <p:sp>
        <p:nvSpPr>
          <p:cNvPr id="45" name="Shape 43"/>
          <p:cNvSpPr/>
          <p:nvPr/>
        </p:nvSpPr>
        <p:spPr>
          <a:xfrm>
            <a:off x="44165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46" name="Text 44"/>
          <p:cNvSpPr/>
          <p:nvPr/>
        </p:nvSpPr>
        <p:spPr>
          <a:xfrm>
            <a:off x="44988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目標gap</a:t>
            </a:r>
            <a:endParaRPr lang="en-US" sz="1230" dirty="0"/>
          </a:p>
        </p:txBody>
      </p:sp>
      <p:sp>
        <p:nvSpPr>
          <p:cNvPr id="47" name="Text 45"/>
          <p:cNvSpPr/>
          <p:nvPr/>
        </p:nvSpPr>
        <p:spPr>
          <a:xfrm>
            <a:off x="58219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10%</a:t>
            </a:r>
            <a:endParaRPr lang="en-US" sz="1230" dirty="0"/>
          </a:p>
        </p:txBody>
      </p:sp>
      <p:sp>
        <p:nvSpPr>
          <p:cNvPr id="48" name="Shape 46"/>
          <p:cNvSpPr/>
          <p:nvPr/>
        </p:nvSpPr>
        <p:spPr>
          <a:xfrm>
            <a:off x="8001000" y="1097280"/>
            <a:ext cx="3520440" cy="4892040"/>
          </a:xfrm>
          <a:prstGeom prst="roundRect">
            <a:avLst>
              <a:gd name="adj" fmla="val 2078"/>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49" name="Shape 47"/>
          <p:cNvSpPr/>
          <p:nvPr/>
        </p:nvSpPr>
        <p:spPr>
          <a:xfrm>
            <a:off x="8001000" y="1097280"/>
            <a:ext cx="3520440" cy="438912"/>
          </a:xfrm>
          <a:prstGeom prst="rect">
            <a:avLst/>
          </a:prstGeom>
          <a:solidFill>
            <a:srgbClr val="1F9D8A"/>
          </a:solidFill>
          <a:ln w="12700">
            <a:solidFill>
              <a:srgbClr val="1F9D8A"/>
            </a:solidFill>
            <a:prstDash val="solid"/>
          </a:ln>
        </p:spPr>
        <p:txBody>
          <a:bodyPr/>
          <a:lstStyle/>
          <a:p>
            <a:endParaRPr lang="ja-JP" altLang="en-US"/>
          </a:p>
        </p:txBody>
      </p:sp>
      <p:sp>
        <p:nvSpPr>
          <p:cNvPr id="50" name="Text 48"/>
          <p:cNvSpPr/>
          <p:nvPr/>
        </p:nvSpPr>
        <p:spPr>
          <a:xfrm>
            <a:off x="8110728" y="1161288"/>
            <a:ext cx="3300984" cy="292608"/>
          </a:xfrm>
          <a:prstGeom prst="rect">
            <a:avLst/>
          </a:prstGeom>
          <a:noFill/>
          <a:ln/>
        </p:spPr>
        <p:txBody>
          <a:bodyPr wrap="square" lIns="0" tIns="0" rIns="0" bIns="0" rtlCol="0" anchor="ctr"/>
          <a:lstStyle/>
          <a:p>
            <a:pPr marL="0" indent="0" algn="ctr">
              <a:buNone/>
            </a:pPr>
            <a:r>
              <a:rPr lang="en-US" sz="1650" b="1" dirty="0">
                <a:solidFill>
                  <a:srgbClr val="FFFFFF"/>
                </a:solidFill>
                <a:latin typeface="Noto Sans CJK JP" pitchFamily="34" charset="0"/>
                <a:ea typeface="Noto Sans CJK JP" pitchFamily="34" charset="-122"/>
                <a:cs typeface="Noto Sans CJK JP" pitchFamily="34" charset="-120"/>
              </a:rPr>
              <a:t>候補比較の設定</a:t>
            </a:r>
            <a:endParaRPr lang="en-US" sz="1650" dirty="0"/>
          </a:p>
        </p:txBody>
      </p:sp>
      <p:sp>
        <p:nvSpPr>
          <p:cNvPr id="51" name="Shape 49"/>
          <p:cNvSpPr/>
          <p:nvPr/>
        </p:nvSpPr>
        <p:spPr>
          <a:xfrm>
            <a:off x="8074152" y="1627632"/>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52" name="Text 50"/>
          <p:cNvSpPr/>
          <p:nvPr/>
        </p:nvSpPr>
        <p:spPr>
          <a:xfrm>
            <a:off x="8156448" y="166420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評価候補数</a:t>
            </a:r>
            <a:endParaRPr lang="en-US" sz="1230" dirty="0"/>
          </a:p>
        </p:txBody>
      </p:sp>
      <p:sp>
        <p:nvSpPr>
          <p:cNvPr id="53" name="Text 51"/>
          <p:cNvSpPr/>
          <p:nvPr/>
        </p:nvSpPr>
        <p:spPr>
          <a:xfrm>
            <a:off x="9479585" y="166420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22案</a:t>
            </a:r>
            <a:endParaRPr lang="en-US" sz="1230" dirty="0"/>
          </a:p>
        </p:txBody>
      </p:sp>
      <p:sp>
        <p:nvSpPr>
          <p:cNvPr id="54" name="Text 52"/>
          <p:cNvSpPr/>
          <p:nvPr/>
        </p:nvSpPr>
        <p:spPr>
          <a:xfrm>
            <a:off x="8156448" y="223113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構成探索幅</a:t>
            </a:r>
            <a:endParaRPr lang="en-US" sz="1230" dirty="0"/>
          </a:p>
        </p:txBody>
      </p:sp>
      <p:sp>
        <p:nvSpPr>
          <p:cNvPr id="55" name="Text 53"/>
          <p:cNvSpPr/>
          <p:nvPr/>
        </p:nvSpPr>
        <p:spPr>
          <a:xfrm>
            <a:off x="9479585" y="223113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±4台相当</a:t>
            </a:r>
            <a:endParaRPr lang="en-US" sz="1230" dirty="0"/>
          </a:p>
        </p:txBody>
      </p:sp>
      <p:sp>
        <p:nvSpPr>
          <p:cNvPr id="56" name="Shape 54"/>
          <p:cNvSpPr/>
          <p:nvPr/>
        </p:nvSpPr>
        <p:spPr>
          <a:xfrm>
            <a:off x="8074152" y="2761488"/>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57" name="Text 55"/>
          <p:cNvSpPr/>
          <p:nvPr/>
        </p:nvSpPr>
        <p:spPr>
          <a:xfrm>
            <a:off x="8156448" y="2798064"/>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BEV候補範囲</a:t>
            </a:r>
            <a:endParaRPr lang="en-US" sz="1230" dirty="0"/>
          </a:p>
        </p:txBody>
      </p:sp>
      <p:sp>
        <p:nvSpPr>
          <p:cNvPr id="58" name="Text 56"/>
          <p:cNvSpPr/>
          <p:nvPr/>
        </p:nvSpPr>
        <p:spPr>
          <a:xfrm>
            <a:off x="9479585" y="2798064"/>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15～35台</a:t>
            </a:r>
            <a:endParaRPr lang="en-US" sz="1230" dirty="0"/>
          </a:p>
        </p:txBody>
      </p:sp>
      <p:sp>
        <p:nvSpPr>
          <p:cNvPr id="59" name="Text 57"/>
          <p:cNvSpPr/>
          <p:nvPr/>
        </p:nvSpPr>
        <p:spPr>
          <a:xfrm>
            <a:off x="8156448" y="3364992"/>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候補探索時間</a:t>
            </a:r>
            <a:endParaRPr lang="en-US" sz="1230" dirty="0"/>
          </a:p>
        </p:txBody>
      </p:sp>
      <p:sp>
        <p:nvSpPr>
          <p:cNvPr id="60" name="Text 58"/>
          <p:cNvSpPr/>
          <p:nvPr/>
        </p:nvSpPr>
        <p:spPr>
          <a:xfrm>
            <a:off x="9479585" y="3364992"/>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120秒</a:t>
            </a:r>
            <a:endParaRPr lang="en-US" sz="1230" dirty="0"/>
          </a:p>
        </p:txBody>
      </p:sp>
      <p:sp>
        <p:nvSpPr>
          <p:cNvPr id="61" name="Shape 59"/>
          <p:cNvSpPr/>
          <p:nvPr/>
        </p:nvSpPr>
        <p:spPr>
          <a:xfrm>
            <a:off x="8074152" y="3895344"/>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62" name="Text 60"/>
          <p:cNvSpPr/>
          <p:nvPr/>
        </p:nvSpPr>
        <p:spPr>
          <a:xfrm>
            <a:off x="8156448" y="3931920"/>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最終選択</a:t>
            </a:r>
            <a:endParaRPr lang="en-US" sz="1230" dirty="0"/>
          </a:p>
        </p:txBody>
      </p:sp>
      <p:sp>
        <p:nvSpPr>
          <p:cNvPr id="63" name="Text 61"/>
          <p:cNvSpPr/>
          <p:nvPr/>
        </p:nvSpPr>
        <p:spPr>
          <a:xfrm>
            <a:off x="9479585" y="3931920"/>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費用→使用台数→配車ID</a:t>
            </a:r>
            <a:endParaRPr lang="en-US" sz="1230" dirty="0"/>
          </a:p>
        </p:txBody>
      </p:sp>
      <p:sp>
        <p:nvSpPr>
          <p:cNvPr id="64" name="Text 62"/>
          <p:cNvSpPr/>
          <p:nvPr/>
        </p:nvSpPr>
        <p:spPr>
          <a:xfrm>
            <a:off x="8156448" y="4498848"/>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全便条件</a:t>
            </a:r>
            <a:endParaRPr lang="en-US" sz="1230" dirty="0"/>
          </a:p>
        </p:txBody>
      </p:sp>
      <p:sp>
        <p:nvSpPr>
          <p:cNvPr id="65" name="Text 63"/>
          <p:cNvSpPr/>
          <p:nvPr/>
        </p:nvSpPr>
        <p:spPr>
          <a:xfrm>
            <a:off x="9479585" y="4498848"/>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未担当便を許さない</a:t>
            </a:r>
            <a:endParaRPr lang="en-US" sz="1230" dirty="0"/>
          </a:p>
        </p:txBody>
      </p:sp>
      <p:sp>
        <p:nvSpPr>
          <p:cNvPr id="66" name="Shape 64"/>
          <p:cNvSpPr/>
          <p:nvPr/>
        </p:nvSpPr>
        <p:spPr>
          <a:xfrm>
            <a:off x="8074152" y="5029200"/>
            <a:ext cx="3374136" cy="502920"/>
          </a:xfrm>
          <a:prstGeom prst="rect">
            <a:avLst/>
          </a:prstGeom>
          <a:solidFill>
            <a:srgbClr val="F8FAFC"/>
          </a:solidFill>
          <a:ln w="12700">
            <a:solidFill>
              <a:srgbClr val="F8FAFC"/>
            </a:solidFill>
            <a:prstDash val="solid"/>
          </a:ln>
        </p:spPr>
        <p:txBody>
          <a:bodyPr/>
          <a:lstStyle/>
          <a:p>
            <a:endParaRPr lang="ja-JP" altLang="en-US"/>
          </a:p>
        </p:txBody>
      </p:sp>
      <p:sp>
        <p:nvSpPr>
          <p:cNvPr id="67" name="Text 65"/>
          <p:cNvSpPr/>
          <p:nvPr/>
        </p:nvSpPr>
        <p:spPr>
          <a:xfrm>
            <a:off x="8156448" y="5065776"/>
            <a:ext cx="1408176" cy="338328"/>
          </a:xfrm>
          <a:prstGeom prst="rect">
            <a:avLst/>
          </a:prstGeom>
          <a:noFill/>
          <a:ln/>
        </p:spPr>
        <p:txBody>
          <a:bodyPr wrap="square" lIns="0" tIns="0" rIns="0" bIns="0" rtlCol="0" anchor="ctr"/>
          <a:lstStyle/>
          <a:p>
            <a:pPr marL="0" indent="0">
              <a:buNone/>
            </a:pPr>
            <a:r>
              <a:rPr lang="en-US" sz="1230" b="1" dirty="0">
                <a:solidFill>
                  <a:srgbClr val="172033"/>
                </a:solidFill>
                <a:latin typeface="Noto Sans CJK JP" pitchFamily="34" charset="0"/>
                <a:ea typeface="Noto Sans CJK JP" pitchFamily="34" charset="-122"/>
                <a:cs typeface="Noto Sans CJK JP" pitchFamily="34" charset="-120"/>
              </a:rPr>
              <a:t>後処理修正</a:t>
            </a:r>
            <a:endParaRPr lang="en-US" sz="1230" dirty="0"/>
          </a:p>
        </p:txBody>
      </p:sp>
      <p:sp>
        <p:nvSpPr>
          <p:cNvPr id="68" name="Text 66"/>
          <p:cNvSpPr/>
          <p:nvPr/>
        </p:nvSpPr>
        <p:spPr>
          <a:xfrm>
            <a:off x="9479585" y="5065776"/>
            <a:ext cx="1865833" cy="338328"/>
          </a:xfrm>
          <a:prstGeom prst="rect">
            <a:avLst/>
          </a:prstGeom>
          <a:noFill/>
          <a:ln/>
        </p:spPr>
        <p:txBody>
          <a:bodyPr wrap="square" lIns="0" tIns="0" rIns="0" bIns="0" rtlCol="0" anchor="ctr">
            <a:normAutofit/>
          </a:bodyPr>
          <a:lstStyle/>
          <a:p>
            <a:pPr marL="0" indent="0" algn="r">
              <a:buNone/>
            </a:pPr>
            <a:r>
              <a:rPr lang="en-US" sz="1230" dirty="0">
                <a:solidFill>
                  <a:srgbClr val="687386"/>
                </a:solidFill>
                <a:latin typeface="Noto Sans CJK JP" pitchFamily="34" charset="0"/>
                <a:ea typeface="Noto Sans CJK JP" pitchFamily="34" charset="-122"/>
                <a:cs typeface="Noto Sans CJK JP" pitchFamily="34" charset="-120"/>
              </a:rPr>
              <a:t>使用しない</a:t>
            </a:r>
            <a:endParaRPr lang="en-US" sz="1230" dirty="0"/>
          </a:p>
        </p:txBody>
      </p:sp>
      <p:sp>
        <p:nvSpPr>
          <p:cNvPr id="69" name="Shape 67"/>
          <p:cNvSpPr/>
          <p:nvPr/>
        </p:nvSpPr>
        <p:spPr>
          <a:xfrm>
            <a:off x="1078992" y="5989320"/>
            <a:ext cx="10012680" cy="347472"/>
          </a:xfrm>
          <a:prstGeom prst="roundRect">
            <a:avLst/>
          </a:prstGeom>
          <a:solidFill>
            <a:srgbClr val="FCECEC"/>
          </a:solidFill>
          <a:ln w="11430">
            <a:solidFill>
              <a:srgbClr val="C94C4C"/>
            </a:solidFill>
            <a:prstDash val="solid"/>
          </a:ln>
        </p:spPr>
        <p:txBody>
          <a:bodyPr/>
          <a:lstStyle/>
          <a:p>
            <a:endParaRPr lang="ja-JP" altLang="en-US"/>
          </a:p>
        </p:txBody>
      </p:sp>
      <p:sp>
        <p:nvSpPr>
          <p:cNvPr id="70" name="Text 68"/>
          <p:cNvSpPr/>
          <p:nvPr/>
        </p:nvSpPr>
        <p:spPr>
          <a:xfrm>
            <a:off x="1298448" y="6053328"/>
            <a:ext cx="9555480" cy="201168"/>
          </a:xfrm>
          <a:prstGeom prst="rect">
            <a:avLst/>
          </a:prstGeom>
          <a:noFill/>
          <a:ln/>
        </p:spPr>
        <p:txBody>
          <a:bodyPr wrap="square" lIns="0" tIns="0" rIns="0" bIns="0" rtlCol="0" anchor="ctr"/>
          <a:lstStyle/>
          <a:p>
            <a:pPr marL="0" indent="0" algn="ctr">
              <a:buNone/>
            </a:pPr>
            <a:r>
              <a:rPr lang="en-US" sz="1400" b="1" dirty="0">
                <a:solidFill>
                  <a:srgbClr val="C94C4C"/>
                </a:solidFill>
                <a:latin typeface="Noto Sans CJK JP" pitchFamily="34" charset="0"/>
                <a:ea typeface="Noto Sans CJK JP" pitchFamily="34" charset="-122"/>
                <a:cs typeface="Noto Sans CJK JP" pitchFamily="34" charset="-120"/>
              </a:rPr>
              <a:t>注意：ここでの評価額はモデル内の比較指標であり、設備投資を含む実際の総費用ではない。</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前回からの差分：結果を「出す」段階から、「理由と信頼性を説明する」段階へ</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8/18</a:t>
            </a:r>
            <a:endParaRPr lang="en-US" sz="850" dirty="0"/>
          </a:p>
        </p:txBody>
      </p:sp>
      <p:sp>
        <p:nvSpPr>
          <p:cNvPr id="6" name="Shape 4"/>
          <p:cNvSpPr/>
          <p:nvPr/>
        </p:nvSpPr>
        <p:spPr>
          <a:xfrm>
            <a:off x="914400" y="1051560"/>
            <a:ext cx="1920240" cy="310896"/>
          </a:xfrm>
          <a:prstGeom prst="roundRect">
            <a:avLst/>
          </a:prstGeom>
          <a:solidFill>
            <a:srgbClr val="687386"/>
          </a:solidFill>
          <a:ln w="12700">
            <a:solidFill>
              <a:srgbClr val="687386"/>
            </a:solidFill>
            <a:prstDash val="solid"/>
          </a:ln>
        </p:spPr>
        <p:txBody>
          <a:bodyPr/>
          <a:lstStyle/>
          <a:p>
            <a:endParaRPr lang="ja-JP" altLang="en-US"/>
          </a:p>
        </p:txBody>
      </p:sp>
      <p:sp>
        <p:nvSpPr>
          <p:cNvPr id="7" name="Text 5"/>
          <p:cNvSpPr/>
          <p:nvPr/>
        </p:nvSpPr>
        <p:spPr>
          <a:xfrm>
            <a:off x="960120" y="1069848"/>
            <a:ext cx="182880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前回（7月末）</a:t>
            </a:r>
            <a:endParaRPr lang="en-US" sz="1050" dirty="0"/>
          </a:p>
        </p:txBody>
      </p:sp>
      <p:sp>
        <p:nvSpPr>
          <p:cNvPr id="8" name="Shape 6"/>
          <p:cNvSpPr/>
          <p:nvPr/>
        </p:nvSpPr>
        <p:spPr>
          <a:xfrm>
            <a:off x="6537960" y="1051560"/>
            <a:ext cx="1920240" cy="310896"/>
          </a:xfrm>
          <a:prstGeom prst="roundRect">
            <a:avLst/>
          </a:prstGeom>
          <a:solidFill>
            <a:srgbClr val="356BB3"/>
          </a:solidFill>
          <a:ln w="12700">
            <a:solidFill>
              <a:srgbClr val="356BB3"/>
            </a:solidFill>
            <a:prstDash val="solid"/>
          </a:ln>
        </p:spPr>
        <p:txBody>
          <a:bodyPr/>
          <a:lstStyle/>
          <a:p>
            <a:endParaRPr lang="ja-JP" altLang="en-US"/>
          </a:p>
        </p:txBody>
      </p:sp>
      <p:sp>
        <p:nvSpPr>
          <p:cNvPr id="9" name="Text 7"/>
          <p:cNvSpPr/>
          <p:nvPr/>
        </p:nvSpPr>
        <p:spPr>
          <a:xfrm>
            <a:off x="6583680" y="1069848"/>
            <a:ext cx="182880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現在（8月末）</a:t>
            </a:r>
            <a:endParaRPr lang="en-US" sz="1050" dirty="0"/>
          </a:p>
        </p:txBody>
      </p:sp>
      <p:sp>
        <p:nvSpPr>
          <p:cNvPr id="10" name="Shape 8"/>
          <p:cNvSpPr/>
          <p:nvPr/>
        </p:nvSpPr>
        <p:spPr>
          <a:xfrm>
            <a:off x="594360" y="1527048"/>
            <a:ext cx="11018520" cy="758952"/>
          </a:xfrm>
          <a:prstGeom prst="rect">
            <a:avLst/>
          </a:prstGeom>
          <a:solidFill>
            <a:srgbClr val="F8FAFC"/>
          </a:solidFill>
          <a:ln w="12700">
            <a:solidFill>
              <a:srgbClr val="F8FAFC"/>
            </a:solidFill>
            <a:prstDash val="solid"/>
          </a:ln>
        </p:spPr>
        <p:txBody>
          <a:bodyPr/>
          <a:lstStyle/>
          <a:p>
            <a:endParaRPr lang="ja-JP" altLang="en-US"/>
          </a:p>
        </p:txBody>
      </p:sp>
      <p:sp>
        <p:nvSpPr>
          <p:cNvPr id="11" name="Text 9"/>
          <p:cNvSpPr/>
          <p:nvPr/>
        </p:nvSpPr>
        <p:spPr>
          <a:xfrm>
            <a:off x="777240" y="160020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配車案の作り方</a:t>
            </a:r>
            <a:endParaRPr lang="en-US" sz="1550" dirty="0"/>
          </a:p>
        </p:txBody>
      </p:sp>
      <p:sp>
        <p:nvSpPr>
          <p:cNvPr id="12" name="Text 10"/>
          <p:cNvSpPr/>
          <p:nvPr/>
        </p:nvSpPr>
        <p:spPr>
          <a:xfrm>
            <a:off x="2788920" y="160020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ほぼ1案だけを後段で評価</a:t>
            </a:r>
            <a:endParaRPr lang="en-US" sz="1500" dirty="0"/>
          </a:p>
        </p:txBody>
      </p:sp>
      <p:pic>
        <p:nvPicPr>
          <p:cNvPr id="1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1700784"/>
            <a:ext cx="310896" cy="310896"/>
          </a:xfrm>
          <a:prstGeom prst="rect">
            <a:avLst/>
          </a:prstGeom>
        </p:spPr>
      </p:pic>
      <p:sp>
        <p:nvSpPr>
          <p:cNvPr id="14" name="Text 11"/>
          <p:cNvSpPr/>
          <p:nvPr/>
        </p:nvSpPr>
        <p:spPr>
          <a:xfrm>
            <a:off x="6446520" y="160020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複数案（22案）を比較</a:t>
            </a:r>
            <a:endParaRPr lang="en-US" sz="1550" dirty="0"/>
          </a:p>
        </p:txBody>
      </p:sp>
      <p:sp>
        <p:nvSpPr>
          <p:cNvPr id="15" name="Text 12"/>
          <p:cNvSpPr/>
          <p:nvPr/>
        </p:nvSpPr>
        <p:spPr>
          <a:xfrm>
            <a:off x="777240" y="246888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高PV／低PVの結果</a:t>
            </a:r>
            <a:endParaRPr lang="en-US" sz="1550" dirty="0"/>
          </a:p>
        </p:txBody>
      </p:sp>
      <p:sp>
        <p:nvSpPr>
          <p:cNvPr id="16" name="Text 13"/>
          <p:cNvSpPr/>
          <p:nvPr/>
        </p:nvSpPr>
        <p:spPr>
          <a:xfrm>
            <a:off x="2788920" y="246888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同じ配車が選ばれた</a:t>
            </a:r>
            <a:endParaRPr lang="en-US" sz="1500" dirty="0"/>
          </a:p>
        </p:txBody>
      </p:sp>
      <p:pic>
        <p:nvPicPr>
          <p:cNvPr id="17"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2569464"/>
            <a:ext cx="310896" cy="310896"/>
          </a:xfrm>
          <a:prstGeom prst="rect">
            <a:avLst/>
          </a:prstGeom>
        </p:spPr>
      </p:pic>
      <p:sp>
        <p:nvSpPr>
          <p:cNvPr id="18" name="Text 14"/>
          <p:cNvSpPr/>
          <p:nvPr/>
        </p:nvSpPr>
        <p:spPr>
          <a:xfrm>
            <a:off x="6446520" y="246888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異なる配車が選ばれた</a:t>
            </a:r>
            <a:endParaRPr lang="en-US" sz="1550" dirty="0"/>
          </a:p>
        </p:txBody>
      </p:sp>
      <p:sp>
        <p:nvSpPr>
          <p:cNvPr id="19" name="Shape 15"/>
          <p:cNvSpPr/>
          <p:nvPr/>
        </p:nvSpPr>
        <p:spPr>
          <a:xfrm>
            <a:off x="594360" y="3264408"/>
            <a:ext cx="11018520" cy="758952"/>
          </a:xfrm>
          <a:prstGeom prst="rect">
            <a:avLst/>
          </a:prstGeom>
          <a:solidFill>
            <a:srgbClr val="F8FAFC"/>
          </a:solidFill>
          <a:ln w="12700">
            <a:solidFill>
              <a:srgbClr val="F8FAFC"/>
            </a:solidFill>
            <a:prstDash val="solid"/>
          </a:ln>
        </p:spPr>
        <p:txBody>
          <a:bodyPr/>
          <a:lstStyle/>
          <a:p>
            <a:endParaRPr lang="ja-JP" altLang="en-US"/>
          </a:p>
        </p:txBody>
      </p:sp>
      <p:sp>
        <p:nvSpPr>
          <p:cNvPr id="20" name="Text 16"/>
          <p:cNvSpPr/>
          <p:nvPr/>
        </p:nvSpPr>
        <p:spPr>
          <a:xfrm>
            <a:off x="777240" y="333756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一日の確認</a:t>
            </a:r>
            <a:endParaRPr lang="en-US" sz="1550" dirty="0"/>
          </a:p>
        </p:txBody>
      </p:sp>
      <p:sp>
        <p:nvSpPr>
          <p:cNvPr id="21" name="Text 17"/>
          <p:cNvSpPr/>
          <p:nvPr/>
        </p:nvSpPr>
        <p:spPr>
          <a:xfrm>
            <a:off x="2788920" y="333756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日合計中心</a:t>
            </a:r>
            <a:endParaRPr lang="en-US" sz="1500" dirty="0"/>
          </a:p>
        </p:txBody>
      </p:sp>
      <p:pic>
        <p:nvPicPr>
          <p:cNvPr id="22" name="Image 2"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3438144"/>
            <a:ext cx="310896" cy="310896"/>
          </a:xfrm>
          <a:prstGeom prst="rect">
            <a:avLst/>
          </a:prstGeom>
        </p:spPr>
      </p:pic>
      <p:sp>
        <p:nvSpPr>
          <p:cNvPr id="23" name="Text 18"/>
          <p:cNvSpPr/>
          <p:nvPr/>
        </p:nvSpPr>
        <p:spPr>
          <a:xfrm>
            <a:off x="6446520" y="333756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1時間ごと・15分単位まで確認</a:t>
            </a:r>
            <a:endParaRPr lang="en-US" sz="1550" dirty="0"/>
          </a:p>
        </p:txBody>
      </p:sp>
      <p:sp>
        <p:nvSpPr>
          <p:cNvPr id="24" name="Text 19"/>
          <p:cNvSpPr/>
          <p:nvPr/>
        </p:nvSpPr>
        <p:spPr>
          <a:xfrm>
            <a:off x="777240" y="420624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結果の信頼性</a:t>
            </a:r>
            <a:endParaRPr lang="en-US" sz="1550" dirty="0"/>
          </a:p>
        </p:txBody>
      </p:sp>
      <p:sp>
        <p:nvSpPr>
          <p:cNvPr id="25" name="Text 20"/>
          <p:cNvSpPr/>
          <p:nvPr/>
        </p:nvSpPr>
        <p:spPr>
          <a:xfrm>
            <a:off x="2788920" y="420624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出力値の確認が中心</a:t>
            </a:r>
            <a:endParaRPr lang="en-US" sz="1500" dirty="0"/>
          </a:p>
        </p:txBody>
      </p:sp>
      <p:pic>
        <p:nvPicPr>
          <p:cNvPr id="26" name="Image 3"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4306824"/>
            <a:ext cx="310896" cy="310896"/>
          </a:xfrm>
          <a:prstGeom prst="rect">
            <a:avLst/>
          </a:prstGeom>
        </p:spPr>
      </p:pic>
      <p:sp>
        <p:nvSpPr>
          <p:cNvPr id="27" name="Text 21"/>
          <p:cNvSpPr/>
          <p:nvPr/>
        </p:nvSpPr>
        <p:spPr>
          <a:xfrm>
            <a:off x="6446520" y="420624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物理・会計・入力・コードを紐づけ</a:t>
            </a:r>
            <a:endParaRPr lang="en-US" sz="1550" dirty="0"/>
          </a:p>
        </p:txBody>
      </p:sp>
      <p:sp>
        <p:nvSpPr>
          <p:cNvPr id="28" name="Shape 22"/>
          <p:cNvSpPr/>
          <p:nvPr/>
        </p:nvSpPr>
        <p:spPr>
          <a:xfrm>
            <a:off x="594360" y="5001768"/>
            <a:ext cx="11018520" cy="758952"/>
          </a:xfrm>
          <a:prstGeom prst="rect">
            <a:avLst/>
          </a:prstGeom>
          <a:solidFill>
            <a:srgbClr val="F8FAFC"/>
          </a:solidFill>
          <a:ln w="12700">
            <a:solidFill>
              <a:srgbClr val="F8FAFC"/>
            </a:solidFill>
            <a:prstDash val="solid"/>
          </a:ln>
        </p:spPr>
        <p:txBody>
          <a:bodyPr/>
          <a:lstStyle/>
          <a:p>
            <a:endParaRPr lang="ja-JP" altLang="en-US"/>
          </a:p>
        </p:txBody>
      </p:sp>
      <p:sp>
        <p:nvSpPr>
          <p:cNvPr id="29" name="Text 23"/>
          <p:cNvSpPr/>
          <p:nvPr/>
        </p:nvSpPr>
        <p:spPr>
          <a:xfrm>
            <a:off x="777240" y="5074920"/>
            <a:ext cx="1828800" cy="502920"/>
          </a:xfrm>
          <a:prstGeom prst="rect">
            <a:avLst/>
          </a:prstGeom>
          <a:noFill/>
          <a:ln/>
        </p:spPr>
        <p:txBody>
          <a:bodyPr wrap="square" lIns="0" tIns="0" rIns="0" bIns="0" rtlCol="0" anchor="ctr"/>
          <a:lstStyle/>
          <a:p>
            <a:pPr marL="0" indent="0">
              <a:buNone/>
            </a:pPr>
            <a:r>
              <a:rPr lang="en-US" sz="1550" b="1" dirty="0">
                <a:solidFill>
                  <a:srgbClr val="172033"/>
                </a:solidFill>
                <a:latin typeface="Noto Sans CJK JP" pitchFamily="34" charset="0"/>
                <a:ea typeface="Noto Sans CJK JP" pitchFamily="34" charset="-122"/>
                <a:cs typeface="Noto Sans CJK JP" pitchFamily="34" charset="-120"/>
              </a:rPr>
              <a:t>次の研究準備</a:t>
            </a:r>
            <a:endParaRPr lang="en-US" sz="1550" dirty="0"/>
          </a:p>
        </p:txBody>
      </p:sp>
      <p:sp>
        <p:nvSpPr>
          <p:cNvPr id="30" name="Text 24"/>
          <p:cNvSpPr/>
          <p:nvPr/>
        </p:nvSpPr>
        <p:spPr>
          <a:xfrm>
            <a:off x="2788920" y="5074920"/>
            <a:ext cx="3337560" cy="502920"/>
          </a:xfrm>
          <a:prstGeom prst="rect">
            <a:avLst/>
          </a:prstGeom>
          <a:noFill/>
          <a:ln/>
        </p:spPr>
        <p:txBody>
          <a:bodyPr wrap="square" lIns="0" tIns="0" rIns="0" bIns="0" rtlCol="0" anchor="ctr"/>
          <a:lstStyle/>
          <a:p>
            <a:pPr marL="0" indent="0" algn="ctr">
              <a:buNone/>
            </a:pPr>
            <a:r>
              <a:rPr lang="en-US" sz="1500" dirty="0">
                <a:solidFill>
                  <a:srgbClr val="687386"/>
                </a:solidFill>
                <a:latin typeface="Noto Sans CJK JP" pitchFamily="34" charset="0"/>
                <a:ea typeface="Noto Sans CJK JP" pitchFamily="34" charset="-122"/>
                <a:cs typeface="Noto Sans CJK JP" pitchFamily="34" charset="-120"/>
              </a:rPr>
              <a:t>不足点が曖昧</a:t>
            </a:r>
            <a:endParaRPr lang="en-US" sz="1500" dirty="0"/>
          </a:p>
        </p:txBody>
      </p:sp>
      <p:pic>
        <p:nvPicPr>
          <p:cNvPr id="31" name="Image 4"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80176" y="5175504"/>
            <a:ext cx="310896" cy="310896"/>
          </a:xfrm>
          <a:prstGeom prst="rect">
            <a:avLst/>
          </a:prstGeom>
        </p:spPr>
      </p:pic>
      <p:sp>
        <p:nvSpPr>
          <p:cNvPr id="32" name="Text 25"/>
          <p:cNvSpPr/>
          <p:nvPr/>
        </p:nvSpPr>
        <p:spPr>
          <a:xfrm>
            <a:off x="6446520" y="5074920"/>
            <a:ext cx="4480560" cy="502920"/>
          </a:xfrm>
          <a:prstGeom prst="rect">
            <a:avLst/>
          </a:prstGeom>
          <a:noFill/>
          <a:ln/>
        </p:spPr>
        <p:txBody>
          <a:bodyPr wrap="square" lIns="0" tIns="0" rIns="0" bIns="0" rtlCol="0" anchor="ctr"/>
          <a:lstStyle/>
          <a:p>
            <a:pPr marL="0" indent="0" algn="ctr">
              <a:buNone/>
            </a:pPr>
            <a:r>
              <a:rPr lang="en-US" sz="1550" b="1" dirty="0">
                <a:solidFill>
                  <a:srgbClr val="1F2A5A"/>
                </a:solidFill>
                <a:latin typeface="Noto Sans CJK JP" pitchFamily="34" charset="0"/>
                <a:ea typeface="Noto Sans CJK JP" pitchFamily="34" charset="-122"/>
                <a:cs typeface="Noto Sans CJK JP" pitchFamily="34" charset="-120"/>
              </a:rPr>
              <a:t>小規模比較と感度検証を事前設計</a:t>
            </a:r>
            <a:endParaRPr lang="en-US" sz="1550" dirty="0"/>
          </a:p>
        </p:txBody>
      </p:sp>
      <p:sp>
        <p:nvSpPr>
          <p:cNvPr id="33" name="Shape 26"/>
          <p:cNvSpPr/>
          <p:nvPr/>
        </p:nvSpPr>
        <p:spPr>
          <a:xfrm>
            <a:off x="1051560" y="5897880"/>
            <a:ext cx="10058400" cy="438912"/>
          </a:xfrm>
          <a:prstGeom prst="roundRect">
            <a:avLst/>
          </a:prstGeom>
          <a:solidFill>
            <a:srgbClr val="E8F6F3"/>
          </a:solidFill>
          <a:ln w="12700">
            <a:solidFill>
              <a:srgbClr val="1F9D8A"/>
            </a:solidFill>
            <a:prstDash val="solid"/>
          </a:ln>
        </p:spPr>
        <p:txBody>
          <a:bodyPr/>
          <a:lstStyle/>
          <a:p>
            <a:endParaRPr lang="ja-JP" altLang="en-US"/>
          </a:p>
        </p:txBody>
      </p:sp>
      <p:sp>
        <p:nvSpPr>
          <p:cNvPr id="34" name="Text 27"/>
          <p:cNvSpPr/>
          <p:nvPr/>
        </p:nvSpPr>
        <p:spPr>
          <a:xfrm>
            <a:off x="1234440" y="5998464"/>
            <a:ext cx="9692640" cy="228600"/>
          </a:xfrm>
          <a:prstGeom prst="rect">
            <a:avLst/>
          </a:prstGeom>
          <a:noFill/>
          <a:ln/>
        </p:spPr>
        <p:txBody>
          <a:bodyPr wrap="square" lIns="0" tIns="0" rIns="0" bIns="0" rtlCol="0" anchor="ctr"/>
          <a:lstStyle/>
          <a:p>
            <a:pPr marL="0" indent="0" algn="ctr">
              <a:buNone/>
            </a:pPr>
            <a:r>
              <a:rPr lang="en-US" sz="1700" b="1" dirty="0">
                <a:solidFill>
                  <a:srgbClr val="1F9D8A"/>
                </a:solidFill>
                <a:latin typeface="Noto Sans CJK JP" pitchFamily="34" charset="0"/>
                <a:ea typeface="Noto Sans CJK JP" pitchFamily="34" charset="-122"/>
                <a:cs typeface="Noto Sans CJK JP" pitchFamily="34" charset="-120"/>
              </a:rPr>
              <a:t>最大の変化：PV条件が配車に反映されるようになり、その理由を追えるようになった</a:t>
            </a:r>
            <a:endParaRPr lang="en-US"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この1か月で行ったこと</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9/18</a:t>
            </a:r>
            <a:endParaRPr lang="en-US" sz="850" dirty="0"/>
          </a:p>
        </p:txBody>
      </p:sp>
      <p:sp>
        <p:nvSpPr>
          <p:cNvPr id="6" name="Shape 4"/>
          <p:cNvSpPr/>
          <p:nvPr/>
        </p:nvSpPr>
        <p:spPr>
          <a:xfrm>
            <a:off x="1325880" y="1874520"/>
            <a:ext cx="8915400" cy="0"/>
          </a:xfrm>
          <a:prstGeom prst="line">
            <a:avLst/>
          </a:prstGeom>
          <a:noFill/>
          <a:ln w="38100">
            <a:solidFill>
              <a:srgbClr val="A5AFBD"/>
            </a:solidFill>
            <a:prstDash val="solid"/>
          </a:ln>
        </p:spPr>
        <p:txBody>
          <a:bodyPr/>
          <a:lstStyle/>
          <a:p>
            <a:endParaRPr lang="ja-JP" altLang="en-US"/>
          </a:p>
        </p:txBody>
      </p:sp>
      <p:sp>
        <p:nvSpPr>
          <p:cNvPr id="7" name="Shape 5"/>
          <p:cNvSpPr/>
          <p:nvPr/>
        </p:nvSpPr>
        <p:spPr>
          <a:xfrm>
            <a:off x="1097280" y="1664208"/>
            <a:ext cx="420624" cy="420624"/>
          </a:xfrm>
          <a:prstGeom prst="ellipse">
            <a:avLst/>
          </a:prstGeom>
          <a:solidFill>
            <a:srgbClr val="C94C4C"/>
          </a:solidFill>
          <a:ln w="25400">
            <a:solidFill>
              <a:srgbClr val="FFFFFF"/>
            </a:solidFill>
            <a:prstDash val="solid"/>
          </a:ln>
        </p:spPr>
        <p:txBody>
          <a:bodyPr/>
          <a:lstStyle/>
          <a:p>
            <a:endParaRPr lang="ja-JP" altLang="en-US"/>
          </a:p>
        </p:txBody>
      </p:sp>
      <p:sp>
        <p:nvSpPr>
          <p:cNvPr id="8" name="Text 6"/>
          <p:cNvSpPr/>
          <p:nvPr/>
        </p:nvSpPr>
        <p:spPr>
          <a:xfrm>
            <a:off x="749808" y="1124712"/>
            <a:ext cx="1097280" cy="292608"/>
          </a:xfrm>
          <a:prstGeom prst="rect">
            <a:avLst/>
          </a:prstGeom>
          <a:noFill/>
          <a:ln/>
        </p:spPr>
        <p:txBody>
          <a:bodyPr wrap="square" lIns="0" tIns="0" rIns="0" bIns="0" rtlCol="0" anchor="ctr"/>
          <a:lstStyle/>
          <a:p>
            <a:pPr marL="0" indent="0" algn="ctr">
              <a:buNone/>
            </a:pPr>
            <a:r>
              <a:rPr lang="en-US" sz="1300" b="1" dirty="0">
                <a:solidFill>
                  <a:srgbClr val="C94C4C"/>
                </a:solidFill>
                <a:latin typeface="Noto Sans CJK JP" pitchFamily="34" charset="0"/>
                <a:ea typeface="Noto Sans CJK JP" pitchFamily="34" charset="-122"/>
                <a:cs typeface="Noto Sans CJK JP" pitchFamily="34" charset="-120"/>
              </a:rPr>
              <a:t>8月上旬</a:t>
            </a:r>
            <a:endParaRPr lang="en-US" sz="1300" dirty="0"/>
          </a:p>
        </p:txBody>
      </p:sp>
      <p:sp>
        <p:nvSpPr>
          <p:cNvPr id="9" name="Shape 7"/>
          <p:cNvSpPr/>
          <p:nvPr/>
        </p:nvSpPr>
        <p:spPr>
          <a:xfrm>
            <a:off x="502920" y="2359152"/>
            <a:ext cx="2057400" cy="2331720"/>
          </a:xfrm>
          <a:prstGeom prst="roundRect">
            <a:avLst>
              <a:gd name="adj" fmla="val 3556"/>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10" name="Text 8"/>
          <p:cNvSpPr/>
          <p:nvPr/>
        </p:nvSpPr>
        <p:spPr>
          <a:xfrm>
            <a:off x="685800" y="2578608"/>
            <a:ext cx="1691640" cy="621792"/>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問題点の洗い出し</a:t>
            </a:r>
            <a:endParaRPr lang="en-US" sz="1700" dirty="0"/>
          </a:p>
        </p:txBody>
      </p:sp>
      <p:sp>
        <p:nvSpPr>
          <p:cNvPr id="11" name="Text 9"/>
          <p:cNvSpPr/>
          <p:nvPr/>
        </p:nvSpPr>
        <p:spPr>
          <a:xfrm>
            <a:off x="713232" y="3401568"/>
            <a:ext cx="1645920" cy="749808"/>
          </a:xfrm>
          <a:prstGeom prst="rect">
            <a:avLst/>
          </a:prstGeom>
          <a:noFill/>
          <a:ln/>
        </p:spPr>
        <p:txBody>
          <a:bodyPr wrap="square" lIns="0" tIns="0" rIns="0" bIns="0" rtlCol="0" anchor="ctr"/>
          <a:lstStyle/>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・同じ配車になる原因を確認</a:t>
            </a:r>
            <a:endParaRPr lang="en-US" sz="1400" dirty="0"/>
          </a:p>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・計算結果の言い過ぎを整理</a:t>
            </a:r>
            <a:endParaRPr lang="en-US" sz="1400" dirty="0"/>
          </a:p>
        </p:txBody>
      </p:sp>
      <p:pic>
        <p:nvPicPr>
          <p:cNvPr id="12"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1288" y="4160520"/>
            <a:ext cx="502920" cy="502920"/>
          </a:xfrm>
          <a:prstGeom prst="rect">
            <a:avLst/>
          </a:prstGeom>
        </p:spPr>
      </p:pic>
      <p:sp>
        <p:nvSpPr>
          <p:cNvPr id="13" name="Shape 10"/>
          <p:cNvSpPr/>
          <p:nvPr/>
        </p:nvSpPr>
        <p:spPr>
          <a:xfrm>
            <a:off x="3840480" y="1664208"/>
            <a:ext cx="420624" cy="420624"/>
          </a:xfrm>
          <a:prstGeom prst="ellipse">
            <a:avLst/>
          </a:prstGeom>
          <a:solidFill>
            <a:srgbClr val="E98B3A"/>
          </a:solidFill>
          <a:ln w="25400">
            <a:solidFill>
              <a:srgbClr val="FFFFFF"/>
            </a:solidFill>
            <a:prstDash val="solid"/>
          </a:ln>
        </p:spPr>
        <p:txBody>
          <a:bodyPr/>
          <a:lstStyle/>
          <a:p>
            <a:endParaRPr lang="ja-JP" altLang="en-US"/>
          </a:p>
        </p:txBody>
      </p:sp>
      <p:sp>
        <p:nvSpPr>
          <p:cNvPr id="14" name="Text 11"/>
          <p:cNvSpPr/>
          <p:nvPr/>
        </p:nvSpPr>
        <p:spPr>
          <a:xfrm>
            <a:off x="3493008" y="1124712"/>
            <a:ext cx="1097280" cy="292608"/>
          </a:xfrm>
          <a:prstGeom prst="rect">
            <a:avLst/>
          </a:prstGeom>
          <a:noFill/>
          <a:ln/>
        </p:spPr>
        <p:txBody>
          <a:bodyPr wrap="square" lIns="0" tIns="0" rIns="0" bIns="0" rtlCol="0" anchor="ctr"/>
          <a:lstStyle/>
          <a:p>
            <a:pPr marL="0" indent="0" algn="ctr">
              <a:buNone/>
            </a:pPr>
            <a:r>
              <a:rPr lang="en-US" sz="1300" b="1" dirty="0">
                <a:solidFill>
                  <a:srgbClr val="E98B3A"/>
                </a:solidFill>
                <a:latin typeface="Noto Sans CJK JP" pitchFamily="34" charset="0"/>
                <a:ea typeface="Noto Sans CJK JP" pitchFamily="34" charset="-122"/>
                <a:cs typeface="Noto Sans CJK JP" pitchFamily="34" charset="-120"/>
              </a:rPr>
              <a:t>8月中旬</a:t>
            </a:r>
            <a:endParaRPr lang="en-US" sz="1300" dirty="0"/>
          </a:p>
        </p:txBody>
      </p:sp>
      <p:sp>
        <p:nvSpPr>
          <p:cNvPr id="15" name="Shape 12"/>
          <p:cNvSpPr/>
          <p:nvPr/>
        </p:nvSpPr>
        <p:spPr>
          <a:xfrm>
            <a:off x="3246120" y="2359152"/>
            <a:ext cx="2057400" cy="2331720"/>
          </a:xfrm>
          <a:prstGeom prst="roundRect">
            <a:avLst>
              <a:gd name="adj" fmla="val 3556"/>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16" name="Text 13"/>
          <p:cNvSpPr/>
          <p:nvPr/>
        </p:nvSpPr>
        <p:spPr>
          <a:xfrm>
            <a:off x="3429000" y="2578608"/>
            <a:ext cx="1691640" cy="621792"/>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配車案の比較方法を改善</a:t>
            </a:r>
            <a:endParaRPr lang="en-US" sz="1700" dirty="0"/>
          </a:p>
        </p:txBody>
      </p:sp>
      <p:sp>
        <p:nvSpPr>
          <p:cNvPr id="17" name="Text 14"/>
          <p:cNvSpPr/>
          <p:nvPr/>
        </p:nvSpPr>
        <p:spPr>
          <a:xfrm>
            <a:off x="3456432" y="3401568"/>
            <a:ext cx="1645920" cy="749808"/>
          </a:xfrm>
          <a:prstGeom prst="rect">
            <a:avLst/>
          </a:prstGeom>
          <a:noFill/>
          <a:ln/>
        </p:spPr>
        <p:txBody>
          <a:bodyPr wrap="square" lIns="0" tIns="0" rIns="0" bIns="0" rtlCol="0" anchor="ctr"/>
          <a:lstStyle/>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・候補を増やして比較</a:t>
            </a:r>
            <a:endParaRPr lang="en-US" sz="1400" dirty="0"/>
          </a:p>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・高PV／低PVを同条件で評価</a:t>
            </a:r>
            <a:endParaRPr lang="en-US" sz="1400" dirty="0"/>
          </a:p>
        </p:txBody>
      </p:sp>
      <p:pic>
        <p:nvPicPr>
          <p:cNvPr id="1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04488" y="4160520"/>
            <a:ext cx="502920" cy="502920"/>
          </a:xfrm>
          <a:prstGeom prst="rect">
            <a:avLst/>
          </a:prstGeom>
        </p:spPr>
      </p:pic>
      <p:sp>
        <p:nvSpPr>
          <p:cNvPr id="19" name="Shape 15"/>
          <p:cNvSpPr/>
          <p:nvPr/>
        </p:nvSpPr>
        <p:spPr>
          <a:xfrm>
            <a:off x="6583680" y="1664208"/>
            <a:ext cx="420624" cy="420624"/>
          </a:xfrm>
          <a:prstGeom prst="ellipse">
            <a:avLst/>
          </a:prstGeom>
          <a:solidFill>
            <a:srgbClr val="356BB3"/>
          </a:solidFill>
          <a:ln w="25400">
            <a:solidFill>
              <a:srgbClr val="FFFFFF"/>
            </a:solidFill>
            <a:prstDash val="solid"/>
          </a:ln>
        </p:spPr>
        <p:txBody>
          <a:bodyPr/>
          <a:lstStyle/>
          <a:p>
            <a:endParaRPr lang="ja-JP" altLang="en-US"/>
          </a:p>
        </p:txBody>
      </p:sp>
      <p:sp>
        <p:nvSpPr>
          <p:cNvPr id="20" name="Text 16"/>
          <p:cNvSpPr/>
          <p:nvPr/>
        </p:nvSpPr>
        <p:spPr>
          <a:xfrm>
            <a:off x="6236208" y="1124712"/>
            <a:ext cx="1097280" cy="292608"/>
          </a:xfrm>
          <a:prstGeom prst="rect">
            <a:avLst/>
          </a:prstGeom>
          <a:noFill/>
          <a:ln/>
        </p:spPr>
        <p:txBody>
          <a:bodyPr wrap="square" lIns="0" tIns="0" rIns="0" bIns="0" rtlCol="0" anchor="ctr"/>
          <a:lstStyle/>
          <a:p>
            <a:pPr marL="0" indent="0" algn="ctr">
              <a:buNone/>
            </a:pPr>
            <a:r>
              <a:rPr lang="en-US" sz="1300" b="1" dirty="0">
                <a:solidFill>
                  <a:srgbClr val="356BB3"/>
                </a:solidFill>
                <a:latin typeface="Noto Sans CJK JP" pitchFamily="34" charset="0"/>
                <a:ea typeface="Noto Sans CJK JP" pitchFamily="34" charset="-122"/>
                <a:cs typeface="Noto Sans CJK JP" pitchFamily="34" charset="-120"/>
              </a:rPr>
              <a:t>8月下旬</a:t>
            </a:r>
            <a:endParaRPr lang="en-US" sz="1300" dirty="0"/>
          </a:p>
        </p:txBody>
      </p:sp>
      <p:sp>
        <p:nvSpPr>
          <p:cNvPr id="21" name="Shape 17"/>
          <p:cNvSpPr/>
          <p:nvPr/>
        </p:nvSpPr>
        <p:spPr>
          <a:xfrm>
            <a:off x="5989320" y="2359152"/>
            <a:ext cx="2057400" cy="2331720"/>
          </a:xfrm>
          <a:prstGeom prst="roundRect">
            <a:avLst>
              <a:gd name="adj" fmla="val 3556"/>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2" name="Text 18"/>
          <p:cNvSpPr/>
          <p:nvPr/>
        </p:nvSpPr>
        <p:spPr>
          <a:xfrm>
            <a:off x="6172200" y="2578608"/>
            <a:ext cx="1691640" cy="621792"/>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正式条件で再計算</a:t>
            </a:r>
            <a:endParaRPr lang="en-US" sz="1700" dirty="0"/>
          </a:p>
        </p:txBody>
      </p:sp>
      <p:sp>
        <p:nvSpPr>
          <p:cNvPr id="23" name="Text 19"/>
          <p:cNvSpPr/>
          <p:nvPr/>
        </p:nvSpPr>
        <p:spPr>
          <a:xfrm>
            <a:off x="6199632" y="3401568"/>
            <a:ext cx="1645920" cy="749808"/>
          </a:xfrm>
          <a:prstGeom prst="rect">
            <a:avLst/>
          </a:prstGeom>
          <a:noFill/>
          <a:ln/>
        </p:spPr>
        <p:txBody>
          <a:bodyPr wrap="square" lIns="0" tIns="0" rIns="0" bIns="0" rtlCol="0" anchor="ctr"/>
          <a:lstStyle/>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・Fresh Prepareで再実行</a:t>
            </a:r>
            <a:endParaRPr lang="en-US" sz="1400" dirty="0"/>
          </a:p>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・24時間の運用と会計を確認</a:t>
            </a:r>
            <a:endParaRPr lang="en-US" sz="1400"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647688" y="4160520"/>
            <a:ext cx="502920" cy="502920"/>
          </a:xfrm>
          <a:prstGeom prst="rect">
            <a:avLst/>
          </a:prstGeom>
        </p:spPr>
      </p:pic>
      <p:sp>
        <p:nvSpPr>
          <p:cNvPr id="25" name="Shape 20"/>
          <p:cNvSpPr/>
          <p:nvPr/>
        </p:nvSpPr>
        <p:spPr>
          <a:xfrm>
            <a:off x="9326880" y="1664208"/>
            <a:ext cx="420624" cy="420624"/>
          </a:xfrm>
          <a:prstGeom prst="ellipse">
            <a:avLst/>
          </a:prstGeom>
          <a:solidFill>
            <a:srgbClr val="1F9D8A"/>
          </a:solidFill>
          <a:ln w="25400">
            <a:solidFill>
              <a:srgbClr val="FFFFFF"/>
            </a:solidFill>
            <a:prstDash val="solid"/>
          </a:ln>
        </p:spPr>
        <p:txBody>
          <a:bodyPr/>
          <a:lstStyle/>
          <a:p>
            <a:endParaRPr lang="ja-JP" altLang="en-US"/>
          </a:p>
        </p:txBody>
      </p:sp>
      <p:sp>
        <p:nvSpPr>
          <p:cNvPr id="26" name="Text 21"/>
          <p:cNvSpPr/>
          <p:nvPr/>
        </p:nvSpPr>
        <p:spPr>
          <a:xfrm>
            <a:off x="8979408" y="1124712"/>
            <a:ext cx="1097280" cy="292608"/>
          </a:xfrm>
          <a:prstGeom prst="rect">
            <a:avLst/>
          </a:prstGeom>
          <a:noFill/>
          <a:ln/>
        </p:spPr>
        <p:txBody>
          <a:bodyPr wrap="square" lIns="0" tIns="0" rIns="0" bIns="0" rtlCol="0" anchor="ctr"/>
          <a:lstStyle/>
          <a:p>
            <a:pPr marL="0" indent="0" algn="ctr">
              <a:buNone/>
            </a:pPr>
            <a:r>
              <a:rPr lang="en-US" sz="1300" b="1" dirty="0">
                <a:solidFill>
                  <a:srgbClr val="1F9D8A"/>
                </a:solidFill>
                <a:latin typeface="Noto Sans CJK JP" pitchFamily="34" charset="0"/>
                <a:ea typeface="Noto Sans CJK JP" pitchFamily="34" charset="-122"/>
                <a:cs typeface="Noto Sans CJK JP" pitchFamily="34" charset="-120"/>
              </a:rPr>
              <a:t>8月末</a:t>
            </a:r>
            <a:endParaRPr lang="en-US" sz="1300" dirty="0"/>
          </a:p>
        </p:txBody>
      </p:sp>
      <p:sp>
        <p:nvSpPr>
          <p:cNvPr id="27" name="Shape 22"/>
          <p:cNvSpPr/>
          <p:nvPr/>
        </p:nvSpPr>
        <p:spPr>
          <a:xfrm>
            <a:off x="8732520" y="2359152"/>
            <a:ext cx="2057400" cy="2331720"/>
          </a:xfrm>
          <a:prstGeom prst="roundRect">
            <a:avLst>
              <a:gd name="adj" fmla="val 3556"/>
            </a:avLst>
          </a:prstGeom>
          <a:solidFill>
            <a:srgbClr val="FFFFFF"/>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8" name="Text 23"/>
          <p:cNvSpPr/>
          <p:nvPr/>
        </p:nvSpPr>
        <p:spPr>
          <a:xfrm>
            <a:off x="8915400" y="2578608"/>
            <a:ext cx="1691640" cy="621792"/>
          </a:xfrm>
          <a:prstGeom prst="rect">
            <a:avLst/>
          </a:prstGeom>
          <a:noFill/>
          <a:ln/>
        </p:spPr>
        <p:txBody>
          <a:bodyPr wrap="square" lIns="0" tIns="0" rIns="0" bIns="0" rtlCol="0" anchor="ctr"/>
          <a:lstStyle/>
          <a:p>
            <a:pPr marL="0" indent="0" algn="ctr">
              <a:buNone/>
            </a:pPr>
            <a:r>
              <a:rPr lang="en-US" sz="1700" b="1" dirty="0">
                <a:solidFill>
                  <a:srgbClr val="172033"/>
                </a:solidFill>
                <a:latin typeface="Noto Sans CJK JP" pitchFamily="34" charset="0"/>
                <a:ea typeface="Noto Sans CJK JP" pitchFamily="34" charset="-122"/>
                <a:cs typeface="Noto Sans CJK JP" pitchFamily="34" charset="-120"/>
              </a:rPr>
              <a:t>発表・修論に向けて整理</a:t>
            </a:r>
            <a:endParaRPr lang="en-US" sz="1700" dirty="0"/>
          </a:p>
        </p:txBody>
      </p:sp>
      <p:sp>
        <p:nvSpPr>
          <p:cNvPr id="29" name="Text 24"/>
          <p:cNvSpPr/>
          <p:nvPr/>
        </p:nvSpPr>
        <p:spPr>
          <a:xfrm>
            <a:off x="8942832" y="3401568"/>
            <a:ext cx="1645920" cy="749808"/>
          </a:xfrm>
          <a:prstGeom prst="rect">
            <a:avLst/>
          </a:prstGeom>
          <a:noFill/>
          <a:ln/>
        </p:spPr>
        <p:txBody>
          <a:bodyPr wrap="square" lIns="0" tIns="0" rIns="0" bIns="0" rtlCol="0" anchor="ctr"/>
          <a:lstStyle/>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・96スロット図を作成</a:t>
            </a:r>
            <a:endParaRPr lang="en-US" sz="1400" dirty="0"/>
          </a:p>
          <a:p>
            <a:pPr marL="0" indent="0" algn="l">
              <a:buNone/>
            </a:pPr>
            <a:r>
              <a:rPr lang="en-US" sz="1400" dirty="0">
                <a:solidFill>
                  <a:srgbClr val="687386"/>
                </a:solidFill>
                <a:latin typeface="Noto Sans CJK JP" pitchFamily="34" charset="0"/>
                <a:ea typeface="Noto Sans CJK JP" pitchFamily="34" charset="-122"/>
                <a:cs typeface="Noto Sans CJK JP" pitchFamily="34" charset="-120"/>
              </a:rPr>
              <a:t>・11月の追加実験を事前設計</a:t>
            </a:r>
            <a:endParaRPr lang="en-US" sz="1400" dirty="0"/>
          </a:p>
        </p:txBody>
      </p:sp>
      <p:pic>
        <p:nvPicPr>
          <p:cNvPr id="30"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90888" y="4160520"/>
            <a:ext cx="502920" cy="502920"/>
          </a:xfrm>
          <a:prstGeom prst="rect">
            <a:avLst/>
          </a:prstGeom>
        </p:spPr>
      </p:pic>
      <p:sp>
        <p:nvSpPr>
          <p:cNvPr id="31" name="Text 25"/>
          <p:cNvSpPr/>
          <p:nvPr/>
        </p:nvSpPr>
        <p:spPr>
          <a:xfrm>
            <a:off x="1143000" y="5193792"/>
            <a:ext cx="9921240" cy="502920"/>
          </a:xfrm>
          <a:prstGeom prst="rect">
            <a:avLst/>
          </a:prstGeom>
          <a:noFill/>
          <a:ln/>
        </p:spPr>
        <p:txBody>
          <a:bodyPr wrap="square" lIns="0" tIns="0" rIns="0" bIns="0" rtlCol="0" anchor="ctr"/>
          <a:lstStyle/>
          <a:p>
            <a:pPr marL="0" indent="0" algn="ctr">
              <a:buNone/>
            </a:pPr>
            <a:r>
              <a:rPr lang="en-US" sz="1800" b="1" dirty="0">
                <a:solidFill>
                  <a:srgbClr val="1F2A5A"/>
                </a:solidFill>
                <a:latin typeface="Noto Sans CJK JP" pitchFamily="34" charset="0"/>
                <a:ea typeface="Noto Sans CJK JP" pitchFamily="34" charset="-122"/>
                <a:cs typeface="Noto Sans CJK JP" pitchFamily="34" charset="-120"/>
              </a:rPr>
              <a:t>今月は、モデルの機能を増やすよりも「比較できる結果」と「説明できる証拠」を作ることに重点を置いた。</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最新結果①：高PV条件ではBEVを多く、低PV条件ではICEを多く使う配車になった</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10/18</a:t>
            </a:r>
            <a:endParaRPr lang="en-US" sz="850" dirty="0"/>
          </a:p>
        </p:txBody>
      </p:sp>
      <p:sp>
        <p:nvSpPr>
          <p:cNvPr id="6" name="Shape 4"/>
          <p:cNvSpPr/>
          <p:nvPr/>
        </p:nvSpPr>
        <p:spPr>
          <a:xfrm>
            <a:off x="4160520" y="932688"/>
            <a:ext cx="146304" cy="146304"/>
          </a:xfrm>
          <a:prstGeom prst="rect">
            <a:avLst/>
          </a:prstGeom>
          <a:solidFill>
            <a:srgbClr val="1F9D8A"/>
          </a:solidFill>
          <a:ln w="12700">
            <a:solidFill>
              <a:srgbClr val="1F9D8A"/>
            </a:solidFill>
            <a:prstDash val="solid"/>
          </a:ln>
        </p:spPr>
        <p:txBody>
          <a:bodyPr/>
          <a:lstStyle/>
          <a:p>
            <a:endParaRPr lang="ja-JP" altLang="en-US"/>
          </a:p>
        </p:txBody>
      </p:sp>
      <p:sp>
        <p:nvSpPr>
          <p:cNvPr id="7" name="Text 5"/>
          <p:cNvSpPr/>
          <p:nvPr/>
        </p:nvSpPr>
        <p:spPr>
          <a:xfrm>
            <a:off x="4361688" y="905256"/>
            <a:ext cx="1207008" cy="201168"/>
          </a:xfrm>
          <a:prstGeom prst="rect">
            <a:avLst/>
          </a:prstGeom>
          <a:noFill/>
          <a:ln/>
        </p:spPr>
        <p:txBody>
          <a:bodyPr wrap="square" lIns="0" tIns="0" rIns="0" bIns="0" rtlCol="0" anchor="ctr"/>
          <a:lstStyle/>
          <a:p>
            <a:pPr marL="0" indent="0">
              <a:buNone/>
            </a:pPr>
            <a:r>
              <a:rPr lang="en-US" sz="1050" dirty="0">
                <a:solidFill>
                  <a:srgbClr val="687386"/>
                </a:solidFill>
                <a:latin typeface="Noto Sans CJK JP" pitchFamily="34" charset="0"/>
                <a:ea typeface="Noto Sans CJK JP" pitchFamily="34" charset="-122"/>
                <a:cs typeface="Noto Sans CJK JP" pitchFamily="34" charset="-120"/>
              </a:rPr>
              <a:t>BEV</a:t>
            </a:r>
            <a:endParaRPr lang="en-US" sz="1050" dirty="0"/>
          </a:p>
        </p:txBody>
      </p:sp>
      <p:sp>
        <p:nvSpPr>
          <p:cNvPr id="8" name="Shape 6"/>
          <p:cNvSpPr/>
          <p:nvPr/>
        </p:nvSpPr>
        <p:spPr>
          <a:xfrm>
            <a:off x="5577840" y="932688"/>
            <a:ext cx="146304" cy="146304"/>
          </a:xfrm>
          <a:prstGeom prst="rect">
            <a:avLst/>
          </a:prstGeom>
          <a:solidFill>
            <a:srgbClr val="8C6D5A"/>
          </a:solidFill>
          <a:ln w="12700">
            <a:solidFill>
              <a:srgbClr val="8C6D5A"/>
            </a:solidFill>
            <a:prstDash val="solid"/>
          </a:ln>
        </p:spPr>
        <p:txBody>
          <a:bodyPr/>
          <a:lstStyle/>
          <a:p>
            <a:endParaRPr lang="ja-JP" altLang="en-US"/>
          </a:p>
        </p:txBody>
      </p:sp>
      <p:sp>
        <p:nvSpPr>
          <p:cNvPr id="9" name="Text 7"/>
          <p:cNvSpPr/>
          <p:nvPr/>
        </p:nvSpPr>
        <p:spPr>
          <a:xfrm>
            <a:off x="5779008" y="905256"/>
            <a:ext cx="1207008" cy="201168"/>
          </a:xfrm>
          <a:prstGeom prst="rect">
            <a:avLst/>
          </a:prstGeom>
          <a:noFill/>
          <a:ln/>
        </p:spPr>
        <p:txBody>
          <a:bodyPr wrap="square" lIns="0" tIns="0" rIns="0" bIns="0" rtlCol="0" anchor="ctr"/>
          <a:lstStyle/>
          <a:p>
            <a:pPr marL="0" indent="0">
              <a:buNone/>
            </a:pPr>
            <a:r>
              <a:rPr lang="en-US" sz="1050" dirty="0">
                <a:solidFill>
                  <a:srgbClr val="687386"/>
                </a:solidFill>
                <a:latin typeface="Noto Sans CJK JP" pitchFamily="34" charset="0"/>
                <a:ea typeface="Noto Sans CJK JP" pitchFamily="34" charset="-122"/>
                <a:cs typeface="Noto Sans CJK JP" pitchFamily="34" charset="-120"/>
              </a:rPr>
              <a:t>ICE</a:t>
            </a:r>
            <a:endParaRPr lang="en-US" sz="1050" dirty="0"/>
          </a:p>
        </p:txBody>
      </p:sp>
      <p:sp>
        <p:nvSpPr>
          <p:cNvPr id="10" name="Text 8"/>
          <p:cNvSpPr/>
          <p:nvPr/>
        </p:nvSpPr>
        <p:spPr>
          <a:xfrm>
            <a:off x="731520" y="1234440"/>
            <a:ext cx="4389120" cy="320040"/>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使用車両（合計32台）</a:t>
            </a:r>
            <a:endParaRPr lang="en-US" sz="1800" dirty="0"/>
          </a:p>
        </p:txBody>
      </p:sp>
      <p:sp>
        <p:nvSpPr>
          <p:cNvPr id="11" name="Shape 9"/>
          <p:cNvSpPr/>
          <p:nvPr/>
        </p:nvSpPr>
        <p:spPr>
          <a:xfrm>
            <a:off x="1920240" y="1783080"/>
            <a:ext cx="3440430" cy="530352"/>
          </a:xfrm>
          <a:prstGeom prst="rect">
            <a:avLst/>
          </a:prstGeom>
          <a:solidFill>
            <a:srgbClr val="1F9D8A"/>
          </a:solidFill>
          <a:ln w="10160">
            <a:solidFill>
              <a:srgbClr val="FFFFFF"/>
            </a:solidFill>
            <a:prstDash val="solid"/>
          </a:ln>
        </p:spPr>
        <p:txBody>
          <a:bodyPr/>
          <a:lstStyle/>
          <a:p>
            <a:endParaRPr lang="ja-JP" altLang="en-US"/>
          </a:p>
        </p:txBody>
      </p:sp>
      <p:sp>
        <p:nvSpPr>
          <p:cNvPr id="12" name="Text 10"/>
          <p:cNvSpPr/>
          <p:nvPr/>
        </p:nvSpPr>
        <p:spPr>
          <a:xfrm>
            <a:off x="1920240" y="1801368"/>
            <a:ext cx="344043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28</a:t>
            </a:r>
            <a:endParaRPr lang="en-US" sz="1400" dirty="0"/>
          </a:p>
        </p:txBody>
      </p:sp>
      <p:sp>
        <p:nvSpPr>
          <p:cNvPr id="13" name="Shape 11"/>
          <p:cNvSpPr/>
          <p:nvPr/>
        </p:nvSpPr>
        <p:spPr>
          <a:xfrm>
            <a:off x="5360670" y="1783080"/>
            <a:ext cx="491490" cy="530352"/>
          </a:xfrm>
          <a:prstGeom prst="rect">
            <a:avLst/>
          </a:prstGeom>
          <a:solidFill>
            <a:srgbClr val="8C6D5A"/>
          </a:solidFill>
          <a:ln w="10160">
            <a:solidFill>
              <a:srgbClr val="FFFFFF"/>
            </a:solidFill>
            <a:prstDash val="solid"/>
          </a:ln>
        </p:spPr>
        <p:txBody>
          <a:bodyPr/>
          <a:lstStyle/>
          <a:p>
            <a:endParaRPr lang="ja-JP" altLang="en-US"/>
          </a:p>
        </p:txBody>
      </p:sp>
      <p:sp>
        <p:nvSpPr>
          <p:cNvPr id="14" name="Text 12"/>
          <p:cNvSpPr/>
          <p:nvPr/>
        </p:nvSpPr>
        <p:spPr>
          <a:xfrm>
            <a:off x="5360670" y="1801368"/>
            <a:ext cx="491490"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15" name="Text 13"/>
          <p:cNvSpPr/>
          <p:nvPr/>
        </p:nvSpPr>
        <p:spPr>
          <a:xfrm>
            <a:off x="960120" y="177393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高PV</a:t>
            </a:r>
            <a:endParaRPr lang="en-US" sz="1350" dirty="0"/>
          </a:p>
        </p:txBody>
      </p:sp>
      <p:sp>
        <p:nvSpPr>
          <p:cNvPr id="16" name="Shape 14"/>
          <p:cNvSpPr/>
          <p:nvPr/>
        </p:nvSpPr>
        <p:spPr>
          <a:xfrm>
            <a:off x="1920240" y="2560320"/>
            <a:ext cx="2580323" cy="530352"/>
          </a:xfrm>
          <a:prstGeom prst="rect">
            <a:avLst/>
          </a:prstGeom>
          <a:solidFill>
            <a:srgbClr val="1F9D8A"/>
          </a:solidFill>
          <a:ln w="10160">
            <a:solidFill>
              <a:srgbClr val="FFFFFF"/>
            </a:solidFill>
            <a:prstDash val="solid"/>
          </a:ln>
        </p:spPr>
        <p:txBody>
          <a:bodyPr/>
          <a:lstStyle/>
          <a:p>
            <a:endParaRPr lang="ja-JP" altLang="en-US"/>
          </a:p>
        </p:txBody>
      </p:sp>
      <p:sp>
        <p:nvSpPr>
          <p:cNvPr id="17" name="Text 15"/>
          <p:cNvSpPr/>
          <p:nvPr/>
        </p:nvSpPr>
        <p:spPr>
          <a:xfrm>
            <a:off x="1920240" y="2578608"/>
            <a:ext cx="2580323"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21</a:t>
            </a:r>
            <a:endParaRPr lang="en-US" sz="1400" dirty="0"/>
          </a:p>
        </p:txBody>
      </p:sp>
      <p:sp>
        <p:nvSpPr>
          <p:cNvPr id="18" name="Shape 16"/>
          <p:cNvSpPr/>
          <p:nvPr/>
        </p:nvSpPr>
        <p:spPr>
          <a:xfrm>
            <a:off x="4500563" y="2560320"/>
            <a:ext cx="1351598" cy="530352"/>
          </a:xfrm>
          <a:prstGeom prst="rect">
            <a:avLst/>
          </a:prstGeom>
          <a:solidFill>
            <a:srgbClr val="8C6D5A"/>
          </a:solidFill>
          <a:ln w="10160">
            <a:solidFill>
              <a:srgbClr val="FFFFFF"/>
            </a:solidFill>
            <a:prstDash val="solid"/>
          </a:ln>
        </p:spPr>
        <p:txBody>
          <a:bodyPr/>
          <a:lstStyle/>
          <a:p>
            <a:endParaRPr lang="ja-JP" altLang="en-US"/>
          </a:p>
        </p:txBody>
      </p:sp>
      <p:sp>
        <p:nvSpPr>
          <p:cNvPr id="19" name="Text 17"/>
          <p:cNvSpPr/>
          <p:nvPr/>
        </p:nvSpPr>
        <p:spPr>
          <a:xfrm>
            <a:off x="4500563" y="2578608"/>
            <a:ext cx="1351598"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11</a:t>
            </a:r>
            <a:endParaRPr lang="en-US" sz="1400" dirty="0"/>
          </a:p>
        </p:txBody>
      </p:sp>
      <p:sp>
        <p:nvSpPr>
          <p:cNvPr id="20" name="Text 18"/>
          <p:cNvSpPr/>
          <p:nvPr/>
        </p:nvSpPr>
        <p:spPr>
          <a:xfrm>
            <a:off x="960120" y="255117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低PV</a:t>
            </a:r>
            <a:endParaRPr lang="en-US" sz="1350" dirty="0"/>
          </a:p>
        </p:txBody>
      </p:sp>
      <p:sp>
        <p:nvSpPr>
          <p:cNvPr id="21" name="Text 19"/>
          <p:cNvSpPr/>
          <p:nvPr/>
        </p:nvSpPr>
        <p:spPr>
          <a:xfrm>
            <a:off x="6355080" y="1234440"/>
            <a:ext cx="4297680" cy="320040"/>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担当便数（合計264便）</a:t>
            </a:r>
            <a:endParaRPr lang="en-US" sz="1800" dirty="0"/>
          </a:p>
        </p:txBody>
      </p:sp>
      <p:sp>
        <p:nvSpPr>
          <p:cNvPr id="22" name="Shape 20"/>
          <p:cNvSpPr/>
          <p:nvPr/>
        </p:nvSpPr>
        <p:spPr>
          <a:xfrm>
            <a:off x="7452360" y="1783080"/>
            <a:ext cx="2550275" cy="530352"/>
          </a:xfrm>
          <a:prstGeom prst="rect">
            <a:avLst/>
          </a:prstGeom>
          <a:solidFill>
            <a:srgbClr val="1F9D8A"/>
          </a:solidFill>
          <a:ln w="10160">
            <a:solidFill>
              <a:srgbClr val="FFFFFF"/>
            </a:solidFill>
            <a:prstDash val="solid"/>
          </a:ln>
        </p:spPr>
        <p:txBody>
          <a:bodyPr/>
          <a:lstStyle/>
          <a:p>
            <a:endParaRPr lang="ja-JP" altLang="en-US"/>
          </a:p>
        </p:txBody>
      </p:sp>
      <p:sp>
        <p:nvSpPr>
          <p:cNvPr id="23" name="Text 21"/>
          <p:cNvSpPr/>
          <p:nvPr/>
        </p:nvSpPr>
        <p:spPr>
          <a:xfrm>
            <a:off x="7452360" y="1801368"/>
            <a:ext cx="2550275"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199</a:t>
            </a:r>
            <a:endParaRPr lang="en-US" sz="1400" dirty="0"/>
          </a:p>
        </p:txBody>
      </p:sp>
      <p:sp>
        <p:nvSpPr>
          <p:cNvPr id="24" name="Shape 22"/>
          <p:cNvSpPr/>
          <p:nvPr/>
        </p:nvSpPr>
        <p:spPr>
          <a:xfrm>
            <a:off x="10002635" y="1783080"/>
            <a:ext cx="833005" cy="530352"/>
          </a:xfrm>
          <a:prstGeom prst="rect">
            <a:avLst/>
          </a:prstGeom>
          <a:solidFill>
            <a:srgbClr val="8C6D5A"/>
          </a:solidFill>
          <a:ln w="10160">
            <a:solidFill>
              <a:srgbClr val="FFFFFF"/>
            </a:solidFill>
            <a:prstDash val="solid"/>
          </a:ln>
        </p:spPr>
        <p:txBody>
          <a:bodyPr/>
          <a:lstStyle/>
          <a:p>
            <a:endParaRPr lang="ja-JP" altLang="en-US"/>
          </a:p>
        </p:txBody>
      </p:sp>
      <p:sp>
        <p:nvSpPr>
          <p:cNvPr id="25" name="Text 23"/>
          <p:cNvSpPr/>
          <p:nvPr/>
        </p:nvSpPr>
        <p:spPr>
          <a:xfrm>
            <a:off x="10002635" y="1801368"/>
            <a:ext cx="833005"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65</a:t>
            </a:r>
            <a:endParaRPr lang="en-US" sz="1400" dirty="0"/>
          </a:p>
        </p:txBody>
      </p:sp>
      <p:sp>
        <p:nvSpPr>
          <p:cNvPr id="26" name="Text 24"/>
          <p:cNvSpPr/>
          <p:nvPr/>
        </p:nvSpPr>
        <p:spPr>
          <a:xfrm>
            <a:off x="6492240" y="177393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高PV</a:t>
            </a:r>
            <a:endParaRPr lang="en-US" sz="1350" dirty="0"/>
          </a:p>
        </p:txBody>
      </p:sp>
      <p:sp>
        <p:nvSpPr>
          <p:cNvPr id="27" name="Shape 25"/>
          <p:cNvSpPr/>
          <p:nvPr/>
        </p:nvSpPr>
        <p:spPr>
          <a:xfrm>
            <a:off x="7452360" y="2560320"/>
            <a:ext cx="1166206" cy="530352"/>
          </a:xfrm>
          <a:prstGeom prst="rect">
            <a:avLst/>
          </a:prstGeom>
          <a:solidFill>
            <a:srgbClr val="1F9D8A"/>
          </a:solidFill>
          <a:ln w="10160">
            <a:solidFill>
              <a:srgbClr val="FFFFFF"/>
            </a:solidFill>
            <a:prstDash val="solid"/>
          </a:ln>
        </p:spPr>
        <p:txBody>
          <a:bodyPr/>
          <a:lstStyle/>
          <a:p>
            <a:endParaRPr lang="ja-JP" altLang="en-US"/>
          </a:p>
        </p:txBody>
      </p:sp>
      <p:sp>
        <p:nvSpPr>
          <p:cNvPr id="28" name="Text 26"/>
          <p:cNvSpPr/>
          <p:nvPr/>
        </p:nvSpPr>
        <p:spPr>
          <a:xfrm>
            <a:off x="7452360" y="2578608"/>
            <a:ext cx="1166206"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91</a:t>
            </a:r>
            <a:endParaRPr lang="en-US" sz="1400" dirty="0"/>
          </a:p>
        </p:txBody>
      </p:sp>
      <p:sp>
        <p:nvSpPr>
          <p:cNvPr id="29" name="Shape 27"/>
          <p:cNvSpPr/>
          <p:nvPr/>
        </p:nvSpPr>
        <p:spPr>
          <a:xfrm>
            <a:off x="8618566" y="2560320"/>
            <a:ext cx="2217074" cy="530352"/>
          </a:xfrm>
          <a:prstGeom prst="rect">
            <a:avLst/>
          </a:prstGeom>
          <a:solidFill>
            <a:srgbClr val="8C6D5A"/>
          </a:solidFill>
          <a:ln w="10160">
            <a:solidFill>
              <a:srgbClr val="FFFFFF"/>
            </a:solidFill>
            <a:prstDash val="solid"/>
          </a:ln>
        </p:spPr>
        <p:txBody>
          <a:bodyPr/>
          <a:lstStyle/>
          <a:p>
            <a:endParaRPr lang="ja-JP" altLang="en-US"/>
          </a:p>
        </p:txBody>
      </p:sp>
      <p:sp>
        <p:nvSpPr>
          <p:cNvPr id="30" name="Text 28"/>
          <p:cNvSpPr/>
          <p:nvPr/>
        </p:nvSpPr>
        <p:spPr>
          <a:xfrm>
            <a:off x="8618566" y="2578608"/>
            <a:ext cx="2217074" cy="493776"/>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173</a:t>
            </a:r>
            <a:endParaRPr lang="en-US" sz="1400" dirty="0"/>
          </a:p>
        </p:txBody>
      </p:sp>
      <p:sp>
        <p:nvSpPr>
          <p:cNvPr id="31" name="Text 29"/>
          <p:cNvSpPr/>
          <p:nvPr/>
        </p:nvSpPr>
        <p:spPr>
          <a:xfrm>
            <a:off x="6492240" y="2551176"/>
            <a:ext cx="868680" cy="530352"/>
          </a:xfrm>
          <a:prstGeom prst="rect">
            <a:avLst/>
          </a:prstGeom>
          <a:noFill/>
          <a:ln/>
        </p:spPr>
        <p:txBody>
          <a:bodyPr wrap="square" lIns="0" tIns="0" rIns="0" bIns="0" rtlCol="0" anchor="ctr"/>
          <a:lstStyle/>
          <a:p>
            <a:pPr marL="0" indent="0" algn="r">
              <a:buNone/>
            </a:pPr>
            <a:r>
              <a:rPr lang="en-US" sz="1350" b="1" dirty="0">
                <a:solidFill>
                  <a:srgbClr val="172033"/>
                </a:solidFill>
                <a:latin typeface="Noto Sans CJK JP" pitchFamily="34" charset="0"/>
                <a:ea typeface="Noto Sans CJK JP" pitchFamily="34" charset="-122"/>
                <a:cs typeface="Noto Sans CJK JP" pitchFamily="34" charset="-120"/>
              </a:rPr>
              <a:t>低PV</a:t>
            </a:r>
            <a:endParaRPr lang="en-US" sz="1350" dirty="0"/>
          </a:p>
        </p:txBody>
      </p:sp>
      <p:sp>
        <p:nvSpPr>
          <p:cNvPr id="32" name="Shape 30"/>
          <p:cNvSpPr/>
          <p:nvPr/>
        </p:nvSpPr>
        <p:spPr>
          <a:xfrm>
            <a:off x="731520" y="3703320"/>
            <a:ext cx="3429000" cy="1572768"/>
          </a:xfrm>
          <a:prstGeom prst="roundRect">
            <a:avLst>
              <a:gd name="adj" fmla="val 4651"/>
            </a:avLst>
          </a:prstGeom>
          <a:solidFill>
            <a:srgbClr val="E8F6F3"/>
          </a:solidFill>
          <a:ln w="12700">
            <a:solidFill>
              <a:srgbClr val="1F9D8A"/>
            </a:solidFill>
            <a:prstDash val="solid"/>
          </a:ln>
        </p:spPr>
        <p:txBody>
          <a:bodyPr/>
          <a:lstStyle/>
          <a:p>
            <a:endParaRPr lang="ja-JP" altLang="en-US"/>
          </a:p>
        </p:txBody>
      </p:sp>
      <p:pic>
        <p:nvPicPr>
          <p:cNvPr id="3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05840" y="4005072"/>
            <a:ext cx="475488" cy="475488"/>
          </a:xfrm>
          <a:prstGeom prst="rect">
            <a:avLst/>
          </a:prstGeom>
        </p:spPr>
      </p:pic>
      <p:sp>
        <p:nvSpPr>
          <p:cNvPr id="34" name="Text 31"/>
          <p:cNvSpPr/>
          <p:nvPr/>
        </p:nvSpPr>
        <p:spPr>
          <a:xfrm>
            <a:off x="1664208" y="3913632"/>
            <a:ext cx="132588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高PV条件</a:t>
            </a:r>
            <a:endParaRPr lang="en-US" sz="1800" dirty="0"/>
          </a:p>
        </p:txBody>
      </p:sp>
      <p:sp>
        <p:nvSpPr>
          <p:cNvPr id="35" name="Text 32"/>
          <p:cNvSpPr/>
          <p:nvPr/>
        </p:nvSpPr>
        <p:spPr>
          <a:xfrm>
            <a:off x="1005840"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BEV 28台・199便</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 PVを使える時間にBEVを活用</a:t>
            </a:r>
            <a:endParaRPr lang="en-US" sz="1550" dirty="0"/>
          </a:p>
        </p:txBody>
      </p:sp>
      <p:sp>
        <p:nvSpPr>
          <p:cNvPr id="36" name="Shape 33"/>
          <p:cNvSpPr/>
          <p:nvPr/>
        </p:nvSpPr>
        <p:spPr>
          <a:xfrm>
            <a:off x="4407408" y="3703320"/>
            <a:ext cx="3429000" cy="1572768"/>
          </a:xfrm>
          <a:prstGeom prst="roundRect">
            <a:avLst>
              <a:gd name="adj" fmla="val 4651"/>
            </a:avLst>
          </a:prstGeom>
          <a:solidFill>
            <a:srgbClr val="EAF2FB"/>
          </a:solidFill>
          <a:ln w="12700">
            <a:solidFill>
              <a:srgbClr val="356BB3"/>
            </a:solidFill>
            <a:prstDash val="solid"/>
          </a:ln>
        </p:spPr>
        <p:txBody>
          <a:bodyPr/>
          <a:lstStyle/>
          <a:p>
            <a:endParaRPr lang="ja-JP" altLang="en-US"/>
          </a:p>
        </p:txBody>
      </p:sp>
      <p:pic>
        <p:nvPicPr>
          <p:cNvPr id="37"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681728" y="4005072"/>
            <a:ext cx="502920" cy="475488"/>
          </a:xfrm>
          <a:prstGeom prst="rect">
            <a:avLst/>
          </a:prstGeom>
        </p:spPr>
      </p:pic>
      <p:sp>
        <p:nvSpPr>
          <p:cNvPr id="38" name="Text 34"/>
          <p:cNvSpPr/>
          <p:nvPr/>
        </p:nvSpPr>
        <p:spPr>
          <a:xfrm>
            <a:off x="5349240" y="3913632"/>
            <a:ext cx="132588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低PV条件</a:t>
            </a:r>
            <a:endParaRPr lang="en-US" sz="1800" dirty="0"/>
          </a:p>
        </p:txBody>
      </p:sp>
      <p:sp>
        <p:nvSpPr>
          <p:cNvPr id="39" name="Text 35"/>
          <p:cNvSpPr/>
          <p:nvPr/>
        </p:nvSpPr>
        <p:spPr>
          <a:xfrm>
            <a:off x="4681728"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BEV 21台・91便</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 充電できる量に合わせICEを増加</a:t>
            </a:r>
            <a:endParaRPr lang="en-US" sz="1550" dirty="0"/>
          </a:p>
        </p:txBody>
      </p:sp>
      <p:sp>
        <p:nvSpPr>
          <p:cNvPr id="40" name="Shape 36"/>
          <p:cNvSpPr/>
          <p:nvPr/>
        </p:nvSpPr>
        <p:spPr>
          <a:xfrm>
            <a:off x="8083296" y="3703320"/>
            <a:ext cx="3429000" cy="1572768"/>
          </a:xfrm>
          <a:prstGeom prst="roundRect">
            <a:avLst>
              <a:gd name="adj" fmla="val 4651"/>
            </a:avLst>
          </a:prstGeom>
          <a:solidFill>
            <a:srgbClr val="F8FAFC"/>
          </a:solidFill>
          <a:ln w="12700">
            <a:solidFill>
              <a:srgbClr val="EEF1F5"/>
            </a:solidFill>
            <a:prstDash val="solid"/>
          </a:ln>
        </p:spPr>
        <p:txBody>
          <a:bodyPr/>
          <a:lstStyle/>
          <a:p>
            <a:endParaRPr lang="ja-JP" altLang="en-US"/>
          </a:p>
        </p:txBody>
      </p:sp>
      <p:pic>
        <p:nvPicPr>
          <p:cNvPr id="41"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57616" y="4005072"/>
            <a:ext cx="457200" cy="457200"/>
          </a:xfrm>
          <a:prstGeom prst="rect">
            <a:avLst/>
          </a:prstGeom>
        </p:spPr>
      </p:pic>
      <p:sp>
        <p:nvSpPr>
          <p:cNvPr id="42" name="Text 37"/>
          <p:cNvSpPr/>
          <p:nvPr/>
        </p:nvSpPr>
        <p:spPr>
          <a:xfrm>
            <a:off x="9015984" y="3913632"/>
            <a:ext cx="100584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共通</a:t>
            </a:r>
            <a:endParaRPr lang="en-US" sz="1800" dirty="0"/>
          </a:p>
        </p:txBody>
      </p:sp>
      <p:sp>
        <p:nvSpPr>
          <p:cNvPr id="43" name="Text 38"/>
          <p:cNvSpPr/>
          <p:nvPr/>
        </p:nvSpPr>
        <p:spPr>
          <a:xfrm>
            <a:off x="8357616" y="4370832"/>
            <a:ext cx="2743200" cy="603504"/>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264/264便を運行</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使用総台数はどちらも32台</a:t>
            </a:r>
            <a:endParaRPr lang="en-US" sz="1550" dirty="0"/>
          </a:p>
        </p:txBody>
      </p:sp>
      <p:sp>
        <p:nvSpPr>
          <p:cNvPr id="44" name="Text 39"/>
          <p:cNvSpPr/>
          <p:nvPr/>
        </p:nvSpPr>
        <p:spPr>
          <a:xfrm>
            <a:off x="1828800" y="5797296"/>
            <a:ext cx="8595360" cy="237744"/>
          </a:xfrm>
          <a:prstGeom prst="rect">
            <a:avLst/>
          </a:prstGeom>
          <a:noFill/>
          <a:ln/>
        </p:spPr>
        <p:txBody>
          <a:bodyPr wrap="square" lIns="0" tIns="0" rIns="0" bIns="0" rtlCol="0" anchor="ctr"/>
          <a:lstStyle/>
          <a:p>
            <a:pPr marL="0" indent="0" algn="ctr">
              <a:buNone/>
            </a:pPr>
            <a:r>
              <a:rPr lang="en-US" sz="1080" dirty="0">
                <a:solidFill>
                  <a:srgbClr val="C94C4C"/>
                </a:solidFill>
                <a:latin typeface="Noto Sans CJK JP" pitchFamily="34" charset="0"/>
                <a:ea typeface="Noto Sans CJK JP" pitchFamily="34" charset="-122"/>
                <a:cs typeface="Noto Sans CJK JP" pitchFamily="34" charset="-120"/>
              </a:rPr>
              <a:t>※ 2つの固定条件での結果であり、一般的な天候効果を示すものではない</a:t>
            </a:r>
            <a:endParaRPr lang="en-US" sz="10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先行研究にならい、車両構成と費用の関係を候補ごとに確認</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11/18</a:t>
            </a:r>
            <a:endParaRPr lang="en-US" sz="850" dirty="0"/>
          </a:p>
        </p:txBody>
      </p:sp>
      <p:pic>
        <p:nvPicPr>
          <p:cNvPr id="6" name="Image 0" descr="/mnt/data/candidate_cost_vs_bev.png"/>
          <p:cNvPicPr>
            <a:picLocks noChangeAspect="1"/>
          </p:cNvPicPr>
          <p:nvPr/>
        </p:nvPicPr>
        <p:blipFill>
          <a:blip r:embed="rId3"/>
          <a:stretch>
            <a:fillRect/>
          </a:stretch>
        </p:blipFill>
        <p:spPr>
          <a:xfrm>
            <a:off x="594360" y="960120"/>
            <a:ext cx="7498080" cy="4343400"/>
          </a:xfrm>
          <a:prstGeom prst="rect">
            <a:avLst/>
          </a:prstGeom>
        </p:spPr>
      </p:pic>
      <p:sp>
        <p:nvSpPr>
          <p:cNvPr id="7" name="Shape 4"/>
          <p:cNvSpPr/>
          <p:nvPr/>
        </p:nvSpPr>
        <p:spPr>
          <a:xfrm>
            <a:off x="8275320" y="1078992"/>
            <a:ext cx="3246120" cy="4041648"/>
          </a:xfrm>
          <a:prstGeom prst="roundRect">
            <a:avLst>
              <a:gd name="adj" fmla="val 225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8" name="Text 5"/>
          <p:cNvSpPr/>
          <p:nvPr/>
        </p:nvSpPr>
        <p:spPr>
          <a:xfrm>
            <a:off x="8567928" y="1344168"/>
            <a:ext cx="2514600" cy="329184"/>
          </a:xfrm>
          <a:prstGeom prst="rect">
            <a:avLst/>
          </a:prstGeom>
          <a:noFill/>
          <a:ln/>
        </p:spPr>
        <p:txBody>
          <a:bodyPr wrap="square" lIns="0" tIns="0" rIns="0" bIns="0" rtlCol="0" anchor="ctr"/>
          <a:lstStyle/>
          <a:p>
            <a:pPr marL="0" indent="0" algn="ctr">
              <a:buNone/>
            </a:pPr>
            <a:r>
              <a:rPr lang="en-US" sz="2000" b="1" dirty="0">
                <a:solidFill>
                  <a:srgbClr val="172033"/>
                </a:solidFill>
                <a:latin typeface="Noto Sans CJK JP" pitchFamily="34" charset="0"/>
                <a:ea typeface="Noto Sans CJK JP" pitchFamily="34" charset="-122"/>
                <a:cs typeface="Noto Sans CJK JP" pitchFamily="34" charset="-120"/>
              </a:rPr>
              <a:t>図から読めること</a:t>
            </a:r>
            <a:endParaRPr lang="en-US" sz="2000" dirty="0"/>
          </a:p>
        </p:txBody>
      </p:sp>
      <p:sp>
        <p:nvSpPr>
          <p:cNvPr id="9" name="Shape 6"/>
          <p:cNvSpPr/>
          <p:nvPr/>
        </p:nvSpPr>
        <p:spPr>
          <a:xfrm>
            <a:off x="8540496" y="206654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0" name="Text 7"/>
          <p:cNvSpPr/>
          <p:nvPr/>
        </p:nvSpPr>
        <p:spPr>
          <a:xfrm>
            <a:off x="8705088" y="192024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高PV条件はBEV 28台の候補を選択</a:t>
            </a:r>
            <a:endParaRPr lang="en-US" sz="1430" dirty="0"/>
          </a:p>
        </p:txBody>
      </p:sp>
      <p:sp>
        <p:nvSpPr>
          <p:cNvPr id="11" name="Shape 8"/>
          <p:cNvSpPr/>
          <p:nvPr/>
        </p:nvSpPr>
        <p:spPr>
          <a:xfrm>
            <a:off x="8540496" y="267233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2" name="Text 9"/>
          <p:cNvSpPr/>
          <p:nvPr/>
        </p:nvSpPr>
        <p:spPr>
          <a:xfrm>
            <a:off x="8705088" y="252603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低PV条件はBEV 21台の候補を選択</a:t>
            </a:r>
            <a:endParaRPr lang="en-US" sz="1430" dirty="0"/>
          </a:p>
        </p:txBody>
      </p:sp>
      <p:sp>
        <p:nvSpPr>
          <p:cNvPr id="13" name="Shape 10"/>
          <p:cNvSpPr/>
          <p:nvPr/>
        </p:nvSpPr>
        <p:spPr>
          <a:xfrm>
            <a:off x="8540496" y="327812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4" name="Text 11"/>
          <p:cNvSpPr/>
          <p:nvPr/>
        </p:nvSpPr>
        <p:spPr>
          <a:xfrm>
            <a:off x="8705088" y="313182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同じ候補でもPV条件で評価額が変わる</a:t>
            </a:r>
            <a:endParaRPr lang="en-US" sz="1430" dirty="0"/>
          </a:p>
        </p:txBody>
      </p:sp>
      <p:sp>
        <p:nvSpPr>
          <p:cNvPr id="15" name="Shape 12"/>
          <p:cNvSpPr/>
          <p:nvPr/>
        </p:nvSpPr>
        <p:spPr>
          <a:xfrm>
            <a:off x="8540496" y="3883914"/>
            <a:ext cx="91440" cy="91440"/>
          </a:xfrm>
          <a:prstGeom prst="ellipse">
            <a:avLst/>
          </a:prstGeom>
          <a:solidFill>
            <a:srgbClr val="356BB3"/>
          </a:solidFill>
          <a:ln w="12700">
            <a:solidFill>
              <a:srgbClr val="356BB3"/>
            </a:solidFill>
            <a:prstDash val="solid"/>
          </a:ln>
        </p:spPr>
        <p:txBody>
          <a:bodyPr/>
          <a:lstStyle/>
          <a:p>
            <a:endParaRPr lang="ja-JP" altLang="en-US"/>
          </a:p>
        </p:txBody>
      </p:sp>
      <p:sp>
        <p:nvSpPr>
          <p:cNvPr id="16" name="Text 13"/>
          <p:cNvSpPr/>
          <p:nvPr/>
        </p:nvSpPr>
        <p:spPr>
          <a:xfrm>
            <a:off x="8705088" y="3737610"/>
            <a:ext cx="2395728" cy="560070"/>
          </a:xfrm>
          <a:prstGeom prst="rect">
            <a:avLst/>
          </a:prstGeom>
          <a:noFill/>
          <a:ln/>
        </p:spPr>
        <p:txBody>
          <a:bodyPr wrap="square" lIns="0" tIns="0" rIns="0" bIns="0" rtlCol="0" anchor="ctr">
            <a:normAutofit/>
          </a:bodyPr>
          <a:lstStyle/>
          <a:p>
            <a:pPr marL="0" indent="0">
              <a:buNone/>
            </a:pPr>
            <a:r>
              <a:rPr lang="en-US" sz="1430" dirty="0">
                <a:solidFill>
                  <a:srgbClr val="172033"/>
                </a:solidFill>
                <a:latin typeface="Noto Sans CJK JP" pitchFamily="34" charset="0"/>
                <a:ea typeface="Noto Sans CJK JP" pitchFamily="34" charset="-122"/>
                <a:cs typeface="Noto Sans CJK JP" pitchFamily="34" charset="-120"/>
              </a:rPr>
              <a:t>BEVを増やせば必ず安くなるわけではない</a:t>
            </a:r>
            <a:endParaRPr lang="en-US" sz="1430" dirty="0"/>
          </a:p>
        </p:txBody>
      </p:sp>
      <p:sp>
        <p:nvSpPr>
          <p:cNvPr id="17" name="Shape 14"/>
          <p:cNvSpPr/>
          <p:nvPr/>
        </p:nvSpPr>
        <p:spPr>
          <a:xfrm>
            <a:off x="8549640" y="4526280"/>
            <a:ext cx="2697480" cy="384048"/>
          </a:xfrm>
          <a:prstGeom prst="roundRect">
            <a:avLst/>
          </a:prstGeom>
          <a:solidFill>
            <a:srgbClr val="FFF5D8"/>
          </a:solidFill>
          <a:ln w="12700">
            <a:solidFill>
              <a:srgbClr val="E7B34B"/>
            </a:solidFill>
            <a:prstDash val="solid"/>
          </a:ln>
        </p:spPr>
        <p:txBody>
          <a:bodyPr/>
          <a:lstStyle/>
          <a:p>
            <a:endParaRPr lang="ja-JP" altLang="en-US"/>
          </a:p>
        </p:txBody>
      </p:sp>
      <p:sp>
        <p:nvSpPr>
          <p:cNvPr id="18" name="Text 15"/>
          <p:cNvSpPr/>
          <p:nvPr/>
        </p:nvSpPr>
        <p:spPr>
          <a:xfrm>
            <a:off x="8732520" y="4617720"/>
            <a:ext cx="2331720" cy="201168"/>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有限22候補内の比較</a:t>
            </a:r>
            <a:endParaRPr lang="en-US" sz="1400" dirty="0"/>
          </a:p>
        </p:txBody>
      </p:sp>
      <p:sp>
        <p:nvSpPr>
          <p:cNvPr id="19" name="Text 16"/>
          <p:cNvSpPr/>
          <p:nvPr/>
        </p:nvSpPr>
        <p:spPr>
          <a:xfrm>
            <a:off x="1005840" y="5742432"/>
            <a:ext cx="10149840" cy="274320"/>
          </a:xfrm>
          <a:prstGeom prst="rect">
            <a:avLst/>
          </a:prstGeom>
          <a:noFill/>
          <a:ln/>
        </p:spPr>
        <p:txBody>
          <a:bodyPr wrap="square" lIns="0" tIns="0" rIns="0" bIns="0" rtlCol="0" anchor="ctr"/>
          <a:lstStyle/>
          <a:p>
            <a:pPr marL="0" indent="0" algn="ctr">
              <a:buNone/>
            </a:pPr>
            <a:r>
              <a:rPr lang="en-US" sz="1100" dirty="0">
                <a:solidFill>
                  <a:srgbClr val="C94C4C"/>
                </a:solidFill>
                <a:latin typeface="Noto Sans CJK JP" pitchFamily="34" charset="0"/>
                <a:ea typeface="Noto Sans CJK JP" pitchFamily="34" charset="-122"/>
                <a:cs typeface="Noto Sans CJK JP" pitchFamily="34" charset="-120"/>
              </a:rPr>
              <a:t>因果関係や全候補の最適性を示す図ではない</a:t>
            </a:r>
            <a:endParaRPr lang="en-US" sz="1100" dirty="0"/>
          </a:p>
        </p:txBody>
      </p:sp>
      <p:sp>
        <p:nvSpPr>
          <p:cNvPr id="20" name="Text 17"/>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図の構成は Fei et al., Transportation Research Part C 149 (2023) の「台数と収益」の示し方を参考に、本研究データで再作成</a:t>
            </a:r>
            <a:endParaRPr lang="en-US" sz="7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最新結果②：低PV条件では、主に燃料使用の増加によって評価額が高くなった</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12/18</a:t>
            </a:r>
            <a:endParaRPr lang="en-US" sz="850" dirty="0"/>
          </a:p>
        </p:txBody>
      </p:sp>
      <p:sp>
        <p:nvSpPr>
          <p:cNvPr id="6" name="Text 4"/>
          <p:cNvSpPr/>
          <p:nvPr/>
        </p:nvSpPr>
        <p:spPr>
          <a:xfrm>
            <a:off x="731520" y="932688"/>
            <a:ext cx="3749040" cy="292608"/>
          </a:xfrm>
          <a:prstGeom prst="rect">
            <a:avLst/>
          </a:prstGeom>
          <a:noFill/>
          <a:ln/>
        </p:spPr>
        <p:txBody>
          <a:bodyPr wrap="square" lIns="0" tIns="0" rIns="0" bIns="0" rtlCol="0" anchor="ctr"/>
          <a:lstStyle/>
          <a:p>
            <a:pPr marL="0" indent="0">
              <a:buNone/>
            </a:pPr>
            <a:r>
              <a:rPr lang="en-US" sz="1800" b="1" dirty="0">
                <a:solidFill>
                  <a:srgbClr val="172033"/>
                </a:solidFill>
                <a:latin typeface="Noto Sans CJK JP" pitchFamily="34" charset="0"/>
                <a:ea typeface="Noto Sans CJK JP" pitchFamily="34" charset="-122"/>
                <a:cs typeface="Noto Sans CJK JP" pitchFamily="34" charset="-120"/>
              </a:rPr>
              <a:t>モデル上の24時間評価額</a:t>
            </a:r>
            <a:endParaRPr lang="en-US" sz="1800" dirty="0"/>
          </a:p>
        </p:txBody>
      </p:sp>
      <p:sp>
        <p:nvSpPr>
          <p:cNvPr id="7" name="Shape 5"/>
          <p:cNvSpPr/>
          <p:nvPr/>
        </p:nvSpPr>
        <p:spPr>
          <a:xfrm>
            <a:off x="1325880" y="2369195"/>
            <a:ext cx="1234440" cy="2980045"/>
          </a:xfrm>
          <a:prstGeom prst="roundRect">
            <a:avLst/>
          </a:prstGeom>
          <a:solidFill>
            <a:srgbClr val="1F9D8A"/>
          </a:solidFill>
          <a:ln w="12700">
            <a:solidFill>
              <a:srgbClr val="1F9D8A"/>
            </a:solidFill>
            <a:prstDash val="solid"/>
          </a:ln>
        </p:spPr>
        <p:txBody>
          <a:bodyPr/>
          <a:lstStyle/>
          <a:p>
            <a:endParaRPr lang="ja-JP" altLang="en-US"/>
          </a:p>
        </p:txBody>
      </p:sp>
      <p:sp>
        <p:nvSpPr>
          <p:cNvPr id="8" name="Text 6"/>
          <p:cNvSpPr/>
          <p:nvPr/>
        </p:nvSpPr>
        <p:spPr>
          <a:xfrm>
            <a:off x="1188720" y="1930283"/>
            <a:ext cx="1508760" cy="310896"/>
          </a:xfrm>
          <a:prstGeom prst="rect">
            <a:avLst/>
          </a:prstGeom>
          <a:noFill/>
          <a:ln/>
        </p:spPr>
        <p:txBody>
          <a:bodyPr wrap="square" lIns="0" tIns="0" rIns="0" bIns="0" rtlCol="0" anchor="ctr"/>
          <a:lstStyle/>
          <a:p>
            <a:pPr marL="0" indent="0" algn="ctr">
              <a:buNone/>
            </a:pPr>
            <a:r>
              <a:rPr lang="en-US" sz="1700" b="1" dirty="0">
                <a:solidFill>
                  <a:srgbClr val="1F9D8A"/>
                </a:solidFill>
                <a:latin typeface="Noto Sans CJK JP" pitchFamily="34" charset="0"/>
                <a:ea typeface="Noto Sans CJK JP" pitchFamily="34" charset="-122"/>
                <a:cs typeface="Noto Sans CJK JP" pitchFamily="34" charset="-120"/>
              </a:rPr>
              <a:t>661千円</a:t>
            </a:r>
            <a:endParaRPr lang="en-US" sz="1700" dirty="0"/>
          </a:p>
        </p:txBody>
      </p:sp>
      <p:sp>
        <p:nvSpPr>
          <p:cNvPr id="9" name="Text 7"/>
          <p:cNvSpPr/>
          <p:nvPr/>
        </p:nvSpPr>
        <p:spPr>
          <a:xfrm>
            <a:off x="1325880" y="5504688"/>
            <a:ext cx="123444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高PV</a:t>
            </a:r>
            <a:endParaRPr lang="en-US" sz="1400" dirty="0"/>
          </a:p>
        </p:txBody>
      </p:sp>
      <p:sp>
        <p:nvSpPr>
          <p:cNvPr id="10" name="Shape 8"/>
          <p:cNvSpPr/>
          <p:nvPr/>
        </p:nvSpPr>
        <p:spPr>
          <a:xfrm>
            <a:off x="3337560" y="2199608"/>
            <a:ext cx="1234440" cy="3149632"/>
          </a:xfrm>
          <a:prstGeom prst="roundRect">
            <a:avLst/>
          </a:prstGeom>
          <a:solidFill>
            <a:srgbClr val="356BB3"/>
          </a:solidFill>
          <a:ln w="12700">
            <a:solidFill>
              <a:srgbClr val="356BB3"/>
            </a:solidFill>
            <a:prstDash val="solid"/>
          </a:ln>
        </p:spPr>
        <p:txBody>
          <a:bodyPr/>
          <a:lstStyle/>
          <a:p>
            <a:endParaRPr lang="ja-JP" altLang="en-US"/>
          </a:p>
        </p:txBody>
      </p:sp>
      <p:sp>
        <p:nvSpPr>
          <p:cNvPr id="11" name="Text 9"/>
          <p:cNvSpPr/>
          <p:nvPr/>
        </p:nvSpPr>
        <p:spPr>
          <a:xfrm>
            <a:off x="3200400" y="1760696"/>
            <a:ext cx="1508760" cy="310896"/>
          </a:xfrm>
          <a:prstGeom prst="rect">
            <a:avLst/>
          </a:prstGeom>
          <a:noFill/>
          <a:ln/>
        </p:spPr>
        <p:txBody>
          <a:bodyPr wrap="square" lIns="0" tIns="0" rIns="0" bIns="0" rtlCol="0" anchor="ctr"/>
          <a:lstStyle/>
          <a:p>
            <a:pPr marL="0" indent="0" algn="ctr">
              <a:buNone/>
            </a:pPr>
            <a:r>
              <a:rPr lang="en-US" sz="1700" b="1" dirty="0">
                <a:solidFill>
                  <a:srgbClr val="356BB3"/>
                </a:solidFill>
                <a:latin typeface="Noto Sans CJK JP" pitchFamily="34" charset="0"/>
                <a:ea typeface="Noto Sans CJK JP" pitchFamily="34" charset="-122"/>
                <a:cs typeface="Noto Sans CJK JP" pitchFamily="34" charset="-120"/>
              </a:rPr>
              <a:t>699千円</a:t>
            </a:r>
            <a:endParaRPr lang="en-US" sz="1700" dirty="0"/>
          </a:p>
        </p:txBody>
      </p:sp>
      <p:sp>
        <p:nvSpPr>
          <p:cNvPr id="12" name="Text 10"/>
          <p:cNvSpPr/>
          <p:nvPr/>
        </p:nvSpPr>
        <p:spPr>
          <a:xfrm>
            <a:off x="3337560" y="5504688"/>
            <a:ext cx="123444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低PV</a:t>
            </a:r>
            <a:endParaRPr lang="en-US" sz="1400" dirty="0"/>
          </a:p>
        </p:txBody>
      </p:sp>
      <p:sp>
        <p:nvSpPr>
          <p:cNvPr id="13" name="Shape 11"/>
          <p:cNvSpPr/>
          <p:nvPr/>
        </p:nvSpPr>
        <p:spPr>
          <a:xfrm>
            <a:off x="868680" y="5349240"/>
            <a:ext cx="4251960" cy="0"/>
          </a:xfrm>
          <a:prstGeom prst="line">
            <a:avLst/>
          </a:prstGeom>
          <a:noFill/>
          <a:ln w="12700">
            <a:solidFill>
              <a:srgbClr val="A5AFBD"/>
            </a:solidFill>
            <a:prstDash val="solid"/>
          </a:ln>
        </p:spPr>
        <p:txBody>
          <a:bodyPr/>
          <a:lstStyle/>
          <a:p>
            <a:endParaRPr lang="ja-JP" altLang="en-US"/>
          </a:p>
        </p:txBody>
      </p:sp>
      <p:sp>
        <p:nvSpPr>
          <p:cNvPr id="14" name="Shape 12"/>
          <p:cNvSpPr/>
          <p:nvPr/>
        </p:nvSpPr>
        <p:spPr>
          <a:xfrm>
            <a:off x="5577840" y="932688"/>
            <a:ext cx="5669280" cy="4892040"/>
          </a:xfrm>
          <a:prstGeom prst="roundRect">
            <a:avLst>
              <a:gd name="adj" fmla="val 1495"/>
            </a:avLst>
          </a:prstGeom>
          <a:solidFill>
            <a:srgbClr val="F8FAFC"/>
          </a:solidFill>
          <a:ln w="12700">
            <a:solidFill>
              <a:srgbClr val="EEF1F5"/>
            </a:solidFill>
            <a:prstDash val="solid"/>
          </a:ln>
        </p:spPr>
        <p:txBody>
          <a:bodyPr/>
          <a:lstStyle/>
          <a:p>
            <a:endParaRPr lang="ja-JP" altLang="en-US"/>
          </a:p>
        </p:txBody>
      </p:sp>
      <p:sp>
        <p:nvSpPr>
          <p:cNvPr id="15" name="Text 13"/>
          <p:cNvSpPr/>
          <p:nvPr/>
        </p:nvSpPr>
        <p:spPr>
          <a:xfrm>
            <a:off x="5925312" y="1225296"/>
            <a:ext cx="301752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差額 37,615円の内訳</a:t>
            </a:r>
            <a:endParaRPr lang="en-US" sz="2000" dirty="0"/>
          </a:p>
        </p:txBody>
      </p:sp>
      <p:pic>
        <p:nvPicPr>
          <p:cNvPr id="1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5925312" y="1920240"/>
            <a:ext cx="384048" cy="384048"/>
          </a:xfrm>
          <a:prstGeom prst="rect">
            <a:avLst/>
          </a:prstGeom>
        </p:spPr>
      </p:pic>
      <p:sp>
        <p:nvSpPr>
          <p:cNvPr id="17" name="Text 14"/>
          <p:cNvSpPr/>
          <p:nvPr/>
        </p:nvSpPr>
        <p:spPr>
          <a:xfrm>
            <a:off x="6473952" y="1920240"/>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燃料費</a:t>
            </a:r>
            <a:endParaRPr lang="en-US" sz="1600" dirty="0"/>
          </a:p>
        </p:txBody>
      </p:sp>
      <p:sp>
        <p:nvSpPr>
          <p:cNvPr id="18" name="Shape 15"/>
          <p:cNvSpPr/>
          <p:nvPr/>
        </p:nvSpPr>
        <p:spPr>
          <a:xfrm>
            <a:off x="7635240" y="1956816"/>
            <a:ext cx="2880360" cy="292608"/>
          </a:xfrm>
          <a:prstGeom prst="roundRect">
            <a:avLst/>
          </a:prstGeom>
          <a:solidFill>
            <a:srgbClr val="E98B3A"/>
          </a:solidFill>
          <a:ln w="12700">
            <a:solidFill>
              <a:srgbClr val="E98B3A"/>
            </a:solidFill>
            <a:prstDash val="solid"/>
          </a:ln>
        </p:spPr>
        <p:txBody>
          <a:bodyPr/>
          <a:lstStyle/>
          <a:p>
            <a:endParaRPr lang="ja-JP" altLang="en-US"/>
          </a:p>
        </p:txBody>
      </p:sp>
      <p:sp>
        <p:nvSpPr>
          <p:cNvPr id="19" name="Text 16"/>
          <p:cNvSpPr/>
          <p:nvPr/>
        </p:nvSpPr>
        <p:spPr>
          <a:xfrm>
            <a:off x="9727418" y="1651391"/>
            <a:ext cx="1143000" cy="320040"/>
          </a:xfrm>
          <a:prstGeom prst="rect">
            <a:avLst/>
          </a:prstGeom>
          <a:noFill/>
          <a:ln/>
        </p:spPr>
        <p:txBody>
          <a:bodyPr wrap="square" lIns="0" tIns="0" rIns="0" bIns="0" rtlCol="0" anchor="ctr"/>
          <a:lstStyle/>
          <a:p>
            <a:pPr marL="0" indent="0" algn="r">
              <a:buNone/>
            </a:pPr>
            <a:r>
              <a:rPr lang="en-US" sz="1400" b="1" dirty="0">
                <a:solidFill>
                  <a:srgbClr val="E98B3A"/>
                </a:solidFill>
                <a:latin typeface="Noto Sans CJK JP" pitchFamily="34" charset="0"/>
                <a:ea typeface="Noto Sans CJK JP" pitchFamily="34" charset="-122"/>
                <a:cs typeface="Noto Sans CJK JP" pitchFamily="34" charset="-120"/>
              </a:rPr>
              <a:t>+33,054円</a:t>
            </a:r>
            <a:endParaRPr lang="en-US" sz="1400" dirty="0"/>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5925312" y="2907792"/>
            <a:ext cx="384048" cy="384048"/>
          </a:xfrm>
          <a:prstGeom prst="rect">
            <a:avLst/>
          </a:prstGeom>
        </p:spPr>
      </p:pic>
      <p:sp>
        <p:nvSpPr>
          <p:cNvPr id="21" name="Text 17"/>
          <p:cNvSpPr/>
          <p:nvPr/>
        </p:nvSpPr>
        <p:spPr>
          <a:xfrm>
            <a:off x="6473952" y="2907792"/>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系統電力費</a:t>
            </a:r>
            <a:endParaRPr lang="en-US" sz="1600" dirty="0"/>
          </a:p>
        </p:txBody>
      </p:sp>
      <p:sp>
        <p:nvSpPr>
          <p:cNvPr id="22" name="Shape 18"/>
          <p:cNvSpPr/>
          <p:nvPr/>
        </p:nvSpPr>
        <p:spPr>
          <a:xfrm>
            <a:off x="7635240" y="2944368"/>
            <a:ext cx="342116" cy="292608"/>
          </a:xfrm>
          <a:prstGeom prst="roundRect">
            <a:avLst/>
          </a:prstGeom>
          <a:solidFill>
            <a:srgbClr val="356BB3"/>
          </a:solidFill>
          <a:ln w="12700">
            <a:solidFill>
              <a:srgbClr val="356BB3"/>
            </a:solidFill>
            <a:prstDash val="solid"/>
          </a:ln>
        </p:spPr>
        <p:txBody>
          <a:bodyPr/>
          <a:lstStyle/>
          <a:p>
            <a:endParaRPr lang="ja-JP" altLang="en-US"/>
          </a:p>
        </p:txBody>
      </p:sp>
      <p:sp>
        <p:nvSpPr>
          <p:cNvPr id="23" name="Text 19"/>
          <p:cNvSpPr/>
          <p:nvPr/>
        </p:nvSpPr>
        <p:spPr>
          <a:xfrm>
            <a:off x="9738360" y="2889504"/>
            <a:ext cx="1143000" cy="320040"/>
          </a:xfrm>
          <a:prstGeom prst="rect">
            <a:avLst/>
          </a:prstGeom>
          <a:noFill/>
          <a:ln/>
        </p:spPr>
        <p:txBody>
          <a:bodyPr wrap="square" lIns="0" tIns="0" rIns="0" bIns="0" rtlCol="0" anchor="ctr"/>
          <a:lstStyle/>
          <a:p>
            <a:pPr marL="0" indent="0" algn="r">
              <a:buNone/>
            </a:pPr>
            <a:r>
              <a:rPr lang="en-US" sz="1400" b="1" dirty="0">
                <a:solidFill>
                  <a:srgbClr val="356BB3"/>
                </a:solidFill>
                <a:latin typeface="Noto Sans CJK JP" pitchFamily="34" charset="0"/>
                <a:ea typeface="Noto Sans CJK JP" pitchFamily="34" charset="-122"/>
                <a:cs typeface="Noto Sans CJK JP" pitchFamily="34" charset="-120"/>
              </a:rPr>
              <a:t>+3,926円</a:t>
            </a:r>
            <a:endParaRPr lang="en-US" sz="1400" dirty="0"/>
          </a:p>
        </p:txBody>
      </p:sp>
      <p:pic>
        <p:nvPicPr>
          <p:cNvPr id="24"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5925312" y="3895344"/>
            <a:ext cx="384048" cy="384048"/>
          </a:xfrm>
          <a:prstGeom prst="rect">
            <a:avLst/>
          </a:prstGeom>
        </p:spPr>
      </p:pic>
      <p:sp>
        <p:nvSpPr>
          <p:cNvPr id="25" name="Text 20"/>
          <p:cNvSpPr/>
          <p:nvPr/>
        </p:nvSpPr>
        <p:spPr>
          <a:xfrm>
            <a:off x="6473952" y="3895344"/>
            <a:ext cx="1170432" cy="310896"/>
          </a:xfrm>
          <a:prstGeom prst="rect">
            <a:avLst/>
          </a:prstGeom>
          <a:noFill/>
          <a:ln/>
        </p:spPr>
        <p:txBody>
          <a:bodyPr wrap="square" lIns="0" tIns="0" rIns="0" bIns="0" rtlCol="0" anchor="ctr"/>
          <a:lstStyle/>
          <a:p>
            <a:pPr marL="0" indent="0">
              <a:buNone/>
            </a:pPr>
            <a:r>
              <a:rPr lang="en-US" sz="1600" b="1" dirty="0">
                <a:solidFill>
                  <a:srgbClr val="172033"/>
                </a:solidFill>
                <a:latin typeface="Noto Sans CJK JP" pitchFamily="34" charset="0"/>
                <a:ea typeface="Noto Sans CJK JP" pitchFamily="34" charset="-122"/>
                <a:cs typeface="Noto Sans CJK JP" pitchFamily="34" charset="-120"/>
              </a:rPr>
              <a:t>CO₂費用</a:t>
            </a:r>
            <a:endParaRPr lang="en-US" sz="1600" dirty="0"/>
          </a:p>
        </p:txBody>
      </p:sp>
      <p:sp>
        <p:nvSpPr>
          <p:cNvPr id="26" name="Shape 21"/>
          <p:cNvSpPr/>
          <p:nvPr/>
        </p:nvSpPr>
        <p:spPr>
          <a:xfrm>
            <a:off x="7635240" y="3931920"/>
            <a:ext cx="55335" cy="292608"/>
          </a:xfrm>
          <a:prstGeom prst="roundRect">
            <a:avLst/>
          </a:prstGeom>
          <a:solidFill>
            <a:srgbClr val="3B8D5A"/>
          </a:solidFill>
          <a:ln w="12700">
            <a:solidFill>
              <a:srgbClr val="3B8D5A"/>
            </a:solidFill>
            <a:prstDash val="solid"/>
          </a:ln>
        </p:spPr>
        <p:txBody>
          <a:bodyPr/>
          <a:lstStyle/>
          <a:p>
            <a:endParaRPr lang="ja-JP" altLang="en-US"/>
          </a:p>
        </p:txBody>
      </p:sp>
      <p:sp>
        <p:nvSpPr>
          <p:cNvPr id="27" name="Text 22"/>
          <p:cNvSpPr/>
          <p:nvPr/>
        </p:nvSpPr>
        <p:spPr>
          <a:xfrm>
            <a:off x="9738360" y="3877056"/>
            <a:ext cx="1143000" cy="320040"/>
          </a:xfrm>
          <a:prstGeom prst="rect">
            <a:avLst/>
          </a:prstGeom>
          <a:noFill/>
          <a:ln/>
        </p:spPr>
        <p:txBody>
          <a:bodyPr wrap="square" lIns="0" tIns="0" rIns="0" bIns="0" rtlCol="0" anchor="ctr"/>
          <a:lstStyle/>
          <a:p>
            <a:pPr marL="0" indent="0" algn="r">
              <a:buNone/>
            </a:pPr>
            <a:r>
              <a:rPr lang="en-US" sz="1400" b="1" dirty="0">
                <a:solidFill>
                  <a:srgbClr val="3B8D5A"/>
                </a:solidFill>
                <a:latin typeface="Noto Sans CJK JP" pitchFamily="34" charset="0"/>
                <a:ea typeface="Noto Sans CJK JP" pitchFamily="34" charset="-122"/>
                <a:cs typeface="Noto Sans CJK JP" pitchFamily="34" charset="-120"/>
              </a:rPr>
              <a:t>+635円</a:t>
            </a:r>
            <a:endParaRPr lang="en-US" sz="1400" dirty="0"/>
          </a:p>
        </p:txBody>
      </p:sp>
      <p:sp>
        <p:nvSpPr>
          <p:cNvPr id="28" name="Text 23"/>
          <p:cNvSpPr/>
          <p:nvPr/>
        </p:nvSpPr>
        <p:spPr>
          <a:xfrm>
            <a:off x="6400800" y="4983480"/>
            <a:ext cx="3931920" cy="347472"/>
          </a:xfrm>
          <a:prstGeom prst="rect">
            <a:avLst/>
          </a:prstGeom>
          <a:noFill/>
          <a:ln/>
        </p:spPr>
        <p:txBody>
          <a:bodyPr wrap="square" lIns="0" tIns="0" rIns="0" bIns="0" rtlCol="0" anchor="ctr"/>
          <a:lstStyle/>
          <a:p>
            <a:pPr marL="0" indent="0" algn="ctr">
              <a:buNone/>
            </a:pPr>
            <a:r>
              <a:rPr lang="en-US" sz="1900" b="1" dirty="0">
                <a:solidFill>
                  <a:srgbClr val="E98B3A"/>
                </a:solidFill>
                <a:latin typeface="Noto Sans CJK JP" pitchFamily="34" charset="0"/>
                <a:ea typeface="Noto Sans CJK JP" pitchFamily="34" charset="-122"/>
                <a:cs typeface="Noto Sans CJK JP" pitchFamily="34" charset="-120"/>
              </a:rPr>
              <a:t>差額の約88%が燃料費</a:t>
            </a:r>
            <a:endParaRPr lang="en-US" sz="1900" dirty="0"/>
          </a:p>
        </p:txBody>
      </p:sp>
      <p:sp>
        <p:nvSpPr>
          <p:cNvPr id="29" name="Text 24"/>
          <p:cNvSpPr/>
          <p:nvPr/>
        </p:nvSpPr>
        <p:spPr>
          <a:xfrm>
            <a:off x="5989320" y="5440680"/>
            <a:ext cx="4800600" cy="256032"/>
          </a:xfrm>
          <a:prstGeom prst="rect">
            <a:avLst/>
          </a:prstGeom>
          <a:noFill/>
          <a:ln/>
        </p:spPr>
        <p:txBody>
          <a:bodyPr wrap="square" lIns="0" tIns="0" rIns="0" bIns="0" rtlCol="0" anchor="ctr"/>
          <a:lstStyle/>
          <a:p>
            <a:pPr marL="0" indent="0" algn="ctr">
              <a:buNone/>
            </a:pPr>
            <a:r>
              <a:rPr lang="en-US" sz="1050" dirty="0">
                <a:solidFill>
                  <a:srgbClr val="C94C4C"/>
                </a:solidFill>
                <a:latin typeface="Noto Sans CJK JP" pitchFamily="34" charset="0"/>
                <a:ea typeface="Noto Sans CJK JP" pitchFamily="34" charset="-122"/>
                <a:cs typeface="Noto Sans CJK JP" pitchFamily="34" charset="-120"/>
              </a:rPr>
              <a:t>※ 設備投資・電池劣化・運転士費などは含まれていない</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先行研究の電力フロー図にならい、PV・BESS・系統の流れを日合計で整理</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13/18</a:t>
            </a:r>
            <a:endParaRPr lang="en-US" sz="850" dirty="0"/>
          </a:p>
        </p:txBody>
      </p:sp>
      <p:sp>
        <p:nvSpPr>
          <p:cNvPr id="6" name="Shape 4"/>
          <p:cNvSpPr/>
          <p:nvPr/>
        </p:nvSpPr>
        <p:spPr>
          <a:xfrm>
            <a:off x="566928" y="1051560"/>
            <a:ext cx="5394960" cy="5166360"/>
          </a:xfrm>
          <a:prstGeom prst="roundRect">
            <a:avLst>
              <a:gd name="adj" fmla="val 1416"/>
            </a:avLst>
          </a:prstGeom>
          <a:solidFill>
            <a:srgbClr val="FFF5D8"/>
          </a:solidFill>
          <a:ln w="12700">
            <a:solidFill>
              <a:srgbClr val="E7B34B"/>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7" name="Shape 5"/>
          <p:cNvSpPr/>
          <p:nvPr/>
        </p:nvSpPr>
        <p:spPr>
          <a:xfrm>
            <a:off x="886968" y="1298448"/>
            <a:ext cx="1417320" cy="310896"/>
          </a:xfrm>
          <a:prstGeom prst="roundRect">
            <a:avLst/>
          </a:prstGeom>
          <a:solidFill>
            <a:srgbClr val="E7B34B"/>
          </a:solidFill>
          <a:ln w="12700">
            <a:solidFill>
              <a:srgbClr val="E7B34B"/>
            </a:solidFill>
            <a:prstDash val="solid"/>
          </a:ln>
        </p:spPr>
        <p:txBody>
          <a:bodyPr/>
          <a:lstStyle/>
          <a:p>
            <a:endParaRPr lang="ja-JP" altLang="en-US"/>
          </a:p>
        </p:txBody>
      </p:sp>
      <p:sp>
        <p:nvSpPr>
          <p:cNvPr id="8" name="Text 6"/>
          <p:cNvSpPr/>
          <p:nvPr/>
        </p:nvSpPr>
        <p:spPr>
          <a:xfrm>
            <a:off x="932688" y="1316736"/>
            <a:ext cx="1325880" cy="256032"/>
          </a:xfrm>
          <a:prstGeom prst="rect">
            <a:avLst/>
          </a:prstGeom>
          <a:noFill/>
          <a:ln/>
        </p:spPr>
        <p:txBody>
          <a:bodyPr wrap="square" lIns="0" tIns="0" rIns="0" bIns="0" rtlCol="0" anchor="ctr"/>
          <a:lstStyle/>
          <a:p>
            <a:pPr marL="0" indent="0" algn="ctr">
              <a:buNone/>
            </a:pPr>
            <a:r>
              <a:rPr lang="en-US" sz="1050" b="1" dirty="0">
                <a:solidFill>
                  <a:srgbClr val="172033"/>
                </a:solidFill>
                <a:latin typeface="Noto Sans CJK JP" pitchFamily="34" charset="0"/>
                <a:ea typeface="Noto Sans CJK JP" pitchFamily="34" charset="-122"/>
                <a:cs typeface="Noto Sans CJK JP" pitchFamily="34" charset="-120"/>
              </a:rPr>
              <a:t>高PV条件</a:t>
            </a:r>
            <a:endParaRPr lang="en-US" sz="1050" dirty="0"/>
          </a:p>
        </p:txBody>
      </p:sp>
      <p:sp>
        <p:nvSpPr>
          <p:cNvPr id="9" name="Text 7"/>
          <p:cNvSpPr/>
          <p:nvPr/>
        </p:nvSpPr>
        <p:spPr>
          <a:xfrm>
            <a:off x="914400" y="1901952"/>
            <a:ext cx="1234440" cy="713232"/>
          </a:xfrm>
          <a:prstGeom prst="rect">
            <a:avLst/>
          </a:prstGeom>
          <a:noFill/>
          <a:ln/>
        </p:spPr>
        <p:txBody>
          <a:bodyPr wrap="square" lIns="0" tIns="0" rIns="0" bIns="0" rtlCol="0" anchor="ctr"/>
          <a:lstStyle/>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PV発電</a:t>
            </a:r>
            <a:endParaRPr lang="en-US" sz="1700" dirty="0"/>
          </a:p>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6,056 kWh</a:t>
            </a:r>
            <a:endParaRPr lang="en-US" sz="1700" dirty="0"/>
          </a:p>
        </p:txBody>
      </p:sp>
      <p:sp>
        <p:nvSpPr>
          <p:cNvPr id="10" name="Shape 8"/>
          <p:cNvSpPr/>
          <p:nvPr/>
        </p:nvSpPr>
        <p:spPr>
          <a:xfrm>
            <a:off x="2139696" y="2075688"/>
            <a:ext cx="438912" cy="347472"/>
          </a:xfrm>
          <a:prstGeom prst="chevron">
            <a:avLst/>
          </a:prstGeom>
          <a:solidFill>
            <a:srgbClr val="A5AFBD"/>
          </a:solidFill>
          <a:ln w="12700">
            <a:solidFill>
              <a:srgbClr val="A5AFBD"/>
            </a:solidFill>
            <a:prstDash val="solid"/>
          </a:ln>
        </p:spPr>
        <p:txBody>
          <a:bodyPr/>
          <a:lstStyle/>
          <a:p>
            <a:endParaRPr lang="ja-JP" altLang="en-US"/>
          </a:p>
        </p:txBody>
      </p:sp>
      <p:sp>
        <p:nvSpPr>
          <p:cNvPr id="11" name="Shape 9"/>
          <p:cNvSpPr/>
          <p:nvPr/>
        </p:nvSpPr>
        <p:spPr>
          <a:xfrm>
            <a:off x="2624328" y="1783080"/>
            <a:ext cx="1325880" cy="960120"/>
          </a:xfrm>
          <a:prstGeom prst="roundRect">
            <a:avLst>
              <a:gd name="adj" fmla="val 7619"/>
            </a:avLst>
          </a:prstGeom>
          <a:solidFill>
            <a:srgbClr val="FFFFFF"/>
          </a:solidFill>
          <a:ln w="12700">
            <a:solidFill>
              <a:srgbClr val="1F9D8A"/>
            </a:solidFill>
            <a:prstDash val="solid"/>
          </a:ln>
        </p:spPr>
        <p:txBody>
          <a:bodyPr/>
          <a:lstStyle/>
          <a:p>
            <a:endParaRPr lang="ja-JP" altLang="en-US"/>
          </a:p>
        </p:txBody>
      </p:sp>
      <p:sp>
        <p:nvSpPr>
          <p:cNvPr id="12" name="Text 10"/>
          <p:cNvSpPr/>
          <p:nvPr/>
        </p:nvSpPr>
        <p:spPr>
          <a:xfrm>
            <a:off x="2743200" y="1975104"/>
            <a:ext cx="1078992" cy="548640"/>
          </a:xfrm>
          <a:prstGeom prst="rect">
            <a:avLst/>
          </a:prstGeom>
          <a:noFill/>
          <a:ln/>
        </p:spPr>
        <p:txBody>
          <a:bodyPr wrap="square" lIns="0" tIns="0" rIns="0" bIns="0" rtlCol="0" anchor="ctr"/>
          <a:lstStyle/>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直接充電</a:t>
            </a:r>
            <a:endParaRPr lang="en-US" sz="1350" dirty="0"/>
          </a:p>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110 kWh</a:t>
            </a:r>
            <a:endParaRPr lang="en-US" sz="1350" dirty="0"/>
          </a:p>
        </p:txBody>
      </p:sp>
      <p:sp>
        <p:nvSpPr>
          <p:cNvPr id="13" name="Shape 11"/>
          <p:cNvSpPr/>
          <p:nvPr/>
        </p:nvSpPr>
        <p:spPr>
          <a:xfrm>
            <a:off x="2624328" y="2926080"/>
            <a:ext cx="1325880" cy="960120"/>
          </a:xfrm>
          <a:prstGeom prst="roundRect">
            <a:avLst>
              <a:gd name="adj" fmla="val 7619"/>
            </a:avLst>
          </a:prstGeom>
          <a:solidFill>
            <a:srgbClr val="FFFFFF"/>
          </a:solidFill>
          <a:ln w="12700">
            <a:solidFill>
              <a:srgbClr val="356BB3"/>
            </a:solidFill>
            <a:prstDash val="solid"/>
          </a:ln>
        </p:spPr>
        <p:txBody>
          <a:bodyPr/>
          <a:lstStyle/>
          <a:p>
            <a:endParaRPr lang="ja-JP" altLang="en-US"/>
          </a:p>
        </p:txBody>
      </p:sp>
      <p:sp>
        <p:nvSpPr>
          <p:cNvPr id="14" name="Text 12"/>
          <p:cNvSpPr/>
          <p:nvPr/>
        </p:nvSpPr>
        <p:spPr>
          <a:xfrm>
            <a:off x="2743200" y="3118104"/>
            <a:ext cx="1078992" cy="548640"/>
          </a:xfrm>
          <a:prstGeom prst="rect">
            <a:avLst/>
          </a:prstGeom>
          <a:noFill/>
          <a:ln/>
        </p:spPr>
        <p:txBody>
          <a:bodyPr wrap="square" lIns="0" tIns="0" rIns="0" bIns="0" rtlCol="0" anchor="ctr"/>
          <a:lstStyle/>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BESSへ</a:t>
            </a:r>
            <a:endParaRPr lang="en-US" sz="1350" dirty="0"/>
          </a:p>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2,573 kWh</a:t>
            </a:r>
            <a:endParaRPr lang="en-US" sz="1350" dirty="0"/>
          </a:p>
        </p:txBody>
      </p:sp>
      <p:sp>
        <p:nvSpPr>
          <p:cNvPr id="15" name="Shape 13"/>
          <p:cNvSpPr/>
          <p:nvPr/>
        </p:nvSpPr>
        <p:spPr>
          <a:xfrm>
            <a:off x="4361688" y="2926080"/>
            <a:ext cx="1188720" cy="960120"/>
          </a:xfrm>
          <a:prstGeom prst="roundRect">
            <a:avLst>
              <a:gd name="adj" fmla="val 7619"/>
            </a:avLst>
          </a:prstGeom>
          <a:solidFill>
            <a:srgbClr val="FFFFFF"/>
          </a:solidFill>
          <a:ln w="12700">
            <a:solidFill>
              <a:srgbClr val="1F2A5A"/>
            </a:solidFill>
            <a:prstDash val="solid"/>
          </a:ln>
        </p:spPr>
        <p:txBody>
          <a:bodyPr/>
          <a:lstStyle/>
          <a:p>
            <a:endParaRPr lang="ja-JP" altLang="en-US"/>
          </a:p>
        </p:txBody>
      </p:sp>
      <p:sp>
        <p:nvSpPr>
          <p:cNvPr id="16" name="Text 14"/>
          <p:cNvSpPr/>
          <p:nvPr/>
        </p:nvSpPr>
        <p:spPr>
          <a:xfrm>
            <a:off x="4471416" y="3118104"/>
            <a:ext cx="960120" cy="548640"/>
          </a:xfrm>
          <a:prstGeom prst="rect">
            <a:avLst/>
          </a:prstGeom>
          <a:noFill/>
          <a:ln/>
        </p:spPr>
        <p:txBody>
          <a:bodyPr wrap="square" lIns="0" tIns="0" rIns="0" bIns="0" rtlCol="0" anchor="ctr"/>
          <a:lstStyle/>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BESSから</a:t>
            </a:r>
            <a:endParaRPr lang="en-US" sz="1320" dirty="0"/>
          </a:p>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2,322 kWh</a:t>
            </a:r>
            <a:endParaRPr lang="en-US" sz="1320" dirty="0"/>
          </a:p>
        </p:txBody>
      </p:sp>
      <p:sp>
        <p:nvSpPr>
          <p:cNvPr id="17" name="Shape 15"/>
          <p:cNvSpPr/>
          <p:nvPr/>
        </p:nvSpPr>
        <p:spPr>
          <a:xfrm>
            <a:off x="3977640" y="3227832"/>
            <a:ext cx="310896" cy="310896"/>
          </a:xfrm>
          <a:prstGeom prst="chevron">
            <a:avLst/>
          </a:prstGeom>
          <a:solidFill>
            <a:srgbClr val="356BB3"/>
          </a:solidFill>
          <a:ln w="12700">
            <a:solidFill>
              <a:srgbClr val="356BB3"/>
            </a:solidFill>
            <a:prstDash val="solid"/>
          </a:ln>
        </p:spPr>
        <p:txBody>
          <a:bodyPr/>
          <a:lstStyle/>
          <a:p>
            <a:endParaRPr lang="ja-JP" altLang="en-US"/>
          </a:p>
        </p:txBody>
      </p:sp>
      <p:sp>
        <p:nvSpPr>
          <p:cNvPr id="18" name="Shape 16"/>
          <p:cNvSpPr/>
          <p:nvPr/>
        </p:nvSpPr>
        <p:spPr>
          <a:xfrm>
            <a:off x="2624328" y="4096512"/>
            <a:ext cx="1325880" cy="786384"/>
          </a:xfrm>
          <a:prstGeom prst="roundRect">
            <a:avLst>
              <a:gd name="adj" fmla="val 9302"/>
            </a:avLst>
          </a:prstGeom>
          <a:solidFill>
            <a:srgbClr val="FFFFFF"/>
          </a:solidFill>
          <a:ln w="12700">
            <a:solidFill>
              <a:srgbClr val="A5AFBD"/>
            </a:solidFill>
            <a:prstDash val="solid"/>
          </a:ln>
        </p:spPr>
        <p:txBody>
          <a:bodyPr/>
          <a:lstStyle/>
          <a:p>
            <a:endParaRPr lang="ja-JP" altLang="en-US"/>
          </a:p>
        </p:txBody>
      </p:sp>
      <p:sp>
        <p:nvSpPr>
          <p:cNvPr id="19" name="Text 17"/>
          <p:cNvSpPr/>
          <p:nvPr/>
        </p:nvSpPr>
        <p:spPr>
          <a:xfrm>
            <a:off x="2743200" y="4224528"/>
            <a:ext cx="1078992" cy="438912"/>
          </a:xfrm>
          <a:prstGeom prst="rect">
            <a:avLst/>
          </a:prstGeom>
          <a:noFill/>
          <a:ln/>
        </p:spPr>
        <p:txBody>
          <a:bodyPr wrap="square" lIns="0" tIns="0" rIns="0" bIns="0" rtlCol="0" anchor="ctr"/>
          <a:lstStyle/>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抑制</a:t>
            </a:r>
            <a:endParaRPr lang="en-US" sz="1320" dirty="0"/>
          </a:p>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3,373 kWh</a:t>
            </a:r>
            <a:endParaRPr lang="en-US" sz="1320" dirty="0"/>
          </a:p>
        </p:txBody>
      </p:sp>
      <p:sp>
        <p:nvSpPr>
          <p:cNvPr id="20" name="Shape 18"/>
          <p:cNvSpPr/>
          <p:nvPr/>
        </p:nvSpPr>
        <p:spPr>
          <a:xfrm>
            <a:off x="4361688" y="4096512"/>
            <a:ext cx="1188720" cy="786384"/>
          </a:xfrm>
          <a:prstGeom prst="roundRect">
            <a:avLst>
              <a:gd name="adj" fmla="val 9302"/>
            </a:avLst>
          </a:prstGeom>
          <a:solidFill>
            <a:srgbClr val="FFFFFF"/>
          </a:solidFill>
          <a:ln w="12700">
            <a:solidFill>
              <a:srgbClr val="E98B3A"/>
            </a:solidFill>
            <a:prstDash val="solid"/>
          </a:ln>
        </p:spPr>
        <p:txBody>
          <a:bodyPr/>
          <a:lstStyle/>
          <a:p>
            <a:endParaRPr lang="ja-JP" altLang="en-US"/>
          </a:p>
        </p:txBody>
      </p:sp>
      <p:sp>
        <p:nvSpPr>
          <p:cNvPr id="21" name="Text 19"/>
          <p:cNvSpPr/>
          <p:nvPr/>
        </p:nvSpPr>
        <p:spPr>
          <a:xfrm>
            <a:off x="4462272" y="4224528"/>
            <a:ext cx="987552" cy="438912"/>
          </a:xfrm>
          <a:prstGeom prst="rect">
            <a:avLst/>
          </a:prstGeom>
          <a:noFill/>
          <a:ln/>
        </p:spPr>
        <p:txBody>
          <a:bodyPr wrap="square" lIns="0" tIns="0" rIns="0" bIns="0" rtlCol="0" anchor="ctr"/>
          <a:lstStyle/>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系統から</a:t>
            </a:r>
            <a:endParaRPr lang="en-US" sz="1320" dirty="0"/>
          </a:p>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0 kWh</a:t>
            </a:r>
            <a:endParaRPr lang="en-US" sz="1320" dirty="0"/>
          </a:p>
        </p:txBody>
      </p:sp>
      <p:sp>
        <p:nvSpPr>
          <p:cNvPr id="22" name="Text 20"/>
          <p:cNvSpPr/>
          <p:nvPr/>
        </p:nvSpPr>
        <p:spPr>
          <a:xfrm>
            <a:off x="4087368" y="2148840"/>
            <a:ext cx="155448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BEV充電へ</a:t>
            </a:r>
            <a:endParaRPr lang="en-US" sz="1400" dirty="0"/>
          </a:p>
        </p:txBody>
      </p:sp>
      <p:sp>
        <p:nvSpPr>
          <p:cNvPr id="23" name="Text 21"/>
          <p:cNvSpPr/>
          <p:nvPr/>
        </p:nvSpPr>
        <p:spPr>
          <a:xfrm>
            <a:off x="4178808" y="5074920"/>
            <a:ext cx="1572768" cy="274320"/>
          </a:xfrm>
          <a:prstGeom prst="rect">
            <a:avLst/>
          </a:prstGeom>
          <a:noFill/>
          <a:ln/>
        </p:spPr>
        <p:txBody>
          <a:bodyPr wrap="square" lIns="0" tIns="0" rIns="0" bIns="0" rtlCol="0" anchor="ctr"/>
          <a:lstStyle/>
          <a:p>
            <a:pPr marL="0" indent="0" algn="ctr">
              <a:buNone/>
            </a:pPr>
            <a:r>
              <a:rPr lang="en-US" sz="1150" dirty="0">
                <a:solidFill>
                  <a:srgbClr val="687386"/>
                </a:solidFill>
                <a:latin typeface="Noto Sans CJK JP" pitchFamily="34" charset="0"/>
                <a:ea typeface="Noto Sans CJK JP" pitchFamily="34" charset="-122"/>
                <a:cs typeface="Noto Sans CJK JP" pitchFamily="34" charset="-120"/>
              </a:rPr>
              <a:t>BESS損失 約251 kWh</a:t>
            </a:r>
            <a:endParaRPr lang="en-US" sz="1150" dirty="0"/>
          </a:p>
        </p:txBody>
      </p:sp>
      <p:sp>
        <p:nvSpPr>
          <p:cNvPr id="24" name="Shape 22"/>
          <p:cNvSpPr/>
          <p:nvPr/>
        </p:nvSpPr>
        <p:spPr>
          <a:xfrm>
            <a:off x="6236208" y="1051560"/>
            <a:ext cx="5394960" cy="5166360"/>
          </a:xfrm>
          <a:prstGeom prst="roundRect">
            <a:avLst>
              <a:gd name="adj" fmla="val 1416"/>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5" name="Shape 23"/>
          <p:cNvSpPr/>
          <p:nvPr/>
        </p:nvSpPr>
        <p:spPr>
          <a:xfrm>
            <a:off x="6556248" y="1298448"/>
            <a:ext cx="1417320" cy="310896"/>
          </a:xfrm>
          <a:prstGeom prst="roundRect">
            <a:avLst/>
          </a:prstGeom>
          <a:solidFill>
            <a:srgbClr val="356BB3"/>
          </a:solidFill>
          <a:ln w="12700">
            <a:solidFill>
              <a:srgbClr val="356BB3"/>
            </a:solidFill>
            <a:prstDash val="solid"/>
          </a:ln>
        </p:spPr>
        <p:txBody>
          <a:bodyPr/>
          <a:lstStyle/>
          <a:p>
            <a:endParaRPr lang="ja-JP" altLang="en-US"/>
          </a:p>
        </p:txBody>
      </p:sp>
      <p:sp>
        <p:nvSpPr>
          <p:cNvPr id="26" name="Text 24"/>
          <p:cNvSpPr/>
          <p:nvPr/>
        </p:nvSpPr>
        <p:spPr>
          <a:xfrm>
            <a:off x="6601968" y="1316736"/>
            <a:ext cx="1325880" cy="256032"/>
          </a:xfrm>
          <a:prstGeom prst="rect">
            <a:avLst/>
          </a:prstGeom>
          <a:noFill/>
          <a:ln/>
        </p:spPr>
        <p:txBody>
          <a:bodyPr wrap="square" lIns="0" tIns="0" rIns="0" bIns="0" rtlCol="0" anchor="ctr"/>
          <a:lstStyle/>
          <a:p>
            <a:pPr marL="0" indent="0" algn="ctr">
              <a:buNone/>
            </a:pPr>
            <a:r>
              <a:rPr lang="en-US" sz="1050" b="1" dirty="0">
                <a:solidFill>
                  <a:srgbClr val="FFFFFF"/>
                </a:solidFill>
                <a:latin typeface="Noto Sans CJK JP" pitchFamily="34" charset="0"/>
                <a:ea typeface="Noto Sans CJK JP" pitchFamily="34" charset="-122"/>
                <a:cs typeface="Noto Sans CJK JP" pitchFamily="34" charset="-120"/>
              </a:rPr>
              <a:t>低PV条件</a:t>
            </a:r>
            <a:endParaRPr lang="en-US" sz="1050" dirty="0"/>
          </a:p>
        </p:txBody>
      </p:sp>
      <p:sp>
        <p:nvSpPr>
          <p:cNvPr id="27" name="Text 25"/>
          <p:cNvSpPr/>
          <p:nvPr/>
        </p:nvSpPr>
        <p:spPr>
          <a:xfrm>
            <a:off x="6583680" y="1901952"/>
            <a:ext cx="1234440" cy="713232"/>
          </a:xfrm>
          <a:prstGeom prst="rect">
            <a:avLst/>
          </a:prstGeom>
          <a:noFill/>
          <a:ln/>
        </p:spPr>
        <p:txBody>
          <a:bodyPr wrap="square" lIns="0" tIns="0" rIns="0" bIns="0" rtlCol="0" anchor="ctr"/>
          <a:lstStyle/>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PV発電</a:t>
            </a:r>
            <a:endParaRPr lang="en-US" sz="1700" dirty="0"/>
          </a:p>
          <a:p>
            <a:pPr marL="0" indent="0" algn="ctr">
              <a:buNone/>
            </a:pPr>
            <a:r>
              <a:rPr lang="en-US" sz="1700" b="1" dirty="0">
                <a:solidFill>
                  <a:srgbClr val="E7B34B"/>
                </a:solidFill>
                <a:latin typeface="Noto Sans CJK JP" pitchFamily="34" charset="0"/>
                <a:ea typeface="Noto Sans CJK JP" pitchFamily="34" charset="-122"/>
                <a:cs typeface="Noto Sans CJK JP" pitchFamily="34" charset="-120"/>
              </a:rPr>
              <a:t>996 kWh</a:t>
            </a:r>
            <a:endParaRPr lang="en-US" sz="1700" dirty="0"/>
          </a:p>
        </p:txBody>
      </p:sp>
      <p:sp>
        <p:nvSpPr>
          <p:cNvPr id="28" name="Shape 26"/>
          <p:cNvSpPr/>
          <p:nvPr/>
        </p:nvSpPr>
        <p:spPr>
          <a:xfrm>
            <a:off x="7808976" y="2075688"/>
            <a:ext cx="438912" cy="347472"/>
          </a:xfrm>
          <a:prstGeom prst="chevron">
            <a:avLst/>
          </a:prstGeom>
          <a:solidFill>
            <a:srgbClr val="A5AFBD"/>
          </a:solidFill>
          <a:ln w="12700">
            <a:solidFill>
              <a:srgbClr val="A5AFBD"/>
            </a:solidFill>
            <a:prstDash val="solid"/>
          </a:ln>
        </p:spPr>
        <p:txBody>
          <a:bodyPr/>
          <a:lstStyle/>
          <a:p>
            <a:endParaRPr lang="ja-JP" altLang="en-US"/>
          </a:p>
        </p:txBody>
      </p:sp>
      <p:sp>
        <p:nvSpPr>
          <p:cNvPr id="29" name="Shape 27"/>
          <p:cNvSpPr/>
          <p:nvPr/>
        </p:nvSpPr>
        <p:spPr>
          <a:xfrm>
            <a:off x="8293608" y="1783080"/>
            <a:ext cx="1325880" cy="960120"/>
          </a:xfrm>
          <a:prstGeom prst="roundRect">
            <a:avLst>
              <a:gd name="adj" fmla="val 7619"/>
            </a:avLst>
          </a:prstGeom>
          <a:solidFill>
            <a:srgbClr val="FFFFFF"/>
          </a:solidFill>
          <a:ln w="12700">
            <a:solidFill>
              <a:srgbClr val="1F9D8A"/>
            </a:solidFill>
            <a:prstDash val="solid"/>
          </a:ln>
        </p:spPr>
        <p:txBody>
          <a:bodyPr/>
          <a:lstStyle/>
          <a:p>
            <a:endParaRPr lang="ja-JP" altLang="en-US"/>
          </a:p>
        </p:txBody>
      </p:sp>
      <p:sp>
        <p:nvSpPr>
          <p:cNvPr id="30" name="Text 28"/>
          <p:cNvSpPr/>
          <p:nvPr/>
        </p:nvSpPr>
        <p:spPr>
          <a:xfrm>
            <a:off x="8412480" y="1975104"/>
            <a:ext cx="1078992" cy="548640"/>
          </a:xfrm>
          <a:prstGeom prst="rect">
            <a:avLst/>
          </a:prstGeom>
          <a:noFill/>
          <a:ln/>
        </p:spPr>
        <p:txBody>
          <a:bodyPr wrap="square" lIns="0" tIns="0" rIns="0" bIns="0" rtlCol="0" anchor="ctr"/>
          <a:lstStyle/>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直接充電</a:t>
            </a:r>
            <a:endParaRPr lang="en-US" sz="1350" dirty="0"/>
          </a:p>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231 kWh</a:t>
            </a:r>
            <a:endParaRPr lang="en-US" sz="1350" dirty="0"/>
          </a:p>
        </p:txBody>
      </p:sp>
      <p:sp>
        <p:nvSpPr>
          <p:cNvPr id="31" name="Shape 29"/>
          <p:cNvSpPr/>
          <p:nvPr/>
        </p:nvSpPr>
        <p:spPr>
          <a:xfrm>
            <a:off x="8293608" y="2926080"/>
            <a:ext cx="1325880" cy="960120"/>
          </a:xfrm>
          <a:prstGeom prst="roundRect">
            <a:avLst>
              <a:gd name="adj" fmla="val 7619"/>
            </a:avLst>
          </a:prstGeom>
          <a:solidFill>
            <a:srgbClr val="FFFFFF"/>
          </a:solidFill>
          <a:ln w="12700">
            <a:solidFill>
              <a:srgbClr val="356BB3"/>
            </a:solidFill>
            <a:prstDash val="solid"/>
          </a:ln>
        </p:spPr>
        <p:txBody>
          <a:bodyPr/>
          <a:lstStyle/>
          <a:p>
            <a:endParaRPr lang="ja-JP" altLang="en-US"/>
          </a:p>
        </p:txBody>
      </p:sp>
      <p:sp>
        <p:nvSpPr>
          <p:cNvPr id="32" name="Text 30"/>
          <p:cNvSpPr/>
          <p:nvPr/>
        </p:nvSpPr>
        <p:spPr>
          <a:xfrm>
            <a:off x="8412480" y="3118104"/>
            <a:ext cx="1078992" cy="548640"/>
          </a:xfrm>
          <a:prstGeom prst="rect">
            <a:avLst/>
          </a:prstGeom>
          <a:noFill/>
          <a:ln/>
        </p:spPr>
        <p:txBody>
          <a:bodyPr wrap="square" lIns="0" tIns="0" rIns="0" bIns="0" rtlCol="0" anchor="ctr"/>
          <a:lstStyle/>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BESSへ</a:t>
            </a:r>
            <a:endParaRPr lang="en-US" sz="1350" dirty="0"/>
          </a:p>
          <a:p>
            <a:pPr marL="0" indent="0" algn="ctr">
              <a:buNone/>
            </a:pPr>
            <a:r>
              <a:rPr lang="en-US" sz="1350" b="1" dirty="0">
                <a:solidFill>
                  <a:srgbClr val="356BB3"/>
                </a:solidFill>
                <a:latin typeface="Noto Sans CJK JP" pitchFamily="34" charset="0"/>
                <a:ea typeface="Noto Sans CJK JP" pitchFamily="34" charset="-122"/>
                <a:cs typeface="Noto Sans CJK JP" pitchFamily="34" charset="-120"/>
              </a:rPr>
              <a:t>766 kWh</a:t>
            </a:r>
            <a:endParaRPr lang="en-US" sz="1350" dirty="0"/>
          </a:p>
        </p:txBody>
      </p:sp>
      <p:sp>
        <p:nvSpPr>
          <p:cNvPr id="33" name="Shape 31"/>
          <p:cNvSpPr/>
          <p:nvPr/>
        </p:nvSpPr>
        <p:spPr>
          <a:xfrm>
            <a:off x="10030968" y="2926080"/>
            <a:ext cx="1188720" cy="960120"/>
          </a:xfrm>
          <a:prstGeom prst="roundRect">
            <a:avLst>
              <a:gd name="adj" fmla="val 7619"/>
            </a:avLst>
          </a:prstGeom>
          <a:solidFill>
            <a:srgbClr val="FFFFFF"/>
          </a:solidFill>
          <a:ln w="12700">
            <a:solidFill>
              <a:srgbClr val="1F2A5A"/>
            </a:solidFill>
            <a:prstDash val="solid"/>
          </a:ln>
        </p:spPr>
        <p:txBody>
          <a:bodyPr/>
          <a:lstStyle/>
          <a:p>
            <a:endParaRPr lang="ja-JP" altLang="en-US"/>
          </a:p>
        </p:txBody>
      </p:sp>
      <p:sp>
        <p:nvSpPr>
          <p:cNvPr id="34" name="Text 32"/>
          <p:cNvSpPr/>
          <p:nvPr/>
        </p:nvSpPr>
        <p:spPr>
          <a:xfrm>
            <a:off x="10140696" y="3118104"/>
            <a:ext cx="960120" cy="548640"/>
          </a:xfrm>
          <a:prstGeom prst="rect">
            <a:avLst/>
          </a:prstGeom>
          <a:noFill/>
          <a:ln/>
        </p:spPr>
        <p:txBody>
          <a:bodyPr wrap="square" lIns="0" tIns="0" rIns="0" bIns="0" rtlCol="0" anchor="ctr"/>
          <a:lstStyle/>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BESSから</a:t>
            </a:r>
            <a:endParaRPr lang="en-US" sz="1320" dirty="0"/>
          </a:p>
          <a:p>
            <a:pPr marL="0" indent="0" algn="ctr">
              <a:buNone/>
            </a:pPr>
            <a:r>
              <a:rPr lang="en-US" sz="1320" b="1" dirty="0">
                <a:solidFill>
                  <a:srgbClr val="1F2A5A"/>
                </a:solidFill>
                <a:latin typeface="Noto Sans CJK JP" pitchFamily="34" charset="0"/>
                <a:ea typeface="Noto Sans CJK JP" pitchFamily="34" charset="-122"/>
                <a:cs typeface="Noto Sans CJK JP" pitchFamily="34" charset="-120"/>
              </a:rPr>
              <a:t>691 kWh</a:t>
            </a:r>
            <a:endParaRPr lang="en-US" sz="1320" dirty="0"/>
          </a:p>
        </p:txBody>
      </p:sp>
      <p:sp>
        <p:nvSpPr>
          <p:cNvPr id="35" name="Shape 33"/>
          <p:cNvSpPr/>
          <p:nvPr/>
        </p:nvSpPr>
        <p:spPr>
          <a:xfrm>
            <a:off x="9646920" y="3227832"/>
            <a:ext cx="310896" cy="310896"/>
          </a:xfrm>
          <a:prstGeom prst="chevron">
            <a:avLst/>
          </a:prstGeom>
          <a:solidFill>
            <a:srgbClr val="356BB3"/>
          </a:solidFill>
          <a:ln w="12700">
            <a:solidFill>
              <a:srgbClr val="356BB3"/>
            </a:solidFill>
            <a:prstDash val="solid"/>
          </a:ln>
        </p:spPr>
        <p:txBody>
          <a:bodyPr/>
          <a:lstStyle/>
          <a:p>
            <a:endParaRPr lang="ja-JP" altLang="en-US"/>
          </a:p>
        </p:txBody>
      </p:sp>
      <p:sp>
        <p:nvSpPr>
          <p:cNvPr id="36" name="Shape 34"/>
          <p:cNvSpPr/>
          <p:nvPr/>
        </p:nvSpPr>
        <p:spPr>
          <a:xfrm>
            <a:off x="8293608" y="4096512"/>
            <a:ext cx="1325880" cy="786384"/>
          </a:xfrm>
          <a:prstGeom prst="roundRect">
            <a:avLst>
              <a:gd name="adj" fmla="val 9302"/>
            </a:avLst>
          </a:prstGeom>
          <a:solidFill>
            <a:srgbClr val="FFFFFF"/>
          </a:solidFill>
          <a:ln w="12700">
            <a:solidFill>
              <a:srgbClr val="A5AFBD"/>
            </a:solidFill>
            <a:prstDash val="solid"/>
          </a:ln>
        </p:spPr>
        <p:txBody>
          <a:bodyPr/>
          <a:lstStyle/>
          <a:p>
            <a:endParaRPr lang="ja-JP" altLang="en-US"/>
          </a:p>
        </p:txBody>
      </p:sp>
      <p:sp>
        <p:nvSpPr>
          <p:cNvPr id="37" name="Text 35"/>
          <p:cNvSpPr/>
          <p:nvPr/>
        </p:nvSpPr>
        <p:spPr>
          <a:xfrm>
            <a:off x="8412480" y="4224528"/>
            <a:ext cx="1078992" cy="438912"/>
          </a:xfrm>
          <a:prstGeom prst="rect">
            <a:avLst/>
          </a:prstGeom>
          <a:noFill/>
          <a:ln/>
        </p:spPr>
        <p:txBody>
          <a:bodyPr wrap="square" lIns="0" tIns="0" rIns="0" bIns="0" rtlCol="0" anchor="ctr"/>
          <a:lstStyle/>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抑制</a:t>
            </a:r>
            <a:endParaRPr lang="en-US" sz="1320" dirty="0"/>
          </a:p>
          <a:p>
            <a:pPr marL="0" indent="0" algn="ctr">
              <a:buNone/>
            </a:pPr>
            <a:r>
              <a:rPr lang="en-US" sz="1320" b="1" dirty="0">
                <a:solidFill>
                  <a:srgbClr val="687386"/>
                </a:solidFill>
                <a:latin typeface="Noto Sans CJK JP" pitchFamily="34" charset="0"/>
                <a:ea typeface="Noto Sans CJK JP" pitchFamily="34" charset="-122"/>
                <a:cs typeface="Noto Sans CJK JP" pitchFamily="34" charset="-120"/>
              </a:rPr>
              <a:t>0 kWh</a:t>
            </a:r>
            <a:endParaRPr lang="en-US" sz="1320" dirty="0"/>
          </a:p>
        </p:txBody>
      </p:sp>
      <p:sp>
        <p:nvSpPr>
          <p:cNvPr id="38" name="Shape 36"/>
          <p:cNvSpPr/>
          <p:nvPr/>
        </p:nvSpPr>
        <p:spPr>
          <a:xfrm>
            <a:off x="10030968" y="4096512"/>
            <a:ext cx="1188720" cy="786384"/>
          </a:xfrm>
          <a:prstGeom prst="roundRect">
            <a:avLst>
              <a:gd name="adj" fmla="val 9302"/>
            </a:avLst>
          </a:prstGeom>
          <a:solidFill>
            <a:srgbClr val="FFFFFF"/>
          </a:solidFill>
          <a:ln w="12700">
            <a:solidFill>
              <a:srgbClr val="E98B3A"/>
            </a:solidFill>
            <a:prstDash val="solid"/>
          </a:ln>
        </p:spPr>
        <p:txBody>
          <a:bodyPr/>
          <a:lstStyle/>
          <a:p>
            <a:endParaRPr lang="ja-JP" altLang="en-US"/>
          </a:p>
        </p:txBody>
      </p:sp>
      <p:sp>
        <p:nvSpPr>
          <p:cNvPr id="39" name="Text 37"/>
          <p:cNvSpPr/>
          <p:nvPr/>
        </p:nvSpPr>
        <p:spPr>
          <a:xfrm>
            <a:off x="10131552" y="4224528"/>
            <a:ext cx="987552" cy="438912"/>
          </a:xfrm>
          <a:prstGeom prst="rect">
            <a:avLst/>
          </a:prstGeom>
          <a:noFill/>
          <a:ln/>
        </p:spPr>
        <p:txBody>
          <a:bodyPr wrap="square" lIns="0" tIns="0" rIns="0" bIns="0" rtlCol="0" anchor="ctr"/>
          <a:lstStyle/>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系統から</a:t>
            </a:r>
            <a:endParaRPr lang="en-US" sz="1320" dirty="0"/>
          </a:p>
          <a:p>
            <a:pPr marL="0" indent="0" algn="ctr">
              <a:buNone/>
            </a:pPr>
            <a:r>
              <a:rPr lang="en-US" sz="1320" b="1" dirty="0">
                <a:solidFill>
                  <a:srgbClr val="E98B3A"/>
                </a:solidFill>
                <a:latin typeface="Noto Sans CJK JP" pitchFamily="34" charset="0"/>
                <a:ea typeface="Noto Sans CJK JP" pitchFamily="34" charset="-122"/>
                <a:cs typeface="Noto Sans CJK JP" pitchFamily="34" charset="-120"/>
              </a:rPr>
              <a:t>131 kWh</a:t>
            </a:r>
            <a:endParaRPr lang="en-US" sz="1320" dirty="0"/>
          </a:p>
        </p:txBody>
      </p:sp>
      <p:sp>
        <p:nvSpPr>
          <p:cNvPr id="40" name="Text 38"/>
          <p:cNvSpPr/>
          <p:nvPr/>
        </p:nvSpPr>
        <p:spPr>
          <a:xfrm>
            <a:off x="9756648" y="2148840"/>
            <a:ext cx="1554480" cy="256032"/>
          </a:xfrm>
          <a:prstGeom prst="rect">
            <a:avLst/>
          </a:prstGeom>
          <a:noFill/>
          <a:ln/>
        </p:spPr>
        <p:txBody>
          <a:bodyPr wrap="square" lIns="0" tIns="0" rIns="0" bIns="0" rtlCol="0" anchor="ctr"/>
          <a:lstStyle/>
          <a:p>
            <a:pPr marL="0" indent="0" algn="ctr">
              <a:buNone/>
            </a:pPr>
            <a:r>
              <a:rPr lang="en-US" sz="1400" b="1" dirty="0">
                <a:solidFill>
                  <a:srgbClr val="172033"/>
                </a:solidFill>
                <a:latin typeface="Noto Sans CJK JP" pitchFamily="34" charset="0"/>
                <a:ea typeface="Noto Sans CJK JP" pitchFamily="34" charset="-122"/>
                <a:cs typeface="Noto Sans CJK JP" pitchFamily="34" charset="-120"/>
              </a:rPr>
              <a:t>BEV充電へ</a:t>
            </a:r>
            <a:endParaRPr lang="en-US" sz="1400" dirty="0"/>
          </a:p>
        </p:txBody>
      </p:sp>
      <p:sp>
        <p:nvSpPr>
          <p:cNvPr id="41" name="Text 39"/>
          <p:cNvSpPr/>
          <p:nvPr/>
        </p:nvSpPr>
        <p:spPr>
          <a:xfrm>
            <a:off x="9848088" y="5074920"/>
            <a:ext cx="1572768" cy="274320"/>
          </a:xfrm>
          <a:prstGeom prst="rect">
            <a:avLst/>
          </a:prstGeom>
          <a:noFill/>
          <a:ln/>
        </p:spPr>
        <p:txBody>
          <a:bodyPr wrap="square" lIns="0" tIns="0" rIns="0" bIns="0" rtlCol="0" anchor="ctr"/>
          <a:lstStyle/>
          <a:p>
            <a:pPr marL="0" indent="0" algn="ctr">
              <a:buNone/>
            </a:pPr>
            <a:r>
              <a:rPr lang="en-US" sz="1150" dirty="0">
                <a:solidFill>
                  <a:srgbClr val="687386"/>
                </a:solidFill>
                <a:latin typeface="Noto Sans CJK JP" pitchFamily="34" charset="0"/>
                <a:ea typeface="Noto Sans CJK JP" pitchFamily="34" charset="-122"/>
                <a:cs typeface="Noto Sans CJK JP" pitchFamily="34" charset="-120"/>
              </a:rPr>
              <a:t>BESS損失 約75 kWh</a:t>
            </a:r>
            <a:endParaRPr lang="en-US" sz="1150" dirty="0"/>
          </a:p>
        </p:txBody>
      </p:sp>
      <p:sp>
        <p:nvSpPr>
          <p:cNvPr id="42" name="Text 40"/>
          <p:cNvSpPr/>
          <p:nvPr/>
        </p:nvSpPr>
        <p:spPr>
          <a:xfrm>
            <a:off x="452628" y="5791747"/>
            <a:ext cx="10378440" cy="292608"/>
          </a:xfrm>
          <a:prstGeom prst="rect">
            <a:avLst/>
          </a:prstGeom>
          <a:noFill/>
          <a:ln/>
        </p:spPr>
        <p:txBody>
          <a:bodyPr wrap="square" lIns="0" tIns="0" rIns="0" bIns="0" rtlCol="0" anchor="ctr"/>
          <a:lstStyle/>
          <a:p>
            <a:pPr marL="0" indent="0" algn="ctr">
              <a:buNone/>
            </a:pPr>
            <a:r>
              <a:rPr lang="en-US" sz="1450" b="1" dirty="0">
                <a:solidFill>
                  <a:srgbClr val="1F2A5A"/>
                </a:solidFill>
                <a:latin typeface="Noto Sans CJK JP" pitchFamily="34" charset="0"/>
                <a:ea typeface="Noto Sans CJK JP" pitchFamily="34" charset="-122"/>
                <a:cs typeface="Noto Sans CJK JP" pitchFamily="34" charset="-120"/>
              </a:rPr>
              <a:t>高PV：余剰は多いが、充電できる時間と合わず抑制が発生　／　低PV：ほぼ全量を使い、不足分を系統から補う</a:t>
            </a:r>
            <a:endParaRPr lang="en-US" sz="1450" dirty="0"/>
          </a:p>
        </p:txBody>
      </p:sp>
      <p:sp>
        <p:nvSpPr>
          <p:cNvPr id="43" name="Text 41"/>
          <p:cNvSpPr/>
          <p:nvPr/>
        </p:nvSpPr>
        <p:spPr>
          <a:xfrm>
            <a:off x="566928" y="6318504"/>
            <a:ext cx="10469880" cy="146304"/>
          </a:xfrm>
          <a:prstGeom prst="rect">
            <a:avLst/>
          </a:prstGeom>
          <a:noFill/>
          <a:ln/>
        </p:spPr>
        <p:txBody>
          <a:bodyPr wrap="square" lIns="0" tIns="0" rIns="0" bIns="0" rtlCol="0" anchor="ctr"/>
          <a:lstStyle/>
          <a:p>
            <a:pPr marL="0" indent="0">
              <a:buNone/>
            </a:pPr>
            <a:r>
              <a:rPr lang="en-US" sz="720" dirty="0">
                <a:solidFill>
                  <a:srgbClr val="7B8494"/>
                </a:solidFill>
                <a:latin typeface="Noto Sans CJK JP" pitchFamily="34" charset="0"/>
                <a:ea typeface="Noto Sans CJK JP" pitchFamily="34" charset="-122"/>
                <a:cs typeface="Noto Sans CJK JP" pitchFamily="34" charset="-120"/>
              </a:rPr>
              <a:t>参考構成：Fei et al. (2023) の時間別充放電図、Najafi et al. (2025) の交通・電力システム統合図を参考に、本研究の日合計値で再構成</a:t>
            </a:r>
            <a:endParaRPr lang="en-US" sz="7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主要結果を一覧表で確認</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14/18</a:t>
            </a:r>
            <a:endParaRPr lang="en-US" sz="850" dirty="0"/>
          </a:p>
        </p:txBody>
      </p:sp>
      <p:sp>
        <p:nvSpPr>
          <p:cNvPr id="6" name="Shape 4"/>
          <p:cNvSpPr/>
          <p:nvPr/>
        </p:nvSpPr>
        <p:spPr>
          <a:xfrm>
            <a:off x="566928" y="1024128"/>
            <a:ext cx="2057400" cy="502920"/>
          </a:xfrm>
          <a:prstGeom prst="rect">
            <a:avLst/>
          </a:prstGeom>
          <a:solidFill>
            <a:srgbClr val="1F2A5A"/>
          </a:solidFill>
          <a:ln w="8890">
            <a:solidFill>
              <a:srgbClr val="EEF1F5"/>
            </a:solidFill>
            <a:prstDash val="solid"/>
          </a:ln>
        </p:spPr>
        <p:txBody>
          <a:bodyPr/>
          <a:lstStyle/>
          <a:p>
            <a:endParaRPr lang="ja-JP" altLang="en-US"/>
          </a:p>
        </p:txBody>
      </p:sp>
      <p:sp>
        <p:nvSpPr>
          <p:cNvPr id="7" name="Text 5"/>
          <p:cNvSpPr/>
          <p:nvPr/>
        </p:nvSpPr>
        <p:spPr>
          <a:xfrm>
            <a:off x="621792" y="1056132"/>
            <a:ext cx="1947672" cy="438912"/>
          </a:xfrm>
          <a:prstGeom prst="rect">
            <a:avLst/>
          </a:prstGeom>
          <a:noFill/>
          <a:ln/>
        </p:spPr>
        <p:txBody>
          <a:bodyPr wrap="square" lIns="0" tIns="0" rIns="0" bIns="0" rtlCol="0" anchor="ctr">
            <a:normAutofit/>
          </a:bodyPr>
          <a:lstStyle/>
          <a:p>
            <a:pPr marL="0" indent="0" algn="l">
              <a:buNone/>
            </a:pPr>
            <a:r>
              <a:rPr lang="en-US" sz="1330" b="1" dirty="0">
                <a:solidFill>
                  <a:srgbClr val="FFFFFF"/>
                </a:solidFill>
                <a:latin typeface="Noto Sans CJK JP" pitchFamily="34" charset="0"/>
                <a:ea typeface="Noto Sans CJK JP" pitchFamily="34" charset="-122"/>
                <a:cs typeface="Noto Sans CJK JP" pitchFamily="34" charset="-120"/>
              </a:rPr>
              <a:t>指標</a:t>
            </a:r>
            <a:endParaRPr lang="en-US" sz="1330" dirty="0"/>
          </a:p>
        </p:txBody>
      </p:sp>
      <p:sp>
        <p:nvSpPr>
          <p:cNvPr id="8" name="Shape 6"/>
          <p:cNvSpPr/>
          <p:nvPr/>
        </p:nvSpPr>
        <p:spPr>
          <a:xfrm>
            <a:off x="2624328" y="1024128"/>
            <a:ext cx="2148840" cy="502920"/>
          </a:xfrm>
          <a:prstGeom prst="rect">
            <a:avLst/>
          </a:prstGeom>
          <a:solidFill>
            <a:srgbClr val="1F2A5A"/>
          </a:solidFill>
          <a:ln w="8890">
            <a:solidFill>
              <a:srgbClr val="EEF1F5"/>
            </a:solidFill>
            <a:prstDash val="solid"/>
          </a:ln>
        </p:spPr>
        <p:txBody>
          <a:bodyPr/>
          <a:lstStyle/>
          <a:p>
            <a:endParaRPr lang="ja-JP" altLang="en-US"/>
          </a:p>
        </p:txBody>
      </p:sp>
      <p:sp>
        <p:nvSpPr>
          <p:cNvPr id="9" name="Text 7"/>
          <p:cNvSpPr/>
          <p:nvPr/>
        </p:nvSpPr>
        <p:spPr>
          <a:xfrm>
            <a:off x="2679192" y="1056132"/>
            <a:ext cx="2039112" cy="438912"/>
          </a:xfrm>
          <a:prstGeom prst="rect">
            <a:avLst/>
          </a:prstGeom>
          <a:noFill/>
          <a:ln/>
        </p:spPr>
        <p:txBody>
          <a:bodyPr wrap="square" lIns="0" tIns="0" rIns="0" bIns="0" rtlCol="0" anchor="ctr">
            <a:normAutofit/>
          </a:bodyPr>
          <a:lstStyle/>
          <a:p>
            <a:pPr marL="0" indent="0" algn="ctr">
              <a:buNone/>
            </a:pPr>
            <a:r>
              <a:rPr lang="en-US" sz="1330" b="1" dirty="0">
                <a:solidFill>
                  <a:srgbClr val="FFFFFF"/>
                </a:solidFill>
                <a:latin typeface="Noto Sans CJK JP" pitchFamily="34" charset="0"/>
                <a:ea typeface="Noto Sans CJK JP" pitchFamily="34" charset="-122"/>
                <a:cs typeface="Noto Sans CJK JP" pitchFamily="34" charset="-120"/>
              </a:rPr>
              <a:t>高PV条件</a:t>
            </a:r>
            <a:endParaRPr lang="en-US" sz="1330" dirty="0"/>
          </a:p>
        </p:txBody>
      </p:sp>
      <p:sp>
        <p:nvSpPr>
          <p:cNvPr id="10" name="Shape 8"/>
          <p:cNvSpPr/>
          <p:nvPr/>
        </p:nvSpPr>
        <p:spPr>
          <a:xfrm>
            <a:off x="4773168" y="1024128"/>
            <a:ext cx="2148840" cy="502920"/>
          </a:xfrm>
          <a:prstGeom prst="rect">
            <a:avLst/>
          </a:prstGeom>
          <a:solidFill>
            <a:srgbClr val="1F2A5A"/>
          </a:solidFill>
          <a:ln w="8890">
            <a:solidFill>
              <a:srgbClr val="EEF1F5"/>
            </a:solidFill>
            <a:prstDash val="solid"/>
          </a:ln>
        </p:spPr>
        <p:txBody>
          <a:bodyPr/>
          <a:lstStyle/>
          <a:p>
            <a:endParaRPr lang="ja-JP" altLang="en-US"/>
          </a:p>
        </p:txBody>
      </p:sp>
      <p:sp>
        <p:nvSpPr>
          <p:cNvPr id="11" name="Text 9"/>
          <p:cNvSpPr/>
          <p:nvPr/>
        </p:nvSpPr>
        <p:spPr>
          <a:xfrm>
            <a:off x="4828032" y="1056132"/>
            <a:ext cx="2039112" cy="438912"/>
          </a:xfrm>
          <a:prstGeom prst="rect">
            <a:avLst/>
          </a:prstGeom>
          <a:noFill/>
          <a:ln/>
        </p:spPr>
        <p:txBody>
          <a:bodyPr wrap="square" lIns="0" tIns="0" rIns="0" bIns="0" rtlCol="0" anchor="ctr">
            <a:normAutofit/>
          </a:bodyPr>
          <a:lstStyle/>
          <a:p>
            <a:pPr marL="0" indent="0" algn="ctr">
              <a:buNone/>
            </a:pPr>
            <a:r>
              <a:rPr lang="en-US" sz="1330" b="1" dirty="0">
                <a:solidFill>
                  <a:srgbClr val="FFFFFF"/>
                </a:solidFill>
                <a:latin typeface="Noto Sans CJK JP" pitchFamily="34" charset="0"/>
                <a:ea typeface="Noto Sans CJK JP" pitchFamily="34" charset="-122"/>
                <a:cs typeface="Noto Sans CJK JP" pitchFamily="34" charset="-120"/>
              </a:rPr>
              <a:t>低PV条件</a:t>
            </a:r>
            <a:endParaRPr lang="en-US" sz="1330" dirty="0"/>
          </a:p>
        </p:txBody>
      </p:sp>
      <p:sp>
        <p:nvSpPr>
          <p:cNvPr id="12" name="Shape 10"/>
          <p:cNvSpPr/>
          <p:nvPr/>
        </p:nvSpPr>
        <p:spPr>
          <a:xfrm>
            <a:off x="6922008" y="1024128"/>
            <a:ext cx="4681728" cy="502920"/>
          </a:xfrm>
          <a:prstGeom prst="rect">
            <a:avLst/>
          </a:prstGeom>
          <a:solidFill>
            <a:srgbClr val="1F2A5A"/>
          </a:solidFill>
          <a:ln w="8890">
            <a:solidFill>
              <a:srgbClr val="EEF1F5"/>
            </a:solidFill>
            <a:prstDash val="solid"/>
          </a:ln>
        </p:spPr>
        <p:txBody>
          <a:bodyPr/>
          <a:lstStyle/>
          <a:p>
            <a:endParaRPr lang="ja-JP" altLang="en-US"/>
          </a:p>
        </p:txBody>
      </p:sp>
      <p:sp>
        <p:nvSpPr>
          <p:cNvPr id="13" name="Text 11"/>
          <p:cNvSpPr/>
          <p:nvPr/>
        </p:nvSpPr>
        <p:spPr>
          <a:xfrm>
            <a:off x="6976872" y="1056132"/>
            <a:ext cx="4572000" cy="438912"/>
          </a:xfrm>
          <a:prstGeom prst="rect">
            <a:avLst/>
          </a:prstGeom>
          <a:noFill/>
          <a:ln/>
        </p:spPr>
        <p:txBody>
          <a:bodyPr wrap="square" lIns="0" tIns="0" rIns="0" bIns="0" rtlCol="0" anchor="ctr">
            <a:normAutofit/>
          </a:bodyPr>
          <a:lstStyle/>
          <a:p>
            <a:pPr marL="0" indent="0" algn="l">
              <a:buNone/>
            </a:pPr>
            <a:r>
              <a:rPr lang="en-US" sz="1330" b="1" dirty="0">
                <a:solidFill>
                  <a:srgbClr val="FFFFFF"/>
                </a:solidFill>
                <a:latin typeface="Noto Sans CJK JP" pitchFamily="34" charset="0"/>
                <a:ea typeface="Noto Sans CJK JP" pitchFamily="34" charset="-122"/>
                <a:cs typeface="Noto Sans CJK JP" pitchFamily="34" charset="-120"/>
              </a:rPr>
              <a:t>読み方</a:t>
            </a:r>
            <a:endParaRPr lang="en-US" sz="1330" dirty="0"/>
          </a:p>
        </p:txBody>
      </p:sp>
      <p:sp>
        <p:nvSpPr>
          <p:cNvPr id="14" name="Shape 12"/>
          <p:cNvSpPr/>
          <p:nvPr/>
        </p:nvSpPr>
        <p:spPr>
          <a:xfrm>
            <a:off x="566928" y="152704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15" name="Text 13"/>
          <p:cNvSpPr/>
          <p:nvPr/>
        </p:nvSpPr>
        <p:spPr>
          <a:xfrm>
            <a:off x="621792" y="155905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PV発電量</a:t>
            </a:r>
            <a:endParaRPr lang="en-US" sz="1260" dirty="0"/>
          </a:p>
        </p:txBody>
      </p:sp>
      <p:sp>
        <p:nvSpPr>
          <p:cNvPr id="16" name="Shape 14"/>
          <p:cNvSpPr/>
          <p:nvPr/>
        </p:nvSpPr>
        <p:spPr>
          <a:xfrm>
            <a:off x="2624328" y="152704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17" name="Text 15"/>
          <p:cNvSpPr/>
          <p:nvPr/>
        </p:nvSpPr>
        <p:spPr>
          <a:xfrm>
            <a:off x="2679192" y="155905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6,056 kWh</a:t>
            </a:r>
            <a:endParaRPr lang="en-US" sz="1260" dirty="0"/>
          </a:p>
        </p:txBody>
      </p:sp>
      <p:sp>
        <p:nvSpPr>
          <p:cNvPr id="18" name="Shape 16"/>
          <p:cNvSpPr/>
          <p:nvPr/>
        </p:nvSpPr>
        <p:spPr>
          <a:xfrm>
            <a:off x="4773168" y="152704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19" name="Text 17"/>
          <p:cNvSpPr/>
          <p:nvPr/>
        </p:nvSpPr>
        <p:spPr>
          <a:xfrm>
            <a:off x="4828032" y="155905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996 kWh</a:t>
            </a:r>
            <a:endParaRPr lang="en-US" sz="1260" dirty="0"/>
          </a:p>
        </p:txBody>
      </p:sp>
      <p:sp>
        <p:nvSpPr>
          <p:cNvPr id="20" name="Shape 18"/>
          <p:cNvSpPr/>
          <p:nvPr/>
        </p:nvSpPr>
        <p:spPr>
          <a:xfrm>
            <a:off x="6922008" y="152704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21" name="Text 19"/>
          <p:cNvSpPr/>
          <p:nvPr/>
        </p:nvSpPr>
        <p:spPr>
          <a:xfrm>
            <a:off x="6976872" y="155905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入力として大きく異なる</a:t>
            </a:r>
            <a:endParaRPr lang="en-US" sz="1260" dirty="0"/>
          </a:p>
        </p:txBody>
      </p:sp>
      <p:sp>
        <p:nvSpPr>
          <p:cNvPr id="22" name="Shape 20"/>
          <p:cNvSpPr/>
          <p:nvPr/>
        </p:nvSpPr>
        <p:spPr>
          <a:xfrm>
            <a:off x="566928" y="2029968"/>
            <a:ext cx="2057400" cy="502920"/>
          </a:xfrm>
          <a:prstGeom prst="rect">
            <a:avLst/>
          </a:prstGeom>
          <a:solidFill>
            <a:srgbClr val="F8FAFC"/>
          </a:solidFill>
          <a:ln w="8890">
            <a:solidFill>
              <a:srgbClr val="EEF1F5"/>
            </a:solidFill>
            <a:prstDash val="solid"/>
          </a:ln>
        </p:spPr>
        <p:txBody>
          <a:bodyPr/>
          <a:lstStyle/>
          <a:p>
            <a:endParaRPr lang="ja-JP" altLang="en-US"/>
          </a:p>
        </p:txBody>
      </p:sp>
      <p:sp>
        <p:nvSpPr>
          <p:cNvPr id="23" name="Text 21"/>
          <p:cNvSpPr/>
          <p:nvPr/>
        </p:nvSpPr>
        <p:spPr>
          <a:xfrm>
            <a:off x="621792" y="206197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使用車両</a:t>
            </a:r>
            <a:endParaRPr lang="en-US" sz="1260" dirty="0"/>
          </a:p>
        </p:txBody>
      </p:sp>
      <p:sp>
        <p:nvSpPr>
          <p:cNvPr id="24" name="Shape 22"/>
          <p:cNvSpPr/>
          <p:nvPr/>
        </p:nvSpPr>
        <p:spPr>
          <a:xfrm>
            <a:off x="2624328" y="202996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25" name="Text 23"/>
          <p:cNvSpPr/>
          <p:nvPr/>
        </p:nvSpPr>
        <p:spPr>
          <a:xfrm>
            <a:off x="2679192" y="206197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BEV 28／ICE 4台</a:t>
            </a:r>
            <a:endParaRPr lang="en-US" sz="1260" dirty="0"/>
          </a:p>
        </p:txBody>
      </p:sp>
      <p:sp>
        <p:nvSpPr>
          <p:cNvPr id="26" name="Shape 24"/>
          <p:cNvSpPr/>
          <p:nvPr/>
        </p:nvSpPr>
        <p:spPr>
          <a:xfrm>
            <a:off x="4773168" y="202996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27" name="Text 25"/>
          <p:cNvSpPr/>
          <p:nvPr/>
        </p:nvSpPr>
        <p:spPr>
          <a:xfrm>
            <a:off x="4828032" y="206197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BEV 21／ICE 11台</a:t>
            </a:r>
            <a:endParaRPr lang="en-US" sz="1260" dirty="0"/>
          </a:p>
        </p:txBody>
      </p:sp>
      <p:sp>
        <p:nvSpPr>
          <p:cNvPr id="28" name="Shape 26"/>
          <p:cNvSpPr/>
          <p:nvPr/>
        </p:nvSpPr>
        <p:spPr>
          <a:xfrm>
            <a:off x="6922008" y="2029968"/>
            <a:ext cx="4681728" cy="502920"/>
          </a:xfrm>
          <a:prstGeom prst="rect">
            <a:avLst/>
          </a:prstGeom>
          <a:solidFill>
            <a:srgbClr val="F8FAFC"/>
          </a:solidFill>
          <a:ln w="8890">
            <a:solidFill>
              <a:srgbClr val="EEF1F5"/>
            </a:solidFill>
            <a:prstDash val="solid"/>
          </a:ln>
        </p:spPr>
        <p:txBody>
          <a:bodyPr/>
          <a:lstStyle/>
          <a:p>
            <a:endParaRPr lang="ja-JP" altLang="en-US"/>
          </a:p>
        </p:txBody>
      </p:sp>
      <p:sp>
        <p:nvSpPr>
          <p:cNvPr id="29" name="Text 27"/>
          <p:cNvSpPr/>
          <p:nvPr/>
        </p:nvSpPr>
        <p:spPr>
          <a:xfrm>
            <a:off x="6976872" y="206197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総使用台数は32台で共通</a:t>
            </a:r>
            <a:endParaRPr lang="en-US" sz="1260" dirty="0"/>
          </a:p>
        </p:txBody>
      </p:sp>
      <p:sp>
        <p:nvSpPr>
          <p:cNvPr id="30" name="Shape 28"/>
          <p:cNvSpPr/>
          <p:nvPr/>
        </p:nvSpPr>
        <p:spPr>
          <a:xfrm>
            <a:off x="566928" y="253288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31" name="Text 29"/>
          <p:cNvSpPr/>
          <p:nvPr/>
        </p:nvSpPr>
        <p:spPr>
          <a:xfrm>
            <a:off x="621792" y="256489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担当便</a:t>
            </a:r>
            <a:endParaRPr lang="en-US" sz="1260" dirty="0"/>
          </a:p>
        </p:txBody>
      </p:sp>
      <p:sp>
        <p:nvSpPr>
          <p:cNvPr id="32" name="Shape 30"/>
          <p:cNvSpPr/>
          <p:nvPr/>
        </p:nvSpPr>
        <p:spPr>
          <a:xfrm>
            <a:off x="2624328" y="253288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33" name="Text 31"/>
          <p:cNvSpPr/>
          <p:nvPr/>
        </p:nvSpPr>
        <p:spPr>
          <a:xfrm>
            <a:off x="2679192" y="256489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BEV 199／ICE 65便</a:t>
            </a:r>
            <a:endParaRPr lang="en-US" sz="1260" dirty="0"/>
          </a:p>
        </p:txBody>
      </p:sp>
      <p:sp>
        <p:nvSpPr>
          <p:cNvPr id="34" name="Shape 32"/>
          <p:cNvSpPr/>
          <p:nvPr/>
        </p:nvSpPr>
        <p:spPr>
          <a:xfrm>
            <a:off x="4773168" y="253288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35" name="Text 33"/>
          <p:cNvSpPr/>
          <p:nvPr/>
        </p:nvSpPr>
        <p:spPr>
          <a:xfrm>
            <a:off x="4828032" y="256489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BEV 91／ICE 173便</a:t>
            </a:r>
            <a:endParaRPr lang="en-US" sz="1260" dirty="0"/>
          </a:p>
        </p:txBody>
      </p:sp>
      <p:sp>
        <p:nvSpPr>
          <p:cNvPr id="36" name="Shape 34"/>
          <p:cNvSpPr/>
          <p:nvPr/>
        </p:nvSpPr>
        <p:spPr>
          <a:xfrm>
            <a:off x="6922008" y="253288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37" name="Text 35"/>
          <p:cNvSpPr/>
          <p:nvPr/>
        </p:nvSpPr>
        <p:spPr>
          <a:xfrm>
            <a:off x="6976872" y="256489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低PVではICE担当が増加</a:t>
            </a:r>
            <a:endParaRPr lang="en-US" sz="1260" dirty="0"/>
          </a:p>
        </p:txBody>
      </p:sp>
      <p:sp>
        <p:nvSpPr>
          <p:cNvPr id="38" name="Shape 36"/>
          <p:cNvSpPr/>
          <p:nvPr/>
        </p:nvSpPr>
        <p:spPr>
          <a:xfrm>
            <a:off x="566928" y="3035808"/>
            <a:ext cx="2057400" cy="502920"/>
          </a:xfrm>
          <a:prstGeom prst="rect">
            <a:avLst/>
          </a:prstGeom>
          <a:solidFill>
            <a:srgbClr val="F8FAFC"/>
          </a:solidFill>
          <a:ln w="8890">
            <a:solidFill>
              <a:srgbClr val="EEF1F5"/>
            </a:solidFill>
            <a:prstDash val="solid"/>
          </a:ln>
        </p:spPr>
        <p:txBody>
          <a:bodyPr/>
          <a:lstStyle/>
          <a:p>
            <a:endParaRPr lang="ja-JP" altLang="en-US"/>
          </a:p>
        </p:txBody>
      </p:sp>
      <p:sp>
        <p:nvSpPr>
          <p:cNvPr id="39" name="Text 37"/>
          <p:cNvSpPr/>
          <p:nvPr/>
        </p:nvSpPr>
        <p:spPr>
          <a:xfrm>
            <a:off x="621792" y="306781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燃料使用量</a:t>
            </a:r>
            <a:endParaRPr lang="en-US" sz="1260" dirty="0"/>
          </a:p>
        </p:txBody>
      </p:sp>
      <p:sp>
        <p:nvSpPr>
          <p:cNvPr id="40" name="Shape 38"/>
          <p:cNvSpPr/>
          <p:nvPr/>
        </p:nvSpPr>
        <p:spPr>
          <a:xfrm>
            <a:off x="2624328" y="303580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41" name="Text 39"/>
          <p:cNvSpPr/>
          <p:nvPr/>
        </p:nvSpPr>
        <p:spPr>
          <a:xfrm>
            <a:off x="2679192" y="306781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137.5 L</a:t>
            </a:r>
            <a:endParaRPr lang="en-US" sz="1260" dirty="0"/>
          </a:p>
        </p:txBody>
      </p:sp>
      <p:sp>
        <p:nvSpPr>
          <p:cNvPr id="42" name="Shape 40"/>
          <p:cNvSpPr/>
          <p:nvPr/>
        </p:nvSpPr>
        <p:spPr>
          <a:xfrm>
            <a:off x="4773168" y="303580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43" name="Text 41"/>
          <p:cNvSpPr/>
          <p:nvPr/>
        </p:nvSpPr>
        <p:spPr>
          <a:xfrm>
            <a:off x="4828032" y="306781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357.9 L</a:t>
            </a:r>
            <a:endParaRPr lang="en-US" sz="1260" dirty="0"/>
          </a:p>
        </p:txBody>
      </p:sp>
      <p:sp>
        <p:nvSpPr>
          <p:cNvPr id="44" name="Shape 42"/>
          <p:cNvSpPr/>
          <p:nvPr/>
        </p:nvSpPr>
        <p:spPr>
          <a:xfrm>
            <a:off x="6922008" y="3035808"/>
            <a:ext cx="4681728" cy="502920"/>
          </a:xfrm>
          <a:prstGeom prst="rect">
            <a:avLst/>
          </a:prstGeom>
          <a:solidFill>
            <a:srgbClr val="F8FAFC"/>
          </a:solidFill>
          <a:ln w="8890">
            <a:solidFill>
              <a:srgbClr val="EEF1F5"/>
            </a:solidFill>
            <a:prstDash val="solid"/>
          </a:ln>
        </p:spPr>
        <p:txBody>
          <a:bodyPr/>
          <a:lstStyle/>
          <a:p>
            <a:endParaRPr lang="ja-JP" altLang="en-US"/>
          </a:p>
        </p:txBody>
      </p:sp>
      <p:sp>
        <p:nvSpPr>
          <p:cNvPr id="45" name="Text 43"/>
          <p:cNvSpPr/>
          <p:nvPr/>
        </p:nvSpPr>
        <p:spPr>
          <a:xfrm>
            <a:off x="6976872" y="306781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費用差の主因</a:t>
            </a:r>
            <a:endParaRPr lang="en-US" sz="1260" dirty="0"/>
          </a:p>
        </p:txBody>
      </p:sp>
      <p:sp>
        <p:nvSpPr>
          <p:cNvPr id="46" name="Shape 44"/>
          <p:cNvSpPr/>
          <p:nvPr/>
        </p:nvSpPr>
        <p:spPr>
          <a:xfrm>
            <a:off x="566928" y="353872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47" name="Text 45"/>
          <p:cNvSpPr/>
          <p:nvPr/>
        </p:nvSpPr>
        <p:spPr>
          <a:xfrm>
            <a:off x="621792" y="357073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系統購入量</a:t>
            </a:r>
            <a:endParaRPr lang="en-US" sz="1260" dirty="0"/>
          </a:p>
        </p:txBody>
      </p:sp>
      <p:sp>
        <p:nvSpPr>
          <p:cNvPr id="48" name="Shape 46"/>
          <p:cNvSpPr/>
          <p:nvPr/>
        </p:nvSpPr>
        <p:spPr>
          <a:xfrm>
            <a:off x="2624328" y="353872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49" name="Text 47"/>
          <p:cNvSpPr/>
          <p:nvPr/>
        </p:nvSpPr>
        <p:spPr>
          <a:xfrm>
            <a:off x="2679192" y="357073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0.0 kWh</a:t>
            </a:r>
            <a:endParaRPr lang="en-US" sz="1260" dirty="0"/>
          </a:p>
        </p:txBody>
      </p:sp>
      <p:sp>
        <p:nvSpPr>
          <p:cNvPr id="50" name="Shape 48"/>
          <p:cNvSpPr/>
          <p:nvPr/>
        </p:nvSpPr>
        <p:spPr>
          <a:xfrm>
            <a:off x="4773168" y="353872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51" name="Text 49"/>
          <p:cNvSpPr/>
          <p:nvPr/>
        </p:nvSpPr>
        <p:spPr>
          <a:xfrm>
            <a:off x="4828032" y="357073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130.9 kWh</a:t>
            </a:r>
            <a:endParaRPr lang="en-US" sz="1260" dirty="0"/>
          </a:p>
        </p:txBody>
      </p:sp>
      <p:sp>
        <p:nvSpPr>
          <p:cNvPr id="52" name="Shape 50"/>
          <p:cNvSpPr/>
          <p:nvPr/>
        </p:nvSpPr>
        <p:spPr>
          <a:xfrm>
            <a:off x="6922008" y="353872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53" name="Text 51"/>
          <p:cNvSpPr/>
          <p:nvPr/>
        </p:nvSpPr>
        <p:spPr>
          <a:xfrm>
            <a:off x="6976872" y="357073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低PVで不足分を補給</a:t>
            </a:r>
            <a:endParaRPr lang="en-US" sz="1260" dirty="0"/>
          </a:p>
        </p:txBody>
      </p:sp>
      <p:sp>
        <p:nvSpPr>
          <p:cNvPr id="54" name="Shape 52"/>
          <p:cNvSpPr/>
          <p:nvPr/>
        </p:nvSpPr>
        <p:spPr>
          <a:xfrm>
            <a:off x="566928" y="4041648"/>
            <a:ext cx="2057400" cy="502920"/>
          </a:xfrm>
          <a:prstGeom prst="rect">
            <a:avLst/>
          </a:prstGeom>
          <a:solidFill>
            <a:srgbClr val="F8FAFC"/>
          </a:solidFill>
          <a:ln w="8890">
            <a:solidFill>
              <a:srgbClr val="EEF1F5"/>
            </a:solidFill>
            <a:prstDash val="solid"/>
          </a:ln>
        </p:spPr>
        <p:txBody>
          <a:bodyPr/>
          <a:lstStyle/>
          <a:p>
            <a:endParaRPr lang="ja-JP" altLang="en-US"/>
          </a:p>
        </p:txBody>
      </p:sp>
      <p:sp>
        <p:nvSpPr>
          <p:cNvPr id="55" name="Text 53"/>
          <p:cNvSpPr/>
          <p:nvPr/>
        </p:nvSpPr>
        <p:spPr>
          <a:xfrm>
            <a:off x="621792" y="407365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PV抑制量</a:t>
            </a:r>
            <a:endParaRPr lang="en-US" sz="1260" dirty="0"/>
          </a:p>
        </p:txBody>
      </p:sp>
      <p:sp>
        <p:nvSpPr>
          <p:cNvPr id="56" name="Shape 54"/>
          <p:cNvSpPr/>
          <p:nvPr/>
        </p:nvSpPr>
        <p:spPr>
          <a:xfrm>
            <a:off x="2624328" y="404164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57" name="Text 55"/>
          <p:cNvSpPr/>
          <p:nvPr/>
        </p:nvSpPr>
        <p:spPr>
          <a:xfrm>
            <a:off x="2679192" y="407365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3,373 kWh</a:t>
            </a:r>
            <a:endParaRPr lang="en-US" sz="1260" dirty="0"/>
          </a:p>
        </p:txBody>
      </p:sp>
      <p:sp>
        <p:nvSpPr>
          <p:cNvPr id="58" name="Shape 56"/>
          <p:cNvSpPr/>
          <p:nvPr/>
        </p:nvSpPr>
        <p:spPr>
          <a:xfrm>
            <a:off x="4773168" y="404164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59" name="Text 57"/>
          <p:cNvSpPr/>
          <p:nvPr/>
        </p:nvSpPr>
        <p:spPr>
          <a:xfrm>
            <a:off x="4828032" y="407365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ほぼ0 kWh</a:t>
            </a:r>
            <a:endParaRPr lang="en-US" sz="1260" dirty="0"/>
          </a:p>
        </p:txBody>
      </p:sp>
      <p:sp>
        <p:nvSpPr>
          <p:cNvPr id="60" name="Shape 58"/>
          <p:cNvSpPr/>
          <p:nvPr/>
        </p:nvSpPr>
        <p:spPr>
          <a:xfrm>
            <a:off x="6922008" y="4041648"/>
            <a:ext cx="4681728" cy="502920"/>
          </a:xfrm>
          <a:prstGeom prst="rect">
            <a:avLst/>
          </a:prstGeom>
          <a:solidFill>
            <a:srgbClr val="F8FAFC"/>
          </a:solidFill>
          <a:ln w="8890">
            <a:solidFill>
              <a:srgbClr val="EEF1F5"/>
            </a:solidFill>
            <a:prstDash val="solid"/>
          </a:ln>
        </p:spPr>
        <p:txBody>
          <a:bodyPr/>
          <a:lstStyle/>
          <a:p>
            <a:endParaRPr lang="ja-JP" altLang="en-US"/>
          </a:p>
        </p:txBody>
      </p:sp>
      <p:sp>
        <p:nvSpPr>
          <p:cNvPr id="61" name="Text 59"/>
          <p:cNvSpPr/>
          <p:nvPr/>
        </p:nvSpPr>
        <p:spPr>
          <a:xfrm>
            <a:off x="6976872" y="407365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高PVでも時間が合わず余る</a:t>
            </a:r>
            <a:endParaRPr lang="en-US" sz="1260" dirty="0"/>
          </a:p>
        </p:txBody>
      </p:sp>
      <p:sp>
        <p:nvSpPr>
          <p:cNvPr id="62" name="Shape 60"/>
          <p:cNvSpPr/>
          <p:nvPr/>
        </p:nvSpPr>
        <p:spPr>
          <a:xfrm>
            <a:off x="566928" y="454456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63" name="Text 61"/>
          <p:cNvSpPr/>
          <p:nvPr/>
        </p:nvSpPr>
        <p:spPr>
          <a:xfrm>
            <a:off x="621792" y="457657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24時間評価額</a:t>
            </a:r>
            <a:endParaRPr lang="en-US" sz="1260" dirty="0"/>
          </a:p>
        </p:txBody>
      </p:sp>
      <p:sp>
        <p:nvSpPr>
          <p:cNvPr id="64" name="Shape 62"/>
          <p:cNvSpPr/>
          <p:nvPr/>
        </p:nvSpPr>
        <p:spPr>
          <a:xfrm>
            <a:off x="2624328" y="454456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65" name="Text 63"/>
          <p:cNvSpPr/>
          <p:nvPr/>
        </p:nvSpPr>
        <p:spPr>
          <a:xfrm>
            <a:off x="2679192" y="457657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660,984円</a:t>
            </a:r>
            <a:endParaRPr lang="en-US" sz="1260" dirty="0"/>
          </a:p>
        </p:txBody>
      </p:sp>
      <p:sp>
        <p:nvSpPr>
          <p:cNvPr id="66" name="Shape 64"/>
          <p:cNvSpPr/>
          <p:nvPr/>
        </p:nvSpPr>
        <p:spPr>
          <a:xfrm>
            <a:off x="4773168" y="454456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67" name="Text 65"/>
          <p:cNvSpPr/>
          <p:nvPr/>
        </p:nvSpPr>
        <p:spPr>
          <a:xfrm>
            <a:off x="4828032" y="457657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698,599円</a:t>
            </a:r>
            <a:endParaRPr lang="en-US" sz="1260" dirty="0"/>
          </a:p>
        </p:txBody>
      </p:sp>
      <p:sp>
        <p:nvSpPr>
          <p:cNvPr id="68" name="Shape 66"/>
          <p:cNvSpPr/>
          <p:nvPr/>
        </p:nvSpPr>
        <p:spPr>
          <a:xfrm>
            <a:off x="6922008" y="454456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69" name="Text 67"/>
          <p:cNvSpPr/>
          <p:nvPr/>
        </p:nvSpPr>
        <p:spPr>
          <a:xfrm>
            <a:off x="6976872" y="457657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差額 +37,615円</a:t>
            </a:r>
            <a:endParaRPr lang="en-US" sz="1260" dirty="0"/>
          </a:p>
        </p:txBody>
      </p:sp>
      <p:sp>
        <p:nvSpPr>
          <p:cNvPr id="70" name="Shape 68"/>
          <p:cNvSpPr/>
          <p:nvPr/>
        </p:nvSpPr>
        <p:spPr>
          <a:xfrm>
            <a:off x="566928" y="5047488"/>
            <a:ext cx="2057400" cy="502920"/>
          </a:xfrm>
          <a:prstGeom prst="rect">
            <a:avLst/>
          </a:prstGeom>
          <a:solidFill>
            <a:srgbClr val="F8FAFC"/>
          </a:solidFill>
          <a:ln w="8890">
            <a:solidFill>
              <a:srgbClr val="EEF1F5"/>
            </a:solidFill>
            <a:prstDash val="solid"/>
          </a:ln>
        </p:spPr>
        <p:txBody>
          <a:bodyPr/>
          <a:lstStyle/>
          <a:p>
            <a:endParaRPr lang="ja-JP" altLang="en-US"/>
          </a:p>
        </p:txBody>
      </p:sp>
      <p:sp>
        <p:nvSpPr>
          <p:cNvPr id="71" name="Text 69"/>
          <p:cNvSpPr/>
          <p:nvPr/>
        </p:nvSpPr>
        <p:spPr>
          <a:xfrm>
            <a:off x="621792" y="507949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計算の詰まり具合</a:t>
            </a:r>
            <a:endParaRPr lang="en-US" sz="1260" dirty="0"/>
          </a:p>
        </p:txBody>
      </p:sp>
      <p:sp>
        <p:nvSpPr>
          <p:cNvPr id="72" name="Shape 70"/>
          <p:cNvSpPr/>
          <p:nvPr/>
        </p:nvSpPr>
        <p:spPr>
          <a:xfrm>
            <a:off x="2624328" y="504748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73" name="Text 71"/>
          <p:cNvSpPr/>
          <p:nvPr/>
        </p:nvSpPr>
        <p:spPr>
          <a:xfrm>
            <a:off x="2679192" y="507949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約9.52%</a:t>
            </a:r>
            <a:endParaRPr lang="en-US" sz="1260" dirty="0"/>
          </a:p>
        </p:txBody>
      </p:sp>
      <p:sp>
        <p:nvSpPr>
          <p:cNvPr id="74" name="Shape 72"/>
          <p:cNvSpPr/>
          <p:nvPr/>
        </p:nvSpPr>
        <p:spPr>
          <a:xfrm>
            <a:off x="4773168" y="5047488"/>
            <a:ext cx="2148840" cy="502920"/>
          </a:xfrm>
          <a:prstGeom prst="rect">
            <a:avLst/>
          </a:prstGeom>
          <a:solidFill>
            <a:srgbClr val="F8FAFC"/>
          </a:solidFill>
          <a:ln w="8890">
            <a:solidFill>
              <a:srgbClr val="EEF1F5"/>
            </a:solidFill>
            <a:prstDash val="solid"/>
          </a:ln>
        </p:spPr>
        <p:txBody>
          <a:bodyPr/>
          <a:lstStyle/>
          <a:p>
            <a:endParaRPr lang="ja-JP" altLang="en-US"/>
          </a:p>
        </p:txBody>
      </p:sp>
      <p:sp>
        <p:nvSpPr>
          <p:cNvPr id="75" name="Text 73"/>
          <p:cNvSpPr/>
          <p:nvPr/>
        </p:nvSpPr>
        <p:spPr>
          <a:xfrm>
            <a:off x="4828032" y="507949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約1.66%</a:t>
            </a:r>
            <a:endParaRPr lang="en-US" sz="1260" dirty="0"/>
          </a:p>
        </p:txBody>
      </p:sp>
      <p:sp>
        <p:nvSpPr>
          <p:cNvPr id="76" name="Shape 74"/>
          <p:cNvSpPr/>
          <p:nvPr/>
        </p:nvSpPr>
        <p:spPr>
          <a:xfrm>
            <a:off x="6922008" y="5047488"/>
            <a:ext cx="4681728" cy="502920"/>
          </a:xfrm>
          <a:prstGeom prst="rect">
            <a:avLst/>
          </a:prstGeom>
          <a:solidFill>
            <a:srgbClr val="F8FAFC"/>
          </a:solidFill>
          <a:ln w="8890">
            <a:solidFill>
              <a:srgbClr val="EEF1F5"/>
            </a:solidFill>
            <a:prstDash val="solid"/>
          </a:ln>
        </p:spPr>
        <p:txBody>
          <a:bodyPr/>
          <a:lstStyle/>
          <a:p>
            <a:endParaRPr lang="ja-JP" altLang="en-US"/>
          </a:p>
        </p:txBody>
      </p:sp>
      <p:sp>
        <p:nvSpPr>
          <p:cNvPr id="77" name="Text 75"/>
          <p:cNvSpPr/>
          <p:nvPr/>
        </p:nvSpPr>
        <p:spPr>
          <a:xfrm>
            <a:off x="6976872" y="507949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配車側の目安。最終費用の誤差ではない</a:t>
            </a:r>
            <a:endParaRPr lang="en-US" sz="1260" dirty="0"/>
          </a:p>
        </p:txBody>
      </p:sp>
      <p:sp>
        <p:nvSpPr>
          <p:cNvPr id="78" name="Shape 76"/>
          <p:cNvSpPr/>
          <p:nvPr/>
        </p:nvSpPr>
        <p:spPr>
          <a:xfrm>
            <a:off x="566928" y="5550408"/>
            <a:ext cx="2057400" cy="502920"/>
          </a:xfrm>
          <a:prstGeom prst="rect">
            <a:avLst/>
          </a:prstGeom>
          <a:solidFill>
            <a:srgbClr val="FFFFFF"/>
          </a:solidFill>
          <a:ln w="8890">
            <a:solidFill>
              <a:srgbClr val="EEF1F5"/>
            </a:solidFill>
            <a:prstDash val="solid"/>
          </a:ln>
        </p:spPr>
        <p:txBody>
          <a:bodyPr/>
          <a:lstStyle/>
          <a:p>
            <a:endParaRPr lang="ja-JP" altLang="en-US"/>
          </a:p>
        </p:txBody>
      </p:sp>
      <p:sp>
        <p:nvSpPr>
          <p:cNvPr id="79" name="Text 77"/>
          <p:cNvSpPr/>
          <p:nvPr/>
        </p:nvSpPr>
        <p:spPr>
          <a:xfrm>
            <a:off x="621792" y="5582412"/>
            <a:ext cx="1947672" cy="438912"/>
          </a:xfrm>
          <a:prstGeom prst="rect">
            <a:avLst/>
          </a:prstGeom>
          <a:noFill/>
          <a:ln/>
        </p:spPr>
        <p:txBody>
          <a:bodyPr wrap="square" lIns="0" tIns="0" rIns="0" bIns="0" rtlCol="0" anchor="ctr">
            <a:normAutofit/>
          </a:bodyPr>
          <a:lstStyle/>
          <a:p>
            <a:pPr marL="0" indent="0" algn="l">
              <a:buNone/>
            </a:pPr>
            <a:r>
              <a:rPr lang="en-US" sz="1260" b="1" dirty="0">
                <a:solidFill>
                  <a:srgbClr val="172033"/>
                </a:solidFill>
                <a:latin typeface="Noto Sans CJK JP" pitchFamily="34" charset="0"/>
                <a:ea typeface="Noto Sans CJK JP" pitchFamily="34" charset="-122"/>
                <a:cs typeface="Noto Sans CJK JP" pitchFamily="34" charset="-120"/>
              </a:rPr>
              <a:t>検算</a:t>
            </a:r>
            <a:endParaRPr lang="en-US" sz="1260" dirty="0"/>
          </a:p>
        </p:txBody>
      </p:sp>
      <p:sp>
        <p:nvSpPr>
          <p:cNvPr id="80" name="Shape 78"/>
          <p:cNvSpPr/>
          <p:nvPr/>
        </p:nvSpPr>
        <p:spPr>
          <a:xfrm>
            <a:off x="2624328" y="555040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81" name="Text 79"/>
          <p:cNvSpPr/>
          <p:nvPr/>
        </p:nvSpPr>
        <p:spPr>
          <a:xfrm>
            <a:off x="2679192" y="558241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264便・24/24・PASS</a:t>
            </a:r>
            <a:endParaRPr lang="en-US" sz="1260" dirty="0"/>
          </a:p>
        </p:txBody>
      </p:sp>
      <p:sp>
        <p:nvSpPr>
          <p:cNvPr id="82" name="Shape 80"/>
          <p:cNvSpPr/>
          <p:nvPr/>
        </p:nvSpPr>
        <p:spPr>
          <a:xfrm>
            <a:off x="4773168" y="5550408"/>
            <a:ext cx="2148840" cy="502920"/>
          </a:xfrm>
          <a:prstGeom prst="rect">
            <a:avLst/>
          </a:prstGeom>
          <a:solidFill>
            <a:srgbClr val="FFFFFF"/>
          </a:solidFill>
          <a:ln w="8890">
            <a:solidFill>
              <a:srgbClr val="EEF1F5"/>
            </a:solidFill>
            <a:prstDash val="solid"/>
          </a:ln>
        </p:spPr>
        <p:txBody>
          <a:bodyPr/>
          <a:lstStyle/>
          <a:p>
            <a:endParaRPr lang="ja-JP" altLang="en-US"/>
          </a:p>
        </p:txBody>
      </p:sp>
      <p:sp>
        <p:nvSpPr>
          <p:cNvPr id="83" name="Text 81"/>
          <p:cNvSpPr/>
          <p:nvPr/>
        </p:nvSpPr>
        <p:spPr>
          <a:xfrm>
            <a:off x="4828032" y="5582412"/>
            <a:ext cx="2039112" cy="438912"/>
          </a:xfrm>
          <a:prstGeom prst="rect">
            <a:avLst/>
          </a:prstGeom>
          <a:noFill/>
          <a:ln/>
        </p:spPr>
        <p:txBody>
          <a:bodyPr wrap="square" lIns="0" tIns="0" rIns="0" bIns="0" rtlCol="0" anchor="ctr">
            <a:normAutofit/>
          </a:bodyPr>
          <a:lstStyle/>
          <a:p>
            <a:pPr marL="0" indent="0" algn="ctr">
              <a:buNone/>
            </a:pPr>
            <a:r>
              <a:rPr lang="en-US" sz="1260" dirty="0">
                <a:solidFill>
                  <a:srgbClr val="172033"/>
                </a:solidFill>
                <a:latin typeface="Noto Sans CJK JP" pitchFamily="34" charset="0"/>
                <a:ea typeface="Noto Sans CJK JP" pitchFamily="34" charset="-122"/>
                <a:cs typeface="Noto Sans CJK JP" pitchFamily="34" charset="-120"/>
              </a:rPr>
              <a:t>264便・24/24・PASS</a:t>
            </a:r>
            <a:endParaRPr lang="en-US" sz="1260" dirty="0"/>
          </a:p>
        </p:txBody>
      </p:sp>
      <p:sp>
        <p:nvSpPr>
          <p:cNvPr id="84" name="Shape 82"/>
          <p:cNvSpPr/>
          <p:nvPr/>
        </p:nvSpPr>
        <p:spPr>
          <a:xfrm>
            <a:off x="6922008" y="5550408"/>
            <a:ext cx="4681728" cy="502920"/>
          </a:xfrm>
          <a:prstGeom prst="rect">
            <a:avLst/>
          </a:prstGeom>
          <a:solidFill>
            <a:srgbClr val="FFFFFF"/>
          </a:solidFill>
          <a:ln w="8890">
            <a:solidFill>
              <a:srgbClr val="EEF1F5"/>
            </a:solidFill>
            <a:prstDash val="solid"/>
          </a:ln>
        </p:spPr>
        <p:txBody>
          <a:bodyPr/>
          <a:lstStyle/>
          <a:p>
            <a:endParaRPr lang="ja-JP" altLang="en-US"/>
          </a:p>
        </p:txBody>
      </p:sp>
      <p:sp>
        <p:nvSpPr>
          <p:cNvPr id="85" name="Text 83"/>
          <p:cNvSpPr/>
          <p:nvPr/>
        </p:nvSpPr>
        <p:spPr>
          <a:xfrm>
            <a:off x="6976872" y="5582412"/>
            <a:ext cx="4572000" cy="438912"/>
          </a:xfrm>
          <a:prstGeom prst="rect">
            <a:avLst/>
          </a:prstGeom>
          <a:noFill/>
          <a:ln/>
        </p:spPr>
        <p:txBody>
          <a:bodyPr wrap="square" lIns="0" tIns="0" rIns="0" bIns="0" rtlCol="0" anchor="ctr">
            <a:normAutofit/>
          </a:bodyPr>
          <a:lstStyle/>
          <a:p>
            <a:pPr marL="0" indent="0" algn="l">
              <a:buNone/>
            </a:pPr>
            <a:r>
              <a:rPr lang="en-US" sz="1260" dirty="0">
                <a:solidFill>
                  <a:srgbClr val="172033"/>
                </a:solidFill>
                <a:latin typeface="Noto Sans CJK JP" pitchFamily="34" charset="0"/>
                <a:ea typeface="Noto Sans CJK JP" pitchFamily="34" charset="-122"/>
                <a:cs typeface="Noto Sans CJK JP" pitchFamily="34" charset="-120"/>
              </a:rPr>
              <a:t>物理・会計とも成立</a:t>
            </a:r>
            <a:endParaRPr lang="en-US" sz="1260" dirty="0"/>
          </a:p>
        </p:txBody>
      </p:sp>
      <p:sp>
        <p:nvSpPr>
          <p:cNvPr id="86" name="Shape 84"/>
          <p:cNvSpPr/>
          <p:nvPr/>
        </p:nvSpPr>
        <p:spPr>
          <a:xfrm>
            <a:off x="1033272" y="6016752"/>
            <a:ext cx="10149840" cy="310896"/>
          </a:xfrm>
          <a:prstGeom prst="roundRect">
            <a:avLst/>
          </a:prstGeom>
          <a:solidFill>
            <a:srgbClr val="E8F6F3"/>
          </a:solidFill>
          <a:ln w="11430">
            <a:solidFill>
              <a:srgbClr val="1F9D8A"/>
            </a:solidFill>
            <a:prstDash val="solid"/>
          </a:ln>
        </p:spPr>
        <p:txBody>
          <a:bodyPr/>
          <a:lstStyle/>
          <a:p>
            <a:endParaRPr lang="ja-JP" altLang="en-US"/>
          </a:p>
        </p:txBody>
      </p:sp>
      <p:sp>
        <p:nvSpPr>
          <p:cNvPr id="87" name="Text 85"/>
          <p:cNvSpPr/>
          <p:nvPr/>
        </p:nvSpPr>
        <p:spPr>
          <a:xfrm>
            <a:off x="1234440" y="6071616"/>
            <a:ext cx="9738360" cy="201168"/>
          </a:xfrm>
          <a:prstGeom prst="rect">
            <a:avLst/>
          </a:prstGeom>
          <a:noFill/>
          <a:ln/>
        </p:spPr>
        <p:txBody>
          <a:bodyPr wrap="square" lIns="0" tIns="0" rIns="0" bIns="0" rtlCol="0" anchor="ctr"/>
          <a:lstStyle/>
          <a:p>
            <a:pPr marL="0" indent="0" algn="ctr">
              <a:buNone/>
            </a:pPr>
            <a:r>
              <a:rPr lang="en-US" sz="1480" b="1" dirty="0">
                <a:solidFill>
                  <a:srgbClr val="1F9D8A"/>
                </a:solidFill>
                <a:latin typeface="Noto Sans CJK JP" pitchFamily="34" charset="0"/>
                <a:ea typeface="Noto Sans CJK JP" pitchFamily="34" charset="-122"/>
                <a:cs typeface="Noto Sans CJK JP" pitchFamily="34" charset="-120"/>
              </a:rPr>
              <a:t>結論：PV量の違いに応じて配車と電力の使い方が変わり、両条件とも全便運行と検算を満たした。</a:t>
            </a:r>
            <a:endParaRPr lang="en-US" sz="14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結果の信頼性：一日を進めながら24回見直し、最後に全体を検算</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15/18</a:t>
            </a:r>
            <a:endParaRPr lang="en-US" sz="850" dirty="0"/>
          </a:p>
        </p:txBody>
      </p:sp>
      <p:sp>
        <p:nvSpPr>
          <p:cNvPr id="6" name="Text 4"/>
          <p:cNvSpPr/>
          <p:nvPr/>
        </p:nvSpPr>
        <p:spPr>
          <a:xfrm>
            <a:off x="685800" y="914400"/>
            <a:ext cx="10835640" cy="329184"/>
          </a:xfrm>
          <a:prstGeom prst="rect">
            <a:avLst/>
          </a:prstGeom>
          <a:noFill/>
          <a:ln/>
        </p:spPr>
        <p:txBody>
          <a:bodyPr wrap="square" lIns="0" tIns="0" rIns="0" bIns="0" rtlCol="0" anchor="ctr"/>
          <a:lstStyle/>
          <a:p>
            <a:pPr marL="0" indent="0" algn="ctr">
              <a:buNone/>
            </a:pPr>
            <a:r>
              <a:rPr lang="en-US" sz="1800" dirty="0">
                <a:solidFill>
                  <a:srgbClr val="172033"/>
                </a:solidFill>
                <a:latin typeface="Noto Sans CJK JP" pitchFamily="34" charset="0"/>
                <a:ea typeface="Noto Sans CJK JP" pitchFamily="34" charset="-122"/>
                <a:cs typeface="Noto Sans CJK JP" pitchFamily="34" charset="-120"/>
              </a:rPr>
              <a:t>「朝に作った計画をそのまま使う」のではなく、1時間ごとに残り時間の充電計画を更新する。</a:t>
            </a:r>
            <a:endParaRPr lang="en-US" sz="1800" dirty="0"/>
          </a:p>
        </p:txBody>
      </p:sp>
      <p:sp>
        <p:nvSpPr>
          <p:cNvPr id="7" name="Shape 5"/>
          <p:cNvSpPr/>
          <p:nvPr/>
        </p:nvSpPr>
        <p:spPr>
          <a:xfrm>
            <a:off x="914400" y="1965960"/>
            <a:ext cx="10149840" cy="0"/>
          </a:xfrm>
          <a:prstGeom prst="line">
            <a:avLst/>
          </a:prstGeom>
          <a:noFill/>
          <a:ln w="38100">
            <a:solidFill>
              <a:srgbClr val="356BB3"/>
            </a:solidFill>
            <a:prstDash val="solid"/>
          </a:ln>
        </p:spPr>
        <p:txBody>
          <a:bodyPr/>
          <a:lstStyle/>
          <a:p>
            <a:endParaRPr lang="ja-JP" altLang="en-US"/>
          </a:p>
        </p:txBody>
      </p:sp>
      <p:sp>
        <p:nvSpPr>
          <p:cNvPr id="8" name="Shape 6"/>
          <p:cNvSpPr/>
          <p:nvPr/>
        </p:nvSpPr>
        <p:spPr>
          <a:xfrm>
            <a:off x="80467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9" name="Text 7"/>
          <p:cNvSpPr/>
          <p:nvPr/>
        </p:nvSpPr>
        <p:spPr>
          <a:xfrm>
            <a:off x="59436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00:00</a:t>
            </a:r>
            <a:endParaRPr lang="en-US" sz="1100" dirty="0"/>
          </a:p>
        </p:txBody>
      </p:sp>
      <p:sp>
        <p:nvSpPr>
          <p:cNvPr id="10" name="Shape 8"/>
          <p:cNvSpPr/>
          <p:nvPr/>
        </p:nvSpPr>
        <p:spPr>
          <a:xfrm>
            <a:off x="334213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1" name="Text 9"/>
          <p:cNvSpPr/>
          <p:nvPr/>
        </p:nvSpPr>
        <p:spPr>
          <a:xfrm>
            <a:off x="313182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06:00</a:t>
            </a:r>
            <a:endParaRPr lang="en-US" sz="1100" dirty="0"/>
          </a:p>
        </p:txBody>
      </p:sp>
      <p:sp>
        <p:nvSpPr>
          <p:cNvPr id="12" name="Shape 10"/>
          <p:cNvSpPr/>
          <p:nvPr/>
        </p:nvSpPr>
        <p:spPr>
          <a:xfrm>
            <a:off x="587959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3" name="Text 11"/>
          <p:cNvSpPr/>
          <p:nvPr/>
        </p:nvSpPr>
        <p:spPr>
          <a:xfrm>
            <a:off x="566928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12:00</a:t>
            </a:r>
            <a:endParaRPr lang="en-US" sz="1100" dirty="0"/>
          </a:p>
        </p:txBody>
      </p:sp>
      <p:sp>
        <p:nvSpPr>
          <p:cNvPr id="14" name="Shape 12"/>
          <p:cNvSpPr/>
          <p:nvPr/>
        </p:nvSpPr>
        <p:spPr>
          <a:xfrm>
            <a:off x="841705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5" name="Text 13"/>
          <p:cNvSpPr/>
          <p:nvPr/>
        </p:nvSpPr>
        <p:spPr>
          <a:xfrm>
            <a:off x="820674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18:00</a:t>
            </a:r>
            <a:endParaRPr lang="en-US" sz="1100" dirty="0"/>
          </a:p>
        </p:txBody>
      </p:sp>
      <p:sp>
        <p:nvSpPr>
          <p:cNvPr id="16" name="Shape 14"/>
          <p:cNvSpPr/>
          <p:nvPr/>
        </p:nvSpPr>
        <p:spPr>
          <a:xfrm>
            <a:off x="10954512" y="1856232"/>
            <a:ext cx="219456" cy="219456"/>
          </a:xfrm>
          <a:prstGeom prst="ellipse">
            <a:avLst/>
          </a:prstGeom>
          <a:solidFill>
            <a:srgbClr val="356BB3"/>
          </a:solidFill>
          <a:ln w="12700">
            <a:solidFill>
              <a:srgbClr val="FFFFFF"/>
            </a:solidFill>
            <a:prstDash val="solid"/>
          </a:ln>
        </p:spPr>
        <p:txBody>
          <a:bodyPr/>
          <a:lstStyle/>
          <a:p>
            <a:endParaRPr lang="ja-JP" altLang="en-US"/>
          </a:p>
        </p:txBody>
      </p:sp>
      <p:sp>
        <p:nvSpPr>
          <p:cNvPr id="17" name="Text 15"/>
          <p:cNvSpPr/>
          <p:nvPr/>
        </p:nvSpPr>
        <p:spPr>
          <a:xfrm>
            <a:off x="10744200" y="2176272"/>
            <a:ext cx="640080" cy="201168"/>
          </a:xfrm>
          <a:prstGeom prst="rect">
            <a:avLst/>
          </a:prstGeom>
          <a:noFill/>
          <a:ln/>
        </p:spPr>
        <p:txBody>
          <a:bodyPr wrap="square" lIns="0" tIns="0" rIns="0" bIns="0" rtlCol="0" anchor="ctr"/>
          <a:lstStyle/>
          <a:p>
            <a:pPr marL="0" indent="0" algn="ctr">
              <a:buNone/>
            </a:pPr>
            <a:r>
              <a:rPr lang="en-US" sz="1100" dirty="0">
                <a:solidFill>
                  <a:srgbClr val="687386"/>
                </a:solidFill>
                <a:latin typeface="Arial" pitchFamily="34" charset="0"/>
                <a:ea typeface="Arial" pitchFamily="34" charset="-122"/>
                <a:cs typeface="Arial" pitchFamily="34" charset="-120"/>
              </a:rPr>
              <a:t>24:00</a:t>
            </a:r>
            <a:endParaRPr lang="en-US" sz="1100" dirty="0"/>
          </a:p>
        </p:txBody>
      </p:sp>
      <p:sp>
        <p:nvSpPr>
          <p:cNvPr id="18" name="Shape 16"/>
          <p:cNvSpPr/>
          <p:nvPr/>
        </p:nvSpPr>
        <p:spPr>
          <a:xfrm>
            <a:off x="1125855" y="1792224"/>
            <a:ext cx="0" cy="155448"/>
          </a:xfrm>
          <a:prstGeom prst="line">
            <a:avLst/>
          </a:prstGeom>
          <a:noFill/>
          <a:ln w="17780">
            <a:solidFill>
              <a:srgbClr val="1F9D8A"/>
            </a:solidFill>
            <a:prstDash val="solid"/>
          </a:ln>
        </p:spPr>
        <p:txBody>
          <a:bodyPr/>
          <a:lstStyle/>
          <a:p>
            <a:endParaRPr lang="ja-JP" altLang="en-US"/>
          </a:p>
        </p:txBody>
      </p:sp>
      <p:sp>
        <p:nvSpPr>
          <p:cNvPr id="19" name="Shape 17"/>
          <p:cNvSpPr/>
          <p:nvPr/>
        </p:nvSpPr>
        <p:spPr>
          <a:xfrm>
            <a:off x="1548765" y="1792224"/>
            <a:ext cx="0" cy="155448"/>
          </a:xfrm>
          <a:prstGeom prst="line">
            <a:avLst/>
          </a:prstGeom>
          <a:noFill/>
          <a:ln w="17780">
            <a:solidFill>
              <a:srgbClr val="5B8FD3"/>
            </a:solidFill>
            <a:prstDash val="solid"/>
          </a:ln>
        </p:spPr>
        <p:txBody>
          <a:bodyPr/>
          <a:lstStyle/>
          <a:p>
            <a:endParaRPr lang="ja-JP" altLang="en-US"/>
          </a:p>
        </p:txBody>
      </p:sp>
      <p:sp>
        <p:nvSpPr>
          <p:cNvPr id="20" name="Shape 18"/>
          <p:cNvSpPr/>
          <p:nvPr/>
        </p:nvSpPr>
        <p:spPr>
          <a:xfrm>
            <a:off x="1971675" y="1792224"/>
            <a:ext cx="0" cy="155448"/>
          </a:xfrm>
          <a:prstGeom prst="line">
            <a:avLst/>
          </a:prstGeom>
          <a:noFill/>
          <a:ln w="17780">
            <a:solidFill>
              <a:srgbClr val="1F9D8A"/>
            </a:solidFill>
            <a:prstDash val="solid"/>
          </a:ln>
        </p:spPr>
        <p:txBody>
          <a:bodyPr/>
          <a:lstStyle/>
          <a:p>
            <a:endParaRPr lang="ja-JP" altLang="en-US"/>
          </a:p>
        </p:txBody>
      </p:sp>
      <p:sp>
        <p:nvSpPr>
          <p:cNvPr id="21" name="Shape 19"/>
          <p:cNvSpPr/>
          <p:nvPr/>
        </p:nvSpPr>
        <p:spPr>
          <a:xfrm>
            <a:off x="2394585" y="1792224"/>
            <a:ext cx="0" cy="155448"/>
          </a:xfrm>
          <a:prstGeom prst="line">
            <a:avLst/>
          </a:prstGeom>
          <a:noFill/>
          <a:ln w="17780">
            <a:solidFill>
              <a:srgbClr val="5B8FD3"/>
            </a:solidFill>
            <a:prstDash val="solid"/>
          </a:ln>
        </p:spPr>
        <p:txBody>
          <a:bodyPr/>
          <a:lstStyle/>
          <a:p>
            <a:endParaRPr lang="ja-JP" altLang="en-US"/>
          </a:p>
        </p:txBody>
      </p:sp>
      <p:sp>
        <p:nvSpPr>
          <p:cNvPr id="22" name="Shape 20"/>
          <p:cNvSpPr/>
          <p:nvPr/>
        </p:nvSpPr>
        <p:spPr>
          <a:xfrm>
            <a:off x="2817495" y="1792224"/>
            <a:ext cx="0" cy="155448"/>
          </a:xfrm>
          <a:prstGeom prst="line">
            <a:avLst/>
          </a:prstGeom>
          <a:noFill/>
          <a:ln w="17780">
            <a:solidFill>
              <a:srgbClr val="1F9D8A"/>
            </a:solidFill>
            <a:prstDash val="solid"/>
          </a:ln>
        </p:spPr>
        <p:txBody>
          <a:bodyPr/>
          <a:lstStyle/>
          <a:p>
            <a:endParaRPr lang="ja-JP" altLang="en-US"/>
          </a:p>
        </p:txBody>
      </p:sp>
      <p:sp>
        <p:nvSpPr>
          <p:cNvPr id="23" name="Shape 21"/>
          <p:cNvSpPr/>
          <p:nvPr/>
        </p:nvSpPr>
        <p:spPr>
          <a:xfrm>
            <a:off x="3240405" y="1792224"/>
            <a:ext cx="0" cy="155448"/>
          </a:xfrm>
          <a:prstGeom prst="line">
            <a:avLst/>
          </a:prstGeom>
          <a:noFill/>
          <a:ln w="17780">
            <a:solidFill>
              <a:srgbClr val="5B8FD3"/>
            </a:solidFill>
            <a:prstDash val="solid"/>
          </a:ln>
        </p:spPr>
        <p:txBody>
          <a:bodyPr/>
          <a:lstStyle/>
          <a:p>
            <a:endParaRPr lang="ja-JP" altLang="en-US"/>
          </a:p>
        </p:txBody>
      </p:sp>
      <p:sp>
        <p:nvSpPr>
          <p:cNvPr id="24" name="Shape 22"/>
          <p:cNvSpPr/>
          <p:nvPr/>
        </p:nvSpPr>
        <p:spPr>
          <a:xfrm>
            <a:off x="3663315" y="1792224"/>
            <a:ext cx="0" cy="155448"/>
          </a:xfrm>
          <a:prstGeom prst="line">
            <a:avLst/>
          </a:prstGeom>
          <a:noFill/>
          <a:ln w="17780">
            <a:solidFill>
              <a:srgbClr val="1F9D8A"/>
            </a:solidFill>
            <a:prstDash val="solid"/>
          </a:ln>
        </p:spPr>
        <p:txBody>
          <a:bodyPr/>
          <a:lstStyle/>
          <a:p>
            <a:endParaRPr lang="ja-JP" altLang="en-US"/>
          </a:p>
        </p:txBody>
      </p:sp>
      <p:sp>
        <p:nvSpPr>
          <p:cNvPr id="25" name="Shape 23"/>
          <p:cNvSpPr/>
          <p:nvPr/>
        </p:nvSpPr>
        <p:spPr>
          <a:xfrm>
            <a:off x="4086225" y="1792224"/>
            <a:ext cx="0" cy="155448"/>
          </a:xfrm>
          <a:prstGeom prst="line">
            <a:avLst/>
          </a:prstGeom>
          <a:noFill/>
          <a:ln w="17780">
            <a:solidFill>
              <a:srgbClr val="5B8FD3"/>
            </a:solidFill>
            <a:prstDash val="solid"/>
          </a:ln>
        </p:spPr>
        <p:txBody>
          <a:bodyPr/>
          <a:lstStyle/>
          <a:p>
            <a:endParaRPr lang="ja-JP" altLang="en-US"/>
          </a:p>
        </p:txBody>
      </p:sp>
      <p:sp>
        <p:nvSpPr>
          <p:cNvPr id="26" name="Shape 24"/>
          <p:cNvSpPr/>
          <p:nvPr/>
        </p:nvSpPr>
        <p:spPr>
          <a:xfrm>
            <a:off x="4509135" y="1792224"/>
            <a:ext cx="0" cy="155448"/>
          </a:xfrm>
          <a:prstGeom prst="line">
            <a:avLst/>
          </a:prstGeom>
          <a:noFill/>
          <a:ln w="17780">
            <a:solidFill>
              <a:srgbClr val="1F9D8A"/>
            </a:solidFill>
            <a:prstDash val="solid"/>
          </a:ln>
        </p:spPr>
        <p:txBody>
          <a:bodyPr/>
          <a:lstStyle/>
          <a:p>
            <a:endParaRPr lang="ja-JP" altLang="en-US"/>
          </a:p>
        </p:txBody>
      </p:sp>
      <p:sp>
        <p:nvSpPr>
          <p:cNvPr id="27" name="Shape 25"/>
          <p:cNvSpPr/>
          <p:nvPr/>
        </p:nvSpPr>
        <p:spPr>
          <a:xfrm>
            <a:off x="4932045" y="1792224"/>
            <a:ext cx="0" cy="155448"/>
          </a:xfrm>
          <a:prstGeom prst="line">
            <a:avLst/>
          </a:prstGeom>
          <a:noFill/>
          <a:ln w="17780">
            <a:solidFill>
              <a:srgbClr val="5B8FD3"/>
            </a:solidFill>
            <a:prstDash val="solid"/>
          </a:ln>
        </p:spPr>
        <p:txBody>
          <a:bodyPr/>
          <a:lstStyle/>
          <a:p>
            <a:endParaRPr lang="ja-JP" altLang="en-US"/>
          </a:p>
        </p:txBody>
      </p:sp>
      <p:sp>
        <p:nvSpPr>
          <p:cNvPr id="28" name="Shape 26"/>
          <p:cNvSpPr/>
          <p:nvPr/>
        </p:nvSpPr>
        <p:spPr>
          <a:xfrm>
            <a:off x="5354955" y="1792224"/>
            <a:ext cx="0" cy="155448"/>
          </a:xfrm>
          <a:prstGeom prst="line">
            <a:avLst/>
          </a:prstGeom>
          <a:noFill/>
          <a:ln w="17780">
            <a:solidFill>
              <a:srgbClr val="1F9D8A"/>
            </a:solidFill>
            <a:prstDash val="solid"/>
          </a:ln>
        </p:spPr>
        <p:txBody>
          <a:bodyPr/>
          <a:lstStyle/>
          <a:p>
            <a:endParaRPr lang="ja-JP" altLang="en-US"/>
          </a:p>
        </p:txBody>
      </p:sp>
      <p:sp>
        <p:nvSpPr>
          <p:cNvPr id="29" name="Shape 27"/>
          <p:cNvSpPr/>
          <p:nvPr/>
        </p:nvSpPr>
        <p:spPr>
          <a:xfrm>
            <a:off x="5777865" y="1792224"/>
            <a:ext cx="0" cy="155448"/>
          </a:xfrm>
          <a:prstGeom prst="line">
            <a:avLst/>
          </a:prstGeom>
          <a:noFill/>
          <a:ln w="17780">
            <a:solidFill>
              <a:srgbClr val="5B8FD3"/>
            </a:solidFill>
            <a:prstDash val="solid"/>
          </a:ln>
        </p:spPr>
        <p:txBody>
          <a:bodyPr/>
          <a:lstStyle/>
          <a:p>
            <a:endParaRPr lang="ja-JP" altLang="en-US"/>
          </a:p>
        </p:txBody>
      </p:sp>
      <p:sp>
        <p:nvSpPr>
          <p:cNvPr id="30" name="Shape 28"/>
          <p:cNvSpPr/>
          <p:nvPr/>
        </p:nvSpPr>
        <p:spPr>
          <a:xfrm>
            <a:off x="6200775" y="1792224"/>
            <a:ext cx="0" cy="155448"/>
          </a:xfrm>
          <a:prstGeom prst="line">
            <a:avLst/>
          </a:prstGeom>
          <a:noFill/>
          <a:ln w="17780">
            <a:solidFill>
              <a:srgbClr val="1F9D8A"/>
            </a:solidFill>
            <a:prstDash val="solid"/>
          </a:ln>
        </p:spPr>
        <p:txBody>
          <a:bodyPr/>
          <a:lstStyle/>
          <a:p>
            <a:endParaRPr lang="ja-JP" altLang="en-US"/>
          </a:p>
        </p:txBody>
      </p:sp>
      <p:sp>
        <p:nvSpPr>
          <p:cNvPr id="31" name="Shape 29"/>
          <p:cNvSpPr/>
          <p:nvPr/>
        </p:nvSpPr>
        <p:spPr>
          <a:xfrm>
            <a:off x="6623685" y="1792224"/>
            <a:ext cx="0" cy="155448"/>
          </a:xfrm>
          <a:prstGeom prst="line">
            <a:avLst/>
          </a:prstGeom>
          <a:noFill/>
          <a:ln w="17780">
            <a:solidFill>
              <a:srgbClr val="5B8FD3"/>
            </a:solidFill>
            <a:prstDash val="solid"/>
          </a:ln>
        </p:spPr>
        <p:txBody>
          <a:bodyPr/>
          <a:lstStyle/>
          <a:p>
            <a:endParaRPr lang="ja-JP" altLang="en-US"/>
          </a:p>
        </p:txBody>
      </p:sp>
      <p:sp>
        <p:nvSpPr>
          <p:cNvPr id="32" name="Shape 30"/>
          <p:cNvSpPr/>
          <p:nvPr/>
        </p:nvSpPr>
        <p:spPr>
          <a:xfrm>
            <a:off x="7046595" y="1792224"/>
            <a:ext cx="0" cy="155448"/>
          </a:xfrm>
          <a:prstGeom prst="line">
            <a:avLst/>
          </a:prstGeom>
          <a:noFill/>
          <a:ln w="17780">
            <a:solidFill>
              <a:srgbClr val="1F9D8A"/>
            </a:solidFill>
            <a:prstDash val="solid"/>
          </a:ln>
        </p:spPr>
        <p:txBody>
          <a:bodyPr/>
          <a:lstStyle/>
          <a:p>
            <a:endParaRPr lang="ja-JP" altLang="en-US"/>
          </a:p>
        </p:txBody>
      </p:sp>
      <p:sp>
        <p:nvSpPr>
          <p:cNvPr id="33" name="Shape 31"/>
          <p:cNvSpPr/>
          <p:nvPr/>
        </p:nvSpPr>
        <p:spPr>
          <a:xfrm>
            <a:off x="7469505" y="1792224"/>
            <a:ext cx="0" cy="155448"/>
          </a:xfrm>
          <a:prstGeom prst="line">
            <a:avLst/>
          </a:prstGeom>
          <a:noFill/>
          <a:ln w="17780">
            <a:solidFill>
              <a:srgbClr val="5B8FD3"/>
            </a:solidFill>
            <a:prstDash val="solid"/>
          </a:ln>
        </p:spPr>
        <p:txBody>
          <a:bodyPr/>
          <a:lstStyle/>
          <a:p>
            <a:endParaRPr lang="ja-JP" altLang="en-US"/>
          </a:p>
        </p:txBody>
      </p:sp>
      <p:sp>
        <p:nvSpPr>
          <p:cNvPr id="34" name="Shape 32"/>
          <p:cNvSpPr/>
          <p:nvPr/>
        </p:nvSpPr>
        <p:spPr>
          <a:xfrm>
            <a:off x="7892415" y="1792224"/>
            <a:ext cx="0" cy="155448"/>
          </a:xfrm>
          <a:prstGeom prst="line">
            <a:avLst/>
          </a:prstGeom>
          <a:noFill/>
          <a:ln w="17780">
            <a:solidFill>
              <a:srgbClr val="1F9D8A"/>
            </a:solidFill>
            <a:prstDash val="solid"/>
          </a:ln>
        </p:spPr>
        <p:txBody>
          <a:bodyPr/>
          <a:lstStyle/>
          <a:p>
            <a:endParaRPr lang="ja-JP" altLang="en-US"/>
          </a:p>
        </p:txBody>
      </p:sp>
      <p:sp>
        <p:nvSpPr>
          <p:cNvPr id="35" name="Shape 33"/>
          <p:cNvSpPr/>
          <p:nvPr/>
        </p:nvSpPr>
        <p:spPr>
          <a:xfrm>
            <a:off x="8315325" y="1792224"/>
            <a:ext cx="0" cy="155448"/>
          </a:xfrm>
          <a:prstGeom prst="line">
            <a:avLst/>
          </a:prstGeom>
          <a:noFill/>
          <a:ln w="17780">
            <a:solidFill>
              <a:srgbClr val="5B8FD3"/>
            </a:solidFill>
            <a:prstDash val="solid"/>
          </a:ln>
        </p:spPr>
        <p:txBody>
          <a:bodyPr/>
          <a:lstStyle/>
          <a:p>
            <a:endParaRPr lang="ja-JP" altLang="en-US"/>
          </a:p>
        </p:txBody>
      </p:sp>
      <p:sp>
        <p:nvSpPr>
          <p:cNvPr id="36" name="Shape 34"/>
          <p:cNvSpPr/>
          <p:nvPr/>
        </p:nvSpPr>
        <p:spPr>
          <a:xfrm>
            <a:off x="8738235" y="1792224"/>
            <a:ext cx="0" cy="155448"/>
          </a:xfrm>
          <a:prstGeom prst="line">
            <a:avLst/>
          </a:prstGeom>
          <a:noFill/>
          <a:ln w="17780">
            <a:solidFill>
              <a:srgbClr val="1F9D8A"/>
            </a:solidFill>
            <a:prstDash val="solid"/>
          </a:ln>
        </p:spPr>
        <p:txBody>
          <a:bodyPr/>
          <a:lstStyle/>
          <a:p>
            <a:endParaRPr lang="ja-JP" altLang="en-US"/>
          </a:p>
        </p:txBody>
      </p:sp>
      <p:sp>
        <p:nvSpPr>
          <p:cNvPr id="37" name="Shape 35"/>
          <p:cNvSpPr/>
          <p:nvPr/>
        </p:nvSpPr>
        <p:spPr>
          <a:xfrm>
            <a:off x="9161145" y="1792224"/>
            <a:ext cx="0" cy="155448"/>
          </a:xfrm>
          <a:prstGeom prst="line">
            <a:avLst/>
          </a:prstGeom>
          <a:noFill/>
          <a:ln w="17780">
            <a:solidFill>
              <a:srgbClr val="5B8FD3"/>
            </a:solidFill>
            <a:prstDash val="solid"/>
          </a:ln>
        </p:spPr>
        <p:txBody>
          <a:bodyPr/>
          <a:lstStyle/>
          <a:p>
            <a:endParaRPr lang="ja-JP" altLang="en-US"/>
          </a:p>
        </p:txBody>
      </p:sp>
      <p:sp>
        <p:nvSpPr>
          <p:cNvPr id="38" name="Shape 36"/>
          <p:cNvSpPr/>
          <p:nvPr/>
        </p:nvSpPr>
        <p:spPr>
          <a:xfrm>
            <a:off x="9584055" y="1792224"/>
            <a:ext cx="0" cy="155448"/>
          </a:xfrm>
          <a:prstGeom prst="line">
            <a:avLst/>
          </a:prstGeom>
          <a:noFill/>
          <a:ln w="17780">
            <a:solidFill>
              <a:srgbClr val="1F9D8A"/>
            </a:solidFill>
            <a:prstDash val="solid"/>
          </a:ln>
        </p:spPr>
        <p:txBody>
          <a:bodyPr/>
          <a:lstStyle/>
          <a:p>
            <a:endParaRPr lang="ja-JP" altLang="en-US"/>
          </a:p>
        </p:txBody>
      </p:sp>
      <p:sp>
        <p:nvSpPr>
          <p:cNvPr id="39" name="Shape 37"/>
          <p:cNvSpPr/>
          <p:nvPr/>
        </p:nvSpPr>
        <p:spPr>
          <a:xfrm>
            <a:off x="10006965" y="1792224"/>
            <a:ext cx="0" cy="155448"/>
          </a:xfrm>
          <a:prstGeom prst="line">
            <a:avLst/>
          </a:prstGeom>
          <a:noFill/>
          <a:ln w="17780">
            <a:solidFill>
              <a:srgbClr val="5B8FD3"/>
            </a:solidFill>
            <a:prstDash val="solid"/>
          </a:ln>
        </p:spPr>
        <p:txBody>
          <a:bodyPr/>
          <a:lstStyle/>
          <a:p>
            <a:endParaRPr lang="ja-JP" altLang="en-US"/>
          </a:p>
        </p:txBody>
      </p:sp>
      <p:sp>
        <p:nvSpPr>
          <p:cNvPr id="40" name="Shape 38"/>
          <p:cNvSpPr/>
          <p:nvPr/>
        </p:nvSpPr>
        <p:spPr>
          <a:xfrm>
            <a:off x="10429875" y="1792224"/>
            <a:ext cx="0" cy="155448"/>
          </a:xfrm>
          <a:prstGeom prst="line">
            <a:avLst/>
          </a:prstGeom>
          <a:noFill/>
          <a:ln w="17780">
            <a:solidFill>
              <a:srgbClr val="1F9D8A"/>
            </a:solidFill>
            <a:prstDash val="solid"/>
          </a:ln>
        </p:spPr>
        <p:txBody>
          <a:bodyPr/>
          <a:lstStyle/>
          <a:p>
            <a:endParaRPr lang="ja-JP" altLang="en-US"/>
          </a:p>
        </p:txBody>
      </p:sp>
      <p:sp>
        <p:nvSpPr>
          <p:cNvPr id="41" name="Shape 39"/>
          <p:cNvSpPr/>
          <p:nvPr/>
        </p:nvSpPr>
        <p:spPr>
          <a:xfrm>
            <a:off x="10852785" y="1792224"/>
            <a:ext cx="0" cy="155448"/>
          </a:xfrm>
          <a:prstGeom prst="line">
            <a:avLst/>
          </a:prstGeom>
          <a:noFill/>
          <a:ln w="17780">
            <a:solidFill>
              <a:srgbClr val="5B8FD3"/>
            </a:solidFill>
            <a:prstDash val="solid"/>
          </a:ln>
        </p:spPr>
        <p:txBody>
          <a:bodyPr/>
          <a:lstStyle/>
          <a:p>
            <a:endParaRPr lang="ja-JP" altLang="en-US"/>
          </a:p>
        </p:txBody>
      </p:sp>
      <p:sp>
        <p:nvSpPr>
          <p:cNvPr id="42" name="Text 40"/>
          <p:cNvSpPr/>
          <p:nvPr/>
        </p:nvSpPr>
        <p:spPr>
          <a:xfrm>
            <a:off x="4526280" y="1389888"/>
            <a:ext cx="3017520" cy="347472"/>
          </a:xfrm>
          <a:prstGeom prst="rect">
            <a:avLst/>
          </a:prstGeom>
          <a:noFill/>
          <a:ln/>
        </p:spPr>
        <p:txBody>
          <a:bodyPr wrap="square" lIns="0" tIns="0" rIns="0" bIns="0" rtlCol="0" anchor="ctr"/>
          <a:lstStyle/>
          <a:p>
            <a:pPr marL="0" indent="0" algn="ctr">
              <a:buNone/>
            </a:pPr>
            <a:r>
              <a:rPr lang="en-US" sz="2200" b="1" dirty="0">
                <a:solidFill>
                  <a:srgbClr val="3B8D5A"/>
                </a:solidFill>
                <a:latin typeface="Noto Sans CJK JP" pitchFamily="34" charset="0"/>
                <a:ea typeface="Noto Sans CJK JP" pitchFamily="34" charset="-122"/>
                <a:cs typeface="Noto Sans CJK JP" pitchFamily="34" charset="-120"/>
              </a:rPr>
              <a:t>24回すべて成立</a:t>
            </a:r>
            <a:endParaRPr lang="en-US" sz="2200" dirty="0"/>
          </a:p>
        </p:txBody>
      </p:sp>
      <p:sp>
        <p:nvSpPr>
          <p:cNvPr id="43" name="Shape 41"/>
          <p:cNvSpPr/>
          <p:nvPr/>
        </p:nvSpPr>
        <p:spPr>
          <a:xfrm>
            <a:off x="777240" y="2907792"/>
            <a:ext cx="3337560" cy="2331720"/>
          </a:xfrm>
          <a:prstGeom prst="roundRect">
            <a:avLst>
              <a:gd name="adj" fmla="val 3137"/>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44"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078992" y="3200400"/>
            <a:ext cx="512064" cy="512064"/>
          </a:xfrm>
          <a:prstGeom prst="rect">
            <a:avLst/>
          </a:prstGeom>
        </p:spPr>
      </p:pic>
      <p:sp>
        <p:nvSpPr>
          <p:cNvPr id="45" name="Text 42"/>
          <p:cNvSpPr/>
          <p:nvPr/>
        </p:nvSpPr>
        <p:spPr>
          <a:xfrm>
            <a:off x="1783080" y="3163824"/>
            <a:ext cx="182880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15分 × 96区間</a:t>
            </a:r>
            <a:endParaRPr lang="en-US" sz="2000" dirty="0"/>
          </a:p>
        </p:txBody>
      </p:sp>
      <p:sp>
        <p:nvSpPr>
          <p:cNvPr id="46" name="Text 43"/>
          <p:cNvSpPr/>
          <p:nvPr/>
        </p:nvSpPr>
        <p:spPr>
          <a:xfrm>
            <a:off x="1051560"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PV・系統電力・BESSの動きを</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一日分つなげて確認</a:t>
            </a:r>
            <a:endParaRPr lang="en-US" sz="1550" dirty="0"/>
          </a:p>
        </p:txBody>
      </p:sp>
      <p:sp>
        <p:nvSpPr>
          <p:cNvPr id="47" name="Shape 44"/>
          <p:cNvSpPr/>
          <p:nvPr/>
        </p:nvSpPr>
        <p:spPr>
          <a:xfrm>
            <a:off x="4407408" y="2907792"/>
            <a:ext cx="3337560" cy="2331720"/>
          </a:xfrm>
          <a:prstGeom prst="roundRect">
            <a:avLst>
              <a:gd name="adj" fmla="val 3137"/>
            </a:avLst>
          </a:prstGeom>
          <a:solidFill>
            <a:srgbClr val="E8F6F3"/>
          </a:solidFill>
          <a:ln w="12700">
            <a:solidFill>
              <a:srgbClr val="1F9D8A"/>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48"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709160" y="3200400"/>
            <a:ext cx="512064" cy="512064"/>
          </a:xfrm>
          <a:prstGeom prst="rect">
            <a:avLst/>
          </a:prstGeom>
        </p:spPr>
      </p:pic>
      <p:sp>
        <p:nvSpPr>
          <p:cNvPr id="49" name="Text 45"/>
          <p:cNvSpPr/>
          <p:nvPr/>
        </p:nvSpPr>
        <p:spPr>
          <a:xfrm>
            <a:off x="5413248" y="3163824"/>
            <a:ext cx="182880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物理条件の確認</a:t>
            </a:r>
            <a:endParaRPr lang="en-US" sz="2000" dirty="0"/>
          </a:p>
        </p:txBody>
      </p:sp>
      <p:sp>
        <p:nvSpPr>
          <p:cNvPr id="50" name="Text 46"/>
          <p:cNvSpPr/>
          <p:nvPr/>
        </p:nvSpPr>
        <p:spPr>
          <a:xfrm>
            <a:off x="4681728"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便の重複・SOC・充電器・</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電力収支に矛盾がないか</a:t>
            </a:r>
            <a:endParaRPr lang="en-US" sz="1550" dirty="0"/>
          </a:p>
        </p:txBody>
      </p:sp>
      <p:sp>
        <p:nvSpPr>
          <p:cNvPr id="51" name="Shape 47"/>
          <p:cNvSpPr/>
          <p:nvPr/>
        </p:nvSpPr>
        <p:spPr>
          <a:xfrm>
            <a:off x="8037576" y="2907792"/>
            <a:ext cx="3337560" cy="2331720"/>
          </a:xfrm>
          <a:prstGeom prst="roundRect">
            <a:avLst>
              <a:gd name="adj" fmla="val 3137"/>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pic>
        <p:nvPicPr>
          <p:cNvPr id="52"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8339328" y="3200400"/>
            <a:ext cx="512064" cy="512064"/>
          </a:xfrm>
          <a:prstGeom prst="rect">
            <a:avLst/>
          </a:prstGeom>
        </p:spPr>
      </p:pic>
      <p:sp>
        <p:nvSpPr>
          <p:cNvPr id="53" name="Text 48"/>
          <p:cNvSpPr/>
          <p:nvPr/>
        </p:nvSpPr>
        <p:spPr>
          <a:xfrm>
            <a:off x="9052560" y="3163824"/>
            <a:ext cx="1783080" cy="347472"/>
          </a:xfrm>
          <a:prstGeom prst="rect">
            <a:avLst/>
          </a:prstGeom>
          <a:noFill/>
          <a:ln/>
        </p:spPr>
        <p:txBody>
          <a:bodyPr wrap="square" lIns="0" tIns="0" rIns="0" bIns="0" rtlCol="0" anchor="ctr"/>
          <a:lstStyle/>
          <a:p>
            <a:pPr marL="0" indent="0">
              <a:buNone/>
            </a:pPr>
            <a:r>
              <a:rPr lang="en-US" sz="2000" b="1" dirty="0">
                <a:solidFill>
                  <a:srgbClr val="172033"/>
                </a:solidFill>
                <a:latin typeface="Noto Sans CJK JP" pitchFamily="34" charset="0"/>
                <a:ea typeface="Noto Sans CJK JP" pitchFamily="34" charset="-122"/>
                <a:cs typeface="Noto Sans CJK JP" pitchFamily="34" charset="-120"/>
              </a:rPr>
              <a:t>証拠の紐づけ</a:t>
            </a:r>
            <a:endParaRPr lang="en-US" sz="2000" dirty="0"/>
          </a:p>
        </p:txBody>
      </p:sp>
      <p:sp>
        <p:nvSpPr>
          <p:cNvPr id="54" name="Text 49"/>
          <p:cNvSpPr/>
          <p:nvPr/>
        </p:nvSpPr>
        <p:spPr>
          <a:xfrm>
            <a:off x="8321040" y="3886200"/>
            <a:ext cx="2743200" cy="658368"/>
          </a:xfrm>
          <a:prstGeom prst="rect">
            <a:avLst/>
          </a:prstGeom>
          <a:noFill/>
          <a:ln/>
        </p:spPr>
        <p:txBody>
          <a:bodyPr wrap="square" lIns="0" tIns="0" rIns="0" bIns="0" rtlCol="0" anchor="ctr"/>
          <a:lstStyle/>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入力・コード・出力・費用を</a:t>
            </a:r>
            <a:endParaRPr lang="en-US" sz="1550" dirty="0"/>
          </a:p>
          <a:p>
            <a:pPr marL="0" indent="0" algn="ctr">
              <a:buNone/>
            </a:pPr>
            <a:r>
              <a:rPr lang="en-US" sz="1550" dirty="0">
                <a:solidFill>
                  <a:srgbClr val="687386"/>
                </a:solidFill>
                <a:latin typeface="Noto Sans CJK JP" pitchFamily="34" charset="0"/>
                <a:ea typeface="Noto Sans CJK JP" pitchFamily="34" charset="-122"/>
                <a:cs typeface="Noto Sans CJK JP" pitchFamily="34" charset="-120"/>
              </a:rPr>
              <a:t>同じ実行として記録</a:t>
            </a:r>
            <a:endParaRPr lang="en-US" sz="1550" dirty="0"/>
          </a:p>
        </p:txBody>
      </p:sp>
      <p:sp>
        <p:nvSpPr>
          <p:cNvPr id="55" name="Text 50"/>
          <p:cNvSpPr/>
          <p:nvPr/>
        </p:nvSpPr>
        <p:spPr>
          <a:xfrm>
            <a:off x="1143000" y="5760720"/>
            <a:ext cx="9875520" cy="347472"/>
          </a:xfrm>
          <a:prstGeom prst="rect">
            <a:avLst/>
          </a:prstGeom>
          <a:noFill/>
          <a:ln/>
        </p:spPr>
        <p:txBody>
          <a:bodyPr wrap="square" lIns="0" tIns="0" rIns="0" bIns="0" rtlCol="0" anchor="ctr"/>
          <a:lstStyle/>
          <a:p>
            <a:pPr marL="0" indent="0" algn="ctr">
              <a:buNone/>
            </a:pPr>
            <a:r>
              <a:rPr lang="en-US" sz="1750" b="1" dirty="0">
                <a:solidFill>
                  <a:srgbClr val="1F2A5A"/>
                </a:solidFill>
                <a:latin typeface="Noto Sans CJK JP" pitchFamily="34" charset="0"/>
                <a:ea typeface="Noto Sans CJK JP" pitchFamily="34" charset="-122"/>
                <a:cs typeface="Noto Sans CJK JP" pitchFamily="34" charset="-120"/>
              </a:rPr>
              <a:t>結果だけでなく、「どの入力とコードで出した結果か」まで追える状態にした。</a:t>
            </a:r>
            <a:endParaRPr lang="en-US" sz="1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現在の限界：結果は使えるが、まだ「最適な答え」と言い切る段階ではない</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16/18</a:t>
            </a:r>
            <a:endParaRPr lang="en-US" sz="850" dirty="0"/>
          </a:p>
        </p:txBody>
      </p:sp>
      <p:sp>
        <p:nvSpPr>
          <p:cNvPr id="6" name="Shape 4"/>
          <p:cNvSpPr/>
          <p:nvPr/>
        </p:nvSpPr>
        <p:spPr>
          <a:xfrm>
            <a:off x="822960" y="1078992"/>
            <a:ext cx="10607040" cy="749808"/>
          </a:xfrm>
          <a:prstGeom prst="roundRect">
            <a:avLst/>
          </a:prstGeom>
          <a:solidFill>
            <a:srgbClr val="F8FAFC"/>
          </a:solidFill>
          <a:ln w="12700">
            <a:solidFill>
              <a:srgbClr val="EEF1F5"/>
            </a:solidFill>
            <a:prstDash val="solid"/>
          </a:ln>
        </p:spPr>
        <p:txBody>
          <a:bodyPr/>
          <a:lstStyle/>
          <a:p>
            <a:endParaRPr lang="ja-JP" altLang="en-US"/>
          </a:p>
        </p:txBody>
      </p:sp>
      <p:sp>
        <p:nvSpPr>
          <p:cNvPr id="7" name="Shape 5"/>
          <p:cNvSpPr/>
          <p:nvPr/>
        </p:nvSpPr>
        <p:spPr>
          <a:xfrm>
            <a:off x="1051560" y="1243584"/>
            <a:ext cx="384048" cy="384048"/>
          </a:xfrm>
          <a:prstGeom prst="ellipse">
            <a:avLst/>
          </a:prstGeom>
          <a:solidFill>
            <a:srgbClr val="E98B3A"/>
          </a:solidFill>
          <a:ln w="12700">
            <a:solidFill>
              <a:srgbClr val="E98B3A"/>
            </a:solidFill>
            <a:prstDash val="solid"/>
          </a:ln>
        </p:spPr>
        <p:txBody>
          <a:bodyPr/>
          <a:lstStyle/>
          <a:p>
            <a:endParaRPr lang="ja-JP" altLang="en-US"/>
          </a:p>
        </p:txBody>
      </p:sp>
      <p:sp>
        <p:nvSpPr>
          <p:cNvPr id="8" name="Text 6"/>
          <p:cNvSpPr/>
          <p:nvPr/>
        </p:nvSpPr>
        <p:spPr>
          <a:xfrm>
            <a:off x="1051560" y="1197864"/>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9" name="Text 7"/>
          <p:cNvSpPr/>
          <p:nvPr/>
        </p:nvSpPr>
        <p:spPr>
          <a:xfrm>
            <a:off x="1664208" y="1188720"/>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すべての配車を調べたわけではない</a:t>
            </a:r>
            <a:endParaRPr lang="en-US" sz="1700" dirty="0"/>
          </a:p>
        </p:txBody>
      </p:sp>
      <p:sp>
        <p:nvSpPr>
          <p:cNvPr id="10" name="Text 8"/>
          <p:cNvSpPr/>
          <p:nvPr/>
        </p:nvSpPr>
        <p:spPr>
          <a:xfrm>
            <a:off x="4983480" y="1188720"/>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評価した有限の配車案の中から選んでいる。</a:t>
            </a:r>
            <a:endParaRPr lang="en-US" sz="1500" dirty="0"/>
          </a:p>
        </p:txBody>
      </p:sp>
      <p:sp>
        <p:nvSpPr>
          <p:cNvPr id="11" name="Shape 9"/>
          <p:cNvSpPr/>
          <p:nvPr/>
        </p:nvSpPr>
        <p:spPr>
          <a:xfrm>
            <a:off x="822960" y="2048256"/>
            <a:ext cx="10607040" cy="749808"/>
          </a:xfrm>
          <a:prstGeom prst="roundRect">
            <a:avLst/>
          </a:prstGeom>
          <a:solidFill>
            <a:srgbClr val="FFFFFF"/>
          </a:solidFill>
          <a:ln w="12700">
            <a:solidFill>
              <a:srgbClr val="EEF1F5"/>
            </a:solidFill>
            <a:prstDash val="solid"/>
          </a:ln>
        </p:spPr>
        <p:txBody>
          <a:bodyPr/>
          <a:lstStyle/>
          <a:p>
            <a:endParaRPr lang="ja-JP" altLang="en-US"/>
          </a:p>
        </p:txBody>
      </p:sp>
      <p:sp>
        <p:nvSpPr>
          <p:cNvPr id="12" name="Shape 10"/>
          <p:cNvSpPr/>
          <p:nvPr/>
        </p:nvSpPr>
        <p:spPr>
          <a:xfrm>
            <a:off x="1051560" y="2212848"/>
            <a:ext cx="384048" cy="384048"/>
          </a:xfrm>
          <a:prstGeom prst="ellipse">
            <a:avLst/>
          </a:prstGeom>
          <a:solidFill>
            <a:srgbClr val="C94C4C"/>
          </a:solidFill>
          <a:ln w="12700">
            <a:solidFill>
              <a:srgbClr val="C94C4C"/>
            </a:solidFill>
            <a:prstDash val="solid"/>
          </a:ln>
        </p:spPr>
        <p:txBody>
          <a:bodyPr/>
          <a:lstStyle/>
          <a:p>
            <a:endParaRPr lang="ja-JP" altLang="en-US"/>
          </a:p>
        </p:txBody>
      </p:sp>
      <p:sp>
        <p:nvSpPr>
          <p:cNvPr id="13" name="Text 11"/>
          <p:cNvSpPr/>
          <p:nvPr/>
        </p:nvSpPr>
        <p:spPr>
          <a:xfrm>
            <a:off x="1051560" y="2167128"/>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14" name="Text 12"/>
          <p:cNvSpPr/>
          <p:nvPr/>
        </p:nvSpPr>
        <p:spPr>
          <a:xfrm>
            <a:off x="1664208" y="2157984"/>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高PV条件は計算を詰める余地がある</a:t>
            </a:r>
            <a:endParaRPr lang="en-US" sz="1700" dirty="0"/>
          </a:p>
        </p:txBody>
      </p:sp>
      <p:sp>
        <p:nvSpPr>
          <p:cNvPr id="15" name="Text 13"/>
          <p:cNvSpPr/>
          <p:nvPr/>
        </p:nvSpPr>
        <p:spPr>
          <a:xfrm>
            <a:off x="4983480" y="2157984"/>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計算の詰まり具合の目安は約9.5%（低PVは約1.7%）。</a:t>
            </a:r>
            <a:endParaRPr lang="en-US" sz="1500" dirty="0"/>
          </a:p>
        </p:txBody>
      </p:sp>
      <p:sp>
        <p:nvSpPr>
          <p:cNvPr id="16" name="Shape 14"/>
          <p:cNvSpPr/>
          <p:nvPr/>
        </p:nvSpPr>
        <p:spPr>
          <a:xfrm>
            <a:off x="822960" y="3017520"/>
            <a:ext cx="10607040" cy="749808"/>
          </a:xfrm>
          <a:prstGeom prst="roundRect">
            <a:avLst/>
          </a:prstGeom>
          <a:solidFill>
            <a:srgbClr val="F8FAFC"/>
          </a:solidFill>
          <a:ln w="12700">
            <a:solidFill>
              <a:srgbClr val="EEF1F5"/>
            </a:solidFill>
            <a:prstDash val="solid"/>
          </a:ln>
        </p:spPr>
        <p:txBody>
          <a:bodyPr/>
          <a:lstStyle/>
          <a:p>
            <a:endParaRPr lang="ja-JP" altLang="en-US"/>
          </a:p>
        </p:txBody>
      </p:sp>
      <p:sp>
        <p:nvSpPr>
          <p:cNvPr id="17" name="Shape 15"/>
          <p:cNvSpPr/>
          <p:nvPr/>
        </p:nvSpPr>
        <p:spPr>
          <a:xfrm>
            <a:off x="1051560" y="3182112"/>
            <a:ext cx="384048" cy="384048"/>
          </a:xfrm>
          <a:prstGeom prst="ellipse">
            <a:avLst/>
          </a:prstGeom>
          <a:solidFill>
            <a:srgbClr val="E7B34B"/>
          </a:solidFill>
          <a:ln w="12700">
            <a:solidFill>
              <a:srgbClr val="E7B34B"/>
            </a:solidFill>
            <a:prstDash val="solid"/>
          </a:ln>
        </p:spPr>
        <p:txBody>
          <a:bodyPr/>
          <a:lstStyle/>
          <a:p>
            <a:endParaRPr lang="ja-JP" altLang="en-US"/>
          </a:p>
        </p:txBody>
      </p:sp>
      <p:sp>
        <p:nvSpPr>
          <p:cNvPr id="18" name="Text 16"/>
          <p:cNvSpPr/>
          <p:nvPr/>
        </p:nvSpPr>
        <p:spPr>
          <a:xfrm>
            <a:off x="1051560" y="3136392"/>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19" name="Text 17"/>
          <p:cNvSpPr/>
          <p:nvPr/>
        </p:nvSpPr>
        <p:spPr>
          <a:xfrm>
            <a:off x="1664208" y="3127248"/>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低PV条件は次点との差が小さい</a:t>
            </a:r>
            <a:endParaRPr lang="en-US" sz="1700" dirty="0"/>
          </a:p>
        </p:txBody>
      </p:sp>
      <p:sp>
        <p:nvSpPr>
          <p:cNvPr id="20" name="Text 18"/>
          <p:cNvSpPr/>
          <p:nvPr/>
        </p:nvSpPr>
        <p:spPr>
          <a:xfrm>
            <a:off x="4983480" y="3127248"/>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別の配車案が約567円差であり、選択の安定性を確認したい。</a:t>
            </a:r>
            <a:endParaRPr lang="en-US" sz="1500" dirty="0"/>
          </a:p>
        </p:txBody>
      </p:sp>
      <p:sp>
        <p:nvSpPr>
          <p:cNvPr id="21" name="Shape 19"/>
          <p:cNvSpPr/>
          <p:nvPr/>
        </p:nvSpPr>
        <p:spPr>
          <a:xfrm>
            <a:off x="822960" y="3986784"/>
            <a:ext cx="10607040" cy="749808"/>
          </a:xfrm>
          <a:prstGeom prst="roundRect">
            <a:avLst/>
          </a:prstGeom>
          <a:solidFill>
            <a:srgbClr val="FFFFFF"/>
          </a:solidFill>
          <a:ln w="12700">
            <a:solidFill>
              <a:srgbClr val="EEF1F5"/>
            </a:solidFill>
            <a:prstDash val="solid"/>
          </a:ln>
        </p:spPr>
        <p:txBody>
          <a:bodyPr/>
          <a:lstStyle/>
          <a:p>
            <a:endParaRPr lang="ja-JP" altLang="en-US"/>
          </a:p>
        </p:txBody>
      </p:sp>
      <p:sp>
        <p:nvSpPr>
          <p:cNvPr id="22" name="Shape 20"/>
          <p:cNvSpPr/>
          <p:nvPr/>
        </p:nvSpPr>
        <p:spPr>
          <a:xfrm>
            <a:off x="1051560" y="4151376"/>
            <a:ext cx="384048" cy="384048"/>
          </a:xfrm>
          <a:prstGeom prst="ellipse">
            <a:avLst/>
          </a:prstGeom>
          <a:solidFill>
            <a:srgbClr val="356BB3"/>
          </a:solidFill>
          <a:ln w="12700">
            <a:solidFill>
              <a:srgbClr val="356BB3"/>
            </a:solidFill>
            <a:prstDash val="solid"/>
          </a:ln>
        </p:spPr>
        <p:txBody>
          <a:bodyPr/>
          <a:lstStyle/>
          <a:p>
            <a:endParaRPr lang="ja-JP" altLang="en-US"/>
          </a:p>
        </p:txBody>
      </p:sp>
      <p:sp>
        <p:nvSpPr>
          <p:cNvPr id="23" name="Text 21"/>
          <p:cNvSpPr/>
          <p:nvPr/>
        </p:nvSpPr>
        <p:spPr>
          <a:xfrm>
            <a:off x="1051560" y="4105656"/>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24" name="Text 22"/>
          <p:cNvSpPr/>
          <p:nvPr/>
        </p:nvSpPr>
        <p:spPr>
          <a:xfrm>
            <a:off x="1664208" y="4096512"/>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2つの条件だけでは一般化できない</a:t>
            </a:r>
            <a:endParaRPr lang="en-US" sz="1700" dirty="0"/>
          </a:p>
        </p:txBody>
      </p:sp>
      <p:sp>
        <p:nvSpPr>
          <p:cNvPr id="25" name="Text 23"/>
          <p:cNvSpPr/>
          <p:nvPr/>
        </p:nvSpPr>
        <p:spPr>
          <a:xfrm>
            <a:off x="4983480" y="4096512"/>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「雨なら必ずこうなる」という結論ではない。</a:t>
            </a:r>
            <a:endParaRPr lang="en-US" sz="1500" dirty="0"/>
          </a:p>
        </p:txBody>
      </p:sp>
      <p:sp>
        <p:nvSpPr>
          <p:cNvPr id="26" name="Shape 24"/>
          <p:cNvSpPr/>
          <p:nvPr/>
        </p:nvSpPr>
        <p:spPr>
          <a:xfrm>
            <a:off x="822960" y="4956048"/>
            <a:ext cx="10607040" cy="749808"/>
          </a:xfrm>
          <a:prstGeom prst="roundRect">
            <a:avLst/>
          </a:prstGeom>
          <a:solidFill>
            <a:srgbClr val="F8FAFC"/>
          </a:solidFill>
          <a:ln w="12700">
            <a:solidFill>
              <a:srgbClr val="EEF1F5"/>
            </a:solidFill>
            <a:prstDash val="solid"/>
          </a:ln>
        </p:spPr>
        <p:txBody>
          <a:bodyPr/>
          <a:lstStyle/>
          <a:p>
            <a:endParaRPr lang="ja-JP" altLang="en-US"/>
          </a:p>
        </p:txBody>
      </p:sp>
      <p:sp>
        <p:nvSpPr>
          <p:cNvPr id="27" name="Shape 25"/>
          <p:cNvSpPr/>
          <p:nvPr/>
        </p:nvSpPr>
        <p:spPr>
          <a:xfrm>
            <a:off x="1051560" y="5120640"/>
            <a:ext cx="384048" cy="384048"/>
          </a:xfrm>
          <a:prstGeom prst="ellipse">
            <a:avLst/>
          </a:prstGeom>
          <a:solidFill>
            <a:srgbClr val="687386"/>
          </a:solidFill>
          <a:ln w="12700">
            <a:solidFill>
              <a:srgbClr val="687386"/>
            </a:solidFill>
            <a:prstDash val="solid"/>
          </a:ln>
        </p:spPr>
        <p:txBody>
          <a:bodyPr/>
          <a:lstStyle/>
          <a:p>
            <a:endParaRPr lang="ja-JP" altLang="en-US"/>
          </a:p>
        </p:txBody>
      </p:sp>
      <p:sp>
        <p:nvSpPr>
          <p:cNvPr id="28" name="Text 26"/>
          <p:cNvSpPr/>
          <p:nvPr/>
        </p:nvSpPr>
        <p:spPr>
          <a:xfrm>
            <a:off x="1051560" y="5074920"/>
            <a:ext cx="384048" cy="384048"/>
          </a:xfrm>
          <a:prstGeom prst="rect">
            <a:avLst/>
          </a:prstGeom>
          <a:noFill/>
          <a:ln/>
        </p:spPr>
        <p:txBody>
          <a:bodyPr wrap="square" lIns="0" tIns="0" rIns="0" bIns="0" rtlCol="0" anchor="ctr"/>
          <a:lstStyle/>
          <a:p>
            <a:pPr marL="0" indent="0" algn="ctr">
              <a:buNone/>
            </a:pPr>
            <a:r>
              <a:rPr lang="en-US" sz="1900" b="1" dirty="0">
                <a:solidFill>
                  <a:srgbClr val="FFFFFF"/>
                </a:solidFill>
                <a:latin typeface="Arial" pitchFamily="34" charset="0"/>
                <a:ea typeface="Arial" pitchFamily="34" charset="-122"/>
                <a:cs typeface="Arial" pitchFamily="34" charset="-120"/>
              </a:rPr>
              <a:t>!</a:t>
            </a:r>
            <a:endParaRPr lang="en-US" sz="1900" dirty="0"/>
          </a:p>
        </p:txBody>
      </p:sp>
      <p:sp>
        <p:nvSpPr>
          <p:cNvPr id="29" name="Text 27"/>
          <p:cNvSpPr/>
          <p:nvPr/>
        </p:nvSpPr>
        <p:spPr>
          <a:xfrm>
            <a:off x="1664208" y="5065776"/>
            <a:ext cx="3657600" cy="256032"/>
          </a:xfrm>
          <a:prstGeom prst="rect">
            <a:avLst/>
          </a:prstGeom>
          <a:noFill/>
          <a:ln/>
        </p:spPr>
        <p:txBody>
          <a:bodyPr wrap="square" lIns="0" tIns="0" rIns="0" bIns="0" rtlCol="0" anchor="ctr"/>
          <a:lstStyle/>
          <a:p>
            <a:pPr marL="0" indent="0">
              <a:buNone/>
            </a:pPr>
            <a:r>
              <a:rPr lang="en-US" sz="1700" b="1" dirty="0">
                <a:solidFill>
                  <a:srgbClr val="172033"/>
                </a:solidFill>
                <a:latin typeface="Noto Sans CJK JP" pitchFamily="34" charset="0"/>
                <a:ea typeface="Noto Sans CJK JP" pitchFamily="34" charset="-122"/>
                <a:cs typeface="Noto Sans CJK JP" pitchFamily="34" charset="-120"/>
              </a:rPr>
              <a:t>費用の範囲が限定される</a:t>
            </a:r>
            <a:endParaRPr lang="en-US" sz="1700" dirty="0"/>
          </a:p>
        </p:txBody>
      </p:sp>
      <p:sp>
        <p:nvSpPr>
          <p:cNvPr id="30" name="Text 28"/>
          <p:cNvSpPr/>
          <p:nvPr/>
        </p:nvSpPr>
        <p:spPr>
          <a:xfrm>
            <a:off x="4983480" y="5065776"/>
            <a:ext cx="5989320" cy="384048"/>
          </a:xfrm>
          <a:prstGeom prst="rect">
            <a:avLst/>
          </a:prstGeom>
          <a:noFill/>
          <a:ln/>
        </p:spPr>
        <p:txBody>
          <a:bodyPr wrap="square" lIns="0" tIns="0" rIns="0" bIns="0" rtlCol="0" anchor="ctr"/>
          <a:lstStyle/>
          <a:p>
            <a:pPr marL="0" indent="0">
              <a:buNone/>
            </a:pPr>
            <a:r>
              <a:rPr lang="en-US" sz="1500" dirty="0">
                <a:solidFill>
                  <a:srgbClr val="687386"/>
                </a:solidFill>
                <a:latin typeface="Noto Sans CJK JP" pitchFamily="34" charset="0"/>
                <a:ea typeface="Noto Sans CJK JP" pitchFamily="34" charset="-122"/>
                <a:cs typeface="Noto Sans CJK JP" pitchFamily="34" charset="-120"/>
              </a:rPr>
              <a:t>設備投資・電池劣化・運転士費などは未反映。</a:t>
            </a:r>
            <a:endParaRPr lang="en-US" sz="1500" dirty="0"/>
          </a:p>
        </p:txBody>
      </p:sp>
      <p:sp>
        <p:nvSpPr>
          <p:cNvPr id="31" name="Shape 29"/>
          <p:cNvSpPr/>
          <p:nvPr/>
        </p:nvSpPr>
        <p:spPr>
          <a:xfrm>
            <a:off x="1234440" y="5989320"/>
            <a:ext cx="9692640" cy="365760"/>
          </a:xfrm>
          <a:prstGeom prst="roundRect">
            <a:avLst/>
          </a:prstGeom>
          <a:solidFill>
            <a:srgbClr val="FCECEC"/>
          </a:solidFill>
          <a:ln w="12700">
            <a:solidFill>
              <a:srgbClr val="C94C4C"/>
            </a:solidFill>
            <a:prstDash val="solid"/>
          </a:ln>
        </p:spPr>
        <p:txBody>
          <a:bodyPr/>
          <a:lstStyle/>
          <a:p>
            <a:endParaRPr lang="ja-JP" altLang="en-US"/>
          </a:p>
        </p:txBody>
      </p:sp>
      <p:sp>
        <p:nvSpPr>
          <p:cNvPr id="32" name="Text 30"/>
          <p:cNvSpPr/>
          <p:nvPr/>
        </p:nvSpPr>
        <p:spPr>
          <a:xfrm>
            <a:off x="1417320" y="6062472"/>
            <a:ext cx="9326880" cy="219456"/>
          </a:xfrm>
          <a:prstGeom prst="rect">
            <a:avLst/>
          </a:prstGeom>
          <a:noFill/>
          <a:ln/>
        </p:spPr>
        <p:txBody>
          <a:bodyPr wrap="square" lIns="0" tIns="0" rIns="0" bIns="0" rtlCol="0" anchor="ctr"/>
          <a:lstStyle/>
          <a:p>
            <a:pPr marL="0" indent="0" algn="ctr">
              <a:buNone/>
            </a:pPr>
            <a:r>
              <a:rPr lang="en-US" sz="1650" b="1" dirty="0">
                <a:solidFill>
                  <a:srgbClr val="C94C4C"/>
                </a:solidFill>
                <a:latin typeface="Noto Sans CJK JP" pitchFamily="34" charset="0"/>
                <a:ea typeface="Noto Sans CJK JP" pitchFamily="34" charset="-122"/>
                <a:cs typeface="Noto Sans CJK JP" pitchFamily="34" charset="-120"/>
              </a:rPr>
              <a:t>今後は「より厳密な小規模比較」と「配車案を増やした場合の変化」を確認する。</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11月に向けた次の作業と、ご相談したいこと</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17/18</a:t>
            </a:r>
            <a:endParaRPr lang="en-US" sz="850" dirty="0"/>
          </a:p>
        </p:txBody>
      </p:sp>
      <p:sp>
        <p:nvSpPr>
          <p:cNvPr id="6" name="Shape 4"/>
          <p:cNvSpPr/>
          <p:nvPr/>
        </p:nvSpPr>
        <p:spPr>
          <a:xfrm>
            <a:off x="621792" y="1024128"/>
            <a:ext cx="5486400" cy="5257800"/>
          </a:xfrm>
          <a:prstGeom prst="roundRect">
            <a:avLst>
              <a:gd name="adj" fmla="val 1391"/>
            </a:avLst>
          </a:prstGeom>
          <a:solidFill>
            <a:srgbClr val="EAF2FB"/>
          </a:solidFill>
          <a:ln w="12700">
            <a:solidFill>
              <a:srgbClr val="356BB3"/>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7" name="Text 5"/>
          <p:cNvSpPr/>
          <p:nvPr/>
        </p:nvSpPr>
        <p:spPr>
          <a:xfrm>
            <a:off x="932688" y="1298448"/>
            <a:ext cx="2286000" cy="329184"/>
          </a:xfrm>
          <a:prstGeom prst="rect">
            <a:avLst/>
          </a:prstGeom>
          <a:noFill/>
          <a:ln/>
        </p:spPr>
        <p:txBody>
          <a:bodyPr wrap="square" lIns="0" tIns="0" rIns="0" bIns="0" rtlCol="0" anchor="ctr"/>
          <a:lstStyle/>
          <a:p>
            <a:pPr marL="0" indent="0">
              <a:buNone/>
            </a:pPr>
            <a:r>
              <a:rPr lang="en-US" sz="2100" b="1" dirty="0">
                <a:solidFill>
                  <a:srgbClr val="1F2A5A"/>
                </a:solidFill>
                <a:latin typeface="Noto Sans CJK JP" pitchFamily="34" charset="0"/>
                <a:ea typeface="Noto Sans CJK JP" pitchFamily="34" charset="-122"/>
                <a:cs typeface="Noto Sans CJK JP" pitchFamily="34" charset="-120"/>
              </a:rPr>
              <a:t>次に優先する作業</a:t>
            </a:r>
            <a:endParaRPr lang="en-US" sz="2100" dirty="0"/>
          </a:p>
        </p:txBody>
      </p:sp>
      <p:sp>
        <p:nvSpPr>
          <p:cNvPr id="8" name="Shape 6"/>
          <p:cNvSpPr/>
          <p:nvPr/>
        </p:nvSpPr>
        <p:spPr>
          <a:xfrm>
            <a:off x="960120" y="1920240"/>
            <a:ext cx="438912" cy="438912"/>
          </a:xfrm>
          <a:prstGeom prst="ellipse">
            <a:avLst/>
          </a:prstGeom>
          <a:solidFill>
            <a:srgbClr val="356BB3"/>
          </a:solidFill>
          <a:ln w="12700">
            <a:solidFill>
              <a:srgbClr val="FFFFFF"/>
            </a:solidFill>
            <a:prstDash val="solid"/>
          </a:ln>
        </p:spPr>
        <p:txBody>
          <a:bodyPr/>
          <a:lstStyle/>
          <a:p>
            <a:endParaRPr lang="ja-JP" altLang="en-US"/>
          </a:p>
        </p:txBody>
      </p:sp>
      <p:sp>
        <p:nvSpPr>
          <p:cNvPr id="9" name="Text 7"/>
          <p:cNvSpPr/>
          <p:nvPr/>
        </p:nvSpPr>
        <p:spPr>
          <a:xfrm>
            <a:off x="960120" y="1883664"/>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1</a:t>
            </a:r>
            <a:endParaRPr lang="en-US" sz="1500" dirty="0"/>
          </a:p>
        </p:txBody>
      </p:sp>
      <p:sp>
        <p:nvSpPr>
          <p:cNvPr id="10" name="Text 8"/>
          <p:cNvSpPr/>
          <p:nvPr/>
        </p:nvSpPr>
        <p:spPr>
          <a:xfrm>
            <a:off x="1572768" y="1874520"/>
            <a:ext cx="1600200" cy="292608"/>
          </a:xfrm>
          <a:prstGeom prst="rect">
            <a:avLst/>
          </a:prstGeom>
          <a:noFill/>
          <a:ln/>
        </p:spPr>
        <p:txBody>
          <a:bodyPr wrap="square" lIns="0" tIns="0" rIns="0" bIns="0" rtlCol="0" anchor="ctr"/>
          <a:lstStyle/>
          <a:p>
            <a:pPr marL="0" indent="0">
              <a:buNone/>
            </a:pPr>
            <a:r>
              <a:rPr lang="en-US" sz="1750" b="1" dirty="0">
                <a:solidFill>
                  <a:srgbClr val="172033"/>
                </a:solidFill>
                <a:latin typeface="Noto Sans CJK JP" pitchFamily="34" charset="0"/>
                <a:ea typeface="Noto Sans CJK JP" pitchFamily="34" charset="-122"/>
                <a:cs typeface="Noto Sans CJK JP" pitchFamily="34" charset="-120"/>
              </a:rPr>
              <a:t>小規模比較</a:t>
            </a:r>
            <a:endParaRPr lang="en-US" sz="1750" dirty="0"/>
          </a:p>
        </p:txBody>
      </p:sp>
      <p:sp>
        <p:nvSpPr>
          <p:cNvPr id="11" name="Text 9"/>
          <p:cNvSpPr/>
          <p:nvPr/>
        </p:nvSpPr>
        <p:spPr>
          <a:xfrm>
            <a:off x="3063240" y="1856232"/>
            <a:ext cx="2542032" cy="585216"/>
          </a:xfrm>
          <a:prstGeom prst="rect">
            <a:avLst/>
          </a:prstGeom>
          <a:noFill/>
          <a:ln/>
        </p:spPr>
        <p:txBody>
          <a:bodyPr wrap="square" lIns="0" tIns="0" rIns="0" bIns="0" rtlCol="0" anchor="ctr"/>
          <a:lstStyle/>
          <a:p>
            <a:pPr marL="0" indent="0">
              <a:buNone/>
            </a:pPr>
            <a:r>
              <a:rPr lang="en-US" sz="1420" dirty="0">
                <a:solidFill>
                  <a:srgbClr val="687386"/>
                </a:solidFill>
                <a:latin typeface="Noto Sans CJK JP" pitchFamily="34" charset="0"/>
                <a:ea typeface="Noto Sans CJK JP" pitchFamily="34" charset="-122"/>
                <a:cs typeface="Noto Sans CJK JP" pitchFamily="34" charset="-120"/>
              </a:rPr>
              <a:t>8・12・24便で、現在方式と一体型の参照方法を比較</a:t>
            </a:r>
            <a:endParaRPr lang="en-US" sz="1420" dirty="0"/>
          </a:p>
        </p:txBody>
      </p:sp>
      <p:sp>
        <p:nvSpPr>
          <p:cNvPr id="12" name="Shape 10"/>
          <p:cNvSpPr/>
          <p:nvPr/>
        </p:nvSpPr>
        <p:spPr>
          <a:xfrm>
            <a:off x="960120" y="3035808"/>
            <a:ext cx="438912" cy="438912"/>
          </a:xfrm>
          <a:prstGeom prst="ellipse">
            <a:avLst/>
          </a:prstGeom>
          <a:solidFill>
            <a:srgbClr val="1F9D8A"/>
          </a:solidFill>
          <a:ln w="12700">
            <a:solidFill>
              <a:srgbClr val="FFFFFF"/>
            </a:solidFill>
            <a:prstDash val="solid"/>
          </a:ln>
        </p:spPr>
        <p:txBody>
          <a:bodyPr/>
          <a:lstStyle/>
          <a:p>
            <a:endParaRPr lang="ja-JP" altLang="en-US"/>
          </a:p>
        </p:txBody>
      </p:sp>
      <p:sp>
        <p:nvSpPr>
          <p:cNvPr id="13" name="Text 11"/>
          <p:cNvSpPr/>
          <p:nvPr/>
        </p:nvSpPr>
        <p:spPr>
          <a:xfrm>
            <a:off x="960120" y="2999232"/>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2</a:t>
            </a:r>
            <a:endParaRPr lang="en-US" sz="1500" dirty="0"/>
          </a:p>
        </p:txBody>
      </p:sp>
      <p:sp>
        <p:nvSpPr>
          <p:cNvPr id="14" name="Text 12"/>
          <p:cNvSpPr/>
          <p:nvPr/>
        </p:nvSpPr>
        <p:spPr>
          <a:xfrm>
            <a:off x="1572768" y="2990088"/>
            <a:ext cx="1600200" cy="292608"/>
          </a:xfrm>
          <a:prstGeom prst="rect">
            <a:avLst/>
          </a:prstGeom>
          <a:noFill/>
          <a:ln/>
        </p:spPr>
        <p:txBody>
          <a:bodyPr wrap="square" lIns="0" tIns="0" rIns="0" bIns="0" rtlCol="0" anchor="ctr"/>
          <a:lstStyle/>
          <a:p>
            <a:pPr marL="0" indent="0">
              <a:buNone/>
            </a:pPr>
            <a:r>
              <a:rPr lang="en-US" sz="1750" b="1" dirty="0">
                <a:solidFill>
                  <a:srgbClr val="172033"/>
                </a:solidFill>
                <a:latin typeface="Noto Sans CJK JP" pitchFamily="34" charset="0"/>
                <a:ea typeface="Noto Sans CJK JP" pitchFamily="34" charset="-122"/>
                <a:cs typeface="Noto Sans CJK JP" pitchFamily="34" charset="-120"/>
              </a:rPr>
              <a:t>選択結果の安定性</a:t>
            </a:r>
            <a:endParaRPr lang="en-US" sz="1750" dirty="0"/>
          </a:p>
        </p:txBody>
      </p:sp>
      <p:sp>
        <p:nvSpPr>
          <p:cNvPr id="15" name="Text 13"/>
          <p:cNvSpPr/>
          <p:nvPr/>
        </p:nvSpPr>
        <p:spPr>
          <a:xfrm>
            <a:off x="3063240" y="2971800"/>
            <a:ext cx="2542032" cy="585216"/>
          </a:xfrm>
          <a:prstGeom prst="rect">
            <a:avLst/>
          </a:prstGeom>
          <a:noFill/>
          <a:ln/>
        </p:spPr>
        <p:txBody>
          <a:bodyPr wrap="square" lIns="0" tIns="0" rIns="0" bIns="0" rtlCol="0" anchor="ctr"/>
          <a:lstStyle/>
          <a:p>
            <a:pPr marL="0" indent="0">
              <a:buNone/>
            </a:pPr>
            <a:r>
              <a:rPr lang="en-US" sz="1420" dirty="0">
                <a:solidFill>
                  <a:srgbClr val="687386"/>
                </a:solidFill>
                <a:latin typeface="Noto Sans CJK JP" pitchFamily="34" charset="0"/>
                <a:ea typeface="Noto Sans CJK JP" pitchFamily="34" charset="-122"/>
                <a:cs typeface="Noto Sans CJK JP" pitchFamily="34" charset="-120"/>
              </a:rPr>
              <a:t>候補範囲と計算時間を分けて変え、最終配車の変化を確認</a:t>
            </a:r>
            <a:endParaRPr lang="en-US" sz="1420" dirty="0"/>
          </a:p>
        </p:txBody>
      </p:sp>
      <p:sp>
        <p:nvSpPr>
          <p:cNvPr id="16" name="Shape 14"/>
          <p:cNvSpPr/>
          <p:nvPr/>
        </p:nvSpPr>
        <p:spPr>
          <a:xfrm>
            <a:off x="960120" y="4151376"/>
            <a:ext cx="438912" cy="438912"/>
          </a:xfrm>
          <a:prstGeom prst="ellipse">
            <a:avLst/>
          </a:prstGeom>
          <a:solidFill>
            <a:srgbClr val="E7B34B"/>
          </a:solidFill>
          <a:ln w="12700">
            <a:solidFill>
              <a:srgbClr val="FFFFFF"/>
            </a:solidFill>
            <a:prstDash val="solid"/>
          </a:ln>
        </p:spPr>
        <p:txBody>
          <a:bodyPr/>
          <a:lstStyle/>
          <a:p>
            <a:endParaRPr lang="ja-JP" altLang="en-US"/>
          </a:p>
        </p:txBody>
      </p:sp>
      <p:sp>
        <p:nvSpPr>
          <p:cNvPr id="17" name="Text 15"/>
          <p:cNvSpPr/>
          <p:nvPr/>
        </p:nvSpPr>
        <p:spPr>
          <a:xfrm>
            <a:off x="960120" y="4114800"/>
            <a:ext cx="438912" cy="438912"/>
          </a:xfrm>
          <a:prstGeom prst="rect">
            <a:avLst/>
          </a:prstGeom>
          <a:noFill/>
          <a:ln/>
        </p:spPr>
        <p:txBody>
          <a:bodyPr wrap="square" lIns="0" tIns="0" rIns="0" bIns="0" rtlCol="0" anchor="ctr"/>
          <a:lstStyle/>
          <a:p>
            <a:pPr marL="0" indent="0" algn="ctr">
              <a:buNone/>
            </a:pPr>
            <a:r>
              <a:rPr lang="en-US" sz="1500" b="1" dirty="0">
                <a:solidFill>
                  <a:srgbClr val="FFFFFF"/>
                </a:solidFill>
                <a:latin typeface="Arial" pitchFamily="34" charset="0"/>
                <a:ea typeface="Arial" pitchFamily="34" charset="-122"/>
                <a:cs typeface="Arial" pitchFamily="34" charset="-120"/>
              </a:rPr>
              <a:t>3</a:t>
            </a:r>
            <a:endParaRPr lang="en-US" sz="1500" dirty="0"/>
          </a:p>
        </p:txBody>
      </p:sp>
      <p:sp>
        <p:nvSpPr>
          <p:cNvPr id="18" name="Text 16"/>
          <p:cNvSpPr/>
          <p:nvPr/>
        </p:nvSpPr>
        <p:spPr>
          <a:xfrm>
            <a:off x="1572768" y="4105656"/>
            <a:ext cx="1600200" cy="292608"/>
          </a:xfrm>
          <a:prstGeom prst="rect">
            <a:avLst/>
          </a:prstGeom>
          <a:noFill/>
          <a:ln/>
        </p:spPr>
        <p:txBody>
          <a:bodyPr wrap="square" lIns="0" tIns="0" rIns="0" bIns="0" rtlCol="0" anchor="ctr"/>
          <a:lstStyle/>
          <a:p>
            <a:pPr marL="0" indent="0">
              <a:buNone/>
            </a:pPr>
            <a:r>
              <a:rPr lang="en-US" sz="1750" b="1" dirty="0">
                <a:solidFill>
                  <a:srgbClr val="172033"/>
                </a:solidFill>
                <a:latin typeface="Noto Sans CJK JP" pitchFamily="34" charset="0"/>
                <a:ea typeface="Noto Sans CJK JP" pitchFamily="34" charset="-122"/>
                <a:cs typeface="Noto Sans CJK JP" pitchFamily="34" charset="-120"/>
              </a:rPr>
              <a:t>結果の固定</a:t>
            </a:r>
            <a:endParaRPr lang="en-US" sz="1750" dirty="0"/>
          </a:p>
        </p:txBody>
      </p:sp>
      <p:sp>
        <p:nvSpPr>
          <p:cNvPr id="19" name="Text 17"/>
          <p:cNvSpPr/>
          <p:nvPr/>
        </p:nvSpPr>
        <p:spPr>
          <a:xfrm>
            <a:off x="3063240" y="4087368"/>
            <a:ext cx="2542032" cy="585216"/>
          </a:xfrm>
          <a:prstGeom prst="rect">
            <a:avLst/>
          </a:prstGeom>
          <a:noFill/>
          <a:ln/>
        </p:spPr>
        <p:txBody>
          <a:bodyPr wrap="square" lIns="0" tIns="0" rIns="0" bIns="0" rtlCol="0" anchor="ctr"/>
          <a:lstStyle/>
          <a:p>
            <a:pPr marL="0" indent="0">
              <a:buNone/>
            </a:pPr>
            <a:r>
              <a:rPr lang="en-US" sz="1420" dirty="0">
                <a:solidFill>
                  <a:srgbClr val="687386"/>
                </a:solidFill>
                <a:latin typeface="Noto Sans CJK JP" pitchFamily="34" charset="0"/>
                <a:ea typeface="Noto Sans CJK JP" pitchFamily="34" charset="-122"/>
                <a:cs typeface="Noto Sans CJK JP" pitchFamily="34" charset="-120"/>
              </a:rPr>
              <a:t>10月末までに図表・中間発表・大会原稿の内容を確定</a:t>
            </a:r>
            <a:endParaRPr lang="en-US" sz="1420" dirty="0"/>
          </a:p>
        </p:txBody>
      </p:sp>
      <p:sp>
        <p:nvSpPr>
          <p:cNvPr id="20" name="Shape 18"/>
          <p:cNvSpPr/>
          <p:nvPr/>
        </p:nvSpPr>
        <p:spPr>
          <a:xfrm>
            <a:off x="960120" y="5321808"/>
            <a:ext cx="4773168" cy="475488"/>
          </a:xfrm>
          <a:prstGeom prst="roundRect">
            <a:avLst/>
          </a:prstGeom>
          <a:solidFill>
            <a:srgbClr val="FFFFFF"/>
          </a:solidFill>
          <a:ln w="12700">
            <a:solidFill>
              <a:srgbClr val="356BB3"/>
            </a:solidFill>
            <a:prstDash val="solid"/>
          </a:ln>
        </p:spPr>
        <p:txBody>
          <a:bodyPr/>
          <a:lstStyle/>
          <a:p>
            <a:endParaRPr lang="ja-JP" altLang="en-US"/>
          </a:p>
        </p:txBody>
      </p:sp>
      <p:sp>
        <p:nvSpPr>
          <p:cNvPr id="21" name="Text 19"/>
          <p:cNvSpPr/>
          <p:nvPr/>
        </p:nvSpPr>
        <p:spPr>
          <a:xfrm>
            <a:off x="1188720" y="5431536"/>
            <a:ext cx="4315968" cy="246888"/>
          </a:xfrm>
          <a:prstGeom prst="rect">
            <a:avLst/>
          </a:prstGeom>
          <a:noFill/>
          <a:ln/>
        </p:spPr>
        <p:txBody>
          <a:bodyPr wrap="square" lIns="0" tIns="0" rIns="0" bIns="0" rtlCol="0" anchor="ctr"/>
          <a:lstStyle/>
          <a:p>
            <a:pPr marL="0" indent="0" algn="ctr">
              <a:buNone/>
            </a:pPr>
            <a:r>
              <a:rPr lang="en-US" sz="1450" b="1" dirty="0">
                <a:solidFill>
                  <a:srgbClr val="356BB3"/>
                </a:solidFill>
                <a:latin typeface="Noto Sans CJK JP" pitchFamily="34" charset="0"/>
                <a:ea typeface="Noto Sans CJK JP" pitchFamily="34" charset="-122"/>
                <a:cs typeface="Noto Sans CJK JP" pitchFamily="34" charset="-120"/>
              </a:rPr>
              <a:t>現在は実験実行前の準備まで完了。承認後に実行する。</a:t>
            </a:r>
            <a:endParaRPr lang="en-US" sz="1450" dirty="0"/>
          </a:p>
        </p:txBody>
      </p:sp>
      <p:sp>
        <p:nvSpPr>
          <p:cNvPr id="22" name="Shape 20"/>
          <p:cNvSpPr/>
          <p:nvPr/>
        </p:nvSpPr>
        <p:spPr>
          <a:xfrm>
            <a:off x="6355080" y="1024128"/>
            <a:ext cx="5212080" cy="5257800"/>
          </a:xfrm>
          <a:prstGeom prst="roundRect">
            <a:avLst>
              <a:gd name="adj" fmla="val 1404"/>
            </a:avLst>
          </a:prstGeom>
          <a:solidFill>
            <a:srgbClr val="F8FAFC"/>
          </a:solidFill>
          <a:ln w="12700">
            <a:solidFill>
              <a:srgbClr val="EEF1F5"/>
            </a:solidFill>
            <a:prstDash val="solid"/>
          </a:ln>
          <a:effectLst>
            <a:outerShdw blurRad="19050" dist="50800" dir="2700000" algn="bl" rotWithShape="0">
              <a:srgbClr val="A0A8B5">
                <a:alpha val="18000"/>
              </a:srgbClr>
            </a:outerShdw>
          </a:effectLst>
        </p:spPr>
        <p:txBody>
          <a:bodyPr/>
          <a:lstStyle/>
          <a:p>
            <a:endParaRPr lang="ja-JP" altLang="en-US"/>
          </a:p>
        </p:txBody>
      </p:sp>
      <p:sp>
        <p:nvSpPr>
          <p:cNvPr id="23" name="Text 21"/>
          <p:cNvSpPr/>
          <p:nvPr/>
        </p:nvSpPr>
        <p:spPr>
          <a:xfrm>
            <a:off x="6656832" y="1298448"/>
            <a:ext cx="2834640" cy="329184"/>
          </a:xfrm>
          <a:prstGeom prst="rect">
            <a:avLst/>
          </a:prstGeom>
          <a:noFill/>
          <a:ln/>
        </p:spPr>
        <p:txBody>
          <a:bodyPr wrap="square" lIns="0" tIns="0" rIns="0" bIns="0" rtlCol="0" anchor="ctr"/>
          <a:lstStyle/>
          <a:p>
            <a:pPr marL="0" indent="0">
              <a:buNone/>
            </a:pPr>
            <a:r>
              <a:rPr lang="en-US" sz="2100" b="1" dirty="0">
                <a:solidFill>
                  <a:srgbClr val="172033"/>
                </a:solidFill>
                <a:latin typeface="Noto Sans CJK JP" pitchFamily="34" charset="0"/>
                <a:ea typeface="Noto Sans CJK JP" pitchFamily="34" charset="-122"/>
                <a:cs typeface="Noto Sans CJK JP" pitchFamily="34" charset="-120"/>
              </a:rPr>
              <a:t>指導教員に確認したい4点</a:t>
            </a:r>
            <a:endParaRPr lang="en-US" sz="2100" dirty="0"/>
          </a:p>
        </p:txBody>
      </p:sp>
      <p:sp>
        <p:nvSpPr>
          <p:cNvPr id="24" name="Shape 22"/>
          <p:cNvSpPr/>
          <p:nvPr/>
        </p:nvSpPr>
        <p:spPr>
          <a:xfrm>
            <a:off x="6720840" y="1938528"/>
            <a:ext cx="347472" cy="347472"/>
          </a:xfrm>
          <a:prstGeom prst="ellipse">
            <a:avLst/>
          </a:prstGeom>
          <a:solidFill>
            <a:srgbClr val="1F2A5A"/>
          </a:solidFill>
          <a:ln w="12700">
            <a:solidFill>
              <a:srgbClr val="1F2A5A"/>
            </a:solidFill>
            <a:prstDash val="solid"/>
          </a:ln>
        </p:spPr>
        <p:txBody>
          <a:bodyPr/>
          <a:lstStyle/>
          <a:p>
            <a:endParaRPr lang="ja-JP" altLang="en-US"/>
          </a:p>
        </p:txBody>
      </p:sp>
      <p:sp>
        <p:nvSpPr>
          <p:cNvPr id="25" name="Text 23"/>
          <p:cNvSpPr/>
          <p:nvPr/>
        </p:nvSpPr>
        <p:spPr>
          <a:xfrm>
            <a:off x="6720840" y="1911096"/>
            <a:ext cx="34747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26" name="Text 24"/>
          <p:cNvSpPr/>
          <p:nvPr/>
        </p:nvSpPr>
        <p:spPr>
          <a:xfrm>
            <a:off x="7269480" y="1920240"/>
            <a:ext cx="3749040" cy="402336"/>
          </a:xfrm>
          <a:prstGeom prst="rect">
            <a:avLst/>
          </a:prstGeom>
          <a:noFill/>
          <a:ln/>
        </p:spPr>
        <p:txBody>
          <a:bodyPr wrap="square" lIns="0" tIns="0" rIns="0" bIns="0" rtlCol="0" anchor="ctr"/>
          <a:lstStyle/>
          <a:p>
            <a:pPr marL="0" indent="0">
              <a:buNone/>
            </a:pPr>
            <a:r>
              <a:rPr lang="en-US" sz="1520" b="1" dirty="0">
                <a:solidFill>
                  <a:srgbClr val="172033"/>
                </a:solidFill>
                <a:latin typeface="Noto Sans CJK JP" pitchFamily="34" charset="0"/>
                <a:ea typeface="Noto Sans CJK JP" pitchFamily="34" charset="-122"/>
                <a:cs typeface="Noto Sans CJK JP" pitchFamily="34" charset="-120"/>
              </a:rPr>
              <a:t>全国大会は小規模比較を中心にしてよいか</a:t>
            </a:r>
            <a:endParaRPr lang="en-US" sz="1520" dirty="0"/>
          </a:p>
        </p:txBody>
      </p:sp>
      <p:sp>
        <p:nvSpPr>
          <p:cNvPr id="27" name="Shape 25"/>
          <p:cNvSpPr/>
          <p:nvPr/>
        </p:nvSpPr>
        <p:spPr>
          <a:xfrm>
            <a:off x="6720840" y="2697480"/>
            <a:ext cx="347472" cy="347472"/>
          </a:xfrm>
          <a:prstGeom prst="ellipse">
            <a:avLst/>
          </a:prstGeom>
          <a:solidFill>
            <a:srgbClr val="1F2A5A"/>
          </a:solidFill>
          <a:ln w="12700">
            <a:solidFill>
              <a:srgbClr val="1F2A5A"/>
            </a:solidFill>
            <a:prstDash val="solid"/>
          </a:ln>
        </p:spPr>
        <p:txBody>
          <a:bodyPr/>
          <a:lstStyle/>
          <a:p>
            <a:endParaRPr lang="ja-JP" altLang="en-US"/>
          </a:p>
        </p:txBody>
      </p:sp>
      <p:sp>
        <p:nvSpPr>
          <p:cNvPr id="28" name="Text 26"/>
          <p:cNvSpPr/>
          <p:nvPr/>
        </p:nvSpPr>
        <p:spPr>
          <a:xfrm>
            <a:off x="6720840" y="2670048"/>
            <a:ext cx="34747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29" name="Text 27"/>
          <p:cNvSpPr/>
          <p:nvPr/>
        </p:nvSpPr>
        <p:spPr>
          <a:xfrm>
            <a:off x="7269480" y="2679192"/>
            <a:ext cx="3749040" cy="402336"/>
          </a:xfrm>
          <a:prstGeom prst="rect">
            <a:avLst/>
          </a:prstGeom>
          <a:noFill/>
          <a:ln/>
        </p:spPr>
        <p:txBody>
          <a:bodyPr wrap="square" lIns="0" tIns="0" rIns="0" bIns="0" rtlCol="0" anchor="ctr"/>
          <a:lstStyle/>
          <a:p>
            <a:pPr marL="0" indent="0">
              <a:buNone/>
            </a:pPr>
            <a:r>
              <a:rPr lang="en-US" sz="1520" b="1" dirty="0">
                <a:solidFill>
                  <a:srgbClr val="172033"/>
                </a:solidFill>
                <a:latin typeface="Noto Sans CJK JP" pitchFamily="34" charset="0"/>
                <a:ea typeface="Noto Sans CJK JP" pitchFamily="34" charset="-122"/>
                <a:cs typeface="Noto Sans CJK JP" pitchFamily="34" charset="-120"/>
              </a:rPr>
              <a:t>高PV側の約9.5%を開示して結果を使用してよいか</a:t>
            </a:r>
            <a:endParaRPr lang="en-US" sz="1520" dirty="0"/>
          </a:p>
        </p:txBody>
      </p:sp>
      <p:sp>
        <p:nvSpPr>
          <p:cNvPr id="30" name="Shape 28"/>
          <p:cNvSpPr/>
          <p:nvPr/>
        </p:nvSpPr>
        <p:spPr>
          <a:xfrm>
            <a:off x="6720840" y="3456432"/>
            <a:ext cx="347472" cy="347472"/>
          </a:xfrm>
          <a:prstGeom prst="ellipse">
            <a:avLst/>
          </a:prstGeom>
          <a:solidFill>
            <a:srgbClr val="1F2A5A"/>
          </a:solidFill>
          <a:ln w="12700">
            <a:solidFill>
              <a:srgbClr val="1F2A5A"/>
            </a:solidFill>
            <a:prstDash val="solid"/>
          </a:ln>
        </p:spPr>
        <p:txBody>
          <a:bodyPr/>
          <a:lstStyle/>
          <a:p>
            <a:endParaRPr lang="ja-JP" altLang="en-US"/>
          </a:p>
        </p:txBody>
      </p:sp>
      <p:sp>
        <p:nvSpPr>
          <p:cNvPr id="31" name="Text 29"/>
          <p:cNvSpPr/>
          <p:nvPr/>
        </p:nvSpPr>
        <p:spPr>
          <a:xfrm>
            <a:off x="6720840" y="3429000"/>
            <a:ext cx="34747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32" name="Text 30"/>
          <p:cNvSpPr/>
          <p:nvPr/>
        </p:nvSpPr>
        <p:spPr>
          <a:xfrm>
            <a:off x="7269480" y="3438144"/>
            <a:ext cx="3749040" cy="402336"/>
          </a:xfrm>
          <a:prstGeom prst="rect">
            <a:avLst/>
          </a:prstGeom>
          <a:noFill/>
          <a:ln/>
        </p:spPr>
        <p:txBody>
          <a:bodyPr wrap="square" lIns="0" tIns="0" rIns="0" bIns="0" rtlCol="0" anchor="ctr"/>
          <a:lstStyle/>
          <a:p>
            <a:pPr marL="0" indent="0">
              <a:buNone/>
            </a:pPr>
            <a:r>
              <a:rPr lang="en-US" sz="1520" b="1" dirty="0">
                <a:solidFill>
                  <a:srgbClr val="172033"/>
                </a:solidFill>
                <a:latin typeface="Noto Sans CJK JP" pitchFamily="34" charset="0"/>
                <a:ea typeface="Noto Sans CJK JP" pitchFamily="34" charset="-122"/>
                <a:cs typeface="Noto Sans CJK JP" pitchFamily="34" charset="-120"/>
              </a:rPr>
              <a:t>低PV側の候補差をどこまで追加確認するか</a:t>
            </a:r>
            <a:endParaRPr lang="en-US" sz="1520" dirty="0"/>
          </a:p>
        </p:txBody>
      </p:sp>
      <p:sp>
        <p:nvSpPr>
          <p:cNvPr id="33" name="Shape 31"/>
          <p:cNvSpPr/>
          <p:nvPr/>
        </p:nvSpPr>
        <p:spPr>
          <a:xfrm>
            <a:off x="6720840" y="4215384"/>
            <a:ext cx="347472" cy="347472"/>
          </a:xfrm>
          <a:prstGeom prst="ellipse">
            <a:avLst/>
          </a:prstGeom>
          <a:solidFill>
            <a:srgbClr val="1F2A5A"/>
          </a:solidFill>
          <a:ln w="12700">
            <a:solidFill>
              <a:srgbClr val="1F2A5A"/>
            </a:solidFill>
            <a:prstDash val="solid"/>
          </a:ln>
        </p:spPr>
        <p:txBody>
          <a:bodyPr/>
          <a:lstStyle/>
          <a:p>
            <a:endParaRPr lang="ja-JP" altLang="en-US"/>
          </a:p>
        </p:txBody>
      </p:sp>
      <p:sp>
        <p:nvSpPr>
          <p:cNvPr id="34" name="Text 32"/>
          <p:cNvSpPr/>
          <p:nvPr/>
        </p:nvSpPr>
        <p:spPr>
          <a:xfrm>
            <a:off x="6720840" y="4187952"/>
            <a:ext cx="347472" cy="347472"/>
          </a:xfrm>
          <a:prstGeom prst="rect">
            <a:avLst/>
          </a:prstGeom>
          <a:noFill/>
          <a:ln/>
        </p:spPr>
        <p:txBody>
          <a:bodyPr wrap="square" lIns="0" tIns="0" rIns="0" bIns="0" rtlCol="0" anchor="ctr"/>
          <a:lstStyle/>
          <a:p>
            <a:pPr marL="0" indent="0" algn="ctr">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35" name="Text 33"/>
          <p:cNvSpPr/>
          <p:nvPr/>
        </p:nvSpPr>
        <p:spPr>
          <a:xfrm>
            <a:off x="7269480" y="4197096"/>
            <a:ext cx="3749040" cy="402336"/>
          </a:xfrm>
          <a:prstGeom prst="rect">
            <a:avLst/>
          </a:prstGeom>
          <a:noFill/>
          <a:ln/>
        </p:spPr>
        <p:txBody>
          <a:bodyPr wrap="square" lIns="0" tIns="0" rIns="0" bIns="0" rtlCol="0" anchor="ctr"/>
          <a:lstStyle/>
          <a:p>
            <a:pPr marL="0" indent="0">
              <a:buNone/>
            </a:pPr>
            <a:r>
              <a:rPr lang="en-US" sz="1520" b="1" dirty="0">
                <a:solidFill>
                  <a:srgbClr val="172033"/>
                </a:solidFill>
                <a:latin typeface="Noto Sans CJK JP" pitchFamily="34" charset="0"/>
                <a:ea typeface="Noto Sans CJK JP" pitchFamily="34" charset="-122"/>
                <a:cs typeface="Noto Sans CJK JP" pitchFamily="34" charset="-120"/>
              </a:rPr>
              <a:t>設備費・劣化費なしの費用範囲で発表してよいか</a:t>
            </a:r>
            <a:endParaRPr lang="en-US" sz="1520" dirty="0"/>
          </a:p>
        </p:txBody>
      </p:sp>
      <p:sp>
        <p:nvSpPr>
          <p:cNvPr id="36" name="Shape 34"/>
          <p:cNvSpPr/>
          <p:nvPr/>
        </p:nvSpPr>
        <p:spPr>
          <a:xfrm>
            <a:off x="6720840" y="5257800"/>
            <a:ext cx="4434840" cy="566928"/>
          </a:xfrm>
          <a:prstGeom prst="roundRect">
            <a:avLst/>
          </a:prstGeom>
          <a:solidFill>
            <a:srgbClr val="E8F6F3"/>
          </a:solidFill>
          <a:ln w="12700">
            <a:solidFill>
              <a:srgbClr val="1F9D8A"/>
            </a:solidFill>
            <a:prstDash val="solid"/>
          </a:ln>
        </p:spPr>
        <p:txBody>
          <a:bodyPr/>
          <a:lstStyle/>
          <a:p>
            <a:endParaRPr lang="ja-JP" altLang="en-US"/>
          </a:p>
        </p:txBody>
      </p:sp>
      <p:sp>
        <p:nvSpPr>
          <p:cNvPr id="37" name="Text 35"/>
          <p:cNvSpPr/>
          <p:nvPr/>
        </p:nvSpPr>
        <p:spPr>
          <a:xfrm>
            <a:off x="6931152" y="5358384"/>
            <a:ext cx="4005072" cy="347472"/>
          </a:xfrm>
          <a:prstGeom prst="rect">
            <a:avLst/>
          </a:prstGeom>
          <a:noFill/>
          <a:ln/>
        </p:spPr>
        <p:txBody>
          <a:bodyPr wrap="square" lIns="0" tIns="0" rIns="0" bIns="0" rtlCol="0" anchor="ctr"/>
          <a:lstStyle/>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現状の主張：2条件で異なる実行可能配車を得た。</a:t>
            </a:r>
            <a:endParaRPr lang="en-US" sz="1350" dirty="0"/>
          </a:p>
          <a:p>
            <a:pPr marL="0" indent="0" algn="ctr">
              <a:buNone/>
            </a:pPr>
            <a:r>
              <a:rPr lang="en-US" sz="1350" b="1" dirty="0">
                <a:solidFill>
                  <a:srgbClr val="1F9D8A"/>
                </a:solidFill>
                <a:latin typeface="Noto Sans CJK JP" pitchFamily="34" charset="0"/>
                <a:ea typeface="Noto Sans CJK JP" pitchFamily="34" charset="-122"/>
                <a:cs typeface="Noto Sans CJK JP" pitchFamily="34" charset="-120"/>
              </a:rPr>
              <a:t>最適性・一般的天候効果はまだ主張しない。</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411480" y="164592"/>
            <a:ext cx="10927080" cy="411480"/>
          </a:xfrm>
          <a:prstGeom prst="rect">
            <a:avLst/>
          </a:prstGeom>
          <a:noFill/>
          <a:ln/>
        </p:spPr>
        <p:txBody>
          <a:bodyPr wrap="square" lIns="0" tIns="0" rIns="0" bIns="0" rtlCol="0" anchor="ctr"/>
          <a:lstStyle/>
          <a:p>
            <a:pPr marL="0" indent="0">
              <a:buNone/>
            </a:pPr>
            <a:r>
              <a:rPr lang="en-US" sz="2550" b="1" dirty="0">
                <a:solidFill>
                  <a:srgbClr val="111827"/>
                </a:solidFill>
                <a:latin typeface="Noto Sans CJK JP" pitchFamily="34" charset="0"/>
                <a:ea typeface="Noto Sans CJK JP" pitchFamily="34" charset="-122"/>
                <a:cs typeface="Noto Sans CJK JP" pitchFamily="34" charset="-120"/>
              </a:rPr>
              <a:t>参考にした先行研究</a:t>
            </a:r>
            <a:endParaRPr lang="en-US" sz="2550" dirty="0"/>
          </a:p>
        </p:txBody>
      </p:sp>
      <p:sp>
        <p:nvSpPr>
          <p:cNvPr id="3" name="Shape 1"/>
          <p:cNvSpPr/>
          <p:nvPr/>
        </p:nvSpPr>
        <p:spPr>
          <a:xfrm>
            <a:off x="411480" y="658368"/>
            <a:ext cx="11201400" cy="0"/>
          </a:xfrm>
          <a:prstGeom prst="line">
            <a:avLst/>
          </a:prstGeom>
          <a:noFill/>
          <a:ln w="22860">
            <a:solidFill>
              <a:srgbClr val="356BB3"/>
            </a:solidFill>
            <a:prstDash val="solid"/>
          </a:ln>
        </p:spPr>
        <p:txBody>
          <a:bodyPr/>
          <a:lstStyle/>
          <a:p>
            <a:endParaRPr lang="ja-JP" altLang="en-US"/>
          </a:p>
        </p:txBody>
      </p:sp>
      <p:sp>
        <p:nvSpPr>
          <p:cNvPr id="4" name="Text 2"/>
          <p:cNvSpPr/>
          <p:nvPr/>
        </p:nvSpPr>
        <p:spPr>
          <a:xfrm>
            <a:off x="438912" y="6547104"/>
            <a:ext cx="3840480" cy="164592"/>
          </a:xfrm>
          <a:prstGeom prst="rect">
            <a:avLst/>
          </a:prstGeom>
          <a:noFill/>
          <a:ln/>
        </p:spPr>
        <p:txBody>
          <a:bodyPr wrap="square" lIns="0" tIns="0" rIns="0" bIns="0" rtlCol="0" anchor="ctr"/>
          <a:lstStyle/>
          <a:p>
            <a:pPr marL="0" indent="0">
              <a:buNone/>
            </a:pPr>
            <a:r>
              <a:rPr lang="en-US" sz="850" dirty="0">
                <a:solidFill>
                  <a:srgbClr val="687386"/>
                </a:solidFill>
                <a:latin typeface="Noto Sans CJK JP" pitchFamily="34" charset="0"/>
                <a:ea typeface="Noto Sans CJK JP" pitchFamily="34" charset="-122"/>
                <a:cs typeface="Noto Sans CJK JP" pitchFamily="34" charset="-120"/>
              </a:rPr>
              <a:t>修士論文 進捗報告（参考）</a:t>
            </a:r>
            <a:endParaRPr lang="en-US" sz="850" dirty="0"/>
          </a:p>
        </p:txBody>
      </p:sp>
      <p:sp>
        <p:nvSpPr>
          <p:cNvPr id="5" name="Text 3"/>
          <p:cNvSpPr/>
          <p:nvPr/>
        </p:nvSpPr>
        <p:spPr>
          <a:xfrm>
            <a:off x="11064240" y="6510528"/>
            <a:ext cx="685800" cy="182880"/>
          </a:xfrm>
          <a:prstGeom prst="rect">
            <a:avLst/>
          </a:prstGeom>
          <a:noFill/>
          <a:ln/>
        </p:spPr>
        <p:txBody>
          <a:bodyPr wrap="square" lIns="0" tIns="0" rIns="0" bIns="0" rtlCol="0" anchor="ctr"/>
          <a:lstStyle/>
          <a:p>
            <a:pPr marL="0" indent="0" algn="r">
              <a:buNone/>
            </a:pPr>
            <a:r>
              <a:rPr lang="en-US" sz="850" dirty="0">
                <a:solidFill>
                  <a:srgbClr val="687386"/>
                </a:solidFill>
                <a:latin typeface="Arial" pitchFamily="34" charset="0"/>
                <a:ea typeface="Arial" pitchFamily="34" charset="-122"/>
                <a:cs typeface="Arial" pitchFamily="34" charset="-120"/>
              </a:rPr>
              <a:t>18/18</a:t>
            </a:r>
            <a:endParaRPr lang="en-US" sz="850" dirty="0"/>
          </a:p>
        </p:txBody>
      </p:sp>
      <p:sp>
        <p:nvSpPr>
          <p:cNvPr id="6" name="Shape 4"/>
          <p:cNvSpPr/>
          <p:nvPr/>
        </p:nvSpPr>
        <p:spPr>
          <a:xfrm>
            <a:off x="640080" y="941832"/>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7" name="Text 5"/>
          <p:cNvSpPr/>
          <p:nvPr/>
        </p:nvSpPr>
        <p:spPr>
          <a:xfrm>
            <a:off x="804672" y="987552"/>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1261872" y="987552"/>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Fei, F. et al.</a:t>
            </a:r>
            <a:endParaRPr lang="en-US" sz="1300" dirty="0"/>
          </a:p>
        </p:txBody>
      </p:sp>
      <p:sp>
        <p:nvSpPr>
          <p:cNvPr id="9" name="Text 7"/>
          <p:cNvSpPr/>
          <p:nvPr/>
        </p:nvSpPr>
        <p:spPr>
          <a:xfrm>
            <a:off x="2880360" y="969264"/>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Exploring the profitability of using electric bus fleets for transport and power grid services</a:t>
            </a:r>
            <a:endParaRPr lang="en-US" sz="1220" dirty="0"/>
          </a:p>
        </p:txBody>
      </p:sp>
      <p:sp>
        <p:nvSpPr>
          <p:cNvPr id="10" name="Text 8"/>
          <p:cNvSpPr/>
          <p:nvPr/>
        </p:nvSpPr>
        <p:spPr>
          <a:xfrm>
            <a:off x="8942832" y="978408"/>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C, 149, 104060, 2023</a:t>
            </a:r>
            <a:endParaRPr lang="en-US" sz="1080" dirty="0"/>
          </a:p>
        </p:txBody>
      </p:sp>
      <p:sp>
        <p:nvSpPr>
          <p:cNvPr id="11" name="Text 9"/>
          <p:cNvSpPr/>
          <p:nvPr/>
        </p:nvSpPr>
        <p:spPr>
          <a:xfrm>
            <a:off x="804672" y="1783080"/>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[2]</a:t>
            </a:r>
            <a:endParaRPr lang="en-US" sz="1300" dirty="0"/>
          </a:p>
        </p:txBody>
      </p:sp>
      <p:sp>
        <p:nvSpPr>
          <p:cNvPr id="12" name="Text 10"/>
          <p:cNvSpPr/>
          <p:nvPr/>
        </p:nvSpPr>
        <p:spPr>
          <a:xfrm>
            <a:off x="1261872" y="1783080"/>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Najafi, A. et al.</a:t>
            </a:r>
            <a:endParaRPr lang="en-US" sz="1300" dirty="0"/>
          </a:p>
        </p:txBody>
      </p:sp>
      <p:sp>
        <p:nvSpPr>
          <p:cNvPr id="13" name="Text 11"/>
          <p:cNvSpPr/>
          <p:nvPr/>
        </p:nvSpPr>
        <p:spPr>
          <a:xfrm>
            <a:off x="2880360" y="1764792"/>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Integrated optimization of charging infrastructure, electric bus scheduling and energy systems</a:t>
            </a:r>
            <a:endParaRPr lang="en-US" sz="1220" dirty="0"/>
          </a:p>
        </p:txBody>
      </p:sp>
      <p:sp>
        <p:nvSpPr>
          <p:cNvPr id="14" name="Text 12"/>
          <p:cNvSpPr/>
          <p:nvPr/>
        </p:nvSpPr>
        <p:spPr>
          <a:xfrm>
            <a:off x="8942832" y="1773936"/>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141, 104664, 2025</a:t>
            </a:r>
            <a:endParaRPr lang="en-US" sz="1080" dirty="0"/>
          </a:p>
        </p:txBody>
      </p:sp>
      <p:sp>
        <p:nvSpPr>
          <p:cNvPr id="15" name="Shape 13"/>
          <p:cNvSpPr/>
          <p:nvPr/>
        </p:nvSpPr>
        <p:spPr>
          <a:xfrm>
            <a:off x="640080" y="2532888"/>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16" name="Text 14"/>
          <p:cNvSpPr/>
          <p:nvPr/>
        </p:nvSpPr>
        <p:spPr>
          <a:xfrm>
            <a:off x="804672" y="2578608"/>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[3]</a:t>
            </a:r>
            <a:endParaRPr lang="en-US" sz="1300" dirty="0"/>
          </a:p>
        </p:txBody>
      </p:sp>
      <p:sp>
        <p:nvSpPr>
          <p:cNvPr id="17" name="Text 15"/>
          <p:cNvSpPr/>
          <p:nvPr/>
        </p:nvSpPr>
        <p:spPr>
          <a:xfrm>
            <a:off x="1261872" y="2578608"/>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Zhang, M. et al.</a:t>
            </a:r>
            <a:endParaRPr lang="en-US" sz="1300" dirty="0"/>
          </a:p>
        </p:txBody>
      </p:sp>
      <p:sp>
        <p:nvSpPr>
          <p:cNvPr id="18" name="Text 16"/>
          <p:cNvSpPr/>
          <p:nvPr/>
        </p:nvSpPr>
        <p:spPr>
          <a:xfrm>
            <a:off x="2880360" y="2560320"/>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Optimal Electric Bus Charging Scheduling with Multiple Vehicle and Charger Types Considering Compatibility</a:t>
            </a:r>
            <a:endParaRPr lang="en-US" sz="1220" dirty="0"/>
          </a:p>
        </p:txBody>
      </p:sp>
      <p:sp>
        <p:nvSpPr>
          <p:cNvPr id="19" name="Text 17"/>
          <p:cNvSpPr/>
          <p:nvPr/>
        </p:nvSpPr>
        <p:spPr>
          <a:xfrm>
            <a:off x="8942832" y="2569464"/>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2025</a:t>
            </a:r>
            <a:endParaRPr lang="en-US" sz="1080" dirty="0"/>
          </a:p>
        </p:txBody>
      </p:sp>
      <p:sp>
        <p:nvSpPr>
          <p:cNvPr id="20" name="Text 18"/>
          <p:cNvSpPr/>
          <p:nvPr/>
        </p:nvSpPr>
        <p:spPr>
          <a:xfrm>
            <a:off x="804672" y="3374136"/>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[4]</a:t>
            </a:r>
            <a:endParaRPr lang="en-US" sz="1300" dirty="0"/>
          </a:p>
        </p:txBody>
      </p:sp>
      <p:sp>
        <p:nvSpPr>
          <p:cNvPr id="21" name="Text 19"/>
          <p:cNvSpPr/>
          <p:nvPr/>
        </p:nvSpPr>
        <p:spPr>
          <a:xfrm>
            <a:off x="1261872" y="3374136"/>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He, J. et al.</a:t>
            </a:r>
            <a:endParaRPr lang="en-US" sz="1300" dirty="0"/>
          </a:p>
        </p:txBody>
      </p:sp>
      <p:sp>
        <p:nvSpPr>
          <p:cNvPr id="22" name="Text 20"/>
          <p:cNvSpPr/>
          <p:nvPr/>
        </p:nvSpPr>
        <p:spPr>
          <a:xfrm>
            <a:off x="2880360" y="3355848"/>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Battery electricity bus charging schedule considering bus journey’s energy consumption estimation</a:t>
            </a:r>
            <a:endParaRPr lang="en-US" sz="1220" dirty="0"/>
          </a:p>
        </p:txBody>
      </p:sp>
      <p:sp>
        <p:nvSpPr>
          <p:cNvPr id="23" name="Text 21"/>
          <p:cNvSpPr/>
          <p:nvPr/>
        </p:nvSpPr>
        <p:spPr>
          <a:xfrm>
            <a:off x="8942832" y="3364992"/>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115, 103587, 2023</a:t>
            </a:r>
            <a:endParaRPr lang="en-US" sz="1080" dirty="0"/>
          </a:p>
        </p:txBody>
      </p:sp>
      <p:sp>
        <p:nvSpPr>
          <p:cNvPr id="24" name="Shape 22"/>
          <p:cNvSpPr/>
          <p:nvPr/>
        </p:nvSpPr>
        <p:spPr>
          <a:xfrm>
            <a:off x="640080" y="4123944"/>
            <a:ext cx="10927080" cy="694944"/>
          </a:xfrm>
          <a:prstGeom prst="rect">
            <a:avLst/>
          </a:prstGeom>
          <a:solidFill>
            <a:srgbClr val="F8FAFC"/>
          </a:solidFill>
          <a:ln w="12700">
            <a:solidFill>
              <a:srgbClr val="F8FAFC"/>
            </a:solidFill>
            <a:prstDash val="solid"/>
          </a:ln>
        </p:spPr>
        <p:txBody>
          <a:bodyPr/>
          <a:lstStyle/>
          <a:p>
            <a:endParaRPr lang="ja-JP" altLang="en-US"/>
          </a:p>
        </p:txBody>
      </p:sp>
      <p:sp>
        <p:nvSpPr>
          <p:cNvPr id="25" name="Text 23"/>
          <p:cNvSpPr/>
          <p:nvPr/>
        </p:nvSpPr>
        <p:spPr>
          <a:xfrm>
            <a:off x="804672" y="4169664"/>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[5]</a:t>
            </a:r>
            <a:endParaRPr lang="en-US" sz="1300" dirty="0"/>
          </a:p>
        </p:txBody>
      </p:sp>
      <p:sp>
        <p:nvSpPr>
          <p:cNvPr id="26" name="Text 24"/>
          <p:cNvSpPr/>
          <p:nvPr/>
        </p:nvSpPr>
        <p:spPr>
          <a:xfrm>
            <a:off x="1261872" y="4169664"/>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Zhang, Z. et al.</a:t>
            </a:r>
            <a:endParaRPr lang="en-US" sz="1300" dirty="0"/>
          </a:p>
        </p:txBody>
      </p:sp>
      <p:sp>
        <p:nvSpPr>
          <p:cNvPr id="27" name="Text 25"/>
          <p:cNvSpPr/>
          <p:nvPr/>
        </p:nvSpPr>
        <p:spPr>
          <a:xfrm>
            <a:off x="2880360" y="4151376"/>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Analysis and estimation of energy consumption of electric buses using real-world data</a:t>
            </a:r>
            <a:endParaRPr lang="en-US" sz="1220" dirty="0"/>
          </a:p>
        </p:txBody>
      </p:sp>
      <p:sp>
        <p:nvSpPr>
          <p:cNvPr id="28" name="Text 26"/>
          <p:cNvSpPr/>
          <p:nvPr/>
        </p:nvSpPr>
        <p:spPr>
          <a:xfrm>
            <a:off x="8942832" y="4160520"/>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126, 104017, 2024</a:t>
            </a:r>
            <a:endParaRPr lang="en-US" sz="1080" dirty="0"/>
          </a:p>
        </p:txBody>
      </p:sp>
      <p:sp>
        <p:nvSpPr>
          <p:cNvPr id="29" name="Text 27"/>
          <p:cNvSpPr/>
          <p:nvPr/>
        </p:nvSpPr>
        <p:spPr>
          <a:xfrm>
            <a:off x="804672" y="4965192"/>
            <a:ext cx="411480" cy="274320"/>
          </a:xfrm>
          <a:prstGeom prst="rect">
            <a:avLst/>
          </a:prstGeom>
          <a:noFill/>
          <a:ln/>
        </p:spPr>
        <p:txBody>
          <a:bodyPr wrap="square" lIns="0" tIns="0" rIns="0" bIns="0" rtlCol="0" anchor="ctr"/>
          <a:lstStyle/>
          <a:p>
            <a:pPr marL="0" indent="0">
              <a:buNone/>
            </a:pPr>
            <a:r>
              <a:rPr lang="en-US" sz="1300" b="1" dirty="0">
                <a:solidFill>
                  <a:srgbClr val="356BB3"/>
                </a:solidFill>
                <a:latin typeface="Arial" pitchFamily="34" charset="0"/>
                <a:ea typeface="Arial" pitchFamily="34" charset="-122"/>
                <a:cs typeface="Arial" pitchFamily="34" charset="-120"/>
              </a:rPr>
              <a:t>[6]</a:t>
            </a:r>
            <a:endParaRPr lang="en-US" sz="1300" dirty="0"/>
          </a:p>
        </p:txBody>
      </p:sp>
      <p:sp>
        <p:nvSpPr>
          <p:cNvPr id="30" name="Text 28"/>
          <p:cNvSpPr/>
          <p:nvPr/>
        </p:nvSpPr>
        <p:spPr>
          <a:xfrm>
            <a:off x="1261872" y="4965192"/>
            <a:ext cx="1691640" cy="274320"/>
          </a:xfrm>
          <a:prstGeom prst="rect">
            <a:avLst/>
          </a:prstGeom>
          <a:noFill/>
          <a:ln/>
        </p:spPr>
        <p:txBody>
          <a:bodyPr wrap="square" lIns="0" tIns="0" rIns="0" bIns="0" rtlCol="0" anchor="ctr"/>
          <a:lstStyle/>
          <a:p>
            <a:pPr marL="0" indent="0">
              <a:buNone/>
            </a:pPr>
            <a:r>
              <a:rPr lang="en-US" sz="1300" b="1" dirty="0">
                <a:solidFill>
                  <a:srgbClr val="172033"/>
                </a:solidFill>
                <a:latin typeface="Noto Sans CJK JP" pitchFamily="34" charset="0"/>
                <a:ea typeface="Noto Sans CJK JP" pitchFamily="34" charset="-122"/>
                <a:cs typeface="Noto Sans CJK JP" pitchFamily="34" charset="-120"/>
              </a:rPr>
              <a:t>Blades, L.A.W. et al.</a:t>
            </a:r>
            <a:endParaRPr lang="en-US" sz="1300" dirty="0"/>
          </a:p>
        </p:txBody>
      </p:sp>
      <p:sp>
        <p:nvSpPr>
          <p:cNvPr id="31" name="Text 29"/>
          <p:cNvSpPr/>
          <p:nvPr/>
        </p:nvSpPr>
        <p:spPr>
          <a:xfrm>
            <a:off x="2880360" y="4946904"/>
            <a:ext cx="5989320" cy="402336"/>
          </a:xfrm>
          <a:prstGeom prst="rect">
            <a:avLst/>
          </a:prstGeom>
          <a:noFill/>
          <a:ln/>
        </p:spPr>
        <p:txBody>
          <a:bodyPr wrap="square" lIns="0" tIns="0" rIns="0" bIns="0" rtlCol="0" anchor="ctr">
            <a:normAutofit/>
          </a:bodyPr>
          <a:lstStyle/>
          <a:p>
            <a:pPr marL="0" indent="0">
              <a:buNone/>
            </a:pPr>
            <a:r>
              <a:rPr lang="en-US" sz="1220" dirty="0">
                <a:solidFill>
                  <a:srgbClr val="172033"/>
                </a:solidFill>
                <a:latin typeface="Noto Sans CJK JP" pitchFamily="34" charset="0"/>
                <a:ea typeface="Noto Sans CJK JP" pitchFamily="34" charset="-122"/>
                <a:cs typeface="Noto Sans CJK JP" pitchFamily="34" charset="-120"/>
              </a:rPr>
              <a:t>Predicting energy consumption of zero emission buses using route feature selection methods</a:t>
            </a:r>
            <a:endParaRPr lang="en-US" sz="1220" dirty="0"/>
          </a:p>
        </p:txBody>
      </p:sp>
      <p:sp>
        <p:nvSpPr>
          <p:cNvPr id="32" name="Text 30"/>
          <p:cNvSpPr/>
          <p:nvPr/>
        </p:nvSpPr>
        <p:spPr>
          <a:xfrm>
            <a:off x="8942832" y="4956048"/>
            <a:ext cx="2331720" cy="384048"/>
          </a:xfrm>
          <a:prstGeom prst="rect">
            <a:avLst/>
          </a:prstGeom>
          <a:noFill/>
          <a:ln/>
        </p:spPr>
        <p:txBody>
          <a:bodyPr wrap="square" lIns="0" tIns="0" rIns="0" bIns="0" rtlCol="0" anchor="ctr">
            <a:normAutofit/>
          </a:bodyPr>
          <a:lstStyle/>
          <a:p>
            <a:pPr marL="0" indent="0" algn="r">
              <a:buNone/>
            </a:pPr>
            <a:r>
              <a:rPr lang="en-US" sz="1080" dirty="0">
                <a:solidFill>
                  <a:srgbClr val="687386"/>
                </a:solidFill>
                <a:latin typeface="Noto Sans CJK JP" pitchFamily="34" charset="0"/>
                <a:ea typeface="Noto Sans CJK JP" pitchFamily="34" charset="-122"/>
                <a:cs typeface="Noto Sans CJK JP" pitchFamily="34" charset="-120"/>
              </a:rPr>
              <a:t>Transportation Research Part D, 130, 104158, 2024</a:t>
            </a:r>
            <a:endParaRPr lang="en-US" sz="1080" dirty="0"/>
          </a:p>
        </p:txBody>
      </p:sp>
      <p:sp>
        <p:nvSpPr>
          <p:cNvPr id="33" name="Shape 31"/>
          <p:cNvSpPr/>
          <p:nvPr/>
        </p:nvSpPr>
        <p:spPr>
          <a:xfrm>
            <a:off x="1143000" y="5925312"/>
            <a:ext cx="9875520" cy="402336"/>
          </a:xfrm>
          <a:prstGeom prst="roundRect">
            <a:avLst/>
          </a:prstGeom>
          <a:solidFill>
            <a:srgbClr val="EAF2FB"/>
          </a:solidFill>
          <a:ln w="11430">
            <a:solidFill>
              <a:srgbClr val="356BB3"/>
            </a:solidFill>
            <a:prstDash val="solid"/>
          </a:ln>
        </p:spPr>
        <p:txBody>
          <a:bodyPr/>
          <a:lstStyle/>
          <a:p>
            <a:endParaRPr lang="ja-JP" altLang="en-US"/>
          </a:p>
        </p:txBody>
      </p:sp>
      <p:sp>
        <p:nvSpPr>
          <p:cNvPr id="34" name="Text 32"/>
          <p:cNvSpPr/>
          <p:nvPr/>
        </p:nvSpPr>
        <p:spPr>
          <a:xfrm>
            <a:off x="1353312" y="6016752"/>
            <a:ext cx="9464040" cy="210312"/>
          </a:xfrm>
          <a:prstGeom prst="rect">
            <a:avLst/>
          </a:prstGeom>
          <a:noFill/>
          <a:ln/>
        </p:spPr>
        <p:txBody>
          <a:bodyPr wrap="square" lIns="0" tIns="0" rIns="0" bIns="0" rtlCol="0" anchor="ctr"/>
          <a:lstStyle/>
          <a:p>
            <a:pPr marL="0" indent="0" algn="ctr">
              <a:buNone/>
            </a:pPr>
            <a:r>
              <a:rPr lang="en-US" sz="1400" b="1" dirty="0">
                <a:solidFill>
                  <a:srgbClr val="1F2A5A"/>
                </a:solidFill>
                <a:latin typeface="Noto Sans CJK JP" pitchFamily="34" charset="0"/>
                <a:ea typeface="Noto Sans CJK JP" pitchFamily="34" charset="-122"/>
                <a:cs typeface="Noto Sans CJK JP" pitchFamily="34" charset="-120"/>
              </a:rPr>
              <a:t>本資料の図は先行研究の構成を参考にしつつ、すべて本研究の入力・結果から再作成した。</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JP"/>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JP"/>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5443</TotalTime>
  <Words>2068</Words>
  <Application>Microsoft Office PowerPoint</Application>
  <PresentationFormat>ワイド画面</PresentationFormat>
  <Paragraphs>490</Paragraphs>
  <Slides>18</Slides>
  <Notes>18</Notes>
  <HiddenSlides>0</HiddenSlides>
  <MMClips>0</MMClips>
  <ScaleCrop>false</ScaleCrop>
  <HeadingPairs>
    <vt:vector size="6" baseType="variant">
      <vt:variant>
        <vt:lpstr>使用されているフォント</vt:lpstr>
      </vt:variant>
      <vt:variant>
        <vt:i4>2</vt:i4>
      </vt:variant>
      <vt:variant>
        <vt:lpstr>テーマ</vt:lpstr>
      </vt:variant>
      <vt:variant>
        <vt:i4>1</vt:i4>
      </vt:variant>
      <vt:variant>
        <vt:lpstr>スライド タイトル</vt:lpstr>
      </vt:variant>
      <vt:variant>
        <vt:i4>18</vt:i4>
      </vt:variant>
    </vt:vector>
  </HeadingPairs>
  <TitlesOfParts>
    <vt:vector size="21" baseType="lpstr">
      <vt:lpstr>Noto Sans CJK JP</vt:lpstr>
      <vt:lpstr>Arial</vt:lpstr>
      <vt:lpstr>Office Theme</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Tokyo City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PV余剰電力を考慮したBEV/ICE混成バスの配車・充電計画</dc:title>
  <dc:subject>修士論文 8月進捗報告</dc:subject>
  <dc:creator>OpenAI</dc:creator>
  <cp:lastModifiedBy>刘 承洋_LIU Chengyang(東京都市大学_Tokyo City University)</cp:lastModifiedBy>
  <cp:revision>2</cp:revision>
  <dcterms:created xsi:type="dcterms:W3CDTF">2026-08-31T08:50:52Z</dcterms:created>
  <dcterms:modified xsi:type="dcterms:W3CDTF">2026-09-06T05:19:54Z</dcterms:modified>
</cp:coreProperties>
</file>