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21"/>
  </p:notesMasterIdLst>
  <p:handoutMasterIdLst>
    <p:handoutMasterId r:id="rId22"/>
  </p:handoutMasterIdLst>
  <p:sldIdLst>
    <p:sldId id="1625" r:id="rId3"/>
    <p:sldId id="1733" r:id="rId4"/>
    <p:sldId id="1577" r:id="rId5"/>
    <p:sldId id="1745" r:id="rId6"/>
    <p:sldId id="1747" r:id="rId7"/>
    <p:sldId id="1761" r:id="rId8"/>
    <p:sldId id="1697" r:id="rId9"/>
    <p:sldId id="1746" r:id="rId10"/>
    <p:sldId id="1731" r:id="rId11"/>
    <p:sldId id="1749" r:id="rId12"/>
    <p:sldId id="1755" r:id="rId13"/>
    <p:sldId id="1756" r:id="rId14"/>
    <p:sldId id="1757" r:id="rId15"/>
    <p:sldId id="1762" r:id="rId16"/>
    <p:sldId id="1758" r:id="rId17"/>
    <p:sldId id="1763" r:id="rId18"/>
    <p:sldId id="1764" r:id="rId19"/>
    <p:sldId id="1765"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62" y="5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刘 承洋_LIU Chengyang(東京都市大学)" userId="298e544e-0205-4707-a208-a43d632009c8" providerId="ADAL" clId="{4ADA732F-0042-4719-814C-737FD20DD3A8}"/>
    <pc:docChg chg="custSel addSld modSld modMainMaster">
      <pc:chgData name="刘 承洋_LIU Chengyang(東京都市大学)" userId="298e544e-0205-4707-a208-a43d632009c8" providerId="ADAL" clId="{4ADA732F-0042-4719-814C-737FD20DD3A8}" dt="2026-02-03T06:32:25.310" v="439" actId="1076"/>
      <pc:docMkLst>
        <pc:docMk/>
      </pc:docMkLst>
      <pc:sldChg chg="delSp mod">
        <pc:chgData name="刘 承洋_LIU Chengyang(東京都市大学)" userId="298e544e-0205-4707-a208-a43d632009c8" providerId="ADAL" clId="{4ADA732F-0042-4719-814C-737FD20DD3A8}" dt="2026-02-02T06:27:58.352" v="436" actId="478"/>
        <pc:sldMkLst>
          <pc:docMk/>
          <pc:sldMk cId="3631573261" sldId="1577"/>
        </pc:sldMkLst>
        <pc:spChg chg="del">
          <ac:chgData name="刘 承洋_LIU Chengyang(東京都市大学)" userId="298e544e-0205-4707-a208-a43d632009c8" providerId="ADAL" clId="{4ADA732F-0042-4719-814C-737FD20DD3A8}" dt="2026-02-02T06:27:58.352" v="436" actId="478"/>
          <ac:spMkLst>
            <pc:docMk/>
            <pc:sldMk cId="3631573261" sldId="1577"/>
            <ac:spMk id="2" creationId="{548EBB8A-5C67-944E-070D-81AC87BE1759}"/>
          </ac:spMkLst>
        </pc:spChg>
      </pc:sldChg>
      <pc:sldChg chg="delSp modSp mod">
        <pc:chgData name="刘 承洋_LIU Chengyang(東京都市大学)" userId="298e544e-0205-4707-a208-a43d632009c8" providerId="ADAL" clId="{4ADA732F-0042-4719-814C-737FD20DD3A8}" dt="2026-02-03T06:32:25.310" v="439" actId="1076"/>
        <pc:sldMkLst>
          <pc:docMk/>
          <pc:sldMk cId="1500338963" sldId="1761"/>
        </pc:sldMkLst>
        <pc:spChg chg="del">
          <ac:chgData name="刘 承洋_LIU Chengyang(東京都市大学)" userId="298e544e-0205-4707-a208-a43d632009c8" providerId="ADAL" clId="{4ADA732F-0042-4719-814C-737FD20DD3A8}" dt="2026-02-02T06:28:00.689" v="437" actId="478"/>
          <ac:spMkLst>
            <pc:docMk/>
            <pc:sldMk cId="1500338963" sldId="1761"/>
            <ac:spMk id="3" creationId="{E1165110-5B1A-40E4-CB99-F55FE0328CEA}"/>
          </ac:spMkLst>
        </pc:spChg>
        <pc:spChg chg="mod">
          <ac:chgData name="刘 承洋_LIU Chengyang(東京都市大学)" userId="298e544e-0205-4707-a208-a43d632009c8" providerId="ADAL" clId="{4ADA732F-0042-4719-814C-737FD20DD3A8}" dt="2026-02-03T06:32:25.310" v="439" actId="1076"/>
          <ac:spMkLst>
            <pc:docMk/>
            <pc:sldMk cId="1500338963" sldId="1761"/>
            <ac:spMk id="25" creationId="{F37E8F82-5983-BF06-68CB-E797C30D4A1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FC0FF06-48CE-4EAA-943D-DB08F11C3E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付プレースホルダー 2">
            <a:extLst>
              <a:ext uri="{FF2B5EF4-FFF2-40B4-BE49-F238E27FC236}">
                <a16:creationId xmlns:a16="http://schemas.microsoft.com/office/drawing/2014/main" id="{B2B8CA0C-99F1-4310-4C7A-DA6C2AC21D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177054-B16B-4771-AEBA-44D462DDD925}" type="datetimeFigureOut">
              <a:rPr lang="zh-CN" altLang="en-US" smtClean="0"/>
              <a:t>2026/2/3</a:t>
            </a:fld>
            <a:endParaRPr lang="zh-CN" altLang="en-US"/>
          </a:p>
        </p:txBody>
      </p:sp>
      <p:sp>
        <p:nvSpPr>
          <p:cNvPr id="4" name="フッター プレースホルダー 3">
            <a:extLst>
              <a:ext uri="{FF2B5EF4-FFF2-40B4-BE49-F238E27FC236}">
                <a16:creationId xmlns:a16="http://schemas.microsoft.com/office/drawing/2014/main" id="{5FDACBB9-244B-C6C1-9ED0-0635052ABF7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スライド番号プレースホルダー 4">
            <a:extLst>
              <a:ext uri="{FF2B5EF4-FFF2-40B4-BE49-F238E27FC236}">
                <a16:creationId xmlns:a16="http://schemas.microsoft.com/office/drawing/2014/main" id="{589AF176-B9AF-C5DE-CE1E-7CF285A9410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C3D7D5-FB00-453D-A67B-EA4AC73605AF}" type="slidenum">
              <a:rPr lang="zh-CN" altLang="en-US" smtClean="0"/>
              <a:t>‹#›</a:t>
            </a:fld>
            <a:endParaRPr lang="zh-CN" altLang="en-US"/>
          </a:p>
        </p:txBody>
      </p:sp>
    </p:spTree>
    <p:extLst>
      <p:ext uri="{BB962C8B-B14F-4D97-AF65-F5344CB8AC3E}">
        <p14:creationId xmlns:p14="http://schemas.microsoft.com/office/powerpoint/2010/main" val="30884866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7AEA3F-E60C-4896-904A-051DEEAA7CF8}" type="datetimeFigureOut">
              <a:rPr kumimoji="1" lang="ja-JP" altLang="en-US" smtClean="0"/>
              <a:t>2026/2/3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2B19CE-FFC2-44D7-A4C5-A201D9DC7CF8}" type="slidenum">
              <a:rPr kumimoji="1" lang="ja-JP" altLang="en-US" smtClean="0"/>
              <a:t>‹#›</a:t>
            </a:fld>
            <a:endParaRPr kumimoji="1" lang="ja-JP" altLang="en-US"/>
          </a:p>
        </p:txBody>
      </p:sp>
    </p:spTree>
    <p:extLst>
      <p:ext uri="{BB962C8B-B14F-4D97-AF65-F5344CB8AC3E}">
        <p14:creationId xmlns:p14="http://schemas.microsoft.com/office/powerpoint/2010/main" val="6176190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a:t>(</a:t>
            </a:r>
            <a:r>
              <a:rPr lang="ja-JP" altLang="en-US"/>
              <a:t>題名読み上げ</a:t>
            </a:r>
            <a:r>
              <a:rPr lang="en-US" altLang="ja-JP"/>
              <a:t>)</a:t>
            </a:r>
            <a:r>
              <a:rPr lang="ja-JP" altLang="en-US"/>
              <a:t>と題しまして、東京都市大学　電力システム研究室</a:t>
            </a:r>
            <a:r>
              <a:rPr lang="en-US" altLang="ja-JP"/>
              <a:t>4</a:t>
            </a:r>
            <a:r>
              <a:rPr lang="ja-JP" altLang="en-US"/>
              <a:t>年　刘承洋が発表します。</a:t>
            </a:r>
            <a:endParaRPr lang="en-US" altLang="ja-JP"/>
          </a:p>
        </p:txBody>
      </p:sp>
      <p:sp>
        <p:nvSpPr>
          <p:cNvPr id="4" name="スライド番号プレースホルダー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881E0FB-6E9D-E347-942F-134A948B6A64}"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965791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目標</a:t>
            </a:r>
            <a:r>
              <a:rPr lang="en-US" altLang="ja-JP"/>
              <a:t>20</a:t>
            </a:r>
            <a:r>
              <a:rPr lang="ja-JP" altLang="en-US"/>
              <a:t>秒</a:t>
            </a:r>
            <a:endParaRPr lang="en-US" altLang="ja-JP"/>
          </a:p>
          <a:p>
            <a:r>
              <a:rPr lang="ja-JP" altLang="en-US"/>
              <a:t>日本政府によるカーボンニュートラル</a:t>
            </a:r>
            <a:r>
              <a:rPr lang="en-US" altLang="ja-JP"/>
              <a:t>2050</a:t>
            </a:r>
            <a:r>
              <a:rPr lang="ja-JP" altLang="en-US"/>
              <a:t>宣言において、</a:t>
            </a:r>
            <a:endParaRPr lang="en-US" altLang="ja-JP"/>
          </a:p>
          <a:p>
            <a:r>
              <a:rPr lang="ja-JP" altLang="en-US"/>
              <a:t>化石燃料を使う火力と違って、地球温暖化効果がないが、慣性力を持たない再エネの大量導入で系統安定性が悪化する恐れが高まり</a:t>
            </a:r>
            <a:endParaRPr lang="en-US" altLang="ja-JP"/>
          </a:p>
          <a:p>
            <a:r>
              <a:rPr kumimoji="1" lang="ja-JP" altLang="en-US" sz="1200" b="1" i="1">
                <a:solidFill>
                  <a:srgbClr val="0070C0"/>
                </a:solidFill>
                <a:ea typeface="+mj-ea"/>
              </a:rPr>
              <a:t>そこで擬似慣性を備えた</a:t>
            </a:r>
            <a:r>
              <a:rPr kumimoji="1" lang="en-US" altLang="ja-JP" sz="1200" b="1">
                <a:solidFill>
                  <a:srgbClr val="0070C0"/>
                </a:solidFill>
                <a:ea typeface="+mj-ea"/>
              </a:rPr>
              <a:t>GFM (grid forming) </a:t>
            </a:r>
            <a:r>
              <a:rPr kumimoji="1" lang="ja-JP" altLang="en-US" sz="1200" b="1" i="1">
                <a:solidFill>
                  <a:srgbClr val="0070C0"/>
                </a:solidFill>
                <a:ea typeface="+mj-ea"/>
              </a:rPr>
              <a:t>インバータ制御への期</a:t>
            </a:r>
            <a:r>
              <a:rPr kumimoji="1" lang="ja-JP" altLang="en-US" sz="1200" b="1" i="1">
                <a:solidFill>
                  <a:srgbClr val="0070C0"/>
                </a:solidFill>
                <a:latin typeface="+mj-ea"/>
                <a:ea typeface="+mj-ea"/>
              </a:rPr>
              <a:t>待が高まっている</a:t>
            </a:r>
            <a:endParaRPr lang="en-US" altLang="ja-JP"/>
          </a:p>
        </p:txBody>
      </p:sp>
      <p:sp>
        <p:nvSpPr>
          <p:cNvPr id="4" name="スライド番号プレースホルダー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881E0FB-6E9D-E347-942F-134A948B6A64}"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03320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ノート プレースホルダー 1">
            <a:extLst>
              <a:ext uri="{FF2B5EF4-FFF2-40B4-BE49-F238E27FC236}">
                <a16:creationId xmlns:a16="http://schemas.microsoft.com/office/drawing/2014/main" id="{FCB0441E-E5F5-4AA1-8344-77CDE9BBE62F}"/>
              </a:ext>
            </a:extLst>
          </p:cNvPr>
          <p:cNvSpPr>
            <a:spLocks noGrp="1"/>
          </p:cNvSpPr>
          <p:nvPr>
            <p:ph type="body" idx="1"/>
          </p:nvPr>
        </p:nvSpPr>
        <p:spPr/>
        <p:txBody>
          <a:bodyPr/>
          <a:lstStyle/>
          <a:p>
            <a:r>
              <a:rPr lang="ja-JP" altLang="en-US" sz="1800" kern="100">
                <a:effectLst/>
                <a:latin typeface="游明朝" panose="02020400000000000000" pitchFamily="18" charset="-128"/>
                <a:ea typeface="游明朝" panose="02020400000000000000" pitchFamily="18" charset="-128"/>
                <a:cs typeface="Times New Roman" panose="02020603050405020304" pitchFamily="18" charset="0"/>
              </a:rPr>
              <a:t>目標</a:t>
            </a:r>
            <a:r>
              <a:rPr lang="en-US" altLang="ja-JP" sz="1800" kern="100">
                <a:effectLst/>
                <a:latin typeface="游明朝" panose="02020400000000000000" pitchFamily="18" charset="-128"/>
                <a:ea typeface="游明朝" panose="02020400000000000000" pitchFamily="18" charset="-128"/>
                <a:cs typeface="Times New Roman" panose="02020603050405020304" pitchFamily="18" charset="0"/>
              </a:rPr>
              <a:t>30</a:t>
            </a:r>
            <a:r>
              <a:rPr lang="ja-JP" altLang="en-US" sz="1800" kern="100">
                <a:effectLst/>
                <a:latin typeface="游明朝" panose="02020400000000000000" pitchFamily="18" charset="-128"/>
                <a:ea typeface="游明朝" panose="02020400000000000000" pitchFamily="18" charset="-128"/>
                <a:cs typeface="Times New Roman" panose="02020603050405020304" pitchFamily="18" charset="0"/>
              </a:rPr>
              <a:t>秒</a:t>
            </a:r>
            <a:endParaRPr lang="en-US" altLang="ja-JP" sz="1800" kern="100">
              <a:effectLst/>
              <a:latin typeface="游明朝" panose="02020400000000000000" pitchFamily="18" charset="-128"/>
              <a:ea typeface="游明朝" panose="02020400000000000000" pitchFamily="18" charset="-128"/>
              <a:cs typeface="Times New Roman" panose="02020603050405020304" pitchFamily="18" charset="0"/>
            </a:endParaRPr>
          </a:p>
          <a:p>
            <a:r>
              <a:rPr lang="ja-JP" altLang="en-US" sz="1800" kern="10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a:effectLst/>
                <a:latin typeface="游明朝" panose="02020400000000000000" pitchFamily="18" charset="-128"/>
                <a:ea typeface="游明朝" panose="02020400000000000000" pitchFamily="18" charset="-128"/>
                <a:cs typeface="Times New Roman" panose="02020603050405020304" pitchFamily="18" charset="0"/>
              </a:rPr>
              <a:t>GFM</a:t>
            </a:r>
            <a:r>
              <a:rPr lang="ja-JP" altLang="en-US" sz="1800" kern="100">
                <a:effectLst/>
                <a:latin typeface="游明朝" panose="02020400000000000000" pitchFamily="18" charset="-128"/>
                <a:ea typeface="游明朝" panose="02020400000000000000" pitchFamily="18" charset="-128"/>
                <a:cs typeface="Times New Roman" panose="02020603050405020304" pitchFamily="18" charset="0"/>
              </a:rPr>
              <a:t>インバータ制御の課題には有効電力制御に関係することと、無効電力制御に関係することがあります。</a:t>
            </a:r>
            <a:endParaRPr lang="en-US" altLang="ja-JP" sz="1800" kern="100">
              <a:effectLst/>
              <a:latin typeface="游明朝" panose="02020400000000000000" pitchFamily="18" charset="-128"/>
              <a:ea typeface="游明朝" panose="02020400000000000000" pitchFamily="18"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kern="100">
                <a:effectLst/>
                <a:latin typeface="游明朝" panose="02020400000000000000" pitchFamily="18" charset="-128"/>
                <a:ea typeface="游明朝" panose="02020400000000000000" pitchFamily="18" charset="-128"/>
                <a:cs typeface="Times New Roman" panose="02020603050405020304" pitchFamily="18" charset="0"/>
              </a:rPr>
              <a:t>・私は本研究で</a:t>
            </a:r>
            <a:r>
              <a:rPr kumimoji="1" lang="ja-JP" altLang="en-US" sz="1800" b="1">
                <a:solidFill>
                  <a:srgbClr val="0070C0"/>
                </a:solidFill>
              </a:rPr>
              <a:t>低短絡容量系統におけるイ</a:t>
            </a:r>
            <a:r>
              <a:rPr kumimoji="1" lang="ja-JP" altLang="en-US" sz="1800" b="1">
                <a:solidFill>
                  <a:srgbClr val="0070C0"/>
                </a:solidFill>
                <a:latin typeface="+mn-ea"/>
              </a:rPr>
              <a:t>ンバータの無効電力制御と動作許容範囲の関係の検討をしました</a:t>
            </a:r>
            <a:endParaRPr kumimoji="1" lang="en-US" altLang="ja-JP" sz="1800" b="1">
              <a:solidFill>
                <a:srgbClr val="0070C0"/>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a:solidFill>
                  <a:srgbClr val="0070C0"/>
                </a:solidFill>
                <a:latin typeface="+mn-ea"/>
              </a:rPr>
              <a:t>・無効電力制御においては、連系点電圧を指令値に制御する系統電圧制御と、インバータが出力する無効電力を指令値に制御する無効電力制御の比較検討をしました</a:t>
            </a:r>
            <a:endParaRPr kumimoji="1" lang="en-US" altLang="ja-JP" sz="1800" b="1">
              <a:solidFill>
                <a:srgbClr val="0070C0"/>
              </a:solidFill>
              <a:latin typeface="+mn-ea"/>
            </a:endParaRPr>
          </a:p>
          <a:p>
            <a:endParaRPr lang="ja-JP" altLang="ja-JP" sz="1800" kern="100">
              <a:effectLst/>
              <a:latin typeface="游明朝" panose="02020400000000000000" pitchFamily="18" charset="-128"/>
              <a:ea typeface="游明朝" panose="02020400000000000000" pitchFamily="18" charset="-128"/>
              <a:cs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285B3-174F-3DA3-12EE-5B8D1625549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5F0CFD-4539-2FF3-9EEE-04475015B6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5E9DD44-6916-886F-0CBE-2C3897D14007}"/>
              </a:ext>
            </a:extLst>
          </p:cNvPr>
          <p:cNvSpPr>
            <a:spLocks noGrp="1"/>
          </p:cNvSpPr>
          <p:nvPr>
            <p:ph type="body" idx="1"/>
          </p:nvPr>
        </p:nvSpPr>
        <p:spPr/>
        <p:txBody>
          <a:bodyPr/>
          <a:lstStyle/>
          <a:p>
            <a:r>
              <a:rPr lang="ja-JP" altLang="en-US" sz="4000"/>
              <a:t>目標</a:t>
            </a:r>
            <a:r>
              <a:rPr lang="en-US" altLang="ja-JP" sz="4000"/>
              <a:t>2</a:t>
            </a:r>
            <a:r>
              <a:rPr lang="ja-JP" altLang="en-US" sz="4000"/>
              <a:t>分</a:t>
            </a:r>
            <a:endParaRPr lang="en-US" altLang="ja-JP" sz="40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4000"/>
              <a:t>・左側が解析モデルになります。まずは下側の１０</a:t>
            </a:r>
            <a:r>
              <a:rPr lang="en-US" altLang="ja-JP" sz="4000"/>
              <a:t>MVA</a:t>
            </a:r>
            <a:r>
              <a:rPr lang="ja-JP" altLang="en-US" sz="4000"/>
              <a:t>定格の</a:t>
            </a:r>
            <a:r>
              <a:rPr lang="en-US" altLang="ja-JP" sz="4000"/>
              <a:t>GFM</a:t>
            </a:r>
            <a:r>
              <a:rPr lang="ja-JP" altLang="en-US" sz="4000"/>
              <a:t>インバータに太陽光発電と負荷が並列に接続されています</a:t>
            </a:r>
            <a:endParaRPr lang="en-US" altLang="ja-JP" sz="40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4000"/>
              <a:t>・太陽光発電から１０ＭＷ供給され、系統の負荷として初期状態では１０ＭＷ消費されています。</a:t>
            </a:r>
            <a:endParaRPr lang="en-US" altLang="ja-JP" sz="4000"/>
          </a:p>
          <a:p>
            <a:r>
              <a:rPr lang="ja-JP" altLang="en-US" sz="4000"/>
              <a:t>・こちらの</a:t>
            </a:r>
            <a:r>
              <a:rPr lang="en-US" altLang="ja-JP" sz="4000"/>
              <a:t>Load</a:t>
            </a:r>
            <a:r>
              <a:rPr lang="ja-JP" altLang="en-US" sz="4000"/>
              <a:t> </a:t>
            </a:r>
            <a:r>
              <a:rPr lang="en-US" altLang="ja-JP" sz="4000"/>
              <a:t>change</a:t>
            </a:r>
            <a:r>
              <a:rPr lang="ja-JP" altLang="en-US" sz="4000"/>
              <a:t>に対して右側のパラメータ通りの変動量を与えました</a:t>
            </a:r>
            <a:endParaRPr lang="en-US" altLang="ja-JP" sz="4000"/>
          </a:p>
          <a:p>
            <a:r>
              <a:rPr lang="ja-JP" altLang="en-US" sz="4000"/>
              <a:t>・解析条件について、負荷変動に関しては有効電力変動と無効電力変動を組み合わせました</a:t>
            </a:r>
            <a:endParaRPr lang="en-US" altLang="ja-JP" sz="4000"/>
          </a:p>
          <a:p>
            <a:r>
              <a:rPr lang="ja-JP" altLang="en-US" sz="4000"/>
              <a:t>・パラメータ設定範囲および意味は右側に記載されている通りになります。</a:t>
            </a:r>
            <a:endParaRPr lang="en-US" altLang="ja-JP" sz="4000"/>
          </a:p>
          <a:p>
            <a:r>
              <a:rPr lang="ja-JP" altLang="en-US" sz="4000"/>
              <a:t>・送電線距離を示すパラメータとして短絡容量比</a:t>
            </a:r>
            <a:r>
              <a:rPr lang="en-US" altLang="ja-JP" sz="4000"/>
              <a:t>SCR</a:t>
            </a:r>
            <a:r>
              <a:rPr lang="ja-JP" altLang="en-US" sz="4000"/>
              <a:t>は５から１にしました。これは</a:t>
            </a:r>
            <a:r>
              <a:rPr lang="en-US" altLang="ja-JP" sz="4000"/>
              <a:t>115</a:t>
            </a:r>
            <a:r>
              <a:rPr lang="ja-JP" altLang="en-US" sz="4000"/>
              <a:t>ｋ</a:t>
            </a:r>
            <a:r>
              <a:rPr lang="en-US" altLang="ja-JP" sz="4000"/>
              <a:t>V</a:t>
            </a:r>
            <a:r>
              <a:rPr lang="ja-JP" altLang="en-US" sz="4000"/>
              <a:t>送電線のリアクタンス「</a:t>
            </a:r>
            <a:r>
              <a:rPr lang="en-US" altLang="ja-JP" sz="4000"/>
              <a:t>X</a:t>
            </a:r>
            <a:r>
              <a:rPr lang="ja-JP" altLang="en-US" sz="4000"/>
              <a:t>」で調整しました。</a:t>
            </a:r>
            <a:endParaRPr lang="en-US" altLang="ja-JP" sz="4000"/>
          </a:p>
          <a:p>
            <a:endParaRPr lang="en-US" altLang="ja-JP" sz="4000"/>
          </a:p>
        </p:txBody>
      </p:sp>
      <p:sp>
        <p:nvSpPr>
          <p:cNvPr id="4" name="スライド番号プレースホルダー 3">
            <a:extLst>
              <a:ext uri="{FF2B5EF4-FFF2-40B4-BE49-F238E27FC236}">
                <a16:creationId xmlns:a16="http://schemas.microsoft.com/office/drawing/2014/main" id="{F47EA543-53CB-5ED0-D9D2-6A5D8162471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881E0FB-6E9D-E347-942F-134A948B6A64}"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631621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次に理論式の導出とインバータの動作可能条件を説明します。</a:t>
            </a:r>
            <a:endParaRPr kumimoji="1" lang="en-US" altLang="ja-JP"/>
          </a:p>
          <a:p>
            <a:r>
              <a:rPr kumimoji="1" lang="ja-JP" altLang="en-US"/>
              <a:t>理論式は負荷電力変動が起きた際、式</a:t>
            </a:r>
            <a:r>
              <a:rPr kumimoji="1" lang="en-US" altLang="ja-JP"/>
              <a:t>1</a:t>
            </a:r>
            <a:r>
              <a:rPr kumimoji="1" lang="ja-JP" altLang="en-US"/>
              <a:t>の有効電力分</a:t>
            </a:r>
            <a:r>
              <a:rPr kumimoji="1" lang="en-US" altLang="ja-JP"/>
              <a:t>ΔP</a:t>
            </a:r>
            <a:r>
              <a:rPr kumimoji="1" lang="ja-JP" altLang="en-US"/>
              <a:t>と無効電力分</a:t>
            </a:r>
            <a:r>
              <a:rPr kumimoji="1" lang="en-US" altLang="ja-JP"/>
              <a:t>ΔQ</a:t>
            </a:r>
            <a:r>
              <a:rPr kumimoji="1" lang="ja-JP" altLang="en-US"/>
              <a:t>に、インバータの有効および無効電力出力の和に注目しました。</a:t>
            </a:r>
            <a:endParaRPr kumimoji="1" lang="en-US" altLang="ja-JP"/>
          </a:p>
          <a:p>
            <a:r>
              <a:rPr kumimoji="1" lang="ja-JP" altLang="en-US"/>
              <a:t>系統に流れる電流を式</a:t>
            </a:r>
            <a:r>
              <a:rPr kumimoji="1" lang="en-US" altLang="ja-JP"/>
              <a:t>2</a:t>
            </a:r>
            <a:r>
              <a:rPr kumimoji="1" lang="ja-JP" altLang="en-US"/>
              <a:t>の送電方程式を使って表し、二つの式を連立させ虚数を消去することで求めました</a:t>
            </a:r>
            <a:endParaRPr kumimoji="1" lang="en-US" altLang="ja-JP"/>
          </a:p>
          <a:p>
            <a:endParaRPr kumimoji="1" lang="en-US" altLang="ja-JP"/>
          </a:p>
          <a:p>
            <a:r>
              <a:rPr kumimoji="1" lang="ja-JP" altLang="en-US"/>
              <a:t>インバータの動作可能の可否に関しては、</a:t>
            </a:r>
            <a:endParaRPr kumimoji="1" lang="en-US" altLang="ja-JP"/>
          </a:p>
          <a:p>
            <a:r>
              <a:rPr kumimoji="1" lang="ja-JP" altLang="en-US"/>
              <a:t>インバータの定格基準で、電流出力が</a:t>
            </a:r>
            <a:r>
              <a:rPr kumimoji="1" lang="en-US" altLang="ja-JP"/>
              <a:t>±1.1pu,</a:t>
            </a:r>
            <a:r>
              <a:rPr kumimoji="1" lang="ja-JP" altLang="en-US"/>
              <a:t>無効電力出力が</a:t>
            </a:r>
            <a:r>
              <a:rPr kumimoji="1" lang="en-US" altLang="ja-JP"/>
              <a:t>±1.0pu,</a:t>
            </a:r>
            <a:r>
              <a:rPr kumimoji="1" lang="ja-JP" altLang="en-US"/>
              <a:t>系統電圧が</a:t>
            </a:r>
            <a:r>
              <a:rPr kumimoji="1" lang="en-US" altLang="ja-JP"/>
              <a:t>0.9~1.1pu</a:t>
            </a:r>
            <a:r>
              <a:rPr kumimoji="1" lang="ja-JP" altLang="en-US"/>
              <a:t>以内であることとしました。</a:t>
            </a:r>
          </a:p>
        </p:txBody>
      </p:sp>
      <p:sp>
        <p:nvSpPr>
          <p:cNvPr id="4" name="スライド番号プレースホルダー 3"/>
          <p:cNvSpPr>
            <a:spLocks noGrp="1"/>
          </p:cNvSpPr>
          <p:nvPr>
            <p:ph type="sldNum" sz="quarter" idx="5"/>
          </p:nvPr>
        </p:nvSpPr>
        <p:spPr/>
        <p:txBody>
          <a:bodyPr/>
          <a:lstStyle/>
          <a:p>
            <a:fld id="{EB2B19CE-FFC2-44D7-A4C5-A201D9DC7CF8}" type="slidenum">
              <a:rPr kumimoji="1" lang="ja-JP" altLang="en-US" smtClean="0"/>
              <a:t>5</a:t>
            </a:fld>
            <a:endParaRPr kumimoji="1" lang="ja-JP" altLang="en-US"/>
          </a:p>
        </p:txBody>
      </p:sp>
    </p:spTree>
    <p:extLst>
      <p:ext uri="{BB962C8B-B14F-4D97-AF65-F5344CB8AC3E}">
        <p14:creationId xmlns:p14="http://schemas.microsoft.com/office/powerpoint/2010/main" val="3689314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2A096-EC9F-8508-5A7C-733A68E394EC}"/>
            </a:ext>
          </a:extLst>
        </p:cNvPr>
        <p:cNvGrpSpPr/>
        <p:nvPr/>
      </p:nvGrpSpPr>
      <p:grpSpPr>
        <a:xfrm>
          <a:off x="0" y="0"/>
          <a:ext cx="0" cy="0"/>
          <a:chOff x="0" y="0"/>
          <a:chExt cx="0" cy="0"/>
        </a:xfrm>
      </p:grpSpPr>
      <p:sp>
        <p:nvSpPr>
          <p:cNvPr id="2" name="ノート プレースホルダー 1">
            <a:extLst>
              <a:ext uri="{FF2B5EF4-FFF2-40B4-BE49-F238E27FC236}">
                <a16:creationId xmlns:a16="http://schemas.microsoft.com/office/drawing/2014/main" id="{88229BD7-8535-9B80-C866-3D6C0DFCCFC9}"/>
              </a:ext>
            </a:extLst>
          </p:cNvPr>
          <p:cNvSpPr>
            <a:spLocks noGrp="1"/>
          </p:cNvSpPr>
          <p:nvPr>
            <p:ph type="body" idx="1"/>
          </p:nvPr>
        </p:nvSpPr>
        <p:spPr/>
        <p:txBody>
          <a:bodyPr/>
          <a:lstStyle/>
          <a:p>
            <a:r>
              <a:rPr lang="ja-JP" altLang="en-US" sz="2800"/>
              <a:t>目標</a:t>
            </a:r>
            <a:r>
              <a:rPr lang="en-US" altLang="ja-JP" sz="2800"/>
              <a:t>40</a:t>
            </a:r>
            <a:r>
              <a:rPr lang="ja-JP" altLang="en-US" sz="2800"/>
              <a:t>秒</a:t>
            </a:r>
            <a:endParaRPr lang="en-US" altLang="ja-JP" sz="2800"/>
          </a:p>
          <a:p>
            <a:r>
              <a:rPr lang="ja-JP" altLang="en-US" sz="2800"/>
              <a:t>次は、解析結果になります</a:t>
            </a:r>
            <a:endParaRPr lang="en-US" altLang="ja-JP" sz="28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800"/>
              <a:t>まずは</a:t>
            </a:r>
            <a:r>
              <a:rPr lang="en-US" altLang="ja-JP" sz="2800"/>
              <a:t>V</a:t>
            </a:r>
            <a:r>
              <a:rPr lang="ja-JP" altLang="en-US" sz="2800"/>
              <a:t>制御の結果についてです。</a:t>
            </a:r>
            <a:endParaRPr lang="en-US" altLang="ja-JP" sz="28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800"/>
              <a:t>下側のグラフは変動値である</a:t>
            </a:r>
            <a:r>
              <a:rPr lang="en-US" altLang="ja-JP" sz="2800"/>
              <a:t>ΔP</a:t>
            </a:r>
            <a:r>
              <a:rPr lang="ja-JP" altLang="en-US" sz="2800"/>
              <a:t>と</a:t>
            </a:r>
            <a:r>
              <a:rPr lang="en-US" altLang="ja-JP" sz="2800"/>
              <a:t>ΔQ</a:t>
            </a:r>
            <a:r>
              <a:rPr lang="ja-JP" altLang="en-US" sz="2800"/>
              <a:t>に対する、インバータ出力無効電力を連系点電圧で割った出力電流値</a:t>
            </a:r>
            <a:r>
              <a:rPr lang="en-US" altLang="ja-JP" sz="2800" err="1"/>
              <a:t>Igfm</a:t>
            </a:r>
            <a:r>
              <a:rPr lang="ja-JP" altLang="en-US" sz="2800"/>
              <a:t>の</a:t>
            </a:r>
            <a:r>
              <a:rPr kumimoji="1" lang="ja-JP" altLang="en-US" sz="2800" b="1">
                <a:solidFill>
                  <a:srgbClr val="0070C0"/>
                </a:solidFill>
              </a:rPr>
              <a:t>可視化グラフになります。</a:t>
            </a:r>
            <a:endParaRPr kumimoji="1" lang="en-US" altLang="ja-JP" sz="2800" b="1">
              <a:solidFill>
                <a:srgbClr val="0070C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strike="sngStrike">
                <a:solidFill>
                  <a:srgbClr val="0070C0"/>
                </a:solidFill>
                <a:cs typeface="Times New Roman"/>
              </a:rPr>
              <a:t>・</a:t>
            </a:r>
            <a:r>
              <a:rPr kumimoji="1" lang="en-US" altLang="ja-JP" sz="2800" b="1" strike="sngStrike" err="1">
                <a:solidFill>
                  <a:srgbClr val="0070C0"/>
                </a:solidFill>
                <a:cs typeface="Times New Roman"/>
              </a:rPr>
              <a:t>Igfm</a:t>
            </a:r>
            <a:r>
              <a:rPr kumimoji="1" lang="ja-JP" altLang="en-US" sz="2800" b="1" strike="sngStrike">
                <a:solidFill>
                  <a:srgbClr val="0070C0"/>
                </a:solidFill>
                <a:cs typeface="Times New Roman"/>
              </a:rPr>
              <a:t>に関しては御覧の通りグラフの</a:t>
            </a:r>
            <a:r>
              <a:rPr kumimoji="1" lang="en-US" altLang="ja-JP" sz="2800" b="1" strike="sngStrike">
                <a:solidFill>
                  <a:srgbClr val="0070C0"/>
                </a:solidFill>
                <a:cs typeface="Times New Roman"/>
              </a:rPr>
              <a:t>Z</a:t>
            </a:r>
            <a:r>
              <a:rPr kumimoji="1" lang="ja-JP" altLang="en-US" sz="2800" b="1" strike="sngStrike">
                <a:solidFill>
                  <a:srgbClr val="0070C0"/>
                </a:solidFill>
                <a:cs typeface="Times New Roman"/>
              </a:rPr>
              <a:t>軸で、消費電力が</a:t>
            </a:r>
            <a:r>
              <a:rPr kumimoji="1" lang="en-US" altLang="ja-JP" sz="2800" b="1" strike="sngStrike">
                <a:solidFill>
                  <a:srgbClr val="0070C0"/>
                </a:solidFill>
                <a:cs typeface="Times New Roman"/>
              </a:rPr>
              <a:t>X</a:t>
            </a:r>
            <a:r>
              <a:rPr kumimoji="1" lang="ja-JP" altLang="en-US" sz="2800" b="1" strike="sngStrike">
                <a:solidFill>
                  <a:srgbClr val="0070C0"/>
                </a:solidFill>
                <a:cs typeface="Times New Roman"/>
              </a:rPr>
              <a:t>軸、そして誘導性負荷が</a:t>
            </a:r>
            <a:r>
              <a:rPr kumimoji="1" lang="en-US" altLang="ja-JP" sz="2800" b="1" strike="sngStrike">
                <a:solidFill>
                  <a:srgbClr val="0070C0"/>
                </a:solidFill>
                <a:cs typeface="Times New Roman"/>
              </a:rPr>
              <a:t>Y</a:t>
            </a:r>
            <a:r>
              <a:rPr kumimoji="1" lang="ja-JP" altLang="en-US" sz="2800" b="1" strike="sngStrike">
                <a:solidFill>
                  <a:srgbClr val="0070C0"/>
                </a:solidFill>
                <a:cs typeface="Times New Roman"/>
              </a:rPr>
              <a:t>軸になります。</a:t>
            </a:r>
            <a:endParaRPr kumimoji="1" lang="en-US" altLang="ja-JP" sz="2800" b="1" strike="sngStrike">
              <a:solidFill>
                <a:srgbClr val="0070C0"/>
              </a:solidFill>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strike="sngStrike">
                <a:solidFill>
                  <a:srgbClr val="0070C0"/>
                </a:solidFill>
              </a:rPr>
              <a:t>・</a:t>
            </a:r>
            <a:r>
              <a:rPr kumimoji="1" lang="en-US" altLang="ja-JP" sz="2800" b="1" strike="sngStrike">
                <a:solidFill>
                  <a:srgbClr val="0070C0"/>
                </a:solidFill>
              </a:rPr>
              <a:t>Z</a:t>
            </a:r>
            <a:r>
              <a:rPr kumimoji="1" lang="ja-JP" altLang="en-US" sz="2800" b="1" strike="sngStrike">
                <a:solidFill>
                  <a:srgbClr val="0070C0"/>
                </a:solidFill>
              </a:rPr>
              <a:t>軸の</a:t>
            </a:r>
            <a:r>
              <a:rPr kumimoji="1" lang="en-US" altLang="ja-JP" sz="2800" b="1" strike="sngStrike">
                <a:solidFill>
                  <a:srgbClr val="0070C0"/>
                </a:solidFill>
              </a:rPr>
              <a:t>±1.1pu</a:t>
            </a:r>
            <a:r>
              <a:rPr kumimoji="1" lang="ja-JP" altLang="en-US" sz="2800" b="1" strike="sngStrike">
                <a:solidFill>
                  <a:srgbClr val="0070C0"/>
                </a:solidFill>
              </a:rPr>
              <a:t>の場所にはそれぞれ赤と青の面を引き、両方の面に収まっている、つまり定格範囲内であることを示す動作可能点を青、</a:t>
            </a:r>
            <a:endParaRPr kumimoji="1" lang="en-US" altLang="ja-JP" sz="2800" b="1" strike="sngStrike">
              <a:solidFill>
                <a:srgbClr val="0070C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strike="sngStrike">
                <a:solidFill>
                  <a:srgbClr val="0070C0"/>
                </a:solidFill>
              </a:rPr>
              <a:t>・それに対して定格に収まっていない動作不可点は赤で印をつけました。</a:t>
            </a:r>
            <a:endParaRPr kumimoji="1" lang="en-US" altLang="ja-JP" sz="2800" b="1" strike="sngStrike">
              <a:solidFill>
                <a:srgbClr val="0070C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800"/>
              <a:t>代表として</a:t>
            </a:r>
            <a:r>
              <a:rPr lang="en-US" altLang="ja-JP" sz="2800"/>
              <a:t>SCR=5.o</a:t>
            </a:r>
            <a:r>
              <a:rPr lang="ja-JP" altLang="en-US" sz="2800"/>
              <a:t>と</a:t>
            </a:r>
            <a:r>
              <a:rPr lang="en-US" altLang="ja-JP" sz="2800"/>
              <a:t>2.0</a:t>
            </a:r>
            <a:r>
              <a:rPr lang="ja-JP" altLang="en-US" sz="2800"/>
              <a:t>の場合をピックアップしました、</a:t>
            </a:r>
            <a:r>
              <a:rPr kumimoji="1" lang="ja-JP" altLang="en-US" sz="2800" b="1">
                <a:solidFill>
                  <a:srgbClr val="0070C0"/>
                </a:solidFill>
              </a:rPr>
              <a:t>全体としては</a:t>
            </a:r>
            <a:r>
              <a:rPr kumimoji="1" lang="en-US" altLang="ja-JP" sz="2800" b="1">
                <a:solidFill>
                  <a:srgbClr val="0070C0"/>
                </a:solidFill>
              </a:rPr>
              <a:t>X</a:t>
            </a:r>
            <a:r>
              <a:rPr kumimoji="1" lang="ja-JP" altLang="en-US" sz="2800" b="1">
                <a:solidFill>
                  <a:srgbClr val="0070C0"/>
                </a:solidFill>
              </a:rPr>
              <a:t>軸の消費電力の変動にあまり関係なく、おもに</a:t>
            </a:r>
            <a:r>
              <a:rPr kumimoji="1" lang="en-US" altLang="ja-JP" sz="2800" b="1">
                <a:solidFill>
                  <a:srgbClr val="0070C0"/>
                </a:solidFill>
              </a:rPr>
              <a:t>Y</a:t>
            </a:r>
            <a:r>
              <a:rPr kumimoji="1" lang="ja-JP" altLang="en-US" sz="2800" b="1">
                <a:solidFill>
                  <a:srgbClr val="0070C0"/>
                </a:solidFill>
              </a:rPr>
              <a:t>軸の誘導性負荷の変動に関係します。</a:t>
            </a:r>
            <a:endParaRPr kumimoji="1" lang="en-US" altLang="ja-JP" sz="2800" b="1">
              <a:solidFill>
                <a:srgbClr val="0070C0"/>
              </a:solidFill>
            </a:endParaRPr>
          </a:p>
          <a:p>
            <a:r>
              <a:rPr lang="ja-JP" altLang="en-US" sz="2800"/>
              <a:t>そして、短絡容量比が低下する（つまり送電線距離が長くなると）定格を超える赤点が増えています。</a:t>
            </a:r>
            <a:endParaRPr lang="en-US" altLang="ja-JP" sz="2800"/>
          </a:p>
        </p:txBody>
      </p:sp>
    </p:spTree>
    <p:extLst>
      <p:ext uri="{BB962C8B-B14F-4D97-AF65-F5344CB8AC3E}">
        <p14:creationId xmlns:p14="http://schemas.microsoft.com/office/powerpoint/2010/main" val="1512102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ノート プレースホルダー 1">
            <a:extLst>
              <a:ext uri="{FF2B5EF4-FFF2-40B4-BE49-F238E27FC236}">
                <a16:creationId xmlns:a16="http://schemas.microsoft.com/office/drawing/2014/main" id="{FCB0441E-E5F5-4AA1-8344-77CDE9BBE62F}"/>
              </a:ext>
            </a:extLst>
          </p:cNvPr>
          <p:cNvSpPr>
            <a:spLocks noGrp="1"/>
          </p:cNvSpPr>
          <p:nvPr>
            <p:ph type="body" idx="1"/>
          </p:nvPr>
        </p:nvSpPr>
        <p:spPr/>
        <p:txBody>
          <a:bodyPr/>
          <a:lstStyle/>
          <a:p>
            <a:r>
              <a:rPr lang="ja-JP" altLang="en-US" sz="2800"/>
              <a:t>目標</a:t>
            </a:r>
            <a:r>
              <a:rPr lang="en-US" altLang="ja-JP" sz="2800"/>
              <a:t>40</a:t>
            </a:r>
            <a:r>
              <a:rPr lang="ja-JP" altLang="en-US" sz="2800"/>
              <a:t>秒</a:t>
            </a:r>
            <a:endParaRPr lang="en-US" altLang="ja-JP" sz="2800"/>
          </a:p>
          <a:p>
            <a:r>
              <a:rPr lang="ja-JP" altLang="en-US" sz="2800"/>
              <a:t>・次に、</a:t>
            </a:r>
            <a:r>
              <a:rPr kumimoji="1" lang="ja-JP" altLang="en-US" sz="2800" b="1">
                <a:solidFill>
                  <a:srgbClr val="0070C0"/>
                </a:solidFill>
              </a:rPr>
              <a:t>負荷変動時におけるインバータ出力が定格を超えない動作の限界線を下記通りにまとめました</a:t>
            </a:r>
            <a:endParaRPr kumimoji="1" lang="en-US" altLang="ja-JP" sz="2800" b="1">
              <a:solidFill>
                <a:srgbClr val="0070C0"/>
              </a:solidFill>
            </a:endParaRPr>
          </a:p>
          <a:p>
            <a:r>
              <a:rPr kumimoji="1" lang="ja-JP" altLang="en-US" sz="2800" b="1">
                <a:solidFill>
                  <a:srgbClr val="0070C0"/>
                </a:solidFill>
              </a:rPr>
              <a:t>電流出力</a:t>
            </a:r>
            <a:r>
              <a:rPr kumimoji="1" lang="en-US" altLang="ja-JP" sz="2800" b="1" err="1">
                <a:solidFill>
                  <a:srgbClr val="0070C0"/>
                </a:solidFill>
              </a:rPr>
              <a:t>Igfm</a:t>
            </a:r>
            <a:r>
              <a:rPr kumimoji="1" lang="ja-JP" altLang="en-US" sz="2800" b="1">
                <a:solidFill>
                  <a:srgbClr val="0070C0"/>
                </a:solidFill>
              </a:rPr>
              <a:t>が</a:t>
            </a:r>
            <a:r>
              <a:rPr kumimoji="1" lang="en-US" altLang="ja-JP" sz="2800" b="1">
                <a:solidFill>
                  <a:srgbClr val="0070C0"/>
                </a:solidFill>
              </a:rPr>
              <a:t>±1.1pu</a:t>
            </a:r>
            <a:r>
              <a:rPr kumimoji="1" lang="ja-JP" altLang="en-US" sz="2800" b="1">
                <a:solidFill>
                  <a:srgbClr val="0070C0"/>
                </a:solidFill>
              </a:rPr>
              <a:t>の平面と交差する点の軌跡になります。</a:t>
            </a:r>
            <a:endParaRPr kumimoji="1" lang="en-US" altLang="ja-JP" sz="2800" b="1">
              <a:solidFill>
                <a:srgbClr val="0070C0"/>
              </a:solidFill>
            </a:endParaRPr>
          </a:p>
          <a:p>
            <a:r>
              <a:rPr kumimoji="1" lang="ja-JP" altLang="en-US" sz="2800" b="1">
                <a:solidFill>
                  <a:srgbClr val="0070C0"/>
                </a:solidFill>
              </a:rPr>
              <a:t>・</a:t>
            </a:r>
            <a:r>
              <a:rPr kumimoji="1" lang="ja-JP" altLang="en-US" sz="2800" b="1" strike="sngStrike">
                <a:solidFill>
                  <a:srgbClr val="0070C0"/>
                </a:solidFill>
              </a:rPr>
              <a:t>上側が</a:t>
            </a:r>
            <a:r>
              <a:rPr kumimoji="1" lang="en-US" altLang="ja-JP" sz="2800" b="1" strike="sngStrike" err="1">
                <a:solidFill>
                  <a:srgbClr val="0070C0"/>
                </a:solidFill>
              </a:rPr>
              <a:t>Igfm</a:t>
            </a:r>
            <a:r>
              <a:rPr kumimoji="1" lang="ja-JP" altLang="en-US" sz="2800" b="1" strike="sngStrike">
                <a:solidFill>
                  <a:srgbClr val="0070C0"/>
                </a:solidFill>
              </a:rPr>
              <a:t>正の動作限界線でインバータから系統流れる方向</a:t>
            </a:r>
            <a:r>
              <a:rPr kumimoji="1" lang="ja-JP" altLang="en-US" sz="4000" b="1" strike="sngStrike"/>
              <a:t>の出力限界になり、</a:t>
            </a:r>
            <a:endParaRPr kumimoji="1" lang="en-US" altLang="ja-JP" sz="4000" b="1" strike="sngStrike"/>
          </a:p>
          <a:p>
            <a:r>
              <a:rPr kumimoji="1" lang="ja-JP" altLang="en-US" sz="4000" b="1" strike="sngStrike"/>
              <a:t>・下側が</a:t>
            </a:r>
            <a:r>
              <a:rPr kumimoji="1" lang="en-US" altLang="ja-JP" sz="4000" b="1" strike="sngStrike" err="1"/>
              <a:t>Igfm</a:t>
            </a:r>
            <a:r>
              <a:rPr kumimoji="1" lang="ja-JP" altLang="en-US" sz="4000" b="1" strike="sngStrike"/>
              <a:t>の負の動作限界線、系統からインバータ側に流れる出力限界になります</a:t>
            </a:r>
            <a:endParaRPr kumimoji="1" lang="en-US" altLang="ja-JP" sz="4000" b="1" strike="sngStrike"/>
          </a:p>
          <a:p>
            <a:r>
              <a:rPr kumimoji="1" lang="ja-JP" altLang="en-US" sz="4000" b="1">
                <a:solidFill>
                  <a:srgbClr val="0070C0"/>
                </a:solidFill>
              </a:rPr>
              <a:t>・上側とした側の線に囲まれた領域が、それぞれの</a:t>
            </a:r>
            <a:r>
              <a:rPr kumimoji="1" lang="en-US" altLang="ja-JP" sz="4000" b="1">
                <a:solidFill>
                  <a:srgbClr val="0070C0"/>
                </a:solidFill>
              </a:rPr>
              <a:t>SCR</a:t>
            </a:r>
            <a:r>
              <a:rPr kumimoji="1" lang="ja-JP" altLang="en-US" sz="4000" b="1">
                <a:solidFill>
                  <a:srgbClr val="0070C0"/>
                </a:solidFill>
              </a:rPr>
              <a:t>においての動作可能範囲になります。</a:t>
            </a:r>
            <a:r>
              <a:rPr kumimoji="1" lang="en-US" altLang="ja-JP" sz="4000" b="1">
                <a:solidFill>
                  <a:srgbClr val="0070C0"/>
                </a:solidFill>
              </a:rPr>
              <a:t>SCR=1.0</a:t>
            </a:r>
            <a:r>
              <a:rPr kumimoji="1" lang="ja-JP" altLang="en-US" sz="4000" b="1">
                <a:solidFill>
                  <a:srgbClr val="0070C0"/>
                </a:solidFill>
              </a:rPr>
              <a:t>の場合が最も狭く、</a:t>
            </a:r>
            <a:r>
              <a:rPr kumimoji="1" lang="en-US" altLang="ja-JP" sz="4000" b="1">
                <a:solidFill>
                  <a:srgbClr val="0070C0"/>
                </a:solidFill>
              </a:rPr>
              <a:t>SCR=5.0</a:t>
            </a:r>
            <a:r>
              <a:rPr kumimoji="1" lang="ja-JP" altLang="en-US" sz="4000" b="1">
                <a:solidFill>
                  <a:srgbClr val="0070C0"/>
                </a:solidFill>
              </a:rPr>
              <a:t>の場合が最も広くなりました</a:t>
            </a:r>
            <a:endParaRPr kumimoji="1" lang="en-US" altLang="ja-JP" sz="2800" b="1">
              <a:solidFill>
                <a:srgbClr val="0070C0"/>
              </a:solidFill>
            </a:endParaRPr>
          </a:p>
          <a:p>
            <a:endParaRPr lang="en-US" altLang="ja-JP" sz="2800"/>
          </a:p>
          <a:p>
            <a:r>
              <a:rPr lang="ja-JP" altLang="en-US" sz="2800"/>
              <a:t>そして</a:t>
            </a:r>
            <a:r>
              <a:rPr lang="en-US" altLang="ja-JP" sz="2800"/>
              <a:t>V</a:t>
            </a:r>
            <a:r>
              <a:rPr lang="ja-JP" altLang="en-US" sz="2800"/>
              <a:t>制御ではさきほどの式の導出においてにおける連系点電圧</a:t>
            </a:r>
            <a:r>
              <a:rPr lang="en-US" altLang="ja-JP" sz="2800"/>
              <a:t>V</a:t>
            </a:r>
            <a:r>
              <a:rPr lang="ja-JP" altLang="en-US" sz="2800"/>
              <a:t>と系統電圧</a:t>
            </a:r>
            <a:r>
              <a:rPr lang="en-US" altLang="ja-JP" sz="2800"/>
              <a:t>E</a:t>
            </a:r>
            <a:r>
              <a:rPr lang="ja-JP" altLang="en-US" sz="2800"/>
              <a:t>を</a:t>
            </a:r>
            <a:r>
              <a:rPr lang="en-US" altLang="ja-JP" sz="2800"/>
              <a:t>1pu</a:t>
            </a:r>
            <a:r>
              <a:rPr lang="ja-JP" altLang="en-US" sz="2800"/>
              <a:t>とした場合、変数であるインバータの無効電力出力</a:t>
            </a:r>
            <a:r>
              <a:rPr lang="en-US" altLang="ja-JP" sz="2800" err="1"/>
              <a:t>Qgfm</a:t>
            </a:r>
            <a:r>
              <a:rPr lang="ja-JP" altLang="en-US" sz="2800"/>
              <a:t>について注目すると、こちらの式が求められました</a:t>
            </a:r>
            <a:br>
              <a:rPr lang="en-US" altLang="ja-JP" sz="2800"/>
            </a:br>
            <a:r>
              <a:rPr kumimoji="1" lang="ja-JP" altLang="en-US" sz="2800"/>
              <a:t>・すべての</a:t>
            </a:r>
            <a:r>
              <a:rPr kumimoji="1" lang="en-US" altLang="ja-JP" sz="2800"/>
              <a:t>SCR</a:t>
            </a:r>
            <a:r>
              <a:rPr kumimoji="1" lang="ja-JP" altLang="en-US" sz="2800"/>
              <a:t>においての</a:t>
            </a:r>
            <a:r>
              <a:rPr kumimoji="1" lang="en-US" altLang="ja-JP" sz="2800" err="1"/>
              <a:t>Igfm</a:t>
            </a:r>
            <a:r>
              <a:rPr kumimoji="1" lang="ja-JP" altLang="en-US" sz="2800"/>
              <a:t>の誤差率を、理論値ベースでまとめました</a:t>
            </a:r>
            <a:endParaRPr kumimoji="1" lang="en-US" altLang="ja-JP" sz="2800"/>
          </a:p>
          <a:p>
            <a:pPr>
              <a:lnSpc>
                <a:spcPct val="130000"/>
              </a:lnSpc>
            </a:pPr>
            <a:r>
              <a:rPr kumimoji="1" lang="ja-JP" altLang="en-US" sz="2800" b="1"/>
              <a:t>・理論値と計算値は，</a:t>
            </a:r>
            <a:r>
              <a:rPr kumimoji="1" lang="en-US" altLang="ja-JP" sz="2800" b="1"/>
              <a:t>+7~9</a:t>
            </a:r>
            <a:r>
              <a:rPr kumimoji="1" lang="ja-JP" altLang="en-US" sz="2800" b="1"/>
              <a:t>％程度の小さい誤差率での一致を確認できました</a:t>
            </a:r>
          </a:p>
          <a:p>
            <a:endParaRPr kumimoji="1" lang="en-US" altLang="ja-JP" sz="2800"/>
          </a:p>
          <a:p>
            <a:r>
              <a:rPr kumimoji="1" lang="ja-JP" altLang="en-US" sz="2800"/>
              <a:t>（（（（・計算値が最終的な収束解で</a:t>
            </a:r>
            <a:endParaRPr kumimoji="1" lang="en-US" altLang="ja-JP" sz="28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a:t>シミュレーション値が負荷変動に対する過渡的な応答の最大値も記録している</a:t>
            </a:r>
            <a:endParaRPr kumimoji="1" lang="en-US" altLang="ja-JP" sz="2800"/>
          </a:p>
          <a:p>
            <a:endParaRPr lang="en-US" altLang="ja-JP" sz="2800"/>
          </a:p>
        </p:txBody>
      </p:sp>
    </p:spTree>
    <p:extLst>
      <p:ext uri="{BB962C8B-B14F-4D97-AF65-F5344CB8AC3E}">
        <p14:creationId xmlns:p14="http://schemas.microsoft.com/office/powerpoint/2010/main" val="3363982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次は</a:t>
            </a:r>
            <a:r>
              <a:rPr lang="en-US" altLang="ja-JP" sz="1200"/>
              <a:t>Q</a:t>
            </a:r>
            <a:r>
              <a:rPr lang="ja-JP" altLang="en-US" sz="1200"/>
              <a:t>制御の結果についてです。</a:t>
            </a:r>
            <a:r>
              <a:rPr lang="en-US" altLang="ja-JP" sz="1200"/>
              <a:t>Q</a:t>
            </a:r>
            <a:r>
              <a:rPr lang="ja-JP" altLang="en-US" sz="1200"/>
              <a:t>制御ではさきほどの式の導出においてにおけるインバータの無効電力出力</a:t>
            </a:r>
            <a:r>
              <a:rPr lang="en-US" altLang="ja-JP" sz="1200" err="1"/>
              <a:t>Qgfm</a:t>
            </a:r>
            <a:r>
              <a:rPr lang="ja-JP" altLang="en-US" sz="1200"/>
              <a:t>と系統電圧</a:t>
            </a:r>
            <a:r>
              <a:rPr lang="en-US" altLang="ja-JP" sz="1200"/>
              <a:t>E</a:t>
            </a:r>
            <a:r>
              <a:rPr lang="ja-JP" altLang="en-US" sz="1200"/>
              <a:t>をそれぞれ</a:t>
            </a:r>
            <a:r>
              <a:rPr lang="en-US" altLang="ja-JP" sz="1200"/>
              <a:t>1pu</a:t>
            </a:r>
            <a:r>
              <a:rPr lang="ja-JP" altLang="en-US" sz="1200"/>
              <a:t>とした場合、変数である連系点電圧</a:t>
            </a:r>
            <a:r>
              <a:rPr lang="en-US" altLang="ja-JP" sz="1200"/>
              <a:t>V</a:t>
            </a:r>
            <a:r>
              <a:rPr lang="ja-JP" altLang="en-US" sz="1200"/>
              <a:t>について注目すると、こちらの式が求められました</a:t>
            </a:r>
            <a:br>
              <a:rPr lang="en-US" altLang="ja-JP" sz="1200"/>
            </a:br>
            <a:r>
              <a:rPr lang="ja-JP" altLang="en-US" sz="1200"/>
              <a:t>下側の図が</a:t>
            </a:r>
            <a:r>
              <a:rPr lang="en-US" altLang="ja-JP" sz="1200"/>
              <a:t>SCR=2.0</a:t>
            </a:r>
            <a:r>
              <a:rPr lang="ja-JP" altLang="en-US" sz="1200"/>
              <a:t>および</a:t>
            </a:r>
            <a:r>
              <a:rPr lang="en-US" altLang="ja-JP" sz="1200"/>
              <a:t>5.0</a:t>
            </a:r>
            <a:r>
              <a:rPr lang="ja-JP" altLang="en-US" sz="1200"/>
              <a:t>の場合の、有効負荷変動と無効負荷変動に対しての、理論値をベースとしたシミュレーション結果の誤差率をヒートマップにしたものになります</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赤がシミュレーション結果が理論値に対して正の誤差、青が負の誤差になります</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先ほどの</a:t>
            </a:r>
            <a:r>
              <a:rPr lang="en-US" altLang="ja-JP" sz="1200"/>
              <a:t>V</a:t>
            </a:r>
            <a:r>
              <a:rPr lang="ja-JP" altLang="en-US" sz="1200"/>
              <a:t>制御とは違い、こちらはほとんどの場合プラスマイナス</a:t>
            </a:r>
            <a:r>
              <a:rPr lang="en-US" altLang="ja-JP" sz="1200"/>
              <a:t>70%</a:t>
            </a:r>
            <a:r>
              <a:rPr lang="ja-JP" altLang="en-US" sz="1200"/>
              <a:t>以上の誤差が出ており、一致性が確認できません。</a:t>
            </a:r>
            <a:endParaRPr lang="en-US" altLang="ja-JP" sz="1200"/>
          </a:p>
          <a:p>
            <a:endParaRPr lang="zh-CN" altLang="en-US"/>
          </a:p>
        </p:txBody>
      </p:sp>
      <p:sp>
        <p:nvSpPr>
          <p:cNvPr id="4" name="スライド番号プレースホルダー 3"/>
          <p:cNvSpPr>
            <a:spLocks noGrp="1"/>
          </p:cNvSpPr>
          <p:nvPr>
            <p:ph type="sldNum" sz="quarter" idx="5"/>
          </p:nvPr>
        </p:nvSpPr>
        <p:spPr/>
        <p:txBody>
          <a:bodyPr/>
          <a:lstStyle/>
          <a:p>
            <a:fld id="{EB2B19CE-FFC2-44D7-A4C5-A201D9DC7CF8}" type="slidenum">
              <a:rPr kumimoji="1" lang="ja-JP" altLang="en-US" smtClean="0"/>
              <a:t>8</a:t>
            </a:fld>
            <a:endParaRPr kumimoji="1" lang="ja-JP" altLang="en-US"/>
          </a:p>
        </p:txBody>
      </p:sp>
    </p:spTree>
    <p:extLst>
      <p:ext uri="{BB962C8B-B14F-4D97-AF65-F5344CB8AC3E}">
        <p14:creationId xmlns:p14="http://schemas.microsoft.com/office/powerpoint/2010/main" val="793814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目標</a:t>
            </a:r>
            <a:r>
              <a:rPr lang="en-US" altLang="ja-JP"/>
              <a:t>1</a:t>
            </a:r>
            <a:r>
              <a:rPr lang="ja-JP" altLang="en-US"/>
              <a:t>分</a:t>
            </a:r>
            <a:r>
              <a:rPr lang="en-US" altLang="ja-JP"/>
              <a:t>20</a:t>
            </a:r>
            <a:r>
              <a:rPr lang="ja-JP" altLang="en-US"/>
              <a:t>秒</a:t>
            </a: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こちらが</a:t>
            </a:r>
            <a:r>
              <a:rPr lang="ja-JP" altLang="en-US" strike="sngStrike"/>
              <a:t>予稿集でも取り上げた</a:t>
            </a:r>
            <a:r>
              <a:rPr lang="en-US" altLang="ja-JP"/>
              <a:t>V</a:t>
            </a:r>
            <a:r>
              <a:rPr lang="ja-JP" altLang="en-US"/>
              <a:t>制御と</a:t>
            </a:r>
            <a:r>
              <a:rPr lang="en-US" altLang="ja-JP"/>
              <a:t>Q</a:t>
            </a:r>
            <a:r>
              <a:rPr lang="ja-JP" altLang="en-US"/>
              <a:t>制御をそれぞれ適用した場合の、インバータ出力無効電力と出力電流が両方定格値以内に収まる場合の</a:t>
            </a:r>
            <a:br>
              <a:rPr lang="en-US" altLang="ja-JP"/>
            </a:br>
            <a:r>
              <a:rPr lang="ja-JP" altLang="en-US"/>
              <a:t>有効負荷を基準とした無効負荷変動の上限と下限の比較になります</a:t>
            </a:r>
            <a:r>
              <a:rPr lang="ja-JP" altLang="en-US" strike="sngStrike"/>
              <a:t>が、予稿集のグラフでは判断条件が一部間違っていたので、こちらのグラフを使って差し替えます。ご迷惑をおかけしました。</a:t>
            </a:r>
            <a:endParaRPr lang="en-US" altLang="ja-JP" strike="sngStrike"/>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今回取り上げた</a:t>
            </a:r>
            <a:r>
              <a:rPr lang="en-US" altLang="ja-JP"/>
              <a:t>SCR1.0~5.0</a:t>
            </a:r>
            <a:r>
              <a:rPr lang="ja-JP" altLang="en-US"/>
              <a:t>の範囲では</a:t>
            </a:r>
            <a:r>
              <a:rPr lang="en-US" altLang="ja-JP"/>
              <a:t>SCR</a:t>
            </a:r>
            <a:r>
              <a:rPr lang="ja-JP" altLang="en-US"/>
              <a:t>が</a:t>
            </a:r>
            <a:r>
              <a:rPr lang="en-US" altLang="ja-JP"/>
              <a:t>1.0</a:t>
            </a:r>
            <a:r>
              <a:rPr lang="ja-JP" altLang="en-US"/>
              <a:t>以外のほとんどの場合において、</a:t>
            </a:r>
            <a:r>
              <a:rPr lang="en-US" altLang="ja-JP"/>
              <a:t>Q</a:t>
            </a:r>
            <a:r>
              <a:rPr lang="ja-JP" altLang="en-US"/>
              <a:t>制御を適用させた場合が負荷変動量がインバータの定格に達しても、インバータの電流出力制限にひっかからない結果となりました。</a:t>
            </a:r>
            <a:br>
              <a:rPr lang="en-US" altLang="ja-JP"/>
            </a:br>
            <a:r>
              <a:rPr lang="en-US" altLang="ja-JP"/>
              <a:t>V</a:t>
            </a:r>
            <a:r>
              <a:rPr lang="ja-JP" altLang="en-US"/>
              <a:t>制御を適用させた場合は有効電力変動がインバータの定格値の半分を超えると、少しでも無効電力変動による増加で過出力になり動作不可になるのに対して</a:t>
            </a:r>
            <a:br>
              <a:rPr lang="en-US" altLang="ja-JP"/>
            </a:br>
            <a:r>
              <a:rPr lang="en-US" altLang="ja-JP"/>
              <a:t>Q</a:t>
            </a:r>
            <a:r>
              <a:rPr lang="ja-JP" altLang="en-US"/>
              <a:t>制御を適用させた場合は、青線で示されている</a:t>
            </a:r>
            <a:r>
              <a:rPr lang="en-US" altLang="ja-JP" err="1"/>
              <a:t>scr</a:t>
            </a:r>
            <a:r>
              <a:rPr lang="en-US" altLang="ja-JP"/>
              <a:t>=1.0</a:t>
            </a:r>
            <a:r>
              <a:rPr lang="ja-JP" altLang="en-US"/>
              <a:t>の場合以外は、今回設定した変動量において</a:t>
            </a:r>
            <a:r>
              <a:rPr lang="en-US" altLang="ja-JP"/>
              <a:t>,</a:t>
            </a:r>
            <a:r>
              <a:rPr lang="ja-JP" altLang="en-US"/>
              <a:t>マイナスの負荷変動があった際はほとんど安定という結果になりました。</a:t>
            </a:r>
            <a:endParaRPr lang="en-US" altLang="ja-JP"/>
          </a:p>
        </p:txBody>
      </p:sp>
      <p:sp>
        <p:nvSpPr>
          <p:cNvPr id="4" name="スライド番号プレースホルダー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881E0FB-6E9D-E347-942F-134A948B6A64}"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206471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zh-CN" altLang="en-US"/>
          </a:p>
        </p:txBody>
      </p:sp>
      <p:sp>
        <p:nvSpPr>
          <p:cNvPr id="4" name="スライド番号プレースホルダー 3"/>
          <p:cNvSpPr>
            <a:spLocks noGrp="1"/>
          </p:cNvSpPr>
          <p:nvPr>
            <p:ph type="sldNum" sz="quarter" idx="5"/>
          </p:nvPr>
        </p:nvSpPr>
        <p:spPr/>
        <p:txBody>
          <a:bodyPr/>
          <a:lstStyle/>
          <a:p>
            <a:fld id="{EB2B19CE-FFC2-44D7-A4C5-A201D9DC7CF8}" type="slidenum">
              <a:rPr kumimoji="1" lang="ja-JP" altLang="en-US" smtClean="0"/>
              <a:t>10</a:t>
            </a:fld>
            <a:endParaRPr kumimoji="1" lang="ja-JP" altLang="en-US"/>
          </a:p>
        </p:txBody>
      </p:sp>
    </p:spTree>
    <p:extLst>
      <p:ext uri="{BB962C8B-B14F-4D97-AF65-F5344CB8AC3E}">
        <p14:creationId xmlns:p14="http://schemas.microsoft.com/office/powerpoint/2010/main" val="3694818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有効電力出して周波数調整</a:t>
            </a:r>
            <a:endParaRPr lang="en-US" altLang="ja-JP"/>
          </a:p>
          <a:p>
            <a:r>
              <a:rPr lang="ja-JP" altLang="en-US"/>
              <a:t>無効電力出して電圧調整</a:t>
            </a:r>
            <a:endParaRPr lang="zh-CN" altLang="en-US"/>
          </a:p>
        </p:txBody>
      </p:sp>
      <p:sp>
        <p:nvSpPr>
          <p:cNvPr id="4" name="スライド番号プレースホルダー 3"/>
          <p:cNvSpPr>
            <a:spLocks noGrp="1"/>
          </p:cNvSpPr>
          <p:nvPr>
            <p:ph type="sldNum" sz="quarter" idx="5"/>
          </p:nvPr>
        </p:nvSpPr>
        <p:spPr/>
        <p:txBody>
          <a:bodyPr/>
          <a:lstStyle/>
          <a:p>
            <a:fld id="{EB2B19CE-FFC2-44D7-A4C5-A201D9DC7CF8}" type="slidenum">
              <a:rPr kumimoji="1" lang="ja-JP" altLang="en-US" smtClean="0"/>
              <a:t>12</a:t>
            </a:fld>
            <a:endParaRPr kumimoji="1" lang="ja-JP" altLang="en-US"/>
          </a:p>
        </p:txBody>
      </p:sp>
    </p:spTree>
    <p:extLst>
      <p:ext uri="{BB962C8B-B14F-4D97-AF65-F5344CB8AC3E}">
        <p14:creationId xmlns:p14="http://schemas.microsoft.com/office/powerpoint/2010/main" val="942412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1561338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2888697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86865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211711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9" name="Slide Number Placeholder 8"/>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3833080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grpSp>
        <p:nvGrpSpPr>
          <p:cNvPr id="6" name="グループ化 5">
            <a:extLst>
              <a:ext uri="{FF2B5EF4-FFF2-40B4-BE49-F238E27FC236}">
                <a16:creationId xmlns:a16="http://schemas.microsoft.com/office/drawing/2014/main" id="{E1E01145-A9B8-4597-B87C-589E4F547A84}"/>
              </a:ext>
            </a:extLst>
          </p:cNvPr>
          <p:cNvGrpSpPr/>
          <p:nvPr userDrawn="1"/>
        </p:nvGrpSpPr>
        <p:grpSpPr>
          <a:xfrm>
            <a:off x="0" y="0"/>
            <a:ext cx="12192000" cy="553309"/>
            <a:chOff x="-1524001" y="1223469"/>
            <a:chExt cx="12192000" cy="553309"/>
          </a:xfrm>
        </p:grpSpPr>
        <p:sp>
          <p:nvSpPr>
            <p:cNvPr id="7" name="正方形/長方形 6">
              <a:extLst>
                <a:ext uri="{FF2B5EF4-FFF2-40B4-BE49-F238E27FC236}">
                  <a16:creationId xmlns:a16="http://schemas.microsoft.com/office/drawing/2014/main" id="{857A21BB-C5BC-4988-B3D7-03ACA11599A4}"/>
                </a:ext>
              </a:extLst>
            </p:cNvPr>
            <p:cNvSpPr/>
            <p:nvPr/>
          </p:nvSpPr>
          <p:spPr>
            <a:xfrm>
              <a:off x="-1524001" y="1223469"/>
              <a:ext cx="12192000" cy="553309"/>
            </a:xfrm>
            <a:prstGeom prst="rect">
              <a:avLst/>
            </a:prstGeom>
            <a:gradFill flip="none" rotWithShape="1">
              <a:gsLst>
                <a:gs pos="58000">
                  <a:srgbClr val="0087AF"/>
                </a:gs>
                <a:gs pos="0">
                  <a:srgbClr val="002060"/>
                </a:gs>
                <a:gs pos="100000">
                  <a:schemeClr val="accent1">
                    <a:lumMod val="45000"/>
                    <a:lumOff val="55000"/>
                  </a:schemeClr>
                </a:gs>
                <a:gs pos="81000">
                  <a:srgbClr val="3DA5C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EED52D4-AA51-465F-82C3-44AE85490BC6}"/>
                </a:ext>
              </a:extLst>
            </p:cNvPr>
            <p:cNvSpPr txBox="1"/>
            <p:nvPr/>
          </p:nvSpPr>
          <p:spPr>
            <a:xfrm>
              <a:off x="1681969" y="1275200"/>
              <a:ext cx="184731" cy="461665"/>
            </a:xfrm>
            <a:prstGeom prst="rect">
              <a:avLst/>
            </a:prstGeom>
            <a:noFill/>
          </p:spPr>
          <p:txBody>
            <a:bodyPr wrap="none" rtlCol="0">
              <a:spAutoFit/>
            </a:bodyPr>
            <a:lstStyle/>
            <a:p>
              <a:endParaRPr kumimoji="1" lang="ja-JP" altLang="en-US" sz="2400" b="1">
                <a:solidFill>
                  <a:schemeClr val="bg1"/>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4A4EBF70-30A6-48FD-B4FC-40F2641EA445}"/>
                </a:ext>
              </a:extLst>
            </p:cNvPr>
            <p:cNvSpPr txBox="1"/>
            <p:nvPr/>
          </p:nvSpPr>
          <p:spPr>
            <a:xfrm>
              <a:off x="-1130023" y="1275200"/>
              <a:ext cx="184731" cy="461665"/>
            </a:xfrm>
            <a:prstGeom prst="rect">
              <a:avLst/>
            </a:prstGeom>
            <a:noFill/>
          </p:spPr>
          <p:txBody>
            <a:bodyPr wrap="none" rtlCol="0">
              <a:spAutoFit/>
            </a:bodyPr>
            <a:lstStyle/>
            <a:p>
              <a:endParaRPr kumimoji="1" lang="ja-JP" altLang="en-US" sz="2400" b="1">
                <a:solidFill>
                  <a:schemeClr val="bg1"/>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346717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2_タイトル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6343" y="117099"/>
            <a:ext cx="10515600" cy="480131"/>
          </a:xfrm>
        </p:spPr>
        <p:txBody>
          <a:bodyPr>
            <a:spAutoFit/>
          </a:bodyPr>
          <a:lstStyle>
            <a:lvl1pPr>
              <a:defRPr sz="2800" b="1">
                <a:solidFill>
                  <a:srgbClr val="1E2B6D"/>
                </a:solidFill>
                <a:latin typeface="+mn-lt"/>
              </a:defRPr>
            </a:lvl1pPr>
          </a:lstStyle>
          <a:p>
            <a:r>
              <a:rPr lang="en-US" altLang="ja-JP"/>
              <a:t>Title</a:t>
            </a:r>
            <a:endParaRPr lang="en-US"/>
          </a:p>
        </p:txBody>
      </p:sp>
    </p:spTree>
    <p:extLst>
      <p:ext uri="{BB962C8B-B14F-4D97-AF65-F5344CB8AC3E}">
        <p14:creationId xmlns:p14="http://schemas.microsoft.com/office/powerpoint/2010/main" val="2071084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A74D5F4-C62C-46A4-8FDD-32711B45A666}"/>
              </a:ext>
            </a:extLst>
          </p:cNvPr>
          <p:cNvSpPr/>
          <p:nvPr userDrawn="1"/>
        </p:nvSpPr>
        <p:spPr>
          <a:xfrm>
            <a:off x="0" y="6356350"/>
            <a:ext cx="12192000" cy="501650"/>
          </a:xfrm>
          <a:prstGeom prst="rect">
            <a:avLst/>
          </a:prstGeom>
          <a:solidFill>
            <a:srgbClr val="008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2" name="Title 1"/>
          <p:cNvSpPr>
            <a:spLocks noGrp="1"/>
          </p:cNvSpPr>
          <p:nvPr>
            <p:ph type="title"/>
          </p:nvPr>
        </p:nvSpPr>
        <p:spPr/>
        <p:txBody>
          <a:bodyPr/>
          <a:lstStyle/>
          <a:p>
            <a:r>
              <a:rPr lang="ja-JP" altLang="en-US"/>
              <a:t>マスター タイトルの書式設定</a:t>
            </a:r>
            <a:endParaRPr lang="en-US"/>
          </a:p>
        </p:txBody>
      </p:sp>
      <p:sp>
        <p:nvSpPr>
          <p:cNvPr id="5" name="Slide Number Placeholder 4"/>
          <p:cNvSpPr>
            <a:spLocks noGrp="1"/>
          </p:cNvSpPr>
          <p:nvPr>
            <p:ph type="sldNum" sz="quarter" idx="12"/>
          </p:nvPr>
        </p:nvSpPr>
        <p:spPr>
          <a:xfrm>
            <a:off x="10115549" y="6424612"/>
            <a:ext cx="1928883" cy="365125"/>
          </a:xfrm>
        </p:spPr>
        <p:txBody>
          <a:bodyPr/>
          <a:lstStyle>
            <a:lvl1pPr>
              <a:defRPr sz="1800">
                <a:solidFill>
                  <a:schemeClr val="bg1"/>
                </a:solidFill>
                <a:latin typeface="+mn-lt"/>
                <a:ea typeface="游ゴシック" panose="020B0400000000000000" pitchFamily="50" charset="-128"/>
              </a:defRPr>
            </a:lvl1pPr>
          </a:lstStyle>
          <a:p>
            <a:fld id="{A95D4CEA-C7AF-3E45-88DE-3B5B661289A3}" type="slidenum">
              <a:rPr lang="ja-JP" altLang="en-US" smtClean="0"/>
              <a:pPr/>
              <a:t>‹#›</a:t>
            </a:fld>
            <a:r>
              <a:rPr lang="ja-JP" altLang="en-US"/>
              <a:t> </a:t>
            </a:r>
            <a:r>
              <a:rPr lang="en-US" altLang="ja-JP"/>
              <a:t>/15</a:t>
            </a:r>
            <a:endParaRPr lang="ja-JP" altLang="en-US"/>
          </a:p>
        </p:txBody>
      </p:sp>
      <p:sp>
        <p:nvSpPr>
          <p:cNvPr id="12" name="テキスト ボックス 11">
            <a:extLst>
              <a:ext uri="{FF2B5EF4-FFF2-40B4-BE49-F238E27FC236}">
                <a16:creationId xmlns:a16="http://schemas.microsoft.com/office/drawing/2014/main" id="{367ED6F8-0FF7-42AC-BE79-44689D32DA2D}"/>
              </a:ext>
            </a:extLst>
          </p:cNvPr>
          <p:cNvSpPr txBox="1"/>
          <p:nvPr userDrawn="1"/>
        </p:nvSpPr>
        <p:spPr>
          <a:xfrm>
            <a:off x="147567" y="6424612"/>
            <a:ext cx="313419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rPr>
              <a:t>講演番号</a:t>
            </a:r>
            <a:r>
              <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sym typeface="Wingdings" panose="05000000000000000000" pitchFamily="2" charset="2"/>
              </a:rPr>
              <a:t>：（</a:t>
            </a:r>
            <a:r>
              <a:rPr kumimoji="1" lang="en-US" altLang="ja-JP" b="1">
                <a:solidFill>
                  <a:schemeClr val="bg1"/>
                </a:solidFill>
                <a:latin typeface="Arial" panose="020B0604020202020204" pitchFamily="34" charset="0"/>
                <a:ea typeface="游ゴシック" panose="020B0400000000000000" pitchFamily="50" charset="-128"/>
                <a:cs typeface="Arial" panose="020B0604020202020204" pitchFamily="34" charset="0"/>
                <a:sym typeface="Wingdings" panose="05000000000000000000" pitchFamily="2" charset="2"/>
              </a:rPr>
              <a:t>EPP-20-078</a:t>
            </a:r>
            <a:r>
              <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sym typeface="Wingdings" panose="05000000000000000000" pitchFamily="2" charset="2"/>
              </a:rPr>
              <a:t>）</a:t>
            </a:r>
            <a:endPar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endParaRPr>
          </a:p>
        </p:txBody>
      </p:sp>
      <p:sp>
        <p:nvSpPr>
          <p:cNvPr id="14" name="テキスト ボックス 13">
            <a:extLst>
              <a:ext uri="{FF2B5EF4-FFF2-40B4-BE49-F238E27FC236}">
                <a16:creationId xmlns:a16="http://schemas.microsoft.com/office/drawing/2014/main" id="{8B555A29-15EB-4CE5-97EE-5B229040F59C}"/>
              </a:ext>
            </a:extLst>
          </p:cNvPr>
          <p:cNvSpPr txBox="1"/>
          <p:nvPr userDrawn="1"/>
        </p:nvSpPr>
        <p:spPr>
          <a:xfrm>
            <a:off x="3909089" y="6424612"/>
            <a:ext cx="4373826"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1">
                <a:solidFill>
                  <a:schemeClr val="bg1"/>
                </a:solidFill>
                <a:latin typeface="Arial" panose="020B0604020202020204" pitchFamily="34" charset="0"/>
                <a:ea typeface="游ゴシック" panose="020B0400000000000000" pitchFamily="50" charset="-128"/>
                <a:cs typeface="Arial" panose="020B0604020202020204" pitchFamily="34" charset="0"/>
              </a:rPr>
              <a:t>LIU Chengyang(Tokyo City University)</a:t>
            </a:r>
            <a:endPar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endParaRPr>
          </a:p>
        </p:txBody>
      </p:sp>
    </p:spTree>
    <p:extLst>
      <p:ext uri="{BB962C8B-B14F-4D97-AF65-F5344CB8AC3E}">
        <p14:creationId xmlns:p14="http://schemas.microsoft.com/office/powerpoint/2010/main" val="1271859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Slide Number Placeholder 3"/>
          <p:cNvSpPr>
            <a:spLocks noGrp="1"/>
          </p:cNvSpPr>
          <p:nvPr>
            <p:ph type="sldNum" sz="quarter" idx="12"/>
          </p:nvPr>
        </p:nvSpPr>
        <p:spPr>
          <a:xfrm>
            <a:off x="9530702" y="1145600"/>
            <a:ext cx="2743200" cy="365125"/>
          </a:xfrm>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3515669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3076037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3696825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3277920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1464380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4015222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17069804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5641781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29683385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9" name="Slide Number Placeholder 8"/>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39903405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grpSp>
        <p:nvGrpSpPr>
          <p:cNvPr id="6" name="グループ化 5">
            <a:extLst>
              <a:ext uri="{FF2B5EF4-FFF2-40B4-BE49-F238E27FC236}">
                <a16:creationId xmlns:a16="http://schemas.microsoft.com/office/drawing/2014/main" id="{E1E01145-A9B8-4597-B87C-589E4F547A84}"/>
              </a:ext>
            </a:extLst>
          </p:cNvPr>
          <p:cNvGrpSpPr/>
          <p:nvPr userDrawn="1"/>
        </p:nvGrpSpPr>
        <p:grpSpPr>
          <a:xfrm>
            <a:off x="0" y="0"/>
            <a:ext cx="12192000" cy="553309"/>
            <a:chOff x="-1524001" y="1223469"/>
            <a:chExt cx="12192000" cy="553309"/>
          </a:xfrm>
        </p:grpSpPr>
        <p:sp>
          <p:nvSpPr>
            <p:cNvPr id="7" name="正方形/長方形 6">
              <a:extLst>
                <a:ext uri="{FF2B5EF4-FFF2-40B4-BE49-F238E27FC236}">
                  <a16:creationId xmlns:a16="http://schemas.microsoft.com/office/drawing/2014/main" id="{857A21BB-C5BC-4988-B3D7-03ACA11599A4}"/>
                </a:ext>
              </a:extLst>
            </p:cNvPr>
            <p:cNvSpPr/>
            <p:nvPr/>
          </p:nvSpPr>
          <p:spPr>
            <a:xfrm>
              <a:off x="-1524001" y="1223469"/>
              <a:ext cx="12192000" cy="553309"/>
            </a:xfrm>
            <a:prstGeom prst="rect">
              <a:avLst/>
            </a:prstGeom>
            <a:gradFill flip="none" rotWithShape="1">
              <a:gsLst>
                <a:gs pos="58000">
                  <a:srgbClr val="0087AF"/>
                </a:gs>
                <a:gs pos="0">
                  <a:srgbClr val="002060"/>
                </a:gs>
                <a:gs pos="100000">
                  <a:schemeClr val="accent1">
                    <a:lumMod val="45000"/>
                    <a:lumOff val="55000"/>
                  </a:schemeClr>
                </a:gs>
                <a:gs pos="81000">
                  <a:srgbClr val="3DA5C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EED52D4-AA51-465F-82C3-44AE85490BC6}"/>
                </a:ext>
              </a:extLst>
            </p:cNvPr>
            <p:cNvSpPr txBox="1"/>
            <p:nvPr/>
          </p:nvSpPr>
          <p:spPr>
            <a:xfrm>
              <a:off x="1681969" y="1275200"/>
              <a:ext cx="184731" cy="461665"/>
            </a:xfrm>
            <a:prstGeom prst="rect">
              <a:avLst/>
            </a:prstGeom>
            <a:noFill/>
          </p:spPr>
          <p:txBody>
            <a:bodyPr wrap="none" rtlCol="0">
              <a:spAutoFit/>
            </a:bodyPr>
            <a:lstStyle/>
            <a:p>
              <a:endParaRPr kumimoji="1" lang="ja-JP" altLang="en-US" sz="2400" b="1">
                <a:solidFill>
                  <a:schemeClr val="bg1"/>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4A4EBF70-30A6-48FD-B4FC-40F2641EA445}"/>
                </a:ext>
              </a:extLst>
            </p:cNvPr>
            <p:cNvSpPr txBox="1"/>
            <p:nvPr/>
          </p:nvSpPr>
          <p:spPr>
            <a:xfrm>
              <a:off x="-1130023" y="1275200"/>
              <a:ext cx="184731" cy="461665"/>
            </a:xfrm>
            <a:prstGeom prst="rect">
              <a:avLst/>
            </a:prstGeom>
            <a:noFill/>
          </p:spPr>
          <p:txBody>
            <a:bodyPr wrap="none" rtlCol="0">
              <a:spAutoFit/>
            </a:bodyPr>
            <a:lstStyle/>
            <a:p>
              <a:endParaRPr kumimoji="1" lang="ja-JP" altLang="en-US" sz="2400" b="1">
                <a:solidFill>
                  <a:schemeClr val="bg1"/>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966424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2_タイトル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6343" y="117099"/>
            <a:ext cx="10515600" cy="480131"/>
          </a:xfrm>
        </p:spPr>
        <p:txBody>
          <a:bodyPr>
            <a:spAutoFit/>
          </a:bodyPr>
          <a:lstStyle>
            <a:lvl1pPr>
              <a:defRPr sz="2800" b="1">
                <a:solidFill>
                  <a:srgbClr val="1E2B6D"/>
                </a:solidFill>
                <a:latin typeface="+mn-lt"/>
              </a:defRPr>
            </a:lvl1pPr>
          </a:lstStyle>
          <a:p>
            <a:r>
              <a:rPr lang="en-US" altLang="ja-JP"/>
              <a:t>Title</a:t>
            </a:r>
            <a:endParaRPr lang="en-US"/>
          </a:p>
        </p:txBody>
      </p:sp>
    </p:spTree>
    <p:extLst>
      <p:ext uri="{BB962C8B-B14F-4D97-AF65-F5344CB8AC3E}">
        <p14:creationId xmlns:p14="http://schemas.microsoft.com/office/powerpoint/2010/main" val="14165661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A74D5F4-C62C-46A4-8FDD-32711B45A666}"/>
              </a:ext>
            </a:extLst>
          </p:cNvPr>
          <p:cNvSpPr/>
          <p:nvPr userDrawn="1"/>
        </p:nvSpPr>
        <p:spPr>
          <a:xfrm>
            <a:off x="0" y="6356350"/>
            <a:ext cx="12192000" cy="501650"/>
          </a:xfrm>
          <a:prstGeom prst="rect">
            <a:avLst/>
          </a:prstGeom>
          <a:solidFill>
            <a:srgbClr val="008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2" name="Title 1"/>
          <p:cNvSpPr>
            <a:spLocks noGrp="1"/>
          </p:cNvSpPr>
          <p:nvPr>
            <p:ph type="title"/>
          </p:nvPr>
        </p:nvSpPr>
        <p:spPr/>
        <p:txBody>
          <a:bodyPr/>
          <a:lstStyle/>
          <a:p>
            <a:r>
              <a:rPr lang="ja-JP" altLang="en-US"/>
              <a:t>マスター タイトルの書式設定</a:t>
            </a:r>
            <a:endParaRPr lang="en-US"/>
          </a:p>
        </p:txBody>
      </p:sp>
      <p:sp>
        <p:nvSpPr>
          <p:cNvPr id="5" name="Slide Number Placeholder 4"/>
          <p:cNvSpPr>
            <a:spLocks noGrp="1"/>
          </p:cNvSpPr>
          <p:nvPr>
            <p:ph type="sldNum" sz="quarter" idx="12"/>
          </p:nvPr>
        </p:nvSpPr>
        <p:spPr>
          <a:xfrm>
            <a:off x="10115549" y="6424612"/>
            <a:ext cx="1928883" cy="365125"/>
          </a:xfrm>
        </p:spPr>
        <p:txBody>
          <a:bodyPr/>
          <a:lstStyle>
            <a:lvl1pPr>
              <a:defRPr sz="1800">
                <a:solidFill>
                  <a:schemeClr val="bg1"/>
                </a:solidFill>
                <a:latin typeface="+mn-lt"/>
                <a:ea typeface="游ゴシック" panose="020B0400000000000000" pitchFamily="50" charset="-128"/>
              </a:defRPr>
            </a:lvl1pPr>
          </a:lstStyle>
          <a:p>
            <a:fld id="{A95D4CEA-C7AF-3E45-88DE-3B5B661289A3}" type="slidenum">
              <a:rPr lang="ja-JP" altLang="en-US" smtClean="0"/>
              <a:pPr/>
              <a:t>‹#›</a:t>
            </a:fld>
            <a:r>
              <a:rPr lang="ja-JP" altLang="en-US"/>
              <a:t> </a:t>
            </a:r>
            <a:r>
              <a:rPr lang="en-US" altLang="ja-JP"/>
              <a:t>/15</a:t>
            </a:r>
            <a:endParaRPr lang="ja-JP" altLang="en-US"/>
          </a:p>
        </p:txBody>
      </p:sp>
      <p:sp>
        <p:nvSpPr>
          <p:cNvPr id="12" name="テキスト ボックス 11">
            <a:extLst>
              <a:ext uri="{FF2B5EF4-FFF2-40B4-BE49-F238E27FC236}">
                <a16:creationId xmlns:a16="http://schemas.microsoft.com/office/drawing/2014/main" id="{367ED6F8-0FF7-42AC-BE79-44689D32DA2D}"/>
              </a:ext>
            </a:extLst>
          </p:cNvPr>
          <p:cNvSpPr txBox="1"/>
          <p:nvPr userDrawn="1"/>
        </p:nvSpPr>
        <p:spPr>
          <a:xfrm>
            <a:off x="147567" y="6424612"/>
            <a:ext cx="313419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rPr>
              <a:t>講演番号</a:t>
            </a:r>
            <a:r>
              <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sym typeface="Wingdings" panose="05000000000000000000" pitchFamily="2" charset="2"/>
              </a:rPr>
              <a:t>：（</a:t>
            </a:r>
            <a:r>
              <a:rPr kumimoji="1" lang="en-US" altLang="ja-JP" b="1">
                <a:solidFill>
                  <a:schemeClr val="bg1"/>
                </a:solidFill>
                <a:latin typeface="Arial" panose="020B0604020202020204" pitchFamily="34" charset="0"/>
                <a:ea typeface="游ゴシック" panose="020B0400000000000000" pitchFamily="50" charset="-128"/>
                <a:cs typeface="Arial" panose="020B0604020202020204" pitchFamily="34" charset="0"/>
                <a:sym typeface="Wingdings" panose="05000000000000000000" pitchFamily="2" charset="2"/>
              </a:rPr>
              <a:t>EPP-20-078</a:t>
            </a:r>
            <a:r>
              <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sym typeface="Wingdings" panose="05000000000000000000" pitchFamily="2" charset="2"/>
              </a:rPr>
              <a:t>）</a:t>
            </a:r>
            <a:endPar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endParaRPr>
          </a:p>
        </p:txBody>
      </p:sp>
      <p:sp>
        <p:nvSpPr>
          <p:cNvPr id="14" name="テキスト ボックス 13">
            <a:extLst>
              <a:ext uri="{FF2B5EF4-FFF2-40B4-BE49-F238E27FC236}">
                <a16:creationId xmlns:a16="http://schemas.microsoft.com/office/drawing/2014/main" id="{8B555A29-15EB-4CE5-97EE-5B229040F59C}"/>
              </a:ext>
            </a:extLst>
          </p:cNvPr>
          <p:cNvSpPr txBox="1"/>
          <p:nvPr userDrawn="1"/>
        </p:nvSpPr>
        <p:spPr>
          <a:xfrm>
            <a:off x="3749845" y="6424612"/>
            <a:ext cx="469231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1">
                <a:solidFill>
                  <a:schemeClr val="bg1"/>
                </a:solidFill>
                <a:latin typeface="Arial" panose="020B0604020202020204" pitchFamily="34" charset="0"/>
                <a:ea typeface="游ゴシック" panose="020B0400000000000000" pitchFamily="50" charset="-128"/>
                <a:cs typeface="Arial" panose="020B0604020202020204" pitchFamily="34" charset="0"/>
              </a:rPr>
              <a:t>Masahiro Takagi (Tokyo City University)</a:t>
            </a:r>
            <a:endParaRPr kumimoji="1" lang="ja-JP" altLang="en-US" b="1">
              <a:solidFill>
                <a:schemeClr val="bg1"/>
              </a:solidFill>
              <a:latin typeface="Arial" panose="020B0604020202020204" pitchFamily="34" charset="0"/>
              <a:ea typeface="游ゴシック" panose="020B0400000000000000" pitchFamily="50" charset="-128"/>
              <a:cs typeface="Arial" panose="020B0604020202020204" pitchFamily="34" charset="0"/>
            </a:endParaRPr>
          </a:p>
        </p:txBody>
      </p:sp>
    </p:spTree>
    <p:extLst>
      <p:ext uri="{BB962C8B-B14F-4D97-AF65-F5344CB8AC3E}">
        <p14:creationId xmlns:p14="http://schemas.microsoft.com/office/powerpoint/2010/main" val="1223260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Slide Number Placeholder 3"/>
          <p:cNvSpPr>
            <a:spLocks noGrp="1"/>
          </p:cNvSpPr>
          <p:nvPr>
            <p:ph type="sldNum" sz="quarter" idx="12"/>
          </p:nvPr>
        </p:nvSpPr>
        <p:spPr>
          <a:xfrm>
            <a:off x="9530702" y="1145600"/>
            <a:ext cx="2743200" cy="365125"/>
          </a:xfrm>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1293422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10842087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36823162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27442393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p:txBody>
          <a:bodyPr/>
          <a:lstStyle/>
          <a:p>
            <a:fld id="{A95D4CEA-C7AF-3E45-88DE-3B5B661289A3}" type="slidenum">
              <a:rPr kumimoji="1" lang="ja-JP" altLang="en-US" smtClean="0"/>
              <a:t>‹#›</a:t>
            </a:fld>
            <a:endParaRPr kumimoji="1" lang="ja-JP" altLang="en-US"/>
          </a:p>
        </p:txBody>
      </p:sp>
    </p:spTree>
    <p:extLst>
      <p:ext uri="{BB962C8B-B14F-4D97-AF65-F5344CB8AC3E}">
        <p14:creationId xmlns:p14="http://schemas.microsoft.com/office/powerpoint/2010/main" val="3302902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4"/>
          </p:nvPr>
        </p:nvSpPr>
        <p:spPr>
          <a:xfrm>
            <a:off x="10281745" y="1575594"/>
            <a:ext cx="2743200" cy="365125"/>
          </a:xfrm>
          <a:prstGeom prst="rect">
            <a:avLst/>
          </a:prstGeom>
        </p:spPr>
        <p:txBody>
          <a:bodyPr vert="horz" lIns="91440" tIns="45720" rIns="91440" bIns="45720" rtlCol="0" anchor="ctr"/>
          <a:lstStyle>
            <a:lvl1pPr algn="r">
              <a:defRPr sz="1600">
                <a:solidFill>
                  <a:schemeClr val="tx1">
                    <a:tint val="75000"/>
                  </a:schemeClr>
                </a:solidFill>
                <a:latin typeface="+mn-lt"/>
              </a:defRPr>
            </a:lvl1pPr>
          </a:lstStyle>
          <a:p>
            <a:fld id="{A95D4CEA-C7AF-3E45-88DE-3B5B661289A3}" type="slidenum">
              <a:rPr kumimoji="1" lang="ja-JP" altLang="en-US" smtClean="0"/>
              <a:pPr/>
              <a:t>‹#›</a:t>
            </a:fld>
            <a:endParaRPr kumimoji="1" lang="ja-JP" altLang="en-US"/>
          </a:p>
        </p:txBody>
      </p:sp>
      <p:sp>
        <p:nvSpPr>
          <p:cNvPr id="16" name="Slide Number Placeholder 4">
            <a:extLst>
              <a:ext uri="{FF2B5EF4-FFF2-40B4-BE49-F238E27FC236}">
                <a16:creationId xmlns:a16="http://schemas.microsoft.com/office/drawing/2014/main" id="{EA5925C9-9D09-4AD6-B2E4-F6219AA6601F}"/>
              </a:ext>
            </a:extLst>
          </p:cNvPr>
          <p:cNvSpPr txBox="1">
            <a:spLocks/>
          </p:cNvSpPr>
          <p:nvPr userDrawn="1"/>
        </p:nvSpPr>
        <p:spPr>
          <a:xfrm>
            <a:off x="10033734" y="6487317"/>
            <a:ext cx="1928883" cy="365125"/>
          </a:xfrm>
          <a:prstGeom prst="rect">
            <a:avLst/>
          </a:prstGeom>
        </p:spPr>
        <p:txBody>
          <a:bodyPr/>
          <a:lstStyle>
            <a:defPPr>
              <a:defRPr lang="en-US"/>
            </a:defPPr>
            <a:lvl1pPr marL="0" algn="l" defTabSz="457200" rtl="0" eaLnBrk="1" latinLnBrk="0" hangingPunct="1">
              <a:defRPr sz="1800" kern="1200">
                <a:solidFill>
                  <a:schemeClr val="bg1"/>
                </a:solidFill>
                <a:latin typeface="+mn-lt"/>
                <a:ea typeface="游ゴシック" panose="020B0400000000000000" pitchFamily="50"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A95D4CEA-C7AF-3E45-88DE-3B5B661289A3}" type="slidenum">
              <a:rPr lang="ja-JP" altLang="en-US" sz="1600" smtClean="0">
                <a:solidFill>
                  <a:schemeClr val="tx1"/>
                </a:solidFill>
                <a:latin typeface="Arial" panose="020B0604020202020204" pitchFamily="34" charset="0"/>
                <a:cs typeface="Arial" panose="020B0604020202020204" pitchFamily="34" charset="0"/>
              </a:rPr>
              <a:pPr algn="r"/>
              <a:t>‹#›</a:t>
            </a:fld>
            <a:r>
              <a:rPr lang="ja-JP" altLang="en-US" sz="1600">
                <a:solidFill>
                  <a:schemeClr val="tx1"/>
                </a:solidFill>
                <a:latin typeface="Arial" panose="020B0604020202020204" pitchFamily="34" charset="0"/>
                <a:cs typeface="Arial" panose="020B0604020202020204" pitchFamily="34" charset="0"/>
              </a:rPr>
              <a:t> </a:t>
            </a:r>
            <a:r>
              <a:rPr lang="en-US" altLang="ja-JP" sz="1600">
                <a:solidFill>
                  <a:schemeClr val="tx1"/>
                </a:solidFill>
                <a:latin typeface="Arial" panose="020B0604020202020204" pitchFamily="34" charset="0"/>
                <a:cs typeface="Arial" panose="020B0604020202020204" pitchFamily="34" charset="0"/>
              </a:rPr>
              <a:t>/12</a:t>
            </a:r>
            <a:endParaRPr lang="ja-JP" altLang="en-US" sz="1600">
              <a:solidFill>
                <a:schemeClr val="tx1"/>
              </a:solidFill>
              <a:latin typeface="Arial" panose="020B0604020202020204" pitchFamily="34" charset="0"/>
              <a:cs typeface="Arial" panose="020B0604020202020204" pitchFamily="34" charset="0"/>
            </a:endParaRPr>
          </a:p>
        </p:txBody>
      </p:sp>
      <p:sp>
        <p:nvSpPr>
          <p:cNvPr id="4" name="テキスト ボックス 3">
            <a:extLst>
              <a:ext uri="{FF2B5EF4-FFF2-40B4-BE49-F238E27FC236}">
                <a16:creationId xmlns:a16="http://schemas.microsoft.com/office/drawing/2014/main" id="{B7317FCB-8FAE-5A31-5F43-92496168B617}"/>
              </a:ext>
            </a:extLst>
          </p:cNvPr>
          <p:cNvSpPr txBox="1"/>
          <p:nvPr userDrawn="1"/>
        </p:nvSpPr>
        <p:spPr>
          <a:xfrm>
            <a:off x="0" y="6487317"/>
            <a:ext cx="12192000" cy="338554"/>
          </a:xfrm>
          <a:prstGeom prst="rect">
            <a:avLst/>
          </a:prstGeom>
          <a:noFill/>
        </p:spPr>
        <p:txBody>
          <a:bodyPr wrap="square" rtlCol="0">
            <a:spAutoFit/>
          </a:bodyPr>
          <a:lstStyle/>
          <a:p>
            <a:pPr algn="ctr"/>
            <a:r>
              <a:rPr kumimoji="1" lang="ja-JP" altLang="en-US" sz="1600">
                <a:latin typeface="+mn-lt"/>
                <a:ea typeface="+mn-ea"/>
              </a:rPr>
              <a:t>第</a:t>
            </a:r>
            <a:r>
              <a:rPr kumimoji="1" lang="en-US" altLang="ja-JP" sz="1600">
                <a:latin typeface="+mn-lt"/>
                <a:ea typeface="+mn-ea"/>
              </a:rPr>
              <a:t>1</a:t>
            </a:r>
            <a:r>
              <a:rPr kumimoji="1" lang="ja-JP" altLang="en-US" sz="1600">
                <a:latin typeface="+mn-lt"/>
                <a:ea typeface="+mn-ea"/>
              </a:rPr>
              <a:t>会場　</a:t>
            </a:r>
            <a:r>
              <a:rPr kumimoji="1" lang="en-US" altLang="zh-TW" sz="1600">
                <a:latin typeface="+mn-lt"/>
                <a:ea typeface="+mn-ea"/>
              </a:rPr>
              <a:t>1-2</a:t>
            </a:r>
            <a:r>
              <a:rPr kumimoji="1" lang="ja-JP" altLang="en-US" sz="1600">
                <a:latin typeface="+mn-lt"/>
                <a:ea typeface="+mn-ea"/>
              </a:rPr>
              <a:t>　</a:t>
            </a:r>
            <a:r>
              <a:rPr kumimoji="1" lang="zh-TW" altLang="en-US" sz="1600">
                <a:latin typeface="+mn-lt"/>
                <a:ea typeface="+mn-ea"/>
              </a:rPr>
              <a:t>配電系統</a:t>
            </a:r>
            <a:r>
              <a:rPr kumimoji="1" lang="en-US" altLang="zh-TW" sz="1600">
                <a:latin typeface="+mn-lt"/>
                <a:ea typeface="+mn-ea"/>
              </a:rPr>
              <a:t>Ⅱ</a:t>
            </a:r>
            <a:r>
              <a:rPr kumimoji="1" lang="zh-TW" altLang="en-US" sz="1600">
                <a:latin typeface="+mn-lt"/>
                <a:ea typeface="+mn-ea"/>
              </a:rPr>
              <a:t>（電圧制御）</a:t>
            </a:r>
            <a:r>
              <a:rPr kumimoji="1" lang="ja-JP" altLang="en-US" sz="1600">
                <a:latin typeface="+mn-lt"/>
                <a:ea typeface="+mn-ea"/>
              </a:rPr>
              <a:t>　講演番号</a:t>
            </a:r>
            <a:r>
              <a:rPr kumimoji="1" lang="en-US" altLang="ja-JP" sz="1600">
                <a:latin typeface="+mn-lt"/>
                <a:ea typeface="+mn-ea"/>
              </a:rPr>
              <a:t>: 109 </a:t>
            </a:r>
            <a:r>
              <a:rPr kumimoji="1" lang="ja-JP" altLang="en-US" sz="1600">
                <a:latin typeface="+mn-lt"/>
                <a:ea typeface="+mn-ea"/>
              </a:rPr>
              <a:t>刘承洋（東京都市大学）</a:t>
            </a:r>
          </a:p>
        </p:txBody>
      </p:sp>
    </p:spTree>
    <p:extLst>
      <p:ext uri="{BB962C8B-B14F-4D97-AF65-F5344CB8AC3E}">
        <p14:creationId xmlns:p14="http://schemas.microsoft.com/office/powerpoint/2010/main" val="2754667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4"/>
          </p:nvPr>
        </p:nvSpPr>
        <p:spPr>
          <a:xfrm>
            <a:off x="10281745" y="1575594"/>
            <a:ext cx="2743200" cy="365125"/>
          </a:xfrm>
          <a:prstGeom prst="rect">
            <a:avLst/>
          </a:prstGeom>
        </p:spPr>
        <p:txBody>
          <a:bodyPr vert="horz" lIns="91440" tIns="45720" rIns="91440" bIns="45720" rtlCol="0" anchor="ctr"/>
          <a:lstStyle>
            <a:lvl1pPr algn="r">
              <a:defRPr sz="1600">
                <a:solidFill>
                  <a:schemeClr val="tx1">
                    <a:tint val="75000"/>
                  </a:schemeClr>
                </a:solidFill>
                <a:latin typeface="+mn-lt"/>
              </a:defRPr>
            </a:lvl1pPr>
          </a:lstStyle>
          <a:p>
            <a:fld id="{A95D4CEA-C7AF-3E45-88DE-3B5B661289A3}" type="slidenum">
              <a:rPr kumimoji="1" lang="ja-JP" altLang="en-US" smtClean="0"/>
              <a:pPr/>
              <a:t>‹#›</a:t>
            </a:fld>
            <a:endParaRPr kumimoji="1" lang="ja-JP" altLang="en-US"/>
          </a:p>
        </p:txBody>
      </p:sp>
      <p:sp>
        <p:nvSpPr>
          <p:cNvPr id="16" name="Slide Number Placeholder 4">
            <a:extLst>
              <a:ext uri="{FF2B5EF4-FFF2-40B4-BE49-F238E27FC236}">
                <a16:creationId xmlns:a16="http://schemas.microsoft.com/office/drawing/2014/main" id="{EA5925C9-9D09-4AD6-B2E4-F6219AA6601F}"/>
              </a:ext>
            </a:extLst>
          </p:cNvPr>
          <p:cNvSpPr txBox="1">
            <a:spLocks/>
          </p:cNvSpPr>
          <p:nvPr userDrawn="1"/>
        </p:nvSpPr>
        <p:spPr>
          <a:xfrm>
            <a:off x="10033734" y="6487317"/>
            <a:ext cx="1928883" cy="365125"/>
          </a:xfrm>
          <a:prstGeom prst="rect">
            <a:avLst/>
          </a:prstGeom>
        </p:spPr>
        <p:txBody>
          <a:bodyPr/>
          <a:lstStyle>
            <a:defPPr>
              <a:defRPr lang="en-US"/>
            </a:defPPr>
            <a:lvl1pPr marL="0" algn="l" defTabSz="457200" rtl="0" eaLnBrk="1" latinLnBrk="0" hangingPunct="1">
              <a:defRPr sz="1800" kern="1200">
                <a:solidFill>
                  <a:schemeClr val="bg1"/>
                </a:solidFill>
                <a:latin typeface="+mn-lt"/>
                <a:ea typeface="游ゴシック" panose="020B0400000000000000" pitchFamily="50"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A95D4CEA-C7AF-3E45-88DE-3B5B661289A3}" type="slidenum">
              <a:rPr lang="ja-JP" altLang="en-US" sz="1600" smtClean="0">
                <a:solidFill>
                  <a:schemeClr val="tx1"/>
                </a:solidFill>
                <a:latin typeface="Arial" panose="020B0604020202020204" pitchFamily="34" charset="0"/>
                <a:cs typeface="Arial" panose="020B0604020202020204" pitchFamily="34" charset="0"/>
              </a:rPr>
              <a:pPr algn="r"/>
              <a:t>‹#›</a:t>
            </a:fld>
            <a:r>
              <a:rPr lang="ja-JP" altLang="en-US" sz="1600">
                <a:solidFill>
                  <a:schemeClr val="tx1"/>
                </a:solidFill>
                <a:latin typeface="Arial" panose="020B0604020202020204" pitchFamily="34" charset="0"/>
                <a:cs typeface="Arial" panose="020B0604020202020204" pitchFamily="34" charset="0"/>
              </a:rPr>
              <a:t> </a:t>
            </a:r>
            <a:r>
              <a:rPr lang="en-US" altLang="ja-JP" sz="1600">
                <a:solidFill>
                  <a:schemeClr val="tx1"/>
                </a:solidFill>
                <a:latin typeface="Arial" panose="020B0604020202020204" pitchFamily="34" charset="0"/>
                <a:cs typeface="Arial" panose="020B0604020202020204" pitchFamily="34" charset="0"/>
              </a:rPr>
              <a:t>/10</a:t>
            </a:r>
            <a:endParaRPr lang="ja-JP" altLang="en-US" sz="16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43287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0.xml"/><Relationship Id="rId1" Type="http://schemas.openxmlformats.org/officeDocument/2006/relationships/tags" Target="../tags/tag2.xml"/><Relationship Id="rId5" Type="http://schemas.openxmlformats.org/officeDocument/2006/relationships/image" Target="../media/image5.emf"/><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C6FD182-1CED-1EEC-7A6D-7427BD2208F8}"/>
              </a:ext>
            </a:extLst>
          </p:cNvPr>
          <p:cNvSpPr/>
          <p:nvPr/>
        </p:nvSpPr>
        <p:spPr>
          <a:xfrm>
            <a:off x="359400" y="1862711"/>
            <a:ext cx="11473200" cy="1311917"/>
          </a:xfrm>
          <a:prstGeom prst="rect">
            <a:avLst/>
          </a:prstGeom>
          <a:solidFill>
            <a:srgbClr val="1E2B6D"/>
          </a:solidFill>
          <a:ln>
            <a:noFill/>
          </a:ln>
        </p:spPr>
        <p:style>
          <a:lnRef idx="2">
            <a:schemeClr val="accent1">
              <a:shade val="15000"/>
            </a:schemeClr>
          </a:lnRef>
          <a:fillRef idx="1">
            <a:schemeClr val="accent1"/>
          </a:fillRef>
          <a:effectRef idx="0">
            <a:schemeClr val="accent1"/>
          </a:effectRef>
          <a:fontRef idx="minor">
            <a:schemeClr val="lt1"/>
          </a:fontRef>
        </p:style>
        <p:txBody>
          <a:bodyPr tIns="72000" bIns="0" rtlCol="0" anchor="ctr"/>
          <a:lstStyle/>
          <a:p>
            <a:pPr marL="0" marR="0" lvl="0" indent="0" algn="ctr" defTabSz="457200" rtl="0" eaLnBrk="1" fontAlgn="auto" latinLnBrk="0" hangingPunct="1">
              <a:lnSpc>
                <a:spcPct val="13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27" name="テキスト ボックス 26">
            <a:extLst>
              <a:ext uri="{FF2B5EF4-FFF2-40B4-BE49-F238E27FC236}">
                <a16:creationId xmlns:a16="http://schemas.microsoft.com/office/drawing/2014/main" id="{7C1E2534-8D88-8E44-92F5-0C9A7898299E}"/>
              </a:ext>
            </a:extLst>
          </p:cNvPr>
          <p:cNvSpPr txBox="1"/>
          <p:nvPr/>
        </p:nvSpPr>
        <p:spPr>
          <a:xfrm>
            <a:off x="359400" y="1831308"/>
            <a:ext cx="11473199" cy="1311917"/>
          </a:xfrm>
          <a:prstGeom prst="rect">
            <a:avLst/>
          </a:prstGeom>
          <a:noFill/>
        </p:spPr>
        <p:txBody>
          <a:bodyPr wrap="square" tIns="144000" bIns="72000" rtlCol="0" anchor="ctr" anchorCtr="0">
            <a:no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ja-JP" altLang="ja-JP" sz="3200" b="0" i="0" u="none" strike="noStrike" kern="1200" cap="none" spc="0" normalizeH="0" baseline="0" noProof="0">
                <a:ln>
                  <a:noFill/>
                </a:ln>
                <a:solidFill>
                  <a:prstClr val="white"/>
                </a:solidFill>
                <a:effectLst/>
                <a:uLnTx/>
                <a:uFillTx/>
                <a:latin typeface="メイリオ"/>
                <a:ea typeface="メイリオ"/>
                <a:cs typeface="Times New Roman" panose="02020603050405020304" pitchFamily="18" charset="0"/>
              </a:rPr>
              <a:t>負荷変動量と短絡容量比を考慮した</a:t>
            </a:r>
            <a:endParaRPr kumimoji="0" lang="en-US" altLang="ja-JP" sz="3200" b="0" i="0" u="none" strike="noStrike" kern="1200" cap="none" spc="0" normalizeH="0" baseline="0" noProof="0">
              <a:ln>
                <a:noFill/>
              </a:ln>
              <a:solidFill>
                <a:prstClr val="white"/>
              </a:solidFill>
              <a:effectLst/>
              <a:uLnTx/>
              <a:uFillTx/>
              <a:latin typeface="メイリオ"/>
              <a:ea typeface="メイリオ"/>
              <a:cs typeface="Times New Roman" panose="02020603050405020304" pitchFamily="18" charset="0"/>
            </a:endParaRPr>
          </a:p>
          <a:p>
            <a:pPr marL="0" marR="0" lvl="0" indent="0" algn="ctr" defTabSz="457200" rtl="0" eaLnBrk="1" fontAlgn="auto" latinLnBrk="0" hangingPunct="1">
              <a:lnSpc>
                <a:spcPct val="110000"/>
              </a:lnSpc>
              <a:spcBef>
                <a:spcPts val="0"/>
              </a:spcBef>
              <a:spcAft>
                <a:spcPts val="0"/>
              </a:spcAft>
              <a:buClrTx/>
              <a:buSzTx/>
              <a:buFontTx/>
              <a:buNone/>
              <a:tabLst/>
              <a:defRPr/>
            </a:pPr>
            <a:r>
              <a:rPr kumimoji="0" lang="ja-JP" altLang="ja-JP" sz="3200" b="0" i="0" u="none" strike="noStrike" kern="1200" cap="none" spc="0" normalizeH="0" baseline="0" noProof="0">
                <a:ln>
                  <a:noFill/>
                </a:ln>
                <a:solidFill>
                  <a:prstClr val="white"/>
                </a:solidFill>
                <a:effectLst/>
                <a:uLnTx/>
                <a:uFillTx/>
                <a:latin typeface="メイリオ"/>
                <a:ea typeface="メイリオ"/>
                <a:cs typeface="Times New Roman" panose="02020603050405020304" pitchFamily="18" charset="0"/>
              </a:rPr>
              <a:t>系統連系</a:t>
            </a:r>
            <a:r>
              <a:rPr kumimoji="0" lang="ja-JP" altLang="ja-JP" sz="3200" b="0" i="0" u="none" strike="noStrike" kern="100" cap="none" spc="0" normalizeH="0" baseline="0" noProof="0">
                <a:ln>
                  <a:noFill/>
                </a:ln>
                <a:solidFill>
                  <a:prstClr val="white"/>
                </a:solidFill>
                <a:effectLst/>
                <a:uLnTx/>
                <a:uFillTx/>
                <a:latin typeface="メイリオ"/>
                <a:ea typeface="メイリオ"/>
                <a:cs typeface="Times New Roman" panose="02020603050405020304" pitchFamily="18" charset="0"/>
              </a:rPr>
              <a:t>インバータの動作許容範囲の基礎検討</a:t>
            </a:r>
            <a:endParaRPr kumimoji="1" lang="en-US" altLang="ja-JP" sz="6600" b="0" i="0" u="none" strike="sngStrike" kern="1200" cap="none" spc="0" normalizeH="0" baseline="0" noProof="0">
              <a:ln>
                <a:noFill/>
              </a:ln>
              <a:solidFill>
                <a:prstClr val="white"/>
              </a:solidFill>
              <a:effectLst/>
              <a:uLnTx/>
              <a:uFillTx/>
              <a:latin typeface="メイリオ"/>
              <a:ea typeface="メイリオ"/>
              <a:cs typeface="Arial" panose="020B0604020202020204" pitchFamily="34" charset="0"/>
            </a:endParaRPr>
          </a:p>
        </p:txBody>
      </p:sp>
      <p:sp>
        <p:nvSpPr>
          <p:cNvPr id="23" name="テキスト ボックス 22">
            <a:extLst>
              <a:ext uri="{FF2B5EF4-FFF2-40B4-BE49-F238E27FC236}">
                <a16:creationId xmlns:a16="http://schemas.microsoft.com/office/drawing/2014/main" id="{042772BA-B6DC-80DD-FA4E-E5413B53892A}"/>
              </a:ext>
            </a:extLst>
          </p:cNvPr>
          <p:cNvSpPr txBox="1"/>
          <p:nvPr/>
        </p:nvSpPr>
        <p:spPr>
          <a:xfrm>
            <a:off x="2763891" y="3773766"/>
            <a:ext cx="6344013" cy="1485398"/>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30000"/>
              </a:lnSpc>
              <a:spcBef>
                <a:spcPts val="0"/>
              </a:spcBef>
              <a:spcAft>
                <a:spcPts val="0"/>
              </a:spcAft>
              <a:buClrTx/>
              <a:buSzTx/>
              <a:buFontTx/>
              <a:buNone/>
              <a:tabLst/>
              <a:defRPr/>
            </a:pPr>
            <a:r>
              <a:rPr kumimoji="1" lang="en-US" altLang="ja-JP" sz="2400" b="1" i="0" u="none" strike="noStrike" kern="1200" cap="none" spc="0" normalizeH="0" baseline="0" noProof="0">
                <a:ln>
                  <a:noFill/>
                </a:ln>
                <a:solidFill>
                  <a:prstClr val="black"/>
                </a:solidFill>
                <a:effectLst/>
                <a:uLnTx/>
                <a:uFillTx/>
                <a:latin typeface="Arial"/>
                <a:ea typeface="メイリオ"/>
                <a:cs typeface="+mn-cs"/>
              </a:rPr>
              <a:t>2025</a:t>
            </a:r>
            <a:r>
              <a:rPr kumimoji="1" lang="ja-JP" altLang="en-US" sz="2400" b="1" i="0" u="none" strike="noStrike" kern="1200" cap="none" spc="0" normalizeH="0" baseline="0" noProof="0">
                <a:ln>
                  <a:noFill/>
                </a:ln>
                <a:solidFill>
                  <a:prstClr val="black"/>
                </a:solidFill>
                <a:effectLst/>
                <a:uLnTx/>
                <a:uFillTx/>
                <a:latin typeface="Arial"/>
                <a:ea typeface="メイリオ"/>
                <a:cs typeface="+mn-cs"/>
              </a:rPr>
              <a:t>年</a:t>
            </a:r>
            <a:r>
              <a:rPr lang="en-US" altLang="ja-JP" sz="2400" b="1">
                <a:solidFill>
                  <a:prstClr val="black"/>
                </a:solidFill>
                <a:latin typeface="Arial"/>
                <a:ea typeface="メイリオ"/>
              </a:rPr>
              <a:t>9</a:t>
            </a:r>
            <a:r>
              <a:rPr kumimoji="1" lang="ja-JP" altLang="en-US" sz="2400" b="1" i="0" u="none" strike="noStrike" kern="1200" cap="none" spc="0" normalizeH="0" baseline="0" noProof="0">
                <a:ln>
                  <a:noFill/>
                </a:ln>
                <a:solidFill>
                  <a:prstClr val="black"/>
                </a:solidFill>
                <a:effectLst/>
                <a:uLnTx/>
                <a:uFillTx/>
                <a:latin typeface="Arial"/>
                <a:ea typeface="メイリオ"/>
                <a:cs typeface="+mn-cs"/>
              </a:rPr>
              <a:t>月</a:t>
            </a:r>
            <a:r>
              <a:rPr kumimoji="1" lang="en-US" altLang="ja-JP" sz="2400" b="1" i="0" u="none" strike="noStrike" kern="1200" cap="none" spc="0" normalizeH="0" baseline="0" noProof="0">
                <a:ln>
                  <a:noFill/>
                </a:ln>
                <a:solidFill>
                  <a:prstClr val="black"/>
                </a:solidFill>
                <a:effectLst/>
                <a:uLnTx/>
                <a:uFillTx/>
                <a:latin typeface="Arial"/>
                <a:ea typeface="メイリオ"/>
                <a:cs typeface="+mn-cs"/>
              </a:rPr>
              <a:t>17</a:t>
            </a:r>
            <a:r>
              <a:rPr kumimoji="1" lang="ja-JP" altLang="en-US" sz="2400" b="1" i="0" u="none" strike="noStrike" kern="1200" cap="none" spc="0" normalizeH="0" baseline="0" noProof="0">
                <a:ln>
                  <a:noFill/>
                </a:ln>
                <a:solidFill>
                  <a:prstClr val="black"/>
                </a:solidFill>
                <a:effectLst/>
                <a:uLnTx/>
                <a:uFillTx/>
                <a:latin typeface="Arial"/>
                <a:ea typeface="メイリオ"/>
                <a:cs typeface="+mn-cs"/>
              </a:rPr>
              <a:t>日</a:t>
            </a:r>
            <a:endParaRPr kumimoji="1" lang="en-US" altLang="ja-JP" sz="2400" b="1" i="0" u="none" kern="1200" cap="none" spc="0" normalizeH="0" baseline="0" noProof="0">
              <a:ln>
                <a:noFill/>
              </a:ln>
              <a:solidFill>
                <a:prstClr val="black"/>
              </a:solidFill>
              <a:effectLst/>
              <a:uLnTx/>
              <a:uFillTx/>
              <a:latin typeface="Arial"/>
              <a:ea typeface="メイリオ"/>
              <a:cs typeface="+mn-cs"/>
            </a:endParaRPr>
          </a:p>
          <a:p>
            <a:pPr lvl="0" algn="ctr" defTabSz="457200">
              <a:lnSpc>
                <a:spcPct val="130000"/>
              </a:lnSpc>
              <a:defRPr/>
            </a:pPr>
            <a:r>
              <a:rPr lang="ja-JP" altLang="en-US" sz="2400" b="1">
                <a:solidFill>
                  <a:prstClr val="black"/>
                </a:solidFill>
                <a:latin typeface="Arial"/>
                <a:ea typeface="メイリオ"/>
              </a:rPr>
              <a:t>◇◎</a:t>
            </a:r>
            <a:r>
              <a:rPr kumimoji="1" lang="ja-JP" altLang="en-US" sz="2400" b="1" i="0" u="none" strike="noStrike" kern="1200" cap="none" spc="0" normalizeH="0" baseline="0" noProof="0">
                <a:ln>
                  <a:noFill/>
                </a:ln>
                <a:solidFill>
                  <a:prstClr val="black"/>
                </a:solidFill>
                <a:effectLst/>
                <a:uLnTx/>
                <a:uFillTx/>
                <a:latin typeface="Arial"/>
                <a:ea typeface="メイリオ"/>
                <a:cs typeface="+mn-cs"/>
              </a:rPr>
              <a:t>刘　承洋</a:t>
            </a:r>
            <a:r>
              <a:rPr lang="ja-JP" altLang="en-US" sz="2400" b="1">
                <a:solidFill>
                  <a:prstClr val="black"/>
                </a:solidFill>
                <a:latin typeface="Arial"/>
                <a:ea typeface="メイリオ"/>
              </a:rPr>
              <a:t>　</a:t>
            </a:r>
            <a:r>
              <a:rPr lang="ja-JP" altLang="en-US" sz="2400" b="1">
                <a:solidFill>
                  <a:prstClr val="black"/>
                </a:solidFill>
              </a:rPr>
              <a:t>中島　達人</a:t>
            </a:r>
            <a:endParaRPr kumimoji="1" lang="en-US" altLang="ja-JP" sz="24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ctr" defTabSz="457200" rtl="0" eaLnBrk="1" fontAlgn="auto" latinLnBrk="0" hangingPunct="1">
              <a:lnSpc>
                <a:spcPct val="13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prstClr val="black"/>
                </a:solidFill>
                <a:effectLst/>
                <a:uLnTx/>
                <a:uFillTx/>
                <a:latin typeface="Arial"/>
                <a:ea typeface="メイリオ"/>
                <a:cs typeface="+mn-cs"/>
              </a:rPr>
              <a:t>東京都市大学　電気電子通信工学科</a:t>
            </a:r>
          </a:p>
        </p:txBody>
      </p:sp>
      <p:pic>
        <p:nvPicPr>
          <p:cNvPr id="7" name="図 6">
            <a:extLst>
              <a:ext uri="{FF2B5EF4-FFF2-40B4-BE49-F238E27FC236}">
                <a16:creationId xmlns:a16="http://schemas.microsoft.com/office/drawing/2014/main" id="{8926E427-37B8-6F36-6FFF-5973A6219B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spTree>
    <p:custDataLst>
      <p:tags r:id="rId1"/>
    </p:custDataLst>
    <p:extLst>
      <p:ext uri="{BB962C8B-B14F-4D97-AF65-F5344CB8AC3E}">
        <p14:creationId xmlns:p14="http://schemas.microsoft.com/office/powerpoint/2010/main" val="2280105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B59C9-88BF-965F-02EE-A8F67337FFD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5472281-2557-9752-64B4-6F7FADAAA9A5}"/>
              </a:ext>
            </a:extLst>
          </p:cNvPr>
          <p:cNvSpPr txBox="1"/>
          <p:nvPr/>
        </p:nvSpPr>
        <p:spPr>
          <a:xfrm>
            <a:off x="260038" y="686162"/>
            <a:ext cx="11668610" cy="442035"/>
          </a:xfrm>
          <a:prstGeom prst="rect">
            <a:avLst/>
          </a:prstGeom>
          <a:noFill/>
        </p:spPr>
        <p:txBody>
          <a:bodyPr wrap="square" tIns="72000" bIns="0" rtlCol="0" anchor="ctr" anchorCtr="0">
            <a:spAutoFit/>
          </a:bodyPr>
          <a:lstStyle/>
          <a:p>
            <a:pPr marL="361950" marR="0" lvl="0" indent="-361950" algn="l" defTabSz="457200" rtl="0" eaLnBrk="1" fontAlgn="auto" latinLnBrk="0" hangingPunct="1">
              <a:lnSpc>
                <a:spcPct val="100000"/>
              </a:lnSpc>
              <a:spcBef>
                <a:spcPts val="0"/>
              </a:spcBef>
              <a:spcAft>
                <a:spcPts val="0"/>
              </a:spcAft>
              <a:buClr>
                <a:srgbClr val="0070C0"/>
              </a:buClr>
              <a:buSzTx/>
              <a:buFont typeface="メイリオ" panose="020B0604030504040204" pitchFamily="50" charset="-128"/>
              <a:buChar char="▶"/>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社会背景</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sp>
        <p:nvSpPr>
          <p:cNvPr id="7" name="テキスト ボックス 6">
            <a:extLst>
              <a:ext uri="{FF2B5EF4-FFF2-40B4-BE49-F238E27FC236}">
                <a16:creationId xmlns:a16="http://schemas.microsoft.com/office/drawing/2014/main" id="{D6921586-C69B-7505-71AD-0ADEB4A938D0}"/>
              </a:ext>
            </a:extLst>
          </p:cNvPr>
          <p:cNvSpPr txBox="1"/>
          <p:nvPr/>
        </p:nvSpPr>
        <p:spPr>
          <a:xfrm>
            <a:off x="260038" y="1136823"/>
            <a:ext cx="11658458" cy="996033"/>
          </a:xfrm>
          <a:prstGeom prst="rect">
            <a:avLst/>
          </a:prstGeom>
          <a:noFill/>
        </p:spPr>
        <p:txBody>
          <a:bodyPr wrap="square" tIns="72000" bIns="0" rtlCol="0" anchor="ctr" anchorCtr="0">
            <a:spAutoFit/>
          </a:bodyPr>
          <a:lstStyle/>
          <a:p>
            <a:pPr marL="712788" marR="0" lvl="0" indent="-350838" algn="l" defTabSz="457200" rtl="0" eaLnBrk="1" fontAlgn="auto" latinLnBrk="0" hangingPunct="1">
              <a:lnSpc>
                <a:spcPct val="150000"/>
              </a:lnSpc>
              <a:spcBef>
                <a:spcPts val="0"/>
              </a:spcBef>
              <a:spcAft>
                <a:spcPts val="0"/>
              </a:spcAft>
              <a:buClr>
                <a:srgbClr val="0070C0"/>
              </a:buClr>
              <a:buSzTx/>
              <a:buFont typeface="Wingdings" panose="05000000000000000000" pitchFamily="2" charset="2"/>
              <a:buChar char="l"/>
              <a:tabLst/>
              <a:defRPr/>
            </a:pP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政府によるカーボンニュートラル</a:t>
            </a:r>
            <a:r>
              <a:rPr kumimoji="1" lang="en-US" altLang="ja-JP" sz="2000" b="1" i="0" u="none" strike="noStrike" kern="1200" cap="none" spc="0" normalizeH="0" baseline="0" noProof="0">
                <a:ln>
                  <a:noFill/>
                </a:ln>
                <a:solidFill>
                  <a:prstClr val="black"/>
                </a:solidFill>
                <a:effectLst/>
                <a:uLnTx/>
                <a:uFillTx/>
                <a:latin typeface="Arial"/>
                <a:ea typeface="メイリオ"/>
                <a:cs typeface="+mn-cs"/>
              </a:rPr>
              <a:t>2050</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宣言</a:t>
            </a: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a:p>
            <a:pPr marL="712788" marR="0" lvl="0" indent="-350838" algn="l" defTabSz="457200" rtl="0" eaLnBrk="1" fontAlgn="auto" latinLnBrk="0" hangingPunct="1">
              <a:lnSpc>
                <a:spcPct val="150000"/>
              </a:lnSpc>
              <a:spcBef>
                <a:spcPts val="0"/>
              </a:spcBef>
              <a:spcAft>
                <a:spcPts val="0"/>
              </a:spcAft>
              <a:buClr>
                <a:srgbClr val="0070C0"/>
              </a:buClr>
              <a:buSzTx/>
              <a:buFont typeface="Wingdings" panose="05000000000000000000" pitchFamily="2" charset="2"/>
              <a:buChar char="l"/>
              <a:tabLst>
                <a:tab pos="712788" algn="l"/>
              </a:tabLst>
              <a:defRPr/>
            </a:pP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温室効果ガスの排出量実質ゼロを目指す </a:t>
            </a:r>
            <a:r>
              <a:rPr kumimoji="1" lang="en-US" altLang="ja-JP" sz="2000" b="1" i="1" u="none" strike="noStrike" kern="1200" cap="none" spc="0" normalizeH="0" baseline="0" noProof="0">
                <a:ln>
                  <a:noFill/>
                </a:ln>
                <a:solidFill>
                  <a:srgbClr val="0070C0"/>
                </a:solidFill>
                <a:effectLst/>
                <a:uLnTx/>
                <a:uFillTx/>
                <a:latin typeface="Arial"/>
                <a:ea typeface="メイリオ"/>
                <a:cs typeface="メイリオ"/>
              </a:rPr>
              <a:t>➡ </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主力電源を再生可能エネルギー</a:t>
            </a:r>
            <a:r>
              <a:rPr kumimoji="1" lang="en-US" altLang="ja-JP" sz="2000" b="1" i="0" u="none" strike="noStrike" kern="1200" cap="none" spc="0" normalizeH="0" baseline="0" noProof="0">
                <a:ln>
                  <a:noFill/>
                </a:ln>
                <a:solidFill>
                  <a:prstClr val="black"/>
                </a:solidFill>
                <a:effectLst/>
                <a:uLnTx/>
                <a:uFillTx/>
                <a:latin typeface="Arial"/>
                <a:ea typeface="メイリオ"/>
                <a:cs typeface="+mn-cs"/>
              </a:rPr>
              <a:t>(</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再エネ）に転換</a:t>
            </a:r>
            <a:endParaRPr kumimoji="1" lang="en-US" altLang="ja-JP" sz="2000" b="1" i="0" u="none" strike="noStrike" kern="1200" cap="none" spc="0" normalizeH="0" baseline="0" noProof="0">
              <a:ln>
                <a:noFill/>
              </a:ln>
              <a:solidFill>
                <a:prstClr val="black"/>
              </a:solidFill>
              <a:effectLst/>
              <a:highlight>
                <a:srgbClr val="FFFF00"/>
              </a:highlight>
              <a:uLnTx/>
              <a:uFillTx/>
              <a:latin typeface="Arial"/>
              <a:ea typeface="メイリオ"/>
              <a:cs typeface="+mn-cs"/>
            </a:endParaRPr>
          </a:p>
        </p:txBody>
      </p:sp>
      <p:pic>
        <p:nvPicPr>
          <p:cNvPr id="26" name="図 25">
            <a:extLst>
              <a:ext uri="{FF2B5EF4-FFF2-40B4-BE49-F238E27FC236}">
                <a16:creationId xmlns:a16="http://schemas.microsoft.com/office/drawing/2014/main" id="{321B493D-FF03-5D0E-D03A-B0A74C933F73}"/>
              </a:ext>
            </a:extLst>
          </p:cNvPr>
          <p:cNvPicPr>
            <a:picLocks noChangeAspect="1"/>
          </p:cNvPicPr>
          <p:nvPr/>
        </p:nvPicPr>
        <p:blipFill>
          <a:blip r:embed="rId3"/>
          <a:stretch>
            <a:fillRect/>
          </a:stretch>
        </p:blipFill>
        <p:spPr>
          <a:xfrm>
            <a:off x="8591202" y="3542124"/>
            <a:ext cx="3162980" cy="2594518"/>
          </a:xfrm>
          <a:prstGeom prst="rect">
            <a:avLst/>
          </a:prstGeom>
        </p:spPr>
      </p:pic>
      <p:sp>
        <p:nvSpPr>
          <p:cNvPr id="28" name="テキスト ボックス 27">
            <a:extLst>
              <a:ext uri="{FF2B5EF4-FFF2-40B4-BE49-F238E27FC236}">
                <a16:creationId xmlns:a16="http://schemas.microsoft.com/office/drawing/2014/main" id="{30858262-D9D7-3D8C-F308-C4631C4D8F55}"/>
              </a:ext>
            </a:extLst>
          </p:cNvPr>
          <p:cNvSpPr txBox="1"/>
          <p:nvPr/>
        </p:nvSpPr>
        <p:spPr>
          <a:xfrm>
            <a:off x="260038" y="3051422"/>
            <a:ext cx="11668610" cy="1457698"/>
          </a:xfrm>
          <a:prstGeom prst="rect">
            <a:avLst/>
          </a:prstGeom>
          <a:noFill/>
        </p:spPr>
        <p:txBody>
          <a:bodyPr wrap="square" tIns="72000" bIns="0" rtlCol="0">
            <a:spAutoFit/>
          </a:bodyPr>
          <a:lstStyle/>
          <a:p>
            <a:pPr marL="712788" marR="0" lvl="0" indent="-350838" algn="l" defTabSz="457200" rtl="0" eaLnBrk="1" fontAlgn="auto" latinLnBrk="0" hangingPunct="1">
              <a:lnSpc>
                <a:spcPct val="150000"/>
              </a:lnSpc>
              <a:spcBef>
                <a:spcPts val="0"/>
              </a:spcBef>
              <a:spcAft>
                <a:spcPts val="0"/>
              </a:spcAft>
              <a:buClr>
                <a:srgbClr val="0070C0"/>
              </a:buClr>
              <a:buSzTx/>
              <a:buFont typeface="Wingdings" panose="05000000000000000000" pitchFamily="2" charset="2"/>
              <a:buChar char="l"/>
              <a:tabLst/>
              <a:defRPr/>
            </a:pPr>
            <a:r>
              <a:rPr kumimoji="1" lang="ja-JP" altLang="en-US" sz="2000" b="1" i="1" u="none" strike="noStrike" kern="1200" cap="none" spc="0" normalizeH="0" baseline="0" noProof="0">
                <a:ln>
                  <a:noFill/>
                </a:ln>
                <a:solidFill>
                  <a:prstClr val="black"/>
                </a:solidFill>
                <a:effectLst/>
                <a:uLnTx/>
                <a:uFillTx/>
                <a:latin typeface="Arial"/>
                <a:ea typeface="メイリオ"/>
                <a:cs typeface="+mn-cs"/>
              </a:rPr>
              <a:t>再生可能エネルギー等のインバータ電源は，火力発電とは異なり慣性力を持たない</a:t>
            </a:r>
            <a:endParaRPr kumimoji="1" lang="en-US" altLang="ja-JP" sz="2000" b="1" i="1" u="none" strike="noStrike" kern="1200" cap="none" spc="0" normalizeH="0" baseline="0" noProof="0">
              <a:ln>
                <a:noFill/>
              </a:ln>
              <a:solidFill>
                <a:prstClr val="black"/>
              </a:solidFill>
              <a:effectLst/>
              <a:uLnTx/>
              <a:uFillTx/>
              <a:latin typeface="Arial"/>
              <a:ea typeface="メイリオ"/>
              <a:cs typeface="+mn-cs"/>
            </a:endParaRPr>
          </a:p>
          <a:p>
            <a:pPr marL="984250" marR="0" lvl="0" indent="-266700" algn="l" defTabSz="527050" rtl="0" eaLnBrk="1" fontAlgn="auto" latinLnBrk="0" hangingPunct="1">
              <a:lnSpc>
                <a:spcPct val="150000"/>
              </a:lnSpc>
              <a:spcBef>
                <a:spcPts val="0"/>
              </a:spcBef>
              <a:spcAft>
                <a:spcPts val="0"/>
              </a:spcAft>
              <a:buClr>
                <a:srgbClr val="0070C0"/>
              </a:buClr>
              <a:buSzTx/>
              <a:buFontTx/>
              <a:buNone/>
              <a:tabLst/>
              <a:defRPr/>
            </a:pPr>
            <a:r>
              <a:rPr kumimoji="1" lang="en-US" altLang="ja-JP" sz="2000" b="1" i="1" u="none" strike="noStrike" kern="1200" cap="none" spc="0" normalizeH="0" baseline="0" noProof="0">
                <a:ln>
                  <a:noFill/>
                </a:ln>
                <a:solidFill>
                  <a:srgbClr val="0070C0"/>
                </a:solidFill>
                <a:effectLst/>
                <a:uLnTx/>
                <a:uFillTx/>
                <a:latin typeface="メイリオ"/>
                <a:ea typeface="メイリオ"/>
                <a:cs typeface="+mn-cs"/>
              </a:rPr>
              <a:t>➡</a:t>
            </a:r>
            <a:r>
              <a:rPr kumimoji="1" lang="ja-JP" altLang="en-US" sz="2000" b="1" i="1" u="none" strike="noStrike" kern="1200" cap="none" spc="0" normalizeH="0" baseline="0" noProof="0">
                <a:ln>
                  <a:noFill/>
                </a:ln>
                <a:solidFill>
                  <a:prstClr val="black"/>
                </a:solidFill>
                <a:effectLst/>
                <a:uLnTx/>
                <a:uFillTx/>
                <a:latin typeface="Arial"/>
                <a:ea typeface="メイリオ"/>
                <a:cs typeface="+mn-cs"/>
              </a:rPr>
              <a:t>再生可能エネルギーの大量導入により，系統安定性の悪化や</a:t>
            </a:r>
            <a:br>
              <a:rPr kumimoji="1" lang="en-US" altLang="ja-JP" sz="2000" b="1" i="1" u="none" strike="noStrike" kern="1200" cap="none" spc="0" normalizeH="0" baseline="0" noProof="0">
                <a:ln>
                  <a:noFill/>
                </a:ln>
                <a:solidFill>
                  <a:prstClr val="black"/>
                </a:solidFill>
                <a:effectLst/>
                <a:uLnTx/>
                <a:uFillTx/>
                <a:latin typeface="Arial"/>
                <a:ea typeface="メイリオ"/>
                <a:cs typeface="+mn-cs"/>
              </a:rPr>
            </a:br>
            <a:r>
              <a:rPr kumimoji="1" lang="ja-JP" altLang="en-US" sz="2000" b="1" i="1" u="none" strike="noStrike" kern="1200" cap="none" spc="0" normalizeH="0" baseline="0" noProof="0">
                <a:ln>
                  <a:noFill/>
                </a:ln>
                <a:solidFill>
                  <a:prstClr val="black"/>
                </a:solidFill>
                <a:effectLst/>
                <a:uLnTx/>
                <a:uFillTx/>
                <a:latin typeface="Arial"/>
                <a:ea typeface="メイリオ"/>
                <a:cs typeface="+mn-cs"/>
              </a:rPr>
              <a:t>停電リスクの増加の懸念</a:t>
            </a:r>
            <a:endParaRPr kumimoji="1" lang="en-US" altLang="ja-JP" sz="2000" b="1" i="1" u="none" strike="noStrike" kern="1200" cap="none" spc="0" normalizeH="0" baseline="0" noProof="0">
              <a:ln>
                <a:noFill/>
              </a:ln>
              <a:solidFill>
                <a:prstClr val="black"/>
              </a:solidFill>
              <a:effectLst/>
              <a:uLnTx/>
              <a:uFillTx/>
              <a:latin typeface="Arial"/>
              <a:ea typeface="メイリオ"/>
              <a:cs typeface="+mn-cs"/>
            </a:endParaRPr>
          </a:p>
        </p:txBody>
      </p:sp>
      <p:sp>
        <p:nvSpPr>
          <p:cNvPr id="30" name="テキスト ボックス 29">
            <a:extLst>
              <a:ext uri="{FF2B5EF4-FFF2-40B4-BE49-F238E27FC236}">
                <a16:creationId xmlns:a16="http://schemas.microsoft.com/office/drawing/2014/main" id="{45A63E8E-BC75-7ADA-D7E8-7057400EE576}"/>
              </a:ext>
            </a:extLst>
          </p:cNvPr>
          <p:cNvSpPr txBox="1"/>
          <p:nvPr/>
        </p:nvSpPr>
        <p:spPr>
          <a:xfrm>
            <a:off x="260038" y="5005625"/>
            <a:ext cx="8428250" cy="1015663"/>
          </a:xfrm>
          <a:prstGeom prst="rect">
            <a:avLst/>
          </a:prstGeom>
          <a:noFill/>
        </p:spPr>
        <p:txBody>
          <a:bodyPr wrap="square">
            <a:spAutoFit/>
          </a:bodyPr>
          <a:lstStyle/>
          <a:p>
            <a:pPr marL="1079500" marR="0" lvl="0" indent="-361950" algn="l" defTabSz="457200" rtl="0" eaLnBrk="1" fontAlgn="auto" latinLnBrk="0" hangingPunct="1">
              <a:lnSpc>
                <a:spcPct val="150000"/>
              </a:lnSpc>
              <a:spcBef>
                <a:spcPts val="0"/>
              </a:spcBef>
              <a:spcAft>
                <a:spcPts val="0"/>
              </a:spcAft>
              <a:buClrTx/>
              <a:buSzTx/>
              <a:buFontTx/>
              <a:buNone/>
              <a:tabLst/>
              <a:defRPr/>
            </a:pPr>
            <a:r>
              <a:rPr kumimoji="1" lang="ja-JP" altLang="en-US" sz="2000" b="1" i="1" u="none" strike="noStrike" kern="1200" cap="none" spc="0" normalizeH="0" baseline="0" noProof="0">
                <a:ln>
                  <a:noFill/>
                </a:ln>
                <a:solidFill>
                  <a:prstClr val="black"/>
                </a:solidFill>
                <a:effectLst/>
                <a:uLnTx/>
                <a:uFillTx/>
                <a:latin typeface="メイリオ"/>
                <a:ea typeface="メイリオ"/>
                <a:cs typeface="+mn-cs"/>
              </a:rPr>
              <a:t>系統連系インバータへの周波数安定化制御の適用の重要性</a:t>
            </a:r>
            <a:endParaRPr kumimoji="1" lang="en-US" altLang="ja-JP" sz="2000" b="1" i="1" u="none" strike="noStrike" kern="1200" cap="none" spc="0" normalizeH="0" baseline="0" noProof="0">
              <a:ln>
                <a:noFill/>
              </a:ln>
              <a:solidFill>
                <a:prstClr val="black"/>
              </a:solidFill>
              <a:effectLst/>
              <a:uLnTx/>
              <a:uFillTx/>
              <a:latin typeface="メイリオ"/>
              <a:ea typeface="メイリオ"/>
              <a:cs typeface="+mn-cs"/>
            </a:endParaRPr>
          </a:p>
          <a:p>
            <a:pPr marL="1079500" marR="0" lvl="0" indent="-361950" algn="l" defTabSz="457200" rtl="0" eaLnBrk="1" fontAlgn="auto" latinLnBrk="0" hangingPunct="1">
              <a:lnSpc>
                <a:spcPct val="150000"/>
              </a:lnSpc>
              <a:spcBef>
                <a:spcPts val="0"/>
              </a:spcBef>
              <a:spcAft>
                <a:spcPts val="0"/>
              </a:spcAft>
              <a:buClrTx/>
              <a:buSzTx/>
              <a:buFontTx/>
              <a:buNone/>
              <a:tabLst/>
              <a:defRPr/>
            </a:pPr>
            <a:r>
              <a:rPr kumimoji="1" lang="en-US" altLang="ja-JP" sz="2000" b="1" i="1" u="none" strike="noStrike" kern="1200" cap="none" spc="0" normalizeH="0" baseline="0" noProof="0">
                <a:ln>
                  <a:noFill/>
                </a:ln>
                <a:solidFill>
                  <a:srgbClr val="0070C0"/>
                </a:solidFill>
                <a:effectLst/>
                <a:uLnTx/>
                <a:uFillTx/>
                <a:latin typeface="メイリオ"/>
                <a:ea typeface="メイリオ"/>
                <a:cs typeface="+mn-cs"/>
              </a:rPr>
              <a:t>➡</a:t>
            </a:r>
            <a:r>
              <a:rPr kumimoji="1" lang="ja-JP" altLang="en-US" sz="2000" b="1" i="1" u="none" strike="noStrike" kern="1200" cap="none" spc="0" normalizeH="0" baseline="0" noProof="0">
                <a:ln>
                  <a:noFill/>
                </a:ln>
                <a:solidFill>
                  <a:srgbClr val="0070C0"/>
                </a:solidFill>
                <a:effectLst/>
                <a:uLnTx/>
                <a:uFillTx/>
                <a:latin typeface="Arial"/>
                <a:ea typeface="メイリオ"/>
                <a:cs typeface="+mn-cs"/>
              </a:rPr>
              <a:t>擬似慣性を備えた</a:t>
            </a:r>
            <a:r>
              <a:rPr kumimoji="1" lang="en-US" altLang="ja-JP" sz="2000" b="1" i="0" u="none" strike="noStrike" kern="1200" cap="none" spc="0" normalizeH="0" baseline="0" noProof="0">
                <a:ln>
                  <a:noFill/>
                </a:ln>
                <a:solidFill>
                  <a:srgbClr val="0070C0"/>
                </a:solidFill>
                <a:effectLst/>
                <a:uLnTx/>
                <a:uFillTx/>
                <a:latin typeface="Arial"/>
                <a:ea typeface="メイリオ"/>
                <a:cs typeface="+mn-cs"/>
              </a:rPr>
              <a:t>GFM (grid forming) </a:t>
            </a:r>
            <a:r>
              <a:rPr kumimoji="1" lang="ja-JP" altLang="en-US" sz="2000" b="1" i="1" u="none" strike="noStrike" kern="1200" cap="none" spc="0" normalizeH="0" baseline="0" noProof="0">
                <a:ln>
                  <a:noFill/>
                </a:ln>
                <a:solidFill>
                  <a:srgbClr val="0070C0"/>
                </a:solidFill>
                <a:effectLst/>
                <a:uLnTx/>
                <a:uFillTx/>
                <a:latin typeface="Arial"/>
                <a:ea typeface="メイリオ"/>
                <a:cs typeface="+mn-cs"/>
              </a:rPr>
              <a:t>インバータ制御への期</a:t>
            </a:r>
            <a:r>
              <a:rPr kumimoji="1" lang="ja-JP" altLang="en-US" sz="2000" b="1" i="1" u="none" strike="noStrike" kern="1200" cap="none" spc="0" normalizeH="0" baseline="0" noProof="0">
                <a:ln>
                  <a:noFill/>
                </a:ln>
                <a:solidFill>
                  <a:srgbClr val="0070C0"/>
                </a:solidFill>
                <a:effectLst/>
                <a:uLnTx/>
                <a:uFillTx/>
                <a:latin typeface="メイリオ"/>
                <a:ea typeface="メイリオ"/>
                <a:cs typeface="+mn-cs"/>
              </a:rPr>
              <a:t>待</a:t>
            </a:r>
            <a:endParaRPr kumimoji="1" lang="en-US" altLang="ja-JP" sz="2000" b="1" i="1" u="none" strike="noStrike" kern="1200" cap="none" spc="0" normalizeH="0" baseline="0" noProof="0">
              <a:ln>
                <a:noFill/>
              </a:ln>
              <a:solidFill>
                <a:srgbClr val="0070C0"/>
              </a:solidFill>
              <a:effectLst/>
              <a:uLnTx/>
              <a:uFillTx/>
              <a:latin typeface="メイリオ"/>
              <a:ea typeface="メイリオ"/>
              <a:cs typeface="+mn-cs"/>
            </a:endParaRPr>
          </a:p>
        </p:txBody>
      </p:sp>
      <p:sp>
        <p:nvSpPr>
          <p:cNvPr id="32" name="テキスト ボックス 31">
            <a:extLst>
              <a:ext uri="{FF2B5EF4-FFF2-40B4-BE49-F238E27FC236}">
                <a16:creationId xmlns:a16="http://schemas.microsoft.com/office/drawing/2014/main" id="{46B31C13-DAEA-BA00-B552-1980A4ABA4B1}"/>
              </a:ext>
            </a:extLst>
          </p:cNvPr>
          <p:cNvSpPr txBox="1"/>
          <p:nvPr/>
        </p:nvSpPr>
        <p:spPr>
          <a:xfrm>
            <a:off x="260038" y="2609387"/>
            <a:ext cx="11668610" cy="442035"/>
          </a:xfrm>
          <a:prstGeom prst="rect">
            <a:avLst/>
          </a:prstGeom>
          <a:noFill/>
        </p:spPr>
        <p:txBody>
          <a:bodyPr wrap="square" tIns="72000" bIns="0" anchor="ctr" anchorCtr="0">
            <a:spAutoFit/>
          </a:bodyPr>
          <a:lstStyle/>
          <a:p>
            <a:pPr marL="361950" marR="0" lvl="0" indent="-361950" algn="l" defTabSz="457200" rtl="0" eaLnBrk="1" fontAlgn="auto" latinLnBrk="0" hangingPunct="1">
              <a:lnSpc>
                <a:spcPct val="100000"/>
              </a:lnSpc>
              <a:spcBef>
                <a:spcPts val="0"/>
              </a:spcBef>
              <a:spcAft>
                <a:spcPts val="0"/>
              </a:spcAft>
              <a:buClrTx/>
              <a:buSzTx/>
              <a:buFont typeface="メイリオ" panose="020B0604030504040204" pitchFamily="50" charset="-128"/>
              <a:buChar char="▶"/>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研究背景</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sp>
        <p:nvSpPr>
          <p:cNvPr id="6" name="テキスト ボックス 5">
            <a:extLst>
              <a:ext uri="{FF2B5EF4-FFF2-40B4-BE49-F238E27FC236}">
                <a16:creationId xmlns:a16="http://schemas.microsoft.com/office/drawing/2014/main" id="{3AE89ECB-9309-50F8-7C36-EC7F2E2DC393}"/>
              </a:ext>
            </a:extLst>
          </p:cNvPr>
          <p:cNvSpPr txBox="1"/>
          <p:nvPr/>
        </p:nvSpPr>
        <p:spPr>
          <a:xfrm>
            <a:off x="260038" y="140142"/>
            <a:ext cx="11668610" cy="478387"/>
          </a:xfrm>
          <a:prstGeom prst="rect">
            <a:avLst/>
          </a:prstGeom>
          <a:noFill/>
        </p:spPr>
        <p:txBody>
          <a:bodyPr wrap="square" tIns="72000" bIns="3600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社会背景・研究背景</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sp>
        <p:nvSpPr>
          <p:cNvPr id="10" name="テキスト ボックス 9">
            <a:extLst>
              <a:ext uri="{FF2B5EF4-FFF2-40B4-BE49-F238E27FC236}">
                <a16:creationId xmlns:a16="http://schemas.microsoft.com/office/drawing/2014/main" id="{09930155-4126-A5C4-56AA-A632A8738BEA}"/>
              </a:ext>
            </a:extLst>
          </p:cNvPr>
          <p:cNvSpPr txBox="1"/>
          <p:nvPr/>
        </p:nvSpPr>
        <p:spPr>
          <a:xfrm>
            <a:off x="4223791" y="260648"/>
            <a:ext cx="6192689" cy="27699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出典</a:t>
            </a:r>
            <a:r>
              <a:rPr kumimoji="1" lang="en-US" altLang="ja-JP" sz="1200" b="1"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[1] Entsoe, Fast Frequency Reserve– Solution to the Nordic inertia challenge </a:t>
            </a:r>
          </a:p>
        </p:txBody>
      </p:sp>
      <p:cxnSp>
        <p:nvCxnSpPr>
          <p:cNvPr id="2" name="直線コネクタ 1">
            <a:extLst>
              <a:ext uri="{FF2B5EF4-FFF2-40B4-BE49-F238E27FC236}">
                <a16:creationId xmlns:a16="http://schemas.microsoft.com/office/drawing/2014/main" id="{4CA2E8AD-54F3-BE8A-7229-0F36028CB0B7}"/>
              </a:ext>
            </a:extLst>
          </p:cNvPr>
          <p:cNvCxnSpPr>
            <a:cxnSpLocks/>
          </p:cNvCxnSpPr>
          <p:nvPr/>
        </p:nvCxnSpPr>
        <p:spPr>
          <a:xfrm>
            <a:off x="0" y="601807"/>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下矢印 2"/>
          <p:cNvSpPr/>
          <p:nvPr/>
        </p:nvSpPr>
        <p:spPr>
          <a:xfrm>
            <a:off x="5879976" y="2403873"/>
            <a:ext cx="360040" cy="52107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15" name="下矢印 14"/>
          <p:cNvSpPr/>
          <p:nvPr/>
        </p:nvSpPr>
        <p:spPr>
          <a:xfrm>
            <a:off x="5879976" y="4348089"/>
            <a:ext cx="360040" cy="52107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8" name="テキスト ボックス 7"/>
          <p:cNvSpPr txBox="1"/>
          <p:nvPr/>
        </p:nvSpPr>
        <p:spPr>
          <a:xfrm>
            <a:off x="8842456" y="6062404"/>
            <a:ext cx="3014184" cy="318924"/>
          </a:xfrm>
          <a:prstGeom prst="rect">
            <a:avLst/>
          </a:prstGeom>
          <a:noFill/>
        </p:spPr>
        <p:txBody>
          <a:bodyPr wrap="square" tIns="72000" bIns="0"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prstClr val="black"/>
                </a:solidFill>
                <a:effectLst/>
                <a:uLnTx/>
                <a:uFillTx/>
                <a:latin typeface="Arial"/>
                <a:ea typeface="メイリオ"/>
                <a:cs typeface="+mn-cs"/>
              </a:rPr>
              <a:t>慣性力と周波数低下の関係 </a:t>
            </a:r>
            <a:r>
              <a:rPr kumimoji="1" lang="en-US" altLang="ja-JP" sz="1600" b="0" i="0" u="none" strike="noStrike" kern="1200" cap="none" spc="0" normalizeH="0" baseline="30000" noProof="0">
                <a:ln>
                  <a:noFill/>
                </a:ln>
                <a:solidFill>
                  <a:prstClr val="black"/>
                </a:solidFill>
                <a:effectLst/>
                <a:uLnTx/>
                <a:uFillTx/>
                <a:latin typeface="Arial"/>
                <a:ea typeface="メイリオ"/>
                <a:cs typeface="+mn-cs"/>
              </a:rPr>
              <a:t>[1]</a:t>
            </a:r>
            <a:endParaRPr kumimoji="1" lang="ja-JP" altLang="en-US" sz="1600" b="0" i="0" u="none" strike="noStrike" kern="1200" cap="none" spc="0" normalizeH="0" baseline="30000" noProof="0">
              <a:ln>
                <a:noFill/>
              </a:ln>
              <a:solidFill>
                <a:prstClr val="black"/>
              </a:solidFill>
              <a:effectLst/>
              <a:uLnTx/>
              <a:uFillTx/>
              <a:latin typeface="Arial"/>
              <a:ea typeface="メイリオ"/>
              <a:cs typeface="+mn-cs"/>
            </a:endParaRPr>
          </a:p>
        </p:txBody>
      </p:sp>
      <p:pic>
        <p:nvPicPr>
          <p:cNvPr id="18" name="図 17">
            <a:extLst>
              <a:ext uri="{FF2B5EF4-FFF2-40B4-BE49-F238E27FC236}">
                <a16:creationId xmlns:a16="http://schemas.microsoft.com/office/drawing/2014/main" id="{8926E427-37B8-6F36-6FFF-5973A6219B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spTree>
    <p:extLst>
      <p:ext uri="{BB962C8B-B14F-4D97-AF65-F5344CB8AC3E}">
        <p14:creationId xmlns:p14="http://schemas.microsoft.com/office/powerpoint/2010/main" val="4084602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テキスト ボックス 24">
            <a:extLst>
              <a:ext uri="{FF2B5EF4-FFF2-40B4-BE49-F238E27FC236}">
                <a16:creationId xmlns:a16="http://schemas.microsoft.com/office/drawing/2014/main" id="{D5160F98-AE2A-78FB-058A-FAE30F28E211}"/>
              </a:ext>
            </a:extLst>
          </p:cNvPr>
          <p:cNvSpPr txBox="1"/>
          <p:nvPr/>
        </p:nvSpPr>
        <p:spPr>
          <a:xfrm>
            <a:off x="260039" y="620688"/>
            <a:ext cx="11668610" cy="4247317"/>
          </a:xfrm>
          <a:prstGeom prst="rect">
            <a:avLst/>
          </a:prstGeom>
          <a:noFill/>
        </p:spPr>
        <p:txBody>
          <a:bodyPr wrap="square" tIns="72000" bIns="36000">
            <a:no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kumimoji="1" lang="en-US" altLang="ja-JP" sz="2400" b="1" i="0" u="none" strike="noStrike" kern="1200" cap="none" spc="0" normalizeH="0" baseline="0" noProof="0">
                <a:ln>
                  <a:noFill/>
                </a:ln>
                <a:solidFill>
                  <a:srgbClr val="0070C0"/>
                </a:solidFill>
                <a:effectLst/>
                <a:uLnTx/>
                <a:uFillTx/>
                <a:latin typeface="Arial"/>
                <a:ea typeface="メイリオ"/>
                <a:cs typeface="+mn-cs"/>
              </a:rPr>
              <a:t>GFM</a:t>
            </a:r>
            <a:r>
              <a:rPr kumimoji="1" lang="ja-JP" altLang="en-US" sz="2400" b="1" i="0" u="none" strike="noStrike" kern="1200" cap="none" spc="0" normalizeH="0" baseline="0" noProof="0">
                <a:ln>
                  <a:noFill/>
                </a:ln>
                <a:solidFill>
                  <a:srgbClr val="0070C0"/>
                </a:solidFill>
                <a:effectLst/>
                <a:uLnTx/>
                <a:uFillTx/>
                <a:latin typeface="Arial"/>
                <a:ea typeface="メイリオ"/>
                <a:cs typeface="+mn-cs"/>
              </a:rPr>
              <a:t>インバータの課題</a:t>
            </a: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717550" marR="0" lvl="0" indent="-355600" algn="l" defTabSz="457200" rtl="0" eaLnBrk="1" fontAlgn="auto" latinLnBrk="0" hangingPunct="1">
              <a:lnSpc>
                <a:spcPct val="130000"/>
              </a:lnSpc>
              <a:spcBef>
                <a:spcPts val="0"/>
              </a:spcBef>
              <a:spcAft>
                <a:spcPts val="0"/>
              </a:spcAft>
              <a:buClr>
                <a:srgbClr val="0070C0"/>
              </a:buClr>
              <a:buSzTx/>
              <a:buFont typeface="Wingdings" panose="05000000000000000000" pitchFamily="2" charset="2"/>
              <a:buChar char="l"/>
              <a:tabLst/>
              <a:defRPr/>
            </a:pP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系統安定化効果の明確化････有効電力制御（擬似慣性制御）の構成設計・定数設定の確立</a:t>
            </a: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a:p>
            <a:pPr marL="717550" marR="0" lvl="0" indent="-355600" algn="l" defTabSz="457200" rtl="0" eaLnBrk="1" fontAlgn="auto" latinLnBrk="0" hangingPunct="1">
              <a:lnSpc>
                <a:spcPct val="130000"/>
              </a:lnSpc>
              <a:spcBef>
                <a:spcPts val="0"/>
              </a:spcBef>
              <a:spcAft>
                <a:spcPts val="0"/>
              </a:spcAft>
              <a:buClr>
                <a:srgbClr val="0070C0"/>
              </a:buClr>
              <a:buSzTx/>
              <a:buFont typeface="Wingdings" panose="05000000000000000000" pitchFamily="2" charset="2"/>
              <a:buChar char="l"/>
              <a:tabLst/>
              <a:defRPr/>
            </a:pP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低短絡容量系統への適用限界の明確化</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････無効電力制御の構成設計・定数設定の確立</a:t>
            </a: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1200"/>
              </a:spcBef>
              <a:spcAft>
                <a:spcPts val="0"/>
              </a:spcAft>
              <a:buClrTx/>
              <a:buSzTx/>
              <a:buFont typeface="メイリオ" panose="020B0604030504040204" pitchFamily="50" charset="-128"/>
              <a:buChar char="▶"/>
              <a:tabLst/>
              <a:defRPr/>
            </a:pPr>
            <a:r>
              <a:rPr kumimoji="1" lang="ja-JP" altLang="en-US" sz="2400" b="1" i="0" u="none" strike="noStrike" kern="1200" cap="none" spc="0" normalizeH="0" baseline="0" noProof="0">
                <a:ln>
                  <a:noFill/>
                </a:ln>
                <a:solidFill>
                  <a:srgbClr val="0070C0"/>
                </a:solidFill>
                <a:effectLst/>
                <a:uLnTx/>
                <a:uFillTx/>
                <a:latin typeface="Arial"/>
                <a:ea typeface="メイリオ"/>
                <a:cs typeface="+mn-cs"/>
              </a:rPr>
              <a:t>低短絡容量系統におけるイ</a:t>
            </a: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ンバータの無効電力制御と動作許容範囲の関係の検討</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a:p>
            <a:pPr marL="717550" marR="0" lvl="0" indent="-355600" algn="l" defTabSz="457200" rtl="0" eaLnBrk="1" fontAlgn="auto" latinLnBrk="0" hangingPunct="1">
              <a:lnSpc>
                <a:spcPct val="130000"/>
              </a:lnSpc>
              <a:spcBef>
                <a:spcPts val="0"/>
              </a:spcBef>
              <a:spcAft>
                <a:spcPts val="0"/>
              </a:spcAft>
              <a:buClr>
                <a:srgbClr val="0070C0"/>
              </a:buClr>
              <a:buSzTx/>
              <a:buFont typeface="Wingdings" panose="05000000000000000000" pitchFamily="2" charset="2"/>
              <a:buChar char="l"/>
              <a:tabLst/>
              <a:defRPr/>
            </a:pPr>
            <a:r>
              <a:rPr kumimoji="1" lang="ja-JP" altLang="en-US" sz="2000" b="1" i="0" u="none" strike="noStrike" kern="1200" cap="none" spc="0" normalizeH="0" baseline="0" noProof="0">
                <a:ln>
                  <a:noFill/>
                </a:ln>
                <a:solidFill>
                  <a:schemeClr val="accent5">
                    <a:lumMod val="75000"/>
                  </a:schemeClr>
                </a:solidFill>
                <a:effectLst/>
                <a:uLnTx/>
                <a:uFillTx/>
                <a:latin typeface="Arial"/>
                <a:ea typeface="メイリオ"/>
                <a:cs typeface="+mn-cs"/>
              </a:rPr>
              <a:t>無効電力制御</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････無効電力出力を指令値に制御 </a:t>
            </a: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 </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基本的な制御手法</a:t>
            </a: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a:p>
            <a:pPr marL="717550" marR="0" lvl="0" indent="-355600" algn="l" defTabSz="457200" rtl="0" eaLnBrk="1" fontAlgn="auto" latinLnBrk="0" hangingPunct="1">
              <a:lnSpc>
                <a:spcPct val="130000"/>
              </a:lnSpc>
              <a:spcBef>
                <a:spcPts val="0"/>
              </a:spcBef>
              <a:spcAft>
                <a:spcPts val="0"/>
              </a:spcAft>
              <a:buClr>
                <a:srgbClr val="0070C0"/>
              </a:buClr>
              <a:buSzTx/>
              <a:buFont typeface="Wingdings" panose="05000000000000000000" pitchFamily="2" charset="2"/>
              <a:buChar char="l"/>
              <a:tabLst/>
              <a:defRPr/>
            </a:pPr>
            <a:r>
              <a:rPr kumimoji="1" lang="ja-JP" altLang="en-US" sz="2000" b="1" i="0" u="none" strike="noStrike" kern="1200" cap="none" spc="0" normalizeH="0" baseline="0" noProof="0">
                <a:ln>
                  <a:noFill/>
                </a:ln>
                <a:solidFill>
                  <a:schemeClr val="accent5">
                    <a:lumMod val="75000"/>
                  </a:schemeClr>
                </a:solidFill>
                <a:effectLst/>
                <a:uLnTx/>
                <a:uFillTx/>
                <a:latin typeface="Arial"/>
                <a:ea typeface="メイリオ"/>
                <a:cs typeface="+mn-cs"/>
              </a:rPr>
              <a:t>系統電圧制御</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････連系点電圧を指令値に制御 </a:t>
            </a: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 </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低短絡容量系</a:t>
            </a:r>
            <a:r>
              <a:rPr kumimoji="1" lang="ja-JP" altLang="en-US" sz="2000" b="1" i="0" u="none" strike="noStrike" kern="1200" cap="none" spc="0" normalizeH="0" baseline="0" noProof="0">
                <a:ln>
                  <a:noFill/>
                </a:ln>
                <a:solidFill>
                  <a:prstClr val="black"/>
                </a:solidFill>
                <a:effectLst/>
                <a:uLnTx/>
                <a:uFillTx/>
                <a:latin typeface="メイリオ"/>
                <a:ea typeface="メイリオ"/>
                <a:cs typeface="+mn-cs"/>
              </a:rPr>
              <a:t>統</a:t>
            </a:r>
            <a:r>
              <a:rPr kumimoji="1" lang="en-US" altLang="ja-JP" sz="2000" b="1" i="0" u="none" strike="noStrike" kern="1200" cap="none" spc="0" normalizeH="0" baseline="0" noProof="0">
                <a:ln>
                  <a:noFill/>
                </a:ln>
                <a:solidFill>
                  <a:prstClr val="black"/>
                </a:solidFill>
                <a:effectLst/>
                <a:uLnTx/>
                <a:uFillTx/>
                <a:latin typeface="メイリオ"/>
                <a:ea typeface="メイリオ"/>
                <a:cs typeface="+mn-cs"/>
              </a:rPr>
              <a:t>(</a:t>
            </a:r>
            <a:r>
              <a:rPr kumimoji="1" lang="ja-JP" altLang="en-US" sz="2000" b="1" i="0" u="none" strike="noStrike" kern="1200" cap="none" spc="0" normalizeH="0" baseline="0" noProof="0">
                <a:ln>
                  <a:noFill/>
                </a:ln>
                <a:solidFill>
                  <a:prstClr val="black"/>
                </a:solidFill>
                <a:effectLst/>
                <a:uLnTx/>
                <a:uFillTx/>
                <a:latin typeface="メイリオ"/>
                <a:ea typeface="メイリオ"/>
                <a:cs typeface="+mn-cs"/>
              </a:rPr>
              <a:t>長距離送電線</a:t>
            </a:r>
            <a:r>
              <a:rPr kumimoji="1" lang="en-US" altLang="ja-JP" sz="2000" b="1" i="0" u="none" strike="noStrike" kern="1200" cap="none" spc="0" normalizeH="0" baseline="0" noProof="0">
                <a:ln>
                  <a:noFill/>
                </a:ln>
                <a:solidFill>
                  <a:prstClr val="black"/>
                </a:solidFill>
                <a:effectLst/>
                <a:uLnTx/>
                <a:uFillTx/>
                <a:latin typeface="メイリオ"/>
                <a:ea typeface="メイリオ"/>
                <a:cs typeface="+mn-cs"/>
              </a:rPr>
              <a:t>)</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向き（仮説）</a:t>
            </a: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endParaRPr kumimoji="1" lang="ja-JP" altLang="en-US" sz="2000" b="1" i="0" u="none" strike="noStrike" kern="1200" cap="none" spc="0" normalizeH="0" baseline="0" noProof="0">
              <a:ln>
                <a:noFill/>
              </a:ln>
              <a:solidFill>
                <a:prstClr val="black"/>
              </a:solidFill>
              <a:effectLst/>
              <a:uLnTx/>
              <a:uFillTx/>
              <a:latin typeface="Arial"/>
              <a:ea typeface="メイリオ"/>
              <a:cs typeface="+mn-cs"/>
            </a:endParaRPr>
          </a:p>
        </p:txBody>
      </p:sp>
      <p:cxnSp>
        <p:nvCxnSpPr>
          <p:cNvPr id="42" name="直線コネクタ 41">
            <a:extLst>
              <a:ext uri="{FF2B5EF4-FFF2-40B4-BE49-F238E27FC236}">
                <a16:creationId xmlns:a16="http://schemas.microsoft.com/office/drawing/2014/main" id="{5F5103F4-63EB-8D40-67BB-D39FE396B7D9}"/>
              </a:ext>
            </a:extLst>
          </p:cNvPr>
          <p:cNvCxnSpPr>
            <a:cxnSpLocks/>
          </p:cNvCxnSpPr>
          <p:nvPr/>
        </p:nvCxnSpPr>
        <p:spPr>
          <a:xfrm>
            <a:off x="0" y="601807"/>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2" name="テキスト ボックス 61">
            <a:extLst>
              <a:ext uri="{FF2B5EF4-FFF2-40B4-BE49-F238E27FC236}">
                <a16:creationId xmlns:a16="http://schemas.microsoft.com/office/drawing/2014/main" id="{3AE89ECB-9309-50F8-7C36-EC7F2E2DC393}"/>
              </a:ext>
            </a:extLst>
          </p:cNvPr>
          <p:cNvSpPr txBox="1"/>
          <p:nvPr/>
        </p:nvSpPr>
        <p:spPr>
          <a:xfrm>
            <a:off x="260038" y="140142"/>
            <a:ext cx="11668610" cy="478387"/>
          </a:xfrm>
          <a:prstGeom prst="rect">
            <a:avLst/>
          </a:prstGeom>
          <a:noFill/>
        </p:spPr>
        <p:txBody>
          <a:bodyPr wrap="square" tIns="72000" bIns="3600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研究目的</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pic>
        <p:nvPicPr>
          <p:cNvPr id="1066" name="Picture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434" y="3413645"/>
            <a:ext cx="5554566" cy="1846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7"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998" y="3428999"/>
            <a:ext cx="5554566" cy="1846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 name="テキスト ボックス 1053"/>
          <p:cNvSpPr txBox="1"/>
          <p:nvPr/>
        </p:nvSpPr>
        <p:spPr>
          <a:xfrm>
            <a:off x="983432" y="5432607"/>
            <a:ext cx="4680520" cy="876713"/>
          </a:xfrm>
          <a:prstGeom prst="rect">
            <a:avLst/>
          </a:prstGeom>
          <a:noFill/>
        </p:spPr>
        <p:txBody>
          <a:bodyPr wrap="square" tIns="72000" bIns="0" rtlCol="0">
            <a:noAutofit/>
          </a:bodyP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Qref</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：無効電力指令値，</a:t>
            </a: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Q</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：無効電力検出値</a:t>
            </a:r>
            <a:endParaRPr kumimoji="1" lang="en-US" altLang="ja-JP" sz="1400" b="0"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Gp</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：比例ゲイン，</a:t>
            </a: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Gi</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：積分ゲイン</a:t>
            </a:r>
            <a:endParaRPr kumimoji="1" lang="en-US" altLang="ja-JP" sz="1400" b="0"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Uo</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：出力電圧振幅オフセット</a:t>
            </a:r>
            <a:r>
              <a:rPr kumimoji="1" lang="en-US" altLang="ja-JP" sz="1400" b="0" i="0" u="none" strike="noStrike" kern="1200" cap="none" spc="0" normalizeH="0" baseline="0" noProof="0">
                <a:ln>
                  <a:noFill/>
                </a:ln>
                <a:solidFill>
                  <a:prstClr val="black"/>
                </a:solidFill>
                <a:effectLst/>
                <a:uLnTx/>
                <a:uFillTx/>
                <a:latin typeface="Arial"/>
                <a:ea typeface="メイリオ"/>
                <a:cs typeface="+mn-cs"/>
              </a:rPr>
              <a:t>(=1pu)</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a:t>
            </a: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U</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：出力電圧振幅</a:t>
            </a:r>
          </a:p>
        </p:txBody>
      </p:sp>
      <p:sp>
        <p:nvSpPr>
          <p:cNvPr id="102" name="テキスト ボックス 101"/>
          <p:cNvSpPr txBox="1"/>
          <p:nvPr/>
        </p:nvSpPr>
        <p:spPr>
          <a:xfrm>
            <a:off x="6528048" y="5448765"/>
            <a:ext cx="4752528" cy="932563"/>
          </a:xfrm>
          <a:prstGeom prst="rect">
            <a:avLst/>
          </a:prstGeom>
          <a:noFill/>
        </p:spPr>
        <p:txBody>
          <a:bodyPr wrap="square" rtlCol="0">
            <a:noAutofit/>
          </a:bodyP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Vref</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：連系点電圧指令値，</a:t>
            </a: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V</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：連系点電圧検出値</a:t>
            </a:r>
            <a:endParaRPr kumimoji="1" lang="en-US" altLang="ja-JP" sz="1400" b="0"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400" b="0" i="1" u="none" strike="noStrike" kern="1200" cap="none" spc="0" normalizeH="0" baseline="0" noProof="0" err="1">
                <a:ln>
                  <a:noFill/>
                </a:ln>
                <a:solidFill>
                  <a:prstClr val="black"/>
                </a:solidFill>
                <a:effectLst/>
                <a:uLnTx/>
                <a:uFillTx/>
                <a:latin typeface="Arial"/>
                <a:ea typeface="メイリオ"/>
                <a:cs typeface="+mn-cs"/>
              </a:rPr>
              <a:t>Kp</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：比例ゲイン，</a:t>
            </a: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Ki</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：積分ゲイン</a:t>
            </a:r>
            <a:endParaRPr kumimoji="1" lang="en-US" altLang="ja-JP" sz="1400" b="0"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Uo</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：出力電圧振幅オフセット</a:t>
            </a:r>
            <a:r>
              <a:rPr kumimoji="1" lang="en-US" altLang="ja-JP" sz="1400" b="0" i="0" u="none" strike="noStrike" kern="1200" cap="none" spc="0" normalizeH="0" baseline="0" noProof="0">
                <a:ln>
                  <a:noFill/>
                </a:ln>
                <a:solidFill>
                  <a:prstClr val="black"/>
                </a:solidFill>
                <a:effectLst/>
                <a:uLnTx/>
                <a:uFillTx/>
                <a:latin typeface="Arial"/>
                <a:ea typeface="メイリオ"/>
                <a:cs typeface="+mn-cs"/>
              </a:rPr>
              <a:t>(=1pu)</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a:t>
            </a:r>
            <a:r>
              <a:rPr kumimoji="1" lang="en-US" altLang="ja-JP" sz="1400" b="0" i="1" u="none" strike="noStrike" kern="1200" cap="none" spc="0" normalizeH="0" baseline="0" noProof="0">
                <a:ln>
                  <a:noFill/>
                </a:ln>
                <a:solidFill>
                  <a:prstClr val="black"/>
                </a:solidFill>
                <a:effectLst/>
                <a:uLnTx/>
                <a:uFillTx/>
                <a:latin typeface="Arial"/>
                <a:ea typeface="メイリオ"/>
                <a:cs typeface="+mn-cs"/>
              </a:rPr>
              <a:t>U</a:t>
            </a:r>
            <a:r>
              <a:rPr kumimoji="1" lang="ja-JP" altLang="en-US" sz="1400" b="0" i="0" u="none" strike="noStrike" kern="1200" cap="none" spc="0" normalizeH="0" baseline="0" noProof="0">
                <a:ln>
                  <a:noFill/>
                </a:ln>
                <a:solidFill>
                  <a:prstClr val="black"/>
                </a:solidFill>
                <a:effectLst/>
                <a:uLnTx/>
                <a:uFillTx/>
                <a:latin typeface="Arial"/>
                <a:ea typeface="メイリオ"/>
                <a:cs typeface="+mn-cs"/>
              </a:rPr>
              <a:t>：出力電圧振幅</a:t>
            </a:r>
          </a:p>
        </p:txBody>
      </p:sp>
      <p:sp>
        <p:nvSpPr>
          <p:cNvPr id="103" name="テキスト ボックス 102"/>
          <p:cNvSpPr txBox="1"/>
          <p:nvPr/>
        </p:nvSpPr>
        <p:spPr>
          <a:xfrm>
            <a:off x="541434" y="5054292"/>
            <a:ext cx="5552909" cy="318924"/>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chemeClr val="accent5">
                    <a:lumMod val="75000"/>
                  </a:schemeClr>
                </a:solidFill>
                <a:effectLst/>
                <a:uLnTx/>
                <a:uFillTx/>
                <a:latin typeface="Arial"/>
                <a:ea typeface="メイリオ"/>
                <a:cs typeface="+mn-cs"/>
              </a:rPr>
              <a:t>無効電力制御系の構成</a:t>
            </a:r>
          </a:p>
        </p:txBody>
      </p:sp>
      <p:sp>
        <p:nvSpPr>
          <p:cNvPr id="104" name="テキスト ボックス 103"/>
          <p:cNvSpPr txBox="1"/>
          <p:nvPr/>
        </p:nvSpPr>
        <p:spPr>
          <a:xfrm>
            <a:off x="6094344" y="5054292"/>
            <a:ext cx="5556220" cy="318924"/>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chemeClr val="accent5">
                    <a:lumMod val="75000"/>
                  </a:schemeClr>
                </a:solidFill>
                <a:effectLst/>
                <a:uLnTx/>
                <a:uFillTx/>
                <a:latin typeface="Arial"/>
                <a:ea typeface="メイリオ"/>
                <a:cs typeface="+mn-cs"/>
              </a:rPr>
              <a:t>系統電圧制御系の構成</a:t>
            </a:r>
          </a:p>
        </p:txBody>
      </p:sp>
      <p:pic>
        <p:nvPicPr>
          <p:cNvPr id="106" name="図 105">
            <a:extLst>
              <a:ext uri="{FF2B5EF4-FFF2-40B4-BE49-F238E27FC236}">
                <a16:creationId xmlns:a16="http://schemas.microsoft.com/office/drawing/2014/main" id="{8926E427-37B8-6F36-6FFF-5973A6219B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spTree>
    <p:extLst>
      <p:ext uri="{BB962C8B-B14F-4D97-AF65-F5344CB8AC3E}">
        <p14:creationId xmlns:p14="http://schemas.microsoft.com/office/powerpoint/2010/main" val="3631573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3BEB-74D6-B508-03B6-4FC4CFFB5B8E}"/>
            </a:ext>
          </a:extLst>
        </p:cNvPr>
        <p:cNvGrpSpPr/>
        <p:nvPr/>
      </p:nvGrpSpPr>
      <p:grpSpPr>
        <a:xfrm>
          <a:off x="0" y="0"/>
          <a:ext cx="0" cy="0"/>
          <a:chOff x="0" y="0"/>
          <a:chExt cx="0" cy="0"/>
        </a:xfrm>
      </p:grpSpPr>
      <p:sp>
        <p:nvSpPr>
          <p:cNvPr id="99" name="テキスト ボックス 98">
            <a:extLst>
              <a:ext uri="{FF2B5EF4-FFF2-40B4-BE49-F238E27FC236}">
                <a16:creationId xmlns:a16="http://schemas.microsoft.com/office/drawing/2014/main" id="{3AE89ECB-9309-50F8-7C36-EC7F2E2DC393}"/>
              </a:ext>
            </a:extLst>
          </p:cNvPr>
          <p:cNvSpPr txBox="1"/>
          <p:nvPr/>
        </p:nvSpPr>
        <p:spPr>
          <a:xfrm>
            <a:off x="260038" y="140142"/>
            <a:ext cx="11668610" cy="478387"/>
          </a:xfrm>
          <a:prstGeom prst="rect">
            <a:avLst/>
          </a:prstGeom>
          <a:noFill/>
        </p:spPr>
        <p:txBody>
          <a:bodyPr wrap="square" tIns="72000" bIns="3600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研究手法</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cxnSp>
        <p:nvCxnSpPr>
          <p:cNvPr id="5" name="直線コネクタ 4">
            <a:extLst>
              <a:ext uri="{FF2B5EF4-FFF2-40B4-BE49-F238E27FC236}">
                <a16:creationId xmlns:a16="http://schemas.microsoft.com/office/drawing/2014/main" id="{AEFD3F05-B523-E02A-FAB3-08FA12D45AA0}"/>
              </a:ext>
            </a:extLst>
          </p:cNvPr>
          <p:cNvCxnSpPr>
            <a:cxnSpLocks/>
          </p:cNvCxnSpPr>
          <p:nvPr/>
        </p:nvCxnSpPr>
        <p:spPr>
          <a:xfrm>
            <a:off x="1" y="574001"/>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01" name="図 100">
            <a:extLst>
              <a:ext uri="{FF2B5EF4-FFF2-40B4-BE49-F238E27FC236}">
                <a16:creationId xmlns:a16="http://schemas.microsoft.com/office/drawing/2014/main" id="{8926E427-37B8-6F36-6FFF-5973A6219B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sp>
        <p:nvSpPr>
          <p:cNvPr id="102" name="テキスト ボックス 101">
            <a:extLst>
              <a:ext uri="{FF2B5EF4-FFF2-40B4-BE49-F238E27FC236}">
                <a16:creationId xmlns:a16="http://schemas.microsoft.com/office/drawing/2014/main" id="{D5160F98-AE2A-78FB-058A-FAE30F28E211}"/>
              </a:ext>
            </a:extLst>
          </p:cNvPr>
          <p:cNvSpPr txBox="1"/>
          <p:nvPr/>
        </p:nvSpPr>
        <p:spPr>
          <a:xfrm>
            <a:off x="260040" y="592883"/>
            <a:ext cx="11668610" cy="648072"/>
          </a:xfrm>
          <a:prstGeom prst="rect">
            <a:avLst/>
          </a:prstGeom>
          <a:noFill/>
        </p:spPr>
        <p:txBody>
          <a:bodyPr wrap="square" tIns="72000" bIns="36000">
            <a:no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解析対象モデル</a:t>
            </a: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
                <a:srgbClr val="0070C0"/>
              </a:buClr>
              <a:buSzTx/>
              <a:buFontTx/>
              <a:buNone/>
              <a:tabLst/>
              <a:defRPr/>
            </a:pP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p:txBody>
      </p:sp>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341" y="1262483"/>
            <a:ext cx="7384143" cy="42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テキスト ボックス 5"/>
          <p:cNvSpPr txBox="1"/>
          <p:nvPr/>
        </p:nvSpPr>
        <p:spPr>
          <a:xfrm>
            <a:off x="7392144" y="520874"/>
            <a:ext cx="4691211" cy="5251813"/>
          </a:xfrm>
          <a:prstGeom prst="rect">
            <a:avLst/>
          </a:prstGeom>
          <a:noFill/>
        </p:spPr>
        <p:txBody>
          <a:bodyPr wrap="square" tIns="72000" bIns="0" rtlCol="0">
            <a:spAutoFit/>
          </a:bodyPr>
          <a:lstStyle/>
          <a:p>
            <a:pPr marL="342900" marR="0" lvl="0" indent="-342900" algn="l" defTabSz="457200" rtl="0" eaLnBrk="1" fontAlgn="auto" latinLnBrk="0" hangingPunct="1">
              <a:lnSpc>
                <a:spcPct val="120000"/>
              </a:lnSpc>
              <a:spcBef>
                <a:spcPts val="0"/>
              </a:spcBef>
              <a:spcAft>
                <a:spcPts val="0"/>
              </a:spcAft>
              <a:buClr>
                <a:srgbClr val="0070C0"/>
              </a:buClr>
              <a:buSzTx/>
              <a:buFont typeface="メイリオ" panose="020B0604030504040204" pitchFamily="50" charset="-128"/>
              <a:buChar char="▶"/>
              <a:tabLst/>
              <a:defRPr/>
            </a:pP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解析条件</a:t>
            </a:r>
            <a:endParaRPr kumimoji="1" lang="en-US" altLang="ja-JP" sz="2000" b="1" i="0" u="none" strike="noStrike" kern="1200" cap="none" spc="0" normalizeH="0" baseline="0" noProof="0">
              <a:ln>
                <a:noFill/>
              </a:ln>
              <a:solidFill>
                <a:srgbClr val="0070C0"/>
              </a:solidFill>
              <a:effectLst/>
              <a:uLnTx/>
              <a:uFillTx/>
              <a:latin typeface="Arial"/>
              <a:ea typeface="メイリオ"/>
              <a:cs typeface="+mn-cs"/>
            </a:endParaRPr>
          </a:p>
          <a:p>
            <a:pPr marL="717550" marR="0" lvl="0" indent="-355600" algn="l" defTabSz="457200" rtl="0" eaLnBrk="1" fontAlgn="auto" latinLnBrk="0" hangingPunct="1">
              <a:lnSpc>
                <a:spcPct val="120000"/>
              </a:lnSpc>
              <a:spcBef>
                <a:spcPts val="0"/>
              </a:spcBef>
              <a:spcAft>
                <a:spcPts val="0"/>
              </a:spcAft>
              <a:buClr>
                <a:srgbClr val="0070C0"/>
              </a:buClr>
              <a:buSzTx/>
              <a:buFont typeface="Wingdings" panose="05000000000000000000" pitchFamily="2" charset="2"/>
              <a:buChar char="l"/>
              <a:tabLst/>
              <a:defRPr/>
            </a:pPr>
            <a:r>
              <a:rPr kumimoji="1" lang="ja-JP" altLang="en-US" sz="1800" b="1" i="0" u="none" strike="noStrike" kern="1200" cap="none" spc="0" normalizeH="0" baseline="0" noProof="0">
                <a:ln>
                  <a:noFill/>
                </a:ln>
                <a:solidFill>
                  <a:srgbClr val="0070C0"/>
                </a:solidFill>
                <a:effectLst/>
                <a:uLnTx/>
                <a:uFillTx/>
                <a:latin typeface="Arial"/>
                <a:ea typeface="メイリオ"/>
                <a:cs typeface="+mn-cs"/>
              </a:rPr>
              <a:t>負荷変動量のパラメータ</a:t>
            </a:r>
            <a:endParaRPr kumimoji="1" lang="en-US" altLang="ja-JP" sz="1800" b="1" i="0" u="none" strike="noStrike" kern="1200" cap="none" spc="0" normalizeH="0" baseline="0" noProof="0">
              <a:ln>
                <a:noFill/>
              </a:ln>
              <a:solidFill>
                <a:srgbClr val="0070C0"/>
              </a:solidFill>
              <a:effectLst/>
              <a:uLnTx/>
              <a:uFillTx/>
              <a:latin typeface="Arial"/>
              <a:ea typeface="メイリオ"/>
              <a:cs typeface="+mn-cs"/>
            </a:endParaRPr>
          </a:p>
          <a:p>
            <a:pPr marL="1079500" marR="0" lvl="0" indent="-361950" algn="l" defTabSz="457200" rtl="0" eaLnBrk="1" fontAlgn="auto" latinLnBrk="0" hangingPunct="1">
              <a:lnSpc>
                <a:spcPct val="120000"/>
              </a:lnSpc>
              <a:spcBef>
                <a:spcPts val="0"/>
              </a:spcBef>
              <a:spcAft>
                <a:spcPts val="0"/>
              </a:spcAft>
              <a:buClr>
                <a:srgbClr val="0070C0"/>
              </a:buClr>
              <a:buSzTx/>
              <a:buFont typeface="Wingdings" panose="05000000000000000000" pitchFamily="2" charset="2"/>
              <a:buChar char="n"/>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有効電力変動</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Δ</a:t>
            </a:r>
            <a:r>
              <a:rPr kumimoji="1" lang="en-US" altLang="ja-JP" sz="1800" b="1" i="1" u="none" strike="noStrike" kern="1200" cap="none" spc="0" normalizeH="0" baseline="0" noProof="0">
                <a:ln>
                  <a:noFill/>
                </a:ln>
                <a:solidFill>
                  <a:prstClr val="black"/>
                </a:solidFill>
                <a:effectLst/>
                <a:uLnTx/>
                <a:uFillTx/>
                <a:latin typeface="Arial"/>
                <a:ea typeface="メイリオ"/>
                <a:cs typeface="+mn-cs"/>
              </a:rPr>
              <a:t>P</a:t>
            </a:r>
            <a:br>
              <a:rPr kumimoji="1" lang="en-US" altLang="ja-JP" sz="1800" b="1" i="0" u="none" strike="noStrike" kern="1200" cap="none" spc="0" normalizeH="0" baseline="0" noProof="0">
                <a:ln>
                  <a:noFill/>
                </a:ln>
                <a:solidFill>
                  <a:prstClr val="black"/>
                </a:solidFill>
                <a:effectLst/>
                <a:uLnTx/>
                <a:uFillTx/>
                <a:latin typeface="Arial"/>
                <a:ea typeface="メイリオ"/>
                <a:cs typeface="+mn-cs"/>
              </a:rPr>
            </a:b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　</a:t>
            </a:r>
            <a:r>
              <a:rPr kumimoji="1" lang="en-US" altLang="ja-JP" sz="1800" b="1" i="0" u="none" strike="noStrike" kern="1200" cap="none" spc="0" normalizeH="0" baseline="0" noProof="0">
                <a:ln>
                  <a:noFill/>
                </a:ln>
                <a:solidFill>
                  <a:prstClr val="black"/>
                </a:solidFill>
                <a:effectLst/>
                <a:uLnTx/>
                <a:uFillTx/>
                <a:latin typeface="Arial"/>
                <a:ea typeface="メイリオ"/>
                <a:cs typeface="Times New Roman"/>
              </a:rPr>
              <a:t>−</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10MW</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Δ</a:t>
            </a:r>
            <a:r>
              <a:rPr kumimoji="1" lang="en-US" altLang="ja-JP" sz="1800" b="1" i="1" u="none" strike="noStrike" kern="1200" cap="none" spc="0" normalizeH="0" baseline="0" noProof="0">
                <a:ln>
                  <a:noFill/>
                </a:ln>
                <a:solidFill>
                  <a:prstClr val="black"/>
                </a:solidFill>
                <a:effectLst/>
                <a:uLnTx/>
                <a:uFillTx/>
                <a:latin typeface="Arial"/>
                <a:ea typeface="メイリオ"/>
                <a:cs typeface="+mn-cs"/>
              </a:rPr>
              <a:t>P</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+10MW</a:t>
            </a:r>
            <a:br>
              <a:rPr kumimoji="1" lang="en-US" altLang="ja-JP" sz="1800" b="1" i="0" u="none" strike="noStrike" kern="1200" cap="none" spc="0" normalizeH="0" baseline="0" noProof="0">
                <a:ln>
                  <a:noFill/>
                </a:ln>
                <a:solidFill>
                  <a:prstClr val="black"/>
                </a:solidFill>
                <a:effectLst/>
                <a:uLnTx/>
                <a:uFillTx/>
                <a:latin typeface="Arial"/>
                <a:ea typeface="メイリオ"/>
                <a:cs typeface="+mn-cs"/>
              </a:rPr>
            </a:b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　正：負荷消費電力  増加</a:t>
            </a:r>
            <a:br>
              <a:rPr kumimoji="1" lang="en-US" altLang="ja-JP" sz="1800" b="1" i="0" u="none" strike="noStrike" kern="1200" cap="none" spc="0" normalizeH="0" baseline="0" noProof="0">
                <a:ln>
                  <a:noFill/>
                </a:ln>
                <a:solidFill>
                  <a:prstClr val="black"/>
                </a:solidFill>
                <a:effectLst/>
                <a:uLnTx/>
                <a:uFillTx/>
                <a:latin typeface="Arial"/>
                <a:ea typeface="メイリオ"/>
                <a:cs typeface="+mn-cs"/>
              </a:rPr>
            </a:b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　負：負荷消費電力  減少</a:t>
            </a:r>
            <a:endParaRPr kumimoji="1" lang="en-US" altLang="ja-JP" sz="1800" b="1" i="0" u="none" strike="noStrike" kern="1200" cap="none" spc="0" normalizeH="0" baseline="0" noProof="0">
              <a:ln>
                <a:noFill/>
              </a:ln>
              <a:solidFill>
                <a:prstClr val="black"/>
              </a:solidFill>
              <a:effectLst/>
              <a:uLnTx/>
              <a:uFillTx/>
              <a:latin typeface="Arial"/>
              <a:ea typeface="メイリオ"/>
              <a:cs typeface="+mn-cs"/>
            </a:endParaRPr>
          </a:p>
          <a:p>
            <a:pPr marL="1079500" marR="0" lvl="0" indent="-361950" algn="l" defTabSz="457200" rtl="0" eaLnBrk="1" fontAlgn="auto" latinLnBrk="0" hangingPunct="1">
              <a:lnSpc>
                <a:spcPct val="120000"/>
              </a:lnSpc>
              <a:spcBef>
                <a:spcPts val="600"/>
              </a:spcBef>
              <a:spcAft>
                <a:spcPts val="0"/>
              </a:spcAft>
              <a:buClr>
                <a:srgbClr val="0070C0"/>
              </a:buClr>
              <a:buSzTx/>
              <a:buFont typeface="Wingdings" panose="05000000000000000000" pitchFamily="2" charset="2"/>
              <a:buChar char="n"/>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無効電力変動</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Δ</a:t>
            </a:r>
            <a:r>
              <a:rPr kumimoji="1" lang="en-US" altLang="ja-JP" sz="1800" b="1" i="1" u="none" strike="noStrike" kern="1200" cap="none" spc="0" normalizeH="0" baseline="0" noProof="0">
                <a:ln>
                  <a:noFill/>
                </a:ln>
                <a:solidFill>
                  <a:prstClr val="black"/>
                </a:solidFill>
                <a:effectLst/>
                <a:uLnTx/>
                <a:uFillTx/>
                <a:latin typeface="Arial"/>
                <a:ea typeface="メイリオ"/>
                <a:cs typeface="+mn-cs"/>
              </a:rPr>
              <a:t>Q</a:t>
            </a:r>
            <a:br>
              <a:rPr kumimoji="1" lang="en-US" altLang="ja-JP" sz="1800" b="1" i="0" u="none" strike="noStrike" kern="1200" cap="none" spc="0" normalizeH="0" baseline="0" noProof="0">
                <a:ln>
                  <a:noFill/>
                </a:ln>
                <a:solidFill>
                  <a:prstClr val="black"/>
                </a:solidFill>
                <a:effectLst/>
                <a:uLnTx/>
                <a:uFillTx/>
                <a:latin typeface="Arial"/>
                <a:ea typeface="メイリオ"/>
                <a:cs typeface="+mn-cs"/>
              </a:rPr>
            </a:b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　</a:t>
            </a:r>
            <a:r>
              <a:rPr kumimoji="1" lang="en-US" altLang="ja-JP" sz="1800" b="1" i="0" u="none" strike="noStrike" kern="1200" cap="none" spc="0" normalizeH="0" baseline="0" noProof="0">
                <a:ln>
                  <a:noFill/>
                </a:ln>
                <a:solidFill>
                  <a:prstClr val="black"/>
                </a:solidFill>
                <a:effectLst/>
                <a:uLnTx/>
                <a:uFillTx/>
                <a:latin typeface="Arial"/>
                <a:ea typeface="メイリオ"/>
                <a:cs typeface="Times New Roman"/>
              </a:rPr>
              <a:t>−</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10MVar</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Δ</a:t>
            </a:r>
            <a:r>
              <a:rPr kumimoji="1" lang="en-US" altLang="ja-JP" sz="1800" b="1" i="1" u="none" strike="noStrike" kern="1200" cap="none" spc="0" normalizeH="0" baseline="0" noProof="0">
                <a:ln>
                  <a:noFill/>
                </a:ln>
                <a:solidFill>
                  <a:prstClr val="black"/>
                </a:solidFill>
                <a:effectLst/>
                <a:uLnTx/>
                <a:uFillTx/>
                <a:latin typeface="Arial"/>
                <a:ea typeface="メイリオ"/>
                <a:cs typeface="+mn-cs"/>
              </a:rPr>
              <a:t>Q</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+10MVar</a:t>
            </a:r>
            <a:br>
              <a:rPr kumimoji="1" lang="en-US" altLang="ja-JP" sz="1800" b="1" i="0" u="none" strike="noStrike" kern="1200" cap="none" spc="0" normalizeH="0" baseline="0" noProof="0">
                <a:ln>
                  <a:noFill/>
                </a:ln>
                <a:solidFill>
                  <a:prstClr val="black"/>
                </a:solidFill>
                <a:effectLst/>
                <a:uLnTx/>
                <a:uFillTx/>
                <a:latin typeface="Arial"/>
                <a:ea typeface="メイリオ"/>
                <a:cs typeface="+mn-cs"/>
              </a:rPr>
            </a:b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　正：誘導性負荷  増加</a:t>
            </a:r>
            <a:br>
              <a:rPr kumimoji="1" lang="en-US" altLang="ja-JP" sz="1800" b="1" i="0" u="none" strike="noStrike" kern="1200" cap="none" spc="0" normalizeH="0" baseline="0" noProof="0">
                <a:ln>
                  <a:noFill/>
                </a:ln>
                <a:solidFill>
                  <a:prstClr val="black"/>
                </a:solidFill>
                <a:effectLst/>
                <a:uLnTx/>
                <a:uFillTx/>
                <a:latin typeface="Arial"/>
                <a:ea typeface="メイリオ"/>
                <a:cs typeface="+mn-cs"/>
              </a:rPr>
            </a:b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　負：誘導性負荷  減少</a:t>
            </a:r>
            <a:endParaRPr kumimoji="1" lang="en-US" altLang="ja-JP" sz="1800" b="1" i="0" u="none" strike="noStrike" kern="1200" cap="none" spc="0" normalizeH="0" baseline="0" noProof="0">
              <a:ln>
                <a:noFill/>
              </a:ln>
              <a:solidFill>
                <a:prstClr val="black"/>
              </a:solidFill>
              <a:effectLst/>
              <a:uLnTx/>
              <a:uFillTx/>
              <a:latin typeface="Arial"/>
              <a:ea typeface="メイリオ"/>
              <a:cs typeface="+mn-cs"/>
            </a:endParaRPr>
          </a:p>
          <a:p>
            <a:pPr marL="717550" marR="0" lvl="0" indent="-355600" algn="l" defTabSz="457200" rtl="0" eaLnBrk="1" fontAlgn="auto" latinLnBrk="0" hangingPunct="1">
              <a:lnSpc>
                <a:spcPct val="120000"/>
              </a:lnSpc>
              <a:spcBef>
                <a:spcPts val="600"/>
              </a:spcBef>
              <a:spcAft>
                <a:spcPts val="0"/>
              </a:spcAft>
              <a:buClr>
                <a:srgbClr val="0070C0"/>
              </a:buClr>
              <a:buSzTx/>
              <a:buFont typeface="Wingdings" panose="05000000000000000000" pitchFamily="2" charset="2"/>
              <a:buChar char="l"/>
              <a:tabLst/>
              <a:defRPr/>
            </a:pPr>
            <a:r>
              <a:rPr kumimoji="1" lang="ja-JP" altLang="en-US" sz="1800" b="1" i="0" u="none" strike="noStrike" kern="1200" cap="none" spc="0" normalizeH="0" baseline="0" noProof="0">
                <a:ln>
                  <a:noFill/>
                </a:ln>
                <a:solidFill>
                  <a:srgbClr val="0070C0"/>
                </a:solidFill>
                <a:effectLst/>
                <a:uLnTx/>
                <a:uFillTx/>
                <a:latin typeface="Arial"/>
                <a:ea typeface="メイリオ"/>
                <a:cs typeface="+mn-cs"/>
              </a:rPr>
              <a:t>短絡容量比（</a:t>
            </a:r>
            <a:r>
              <a:rPr kumimoji="1" lang="en-US" altLang="ja-JP" sz="1800" b="1" i="0" u="none" strike="noStrike" kern="1200" cap="none" spc="0" normalizeH="0" baseline="0" noProof="0">
                <a:ln>
                  <a:noFill/>
                </a:ln>
                <a:solidFill>
                  <a:srgbClr val="0070C0"/>
                </a:solidFill>
                <a:effectLst/>
                <a:uLnTx/>
                <a:uFillTx/>
                <a:latin typeface="Arial"/>
                <a:ea typeface="メイリオ"/>
                <a:cs typeface="+mn-cs"/>
              </a:rPr>
              <a:t>SCR </a:t>
            </a:r>
            <a:r>
              <a:rPr kumimoji="1" lang="en-US" altLang="ja-JP" sz="1800" b="1" i="0" u="none" strike="noStrike" kern="1200" cap="none" spc="0" normalizeH="0" baseline="30000" noProof="0">
                <a:ln>
                  <a:noFill/>
                </a:ln>
                <a:solidFill>
                  <a:srgbClr val="0070C0"/>
                </a:solidFill>
                <a:effectLst/>
                <a:uLnTx/>
                <a:uFillTx/>
                <a:latin typeface="Arial"/>
                <a:ea typeface="メイリオ"/>
                <a:cs typeface="+mn-cs"/>
              </a:rPr>
              <a:t>[2]</a:t>
            </a:r>
            <a:r>
              <a:rPr kumimoji="1" lang="ja-JP" altLang="en-US" sz="1800" b="1" i="0" u="none" strike="noStrike" kern="1200" cap="none" spc="0" normalizeH="0" baseline="0" noProof="0">
                <a:ln>
                  <a:noFill/>
                </a:ln>
                <a:solidFill>
                  <a:srgbClr val="0070C0"/>
                </a:solidFill>
                <a:effectLst/>
                <a:uLnTx/>
                <a:uFillTx/>
                <a:latin typeface="Arial"/>
                <a:ea typeface="メイリオ"/>
                <a:cs typeface="+mn-cs"/>
              </a:rPr>
              <a:t>）のパラメータ</a:t>
            </a:r>
            <a:endParaRPr kumimoji="1" lang="en-US" altLang="ja-JP" sz="1800" b="1" i="0" u="none" strike="noStrike" kern="1200" cap="none" spc="0" normalizeH="0" baseline="0" noProof="0">
              <a:ln>
                <a:noFill/>
              </a:ln>
              <a:solidFill>
                <a:srgbClr val="0070C0"/>
              </a:solidFill>
              <a:effectLst/>
              <a:uLnTx/>
              <a:uFillTx/>
              <a:latin typeface="Arial"/>
              <a:ea typeface="メイリオ"/>
              <a:cs typeface="+mn-cs"/>
            </a:endParaRPr>
          </a:p>
          <a:p>
            <a:pPr marL="717550" marR="0" lvl="0" indent="-355600" algn="l" defTabSz="457200" rtl="0" eaLnBrk="1" fontAlgn="auto" latinLnBrk="0" hangingPunct="1">
              <a:lnSpc>
                <a:spcPct val="120000"/>
              </a:lnSpc>
              <a:spcBef>
                <a:spcPts val="1200"/>
              </a:spcBef>
              <a:spcAft>
                <a:spcPts val="0"/>
              </a:spcAft>
              <a:buClr>
                <a:srgbClr val="0070C0"/>
              </a:buClr>
              <a:buSzTx/>
              <a:buFont typeface="Wingdings" panose="05000000000000000000" pitchFamily="2" charset="2"/>
              <a:buChar char="l"/>
              <a:tabLst/>
              <a:defRPr/>
            </a:pPr>
            <a:endParaRPr kumimoji="1" lang="en-US" altLang="ja-JP" sz="18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20000"/>
              </a:lnSpc>
              <a:spcBef>
                <a:spcPts val="0"/>
              </a:spcBef>
              <a:spcAft>
                <a:spcPts val="0"/>
              </a:spcAft>
              <a:buClrTx/>
              <a:buSzTx/>
              <a:buFontTx/>
              <a:buNone/>
              <a:tabLst/>
              <a:defRPr/>
            </a:pPr>
            <a:endParaRPr kumimoji="1" lang="en-US" altLang="ja-JP" sz="2400" b="0"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20000"/>
              </a:lnSpc>
              <a:spcBef>
                <a:spcPts val="0"/>
              </a:spcBef>
              <a:spcAft>
                <a:spcPts val="0"/>
              </a:spcAft>
              <a:buClrTx/>
              <a:buSzTx/>
              <a:buFontTx/>
              <a:buNone/>
              <a:tabLst/>
              <a:defRPr/>
            </a:pPr>
            <a:endParaRPr kumimoji="1" lang="ja-JP" altLang="en-US" sz="2400" b="0" i="0" u="none" strike="noStrike" kern="1200" cap="none" spc="0" normalizeH="0" baseline="0" noProof="0">
              <a:ln>
                <a:noFill/>
              </a:ln>
              <a:solidFill>
                <a:prstClr val="black"/>
              </a:solidFill>
              <a:effectLst/>
              <a:uLnTx/>
              <a:uFillTx/>
              <a:latin typeface="Arial"/>
              <a:ea typeface="メイリオ"/>
              <a:cs typeface="+mn-cs"/>
            </a:endParaRPr>
          </a:p>
        </p:txBody>
      </p:sp>
      <p:sp>
        <p:nvSpPr>
          <p:cNvPr id="110" name="テキスト ボックス 109">
            <a:extLst>
              <a:ext uri="{FF2B5EF4-FFF2-40B4-BE49-F238E27FC236}">
                <a16:creationId xmlns:a16="http://schemas.microsoft.com/office/drawing/2014/main" id="{09930155-4126-A5C4-56AA-A632A8738BEA}"/>
              </a:ext>
            </a:extLst>
          </p:cNvPr>
          <p:cNvSpPr txBox="1"/>
          <p:nvPr/>
        </p:nvSpPr>
        <p:spPr>
          <a:xfrm>
            <a:off x="6898779" y="193881"/>
            <a:ext cx="3456385" cy="288147"/>
          </a:xfrm>
          <a:prstGeom prst="rect">
            <a:avLst/>
          </a:prstGeom>
          <a:noFill/>
        </p:spPr>
        <p:txBody>
          <a:bodyPr wrap="square" tIns="72000" bIns="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[2] SCR : Short-circuit Capacity Ratio</a:t>
            </a:r>
          </a:p>
        </p:txBody>
      </p:sp>
      <p:graphicFrame>
        <p:nvGraphicFramePr>
          <p:cNvPr id="7" name="表 6"/>
          <p:cNvGraphicFramePr>
            <a:graphicFrameLocks noGrp="1"/>
          </p:cNvGraphicFramePr>
          <p:nvPr>
            <p:extLst>
              <p:ext uri="{D42A27DB-BD31-4B8C-83A1-F6EECF244321}">
                <p14:modId xmlns:p14="http://schemas.microsoft.com/office/powerpoint/2010/main" val="2918581536"/>
              </p:ext>
            </p:extLst>
          </p:nvPr>
        </p:nvGraphicFramePr>
        <p:xfrm>
          <a:off x="7879697" y="4427294"/>
          <a:ext cx="3960444" cy="642720"/>
        </p:xfrm>
        <a:graphic>
          <a:graphicData uri="http://schemas.openxmlformats.org/drawingml/2006/table">
            <a:tbl>
              <a:tblPr firstRow="1" bandRow="1">
                <a:tableStyleId>{5C22544A-7EE6-4342-B048-85BDC9FD1C3A}</a:tableStyleId>
              </a:tblPr>
              <a:tblGrid>
                <a:gridCol w="660074">
                  <a:extLst>
                    <a:ext uri="{9D8B030D-6E8A-4147-A177-3AD203B41FA5}">
                      <a16:colId xmlns:a16="http://schemas.microsoft.com/office/drawing/2014/main" val="20000"/>
                    </a:ext>
                  </a:extLst>
                </a:gridCol>
                <a:gridCol w="660074">
                  <a:extLst>
                    <a:ext uri="{9D8B030D-6E8A-4147-A177-3AD203B41FA5}">
                      <a16:colId xmlns:a16="http://schemas.microsoft.com/office/drawing/2014/main" val="20001"/>
                    </a:ext>
                  </a:extLst>
                </a:gridCol>
                <a:gridCol w="660074">
                  <a:extLst>
                    <a:ext uri="{9D8B030D-6E8A-4147-A177-3AD203B41FA5}">
                      <a16:colId xmlns:a16="http://schemas.microsoft.com/office/drawing/2014/main" val="20002"/>
                    </a:ext>
                  </a:extLst>
                </a:gridCol>
                <a:gridCol w="660074">
                  <a:extLst>
                    <a:ext uri="{9D8B030D-6E8A-4147-A177-3AD203B41FA5}">
                      <a16:colId xmlns:a16="http://schemas.microsoft.com/office/drawing/2014/main" val="20003"/>
                    </a:ext>
                  </a:extLst>
                </a:gridCol>
                <a:gridCol w="660074">
                  <a:extLst>
                    <a:ext uri="{9D8B030D-6E8A-4147-A177-3AD203B41FA5}">
                      <a16:colId xmlns:a16="http://schemas.microsoft.com/office/drawing/2014/main" val="20004"/>
                    </a:ext>
                  </a:extLst>
                </a:gridCol>
                <a:gridCol w="660074">
                  <a:extLst>
                    <a:ext uri="{9D8B030D-6E8A-4147-A177-3AD203B41FA5}">
                      <a16:colId xmlns:a16="http://schemas.microsoft.com/office/drawing/2014/main" val="20005"/>
                    </a:ext>
                  </a:extLst>
                </a:gridCol>
              </a:tblGrid>
              <a:tr h="252028">
                <a:tc>
                  <a:txBody>
                    <a:bodyPr/>
                    <a:lstStyle/>
                    <a:p>
                      <a:pPr algn="ctr"/>
                      <a:r>
                        <a:rPr kumimoji="1" lang="en-US" altLang="ja-JP" sz="1400" b="1">
                          <a:latin typeface="+mn-lt"/>
                        </a:rPr>
                        <a:t>SCR</a:t>
                      </a:r>
                      <a:endParaRPr kumimoji="1" lang="ja-JP" altLang="en-US" sz="1400" b="1">
                        <a:latin typeface="+mn-lt"/>
                      </a:endParaRPr>
                    </a:p>
                  </a:txBody>
                  <a:tcPr marT="72000" marB="36000" anchor="ctr"/>
                </a:tc>
                <a:tc>
                  <a:txBody>
                    <a:bodyPr/>
                    <a:lstStyle/>
                    <a:p>
                      <a:pPr algn="ctr"/>
                      <a:r>
                        <a:rPr kumimoji="1" lang="en-US" altLang="ja-JP" sz="1400" b="1">
                          <a:latin typeface="+mn-lt"/>
                        </a:rPr>
                        <a:t>5</a:t>
                      </a:r>
                      <a:endParaRPr kumimoji="1" lang="ja-JP" altLang="en-US" sz="1400" b="1">
                        <a:latin typeface="+mn-lt"/>
                      </a:endParaRPr>
                    </a:p>
                  </a:txBody>
                  <a:tcPr marT="72000" marB="36000" anchor="ctr"/>
                </a:tc>
                <a:tc>
                  <a:txBody>
                    <a:bodyPr/>
                    <a:lstStyle/>
                    <a:p>
                      <a:pPr algn="ctr"/>
                      <a:r>
                        <a:rPr kumimoji="1" lang="en-US" altLang="ja-JP" sz="1400" b="1">
                          <a:latin typeface="+mn-lt"/>
                        </a:rPr>
                        <a:t>4</a:t>
                      </a:r>
                      <a:endParaRPr kumimoji="1" lang="ja-JP" altLang="en-US" sz="1400" b="1">
                        <a:latin typeface="+mn-lt"/>
                      </a:endParaRPr>
                    </a:p>
                  </a:txBody>
                  <a:tcPr marT="72000" marB="36000" anchor="ctr"/>
                </a:tc>
                <a:tc>
                  <a:txBody>
                    <a:bodyPr/>
                    <a:lstStyle/>
                    <a:p>
                      <a:pPr algn="ctr"/>
                      <a:r>
                        <a:rPr kumimoji="1" lang="en-US" altLang="ja-JP" sz="1400" b="1">
                          <a:latin typeface="+mn-lt"/>
                        </a:rPr>
                        <a:t>3</a:t>
                      </a:r>
                      <a:endParaRPr kumimoji="1" lang="ja-JP" altLang="en-US" sz="1400" b="1">
                        <a:latin typeface="+mn-lt"/>
                      </a:endParaRPr>
                    </a:p>
                  </a:txBody>
                  <a:tcPr marT="72000" marB="36000" anchor="ctr"/>
                </a:tc>
                <a:tc>
                  <a:txBody>
                    <a:bodyPr/>
                    <a:lstStyle/>
                    <a:p>
                      <a:pPr algn="ctr"/>
                      <a:r>
                        <a:rPr kumimoji="1" lang="en-US" altLang="ja-JP" sz="1400" b="1">
                          <a:latin typeface="+mn-lt"/>
                        </a:rPr>
                        <a:t>2</a:t>
                      </a:r>
                      <a:endParaRPr kumimoji="1" lang="ja-JP" altLang="en-US" sz="1400" b="1">
                        <a:latin typeface="+mn-lt"/>
                      </a:endParaRPr>
                    </a:p>
                  </a:txBody>
                  <a:tcPr marT="72000" marB="36000" anchor="ctr"/>
                </a:tc>
                <a:tc>
                  <a:txBody>
                    <a:bodyPr/>
                    <a:lstStyle/>
                    <a:p>
                      <a:pPr algn="ctr"/>
                      <a:r>
                        <a:rPr kumimoji="1" lang="en-US" altLang="ja-JP" sz="1400" b="1">
                          <a:latin typeface="+mn-lt"/>
                        </a:rPr>
                        <a:t>1</a:t>
                      </a:r>
                      <a:endParaRPr kumimoji="1" lang="ja-JP" altLang="en-US" sz="1400" b="1">
                        <a:latin typeface="+mn-lt"/>
                      </a:endParaRPr>
                    </a:p>
                  </a:txBody>
                  <a:tcPr marT="72000" marB="36000" anchor="ctr"/>
                </a:tc>
                <a:extLst>
                  <a:ext uri="{0D108BD9-81ED-4DB2-BD59-A6C34878D82A}">
                    <a16:rowId xmlns:a16="http://schemas.microsoft.com/office/drawing/2014/main" val="10000"/>
                  </a:ext>
                </a:extLst>
              </a:tr>
              <a:tr h="252028">
                <a:tc>
                  <a:txBody>
                    <a:bodyPr/>
                    <a:lstStyle/>
                    <a:p>
                      <a:pPr algn="ctr"/>
                      <a:r>
                        <a:rPr kumimoji="1" lang="en-US" altLang="ja-JP" sz="1400" b="1" i="1">
                          <a:latin typeface="+mn-lt"/>
                        </a:rPr>
                        <a:t>X</a:t>
                      </a:r>
                      <a:r>
                        <a:rPr kumimoji="1" lang="en-US" altLang="ja-JP" sz="1400" b="1">
                          <a:latin typeface="+mn-lt"/>
                        </a:rPr>
                        <a:t>(pu)</a:t>
                      </a:r>
                      <a:endParaRPr kumimoji="1" lang="ja-JP" altLang="en-US" sz="1400" b="1">
                        <a:latin typeface="+mn-lt"/>
                      </a:endParaRPr>
                    </a:p>
                  </a:txBody>
                  <a:tcPr marT="72000" marB="36000" anchor="ctr"/>
                </a:tc>
                <a:tc>
                  <a:txBody>
                    <a:bodyPr/>
                    <a:lstStyle/>
                    <a:p>
                      <a:pPr algn="ctr"/>
                      <a:r>
                        <a:rPr kumimoji="1" lang="en-US" altLang="ja-JP" sz="1400" b="1">
                          <a:latin typeface="+mn-lt"/>
                        </a:rPr>
                        <a:t>0.20</a:t>
                      </a:r>
                      <a:endParaRPr kumimoji="1" lang="ja-JP" altLang="en-US" sz="1400" b="1">
                        <a:latin typeface="+mn-lt"/>
                      </a:endParaRPr>
                    </a:p>
                  </a:txBody>
                  <a:tcPr marT="72000" marB="36000" anchor="ctr"/>
                </a:tc>
                <a:tc>
                  <a:txBody>
                    <a:bodyPr/>
                    <a:lstStyle/>
                    <a:p>
                      <a:pPr algn="ctr"/>
                      <a:r>
                        <a:rPr kumimoji="1" lang="en-US" altLang="ja-JP" sz="1400" b="1">
                          <a:latin typeface="+mn-lt"/>
                        </a:rPr>
                        <a:t>0.25</a:t>
                      </a:r>
                      <a:endParaRPr kumimoji="1" lang="ja-JP" altLang="en-US" sz="1400" b="1">
                        <a:latin typeface="+mn-lt"/>
                      </a:endParaRPr>
                    </a:p>
                  </a:txBody>
                  <a:tcPr marT="72000" marB="36000" anchor="ctr"/>
                </a:tc>
                <a:tc>
                  <a:txBody>
                    <a:bodyPr/>
                    <a:lstStyle/>
                    <a:p>
                      <a:pPr algn="ctr"/>
                      <a:r>
                        <a:rPr kumimoji="1" lang="en-US" altLang="ja-JP" sz="1400" b="1">
                          <a:latin typeface="+mn-lt"/>
                        </a:rPr>
                        <a:t>0.33</a:t>
                      </a:r>
                      <a:endParaRPr kumimoji="1" lang="ja-JP" altLang="en-US" sz="1400" b="1">
                        <a:latin typeface="+mn-lt"/>
                      </a:endParaRPr>
                    </a:p>
                  </a:txBody>
                  <a:tcPr marT="72000" marB="36000" anchor="ctr"/>
                </a:tc>
                <a:tc>
                  <a:txBody>
                    <a:bodyPr/>
                    <a:lstStyle/>
                    <a:p>
                      <a:pPr algn="ctr"/>
                      <a:r>
                        <a:rPr kumimoji="1" lang="en-US" altLang="ja-JP" sz="1400" b="1">
                          <a:latin typeface="+mn-lt"/>
                        </a:rPr>
                        <a:t>0.50</a:t>
                      </a:r>
                      <a:endParaRPr kumimoji="1" lang="ja-JP" altLang="en-US" sz="1400" b="1">
                        <a:latin typeface="+mn-lt"/>
                      </a:endParaRPr>
                    </a:p>
                  </a:txBody>
                  <a:tcPr marT="72000" marB="36000" anchor="ctr"/>
                </a:tc>
                <a:tc>
                  <a:txBody>
                    <a:bodyPr/>
                    <a:lstStyle/>
                    <a:p>
                      <a:pPr algn="ctr"/>
                      <a:r>
                        <a:rPr kumimoji="1" lang="en-US" altLang="ja-JP" sz="1400" b="1">
                          <a:latin typeface="+mn-lt"/>
                        </a:rPr>
                        <a:t>1.0</a:t>
                      </a:r>
                      <a:endParaRPr kumimoji="1" lang="ja-JP" altLang="en-US" sz="1400" b="1">
                        <a:latin typeface="+mn-lt"/>
                      </a:endParaRPr>
                    </a:p>
                  </a:txBody>
                  <a:tcPr marT="72000" marB="36000" anchor="ctr"/>
                </a:tc>
                <a:extLst>
                  <a:ext uri="{0D108BD9-81ED-4DB2-BD59-A6C34878D82A}">
                    <a16:rowId xmlns:a16="http://schemas.microsoft.com/office/drawing/2014/main" val="10001"/>
                  </a:ext>
                </a:extLst>
              </a:tr>
            </a:tbl>
          </a:graphicData>
        </a:graphic>
      </p:graphicFrame>
      <p:sp>
        <p:nvSpPr>
          <p:cNvPr id="12" name="テキスト ボックス 11"/>
          <p:cNvSpPr txBox="1"/>
          <p:nvPr/>
        </p:nvSpPr>
        <p:spPr>
          <a:xfrm>
            <a:off x="2711625" y="982246"/>
            <a:ext cx="5400600" cy="1338828"/>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0070C0"/>
                </a:solidFill>
                <a:effectLst/>
                <a:uLnTx/>
                <a:uFillTx/>
                <a:latin typeface="Arial"/>
                <a:ea typeface="メイリオ"/>
                <a:cs typeface="+mn-cs"/>
              </a:rPr>
              <a:t>シミュレーション目的</a:t>
            </a:r>
            <a:endParaRPr kumimoji="1" lang="en-US" altLang="ja-JP" sz="1800" b="1" i="0" u="none" strike="noStrike" kern="1200" cap="none" spc="0" normalizeH="0" baseline="0" noProof="0">
              <a:ln>
                <a:noFill/>
              </a:ln>
              <a:solidFill>
                <a:srgbClr val="0070C0"/>
              </a:solidFill>
              <a:effectLst/>
              <a:uLnTx/>
              <a:uFillTx/>
              <a:latin typeface="Arial"/>
              <a:ea typeface="メイリオ"/>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　低短絡容量系統における</a:t>
            </a:r>
            <a:endParaRPr kumimoji="1" lang="en-US" altLang="ja-JP" sz="18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　負荷変動に伴う</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GFM</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インバータの応答の確認</a:t>
            </a:r>
          </a:p>
        </p:txBody>
      </p:sp>
      <p:sp>
        <p:nvSpPr>
          <p:cNvPr id="113" name="テキスト ボックス 112"/>
          <p:cNvSpPr txBox="1"/>
          <p:nvPr/>
        </p:nvSpPr>
        <p:spPr>
          <a:xfrm>
            <a:off x="252341" y="5345410"/>
            <a:ext cx="7384143" cy="318924"/>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prstClr val="black"/>
                </a:solidFill>
                <a:effectLst/>
                <a:uLnTx/>
                <a:uFillTx/>
                <a:latin typeface="Arial"/>
                <a:ea typeface="メイリオ"/>
                <a:cs typeface="+mn-cs"/>
              </a:rPr>
              <a:t>解析モデルの構成</a:t>
            </a:r>
          </a:p>
        </p:txBody>
      </p:sp>
      <p:sp>
        <p:nvSpPr>
          <p:cNvPr id="3" name="テキスト ボックス 2">
            <a:extLst>
              <a:ext uri="{FF2B5EF4-FFF2-40B4-BE49-F238E27FC236}">
                <a16:creationId xmlns:a16="http://schemas.microsoft.com/office/drawing/2014/main" id="{DF974377-C6E5-F075-539F-6CAF2A59D81C}"/>
              </a:ext>
            </a:extLst>
          </p:cNvPr>
          <p:cNvSpPr txBox="1"/>
          <p:nvPr/>
        </p:nvSpPr>
        <p:spPr>
          <a:xfrm>
            <a:off x="2324058" y="5905571"/>
            <a:ext cx="7704855" cy="461665"/>
          </a:xfrm>
          <a:prstGeom prst="rect">
            <a:avLst/>
          </a:prstGeom>
          <a:noFill/>
        </p:spPr>
        <p:txBody>
          <a:bodyPr wrap="square">
            <a:spAutoFit/>
          </a:bodyPr>
          <a:lstStyle/>
          <a:p>
            <a:pPr>
              <a:defRPr sz="2000" b="0"/>
            </a:pPr>
            <a:r>
              <a:rPr lang="ja-JP" altLang="en-US" sz="2400" b="1">
                <a:latin typeface="+mj-ea"/>
                <a:ea typeface="+mj-ea"/>
              </a:rPr>
              <a:t>➡長距離送電線における運転可能範囲を定量的に示す</a:t>
            </a:r>
          </a:p>
        </p:txBody>
      </p:sp>
      <p:sp>
        <p:nvSpPr>
          <p:cNvPr id="2" name="矢印: 右 35">
            <a:extLst>
              <a:ext uri="{FF2B5EF4-FFF2-40B4-BE49-F238E27FC236}">
                <a16:creationId xmlns:a16="http://schemas.microsoft.com/office/drawing/2014/main" id="{89F58486-25E9-EF02-429C-937622B38B9E}"/>
              </a:ext>
            </a:extLst>
          </p:cNvPr>
          <p:cNvSpPr/>
          <p:nvPr/>
        </p:nvSpPr>
        <p:spPr>
          <a:xfrm>
            <a:off x="7877613" y="5140985"/>
            <a:ext cx="4302600" cy="62886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tIns="72000" bIns="0" rtlCol="0" anchor="ctr"/>
          <a:lstStyle/>
          <a:p>
            <a:pPr algn="ctr"/>
            <a:r>
              <a:rPr kumimoji="1" lang="en-US" altLang="ja-JP" sz="2000" b="1"/>
              <a:t>SCR</a:t>
            </a:r>
            <a:r>
              <a:rPr kumimoji="1" lang="ja-JP" altLang="en-US" sz="2000" b="1"/>
              <a:t>小（送電線 長距離化）</a:t>
            </a:r>
          </a:p>
        </p:txBody>
      </p:sp>
      <p:sp>
        <p:nvSpPr>
          <p:cNvPr id="9" name="テキスト ボックス 8">
            <a:extLst>
              <a:ext uri="{FF2B5EF4-FFF2-40B4-BE49-F238E27FC236}">
                <a16:creationId xmlns:a16="http://schemas.microsoft.com/office/drawing/2014/main" id="{EB2A6992-A7F9-4A18-8AD1-9F66684BDF4D}"/>
              </a:ext>
            </a:extLst>
          </p:cNvPr>
          <p:cNvSpPr txBox="1"/>
          <p:nvPr/>
        </p:nvSpPr>
        <p:spPr>
          <a:xfrm>
            <a:off x="1616674" y="122125"/>
            <a:ext cx="6115664" cy="431657"/>
          </a:xfrm>
          <a:prstGeom prst="rect">
            <a:avLst/>
          </a:prstGeom>
          <a:noFill/>
        </p:spPr>
        <p:txBody>
          <a:bodyPr wrap="square">
            <a:spAutoFit/>
          </a:bodyPr>
          <a:lstStyle/>
          <a:p>
            <a:pPr marL="342900" marR="0" lvl="0" indent="-342900" algn="l" defTabSz="457200" rtl="0" eaLnBrk="1" fontAlgn="auto" latinLnBrk="0" hangingPunct="1">
              <a:lnSpc>
                <a:spcPct val="130000"/>
              </a:lnSpc>
              <a:spcBef>
                <a:spcPts val="1800"/>
              </a:spcBef>
              <a:spcAft>
                <a:spcPts val="0"/>
              </a:spcAft>
              <a:buClr>
                <a:srgbClr val="0070C0"/>
              </a:buClr>
              <a:buSzTx/>
              <a:buFont typeface="メイリオ" panose="020B0604030504040204" pitchFamily="50" charset="-128"/>
              <a:buChar char="▶"/>
              <a:tabLst/>
              <a:defRPr/>
            </a:pPr>
            <a:r>
              <a:rPr kumimoji="1" lang="ja-JP" altLang="en-US" sz="1800" b="1" i="0" u="none" strike="noStrike" kern="1200" cap="none" spc="0" normalizeH="0" baseline="0" noProof="0">
                <a:ln>
                  <a:noFill/>
                </a:ln>
                <a:solidFill>
                  <a:srgbClr val="0070C0"/>
                </a:solidFill>
                <a:effectLst/>
                <a:uLnTx/>
                <a:uFillTx/>
                <a:latin typeface="Arial"/>
                <a:ea typeface="メイリオ"/>
                <a:cs typeface="+mn-cs"/>
              </a:rPr>
              <a:t>解析ツール</a:t>
            </a:r>
            <a:r>
              <a:rPr lang="en-US" altLang="ja-JP" b="1">
                <a:solidFill>
                  <a:srgbClr val="0070C0"/>
                </a:solidFill>
                <a:latin typeface="Arial"/>
                <a:ea typeface="メイリオ"/>
              </a:rPr>
              <a:t>:</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MATLAB (2025a) Simulink</a:t>
            </a:r>
          </a:p>
        </p:txBody>
      </p:sp>
    </p:spTree>
    <p:custDataLst>
      <p:tags r:id="rId1"/>
    </p:custDataLst>
    <p:extLst>
      <p:ext uri="{BB962C8B-B14F-4D97-AF65-F5344CB8AC3E}">
        <p14:creationId xmlns:p14="http://schemas.microsoft.com/office/powerpoint/2010/main" val="3491358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811258-FE5B-64CD-3C93-BDD290E5632E}"/>
              </a:ext>
            </a:extLst>
          </p:cNvPr>
          <p:cNvSpPr>
            <a:spLocks noGrp="1"/>
          </p:cNvSpPr>
          <p:nvPr>
            <p:ph type="title"/>
          </p:nvPr>
        </p:nvSpPr>
        <p:spPr>
          <a:xfrm>
            <a:off x="486343" y="111713"/>
            <a:ext cx="10515600" cy="490904"/>
          </a:xfrm>
        </p:spPr>
        <p:txBody>
          <a:bodyPr/>
          <a:lstStyle/>
          <a:p>
            <a:r>
              <a:rPr kumimoji="1" lang="ja-JP" altLang="en-US">
                <a:solidFill>
                  <a:schemeClr val="accent1">
                    <a:lumMod val="75000"/>
                  </a:schemeClr>
                </a:solidFill>
              </a:rPr>
              <a:t>理論式の導出および</a:t>
            </a:r>
            <a:r>
              <a:rPr lang="ja-JP" altLang="en-US">
                <a:solidFill>
                  <a:schemeClr val="accent1">
                    <a:lumMod val="75000"/>
                  </a:schemeClr>
                </a:solidFill>
              </a:rPr>
              <a:t>インバータの動作可能条件</a:t>
            </a:r>
            <a:endParaRPr kumimoji="1" lang="ja-JP" altLang="en-US">
              <a:solidFill>
                <a:schemeClr val="accent1">
                  <a:lumMod val="75000"/>
                </a:schemeClr>
              </a:solidFill>
            </a:endParaRPr>
          </a:p>
        </p:txBody>
      </p:sp>
      <p:cxnSp>
        <p:nvCxnSpPr>
          <p:cNvPr id="3" name="直線コネクタ 2">
            <a:extLst>
              <a:ext uri="{FF2B5EF4-FFF2-40B4-BE49-F238E27FC236}">
                <a16:creationId xmlns:a16="http://schemas.microsoft.com/office/drawing/2014/main" id="{69654FD9-E3ED-75DA-7B8E-C98E793AE76B}"/>
              </a:ext>
            </a:extLst>
          </p:cNvPr>
          <p:cNvCxnSpPr>
            <a:cxnSpLocks/>
          </p:cNvCxnSpPr>
          <p:nvPr/>
        </p:nvCxnSpPr>
        <p:spPr>
          <a:xfrm>
            <a:off x="0" y="588468"/>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図 3">
            <a:extLst>
              <a:ext uri="{FF2B5EF4-FFF2-40B4-BE49-F238E27FC236}">
                <a16:creationId xmlns:a16="http://schemas.microsoft.com/office/drawing/2014/main" id="{ADFE5FAE-7B8C-77DB-5CC4-6580B401E6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928E2903-E1CB-1A0B-88FD-224580CCCA84}"/>
                  </a:ext>
                </a:extLst>
              </p:cNvPr>
              <p:cNvSpPr txBox="1"/>
              <p:nvPr/>
            </p:nvSpPr>
            <p:spPr>
              <a:xfrm>
                <a:off x="6304611" y="1044560"/>
                <a:ext cx="6118166" cy="72359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ja-JP" altLang="en-US" sz="2000" i="1" smtClean="0">
                          <a:latin typeface="Cambria Math" panose="02040503050406030204" pitchFamily="18" charset="0"/>
                        </a:rPr>
                        <m:t>負荷変動が</m:t>
                      </m:r>
                      <m:r>
                        <a:rPr lang="ja-JP" altLang="en-US" sz="2000" i="1">
                          <a:latin typeface="Cambria Math" panose="02040503050406030204" pitchFamily="18" charset="0"/>
                        </a:rPr>
                        <m:t>起きた際の</m:t>
                      </m:r>
                      <m:r>
                        <m:rPr>
                          <m:sty m:val="p"/>
                        </m:rPr>
                        <a:rPr lang="en-US" altLang="ja-JP" sz="2000" i="1" smtClean="0">
                          <a:latin typeface="Cambria Math" panose="02040503050406030204" pitchFamily="18" charset="0"/>
                        </a:rPr>
                        <m:t>GFM</m:t>
                      </m:r>
                      <m:r>
                        <a:rPr lang="ja-JP" altLang="en-US" sz="2000" i="1">
                          <a:latin typeface="Cambria Math" panose="02040503050406030204" pitchFamily="18" charset="0"/>
                        </a:rPr>
                        <m:t>インバータ</m:t>
                      </m:r>
                      <m:r>
                        <a:rPr lang="ja-JP" altLang="en-US" sz="2000" i="1" smtClean="0">
                          <a:latin typeface="Cambria Math" panose="02040503050406030204" pitchFamily="18" charset="0"/>
                        </a:rPr>
                        <m:t>出力</m:t>
                      </m:r>
                    </m:oMath>
                  </m:oMathPara>
                </a14:m>
                <a:endParaRPr lang="en-US" altLang="ja-JP" sz="2000" i="1">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l-GR" altLang="ja-JP" sz="2000" b="1" i="1" smtClean="0">
                          <a:latin typeface="Cambria Math" panose="02040503050406030204" pitchFamily="18" charset="0"/>
                        </a:rPr>
                        <m:t>𝜟</m:t>
                      </m:r>
                      <m:r>
                        <a:rPr lang="en-US" altLang="ja-JP" sz="2000" b="1" i="1">
                          <a:latin typeface="Cambria Math" panose="02040503050406030204" pitchFamily="18" charset="0"/>
                        </a:rPr>
                        <m:t>𝑷</m:t>
                      </m:r>
                      <m:r>
                        <a:rPr lang="en-US" altLang="ja-JP" sz="2000" b="1" i="1">
                          <a:latin typeface="Cambria Math" panose="02040503050406030204" pitchFamily="18" charset="0"/>
                        </a:rPr>
                        <m:t>+</m:t>
                      </m:r>
                      <m:r>
                        <a:rPr lang="en-US" altLang="ja-JP" sz="2000" b="1" i="1">
                          <a:latin typeface="Cambria Math" panose="02040503050406030204" pitchFamily="18" charset="0"/>
                        </a:rPr>
                        <m:t>𝒋</m:t>
                      </m:r>
                      <m:r>
                        <a:rPr lang="el-GR" altLang="ja-JP" sz="2000" b="1" i="1">
                          <a:latin typeface="Cambria Math" panose="02040503050406030204" pitchFamily="18" charset="0"/>
                        </a:rPr>
                        <m:t>𝜟</m:t>
                      </m:r>
                      <m:r>
                        <a:rPr lang="en-US" altLang="ja-JP" sz="2000" b="1" i="1">
                          <a:latin typeface="Cambria Math" panose="02040503050406030204" pitchFamily="18" charset="0"/>
                        </a:rPr>
                        <m:t>𝑸</m:t>
                      </m:r>
                      <m:r>
                        <a:rPr lang="en-US" altLang="ja-JP" sz="2000" b="1" i="1">
                          <a:latin typeface="Cambria Math" panose="02040503050406030204" pitchFamily="18" charset="0"/>
                        </a:rPr>
                        <m:t>+</m:t>
                      </m:r>
                      <m:r>
                        <a:rPr lang="en-US" altLang="ja-JP" sz="2000" b="1" i="1">
                          <a:latin typeface="Cambria Math" panose="02040503050406030204" pitchFamily="18" charset="0"/>
                        </a:rPr>
                        <m:t>𝑷𝒈𝒇𝒎</m:t>
                      </m:r>
                      <m:r>
                        <a:rPr lang="en-US" altLang="ja-JP" sz="2000" b="1" i="1">
                          <a:latin typeface="Cambria Math" panose="02040503050406030204" pitchFamily="18" charset="0"/>
                        </a:rPr>
                        <m:t>​+</m:t>
                      </m:r>
                      <m:r>
                        <a:rPr lang="en-US" altLang="ja-JP" sz="2000" b="1" i="1">
                          <a:latin typeface="Cambria Math" panose="02040503050406030204" pitchFamily="18" charset="0"/>
                        </a:rPr>
                        <m:t>𝒋𝑸𝒈𝒇𝒎</m:t>
                      </m:r>
                      <m:r>
                        <a:rPr lang="en-US" altLang="ja-JP" sz="2000" b="1" i="1">
                          <a:latin typeface="Cambria Math" panose="02040503050406030204" pitchFamily="18" charset="0"/>
                        </a:rPr>
                        <m:t>​=</m:t>
                      </m:r>
                      <m:acc>
                        <m:accPr>
                          <m:chr m:val="̇"/>
                          <m:ctrlPr>
                            <a:rPr lang="en-US" altLang="ja-JP" sz="2000" b="1" i="1" smtClean="0">
                              <a:latin typeface="Cambria Math" panose="02040503050406030204" pitchFamily="18" charset="0"/>
                            </a:rPr>
                          </m:ctrlPr>
                        </m:accPr>
                        <m:e>
                          <m:r>
                            <a:rPr lang="en-US" altLang="ja-JP" sz="2000" b="1" i="1" smtClean="0">
                              <a:latin typeface="Cambria Math" panose="02040503050406030204" pitchFamily="18" charset="0"/>
                            </a:rPr>
                            <m:t>𝑽</m:t>
                          </m:r>
                        </m:e>
                      </m:acc>
                      <m:acc>
                        <m:accPr>
                          <m:chr m:val="̇"/>
                          <m:ctrlPr>
                            <a:rPr lang="el-GR" altLang="ja-JP" sz="2000" b="1" i="1" smtClean="0">
                              <a:latin typeface="Cambria Math" panose="02040503050406030204" pitchFamily="18" charset="0"/>
                            </a:rPr>
                          </m:ctrlPr>
                        </m:accPr>
                        <m:e>
                          <m:r>
                            <a:rPr lang="en-US" altLang="ja-JP" sz="2000" b="1" i="1" smtClean="0">
                              <a:latin typeface="Cambria Math" panose="02040503050406030204" pitchFamily="18" charset="0"/>
                            </a:rPr>
                            <m:t>𝑰</m:t>
                          </m:r>
                        </m:e>
                      </m:acc>
                      <m:r>
                        <a:rPr lang="en-US" altLang="ja-JP" sz="2000" b="1" i="1" smtClean="0">
                          <a:latin typeface="Cambria Math" panose="02040503050406030204" pitchFamily="18" charset="0"/>
                        </a:rPr>
                        <m:t>      </m:t>
                      </m:r>
                      <m:d>
                        <m:dPr>
                          <m:ctrlPr>
                            <a:rPr lang="el-GR" altLang="ja-JP" sz="2000" b="1" i="1" smtClean="0">
                              <a:latin typeface="Cambria Math" panose="02040503050406030204" pitchFamily="18" charset="0"/>
                            </a:rPr>
                          </m:ctrlPr>
                        </m:dPr>
                        <m:e>
                          <m:r>
                            <a:rPr lang="en-US" altLang="ja-JP" sz="2000" b="1" i="1" smtClean="0">
                              <a:latin typeface="Cambria Math" panose="02040503050406030204" pitchFamily="18" charset="0"/>
                            </a:rPr>
                            <m:t>𝟏</m:t>
                          </m:r>
                        </m:e>
                      </m:d>
                    </m:oMath>
                  </m:oMathPara>
                </a14:m>
                <a:endParaRPr lang="ja-JP" altLang="en-US" sz="2000" b="1"/>
              </a:p>
            </p:txBody>
          </p:sp>
        </mc:Choice>
        <mc:Fallback xmlns="">
          <p:sp>
            <p:nvSpPr>
              <p:cNvPr id="6" name="テキスト ボックス 5">
                <a:extLst>
                  <a:ext uri="{FF2B5EF4-FFF2-40B4-BE49-F238E27FC236}">
                    <a16:creationId xmlns:a16="http://schemas.microsoft.com/office/drawing/2014/main" id="{928E2903-E1CB-1A0B-88FD-224580CCCA84}"/>
                  </a:ext>
                </a:extLst>
              </p:cNvPr>
              <p:cNvSpPr txBox="1">
                <a:spLocks noRot="1" noChangeAspect="1" noMove="1" noResize="1" noEditPoints="1" noAdjustHandles="1" noChangeArrowheads="1" noChangeShapeType="1" noTextEdit="1"/>
              </p:cNvSpPr>
              <p:nvPr/>
            </p:nvSpPr>
            <p:spPr>
              <a:xfrm>
                <a:off x="6304611" y="1044560"/>
                <a:ext cx="6118166" cy="723596"/>
              </a:xfrm>
              <a:prstGeom prst="rect">
                <a:avLst/>
              </a:prstGeom>
              <a:blipFill>
                <a:blip r:embed="rId4"/>
                <a:stretch>
                  <a:fillRect l="-498" b="-756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F85BAA30-3DD3-EE13-0B9E-436388B2B9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779" y="1140499"/>
            <a:ext cx="5783221" cy="3366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CB74D4F0-1A4F-D555-B4F8-682FC97C59D5}"/>
                  </a:ext>
                </a:extLst>
              </p:cNvPr>
              <p:cNvSpPr txBox="1"/>
              <p:nvPr/>
            </p:nvSpPr>
            <p:spPr>
              <a:xfrm>
                <a:off x="6304611" y="2222018"/>
                <a:ext cx="7306887" cy="77450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ja-JP" altLang="en-US" sz="2000" i="1" smtClean="0">
                          <a:latin typeface="Cambria Math" panose="02040503050406030204" pitchFamily="18" charset="0"/>
                        </a:rPr>
                        <m:t>系統に流れる</m:t>
                      </m:r>
                      <m:r>
                        <a:rPr lang="ja-JP" altLang="en-US" sz="2000" i="1">
                          <a:latin typeface="Cambria Math" panose="02040503050406030204" pitchFamily="18" charset="0"/>
                        </a:rPr>
                        <m:t>電流</m:t>
                      </m:r>
                      <m:r>
                        <a:rPr lang="en-US" altLang="ja-JP" sz="2000" b="1" i="1" smtClean="0">
                          <a:latin typeface="Cambria Math" panose="02040503050406030204" pitchFamily="18" charset="0"/>
                        </a:rPr>
                        <m:t>𝑰</m:t>
                      </m:r>
                      <m:r>
                        <a:rPr lang="en-US" altLang="ja-JP" sz="2000" b="1" i="1" smtClean="0">
                          <a:latin typeface="Cambria Math" panose="02040503050406030204" pitchFamily="18" charset="0"/>
                        </a:rPr>
                        <m:t>=</m:t>
                      </m:r>
                      <m:f>
                        <m:fPr>
                          <m:ctrlPr>
                            <a:rPr lang="en-US" altLang="ja-JP" sz="2000" b="1" i="1" smtClean="0">
                              <a:latin typeface="Cambria Math" panose="02040503050406030204" pitchFamily="18" charset="0"/>
                            </a:rPr>
                          </m:ctrlPr>
                        </m:fPr>
                        <m:num>
                          <m:acc>
                            <m:accPr>
                              <m:chr m:val="̇"/>
                              <m:ctrlPr>
                                <a:rPr lang="en-US" altLang="ja-JP" sz="2000" b="1" i="1" smtClean="0">
                                  <a:latin typeface="Cambria Math" panose="02040503050406030204" pitchFamily="18" charset="0"/>
                                </a:rPr>
                              </m:ctrlPr>
                            </m:accPr>
                            <m:e>
                              <m:r>
                                <a:rPr lang="en-US" altLang="ja-JP" sz="2000" b="1" i="1" smtClean="0">
                                  <a:latin typeface="Cambria Math" panose="02040503050406030204" pitchFamily="18" charset="0"/>
                                </a:rPr>
                                <m:t>𝑽</m:t>
                              </m:r>
                            </m:e>
                          </m:acc>
                          <m:r>
                            <a:rPr lang="en-US" altLang="ja-JP" sz="2000" b="1" i="1">
                              <a:latin typeface="Cambria Math" panose="02040503050406030204" pitchFamily="18" charset="0"/>
                            </a:rPr>
                            <m:t>−</m:t>
                          </m:r>
                          <m:acc>
                            <m:accPr>
                              <m:chr m:val="̇"/>
                              <m:ctrlPr>
                                <a:rPr lang="en-US" altLang="ja-JP" sz="2000" b="1" i="1" smtClean="0">
                                  <a:latin typeface="Cambria Math" panose="02040503050406030204" pitchFamily="18" charset="0"/>
                                </a:rPr>
                              </m:ctrlPr>
                            </m:accPr>
                            <m:e>
                              <m:r>
                                <a:rPr lang="en-US" altLang="ja-JP" sz="2000" b="1" i="1">
                                  <a:latin typeface="Cambria Math" panose="02040503050406030204" pitchFamily="18" charset="0"/>
                                </a:rPr>
                                <m:t>𝑬</m:t>
                              </m:r>
                            </m:e>
                          </m:acc>
                          <m:r>
                            <m:rPr>
                              <m:nor/>
                            </m:rPr>
                            <a:rPr lang="en-US" altLang="ja-JP" sz="2000" b="1" dirty="0"/>
                            <m:t>​</m:t>
                          </m:r>
                        </m:num>
                        <m:den>
                          <m:r>
                            <a:rPr lang="en-US" altLang="ja-JP" sz="2000" b="1" i="1">
                              <a:latin typeface="Cambria Math" panose="02040503050406030204" pitchFamily="18" charset="0"/>
                            </a:rPr>
                            <m:t>𝑹</m:t>
                          </m:r>
                          <m:r>
                            <a:rPr lang="en-US" altLang="ja-JP" sz="2000" b="1" i="1">
                              <a:latin typeface="Cambria Math" panose="02040503050406030204" pitchFamily="18" charset="0"/>
                            </a:rPr>
                            <m:t>+</m:t>
                          </m:r>
                          <m:r>
                            <a:rPr lang="en-US" altLang="ja-JP" sz="2000" b="1" i="1">
                              <a:latin typeface="Cambria Math" panose="02040503050406030204" pitchFamily="18" charset="0"/>
                            </a:rPr>
                            <m:t>𝒋𝑿</m:t>
                          </m:r>
                        </m:den>
                      </m:f>
                      <m:r>
                        <a:rPr lang="ja-JP" altLang="en-US" sz="2000" b="1" i="1">
                          <a:latin typeface="Cambria Math" panose="02040503050406030204" pitchFamily="18" charset="0"/>
                        </a:rPr>
                        <m:t>　</m:t>
                      </m:r>
                      <m:r>
                        <a:rPr lang="en-US" altLang="ja-JP" sz="2000" b="1" i="1" smtClean="0">
                          <a:latin typeface="Cambria Math" panose="02040503050406030204" pitchFamily="18" charset="0"/>
                        </a:rPr>
                        <m:t>            </m:t>
                      </m:r>
                      <m:d>
                        <m:dPr>
                          <m:ctrlPr>
                            <a:rPr lang="en-US" altLang="ja-JP" sz="2000" b="1" i="1" smtClean="0">
                              <a:latin typeface="Cambria Math" panose="02040503050406030204" pitchFamily="18" charset="0"/>
                            </a:rPr>
                          </m:ctrlPr>
                        </m:dPr>
                        <m:e>
                          <m:r>
                            <a:rPr lang="en-US" altLang="ja-JP" sz="2000" b="1" i="1" smtClean="0">
                              <a:latin typeface="Cambria Math" panose="02040503050406030204" pitchFamily="18" charset="0"/>
                            </a:rPr>
                            <m:t>𝟐</m:t>
                          </m:r>
                        </m:e>
                      </m:d>
                    </m:oMath>
                  </m:oMathPara>
                </a14:m>
                <a:endParaRPr lang="ja-JP" altLang="en-US" b="1"/>
              </a:p>
            </p:txBody>
          </p:sp>
        </mc:Choice>
        <mc:Fallback xmlns="">
          <p:sp>
            <p:nvSpPr>
              <p:cNvPr id="9" name="テキスト ボックス 8">
                <a:extLst>
                  <a:ext uri="{FF2B5EF4-FFF2-40B4-BE49-F238E27FC236}">
                    <a16:creationId xmlns:a16="http://schemas.microsoft.com/office/drawing/2014/main" id="{CB74D4F0-1A4F-D555-B4F8-682FC97C59D5}"/>
                  </a:ext>
                </a:extLst>
              </p:cNvPr>
              <p:cNvSpPr txBox="1">
                <a:spLocks noRot="1" noChangeAspect="1" noMove="1" noResize="1" noEditPoints="1" noAdjustHandles="1" noChangeArrowheads="1" noChangeShapeType="1" noTextEdit="1"/>
              </p:cNvSpPr>
              <p:nvPr/>
            </p:nvSpPr>
            <p:spPr>
              <a:xfrm>
                <a:off x="6304611" y="2222018"/>
                <a:ext cx="7306887" cy="774507"/>
              </a:xfrm>
              <a:prstGeom prst="rect">
                <a:avLst/>
              </a:prstGeom>
              <a:blipFill>
                <a:blip r:embed="rId6"/>
                <a:stretch>
                  <a:fillRect/>
                </a:stretch>
              </a:blipFill>
            </p:spPr>
            <p:txBody>
              <a:bodyPr/>
              <a:lstStyle/>
              <a:p>
                <a:r>
                  <a:rPr lang="en-US">
                    <a:noFill/>
                  </a:rPr>
                  <a:t> </a:t>
                </a:r>
              </a:p>
            </p:txBody>
          </p:sp>
        </mc:Fallback>
      </mc:AlternateContent>
      <p:sp>
        <p:nvSpPr>
          <p:cNvPr id="13" name="テキスト ボックス 12">
            <a:extLst>
              <a:ext uri="{FF2B5EF4-FFF2-40B4-BE49-F238E27FC236}">
                <a16:creationId xmlns:a16="http://schemas.microsoft.com/office/drawing/2014/main" id="{08FB9D4D-59F0-434C-3FEA-BF79CDA5D8F8}"/>
              </a:ext>
            </a:extLst>
          </p:cNvPr>
          <p:cNvSpPr txBox="1"/>
          <p:nvPr/>
        </p:nvSpPr>
        <p:spPr>
          <a:xfrm>
            <a:off x="6304611" y="3679658"/>
            <a:ext cx="8223738" cy="646331"/>
          </a:xfrm>
          <a:prstGeom prst="rect">
            <a:avLst/>
          </a:prstGeom>
          <a:noFill/>
        </p:spPr>
        <p:txBody>
          <a:bodyPr wrap="square">
            <a:spAutoFit/>
          </a:bodyPr>
          <a:lstStyle/>
          <a:p>
            <a:r>
              <a:rPr lang="en-US" altLang="ja-JP"/>
              <a:t>(1)</a:t>
            </a:r>
            <a:r>
              <a:rPr lang="ja-JP" altLang="en-US"/>
              <a:t>に</a:t>
            </a:r>
            <a:r>
              <a:rPr lang="en-US" altLang="ja-JP"/>
              <a:t>(2)</a:t>
            </a:r>
            <a:r>
              <a:rPr lang="ja-JP" altLang="en-US"/>
              <a:t>を代入し、実部・虚部をそれぞれ連立</a:t>
            </a:r>
            <a:endParaRPr lang="en-US" altLang="ja-JP"/>
          </a:p>
          <a:p>
            <a:r>
              <a:rPr lang="ja-JP" altLang="en-US"/>
              <a:t>結果式は後述ページで取り上げる</a:t>
            </a:r>
            <a:endParaRPr lang="en-US" altLang="ja-JP"/>
          </a:p>
        </p:txBody>
      </p:sp>
      <p:sp>
        <p:nvSpPr>
          <p:cNvPr id="8" name="テキスト ボックス 7">
            <a:extLst>
              <a:ext uri="{FF2B5EF4-FFF2-40B4-BE49-F238E27FC236}">
                <a16:creationId xmlns:a16="http://schemas.microsoft.com/office/drawing/2014/main" id="{67098C3B-0C98-8F61-4A50-90BF44FB3062}"/>
              </a:ext>
            </a:extLst>
          </p:cNvPr>
          <p:cNvSpPr txBox="1"/>
          <p:nvPr/>
        </p:nvSpPr>
        <p:spPr>
          <a:xfrm>
            <a:off x="5231712" y="4938247"/>
            <a:ext cx="7191065" cy="1669688"/>
          </a:xfrm>
          <a:prstGeom prst="rect">
            <a:avLst/>
          </a:prstGeom>
          <a:noFill/>
        </p:spPr>
        <p:txBody>
          <a:bodyPr wrap="square">
            <a:spAutoFit/>
          </a:bodyPr>
          <a:lstStyle/>
          <a:p>
            <a:pPr marL="717550" marR="0" lvl="0" indent="-355600" algn="l" defTabSz="457200" rtl="0" eaLnBrk="1" fontAlgn="auto" latinLnBrk="0" hangingPunct="1">
              <a:lnSpc>
                <a:spcPct val="130000"/>
              </a:lnSpc>
              <a:spcBef>
                <a:spcPts val="0"/>
              </a:spcBef>
              <a:spcAft>
                <a:spcPts val="0"/>
              </a:spcAft>
              <a:buClr>
                <a:srgbClr val="0070C0"/>
              </a:buClr>
              <a:buSzTx/>
              <a:buFont typeface="Wingdings" panose="05000000000000000000" pitchFamily="2" charset="2"/>
              <a:buChar char="l"/>
              <a:tabLst/>
              <a:defRPr/>
            </a:pP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インバータ動作可否の判定基準</a:t>
            </a:r>
            <a:r>
              <a:rPr kumimoji="1" lang="en-US" altLang="ja-JP" sz="2000" b="1" i="0" u="none" strike="noStrike" kern="1200" cap="none" spc="0" normalizeH="0" baseline="0" noProof="0">
                <a:ln>
                  <a:noFill/>
                </a:ln>
                <a:solidFill>
                  <a:prstClr val="black"/>
                </a:solidFill>
                <a:effectLst/>
                <a:uLnTx/>
                <a:uFillTx/>
                <a:latin typeface="Arial"/>
                <a:ea typeface="メイリオ"/>
                <a:cs typeface="+mn-cs"/>
              </a:rPr>
              <a:t>(</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定格を超えないこと</a:t>
            </a:r>
            <a:r>
              <a:rPr kumimoji="1" lang="en-US" altLang="ja-JP" sz="2000" b="1" i="0" u="none" strike="noStrike" kern="1200" cap="none" spc="0" normalizeH="0" baseline="0" noProof="0">
                <a:ln>
                  <a:noFill/>
                </a:ln>
                <a:solidFill>
                  <a:prstClr val="black"/>
                </a:solidFill>
                <a:effectLst/>
                <a:uLnTx/>
                <a:uFillTx/>
                <a:latin typeface="Arial"/>
                <a:ea typeface="メイリオ"/>
                <a:cs typeface="+mn-cs"/>
              </a:rPr>
              <a:t>)</a:t>
            </a:r>
          </a:p>
          <a:p>
            <a:pPr marL="361950" marR="0" lvl="0" indent="0" algn="l" defTabSz="457200" rtl="0" eaLnBrk="1" fontAlgn="auto" latinLnBrk="0" hangingPunct="1">
              <a:lnSpc>
                <a:spcPct val="130000"/>
              </a:lnSpc>
              <a:spcBef>
                <a:spcPts val="0"/>
              </a:spcBef>
              <a:spcAft>
                <a:spcPts val="0"/>
              </a:spcAft>
              <a:buClr>
                <a:srgbClr val="0070C0"/>
              </a:buClr>
              <a:buSzTx/>
              <a:buFontTx/>
              <a:buNone/>
              <a:tabLst/>
              <a:defRPr/>
            </a:pPr>
            <a:r>
              <a:rPr kumimoji="1" lang="en-US" altLang="ja-JP" sz="2000" b="1" i="0" u="none" strike="noStrike" kern="1200" cap="none" spc="0" normalizeH="0" baseline="0" noProof="0">
                <a:ln>
                  <a:noFill/>
                </a:ln>
                <a:effectLst/>
                <a:uLnTx/>
                <a:uFillTx/>
                <a:latin typeface="Arial"/>
                <a:ea typeface="メイリオ"/>
                <a:cs typeface="+mn-cs"/>
              </a:rPr>
              <a:t>➡</a:t>
            </a:r>
            <a:r>
              <a:rPr kumimoji="1" lang="ja-JP" altLang="en-US" sz="2000" b="1" i="0" u="none" strike="noStrike" kern="1200" cap="none" spc="0" normalizeH="0" baseline="0" noProof="0">
                <a:ln>
                  <a:noFill/>
                </a:ln>
                <a:effectLst/>
                <a:uLnTx/>
                <a:uFillTx/>
                <a:latin typeface="Arial"/>
                <a:ea typeface="メイリオ"/>
                <a:cs typeface="+mn-cs"/>
              </a:rPr>
              <a:t>電流出力が定格値の</a:t>
            </a:r>
            <a:r>
              <a:rPr kumimoji="1" lang="en-US" altLang="ja-JP" sz="2000" b="1" i="0" u="none" strike="noStrike" kern="1200" cap="none" spc="0" normalizeH="0" baseline="0" noProof="0">
                <a:ln>
                  <a:noFill/>
                </a:ln>
                <a:effectLst/>
                <a:uLnTx/>
                <a:uFillTx/>
                <a:latin typeface="Arial"/>
                <a:ea typeface="メイリオ"/>
                <a:cs typeface="+mn-cs"/>
              </a:rPr>
              <a:t>±1.1pu</a:t>
            </a:r>
            <a:r>
              <a:rPr kumimoji="1" lang="ja-JP" altLang="en-US" sz="2000" b="1" i="0" u="none" strike="noStrike" kern="1200" cap="none" spc="0" normalizeH="0" baseline="0" noProof="0">
                <a:ln>
                  <a:noFill/>
                </a:ln>
                <a:effectLst/>
                <a:uLnTx/>
                <a:uFillTx/>
                <a:latin typeface="Arial"/>
                <a:ea typeface="メイリオ"/>
                <a:cs typeface="Times New Roman"/>
              </a:rPr>
              <a:t>以内</a:t>
            </a:r>
            <a:endParaRPr kumimoji="1" lang="en-US" altLang="ja-JP" sz="2000" b="1" i="0" u="none" strike="noStrike" kern="1200" cap="none" spc="0" normalizeH="0" baseline="0" noProof="0">
              <a:ln>
                <a:noFill/>
              </a:ln>
              <a:effectLst/>
              <a:uLnTx/>
              <a:uFillTx/>
              <a:latin typeface="Arial"/>
              <a:ea typeface="メイリオ"/>
              <a:cs typeface="+mn-cs"/>
            </a:endParaRPr>
          </a:p>
          <a:p>
            <a:pPr marL="361950" marR="0" lvl="0" indent="0" algn="l" defTabSz="457200" rtl="0" eaLnBrk="1" fontAlgn="auto" latinLnBrk="0" hangingPunct="1">
              <a:lnSpc>
                <a:spcPct val="130000"/>
              </a:lnSpc>
              <a:spcBef>
                <a:spcPts val="0"/>
              </a:spcBef>
              <a:spcAft>
                <a:spcPts val="0"/>
              </a:spcAft>
              <a:buClr>
                <a:srgbClr val="0070C0"/>
              </a:buClr>
              <a:buSzTx/>
              <a:buFontTx/>
              <a:buNone/>
              <a:tabLst/>
              <a:defRPr/>
            </a:pPr>
            <a:r>
              <a:rPr kumimoji="1" lang="en-US" altLang="ja-JP" sz="2000" b="1" i="0" u="none" strike="noStrike" kern="1200" cap="none" spc="0" normalizeH="0" baseline="0" noProof="0">
                <a:ln>
                  <a:noFill/>
                </a:ln>
                <a:solidFill>
                  <a:prstClr val="black"/>
                </a:solidFill>
                <a:effectLst/>
                <a:uLnTx/>
                <a:uFillTx/>
                <a:latin typeface="メイリオ"/>
                <a:ea typeface="メイリオ"/>
                <a:cs typeface="+mn-cs"/>
              </a:rPr>
              <a:t>➡</a:t>
            </a:r>
            <a:r>
              <a:rPr kumimoji="1" lang="ja-JP" altLang="en-US" sz="2000" b="1" i="0" u="none" strike="noStrike" kern="1200" cap="none" spc="0" normalizeH="0" baseline="0" noProof="0">
                <a:ln>
                  <a:noFill/>
                </a:ln>
                <a:solidFill>
                  <a:prstClr val="black"/>
                </a:solidFill>
                <a:effectLst/>
                <a:uLnTx/>
                <a:uFillTx/>
                <a:latin typeface="メイリオ"/>
                <a:ea typeface="メイリオ"/>
                <a:cs typeface="+mn-cs"/>
              </a:rPr>
              <a:t>無効電力出力が定格値の</a:t>
            </a:r>
            <a:r>
              <a:rPr kumimoji="1" lang="en-US" altLang="ja-JP" sz="2000" b="1" i="0" u="none" strike="noStrike" kern="1200" cap="none" spc="0" normalizeH="0" baseline="0" noProof="0">
                <a:ln>
                  <a:noFill/>
                </a:ln>
                <a:solidFill>
                  <a:prstClr val="black"/>
                </a:solidFill>
                <a:effectLst/>
                <a:uLnTx/>
                <a:uFillTx/>
                <a:latin typeface="メイリオ"/>
                <a:ea typeface="メイリオ"/>
                <a:cs typeface="+mn-cs"/>
              </a:rPr>
              <a:t>±1.0pu</a:t>
            </a:r>
            <a:r>
              <a:rPr kumimoji="1" lang="ja-JP" altLang="en-US" sz="2000" b="1" i="0" u="none" strike="noStrike" kern="1200" cap="none" spc="0" normalizeH="0" baseline="0" noProof="0">
                <a:ln>
                  <a:noFill/>
                </a:ln>
                <a:solidFill>
                  <a:prstClr val="black"/>
                </a:solidFill>
                <a:effectLst/>
                <a:uLnTx/>
                <a:uFillTx/>
                <a:latin typeface="メイリオ"/>
                <a:ea typeface="メイリオ"/>
                <a:cs typeface="Times New Roman"/>
              </a:rPr>
              <a:t>以内</a:t>
            </a:r>
            <a:endParaRPr kumimoji="1" lang="en-US" altLang="ja-JP" sz="2000" b="1" i="0" u="none" strike="noStrike" kern="1200" cap="none" spc="0" normalizeH="0" baseline="0" noProof="0">
              <a:ln>
                <a:noFill/>
              </a:ln>
              <a:solidFill>
                <a:prstClr val="black"/>
              </a:solidFill>
              <a:effectLst/>
              <a:uLnTx/>
              <a:uFillTx/>
              <a:latin typeface="メイリオ"/>
              <a:ea typeface="メイリオ"/>
              <a:cs typeface="Times New Roman"/>
            </a:endParaRPr>
          </a:p>
          <a:p>
            <a:pPr marL="361950" marR="0" lvl="0" indent="0" algn="l" defTabSz="457200" rtl="0" eaLnBrk="1" fontAlgn="auto" latinLnBrk="0" hangingPunct="1">
              <a:lnSpc>
                <a:spcPct val="130000"/>
              </a:lnSpc>
              <a:spcBef>
                <a:spcPts val="0"/>
              </a:spcBef>
              <a:spcAft>
                <a:spcPts val="0"/>
              </a:spcAft>
              <a:buClr>
                <a:srgbClr val="0070C0"/>
              </a:buClr>
              <a:buSzTx/>
              <a:buFontTx/>
              <a:buNone/>
              <a:tabLst/>
              <a:defRPr/>
            </a:pPr>
            <a:r>
              <a:rPr lang="ja-JP" altLang="en-US" sz="2000" b="1">
                <a:solidFill>
                  <a:prstClr val="black"/>
                </a:solidFill>
                <a:latin typeface="メイリオ"/>
                <a:ea typeface="メイリオ"/>
                <a:cs typeface="Times New Roman"/>
              </a:rPr>
              <a:t>➡系統電圧</a:t>
            </a:r>
            <a:r>
              <a:rPr lang="en-US" altLang="ja-JP" sz="2000" b="1">
                <a:solidFill>
                  <a:prstClr val="black"/>
                </a:solidFill>
                <a:latin typeface="メイリオ"/>
                <a:ea typeface="メイリオ"/>
                <a:cs typeface="Times New Roman"/>
              </a:rPr>
              <a:t>0.9~1.1pu</a:t>
            </a:r>
            <a:endParaRPr kumimoji="1" lang="en-US" altLang="ja-JP" sz="2000" b="1" i="0" u="none" strike="noStrike" kern="1200" cap="none" spc="0" normalizeH="0" baseline="0" noProof="0">
              <a:ln>
                <a:noFill/>
              </a:ln>
              <a:solidFill>
                <a:prstClr val="black"/>
              </a:solidFill>
              <a:effectLst/>
              <a:uLnTx/>
              <a:uFillTx/>
              <a:latin typeface="メイリオ"/>
              <a:ea typeface="メイリオ"/>
              <a:cs typeface="Times New Roman"/>
            </a:endParaRPr>
          </a:p>
        </p:txBody>
      </p:sp>
      <p:sp>
        <p:nvSpPr>
          <p:cNvPr id="10" name="テキスト ボックス 9">
            <a:extLst>
              <a:ext uri="{FF2B5EF4-FFF2-40B4-BE49-F238E27FC236}">
                <a16:creationId xmlns:a16="http://schemas.microsoft.com/office/drawing/2014/main" id="{9A1DAE32-0ADD-A22C-652B-2F053E204591}"/>
              </a:ext>
            </a:extLst>
          </p:cNvPr>
          <p:cNvSpPr txBox="1"/>
          <p:nvPr/>
        </p:nvSpPr>
        <p:spPr>
          <a:xfrm rot="5400000">
            <a:off x="8323779" y="1550635"/>
            <a:ext cx="388374" cy="707886"/>
          </a:xfrm>
          <a:prstGeom prst="rect">
            <a:avLst/>
          </a:prstGeom>
          <a:noFill/>
        </p:spPr>
        <p:txBody>
          <a:bodyPr wrap="square">
            <a:spAutoFit/>
          </a:bodyPr>
          <a:lstStyle/>
          <a:p>
            <a:r>
              <a:rPr kumimoji="1" lang="en-US" altLang="ja-JP" sz="4000" b="1" i="0" u="none" strike="noStrike" kern="1200" cap="none" spc="0" normalizeH="0" baseline="0" noProof="0">
                <a:ln>
                  <a:noFill/>
                </a:ln>
                <a:solidFill>
                  <a:srgbClr val="0070C0"/>
                </a:solidFill>
                <a:effectLst/>
                <a:uLnTx/>
                <a:uFillTx/>
                <a:latin typeface="Arial"/>
                <a:ea typeface="メイリオ"/>
                <a:cs typeface="+mn-cs"/>
              </a:rPr>
              <a:t>➡</a:t>
            </a:r>
            <a:endParaRPr lang="zh-CN" altLang="en-US" sz="4000"/>
          </a:p>
        </p:txBody>
      </p:sp>
      <p:sp>
        <p:nvSpPr>
          <p:cNvPr id="11" name="テキスト ボックス 10">
            <a:extLst>
              <a:ext uri="{FF2B5EF4-FFF2-40B4-BE49-F238E27FC236}">
                <a16:creationId xmlns:a16="http://schemas.microsoft.com/office/drawing/2014/main" id="{0009CFD5-57F0-8053-BD54-5D9327413C7F}"/>
              </a:ext>
            </a:extLst>
          </p:cNvPr>
          <p:cNvSpPr txBox="1"/>
          <p:nvPr/>
        </p:nvSpPr>
        <p:spPr>
          <a:xfrm rot="5400000">
            <a:off x="8323779" y="2836769"/>
            <a:ext cx="388374" cy="707886"/>
          </a:xfrm>
          <a:prstGeom prst="rect">
            <a:avLst/>
          </a:prstGeom>
          <a:noFill/>
        </p:spPr>
        <p:txBody>
          <a:bodyPr wrap="square">
            <a:spAutoFit/>
          </a:bodyPr>
          <a:lstStyle/>
          <a:p>
            <a:r>
              <a:rPr kumimoji="1" lang="en-US" altLang="ja-JP" sz="4000" b="1" i="0" u="none" strike="noStrike" kern="1200" cap="none" spc="0" normalizeH="0" baseline="0" noProof="0">
                <a:ln>
                  <a:noFill/>
                </a:ln>
                <a:solidFill>
                  <a:srgbClr val="0070C0"/>
                </a:solidFill>
                <a:effectLst/>
                <a:uLnTx/>
                <a:uFillTx/>
                <a:latin typeface="Arial"/>
                <a:ea typeface="メイリオ"/>
                <a:cs typeface="+mn-cs"/>
              </a:rPr>
              <a:t>➡</a:t>
            </a:r>
            <a:endParaRPr lang="zh-CN" altLang="en-US" sz="4000"/>
          </a:p>
        </p:txBody>
      </p:sp>
      <p:sp>
        <p:nvSpPr>
          <p:cNvPr id="5" name="テキスト ボックス 4">
            <a:extLst>
              <a:ext uri="{FF2B5EF4-FFF2-40B4-BE49-F238E27FC236}">
                <a16:creationId xmlns:a16="http://schemas.microsoft.com/office/drawing/2014/main" id="{6166A88D-C304-BDA5-604B-197E918D38CD}"/>
              </a:ext>
            </a:extLst>
          </p:cNvPr>
          <p:cNvSpPr txBox="1"/>
          <p:nvPr/>
        </p:nvSpPr>
        <p:spPr>
          <a:xfrm>
            <a:off x="9958054" y="2983210"/>
            <a:ext cx="1921203" cy="646331"/>
          </a:xfrm>
          <a:prstGeom prst="rect">
            <a:avLst/>
          </a:prstGeom>
          <a:noFill/>
        </p:spPr>
        <p:txBody>
          <a:bodyPr wrap="square" rtlCol="0">
            <a:spAutoFit/>
          </a:bodyPr>
          <a:lstStyle/>
          <a:p>
            <a:r>
              <a:rPr lang="en-US" altLang="zh-CN">
                <a:latin typeface="+mj-ea"/>
                <a:ea typeface="+mj-ea"/>
              </a:rPr>
              <a:t>V:</a:t>
            </a:r>
            <a:r>
              <a:rPr lang="ja-JP" altLang="en-US">
                <a:latin typeface="+mj-ea"/>
                <a:ea typeface="+mj-ea"/>
              </a:rPr>
              <a:t>連系点電圧</a:t>
            </a:r>
            <a:endParaRPr lang="en-US" altLang="ja-JP">
              <a:latin typeface="+mj-ea"/>
              <a:ea typeface="+mj-ea"/>
            </a:endParaRPr>
          </a:p>
          <a:p>
            <a:r>
              <a:rPr lang="en-US" altLang="ja-JP">
                <a:latin typeface="+mj-ea"/>
                <a:ea typeface="+mj-ea"/>
              </a:rPr>
              <a:t>Q:</a:t>
            </a:r>
            <a:r>
              <a:rPr lang="ja-JP" altLang="en-US">
                <a:latin typeface="+mj-ea"/>
                <a:ea typeface="+mj-ea"/>
              </a:rPr>
              <a:t>系統電圧</a:t>
            </a:r>
            <a:endParaRPr lang="zh-CN" altLang="en-US">
              <a:latin typeface="+mj-ea"/>
              <a:ea typeface="+mj-ea"/>
            </a:endParaRPr>
          </a:p>
        </p:txBody>
      </p:sp>
      <p:sp>
        <p:nvSpPr>
          <p:cNvPr id="14" name="テキスト ボックス 13">
            <a:extLst>
              <a:ext uri="{FF2B5EF4-FFF2-40B4-BE49-F238E27FC236}">
                <a16:creationId xmlns:a16="http://schemas.microsoft.com/office/drawing/2014/main" id="{B5C6783F-FA4A-6D1C-F5F5-F5D2D6568542}"/>
              </a:ext>
            </a:extLst>
          </p:cNvPr>
          <p:cNvSpPr txBox="1"/>
          <p:nvPr/>
        </p:nvSpPr>
        <p:spPr>
          <a:xfrm>
            <a:off x="5538014" y="4250420"/>
            <a:ext cx="7293768" cy="646331"/>
          </a:xfrm>
          <a:prstGeom prst="rect">
            <a:avLst/>
          </a:prstGeom>
          <a:noFill/>
        </p:spPr>
        <p:txBody>
          <a:bodyPr wrap="square">
            <a:spAutoFit/>
          </a:bodyPr>
          <a:lstStyle/>
          <a:p>
            <a:r>
              <a:rPr lang="en-US" altLang="ja-JP"/>
              <a:t>※</a:t>
            </a:r>
            <a:r>
              <a:rPr lang="ja-JP" altLang="en-US"/>
              <a:t>結果に関しては、負荷変動より十分に時間が経つことを想定</a:t>
            </a:r>
            <a:r>
              <a:rPr lang="en-US" altLang="ja-JP"/>
              <a:t> </a:t>
            </a:r>
            <a:r>
              <a:rPr lang="en-US" altLang="ja-JP" err="1"/>
              <a:t>Pgfm</a:t>
            </a:r>
            <a:r>
              <a:rPr lang="en-US" altLang="ja-JP"/>
              <a:t>=0</a:t>
            </a:r>
            <a:r>
              <a:rPr lang="ja-JP" altLang="en-US"/>
              <a:t>とした</a:t>
            </a:r>
          </a:p>
        </p:txBody>
      </p:sp>
      <p:sp>
        <p:nvSpPr>
          <p:cNvPr id="16" name="テキスト ボックス 15">
            <a:extLst>
              <a:ext uri="{FF2B5EF4-FFF2-40B4-BE49-F238E27FC236}">
                <a16:creationId xmlns:a16="http://schemas.microsoft.com/office/drawing/2014/main" id="{14FD8F9F-6CAB-1A04-87EE-426617A60EA9}"/>
              </a:ext>
            </a:extLst>
          </p:cNvPr>
          <p:cNvSpPr txBox="1"/>
          <p:nvPr/>
        </p:nvSpPr>
        <p:spPr>
          <a:xfrm>
            <a:off x="132159" y="4969436"/>
            <a:ext cx="7265194" cy="1554272"/>
          </a:xfrm>
          <a:prstGeom prst="rect">
            <a:avLst/>
          </a:prstGeom>
          <a:noFill/>
        </p:spPr>
        <p:txBody>
          <a:bodyPr wrap="square">
            <a:spAutoFit/>
          </a:bodyPr>
          <a:lstStyle/>
          <a:p>
            <a:pPr marL="717550" marR="0" lvl="0" indent="-355600" algn="l" defTabSz="457200" rtl="0" eaLnBrk="1" fontAlgn="auto" latinLnBrk="0" hangingPunct="1">
              <a:lnSpc>
                <a:spcPct val="120000"/>
              </a:lnSpc>
              <a:spcBef>
                <a:spcPts val="1800"/>
              </a:spcBef>
              <a:spcAft>
                <a:spcPts val="0"/>
              </a:spcAft>
              <a:buClr>
                <a:srgbClr val="0070C0"/>
              </a:buClr>
              <a:buSzTx/>
              <a:buFont typeface="Wingdings" panose="05000000000000000000" pitchFamily="2" charset="2"/>
              <a:buChar char="l"/>
              <a:tabLst/>
              <a:defRPr/>
            </a:pP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解析結果でとくに着目する計算値</a:t>
            </a:r>
            <a:br>
              <a:rPr kumimoji="1" lang="en-US" altLang="ja-JP" sz="2000" b="1" i="0" u="none" strike="noStrike" kern="1200" cap="none" spc="0" normalizeH="0" baseline="0" noProof="0">
                <a:ln>
                  <a:noFill/>
                </a:ln>
                <a:solidFill>
                  <a:srgbClr val="0070C0"/>
                </a:solidFill>
                <a:effectLst/>
                <a:uLnTx/>
                <a:uFillTx/>
                <a:latin typeface="Arial"/>
                <a:ea typeface="メイリオ"/>
                <a:cs typeface="+mn-cs"/>
              </a:rPr>
            </a:b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　</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インバータの</a:t>
            </a:r>
            <a:r>
              <a:rPr lang="ja-JP" altLang="en-US" sz="2000" b="1">
                <a:solidFill>
                  <a:prstClr val="black"/>
                </a:solidFill>
                <a:latin typeface="Arial"/>
                <a:ea typeface="メイリオ"/>
              </a:rPr>
              <a:t>電流</a:t>
            </a:r>
            <a:r>
              <a:rPr lang="en-US" altLang="ja-JP" sz="2000" b="1">
                <a:solidFill>
                  <a:prstClr val="black"/>
                </a:solidFill>
                <a:latin typeface="Arial"/>
                <a:ea typeface="メイリオ"/>
              </a:rPr>
              <a:t>I</a:t>
            </a:r>
            <a:r>
              <a:rPr kumimoji="1" lang="en-US" altLang="ja-JP" sz="2000" b="1" i="1" u="none" strike="noStrike" kern="1200" cap="none" spc="0" normalizeH="0" baseline="0" noProof="0" err="1">
                <a:ln>
                  <a:noFill/>
                </a:ln>
                <a:solidFill>
                  <a:prstClr val="black"/>
                </a:solidFill>
                <a:effectLst/>
                <a:uLnTx/>
                <a:uFillTx/>
                <a:latin typeface="Arial"/>
                <a:ea typeface="メイリオ"/>
                <a:cs typeface="+mn-cs"/>
              </a:rPr>
              <a:t>gfm</a:t>
            </a:r>
            <a:br>
              <a:rPr kumimoji="1" lang="en-US" altLang="ja-JP" sz="2000" b="1" i="0" u="none" strike="noStrike" kern="1200" cap="none" spc="0" normalizeH="0" baseline="0" noProof="0">
                <a:ln>
                  <a:noFill/>
                </a:ln>
                <a:solidFill>
                  <a:prstClr val="black"/>
                </a:solidFill>
                <a:effectLst/>
                <a:uLnTx/>
                <a:uFillTx/>
                <a:latin typeface="Arial"/>
                <a:ea typeface="メイリオ"/>
                <a:cs typeface="+mn-cs"/>
              </a:rPr>
            </a:b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　　　正：高圧側に流れる</a:t>
            </a:r>
            <a:br>
              <a:rPr kumimoji="1" lang="en-US" altLang="ja-JP" sz="2000" b="1" i="0" u="none" strike="noStrike" kern="1200" cap="none" spc="0" normalizeH="0" baseline="0" noProof="0">
                <a:ln>
                  <a:noFill/>
                </a:ln>
                <a:solidFill>
                  <a:prstClr val="black"/>
                </a:solidFill>
                <a:effectLst/>
                <a:uLnTx/>
                <a:uFillTx/>
                <a:latin typeface="Arial"/>
                <a:ea typeface="メイリオ"/>
                <a:cs typeface="+mn-cs"/>
              </a:rPr>
            </a:b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　　　負：低圧側に流れる</a:t>
            </a: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p:txBody>
      </p:sp>
      <p:cxnSp>
        <p:nvCxnSpPr>
          <p:cNvPr id="15" name="直線コネクタ 14">
            <a:extLst>
              <a:ext uri="{FF2B5EF4-FFF2-40B4-BE49-F238E27FC236}">
                <a16:creationId xmlns:a16="http://schemas.microsoft.com/office/drawing/2014/main" id="{D542A49A-DC45-8415-A923-04A2A0141A19}"/>
              </a:ext>
            </a:extLst>
          </p:cNvPr>
          <p:cNvCxnSpPr/>
          <p:nvPr/>
        </p:nvCxnSpPr>
        <p:spPr>
          <a:xfrm>
            <a:off x="132159" y="4865562"/>
            <a:ext cx="11747098" cy="41496"/>
          </a:xfrm>
          <a:prstGeom prst="line">
            <a:avLst/>
          </a:prstGeom>
          <a:ln w="38100">
            <a:solidFill>
              <a:schemeClr val="bg1">
                <a:lumMod val="65000"/>
              </a:schemeClr>
            </a:solidFill>
            <a:prstDash val="dashDot"/>
          </a:ln>
        </p:spPr>
        <p:style>
          <a:lnRef idx="1">
            <a:schemeClr val="dk1"/>
          </a:lnRef>
          <a:fillRef idx="0">
            <a:schemeClr val="dk1"/>
          </a:fillRef>
          <a:effectRef idx="0">
            <a:schemeClr val="dk1"/>
          </a:effectRef>
          <a:fontRef idx="minor">
            <a:schemeClr val="tx1"/>
          </a:fontRef>
        </p:style>
      </p:cxnSp>
      <p:cxnSp>
        <p:nvCxnSpPr>
          <p:cNvPr id="17" name="直線コネクタ 16">
            <a:extLst>
              <a:ext uri="{FF2B5EF4-FFF2-40B4-BE49-F238E27FC236}">
                <a16:creationId xmlns:a16="http://schemas.microsoft.com/office/drawing/2014/main" id="{C5E910DF-76DD-F35A-1722-A11833DE6E23}"/>
              </a:ext>
            </a:extLst>
          </p:cNvPr>
          <p:cNvCxnSpPr>
            <a:cxnSpLocks/>
          </p:cNvCxnSpPr>
          <p:nvPr/>
        </p:nvCxnSpPr>
        <p:spPr>
          <a:xfrm>
            <a:off x="10130590" y="1406358"/>
            <a:ext cx="165575" cy="0"/>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67964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55DA2-E1E6-1A83-CEEA-2593A5B64266}"/>
            </a:ext>
          </a:extLst>
        </p:cNvPr>
        <p:cNvGrpSpPr/>
        <p:nvPr/>
      </p:nvGrpSpPr>
      <p:grpSpPr>
        <a:xfrm>
          <a:off x="0" y="0"/>
          <a:ext cx="0" cy="0"/>
          <a:chOff x="0" y="0"/>
          <a:chExt cx="0" cy="0"/>
        </a:xfrm>
      </p:grpSpPr>
      <p:cxnSp>
        <p:nvCxnSpPr>
          <p:cNvPr id="12" name="直線コネクタ 11">
            <a:extLst>
              <a:ext uri="{FF2B5EF4-FFF2-40B4-BE49-F238E27FC236}">
                <a16:creationId xmlns:a16="http://schemas.microsoft.com/office/drawing/2014/main" id="{A54C2B0F-0D03-2626-BB21-0B64DA8BAE28}"/>
              </a:ext>
            </a:extLst>
          </p:cNvPr>
          <p:cNvCxnSpPr>
            <a:cxnSpLocks/>
          </p:cNvCxnSpPr>
          <p:nvPr/>
        </p:nvCxnSpPr>
        <p:spPr>
          <a:xfrm>
            <a:off x="0" y="588468"/>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E38A332C-2C2C-EAAE-793A-87276AFC13A9}"/>
              </a:ext>
            </a:extLst>
          </p:cNvPr>
          <p:cNvSpPr txBox="1"/>
          <p:nvPr/>
        </p:nvSpPr>
        <p:spPr>
          <a:xfrm>
            <a:off x="260038" y="140142"/>
            <a:ext cx="11668610" cy="478387"/>
          </a:xfrm>
          <a:prstGeom prst="rect">
            <a:avLst/>
          </a:prstGeom>
          <a:noFill/>
        </p:spPr>
        <p:txBody>
          <a:bodyPr wrap="square" tIns="72000" bIns="3600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解析結果</a:t>
            </a:r>
            <a:r>
              <a:rPr lang="ja-JP" altLang="en-US" sz="2400" b="1">
                <a:solidFill>
                  <a:srgbClr val="0070C0"/>
                </a:solidFill>
                <a:latin typeface="メイリオ"/>
                <a:ea typeface="メイリオ"/>
              </a:rPr>
              <a:t>と理論値との比較</a:t>
            </a:r>
            <a:r>
              <a:rPr lang="en-US" altLang="ja-JP" sz="2400" b="1">
                <a:solidFill>
                  <a:srgbClr val="0070C0"/>
                </a:solidFill>
                <a:latin typeface="メイリオ"/>
                <a:ea typeface="メイリオ"/>
              </a:rPr>
              <a:t>~V</a:t>
            </a:r>
            <a:r>
              <a:rPr lang="ja-JP" altLang="en-US" sz="2400" b="1">
                <a:solidFill>
                  <a:srgbClr val="0070C0"/>
                </a:solidFill>
                <a:latin typeface="メイリオ"/>
                <a:ea typeface="メイリオ"/>
              </a:rPr>
              <a:t>制御の場合</a:t>
            </a:r>
            <a:r>
              <a:rPr lang="en-US" altLang="ja-JP" sz="2400" b="1">
                <a:solidFill>
                  <a:srgbClr val="0070C0"/>
                </a:solidFill>
                <a:latin typeface="メイリオ"/>
                <a:ea typeface="メイリオ"/>
              </a:rPr>
              <a:t>~</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pic>
        <p:nvPicPr>
          <p:cNvPr id="56" name="図 55">
            <a:extLst>
              <a:ext uri="{FF2B5EF4-FFF2-40B4-BE49-F238E27FC236}">
                <a16:creationId xmlns:a16="http://schemas.microsoft.com/office/drawing/2014/main" id="{07F725FA-B82F-67E7-C9A8-D8FDE3E144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pic>
        <p:nvPicPr>
          <p:cNvPr id="13" name="図 12">
            <a:extLst>
              <a:ext uri="{FF2B5EF4-FFF2-40B4-BE49-F238E27FC236}">
                <a16:creationId xmlns:a16="http://schemas.microsoft.com/office/drawing/2014/main" id="{DE4D2DBD-4FD2-9701-A457-C56D722077F5}"/>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6096000" y="616392"/>
            <a:ext cx="4769786" cy="4015607"/>
          </a:xfrm>
          <a:prstGeom prst="rect">
            <a:avLst/>
          </a:prstGeom>
          <a:ln>
            <a:noFill/>
          </a:ln>
        </p:spPr>
      </p:pic>
      <p:pic>
        <p:nvPicPr>
          <p:cNvPr id="14" name="図 13">
            <a:extLst>
              <a:ext uri="{FF2B5EF4-FFF2-40B4-BE49-F238E27FC236}">
                <a16:creationId xmlns:a16="http://schemas.microsoft.com/office/drawing/2014/main" id="{C04D7AAC-E07D-EB33-12EE-BDB221EEE386}"/>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1518308" y="820051"/>
            <a:ext cx="4790221" cy="3832176"/>
          </a:xfrm>
          <a:prstGeom prst="rect">
            <a:avLst/>
          </a:prstGeom>
          <a:ln>
            <a:noFill/>
          </a:ln>
        </p:spPr>
      </p:pic>
      <p:sp>
        <p:nvSpPr>
          <p:cNvPr id="17" name="円/楕円 29">
            <a:extLst>
              <a:ext uri="{FF2B5EF4-FFF2-40B4-BE49-F238E27FC236}">
                <a16:creationId xmlns:a16="http://schemas.microsoft.com/office/drawing/2014/main" id="{59704DEA-470E-572C-94B5-348006E50AA9}"/>
              </a:ext>
            </a:extLst>
          </p:cNvPr>
          <p:cNvSpPr/>
          <p:nvPr/>
        </p:nvSpPr>
        <p:spPr>
          <a:xfrm rot="600000">
            <a:off x="8837636" y="1625631"/>
            <a:ext cx="1282712" cy="811952"/>
          </a:xfrm>
          <a:prstGeom prst="ellipse">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18" name="円/楕円 30">
            <a:extLst>
              <a:ext uri="{FF2B5EF4-FFF2-40B4-BE49-F238E27FC236}">
                <a16:creationId xmlns:a16="http://schemas.microsoft.com/office/drawing/2014/main" id="{84036F64-352B-A969-2502-27E76F94104F}"/>
              </a:ext>
            </a:extLst>
          </p:cNvPr>
          <p:cNvSpPr/>
          <p:nvPr/>
        </p:nvSpPr>
        <p:spPr>
          <a:xfrm rot="600000">
            <a:off x="4410595" y="1772838"/>
            <a:ext cx="999856" cy="726582"/>
          </a:xfrm>
          <a:prstGeom prst="ellipse">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19" name="円/楕円 31">
            <a:extLst>
              <a:ext uri="{FF2B5EF4-FFF2-40B4-BE49-F238E27FC236}">
                <a16:creationId xmlns:a16="http://schemas.microsoft.com/office/drawing/2014/main" id="{6094CAE3-0415-6B5C-B188-7F778208E245}"/>
              </a:ext>
            </a:extLst>
          </p:cNvPr>
          <p:cNvSpPr/>
          <p:nvPr/>
        </p:nvSpPr>
        <p:spPr>
          <a:xfrm rot="600000">
            <a:off x="2988288" y="3195664"/>
            <a:ext cx="731417" cy="438709"/>
          </a:xfrm>
          <a:prstGeom prst="ellipse">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20" name="円/楕円 32">
            <a:extLst>
              <a:ext uri="{FF2B5EF4-FFF2-40B4-BE49-F238E27FC236}">
                <a16:creationId xmlns:a16="http://schemas.microsoft.com/office/drawing/2014/main" id="{36281C55-92BA-52E4-4141-3B249A8639F3}"/>
              </a:ext>
            </a:extLst>
          </p:cNvPr>
          <p:cNvSpPr/>
          <p:nvPr/>
        </p:nvSpPr>
        <p:spPr>
          <a:xfrm rot="600000">
            <a:off x="7248844" y="3148774"/>
            <a:ext cx="731417" cy="438709"/>
          </a:xfrm>
          <a:prstGeom prst="ellipse">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21" name="テキスト ボックス 20">
            <a:extLst>
              <a:ext uri="{FF2B5EF4-FFF2-40B4-BE49-F238E27FC236}">
                <a16:creationId xmlns:a16="http://schemas.microsoft.com/office/drawing/2014/main" id="{26A5A3A4-0E71-7014-A670-DB49ED604B73}"/>
              </a:ext>
            </a:extLst>
          </p:cNvPr>
          <p:cNvSpPr txBox="1"/>
          <p:nvPr/>
        </p:nvSpPr>
        <p:spPr>
          <a:xfrm rot="16200000">
            <a:off x="9765989" y="2306601"/>
            <a:ext cx="1419820"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2" name="テキスト ボックス 21">
            <a:extLst>
              <a:ext uri="{FF2B5EF4-FFF2-40B4-BE49-F238E27FC236}">
                <a16:creationId xmlns:a16="http://schemas.microsoft.com/office/drawing/2014/main" id="{59D9FC30-77FC-C871-5C8A-F9B06071B327}"/>
              </a:ext>
            </a:extLst>
          </p:cNvPr>
          <p:cNvSpPr txBox="1"/>
          <p:nvPr/>
        </p:nvSpPr>
        <p:spPr>
          <a:xfrm rot="1500000">
            <a:off x="7154538" y="4135680"/>
            <a:ext cx="1220783"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3" name="テキスト ボックス 22">
            <a:extLst>
              <a:ext uri="{FF2B5EF4-FFF2-40B4-BE49-F238E27FC236}">
                <a16:creationId xmlns:a16="http://schemas.microsoft.com/office/drawing/2014/main" id="{A41FC82D-8A8B-70A2-F842-DEEB567DAEDA}"/>
              </a:ext>
            </a:extLst>
          </p:cNvPr>
          <p:cNvSpPr txBox="1"/>
          <p:nvPr/>
        </p:nvSpPr>
        <p:spPr>
          <a:xfrm rot="18600000">
            <a:off x="9282411" y="3719249"/>
            <a:ext cx="1384626"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4" name="テキスト ボックス 23">
            <a:extLst>
              <a:ext uri="{FF2B5EF4-FFF2-40B4-BE49-F238E27FC236}">
                <a16:creationId xmlns:a16="http://schemas.microsoft.com/office/drawing/2014/main" id="{844279E2-F0DB-8C88-801F-E3CC3CCCB34E}"/>
              </a:ext>
            </a:extLst>
          </p:cNvPr>
          <p:cNvSpPr txBox="1"/>
          <p:nvPr/>
        </p:nvSpPr>
        <p:spPr>
          <a:xfrm rot="16200000">
            <a:off x="5200460" y="2376013"/>
            <a:ext cx="1419820"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5" name="テキスト ボックス 24">
            <a:extLst>
              <a:ext uri="{FF2B5EF4-FFF2-40B4-BE49-F238E27FC236}">
                <a16:creationId xmlns:a16="http://schemas.microsoft.com/office/drawing/2014/main" id="{F37E8F82-5983-BF06-68CB-E797C30D4A11}"/>
              </a:ext>
            </a:extLst>
          </p:cNvPr>
          <p:cNvSpPr txBox="1"/>
          <p:nvPr/>
        </p:nvSpPr>
        <p:spPr>
          <a:xfrm rot="1500000">
            <a:off x="2474757" y="4165873"/>
            <a:ext cx="1220783"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dirty="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dirty="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dirty="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dirty="0">
              <a:ln>
                <a:noFill/>
              </a:ln>
              <a:solidFill>
                <a:prstClr val="black"/>
              </a:solidFill>
              <a:effectLst/>
              <a:uLnTx/>
              <a:uFillTx/>
              <a:latin typeface="Arial"/>
              <a:ea typeface="メイリオ"/>
              <a:cs typeface="Times New Roman" panose="02020603050405020304" pitchFamily="18" charset="0"/>
            </a:endParaRPr>
          </a:p>
        </p:txBody>
      </p:sp>
      <p:sp>
        <p:nvSpPr>
          <p:cNvPr id="34" name="テキスト ボックス 33">
            <a:extLst>
              <a:ext uri="{FF2B5EF4-FFF2-40B4-BE49-F238E27FC236}">
                <a16:creationId xmlns:a16="http://schemas.microsoft.com/office/drawing/2014/main" id="{43D4C7CC-DA09-A5CB-88F6-E898E8B087F0}"/>
              </a:ext>
            </a:extLst>
          </p:cNvPr>
          <p:cNvSpPr txBox="1"/>
          <p:nvPr/>
        </p:nvSpPr>
        <p:spPr>
          <a:xfrm rot="18600000">
            <a:off x="4661748" y="3825130"/>
            <a:ext cx="1384626"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5" name="正方形/長方形 4">
            <a:extLst>
              <a:ext uri="{FF2B5EF4-FFF2-40B4-BE49-F238E27FC236}">
                <a16:creationId xmlns:a16="http://schemas.microsoft.com/office/drawing/2014/main" id="{F6BEF5DE-E094-CFC3-E8DC-E15C6552316C}"/>
              </a:ext>
            </a:extLst>
          </p:cNvPr>
          <p:cNvSpPr/>
          <p:nvPr/>
        </p:nvSpPr>
        <p:spPr>
          <a:xfrm>
            <a:off x="14562149" y="2832564"/>
            <a:ext cx="2357455" cy="314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8D1A85AA-47C8-E0BE-44F9-71D68AAE0E36}"/>
              </a:ext>
            </a:extLst>
          </p:cNvPr>
          <p:cNvSpPr/>
          <p:nvPr/>
        </p:nvSpPr>
        <p:spPr>
          <a:xfrm>
            <a:off x="7416594" y="601427"/>
            <a:ext cx="2357455" cy="314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C1A6C6B-B348-9B62-5706-0BDE7199A489}"/>
              </a:ext>
            </a:extLst>
          </p:cNvPr>
          <p:cNvSpPr txBox="1"/>
          <p:nvPr/>
        </p:nvSpPr>
        <p:spPr>
          <a:xfrm>
            <a:off x="6674721" y="4692002"/>
            <a:ext cx="384120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SCR=2.0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:401</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:40</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11" name="テキスト ボックス 10">
            <a:extLst>
              <a:ext uri="{FF2B5EF4-FFF2-40B4-BE49-F238E27FC236}">
                <a16:creationId xmlns:a16="http://schemas.microsoft.com/office/drawing/2014/main" id="{99897CFC-EAA8-C30A-AC00-5C65008FBC6E}"/>
              </a:ext>
            </a:extLst>
          </p:cNvPr>
          <p:cNvSpPr txBox="1"/>
          <p:nvPr/>
        </p:nvSpPr>
        <p:spPr>
          <a:xfrm>
            <a:off x="98710" y="644940"/>
            <a:ext cx="5367231" cy="561486"/>
          </a:xfrm>
          <a:prstGeom prst="rect">
            <a:avLst/>
          </a:prstGeom>
          <a:noFill/>
        </p:spPr>
        <p:txBody>
          <a:bodyPr wrap="square" tIns="72000" bIns="36000">
            <a:sp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lang="ja-JP" altLang="en-US" sz="2400" b="1">
                <a:solidFill>
                  <a:srgbClr val="0070C0"/>
                </a:solidFill>
                <a:latin typeface="Arial"/>
                <a:ea typeface="メイリオ"/>
              </a:rPr>
              <a:t>解析結果</a:t>
            </a: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p:txBody>
      </p:sp>
      <p:sp>
        <p:nvSpPr>
          <p:cNvPr id="26" name="円/楕円 31">
            <a:extLst>
              <a:ext uri="{FF2B5EF4-FFF2-40B4-BE49-F238E27FC236}">
                <a16:creationId xmlns:a16="http://schemas.microsoft.com/office/drawing/2014/main" id="{10E50131-9FF2-A005-85AB-3C7A8777E178}"/>
              </a:ext>
            </a:extLst>
          </p:cNvPr>
          <p:cNvSpPr/>
          <p:nvPr/>
        </p:nvSpPr>
        <p:spPr>
          <a:xfrm rot="600000">
            <a:off x="7787091" y="1412214"/>
            <a:ext cx="731417" cy="438709"/>
          </a:xfrm>
          <a:prstGeom prst="ellipse">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4" name="矢印: 右 3">
            <a:extLst>
              <a:ext uri="{FF2B5EF4-FFF2-40B4-BE49-F238E27FC236}">
                <a16:creationId xmlns:a16="http://schemas.microsoft.com/office/drawing/2014/main" id="{D99C1BF9-9DFD-8247-E45A-279F4DEABC18}"/>
              </a:ext>
            </a:extLst>
          </p:cNvPr>
          <p:cNvSpPr/>
          <p:nvPr/>
        </p:nvSpPr>
        <p:spPr>
          <a:xfrm>
            <a:off x="2955174" y="5694948"/>
            <a:ext cx="6818875" cy="845560"/>
          </a:xfrm>
          <a:prstGeom prst="rightArrow">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a:t>長距離</a:t>
            </a:r>
            <a:endParaRPr lang="zh-CN" altLang="en-US" sz="2400" b="1"/>
          </a:p>
        </p:txBody>
      </p:sp>
      <p:sp>
        <p:nvSpPr>
          <p:cNvPr id="27" name="テキスト ボックス 26">
            <a:extLst>
              <a:ext uri="{FF2B5EF4-FFF2-40B4-BE49-F238E27FC236}">
                <a16:creationId xmlns:a16="http://schemas.microsoft.com/office/drawing/2014/main" id="{F2685FF2-F00D-11FD-8B07-2678B255BFAF}"/>
              </a:ext>
            </a:extLst>
          </p:cNvPr>
          <p:cNvSpPr txBox="1"/>
          <p:nvPr/>
        </p:nvSpPr>
        <p:spPr>
          <a:xfrm>
            <a:off x="2069170" y="4698046"/>
            <a:ext cx="384120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a:t>
            </a:r>
            <a:r>
              <a:rPr lang="en-US" altLang="ja-JP" b="1">
                <a:solidFill>
                  <a:prstClr val="black"/>
                </a:solidFill>
                <a:latin typeface="Arial"/>
                <a:ea typeface="メイリオ"/>
              </a:rPr>
              <a:t>5</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:422</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:19</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2" name="テキスト ボックス 1">
            <a:extLst>
              <a:ext uri="{FF2B5EF4-FFF2-40B4-BE49-F238E27FC236}">
                <a16:creationId xmlns:a16="http://schemas.microsoft.com/office/drawing/2014/main" id="{0DDD0E10-B04C-EB47-27BE-283FBB1A7BC6}"/>
              </a:ext>
            </a:extLst>
          </p:cNvPr>
          <p:cNvSpPr txBox="1"/>
          <p:nvPr/>
        </p:nvSpPr>
        <p:spPr>
          <a:xfrm>
            <a:off x="260038" y="2338086"/>
            <a:ext cx="1482962" cy="646331"/>
          </a:xfrm>
          <a:prstGeom prst="rect">
            <a:avLst/>
          </a:prstGeom>
          <a:noFill/>
        </p:spPr>
        <p:txBody>
          <a:bodyPr wrap="square" rtlCol="0">
            <a:spAutoFit/>
          </a:bodyPr>
          <a:lstStyle/>
          <a:p>
            <a:r>
              <a:rPr kumimoji="1" lang="en-US" altLang="ja-JP" err="1"/>
              <a:t>Kp</a:t>
            </a:r>
            <a:r>
              <a:rPr kumimoji="1" lang="en-US" altLang="ja-JP"/>
              <a:t> = 0</a:t>
            </a:r>
          </a:p>
          <a:p>
            <a:r>
              <a:rPr lang="en-US" altLang="ja-JP"/>
              <a:t>Ki = 20</a:t>
            </a:r>
            <a:endParaRPr kumimoji="1" lang="ja-JP" altLang="en-US"/>
          </a:p>
        </p:txBody>
      </p:sp>
    </p:spTree>
    <p:extLst>
      <p:ext uri="{BB962C8B-B14F-4D97-AF65-F5344CB8AC3E}">
        <p14:creationId xmlns:p14="http://schemas.microsoft.com/office/powerpoint/2010/main" val="1500338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線コネクタ 11">
            <a:extLst>
              <a:ext uri="{FF2B5EF4-FFF2-40B4-BE49-F238E27FC236}">
                <a16:creationId xmlns:a16="http://schemas.microsoft.com/office/drawing/2014/main" id="{5A1B3EC4-E2F6-118E-5F17-EC21CCBF4C3E}"/>
              </a:ext>
            </a:extLst>
          </p:cNvPr>
          <p:cNvCxnSpPr>
            <a:cxnSpLocks/>
          </p:cNvCxnSpPr>
          <p:nvPr/>
        </p:nvCxnSpPr>
        <p:spPr>
          <a:xfrm>
            <a:off x="0" y="588468"/>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E6725037-373E-6044-279B-45901E883C7B}"/>
              </a:ext>
            </a:extLst>
          </p:cNvPr>
          <p:cNvSpPr txBox="1"/>
          <p:nvPr/>
        </p:nvSpPr>
        <p:spPr>
          <a:xfrm>
            <a:off x="260038" y="140142"/>
            <a:ext cx="11668610" cy="478387"/>
          </a:xfrm>
          <a:prstGeom prst="rect">
            <a:avLst/>
          </a:prstGeom>
          <a:noFill/>
        </p:spPr>
        <p:txBody>
          <a:bodyPr wrap="square" tIns="72000" bIns="3600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解析結果</a:t>
            </a:r>
            <a:r>
              <a:rPr lang="ja-JP" altLang="en-US" sz="2400" b="1">
                <a:solidFill>
                  <a:srgbClr val="0070C0"/>
                </a:solidFill>
                <a:latin typeface="メイリオ"/>
                <a:ea typeface="メイリオ"/>
              </a:rPr>
              <a:t>と理論値との比較</a:t>
            </a:r>
            <a:r>
              <a:rPr lang="en-US" altLang="ja-JP" sz="2400" b="1">
                <a:solidFill>
                  <a:srgbClr val="0070C0"/>
                </a:solidFill>
                <a:latin typeface="メイリオ"/>
                <a:ea typeface="メイリオ"/>
              </a:rPr>
              <a:t>~V</a:t>
            </a:r>
            <a:r>
              <a:rPr lang="ja-JP" altLang="en-US" sz="2400" b="1">
                <a:solidFill>
                  <a:srgbClr val="0070C0"/>
                </a:solidFill>
                <a:latin typeface="メイリオ"/>
                <a:ea typeface="メイリオ"/>
              </a:rPr>
              <a:t>制御の場合</a:t>
            </a:r>
            <a:r>
              <a:rPr lang="en-US" altLang="ja-JP" sz="2400" b="1">
                <a:solidFill>
                  <a:srgbClr val="0070C0"/>
                </a:solidFill>
                <a:latin typeface="メイリオ"/>
                <a:ea typeface="メイリオ"/>
              </a:rPr>
              <a:t>~</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pic>
        <p:nvPicPr>
          <p:cNvPr id="56" name="図 55">
            <a:extLst>
              <a:ext uri="{FF2B5EF4-FFF2-40B4-BE49-F238E27FC236}">
                <a16:creationId xmlns:a16="http://schemas.microsoft.com/office/drawing/2014/main" id="{8926E427-37B8-6F36-6FFF-5973A6219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sp>
        <p:nvSpPr>
          <p:cNvPr id="7" name="テキスト ボックス 6">
            <a:extLst>
              <a:ext uri="{FF2B5EF4-FFF2-40B4-BE49-F238E27FC236}">
                <a16:creationId xmlns:a16="http://schemas.microsoft.com/office/drawing/2014/main" id="{E97A0C6A-6C06-98AD-3374-DC5F2C118A16}"/>
              </a:ext>
            </a:extLst>
          </p:cNvPr>
          <p:cNvSpPr txBox="1"/>
          <p:nvPr/>
        </p:nvSpPr>
        <p:spPr>
          <a:xfrm>
            <a:off x="375082" y="4641790"/>
            <a:ext cx="6119446" cy="369332"/>
          </a:xfrm>
          <a:prstGeom prst="rect">
            <a:avLst/>
          </a:prstGeom>
          <a:noFill/>
        </p:spPr>
        <p:txBody>
          <a:bodyPr wrap="square">
            <a:spAutoFit/>
          </a:bodyPr>
          <a:lstStyle/>
          <a:p>
            <a:r>
              <a:rPr kumimoji="1" lang="en-US" altLang="ja-JP" sz="1800" b="0" i="0" u="none" strike="noStrike" kern="1200" cap="none" spc="0" normalizeH="0" baseline="0" noProof="0">
                <a:ln>
                  <a:noFill/>
                </a:ln>
                <a:solidFill>
                  <a:prstClr val="black"/>
                </a:solidFill>
                <a:effectLst/>
                <a:uLnTx/>
                <a:uFillTx/>
                <a:latin typeface="Arial"/>
                <a:ea typeface="メイリオ"/>
                <a:cs typeface="+mn-cs"/>
              </a:rPr>
              <a:t>(V=E=1pu)</a:t>
            </a:r>
            <a:endParaRPr lang="zh-CN" altLang="en-US"/>
          </a:p>
        </p:txBody>
      </p:sp>
      <p:sp>
        <p:nvSpPr>
          <p:cNvPr id="9" name="テキスト ボックス 8">
            <a:extLst>
              <a:ext uri="{FF2B5EF4-FFF2-40B4-BE49-F238E27FC236}">
                <a16:creationId xmlns:a16="http://schemas.microsoft.com/office/drawing/2014/main" id="{12F1397A-DD69-706F-5DB6-78E5B3ACFA10}"/>
              </a:ext>
            </a:extLst>
          </p:cNvPr>
          <p:cNvSpPr txBox="1"/>
          <p:nvPr/>
        </p:nvSpPr>
        <p:spPr>
          <a:xfrm>
            <a:off x="260038" y="4114415"/>
            <a:ext cx="12589535" cy="486081"/>
          </a:xfrm>
          <a:prstGeom prst="rect">
            <a:avLst/>
          </a:prstGeom>
          <a:noFill/>
        </p:spPr>
        <p:txBody>
          <a:bodyPr wrap="square" tIns="72000" bIns="36000">
            <a:sp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理論式</a:t>
            </a:r>
            <a:r>
              <a:rPr lang="en-US" altLang="ja-JP" sz="2000" b="1">
                <a:solidFill>
                  <a:srgbClr val="0070C0"/>
                </a:solidFill>
                <a:latin typeface="Arial"/>
                <a:ea typeface="メイリオ"/>
              </a:rPr>
              <a:t>  </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連系点電圧を</a:t>
            </a:r>
            <a:r>
              <a:rPr kumimoji="1" lang="en-US" altLang="ja-JP" sz="2000" b="1" i="0" u="none" strike="noStrike" kern="1200" cap="none" spc="0" normalizeH="0" baseline="0" noProof="0">
                <a:ln>
                  <a:noFill/>
                </a:ln>
                <a:solidFill>
                  <a:prstClr val="black"/>
                </a:solidFill>
                <a:effectLst/>
                <a:uLnTx/>
                <a:uFillTx/>
                <a:latin typeface="Arial"/>
                <a:ea typeface="メイリオ"/>
                <a:cs typeface="+mn-cs"/>
              </a:rPr>
              <a:t>1.0pu</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に維持するために必要な，インバータ無効電力出力</a:t>
            </a:r>
            <a:r>
              <a:rPr kumimoji="1" lang="en-US" altLang="ja-JP" sz="2000" b="1" i="0" u="none" strike="noStrike" kern="1200" cap="none" spc="0" normalizeH="0" baseline="0" noProof="0">
                <a:ln>
                  <a:noFill/>
                </a:ln>
                <a:solidFill>
                  <a:prstClr val="black"/>
                </a:solidFill>
                <a:effectLst/>
                <a:uLnTx/>
                <a:uFillTx/>
                <a:latin typeface="Arial"/>
                <a:ea typeface="メイリオ"/>
                <a:cs typeface="+mn-cs"/>
              </a:rPr>
              <a:t>[</a:t>
            </a:r>
            <a:r>
              <a:rPr kumimoji="1" lang="en-US" altLang="ja-JP" sz="2000" b="1" i="0" u="none" strike="noStrike" kern="1200" cap="none" spc="0" normalizeH="0" baseline="0" noProof="0" err="1">
                <a:ln>
                  <a:noFill/>
                </a:ln>
                <a:solidFill>
                  <a:prstClr val="black"/>
                </a:solidFill>
                <a:effectLst/>
                <a:uLnTx/>
                <a:uFillTx/>
                <a:latin typeface="Arial"/>
                <a:ea typeface="メイリオ"/>
                <a:cs typeface="+mn-cs"/>
              </a:rPr>
              <a:t>pu</a:t>
            </a:r>
            <a:r>
              <a:rPr kumimoji="1" lang="en-US" altLang="ja-JP" sz="2000" b="1" i="0" u="none" strike="noStrike" kern="1200" cap="none" spc="0" normalizeH="0" baseline="0" noProof="0">
                <a:ln>
                  <a:noFill/>
                </a:ln>
                <a:solidFill>
                  <a:prstClr val="black"/>
                </a:solidFill>
                <a:effectLst/>
                <a:uLnTx/>
                <a:uFillTx/>
                <a:latin typeface="Arial"/>
                <a:ea typeface="メイリオ"/>
                <a:cs typeface="+mn-cs"/>
              </a:rPr>
              <a:t>] </a:t>
            </a:r>
            <a:r>
              <a:rPr kumimoji="1" lang="ja-JP" altLang="en-US" sz="2000" b="1" i="0" u="none" strike="noStrike" kern="1200" cap="none" spc="0" normalizeH="0" baseline="0" noProof="0">
                <a:ln>
                  <a:noFill/>
                </a:ln>
                <a:solidFill>
                  <a:prstClr val="black"/>
                </a:solidFill>
                <a:effectLst/>
                <a:uLnTx/>
                <a:uFillTx/>
                <a:latin typeface="Arial"/>
                <a:ea typeface="メイリオ"/>
                <a:cs typeface="+mn-cs"/>
              </a:rPr>
              <a:t>を導出</a:t>
            </a:r>
            <a:endParaRPr kumimoji="1" lang="en-US" altLang="ja-JP" sz="2000" b="1" i="0" u="none" strike="noStrike" kern="1200" cap="none" spc="0" normalizeH="0" baseline="0" noProof="0">
              <a:ln>
                <a:noFill/>
              </a:ln>
              <a:solidFill>
                <a:prstClr val="black"/>
              </a:solidFill>
              <a:effectLst/>
              <a:uLnTx/>
              <a:uFillTx/>
              <a:latin typeface="Arial"/>
              <a:ea typeface="メイリオ"/>
              <a:cs typeface="+mn-cs"/>
            </a:endParaRP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73691649-9A7D-F257-4A19-4EEA0773824E}"/>
                  </a:ext>
                </a:extLst>
              </p:cNvPr>
              <p:cNvSpPr txBox="1"/>
              <p:nvPr/>
            </p:nvSpPr>
            <p:spPr>
              <a:xfrm>
                <a:off x="1717723" y="4147432"/>
                <a:ext cx="8804286" cy="1371016"/>
              </a:xfrm>
              <a:prstGeom prst="rect">
                <a:avLst/>
              </a:prstGeom>
              <a:noFill/>
            </p:spPr>
            <p:txBody>
              <a:bodyPr wrap="square" rtlCol="0">
                <a:spAutoFit/>
              </a:bodyPr>
              <a:lstStyle/>
              <a:p>
                <a:endParaRPr lang="en-US" altLang="ja-JP" sz="2400"/>
              </a:p>
              <a:p>
                <a:pPr/>
                <a14:m>
                  <m:oMathPara xmlns:m="http://schemas.openxmlformats.org/officeDocument/2006/math">
                    <m:oMathParaPr>
                      <m:jc m:val="left"/>
                    </m:oMathParaPr>
                    <m:oMath xmlns:m="http://schemas.openxmlformats.org/officeDocument/2006/math">
                      <m:r>
                        <a:rPr lang="en-US" altLang="ja-JP" sz="2000" b="0" i="1" smtClean="0">
                          <a:latin typeface="Cambria Math" panose="02040503050406030204" pitchFamily="18" charset="0"/>
                        </a:rPr>
                        <m:t>𝑄𝑔𝑓𝑚</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𝑋</m:t>
                          </m:r>
                        </m:num>
                        <m:den>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𝑅</m:t>
                              </m:r>
                            </m:e>
                            <m:sup>
                              <m:r>
                                <a:rPr lang="en-US" altLang="ja-JP" sz="2000" b="0" i="1" smtClean="0">
                                  <a:latin typeface="Cambria Math" panose="02040503050406030204" pitchFamily="18" charset="0"/>
                                </a:rPr>
                                <m:t>2</m:t>
                              </m:r>
                            </m:sup>
                          </m:sSup>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𝑋</m:t>
                              </m:r>
                            </m:e>
                            <m:sup>
                              <m:r>
                                <a:rPr lang="en-US" altLang="ja-JP" sz="2000" b="0" i="1" smtClean="0">
                                  <a:latin typeface="Cambria Math" panose="02040503050406030204" pitchFamily="18" charset="0"/>
                                </a:rPr>
                                <m:t>2</m:t>
                              </m:r>
                            </m:sup>
                          </m:sSup>
                        </m:den>
                      </m:f>
                      <m:r>
                        <a:rPr lang="en-US" altLang="ja-JP" sz="2000" b="0" i="0" smtClean="0">
                          <a:latin typeface="Cambria Math" panose="02040503050406030204" pitchFamily="18" charset="0"/>
                        </a:rPr>
                        <m:t>−</m:t>
                      </m:r>
                      <m:rad>
                        <m:radPr>
                          <m:degHide m:val="on"/>
                          <m:ctrlPr>
                            <a:rPr lang="en-US" altLang="ja-JP" sz="2000" b="0" i="1" smtClean="0">
                              <a:latin typeface="Cambria Math" panose="02040503050406030204" pitchFamily="18" charset="0"/>
                            </a:rPr>
                          </m:ctrlPr>
                        </m:radPr>
                        <m:deg/>
                        <m:e>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𝑅</m:t>
                                  </m:r>
                                </m:e>
                                <m:sup>
                                  <m:r>
                                    <a:rPr lang="en-US" altLang="ja-JP" sz="2000" b="0" i="1" smtClean="0">
                                      <a:latin typeface="Cambria Math" panose="02040503050406030204" pitchFamily="18" charset="0"/>
                                    </a:rPr>
                                    <m:t>2</m:t>
                                  </m:r>
                                </m:sup>
                              </m:sSup>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𝑋</m:t>
                                  </m:r>
                                </m:e>
                                <m:sup>
                                  <m:r>
                                    <a:rPr lang="en-US" altLang="ja-JP" sz="2000" b="0" i="1" smtClean="0">
                                      <a:latin typeface="Cambria Math" panose="02040503050406030204" pitchFamily="18" charset="0"/>
                                    </a:rPr>
                                    <m:t>2</m:t>
                                  </m:r>
                                </m:sup>
                              </m:sSup>
                            </m:den>
                          </m:f>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m:rPr>
                                  <m:sty m:val="p"/>
                                </m:rPr>
                                <a:rPr lang="en-US" altLang="ja-JP" sz="2000" i="0">
                                  <a:latin typeface="Cambria Math" panose="02040503050406030204" pitchFamily="18" charset="0"/>
                                </a:rPr>
                                <m:t>Δ</m:t>
                              </m:r>
                              <m:r>
                                <a:rPr lang="en-US" altLang="ja-JP" sz="2000" b="0" i="1" smtClean="0">
                                  <a:latin typeface="Cambria Math" panose="02040503050406030204" pitchFamily="18" charset="0"/>
                                </a:rPr>
                                <m:t>𝑃</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𝑅</m:t>
                                  </m:r>
                                </m:num>
                                <m:den>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𝑅</m:t>
                                      </m:r>
                                    </m:e>
                                    <m:sup>
                                      <m:r>
                                        <a:rPr lang="en-US" altLang="ja-JP" sz="2000" b="0" i="1" smtClean="0">
                                          <a:latin typeface="Cambria Math" panose="02040503050406030204" pitchFamily="18" charset="0"/>
                                        </a:rPr>
                                        <m:t>2</m:t>
                                      </m:r>
                                    </m:sup>
                                  </m:sSup>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𝑋</m:t>
                                      </m:r>
                                    </m:e>
                                    <m:sup>
                                      <m:r>
                                        <a:rPr lang="en-US" altLang="ja-JP" sz="2000" b="0" i="1" smtClean="0">
                                          <a:latin typeface="Cambria Math" panose="02040503050406030204" pitchFamily="18" charset="0"/>
                                        </a:rPr>
                                        <m:t>2</m:t>
                                      </m:r>
                                    </m:sup>
                                  </m:sSup>
                                </m:den>
                              </m:f>
                            </m:e>
                          </m:d>
                        </m:e>
                      </m:rad>
                      <m:r>
                        <a:rPr lang="en-US" altLang="ja-JP" sz="2000" b="0" i="0" smtClean="0">
                          <a:latin typeface="Cambria Math" panose="02040503050406030204" pitchFamily="18" charset="0"/>
                        </a:rPr>
                        <m:t>−</m:t>
                      </m:r>
                      <m:r>
                        <m:rPr>
                          <m:sty m:val="p"/>
                        </m:rPr>
                        <a:rPr lang="el-GR" altLang="ja-JP" sz="2000">
                          <a:latin typeface="Cambria Math" panose="02040503050406030204" pitchFamily="18" charset="0"/>
                        </a:rPr>
                        <m:t>Δ</m:t>
                      </m:r>
                      <m:r>
                        <m:rPr>
                          <m:sty m:val="p"/>
                        </m:rPr>
                        <a:rPr lang="en-US" altLang="ja-JP" sz="2000">
                          <a:latin typeface="Cambria Math" panose="02040503050406030204" pitchFamily="18" charset="0"/>
                        </a:rPr>
                        <m:t>Q</m:t>
                      </m:r>
                    </m:oMath>
                  </m:oMathPara>
                </a14:m>
                <a:endParaRPr lang="en-US" altLang="ja-JP" sz="2400"/>
              </a:p>
            </p:txBody>
          </p:sp>
        </mc:Choice>
        <mc:Fallback xmlns="">
          <p:sp>
            <p:nvSpPr>
              <p:cNvPr id="2" name="テキスト ボックス 1">
                <a:extLst>
                  <a:ext uri="{FF2B5EF4-FFF2-40B4-BE49-F238E27FC236}">
                    <a16:creationId xmlns:a16="http://schemas.microsoft.com/office/drawing/2014/main" id="{73691649-9A7D-F257-4A19-4EEA0773824E}"/>
                  </a:ext>
                </a:extLst>
              </p:cNvPr>
              <p:cNvSpPr txBox="1">
                <a:spLocks noRot="1" noChangeAspect="1" noMove="1" noResize="1" noEditPoints="1" noAdjustHandles="1" noChangeArrowheads="1" noChangeShapeType="1" noTextEdit="1"/>
              </p:cNvSpPr>
              <p:nvPr/>
            </p:nvSpPr>
            <p:spPr>
              <a:xfrm>
                <a:off x="1717723" y="4147432"/>
                <a:ext cx="8804286" cy="1371016"/>
              </a:xfrm>
              <a:prstGeom prst="rect">
                <a:avLst/>
              </a:prstGeom>
              <a:blipFill>
                <a:blip r:embed="rId4"/>
                <a:stretch>
                  <a:fillRect/>
                </a:stretch>
              </a:blipFill>
            </p:spPr>
            <p:txBody>
              <a:bodyPr/>
              <a:lstStyle/>
              <a:p>
                <a:r>
                  <a:rPr lang="en-US">
                    <a:noFill/>
                  </a:rPr>
                  <a:t> </a:t>
                </a:r>
              </a:p>
            </p:txBody>
          </p:sp>
        </mc:Fallback>
      </mc:AlternateContent>
      <p:sp>
        <p:nvSpPr>
          <p:cNvPr id="8" name="正方形/長方形 7">
            <a:extLst>
              <a:ext uri="{FF2B5EF4-FFF2-40B4-BE49-F238E27FC236}">
                <a16:creationId xmlns:a16="http://schemas.microsoft.com/office/drawing/2014/main" id="{12CE0AD5-761E-993B-231B-B272D16C922D}"/>
              </a:ext>
            </a:extLst>
          </p:cNvPr>
          <p:cNvSpPr/>
          <p:nvPr/>
        </p:nvSpPr>
        <p:spPr>
          <a:xfrm>
            <a:off x="7408957" y="5544279"/>
            <a:ext cx="2357455" cy="314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56B503B9-2BB3-7392-0F95-2B59FFF78217}"/>
              </a:ext>
            </a:extLst>
          </p:cNvPr>
          <p:cNvSpPr txBox="1"/>
          <p:nvPr/>
        </p:nvSpPr>
        <p:spPr>
          <a:xfrm>
            <a:off x="6799338" y="5432852"/>
            <a:ext cx="5231904" cy="791755"/>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800" b="1" i="0" u="none" strike="noStrike" kern="1200" cap="none" spc="0" normalizeH="0" baseline="0" noProof="0" err="1">
                <a:ln>
                  <a:noFill/>
                </a:ln>
                <a:solidFill>
                  <a:prstClr val="black"/>
                </a:solidFill>
                <a:effectLst/>
                <a:uLnTx/>
                <a:uFillTx/>
                <a:latin typeface="Arial"/>
                <a:ea typeface="メイリオ"/>
                <a:cs typeface="+mn-cs"/>
              </a:rPr>
              <a:t>Qgfm</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の理論値と計算値は，</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+7~9</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％程度の小さい</a:t>
            </a:r>
            <a:endParaRPr kumimoji="1" lang="en-US" altLang="ja-JP" sz="18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誤差率での一致を確認</a:t>
            </a:r>
          </a:p>
        </p:txBody>
      </p:sp>
      <p:graphicFrame>
        <p:nvGraphicFramePr>
          <p:cNvPr id="4" name="表 3">
            <a:extLst>
              <a:ext uri="{FF2B5EF4-FFF2-40B4-BE49-F238E27FC236}">
                <a16:creationId xmlns:a16="http://schemas.microsoft.com/office/drawing/2014/main" id="{9100C5A8-4B36-484F-2C85-EF0EA7067798}"/>
              </a:ext>
            </a:extLst>
          </p:cNvPr>
          <p:cNvGraphicFramePr>
            <a:graphicFrameLocks noGrp="1"/>
          </p:cNvGraphicFramePr>
          <p:nvPr>
            <p:extLst>
              <p:ext uri="{D42A27DB-BD31-4B8C-83A1-F6EECF244321}">
                <p14:modId xmlns:p14="http://schemas.microsoft.com/office/powerpoint/2010/main" val="3199523900"/>
              </p:ext>
            </p:extLst>
          </p:nvPr>
        </p:nvGraphicFramePr>
        <p:xfrm>
          <a:off x="1669991" y="5482927"/>
          <a:ext cx="4824537" cy="741680"/>
        </p:xfrm>
        <a:graphic>
          <a:graphicData uri="http://schemas.openxmlformats.org/drawingml/2006/table">
            <a:tbl>
              <a:tblPr firstRow="1" bandRow="1">
                <a:tableStyleId>{5C22544A-7EE6-4342-B048-85BDC9FD1C3A}</a:tableStyleId>
              </a:tblPr>
              <a:tblGrid>
                <a:gridCol w="1519257">
                  <a:extLst>
                    <a:ext uri="{9D8B030D-6E8A-4147-A177-3AD203B41FA5}">
                      <a16:colId xmlns:a16="http://schemas.microsoft.com/office/drawing/2014/main" val="20000"/>
                    </a:ext>
                  </a:extLst>
                </a:gridCol>
                <a:gridCol w="661056">
                  <a:extLst>
                    <a:ext uri="{9D8B030D-6E8A-4147-A177-3AD203B41FA5}">
                      <a16:colId xmlns:a16="http://schemas.microsoft.com/office/drawing/2014/main" val="20001"/>
                    </a:ext>
                  </a:extLst>
                </a:gridCol>
                <a:gridCol w="661056">
                  <a:extLst>
                    <a:ext uri="{9D8B030D-6E8A-4147-A177-3AD203B41FA5}">
                      <a16:colId xmlns:a16="http://schemas.microsoft.com/office/drawing/2014/main" val="20002"/>
                    </a:ext>
                  </a:extLst>
                </a:gridCol>
                <a:gridCol w="661056">
                  <a:extLst>
                    <a:ext uri="{9D8B030D-6E8A-4147-A177-3AD203B41FA5}">
                      <a16:colId xmlns:a16="http://schemas.microsoft.com/office/drawing/2014/main" val="20003"/>
                    </a:ext>
                  </a:extLst>
                </a:gridCol>
                <a:gridCol w="661056">
                  <a:extLst>
                    <a:ext uri="{9D8B030D-6E8A-4147-A177-3AD203B41FA5}">
                      <a16:colId xmlns:a16="http://schemas.microsoft.com/office/drawing/2014/main" val="20004"/>
                    </a:ext>
                  </a:extLst>
                </a:gridCol>
                <a:gridCol w="661056">
                  <a:extLst>
                    <a:ext uri="{9D8B030D-6E8A-4147-A177-3AD203B41FA5}">
                      <a16:colId xmlns:a16="http://schemas.microsoft.com/office/drawing/2014/main" val="20005"/>
                    </a:ext>
                  </a:extLst>
                </a:gridCol>
              </a:tblGrid>
              <a:tr h="370840">
                <a:tc>
                  <a:txBody>
                    <a:bodyPr/>
                    <a:lstStyle/>
                    <a:p>
                      <a:pPr algn="ctr"/>
                      <a:r>
                        <a:rPr kumimoji="1" lang="en-US" altLang="ja-JP" sz="1600" b="1">
                          <a:latin typeface="+mn-lt"/>
                        </a:rPr>
                        <a:t>SCR</a:t>
                      </a:r>
                      <a:endParaRPr kumimoji="1" lang="ja-JP" altLang="en-US" sz="1600" b="1">
                        <a:latin typeface="+mn-lt"/>
                      </a:endParaRPr>
                    </a:p>
                  </a:txBody>
                  <a:tcPr marT="72000" marB="36000" anchor="ctr"/>
                </a:tc>
                <a:tc>
                  <a:txBody>
                    <a:bodyPr/>
                    <a:lstStyle/>
                    <a:p>
                      <a:pPr algn="ctr"/>
                      <a:r>
                        <a:rPr kumimoji="1" lang="en-US" altLang="ja-JP" sz="1600" b="1">
                          <a:latin typeface="+mn-lt"/>
                        </a:rPr>
                        <a:t>5.0</a:t>
                      </a:r>
                      <a:endParaRPr kumimoji="1" lang="ja-JP" altLang="en-US" sz="1600" b="1">
                        <a:latin typeface="+mn-lt"/>
                      </a:endParaRPr>
                    </a:p>
                  </a:txBody>
                  <a:tcPr marT="72000" marB="36000" anchor="ctr"/>
                </a:tc>
                <a:tc>
                  <a:txBody>
                    <a:bodyPr/>
                    <a:lstStyle/>
                    <a:p>
                      <a:pPr algn="ctr"/>
                      <a:r>
                        <a:rPr kumimoji="1" lang="en-US" altLang="ja-JP" sz="1600" b="1">
                          <a:latin typeface="+mn-lt"/>
                        </a:rPr>
                        <a:t>4.0</a:t>
                      </a:r>
                      <a:endParaRPr kumimoji="1" lang="ja-JP" altLang="en-US" sz="1600" b="1">
                        <a:latin typeface="+mn-lt"/>
                      </a:endParaRPr>
                    </a:p>
                  </a:txBody>
                  <a:tcPr marT="72000" marB="36000" anchor="ctr"/>
                </a:tc>
                <a:tc>
                  <a:txBody>
                    <a:bodyPr/>
                    <a:lstStyle/>
                    <a:p>
                      <a:pPr algn="ctr"/>
                      <a:r>
                        <a:rPr kumimoji="1" lang="en-US" altLang="ja-JP" sz="1600" b="1">
                          <a:latin typeface="+mn-lt"/>
                        </a:rPr>
                        <a:t>3.0</a:t>
                      </a:r>
                      <a:endParaRPr kumimoji="1" lang="ja-JP" altLang="en-US" sz="1600" b="1">
                        <a:latin typeface="+mn-lt"/>
                      </a:endParaRPr>
                    </a:p>
                  </a:txBody>
                  <a:tcPr marT="72000" marB="36000" anchor="ctr"/>
                </a:tc>
                <a:tc>
                  <a:txBody>
                    <a:bodyPr/>
                    <a:lstStyle/>
                    <a:p>
                      <a:pPr algn="ctr"/>
                      <a:r>
                        <a:rPr kumimoji="1" lang="en-US" altLang="ja-JP" sz="1600" b="1">
                          <a:latin typeface="+mn-lt"/>
                        </a:rPr>
                        <a:t>2.0</a:t>
                      </a:r>
                      <a:endParaRPr kumimoji="1" lang="ja-JP" altLang="en-US" sz="1600" b="1">
                        <a:latin typeface="+mn-lt"/>
                      </a:endParaRPr>
                    </a:p>
                  </a:txBody>
                  <a:tcPr marT="72000" marB="36000" anchor="ctr"/>
                </a:tc>
                <a:tc>
                  <a:txBody>
                    <a:bodyPr/>
                    <a:lstStyle/>
                    <a:p>
                      <a:pPr algn="ctr"/>
                      <a:r>
                        <a:rPr kumimoji="1" lang="en-US" altLang="ja-JP" sz="1600" b="1">
                          <a:latin typeface="+mn-lt"/>
                        </a:rPr>
                        <a:t>1.0</a:t>
                      </a:r>
                      <a:endParaRPr kumimoji="1" lang="ja-JP" altLang="en-US" sz="1600" b="1">
                        <a:latin typeface="+mn-lt"/>
                      </a:endParaRPr>
                    </a:p>
                  </a:txBody>
                  <a:tcPr marT="72000" marB="36000" anchor="ctr"/>
                </a:tc>
                <a:extLst>
                  <a:ext uri="{0D108BD9-81ED-4DB2-BD59-A6C34878D82A}">
                    <a16:rowId xmlns:a16="http://schemas.microsoft.com/office/drawing/2014/main" val="10000"/>
                  </a:ext>
                </a:extLst>
              </a:tr>
              <a:tr h="370840">
                <a:tc>
                  <a:txBody>
                    <a:bodyPr/>
                    <a:lstStyle/>
                    <a:p>
                      <a:pPr algn="ctr"/>
                      <a:r>
                        <a:rPr kumimoji="1" lang="ja-JP" altLang="en-US" sz="1600" b="1">
                          <a:latin typeface="+mn-lt"/>
                        </a:rPr>
                        <a:t>平均誤差率</a:t>
                      </a:r>
                      <a:r>
                        <a:rPr kumimoji="1" lang="en-US" altLang="ja-JP" sz="1600" b="1">
                          <a:latin typeface="+mn-lt"/>
                        </a:rPr>
                        <a:t>(%)</a:t>
                      </a:r>
                      <a:endParaRPr kumimoji="1" lang="ja-JP" altLang="en-US" sz="1600" b="1">
                        <a:latin typeface="+mn-lt"/>
                      </a:endParaRPr>
                    </a:p>
                  </a:txBody>
                  <a:tcPr marT="72000" marB="36000" anchor="ctr"/>
                </a:tc>
                <a:tc>
                  <a:txBody>
                    <a:bodyPr/>
                    <a:lstStyle/>
                    <a:p>
                      <a:pPr algn="ctr"/>
                      <a:r>
                        <a:rPr kumimoji="1" lang="en-US" altLang="ja-JP" sz="1600" b="1">
                          <a:latin typeface="+mn-lt"/>
                        </a:rPr>
                        <a:t>9.90</a:t>
                      </a:r>
                      <a:endParaRPr kumimoji="1" lang="ja-JP" altLang="en-US" sz="1600" b="1">
                        <a:latin typeface="+mn-lt"/>
                      </a:endParaRPr>
                    </a:p>
                  </a:txBody>
                  <a:tcPr marT="72000" marB="36000" anchor="ctr"/>
                </a:tc>
                <a:tc>
                  <a:txBody>
                    <a:bodyPr/>
                    <a:lstStyle/>
                    <a:p>
                      <a:pPr algn="ctr"/>
                      <a:r>
                        <a:rPr kumimoji="1" lang="en-US" altLang="ja-JP" sz="1600" b="1">
                          <a:latin typeface="+mn-lt"/>
                        </a:rPr>
                        <a:t>7.09</a:t>
                      </a:r>
                      <a:endParaRPr kumimoji="1" lang="ja-JP" altLang="en-US" sz="1600" b="1">
                        <a:latin typeface="+mn-lt"/>
                      </a:endParaRPr>
                    </a:p>
                  </a:txBody>
                  <a:tcPr marT="72000" marB="36000" anchor="ctr"/>
                </a:tc>
                <a:tc>
                  <a:txBody>
                    <a:bodyPr/>
                    <a:lstStyle/>
                    <a:p>
                      <a:pPr algn="ctr"/>
                      <a:r>
                        <a:rPr kumimoji="1" lang="en-US" altLang="ja-JP" sz="1600" b="1">
                          <a:latin typeface="+mn-lt"/>
                        </a:rPr>
                        <a:t>7.12</a:t>
                      </a:r>
                      <a:endParaRPr kumimoji="1" lang="ja-JP" altLang="en-US" sz="1600" b="1">
                        <a:latin typeface="+mn-lt"/>
                      </a:endParaRPr>
                    </a:p>
                  </a:txBody>
                  <a:tcPr marT="72000" marB="36000" anchor="ctr"/>
                </a:tc>
                <a:tc>
                  <a:txBody>
                    <a:bodyPr/>
                    <a:lstStyle/>
                    <a:p>
                      <a:pPr algn="ctr"/>
                      <a:r>
                        <a:rPr kumimoji="1" lang="en-US" altLang="ja-JP" sz="1600" b="1">
                          <a:latin typeface="+mn-lt"/>
                        </a:rPr>
                        <a:t>7.22</a:t>
                      </a:r>
                      <a:endParaRPr kumimoji="1" lang="ja-JP" altLang="en-US" sz="1600" b="1">
                        <a:latin typeface="+mn-lt"/>
                      </a:endParaRPr>
                    </a:p>
                  </a:txBody>
                  <a:tcPr marT="72000" marB="36000" anchor="ctr"/>
                </a:tc>
                <a:tc>
                  <a:txBody>
                    <a:bodyPr/>
                    <a:lstStyle/>
                    <a:p>
                      <a:pPr algn="ctr"/>
                      <a:r>
                        <a:rPr kumimoji="1" lang="en-US" altLang="ja-JP" sz="1600" b="1">
                          <a:latin typeface="+mn-lt"/>
                        </a:rPr>
                        <a:t>6.94</a:t>
                      </a:r>
                      <a:endParaRPr kumimoji="1" lang="ja-JP" altLang="en-US" sz="1600" b="1">
                        <a:latin typeface="+mn-lt"/>
                      </a:endParaRPr>
                    </a:p>
                  </a:txBody>
                  <a:tcPr marT="72000" marB="36000" anchor="ctr"/>
                </a:tc>
                <a:extLst>
                  <a:ext uri="{0D108BD9-81ED-4DB2-BD59-A6C34878D82A}">
                    <a16:rowId xmlns:a16="http://schemas.microsoft.com/office/drawing/2014/main" val="10001"/>
                  </a:ext>
                </a:extLst>
              </a:tr>
            </a:tbl>
          </a:graphicData>
        </a:graphic>
      </p:graphicFrame>
      <p:sp>
        <p:nvSpPr>
          <p:cNvPr id="27" name="テキスト ボックス 26">
            <a:extLst>
              <a:ext uri="{FF2B5EF4-FFF2-40B4-BE49-F238E27FC236}">
                <a16:creationId xmlns:a16="http://schemas.microsoft.com/office/drawing/2014/main" id="{2FFABD76-DC35-ED7E-3114-D4F87AA384E4}"/>
              </a:ext>
            </a:extLst>
          </p:cNvPr>
          <p:cNvSpPr txBox="1"/>
          <p:nvPr/>
        </p:nvSpPr>
        <p:spPr>
          <a:xfrm>
            <a:off x="6799338" y="6146859"/>
            <a:ext cx="5392662" cy="349702"/>
          </a:xfrm>
          <a:prstGeom prst="rect">
            <a:avLst/>
          </a:prstGeom>
          <a:noFill/>
        </p:spPr>
        <p:txBody>
          <a:bodyPr wrap="square" tIns="72000" bIns="0"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誤差率＝</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計算値－理論値</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a:t>
            </a: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／理論値－</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1)×100 [%]</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pic>
        <p:nvPicPr>
          <p:cNvPr id="31" name="図 30">
            <a:extLst>
              <a:ext uri="{FF2B5EF4-FFF2-40B4-BE49-F238E27FC236}">
                <a16:creationId xmlns:a16="http://schemas.microsoft.com/office/drawing/2014/main" id="{8B6B9BD4-7BA9-F4D3-7D5B-E259F379704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979622" y="630955"/>
            <a:ext cx="5333656" cy="3200193"/>
          </a:xfrm>
          <a:prstGeom prst="rect">
            <a:avLst/>
          </a:prstGeom>
        </p:spPr>
      </p:pic>
      <p:cxnSp>
        <p:nvCxnSpPr>
          <p:cNvPr id="32" name="直線コネクタ 31">
            <a:extLst>
              <a:ext uri="{FF2B5EF4-FFF2-40B4-BE49-F238E27FC236}">
                <a16:creationId xmlns:a16="http://schemas.microsoft.com/office/drawing/2014/main" id="{00C95B03-F84E-5620-3D26-A2D773BFD9C9}"/>
              </a:ext>
            </a:extLst>
          </p:cNvPr>
          <p:cNvCxnSpPr/>
          <p:nvPr/>
        </p:nvCxnSpPr>
        <p:spPr>
          <a:xfrm>
            <a:off x="181550" y="4136855"/>
            <a:ext cx="11747098" cy="41496"/>
          </a:xfrm>
          <a:prstGeom prst="line">
            <a:avLst/>
          </a:prstGeom>
          <a:ln w="38100">
            <a:solidFill>
              <a:schemeClr val="bg1">
                <a:lumMod val="65000"/>
              </a:schemeClr>
            </a:solidFill>
            <a:prstDash val="dashDot"/>
          </a:ln>
        </p:spPr>
        <p:style>
          <a:lnRef idx="1">
            <a:schemeClr val="dk1"/>
          </a:lnRef>
          <a:fillRef idx="0">
            <a:schemeClr val="dk1"/>
          </a:fillRef>
          <a:effectRef idx="0">
            <a:schemeClr val="dk1"/>
          </a:effectRef>
          <a:fontRef idx="minor">
            <a:schemeClr val="tx1"/>
          </a:fontRef>
        </p:style>
      </p:cxnSp>
      <p:sp>
        <p:nvSpPr>
          <p:cNvPr id="33" name="テキスト ボックス 32">
            <a:extLst>
              <a:ext uri="{FF2B5EF4-FFF2-40B4-BE49-F238E27FC236}">
                <a16:creationId xmlns:a16="http://schemas.microsoft.com/office/drawing/2014/main" id="{C7C293C3-C5F0-928B-6E44-AAF7BED3701F}"/>
              </a:ext>
            </a:extLst>
          </p:cNvPr>
          <p:cNvSpPr txBox="1"/>
          <p:nvPr/>
        </p:nvSpPr>
        <p:spPr>
          <a:xfrm>
            <a:off x="1838827" y="6321710"/>
            <a:ext cx="4687284" cy="369332"/>
          </a:xfrm>
          <a:prstGeom prst="rect">
            <a:avLst/>
          </a:prstGeom>
          <a:noFill/>
        </p:spPr>
        <p:txBody>
          <a:bodyPr wrap="square" rtlCol="0">
            <a:spAutoFit/>
          </a:bodyPr>
          <a:lstStyle/>
          <a:p>
            <a:pPr algn="ctr"/>
            <a:r>
              <a:rPr lang="ja-JP" altLang="en-US" b="1"/>
              <a:t>計算値と理論値の比較表</a:t>
            </a:r>
            <a:endParaRPr lang="zh-CN" altLang="en-US" b="1"/>
          </a:p>
        </p:txBody>
      </p:sp>
      <p:sp>
        <p:nvSpPr>
          <p:cNvPr id="35" name="テキスト ボックス 34">
            <a:extLst>
              <a:ext uri="{FF2B5EF4-FFF2-40B4-BE49-F238E27FC236}">
                <a16:creationId xmlns:a16="http://schemas.microsoft.com/office/drawing/2014/main" id="{6040AA46-CF3B-F616-A945-9899527F89DE}"/>
              </a:ext>
            </a:extLst>
          </p:cNvPr>
          <p:cNvSpPr txBox="1"/>
          <p:nvPr/>
        </p:nvSpPr>
        <p:spPr>
          <a:xfrm>
            <a:off x="3523223" y="3745083"/>
            <a:ext cx="4687284" cy="369332"/>
          </a:xfrm>
          <a:prstGeom prst="rect">
            <a:avLst/>
          </a:prstGeom>
          <a:noFill/>
        </p:spPr>
        <p:txBody>
          <a:bodyPr wrap="square" rtlCol="0">
            <a:spAutoFit/>
          </a:bodyPr>
          <a:lstStyle/>
          <a:p>
            <a:pPr algn="ctr"/>
            <a:r>
              <a:rPr lang="en-US" altLang="ja-JP" b="1"/>
              <a:t>SCR</a:t>
            </a:r>
            <a:r>
              <a:rPr lang="ja-JP" altLang="en-US" b="1"/>
              <a:t>ごとの動作可能限界線</a:t>
            </a:r>
            <a:endParaRPr lang="zh-CN" altLang="en-US" b="1"/>
          </a:p>
        </p:txBody>
      </p:sp>
      <p:sp>
        <p:nvSpPr>
          <p:cNvPr id="30" name="テキスト ボックス 29"/>
          <p:cNvSpPr txBox="1"/>
          <p:nvPr/>
        </p:nvSpPr>
        <p:spPr>
          <a:xfrm>
            <a:off x="8210507" y="4756795"/>
            <a:ext cx="4320480" cy="694412"/>
          </a:xfrm>
          <a:prstGeom prst="rect">
            <a:avLst/>
          </a:prstGeom>
          <a:noFill/>
        </p:spPr>
        <p:txBody>
          <a:bodyPr wrap="square" tIns="72000" bIns="0" rtlCol="0">
            <a:spAutoFit/>
          </a:bodyP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600" b="0" i="1" u="none" strike="noStrike" kern="1200" cap="none" spc="0" normalizeH="0" baseline="0" noProof="0">
                <a:ln>
                  <a:noFill/>
                </a:ln>
                <a:solidFill>
                  <a:prstClr val="black"/>
                </a:solidFill>
                <a:effectLst/>
                <a:uLnTx/>
                <a:uFillTx/>
                <a:latin typeface="Arial"/>
                <a:ea typeface="メイリオ"/>
                <a:cs typeface="+mn-cs"/>
              </a:rPr>
              <a:t>X</a:t>
            </a:r>
            <a:r>
              <a:rPr kumimoji="1" lang="ja-JP" altLang="en-US" sz="1600" b="0" i="1" u="none" strike="noStrike" kern="1200" cap="none" spc="0" normalizeH="0" baseline="0" noProof="0">
                <a:ln>
                  <a:noFill/>
                </a:ln>
                <a:solidFill>
                  <a:prstClr val="black"/>
                </a:solidFill>
                <a:effectLst/>
                <a:uLnTx/>
                <a:uFillTx/>
                <a:latin typeface="Arial"/>
                <a:ea typeface="メイリオ"/>
                <a:cs typeface="+mn-cs"/>
              </a:rPr>
              <a:t>：送電線リアクタンス</a:t>
            </a:r>
            <a:r>
              <a:rPr kumimoji="1" lang="en-US" altLang="ja-JP" sz="1600" b="0" u="none" strike="noStrike" kern="1200" cap="none" spc="0" normalizeH="0" baseline="0" noProof="0">
                <a:ln>
                  <a:noFill/>
                </a:ln>
                <a:solidFill>
                  <a:prstClr val="black"/>
                </a:solidFill>
                <a:effectLst/>
                <a:uLnTx/>
                <a:uFillTx/>
                <a:latin typeface="Arial"/>
                <a:ea typeface="メイリオ"/>
                <a:cs typeface="+mn-cs"/>
              </a:rPr>
              <a:t>[</a:t>
            </a:r>
            <a:r>
              <a:rPr kumimoji="1" lang="en-US" altLang="ja-JP" sz="1600" b="0" u="none" strike="noStrike" kern="1200" cap="none" spc="0" normalizeH="0" baseline="0" noProof="0" err="1">
                <a:ln>
                  <a:noFill/>
                </a:ln>
                <a:solidFill>
                  <a:prstClr val="black"/>
                </a:solidFill>
                <a:effectLst/>
                <a:uLnTx/>
                <a:uFillTx/>
                <a:latin typeface="Arial"/>
                <a:ea typeface="メイリオ"/>
                <a:cs typeface="+mn-cs"/>
              </a:rPr>
              <a:t>pu</a:t>
            </a:r>
            <a:r>
              <a:rPr kumimoji="1" lang="en-US" altLang="ja-JP" sz="1600" b="0" u="none" strike="noStrike" kern="1200" cap="none" spc="0" normalizeH="0" baseline="0" noProof="0">
                <a:ln>
                  <a:noFill/>
                </a:ln>
                <a:solidFill>
                  <a:prstClr val="black"/>
                </a:solidFill>
                <a:effectLst/>
                <a:uLnTx/>
                <a:uFillTx/>
                <a:latin typeface="Arial"/>
                <a:ea typeface="メイリオ"/>
                <a:cs typeface="+mn-cs"/>
              </a:rPr>
              <a:t>]</a:t>
            </a:r>
            <a:endParaRPr lang="en-US" altLang="ja-JP" sz="1600" i="1">
              <a:solidFill>
                <a:prstClr val="black"/>
              </a:solidFill>
              <a:latin typeface="Arial"/>
              <a:ea typeface="メイリオ"/>
            </a:endParaRPr>
          </a:p>
          <a:p>
            <a:pPr marL="0" marR="0" lvl="0" indent="0" algn="l" defTabSz="457200" rtl="0" eaLnBrk="1" fontAlgn="auto" latinLnBrk="0" hangingPunct="1">
              <a:lnSpc>
                <a:spcPct val="130000"/>
              </a:lnSpc>
              <a:spcBef>
                <a:spcPts val="0"/>
              </a:spcBef>
              <a:spcAft>
                <a:spcPts val="0"/>
              </a:spcAft>
              <a:buClrTx/>
              <a:buSzTx/>
              <a:buFontTx/>
              <a:buNone/>
              <a:tabLst/>
              <a:defRPr/>
            </a:pPr>
            <a:r>
              <a:rPr kumimoji="1" lang="en-US" altLang="ja-JP" sz="1600" b="0" i="1" u="none" strike="noStrike" kern="1200" cap="none" spc="0" normalizeH="0" baseline="0" noProof="0">
                <a:ln>
                  <a:noFill/>
                </a:ln>
                <a:solidFill>
                  <a:prstClr val="black"/>
                </a:solidFill>
                <a:effectLst/>
                <a:uLnTx/>
                <a:uFillTx/>
                <a:latin typeface="Arial"/>
                <a:ea typeface="メイリオ"/>
                <a:cs typeface="+mn-cs"/>
              </a:rPr>
              <a:t>R</a:t>
            </a:r>
            <a:r>
              <a:rPr kumimoji="1" lang="ja-JP" altLang="en-US" sz="1600" b="0" i="1" u="none" strike="noStrike" kern="1200" cap="none" spc="0" normalizeH="0" baseline="0" noProof="0">
                <a:ln>
                  <a:noFill/>
                </a:ln>
                <a:solidFill>
                  <a:prstClr val="black"/>
                </a:solidFill>
                <a:effectLst/>
                <a:uLnTx/>
                <a:uFillTx/>
                <a:latin typeface="Arial"/>
                <a:ea typeface="メイリオ"/>
                <a:cs typeface="+mn-cs"/>
              </a:rPr>
              <a:t>：送電線抵抗</a:t>
            </a:r>
            <a:r>
              <a:rPr lang="en-US" altLang="ja-JP" sz="1600">
                <a:solidFill>
                  <a:prstClr val="black"/>
                </a:solidFill>
                <a:latin typeface="Arial"/>
                <a:ea typeface="メイリオ"/>
              </a:rPr>
              <a:t>[</a:t>
            </a:r>
            <a:r>
              <a:rPr lang="en-US" altLang="ja-JP" sz="1600" err="1">
                <a:solidFill>
                  <a:prstClr val="black"/>
                </a:solidFill>
                <a:latin typeface="Arial"/>
                <a:ea typeface="メイリオ"/>
              </a:rPr>
              <a:t>pu</a:t>
            </a:r>
            <a:r>
              <a:rPr lang="en-US" altLang="ja-JP" sz="1600">
                <a:solidFill>
                  <a:prstClr val="black"/>
                </a:solidFill>
                <a:latin typeface="Arial"/>
                <a:ea typeface="メイリオ"/>
              </a:rPr>
              <a:t>]</a:t>
            </a:r>
            <a:endParaRPr kumimoji="1" lang="ja-JP" altLang="en-US" sz="1600" b="0" u="none" strike="noStrike" kern="1200" cap="none" spc="0" normalizeH="0" baseline="0" noProof="0">
              <a:ln>
                <a:noFill/>
              </a:ln>
              <a:solidFill>
                <a:prstClr val="black"/>
              </a:solidFill>
              <a:effectLst/>
              <a:uLnTx/>
              <a:uFillTx/>
              <a:latin typeface="Arial"/>
              <a:ea typeface="メイリオ"/>
              <a:cs typeface="+mn-cs"/>
            </a:endParaRPr>
          </a:p>
        </p:txBody>
      </p:sp>
    </p:spTree>
    <p:extLst>
      <p:ext uri="{BB962C8B-B14F-4D97-AF65-F5344CB8AC3E}">
        <p14:creationId xmlns:p14="http://schemas.microsoft.com/office/powerpoint/2010/main" val="556283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8EF1593-AE4A-8449-B423-4D4000CA4192}"/>
              </a:ext>
            </a:extLst>
          </p:cNvPr>
          <p:cNvSpPr txBox="1"/>
          <p:nvPr/>
        </p:nvSpPr>
        <p:spPr>
          <a:xfrm>
            <a:off x="260038" y="140142"/>
            <a:ext cx="11668610" cy="478387"/>
          </a:xfrm>
          <a:prstGeom prst="rect">
            <a:avLst/>
          </a:prstGeom>
          <a:noFill/>
        </p:spPr>
        <p:txBody>
          <a:bodyPr wrap="square" tIns="72000" bIns="3600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解析結果</a:t>
            </a:r>
            <a:r>
              <a:rPr lang="ja-JP" altLang="en-US" sz="2400" b="1">
                <a:solidFill>
                  <a:srgbClr val="0070C0"/>
                </a:solidFill>
                <a:latin typeface="メイリオ"/>
                <a:ea typeface="メイリオ"/>
              </a:rPr>
              <a:t>と理論値との比較</a:t>
            </a:r>
            <a:r>
              <a:rPr lang="en-US" altLang="ja-JP" sz="2400" b="1">
                <a:solidFill>
                  <a:srgbClr val="0070C0"/>
                </a:solidFill>
                <a:latin typeface="メイリオ"/>
                <a:ea typeface="メイリオ"/>
              </a:rPr>
              <a:t>~Q</a:t>
            </a:r>
            <a:r>
              <a:rPr lang="ja-JP" altLang="en-US" sz="2400" b="1">
                <a:solidFill>
                  <a:srgbClr val="0070C0"/>
                </a:solidFill>
                <a:latin typeface="メイリオ"/>
                <a:ea typeface="メイリオ"/>
              </a:rPr>
              <a:t>制御の場合</a:t>
            </a: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　</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cxnSp>
        <p:nvCxnSpPr>
          <p:cNvPr id="4" name="直線コネクタ 3">
            <a:extLst>
              <a:ext uri="{FF2B5EF4-FFF2-40B4-BE49-F238E27FC236}">
                <a16:creationId xmlns:a16="http://schemas.microsoft.com/office/drawing/2014/main" id="{1987FE35-0956-43BC-1484-CB7444FBBBBF}"/>
              </a:ext>
            </a:extLst>
          </p:cNvPr>
          <p:cNvCxnSpPr>
            <a:cxnSpLocks/>
          </p:cNvCxnSpPr>
          <p:nvPr/>
        </p:nvCxnSpPr>
        <p:spPr>
          <a:xfrm>
            <a:off x="0" y="588468"/>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A2379F42-6D02-47F6-737F-C54D894F26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sp>
        <p:nvSpPr>
          <p:cNvPr id="24" name="テキスト ボックス 23">
            <a:extLst>
              <a:ext uri="{FF2B5EF4-FFF2-40B4-BE49-F238E27FC236}">
                <a16:creationId xmlns:a16="http://schemas.microsoft.com/office/drawing/2014/main" id="{925D5319-9673-1BFD-52C0-EEB24B41654A}"/>
              </a:ext>
            </a:extLst>
          </p:cNvPr>
          <p:cNvSpPr txBox="1"/>
          <p:nvPr/>
        </p:nvSpPr>
        <p:spPr>
          <a:xfrm>
            <a:off x="260038" y="620689"/>
            <a:ext cx="10156441" cy="770774"/>
          </a:xfrm>
          <a:prstGeom prst="rect">
            <a:avLst/>
          </a:prstGeom>
          <a:noFill/>
        </p:spPr>
        <p:txBody>
          <a:bodyPr wrap="square" tIns="72000" bIns="36000">
            <a:sp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kumimoji="1" lang="ja-JP" altLang="en-US" b="1" i="0" u="none" strike="noStrike" kern="1200" cap="none" spc="0" normalizeH="0" baseline="0" noProof="0">
                <a:ln>
                  <a:noFill/>
                </a:ln>
                <a:solidFill>
                  <a:srgbClr val="0070C0"/>
                </a:solidFill>
                <a:effectLst/>
                <a:uLnTx/>
                <a:uFillTx/>
                <a:latin typeface="Arial"/>
                <a:ea typeface="メイリオ"/>
                <a:cs typeface="+mn-cs"/>
              </a:rPr>
              <a:t>理論式</a:t>
            </a:r>
            <a:endParaRPr kumimoji="1" lang="en-US" altLang="ja-JP" b="1" i="0" u="none" strike="noStrike" kern="1200" cap="none" spc="0" normalizeH="0" baseline="0" noProof="0">
              <a:ln>
                <a:noFill/>
              </a:ln>
              <a:solidFill>
                <a:srgbClr val="0070C0"/>
              </a:solidFill>
              <a:effectLst/>
              <a:uLnTx/>
              <a:uFillTx/>
              <a:latin typeface="Arial"/>
              <a:ea typeface="メイリオ"/>
              <a:cs typeface="+mn-cs"/>
            </a:endParaRPr>
          </a:p>
          <a:p>
            <a:pPr marL="717550" marR="0" lvl="0" indent="-355600" algn="l" defTabSz="457200" rtl="0" eaLnBrk="1" fontAlgn="auto" latinLnBrk="0" hangingPunct="1">
              <a:lnSpc>
                <a:spcPct val="130000"/>
              </a:lnSpc>
              <a:spcBef>
                <a:spcPts val="0"/>
              </a:spcBef>
              <a:spcAft>
                <a:spcPts val="0"/>
              </a:spcAft>
              <a:buClr>
                <a:srgbClr val="0070C0"/>
              </a:buClr>
              <a:buSzTx/>
              <a:buFontTx/>
              <a:buNone/>
              <a:tabLst/>
              <a:defRPr/>
            </a:pPr>
            <a:r>
              <a:rPr kumimoji="1" lang="ja-JP" altLang="en-US" sz="1600" b="1" i="0" u="none" strike="noStrike" kern="1200" cap="none" spc="0" normalizeH="0" baseline="0" noProof="0">
                <a:ln>
                  <a:noFill/>
                </a:ln>
                <a:solidFill>
                  <a:prstClr val="black"/>
                </a:solidFill>
                <a:effectLst/>
                <a:uLnTx/>
                <a:uFillTx/>
                <a:latin typeface="Arial"/>
                <a:ea typeface="メイリオ"/>
                <a:cs typeface="+mn-cs"/>
              </a:rPr>
              <a:t>インバータの出力無効電力を</a:t>
            </a:r>
            <a:r>
              <a:rPr kumimoji="1" lang="en-US" altLang="ja-JP" sz="1600" b="1" i="0" u="none" strike="noStrike" kern="1200" cap="none" spc="0" normalizeH="0" baseline="0" noProof="0">
                <a:ln>
                  <a:noFill/>
                </a:ln>
                <a:solidFill>
                  <a:prstClr val="black"/>
                </a:solidFill>
                <a:effectLst/>
                <a:uLnTx/>
                <a:uFillTx/>
                <a:latin typeface="Arial"/>
                <a:ea typeface="メイリオ"/>
                <a:cs typeface="+mn-cs"/>
              </a:rPr>
              <a:t>1.0pu</a:t>
            </a:r>
            <a:r>
              <a:rPr kumimoji="1" lang="ja-JP" altLang="en-US" sz="1600" b="1" i="0" u="none" strike="noStrike" kern="1200" cap="none" spc="0" normalizeH="0" baseline="0" noProof="0">
                <a:ln>
                  <a:noFill/>
                </a:ln>
                <a:solidFill>
                  <a:prstClr val="black"/>
                </a:solidFill>
                <a:effectLst/>
                <a:uLnTx/>
                <a:uFillTx/>
                <a:latin typeface="Arial"/>
                <a:ea typeface="メイリオ"/>
                <a:cs typeface="+mn-cs"/>
              </a:rPr>
              <a:t>に維持するために必要な，インバータ</a:t>
            </a:r>
            <a:r>
              <a:rPr lang="ja-JP" altLang="en-US" sz="1600" b="1">
                <a:solidFill>
                  <a:prstClr val="black"/>
                </a:solidFill>
                <a:latin typeface="Arial"/>
                <a:ea typeface="メイリオ"/>
              </a:rPr>
              <a:t>電圧</a:t>
            </a:r>
            <a:r>
              <a:rPr kumimoji="1" lang="en-US" altLang="ja-JP" sz="1600" b="1" i="0" u="none" strike="noStrike" kern="1200" cap="none" spc="0" normalizeH="0" baseline="0" noProof="0">
                <a:ln>
                  <a:noFill/>
                </a:ln>
                <a:solidFill>
                  <a:prstClr val="black"/>
                </a:solidFill>
                <a:effectLst/>
                <a:uLnTx/>
                <a:uFillTx/>
                <a:latin typeface="Arial"/>
                <a:ea typeface="メイリオ"/>
                <a:cs typeface="+mn-cs"/>
              </a:rPr>
              <a:t>[</a:t>
            </a:r>
            <a:r>
              <a:rPr kumimoji="1" lang="en-US" altLang="ja-JP" sz="1600" b="1" i="0" u="none" strike="noStrike" kern="1200" cap="none" spc="0" normalizeH="0" baseline="0" noProof="0" err="1">
                <a:ln>
                  <a:noFill/>
                </a:ln>
                <a:solidFill>
                  <a:prstClr val="black"/>
                </a:solidFill>
                <a:effectLst/>
                <a:uLnTx/>
                <a:uFillTx/>
                <a:latin typeface="Arial"/>
                <a:ea typeface="メイリオ"/>
                <a:cs typeface="+mn-cs"/>
              </a:rPr>
              <a:t>pu</a:t>
            </a:r>
            <a:r>
              <a:rPr kumimoji="1" lang="en-US" altLang="ja-JP" sz="1600" b="1" i="0" u="none" strike="noStrike" kern="1200" cap="none" spc="0" normalizeH="0" baseline="0" noProof="0">
                <a:ln>
                  <a:noFill/>
                </a:ln>
                <a:solidFill>
                  <a:prstClr val="black"/>
                </a:solidFill>
                <a:effectLst/>
                <a:uLnTx/>
                <a:uFillTx/>
                <a:latin typeface="Arial"/>
                <a:ea typeface="メイリオ"/>
                <a:cs typeface="+mn-cs"/>
              </a:rPr>
              <a:t>] </a:t>
            </a:r>
            <a:r>
              <a:rPr kumimoji="1" lang="ja-JP" altLang="en-US" sz="1600" b="1" i="0" u="none" strike="noStrike" kern="1200" cap="none" spc="0" normalizeH="0" baseline="0" noProof="0">
                <a:ln>
                  <a:noFill/>
                </a:ln>
                <a:solidFill>
                  <a:prstClr val="black"/>
                </a:solidFill>
                <a:effectLst/>
                <a:uLnTx/>
                <a:uFillTx/>
                <a:latin typeface="Arial"/>
                <a:ea typeface="メイリオ"/>
                <a:cs typeface="+mn-cs"/>
              </a:rPr>
              <a:t>を導出</a:t>
            </a:r>
            <a:endParaRPr kumimoji="1" lang="en-US" altLang="ja-JP" sz="1600" b="1" i="0" u="none" strike="noStrike" kern="1200" cap="none" spc="0" normalizeH="0" baseline="0" noProof="0">
              <a:ln>
                <a:noFill/>
              </a:ln>
              <a:solidFill>
                <a:prstClr val="black"/>
              </a:solidFill>
              <a:effectLst/>
              <a:uLnTx/>
              <a:uFillTx/>
              <a:latin typeface="Arial"/>
              <a:ea typeface="メイリオ"/>
              <a:cs typeface="+mn-cs"/>
            </a:endParaRPr>
          </a:p>
        </p:txBody>
      </p:sp>
      <p:sp>
        <p:nvSpPr>
          <p:cNvPr id="2" name="テキスト ボックス 1">
            <a:extLst>
              <a:ext uri="{FF2B5EF4-FFF2-40B4-BE49-F238E27FC236}">
                <a16:creationId xmlns:a16="http://schemas.microsoft.com/office/drawing/2014/main" id="{CC618DB3-EEEA-927C-A72C-438E90C9506B}"/>
              </a:ext>
            </a:extLst>
          </p:cNvPr>
          <p:cNvSpPr txBox="1"/>
          <p:nvPr/>
        </p:nvSpPr>
        <p:spPr>
          <a:xfrm>
            <a:off x="376933" y="1330056"/>
            <a:ext cx="706315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err="1">
                <a:ln>
                  <a:noFill/>
                </a:ln>
                <a:solidFill>
                  <a:prstClr val="black"/>
                </a:solidFill>
                <a:effectLst/>
                <a:uLnTx/>
                <a:uFillTx/>
                <a:latin typeface="Arial"/>
                <a:ea typeface="メイリオ"/>
                <a:cs typeface="+mn-cs"/>
              </a:rPr>
              <a:t>Qgfm</a:t>
            </a:r>
            <a:r>
              <a:rPr kumimoji="1" lang="ja-JP" altLang="en-US" sz="1800" b="0" i="0" u="none" strike="noStrike" kern="1200" cap="none" spc="0" normalizeH="0" baseline="0" noProof="0">
                <a:ln>
                  <a:noFill/>
                </a:ln>
                <a:solidFill>
                  <a:prstClr val="black"/>
                </a:solidFill>
                <a:effectLst/>
                <a:uLnTx/>
                <a:uFillTx/>
                <a:latin typeface="Arial"/>
                <a:ea typeface="メイリオ"/>
                <a:cs typeface="+mn-cs"/>
              </a:rPr>
              <a:t>＝</a:t>
            </a:r>
            <a:r>
              <a:rPr kumimoji="1" lang="en-US" altLang="ja-JP" sz="1800" b="0" i="0" u="none" strike="noStrike" kern="1200" cap="none" spc="0" normalizeH="0" baseline="0" noProof="0">
                <a:ln>
                  <a:noFill/>
                </a:ln>
                <a:solidFill>
                  <a:prstClr val="black"/>
                </a:solidFill>
                <a:effectLst/>
                <a:uLnTx/>
                <a:uFillTx/>
                <a:latin typeface="Arial"/>
                <a:ea typeface="メイリオ"/>
                <a:cs typeface="+mn-cs"/>
              </a:rPr>
              <a:t>1 </a:t>
            </a:r>
            <a:r>
              <a:rPr kumimoji="1" lang="en-US" altLang="ja-JP" sz="1800" b="0" i="0" u="none" strike="noStrike" kern="1200" cap="none" spc="0" normalizeH="0" baseline="0" noProof="0" err="1">
                <a:ln>
                  <a:noFill/>
                </a:ln>
                <a:solidFill>
                  <a:prstClr val="black"/>
                </a:solidFill>
                <a:effectLst/>
                <a:uLnTx/>
                <a:uFillTx/>
                <a:latin typeface="Arial"/>
                <a:ea typeface="メイリオ"/>
                <a:cs typeface="+mn-cs"/>
              </a:rPr>
              <a:t>pu</a:t>
            </a:r>
            <a:r>
              <a:rPr kumimoji="1" lang="en-US" altLang="ja-JP" sz="1800" b="0" i="0" u="none" strike="noStrike" kern="1200" cap="none" spc="0" normalizeH="0" baseline="0" noProof="0">
                <a:ln>
                  <a:noFill/>
                </a:ln>
                <a:solidFill>
                  <a:prstClr val="black"/>
                </a:solidFill>
                <a:effectLst/>
                <a:uLnTx/>
                <a:uFillTx/>
                <a:latin typeface="Arial"/>
                <a:ea typeface="メイリオ"/>
                <a:cs typeface="+mn-cs"/>
              </a:rPr>
              <a:t>,</a:t>
            </a:r>
            <a:r>
              <a:rPr kumimoji="1" lang="ja-JP" altLang="en-US" sz="1800" b="0" i="0" u="none" strike="noStrike" kern="1200" cap="none" spc="0" normalizeH="0" baseline="0" noProof="0">
                <a:ln>
                  <a:noFill/>
                </a:ln>
                <a:solidFill>
                  <a:prstClr val="black"/>
                </a:solidFill>
                <a:effectLst/>
                <a:uLnTx/>
                <a:uFillTx/>
                <a:latin typeface="Arial"/>
                <a:ea typeface="メイリオ"/>
                <a:cs typeface="+mn-cs"/>
              </a:rPr>
              <a:t> </a:t>
            </a:r>
            <a:r>
              <a:rPr kumimoji="1" lang="en-US" altLang="ja-JP" sz="1800" b="0" i="0" u="none" strike="noStrike" kern="1200" cap="none" spc="0" normalizeH="0" baseline="0" noProof="0">
                <a:ln>
                  <a:noFill/>
                </a:ln>
                <a:solidFill>
                  <a:prstClr val="black"/>
                </a:solidFill>
                <a:effectLst/>
                <a:uLnTx/>
                <a:uFillTx/>
                <a:latin typeface="Arial"/>
                <a:ea typeface="メイリオ"/>
                <a:cs typeface="+mn-cs"/>
              </a:rPr>
              <a:t>E=1 </a:t>
            </a:r>
            <a:r>
              <a:rPr kumimoji="1" lang="en-US" altLang="ja-JP" sz="1800" b="0" i="0" u="none" strike="noStrike" kern="1200" cap="none" spc="0" normalizeH="0" baseline="0" noProof="0" err="1">
                <a:ln>
                  <a:noFill/>
                </a:ln>
                <a:solidFill>
                  <a:prstClr val="black"/>
                </a:solidFill>
                <a:effectLst/>
                <a:uLnTx/>
                <a:uFillTx/>
                <a:latin typeface="Arial"/>
                <a:ea typeface="メイリオ"/>
                <a:cs typeface="+mn-cs"/>
              </a:rPr>
              <a:t>pu</a:t>
            </a:r>
            <a:endParaRPr kumimoji="1" lang="en-US" altLang="ja-JP" sz="1800" b="0" i="0" u="none" strike="noStrike" kern="1200" cap="none" spc="0" normalizeH="0" baseline="0" noProof="0">
              <a:ln>
                <a:noFill/>
              </a:ln>
              <a:solidFill>
                <a:prstClr val="black"/>
              </a:solidFill>
              <a:effectLst/>
              <a:uLnTx/>
              <a:uFillTx/>
              <a:latin typeface="Arial"/>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ACC519C6-7DAC-E3E1-6A8D-9A465915432E}"/>
                  </a:ext>
                </a:extLst>
              </p:cNvPr>
              <p:cNvSpPr txBox="1"/>
              <p:nvPr/>
            </p:nvSpPr>
            <p:spPr>
              <a:xfrm>
                <a:off x="4168197" y="1276476"/>
                <a:ext cx="8029394"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ad>
                        <m:radPr>
                          <m:degHide m:val="on"/>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f>
                            <m:fPr>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num>
                            <m:den>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(1+2</m:t>
                          </m:r>
                          <m:d>
                            <m:dPr>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𝑅𝑃</m:t>
                              </m:r>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𝑋𝑄</m:t>
                              </m:r>
                            </m:e>
                          </m:d>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ad>
                            <m:radPr>
                              <m:degHide m:val="on"/>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sSup>
                                <m:sSupPr>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lang="en-US" altLang="ja-JP" i="1">
                                      <a:solidFill>
                                        <a:prstClr val="black"/>
                                      </a:solidFill>
                                      <a:latin typeface="Cambria Math" panose="02040503050406030204" pitchFamily="18" charset="0"/>
                                    </a:rPr>
                                    <m:t>(1+2</m:t>
                                  </m:r>
                                  <m:d>
                                    <m:dPr>
                                      <m:ctrlPr>
                                        <a:rPr lang="en-US" altLang="ja-JP" i="1">
                                          <a:solidFill>
                                            <a:prstClr val="black"/>
                                          </a:solidFill>
                                          <a:latin typeface="Cambria Math" panose="02040503050406030204" pitchFamily="18" charset="0"/>
                                        </a:rPr>
                                      </m:ctrlPr>
                                    </m:dPr>
                                    <m:e>
                                      <m:r>
                                        <a:rPr lang="en-US" altLang="ja-JP" i="1">
                                          <a:solidFill>
                                            <a:prstClr val="black"/>
                                          </a:solidFill>
                                          <a:latin typeface="Cambria Math" panose="02040503050406030204" pitchFamily="18" charset="0"/>
                                        </a:rPr>
                                        <m:t>𝑅𝑃</m:t>
                                      </m:r>
                                      <m:r>
                                        <a:rPr lang="en-US" altLang="ja-JP" i="1">
                                          <a:solidFill>
                                            <a:prstClr val="black"/>
                                          </a:solidFill>
                                          <a:latin typeface="Cambria Math" panose="02040503050406030204" pitchFamily="18" charset="0"/>
                                        </a:rPr>
                                        <m:t>+</m:t>
                                      </m:r>
                                      <m:r>
                                        <a:rPr lang="en-US" altLang="ja-JP" i="1">
                                          <a:solidFill>
                                            <a:prstClr val="black"/>
                                          </a:solidFill>
                                          <a:latin typeface="Cambria Math" panose="02040503050406030204" pitchFamily="18" charset="0"/>
                                        </a:rPr>
                                        <m:t>𝑋𝑄</m:t>
                                      </m:r>
                                    </m:e>
                                  </m:d>
                                  <m:r>
                                    <a:rPr lang="en-US" altLang="ja-JP" b="0" i="1" smtClean="0">
                                      <a:solidFill>
                                        <a:prstClr val="black"/>
                                      </a:solidFill>
                                      <a:latin typeface="Cambria Math" panose="02040503050406030204" pitchFamily="18" charset="0"/>
                                    </a:rPr>
                                    <m:t>)</m:t>
                                  </m:r>
                                </m:e>
                                <m: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Sup>
                                <m:sSupPr>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e>
                                <m: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𝑋</m:t>
                                  </m:r>
                                </m:e>
                                <m: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m:t>
                                  </m:r>
                                </m:e>
                                <m: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𝑄</m:t>
                                  </m:r>
                                </m:e>
                                <m: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p>
                              <m:r>
                                <a:rPr kumimoji="1" lang="en-US" altLang="ja-JP"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rad>
                        </m:e>
                      </m:rad>
                    </m:oMath>
                  </m:oMathPara>
                </a14:m>
                <a:endParaRPr lang="zh-CN" altLang="en-US" sz="1600"/>
              </a:p>
            </p:txBody>
          </p:sp>
        </mc:Choice>
        <mc:Fallback xmlns="">
          <p:sp>
            <p:nvSpPr>
              <p:cNvPr id="8" name="テキスト ボックス 7">
                <a:extLst>
                  <a:ext uri="{FF2B5EF4-FFF2-40B4-BE49-F238E27FC236}">
                    <a16:creationId xmlns:a16="http://schemas.microsoft.com/office/drawing/2014/main" id="{ACC519C6-7DAC-E3E1-6A8D-9A465915432E}"/>
                  </a:ext>
                </a:extLst>
              </p:cNvPr>
              <p:cNvSpPr txBox="1">
                <a:spLocks noRot="1" noChangeAspect="1" noMove="1" noResize="1" noEditPoints="1" noAdjustHandles="1" noChangeArrowheads="1" noChangeShapeType="1" noTextEdit="1"/>
              </p:cNvSpPr>
              <p:nvPr/>
            </p:nvSpPr>
            <p:spPr>
              <a:xfrm>
                <a:off x="4168197" y="1276476"/>
                <a:ext cx="8029394" cy="910699"/>
              </a:xfrm>
              <a:prstGeom prst="rect">
                <a:avLst/>
              </a:prstGeom>
              <a:blipFill>
                <a:blip r:embed="rId4"/>
                <a:stretch>
                  <a:fillRect/>
                </a:stretch>
              </a:blipFill>
            </p:spPr>
            <p:txBody>
              <a:bodyPr/>
              <a:lstStyle/>
              <a:p>
                <a:r>
                  <a:rPr lang="en-US">
                    <a:noFill/>
                  </a:rPr>
                  <a:t> </a:t>
                </a:r>
              </a:p>
            </p:txBody>
          </p:sp>
        </mc:Fallback>
      </mc:AlternateContent>
      <p:sp>
        <p:nvSpPr>
          <p:cNvPr id="6" name="テキスト ボックス 5">
            <a:extLst>
              <a:ext uri="{FF2B5EF4-FFF2-40B4-BE49-F238E27FC236}">
                <a16:creationId xmlns:a16="http://schemas.microsoft.com/office/drawing/2014/main" id="{5C5D439A-15E6-15A6-5B44-9DA080EF12EA}"/>
              </a:ext>
            </a:extLst>
          </p:cNvPr>
          <p:cNvSpPr txBox="1"/>
          <p:nvPr/>
        </p:nvSpPr>
        <p:spPr>
          <a:xfrm>
            <a:off x="376933" y="1617200"/>
            <a:ext cx="70631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prstClr val="black"/>
                </a:solidFill>
                <a:effectLst/>
                <a:uLnTx/>
                <a:uFillTx/>
                <a:latin typeface="Arial"/>
                <a:ea typeface="メイリオ"/>
                <a:cs typeface="+mn-cs"/>
              </a:rPr>
              <a:t>ただし</a:t>
            </a:r>
            <a:r>
              <a:rPr kumimoji="1" lang="en-US" altLang="ja-JP" sz="1800" b="0" i="0" u="none" strike="noStrike" kern="1200" cap="none" spc="0" normalizeH="0" baseline="0" noProof="0">
                <a:ln>
                  <a:noFill/>
                </a:ln>
                <a:solidFill>
                  <a:prstClr val="black"/>
                </a:solidFill>
                <a:effectLst/>
                <a:uLnTx/>
                <a:uFillTx/>
                <a:latin typeface="Arial"/>
                <a:ea typeface="メイリオ"/>
                <a:cs typeface="+mn-cs"/>
              </a:rPr>
              <a:t>P=</a:t>
            </a:r>
            <a:r>
              <a:rPr kumimoji="1" lang="en-US" altLang="ja-JP" sz="1800" b="0" i="0" u="none" strike="noStrike" kern="1200" cap="none" spc="0" normalizeH="0" baseline="0" noProof="0" err="1">
                <a:ln>
                  <a:noFill/>
                </a:ln>
                <a:solidFill>
                  <a:prstClr val="black"/>
                </a:solidFill>
                <a:effectLst/>
                <a:uLnTx/>
                <a:uFillTx/>
                <a:latin typeface="Arial"/>
                <a:ea typeface="メイリオ"/>
                <a:cs typeface="+mn-cs"/>
              </a:rPr>
              <a:t>ΔP+Pgfm,Q</a:t>
            </a:r>
            <a:r>
              <a:rPr kumimoji="1" lang="en-US" altLang="ja-JP" sz="1800" b="0" i="0" u="none" strike="noStrike" kern="1200" cap="none" spc="0" normalizeH="0" baseline="0" noProof="0">
                <a:ln>
                  <a:noFill/>
                </a:ln>
                <a:solidFill>
                  <a:prstClr val="black"/>
                </a:solidFill>
                <a:effectLst/>
                <a:uLnTx/>
                <a:uFillTx/>
                <a:latin typeface="Arial"/>
                <a:ea typeface="メイリオ"/>
                <a:cs typeface="+mn-cs"/>
              </a:rPr>
              <a:t>=</a:t>
            </a:r>
            <a:r>
              <a:rPr kumimoji="1" lang="en-US" altLang="ja-JP" sz="1800" b="0" i="0" u="none" strike="noStrike" kern="1200" cap="none" spc="0" normalizeH="0" baseline="0" noProof="0" err="1">
                <a:ln>
                  <a:noFill/>
                </a:ln>
                <a:solidFill>
                  <a:prstClr val="black"/>
                </a:solidFill>
                <a:effectLst/>
                <a:uLnTx/>
                <a:uFillTx/>
                <a:latin typeface="Arial"/>
                <a:ea typeface="メイリオ"/>
                <a:cs typeface="+mn-cs"/>
              </a:rPr>
              <a:t>ΔQ+Qgfm</a:t>
            </a:r>
            <a:endParaRPr lang="zh-CN" altLang="en-US"/>
          </a:p>
        </p:txBody>
      </p:sp>
      <p:pic>
        <p:nvPicPr>
          <p:cNvPr id="9" name="図 8" descr="グラフ, ウォーターフォール図&#10;&#10;AI 生成コンテンツは誤りを含む可能性があります。">
            <a:extLst>
              <a:ext uri="{FF2B5EF4-FFF2-40B4-BE49-F238E27FC236}">
                <a16:creationId xmlns:a16="http://schemas.microsoft.com/office/drawing/2014/main" id="{C3308C0C-8961-74CA-C5EB-BEB6F0E85E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81966" y="2365918"/>
            <a:ext cx="4593314" cy="3634170"/>
          </a:xfrm>
          <a:prstGeom prst="rect">
            <a:avLst/>
          </a:prstGeom>
        </p:spPr>
      </p:pic>
      <p:pic>
        <p:nvPicPr>
          <p:cNvPr id="11" name="図 10" descr="グラフ, ウォーターフォール図&#10;&#10;AI 生成コンテンツは誤りを含む可能性があります。">
            <a:extLst>
              <a:ext uri="{FF2B5EF4-FFF2-40B4-BE49-F238E27FC236}">
                <a16:creationId xmlns:a16="http://schemas.microsoft.com/office/drawing/2014/main" id="{257F9FF0-505D-E36C-E900-DFA589D16D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94708" y="2365918"/>
            <a:ext cx="4593314" cy="3572578"/>
          </a:xfrm>
          <a:prstGeom prst="rect">
            <a:avLst/>
          </a:prstGeom>
        </p:spPr>
      </p:pic>
      <p:pic>
        <p:nvPicPr>
          <p:cNvPr id="13" name="図 12" descr="グラフ, カレンダー&#10;&#10;AI 生成コンテンツは誤りを含む可能性があります。">
            <a:extLst>
              <a:ext uri="{FF2B5EF4-FFF2-40B4-BE49-F238E27FC236}">
                <a16:creationId xmlns:a16="http://schemas.microsoft.com/office/drawing/2014/main" id="{FD7647E0-651C-6734-490C-8DC8B6D26F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23414" y="2314119"/>
            <a:ext cx="1059941" cy="3641846"/>
          </a:xfrm>
          <a:prstGeom prst="rect">
            <a:avLst/>
          </a:prstGeom>
        </p:spPr>
      </p:pic>
      <p:sp>
        <p:nvSpPr>
          <p:cNvPr id="14" name="テキスト ボックス 13">
            <a:extLst>
              <a:ext uri="{FF2B5EF4-FFF2-40B4-BE49-F238E27FC236}">
                <a16:creationId xmlns:a16="http://schemas.microsoft.com/office/drawing/2014/main" id="{C6D1F5BD-75AE-2FE3-3989-07C3BD100C33}"/>
              </a:ext>
            </a:extLst>
          </p:cNvPr>
          <p:cNvSpPr txBox="1"/>
          <p:nvPr/>
        </p:nvSpPr>
        <p:spPr>
          <a:xfrm>
            <a:off x="1752261" y="6210610"/>
            <a:ext cx="10176387" cy="400110"/>
          </a:xfrm>
          <a:prstGeom prst="rect">
            <a:avLst/>
          </a:prstGeom>
          <a:noFill/>
        </p:spPr>
        <p:txBody>
          <a:bodyPr wrap="square" rtlCol="0">
            <a:spAutoFit/>
          </a:bodyPr>
          <a:lstStyle/>
          <a:p>
            <a:pPr marL="285750" indent="-285750">
              <a:buFont typeface="Arial" panose="020B0604020202020204" pitchFamily="34" charset="0"/>
              <a:buChar char="•"/>
            </a:pPr>
            <a:r>
              <a:rPr lang="ja-JP" altLang="en-US" sz="2000" b="1"/>
              <a:t>おおむね</a:t>
            </a:r>
            <a:r>
              <a:rPr lang="en-US" altLang="ja-JP" sz="2000" b="1"/>
              <a:t>-70%</a:t>
            </a:r>
            <a:r>
              <a:rPr lang="ja-JP" altLang="en-US" sz="2000" b="1"/>
              <a:t>の大きい誤差率となり、理論式による推測は難しい</a:t>
            </a:r>
            <a:endParaRPr lang="zh-CN" altLang="en-US" sz="2000" b="1"/>
          </a:p>
        </p:txBody>
      </p:sp>
      <p:sp>
        <p:nvSpPr>
          <p:cNvPr id="7" name="テキスト ボックス 6">
            <a:extLst>
              <a:ext uri="{FF2B5EF4-FFF2-40B4-BE49-F238E27FC236}">
                <a16:creationId xmlns:a16="http://schemas.microsoft.com/office/drawing/2014/main" id="{288E8DCF-2176-98BA-CE03-A12245CCF392}"/>
              </a:ext>
            </a:extLst>
          </p:cNvPr>
          <p:cNvSpPr txBox="1"/>
          <p:nvPr/>
        </p:nvSpPr>
        <p:spPr>
          <a:xfrm>
            <a:off x="1406535" y="5890838"/>
            <a:ext cx="3841200" cy="349702"/>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SCR=2.0</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10" name="テキスト ボックス 9">
            <a:extLst>
              <a:ext uri="{FF2B5EF4-FFF2-40B4-BE49-F238E27FC236}">
                <a16:creationId xmlns:a16="http://schemas.microsoft.com/office/drawing/2014/main" id="{D5089CD7-0C70-3B69-1469-8B9D93F2FD8E}"/>
              </a:ext>
            </a:extLst>
          </p:cNvPr>
          <p:cNvSpPr txBox="1"/>
          <p:nvPr/>
        </p:nvSpPr>
        <p:spPr>
          <a:xfrm>
            <a:off x="6575280" y="5808073"/>
            <a:ext cx="3841200" cy="349702"/>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a:t>
            </a:r>
            <a:r>
              <a:rPr lang="en-US" altLang="ja-JP" b="1">
                <a:solidFill>
                  <a:prstClr val="black"/>
                </a:solidFill>
                <a:latin typeface="Arial"/>
                <a:ea typeface="メイリオ"/>
              </a:rPr>
              <a:t>5</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.0</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16" name="テキスト ボックス 15">
            <a:extLst>
              <a:ext uri="{FF2B5EF4-FFF2-40B4-BE49-F238E27FC236}">
                <a16:creationId xmlns:a16="http://schemas.microsoft.com/office/drawing/2014/main" id="{B7BAE875-D173-EB12-0D19-F9058373A1CC}"/>
              </a:ext>
            </a:extLst>
          </p:cNvPr>
          <p:cNvSpPr txBox="1"/>
          <p:nvPr/>
        </p:nvSpPr>
        <p:spPr>
          <a:xfrm>
            <a:off x="3397398" y="5901287"/>
            <a:ext cx="4954903" cy="374913"/>
          </a:xfrm>
          <a:prstGeom prst="rect">
            <a:avLst/>
          </a:prstGeom>
          <a:noFill/>
        </p:spPr>
        <p:txBody>
          <a:bodyPr wrap="square">
            <a:spAutoFit/>
          </a:bodyPr>
          <a:lstStyle/>
          <a:p>
            <a:pPr algn="ctr"/>
            <a:r>
              <a:rPr lang="ja-JP" altLang="en-US" b="1">
                <a:solidFill>
                  <a:prstClr val="black"/>
                </a:solidFill>
                <a:latin typeface="Arial"/>
                <a:ea typeface="メイリオ"/>
              </a:rPr>
              <a:t>計算値と理論値の比較</a:t>
            </a:r>
            <a:endParaRPr lang="zh-CN" altLang="en-US"/>
          </a:p>
        </p:txBody>
      </p:sp>
      <p:cxnSp>
        <p:nvCxnSpPr>
          <p:cNvPr id="17" name="直線コネクタ 16">
            <a:extLst>
              <a:ext uri="{FF2B5EF4-FFF2-40B4-BE49-F238E27FC236}">
                <a16:creationId xmlns:a16="http://schemas.microsoft.com/office/drawing/2014/main" id="{22496055-D650-1C3D-1F88-2679FF04D0F4}"/>
              </a:ext>
            </a:extLst>
          </p:cNvPr>
          <p:cNvCxnSpPr/>
          <p:nvPr/>
        </p:nvCxnSpPr>
        <p:spPr>
          <a:xfrm>
            <a:off x="376933" y="2199259"/>
            <a:ext cx="11747098" cy="41496"/>
          </a:xfrm>
          <a:prstGeom prst="line">
            <a:avLst/>
          </a:prstGeom>
          <a:ln w="38100">
            <a:solidFill>
              <a:schemeClr val="bg1">
                <a:lumMod val="65000"/>
              </a:schemeClr>
            </a:solidFill>
            <a:prstDash val="dashDot"/>
          </a:ln>
        </p:spPr>
        <p:style>
          <a:lnRef idx="1">
            <a:schemeClr val="dk1"/>
          </a:lnRef>
          <a:fillRef idx="0">
            <a:schemeClr val="dk1"/>
          </a:fillRef>
          <a:effectRef idx="0">
            <a:schemeClr val="dk1"/>
          </a:effectRef>
          <a:fontRef idx="minor">
            <a:schemeClr val="tx1"/>
          </a:fontRef>
        </p:style>
      </p:cxnSp>
      <p:sp>
        <p:nvSpPr>
          <p:cNvPr id="12" name="テキスト ボックス 11">
            <a:extLst>
              <a:ext uri="{FF2B5EF4-FFF2-40B4-BE49-F238E27FC236}">
                <a16:creationId xmlns:a16="http://schemas.microsoft.com/office/drawing/2014/main" id="{E96078AA-309C-E74C-E18F-2E226D9AA286}"/>
              </a:ext>
            </a:extLst>
          </p:cNvPr>
          <p:cNvSpPr txBox="1"/>
          <p:nvPr/>
        </p:nvSpPr>
        <p:spPr>
          <a:xfrm>
            <a:off x="665054" y="3282392"/>
            <a:ext cx="1482962" cy="830997"/>
          </a:xfrm>
          <a:prstGeom prst="rect">
            <a:avLst/>
          </a:prstGeom>
          <a:noFill/>
        </p:spPr>
        <p:txBody>
          <a:bodyPr wrap="square" rtlCol="0">
            <a:spAutoFit/>
          </a:bodyPr>
          <a:lstStyle/>
          <a:p>
            <a:r>
              <a:rPr kumimoji="1" lang="en-US" altLang="ja-JP" sz="2400" err="1"/>
              <a:t>Kp</a:t>
            </a:r>
            <a:r>
              <a:rPr kumimoji="1" lang="en-US" altLang="ja-JP" sz="2400"/>
              <a:t> = 0</a:t>
            </a:r>
          </a:p>
          <a:p>
            <a:r>
              <a:rPr lang="en-US" altLang="ja-JP" sz="2400"/>
              <a:t>Ki = 5.0</a:t>
            </a:r>
            <a:endParaRPr kumimoji="1" lang="ja-JP" altLang="en-US" sz="2400"/>
          </a:p>
        </p:txBody>
      </p:sp>
    </p:spTree>
    <p:extLst>
      <p:ext uri="{BB962C8B-B14F-4D97-AF65-F5344CB8AC3E}">
        <p14:creationId xmlns:p14="http://schemas.microsoft.com/office/powerpoint/2010/main" val="3791065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テキスト ボックス 45">
            <a:extLst>
              <a:ext uri="{FF2B5EF4-FFF2-40B4-BE49-F238E27FC236}">
                <a16:creationId xmlns:a16="http://schemas.microsoft.com/office/drawing/2014/main" id="{3AE89ECB-9309-50F8-7C36-EC7F2E2DC393}"/>
              </a:ext>
            </a:extLst>
          </p:cNvPr>
          <p:cNvSpPr txBox="1"/>
          <p:nvPr/>
        </p:nvSpPr>
        <p:spPr>
          <a:xfrm>
            <a:off x="260038" y="140142"/>
            <a:ext cx="11668610" cy="478387"/>
          </a:xfrm>
          <a:prstGeom prst="rect">
            <a:avLst/>
          </a:prstGeom>
          <a:noFill/>
        </p:spPr>
        <p:txBody>
          <a:bodyPr wrap="square" tIns="72000" bIns="3600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解析結果</a:t>
            </a:r>
            <a:r>
              <a:rPr kumimoji="1" lang="en-US" altLang="ja-JP" sz="2400" b="1" i="0" u="none" strike="noStrike" kern="1200" cap="none" spc="0" normalizeH="0" baseline="0" noProof="0">
                <a:ln>
                  <a:noFill/>
                </a:ln>
                <a:solidFill>
                  <a:srgbClr val="0070C0"/>
                </a:solidFill>
                <a:effectLst/>
                <a:uLnTx/>
                <a:uFillTx/>
                <a:latin typeface="メイリオ"/>
                <a:ea typeface="メイリオ"/>
                <a:cs typeface="+mn-cs"/>
              </a:rPr>
              <a:t>~V</a:t>
            </a: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制御</a:t>
            </a:r>
            <a:r>
              <a:rPr lang="ja-JP" altLang="en-US" sz="2400" b="1">
                <a:solidFill>
                  <a:srgbClr val="0070C0"/>
                </a:solidFill>
                <a:latin typeface="メイリオ"/>
                <a:ea typeface="メイリオ"/>
              </a:rPr>
              <a:t>と</a:t>
            </a:r>
            <a:r>
              <a:rPr lang="en-US" altLang="ja-JP" sz="2400" b="1">
                <a:solidFill>
                  <a:srgbClr val="0070C0"/>
                </a:solidFill>
                <a:latin typeface="メイリオ"/>
                <a:ea typeface="メイリオ"/>
              </a:rPr>
              <a:t>Q</a:t>
            </a:r>
            <a:r>
              <a:rPr lang="ja-JP" altLang="en-US" sz="2400" b="1">
                <a:solidFill>
                  <a:srgbClr val="0070C0"/>
                </a:solidFill>
                <a:latin typeface="メイリオ"/>
                <a:ea typeface="メイリオ"/>
              </a:rPr>
              <a:t>制御での比較</a:t>
            </a: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　</a:t>
            </a:r>
            <a:endParaRPr kumimoji="1" lang="en-US" altLang="ja-JP" sz="2400" b="1" i="0" u="none" strike="noStrike" kern="1200" cap="none" spc="0" normalizeH="0" baseline="0" noProof="0">
              <a:ln>
                <a:noFill/>
              </a:ln>
              <a:solidFill>
                <a:srgbClr val="0070C0"/>
              </a:solidFill>
              <a:effectLst/>
              <a:uLnTx/>
              <a:uFillTx/>
              <a:latin typeface="メイリオ"/>
              <a:ea typeface="メイリオ"/>
              <a:cs typeface="+mn-cs"/>
            </a:endParaRPr>
          </a:p>
        </p:txBody>
      </p:sp>
      <p:cxnSp>
        <p:nvCxnSpPr>
          <p:cNvPr id="47" name="直線コネクタ 46">
            <a:extLst>
              <a:ext uri="{FF2B5EF4-FFF2-40B4-BE49-F238E27FC236}">
                <a16:creationId xmlns:a16="http://schemas.microsoft.com/office/drawing/2014/main" id="{AEFD3F05-B523-E02A-FAB3-08FA12D45AA0}"/>
              </a:ext>
            </a:extLst>
          </p:cNvPr>
          <p:cNvCxnSpPr>
            <a:cxnSpLocks/>
          </p:cNvCxnSpPr>
          <p:nvPr/>
        </p:nvCxnSpPr>
        <p:spPr>
          <a:xfrm>
            <a:off x="0" y="601807"/>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0" name="図 69">
            <a:extLst>
              <a:ext uri="{FF2B5EF4-FFF2-40B4-BE49-F238E27FC236}">
                <a16:creationId xmlns:a16="http://schemas.microsoft.com/office/drawing/2014/main" id="{8926E427-37B8-6F36-6FFF-5973A6219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pic>
        <p:nvPicPr>
          <p:cNvPr id="3" name="図 2">
            <a:extLst>
              <a:ext uri="{FF2B5EF4-FFF2-40B4-BE49-F238E27FC236}">
                <a16:creationId xmlns:a16="http://schemas.microsoft.com/office/drawing/2014/main" id="{459BFB74-5EC3-4FD8-5C72-01E8ADBBCD5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61695" y="1197008"/>
            <a:ext cx="5902160" cy="3541296"/>
          </a:xfrm>
          <a:prstGeom prst="rect">
            <a:avLst/>
          </a:prstGeom>
          <a:ln>
            <a:noFill/>
          </a:ln>
        </p:spPr>
      </p:pic>
      <p:pic>
        <p:nvPicPr>
          <p:cNvPr id="5" name="図 4">
            <a:extLst>
              <a:ext uri="{FF2B5EF4-FFF2-40B4-BE49-F238E27FC236}">
                <a16:creationId xmlns:a16="http://schemas.microsoft.com/office/drawing/2014/main" id="{9B403C1B-87D3-9EFB-3831-ECE6354F497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096000" y="1212316"/>
            <a:ext cx="5902160" cy="3541296"/>
          </a:xfrm>
          <a:prstGeom prst="rect">
            <a:avLst/>
          </a:prstGeom>
        </p:spPr>
      </p:pic>
      <p:sp>
        <p:nvSpPr>
          <p:cNvPr id="4" name="テキスト ボックス 3">
            <a:extLst>
              <a:ext uri="{FF2B5EF4-FFF2-40B4-BE49-F238E27FC236}">
                <a16:creationId xmlns:a16="http://schemas.microsoft.com/office/drawing/2014/main" id="{E841F961-16F6-2F9D-A047-D0F58476C9F8}"/>
              </a:ext>
            </a:extLst>
          </p:cNvPr>
          <p:cNvSpPr txBox="1"/>
          <p:nvPr/>
        </p:nvSpPr>
        <p:spPr>
          <a:xfrm>
            <a:off x="1000458" y="5503204"/>
            <a:ext cx="10512249" cy="861774"/>
          </a:xfrm>
          <a:prstGeom prst="rect">
            <a:avLst/>
          </a:prstGeom>
          <a:noFill/>
        </p:spPr>
        <p:txBody>
          <a:bodyPr wrap="square">
            <a:spAutoFit/>
          </a:bodyPr>
          <a:lstStyle/>
          <a:p>
            <a:pPr marL="717550" marR="0" lvl="0" indent="-355600" algn="l" defTabSz="457200" rtl="0" eaLnBrk="1" fontAlgn="auto" latinLnBrk="0" hangingPunct="1">
              <a:lnSpc>
                <a:spcPct val="150000"/>
              </a:lnSpc>
              <a:spcBef>
                <a:spcPts val="0"/>
              </a:spcBef>
              <a:spcAft>
                <a:spcPts val="0"/>
              </a:spcAft>
              <a:buClr>
                <a:srgbClr val="0070C0"/>
              </a:buClr>
              <a:buSzTx/>
              <a:buFont typeface="Wingdings" panose="05000000000000000000" pitchFamily="2" charset="2"/>
              <a:buChar char="l"/>
              <a:tabLst/>
              <a:defRPr/>
            </a:pPr>
            <a:r>
              <a:rPr kumimoji="1" lang="en-US" altLang="ja-JP" sz="2000" b="1" i="0" u="none" strike="noStrike" kern="1200" cap="none" spc="0" normalizeH="0" baseline="0" noProof="0">
                <a:ln>
                  <a:noFill/>
                </a:ln>
                <a:solidFill>
                  <a:srgbClr val="0070C0"/>
                </a:solidFill>
                <a:effectLst/>
                <a:uLnTx/>
                <a:uFillTx/>
                <a:latin typeface="Arial"/>
                <a:ea typeface="メイリオ"/>
                <a:cs typeface="+mn-cs"/>
              </a:rPr>
              <a:t>➡</a:t>
            </a: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送電線が長距離化するほど，限界線の末端が内側（</a:t>
            </a:r>
            <a:r>
              <a:rPr lang="en-US" altLang="ja-JP" sz="2000" b="1" i="1">
                <a:solidFill>
                  <a:srgbClr val="0070C0"/>
                </a:solidFill>
                <a:latin typeface="Arial"/>
                <a:ea typeface="メイリオ"/>
              </a:rPr>
              <a:t>I</a:t>
            </a:r>
            <a:r>
              <a:rPr kumimoji="1" lang="en-US" altLang="ja-JP" sz="2000" b="1" i="1" u="none" strike="noStrike" kern="1200" cap="none" spc="0" normalizeH="0" baseline="0" noProof="0" err="1">
                <a:ln>
                  <a:noFill/>
                </a:ln>
                <a:solidFill>
                  <a:srgbClr val="0070C0"/>
                </a:solidFill>
                <a:effectLst/>
                <a:uLnTx/>
                <a:uFillTx/>
                <a:latin typeface="Arial"/>
                <a:ea typeface="メイリオ"/>
                <a:cs typeface="+mn-cs"/>
              </a:rPr>
              <a:t>gfm</a:t>
            </a:r>
            <a:r>
              <a:rPr kumimoji="1" lang="en-US" altLang="ja-JP" sz="2000" b="1" i="0" u="none" strike="noStrike" kern="1200" cap="none" spc="0" normalizeH="0" baseline="0" noProof="0">
                <a:ln>
                  <a:noFill/>
                </a:ln>
                <a:solidFill>
                  <a:srgbClr val="0070C0"/>
                </a:solidFill>
                <a:effectLst/>
                <a:uLnTx/>
                <a:uFillTx/>
                <a:latin typeface="Arial"/>
                <a:ea typeface="メイリオ"/>
                <a:cs typeface="+mn-cs"/>
              </a:rPr>
              <a:t>=0</a:t>
            </a:r>
            <a:r>
              <a:rPr kumimoji="1" lang="ja-JP" altLang="en-US" sz="2000" b="1" i="0" u="none" strike="noStrike" kern="1200" cap="none" spc="0" normalizeH="0" baseline="0" noProof="0">
                <a:ln>
                  <a:noFill/>
                </a:ln>
                <a:solidFill>
                  <a:srgbClr val="0070C0"/>
                </a:solidFill>
                <a:effectLst/>
                <a:uLnTx/>
                <a:uFillTx/>
                <a:latin typeface="Arial"/>
                <a:ea typeface="メイリオ"/>
                <a:cs typeface="+mn-cs"/>
              </a:rPr>
              <a:t>側）に曲がり込む</a:t>
            </a:r>
            <a:endParaRPr kumimoji="1" lang="en-US" altLang="ja-JP" sz="2000" b="1" i="0" u="none" strike="noStrike" kern="1200" cap="none" spc="0" normalizeH="0" baseline="0" noProof="0">
              <a:ln>
                <a:noFill/>
              </a:ln>
              <a:solidFill>
                <a:srgbClr val="FF0000"/>
              </a:solidFill>
              <a:effectLst/>
              <a:uLnTx/>
              <a:uFillTx/>
              <a:latin typeface="Arial"/>
              <a:ea typeface="メイリオ"/>
              <a:cs typeface="+mn-cs"/>
            </a:endParaRPr>
          </a:p>
          <a:p>
            <a:r>
              <a:rPr kumimoji="1" lang="ja-JP" altLang="en-US" sz="2000"/>
              <a:t>　　　　上側と下側の線に囲まれた領域が、負荷電力変動の動作可能領域となる</a:t>
            </a:r>
          </a:p>
        </p:txBody>
      </p:sp>
      <p:sp>
        <p:nvSpPr>
          <p:cNvPr id="2" name="テキスト ボックス 1">
            <a:extLst>
              <a:ext uri="{FF2B5EF4-FFF2-40B4-BE49-F238E27FC236}">
                <a16:creationId xmlns:a16="http://schemas.microsoft.com/office/drawing/2014/main" id="{47D2DFE7-C646-BA97-1ADD-6646D214A016}"/>
              </a:ext>
            </a:extLst>
          </p:cNvPr>
          <p:cNvSpPr txBox="1"/>
          <p:nvPr/>
        </p:nvSpPr>
        <p:spPr>
          <a:xfrm>
            <a:off x="844893" y="4703749"/>
            <a:ext cx="5228493" cy="369332"/>
          </a:xfrm>
          <a:prstGeom prst="rect">
            <a:avLst/>
          </a:prstGeom>
          <a:noFill/>
        </p:spPr>
        <p:txBody>
          <a:bodyPr wrap="square" rtlCol="0">
            <a:spAutoFit/>
          </a:bodyPr>
          <a:lstStyle/>
          <a:p>
            <a:pPr algn="ctr"/>
            <a:r>
              <a:rPr lang="en-US" altLang="ja-JP" b="1"/>
              <a:t>V</a:t>
            </a:r>
            <a:r>
              <a:rPr lang="ja-JP" altLang="en-US" b="1"/>
              <a:t>制御動作限界線</a:t>
            </a:r>
            <a:endParaRPr lang="zh-CN" altLang="en-US" b="1"/>
          </a:p>
        </p:txBody>
      </p:sp>
      <p:sp>
        <p:nvSpPr>
          <p:cNvPr id="6" name="テキスト ボックス 5">
            <a:extLst>
              <a:ext uri="{FF2B5EF4-FFF2-40B4-BE49-F238E27FC236}">
                <a16:creationId xmlns:a16="http://schemas.microsoft.com/office/drawing/2014/main" id="{5D093916-5A11-BF51-CE22-8907D5D7CB19}"/>
              </a:ext>
            </a:extLst>
          </p:cNvPr>
          <p:cNvSpPr txBox="1"/>
          <p:nvPr/>
        </p:nvSpPr>
        <p:spPr>
          <a:xfrm>
            <a:off x="6526112" y="4690673"/>
            <a:ext cx="5228493" cy="369332"/>
          </a:xfrm>
          <a:prstGeom prst="rect">
            <a:avLst/>
          </a:prstGeom>
          <a:noFill/>
        </p:spPr>
        <p:txBody>
          <a:bodyPr wrap="square" rtlCol="0">
            <a:spAutoFit/>
          </a:bodyPr>
          <a:lstStyle/>
          <a:p>
            <a:pPr algn="ctr"/>
            <a:r>
              <a:rPr lang="en-US" altLang="ja-JP" b="1"/>
              <a:t>Q</a:t>
            </a:r>
            <a:r>
              <a:rPr lang="ja-JP" altLang="en-US" b="1"/>
              <a:t>制御動作限界線</a:t>
            </a:r>
            <a:endParaRPr lang="zh-CN" altLang="en-US" b="1"/>
          </a:p>
        </p:txBody>
      </p:sp>
      <p:sp>
        <p:nvSpPr>
          <p:cNvPr id="8" name="円/楕円 29">
            <a:extLst>
              <a:ext uri="{FF2B5EF4-FFF2-40B4-BE49-F238E27FC236}">
                <a16:creationId xmlns:a16="http://schemas.microsoft.com/office/drawing/2014/main" id="{2187844B-F2AD-FB37-43B8-79CDE0FA325B}"/>
              </a:ext>
            </a:extLst>
          </p:cNvPr>
          <p:cNvSpPr/>
          <p:nvPr/>
        </p:nvSpPr>
        <p:spPr>
          <a:xfrm rot="5400000">
            <a:off x="-396787" y="1742985"/>
            <a:ext cx="4056705" cy="2278160"/>
          </a:xfrm>
          <a:prstGeom prst="ellipse">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9" name="円/楕円 29">
            <a:extLst>
              <a:ext uri="{FF2B5EF4-FFF2-40B4-BE49-F238E27FC236}">
                <a16:creationId xmlns:a16="http://schemas.microsoft.com/office/drawing/2014/main" id="{E9DE028E-8EBD-AEFB-DA2B-00655296E63E}"/>
              </a:ext>
            </a:extLst>
          </p:cNvPr>
          <p:cNvSpPr/>
          <p:nvPr/>
        </p:nvSpPr>
        <p:spPr>
          <a:xfrm rot="5400000">
            <a:off x="3160148" y="1799845"/>
            <a:ext cx="4115542" cy="2163659"/>
          </a:xfrm>
          <a:prstGeom prst="ellipse">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
        <p:nvSpPr>
          <p:cNvPr id="11" name="円/楕円 29">
            <a:extLst>
              <a:ext uri="{FF2B5EF4-FFF2-40B4-BE49-F238E27FC236}">
                <a16:creationId xmlns:a16="http://schemas.microsoft.com/office/drawing/2014/main" id="{520C213E-FB10-AB64-82ED-EB758D6072A3}"/>
              </a:ext>
            </a:extLst>
          </p:cNvPr>
          <p:cNvSpPr/>
          <p:nvPr/>
        </p:nvSpPr>
        <p:spPr>
          <a:xfrm rot="5400000">
            <a:off x="7011212" y="2954469"/>
            <a:ext cx="1434628" cy="2163659"/>
          </a:xfrm>
          <a:prstGeom prst="ellipse">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メイリオ"/>
              <a:cs typeface="+mn-cs"/>
            </a:endParaRPr>
          </a:p>
        </p:txBody>
      </p:sp>
    </p:spTree>
    <p:extLst>
      <p:ext uri="{BB962C8B-B14F-4D97-AF65-F5344CB8AC3E}">
        <p14:creationId xmlns:p14="http://schemas.microsoft.com/office/powerpoint/2010/main" val="2460031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E4E4C162-B40C-978F-8D24-89C1DB158146}"/>
              </a:ext>
            </a:extLst>
          </p:cNvPr>
          <p:cNvCxnSpPr>
            <a:cxnSpLocks/>
          </p:cNvCxnSpPr>
          <p:nvPr/>
        </p:nvCxnSpPr>
        <p:spPr>
          <a:xfrm>
            <a:off x="0" y="588468"/>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図 3">
            <a:extLst>
              <a:ext uri="{FF2B5EF4-FFF2-40B4-BE49-F238E27FC236}">
                <a16:creationId xmlns:a16="http://schemas.microsoft.com/office/drawing/2014/main" id="{06B3DA4A-EBFC-A831-36DF-DF0476BC8C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sp>
        <p:nvSpPr>
          <p:cNvPr id="5" name="テキスト ボックス 4">
            <a:extLst>
              <a:ext uri="{FF2B5EF4-FFF2-40B4-BE49-F238E27FC236}">
                <a16:creationId xmlns:a16="http://schemas.microsoft.com/office/drawing/2014/main" id="{C1702250-6B74-9173-FB41-4D6E1F769E5D}"/>
              </a:ext>
            </a:extLst>
          </p:cNvPr>
          <p:cNvSpPr txBox="1"/>
          <p:nvPr/>
        </p:nvSpPr>
        <p:spPr>
          <a:xfrm>
            <a:off x="260038" y="140142"/>
            <a:ext cx="11668610" cy="478387"/>
          </a:xfrm>
          <a:prstGeom prst="rect">
            <a:avLst/>
          </a:prstGeom>
          <a:noFill/>
        </p:spPr>
        <p:txBody>
          <a:bodyPr wrap="square" tIns="72000" bIns="36000" anchor="ctr" anchorCtr="0">
            <a:spAutoFit/>
          </a:bodyPr>
          <a:lstStyle/>
          <a:p>
            <a:pPr defTabSz="457200">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検討</a:t>
            </a:r>
            <a:r>
              <a:rPr kumimoji="1" lang="en-US" altLang="ja-JP" sz="2400" b="1" i="0" u="none" strike="noStrike" kern="1200" cap="none" spc="0" normalizeH="0" baseline="0" noProof="0">
                <a:ln>
                  <a:noFill/>
                </a:ln>
                <a:solidFill>
                  <a:srgbClr val="0070C0"/>
                </a:solidFill>
                <a:effectLst/>
                <a:uLnTx/>
                <a:uFillTx/>
                <a:latin typeface="メイリオ"/>
                <a:ea typeface="メイリオ"/>
                <a:cs typeface="+mn-cs"/>
              </a:rPr>
              <a:t>~</a:t>
            </a:r>
            <a:r>
              <a:rPr lang="ja-JP" altLang="en-US" sz="2400" b="1">
                <a:solidFill>
                  <a:srgbClr val="0070C0"/>
                </a:solidFill>
              </a:rPr>
              <a:t>シミュレーション結果と理論式による結果での比較</a:t>
            </a:r>
            <a:endParaRPr lang="en-US" altLang="ja-JP" sz="2400" b="1">
              <a:solidFill>
                <a:srgbClr val="0070C0"/>
              </a:solidFill>
            </a:endParaRPr>
          </a:p>
        </p:txBody>
      </p:sp>
      <p:sp>
        <p:nvSpPr>
          <p:cNvPr id="7" name="テキスト ボックス 6">
            <a:extLst>
              <a:ext uri="{FF2B5EF4-FFF2-40B4-BE49-F238E27FC236}">
                <a16:creationId xmlns:a16="http://schemas.microsoft.com/office/drawing/2014/main" id="{556E1943-2940-1ADC-B24B-4301F91B817E}"/>
              </a:ext>
            </a:extLst>
          </p:cNvPr>
          <p:cNvSpPr txBox="1"/>
          <p:nvPr/>
        </p:nvSpPr>
        <p:spPr>
          <a:xfrm>
            <a:off x="821574" y="1518307"/>
            <a:ext cx="11261781" cy="2106282"/>
          </a:xfrm>
          <a:prstGeom prst="rect">
            <a:avLst/>
          </a:prstGeom>
          <a:noFill/>
        </p:spPr>
        <p:txBody>
          <a:bodyPr wrap="square">
            <a:spAutoFit/>
          </a:bodyPr>
          <a:lstStyle/>
          <a:p>
            <a:pPr marL="717550" marR="0" lvl="0" indent="-355600" algn="l" defTabSz="457200" rtl="0" eaLnBrk="1" fontAlgn="auto" latinLnBrk="0" hangingPunct="1">
              <a:lnSpc>
                <a:spcPct val="130000"/>
              </a:lnSpc>
              <a:spcBef>
                <a:spcPts val="0"/>
              </a:spcBef>
              <a:spcAft>
                <a:spcPts val="0"/>
              </a:spcAft>
              <a:buClr>
                <a:srgbClr val="0070C0"/>
              </a:buClr>
              <a:buSzTx/>
              <a:buFont typeface="Wingdings" panose="05000000000000000000" pitchFamily="2" charset="2"/>
              <a:buChar char="l"/>
              <a:tabLst/>
              <a:defRPr/>
            </a:pPr>
            <a:r>
              <a:rPr lang="ja-JP" altLang="en-US" sz="2400" b="1">
                <a:solidFill>
                  <a:prstClr val="black"/>
                </a:solidFill>
                <a:latin typeface="Arial"/>
                <a:ea typeface="メイリオ"/>
              </a:rPr>
              <a:t>シミュレーション結果が理論解に対する誤差率がおおむね</a:t>
            </a:r>
            <a:r>
              <a:rPr lang="en-US" altLang="ja-JP" sz="2400" b="1">
                <a:solidFill>
                  <a:prstClr val="black"/>
                </a:solidFill>
                <a:latin typeface="Arial"/>
                <a:ea typeface="メイリオ"/>
              </a:rPr>
              <a:t>+7%</a:t>
            </a:r>
            <a:r>
              <a:rPr lang="ja-JP" altLang="en-US" sz="2400" b="1">
                <a:solidFill>
                  <a:prstClr val="black"/>
                </a:solidFill>
                <a:latin typeface="Arial"/>
                <a:ea typeface="メイリオ"/>
              </a:rPr>
              <a:t>のため</a:t>
            </a:r>
            <a:endParaRPr lang="en-US" altLang="ja-JP" sz="2400" b="1">
              <a:solidFill>
                <a:prstClr val="black"/>
              </a:solidFill>
              <a:latin typeface="Arial"/>
              <a:ea typeface="メイリオ"/>
            </a:endParaRPr>
          </a:p>
          <a:p>
            <a:pPr marL="361950" marR="0" lvl="0" algn="l" defTabSz="457200" rtl="0" eaLnBrk="1" fontAlgn="auto" latinLnBrk="0" hangingPunct="1">
              <a:lnSpc>
                <a:spcPct val="130000"/>
              </a:lnSpc>
              <a:spcBef>
                <a:spcPts val="0"/>
              </a:spcBef>
              <a:spcAft>
                <a:spcPts val="0"/>
              </a:spcAft>
              <a:buClr>
                <a:srgbClr val="0070C0"/>
              </a:buClr>
              <a:buSzTx/>
              <a:tabLst/>
              <a:defRPr/>
            </a:pPr>
            <a:r>
              <a:rPr lang="ja-JP" altLang="en-US" sz="2400" b="1">
                <a:solidFill>
                  <a:prstClr val="black"/>
                </a:solidFill>
                <a:latin typeface="Arial"/>
                <a:ea typeface="メイリオ"/>
              </a:rPr>
              <a:t>➡結果の高い一致性を確認</a:t>
            </a:r>
            <a:endParaRPr kumimoji="1" lang="en-US" altLang="ja-JP" sz="2400" b="1" i="0" u="none" strike="noStrike" kern="1200" cap="none" spc="0" normalizeH="0" baseline="0" noProof="0">
              <a:ln>
                <a:noFill/>
              </a:ln>
              <a:solidFill>
                <a:prstClr val="black"/>
              </a:solidFill>
              <a:effectLst/>
              <a:uLnTx/>
              <a:uFillTx/>
              <a:latin typeface="Arial"/>
              <a:ea typeface="メイリオ"/>
              <a:cs typeface="+mn-cs"/>
            </a:endParaRPr>
          </a:p>
          <a:p>
            <a:pPr marL="361950" marR="0" lvl="0" algn="l" defTabSz="457200" rtl="0" eaLnBrk="1" fontAlgn="auto" latinLnBrk="0" hangingPunct="1">
              <a:lnSpc>
                <a:spcPct val="130000"/>
              </a:lnSpc>
              <a:spcBef>
                <a:spcPts val="0"/>
              </a:spcBef>
              <a:spcAft>
                <a:spcPts val="0"/>
              </a:spcAft>
              <a:buClr>
                <a:srgbClr val="0070C0"/>
              </a:buClr>
              <a:buSzTx/>
              <a:tabLst/>
              <a:defRPr/>
            </a:pPr>
            <a:r>
              <a:rPr kumimoji="1" lang="en-US" altLang="ja-JP" sz="2400" b="1" i="0" u="none" strike="noStrike" kern="1200" cap="none" spc="0" normalizeH="0" baseline="0" noProof="0">
                <a:ln>
                  <a:noFill/>
                </a:ln>
                <a:solidFill>
                  <a:srgbClr val="0070C0"/>
                </a:solidFill>
                <a:effectLst/>
                <a:uLnTx/>
                <a:uFillTx/>
                <a:latin typeface="Arial"/>
                <a:ea typeface="メイリオ"/>
                <a:cs typeface="+mn-cs"/>
              </a:rPr>
              <a:t>➡</a:t>
            </a:r>
            <a:r>
              <a:rPr kumimoji="1" lang="ja-JP" altLang="en-US" sz="2400" b="1" i="0" u="none" strike="noStrike" kern="1200" cap="none" spc="0" normalizeH="0" baseline="0" noProof="0">
                <a:ln>
                  <a:noFill/>
                </a:ln>
                <a:solidFill>
                  <a:srgbClr val="0070C0"/>
                </a:solidFill>
                <a:effectLst/>
                <a:uLnTx/>
                <a:uFillTx/>
                <a:latin typeface="Arial"/>
                <a:ea typeface="メイリオ"/>
                <a:cs typeface="+mn-cs"/>
              </a:rPr>
              <a:t>計算による動作可能の</a:t>
            </a:r>
            <a:r>
              <a:rPr lang="ja-JP" altLang="en-US" sz="2400" b="1">
                <a:solidFill>
                  <a:srgbClr val="0070C0"/>
                </a:solidFill>
                <a:latin typeface="Arial"/>
                <a:ea typeface="メイリオ"/>
              </a:rPr>
              <a:t>判断</a:t>
            </a:r>
            <a:r>
              <a:rPr kumimoji="1" lang="ja-JP" altLang="en-US" sz="2400" b="1" i="0" u="none" strike="noStrike" kern="1200" cap="none" spc="0" normalizeH="0" baseline="0" noProof="0">
                <a:ln>
                  <a:noFill/>
                </a:ln>
                <a:solidFill>
                  <a:srgbClr val="0070C0"/>
                </a:solidFill>
                <a:effectLst/>
                <a:uLnTx/>
                <a:uFillTx/>
                <a:latin typeface="Arial"/>
                <a:ea typeface="メイリオ"/>
                <a:cs typeface="+mn-cs"/>
              </a:rPr>
              <a:t>が可能</a:t>
            </a:r>
            <a:endParaRPr kumimoji="1" lang="en-US" altLang="ja-JP" sz="2400" b="1" i="0" u="none" strike="noStrike" kern="1200" cap="none" spc="0" normalizeH="0" baseline="0" noProof="0">
              <a:ln>
                <a:noFill/>
              </a:ln>
              <a:solidFill>
                <a:srgbClr val="0070C0"/>
              </a:solidFill>
              <a:effectLst/>
              <a:uLnTx/>
              <a:uFillTx/>
              <a:latin typeface="Arial"/>
              <a:ea typeface="メイリオ"/>
              <a:cs typeface="+mn-cs"/>
            </a:endParaRPr>
          </a:p>
          <a:p>
            <a:pPr marL="361950" marR="0" lvl="0" algn="l" defTabSz="457200" rtl="0" eaLnBrk="1" fontAlgn="auto" latinLnBrk="0" hangingPunct="1">
              <a:lnSpc>
                <a:spcPct val="130000"/>
              </a:lnSpc>
              <a:spcBef>
                <a:spcPts val="0"/>
              </a:spcBef>
              <a:spcAft>
                <a:spcPts val="0"/>
              </a:spcAft>
              <a:buClr>
                <a:srgbClr val="0070C0"/>
              </a:buClr>
              <a:buSzTx/>
              <a:tabLst/>
              <a:defRPr/>
            </a:pPr>
            <a:endParaRPr lang="ja-JP" altLang="en-US" sz="3200"/>
          </a:p>
        </p:txBody>
      </p:sp>
      <p:sp>
        <p:nvSpPr>
          <p:cNvPr id="8" name="テキスト ボックス 7">
            <a:extLst>
              <a:ext uri="{FF2B5EF4-FFF2-40B4-BE49-F238E27FC236}">
                <a16:creationId xmlns:a16="http://schemas.microsoft.com/office/drawing/2014/main" id="{9F58DF39-A5C3-2193-66E7-24EA3716963C}"/>
              </a:ext>
            </a:extLst>
          </p:cNvPr>
          <p:cNvSpPr txBox="1"/>
          <p:nvPr/>
        </p:nvSpPr>
        <p:spPr>
          <a:xfrm>
            <a:off x="260039" y="620689"/>
            <a:ext cx="11668610" cy="712297"/>
          </a:xfrm>
          <a:prstGeom prst="rect">
            <a:avLst/>
          </a:prstGeom>
          <a:noFill/>
        </p:spPr>
        <p:txBody>
          <a:bodyPr wrap="square" tIns="72000" bIns="36000">
            <a:sp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kumimoji="1" lang="en-US" altLang="ja-JP" sz="3200" b="1" i="0" u="none" strike="noStrike" kern="1200" cap="none" spc="0" normalizeH="0" baseline="0" noProof="0">
                <a:ln>
                  <a:noFill/>
                </a:ln>
                <a:solidFill>
                  <a:prstClr val="black"/>
                </a:solidFill>
                <a:effectLst/>
                <a:uLnTx/>
                <a:uFillTx/>
                <a:latin typeface="Arial"/>
                <a:ea typeface="メイリオ"/>
                <a:cs typeface="+mn-cs"/>
              </a:rPr>
              <a:t>V</a:t>
            </a:r>
            <a:r>
              <a:rPr kumimoji="1" lang="ja-JP" altLang="en-US" sz="3200" b="1" i="0" u="none" strike="noStrike" kern="1200" cap="none" spc="0" normalizeH="0" baseline="0" noProof="0">
                <a:ln>
                  <a:noFill/>
                </a:ln>
                <a:solidFill>
                  <a:prstClr val="black"/>
                </a:solidFill>
                <a:effectLst/>
                <a:uLnTx/>
                <a:uFillTx/>
                <a:latin typeface="Arial"/>
                <a:ea typeface="メイリオ"/>
                <a:cs typeface="+mn-cs"/>
              </a:rPr>
              <a:t>制御</a:t>
            </a:r>
            <a:endParaRPr kumimoji="1" lang="en-US" altLang="ja-JP" sz="3200" b="1" i="0" u="none" strike="noStrike" kern="1200" cap="none" spc="0" normalizeH="0" baseline="0" noProof="0">
              <a:ln>
                <a:noFill/>
              </a:ln>
              <a:solidFill>
                <a:prstClr val="black"/>
              </a:solidFill>
              <a:effectLst/>
              <a:uLnTx/>
              <a:uFillTx/>
              <a:latin typeface="Arial"/>
              <a:ea typeface="メイリオ"/>
              <a:cs typeface="+mn-cs"/>
            </a:endParaRPr>
          </a:p>
        </p:txBody>
      </p:sp>
      <p:sp>
        <p:nvSpPr>
          <p:cNvPr id="2" name="テキスト ボックス 1">
            <a:extLst>
              <a:ext uri="{FF2B5EF4-FFF2-40B4-BE49-F238E27FC236}">
                <a16:creationId xmlns:a16="http://schemas.microsoft.com/office/drawing/2014/main" id="{CF17532A-3CF5-21C9-728B-34C97A4AD8F5}"/>
              </a:ext>
            </a:extLst>
          </p:cNvPr>
          <p:cNvSpPr txBox="1"/>
          <p:nvPr/>
        </p:nvSpPr>
        <p:spPr>
          <a:xfrm>
            <a:off x="260038" y="3268440"/>
            <a:ext cx="11668610" cy="712297"/>
          </a:xfrm>
          <a:prstGeom prst="rect">
            <a:avLst/>
          </a:prstGeom>
          <a:noFill/>
        </p:spPr>
        <p:txBody>
          <a:bodyPr wrap="square" tIns="72000" bIns="36000">
            <a:sp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kumimoji="1" lang="en-US" altLang="ja-JP" sz="3200" b="1" i="0" u="none" strike="noStrike" kern="1200" cap="none" spc="0" normalizeH="0" baseline="0" noProof="0">
                <a:ln>
                  <a:noFill/>
                </a:ln>
                <a:solidFill>
                  <a:prstClr val="black"/>
                </a:solidFill>
                <a:effectLst/>
                <a:uLnTx/>
                <a:uFillTx/>
                <a:latin typeface="Arial"/>
                <a:ea typeface="メイリオ"/>
                <a:cs typeface="+mn-cs"/>
              </a:rPr>
              <a:t>Q</a:t>
            </a:r>
            <a:r>
              <a:rPr kumimoji="1" lang="ja-JP" altLang="en-US" sz="3200" b="1" i="0" u="none" strike="noStrike" kern="1200" cap="none" spc="0" normalizeH="0" baseline="0" noProof="0">
                <a:ln>
                  <a:noFill/>
                </a:ln>
                <a:solidFill>
                  <a:prstClr val="black"/>
                </a:solidFill>
                <a:effectLst/>
                <a:uLnTx/>
                <a:uFillTx/>
                <a:latin typeface="Arial"/>
                <a:ea typeface="メイリオ"/>
                <a:cs typeface="+mn-cs"/>
              </a:rPr>
              <a:t>制御</a:t>
            </a:r>
            <a:endParaRPr kumimoji="1" lang="en-US" altLang="ja-JP" sz="3200" b="1" i="0" u="none" strike="noStrike" kern="1200" cap="none" spc="0" normalizeH="0" baseline="0" noProof="0">
              <a:ln>
                <a:noFill/>
              </a:ln>
              <a:solidFill>
                <a:prstClr val="black"/>
              </a:solidFill>
              <a:effectLst/>
              <a:uLnTx/>
              <a:uFillTx/>
              <a:latin typeface="Arial"/>
              <a:ea typeface="メイリオ"/>
              <a:cs typeface="+mn-cs"/>
            </a:endParaRPr>
          </a:p>
        </p:txBody>
      </p:sp>
      <p:sp>
        <p:nvSpPr>
          <p:cNvPr id="6" name="テキスト ボックス 5">
            <a:extLst>
              <a:ext uri="{FF2B5EF4-FFF2-40B4-BE49-F238E27FC236}">
                <a16:creationId xmlns:a16="http://schemas.microsoft.com/office/drawing/2014/main" id="{3D4B9A23-FFEB-07E3-5043-4936AC26C9F2}"/>
              </a:ext>
            </a:extLst>
          </p:cNvPr>
          <p:cNvSpPr txBox="1"/>
          <p:nvPr/>
        </p:nvSpPr>
        <p:spPr>
          <a:xfrm>
            <a:off x="821574" y="4286551"/>
            <a:ext cx="11261781" cy="1985159"/>
          </a:xfrm>
          <a:prstGeom prst="rect">
            <a:avLst/>
          </a:prstGeom>
          <a:noFill/>
        </p:spPr>
        <p:txBody>
          <a:bodyPr wrap="square">
            <a:spAutoFit/>
          </a:bodyPr>
          <a:lstStyle/>
          <a:p>
            <a:pPr marL="717550" marR="0" lvl="0" indent="-355600" algn="l" defTabSz="457200" rtl="0" eaLnBrk="1" fontAlgn="auto" latinLnBrk="0" hangingPunct="1">
              <a:lnSpc>
                <a:spcPct val="130000"/>
              </a:lnSpc>
              <a:spcBef>
                <a:spcPts val="0"/>
              </a:spcBef>
              <a:spcAft>
                <a:spcPts val="0"/>
              </a:spcAft>
              <a:buClr>
                <a:srgbClr val="0070C0"/>
              </a:buClr>
              <a:buSzTx/>
              <a:buFont typeface="Wingdings" panose="05000000000000000000" pitchFamily="2" charset="2"/>
              <a:buChar char="l"/>
              <a:tabLst/>
              <a:defRPr/>
            </a:pPr>
            <a:r>
              <a:rPr lang="ja-JP" altLang="en-US" sz="2400" b="1">
                <a:solidFill>
                  <a:prstClr val="black"/>
                </a:solidFill>
                <a:latin typeface="Arial"/>
                <a:ea typeface="メイリオ"/>
              </a:rPr>
              <a:t>シミュレーション結果が理論解に対する誤差率がかなり大きい</a:t>
            </a:r>
            <a:endParaRPr lang="en-US" altLang="ja-JP" sz="2400" b="1">
              <a:solidFill>
                <a:prstClr val="black"/>
              </a:solidFill>
              <a:latin typeface="Arial"/>
              <a:ea typeface="メイリオ"/>
            </a:endParaRPr>
          </a:p>
          <a:p>
            <a:pPr marL="819150" marR="0" lvl="0" indent="-457200" algn="l" defTabSz="457200" rtl="0" eaLnBrk="1" fontAlgn="auto" latinLnBrk="0" hangingPunct="1">
              <a:lnSpc>
                <a:spcPct val="130000"/>
              </a:lnSpc>
              <a:spcBef>
                <a:spcPts val="0"/>
              </a:spcBef>
              <a:spcAft>
                <a:spcPts val="0"/>
              </a:spcAft>
              <a:buClr>
                <a:srgbClr val="0070C0"/>
              </a:buClr>
              <a:buSzTx/>
              <a:buFont typeface="+mj-lt"/>
              <a:buAutoNum type="arabicPeriod"/>
              <a:tabLst/>
              <a:defRPr/>
            </a:pPr>
            <a:r>
              <a:rPr lang="ja-JP" altLang="en-US" sz="2400" b="1">
                <a:latin typeface="Arial"/>
                <a:ea typeface="メイリオ"/>
              </a:rPr>
              <a:t>系統電圧が変動しやすい</a:t>
            </a:r>
            <a:endParaRPr lang="en-US" altLang="ja-JP" sz="2400" b="1">
              <a:latin typeface="Arial"/>
              <a:ea typeface="メイリオ"/>
            </a:endParaRPr>
          </a:p>
          <a:p>
            <a:pPr marL="819150" marR="0" lvl="0" indent="-457200" algn="l" defTabSz="457200" rtl="0" eaLnBrk="1" fontAlgn="auto" latinLnBrk="0" hangingPunct="1">
              <a:lnSpc>
                <a:spcPct val="130000"/>
              </a:lnSpc>
              <a:spcBef>
                <a:spcPts val="0"/>
              </a:spcBef>
              <a:spcAft>
                <a:spcPts val="0"/>
              </a:spcAft>
              <a:buClr>
                <a:srgbClr val="0070C0"/>
              </a:buClr>
              <a:buSzTx/>
              <a:buFont typeface="+mj-lt"/>
              <a:buAutoNum type="arabicPeriod"/>
              <a:tabLst/>
              <a:defRPr/>
            </a:pPr>
            <a:r>
              <a:rPr lang="ja-JP" altLang="en-US" sz="2400" b="1">
                <a:latin typeface="Arial"/>
                <a:ea typeface="メイリオ"/>
              </a:rPr>
              <a:t>理論式で虚数解を出し、シミュレーションにおいても発散</a:t>
            </a:r>
            <a:endParaRPr lang="en-US" altLang="ja-JP" sz="2400" b="1">
              <a:latin typeface="Arial"/>
              <a:ea typeface="メイリオ"/>
            </a:endParaRPr>
          </a:p>
          <a:p>
            <a:pPr marL="361950" defTabSz="457200">
              <a:lnSpc>
                <a:spcPct val="130000"/>
              </a:lnSpc>
              <a:buClr>
                <a:srgbClr val="0070C0"/>
              </a:buClr>
              <a:defRPr/>
            </a:pPr>
            <a:r>
              <a:rPr lang="en-US" altLang="ja-JP" sz="2400" b="1">
                <a:solidFill>
                  <a:srgbClr val="FF0000"/>
                </a:solidFill>
              </a:rPr>
              <a:t>➡</a:t>
            </a:r>
            <a:r>
              <a:rPr lang="ja-JP" altLang="en-US" sz="2400" b="1">
                <a:solidFill>
                  <a:srgbClr val="FF0000"/>
                </a:solidFill>
              </a:rPr>
              <a:t>理論式計算による動作可能の判断が困難</a:t>
            </a:r>
            <a:endParaRPr lang="ja-JP" altLang="en-US" sz="2400">
              <a:solidFill>
                <a:srgbClr val="FF0000"/>
              </a:solidFill>
            </a:endParaRPr>
          </a:p>
        </p:txBody>
      </p:sp>
      <p:graphicFrame>
        <p:nvGraphicFramePr>
          <p:cNvPr id="9" name="表 8">
            <a:extLst>
              <a:ext uri="{FF2B5EF4-FFF2-40B4-BE49-F238E27FC236}">
                <a16:creationId xmlns:a16="http://schemas.microsoft.com/office/drawing/2014/main" id="{51770E2F-2711-D617-718A-B126C66B924B}"/>
              </a:ext>
            </a:extLst>
          </p:cNvPr>
          <p:cNvGraphicFramePr>
            <a:graphicFrameLocks noGrp="1"/>
          </p:cNvGraphicFramePr>
          <p:nvPr>
            <p:extLst>
              <p:ext uri="{D42A27DB-BD31-4B8C-83A1-F6EECF244321}">
                <p14:modId xmlns:p14="http://schemas.microsoft.com/office/powerpoint/2010/main" val="670326192"/>
              </p:ext>
            </p:extLst>
          </p:nvPr>
        </p:nvGraphicFramePr>
        <p:xfrm>
          <a:off x="6690268" y="2027003"/>
          <a:ext cx="4824537" cy="741680"/>
        </p:xfrm>
        <a:graphic>
          <a:graphicData uri="http://schemas.openxmlformats.org/drawingml/2006/table">
            <a:tbl>
              <a:tblPr firstRow="1" bandRow="1">
                <a:tableStyleId>{5C22544A-7EE6-4342-B048-85BDC9FD1C3A}</a:tableStyleId>
              </a:tblPr>
              <a:tblGrid>
                <a:gridCol w="1519257">
                  <a:extLst>
                    <a:ext uri="{9D8B030D-6E8A-4147-A177-3AD203B41FA5}">
                      <a16:colId xmlns:a16="http://schemas.microsoft.com/office/drawing/2014/main" val="20000"/>
                    </a:ext>
                  </a:extLst>
                </a:gridCol>
                <a:gridCol w="661056">
                  <a:extLst>
                    <a:ext uri="{9D8B030D-6E8A-4147-A177-3AD203B41FA5}">
                      <a16:colId xmlns:a16="http://schemas.microsoft.com/office/drawing/2014/main" val="20001"/>
                    </a:ext>
                  </a:extLst>
                </a:gridCol>
                <a:gridCol w="661056">
                  <a:extLst>
                    <a:ext uri="{9D8B030D-6E8A-4147-A177-3AD203B41FA5}">
                      <a16:colId xmlns:a16="http://schemas.microsoft.com/office/drawing/2014/main" val="20002"/>
                    </a:ext>
                  </a:extLst>
                </a:gridCol>
                <a:gridCol w="661056">
                  <a:extLst>
                    <a:ext uri="{9D8B030D-6E8A-4147-A177-3AD203B41FA5}">
                      <a16:colId xmlns:a16="http://schemas.microsoft.com/office/drawing/2014/main" val="20003"/>
                    </a:ext>
                  </a:extLst>
                </a:gridCol>
                <a:gridCol w="661056">
                  <a:extLst>
                    <a:ext uri="{9D8B030D-6E8A-4147-A177-3AD203B41FA5}">
                      <a16:colId xmlns:a16="http://schemas.microsoft.com/office/drawing/2014/main" val="20004"/>
                    </a:ext>
                  </a:extLst>
                </a:gridCol>
                <a:gridCol w="661056">
                  <a:extLst>
                    <a:ext uri="{9D8B030D-6E8A-4147-A177-3AD203B41FA5}">
                      <a16:colId xmlns:a16="http://schemas.microsoft.com/office/drawing/2014/main" val="20005"/>
                    </a:ext>
                  </a:extLst>
                </a:gridCol>
              </a:tblGrid>
              <a:tr h="370840">
                <a:tc>
                  <a:txBody>
                    <a:bodyPr/>
                    <a:lstStyle/>
                    <a:p>
                      <a:pPr algn="ctr"/>
                      <a:r>
                        <a:rPr kumimoji="1" lang="en-US" altLang="ja-JP" sz="1600" b="1">
                          <a:latin typeface="+mn-lt"/>
                        </a:rPr>
                        <a:t>SCR</a:t>
                      </a:r>
                      <a:endParaRPr kumimoji="1" lang="ja-JP" altLang="en-US" sz="1600" b="1">
                        <a:latin typeface="+mn-lt"/>
                      </a:endParaRPr>
                    </a:p>
                  </a:txBody>
                  <a:tcPr marT="72000" marB="36000" anchor="ctr"/>
                </a:tc>
                <a:tc>
                  <a:txBody>
                    <a:bodyPr/>
                    <a:lstStyle/>
                    <a:p>
                      <a:pPr algn="ctr"/>
                      <a:r>
                        <a:rPr kumimoji="1" lang="en-US" altLang="ja-JP" sz="1600" b="1">
                          <a:latin typeface="+mn-lt"/>
                        </a:rPr>
                        <a:t>5.0</a:t>
                      </a:r>
                      <a:endParaRPr kumimoji="1" lang="ja-JP" altLang="en-US" sz="1600" b="1">
                        <a:latin typeface="+mn-lt"/>
                      </a:endParaRPr>
                    </a:p>
                  </a:txBody>
                  <a:tcPr marT="72000" marB="36000" anchor="ctr"/>
                </a:tc>
                <a:tc>
                  <a:txBody>
                    <a:bodyPr/>
                    <a:lstStyle/>
                    <a:p>
                      <a:pPr algn="ctr"/>
                      <a:r>
                        <a:rPr kumimoji="1" lang="en-US" altLang="ja-JP" sz="1600" b="1">
                          <a:latin typeface="+mn-lt"/>
                        </a:rPr>
                        <a:t>4.0</a:t>
                      </a:r>
                      <a:endParaRPr kumimoji="1" lang="ja-JP" altLang="en-US" sz="1600" b="1">
                        <a:latin typeface="+mn-lt"/>
                      </a:endParaRPr>
                    </a:p>
                  </a:txBody>
                  <a:tcPr marT="72000" marB="36000" anchor="ctr"/>
                </a:tc>
                <a:tc>
                  <a:txBody>
                    <a:bodyPr/>
                    <a:lstStyle/>
                    <a:p>
                      <a:pPr algn="ctr"/>
                      <a:r>
                        <a:rPr kumimoji="1" lang="en-US" altLang="ja-JP" sz="1600" b="1">
                          <a:latin typeface="+mn-lt"/>
                        </a:rPr>
                        <a:t>3.0</a:t>
                      </a:r>
                      <a:endParaRPr kumimoji="1" lang="ja-JP" altLang="en-US" sz="1600" b="1">
                        <a:latin typeface="+mn-lt"/>
                      </a:endParaRPr>
                    </a:p>
                  </a:txBody>
                  <a:tcPr marT="72000" marB="36000" anchor="ctr"/>
                </a:tc>
                <a:tc>
                  <a:txBody>
                    <a:bodyPr/>
                    <a:lstStyle/>
                    <a:p>
                      <a:pPr algn="ctr"/>
                      <a:r>
                        <a:rPr kumimoji="1" lang="en-US" altLang="ja-JP" sz="1600" b="1">
                          <a:latin typeface="+mn-lt"/>
                        </a:rPr>
                        <a:t>2.0</a:t>
                      </a:r>
                      <a:endParaRPr kumimoji="1" lang="ja-JP" altLang="en-US" sz="1600" b="1">
                        <a:latin typeface="+mn-lt"/>
                      </a:endParaRPr>
                    </a:p>
                  </a:txBody>
                  <a:tcPr marT="72000" marB="36000" anchor="ctr"/>
                </a:tc>
                <a:tc>
                  <a:txBody>
                    <a:bodyPr/>
                    <a:lstStyle/>
                    <a:p>
                      <a:pPr algn="ctr"/>
                      <a:r>
                        <a:rPr kumimoji="1" lang="en-US" altLang="ja-JP" sz="1600" b="1">
                          <a:latin typeface="+mn-lt"/>
                        </a:rPr>
                        <a:t>1.0</a:t>
                      </a:r>
                      <a:endParaRPr kumimoji="1" lang="ja-JP" altLang="en-US" sz="1600" b="1">
                        <a:latin typeface="+mn-lt"/>
                      </a:endParaRPr>
                    </a:p>
                  </a:txBody>
                  <a:tcPr marT="72000" marB="36000" anchor="ctr"/>
                </a:tc>
                <a:extLst>
                  <a:ext uri="{0D108BD9-81ED-4DB2-BD59-A6C34878D82A}">
                    <a16:rowId xmlns:a16="http://schemas.microsoft.com/office/drawing/2014/main" val="10000"/>
                  </a:ext>
                </a:extLst>
              </a:tr>
              <a:tr h="370840">
                <a:tc>
                  <a:txBody>
                    <a:bodyPr/>
                    <a:lstStyle/>
                    <a:p>
                      <a:pPr algn="ctr"/>
                      <a:r>
                        <a:rPr kumimoji="1" lang="ja-JP" altLang="en-US" sz="1600" b="1">
                          <a:latin typeface="+mn-lt"/>
                        </a:rPr>
                        <a:t>平均誤差率</a:t>
                      </a:r>
                      <a:r>
                        <a:rPr kumimoji="1" lang="en-US" altLang="ja-JP" sz="1600" b="1">
                          <a:latin typeface="+mn-lt"/>
                        </a:rPr>
                        <a:t>(%)</a:t>
                      </a:r>
                      <a:endParaRPr kumimoji="1" lang="ja-JP" altLang="en-US" sz="1600" b="1">
                        <a:latin typeface="+mn-lt"/>
                      </a:endParaRPr>
                    </a:p>
                  </a:txBody>
                  <a:tcPr marT="72000" marB="36000" anchor="ctr"/>
                </a:tc>
                <a:tc>
                  <a:txBody>
                    <a:bodyPr/>
                    <a:lstStyle/>
                    <a:p>
                      <a:pPr algn="ctr"/>
                      <a:r>
                        <a:rPr kumimoji="1" lang="en-US" altLang="ja-JP" sz="1600" b="1">
                          <a:latin typeface="+mn-lt"/>
                        </a:rPr>
                        <a:t>9.90</a:t>
                      </a:r>
                      <a:endParaRPr kumimoji="1" lang="ja-JP" altLang="en-US" sz="1600" b="1">
                        <a:latin typeface="+mn-lt"/>
                      </a:endParaRPr>
                    </a:p>
                  </a:txBody>
                  <a:tcPr marT="72000" marB="36000" anchor="ctr"/>
                </a:tc>
                <a:tc>
                  <a:txBody>
                    <a:bodyPr/>
                    <a:lstStyle/>
                    <a:p>
                      <a:pPr algn="ctr"/>
                      <a:r>
                        <a:rPr kumimoji="1" lang="en-US" altLang="ja-JP" sz="1600" b="1">
                          <a:latin typeface="+mn-lt"/>
                        </a:rPr>
                        <a:t>7.09</a:t>
                      </a:r>
                      <a:endParaRPr kumimoji="1" lang="ja-JP" altLang="en-US" sz="1600" b="1">
                        <a:latin typeface="+mn-lt"/>
                      </a:endParaRPr>
                    </a:p>
                  </a:txBody>
                  <a:tcPr marT="72000" marB="36000" anchor="ctr"/>
                </a:tc>
                <a:tc>
                  <a:txBody>
                    <a:bodyPr/>
                    <a:lstStyle/>
                    <a:p>
                      <a:pPr algn="ctr"/>
                      <a:r>
                        <a:rPr kumimoji="1" lang="en-US" altLang="ja-JP" sz="1600" b="1">
                          <a:latin typeface="+mn-lt"/>
                        </a:rPr>
                        <a:t>7.12</a:t>
                      </a:r>
                      <a:endParaRPr kumimoji="1" lang="ja-JP" altLang="en-US" sz="1600" b="1">
                        <a:latin typeface="+mn-lt"/>
                      </a:endParaRPr>
                    </a:p>
                  </a:txBody>
                  <a:tcPr marT="72000" marB="36000" anchor="ctr"/>
                </a:tc>
                <a:tc>
                  <a:txBody>
                    <a:bodyPr/>
                    <a:lstStyle/>
                    <a:p>
                      <a:pPr algn="ctr"/>
                      <a:r>
                        <a:rPr kumimoji="1" lang="en-US" altLang="ja-JP" sz="1600" b="1">
                          <a:latin typeface="+mn-lt"/>
                        </a:rPr>
                        <a:t>7.22</a:t>
                      </a:r>
                      <a:endParaRPr kumimoji="1" lang="ja-JP" altLang="en-US" sz="1600" b="1">
                        <a:latin typeface="+mn-lt"/>
                      </a:endParaRPr>
                    </a:p>
                  </a:txBody>
                  <a:tcPr marT="72000" marB="36000" anchor="ctr"/>
                </a:tc>
                <a:tc>
                  <a:txBody>
                    <a:bodyPr/>
                    <a:lstStyle/>
                    <a:p>
                      <a:pPr algn="ctr"/>
                      <a:r>
                        <a:rPr kumimoji="1" lang="en-US" altLang="ja-JP" sz="1600" b="1">
                          <a:latin typeface="+mn-lt"/>
                        </a:rPr>
                        <a:t>6.94</a:t>
                      </a:r>
                      <a:endParaRPr kumimoji="1" lang="ja-JP" altLang="en-US" sz="1600" b="1">
                        <a:latin typeface="+mn-lt"/>
                      </a:endParaRPr>
                    </a:p>
                  </a:txBody>
                  <a:tcPr marT="72000" marB="36000" anchor="ctr"/>
                </a:tc>
                <a:extLst>
                  <a:ext uri="{0D108BD9-81ED-4DB2-BD59-A6C34878D82A}">
                    <a16:rowId xmlns:a16="http://schemas.microsoft.com/office/drawing/2014/main" val="10001"/>
                  </a:ext>
                </a:extLst>
              </a:tr>
            </a:tbl>
          </a:graphicData>
        </a:graphic>
      </p:graphicFrame>
      <p:cxnSp>
        <p:nvCxnSpPr>
          <p:cNvPr id="10" name="直線コネクタ 9">
            <a:extLst>
              <a:ext uri="{FF2B5EF4-FFF2-40B4-BE49-F238E27FC236}">
                <a16:creationId xmlns:a16="http://schemas.microsoft.com/office/drawing/2014/main" id="{5B7812FA-AAB7-1836-B492-D9DAC860062D}"/>
              </a:ext>
            </a:extLst>
          </p:cNvPr>
          <p:cNvCxnSpPr/>
          <p:nvPr/>
        </p:nvCxnSpPr>
        <p:spPr>
          <a:xfrm>
            <a:off x="220794" y="3175888"/>
            <a:ext cx="11747098" cy="41496"/>
          </a:xfrm>
          <a:prstGeom prst="line">
            <a:avLst/>
          </a:prstGeom>
          <a:ln w="38100">
            <a:solidFill>
              <a:schemeClr val="bg1">
                <a:lumMod val="65000"/>
              </a:schemeClr>
            </a:solidFill>
            <a:prstDash val="dashDot"/>
          </a:ln>
        </p:spPr>
        <p:style>
          <a:lnRef idx="1">
            <a:schemeClr val="dk1"/>
          </a:lnRef>
          <a:fillRef idx="0">
            <a:schemeClr val="dk1"/>
          </a:fillRef>
          <a:effectRef idx="0">
            <a:schemeClr val="dk1"/>
          </a:effectRef>
          <a:fontRef idx="minor">
            <a:schemeClr val="tx1"/>
          </a:fontRef>
        </p:style>
      </p:cxnSp>
      <p:sp>
        <p:nvSpPr>
          <p:cNvPr id="11" name="テキスト ボックス 10">
            <a:extLst>
              <a:ext uri="{FF2B5EF4-FFF2-40B4-BE49-F238E27FC236}">
                <a16:creationId xmlns:a16="http://schemas.microsoft.com/office/drawing/2014/main" id="{EE8B6456-33F2-B886-8414-7ACE9D99AF4D}"/>
              </a:ext>
            </a:extLst>
          </p:cNvPr>
          <p:cNvSpPr txBox="1"/>
          <p:nvPr/>
        </p:nvSpPr>
        <p:spPr>
          <a:xfrm>
            <a:off x="6827521" y="2859757"/>
            <a:ext cx="4687284" cy="369332"/>
          </a:xfrm>
          <a:prstGeom prst="rect">
            <a:avLst/>
          </a:prstGeom>
          <a:noFill/>
        </p:spPr>
        <p:txBody>
          <a:bodyPr wrap="square" rtlCol="0">
            <a:spAutoFit/>
          </a:bodyPr>
          <a:lstStyle/>
          <a:p>
            <a:pPr algn="ctr"/>
            <a:r>
              <a:rPr lang="en-US" altLang="ja-JP" b="1"/>
              <a:t>V</a:t>
            </a:r>
            <a:r>
              <a:rPr lang="ja-JP" altLang="en-US" b="1"/>
              <a:t>制御における計算値と理論値の比較表</a:t>
            </a:r>
            <a:endParaRPr lang="zh-CN" altLang="en-US" b="1"/>
          </a:p>
        </p:txBody>
      </p:sp>
    </p:spTree>
    <p:extLst>
      <p:ext uri="{BB962C8B-B14F-4D97-AF65-F5344CB8AC3E}">
        <p14:creationId xmlns:p14="http://schemas.microsoft.com/office/powerpoint/2010/main" val="2117446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F3CD414C-34FA-56D0-566D-7E0190C1FC7C}"/>
              </a:ext>
            </a:extLst>
          </p:cNvPr>
          <p:cNvCxnSpPr>
            <a:cxnSpLocks/>
          </p:cNvCxnSpPr>
          <p:nvPr/>
        </p:nvCxnSpPr>
        <p:spPr>
          <a:xfrm>
            <a:off x="0" y="588468"/>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A309F559-5835-C4AD-1DCE-BD366F534436}"/>
              </a:ext>
            </a:extLst>
          </p:cNvPr>
          <p:cNvSpPr txBox="1"/>
          <p:nvPr/>
        </p:nvSpPr>
        <p:spPr>
          <a:xfrm>
            <a:off x="260038" y="140142"/>
            <a:ext cx="11668610" cy="478387"/>
          </a:xfrm>
          <a:prstGeom prst="rect">
            <a:avLst/>
          </a:prstGeom>
          <a:noFill/>
        </p:spPr>
        <p:txBody>
          <a:bodyPr wrap="square" tIns="72000" bIns="36000" anchor="ctr" anchorCtr="0">
            <a:spAutoFit/>
          </a:bodyPr>
          <a:lstStyle/>
          <a:p>
            <a:pPr defTabSz="457200">
              <a:defRPr/>
            </a:pPr>
            <a:r>
              <a:rPr kumimoji="1" lang="ja-JP" altLang="en-US" sz="2400" b="1" i="0" u="none" strike="noStrike" kern="1200" cap="none" spc="0" normalizeH="0" baseline="0" noProof="0">
                <a:ln>
                  <a:noFill/>
                </a:ln>
                <a:solidFill>
                  <a:srgbClr val="0070C0"/>
                </a:solidFill>
                <a:effectLst/>
                <a:uLnTx/>
                <a:uFillTx/>
                <a:latin typeface="メイリオ"/>
                <a:ea typeface="メイリオ"/>
                <a:cs typeface="+mn-cs"/>
              </a:rPr>
              <a:t>検討</a:t>
            </a:r>
            <a:r>
              <a:rPr kumimoji="1" lang="en-US" altLang="ja-JP" sz="2400" b="1" i="0" u="none" strike="noStrike" kern="1200" cap="none" spc="0" normalizeH="0" baseline="0" noProof="0">
                <a:ln>
                  <a:noFill/>
                </a:ln>
                <a:solidFill>
                  <a:srgbClr val="0070C0"/>
                </a:solidFill>
                <a:effectLst/>
                <a:uLnTx/>
                <a:uFillTx/>
                <a:latin typeface="メイリオ"/>
                <a:ea typeface="メイリオ"/>
                <a:cs typeface="+mn-cs"/>
              </a:rPr>
              <a:t>~</a:t>
            </a:r>
            <a:r>
              <a:rPr lang="en-US" altLang="ja-JP" sz="2400" b="1">
                <a:solidFill>
                  <a:srgbClr val="0070C0"/>
                </a:solidFill>
              </a:rPr>
              <a:t>V</a:t>
            </a:r>
            <a:r>
              <a:rPr lang="ja-JP" altLang="en-US" sz="2400" b="1">
                <a:solidFill>
                  <a:srgbClr val="0070C0"/>
                </a:solidFill>
              </a:rPr>
              <a:t>制御と</a:t>
            </a:r>
            <a:r>
              <a:rPr lang="en-US" altLang="ja-JP" sz="2400" b="1">
                <a:solidFill>
                  <a:srgbClr val="0070C0"/>
                </a:solidFill>
              </a:rPr>
              <a:t>Q</a:t>
            </a:r>
            <a:r>
              <a:rPr lang="ja-JP" altLang="en-US" sz="2400" b="1">
                <a:solidFill>
                  <a:srgbClr val="0070C0"/>
                </a:solidFill>
              </a:rPr>
              <a:t>制御での比較</a:t>
            </a:r>
            <a:endParaRPr lang="en-US" altLang="ja-JP" sz="2400" b="1">
              <a:solidFill>
                <a:srgbClr val="0070C0"/>
              </a:solidFill>
            </a:endParaRPr>
          </a:p>
        </p:txBody>
      </p:sp>
      <p:sp>
        <p:nvSpPr>
          <p:cNvPr id="7" name="テキスト ボックス 6">
            <a:extLst>
              <a:ext uri="{FF2B5EF4-FFF2-40B4-BE49-F238E27FC236}">
                <a16:creationId xmlns:a16="http://schemas.microsoft.com/office/drawing/2014/main" id="{9B1FB47B-4D5D-A6AC-CC8B-BEA39AB7A7CF}"/>
              </a:ext>
            </a:extLst>
          </p:cNvPr>
          <p:cNvSpPr txBox="1"/>
          <p:nvPr/>
        </p:nvSpPr>
        <p:spPr>
          <a:xfrm>
            <a:off x="260038" y="901877"/>
            <a:ext cx="11668610" cy="1992647"/>
          </a:xfrm>
          <a:prstGeom prst="rect">
            <a:avLst/>
          </a:prstGeom>
          <a:noFill/>
        </p:spPr>
        <p:txBody>
          <a:bodyPr wrap="square" tIns="72000" bIns="36000">
            <a:sp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kumimoji="1" lang="ja-JP" altLang="en-US" sz="3200" b="1" i="0" u="none" strike="noStrike" kern="1200" cap="none" spc="0" normalizeH="0" baseline="0" noProof="0">
                <a:ln>
                  <a:noFill/>
                </a:ln>
                <a:solidFill>
                  <a:prstClr val="black"/>
                </a:solidFill>
                <a:effectLst/>
                <a:uLnTx/>
                <a:uFillTx/>
                <a:latin typeface="Arial"/>
                <a:ea typeface="メイリオ"/>
                <a:cs typeface="+mn-cs"/>
              </a:rPr>
              <a:t>インバータ目線</a:t>
            </a:r>
            <a:endParaRPr kumimoji="1" lang="en-US" altLang="ja-JP" sz="3200" b="1" i="0" u="none" strike="noStrike" kern="1200" cap="none" spc="0" normalizeH="0" baseline="0" noProof="0">
              <a:ln>
                <a:noFill/>
              </a:ln>
              <a:solidFill>
                <a:prstClr val="black"/>
              </a:solidFill>
              <a:effectLst/>
              <a:uLnTx/>
              <a:uFillTx/>
              <a:latin typeface="Arial"/>
              <a:ea typeface="メイリオ"/>
              <a:cs typeface="+mn-cs"/>
            </a:endParaRPr>
          </a:p>
          <a:p>
            <a:pPr marR="0" lvl="0" algn="l" defTabSz="457200" rtl="0" eaLnBrk="1" fontAlgn="auto" latinLnBrk="0" hangingPunct="1">
              <a:lnSpc>
                <a:spcPct val="130000"/>
              </a:lnSpc>
              <a:spcBef>
                <a:spcPts val="0"/>
              </a:spcBef>
              <a:spcAft>
                <a:spcPts val="0"/>
              </a:spcAft>
              <a:buClr>
                <a:srgbClr val="0070C0"/>
              </a:buClr>
              <a:buSzTx/>
              <a:tabLst/>
              <a:defRPr/>
            </a:pPr>
            <a:r>
              <a:rPr lang="en-US" altLang="ja-JP" sz="3200" b="1">
                <a:solidFill>
                  <a:prstClr val="black"/>
                </a:solidFill>
                <a:latin typeface="Arial"/>
                <a:ea typeface="メイリオ"/>
              </a:rPr>
              <a:t>Q</a:t>
            </a:r>
            <a:r>
              <a:rPr lang="ja-JP" altLang="en-US" sz="3200" b="1">
                <a:solidFill>
                  <a:prstClr val="black"/>
                </a:solidFill>
                <a:latin typeface="Arial"/>
                <a:ea typeface="メイリオ"/>
              </a:rPr>
              <a:t>制御が比較的動作可能範囲が広い</a:t>
            </a:r>
            <a:endParaRPr lang="en-US" altLang="ja-JP" sz="3200" b="1">
              <a:solidFill>
                <a:prstClr val="black"/>
              </a:solidFill>
              <a:latin typeface="Arial"/>
              <a:ea typeface="メイリオ"/>
            </a:endParaRPr>
          </a:p>
          <a:p>
            <a:pPr marR="0" lvl="0" algn="l" defTabSz="457200" rtl="0" eaLnBrk="1" fontAlgn="auto" latinLnBrk="0" hangingPunct="1">
              <a:lnSpc>
                <a:spcPct val="130000"/>
              </a:lnSpc>
              <a:spcBef>
                <a:spcPts val="0"/>
              </a:spcBef>
              <a:spcAft>
                <a:spcPts val="0"/>
              </a:spcAft>
              <a:buClr>
                <a:srgbClr val="0070C0"/>
              </a:buClr>
              <a:buSzTx/>
              <a:tabLst/>
              <a:defRPr/>
            </a:pPr>
            <a:r>
              <a:rPr lang="ja-JP" altLang="en-US" sz="3200" b="1">
                <a:solidFill>
                  <a:prstClr val="black"/>
                </a:solidFill>
                <a:latin typeface="Arial"/>
                <a:ea typeface="メイリオ"/>
              </a:rPr>
              <a:t>長距離送電線</a:t>
            </a:r>
            <a:r>
              <a:rPr lang="en-US" altLang="ja-JP" sz="3200" b="1">
                <a:solidFill>
                  <a:prstClr val="black"/>
                </a:solidFill>
                <a:latin typeface="Arial"/>
                <a:ea typeface="メイリオ"/>
              </a:rPr>
              <a:t>(</a:t>
            </a:r>
            <a:r>
              <a:rPr lang="ja-JP" altLang="en-US" sz="3200" b="1">
                <a:solidFill>
                  <a:prstClr val="black"/>
                </a:solidFill>
                <a:latin typeface="Arial"/>
                <a:ea typeface="メイリオ"/>
              </a:rPr>
              <a:t>低短絡容量系統</a:t>
            </a:r>
            <a:r>
              <a:rPr lang="en-US" altLang="ja-JP" sz="3200" b="1">
                <a:solidFill>
                  <a:prstClr val="black"/>
                </a:solidFill>
                <a:latin typeface="Arial"/>
                <a:ea typeface="メイリオ"/>
              </a:rPr>
              <a:t>)</a:t>
            </a:r>
            <a:r>
              <a:rPr lang="ja-JP" altLang="en-US" sz="3200" b="1">
                <a:solidFill>
                  <a:prstClr val="black"/>
                </a:solidFill>
                <a:latin typeface="Arial"/>
                <a:ea typeface="メイリオ"/>
              </a:rPr>
              <a:t>において実力を発揮</a:t>
            </a:r>
            <a:endParaRPr kumimoji="1" lang="en-US" altLang="ja-JP" sz="3200" b="1" i="0" u="none" strike="noStrike" kern="1200" cap="none" spc="0" normalizeH="0" baseline="0" noProof="0">
              <a:ln>
                <a:noFill/>
              </a:ln>
              <a:solidFill>
                <a:prstClr val="black"/>
              </a:solidFill>
              <a:effectLst/>
              <a:uLnTx/>
              <a:uFillTx/>
              <a:latin typeface="Arial"/>
              <a:ea typeface="メイリオ"/>
              <a:cs typeface="+mn-cs"/>
            </a:endParaRPr>
          </a:p>
        </p:txBody>
      </p:sp>
      <p:sp>
        <p:nvSpPr>
          <p:cNvPr id="8" name="テキスト ボックス 7">
            <a:extLst>
              <a:ext uri="{FF2B5EF4-FFF2-40B4-BE49-F238E27FC236}">
                <a16:creationId xmlns:a16="http://schemas.microsoft.com/office/drawing/2014/main" id="{5832807F-3B81-D839-3846-3EB86456F4D0}"/>
              </a:ext>
            </a:extLst>
          </p:cNvPr>
          <p:cNvSpPr txBox="1"/>
          <p:nvPr/>
        </p:nvSpPr>
        <p:spPr>
          <a:xfrm>
            <a:off x="260038" y="4725211"/>
            <a:ext cx="11668610" cy="1992647"/>
          </a:xfrm>
          <a:prstGeom prst="rect">
            <a:avLst/>
          </a:prstGeom>
          <a:noFill/>
        </p:spPr>
        <p:txBody>
          <a:bodyPr wrap="square" tIns="72000" bIns="36000">
            <a:spAutoFit/>
          </a:bodyPr>
          <a:lstStyle/>
          <a:p>
            <a:pPr marL="342900" marR="0" lvl="0" indent="-342900" algn="l" defTabSz="457200" rtl="0" eaLnBrk="1" fontAlgn="auto" latinLnBrk="0" hangingPunct="1">
              <a:lnSpc>
                <a:spcPct val="130000"/>
              </a:lnSpc>
              <a:spcBef>
                <a:spcPts val="0"/>
              </a:spcBef>
              <a:spcAft>
                <a:spcPts val="0"/>
              </a:spcAft>
              <a:buClr>
                <a:srgbClr val="0070C0"/>
              </a:buClr>
              <a:buSzTx/>
              <a:buFont typeface="メイリオ" panose="020B0604030504040204" pitchFamily="50" charset="-128"/>
              <a:buChar char="▶"/>
              <a:tabLst/>
              <a:defRPr/>
            </a:pPr>
            <a:r>
              <a:rPr lang="ja-JP" altLang="en-US" sz="3200" b="1">
                <a:solidFill>
                  <a:prstClr val="black"/>
                </a:solidFill>
                <a:latin typeface="Arial"/>
                <a:ea typeface="メイリオ"/>
              </a:rPr>
              <a:t>系統</a:t>
            </a:r>
            <a:r>
              <a:rPr kumimoji="1" lang="ja-JP" altLang="en-US" sz="3200" b="1" i="0" u="none" strike="noStrike" kern="1200" cap="none" spc="0" normalizeH="0" baseline="0" noProof="0">
                <a:ln>
                  <a:noFill/>
                </a:ln>
                <a:solidFill>
                  <a:prstClr val="black"/>
                </a:solidFill>
                <a:effectLst/>
                <a:uLnTx/>
                <a:uFillTx/>
                <a:latin typeface="Arial"/>
                <a:ea typeface="メイリオ"/>
                <a:cs typeface="+mn-cs"/>
              </a:rPr>
              <a:t>目線</a:t>
            </a:r>
            <a:endParaRPr kumimoji="1" lang="en-US" altLang="ja-JP" sz="3200" b="1" i="0" u="none" strike="noStrike" kern="1200" cap="none" spc="0" normalizeH="0" baseline="0" noProof="0">
              <a:ln>
                <a:noFill/>
              </a:ln>
              <a:solidFill>
                <a:prstClr val="black"/>
              </a:solidFill>
              <a:effectLst/>
              <a:uLnTx/>
              <a:uFillTx/>
              <a:latin typeface="Arial"/>
              <a:ea typeface="メイリオ"/>
              <a:cs typeface="+mn-cs"/>
            </a:endParaRPr>
          </a:p>
          <a:p>
            <a:pPr marR="0" lvl="0" algn="l" defTabSz="457200" rtl="0" eaLnBrk="1" fontAlgn="auto" latinLnBrk="0" hangingPunct="1">
              <a:lnSpc>
                <a:spcPct val="130000"/>
              </a:lnSpc>
              <a:spcBef>
                <a:spcPts val="0"/>
              </a:spcBef>
              <a:spcAft>
                <a:spcPts val="0"/>
              </a:spcAft>
              <a:buClr>
                <a:srgbClr val="0070C0"/>
              </a:buClr>
              <a:buSzTx/>
              <a:tabLst/>
              <a:defRPr/>
            </a:pPr>
            <a:r>
              <a:rPr lang="en-US" altLang="ja-JP" sz="3200" b="1">
                <a:solidFill>
                  <a:prstClr val="black"/>
                </a:solidFill>
                <a:latin typeface="Arial"/>
                <a:ea typeface="メイリオ"/>
              </a:rPr>
              <a:t>Q</a:t>
            </a:r>
            <a:r>
              <a:rPr lang="ja-JP" altLang="en-US" sz="3200" b="1">
                <a:solidFill>
                  <a:prstClr val="black"/>
                </a:solidFill>
                <a:latin typeface="Arial"/>
                <a:ea typeface="メイリオ"/>
              </a:rPr>
              <a:t>制御を適用した場合、インバータ電圧が不安定</a:t>
            </a:r>
            <a:endParaRPr lang="en-US" altLang="ja-JP" sz="3200" b="1">
              <a:solidFill>
                <a:prstClr val="black"/>
              </a:solidFill>
              <a:latin typeface="Arial"/>
              <a:ea typeface="メイリオ"/>
            </a:endParaRPr>
          </a:p>
          <a:p>
            <a:pPr marR="0" lvl="0" algn="l" defTabSz="457200" rtl="0" eaLnBrk="1" fontAlgn="auto" latinLnBrk="0" hangingPunct="1">
              <a:lnSpc>
                <a:spcPct val="130000"/>
              </a:lnSpc>
              <a:spcBef>
                <a:spcPts val="0"/>
              </a:spcBef>
              <a:spcAft>
                <a:spcPts val="0"/>
              </a:spcAft>
              <a:buClr>
                <a:srgbClr val="0070C0"/>
              </a:buClr>
              <a:buSzTx/>
              <a:tabLst/>
              <a:defRPr/>
            </a:pPr>
            <a:r>
              <a:rPr kumimoji="1" lang="ja-JP" altLang="en-US" sz="3200" b="1" i="0" u="none" strike="noStrike" kern="1200" cap="none" spc="0" normalizeH="0" baseline="0" noProof="0">
                <a:ln>
                  <a:noFill/>
                </a:ln>
                <a:solidFill>
                  <a:prstClr val="black"/>
                </a:solidFill>
                <a:effectLst/>
                <a:uLnTx/>
                <a:uFillTx/>
                <a:latin typeface="Arial"/>
                <a:ea typeface="メイリオ"/>
                <a:cs typeface="+mn-cs"/>
              </a:rPr>
              <a:t>かえって系統の不安定さを招く可能性有</a:t>
            </a:r>
            <a:endParaRPr kumimoji="1" lang="en-US" altLang="ja-JP" sz="3200" b="1" i="0" u="none" strike="noStrike" kern="1200" cap="none" spc="0" normalizeH="0" baseline="0" noProof="0">
              <a:ln>
                <a:noFill/>
              </a:ln>
              <a:solidFill>
                <a:prstClr val="black"/>
              </a:solidFill>
              <a:effectLst/>
              <a:uLnTx/>
              <a:uFillTx/>
              <a:latin typeface="Arial"/>
              <a:ea typeface="メイリオ"/>
              <a:cs typeface="+mn-cs"/>
            </a:endParaRPr>
          </a:p>
        </p:txBody>
      </p:sp>
      <p:pic>
        <p:nvPicPr>
          <p:cNvPr id="3" name="図 2" descr="グラフ, 折れ線グラフ&#10;&#10;AI 生成コンテンツは誤りを含む可能性があります。">
            <a:extLst>
              <a:ext uri="{FF2B5EF4-FFF2-40B4-BE49-F238E27FC236}">
                <a16:creationId xmlns:a16="http://schemas.microsoft.com/office/drawing/2014/main" id="{184E79F4-B408-E216-8CA1-DA1388585B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268" y="2864044"/>
            <a:ext cx="3321079" cy="1992647"/>
          </a:xfrm>
          <a:prstGeom prst="rect">
            <a:avLst/>
          </a:prstGeom>
          <a:ln>
            <a:noFill/>
          </a:ln>
        </p:spPr>
      </p:pic>
      <p:pic>
        <p:nvPicPr>
          <p:cNvPr id="4" name="図 3" descr="グラフ, 折れ線グラフ&#10;&#10;AI 生成コンテンツは誤りを含む可能性があります。">
            <a:extLst>
              <a:ext uri="{FF2B5EF4-FFF2-40B4-BE49-F238E27FC236}">
                <a16:creationId xmlns:a16="http://schemas.microsoft.com/office/drawing/2014/main" id="{24C65EDF-4D98-2B48-C5BD-0ABB4273B9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7569" y="2894524"/>
            <a:ext cx="3321079" cy="1992647"/>
          </a:xfrm>
          <a:prstGeom prst="rect">
            <a:avLst/>
          </a:prstGeom>
        </p:spPr>
      </p:pic>
      <p:sp>
        <p:nvSpPr>
          <p:cNvPr id="2" name="テキスト ボックス 1">
            <a:extLst>
              <a:ext uri="{FF2B5EF4-FFF2-40B4-BE49-F238E27FC236}">
                <a16:creationId xmlns:a16="http://schemas.microsoft.com/office/drawing/2014/main" id="{8D38801F-CD47-0F25-532D-745BC3087F5A}"/>
              </a:ext>
            </a:extLst>
          </p:cNvPr>
          <p:cNvSpPr txBox="1"/>
          <p:nvPr/>
        </p:nvSpPr>
        <p:spPr>
          <a:xfrm>
            <a:off x="3998887" y="4820166"/>
            <a:ext cx="5228493" cy="369332"/>
          </a:xfrm>
          <a:prstGeom prst="rect">
            <a:avLst/>
          </a:prstGeom>
          <a:noFill/>
        </p:spPr>
        <p:txBody>
          <a:bodyPr wrap="square" rtlCol="0">
            <a:spAutoFit/>
          </a:bodyPr>
          <a:lstStyle/>
          <a:p>
            <a:pPr algn="ctr"/>
            <a:r>
              <a:rPr lang="en-US" altLang="ja-JP" b="1"/>
              <a:t>V</a:t>
            </a:r>
            <a:r>
              <a:rPr lang="ja-JP" altLang="en-US" b="1"/>
              <a:t>制御動作限界線</a:t>
            </a:r>
            <a:endParaRPr lang="zh-CN" altLang="en-US" b="1"/>
          </a:p>
        </p:txBody>
      </p:sp>
      <p:sp>
        <p:nvSpPr>
          <p:cNvPr id="9" name="テキスト ボックス 8">
            <a:extLst>
              <a:ext uri="{FF2B5EF4-FFF2-40B4-BE49-F238E27FC236}">
                <a16:creationId xmlns:a16="http://schemas.microsoft.com/office/drawing/2014/main" id="{0D4425D7-3692-4FCC-05AF-0E9201414CF7}"/>
              </a:ext>
            </a:extLst>
          </p:cNvPr>
          <p:cNvSpPr txBox="1"/>
          <p:nvPr/>
        </p:nvSpPr>
        <p:spPr>
          <a:xfrm>
            <a:off x="7665084" y="4820166"/>
            <a:ext cx="5228493" cy="369332"/>
          </a:xfrm>
          <a:prstGeom prst="rect">
            <a:avLst/>
          </a:prstGeom>
          <a:noFill/>
        </p:spPr>
        <p:txBody>
          <a:bodyPr wrap="square" rtlCol="0">
            <a:spAutoFit/>
          </a:bodyPr>
          <a:lstStyle/>
          <a:p>
            <a:pPr algn="ctr"/>
            <a:r>
              <a:rPr lang="en-US" altLang="ja-JP" b="1"/>
              <a:t>Q</a:t>
            </a:r>
            <a:r>
              <a:rPr lang="ja-JP" altLang="en-US" b="1"/>
              <a:t>制御動作限界線</a:t>
            </a:r>
            <a:endParaRPr lang="zh-CN" altLang="en-US" b="1"/>
          </a:p>
        </p:txBody>
      </p:sp>
    </p:spTree>
    <p:extLst>
      <p:ext uri="{BB962C8B-B14F-4D97-AF65-F5344CB8AC3E}">
        <p14:creationId xmlns:p14="http://schemas.microsoft.com/office/powerpoint/2010/main" val="202551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76F985-D4DC-DA90-3C35-AFA6BC49B7FD}"/>
              </a:ext>
            </a:extLst>
          </p:cNvPr>
          <p:cNvSpPr>
            <a:spLocks noGrp="1"/>
          </p:cNvSpPr>
          <p:nvPr>
            <p:ph type="title"/>
          </p:nvPr>
        </p:nvSpPr>
        <p:spPr>
          <a:xfrm>
            <a:off x="486343" y="111713"/>
            <a:ext cx="10515600" cy="490904"/>
          </a:xfrm>
        </p:spPr>
        <p:txBody>
          <a:bodyPr/>
          <a:lstStyle/>
          <a:p>
            <a:r>
              <a:rPr kumimoji="1" lang="ja-JP" altLang="en-US">
                <a:latin typeface="+mj-ea"/>
              </a:rPr>
              <a:t>まとめ</a:t>
            </a:r>
          </a:p>
        </p:txBody>
      </p:sp>
      <p:cxnSp>
        <p:nvCxnSpPr>
          <p:cNvPr id="3" name="直線コネクタ 2">
            <a:extLst>
              <a:ext uri="{FF2B5EF4-FFF2-40B4-BE49-F238E27FC236}">
                <a16:creationId xmlns:a16="http://schemas.microsoft.com/office/drawing/2014/main" id="{970F9668-AF44-654E-6912-21C3F8CEEA14}"/>
              </a:ext>
            </a:extLst>
          </p:cNvPr>
          <p:cNvCxnSpPr>
            <a:cxnSpLocks/>
          </p:cNvCxnSpPr>
          <p:nvPr/>
        </p:nvCxnSpPr>
        <p:spPr>
          <a:xfrm>
            <a:off x="0" y="588468"/>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図 3">
            <a:extLst>
              <a:ext uri="{FF2B5EF4-FFF2-40B4-BE49-F238E27FC236}">
                <a16:creationId xmlns:a16="http://schemas.microsoft.com/office/drawing/2014/main" id="{DDD0EC5F-C749-0E3F-42EE-8EBF0F9C1A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480" y="44624"/>
            <a:ext cx="1666875" cy="476250"/>
          </a:xfrm>
          <a:prstGeom prst="rect">
            <a:avLst/>
          </a:prstGeom>
        </p:spPr>
      </p:pic>
      <p:sp>
        <p:nvSpPr>
          <p:cNvPr id="5" name="テキスト ボックス 4">
            <a:extLst>
              <a:ext uri="{FF2B5EF4-FFF2-40B4-BE49-F238E27FC236}">
                <a16:creationId xmlns:a16="http://schemas.microsoft.com/office/drawing/2014/main" id="{CDF5EACE-B623-F265-D05C-239392553D04}"/>
              </a:ext>
            </a:extLst>
          </p:cNvPr>
          <p:cNvSpPr txBox="1"/>
          <p:nvPr/>
        </p:nvSpPr>
        <p:spPr>
          <a:xfrm>
            <a:off x="216267" y="1212798"/>
            <a:ext cx="12935145" cy="5170646"/>
          </a:xfrm>
          <a:prstGeom prst="rect">
            <a:avLst/>
          </a:prstGeom>
          <a:noFill/>
        </p:spPr>
        <p:txBody>
          <a:bodyPr wrap="square" rtlCol="0">
            <a:spAutoFit/>
          </a:bodyPr>
          <a:lstStyle/>
          <a:p>
            <a:pPr>
              <a:defRPr sz="2000" b="0"/>
            </a:pPr>
            <a:r>
              <a:rPr sz="2200" b="1">
                <a:latin typeface="+mj-ea"/>
                <a:ea typeface="+mj-ea"/>
              </a:rPr>
              <a:t>● </a:t>
            </a:r>
            <a:r>
              <a:rPr sz="2200" b="1" err="1">
                <a:latin typeface="+mj-ea"/>
                <a:ea typeface="+mj-ea"/>
              </a:rPr>
              <a:t>系統電圧制御</a:t>
            </a:r>
            <a:r>
              <a:rPr sz="2200" b="1">
                <a:latin typeface="+mj-ea"/>
                <a:ea typeface="+mj-ea"/>
              </a:rPr>
              <a:t>(</a:t>
            </a:r>
            <a:r>
              <a:rPr sz="2200" b="1" err="1">
                <a:latin typeface="+mj-ea"/>
                <a:ea typeface="+mj-ea"/>
              </a:rPr>
              <a:t>V制御</a:t>
            </a:r>
            <a:r>
              <a:rPr sz="2200" b="1">
                <a:latin typeface="+mj-ea"/>
                <a:ea typeface="+mj-ea"/>
              </a:rPr>
              <a:t>)</a:t>
            </a:r>
            <a:r>
              <a:rPr sz="2200" b="1" err="1">
                <a:latin typeface="+mj-ea"/>
                <a:ea typeface="+mj-ea"/>
              </a:rPr>
              <a:t>と無効電力制御</a:t>
            </a:r>
            <a:r>
              <a:rPr sz="2200" b="1">
                <a:latin typeface="+mj-ea"/>
                <a:ea typeface="+mj-ea"/>
              </a:rPr>
              <a:t>(</a:t>
            </a:r>
            <a:r>
              <a:rPr sz="2200" b="1" err="1">
                <a:latin typeface="+mj-ea"/>
                <a:ea typeface="+mj-ea"/>
              </a:rPr>
              <a:t>Q制御</a:t>
            </a:r>
            <a:r>
              <a:rPr sz="2200" b="1">
                <a:latin typeface="+mj-ea"/>
                <a:ea typeface="+mj-ea"/>
              </a:rPr>
              <a:t>)</a:t>
            </a:r>
            <a:r>
              <a:rPr sz="2200" b="1" err="1">
                <a:latin typeface="+mj-ea"/>
                <a:ea typeface="+mj-ea"/>
              </a:rPr>
              <a:t>を適用し</a:t>
            </a:r>
            <a:endParaRPr lang="en-US" sz="2200" b="1">
              <a:latin typeface="+mj-ea"/>
              <a:ea typeface="+mj-ea"/>
            </a:endParaRPr>
          </a:p>
          <a:p>
            <a:pPr>
              <a:defRPr sz="2000" b="0"/>
            </a:pPr>
            <a:r>
              <a:rPr lang="ja-JP" altLang="en-US" sz="2200" b="1">
                <a:latin typeface="+mj-ea"/>
                <a:ea typeface="+mj-ea"/>
              </a:rPr>
              <a:t>　負荷変動時のインバータ出力を比較</a:t>
            </a:r>
            <a:endParaRPr lang="en-US" sz="2200" b="1">
              <a:latin typeface="+mj-ea"/>
              <a:ea typeface="+mj-ea"/>
            </a:endParaRPr>
          </a:p>
          <a:p>
            <a:pPr>
              <a:defRPr sz="2000" b="0"/>
            </a:pPr>
            <a:r>
              <a:rPr lang="ja-JP" altLang="en-US" sz="2200" b="1">
                <a:latin typeface="+mj-ea"/>
                <a:ea typeface="+mj-ea"/>
              </a:rPr>
              <a:t>➡</a:t>
            </a:r>
            <a:r>
              <a:rPr sz="2200" b="1" err="1">
                <a:latin typeface="+mj-ea"/>
                <a:ea typeface="+mj-ea"/>
              </a:rPr>
              <a:t>長距離送電線における運転可能範囲を定量的に示した</a:t>
            </a:r>
            <a:endParaRPr lang="en-US" sz="2200" b="1">
              <a:latin typeface="+mj-ea"/>
              <a:ea typeface="+mj-ea"/>
            </a:endParaRPr>
          </a:p>
          <a:p>
            <a:pPr>
              <a:defRPr sz="2000" b="0"/>
            </a:pPr>
            <a:endParaRPr lang="en-US" altLang="ja-JP" sz="2200" b="1">
              <a:latin typeface="+mj-ea"/>
              <a:ea typeface="+mj-ea"/>
            </a:endParaRPr>
          </a:p>
          <a:p>
            <a:pPr>
              <a:defRPr sz="2000" b="0"/>
            </a:pPr>
            <a:r>
              <a:rPr sz="2200" b="1">
                <a:latin typeface="+mj-ea"/>
                <a:ea typeface="+mj-ea"/>
              </a:rPr>
              <a:t>● </a:t>
            </a:r>
            <a:r>
              <a:rPr sz="2200" b="1" err="1">
                <a:latin typeface="+mj-ea"/>
                <a:ea typeface="+mj-ea"/>
              </a:rPr>
              <a:t>各制御方式の理論式を導出し、シミュレーション結果と比較した結果</a:t>
            </a:r>
            <a:r>
              <a:rPr sz="2200" b="1">
                <a:latin typeface="+mj-ea"/>
                <a:ea typeface="+mj-ea"/>
              </a:rPr>
              <a:t>、</a:t>
            </a:r>
            <a:endParaRPr lang="en-US" sz="2200" b="1">
              <a:latin typeface="+mj-ea"/>
              <a:ea typeface="+mj-ea"/>
            </a:endParaRPr>
          </a:p>
          <a:p>
            <a:pPr>
              <a:defRPr sz="2000" b="0"/>
            </a:pPr>
            <a:r>
              <a:rPr sz="2200" b="1" err="1">
                <a:latin typeface="+mj-ea"/>
                <a:ea typeface="+mj-ea"/>
              </a:rPr>
              <a:t>V制御では理論値と高い一致性</a:t>
            </a:r>
            <a:endParaRPr lang="en-US" sz="2200" b="1">
              <a:latin typeface="+mj-ea"/>
              <a:ea typeface="+mj-ea"/>
            </a:endParaRPr>
          </a:p>
          <a:p>
            <a:pPr>
              <a:defRPr sz="2000" b="0"/>
            </a:pPr>
            <a:r>
              <a:rPr sz="2200" b="1" err="1">
                <a:latin typeface="+mj-ea"/>
                <a:ea typeface="+mj-ea"/>
              </a:rPr>
              <a:t>Q制御では誤差が大きく</a:t>
            </a:r>
            <a:r>
              <a:rPr lang="ja-JP" altLang="en-US" sz="2200" b="1">
                <a:latin typeface="+mj-ea"/>
                <a:ea typeface="+mj-ea"/>
              </a:rPr>
              <a:t>一致性がないうえ、</a:t>
            </a:r>
            <a:r>
              <a:rPr sz="2200" b="1" err="1">
                <a:latin typeface="+mj-ea"/>
                <a:ea typeface="+mj-ea"/>
              </a:rPr>
              <a:t>電圧の乱れを招く可能性があることを確認</a:t>
            </a:r>
            <a:endParaRPr lang="en-US" sz="2200" b="1">
              <a:latin typeface="+mj-ea"/>
              <a:ea typeface="+mj-ea"/>
            </a:endParaRPr>
          </a:p>
          <a:p>
            <a:pPr>
              <a:defRPr sz="2000" b="0"/>
            </a:pPr>
            <a:endParaRPr lang="en-US" sz="2200" b="1">
              <a:latin typeface="+mj-ea"/>
              <a:ea typeface="+mj-ea"/>
            </a:endParaRPr>
          </a:p>
          <a:p>
            <a:pPr>
              <a:defRPr sz="2000" b="0"/>
            </a:pPr>
            <a:endParaRPr lang="en-US" sz="2200" b="1">
              <a:latin typeface="+mj-ea"/>
              <a:ea typeface="+mj-ea"/>
            </a:endParaRPr>
          </a:p>
          <a:p>
            <a:pPr>
              <a:defRPr sz="2000" b="0"/>
            </a:pPr>
            <a:endParaRPr lang="en-US" sz="2200" b="1">
              <a:latin typeface="+mj-ea"/>
              <a:ea typeface="+mj-ea"/>
            </a:endParaRPr>
          </a:p>
          <a:p>
            <a:pPr>
              <a:defRPr sz="2000" b="0"/>
            </a:pPr>
            <a:endParaRPr lang="en-US" sz="2200" b="1">
              <a:latin typeface="+mj-ea"/>
              <a:ea typeface="+mj-ea"/>
            </a:endParaRPr>
          </a:p>
          <a:p>
            <a:pPr>
              <a:defRPr sz="2000" b="0"/>
            </a:pPr>
            <a:endParaRPr lang="en-US" sz="2200" b="1">
              <a:latin typeface="+mj-ea"/>
              <a:ea typeface="+mj-ea"/>
            </a:endParaRPr>
          </a:p>
          <a:p>
            <a:pPr>
              <a:defRPr sz="2000" b="0"/>
            </a:pPr>
            <a:endParaRPr sz="2200" b="1">
              <a:latin typeface="+mj-ea"/>
              <a:ea typeface="+mj-ea"/>
            </a:endParaRPr>
          </a:p>
          <a:p>
            <a:pPr>
              <a:defRPr sz="2000" b="0"/>
            </a:pPr>
            <a:r>
              <a:rPr sz="2200" b="1">
                <a:latin typeface="+mj-ea"/>
                <a:ea typeface="+mj-ea"/>
              </a:rPr>
              <a:t>● </a:t>
            </a:r>
            <a:r>
              <a:rPr sz="2200" b="1" err="1">
                <a:latin typeface="+mj-ea"/>
                <a:ea typeface="+mj-ea"/>
              </a:rPr>
              <a:t>今後は</a:t>
            </a:r>
            <a:r>
              <a:rPr lang="ja-JP" altLang="en-US" sz="2200" b="1">
                <a:latin typeface="+mj-ea"/>
                <a:ea typeface="+mj-ea"/>
              </a:rPr>
              <a:t>機械学習を用いた制御ゲインの調整手法を検討し</a:t>
            </a:r>
            <a:endParaRPr lang="en-US" altLang="ja-JP" sz="2200" b="1">
              <a:latin typeface="+mj-ea"/>
              <a:ea typeface="+mj-ea"/>
            </a:endParaRPr>
          </a:p>
          <a:p>
            <a:pPr>
              <a:defRPr sz="2000" b="0"/>
            </a:pPr>
            <a:r>
              <a:rPr lang="ja-JP" altLang="en-US" sz="2200" b="1">
                <a:latin typeface="+mj-ea"/>
                <a:ea typeface="+mj-ea"/>
              </a:rPr>
              <a:t>　　</a:t>
            </a:r>
            <a:r>
              <a:rPr lang="en-US" altLang="ja-JP" sz="2200" b="1" err="1">
                <a:latin typeface="+mj-ea"/>
                <a:ea typeface="+mj-ea"/>
              </a:rPr>
              <a:t>GFM</a:t>
            </a:r>
            <a:r>
              <a:rPr sz="2200" b="1" err="1">
                <a:latin typeface="+mj-ea"/>
                <a:ea typeface="+mj-ea"/>
              </a:rPr>
              <a:t>制御方式の安定性と実用性を高める予定</a:t>
            </a:r>
            <a:endParaRPr sz="2200" b="1">
              <a:latin typeface="+mj-ea"/>
              <a:ea typeface="+mj-ea"/>
            </a:endParaRPr>
          </a:p>
        </p:txBody>
      </p:sp>
      <p:graphicFrame>
        <p:nvGraphicFramePr>
          <p:cNvPr id="6" name="表 5">
            <a:extLst>
              <a:ext uri="{FF2B5EF4-FFF2-40B4-BE49-F238E27FC236}">
                <a16:creationId xmlns:a16="http://schemas.microsoft.com/office/drawing/2014/main" id="{1D886641-CD2D-54AD-6A50-BBE0C2D48018}"/>
              </a:ext>
            </a:extLst>
          </p:cNvPr>
          <p:cNvGraphicFramePr>
            <a:graphicFrameLocks noGrp="1"/>
          </p:cNvGraphicFramePr>
          <p:nvPr>
            <p:extLst>
              <p:ext uri="{D42A27DB-BD31-4B8C-83A1-F6EECF244321}">
                <p14:modId xmlns:p14="http://schemas.microsoft.com/office/powerpoint/2010/main" val="4182762924"/>
              </p:ext>
            </p:extLst>
          </p:nvPr>
        </p:nvGraphicFramePr>
        <p:xfrm>
          <a:off x="2104785" y="3966857"/>
          <a:ext cx="9158107" cy="1120140"/>
        </p:xfrm>
        <a:graphic>
          <a:graphicData uri="http://schemas.openxmlformats.org/drawingml/2006/table">
            <a:tbl>
              <a:tblPr/>
              <a:tblGrid>
                <a:gridCol w="1457597">
                  <a:extLst>
                    <a:ext uri="{9D8B030D-6E8A-4147-A177-3AD203B41FA5}">
                      <a16:colId xmlns:a16="http://schemas.microsoft.com/office/drawing/2014/main" val="4002392622"/>
                    </a:ext>
                  </a:extLst>
                </a:gridCol>
                <a:gridCol w="2392658">
                  <a:extLst>
                    <a:ext uri="{9D8B030D-6E8A-4147-A177-3AD203B41FA5}">
                      <a16:colId xmlns:a16="http://schemas.microsoft.com/office/drawing/2014/main" val="1431849640"/>
                    </a:ext>
                  </a:extLst>
                </a:gridCol>
                <a:gridCol w="2392658">
                  <a:extLst>
                    <a:ext uri="{9D8B030D-6E8A-4147-A177-3AD203B41FA5}">
                      <a16:colId xmlns:a16="http://schemas.microsoft.com/office/drawing/2014/main" val="308315920"/>
                    </a:ext>
                  </a:extLst>
                </a:gridCol>
                <a:gridCol w="1457597">
                  <a:extLst>
                    <a:ext uri="{9D8B030D-6E8A-4147-A177-3AD203B41FA5}">
                      <a16:colId xmlns:a16="http://schemas.microsoft.com/office/drawing/2014/main" val="851936713"/>
                    </a:ext>
                  </a:extLst>
                </a:gridCol>
                <a:gridCol w="1457597">
                  <a:extLst>
                    <a:ext uri="{9D8B030D-6E8A-4147-A177-3AD203B41FA5}">
                      <a16:colId xmlns:a16="http://schemas.microsoft.com/office/drawing/2014/main" val="3889473604"/>
                    </a:ext>
                  </a:extLst>
                </a:gridCol>
              </a:tblGrid>
              <a:tr h="350205">
                <a:tc>
                  <a:txBody>
                    <a:bodyPr/>
                    <a:lstStyle/>
                    <a:p>
                      <a:pPr algn="ctr" fontAlgn="ctr">
                        <a:buNone/>
                      </a:pP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高</a:t>
                      </a:r>
                      <a:r>
                        <a:rPr lang="en-US" sz="2400" b="1" i="0" u="none" strike="noStrike">
                          <a:solidFill>
                            <a:srgbClr val="000000"/>
                          </a:solidFill>
                          <a:effectLst/>
                          <a:latin typeface="メイリオ" panose="020B0604030504040204" pitchFamily="50" charset="-128"/>
                          <a:ea typeface="メイリオ" panose="020B0604030504040204" pitchFamily="50" charset="-128"/>
                        </a:rPr>
                        <a:t>SCR(</a:t>
                      </a: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短距離</a:t>
                      </a:r>
                      <a:r>
                        <a:rPr lang="en-US" altLang="zh-CN" sz="2400" b="1" i="0" u="none" strike="noStrike">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低</a:t>
                      </a:r>
                      <a:r>
                        <a:rPr lang="en-US" sz="2400" b="1" i="0" u="none" strike="noStrike">
                          <a:solidFill>
                            <a:srgbClr val="000000"/>
                          </a:solidFill>
                          <a:effectLst/>
                          <a:latin typeface="メイリオ" panose="020B0604030504040204" pitchFamily="50" charset="-128"/>
                          <a:ea typeface="メイリオ" panose="020B0604030504040204" pitchFamily="50" charset="-128"/>
                        </a:rPr>
                        <a:t>SCR(</a:t>
                      </a: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長距離</a:t>
                      </a:r>
                      <a:r>
                        <a:rPr lang="en-US" altLang="zh-CN" sz="2400" b="1" i="0" u="none" strike="noStrike">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zh-CN" altLang="en-US" sz="2400" b="1" i="0" u="none" strike="noStrike">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a:noFill/>
                    </a:lnL>
                    <a:lnR>
                      <a:noFill/>
                    </a:lnR>
                    <a:lnT>
                      <a:noFill/>
                    </a:lnT>
                    <a:lnB>
                      <a:noFill/>
                    </a:lnB>
                    <a:noFill/>
                  </a:tcPr>
                </a:tc>
                <a:tc>
                  <a:txBody>
                    <a:bodyPr/>
                    <a:lstStyle/>
                    <a:p>
                      <a:pPr algn="ctr" fontAlgn="ctr">
                        <a:buNone/>
                      </a:pP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出力推定</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0263032"/>
                  </a:ext>
                </a:extLst>
              </a:tr>
              <a:tr h="350205">
                <a:tc>
                  <a:txBody>
                    <a:bodyPr/>
                    <a:lstStyle/>
                    <a:p>
                      <a:pPr algn="ctr" fontAlgn="ctr">
                        <a:buNone/>
                      </a:pPr>
                      <a:r>
                        <a:rPr lang="en-US" sz="2400" b="1" i="0" u="none" strike="noStrike">
                          <a:solidFill>
                            <a:srgbClr val="000000"/>
                          </a:solidFill>
                          <a:effectLst/>
                          <a:latin typeface="メイリオ" panose="020B0604030504040204" pitchFamily="50" charset="-128"/>
                          <a:ea typeface="メイリオ" panose="020B0604030504040204" pitchFamily="50" charset="-128"/>
                        </a:rPr>
                        <a:t>V</a:t>
                      </a: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制御</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2400" b="1" i="0" u="none" strike="noStrike">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zh-CN" altLang="en-US" sz="2400" b="1" i="0" u="none" strike="noStrike">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a:noFill/>
                    </a:lnL>
                    <a:lnR>
                      <a:noFill/>
                    </a:lnR>
                    <a:lnT>
                      <a:noFill/>
                    </a:lnT>
                    <a:lnB>
                      <a:noFill/>
                    </a:lnB>
                    <a:noFill/>
                  </a:tcPr>
                </a:tc>
                <a:tc>
                  <a:txBody>
                    <a:bodyPr/>
                    <a:lstStyle/>
                    <a:p>
                      <a:pPr algn="ctr" fontAlgn="ctr">
                        <a:buNone/>
                      </a:pP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3305654"/>
                  </a:ext>
                </a:extLst>
              </a:tr>
              <a:tr h="350205">
                <a:tc>
                  <a:txBody>
                    <a:bodyPr/>
                    <a:lstStyle/>
                    <a:p>
                      <a:pPr algn="ctr" fontAlgn="ctr">
                        <a:buNone/>
                      </a:pPr>
                      <a:r>
                        <a:rPr lang="en-US" sz="2400" b="1" i="0" u="none" strike="noStrike">
                          <a:solidFill>
                            <a:srgbClr val="000000"/>
                          </a:solidFill>
                          <a:effectLst/>
                          <a:latin typeface="メイリオ" panose="020B0604030504040204" pitchFamily="50" charset="-128"/>
                          <a:ea typeface="メイリオ" panose="020B0604030504040204" pitchFamily="50" charset="-128"/>
                        </a:rPr>
                        <a:t>Q</a:t>
                      </a: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制御</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2400" b="1" i="0" u="none" strike="noStrike">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zh-CN" altLang="en-US" sz="2400" b="1" i="0" u="none" strike="noStrike">
                        <a:solidFill>
                          <a:srgbClr val="000000"/>
                        </a:solidFill>
                        <a:effectLst/>
                        <a:latin typeface="メイリオ" panose="020B0604030504040204" pitchFamily="50" charset="-128"/>
                        <a:ea typeface="メイリオ" panose="020B0604030504040204" pitchFamily="50" charset="-128"/>
                      </a:endParaRPr>
                    </a:p>
                  </a:txBody>
                  <a:tcPr marL="7620" marR="7620" marT="7620" marB="0" anchor="ctr">
                    <a:lnL>
                      <a:noFill/>
                    </a:lnL>
                    <a:lnR>
                      <a:noFill/>
                    </a:lnR>
                    <a:lnT>
                      <a:noFill/>
                    </a:lnT>
                    <a:lnB>
                      <a:noFill/>
                    </a:lnB>
                    <a:noFill/>
                  </a:tcPr>
                </a:tc>
                <a:tc>
                  <a:txBody>
                    <a:bodyPr/>
                    <a:lstStyle/>
                    <a:p>
                      <a:pPr algn="ctr" fontAlgn="ctr">
                        <a:buNone/>
                      </a:pPr>
                      <a:r>
                        <a:rPr lang="en-US" altLang="zh-CN" sz="2400" b="1" i="0" u="none" strike="noStrike">
                          <a:solidFill>
                            <a:srgbClr val="000000"/>
                          </a:solidFill>
                          <a:effectLst/>
                          <a:latin typeface="メイリオ" panose="020B0604030504040204" pitchFamily="50" charset="-128"/>
                          <a:ea typeface="メイリオ" panose="020B0604030504040204" pitchFamily="50" charset="-128"/>
                        </a:rPr>
                        <a:t>×</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3586136"/>
                  </a:ext>
                </a:extLst>
              </a:tr>
            </a:tbl>
          </a:graphicData>
        </a:graphic>
      </p:graphicFrame>
    </p:spTree>
    <p:extLst>
      <p:ext uri="{BB962C8B-B14F-4D97-AF65-F5344CB8AC3E}">
        <p14:creationId xmlns:p14="http://schemas.microsoft.com/office/powerpoint/2010/main" val="3842844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4E885E-DD4F-60CC-BE8E-A70B38E823F3}"/>
              </a:ext>
            </a:extLst>
          </p:cNvPr>
          <p:cNvSpPr>
            <a:spLocks noGrp="1"/>
          </p:cNvSpPr>
          <p:nvPr>
            <p:ph type="title"/>
          </p:nvPr>
        </p:nvSpPr>
        <p:spPr>
          <a:xfrm>
            <a:off x="486343" y="111713"/>
            <a:ext cx="10515600" cy="490904"/>
          </a:xfrm>
        </p:spPr>
        <p:txBody>
          <a:bodyPr/>
          <a:lstStyle/>
          <a:p>
            <a:r>
              <a:rPr lang="ja-JP" altLang="en-US"/>
              <a:t>予備</a:t>
            </a:r>
            <a:r>
              <a:rPr lang="en-US" altLang="ja-JP"/>
              <a:t>~V</a:t>
            </a:r>
            <a:r>
              <a:rPr lang="ja-JP" altLang="en-US"/>
              <a:t>制御</a:t>
            </a:r>
            <a:r>
              <a:rPr lang="en-US" altLang="ja-JP"/>
              <a:t>3</a:t>
            </a:r>
            <a:r>
              <a:rPr lang="ja-JP" altLang="en-US"/>
              <a:t>次元グラフ集</a:t>
            </a:r>
            <a:r>
              <a:rPr lang="en-US" altLang="ja-JP"/>
              <a:t>~</a:t>
            </a:r>
            <a:endParaRPr lang="zh-CN" altLang="en-US"/>
          </a:p>
        </p:txBody>
      </p:sp>
      <p:pic>
        <p:nvPicPr>
          <p:cNvPr id="3" name="図 2">
            <a:extLst>
              <a:ext uri="{FF2B5EF4-FFF2-40B4-BE49-F238E27FC236}">
                <a16:creationId xmlns:a16="http://schemas.microsoft.com/office/drawing/2014/main" id="{F0F747EB-3F1F-85FB-34BF-A6B71C83F7CA}"/>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173454" y="939501"/>
            <a:ext cx="4160942" cy="3328753"/>
          </a:xfrm>
          <a:prstGeom prst="rect">
            <a:avLst/>
          </a:prstGeom>
          <a:ln>
            <a:noFill/>
          </a:ln>
        </p:spPr>
      </p:pic>
      <p:sp>
        <p:nvSpPr>
          <p:cNvPr id="7" name="テキスト ボックス 6">
            <a:extLst>
              <a:ext uri="{FF2B5EF4-FFF2-40B4-BE49-F238E27FC236}">
                <a16:creationId xmlns:a16="http://schemas.microsoft.com/office/drawing/2014/main" id="{67E30F8D-C2C7-9AE3-4F9C-3ACAE4C9FFEB}"/>
              </a:ext>
            </a:extLst>
          </p:cNvPr>
          <p:cNvSpPr txBox="1"/>
          <p:nvPr/>
        </p:nvSpPr>
        <p:spPr>
          <a:xfrm rot="1161380">
            <a:off x="883003" y="3782901"/>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9" name="テキスト ボックス 8">
            <a:extLst>
              <a:ext uri="{FF2B5EF4-FFF2-40B4-BE49-F238E27FC236}">
                <a16:creationId xmlns:a16="http://schemas.microsoft.com/office/drawing/2014/main" id="{E989BF3C-1A02-4B69-973D-FC3A3333EDCD}"/>
              </a:ext>
            </a:extLst>
          </p:cNvPr>
          <p:cNvSpPr txBox="1"/>
          <p:nvPr/>
        </p:nvSpPr>
        <p:spPr>
          <a:xfrm>
            <a:off x="842029" y="4170533"/>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a:t>
            </a:r>
            <a:r>
              <a:rPr lang="en-US" altLang="ja-JP" b="1">
                <a:solidFill>
                  <a:prstClr val="black"/>
                </a:solidFill>
                <a:latin typeface="Arial"/>
                <a:ea typeface="メイリオ"/>
              </a:rPr>
              <a:t>5</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:422</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:19</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pic>
        <p:nvPicPr>
          <p:cNvPr id="17" name="図 16">
            <a:extLst>
              <a:ext uri="{FF2B5EF4-FFF2-40B4-BE49-F238E27FC236}">
                <a16:creationId xmlns:a16="http://schemas.microsoft.com/office/drawing/2014/main" id="{2C14CDF0-353C-F7E0-2409-3E88EA407B1C}"/>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3820857" y="1013140"/>
            <a:ext cx="4160941" cy="3328753"/>
          </a:xfrm>
          <a:prstGeom prst="rect">
            <a:avLst/>
          </a:prstGeom>
          <a:ln>
            <a:noFill/>
          </a:ln>
        </p:spPr>
      </p:pic>
      <p:sp>
        <p:nvSpPr>
          <p:cNvPr id="21" name="テキスト ボックス 20">
            <a:extLst>
              <a:ext uri="{FF2B5EF4-FFF2-40B4-BE49-F238E27FC236}">
                <a16:creationId xmlns:a16="http://schemas.microsoft.com/office/drawing/2014/main" id="{970CD6DC-5C28-5B82-3105-0B72C090841F}"/>
              </a:ext>
            </a:extLst>
          </p:cNvPr>
          <p:cNvSpPr txBox="1"/>
          <p:nvPr/>
        </p:nvSpPr>
        <p:spPr>
          <a:xfrm rot="1161380">
            <a:off x="4530406" y="3856540"/>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2" name="テキスト ボックス 21">
            <a:extLst>
              <a:ext uri="{FF2B5EF4-FFF2-40B4-BE49-F238E27FC236}">
                <a16:creationId xmlns:a16="http://schemas.microsoft.com/office/drawing/2014/main" id="{180F8AE3-6544-0E70-3976-76345FE3645E}"/>
              </a:ext>
            </a:extLst>
          </p:cNvPr>
          <p:cNvSpPr txBox="1"/>
          <p:nvPr/>
        </p:nvSpPr>
        <p:spPr>
          <a:xfrm rot="18600000">
            <a:off x="6414307" y="3566798"/>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3" name="テキスト ボックス 22">
            <a:extLst>
              <a:ext uri="{FF2B5EF4-FFF2-40B4-BE49-F238E27FC236}">
                <a16:creationId xmlns:a16="http://schemas.microsoft.com/office/drawing/2014/main" id="{D9A4F86B-C643-FA17-B976-917BE263638D}"/>
              </a:ext>
            </a:extLst>
          </p:cNvPr>
          <p:cNvSpPr txBox="1"/>
          <p:nvPr/>
        </p:nvSpPr>
        <p:spPr>
          <a:xfrm>
            <a:off x="4489432" y="4244172"/>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SCR=4.0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:421</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:20</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6" name="テキスト ボックス 5">
            <a:extLst>
              <a:ext uri="{FF2B5EF4-FFF2-40B4-BE49-F238E27FC236}">
                <a16:creationId xmlns:a16="http://schemas.microsoft.com/office/drawing/2014/main" id="{110FC79C-E057-F716-CFBC-EE786B60CDF7}"/>
              </a:ext>
            </a:extLst>
          </p:cNvPr>
          <p:cNvSpPr txBox="1"/>
          <p:nvPr/>
        </p:nvSpPr>
        <p:spPr>
          <a:xfrm rot="16200000">
            <a:off x="3488318" y="2276264"/>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8" name="テキスト ボックス 7">
            <a:extLst>
              <a:ext uri="{FF2B5EF4-FFF2-40B4-BE49-F238E27FC236}">
                <a16:creationId xmlns:a16="http://schemas.microsoft.com/office/drawing/2014/main" id="{E475FD99-83AF-FF7C-ECAC-5CF68AE49917}"/>
              </a:ext>
            </a:extLst>
          </p:cNvPr>
          <p:cNvSpPr txBox="1"/>
          <p:nvPr/>
        </p:nvSpPr>
        <p:spPr>
          <a:xfrm rot="18600000">
            <a:off x="2766904" y="3493159"/>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pic>
        <p:nvPicPr>
          <p:cNvPr id="24" name="図 23">
            <a:extLst>
              <a:ext uri="{FF2B5EF4-FFF2-40B4-BE49-F238E27FC236}">
                <a16:creationId xmlns:a16="http://schemas.microsoft.com/office/drawing/2014/main" id="{5B391199-B73F-6B75-FF71-89DD7DB65C0E}"/>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7544716" y="939501"/>
            <a:ext cx="4160941" cy="3328753"/>
          </a:xfrm>
          <a:prstGeom prst="rect">
            <a:avLst/>
          </a:prstGeom>
          <a:ln>
            <a:noFill/>
          </a:ln>
        </p:spPr>
      </p:pic>
      <p:sp>
        <p:nvSpPr>
          <p:cNvPr id="25" name="テキスト ボックス 24">
            <a:extLst>
              <a:ext uri="{FF2B5EF4-FFF2-40B4-BE49-F238E27FC236}">
                <a16:creationId xmlns:a16="http://schemas.microsoft.com/office/drawing/2014/main" id="{211D6446-52A3-E08F-3221-37C3ED59E85B}"/>
              </a:ext>
            </a:extLst>
          </p:cNvPr>
          <p:cNvSpPr txBox="1"/>
          <p:nvPr/>
        </p:nvSpPr>
        <p:spPr>
          <a:xfrm rot="1161380">
            <a:off x="8254265" y="3782901"/>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6" name="テキスト ボックス 25">
            <a:extLst>
              <a:ext uri="{FF2B5EF4-FFF2-40B4-BE49-F238E27FC236}">
                <a16:creationId xmlns:a16="http://schemas.microsoft.com/office/drawing/2014/main" id="{7BEBCD11-0A09-4DC6-8F3C-B2096663454A}"/>
              </a:ext>
            </a:extLst>
          </p:cNvPr>
          <p:cNvSpPr txBox="1"/>
          <p:nvPr/>
        </p:nvSpPr>
        <p:spPr>
          <a:xfrm>
            <a:off x="8213291" y="4170533"/>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SCR=3.0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:417</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:24</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27" name="テキスト ボックス 26">
            <a:extLst>
              <a:ext uri="{FF2B5EF4-FFF2-40B4-BE49-F238E27FC236}">
                <a16:creationId xmlns:a16="http://schemas.microsoft.com/office/drawing/2014/main" id="{33331B18-617B-98E4-F65C-02F327CB4163}"/>
              </a:ext>
            </a:extLst>
          </p:cNvPr>
          <p:cNvSpPr txBox="1"/>
          <p:nvPr/>
        </p:nvSpPr>
        <p:spPr>
          <a:xfrm rot="16200000">
            <a:off x="10859580" y="2276264"/>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8" name="テキスト ボックス 27">
            <a:extLst>
              <a:ext uri="{FF2B5EF4-FFF2-40B4-BE49-F238E27FC236}">
                <a16:creationId xmlns:a16="http://schemas.microsoft.com/office/drawing/2014/main" id="{CE3A7A68-FE4E-966D-8CAF-F39BDB433C39}"/>
              </a:ext>
            </a:extLst>
          </p:cNvPr>
          <p:cNvSpPr txBox="1"/>
          <p:nvPr/>
        </p:nvSpPr>
        <p:spPr>
          <a:xfrm rot="18600000">
            <a:off x="10138166" y="3493159"/>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0" name="テキスト ボックス 19">
            <a:extLst>
              <a:ext uri="{FF2B5EF4-FFF2-40B4-BE49-F238E27FC236}">
                <a16:creationId xmlns:a16="http://schemas.microsoft.com/office/drawing/2014/main" id="{005C9D9A-83CD-0008-BDBA-F48D8245F4EC}"/>
              </a:ext>
            </a:extLst>
          </p:cNvPr>
          <p:cNvSpPr txBox="1"/>
          <p:nvPr/>
        </p:nvSpPr>
        <p:spPr>
          <a:xfrm rot="16200000">
            <a:off x="7135721" y="2349903"/>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Tree>
    <p:extLst>
      <p:ext uri="{BB962C8B-B14F-4D97-AF65-F5344CB8AC3E}">
        <p14:creationId xmlns:p14="http://schemas.microsoft.com/office/powerpoint/2010/main" val="2365752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3F813EC-4B17-7E23-6C6B-58885D7AFA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01CE1E-FEAD-F137-5A38-3CBCA05E3038}"/>
              </a:ext>
            </a:extLst>
          </p:cNvPr>
          <p:cNvSpPr>
            <a:spLocks noGrp="1"/>
          </p:cNvSpPr>
          <p:nvPr>
            <p:ph type="title"/>
          </p:nvPr>
        </p:nvSpPr>
        <p:spPr>
          <a:xfrm>
            <a:off x="486343" y="111713"/>
            <a:ext cx="10515600" cy="490904"/>
          </a:xfrm>
        </p:spPr>
        <p:txBody>
          <a:bodyPr/>
          <a:lstStyle/>
          <a:p>
            <a:r>
              <a:rPr lang="ja-JP" altLang="en-US"/>
              <a:t>予備</a:t>
            </a:r>
            <a:r>
              <a:rPr lang="en-US" altLang="ja-JP"/>
              <a:t>~V</a:t>
            </a:r>
            <a:r>
              <a:rPr lang="ja-JP" altLang="en-US"/>
              <a:t>制御</a:t>
            </a:r>
            <a:r>
              <a:rPr lang="en-US" altLang="ja-JP"/>
              <a:t>3</a:t>
            </a:r>
            <a:r>
              <a:rPr lang="ja-JP" altLang="en-US"/>
              <a:t>次元グラフ集</a:t>
            </a:r>
            <a:r>
              <a:rPr lang="en-US" altLang="ja-JP"/>
              <a:t>~</a:t>
            </a:r>
            <a:endParaRPr lang="zh-CN" altLang="en-US"/>
          </a:p>
        </p:txBody>
      </p:sp>
      <p:pic>
        <p:nvPicPr>
          <p:cNvPr id="3" name="図 2">
            <a:extLst>
              <a:ext uri="{FF2B5EF4-FFF2-40B4-BE49-F238E27FC236}">
                <a16:creationId xmlns:a16="http://schemas.microsoft.com/office/drawing/2014/main" id="{87D3E2C0-0E06-2C7C-8A48-74304FD675AA}"/>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1935058" y="1192165"/>
            <a:ext cx="4160941" cy="3328753"/>
          </a:xfrm>
          <a:prstGeom prst="rect">
            <a:avLst/>
          </a:prstGeom>
          <a:ln>
            <a:noFill/>
          </a:ln>
        </p:spPr>
      </p:pic>
      <p:sp>
        <p:nvSpPr>
          <p:cNvPr id="7" name="テキスト ボックス 6">
            <a:extLst>
              <a:ext uri="{FF2B5EF4-FFF2-40B4-BE49-F238E27FC236}">
                <a16:creationId xmlns:a16="http://schemas.microsoft.com/office/drawing/2014/main" id="{DD254D36-9AB9-1B96-27C9-0CCC236BC77B}"/>
              </a:ext>
            </a:extLst>
          </p:cNvPr>
          <p:cNvSpPr txBox="1"/>
          <p:nvPr/>
        </p:nvSpPr>
        <p:spPr>
          <a:xfrm rot="1161380">
            <a:off x="2644607" y="4035565"/>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9" name="テキスト ボックス 8">
            <a:extLst>
              <a:ext uri="{FF2B5EF4-FFF2-40B4-BE49-F238E27FC236}">
                <a16:creationId xmlns:a16="http://schemas.microsoft.com/office/drawing/2014/main" id="{C71A4810-5EEF-7BD0-9CEE-8EEE4FAE5920}"/>
              </a:ext>
            </a:extLst>
          </p:cNvPr>
          <p:cNvSpPr txBox="1"/>
          <p:nvPr/>
        </p:nvSpPr>
        <p:spPr>
          <a:xfrm>
            <a:off x="2603633" y="4423197"/>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SCR=2.0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:401</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:40</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pic>
        <p:nvPicPr>
          <p:cNvPr id="17" name="図 16">
            <a:extLst>
              <a:ext uri="{FF2B5EF4-FFF2-40B4-BE49-F238E27FC236}">
                <a16:creationId xmlns:a16="http://schemas.microsoft.com/office/drawing/2014/main" id="{8007704E-086C-72BD-B251-B84A05B65D7E}"/>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5582461" y="1265804"/>
            <a:ext cx="4160941" cy="3328752"/>
          </a:xfrm>
          <a:prstGeom prst="rect">
            <a:avLst/>
          </a:prstGeom>
          <a:ln>
            <a:noFill/>
          </a:ln>
        </p:spPr>
      </p:pic>
      <p:sp>
        <p:nvSpPr>
          <p:cNvPr id="21" name="テキスト ボックス 20">
            <a:extLst>
              <a:ext uri="{FF2B5EF4-FFF2-40B4-BE49-F238E27FC236}">
                <a16:creationId xmlns:a16="http://schemas.microsoft.com/office/drawing/2014/main" id="{424BFC93-8DA4-4E42-7754-E9C3FD48DB39}"/>
              </a:ext>
            </a:extLst>
          </p:cNvPr>
          <p:cNvSpPr txBox="1"/>
          <p:nvPr/>
        </p:nvSpPr>
        <p:spPr>
          <a:xfrm rot="1161380">
            <a:off x="6292010" y="4109204"/>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2" name="テキスト ボックス 21">
            <a:extLst>
              <a:ext uri="{FF2B5EF4-FFF2-40B4-BE49-F238E27FC236}">
                <a16:creationId xmlns:a16="http://schemas.microsoft.com/office/drawing/2014/main" id="{4FFF2339-479B-A5B9-B0F2-4781CF5FC67D}"/>
              </a:ext>
            </a:extLst>
          </p:cNvPr>
          <p:cNvSpPr txBox="1"/>
          <p:nvPr/>
        </p:nvSpPr>
        <p:spPr>
          <a:xfrm rot="18600000">
            <a:off x="8175911" y="3819462"/>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3" name="テキスト ボックス 22">
            <a:extLst>
              <a:ext uri="{FF2B5EF4-FFF2-40B4-BE49-F238E27FC236}">
                <a16:creationId xmlns:a16="http://schemas.microsoft.com/office/drawing/2014/main" id="{380D4D19-8C06-8B49-710C-B5B74B85CE9F}"/>
              </a:ext>
            </a:extLst>
          </p:cNvPr>
          <p:cNvSpPr txBox="1"/>
          <p:nvPr/>
        </p:nvSpPr>
        <p:spPr>
          <a:xfrm>
            <a:off x="6251036" y="4496836"/>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SCR=1.0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a:t>
            </a:r>
            <a:r>
              <a:rPr lang="en-US" altLang="ja-JP" b="1">
                <a:solidFill>
                  <a:prstClr val="black"/>
                </a:solidFill>
                <a:latin typeface="Arial"/>
                <a:ea typeface="メイリオ"/>
              </a:rPr>
              <a:t>343</a:t>
            </a:r>
            <a:endParaRPr kumimoji="1" lang="en-US" altLang="ja-JP" sz="18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:98</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6" name="テキスト ボックス 5">
            <a:extLst>
              <a:ext uri="{FF2B5EF4-FFF2-40B4-BE49-F238E27FC236}">
                <a16:creationId xmlns:a16="http://schemas.microsoft.com/office/drawing/2014/main" id="{1CD9A7A7-258C-0FB8-9DFE-9325160721FE}"/>
              </a:ext>
            </a:extLst>
          </p:cNvPr>
          <p:cNvSpPr txBox="1"/>
          <p:nvPr/>
        </p:nvSpPr>
        <p:spPr>
          <a:xfrm rot="16200000">
            <a:off x="5249922" y="2528928"/>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8" name="テキスト ボックス 7">
            <a:extLst>
              <a:ext uri="{FF2B5EF4-FFF2-40B4-BE49-F238E27FC236}">
                <a16:creationId xmlns:a16="http://schemas.microsoft.com/office/drawing/2014/main" id="{E43D7CED-94DE-22E1-71C0-E0172FB9C49C}"/>
              </a:ext>
            </a:extLst>
          </p:cNvPr>
          <p:cNvSpPr txBox="1"/>
          <p:nvPr/>
        </p:nvSpPr>
        <p:spPr>
          <a:xfrm rot="18600000">
            <a:off x="4528508" y="3745823"/>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0" name="テキスト ボックス 19">
            <a:extLst>
              <a:ext uri="{FF2B5EF4-FFF2-40B4-BE49-F238E27FC236}">
                <a16:creationId xmlns:a16="http://schemas.microsoft.com/office/drawing/2014/main" id="{3AFC439A-A8C6-57FA-7D15-190651D8F2C7}"/>
              </a:ext>
            </a:extLst>
          </p:cNvPr>
          <p:cNvSpPr txBox="1"/>
          <p:nvPr/>
        </p:nvSpPr>
        <p:spPr>
          <a:xfrm rot="16200000">
            <a:off x="8897325" y="2602567"/>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Tree>
    <p:extLst>
      <p:ext uri="{BB962C8B-B14F-4D97-AF65-F5344CB8AC3E}">
        <p14:creationId xmlns:p14="http://schemas.microsoft.com/office/powerpoint/2010/main" val="3635804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2CDC8-A329-7B59-E3C2-97373C1AFCAE}"/>
              </a:ext>
            </a:extLst>
          </p:cNvPr>
          <p:cNvSpPr>
            <a:spLocks noGrp="1"/>
          </p:cNvSpPr>
          <p:nvPr>
            <p:ph type="title"/>
          </p:nvPr>
        </p:nvSpPr>
        <p:spPr>
          <a:xfrm>
            <a:off x="486343" y="111713"/>
            <a:ext cx="10515600" cy="490904"/>
          </a:xfrm>
        </p:spPr>
        <p:txBody>
          <a:bodyPr/>
          <a:lstStyle/>
          <a:p>
            <a:r>
              <a:rPr lang="ja-JP" altLang="en-US"/>
              <a:t>予備</a:t>
            </a:r>
            <a:r>
              <a:rPr lang="en-US" altLang="ja-JP"/>
              <a:t>~Q</a:t>
            </a:r>
            <a:r>
              <a:rPr lang="ja-JP" altLang="en-US"/>
              <a:t>制御</a:t>
            </a:r>
            <a:r>
              <a:rPr lang="en-US" altLang="ja-JP"/>
              <a:t>3</a:t>
            </a:r>
            <a:r>
              <a:rPr lang="ja-JP" altLang="en-US"/>
              <a:t>次元グラフ集</a:t>
            </a:r>
            <a:r>
              <a:rPr lang="en-US" altLang="ja-JP"/>
              <a:t>~</a:t>
            </a:r>
            <a:endParaRPr lang="zh-CN" altLang="en-US"/>
          </a:p>
        </p:txBody>
      </p:sp>
      <p:pic>
        <p:nvPicPr>
          <p:cNvPr id="3" name="図 2">
            <a:extLst>
              <a:ext uri="{FF2B5EF4-FFF2-40B4-BE49-F238E27FC236}">
                <a16:creationId xmlns:a16="http://schemas.microsoft.com/office/drawing/2014/main" id="{8C50561C-DEC7-BF00-77B1-1C4E326F19ED}"/>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173454" y="939501"/>
            <a:ext cx="4160941" cy="3328753"/>
          </a:xfrm>
          <a:prstGeom prst="rect">
            <a:avLst/>
          </a:prstGeom>
          <a:ln>
            <a:noFill/>
          </a:ln>
        </p:spPr>
      </p:pic>
      <p:sp>
        <p:nvSpPr>
          <p:cNvPr id="4" name="テキスト ボックス 3">
            <a:extLst>
              <a:ext uri="{FF2B5EF4-FFF2-40B4-BE49-F238E27FC236}">
                <a16:creationId xmlns:a16="http://schemas.microsoft.com/office/drawing/2014/main" id="{13733F5A-9E3C-5283-98E3-1D458EDA7DAF}"/>
              </a:ext>
            </a:extLst>
          </p:cNvPr>
          <p:cNvSpPr txBox="1"/>
          <p:nvPr/>
        </p:nvSpPr>
        <p:spPr>
          <a:xfrm rot="1161380">
            <a:off x="883003" y="3782901"/>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5" name="テキスト ボックス 4">
            <a:extLst>
              <a:ext uri="{FF2B5EF4-FFF2-40B4-BE49-F238E27FC236}">
                <a16:creationId xmlns:a16="http://schemas.microsoft.com/office/drawing/2014/main" id="{8DCDDFF6-132D-3B4B-4A00-2E9342479E95}"/>
              </a:ext>
            </a:extLst>
          </p:cNvPr>
          <p:cNvSpPr txBox="1"/>
          <p:nvPr/>
        </p:nvSpPr>
        <p:spPr>
          <a:xfrm>
            <a:off x="842029" y="4170533"/>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a:t>
            </a:r>
            <a:r>
              <a:rPr lang="en-US" altLang="ja-JP" b="1">
                <a:solidFill>
                  <a:prstClr val="black"/>
                </a:solidFill>
                <a:latin typeface="Arial"/>
                <a:ea typeface="メイリオ"/>
              </a:rPr>
              <a:t>5</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:429</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:12</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pic>
        <p:nvPicPr>
          <p:cNvPr id="6" name="図 5">
            <a:extLst>
              <a:ext uri="{FF2B5EF4-FFF2-40B4-BE49-F238E27FC236}">
                <a16:creationId xmlns:a16="http://schemas.microsoft.com/office/drawing/2014/main" id="{F6B33CF7-80C7-30BC-D5B0-62886EAA5F1E}"/>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3820857" y="1013140"/>
            <a:ext cx="4160941" cy="3328752"/>
          </a:xfrm>
          <a:prstGeom prst="rect">
            <a:avLst/>
          </a:prstGeom>
          <a:ln>
            <a:noFill/>
          </a:ln>
        </p:spPr>
      </p:pic>
      <p:sp>
        <p:nvSpPr>
          <p:cNvPr id="7" name="テキスト ボックス 6">
            <a:extLst>
              <a:ext uri="{FF2B5EF4-FFF2-40B4-BE49-F238E27FC236}">
                <a16:creationId xmlns:a16="http://schemas.microsoft.com/office/drawing/2014/main" id="{267D860F-9346-202A-0F31-C7B9D20C04C3}"/>
              </a:ext>
            </a:extLst>
          </p:cNvPr>
          <p:cNvSpPr txBox="1"/>
          <p:nvPr/>
        </p:nvSpPr>
        <p:spPr>
          <a:xfrm rot="1161380">
            <a:off x="4530406" y="3856540"/>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8" name="テキスト ボックス 7">
            <a:extLst>
              <a:ext uri="{FF2B5EF4-FFF2-40B4-BE49-F238E27FC236}">
                <a16:creationId xmlns:a16="http://schemas.microsoft.com/office/drawing/2014/main" id="{32934719-C4BB-1365-CE59-567523A34D2F}"/>
              </a:ext>
            </a:extLst>
          </p:cNvPr>
          <p:cNvSpPr txBox="1"/>
          <p:nvPr/>
        </p:nvSpPr>
        <p:spPr>
          <a:xfrm rot="18600000">
            <a:off x="6414307" y="3566798"/>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9" name="テキスト ボックス 8">
            <a:extLst>
              <a:ext uri="{FF2B5EF4-FFF2-40B4-BE49-F238E27FC236}">
                <a16:creationId xmlns:a16="http://schemas.microsoft.com/office/drawing/2014/main" id="{3B907DAB-A818-6518-E913-7D6D1B03646A}"/>
              </a:ext>
            </a:extLst>
          </p:cNvPr>
          <p:cNvSpPr txBox="1"/>
          <p:nvPr/>
        </p:nvSpPr>
        <p:spPr>
          <a:xfrm>
            <a:off x="4489432" y="4244172"/>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SCR=4.0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:427</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:14</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10" name="テキスト ボックス 9">
            <a:extLst>
              <a:ext uri="{FF2B5EF4-FFF2-40B4-BE49-F238E27FC236}">
                <a16:creationId xmlns:a16="http://schemas.microsoft.com/office/drawing/2014/main" id="{69C33BC4-0E18-61DC-CCE6-16A6163F7F46}"/>
              </a:ext>
            </a:extLst>
          </p:cNvPr>
          <p:cNvSpPr txBox="1"/>
          <p:nvPr/>
        </p:nvSpPr>
        <p:spPr>
          <a:xfrm rot="16200000">
            <a:off x="3488318" y="2276264"/>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11" name="テキスト ボックス 10">
            <a:extLst>
              <a:ext uri="{FF2B5EF4-FFF2-40B4-BE49-F238E27FC236}">
                <a16:creationId xmlns:a16="http://schemas.microsoft.com/office/drawing/2014/main" id="{D91CE694-0505-3A38-FE28-B7152431569D}"/>
              </a:ext>
            </a:extLst>
          </p:cNvPr>
          <p:cNvSpPr txBox="1"/>
          <p:nvPr/>
        </p:nvSpPr>
        <p:spPr>
          <a:xfrm rot="18600000">
            <a:off x="2766904" y="3493159"/>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pic>
        <p:nvPicPr>
          <p:cNvPr id="12" name="図 11">
            <a:extLst>
              <a:ext uri="{FF2B5EF4-FFF2-40B4-BE49-F238E27FC236}">
                <a16:creationId xmlns:a16="http://schemas.microsoft.com/office/drawing/2014/main" id="{DB10A014-9F9E-03C4-28A2-1A7C9172150A}"/>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7544716" y="939501"/>
            <a:ext cx="4160941" cy="3328752"/>
          </a:xfrm>
          <a:prstGeom prst="rect">
            <a:avLst/>
          </a:prstGeom>
          <a:ln>
            <a:noFill/>
          </a:ln>
        </p:spPr>
      </p:pic>
      <p:sp>
        <p:nvSpPr>
          <p:cNvPr id="13" name="テキスト ボックス 12">
            <a:extLst>
              <a:ext uri="{FF2B5EF4-FFF2-40B4-BE49-F238E27FC236}">
                <a16:creationId xmlns:a16="http://schemas.microsoft.com/office/drawing/2014/main" id="{8CC4CE11-53DA-722E-7B75-C18D76FB021D}"/>
              </a:ext>
            </a:extLst>
          </p:cNvPr>
          <p:cNvSpPr txBox="1"/>
          <p:nvPr/>
        </p:nvSpPr>
        <p:spPr>
          <a:xfrm rot="1161380">
            <a:off x="8254265" y="3782901"/>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14" name="テキスト ボックス 13">
            <a:extLst>
              <a:ext uri="{FF2B5EF4-FFF2-40B4-BE49-F238E27FC236}">
                <a16:creationId xmlns:a16="http://schemas.microsoft.com/office/drawing/2014/main" id="{9640F202-1542-1684-370A-4711A4C8D334}"/>
              </a:ext>
            </a:extLst>
          </p:cNvPr>
          <p:cNvSpPr txBox="1"/>
          <p:nvPr/>
        </p:nvSpPr>
        <p:spPr>
          <a:xfrm>
            <a:off x="8213291" y="4170533"/>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SCR=3.0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:426</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:15</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15" name="テキスト ボックス 14">
            <a:extLst>
              <a:ext uri="{FF2B5EF4-FFF2-40B4-BE49-F238E27FC236}">
                <a16:creationId xmlns:a16="http://schemas.microsoft.com/office/drawing/2014/main" id="{82C75678-75B7-F139-4829-A653E071E145}"/>
              </a:ext>
            </a:extLst>
          </p:cNvPr>
          <p:cNvSpPr txBox="1"/>
          <p:nvPr/>
        </p:nvSpPr>
        <p:spPr>
          <a:xfrm rot="16200000">
            <a:off x="10859580" y="2276264"/>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16" name="テキスト ボックス 15">
            <a:extLst>
              <a:ext uri="{FF2B5EF4-FFF2-40B4-BE49-F238E27FC236}">
                <a16:creationId xmlns:a16="http://schemas.microsoft.com/office/drawing/2014/main" id="{3F783907-3289-1152-6180-86BD0990BBDA}"/>
              </a:ext>
            </a:extLst>
          </p:cNvPr>
          <p:cNvSpPr txBox="1"/>
          <p:nvPr/>
        </p:nvSpPr>
        <p:spPr>
          <a:xfrm rot="18600000">
            <a:off x="10138166" y="3493159"/>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17" name="テキスト ボックス 16">
            <a:extLst>
              <a:ext uri="{FF2B5EF4-FFF2-40B4-BE49-F238E27FC236}">
                <a16:creationId xmlns:a16="http://schemas.microsoft.com/office/drawing/2014/main" id="{BE9CD8DA-621E-CBFF-D7E3-8E03D5F87E0F}"/>
              </a:ext>
            </a:extLst>
          </p:cNvPr>
          <p:cNvSpPr txBox="1"/>
          <p:nvPr/>
        </p:nvSpPr>
        <p:spPr>
          <a:xfrm rot="16200000">
            <a:off x="7135721" y="2349903"/>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Tree>
    <p:extLst>
      <p:ext uri="{BB962C8B-B14F-4D97-AF65-F5344CB8AC3E}">
        <p14:creationId xmlns:p14="http://schemas.microsoft.com/office/powerpoint/2010/main" val="695358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BE02D1-93E3-5058-B3C7-3E16843DF0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D6E71D-A36C-4FD2-B7F3-30AC204B282D}"/>
              </a:ext>
            </a:extLst>
          </p:cNvPr>
          <p:cNvSpPr>
            <a:spLocks noGrp="1"/>
          </p:cNvSpPr>
          <p:nvPr>
            <p:ph type="title"/>
          </p:nvPr>
        </p:nvSpPr>
        <p:spPr>
          <a:xfrm>
            <a:off x="486343" y="111713"/>
            <a:ext cx="10515600" cy="490904"/>
          </a:xfrm>
        </p:spPr>
        <p:txBody>
          <a:bodyPr/>
          <a:lstStyle/>
          <a:p>
            <a:r>
              <a:rPr lang="ja-JP" altLang="en-US"/>
              <a:t>予備</a:t>
            </a:r>
            <a:r>
              <a:rPr lang="en-US" altLang="ja-JP"/>
              <a:t>~Q</a:t>
            </a:r>
            <a:r>
              <a:rPr lang="ja-JP" altLang="en-US"/>
              <a:t>制御</a:t>
            </a:r>
            <a:r>
              <a:rPr lang="en-US" altLang="ja-JP"/>
              <a:t>3</a:t>
            </a:r>
            <a:r>
              <a:rPr lang="ja-JP" altLang="en-US"/>
              <a:t>次元グラフ集</a:t>
            </a:r>
            <a:r>
              <a:rPr lang="en-US" altLang="ja-JP"/>
              <a:t>~</a:t>
            </a:r>
            <a:endParaRPr lang="zh-CN" altLang="en-US"/>
          </a:p>
        </p:txBody>
      </p:sp>
      <p:pic>
        <p:nvPicPr>
          <p:cNvPr id="3" name="図 2">
            <a:extLst>
              <a:ext uri="{FF2B5EF4-FFF2-40B4-BE49-F238E27FC236}">
                <a16:creationId xmlns:a16="http://schemas.microsoft.com/office/drawing/2014/main" id="{A0E21A62-A775-A413-C8BA-BC42AB084DEC}"/>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1935058" y="1192165"/>
            <a:ext cx="4160941" cy="3328752"/>
          </a:xfrm>
          <a:prstGeom prst="rect">
            <a:avLst/>
          </a:prstGeom>
          <a:ln>
            <a:noFill/>
          </a:ln>
        </p:spPr>
      </p:pic>
      <p:sp>
        <p:nvSpPr>
          <p:cNvPr id="7" name="テキスト ボックス 6">
            <a:extLst>
              <a:ext uri="{FF2B5EF4-FFF2-40B4-BE49-F238E27FC236}">
                <a16:creationId xmlns:a16="http://schemas.microsoft.com/office/drawing/2014/main" id="{2B1ABBE1-0FC6-AE11-4285-B643FBC5E11D}"/>
              </a:ext>
            </a:extLst>
          </p:cNvPr>
          <p:cNvSpPr txBox="1"/>
          <p:nvPr/>
        </p:nvSpPr>
        <p:spPr>
          <a:xfrm rot="1161380">
            <a:off x="2644607" y="4035565"/>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9" name="テキスト ボックス 8">
            <a:extLst>
              <a:ext uri="{FF2B5EF4-FFF2-40B4-BE49-F238E27FC236}">
                <a16:creationId xmlns:a16="http://schemas.microsoft.com/office/drawing/2014/main" id="{B56B2533-3DDD-BF16-6542-E8C4CDAECFA1}"/>
              </a:ext>
            </a:extLst>
          </p:cNvPr>
          <p:cNvSpPr txBox="1"/>
          <p:nvPr/>
        </p:nvSpPr>
        <p:spPr>
          <a:xfrm>
            <a:off x="2603633" y="4423197"/>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SCR=2.0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:407</a:t>
            </a: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:34</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pic>
        <p:nvPicPr>
          <p:cNvPr id="17" name="図 16">
            <a:extLst>
              <a:ext uri="{FF2B5EF4-FFF2-40B4-BE49-F238E27FC236}">
                <a16:creationId xmlns:a16="http://schemas.microsoft.com/office/drawing/2014/main" id="{3A87C6A9-2638-C23D-0035-18453774301A}"/>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5582461" y="1265804"/>
            <a:ext cx="4160940" cy="3328752"/>
          </a:xfrm>
          <a:prstGeom prst="rect">
            <a:avLst/>
          </a:prstGeom>
          <a:ln>
            <a:noFill/>
          </a:ln>
        </p:spPr>
      </p:pic>
      <p:sp>
        <p:nvSpPr>
          <p:cNvPr id="21" name="テキスト ボックス 20">
            <a:extLst>
              <a:ext uri="{FF2B5EF4-FFF2-40B4-BE49-F238E27FC236}">
                <a16:creationId xmlns:a16="http://schemas.microsoft.com/office/drawing/2014/main" id="{2E00D5E9-93E1-3C4B-8F5B-4F1AE5E21129}"/>
              </a:ext>
            </a:extLst>
          </p:cNvPr>
          <p:cNvSpPr txBox="1"/>
          <p:nvPr/>
        </p:nvSpPr>
        <p:spPr>
          <a:xfrm rot="1161380">
            <a:off x="6292010" y="4109204"/>
            <a:ext cx="1217234"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P</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[MW]</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2" name="テキスト ボックス 21">
            <a:extLst>
              <a:ext uri="{FF2B5EF4-FFF2-40B4-BE49-F238E27FC236}">
                <a16:creationId xmlns:a16="http://schemas.microsoft.com/office/drawing/2014/main" id="{AFABD5C0-0B67-078C-3D5A-9C4317283460}"/>
              </a:ext>
            </a:extLst>
          </p:cNvPr>
          <p:cNvSpPr txBox="1"/>
          <p:nvPr/>
        </p:nvSpPr>
        <p:spPr>
          <a:xfrm rot="18600000">
            <a:off x="8175911" y="3819462"/>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3" name="テキスト ボックス 22">
            <a:extLst>
              <a:ext uri="{FF2B5EF4-FFF2-40B4-BE49-F238E27FC236}">
                <a16:creationId xmlns:a16="http://schemas.microsoft.com/office/drawing/2014/main" id="{4FFFF6AC-0592-3130-D276-B8FD282F8B84}"/>
              </a:ext>
            </a:extLst>
          </p:cNvPr>
          <p:cNvSpPr txBox="1"/>
          <p:nvPr/>
        </p:nvSpPr>
        <p:spPr>
          <a:xfrm>
            <a:off x="6251036" y="4496836"/>
            <a:ext cx="3336590" cy="903700"/>
          </a:xfrm>
          <a:prstGeom prst="rect">
            <a:avLst/>
          </a:prstGeom>
          <a:noFill/>
        </p:spPr>
        <p:txBody>
          <a:bodyPr wrap="square" tIns="72000" bIns="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SCR=1.0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メイリオ"/>
                <a:cs typeface="+mn-cs"/>
              </a:rPr>
              <a:t>動作可能点</a:t>
            </a:r>
            <a:r>
              <a:rPr kumimoji="1" lang="en-US" altLang="ja-JP" sz="1800" b="1" i="0" u="none" strike="noStrike" kern="1200" cap="none" spc="0" normalizeH="0" baseline="0" noProof="0">
                <a:ln>
                  <a:noFill/>
                </a:ln>
                <a:solidFill>
                  <a:prstClr val="black"/>
                </a:solidFill>
                <a:effectLst/>
                <a:uLnTx/>
                <a:uFillTx/>
                <a:latin typeface="Arial"/>
                <a:ea typeface="メイリオ"/>
                <a:cs typeface="+mn-cs"/>
              </a:rPr>
              <a:t>:</a:t>
            </a:r>
            <a:r>
              <a:rPr lang="en-US" altLang="ja-JP" b="1">
                <a:solidFill>
                  <a:prstClr val="black"/>
                </a:solidFill>
                <a:latin typeface="Arial"/>
                <a:ea typeface="メイリオ"/>
              </a:rPr>
              <a:t>322</a:t>
            </a:r>
            <a:endParaRPr kumimoji="1" lang="en-US" altLang="ja-JP" sz="1800" b="1" i="0" u="none" strike="noStrike" kern="1200" cap="none" spc="0" normalizeH="0" baseline="0" noProof="0">
              <a:ln>
                <a:noFill/>
              </a:ln>
              <a:solidFill>
                <a:prstClr val="black"/>
              </a:solidFill>
              <a:effectLst/>
              <a:uLnTx/>
              <a:uFillTx/>
              <a:latin typeface="Arial"/>
              <a:ea typeface="メイリオ"/>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ja-JP" altLang="en-US" b="1">
                <a:solidFill>
                  <a:prstClr val="black"/>
                </a:solidFill>
                <a:latin typeface="Arial"/>
                <a:ea typeface="メイリオ"/>
              </a:rPr>
              <a:t>動作不可点</a:t>
            </a:r>
            <a:r>
              <a:rPr lang="en-US" altLang="ja-JP" b="1">
                <a:solidFill>
                  <a:prstClr val="black"/>
                </a:solidFill>
                <a:latin typeface="Arial"/>
                <a:ea typeface="メイリオ"/>
              </a:rPr>
              <a:t>:109</a:t>
            </a:r>
            <a:endParaRPr kumimoji="1" lang="ja-JP" altLang="en-US" sz="1800" b="1" i="0" u="none" strike="noStrike" kern="1200" cap="none" spc="0" normalizeH="0" baseline="0" noProof="0">
              <a:ln>
                <a:noFill/>
              </a:ln>
              <a:solidFill>
                <a:prstClr val="black"/>
              </a:solidFill>
              <a:effectLst/>
              <a:uLnTx/>
              <a:uFillTx/>
              <a:latin typeface="Arial"/>
              <a:ea typeface="メイリオ"/>
              <a:cs typeface="+mn-cs"/>
            </a:endParaRPr>
          </a:p>
        </p:txBody>
      </p:sp>
      <p:sp>
        <p:nvSpPr>
          <p:cNvPr id="6" name="テキスト ボックス 5">
            <a:extLst>
              <a:ext uri="{FF2B5EF4-FFF2-40B4-BE49-F238E27FC236}">
                <a16:creationId xmlns:a16="http://schemas.microsoft.com/office/drawing/2014/main" id="{5BE0499E-B767-B478-5D6B-9FC62897C28F}"/>
              </a:ext>
            </a:extLst>
          </p:cNvPr>
          <p:cNvSpPr txBox="1"/>
          <p:nvPr/>
        </p:nvSpPr>
        <p:spPr>
          <a:xfrm rot="16200000">
            <a:off x="5249922" y="2528928"/>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8" name="テキスト ボックス 7">
            <a:extLst>
              <a:ext uri="{FF2B5EF4-FFF2-40B4-BE49-F238E27FC236}">
                <a16:creationId xmlns:a16="http://schemas.microsoft.com/office/drawing/2014/main" id="{BBF09A4F-745E-2D83-B9B6-6F63D73517FB}"/>
              </a:ext>
            </a:extLst>
          </p:cNvPr>
          <p:cNvSpPr txBox="1"/>
          <p:nvPr/>
        </p:nvSpPr>
        <p:spPr>
          <a:xfrm rot="18600000">
            <a:off x="4528508" y="3745823"/>
            <a:ext cx="1465948"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Δ</a:t>
            </a:r>
            <a:r>
              <a:rPr kumimoji="1" lang="en-US" altLang="ja-JP" b="0" i="1"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Q</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MVar</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
        <p:nvSpPr>
          <p:cNvPr id="20" name="テキスト ボックス 19">
            <a:extLst>
              <a:ext uri="{FF2B5EF4-FFF2-40B4-BE49-F238E27FC236}">
                <a16:creationId xmlns:a16="http://schemas.microsoft.com/office/drawing/2014/main" id="{05A9348A-A335-F7C7-8986-4A8F8040A292}"/>
              </a:ext>
            </a:extLst>
          </p:cNvPr>
          <p:cNvSpPr txBox="1"/>
          <p:nvPr/>
        </p:nvSpPr>
        <p:spPr>
          <a:xfrm rot="16200000">
            <a:off x="8897325" y="2602567"/>
            <a:ext cx="1233302" cy="349702"/>
          </a:xfrm>
          <a:prstGeom prst="rect">
            <a:avLst/>
          </a:prstGeom>
          <a:solidFill>
            <a:schemeClr val="bg1"/>
          </a:solidFill>
        </p:spPr>
        <p:txBody>
          <a:bodyPr wrap="square" tIns="36000" bIns="36000"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b="0" i="1"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Igfm</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 [</a:t>
            </a:r>
            <a:r>
              <a:rPr kumimoji="1" lang="en-US" altLang="ja-JP" b="0" i="0" u="none" strike="noStrike" kern="1200" cap="none" spc="0" normalizeH="0" baseline="0" noProof="0" err="1">
                <a:ln>
                  <a:noFill/>
                </a:ln>
                <a:solidFill>
                  <a:prstClr val="black"/>
                </a:solidFill>
                <a:effectLst/>
                <a:uLnTx/>
                <a:uFillTx/>
                <a:latin typeface="Arial"/>
                <a:ea typeface="メイリオ"/>
                <a:cs typeface="Times New Roman" panose="02020603050405020304" pitchFamily="18" charset="0"/>
              </a:rPr>
              <a:t>pu</a:t>
            </a:r>
            <a:r>
              <a:rPr kumimoji="1" lang="en-US" altLang="ja-JP"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rPr>
              <a:t>]</a:t>
            </a:r>
            <a:endParaRPr kumimoji="1" lang="ja-JP" altLang="en-US" b="0" i="0" u="none" strike="noStrike" kern="1200" cap="none" spc="0" normalizeH="0" baseline="0" noProof="0">
              <a:ln>
                <a:noFill/>
              </a:ln>
              <a:solidFill>
                <a:prstClr val="black"/>
              </a:solidFill>
              <a:effectLst/>
              <a:uLnTx/>
              <a:uFillTx/>
              <a:latin typeface="Arial"/>
              <a:ea typeface="メイリオ"/>
              <a:cs typeface="Times New Roman" panose="02020603050405020304" pitchFamily="18" charset="0"/>
            </a:endParaRPr>
          </a:p>
        </p:txBody>
      </p:sp>
    </p:spTree>
    <p:extLst>
      <p:ext uri="{BB962C8B-B14F-4D97-AF65-F5344CB8AC3E}">
        <p14:creationId xmlns:p14="http://schemas.microsoft.com/office/powerpoint/2010/main" val="2978828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09D43-F616-8D3B-9C3E-165949BD4F85}"/>
              </a:ext>
            </a:extLst>
          </p:cNvPr>
          <p:cNvSpPr>
            <a:spLocks noGrp="1"/>
          </p:cNvSpPr>
          <p:nvPr>
            <p:ph type="title"/>
          </p:nvPr>
        </p:nvSpPr>
        <p:spPr>
          <a:xfrm>
            <a:off x="486343" y="111713"/>
            <a:ext cx="10515600" cy="490904"/>
          </a:xfrm>
        </p:spPr>
        <p:txBody>
          <a:bodyPr/>
          <a:lstStyle/>
          <a:p>
            <a:r>
              <a:rPr lang="ja-JP" altLang="en-US"/>
              <a:t>予備</a:t>
            </a:r>
            <a:endParaRPr lang="zh-CN" altLang="en-US"/>
          </a:p>
        </p:txBody>
      </p:sp>
      <p:sp>
        <p:nvSpPr>
          <p:cNvPr id="3" name="テキスト ボックス 2">
            <a:extLst>
              <a:ext uri="{FF2B5EF4-FFF2-40B4-BE49-F238E27FC236}">
                <a16:creationId xmlns:a16="http://schemas.microsoft.com/office/drawing/2014/main" id="{4E3F63EB-F11D-D381-7FC7-4F6B7E7BF9EF}"/>
              </a:ext>
            </a:extLst>
          </p:cNvPr>
          <p:cNvSpPr txBox="1"/>
          <p:nvPr/>
        </p:nvSpPr>
        <p:spPr>
          <a:xfrm>
            <a:off x="324851" y="1359567"/>
            <a:ext cx="10515601" cy="1754326"/>
          </a:xfrm>
          <a:prstGeom prst="rect">
            <a:avLst/>
          </a:prstGeom>
          <a:noFill/>
        </p:spPr>
        <p:txBody>
          <a:bodyPr wrap="square" rtlCol="0">
            <a:spAutoFit/>
          </a:bodyPr>
          <a:lstStyle/>
          <a:p>
            <a:r>
              <a:rPr lang="en-US" altLang="zh-CN"/>
              <a:t>1km</a:t>
            </a:r>
            <a:r>
              <a:rPr lang="ja-JP" altLang="en-US"/>
              <a:t>あたりのインダクタンス　</a:t>
            </a:r>
            <a:r>
              <a:rPr lang="en-US" altLang="ja-JP"/>
              <a:t>1mH</a:t>
            </a:r>
          </a:p>
          <a:p>
            <a:endParaRPr lang="en-US" altLang="zh-CN"/>
          </a:p>
          <a:p>
            <a:r>
              <a:rPr lang="en-US" altLang="zh-CN"/>
              <a:t>115kV</a:t>
            </a:r>
            <a:r>
              <a:rPr lang="ja-JP" altLang="en-US"/>
              <a:t>送電線における、</a:t>
            </a:r>
            <a:r>
              <a:rPr lang="en-US" altLang="ja-JP"/>
              <a:t>SCR=1.0</a:t>
            </a:r>
            <a:r>
              <a:rPr lang="ja-JP" altLang="en-US"/>
              <a:t>のときのインダクタンス　</a:t>
            </a:r>
            <a:r>
              <a:rPr lang="en-US" altLang="ja-JP"/>
              <a:t>4.2H</a:t>
            </a:r>
          </a:p>
          <a:p>
            <a:endParaRPr lang="en-US" altLang="zh-CN"/>
          </a:p>
          <a:p>
            <a:r>
              <a:rPr lang="en-US" altLang="zh-CN"/>
              <a:t>SCR=1.0</a:t>
            </a:r>
            <a:r>
              <a:rPr lang="ja-JP" altLang="en-US"/>
              <a:t>の場合は送電線長約　</a:t>
            </a:r>
            <a:r>
              <a:rPr lang="en-US" altLang="ja-JP"/>
              <a:t>4200km</a:t>
            </a:r>
          </a:p>
          <a:p>
            <a:r>
              <a:rPr lang="en-US" altLang="zh-CN"/>
              <a:t>SCR=2.0</a:t>
            </a:r>
            <a:r>
              <a:rPr lang="ja-JP" altLang="en-US"/>
              <a:t>の場合は送電線長約　</a:t>
            </a:r>
            <a:r>
              <a:rPr lang="en-US" altLang="ja-JP"/>
              <a:t>4200/2 = 2100km</a:t>
            </a:r>
            <a:endParaRPr lang="zh-CN" altLang="en-US"/>
          </a:p>
        </p:txBody>
      </p:sp>
    </p:spTree>
    <p:extLst>
      <p:ext uri="{BB962C8B-B14F-4D97-AF65-F5344CB8AC3E}">
        <p14:creationId xmlns:p14="http://schemas.microsoft.com/office/powerpoint/2010/main" val="2315025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D3F6CF-CADE-91C8-B589-DDA3B21EE2C3}"/>
              </a:ext>
            </a:extLst>
          </p:cNvPr>
          <p:cNvSpPr>
            <a:spLocks noGrp="1"/>
          </p:cNvSpPr>
          <p:nvPr>
            <p:ph type="title"/>
          </p:nvPr>
        </p:nvSpPr>
        <p:spPr>
          <a:xfrm>
            <a:off x="486343" y="111713"/>
            <a:ext cx="10515600" cy="490904"/>
          </a:xfrm>
        </p:spPr>
        <p:txBody>
          <a:bodyPr/>
          <a:lstStyle/>
          <a:p>
            <a:r>
              <a:rPr lang="ja-JP" altLang="en-US"/>
              <a:t>メモ</a:t>
            </a:r>
            <a:endParaRPr lang="zh-CN" altLang="en-US"/>
          </a:p>
        </p:txBody>
      </p:sp>
      <p:sp>
        <p:nvSpPr>
          <p:cNvPr id="3" name="テキスト ボックス 2">
            <a:extLst>
              <a:ext uri="{FF2B5EF4-FFF2-40B4-BE49-F238E27FC236}">
                <a16:creationId xmlns:a16="http://schemas.microsoft.com/office/drawing/2014/main" id="{0EED2322-6A98-4C52-A06D-6D4938E0FB88}"/>
              </a:ext>
            </a:extLst>
          </p:cNvPr>
          <p:cNvSpPr txBox="1"/>
          <p:nvPr/>
        </p:nvSpPr>
        <p:spPr>
          <a:xfrm>
            <a:off x="324851" y="1359567"/>
            <a:ext cx="10515601" cy="923330"/>
          </a:xfrm>
          <a:prstGeom prst="rect">
            <a:avLst/>
          </a:prstGeom>
          <a:noFill/>
        </p:spPr>
        <p:txBody>
          <a:bodyPr wrap="square" rtlCol="0">
            <a:spAutoFit/>
          </a:bodyPr>
          <a:lstStyle/>
          <a:p>
            <a:r>
              <a:rPr lang="en-US" altLang="zh-CN"/>
              <a:t>SCR</a:t>
            </a:r>
            <a:r>
              <a:rPr lang="ja-JP" altLang="en-US"/>
              <a:t>の説明を入れること</a:t>
            </a:r>
            <a:endParaRPr lang="en-US" altLang="ja-JP"/>
          </a:p>
          <a:p>
            <a:r>
              <a:rPr lang="ja-JP" altLang="en-US"/>
              <a:t>制御ゲインを入れること</a:t>
            </a:r>
            <a:endParaRPr lang="en-US" altLang="ja-JP"/>
          </a:p>
          <a:p>
            <a:r>
              <a:rPr lang="ja-JP" altLang="en-US"/>
              <a:t>結果が対称になっていない検討</a:t>
            </a:r>
            <a:endParaRPr lang="zh-CN" altLang="en-US"/>
          </a:p>
        </p:txBody>
      </p:sp>
    </p:spTree>
    <p:extLst>
      <p:ext uri="{BB962C8B-B14F-4D97-AF65-F5344CB8AC3E}">
        <p14:creationId xmlns:p14="http://schemas.microsoft.com/office/powerpoint/2010/main" val="3316379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9.6"/>
</p:tagLst>
</file>

<file path=ppt/tags/tag2.xml><?xml version="1.0" encoding="utf-8"?>
<p:tagLst xmlns:a="http://schemas.openxmlformats.org/drawingml/2006/main" xmlns:r="http://schemas.openxmlformats.org/officeDocument/2006/relationships" xmlns:p="http://schemas.openxmlformats.org/presentationml/2006/main">
  <p:tag name="TIMING" val="|50"/>
</p:tagLst>
</file>

<file path=ppt/theme/theme1.xml><?xml version="1.0" encoding="utf-8"?>
<a:theme xmlns:a="http://schemas.openxmlformats.org/drawingml/2006/main" name="1_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5">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41129_Template_PowerPoint.potx" id="{8EB2C210-154C-4A4B-8138-A70B9910746B}" vid="{EE092BB9-EB72-4A64-A73C-F848E5EB18CF}"/>
    </a:ext>
  </a:extLst>
</a:theme>
</file>

<file path=ppt/theme/theme2.xml><?xml version="1.0" encoding="utf-8"?>
<a:theme xmlns:a="http://schemas.openxmlformats.org/drawingml/2006/main" name="2_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5">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41129_Template_PowerPoint.potx" id="{8EB2C210-154C-4A4B-8138-A70B9910746B}" vid="{EE092BB9-EB72-4A64-A73C-F848E5EB18CF}"/>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6ec3f30-2d4f-4250-82e1-372410d23208}" enabled="0" method="" siteId="{46ec3f30-2d4f-4250-82e1-372410d23208}" removed="1"/>
</clbl:labelList>
</file>

<file path=docProps/app.xml><?xml version="1.0" encoding="utf-8"?>
<Properties xmlns="http://schemas.openxmlformats.org/officeDocument/2006/extended-properties" xmlns:vt="http://schemas.openxmlformats.org/officeDocument/2006/docPropsVTypes">
  <TotalTime>40</TotalTime>
  <Words>2870</Words>
  <Application>Microsoft Office PowerPoint</Application>
  <PresentationFormat>ワイド画面</PresentationFormat>
  <Paragraphs>352</Paragraphs>
  <Slides>18</Slides>
  <Notes>11</Notes>
  <HiddenSlides>4</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18</vt:i4>
      </vt:variant>
    </vt:vector>
  </HeadingPairs>
  <TitlesOfParts>
    <vt:vector size="28" baseType="lpstr">
      <vt:lpstr>等线</vt:lpstr>
      <vt:lpstr>メイリオ</vt:lpstr>
      <vt:lpstr>游ゴシック</vt:lpstr>
      <vt:lpstr>游明朝</vt:lpstr>
      <vt:lpstr>Arial</vt:lpstr>
      <vt:lpstr>Cambria Math</vt:lpstr>
      <vt:lpstr>Times New Roman</vt:lpstr>
      <vt:lpstr>Wingdings</vt:lpstr>
      <vt:lpstr>1_Office テーマ</vt:lpstr>
      <vt:lpstr>2_Office テーマ</vt:lpstr>
      <vt:lpstr>PowerPoint プレゼンテーション</vt:lpstr>
      <vt:lpstr>PowerPoint プレゼンテーション</vt:lpstr>
      <vt:lpstr>PowerPoint プレゼンテーション</vt:lpstr>
      <vt:lpstr>PowerPoint プレゼンテーション</vt:lpstr>
      <vt:lpstr>理論式の導出およびインバータの動作可能条件</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まとめ</vt:lpstr>
      <vt:lpstr>予備~V制御3次元グラフ集~</vt:lpstr>
      <vt:lpstr>予備~V制御3次元グラフ集~</vt:lpstr>
      <vt:lpstr>予備~Q制御3次元グラフ集~</vt:lpstr>
      <vt:lpstr>予備~Q制御3次元グラフ集~</vt:lpstr>
      <vt:lpstr>予備</vt:lpstr>
      <vt:lpstr>メモ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刘 承洋_LIU Chengyang(東京都市大学)</dc:creator>
  <cp:lastModifiedBy>刘 承洋_LIU Chengyang(東京都市大学)</cp:lastModifiedBy>
  <cp:revision>1</cp:revision>
  <dcterms:created xsi:type="dcterms:W3CDTF">2025-07-31T06:48:16Z</dcterms:created>
  <dcterms:modified xsi:type="dcterms:W3CDTF">2026-02-03T06:32:34Z</dcterms:modified>
</cp:coreProperties>
</file>