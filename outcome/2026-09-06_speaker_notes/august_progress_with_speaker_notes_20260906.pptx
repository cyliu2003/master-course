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5864" autoAdjust="0"/>
  </p:normalViewPr>
  <p:slideViewPr>
    <p:cSldViewPr snapToGrid="0" snapToObjects="1">
      <p:cViewPr varScale="1">
        <p:scale>
          <a:sx n="70" d="100"/>
          <a:sy n="70" d="100"/>
        </p:scale>
        <p:origin x="113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999720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今日は、電気バスとエンジンバスを組み合わせた配車と充電の研究について報告します。目標は、決められた便を全部走らせながら、太陽光を使える時間と充電の時間を考えて運用を決めることです。まず研究の仕組みを説明し、次に以前の課題に対して何を直したか、どんな結果を確認できたかをお話しします。最後に、まだ証明できていないことと次の検証をご相談します。</a:t>
            </a:r>
          </a:p>
          <a:p xmlns:a="http://schemas.openxmlformats.org/drawingml/2006/main">
            <a:r>
              <a:t/>
            </a:r>
          </a:p>
          <a:p xmlns:a="http://schemas.openxmlformats.org/drawingml/2006/main">
            <a:r>
              <a:t>【補足】</a:t>
            </a:r>
          </a:p>
          <a:p xmlns:a="http://schemas.openxmlformats.org/drawingml/2006/main">
            <a:r>
              <a:t>スライド本体は8月の報告を基にしています。9月5日に既存結果を詳しく分析した内容は、その日付を付けて説明します。ここでいう運行はモデル上の計算で、実車実証ではありません。</a:t>
            </a:r>
          </a:p>
          <a:p xmlns:a="http://schemas.openxmlformats.org/drawingml/2006/main">
            <a:r>
              <a:t/>
            </a:r>
          </a:p>
          <a:p xmlns:a="http://schemas.openxmlformats.org/drawingml/2006/main">
            <a:r>
              <a:t>【出典】docs/evidence/weather_dispatch_rerun_bb0c005/result_summary.json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電気バスは、電池があればいつでも走れるわけではありません。次の便までに必要な電気を充電し、出発時刻に間に合わせる必要があります。例えば、昼に太陽光が多くても、その時間にバスが路線を走っていれば、そのバスへ直接充電できません。一方、営業所に戻ってきても充電器や受電容量には上限があります。そこで、どの便を電気バスが担当するかと、いつ充電するかを関連付けて考えています。</a:t>
            </a:r>
          </a:p>
          <a:p xmlns:a="http://schemas.openxmlformats.org/drawingml/2006/main">
            <a:r>
              <a:t/>
            </a:r>
          </a:p>
          <a:p xmlns:a="http://schemas.openxmlformats.org/drawingml/2006/main">
            <a:r>
              <a:t>【用語と補足】</a:t>
            </a:r>
          </a:p>
          <a:p xmlns:a="http://schemas.openxmlformats.org/drawingml/2006/main">
            <a:r>
              <a:t>BEVは電池で走るバス、ICEはエンジンバス、PVは太陽光発電、BESSは営業所に置く蓄電池です。「一緒に考える」は研究対象全体の話で、計算では配車と電力を二段階に分けています。</a:t>
            </a:r>
          </a:p>
          <a:p xmlns:a="http://schemas.openxmlformats.org/drawingml/2006/main">
            <a:r>
              <a:t/>
            </a:r>
          </a:p>
          <a:p xmlns:a="http://schemas.openxmlformats.org/drawingml/2006/main">
            <a:r>
              <a:t>【次へ】その仕組みを説明するため、先行研究の図表の見せ方も参考にしました。</a:t>
            </a:r>
          </a:p>
          <a:p xmlns:a="http://schemas.openxmlformats.org/drawingml/2006/main">
            <a:r>
              <a:t>【出典】docs/thesis/authoring_v1/03_mathematical_formulation.md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のページでは、文献から何を資料に取り入れたかを示しています。結果の金額だけを出しても、どういう設備や条件で計算したかが分からなければ比較できません。そこで、対象システム、入力条件、電力の流れ、車両構成と評価額の関係を順に示す構成にしました。本研究では、既存の264便を守りながら、電気バスとエンジンバスの担当、充電の電源を確認します。</a:t>
            </a:r>
          </a:p>
          <a:p xmlns:a="http://schemas.openxmlformats.org/drawingml/2006/main">
            <a:r>
              <a:t/>
            </a:r>
          </a:p>
          <a:p xmlns:a="http://schemas.openxmlformats.org/drawingml/2006/main">
            <a:r>
              <a:t>【補足】</a:t>
            </a:r>
          </a:p>
          <a:p xmlns:a="http://schemas.openxmlformats.org/drawingml/2006/main">
            <a:r>
              <a:t>この表は図表構成の参考です。各文献が本研究の設定値を実証しているという意味ではありません。また、混成車両と太陽光を組み合わせただけで世界初とは言えません。9月5日の文献整理では、近い研究との比較方法や確認範囲も整理しています。</a:t>
            </a:r>
          </a:p>
          <a:p xmlns:a="http://schemas.openxmlformats.org/drawingml/2006/main">
            <a:r>
              <a:t/>
            </a:r>
          </a:p>
          <a:p xmlns:a="http://schemas.openxmlformats.org/drawingml/2006/main">
            <a:r>
              <a:t>【出典】元資料3枚目、outcome/2026-09-05_literature_review/README.md、outcome/2026-09-05_august_progress_revision/speaker_notes.md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比較の公平さのため、両条件で同じ平日の264便を使いました。使える車両、電池の初期残量、充電器や料金も固定し、太陽光の発電曲線だけを変えています。高PVは発電量が多い曲線、低PVは少ない曲線です。低PVの曲線は8月10日由来ですが、走らせる便は8月5日の平日ダイヤのままです。つまり、実際の晴れた日と雨の日の観測比較ではなく、同じ運行に異なる太陽光条件を与えた計算です。</a:t>
            </a:r>
          </a:p>
          <a:p xmlns:a="http://schemas.openxmlformats.org/drawingml/2006/main">
            <a:r>
              <a:t/>
            </a:r>
          </a:p>
          <a:p xmlns:a="http://schemas.openxmlformats.org/drawingml/2006/main">
            <a:r>
              <a:t>【補足】</a:t>
            </a:r>
          </a:p>
          <a:p xmlns:a="http://schemas.openxmlformats.org/drawingml/2006/main">
            <a:r>
              <a:t>60台はこの実験の入力から確認した有効車両数です。使える60台と、結果として使った32台を区別します。他の営業所でも必ず同じ台数を使う設定ではありません。</a:t>
            </a:r>
          </a:p>
          <a:p xmlns:a="http://schemas.openxmlformats.org/drawingml/2006/main">
            <a:r>
              <a:t/>
            </a:r>
          </a:p>
          <a:p xmlns:a="http://schemas.openxmlformats.org/drawingml/2006/main">
            <a:r>
              <a:t>【出典】docs/evidence/weather_dispatch_rerun_bb0c005/result_summary.json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まず時刻表と車両などの入力を確定します。次に、充電の見込みも考慮しながら配車候補を複数作ります。その候補ごとに配車を固定し、具体的な充電と太陽光、蓄電池の使い方を計算します。その前日評価額などを比べて採用案を選びます。採用後は担当便を変えず、1時間進むたびに残り時間の電力計画を更新します。最後に、一日全体で便の担当や電池残量、電力と費用が矛盾していないかを確認します。</a:t>
            </a:r>
          </a:p>
          <a:p xmlns:a="http://schemas.openxmlformats.org/drawingml/2006/main">
            <a:r>
              <a:t/>
            </a:r>
          </a:p>
          <a:p xmlns:a="http://schemas.openxmlformats.org/drawingml/2006/main">
            <a:r>
              <a:t>【以前との違い】</a:t>
            </a:r>
          </a:p>
          <a:p xmlns:a="http://schemas.openxmlformats.org/drawingml/2006/main">
            <a:r>
              <a:t>元資料で課題としていた、ほぼ一つの配車だけを詳しく評価する構成に対して、複数の候補を電力側まで評価して選べるようにしました。ただし、考えられる配車を全て調べたわけではありません。</a:t>
            </a:r>
          </a:p>
          <a:p xmlns:a="http://schemas.openxmlformats.org/drawingml/2006/main">
            <a:r>
              <a:t/>
            </a:r>
          </a:p>
          <a:p xmlns:a="http://schemas.openxmlformats.org/drawingml/2006/main">
            <a:r>
              <a:t>【出典】docs/thesis/authoring_v1/03_mathematical_formulation.md、元資料8枚目</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こは結果を再現するための条件表です。全部を読み上げず、電池容量、初期残量、充電器と受電上限に注目してください。SOCは電池の残量割合です。初期SOCは車両ごとに異なり、全車を満充電から出発させてはいません。充電器は90キロワットが10基ですが、系統から受け取れる電力は200キロワットなので、いつでも全基を系統だけで最大出力にできるわけではありません。太陽光と営業所の蓄電池も含めて電力の収支を考えます。</a:t>
            </a:r>
          </a:p>
          <a:p xmlns:a="http://schemas.openxmlformats.org/drawingml/2006/main">
            <a:r>
              <a:t/>
            </a:r>
          </a:p>
          <a:p xmlns:a="http://schemas.openxmlformats.org/drawingml/2006/main">
            <a:r>
              <a:t>【補足】</a:t>
            </a:r>
          </a:p>
          <a:p xmlns:a="http://schemas.openxmlformats.org/drawingml/2006/main">
            <a:r>
              <a:t>キロワットはその時点の電力、キロワット時は時間を通じて使った電気の量です。設備値はこのケースの入力条件で、実際の弦巻営業所に同じ設備が設置されていると確認した値ではありません。蓄電池は日初と日末の残量を同じにしています。</a:t>
            </a:r>
          </a:p>
          <a:p xmlns:a="http://schemas.openxmlformats.org/drawingml/2006/main">
            <a:r>
              <a:t/>
            </a:r>
          </a:p>
          <a:p xmlns:a="http://schemas.openxmlformats.org/drawingml/2006/main">
            <a:r>
              <a:t>【出典】outcome/2026-09-05_research_progress/04_parameter_sources.csv、docs/thesis/authoring_v1/05_assumptions_parameters_units.md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評価額には、電力、燃料、車両使用費、二酸化炭素に対する費用を含めています。一方、設備投資や電池劣化、運転士費は含んでいません。したがって、実際の営業所の総費用や採算を計算したとは言いません。計算では22候補を評価します。時間上限や乱数の条件も記録し、都合のよい結果だけを選ばないようにしています。</a:t>
            </a:r>
          </a:p>
          <a:p xmlns:a="http://schemas.openxmlformats.org/drawingml/2006/main">
            <a:r>
              <a:t/>
            </a:r>
          </a:p>
          <a:p xmlns:a="http://schemas.openxmlformats.org/drawingml/2006/main">
            <a:r>
              <a:t>【補足】</a:t>
            </a:r>
          </a:p>
          <a:p xmlns:a="http://schemas.openxmlformats.org/drawingml/2006/main">
            <a:r>
              <a:t>585秒は要求設定で、22候補と24回の更新を含む全作業が585秒で終わったという実測値ではありません。15～35台は構成探索の指定範囲で、別の生成経路を含む候補全体は14～35台です。gapはソルバーがその段階で持つ解と保証された下限の隔たりを示します。最終評価額の誤差率とは違います。</a:t>
            </a:r>
          </a:p>
          <a:p xmlns:a="http://schemas.openxmlformats.org/drawingml/2006/main">
            <a:r>
              <a:t/>
            </a:r>
          </a:p>
          <a:p xmlns:a="http://schemas.openxmlformats.org/drawingml/2006/main">
            <a:r>
              <a:t>【出典】docs/thesis/authoring_v1/05_assumptions_parameters_units.md、outcome/2026-09-05_august_progress_revision/speaker_notes.md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一番大きな差分をこの表で説明します。元の月次報告では、以前は高PVと低PVでも同じ配車になり、その理由を説明しにくいことが課題でした。そこで、配車候補を増やし、候補ごとの充電計画まで評価して選ぶようにしました。その結果、この二条件では異なる配車を選び、両方で全便を担当する計画を確認できました。また、日合計を見るだけでなく、時間ごとの電池と電力、費用の根拠まで追えるようにしました。</a:t>
            </a:r>
          </a:p>
          <a:p xmlns:a="http://schemas.openxmlformats.org/drawingml/2006/main">
            <a:r>
              <a:t/>
            </a:r>
          </a:p>
          <a:p xmlns:a="http://schemas.openxmlformats.org/drawingml/2006/main">
            <a:r>
              <a:t>【大切な区別】</a:t>
            </a:r>
          </a:p>
          <a:p xmlns:a="http://schemas.openxmlformats.org/drawingml/2006/main">
            <a:r>
              <a:t>これは研究作業の前後の説明です。旧方式と新方式の性能を同じ条件で対照実験した結果ではないので、何％速くなった、何円安くなったという改善率は主張しません。7月末という時期は元資料の記述に基づきます。</a:t>
            </a:r>
          </a:p>
          <a:p xmlns:a="http://schemas.openxmlformats.org/drawingml/2006/main">
            <a:r>
              <a:t/>
            </a:r>
          </a:p>
          <a:p xmlns:a="http://schemas.openxmlformats.org/drawingml/2006/main">
            <a:r>
              <a:t>【次へ】その差分を生んだ作業を順番に説明します。</a:t>
            </a:r>
          </a:p>
          <a:p xmlns:a="http://schemas.openxmlformats.org/drawingml/2006/main">
            <a:r>
              <a:t>【出典】元資料8・9枚目、docs/evidence/weather_dispatch_rerun_bb0c005/result_summary.json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最初に、同じ配車になることと、結果をどこまで信用してよいかが分かりにくいことを課題にしました。次に、候補を増やして、同じ非PV条件の下で比較する仕組みを整えました。その後、入力を新しく確定するPrepareから計算し直し、24回の電力計画更新と最後の会計を確認しました。8月末には、どの入力とコードから出た結果かを追える形で証拠を整理しました。</a:t>
            </a:r>
          </a:p>
          <a:p xmlns:a="http://schemas.openxmlformats.org/drawingml/2006/main">
            <a:r>
              <a:t/>
            </a:r>
          </a:p>
          <a:p xmlns:a="http://schemas.openxmlformats.org/drawingml/2006/main">
            <a:r>
              <a:t>【9月5日の追加差分】</a:t>
            </a:r>
          </a:p>
          <a:p xmlns:a="http://schemas.openxmlformats.org/drawingml/2006/main">
            <a:r>
              <a:t>さらに9月5日は、その既存結果を便ごと、15分ごとに読み直しました。これにより、変わった108便の場所と、便数以外の営業距離割合、太陽光抑制と充電の同時発生を説明できるようになりました。この追加分では最適化を新しく実行していません。</a:t>
            </a:r>
          </a:p>
          <a:p xmlns:a="http://schemas.openxmlformats.org/drawingml/2006/main">
            <a:r>
              <a:t/>
            </a:r>
          </a:p>
          <a:p xmlns:a="http://schemas.openxmlformats.org/drawingml/2006/main">
            <a:r>
              <a:t>【出典】元資料9枚目、outcome/2026-09-05_research_progress/05_progress_log.md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左の車両数と右の便数を分けて見てください。高PVでは電気バス28台で199便、低PVでは21台で91便を担当しました。全体では両方とも32台で264便を担当しています。9月5日に同じ便のIDを突き合わせたところ、低PVのエンジンバス担当から高PVの電気バス担当へ変わったのは108便で、渋22が78便、渋23が30便でした。これで、単に電気バスが増えたという説明から、どの便の担当が変わったかまで示せました。</a:t>
            </a:r>
          </a:p>
          <a:p xmlns:a="http://schemas.openxmlformats.org/drawingml/2006/main">
            <a:r>
              <a:t/>
            </a:r>
          </a:p>
          <a:p xmlns:a="http://schemas.openxmlformats.org/drawingml/2006/main">
            <a:r>
              <a:t>【補足】</a:t>
            </a:r>
          </a:p>
          <a:p xmlns:a="http://schemas.openxmlformats.org/drawingml/2006/main">
            <a:r>
              <a:t>営業距離に占めるBEV割合は高PV72.78%、低PV29.73%です。これは停留所座標に基づく営業距離で、実走行計測や回送を含む総距離ではありません。なぜ個々の便を選んだかの原因分解はまだ必要です。</a:t>
            </a:r>
          </a:p>
          <a:p xmlns:a="http://schemas.openxmlformats.org/drawingml/2006/main">
            <a:r>
              <a:t/>
            </a:r>
          </a:p>
          <a:p xmlns:a="http://schemas.openxmlformats.org/drawingml/2006/main">
            <a:r>
              <a:t>【出典】outcome/2026-09-05_research_progress/02_findings.md、analysis/trip_powertrain_changes.csv（同フォルダ）</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の図は、作った候補ごとに電気バスの台数と評価額を対応させています。高PVで28台、低PVで21台の候補を選びました。ここで重要なのは、電気バスの台数だけで費用が決まらないことです。エンジンバスを含む総台数や担当便、充電できる時間も違います。22候補の中で選んだという意味で読み、全ての配車の中で一番安いことを示す図とは扱いません。</a:t>
            </a:r>
          </a:p>
          <a:p xmlns:a="http://schemas.openxmlformats.org/drawingml/2006/main">
            <a:r>
              <a:t/>
            </a:r>
          </a:p>
          <a:p xmlns:a="http://schemas.openxmlformats.org/drawingml/2006/main">
            <a:r>
              <a:t>【補足】</a:t>
            </a:r>
          </a:p>
          <a:p xmlns:a="http://schemas.openxmlformats.org/drawingml/2006/main">
            <a:r>
              <a:t>この図は候補を選ぶ前日評価額です。次のスライドの一日を更新した後の評価額とは区別します。低PVの採用候補と次点の前日評価額差は約567円です。差が小さいので追加確認したい、とは言えますが、選択が不安定と証明したわけではありません。</a:t>
            </a:r>
          </a:p>
          <a:p xmlns:a="http://schemas.openxmlformats.org/drawingml/2006/main">
            <a:r>
              <a:t/>
            </a:r>
          </a:p>
          <a:p xmlns:a="http://schemas.openxmlformats.org/drawingml/2006/main">
            <a:r>
              <a:t>【出典】docs/thesis/authoring_v1/tables/cross_weather_candidate_analysis_summary.json、outcome/2026-09-05_august_progress_revision/speaker_notes.md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こでは採用案の一日を通した評価額を比べます。高PVは約66万1千円、低PVは約69万9千円で、差は約3万8千円です。その約88%は燃料費の差でした。9月5日の追加整理では、両条件に共通する車両使用費64万円を分けました。それを除く部分は約2万1千円と約5万9千円です。これで、大きな総額のどこが同じで、どこが変わったかを説明しやすくなりました。</a:t>
            </a:r>
          </a:p>
          <a:p xmlns:a="http://schemas.openxmlformats.org/drawingml/2006/main">
            <a:r>
              <a:t/>
            </a:r>
          </a:p>
          <a:p xmlns:a="http://schemas.openxmlformats.org/drawingml/2006/main">
            <a:r>
              <a:t>【補足】</a:t>
            </a:r>
          </a:p>
          <a:p xmlns:a="http://schemas.openxmlformats.org/drawingml/2006/main">
            <a:r>
              <a:t>最終金額はRolling後の実行日会計が出典です。小数表示は高PV660,983.78円、低PV698,598.63円です。元の精度で計算した差は37,614.84円で、表示値同士の引き算とは丸めのため1銭ずれることがあります。これはPV条件の違いに対する二計画の比較で、旧手法より安くなったという比較ではありません。</a:t>
            </a:r>
          </a:p>
          <a:p xmlns:a="http://schemas.openxmlformats.org/drawingml/2006/main">
            <a:r>
              <a:t/>
            </a:r>
          </a:p>
          <a:p xmlns:a="http://schemas.openxmlformats.org/drawingml/2006/main">
            <a:r>
              <a:t>【出典】outcome/2026-09-05_research_progress/02_findings.md、docs/evidence/weather_dispatch_rerun_bb0c005/SUNNY/executed_day_accounting.json、RAIN/executed_day_accounting.json（同根拠フォルダ）</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矢印は一日合計の電気の量を表しています。高PVでは発電が約6,056キロワット時あり、そのうち約3,373キロワット時を使わず抑制しています。低PVでは約996キロワット時をほぼ使い切り、系統から約131キロワット時を補っています。蓄電池へ入れた量と出た量の差には充放電の損失があります。日初と日末の残量をそろえているため、最初に蓄えた電気を使い切って安く見せる比較ではありません。</a:t>
            </a:r>
          </a:p>
          <a:p xmlns:a="http://schemas.openxmlformats.org/drawingml/2006/main">
            <a:r>
              <a:t/>
            </a:r>
          </a:p>
          <a:p xmlns:a="http://schemas.openxmlformats.org/drawingml/2006/main">
            <a:r>
              <a:t>【追加分析で分かったこと】</a:t>
            </a:r>
          </a:p>
          <a:p xmlns:a="http://schemas.openxmlformats.org/drawingml/2006/main">
            <a:r>
              <a:t>日合計だけでは、太陽光が余った原因を特定できません。9月5日に15分枠を調べると、高PVの抑制量の75.06%は充電電力のない枠で発生していました。ただし、未充電だからバスが不在だったとは言えません。BESSが満杯、充電器が全部使用中という単純な原因説明も、この記録だけでは裏付けられません。</a:t>
            </a:r>
          </a:p>
          <a:p xmlns:a="http://schemas.openxmlformats.org/drawingml/2006/main">
            <a:r>
              <a:t/>
            </a:r>
          </a:p>
          <a:p xmlns:a="http://schemas.openxmlformats.org/drawingml/2006/main">
            <a:r>
              <a:t>【出典】outcome/2026-09-05_research_progress/02_findings.md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こまでの結果を一覧にしました。高PVでは電気バスの担当が多く、低PVでは燃料と系統購入が増えました。両条件とも264便を担当し、24回の更新と物理、会計の確認を通りました。一方、高PVでも太陽光をかなり抑制しており、その原因の切り分けは今後の課題です。</a:t>
            </a:r>
          </a:p>
          <a:p xmlns:a="http://schemas.openxmlformats.org/drawingml/2006/main">
            <a:r>
              <a:t/>
            </a:r>
          </a:p>
          <a:p xmlns:a="http://schemas.openxmlformats.org/drawingml/2006/main">
            <a:r>
              <a:t>【聞かれたら】</a:t>
            </a:r>
          </a:p>
          <a:p xmlns:a="http://schemas.openxmlformats.org/drawingml/2006/main">
            <a:r>
              <a:t>約9.52%と1.66%は配車を作るStage 1の認証gapです。二段階全体や、最終費用が最安値から何％ずれているかを保証する数字ではありません。「物理的に走れる」「金額が合う」「一番安い」「研究発表として承認された」はそれぞれ別の確認です。</a:t>
            </a:r>
          </a:p>
          <a:p xmlns:a="http://schemas.openxmlformats.org/drawingml/2006/main">
            <a:r>
              <a:t/>
            </a:r>
          </a:p>
          <a:p xmlns:a="http://schemas.openxmlformats.org/drawingml/2006/main">
            <a:r>
              <a:t>【出典】docs/evidence/weather_dispatch_rerun_bb0c005/result_summary.json、outcome/2026-09-05_research_progress/02_findings.md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一日を1時間ずつ進め、その時点の電池残量を次の計算へ引き継いで、残りの電力計画を更新します。これを24回つなぎ、実行した部分を15分単位の96区間にまとめました。その一日について、同じ便を重複して担当していないか、次の便に間に合うか、電池や充電器の制限を守るかを確認しました。費用も一日の正本と図表が一致するようにしています。</a:t>
            </a:r>
          </a:p>
          <a:p xmlns:a="http://schemas.openxmlformats.org/drawingml/2006/main">
            <a:r>
              <a:t/>
            </a:r>
          </a:p>
          <a:p xmlns:a="http://schemas.openxmlformats.org/drawingml/2006/main">
            <a:r>
              <a:t>【以前との違い】</a:t>
            </a:r>
          </a:p>
          <a:p xmlns:a="http://schemas.openxmlformats.org/drawingml/2006/main">
            <a:r>
              <a:t>計算が終了したか、日合計がそれらしく見えるかだけでなく、時間ごとのつながりと入力、コード、出力の対応を確認できるようにしました。ただしモデル上の逐次計算で、実車を24時間運行した実績ではありません。また、毎時の更新では配車そのものは変えていません。</a:t>
            </a:r>
          </a:p>
          <a:p xmlns:a="http://schemas.openxmlformats.org/drawingml/2006/main">
            <a:r>
              <a:t/>
            </a:r>
          </a:p>
          <a:p xmlns:a="http://schemas.openxmlformats.org/drawingml/2006/main">
            <a:r>
              <a:t>【出典】docs/evidence/weather_dispatch_rerun_bb0c005/result_summary.json、outcome/2026-09-05_august_progress_revision/speaker_notes.md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今回、条件を守る計画とその説明材料は得られました。一方、全ての配車の中で最も安いかは分かりません。22候補を増やしたときに同じ案を選ぶかも確認が必要です。太陽光は二条件だけなので、季節や別の営業所への一般化もできません。さらに、設備や電費にはケース設定を使っており、実車の裏付けや費用項目の拡充が課題です。</a:t>
            </a:r>
          </a:p>
          <a:p xmlns:a="http://schemas.openxmlformats.org/drawingml/2006/main">
            <a:r>
              <a:t/>
            </a:r>
          </a:p>
          <a:p xmlns:a="http://schemas.openxmlformats.org/drawingml/2006/main">
            <a:r>
              <a:t>【差分の言い方】</a:t>
            </a:r>
          </a:p>
          <a:p xmlns:a="http://schemas.openxmlformats.org/drawingml/2006/main">
            <a:r>
              <a:t>以前より、どこまで確認済みで、何の実験が足りないかを具体的に説明できるようになりました。検算が通ったから研究が完成したとは言わず、小規模な参照解との比較や、条件を変えた確認へつなげます。人間のレビューと承認も別に必要です。</a:t>
            </a:r>
          </a:p>
          <a:p xmlns:a="http://schemas.openxmlformats.org/drawingml/2006/main">
            <a:r>
              <a:t/>
            </a:r>
          </a:p>
          <a:p xmlns:a="http://schemas.openxmlformats.org/drawingml/2006/main">
            <a:r>
              <a:t>【出典】outcome/2026-09-05_research_progress/03_next_experiments.md、docs/evidence/weather_dispatch_rerun_bb0c005/result_summary.json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次は8便、12便、24便の小さな問題で、現在の二段階方式と、配車と電力を一体で考える参照方法を比べたいと考えています。小さくするのは、答えを詳しく調べられる範囲で、現在方式の選び方を確かめるためです。その後、候補範囲と計算時間を一度に変えず、分けて変えて選択結果を確認します。今日は、発表で扱う範囲とgapの開示、低PVの次点確認、費用項目の範囲についてご相談したいです。</a:t>
            </a:r>
          </a:p>
          <a:p xmlns:a="http://schemas.openxmlformats.org/drawingml/2006/main">
            <a:r>
              <a:t/>
            </a:r>
          </a:p>
          <a:p xmlns:a="http://schemas.openxmlformats.org/drawingml/2006/main">
            <a:r>
              <a:t>【実施状況】</a:t>
            </a:r>
          </a:p>
          <a:p xmlns:a="http://schemas.openxmlformats.org/drawingml/2006/main">
            <a:r>
              <a:t>追加実験は計画段階です。目的の定義が異なる参照との評価額差を、そのまま二段階化だけの誤差とは呼べません。単純な固定配車・先着順充電との比較も別途ルールを決める必要があります。承認を受けて条件を固定してから実行します。</a:t>
            </a:r>
          </a:p>
          <a:p xmlns:a="http://schemas.openxmlformats.org/drawingml/2006/main">
            <a:r>
              <a:t/>
            </a:r>
          </a:p>
          <a:p xmlns:a="http://schemas.openxmlformats.org/drawingml/2006/main">
            <a:r>
              <a:t>【出典】docs/research/november_2026/signoff/01_decision_sheet.md、outcome/2026-09-05_research_progress/03_next_experiments.md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参考文献は、図表の構成や運行と電力を結び付ける考え方を整理するために使いました。図中の計算結果は本研究の入力と結果に基づいています。まとめると、今回の進捗は、複数候補を比べて二つの異なる実行可能な配車を確認し、その違いを便、電力、費用の内訳まで説明できるようにしたことです。次は、現在方式がどの程度よい判断をしているかを小規模な参照方法との比較で確かめます。以上です。</a:t>
            </a:r>
          </a:p>
          <a:p xmlns:a="http://schemas.openxmlformats.org/drawingml/2006/main">
            <a:r>
              <a:t/>
            </a:r>
          </a:p>
          <a:p xmlns:a="http://schemas.openxmlformats.org/drawingml/2006/main">
            <a:r>
              <a:t>【補足】</a:t>
            </a:r>
          </a:p>
          <a:p xmlns:a="http://schemas.openxmlformats.org/drawingml/2006/main">
            <a:r>
              <a:t>先行研究の数値を本研究の性能保証に使いません。文献の確認範囲と追加比較候補は9月5日の文献整理を参照します。</a:t>
            </a:r>
          </a:p>
          <a:p xmlns:a="http://schemas.openxmlformats.org/drawingml/2006/main">
            <a:r>
              <a:t/>
            </a:r>
          </a:p>
          <a:p xmlns:a="http://schemas.openxmlformats.org/drawingml/2006/main">
            <a:r>
              <a:t>【出典】元資料18枚目、outcome/2026-09-05_literature_review/README.md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5.svg"/><Relationship Id="rId7"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sv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1.sv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4.svg"/><Relationship Id="rId4" Type="http://schemas.openxmlformats.org/officeDocument/2006/relationships/image" Target="../media/image23.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1F2A5A"/>
          </a:solidFill>
          <a:ln w="12700">
            <a:solidFill>
              <a:srgbClr val="1F2A5A"/>
            </a:solidFill>
            <a:prstDash val="solid"/>
          </a:ln>
        </p:spPr>
        <p:txBody>
          <a:bodyPr/>
          <a:lstStyle/>
          <a:p>
            <a:endParaRPr lang="ja-JP" altLang="en-US"/>
          </a:p>
        </p:txBody>
      </p:sp>
      <p:sp>
        <p:nvSpPr>
          <p:cNvPr id="3" name="Shape 1"/>
          <p:cNvSpPr/>
          <p:nvPr/>
        </p:nvSpPr>
        <p:spPr>
          <a:xfrm>
            <a:off x="594360" y="1051560"/>
            <a:ext cx="10972800" cy="1298448"/>
          </a:xfrm>
          <a:prstGeom prst="roundRect">
            <a:avLst/>
          </a:prstGeom>
          <a:solidFill>
            <a:srgbClr val="1F2A5A"/>
          </a:solidFill>
          <a:ln w="12700">
            <a:solidFill>
              <a:srgbClr val="1F2A5A"/>
            </a:solidFill>
            <a:prstDash val="solid"/>
          </a:ln>
        </p:spPr>
        <p:txBody>
          <a:bodyPr/>
          <a:lstStyle/>
          <a:p>
            <a:endParaRPr lang="ja-JP" altLang="en-US"/>
          </a:p>
        </p:txBody>
      </p:sp>
      <p:sp>
        <p:nvSpPr>
          <p:cNvPr id="4" name="Text 2"/>
          <p:cNvSpPr/>
          <p:nvPr/>
        </p:nvSpPr>
        <p:spPr>
          <a:xfrm>
            <a:off x="960120" y="1344168"/>
            <a:ext cx="10241280" cy="658368"/>
          </a:xfrm>
          <a:prstGeom prst="rect">
            <a:avLst/>
          </a:prstGeom>
          <a:noFill/>
          <a:ln/>
        </p:spPr>
        <p:txBody>
          <a:bodyPr wrap="square" lIns="0" tIns="0" rIns="0" bIns="0" rtlCol="0" anchor="ctr"/>
          <a:lstStyle/>
          <a:p>
            <a:pPr marL="0" indent="0" algn="ctr">
              <a:buNone/>
            </a:pPr>
            <a:r>
              <a:rPr lang="en-US" sz="3400" b="1" dirty="0">
                <a:solidFill>
                  <a:srgbClr val="FFFFFF"/>
                </a:solidFill>
                <a:latin typeface="Noto Sans CJK JP" pitchFamily="34" charset="0"/>
                <a:ea typeface="Noto Sans CJK JP" pitchFamily="34" charset="-122"/>
                <a:cs typeface="Noto Sans CJK JP" pitchFamily="34" charset="-120"/>
              </a:rPr>
              <a:t>修士論文研究　8月進捗報告</a:t>
            </a:r>
            <a:endParaRPr lang="en-US" sz="3400" dirty="0"/>
          </a:p>
        </p:txBody>
      </p:sp>
      <p:sp>
        <p:nvSpPr>
          <p:cNvPr id="5" name="Text 3"/>
          <p:cNvSpPr/>
          <p:nvPr/>
        </p:nvSpPr>
        <p:spPr>
          <a:xfrm>
            <a:off x="1143000" y="2679192"/>
            <a:ext cx="9921240" cy="658368"/>
          </a:xfrm>
          <a:prstGeom prst="rect">
            <a:avLst/>
          </a:prstGeom>
          <a:noFill/>
          <a:ln/>
        </p:spPr>
        <p:txBody>
          <a:bodyPr wrap="square" lIns="0" tIns="0" rIns="0" bIns="0" rtlCol="0" anchor="ctr"/>
          <a:lstStyle/>
          <a:p>
            <a:pPr marL="0" indent="0" algn="ctr">
              <a:buNone/>
            </a:pPr>
            <a:r>
              <a:rPr lang="en-US" sz="2200" b="1" dirty="0">
                <a:solidFill>
                  <a:srgbClr val="172033"/>
                </a:solidFill>
                <a:latin typeface="Noto Sans CJK JP" pitchFamily="34" charset="0"/>
                <a:ea typeface="Noto Sans CJK JP" pitchFamily="34" charset="-122"/>
                <a:cs typeface="Noto Sans CJK JP" pitchFamily="34" charset="-120"/>
              </a:rPr>
              <a:t>PV余剰電力を考慮した BEV／エンジンバス混成運用の配車・充電計画</a:t>
            </a:r>
            <a:endParaRPr lang="en-US" sz="2200" dirty="0"/>
          </a:p>
        </p:txBody>
      </p:sp>
      <p:sp>
        <p:nvSpPr>
          <p:cNvPr id="6" name="Text 4"/>
          <p:cNvSpPr/>
          <p:nvPr/>
        </p:nvSpPr>
        <p:spPr>
          <a:xfrm>
            <a:off x="1920240" y="3419856"/>
            <a:ext cx="8366760" cy="365760"/>
          </a:xfrm>
          <a:prstGeom prst="rect">
            <a:avLst/>
          </a:prstGeom>
          <a:noFill/>
          <a:ln/>
        </p:spPr>
        <p:txBody>
          <a:bodyPr wrap="square" lIns="0" tIns="0" rIns="0" bIns="0" rtlCol="0" anchor="ctr"/>
          <a:lstStyle/>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 前回からの改善点と、11月に向けた次の検証 ―</a:t>
            </a:r>
            <a:endParaRPr lang="en-US" sz="16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4680" y="4187952"/>
            <a:ext cx="658368" cy="658368"/>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4133088"/>
            <a:ext cx="841248" cy="713232"/>
          </a:xfrm>
          <a:prstGeom prst="rect">
            <a:avLst/>
          </a:prstGeom>
        </p:spPr>
      </p:pic>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73952" y="4206240"/>
            <a:ext cx="749808" cy="621792"/>
          </a:xfrm>
          <a:prstGeom prst="rect">
            <a:avLst/>
          </a:prstGeom>
        </p:spPr>
      </p:pic>
      <p:sp>
        <p:nvSpPr>
          <p:cNvPr id="10" name="Shape 5"/>
          <p:cNvSpPr/>
          <p:nvPr/>
        </p:nvSpPr>
        <p:spPr>
          <a:xfrm>
            <a:off x="3794760" y="4526280"/>
            <a:ext cx="822960" cy="0"/>
          </a:xfrm>
          <a:prstGeom prst="line">
            <a:avLst/>
          </a:prstGeom>
          <a:noFill/>
          <a:ln w="25400">
            <a:solidFill>
              <a:srgbClr val="A5AFBD"/>
            </a:solidFill>
            <a:prstDash val="solid"/>
          </a:ln>
        </p:spPr>
        <p:txBody>
          <a:bodyPr/>
          <a:lstStyle/>
          <a:p>
            <a:endParaRPr lang="ja-JP" altLang="en-US"/>
          </a:p>
        </p:txBody>
      </p:sp>
      <p:sp>
        <p:nvSpPr>
          <p:cNvPr id="11" name="Shape 6"/>
          <p:cNvSpPr/>
          <p:nvPr/>
        </p:nvSpPr>
        <p:spPr>
          <a:xfrm>
            <a:off x="5559552" y="4526280"/>
            <a:ext cx="868680" cy="0"/>
          </a:xfrm>
          <a:prstGeom prst="line">
            <a:avLst/>
          </a:prstGeom>
          <a:noFill/>
          <a:ln w="25400">
            <a:solidFill>
              <a:srgbClr val="A5AFBD"/>
            </a:solidFill>
            <a:prstDash val="solid"/>
          </a:ln>
        </p:spPr>
        <p:txBody>
          <a:bodyPr/>
          <a:lstStyle/>
          <a:p>
            <a:endParaRPr lang="ja-JP" altLang="en-US"/>
          </a:p>
        </p:txBody>
      </p:sp>
      <p:sp>
        <p:nvSpPr>
          <p:cNvPr id="12" name="Text 7"/>
          <p:cNvSpPr/>
          <p:nvPr/>
        </p:nvSpPr>
        <p:spPr>
          <a:xfrm>
            <a:off x="1965960" y="5879592"/>
            <a:ext cx="8275320" cy="310896"/>
          </a:xfrm>
          <a:prstGeom prst="rect">
            <a:avLst/>
          </a:prstGeom>
          <a:noFill/>
          <a:ln/>
        </p:spPr>
        <p:txBody>
          <a:bodyPr wrap="square" lIns="0" tIns="0" rIns="0" bIns="0" rtlCol="0" anchor="ctr"/>
          <a:lstStyle/>
          <a:p>
            <a:pPr marL="0" indent="0" algn="ctr">
              <a:buNone/>
            </a:pPr>
            <a:r>
              <a:rPr lang="en-US" sz="1350" dirty="0">
                <a:solidFill>
                  <a:srgbClr val="687386"/>
                </a:solidFill>
                <a:latin typeface="Noto Sans CJK JP" pitchFamily="34" charset="0"/>
                <a:ea typeface="Noto Sans CJK JP" pitchFamily="34" charset="-122"/>
                <a:cs typeface="Noto Sans CJK JP" pitchFamily="34" charset="-120"/>
              </a:rPr>
              <a:t>2026年8月31日　電力システム研究室　劉 承洋</a:t>
            </a:r>
            <a:endParaRPr lang="en-US" sz="1350" dirty="0"/>
          </a:p>
        </p:txBody>
      </p:sp>
      <p:sp>
        <p:nvSpPr>
          <p:cNvPr id="13" name="Text 8"/>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1/18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研究背景：電気バスは「車両」だけでなく「運行と電力」を一緒に考える必要がある</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2/18</a:t>
            </a:r>
            <a:endParaRPr lang="en-US" sz="850" dirty="0"/>
          </a:p>
        </p:txBody>
      </p:sp>
      <p:sp>
        <p:nvSpPr>
          <p:cNvPr id="6" name="Text 4"/>
          <p:cNvSpPr/>
          <p:nvPr/>
        </p:nvSpPr>
        <p:spPr>
          <a:xfrm>
            <a:off x="640080" y="868680"/>
            <a:ext cx="10927080" cy="438912"/>
          </a:xfrm>
          <a:prstGeom prst="rect">
            <a:avLst/>
          </a:prstGeom>
          <a:noFill/>
          <a:ln/>
        </p:spPr>
        <p:txBody>
          <a:bodyPr wrap="square" lIns="0" tIns="0" rIns="0" bIns="0" rtlCol="0" anchor="ctr"/>
          <a:lstStyle/>
          <a:p>
            <a:pPr marL="0" indent="0" algn="ctr">
              <a:buNone/>
            </a:pPr>
            <a:r>
              <a:rPr lang="en-US" sz="1800" dirty="0">
                <a:solidFill>
                  <a:srgbClr val="172033"/>
                </a:solidFill>
                <a:latin typeface="Noto Sans CJK JP" pitchFamily="34" charset="0"/>
                <a:ea typeface="Noto Sans CJK JP" pitchFamily="34" charset="-122"/>
                <a:cs typeface="Noto Sans CJK JP" pitchFamily="34" charset="-120"/>
              </a:rPr>
              <a:t>交通分野の脱炭素化に向けて電気バスの導入が進む一方、営業所では次の3つを同時に満たす必要がある。</a:t>
            </a:r>
            <a:endParaRPr lang="en-US" sz="1800" dirty="0"/>
          </a:p>
        </p:txBody>
      </p:sp>
      <p:sp>
        <p:nvSpPr>
          <p:cNvPr id="7" name="Shape 5"/>
          <p:cNvSpPr/>
          <p:nvPr/>
        </p:nvSpPr>
        <p:spPr>
          <a:xfrm>
            <a:off x="68580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9928" y="1856232"/>
            <a:ext cx="731520" cy="731520"/>
          </a:xfrm>
          <a:prstGeom prst="rect">
            <a:avLst/>
          </a:prstGeom>
        </p:spPr>
      </p:pic>
      <p:sp>
        <p:nvSpPr>
          <p:cNvPr id="9" name="Text 6"/>
          <p:cNvSpPr/>
          <p:nvPr/>
        </p:nvSpPr>
        <p:spPr>
          <a:xfrm>
            <a:off x="1005840" y="2670048"/>
            <a:ext cx="2148840" cy="347472"/>
          </a:xfrm>
          <a:prstGeom prst="rect">
            <a:avLst/>
          </a:prstGeom>
          <a:noFill/>
          <a:ln/>
        </p:spPr>
        <p:txBody>
          <a:bodyPr wrap="square" lIns="0" tIns="0" rIns="0" bIns="0" rtlCol="0" anchor="ctr"/>
          <a:lstStyle/>
          <a:p>
            <a:pPr marL="0" indent="0" algn="ctr">
              <a:buNone/>
            </a:pPr>
            <a:r>
              <a:rPr lang="en-US" sz="2100" b="1" dirty="0">
                <a:solidFill>
                  <a:srgbClr val="172033"/>
                </a:solidFill>
                <a:latin typeface="Noto Sans CJK JP" pitchFamily="34" charset="0"/>
                <a:ea typeface="Noto Sans CJK JP" pitchFamily="34" charset="-122"/>
                <a:cs typeface="Noto Sans CJK JP" pitchFamily="34" charset="-120"/>
              </a:rPr>
              <a:t>運行</a:t>
            </a:r>
            <a:endParaRPr lang="en-US" sz="2100" dirty="0"/>
          </a:p>
        </p:txBody>
      </p:sp>
      <p:sp>
        <p:nvSpPr>
          <p:cNvPr id="10" name="Text 7"/>
          <p:cNvSpPr/>
          <p:nvPr/>
        </p:nvSpPr>
        <p:spPr>
          <a:xfrm>
            <a:off x="1005840" y="3108960"/>
            <a:ext cx="2148840" cy="658368"/>
          </a:xfrm>
          <a:prstGeom prst="rect">
            <a:avLst/>
          </a:prstGeom>
          <a:noFill/>
          <a:ln/>
        </p:spPr>
        <p:txBody>
          <a:bodyPr wrap="square" lIns="0" tIns="0" rIns="0" bIns="0" rtlCol="0" anchor="ctr"/>
          <a:lstStyle/>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決められた便を</a:t>
            </a:r>
            <a:endParaRPr lang="en-US" sz="1600" dirty="0"/>
          </a:p>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欠かさず走らせる</a:t>
            </a:r>
            <a:endParaRPr lang="en-US" sz="1600" dirty="0"/>
          </a:p>
        </p:txBody>
      </p:sp>
      <p:sp>
        <p:nvSpPr>
          <p:cNvPr id="11" name="Shape 8"/>
          <p:cNvSpPr/>
          <p:nvPr/>
        </p:nvSpPr>
        <p:spPr>
          <a:xfrm>
            <a:off x="425196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76088" y="1856232"/>
            <a:ext cx="731520" cy="731520"/>
          </a:xfrm>
          <a:prstGeom prst="rect">
            <a:avLst/>
          </a:prstGeom>
        </p:spPr>
      </p:pic>
      <p:sp>
        <p:nvSpPr>
          <p:cNvPr id="13" name="Text 9"/>
          <p:cNvSpPr/>
          <p:nvPr/>
        </p:nvSpPr>
        <p:spPr>
          <a:xfrm>
            <a:off x="4572000" y="2670048"/>
            <a:ext cx="2148840" cy="347472"/>
          </a:xfrm>
          <a:prstGeom prst="rect">
            <a:avLst/>
          </a:prstGeom>
          <a:noFill/>
          <a:ln/>
        </p:spPr>
        <p:txBody>
          <a:bodyPr wrap="square" lIns="0" tIns="0" rIns="0" bIns="0" rtlCol="0" anchor="ctr"/>
          <a:lstStyle/>
          <a:p>
            <a:pPr marL="0" indent="0" algn="ctr">
              <a:buNone/>
            </a:pPr>
            <a:r>
              <a:rPr lang="en-US" sz="2100" b="1" dirty="0">
                <a:solidFill>
                  <a:srgbClr val="172033"/>
                </a:solidFill>
                <a:latin typeface="Noto Sans CJK JP" pitchFamily="34" charset="0"/>
                <a:ea typeface="Noto Sans CJK JP" pitchFamily="34" charset="-122"/>
                <a:cs typeface="Noto Sans CJK JP" pitchFamily="34" charset="-120"/>
              </a:rPr>
              <a:t>充電・設備</a:t>
            </a:r>
            <a:endParaRPr lang="en-US" sz="2100" dirty="0"/>
          </a:p>
        </p:txBody>
      </p:sp>
      <p:sp>
        <p:nvSpPr>
          <p:cNvPr id="14" name="Text 10"/>
          <p:cNvSpPr/>
          <p:nvPr/>
        </p:nvSpPr>
        <p:spPr>
          <a:xfrm>
            <a:off x="4572000" y="3108960"/>
            <a:ext cx="2148840" cy="658368"/>
          </a:xfrm>
          <a:prstGeom prst="rect">
            <a:avLst/>
          </a:prstGeom>
          <a:noFill/>
          <a:ln/>
        </p:spPr>
        <p:txBody>
          <a:bodyPr wrap="square" lIns="0" tIns="0" rIns="0" bIns="0" rtlCol="0" anchor="ctr"/>
          <a:lstStyle/>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限られた充電器と</a:t>
            </a:r>
            <a:endParaRPr lang="en-US" sz="1600" dirty="0"/>
          </a:p>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受電容量の中で充電する</a:t>
            </a:r>
            <a:endParaRPr lang="en-US" sz="1600" dirty="0"/>
          </a:p>
        </p:txBody>
      </p:sp>
      <p:sp>
        <p:nvSpPr>
          <p:cNvPr id="15" name="Shape 11"/>
          <p:cNvSpPr/>
          <p:nvPr/>
        </p:nvSpPr>
        <p:spPr>
          <a:xfrm>
            <a:off x="781812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42248" y="1856232"/>
            <a:ext cx="731520" cy="731520"/>
          </a:xfrm>
          <a:prstGeom prst="rect">
            <a:avLst/>
          </a:prstGeom>
        </p:spPr>
      </p:pic>
      <p:sp>
        <p:nvSpPr>
          <p:cNvPr id="17" name="Text 12"/>
          <p:cNvSpPr/>
          <p:nvPr/>
        </p:nvSpPr>
        <p:spPr>
          <a:xfrm>
            <a:off x="8138160" y="2670048"/>
            <a:ext cx="2148840" cy="347472"/>
          </a:xfrm>
          <a:prstGeom prst="rect">
            <a:avLst/>
          </a:prstGeom>
          <a:noFill/>
          <a:ln/>
        </p:spPr>
        <p:txBody>
          <a:bodyPr wrap="square" lIns="0" tIns="0" rIns="0" bIns="0" rtlCol="0" anchor="ctr"/>
          <a:lstStyle/>
          <a:p>
            <a:pPr marL="0" indent="0" algn="ctr">
              <a:buNone/>
            </a:pPr>
            <a:r>
              <a:rPr lang="en-US" sz="2100" b="1" dirty="0">
                <a:solidFill>
                  <a:srgbClr val="172033"/>
                </a:solidFill>
                <a:latin typeface="Noto Sans CJK JP" pitchFamily="34" charset="0"/>
                <a:ea typeface="Noto Sans CJK JP" pitchFamily="34" charset="-122"/>
                <a:cs typeface="Noto Sans CJK JP" pitchFamily="34" charset="-120"/>
              </a:rPr>
              <a:t>再生可能エネルギー</a:t>
            </a:r>
            <a:endParaRPr lang="en-US" sz="2100" dirty="0"/>
          </a:p>
        </p:txBody>
      </p:sp>
      <p:sp>
        <p:nvSpPr>
          <p:cNvPr id="18" name="Text 13"/>
          <p:cNvSpPr/>
          <p:nvPr/>
        </p:nvSpPr>
        <p:spPr>
          <a:xfrm>
            <a:off x="8138160" y="3108960"/>
            <a:ext cx="2148840" cy="658368"/>
          </a:xfrm>
          <a:prstGeom prst="rect">
            <a:avLst/>
          </a:prstGeom>
          <a:noFill/>
          <a:ln/>
        </p:spPr>
        <p:txBody>
          <a:bodyPr wrap="square" lIns="0" tIns="0" rIns="0" bIns="0" rtlCol="0" anchor="ctr"/>
          <a:lstStyle/>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時間で変わるPVを</a:t>
            </a:r>
            <a:endParaRPr lang="en-US" sz="1600" dirty="0"/>
          </a:p>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できるだけ有効に使う</a:t>
            </a:r>
            <a:endParaRPr lang="en-US" sz="1600" dirty="0"/>
          </a:p>
        </p:txBody>
      </p:sp>
      <p:sp>
        <p:nvSpPr>
          <p:cNvPr id="19" name="Shape 14"/>
          <p:cNvSpPr/>
          <p:nvPr/>
        </p:nvSpPr>
        <p:spPr>
          <a:xfrm>
            <a:off x="1097280" y="4343400"/>
            <a:ext cx="9966960" cy="1225296"/>
          </a:xfrm>
          <a:prstGeom prst="roundRect">
            <a:avLst/>
          </a:prstGeom>
          <a:solidFill>
            <a:srgbClr val="EAF2FB"/>
          </a:solidFill>
          <a:ln w="15240">
            <a:solidFill>
              <a:srgbClr val="356BB3"/>
            </a:solidFill>
            <a:prstDash val="solid"/>
          </a:ln>
        </p:spPr>
        <p:txBody>
          <a:bodyPr/>
          <a:lstStyle/>
          <a:p>
            <a:endParaRPr lang="ja-JP" altLang="en-US"/>
          </a:p>
        </p:txBody>
      </p:sp>
      <p:sp>
        <p:nvSpPr>
          <p:cNvPr id="20" name="Text 15"/>
          <p:cNvSpPr/>
          <p:nvPr/>
        </p:nvSpPr>
        <p:spPr>
          <a:xfrm>
            <a:off x="1417320" y="4553712"/>
            <a:ext cx="1645920" cy="320040"/>
          </a:xfrm>
          <a:prstGeom prst="rect">
            <a:avLst/>
          </a:prstGeom>
          <a:noFill/>
          <a:ln/>
        </p:spPr>
        <p:txBody>
          <a:bodyPr wrap="square" lIns="0" tIns="0" rIns="0" bIns="0" rtlCol="0" anchor="ctr"/>
          <a:lstStyle/>
          <a:p>
            <a:pPr marL="0" indent="0">
              <a:buNone/>
            </a:pPr>
            <a:r>
              <a:rPr lang="en-US" sz="1800" b="1" dirty="0">
                <a:solidFill>
                  <a:srgbClr val="356BB3"/>
                </a:solidFill>
                <a:latin typeface="Noto Sans CJK JP" pitchFamily="34" charset="0"/>
                <a:ea typeface="Noto Sans CJK JP" pitchFamily="34" charset="-122"/>
                <a:cs typeface="Noto Sans CJK JP" pitchFamily="34" charset="-120"/>
              </a:rPr>
              <a:t>研究のねらい</a:t>
            </a:r>
            <a:endParaRPr lang="en-US" sz="1800" dirty="0"/>
          </a:p>
        </p:txBody>
      </p:sp>
      <p:sp>
        <p:nvSpPr>
          <p:cNvPr id="21" name="Text 16"/>
          <p:cNvSpPr/>
          <p:nvPr/>
        </p:nvSpPr>
        <p:spPr>
          <a:xfrm>
            <a:off x="2788920" y="4498848"/>
            <a:ext cx="7726680" cy="749808"/>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「どの便を電気バスに任せるか」と「いつ、どの電源で充電するか」をまとめて考え、</a:t>
            </a:r>
            <a:endParaRPr lang="en-US" sz="1800" dirty="0"/>
          </a:p>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全便運行を守りながら、PV・蓄電池を使いやすい運用を探す。</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先行研究から整理した「示すべき図表」と本研究の位置づけ</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3/18</a:t>
            </a:r>
            <a:endParaRPr lang="en-US" sz="850" dirty="0"/>
          </a:p>
        </p:txBody>
      </p:sp>
      <p:sp>
        <p:nvSpPr>
          <p:cNvPr id="6" name="Text 4"/>
          <p:cNvSpPr/>
          <p:nvPr/>
        </p:nvSpPr>
        <p:spPr>
          <a:xfrm>
            <a:off x="685800" y="859536"/>
            <a:ext cx="10835640" cy="329184"/>
          </a:xfrm>
          <a:prstGeom prst="rect">
            <a:avLst/>
          </a:prstGeom>
          <a:noFill/>
          <a:ln/>
        </p:spPr>
        <p:txBody>
          <a:bodyPr wrap="square" lIns="0" tIns="0" rIns="0" bIns="0" rtlCol="0" anchor="ctr"/>
          <a:lstStyle/>
          <a:p>
            <a:pPr marL="0" indent="0" algn="ctr">
              <a:buNone/>
            </a:pPr>
            <a:r>
              <a:rPr lang="en-US" sz="1750" dirty="0">
                <a:solidFill>
                  <a:srgbClr val="687386"/>
                </a:solidFill>
                <a:latin typeface="Noto Sans CJK JP" pitchFamily="34" charset="0"/>
                <a:ea typeface="Noto Sans CJK JP" pitchFamily="34" charset="-122"/>
                <a:cs typeface="Noto Sans CJK JP" pitchFamily="34" charset="-120"/>
              </a:rPr>
              <a:t>電気バス研究では、システム構成・入力条件・時間変化・費用との関係をセットで示す例が多い。</a:t>
            </a:r>
            <a:endParaRPr lang="en-US" sz="1750" dirty="0"/>
          </a:p>
        </p:txBody>
      </p:sp>
      <p:sp>
        <p:nvSpPr>
          <p:cNvPr id="7" name="Shape 5"/>
          <p:cNvSpPr/>
          <p:nvPr/>
        </p:nvSpPr>
        <p:spPr>
          <a:xfrm>
            <a:off x="621792" y="1371600"/>
            <a:ext cx="2834640" cy="630936"/>
          </a:xfrm>
          <a:prstGeom prst="rect">
            <a:avLst/>
          </a:prstGeom>
          <a:solidFill>
            <a:srgbClr val="1F2A5A"/>
          </a:solidFill>
          <a:ln w="8890">
            <a:solidFill>
              <a:srgbClr val="EEF1F5"/>
            </a:solidFill>
            <a:prstDash val="solid"/>
          </a:ln>
        </p:spPr>
        <p:txBody>
          <a:bodyPr/>
          <a:lstStyle/>
          <a:p>
            <a:endParaRPr lang="ja-JP" altLang="en-US"/>
          </a:p>
        </p:txBody>
      </p:sp>
      <p:sp>
        <p:nvSpPr>
          <p:cNvPr id="8" name="Text 6"/>
          <p:cNvSpPr/>
          <p:nvPr/>
        </p:nvSpPr>
        <p:spPr>
          <a:xfrm>
            <a:off x="676656" y="1403604"/>
            <a:ext cx="2724912" cy="566928"/>
          </a:xfrm>
          <a:prstGeom prst="rect">
            <a:avLst/>
          </a:prstGeom>
          <a:noFill/>
          <a:ln/>
        </p:spPr>
        <p:txBody>
          <a:bodyPr wrap="square" lIns="0" tIns="0" rIns="0" bIns="0" rtlCol="0" anchor="ctr">
            <a:normAutofit/>
          </a:bodyPr>
          <a:lstStyle/>
          <a:p>
            <a:pPr marL="0" indent="0" algn="l">
              <a:buNone/>
            </a:pPr>
            <a:r>
              <a:rPr lang="en-US" sz="1320" b="1" dirty="0">
                <a:solidFill>
                  <a:srgbClr val="FFFFFF"/>
                </a:solidFill>
                <a:latin typeface="Noto Sans CJK JP" pitchFamily="34" charset="0"/>
                <a:ea typeface="Noto Sans CJK JP" pitchFamily="34" charset="-122"/>
                <a:cs typeface="Noto Sans CJK JP" pitchFamily="34" charset="-120"/>
              </a:rPr>
              <a:t>先行研究でよく示す内容</a:t>
            </a:r>
            <a:endParaRPr lang="en-US" sz="1320" dirty="0"/>
          </a:p>
        </p:txBody>
      </p:sp>
      <p:sp>
        <p:nvSpPr>
          <p:cNvPr id="9" name="Shape 7"/>
          <p:cNvSpPr/>
          <p:nvPr/>
        </p:nvSpPr>
        <p:spPr>
          <a:xfrm>
            <a:off x="3456432" y="1371600"/>
            <a:ext cx="3794760" cy="630936"/>
          </a:xfrm>
          <a:prstGeom prst="rect">
            <a:avLst/>
          </a:prstGeom>
          <a:solidFill>
            <a:srgbClr val="1F2A5A"/>
          </a:solidFill>
          <a:ln w="8890">
            <a:solidFill>
              <a:srgbClr val="EEF1F5"/>
            </a:solidFill>
            <a:prstDash val="solid"/>
          </a:ln>
        </p:spPr>
        <p:txBody>
          <a:bodyPr/>
          <a:lstStyle/>
          <a:p>
            <a:endParaRPr lang="ja-JP" altLang="en-US"/>
          </a:p>
        </p:txBody>
      </p:sp>
      <p:sp>
        <p:nvSpPr>
          <p:cNvPr id="10" name="Text 8"/>
          <p:cNvSpPr/>
          <p:nvPr/>
        </p:nvSpPr>
        <p:spPr>
          <a:xfrm>
            <a:off x="3511296" y="1403604"/>
            <a:ext cx="3685032" cy="566928"/>
          </a:xfrm>
          <a:prstGeom prst="rect">
            <a:avLst/>
          </a:prstGeom>
          <a:noFill/>
          <a:ln/>
        </p:spPr>
        <p:txBody>
          <a:bodyPr wrap="square" lIns="0" tIns="0" rIns="0" bIns="0" rtlCol="0" anchor="ctr">
            <a:normAutofit/>
          </a:bodyPr>
          <a:lstStyle/>
          <a:p>
            <a:pPr marL="0" indent="0" algn="l">
              <a:buNone/>
            </a:pPr>
            <a:r>
              <a:rPr lang="en-US" sz="1320" b="1" dirty="0">
                <a:solidFill>
                  <a:srgbClr val="FFFFFF"/>
                </a:solidFill>
                <a:latin typeface="Noto Sans CJK JP" pitchFamily="34" charset="0"/>
                <a:ea typeface="Noto Sans CJK JP" pitchFamily="34" charset="-122"/>
                <a:cs typeface="Noto Sans CJK JP" pitchFamily="34" charset="-120"/>
              </a:rPr>
              <a:t>本資料で対応する図・表</a:t>
            </a:r>
            <a:endParaRPr lang="en-US" sz="1320" dirty="0"/>
          </a:p>
        </p:txBody>
      </p:sp>
      <p:sp>
        <p:nvSpPr>
          <p:cNvPr id="11" name="Shape 9"/>
          <p:cNvSpPr/>
          <p:nvPr/>
        </p:nvSpPr>
        <p:spPr>
          <a:xfrm>
            <a:off x="7251192" y="1371600"/>
            <a:ext cx="4315968" cy="630936"/>
          </a:xfrm>
          <a:prstGeom prst="rect">
            <a:avLst/>
          </a:prstGeom>
          <a:solidFill>
            <a:srgbClr val="1F2A5A"/>
          </a:solidFill>
          <a:ln w="8890">
            <a:solidFill>
              <a:srgbClr val="EEF1F5"/>
            </a:solidFill>
            <a:prstDash val="solid"/>
          </a:ln>
        </p:spPr>
        <p:txBody>
          <a:bodyPr/>
          <a:lstStyle/>
          <a:p>
            <a:endParaRPr lang="ja-JP" altLang="en-US"/>
          </a:p>
        </p:txBody>
      </p:sp>
      <p:sp>
        <p:nvSpPr>
          <p:cNvPr id="12" name="Text 10"/>
          <p:cNvSpPr/>
          <p:nvPr/>
        </p:nvSpPr>
        <p:spPr>
          <a:xfrm>
            <a:off x="7306056" y="1403604"/>
            <a:ext cx="4206240" cy="566928"/>
          </a:xfrm>
          <a:prstGeom prst="rect">
            <a:avLst/>
          </a:prstGeom>
          <a:noFill/>
          <a:ln/>
        </p:spPr>
        <p:txBody>
          <a:bodyPr wrap="square" lIns="0" tIns="0" rIns="0" bIns="0" rtlCol="0" anchor="ctr">
            <a:normAutofit/>
          </a:bodyPr>
          <a:lstStyle/>
          <a:p>
            <a:pPr marL="0" indent="0" algn="l">
              <a:buNone/>
            </a:pPr>
            <a:r>
              <a:rPr lang="en-US" sz="1320" b="1" dirty="0">
                <a:solidFill>
                  <a:srgbClr val="FFFFFF"/>
                </a:solidFill>
                <a:latin typeface="Noto Sans CJK JP" pitchFamily="34" charset="0"/>
                <a:ea typeface="Noto Sans CJK JP" pitchFamily="34" charset="-122"/>
                <a:cs typeface="Noto Sans CJK JP" pitchFamily="34" charset="-120"/>
              </a:rPr>
              <a:t>参考にした文献</a:t>
            </a:r>
            <a:endParaRPr lang="en-US" sz="1320" dirty="0"/>
          </a:p>
        </p:txBody>
      </p:sp>
      <p:sp>
        <p:nvSpPr>
          <p:cNvPr id="13" name="Shape 11"/>
          <p:cNvSpPr/>
          <p:nvPr/>
        </p:nvSpPr>
        <p:spPr>
          <a:xfrm>
            <a:off x="621792" y="2002536"/>
            <a:ext cx="2834640" cy="630936"/>
          </a:xfrm>
          <a:prstGeom prst="rect">
            <a:avLst/>
          </a:prstGeom>
          <a:solidFill>
            <a:srgbClr val="FFFFFF"/>
          </a:solidFill>
          <a:ln w="8890">
            <a:solidFill>
              <a:srgbClr val="EEF1F5"/>
            </a:solidFill>
            <a:prstDash val="solid"/>
          </a:ln>
        </p:spPr>
        <p:txBody>
          <a:bodyPr/>
          <a:lstStyle/>
          <a:p>
            <a:endParaRPr lang="ja-JP" altLang="en-US"/>
          </a:p>
        </p:txBody>
      </p:sp>
      <p:sp>
        <p:nvSpPr>
          <p:cNvPr id="14" name="Text 12"/>
          <p:cNvSpPr/>
          <p:nvPr/>
        </p:nvSpPr>
        <p:spPr>
          <a:xfrm>
            <a:off x="676656" y="2034540"/>
            <a:ext cx="2724912" cy="566928"/>
          </a:xfrm>
          <a:prstGeom prst="rect">
            <a:avLst/>
          </a:prstGeom>
          <a:noFill/>
          <a:ln/>
        </p:spPr>
        <p:txBody>
          <a:bodyPr wrap="square" lIns="0" tIns="0" rIns="0" bIns="0" rtlCol="0" anchor="ctr">
            <a:normAutofit/>
          </a:bodyPr>
          <a:lstStyle/>
          <a:p>
            <a:pPr marL="0" indent="0" algn="l">
              <a:buNone/>
            </a:pPr>
            <a:r>
              <a:rPr lang="en-US" sz="1220" b="1" dirty="0">
                <a:solidFill>
                  <a:srgbClr val="172033"/>
                </a:solidFill>
                <a:latin typeface="Noto Sans CJK JP" pitchFamily="34" charset="0"/>
                <a:ea typeface="Noto Sans CJK JP" pitchFamily="34" charset="-122"/>
                <a:cs typeface="Noto Sans CJK JP" pitchFamily="34" charset="-120"/>
              </a:rPr>
              <a:t>営業所・車両・電力設備の構成図</a:t>
            </a:r>
            <a:endParaRPr lang="en-US" sz="1220" dirty="0"/>
          </a:p>
        </p:txBody>
      </p:sp>
      <p:sp>
        <p:nvSpPr>
          <p:cNvPr id="15" name="Shape 13"/>
          <p:cNvSpPr/>
          <p:nvPr/>
        </p:nvSpPr>
        <p:spPr>
          <a:xfrm>
            <a:off x="3456432" y="2002536"/>
            <a:ext cx="3794760" cy="630936"/>
          </a:xfrm>
          <a:prstGeom prst="rect">
            <a:avLst/>
          </a:prstGeom>
          <a:solidFill>
            <a:srgbClr val="FFFFFF"/>
          </a:solidFill>
          <a:ln w="8890">
            <a:solidFill>
              <a:srgbClr val="EEF1F5"/>
            </a:solidFill>
            <a:prstDash val="solid"/>
          </a:ln>
        </p:spPr>
        <p:txBody>
          <a:bodyPr/>
          <a:lstStyle/>
          <a:p>
            <a:endParaRPr lang="ja-JP" altLang="en-US"/>
          </a:p>
        </p:txBody>
      </p:sp>
      <p:sp>
        <p:nvSpPr>
          <p:cNvPr id="16" name="Text 14"/>
          <p:cNvSpPr/>
          <p:nvPr/>
        </p:nvSpPr>
        <p:spPr>
          <a:xfrm>
            <a:off x="3511296" y="2034540"/>
            <a:ext cx="3685032"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対象営業所と比較条件の図</a:t>
            </a:r>
            <a:endParaRPr lang="en-US" sz="1220" dirty="0"/>
          </a:p>
        </p:txBody>
      </p:sp>
      <p:sp>
        <p:nvSpPr>
          <p:cNvPr id="17" name="Shape 15"/>
          <p:cNvSpPr/>
          <p:nvPr/>
        </p:nvSpPr>
        <p:spPr>
          <a:xfrm>
            <a:off x="7251192" y="2002536"/>
            <a:ext cx="4315968" cy="630936"/>
          </a:xfrm>
          <a:prstGeom prst="rect">
            <a:avLst/>
          </a:prstGeom>
          <a:solidFill>
            <a:srgbClr val="FFFFFF"/>
          </a:solidFill>
          <a:ln w="8890">
            <a:solidFill>
              <a:srgbClr val="EEF1F5"/>
            </a:solidFill>
            <a:prstDash val="solid"/>
          </a:ln>
        </p:spPr>
        <p:txBody>
          <a:bodyPr/>
          <a:lstStyle/>
          <a:p>
            <a:endParaRPr lang="ja-JP" altLang="en-US"/>
          </a:p>
        </p:txBody>
      </p:sp>
      <p:sp>
        <p:nvSpPr>
          <p:cNvPr id="18" name="Text 16"/>
          <p:cNvSpPr/>
          <p:nvPr/>
        </p:nvSpPr>
        <p:spPr>
          <a:xfrm>
            <a:off x="7306056" y="2034540"/>
            <a:ext cx="4206240"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Najafi et al. (2025), Fei et al. (2023)</a:t>
            </a:r>
            <a:endParaRPr lang="en-US" sz="1220" dirty="0"/>
          </a:p>
        </p:txBody>
      </p:sp>
      <p:sp>
        <p:nvSpPr>
          <p:cNvPr id="19" name="Shape 17"/>
          <p:cNvSpPr/>
          <p:nvPr/>
        </p:nvSpPr>
        <p:spPr>
          <a:xfrm>
            <a:off x="621792" y="2633472"/>
            <a:ext cx="2834640" cy="630936"/>
          </a:xfrm>
          <a:prstGeom prst="rect">
            <a:avLst/>
          </a:prstGeom>
          <a:solidFill>
            <a:srgbClr val="F8FAFC"/>
          </a:solidFill>
          <a:ln w="8890">
            <a:solidFill>
              <a:srgbClr val="EEF1F5"/>
            </a:solidFill>
            <a:prstDash val="solid"/>
          </a:ln>
        </p:spPr>
        <p:txBody>
          <a:bodyPr/>
          <a:lstStyle/>
          <a:p>
            <a:endParaRPr lang="ja-JP" altLang="en-US"/>
          </a:p>
        </p:txBody>
      </p:sp>
      <p:sp>
        <p:nvSpPr>
          <p:cNvPr id="20" name="Text 18"/>
          <p:cNvSpPr/>
          <p:nvPr/>
        </p:nvSpPr>
        <p:spPr>
          <a:xfrm>
            <a:off x="676656" y="2665476"/>
            <a:ext cx="2724912" cy="566928"/>
          </a:xfrm>
          <a:prstGeom prst="rect">
            <a:avLst/>
          </a:prstGeom>
          <a:noFill/>
          <a:ln/>
        </p:spPr>
        <p:txBody>
          <a:bodyPr wrap="square" lIns="0" tIns="0" rIns="0" bIns="0" rtlCol="0" anchor="ctr">
            <a:normAutofit/>
          </a:bodyPr>
          <a:lstStyle/>
          <a:p>
            <a:pPr marL="0" indent="0" algn="l">
              <a:buNone/>
            </a:pPr>
            <a:r>
              <a:rPr lang="en-US" sz="1220" b="1" dirty="0">
                <a:solidFill>
                  <a:srgbClr val="172033"/>
                </a:solidFill>
                <a:latin typeface="Noto Sans CJK JP" pitchFamily="34" charset="0"/>
                <a:ea typeface="Noto Sans CJK JP" pitchFamily="34" charset="-122"/>
                <a:cs typeface="Noto Sans CJK JP" pitchFamily="34" charset="-120"/>
              </a:rPr>
              <a:t>電池・充電器・SOC・価格などの入力表</a:t>
            </a:r>
            <a:endParaRPr lang="en-US" sz="1220" dirty="0"/>
          </a:p>
        </p:txBody>
      </p:sp>
      <p:sp>
        <p:nvSpPr>
          <p:cNvPr id="21" name="Shape 19"/>
          <p:cNvSpPr/>
          <p:nvPr/>
        </p:nvSpPr>
        <p:spPr>
          <a:xfrm>
            <a:off x="3456432" y="2633472"/>
            <a:ext cx="3794760" cy="630936"/>
          </a:xfrm>
          <a:prstGeom prst="rect">
            <a:avLst/>
          </a:prstGeom>
          <a:solidFill>
            <a:srgbClr val="F8FAFC"/>
          </a:solidFill>
          <a:ln w="8890">
            <a:solidFill>
              <a:srgbClr val="EEF1F5"/>
            </a:solidFill>
            <a:prstDash val="solid"/>
          </a:ln>
        </p:spPr>
        <p:txBody>
          <a:bodyPr/>
          <a:lstStyle/>
          <a:p>
            <a:endParaRPr lang="ja-JP" altLang="en-US"/>
          </a:p>
        </p:txBody>
      </p:sp>
      <p:sp>
        <p:nvSpPr>
          <p:cNvPr id="22" name="Text 20"/>
          <p:cNvSpPr/>
          <p:nvPr/>
        </p:nvSpPr>
        <p:spPr>
          <a:xfrm>
            <a:off x="3511296" y="2665476"/>
            <a:ext cx="3685032"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車両・設備・費用・計算条件の表</a:t>
            </a:r>
            <a:endParaRPr lang="en-US" sz="1220" dirty="0"/>
          </a:p>
        </p:txBody>
      </p:sp>
      <p:sp>
        <p:nvSpPr>
          <p:cNvPr id="23" name="Shape 21"/>
          <p:cNvSpPr/>
          <p:nvPr/>
        </p:nvSpPr>
        <p:spPr>
          <a:xfrm>
            <a:off x="7251192" y="2633472"/>
            <a:ext cx="4315968" cy="630936"/>
          </a:xfrm>
          <a:prstGeom prst="rect">
            <a:avLst/>
          </a:prstGeom>
          <a:solidFill>
            <a:srgbClr val="F8FAFC"/>
          </a:solidFill>
          <a:ln w="8890">
            <a:solidFill>
              <a:srgbClr val="EEF1F5"/>
            </a:solidFill>
            <a:prstDash val="solid"/>
          </a:ln>
        </p:spPr>
        <p:txBody>
          <a:bodyPr/>
          <a:lstStyle/>
          <a:p>
            <a:endParaRPr lang="ja-JP" altLang="en-US"/>
          </a:p>
        </p:txBody>
      </p:sp>
      <p:sp>
        <p:nvSpPr>
          <p:cNvPr id="24" name="Text 22"/>
          <p:cNvSpPr/>
          <p:nvPr/>
        </p:nvSpPr>
        <p:spPr>
          <a:xfrm>
            <a:off x="7306056" y="2665476"/>
            <a:ext cx="4206240"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Fei et al. (2023), Zhang et al. (2025)</a:t>
            </a:r>
            <a:endParaRPr lang="en-US" sz="1220" dirty="0"/>
          </a:p>
        </p:txBody>
      </p:sp>
      <p:sp>
        <p:nvSpPr>
          <p:cNvPr id="25" name="Shape 23"/>
          <p:cNvSpPr/>
          <p:nvPr/>
        </p:nvSpPr>
        <p:spPr>
          <a:xfrm>
            <a:off x="621792" y="3264408"/>
            <a:ext cx="2834640" cy="630936"/>
          </a:xfrm>
          <a:prstGeom prst="rect">
            <a:avLst/>
          </a:prstGeom>
          <a:solidFill>
            <a:srgbClr val="FFFFFF"/>
          </a:solidFill>
          <a:ln w="8890">
            <a:solidFill>
              <a:srgbClr val="EEF1F5"/>
            </a:solidFill>
            <a:prstDash val="solid"/>
          </a:ln>
        </p:spPr>
        <p:txBody>
          <a:bodyPr/>
          <a:lstStyle/>
          <a:p>
            <a:endParaRPr lang="ja-JP" altLang="en-US"/>
          </a:p>
        </p:txBody>
      </p:sp>
      <p:sp>
        <p:nvSpPr>
          <p:cNvPr id="26" name="Text 24"/>
          <p:cNvSpPr/>
          <p:nvPr/>
        </p:nvSpPr>
        <p:spPr>
          <a:xfrm>
            <a:off x="676656" y="3296412"/>
            <a:ext cx="2724912" cy="566928"/>
          </a:xfrm>
          <a:prstGeom prst="rect">
            <a:avLst/>
          </a:prstGeom>
          <a:noFill/>
          <a:ln/>
        </p:spPr>
        <p:txBody>
          <a:bodyPr wrap="square" lIns="0" tIns="0" rIns="0" bIns="0" rtlCol="0" anchor="ctr">
            <a:normAutofit/>
          </a:bodyPr>
          <a:lstStyle/>
          <a:p>
            <a:pPr marL="0" indent="0" algn="l">
              <a:buNone/>
            </a:pPr>
            <a:r>
              <a:rPr lang="en-US" sz="1220" b="1" dirty="0">
                <a:solidFill>
                  <a:srgbClr val="172033"/>
                </a:solidFill>
                <a:latin typeface="Noto Sans CJK JP" pitchFamily="34" charset="0"/>
                <a:ea typeface="Noto Sans CJK JP" pitchFamily="34" charset="-122"/>
                <a:cs typeface="Noto Sans CJK JP" pitchFamily="34" charset="-120"/>
              </a:rPr>
              <a:t>一日の充電・PV・蓄電池の動き</a:t>
            </a:r>
            <a:endParaRPr lang="en-US" sz="1220" dirty="0"/>
          </a:p>
        </p:txBody>
      </p:sp>
      <p:sp>
        <p:nvSpPr>
          <p:cNvPr id="27" name="Shape 25"/>
          <p:cNvSpPr/>
          <p:nvPr/>
        </p:nvSpPr>
        <p:spPr>
          <a:xfrm>
            <a:off x="3456432" y="3264408"/>
            <a:ext cx="3794760" cy="630936"/>
          </a:xfrm>
          <a:prstGeom prst="rect">
            <a:avLst/>
          </a:prstGeom>
          <a:solidFill>
            <a:srgbClr val="FFFFFF"/>
          </a:solidFill>
          <a:ln w="8890">
            <a:solidFill>
              <a:srgbClr val="EEF1F5"/>
            </a:solidFill>
            <a:prstDash val="solid"/>
          </a:ln>
        </p:spPr>
        <p:txBody>
          <a:bodyPr/>
          <a:lstStyle/>
          <a:p>
            <a:endParaRPr lang="ja-JP" altLang="en-US"/>
          </a:p>
        </p:txBody>
      </p:sp>
      <p:sp>
        <p:nvSpPr>
          <p:cNvPr id="28" name="Text 26"/>
          <p:cNvSpPr/>
          <p:nvPr/>
        </p:nvSpPr>
        <p:spPr>
          <a:xfrm>
            <a:off x="3511296" y="3296412"/>
            <a:ext cx="3685032"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PV利用、BESS、系統購入の流れ</a:t>
            </a:r>
            <a:endParaRPr lang="en-US" sz="1220" dirty="0"/>
          </a:p>
        </p:txBody>
      </p:sp>
      <p:sp>
        <p:nvSpPr>
          <p:cNvPr id="29" name="Shape 27"/>
          <p:cNvSpPr/>
          <p:nvPr/>
        </p:nvSpPr>
        <p:spPr>
          <a:xfrm>
            <a:off x="7251192" y="3264408"/>
            <a:ext cx="4315968" cy="630936"/>
          </a:xfrm>
          <a:prstGeom prst="rect">
            <a:avLst/>
          </a:prstGeom>
          <a:solidFill>
            <a:srgbClr val="FFFFFF"/>
          </a:solidFill>
          <a:ln w="8890">
            <a:solidFill>
              <a:srgbClr val="EEF1F5"/>
            </a:solidFill>
            <a:prstDash val="solid"/>
          </a:ln>
        </p:spPr>
        <p:txBody>
          <a:bodyPr/>
          <a:lstStyle/>
          <a:p>
            <a:endParaRPr lang="ja-JP" altLang="en-US"/>
          </a:p>
        </p:txBody>
      </p:sp>
      <p:sp>
        <p:nvSpPr>
          <p:cNvPr id="30" name="Text 28"/>
          <p:cNvSpPr/>
          <p:nvPr/>
        </p:nvSpPr>
        <p:spPr>
          <a:xfrm>
            <a:off x="7306056" y="3296412"/>
            <a:ext cx="4206240"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Fei et al. (2023), Najafi et al. (2025)</a:t>
            </a:r>
            <a:endParaRPr lang="en-US" sz="1220" dirty="0"/>
          </a:p>
        </p:txBody>
      </p:sp>
      <p:sp>
        <p:nvSpPr>
          <p:cNvPr id="31" name="Shape 29"/>
          <p:cNvSpPr/>
          <p:nvPr/>
        </p:nvSpPr>
        <p:spPr>
          <a:xfrm>
            <a:off x="621792" y="3895344"/>
            <a:ext cx="2834640" cy="630936"/>
          </a:xfrm>
          <a:prstGeom prst="rect">
            <a:avLst/>
          </a:prstGeom>
          <a:solidFill>
            <a:srgbClr val="F8FAFC"/>
          </a:solidFill>
          <a:ln w="8890">
            <a:solidFill>
              <a:srgbClr val="EEF1F5"/>
            </a:solidFill>
            <a:prstDash val="solid"/>
          </a:ln>
        </p:spPr>
        <p:txBody>
          <a:bodyPr/>
          <a:lstStyle/>
          <a:p>
            <a:endParaRPr lang="ja-JP" altLang="en-US"/>
          </a:p>
        </p:txBody>
      </p:sp>
      <p:sp>
        <p:nvSpPr>
          <p:cNvPr id="32" name="Text 30"/>
          <p:cNvSpPr/>
          <p:nvPr/>
        </p:nvSpPr>
        <p:spPr>
          <a:xfrm>
            <a:off x="676656" y="3927348"/>
            <a:ext cx="2724912" cy="566928"/>
          </a:xfrm>
          <a:prstGeom prst="rect">
            <a:avLst/>
          </a:prstGeom>
          <a:noFill/>
          <a:ln/>
        </p:spPr>
        <p:txBody>
          <a:bodyPr wrap="square" lIns="0" tIns="0" rIns="0" bIns="0" rtlCol="0" anchor="ctr">
            <a:normAutofit/>
          </a:bodyPr>
          <a:lstStyle/>
          <a:p>
            <a:pPr marL="0" indent="0" algn="l">
              <a:buNone/>
            </a:pPr>
            <a:r>
              <a:rPr lang="en-US" sz="1220" b="1" dirty="0">
                <a:solidFill>
                  <a:srgbClr val="172033"/>
                </a:solidFill>
                <a:latin typeface="Noto Sans CJK JP" pitchFamily="34" charset="0"/>
                <a:ea typeface="Noto Sans CJK JP" pitchFamily="34" charset="-122"/>
                <a:cs typeface="Noto Sans CJK JP" pitchFamily="34" charset="-120"/>
              </a:rPr>
              <a:t>車両構成と費用・収益の関係</a:t>
            </a:r>
            <a:endParaRPr lang="en-US" sz="1220" dirty="0"/>
          </a:p>
        </p:txBody>
      </p:sp>
      <p:sp>
        <p:nvSpPr>
          <p:cNvPr id="33" name="Shape 31"/>
          <p:cNvSpPr/>
          <p:nvPr/>
        </p:nvSpPr>
        <p:spPr>
          <a:xfrm>
            <a:off x="3456432" y="3895344"/>
            <a:ext cx="3794760" cy="630936"/>
          </a:xfrm>
          <a:prstGeom prst="rect">
            <a:avLst/>
          </a:prstGeom>
          <a:solidFill>
            <a:srgbClr val="F8FAFC"/>
          </a:solidFill>
          <a:ln w="8890">
            <a:solidFill>
              <a:srgbClr val="EEF1F5"/>
            </a:solidFill>
            <a:prstDash val="solid"/>
          </a:ln>
        </p:spPr>
        <p:txBody>
          <a:bodyPr/>
          <a:lstStyle/>
          <a:p>
            <a:endParaRPr lang="ja-JP" altLang="en-US"/>
          </a:p>
        </p:txBody>
      </p:sp>
      <p:sp>
        <p:nvSpPr>
          <p:cNvPr id="34" name="Text 32"/>
          <p:cNvSpPr/>
          <p:nvPr/>
        </p:nvSpPr>
        <p:spPr>
          <a:xfrm>
            <a:off x="3511296" y="3927348"/>
            <a:ext cx="3685032"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22配車候補のBEV台数と評価額</a:t>
            </a:r>
            <a:endParaRPr lang="en-US" sz="1220" dirty="0"/>
          </a:p>
        </p:txBody>
      </p:sp>
      <p:sp>
        <p:nvSpPr>
          <p:cNvPr id="35" name="Shape 33"/>
          <p:cNvSpPr/>
          <p:nvPr/>
        </p:nvSpPr>
        <p:spPr>
          <a:xfrm>
            <a:off x="7251192" y="3895344"/>
            <a:ext cx="4315968" cy="630936"/>
          </a:xfrm>
          <a:prstGeom prst="rect">
            <a:avLst/>
          </a:prstGeom>
          <a:solidFill>
            <a:srgbClr val="F8FAFC"/>
          </a:solidFill>
          <a:ln w="8890">
            <a:solidFill>
              <a:srgbClr val="EEF1F5"/>
            </a:solidFill>
            <a:prstDash val="solid"/>
          </a:ln>
        </p:spPr>
        <p:txBody>
          <a:bodyPr/>
          <a:lstStyle/>
          <a:p>
            <a:endParaRPr lang="ja-JP" altLang="en-US"/>
          </a:p>
        </p:txBody>
      </p:sp>
      <p:sp>
        <p:nvSpPr>
          <p:cNvPr id="36" name="Text 34"/>
          <p:cNvSpPr/>
          <p:nvPr/>
        </p:nvSpPr>
        <p:spPr>
          <a:xfrm>
            <a:off x="7306056" y="3927348"/>
            <a:ext cx="4206240"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Fei et al. (2023)</a:t>
            </a:r>
            <a:endParaRPr lang="en-US" sz="1220" dirty="0"/>
          </a:p>
        </p:txBody>
      </p:sp>
      <p:sp>
        <p:nvSpPr>
          <p:cNvPr id="37" name="Shape 35"/>
          <p:cNvSpPr/>
          <p:nvPr/>
        </p:nvSpPr>
        <p:spPr>
          <a:xfrm>
            <a:off x="621792" y="4526280"/>
            <a:ext cx="2834640" cy="630936"/>
          </a:xfrm>
          <a:prstGeom prst="rect">
            <a:avLst/>
          </a:prstGeom>
          <a:solidFill>
            <a:srgbClr val="FFFFFF"/>
          </a:solidFill>
          <a:ln w="8890">
            <a:solidFill>
              <a:srgbClr val="EEF1F5"/>
            </a:solidFill>
            <a:prstDash val="solid"/>
          </a:ln>
        </p:spPr>
        <p:txBody>
          <a:bodyPr/>
          <a:lstStyle/>
          <a:p>
            <a:endParaRPr lang="ja-JP" altLang="en-US"/>
          </a:p>
        </p:txBody>
      </p:sp>
      <p:sp>
        <p:nvSpPr>
          <p:cNvPr id="38" name="Text 36"/>
          <p:cNvSpPr/>
          <p:nvPr/>
        </p:nvSpPr>
        <p:spPr>
          <a:xfrm>
            <a:off x="676656" y="4558284"/>
            <a:ext cx="2724912" cy="566928"/>
          </a:xfrm>
          <a:prstGeom prst="rect">
            <a:avLst/>
          </a:prstGeom>
          <a:noFill/>
          <a:ln/>
        </p:spPr>
        <p:txBody>
          <a:bodyPr wrap="square" lIns="0" tIns="0" rIns="0" bIns="0" rtlCol="0" anchor="ctr">
            <a:normAutofit/>
          </a:bodyPr>
          <a:lstStyle/>
          <a:p>
            <a:pPr marL="0" indent="0" algn="l">
              <a:buNone/>
            </a:pPr>
            <a:r>
              <a:rPr lang="en-US" sz="1220" b="1" dirty="0">
                <a:solidFill>
                  <a:srgbClr val="172033"/>
                </a:solidFill>
                <a:latin typeface="Noto Sans CJK JP" pitchFamily="34" charset="0"/>
                <a:ea typeface="Noto Sans CJK JP" pitchFamily="34" charset="-122"/>
                <a:cs typeface="Noto Sans CJK JP" pitchFamily="34" charset="-120"/>
              </a:rPr>
              <a:t>便ごとの消費量をどう扱うか</a:t>
            </a:r>
            <a:endParaRPr lang="en-US" sz="1220" dirty="0"/>
          </a:p>
        </p:txBody>
      </p:sp>
      <p:sp>
        <p:nvSpPr>
          <p:cNvPr id="39" name="Shape 37"/>
          <p:cNvSpPr/>
          <p:nvPr/>
        </p:nvSpPr>
        <p:spPr>
          <a:xfrm>
            <a:off x="3456432" y="4526280"/>
            <a:ext cx="3794760" cy="630936"/>
          </a:xfrm>
          <a:prstGeom prst="rect">
            <a:avLst/>
          </a:prstGeom>
          <a:solidFill>
            <a:srgbClr val="FFFFFF"/>
          </a:solidFill>
          <a:ln w="8890">
            <a:solidFill>
              <a:srgbClr val="EEF1F5"/>
            </a:solidFill>
            <a:prstDash val="solid"/>
          </a:ln>
        </p:spPr>
        <p:txBody>
          <a:bodyPr/>
          <a:lstStyle/>
          <a:p>
            <a:endParaRPr lang="ja-JP" altLang="en-US"/>
          </a:p>
        </p:txBody>
      </p:sp>
      <p:sp>
        <p:nvSpPr>
          <p:cNvPr id="40" name="Text 38"/>
          <p:cNvSpPr/>
          <p:nvPr/>
        </p:nvSpPr>
        <p:spPr>
          <a:xfrm>
            <a:off x="3511296" y="4558284"/>
            <a:ext cx="3685032"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便別入力を用いた配車・充電計算</a:t>
            </a:r>
            <a:endParaRPr lang="en-US" sz="1220" dirty="0"/>
          </a:p>
        </p:txBody>
      </p:sp>
      <p:sp>
        <p:nvSpPr>
          <p:cNvPr id="41" name="Shape 39"/>
          <p:cNvSpPr/>
          <p:nvPr/>
        </p:nvSpPr>
        <p:spPr>
          <a:xfrm>
            <a:off x="7251192" y="4526280"/>
            <a:ext cx="4315968" cy="630936"/>
          </a:xfrm>
          <a:prstGeom prst="rect">
            <a:avLst/>
          </a:prstGeom>
          <a:solidFill>
            <a:srgbClr val="FFFFFF"/>
          </a:solidFill>
          <a:ln w="8890">
            <a:solidFill>
              <a:srgbClr val="EEF1F5"/>
            </a:solidFill>
            <a:prstDash val="solid"/>
          </a:ln>
        </p:spPr>
        <p:txBody>
          <a:bodyPr/>
          <a:lstStyle/>
          <a:p>
            <a:endParaRPr lang="ja-JP" altLang="en-US"/>
          </a:p>
        </p:txBody>
      </p:sp>
      <p:sp>
        <p:nvSpPr>
          <p:cNvPr id="42" name="Text 40"/>
          <p:cNvSpPr/>
          <p:nvPr/>
        </p:nvSpPr>
        <p:spPr>
          <a:xfrm>
            <a:off x="7306056" y="4558284"/>
            <a:ext cx="4206240"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He et al. (2023), Zhang et al. (2024)</a:t>
            </a:r>
            <a:endParaRPr lang="en-US" sz="1220" dirty="0"/>
          </a:p>
        </p:txBody>
      </p:sp>
      <p:sp>
        <p:nvSpPr>
          <p:cNvPr id="43" name="Shape 41"/>
          <p:cNvSpPr/>
          <p:nvPr/>
        </p:nvSpPr>
        <p:spPr>
          <a:xfrm>
            <a:off x="932688" y="5440680"/>
            <a:ext cx="10332720" cy="658368"/>
          </a:xfrm>
          <a:prstGeom prst="roundRect">
            <a:avLst/>
          </a:prstGeom>
          <a:solidFill>
            <a:srgbClr val="E8F6F3"/>
          </a:solidFill>
          <a:ln w="13970">
            <a:solidFill>
              <a:srgbClr val="1F9D8A"/>
            </a:solidFill>
            <a:prstDash val="solid"/>
          </a:ln>
        </p:spPr>
        <p:txBody>
          <a:bodyPr/>
          <a:lstStyle/>
          <a:p>
            <a:endParaRPr lang="ja-JP" altLang="en-US"/>
          </a:p>
        </p:txBody>
      </p:sp>
      <p:sp>
        <p:nvSpPr>
          <p:cNvPr id="44" name="Text 42"/>
          <p:cNvSpPr/>
          <p:nvPr/>
        </p:nvSpPr>
        <p:spPr>
          <a:xfrm>
            <a:off x="1170432" y="5596128"/>
            <a:ext cx="9875520" cy="301752"/>
          </a:xfrm>
          <a:prstGeom prst="rect">
            <a:avLst/>
          </a:prstGeom>
          <a:noFill/>
          <a:ln/>
        </p:spPr>
        <p:txBody>
          <a:bodyPr wrap="square" lIns="0" tIns="0" rIns="0" bIns="0" rtlCol="0" anchor="ctr"/>
          <a:lstStyle/>
          <a:p>
            <a:pPr marL="0" indent="0" algn="ctr">
              <a:buNone/>
            </a:pPr>
            <a:r>
              <a:rPr lang="en-US" sz="1650" b="1" dirty="0">
                <a:solidFill>
                  <a:srgbClr val="1F9D8A"/>
                </a:solidFill>
                <a:latin typeface="Noto Sans CJK JP" pitchFamily="34" charset="0"/>
                <a:ea typeface="Noto Sans CJK JP" pitchFamily="34" charset="-122"/>
                <a:cs typeface="Noto Sans CJK JP" pitchFamily="34" charset="-120"/>
              </a:rPr>
              <a:t>本研究の焦点：既存営業所の264便を対象に、BEV／ICEの担当便とPV・BESSを使う充電運用を同時に確認する</a:t>
            </a:r>
            <a:endParaRPr lang="en-US" sz="1650" dirty="0"/>
          </a:p>
        </p:txBody>
      </p:sp>
      <p:sp>
        <p:nvSpPr>
          <p:cNvPr id="45" name="Text 43"/>
          <p:cNvSpPr/>
          <p:nvPr/>
        </p:nvSpPr>
        <p:spPr>
          <a:xfrm>
            <a:off x="566928" y="6318504"/>
            <a:ext cx="10469880" cy="146304"/>
          </a:xfrm>
          <a:prstGeom prst="rect">
            <a:avLst/>
          </a:prstGeom>
          <a:noFill/>
          <a:ln/>
        </p:spPr>
        <p:txBody>
          <a:bodyPr wrap="square" lIns="0" tIns="0" rIns="0" bIns="0" rtlCol="0" anchor="ctr"/>
          <a:lstStyle/>
          <a:p>
            <a:pPr marL="0" indent="0">
              <a:buNone/>
            </a:pPr>
            <a:r>
              <a:rPr lang="en-US" sz="720" dirty="0">
                <a:solidFill>
                  <a:srgbClr val="7B8494"/>
                </a:solidFill>
                <a:latin typeface="Noto Sans CJK JP" pitchFamily="34" charset="0"/>
                <a:ea typeface="Noto Sans CJK JP" pitchFamily="34" charset="-122"/>
                <a:cs typeface="Noto Sans CJK JP" pitchFamily="34" charset="-120"/>
              </a:rPr>
              <a:t>参考：No07, No18, No36, No39, No42（添付文献）</a:t>
            </a:r>
            <a:endParaRPr lang="en-US" sz="7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実験対象：同じ平日264便に、PVの多い条件と少ない条件を与えて比較</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4/18</a:t>
            </a:r>
            <a:endParaRPr lang="en-US" sz="850" dirty="0"/>
          </a:p>
        </p:txBody>
      </p:sp>
      <p:sp>
        <p:nvSpPr>
          <p:cNvPr id="6" name="Shape 4"/>
          <p:cNvSpPr/>
          <p:nvPr/>
        </p:nvSpPr>
        <p:spPr>
          <a:xfrm>
            <a:off x="594360" y="914400"/>
            <a:ext cx="4572000" cy="5349240"/>
          </a:xfrm>
          <a:prstGeom prst="roundRect">
            <a:avLst>
              <a:gd name="adj" fmla="val 1600"/>
            </a:avLst>
          </a:prstGeom>
          <a:solidFill>
            <a:srgbClr val="F8FAFC"/>
          </a:solidFill>
          <a:ln w="12700">
            <a:solidFill>
              <a:srgbClr val="EEF1F5"/>
            </a:solidFill>
            <a:prstDash val="solid"/>
          </a:ln>
        </p:spPr>
        <p:txBody>
          <a:bodyPr/>
          <a:lstStyle/>
          <a:p>
            <a:endParaRPr lang="ja-JP" altLang="en-US"/>
          </a:p>
        </p:txBody>
      </p:sp>
      <p:sp>
        <p:nvSpPr>
          <p:cNvPr id="7" name="Text 5"/>
          <p:cNvSpPr/>
          <p:nvPr/>
        </p:nvSpPr>
        <p:spPr>
          <a:xfrm>
            <a:off x="896112" y="1143000"/>
            <a:ext cx="2011680" cy="329184"/>
          </a:xfrm>
          <a:prstGeom prst="rect">
            <a:avLst/>
          </a:prstGeom>
          <a:noFill/>
          <a:ln/>
        </p:spPr>
        <p:txBody>
          <a:bodyPr wrap="square" lIns="0" tIns="0" rIns="0" bIns="0" rtlCol="0" anchor="ctr"/>
          <a:lstStyle/>
          <a:p>
            <a:pPr marL="0" indent="0">
              <a:buNone/>
            </a:pPr>
            <a:r>
              <a:rPr lang="en-US" sz="2000" b="1" dirty="0">
                <a:solidFill>
                  <a:srgbClr val="172033"/>
                </a:solidFill>
                <a:latin typeface="Noto Sans CJK JP" pitchFamily="34" charset="0"/>
                <a:ea typeface="Noto Sans CJK JP" pitchFamily="34" charset="-122"/>
                <a:cs typeface="Noto Sans CJK JP" pitchFamily="34" charset="-120"/>
              </a:rPr>
              <a:t>共通して固定する条件</a:t>
            </a:r>
            <a:endParaRPr lang="en-US" sz="2000"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0120" y="1755648"/>
            <a:ext cx="548640" cy="502920"/>
          </a:xfrm>
          <a:prstGeom prst="rect">
            <a:avLst/>
          </a:prstGeom>
        </p:spPr>
      </p:pic>
      <p:sp>
        <p:nvSpPr>
          <p:cNvPr id="9" name="Text 6"/>
          <p:cNvSpPr/>
          <p:nvPr/>
        </p:nvSpPr>
        <p:spPr>
          <a:xfrm>
            <a:off x="1664208" y="1746504"/>
            <a:ext cx="2971800" cy="310896"/>
          </a:xfrm>
          <a:prstGeom prst="rect">
            <a:avLst/>
          </a:prstGeom>
          <a:noFill/>
          <a:ln/>
        </p:spPr>
        <p:txBody>
          <a:bodyPr wrap="square" lIns="0" tIns="0" rIns="0" bIns="0" rtlCol="0" anchor="ctr"/>
          <a:lstStyle/>
          <a:p>
            <a:pPr marL="0" indent="0">
              <a:buNone/>
            </a:pPr>
            <a:r>
              <a:rPr lang="en-US" sz="1750" b="1" dirty="0">
                <a:solidFill>
                  <a:srgbClr val="1F2A5A"/>
                </a:solidFill>
                <a:latin typeface="Noto Sans CJK JP" pitchFamily="34" charset="0"/>
                <a:ea typeface="Noto Sans CJK JP" pitchFamily="34" charset="-122"/>
                <a:cs typeface="Noto Sans CJK JP" pitchFamily="34" charset="-120"/>
              </a:rPr>
              <a:t>弦巻営業所・平日264便（16路線）</a:t>
            </a:r>
            <a:endParaRPr lang="en-US" sz="175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120" y="2487168"/>
            <a:ext cx="548640" cy="475488"/>
          </a:xfrm>
          <a:prstGeom prst="rect">
            <a:avLst/>
          </a:prstGeom>
        </p:spPr>
      </p:pic>
      <p:sp>
        <p:nvSpPr>
          <p:cNvPr id="11" name="Text 7"/>
          <p:cNvSpPr/>
          <p:nvPr/>
        </p:nvSpPr>
        <p:spPr>
          <a:xfrm>
            <a:off x="1664208" y="2487168"/>
            <a:ext cx="2971800" cy="310896"/>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車両60台：BEV 35台／ICE 25台</a:t>
            </a:r>
            <a:endParaRPr lang="en-US" sz="17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0120" y="3218688"/>
            <a:ext cx="502920" cy="502920"/>
          </a:xfrm>
          <a:prstGeom prst="rect">
            <a:avLst/>
          </a:prstGeom>
        </p:spPr>
      </p:pic>
      <p:sp>
        <p:nvSpPr>
          <p:cNvPr id="13" name="Text 8"/>
          <p:cNvSpPr/>
          <p:nvPr/>
        </p:nvSpPr>
        <p:spPr>
          <a:xfrm>
            <a:off x="1664208" y="3218688"/>
            <a:ext cx="2971800" cy="310896"/>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充電器・BESS・受電上限・料金は同一</a:t>
            </a:r>
            <a:endParaRPr lang="en-US" sz="17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0120" y="3950208"/>
            <a:ext cx="502920" cy="502920"/>
          </a:xfrm>
          <a:prstGeom prst="rect">
            <a:avLst/>
          </a:prstGeom>
        </p:spPr>
      </p:pic>
      <p:sp>
        <p:nvSpPr>
          <p:cNvPr id="15" name="Text 9"/>
          <p:cNvSpPr/>
          <p:nvPr/>
        </p:nvSpPr>
        <p:spPr>
          <a:xfrm>
            <a:off x="1664208" y="3950208"/>
            <a:ext cx="2971800" cy="310896"/>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15分単位、1時間ごとに運用を見直す</a:t>
            </a:r>
            <a:endParaRPr lang="en-US" sz="1700" dirty="0"/>
          </a:p>
        </p:txBody>
      </p:sp>
      <p:sp>
        <p:nvSpPr>
          <p:cNvPr id="16" name="Shape 10"/>
          <p:cNvSpPr/>
          <p:nvPr/>
        </p:nvSpPr>
        <p:spPr>
          <a:xfrm>
            <a:off x="960120" y="4754880"/>
            <a:ext cx="3822192" cy="841248"/>
          </a:xfrm>
          <a:prstGeom prst="roundRect">
            <a:avLst/>
          </a:prstGeom>
          <a:solidFill>
            <a:srgbClr val="FFFFFF"/>
          </a:solidFill>
          <a:ln w="12700">
            <a:solidFill>
              <a:srgbClr val="356BB3"/>
            </a:solidFill>
            <a:prstDash val="solid"/>
          </a:ln>
        </p:spPr>
        <p:txBody>
          <a:bodyPr/>
          <a:lstStyle/>
          <a:p>
            <a:endParaRPr lang="ja-JP" altLang="en-US"/>
          </a:p>
        </p:txBody>
      </p:sp>
      <p:sp>
        <p:nvSpPr>
          <p:cNvPr id="17" name="Text 11"/>
          <p:cNvSpPr/>
          <p:nvPr/>
        </p:nvSpPr>
        <p:spPr>
          <a:xfrm>
            <a:off x="1188720" y="4919472"/>
            <a:ext cx="3383280" cy="457200"/>
          </a:xfrm>
          <a:prstGeom prst="rect">
            <a:avLst/>
          </a:prstGeom>
          <a:noFill/>
          <a:ln/>
        </p:spPr>
        <p:txBody>
          <a:bodyPr wrap="square" lIns="0" tIns="0" rIns="0" bIns="0" rtlCol="0" anchor="ctr"/>
          <a:lstStyle/>
          <a:p>
            <a:pPr marL="0" indent="0" algn="ctr">
              <a:buNone/>
            </a:pPr>
            <a:r>
              <a:rPr lang="en-US" sz="1550" b="1" dirty="0">
                <a:solidFill>
                  <a:srgbClr val="1F2A5A"/>
                </a:solidFill>
                <a:latin typeface="Noto Sans CJK JP" pitchFamily="34" charset="0"/>
                <a:ea typeface="Noto Sans CJK JP" pitchFamily="34" charset="-122"/>
                <a:cs typeface="Noto Sans CJK JP" pitchFamily="34" charset="-120"/>
              </a:rPr>
              <a:t>比較したいこと</a:t>
            </a:r>
            <a:endParaRPr lang="en-US" sz="1550" dirty="0"/>
          </a:p>
          <a:p>
            <a:pPr marL="0" indent="0" algn="ctr">
              <a:buNone/>
            </a:pPr>
            <a:r>
              <a:rPr lang="en-US" sz="1550" b="1" dirty="0">
                <a:solidFill>
                  <a:srgbClr val="1F2A5A"/>
                </a:solidFill>
                <a:latin typeface="Noto Sans CJK JP" pitchFamily="34" charset="0"/>
                <a:ea typeface="Noto Sans CJK JP" pitchFamily="34" charset="-122"/>
                <a:cs typeface="Noto Sans CJK JP" pitchFamily="34" charset="-120"/>
              </a:rPr>
              <a:t>PV量の違いで、配車・電力・費用がどう変わるか</a:t>
            </a:r>
            <a:endParaRPr lang="en-US" sz="1550" dirty="0"/>
          </a:p>
        </p:txBody>
      </p:sp>
      <p:sp>
        <p:nvSpPr>
          <p:cNvPr id="18" name="Shape 12"/>
          <p:cNvSpPr/>
          <p:nvPr/>
        </p:nvSpPr>
        <p:spPr>
          <a:xfrm>
            <a:off x="5440680" y="914400"/>
            <a:ext cx="2788920" cy="5349240"/>
          </a:xfrm>
          <a:prstGeom prst="roundRect">
            <a:avLst>
              <a:gd name="adj" fmla="val 2623"/>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19" name="Shape 13"/>
          <p:cNvSpPr/>
          <p:nvPr/>
        </p:nvSpPr>
        <p:spPr>
          <a:xfrm>
            <a:off x="6062472" y="1188720"/>
            <a:ext cx="1508760" cy="310896"/>
          </a:xfrm>
          <a:prstGeom prst="roundRect">
            <a:avLst/>
          </a:prstGeom>
          <a:solidFill>
            <a:srgbClr val="E7B34B"/>
          </a:solidFill>
          <a:ln w="12700">
            <a:solidFill>
              <a:srgbClr val="E7B34B"/>
            </a:solidFill>
            <a:prstDash val="solid"/>
          </a:ln>
        </p:spPr>
        <p:txBody>
          <a:bodyPr/>
          <a:lstStyle/>
          <a:p>
            <a:endParaRPr lang="ja-JP" altLang="en-US"/>
          </a:p>
        </p:txBody>
      </p:sp>
      <p:sp>
        <p:nvSpPr>
          <p:cNvPr id="20" name="Text 14"/>
          <p:cNvSpPr/>
          <p:nvPr/>
        </p:nvSpPr>
        <p:spPr>
          <a:xfrm>
            <a:off x="6108192" y="1207008"/>
            <a:ext cx="1417320" cy="256032"/>
          </a:xfrm>
          <a:prstGeom prst="rect">
            <a:avLst/>
          </a:prstGeom>
          <a:noFill/>
          <a:ln/>
        </p:spPr>
        <p:txBody>
          <a:bodyPr wrap="square" lIns="0" tIns="0" rIns="0" bIns="0" rtlCol="0" anchor="ctr"/>
          <a:lstStyle/>
          <a:p>
            <a:pPr marL="0" indent="0" algn="ctr">
              <a:buNone/>
            </a:pPr>
            <a:r>
              <a:rPr lang="en-US" sz="1050" b="1" dirty="0">
                <a:solidFill>
                  <a:srgbClr val="172033"/>
                </a:solidFill>
                <a:latin typeface="Noto Sans CJK JP" pitchFamily="34" charset="0"/>
                <a:ea typeface="Noto Sans CJK JP" pitchFamily="34" charset="-122"/>
                <a:cs typeface="Noto Sans CJK JP" pitchFamily="34" charset="-120"/>
              </a:rPr>
              <a:t>高PV条件</a:t>
            </a:r>
            <a:endParaRPr lang="en-US" sz="1050" dirty="0"/>
          </a:p>
        </p:txBody>
      </p:sp>
      <p:pic>
        <p:nvPicPr>
          <p:cNvPr id="2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46520" y="1865376"/>
            <a:ext cx="749808" cy="749808"/>
          </a:xfrm>
          <a:prstGeom prst="rect">
            <a:avLst/>
          </a:prstGeom>
        </p:spPr>
      </p:pic>
      <p:sp>
        <p:nvSpPr>
          <p:cNvPr id="22" name="Text 15"/>
          <p:cNvSpPr/>
          <p:nvPr/>
        </p:nvSpPr>
        <p:spPr>
          <a:xfrm>
            <a:off x="5806440" y="2761488"/>
            <a:ext cx="205740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PV入力</a:t>
            </a:r>
            <a:endParaRPr lang="en-US" sz="1400" dirty="0"/>
          </a:p>
        </p:txBody>
      </p:sp>
      <p:sp>
        <p:nvSpPr>
          <p:cNvPr id="23" name="Text 16"/>
          <p:cNvSpPr/>
          <p:nvPr/>
        </p:nvSpPr>
        <p:spPr>
          <a:xfrm>
            <a:off x="5742432" y="3090672"/>
            <a:ext cx="2176272" cy="310896"/>
          </a:xfrm>
          <a:prstGeom prst="rect">
            <a:avLst/>
          </a:prstGeom>
          <a:noFill/>
          <a:ln/>
        </p:spPr>
        <p:txBody>
          <a:bodyPr wrap="square" lIns="0" tIns="0" rIns="0" bIns="0" rtlCol="0" anchor="ctr"/>
          <a:lstStyle/>
          <a:p>
            <a:pPr marL="0" indent="0" algn="ctr">
              <a:buNone/>
            </a:pPr>
            <a:r>
              <a:rPr lang="en-US" sz="1700" b="1" dirty="0">
                <a:solidFill>
                  <a:srgbClr val="172033"/>
                </a:solidFill>
                <a:latin typeface="Noto Sans CJK JP" pitchFamily="34" charset="0"/>
                <a:ea typeface="Noto Sans CJK JP" pitchFamily="34" charset="-122"/>
                <a:cs typeface="Noto Sans CJK JP" pitchFamily="34" charset="-120"/>
              </a:rPr>
              <a:t>2025/08/05由来</a:t>
            </a:r>
            <a:endParaRPr lang="en-US" sz="1700" dirty="0"/>
          </a:p>
        </p:txBody>
      </p:sp>
      <p:sp>
        <p:nvSpPr>
          <p:cNvPr id="24" name="Text 17"/>
          <p:cNvSpPr/>
          <p:nvPr/>
        </p:nvSpPr>
        <p:spPr>
          <a:xfrm>
            <a:off x="5760720" y="3675888"/>
            <a:ext cx="2148840" cy="310896"/>
          </a:xfrm>
          <a:prstGeom prst="rect">
            <a:avLst/>
          </a:prstGeom>
          <a:noFill/>
          <a:ln/>
        </p:spPr>
        <p:txBody>
          <a:bodyPr wrap="square" lIns="0" tIns="0" rIns="0" bIns="0" rtlCol="0" anchor="ctr"/>
          <a:lstStyle/>
          <a:p>
            <a:pPr marL="0" indent="0" algn="ctr">
              <a:buNone/>
            </a:pPr>
            <a:r>
              <a:rPr lang="en-US" sz="1900" b="1" dirty="0">
                <a:solidFill>
                  <a:srgbClr val="1F9D8A"/>
                </a:solidFill>
                <a:latin typeface="Noto Sans CJK JP" pitchFamily="34" charset="0"/>
                <a:ea typeface="Noto Sans CJK JP" pitchFamily="34" charset="-122"/>
                <a:cs typeface="Noto Sans CJK JP" pitchFamily="34" charset="-120"/>
              </a:rPr>
              <a:t>日合計 6,056 kWh</a:t>
            </a:r>
            <a:endParaRPr lang="en-US" sz="1900" dirty="0"/>
          </a:p>
        </p:txBody>
      </p:sp>
      <p:sp>
        <p:nvSpPr>
          <p:cNvPr id="25" name="Text 18"/>
          <p:cNvSpPr/>
          <p:nvPr/>
        </p:nvSpPr>
        <p:spPr>
          <a:xfrm>
            <a:off x="5833872" y="4709160"/>
            <a:ext cx="2011680" cy="256032"/>
          </a:xfrm>
          <a:prstGeom prst="rect">
            <a:avLst/>
          </a:prstGeom>
          <a:noFill/>
          <a:ln/>
        </p:spPr>
        <p:txBody>
          <a:bodyPr wrap="square" lIns="0" tIns="0" rIns="0" bIns="0" rtlCol="0" anchor="ctr"/>
          <a:lstStyle/>
          <a:p>
            <a:pPr marL="0" indent="0" algn="ctr">
              <a:buNone/>
            </a:pPr>
            <a:r>
              <a:rPr lang="en-US" sz="1300" dirty="0">
                <a:solidFill>
                  <a:srgbClr val="687386"/>
                </a:solidFill>
                <a:latin typeface="Noto Sans CJK JP" pitchFamily="34" charset="0"/>
                <a:ea typeface="Noto Sans CJK JP" pitchFamily="34" charset="-122"/>
                <a:cs typeface="Noto Sans CJK JP" pitchFamily="34" charset="-120"/>
              </a:rPr>
              <a:t>平日時刻表は共通</a:t>
            </a:r>
            <a:endParaRPr lang="en-US" sz="1300" dirty="0"/>
          </a:p>
        </p:txBody>
      </p:sp>
      <p:sp>
        <p:nvSpPr>
          <p:cNvPr id="26" name="Shape 19"/>
          <p:cNvSpPr/>
          <p:nvPr/>
        </p:nvSpPr>
        <p:spPr>
          <a:xfrm>
            <a:off x="8485632" y="914400"/>
            <a:ext cx="2788920" cy="5349240"/>
          </a:xfrm>
          <a:prstGeom prst="roundRect">
            <a:avLst>
              <a:gd name="adj" fmla="val 2623"/>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7" name="Shape 20"/>
          <p:cNvSpPr/>
          <p:nvPr/>
        </p:nvSpPr>
        <p:spPr>
          <a:xfrm>
            <a:off x="9125712" y="1188720"/>
            <a:ext cx="1508760" cy="310896"/>
          </a:xfrm>
          <a:prstGeom prst="roundRect">
            <a:avLst/>
          </a:prstGeom>
          <a:solidFill>
            <a:srgbClr val="356BB3"/>
          </a:solidFill>
          <a:ln w="12700">
            <a:solidFill>
              <a:srgbClr val="356BB3"/>
            </a:solidFill>
            <a:prstDash val="solid"/>
          </a:ln>
        </p:spPr>
        <p:txBody>
          <a:bodyPr/>
          <a:lstStyle/>
          <a:p>
            <a:endParaRPr lang="ja-JP" altLang="en-US"/>
          </a:p>
        </p:txBody>
      </p:sp>
      <p:sp>
        <p:nvSpPr>
          <p:cNvPr id="28" name="Text 21"/>
          <p:cNvSpPr/>
          <p:nvPr/>
        </p:nvSpPr>
        <p:spPr>
          <a:xfrm>
            <a:off x="9171432" y="1207008"/>
            <a:ext cx="141732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CJK JP" pitchFamily="34" charset="0"/>
                <a:ea typeface="Noto Sans CJK JP" pitchFamily="34" charset="-122"/>
                <a:cs typeface="Noto Sans CJK JP" pitchFamily="34" charset="-120"/>
              </a:rPr>
              <a:t>低PV条件</a:t>
            </a:r>
            <a:endParaRPr lang="en-US" sz="1050" dirty="0"/>
          </a:p>
        </p:txBody>
      </p:sp>
      <p:pic>
        <p:nvPicPr>
          <p:cNvPr id="2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491472" y="1865376"/>
            <a:ext cx="749808" cy="749808"/>
          </a:xfrm>
          <a:prstGeom prst="rect">
            <a:avLst/>
          </a:prstGeom>
        </p:spPr>
      </p:pic>
      <p:sp>
        <p:nvSpPr>
          <p:cNvPr id="30" name="Text 22"/>
          <p:cNvSpPr/>
          <p:nvPr/>
        </p:nvSpPr>
        <p:spPr>
          <a:xfrm>
            <a:off x="8851392" y="2761488"/>
            <a:ext cx="205740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PV入力</a:t>
            </a:r>
            <a:endParaRPr lang="en-US" sz="1400" dirty="0"/>
          </a:p>
        </p:txBody>
      </p:sp>
      <p:sp>
        <p:nvSpPr>
          <p:cNvPr id="31" name="Text 23"/>
          <p:cNvSpPr/>
          <p:nvPr/>
        </p:nvSpPr>
        <p:spPr>
          <a:xfrm>
            <a:off x="8796528" y="3090672"/>
            <a:ext cx="2176272" cy="310896"/>
          </a:xfrm>
          <a:prstGeom prst="rect">
            <a:avLst/>
          </a:prstGeom>
          <a:noFill/>
          <a:ln/>
        </p:spPr>
        <p:txBody>
          <a:bodyPr wrap="square" lIns="0" tIns="0" rIns="0" bIns="0" rtlCol="0" anchor="ctr"/>
          <a:lstStyle/>
          <a:p>
            <a:pPr marL="0" indent="0" algn="ctr">
              <a:buNone/>
            </a:pPr>
            <a:r>
              <a:rPr lang="en-US" sz="1700" b="1" dirty="0">
                <a:solidFill>
                  <a:srgbClr val="172033"/>
                </a:solidFill>
                <a:latin typeface="Noto Sans CJK JP" pitchFamily="34" charset="0"/>
                <a:ea typeface="Noto Sans CJK JP" pitchFamily="34" charset="-122"/>
                <a:cs typeface="Noto Sans CJK JP" pitchFamily="34" charset="-120"/>
              </a:rPr>
              <a:t>2025/08/10由来</a:t>
            </a:r>
            <a:endParaRPr lang="en-US" sz="1700" dirty="0"/>
          </a:p>
        </p:txBody>
      </p:sp>
      <p:sp>
        <p:nvSpPr>
          <p:cNvPr id="32" name="Text 24"/>
          <p:cNvSpPr/>
          <p:nvPr/>
        </p:nvSpPr>
        <p:spPr>
          <a:xfrm>
            <a:off x="8814816" y="3675888"/>
            <a:ext cx="2148840" cy="310896"/>
          </a:xfrm>
          <a:prstGeom prst="rect">
            <a:avLst/>
          </a:prstGeom>
          <a:noFill/>
          <a:ln/>
        </p:spPr>
        <p:txBody>
          <a:bodyPr wrap="square" lIns="0" tIns="0" rIns="0" bIns="0" rtlCol="0" anchor="ctr"/>
          <a:lstStyle/>
          <a:p>
            <a:pPr marL="0" indent="0" algn="ctr">
              <a:buNone/>
            </a:pPr>
            <a:r>
              <a:rPr lang="en-US" sz="1900" b="1" dirty="0">
                <a:solidFill>
                  <a:srgbClr val="356BB3"/>
                </a:solidFill>
                <a:latin typeface="Noto Sans CJK JP" pitchFamily="34" charset="0"/>
                <a:ea typeface="Noto Sans CJK JP" pitchFamily="34" charset="-122"/>
                <a:cs typeface="Noto Sans CJK JP" pitchFamily="34" charset="-120"/>
              </a:rPr>
              <a:t>日合計 996 kWh</a:t>
            </a:r>
            <a:endParaRPr lang="en-US" sz="1900" dirty="0"/>
          </a:p>
        </p:txBody>
      </p:sp>
      <p:sp>
        <p:nvSpPr>
          <p:cNvPr id="33" name="Text 25"/>
          <p:cNvSpPr/>
          <p:nvPr/>
        </p:nvSpPr>
        <p:spPr>
          <a:xfrm>
            <a:off x="8705088" y="4645152"/>
            <a:ext cx="2395728" cy="384048"/>
          </a:xfrm>
          <a:prstGeom prst="rect">
            <a:avLst/>
          </a:prstGeom>
          <a:noFill/>
          <a:ln/>
        </p:spPr>
        <p:txBody>
          <a:bodyPr wrap="square" lIns="0" tIns="0" rIns="0" bIns="0" rtlCol="0" anchor="ctr"/>
          <a:lstStyle/>
          <a:p>
            <a:pPr marL="0" indent="0" algn="ctr">
              <a:buNone/>
            </a:pPr>
            <a:r>
              <a:rPr lang="en-US" sz="1250" b="1" dirty="0">
                <a:solidFill>
                  <a:srgbClr val="C94C4C"/>
                </a:solidFill>
                <a:latin typeface="Noto Sans CJK JP" pitchFamily="34" charset="0"/>
                <a:ea typeface="Noto Sans CJK JP" pitchFamily="34" charset="-122"/>
                <a:cs typeface="Noto Sans CJK JP" pitchFamily="34" charset="-120"/>
              </a:rPr>
              <a:t>実際の日曜運行ではない</a:t>
            </a:r>
            <a:endParaRPr lang="en-US" sz="1250" dirty="0"/>
          </a:p>
        </p:txBody>
      </p:sp>
      <p:sp>
        <p:nvSpPr>
          <p:cNvPr id="34" name="Text 26"/>
          <p:cNvSpPr/>
          <p:nvPr/>
        </p:nvSpPr>
        <p:spPr>
          <a:xfrm>
            <a:off x="566928" y="6318504"/>
            <a:ext cx="10469880" cy="146304"/>
          </a:xfrm>
          <a:prstGeom prst="rect">
            <a:avLst/>
          </a:prstGeom>
          <a:noFill/>
          <a:ln/>
        </p:spPr>
        <p:txBody>
          <a:bodyPr wrap="square" lIns="0" tIns="0" rIns="0" bIns="0" rtlCol="0" anchor="ctr"/>
          <a:lstStyle/>
          <a:p>
            <a:pPr marL="0" indent="0">
              <a:buNone/>
            </a:pPr>
            <a:r>
              <a:rPr lang="en-US" sz="720" dirty="0">
                <a:solidFill>
                  <a:srgbClr val="7B8494"/>
                </a:solidFill>
                <a:latin typeface="Noto Sans CJK JP" pitchFamily="34" charset="0"/>
                <a:ea typeface="Noto Sans CJK JP" pitchFamily="34" charset="-122"/>
                <a:cs typeface="Noto Sans CJK JP" pitchFamily="34" charset="-120"/>
              </a:rPr>
              <a:t>実験の範囲：一つの営業所・一つの平日時刻表・2種類のPV入力による比較</a:t>
            </a:r>
            <a:endParaRPr lang="en-US" sz="7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研究手法：複数の配車案を作り、充電・電力運用まで確認して選ぶ</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5/18</a:t>
            </a:r>
            <a:endParaRPr lang="en-US" sz="850" dirty="0"/>
          </a:p>
        </p:txBody>
      </p:sp>
      <p:sp>
        <p:nvSpPr>
          <p:cNvPr id="6" name="Text 4"/>
          <p:cNvSpPr/>
          <p:nvPr/>
        </p:nvSpPr>
        <p:spPr>
          <a:xfrm>
            <a:off x="731520" y="877824"/>
            <a:ext cx="10789920" cy="320040"/>
          </a:xfrm>
          <a:prstGeom prst="rect">
            <a:avLst/>
          </a:prstGeom>
          <a:noFill/>
          <a:ln/>
        </p:spPr>
        <p:txBody>
          <a:bodyPr wrap="square" lIns="0" tIns="0" rIns="0" bIns="0" rtlCol="0" anchor="ctr"/>
          <a:lstStyle/>
          <a:p>
            <a:pPr marL="0" indent="0" algn="ctr">
              <a:buNone/>
            </a:pPr>
            <a:r>
              <a:rPr lang="en-US" sz="1800" dirty="0">
                <a:solidFill>
                  <a:srgbClr val="687386"/>
                </a:solidFill>
                <a:latin typeface="Noto Sans CJK JP" pitchFamily="34" charset="0"/>
                <a:ea typeface="Noto Sans CJK JP" pitchFamily="34" charset="-122"/>
                <a:cs typeface="Noto Sans CJK JP" pitchFamily="34" charset="-120"/>
              </a:rPr>
              <a:t>難しい数式を使わずに言うと、次の5段階の処理を行っている。</a:t>
            </a:r>
            <a:endParaRPr lang="en-US" sz="1800" dirty="0"/>
          </a:p>
        </p:txBody>
      </p:sp>
      <p:sp>
        <p:nvSpPr>
          <p:cNvPr id="7" name="Shape 5"/>
          <p:cNvSpPr/>
          <p:nvPr/>
        </p:nvSpPr>
        <p:spPr>
          <a:xfrm>
            <a:off x="50292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0432" y="1810512"/>
            <a:ext cx="640080" cy="640080"/>
          </a:xfrm>
          <a:prstGeom prst="rect">
            <a:avLst/>
          </a:prstGeom>
        </p:spPr>
      </p:pic>
      <p:sp>
        <p:nvSpPr>
          <p:cNvPr id="9" name="Text 6"/>
          <p:cNvSpPr/>
          <p:nvPr/>
        </p:nvSpPr>
        <p:spPr>
          <a:xfrm>
            <a:off x="667512" y="2587752"/>
            <a:ext cx="1636776" cy="566928"/>
          </a:xfrm>
          <a:prstGeom prst="rect">
            <a:avLst/>
          </a:prstGeom>
          <a:noFill/>
          <a:ln/>
        </p:spPr>
        <p:txBody>
          <a:bodyPr wrap="square" lIns="0" tIns="0" rIns="0" bIns="0" rtlCol="0" anchor="ctr"/>
          <a:lstStyle/>
          <a:p>
            <a:pPr marL="0" indent="0" algn="ctr">
              <a:buNone/>
            </a:pPr>
            <a:r>
              <a:rPr lang="en-US" sz="1750" b="1" dirty="0">
                <a:solidFill>
                  <a:srgbClr val="172033"/>
                </a:solidFill>
                <a:latin typeface="Noto Sans CJK JP" pitchFamily="34" charset="0"/>
                <a:ea typeface="Noto Sans CJK JP" pitchFamily="34" charset="-122"/>
                <a:cs typeface="Noto Sans CJK JP" pitchFamily="34" charset="-120"/>
              </a:rPr>
              <a:t>① 入力を読み込む</a:t>
            </a:r>
            <a:endParaRPr lang="en-US" sz="1750" dirty="0"/>
          </a:p>
        </p:txBody>
      </p:sp>
      <p:sp>
        <p:nvSpPr>
          <p:cNvPr id="10" name="Text 7"/>
          <p:cNvSpPr/>
          <p:nvPr/>
        </p:nvSpPr>
        <p:spPr>
          <a:xfrm>
            <a:off x="667512" y="3310128"/>
            <a:ext cx="1636776" cy="822960"/>
          </a:xfrm>
          <a:prstGeom prst="rect">
            <a:avLst/>
          </a:prstGeom>
          <a:noFill/>
          <a:ln/>
        </p:spPr>
        <p:txBody>
          <a:bodyPr wrap="square" lIns="0" tIns="0" rIns="0" bIns="0" rtlCol="0" anchor="ctr"/>
          <a:lstStyle/>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時刻表・車両・充電器・</a:t>
            </a:r>
            <a:endParaRPr lang="en-US" sz="1420" dirty="0"/>
          </a:p>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PV・蓄電池</a:t>
            </a:r>
            <a:endParaRPr lang="en-US" sz="1420" dirty="0"/>
          </a:p>
        </p:txBody>
      </p:sp>
      <p:sp>
        <p:nvSpPr>
          <p:cNvPr id="11" name="Shape 8"/>
          <p:cNvSpPr/>
          <p:nvPr/>
        </p:nvSpPr>
        <p:spPr>
          <a:xfrm>
            <a:off x="2478024" y="2852928"/>
            <a:ext cx="320040" cy="347472"/>
          </a:xfrm>
          <a:prstGeom prst="chevron">
            <a:avLst/>
          </a:prstGeom>
          <a:solidFill>
            <a:srgbClr val="A5AFBD"/>
          </a:solidFill>
          <a:ln w="12700">
            <a:solidFill>
              <a:srgbClr val="A5AFBD"/>
            </a:solidFill>
            <a:prstDash val="solid"/>
          </a:ln>
        </p:spPr>
        <p:txBody>
          <a:bodyPr/>
          <a:lstStyle/>
          <a:p>
            <a:endParaRPr lang="ja-JP" altLang="en-US"/>
          </a:p>
        </p:txBody>
      </p:sp>
      <p:sp>
        <p:nvSpPr>
          <p:cNvPr id="12" name="Shape 9"/>
          <p:cNvSpPr/>
          <p:nvPr/>
        </p:nvSpPr>
        <p:spPr>
          <a:xfrm>
            <a:off x="283464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2152" y="1810512"/>
            <a:ext cx="640080" cy="640080"/>
          </a:xfrm>
          <a:prstGeom prst="rect">
            <a:avLst/>
          </a:prstGeom>
        </p:spPr>
      </p:pic>
      <p:sp>
        <p:nvSpPr>
          <p:cNvPr id="14" name="Text 10"/>
          <p:cNvSpPr/>
          <p:nvPr/>
        </p:nvSpPr>
        <p:spPr>
          <a:xfrm>
            <a:off x="2999232" y="2587752"/>
            <a:ext cx="1636776" cy="566928"/>
          </a:xfrm>
          <a:prstGeom prst="rect">
            <a:avLst/>
          </a:prstGeom>
          <a:noFill/>
          <a:ln/>
        </p:spPr>
        <p:txBody>
          <a:bodyPr wrap="square" lIns="0" tIns="0" rIns="0" bIns="0" rtlCol="0" anchor="ctr"/>
          <a:lstStyle/>
          <a:p>
            <a:pPr marL="0" indent="0" algn="ctr">
              <a:buNone/>
            </a:pPr>
            <a:r>
              <a:rPr lang="en-US" sz="1750" b="1" dirty="0">
                <a:solidFill>
                  <a:srgbClr val="172033"/>
                </a:solidFill>
                <a:latin typeface="Noto Sans CJK JP" pitchFamily="34" charset="0"/>
                <a:ea typeface="Noto Sans CJK JP" pitchFamily="34" charset="-122"/>
                <a:cs typeface="Noto Sans CJK JP" pitchFamily="34" charset="-120"/>
              </a:rPr>
              <a:t>② 配車案を作る</a:t>
            </a:r>
            <a:endParaRPr lang="en-US" sz="1750" dirty="0"/>
          </a:p>
        </p:txBody>
      </p:sp>
      <p:sp>
        <p:nvSpPr>
          <p:cNvPr id="15" name="Text 11"/>
          <p:cNvSpPr/>
          <p:nvPr/>
        </p:nvSpPr>
        <p:spPr>
          <a:xfrm>
            <a:off x="2999232" y="3310128"/>
            <a:ext cx="1636776" cy="822960"/>
          </a:xfrm>
          <a:prstGeom prst="rect">
            <a:avLst/>
          </a:prstGeom>
          <a:noFill/>
          <a:ln/>
        </p:spPr>
        <p:txBody>
          <a:bodyPr wrap="square" lIns="0" tIns="0" rIns="0" bIns="0" rtlCol="0" anchor="ctr"/>
          <a:lstStyle/>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BEV／ICEの担当を</a:t>
            </a:r>
            <a:endParaRPr lang="en-US" sz="1420" dirty="0"/>
          </a:p>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複数案つくる</a:t>
            </a:r>
            <a:endParaRPr lang="en-US" sz="1420" dirty="0"/>
          </a:p>
        </p:txBody>
      </p:sp>
      <p:sp>
        <p:nvSpPr>
          <p:cNvPr id="16" name="Shape 12"/>
          <p:cNvSpPr/>
          <p:nvPr/>
        </p:nvSpPr>
        <p:spPr>
          <a:xfrm>
            <a:off x="4809744" y="2852928"/>
            <a:ext cx="320040" cy="347472"/>
          </a:xfrm>
          <a:prstGeom prst="chevron">
            <a:avLst/>
          </a:prstGeom>
          <a:solidFill>
            <a:srgbClr val="A5AFBD"/>
          </a:solidFill>
          <a:ln w="12700">
            <a:solidFill>
              <a:srgbClr val="A5AFBD"/>
            </a:solidFill>
            <a:prstDash val="solid"/>
          </a:ln>
        </p:spPr>
        <p:txBody>
          <a:bodyPr/>
          <a:lstStyle/>
          <a:p>
            <a:endParaRPr lang="ja-JP" altLang="en-US"/>
          </a:p>
        </p:txBody>
      </p:sp>
      <p:sp>
        <p:nvSpPr>
          <p:cNvPr id="17" name="Shape 13"/>
          <p:cNvSpPr/>
          <p:nvPr/>
        </p:nvSpPr>
        <p:spPr>
          <a:xfrm>
            <a:off x="516636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33872" y="1810512"/>
            <a:ext cx="640080" cy="640080"/>
          </a:xfrm>
          <a:prstGeom prst="rect">
            <a:avLst/>
          </a:prstGeom>
        </p:spPr>
      </p:pic>
      <p:sp>
        <p:nvSpPr>
          <p:cNvPr id="19" name="Text 14"/>
          <p:cNvSpPr/>
          <p:nvPr/>
        </p:nvSpPr>
        <p:spPr>
          <a:xfrm>
            <a:off x="5330952" y="2587752"/>
            <a:ext cx="1636776" cy="566928"/>
          </a:xfrm>
          <a:prstGeom prst="rect">
            <a:avLst/>
          </a:prstGeom>
          <a:noFill/>
          <a:ln/>
        </p:spPr>
        <p:txBody>
          <a:bodyPr wrap="square" lIns="0" tIns="0" rIns="0" bIns="0" rtlCol="0" anchor="ctr"/>
          <a:lstStyle/>
          <a:p>
            <a:pPr marL="0" indent="0" algn="ctr">
              <a:buNone/>
            </a:pPr>
            <a:r>
              <a:rPr lang="en-US" sz="1750" b="1" dirty="0">
                <a:solidFill>
                  <a:srgbClr val="172033"/>
                </a:solidFill>
                <a:latin typeface="Noto Sans CJK JP" pitchFamily="34" charset="0"/>
                <a:ea typeface="Noto Sans CJK JP" pitchFamily="34" charset="-122"/>
                <a:cs typeface="Noto Sans CJK JP" pitchFamily="34" charset="-120"/>
              </a:rPr>
              <a:t>③ 電力を調整する</a:t>
            </a:r>
            <a:endParaRPr lang="en-US" sz="1750" dirty="0"/>
          </a:p>
        </p:txBody>
      </p:sp>
      <p:sp>
        <p:nvSpPr>
          <p:cNvPr id="20" name="Text 15"/>
          <p:cNvSpPr/>
          <p:nvPr/>
        </p:nvSpPr>
        <p:spPr>
          <a:xfrm>
            <a:off x="5330952" y="3310128"/>
            <a:ext cx="1636776" cy="822960"/>
          </a:xfrm>
          <a:prstGeom prst="rect">
            <a:avLst/>
          </a:prstGeom>
          <a:noFill/>
          <a:ln/>
        </p:spPr>
        <p:txBody>
          <a:bodyPr wrap="square" lIns="0" tIns="0" rIns="0" bIns="0" rtlCol="0" anchor="ctr"/>
          <a:lstStyle/>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各案について充電・</a:t>
            </a:r>
            <a:endParaRPr lang="en-US" sz="1420" dirty="0"/>
          </a:p>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PV・BESSを調整</a:t>
            </a:r>
            <a:endParaRPr lang="en-US" sz="1420" dirty="0"/>
          </a:p>
        </p:txBody>
      </p:sp>
      <p:sp>
        <p:nvSpPr>
          <p:cNvPr id="21" name="Shape 16"/>
          <p:cNvSpPr/>
          <p:nvPr/>
        </p:nvSpPr>
        <p:spPr>
          <a:xfrm>
            <a:off x="7141464" y="2852928"/>
            <a:ext cx="320040" cy="347472"/>
          </a:xfrm>
          <a:prstGeom prst="chevron">
            <a:avLst/>
          </a:prstGeom>
          <a:solidFill>
            <a:srgbClr val="A5AFBD"/>
          </a:solidFill>
          <a:ln w="12700">
            <a:solidFill>
              <a:srgbClr val="A5AFBD"/>
            </a:solidFill>
            <a:prstDash val="solid"/>
          </a:ln>
        </p:spPr>
        <p:txBody>
          <a:bodyPr/>
          <a:lstStyle/>
          <a:p>
            <a:endParaRPr lang="ja-JP" altLang="en-US"/>
          </a:p>
        </p:txBody>
      </p:sp>
      <p:sp>
        <p:nvSpPr>
          <p:cNvPr id="22" name="Shape 17"/>
          <p:cNvSpPr/>
          <p:nvPr/>
        </p:nvSpPr>
        <p:spPr>
          <a:xfrm>
            <a:off x="749808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65592" y="1810512"/>
            <a:ext cx="640080" cy="640080"/>
          </a:xfrm>
          <a:prstGeom prst="rect">
            <a:avLst/>
          </a:prstGeom>
        </p:spPr>
      </p:pic>
      <p:sp>
        <p:nvSpPr>
          <p:cNvPr id="24" name="Text 18"/>
          <p:cNvSpPr/>
          <p:nvPr/>
        </p:nvSpPr>
        <p:spPr>
          <a:xfrm>
            <a:off x="7662672" y="2587752"/>
            <a:ext cx="1636776" cy="566928"/>
          </a:xfrm>
          <a:prstGeom prst="rect">
            <a:avLst/>
          </a:prstGeom>
          <a:noFill/>
          <a:ln/>
        </p:spPr>
        <p:txBody>
          <a:bodyPr wrap="square" lIns="0" tIns="0" rIns="0" bIns="0" rtlCol="0" anchor="ctr"/>
          <a:lstStyle/>
          <a:p>
            <a:pPr marL="0" indent="0" algn="ctr">
              <a:buNone/>
            </a:pPr>
            <a:r>
              <a:rPr lang="en-US" sz="1750" b="1" dirty="0">
                <a:solidFill>
                  <a:srgbClr val="172033"/>
                </a:solidFill>
                <a:latin typeface="Noto Sans CJK JP" pitchFamily="34" charset="0"/>
                <a:ea typeface="Noto Sans CJK JP" pitchFamily="34" charset="-122"/>
                <a:cs typeface="Noto Sans CJK JP" pitchFamily="34" charset="-120"/>
              </a:rPr>
              <a:t>④ 1時間ごとに見直す</a:t>
            </a:r>
            <a:endParaRPr lang="en-US" sz="1750" dirty="0"/>
          </a:p>
        </p:txBody>
      </p:sp>
      <p:sp>
        <p:nvSpPr>
          <p:cNvPr id="25" name="Text 19"/>
          <p:cNvSpPr/>
          <p:nvPr/>
        </p:nvSpPr>
        <p:spPr>
          <a:xfrm>
            <a:off x="7662672" y="3310128"/>
            <a:ext cx="1636776" cy="822960"/>
          </a:xfrm>
          <a:prstGeom prst="rect">
            <a:avLst/>
          </a:prstGeom>
          <a:noFill/>
          <a:ln/>
        </p:spPr>
        <p:txBody>
          <a:bodyPr wrap="square" lIns="0" tIns="0" rIns="0" bIns="0" rtlCol="0" anchor="ctr"/>
          <a:lstStyle/>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実際に進む時間に合わせて</a:t>
            </a:r>
            <a:endParaRPr lang="en-US" sz="1420" dirty="0"/>
          </a:p>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残りの運用を再計算</a:t>
            </a:r>
            <a:endParaRPr lang="en-US" sz="1420" dirty="0"/>
          </a:p>
        </p:txBody>
      </p:sp>
      <p:sp>
        <p:nvSpPr>
          <p:cNvPr id="26" name="Shape 20"/>
          <p:cNvSpPr/>
          <p:nvPr/>
        </p:nvSpPr>
        <p:spPr>
          <a:xfrm>
            <a:off x="9473184" y="2852928"/>
            <a:ext cx="320040" cy="347472"/>
          </a:xfrm>
          <a:prstGeom prst="chevron">
            <a:avLst/>
          </a:prstGeom>
          <a:solidFill>
            <a:srgbClr val="A5AFBD"/>
          </a:solidFill>
          <a:ln w="12700">
            <a:solidFill>
              <a:srgbClr val="A5AFBD"/>
            </a:solidFill>
            <a:prstDash val="solid"/>
          </a:ln>
        </p:spPr>
        <p:txBody>
          <a:bodyPr/>
          <a:lstStyle/>
          <a:p>
            <a:endParaRPr lang="ja-JP" altLang="en-US"/>
          </a:p>
        </p:txBody>
      </p:sp>
      <p:sp>
        <p:nvSpPr>
          <p:cNvPr id="27" name="Shape 21"/>
          <p:cNvSpPr/>
          <p:nvPr/>
        </p:nvSpPr>
        <p:spPr>
          <a:xfrm>
            <a:off x="982980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2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97312" y="1810512"/>
            <a:ext cx="640080" cy="640080"/>
          </a:xfrm>
          <a:prstGeom prst="rect">
            <a:avLst/>
          </a:prstGeom>
        </p:spPr>
      </p:pic>
      <p:sp>
        <p:nvSpPr>
          <p:cNvPr id="29" name="Text 22"/>
          <p:cNvSpPr/>
          <p:nvPr/>
        </p:nvSpPr>
        <p:spPr>
          <a:xfrm>
            <a:off x="9994392" y="2587752"/>
            <a:ext cx="1636776" cy="566928"/>
          </a:xfrm>
          <a:prstGeom prst="rect">
            <a:avLst/>
          </a:prstGeom>
          <a:noFill/>
          <a:ln/>
        </p:spPr>
        <p:txBody>
          <a:bodyPr wrap="square" lIns="0" tIns="0" rIns="0" bIns="0" rtlCol="0" anchor="ctr"/>
          <a:lstStyle/>
          <a:p>
            <a:pPr marL="0" indent="0" algn="ctr">
              <a:buNone/>
            </a:pPr>
            <a:r>
              <a:rPr lang="en-US" sz="1750" b="1" dirty="0">
                <a:solidFill>
                  <a:srgbClr val="172033"/>
                </a:solidFill>
                <a:latin typeface="Noto Sans CJK JP" pitchFamily="34" charset="0"/>
                <a:ea typeface="Noto Sans CJK JP" pitchFamily="34" charset="-122"/>
                <a:cs typeface="Noto Sans CJK JP" pitchFamily="34" charset="-120"/>
              </a:rPr>
              <a:t>⑤ 結果を検算する</a:t>
            </a:r>
            <a:endParaRPr lang="en-US" sz="1750" dirty="0"/>
          </a:p>
        </p:txBody>
      </p:sp>
      <p:sp>
        <p:nvSpPr>
          <p:cNvPr id="30" name="Text 23"/>
          <p:cNvSpPr/>
          <p:nvPr/>
        </p:nvSpPr>
        <p:spPr>
          <a:xfrm>
            <a:off x="9994392" y="3310128"/>
            <a:ext cx="1636776" cy="822960"/>
          </a:xfrm>
          <a:prstGeom prst="rect">
            <a:avLst/>
          </a:prstGeom>
          <a:noFill/>
          <a:ln/>
        </p:spPr>
        <p:txBody>
          <a:bodyPr wrap="square" lIns="0" tIns="0" rIns="0" bIns="0" rtlCol="0" anchor="ctr"/>
          <a:lstStyle/>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全便・SOC・電力・費用が</a:t>
            </a:r>
            <a:endParaRPr lang="en-US" sz="1420" dirty="0"/>
          </a:p>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矛盾していないか確認</a:t>
            </a:r>
            <a:endParaRPr lang="en-US" sz="1420" dirty="0"/>
          </a:p>
        </p:txBody>
      </p:sp>
      <p:sp>
        <p:nvSpPr>
          <p:cNvPr id="31" name="Shape 24"/>
          <p:cNvSpPr/>
          <p:nvPr/>
        </p:nvSpPr>
        <p:spPr>
          <a:xfrm>
            <a:off x="1143000" y="5257800"/>
            <a:ext cx="9875520" cy="658368"/>
          </a:xfrm>
          <a:prstGeom prst="roundRect">
            <a:avLst/>
          </a:prstGeom>
          <a:solidFill>
            <a:srgbClr val="EAF2FB"/>
          </a:solidFill>
          <a:ln w="12700">
            <a:solidFill>
              <a:srgbClr val="356BB3"/>
            </a:solidFill>
            <a:prstDash val="solid"/>
          </a:ln>
        </p:spPr>
        <p:txBody>
          <a:bodyPr/>
          <a:lstStyle/>
          <a:p>
            <a:endParaRPr lang="ja-JP" altLang="en-US"/>
          </a:p>
        </p:txBody>
      </p:sp>
      <p:sp>
        <p:nvSpPr>
          <p:cNvPr id="32" name="Text 25"/>
          <p:cNvSpPr/>
          <p:nvPr/>
        </p:nvSpPr>
        <p:spPr>
          <a:xfrm>
            <a:off x="1417320" y="5431536"/>
            <a:ext cx="9326880" cy="310896"/>
          </a:xfrm>
          <a:prstGeom prst="rect">
            <a:avLst/>
          </a:prstGeom>
          <a:noFill/>
          <a:ln/>
        </p:spPr>
        <p:txBody>
          <a:bodyPr wrap="square" lIns="0" tIns="0" rIns="0" bIns="0" rtlCol="0" anchor="ctr"/>
          <a:lstStyle/>
          <a:p>
            <a:pPr marL="0" indent="0" algn="ctr">
              <a:buNone/>
            </a:pPr>
            <a:r>
              <a:rPr lang="en-US" sz="1800" b="1" dirty="0">
                <a:solidFill>
                  <a:srgbClr val="1F2A5A"/>
                </a:solidFill>
                <a:latin typeface="Noto Sans CJK JP" pitchFamily="34" charset="0"/>
                <a:ea typeface="Noto Sans CJK JP" pitchFamily="34" charset="-122"/>
                <a:cs typeface="Noto Sans CJK JP" pitchFamily="34" charset="-120"/>
              </a:rPr>
              <a:t>ここでいう「最適化」＝ 条件を守りながら、より良い組合せをコンピュータで探す処理</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設定パラメータ①：運行・車両・営業所設備</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6/18</a:t>
            </a:r>
            <a:endParaRPr lang="en-US" sz="850" dirty="0"/>
          </a:p>
        </p:txBody>
      </p:sp>
      <p:sp>
        <p:nvSpPr>
          <p:cNvPr id="6" name="Text 4"/>
          <p:cNvSpPr/>
          <p:nvPr/>
        </p:nvSpPr>
        <p:spPr>
          <a:xfrm>
            <a:off x="685800" y="841248"/>
            <a:ext cx="10835640" cy="310896"/>
          </a:xfrm>
          <a:prstGeom prst="rect">
            <a:avLst/>
          </a:prstGeom>
          <a:noFill/>
          <a:ln/>
        </p:spPr>
        <p:txBody>
          <a:bodyPr wrap="square" lIns="0" tIns="0" rIns="0" bIns="0" rtlCol="0" anchor="ctr"/>
          <a:lstStyle/>
          <a:p>
            <a:pPr marL="0" indent="0" algn="ctr">
              <a:buNone/>
            </a:pPr>
            <a:r>
              <a:rPr lang="en-US" sz="1700" dirty="0">
                <a:solidFill>
                  <a:srgbClr val="687386"/>
                </a:solidFill>
                <a:latin typeface="Noto Sans CJK JP" pitchFamily="34" charset="0"/>
                <a:ea typeface="Noto Sans CJK JP" pitchFamily="34" charset="-122"/>
                <a:cs typeface="Noto Sans CJK JP" pitchFamily="34" charset="-120"/>
              </a:rPr>
              <a:t>先行研究と同様に、結果へ影響する前提条件を表として明示する。</a:t>
            </a:r>
            <a:endParaRPr lang="en-US" sz="1700" dirty="0"/>
          </a:p>
        </p:txBody>
      </p:sp>
      <p:sp>
        <p:nvSpPr>
          <p:cNvPr id="7" name="Shape 5"/>
          <p:cNvSpPr/>
          <p:nvPr/>
        </p:nvSpPr>
        <p:spPr>
          <a:xfrm>
            <a:off x="621792"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8" name="Shape 6"/>
          <p:cNvSpPr/>
          <p:nvPr/>
        </p:nvSpPr>
        <p:spPr>
          <a:xfrm>
            <a:off x="621792" y="1234440"/>
            <a:ext cx="3611880" cy="438912"/>
          </a:xfrm>
          <a:prstGeom prst="rect">
            <a:avLst/>
          </a:prstGeom>
          <a:solidFill>
            <a:srgbClr val="1F2A5A"/>
          </a:solidFill>
          <a:ln w="12700">
            <a:solidFill>
              <a:srgbClr val="1F2A5A"/>
            </a:solidFill>
            <a:prstDash val="solid"/>
          </a:ln>
        </p:spPr>
        <p:txBody>
          <a:bodyPr/>
          <a:lstStyle/>
          <a:p>
            <a:endParaRPr lang="ja-JP" altLang="en-US"/>
          </a:p>
        </p:txBody>
      </p:sp>
      <p:sp>
        <p:nvSpPr>
          <p:cNvPr id="9" name="Text 7"/>
          <p:cNvSpPr/>
          <p:nvPr/>
        </p:nvSpPr>
        <p:spPr>
          <a:xfrm>
            <a:off x="731520" y="1298448"/>
            <a:ext cx="339242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運行条件</a:t>
            </a:r>
            <a:endParaRPr lang="en-US" sz="1650" dirty="0"/>
          </a:p>
        </p:txBody>
      </p:sp>
      <p:sp>
        <p:nvSpPr>
          <p:cNvPr id="10" name="Shape 8"/>
          <p:cNvSpPr/>
          <p:nvPr/>
        </p:nvSpPr>
        <p:spPr>
          <a:xfrm>
            <a:off x="694944" y="1764792"/>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11" name="Text 9"/>
          <p:cNvSpPr/>
          <p:nvPr/>
        </p:nvSpPr>
        <p:spPr>
          <a:xfrm>
            <a:off x="777240" y="180136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対象営業所</a:t>
            </a:r>
            <a:endParaRPr lang="en-US" sz="1230" dirty="0"/>
          </a:p>
        </p:txBody>
      </p:sp>
      <p:sp>
        <p:nvSpPr>
          <p:cNvPr id="12" name="Text 10"/>
          <p:cNvSpPr/>
          <p:nvPr/>
        </p:nvSpPr>
        <p:spPr>
          <a:xfrm>
            <a:off x="2138782" y="180136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弦巻営業所</a:t>
            </a:r>
            <a:endParaRPr lang="en-US" sz="1230" dirty="0"/>
          </a:p>
        </p:txBody>
      </p:sp>
      <p:sp>
        <p:nvSpPr>
          <p:cNvPr id="13" name="Text 11"/>
          <p:cNvSpPr/>
          <p:nvPr/>
        </p:nvSpPr>
        <p:spPr>
          <a:xfrm>
            <a:off x="777240" y="236829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時刻表</a:t>
            </a:r>
            <a:endParaRPr lang="en-US" sz="1230" dirty="0"/>
          </a:p>
        </p:txBody>
      </p:sp>
      <p:sp>
        <p:nvSpPr>
          <p:cNvPr id="14" name="Text 12"/>
          <p:cNvSpPr/>
          <p:nvPr/>
        </p:nvSpPr>
        <p:spPr>
          <a:xfrm>
            <a:off x="2138782" y="236829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平日 264便／16路線</a:t>
            </a:r>
            <a:endParaRPr lang="en-US" sz="1230" dirty="0"/>
          </a:p>
        </p:txBody>
      </p:sp>
      <p:sp>
        <p:nvSpPr>
          <p:cNvPr id="15" name="Shape 13"/>
          <p:cNvSpPr/>
          <p:nvPr/>
        </p:nvSpPr>
        <p:spPr>
          <a:xfrm>
            <a:off x="694944" y="2898648"/>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16" name="Text 14"/>
          <p:cNvSpPr/>
          <p:nvPr/>
        </p:nvSpPr>
        <p:spPr>
          <a:xfrm>
            <a:off x="777240" y="2935224"/>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内部時間刻み</a:t>
            </a:r>
            <a:endParaRPr lang="en-US" sz="1230" dirty="0"/>
          </a:p>
        </p:txBody>
      </p:sp>
      <p:sp>
        <p:nvSpPr>
          <p:cNvPr id="17" name="Text 15"/>
          <p:cNvSpPr/>
          <p:nvPr/>
        </p:nvSpPr>
        <p:spPr>
          <a:xfrm>
            <a:off x="2138782" y="2935224"/>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15分（1日96区間）</a:t>
            </a:r>
            <a:endParaRPr lang="en-US" sz="1230" dirty="0"/>
          </a:p>
        </p:txBody>
      </p:sp>
      <p:sp>
        <p:nvSpPr>
          <p:cNvPr id="18" name="Text 16"/>
          <p:cNvSpPr/>
          <p:nvPr/>
        </p:nvSpPr>
        <p:spPr>
          <a:xfrm>
            <a:off x="777240" y="3502152"/>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運用見直し</a:t>
            </a:r>
            <a:endParaRPr lang="en-US" sz="1230" dirty="0"/>
          </a:p>
        </p:txBody>
      </p:sp>
      <p:sp>
        <p:nvSpPr>
          <p:cNvPr id="19" name="Text 17"/>
          <p:cNvSpPr/>
          <p:nvPr/>
        </p:nvSpPr>
        <p:spPr>
          <a:xfrm>
            <a:off x="2138782" y="3502152"/>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60分ごと・24回</a:t>
            </a:r>
            <a:endParaRPr lang="en-US" sz="1230" dirty="0"/>
          </a:p>
        </p:txBody>
      </p:sp>
      <p:sp>
        <p:nvSpPr>
          <p:cNvPr id="20" name="Shape 18"/>
          <p:cNvSpPr/>
          <p:nvPr/>
        </p:nvSpPr>
        <p:spPr>
          <a:xfrm>
            <a:off x="694944" y="4032504"/>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21" name="Text 19"/>
          <p:cNvSpPr/>
          <p:nvPr/>
        </p:nvSpPr>
        <p:spPr>
          <a:xfrm>
            <a:off x="777240" y="4069080"/>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比較日</a:t>
            </a:r>
            <a:endParaRPr lang="en-US" sz="1230" dirty="0"/>
          </a:p>
        </p:txBody>
      </p:sp>
      <p:sp>
        <p:nvSpPr>
          <p:cNvPr id="22" name="Text 20"/>
          <p:cNvSpPr/>
          <p:nvPr/>
        </p:nvSpPr>
        <p:spPr>
          <a:xfrm>
            <a:off x="2138782" y="4069080"/>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運行日は2025/08/05で固定</a:t>
            </a:r>
            <a:endParaRPr lang="en-US" sz="1230" dirty="0"/>
          </a:p>
        </p:txBody>
      </p:sp>
      <p:sp>
        <p:nvSpPr>
          <p:cNvPr id="23" name="Text 21"/>
          <p:cNvSpPr/>
          <p:nvPr/>
        </p:nvSpPr>
        <p:spPr>
          <a:xfrm>
            <a:off x="777240" y="463600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高PV入力</a:t>
            </a:r>
            <a:endParaRPr lang="en-US" sz="1230" dirty="0"/>
          </a:p>
        </p:txBody>
      </p:sp>
      <p:sp>
        <p:nvSpPr>
          <p:cNvPr id="24" name="Text 22"/>
          <p:cNvSpPr/>
          <p:nvPr/>
        </p:nvSpPr>
        <p:spPr>
          <a:xfrm>
            <a:off x="2138782" y="463600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2025/08/05由来</a:t>
            </a:r>
            <a:endParaRPr lang="en-US" sz="1230" dirty="0"/>
          </a:p>
        </p:txBody>
      </p:sp>
      <p:sp>
        <p:nvSpPr>
          <p:cNvPr id="25" name="Shape 23"/>
          <p:cNvSpPr/>
          <p:nvPr/>
        </p:nvSpPr>
        <p:spPr>
          <a:xfrm>
            <a:off x="694944" y="5166360"/>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26" name="Text 24"/>
          <p:cNvSpPr/>
          <p:nvPr/>
        </p:nvSpPr>
        <p:spPr>
          <a:xfrm>
            <a:off x="777240" y="520293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低PV入力</a:t>
            </a:r>
            <a:endParaRPr lang="en-US" sz="1230" dirty="0"/>
          </a:p>
        </p:txBody>
      </p:sp>
      <p:sp>
        <p:nvSpPr>
          <p:cNvPr id="27" name="Text 25"/>
          <p:cNvSpPr/>
          <p:nvPr/>
        </p:nvSpPr>
        <p:spPr>
          <a:xfrm>
            <a:off x="2138782" y="520293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2025/08/10由来</a:t>
            </a:r>
            <a:endParaRPr lang="en-US" sz="1230" dirty="0"/>
          </a:p>
        </p:txBody>
      </p:sp>
      <p:sp>
        <p:nvSpPr>
          <p:cNvPr id="28" name="Shape 26"/>
          <p:cNvSpPr/>
          <p:nvPr/>
        </p:nvSpPr>
        <p:spPr>
          <a:xfrm>
            <a:off x="4297680"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9" name="Shape 27"/>
          <p:cNvSpPr/>
          <p:nvPr/>
        </p:nvSpPr>
        <p:spPr>
          <a:xfrm>
            <a:off x="4297680" y="1234440"/>
            <a:ext cx="3611880" cy="438912"/>
          </a:xfrm>
          <a:prstGeom prst="rect">
            <a:avLst/>
          </a:prstGeom>
          <a:solidFill>
            <a:srgbClr val="1F9D8A"/>
          </a:solidFill>
          <a:ln w="12700">
            <a:solidFill>
              <a:srgbClr val="1F9D8A"/>
            </a:solidFill>
            <a:prstDash val="solid"/>
          </a:ln>
        </p:spPr>
        <p:txBody>
          <a:bodyPr/>
          <a:lstStyle/>
          <a:p>
            <a:endParaRPr lang="ja-JP" altLang="en-US"/>
          </a:p>
        </p:txBody>
      </p:sp>
      <p:sp>
        <p:nvSpPr>
          <p:cNvPr id="30" name="Text 28"/>
          <p:cNvSpPr/>
          <p:nvPr/>
        </p:nvSpPr>
        <p:spPr>
          <a:xfrm>
            <a:off x="4407408" y="1298448"/>
            <a:ext cx="339242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車両条件</a:t>
            </a:r>
            <a:endParaRPr lang="en-US" sz="1650" dirty="0"/>
          </a:p>
        </p:txBody>
      </p:sp>
      <p:sp>
        <p:nvSpPr>
          <p:cNvPr id="31" name="Shape 29"/>
          <p:cNvSpPr/>
          <p:nvPr/>
        </p:nvSpPr>
        <p:spPr>
          <a:xfrm>
            <a:off x="4370832" y="1764792"/>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32" name="Text 30"/>
          <p:cNvSpPr/>
          <p:nvPr/>
        </p:nvSpPr>
        <p:spPr>
          <a:xfrm>
            <a:off x="4453128" y="180136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有効車両</a:t>
            </a:r>
            <a:endParaRPr lang="en-US" sz="1230" dirty="0"/>
          </a:p>
        </p:txBody>
      </p:sp>
      <p:sp>
        <p:nvSpPr>
          <p:cNvPr id="33" name="Text 31"/>
          <p:cNvSpPr/>
          <p:nvPr/>
        </p:nvSpPr>
        <p:spPr>
          <a:xfrm>
            <a:off x="5814670" y="180136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BEV 35台／ICE 25台</a:t>
            </a:r>
            <a:endParaRPr lang="en-US" sz="1230" dirty="0"/>
          </a:p>
        </p:txBody>
      </p:sp>
      <p:sp>
        <p:nvSpPr>
          <p:cNvPr id="34" name="Text 32"/>
          <p:cNvSpPr/>
          <p:nvPr/>
        </p:nvSpPr>
        <p:spPr>
          <a:xfrm>
            <a:off x="4453128" y="236829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BEV電池容量</a:t>
            </a:r>
            <a:endParaRPr lang="en-US" sz="1230" dirty="0"/>
          </a:p>
        </p:txBody>
      </p:sp>
      <p:sp>
        <p:nvSpPr>
          <p:cNvPr id="35" name="Text 33"/>
          <p:cNvSpPr/>
          <p:nvPr/>
        </p:nvSpPr>
        <p:spPr>
          <a:xfrm>
            <a:off x="5814670" y="236829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314 kWh／台</a:t>
            </a:r>
            <a:endParaRPr lang="en-US" sz="1230" dirty="0"/>
          </a:p>
        </p:txBody>
      </p:sp>
      <p:sp>
        <p:nvSpPr>
          <p:cNvPr id="36" name="Shape 34"/>
          <p:cNvSpPr/>
          <p:nvPr/>
        </p:nvSpPr>
        <p:spPr>
          <a:xfrm>
            <a:off x="4370832" y="2898648"/>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37" name="Text 35"/>
          <p:cNvSpPr/>
          <p:nvPr/>
        </p:nvSpPr>
        <p:spPr>
          <a:xfrm>
            <a:off x="4453128" y="2935224"/>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BEV電費</a:t>
            </a:r>
            <a:endParaRPr lang="en-US" sz="1230" dirty="0"/>
          </a:p>
        </p:txBody>
      </p:sp>
      <p:sp>
        <p:nvSpPr>
          <p:cNvPr id="38" name="Text 36"/>
          <p:cNvSpPr/>
          <p:nvPr/>
        </p:nvSpPr>
        <p:spPr>
          <a:xfrm>
            <a:off x="5814670" y="2935224"/>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1.316 kWh/km</a:t>
            </a:r>
            <a:endParaRPr lang="en-US" sz="1230" dirty="0"/>
          </a:p>
        </p:txBody>
      </p:sp>
      <p:sp>
        <p:nvSpPr>
          <p:cNvPr id="39" name="Text 37"/>
          <p:cNvSpPr/>
          <p:nvPr/>
        </p:nvSpPr>
        <p:spPr>
          <a:xfrm>
            <a:off x="4453128" y="3502152"/>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BEV充電上限</a:t>
            </a:r>
            <a:endParaRPr lang="en-US" sz="1230" dirty="0"/>
          </a:p>
        </p:txBody>
      </p:sp>
      <p:sp>
        <p:nvSpPr>
          <p:cNvPr id="40" name="Text 38"/>
          <p:cNvSpPr/>
          <p:nvPr/>
        </p:nvSpPr>
        <p:spPr>
          <a:xfrm>
            <a:off x="5814670" y="3502152"/>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90 kW／台</a:t>
            </a:r>
            <a:endParaRPr lang="en-US" sz="1230" dirty="0"/>
          </a:p>
        </p:txBody>
      </p:sp>
      <p:sp>
        <p:nvSpPr>
          <p:cNvPr id="41" name="Shape 39"/>
          <p:cNvSpPr/>
          <p:nvPr/>
        </p:nvSpPr>
        <p:spPr>
          <a:xfrm>
            <a:off x="4370832" y="4032504"/>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42" name="Text 40"/>
          <p:cNvSpPr/>
          <p:nvPr/>
        </p:nvSpPr>
        <p:spPr>
          <a:xfrm>
            <a:off x="4453128" y="4069080"/>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BEV SOC範囲</a:t>
            </a:r>
            <a:endParaRPr lang="en-US" sz="1230" dirty="0"/>
          </a:p>
        </p:txBody>
      </p:sp>
      <p:sp>
        <p:nvSpPr>
          <p:cNvPr id="43" name="Text 41"/>
          <p:cNvSpPr/>
          <p:nvPr/>
        </p:nvSpPr>
        <p:spPr>
          <a:xfrm>
            <a:off x="5814670" y="4069080"/>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20～90%</a:t>
            </a:r>
            <a:endParaRPr lang="en-US" sz="1230" dirty="0"/>
          </a:p>
        </p:txBody>
      </p:sp>
      <p:sp>
        <p:nvSpPr>
          <p:cNvPr id="44" name="Text 42"/>
          <p:cNvSpPr/>
          <p:nvPr/>
        </p:nvSpPr>
        <p:spPr>
          <a:xfrm>
            <a:off x="4453128" y="463600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BEV初期SOC</a:t>
            </a:r>
            <a:endParaRPr lang="en-US" sz="1230" dirty="0"/>
          </a:p>
        </p:txBody>
      </p:sp>
      <p:sp>
        <p:nvSpPr>
          <p:cNvPr id="45" name="Text 43"/>
          <p:cNvSpPr/>
          <p:nvPr/>
        </p:nvSpPr>
        <p:spPr>
          <a:xfrm>
            <a:off x="5814670" y="463600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車両別 21.95～77.43%</a:t>
            </a:r>
            <a:endParaRPr lang="en-US" sz="1230" dirty="0"/>
          </a:p>
        </p:txBody>
      </p:sp>
      <p:sp>
        <p:nvSpPr>
          <p:cNvPr id="46" name="Shape 44"/>
          <p:cNvSpPr/>
          <p:nvPr/>
        </p:nvSpPr>
        <p:spPr>
          <a:xfrm>
            <a:off x="4370832" y="5166360"/>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47" name="Text 45"/>
          <p:cNvSpPr/>
          <p:nvPr/>
        </p:nvSpPr>
        <p:spPr>
          <a:xfrm>
            <a:off x="4453128" y="520293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ICE条件</a:t>
            </a:r>
            <a:endParaRPr lang="en-US" sz="1230" dirty="0"/>
          </a:p>
        </p:txBody>
      </p:sp>
      <p:sp>
        <p:nvSpPr>
          <p:cNvPr id="48" name="Text 46"/>
          <p:cNvSpPr/>
          <p:nvPr/>
        </p:nvSpPr>
        <p:spPr>
          <a:xfrm>
            <a:off x="5814670" y="520293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160 L・4.52 km/L</a:t>
            </a:r>
            <a:endParaRPr lang="en-US" sz="1230" dirty="0"/>
          </a:p>
        </p:txBody>
      </p:sp>
      <p:sp>
        <p:nvSpPr>
          <p:cNvPr id="49" name="Shape 47"/>
          <p:cNvSpPr/>
          <p:nvPr/>
        </p:nvSpPr>
        <p:spPr>
          <a:xfrm>
            <a:off x="7973568"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50" name="Shape 48"/>
          <p:cNvSpPr/>
          <p:nvPr/>
        </p:nvSpPr>
        <p:spPr>
          <a:xfrm>
            <a:off x="7973568" y="1234440"/>
            <a:ext cx="3611880" cy="438912"/>
          </a:xfrm>
          <a:prstGeom prst="rect">
            <a:avLst/>
          </a:prstGeom>
          <a:solidFill>
            <a:srgbClr val="356BB3"/>
          </a:solidFill>
          <a:ln w="12700">
            <a:solidFill>
              <a:srgbClr val="356BB3"/>
            </a:solidFill>
            <a:prstDash val="solid"/>
          </a:ln>
        </p:spPr>
        <p:txBody>
          <a:bodyPr/>
          <a:lstStyle/>
          <a:p>
            <a:endParaRPr lang="ja-JP" altLang="en-US"/>
          </a:p>
        </p:txBody>
      </p:sp>
      <p:sp>
        <p:nvSpPr>
          <p:cNvPr id="51" name="Text 49"/>
          <p:cNvSpPr/>
          <p:nvPr/>
        </p:nvSpPr>
        <p:spPr>
          <a:xfrm>
            <a:off x="8083296" y="1298448"/>
            <a:ext cx="339242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営業所設備</a:t>
            </a:r>
            <a:endParaRPr lang="en-US" sz="1650" dirty="0"/>
          </a:p>
        </p:txBody>
      </p:sp>
      <p:sp>
        <p:nvSpPr>
          <p:cNvPr id="52" name="Shape 50"/>
          <p:cNvSpPr/>
          <p:nvPr/>
        </p:nvSpPr>
        <p:spPr>
          <a:xfrm>
            <a:off x="8046720" y="1764792"/>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53" name="Text 51"/>
          <p:cNvSpPr/>
          <p:nvPr/>
        </p:nvSpPr>
        <p:spPr>
          <a:xfrm>
            <a:off x="8129016" y="180136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充電器</a:t>
            </a:r>
            <a:endParaRPr lang="en-US" sz="1230" dirty="0"/>
          </a:p>
        </p:txBody>
      </p:sp>
      <p:sp>
        <p:nvSpPr>
          <p:cNvPr id="54" name="Text 52"/>
          <p:cNvSpPr/>
          <p:nvPr/>
        </p:nvSpPr>
        <p:spPr>
          <a:xfrm>
            <a:off x="9490558" y="180136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90 kW × 10基</a:t>
            </a:r>
            <a:endParaRPr lang="en-US" sz="1230" dirty="0"/>
          </a:p>
        </p:txBody>
      </p:sp>
      <p:sp>
        <p:nvSpPr>
          <p:cNvPr id="55" name="Text 53"/>
          <p:cNvSpPr/>
          <p:nvPr/>
        </p:nvSpPr>
        <p:spPr>
          <a:xfrm>
            <a:off x="8129016" y="236829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同時接続</a:t>
            </a:r>
            <a:endParaRPr lang="en-US" sz="1230" dirty="0"/>
          </a:p>
        </p:txBody>
      </p:sp>
      <p:sp>
        <p:nvSpPr>
          <p:cNvPr id="56" name="Text 54"/>
          <p:cNvSpPr/>
          <p:nvPr/>
        </p:nvSpPr>
        <p:spPr>
          <a:xfrm>
            <a:off x="9490558" y="236829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各1ポート</a:t>
            </a:r>
            <a:endParaRPr lang="en-US" sz="1230" dirty="0"/>
          </a:p>
        </p:txBody>
      </p:sp>
      <p:sp>
        <p:nvSpPr>
          <p:cNvPr id="57" name="Shape 55"/>
          <p:cNvSpPr/>
          <p:nvPr/>
        </p:nvSpPr>
        <p:spPr>
          <a:xfrm>
            <a:off x="8046720" y="2898648"/>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58" name="Text 56"/>
          <p:cNvSpPr/>
          <p:nvPr/>
        </p:nvSpPr>
        <p:spPr>
          <a:xfrm>
            <a:off x="8129016" y="2935224"/>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V2G</a:t>
            </a:r>
            <a:endParaRPr lang="en-US" sz="1230" dirty="0"/>
          </a:p>
        </p:txBody>
      </p:sp>
      <p:sp>
        <p:nvSpPr>
          <p:cNvPr id="59" name="Text 57"/>
          <p:cNvSpPr/>
          <p:nvPr/>
        </p:nvSpPr>
        <p:spPr>
          <a:xfrm>
            <a:off x="9490558" y="2935224"/>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使用しない</a:t>
            </a:r>
            <a:endParaRPr lang="en-US" sz="1230" dirty="0"/>
          </a:p>
        </p:txBody>
      </p:sp>
      <p:sp>
        <p:nvSpPr>
          <p:cNvPr id="60" name="Text 58"/>
          <p:cNvSpPr/>
          <p:nvPr/>
        </p:nvSpPr>
        <p:spPr>
          <a:xfrm>
            <a:off x="8129016" y="3502152"/>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受電上限</a:t>
            </a:r>
            <a:endParaRPr lang="en-US" sz="1230" dirty="0"/>
          </a:p>
        </p:txBody>
      </p:sp>
      <p:sp>
        <p:nvSpPr>
          <p:cNvPr id="61" name="Text 59"/>
          <p:cNvSpPr/>
          <p:nvPr/>
        </p:nvSpPr>
        <p:spPr>
          <a:xfrm>
            <a:off x="9490558" y="3502152"/>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200 kW</a:t>
            </a:r>
            <a:endParaRPr lang="en-US" sz="1230" dirty="0"/>
          </a:p>
        </p:txBody>
      </p:sp>
      <p:sp>
        <p:nvSpPr>
          <p:cNvPr id="62" name="Shape 60"/>
          <p:cNvSpPr/>
          <p:nvPr/>
        </p:nvSpPr>
        <p:spPr>
          <a:xfrm>
            <a:off x="8046720" y="4032504"/>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63" name="Text 61"/>
          <p:cNvSpPr/>
          <p:nvPr/>
        </p:nvSpPr>
        <p:spPr>
          <a:xfrm>
            <a:off x="8129016" y="4069080"/>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PV定格</a:t>
            </a:r>
            <a:endParaRPr lang="en-US" sz="1230" dirty="0"/>
          </a:p>
        </p:txBody>
      </p:sp>
      <p:sp>
        <p:nvSpPr>
          <p:cNvPr id="64" name="Text 62"/>
          <p:cNvSpPr/>
          <p:nvPr/>
        </p:nvSpPr>
        <p:spPr>
          <a:xfrm>
            <a:off x="9490558" y="4069080"/>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1,000 kW</a:t>
            </a:r>
            <a:endParaRPr lang="en-US" sz="1230" dirty="0"/>
          </a:p>
        </p:txBody>
      </p:sp>
      <p:sp>
        <p:nvSpPr>
          <p:cNvPr id="65" name="Text 63"/>
          <p:cNvSpPr/>
          <p:nvPr/>
        </p:nvSpPr>
        <p:spPr>
          <a:xfrm>
            <a:off x="8129016" y="463600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BESS</a:t>
            </a:r>
            <a:endParaRPr lang="en-US" sz="1230" dirty="0"/>
          </a:p>
        </p:txBody>
      </p:sp>
      <p:sp>
        <p:nvSpPr>
          <p:cNvPr id="66" name="Text 64"/>
          <p:cNvSpPr/>
          <p:nvPr/>
        </p:nvSpPr>
        <p:spPr>
          <a:xfrm>
            <a:off x="9490558" y="463600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6,000 kWh／900 kW</a:t>
            </a:r>
            <a:endParaRPr lang="en-US" sz="1230" dirty="0"/>
          </a:p>
        </p:txBody>
      </p:sp>
      <p:sp>
        <p:nvSpPr>
          <p:cNvPr id="67" name="Shape 65"/>
          <p:cNvSpPr/>
          <p:nvPr/>
        </p:nvSpPr>
        <p:spPr>
          <a:xfrm>
            <a:off x="8046720" y="5166360"/>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68" name="Text 66"/>
          <p:cNvSpPr/>
          <p:nvPr/>
        </p:nvSpPr>
        <p:spPr>
          <a:xfrm>
            <a:off x="8129016" y="520293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BESS境界</a:t>
            </a:r>
            <a:endParaRPr lang="en-US" sz="1230" dirty="0"/>
          </a:p>
        </p:txBody>
      </p:sp>
      <p:sp>
        <p:nvSpPr>
          <p:cNvPr id="69" name="Text 67"/>
          <p:cNvSpPr/>
          <p:nvPr/>
        </p:nvSpPr>
        <p:spPr>
          <a:xfrm>
            <a:off x="9490558" y="520293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3,000 → 3,000 kWh</a:t>
            </a:r>
            <a:endParaRPr lang="en-US" sz="1230" dirty="0"/>
          </a:p>
        </p:txBody>
      </p:sp>
      <p:sp>
        <p:nvSpPr>
          <p:cNvPr id="70" name="Text 68"/>
          <p:cNvSpPr/>
          <p:nvPr/>
        </p:nvSpPr>
        <p:spPr>
          <a:xfrm>
            <a:off x="566928" y="6318504"/>
            <a:ext cx="10469880" cy="146304"/>
          </a:xfrm>
          <a:prstGeom prst="rect">
            <a:avLst/>
          </a:prstGeom>
          <a:noFill/>
          <a:ln/>
        </p:spPr>
        <p:txBody>
          <a:bodyPr wrap="square" lIns="0" tIns="0" rIns="0" bIns="0" rtlCol="0" anchor="ctr"/>
          <a:lstStyle/>
          <a:p>
            <a:pPr marL="0" indent="0">
              <a:buNone/>
            </a:pPr>
            <a:r>
              <a:rPr lang="en-US" sz="720" dirty="0">
                <a:solidFill>
                  <a:srgbClr val="7B8494"/>
                </a:solidFill>
                <a:latin typeface="Noto Sans CJK JP" pitchFamily="34" charset="0"/>
                <a:ea typeface="Noto Sans CJK JP" pitchFamily="34" charset="-122"/>
                <a:cs typeface="Noto Sans CJK JP" pitchFamily="34" charset="-120"/>
              </a:rPr>
              <a:t>参考構成：Fei et al. (2023) のケーススタディ入力表、Zhang et al. (2025) の車両・充電器条件表</a:t>
            </a:r>
            <a:endParaRPr lang="en-US" sz="7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設定パラメータ②：費用・計算・配車候補の条件</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7/18</a:t>
            </a:r>
            <a:endParaRPr lang="en-US" sz="850" dirty="0"/>
          </a:p>
        </p:txBody>
      </p:sp>
      <p:sp>
        <p:nvSpPr>
          <p:cNvPr id="6" name="Shape 4"/>
          <p:cNvSpPr/>
          <p:nvPr/>
        </p:nvSpPr>
        <p:spPr>
          <a:xfrm>
            <a:off x="6858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7" name="Shape 5"/>
          <p:cNvSpPr/>
          <p:nvPr/>
        </p:nvSpPr>
        <p:spPr>
          <a:xfrm>
            <a:off x="685800" y="1097280"/>
            <a:ext cx="3520440" cy="438912"/>
          </a:xfrm>
          <a:prstGeom prst="rect">
            <a:avLst/>
          </a:prstGeom>
          <a:solidFill>
            <a:srgbClr val="E98B3A"/>
          </a:solidFill>
          <a:ln w="12700">
            <a:solidFill>
              <a:srgbClr val="E98B3A"/>
            </a:solidFill>
            <a:prstDash val="solid"/>
          </a:ln>
        </p:spPr>
        <p:txBody>
          <a:bodyPr/>
          <a:lstStyle/>
          <a:p>
            <a:endParaRPr lang="ja-JP" altLang="en-US"/>
          </a:p>
        </p:txBody>
      </p:sp>
      <p:sp>
        <p:nvSpPr>
          <p:cNvPr id="8" name="Text 6"/>
          <p:cNvSpPr/>
          <p:nvPr/>
        </p:nvSpPr>
        <p:spPr>
          <a:xfrm>
            <a:off x="795528" y="1161288"/>
            <a:ext cx="330098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費用の設定</a:t>
            </a:r>
            <a:endParaRPr lang="en-US" sz="1650" dirty="0"/>
          </a:p>
        </p:txBody>
      </p:sp>
      <p:sp>
        <p:nvSpPr>
          <p:cNvPr id="9" name="Shape 7"/>
          <p:cNvSpPr/>
          <p:nvPr/>
        </p:nvSpPr>
        <p:spPr>
          <a:xfrm>
            <a:off x="758952" y="1627632"/>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10" name="Text 8"/>
          <p:cNvSpPr/>
          <p:nvPr/>
        </p:nvSpPr>
        <p:spPr>
          <a:xfrm>
            <a:off x="841248" y="166420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系統電力単価</a:t>
            </a:r>
            <a:endParaRPr lang="en-US" sz="1230" dirty="0"/>
          </a:p>
        </p:txBody>
      </p:sp>
      <p:sp>
        <p:nvSpPr>
          <p:cNvPr id="11" name="Text 9"/>
          <p:cNvSpPr/>
          <p:nvPr/>
        </p:nvSpPr>
        <p:spPr>
          <a:xfrm>
            <a:off x="2164385" y="166420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30 円/kWh</a:t>
            </a:r>
            <a:endParaRPr lang="en-US" sz="1230" dirty="0"/>
          </a:p>
        </p:txBody>
      </p:sp>
      <p:sp>
        <p:nvSpPr>
          <p:cNvPr id="12" name="Text 10"/>
          <p:cNvSpPr/>
          <p:nvPr/>
        </p:nvSpPr>
        <p:spPr>
          <a:xfrm>
            <a:off x="841248" y="223113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軽油単価</a:t>
            </a:r>
            <a:endParaRPr lang="en-US" sz="1230" dirty="0"/>
          </a:p>
        </p:txBody>
      </p:sp>
      <p:sp>
        <p:nvSpPr>
          <p:cNvPr id="13" name="Text 11"/>
          <p:cNvSpPr/>
          <p:nvPr/>
        </p:nvSpPr>
        <p:spPr>
          <a:xfrm>
            <a:off x="2164385" y="223113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150 円/L</a:t>
            </a:r>
            <a:endParaRPr lang="en-US" sz="1230" dirty="0"/>
          </a:p>
        </p:txBody>
      </p:sp>
      <p:sp>
        <p:nvSpPr>
          <p:cNvPr id="14" name="Shape 12"/>
          <p:cNvSpPr/>
          <p:nvPr/>
        </p:nvSpPr>
        <p:spPr>
          <a:xfrm>
            <a:off x="758952" y="2761488"/>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15" name="Text 13"/>
          <p:cNvSpPr/>
          <p:nvPr/>
        </p:nvSpPr>
        <p:spPr>
          <a:xfrm>
            <a:off x="841248" y="2798064"/>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車両使用費</a:t>
            </a:r>
            <a:endParaRPr lang="en-US" sz="1230" dirty="0"/>
          </a:p>
        </p:txBody>
      </p:sp>
      <p:sp>
        <p:nvSpPr>
          <p:cNvPr id="16" name="Text 14"/>
          <p:cNvSpPr/>
          <p:nvPr/>
        </p:nvSpPr>
        <p:spPr>
          <a:xfrm>
            <a:off x="2164385" y="2798064"/>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20,000 円/台日</a:t>
            </a:r>
            <a:endParaRPr lang="en-US" sz="1230" dirty="0"/>
          </a:p>
        </p:txBody>
      </p:sp>
      <p:sp>
        <p:nvSpPr>
          <p:cNvPr id="17" name="Text 15"/>
          <p:cNvSpPr/>
          <p:nvPr/>
        </p:nvSpPr>
        <p:spPr>
          <a:xfrm>
            <a:off x="841248" y="3364992"/>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CO₂価格</a:t>
            </a:r>
            <a:endParaRPr lang="en-US" sz="1230" dirty="0"/>
          </a:p>
        </p:txBody>
      </p:sp>
      <p:sp>
        <p:nvSpPr>
          <p:cNvPr id="18" name="Text 16"/>
          <p:cNvSpPr/>
          <p:nvPr/>
        </p:nvSpPr>
        <p:spPr>
          <a:xfrm>
            <a:off x="2164385" y="3364992"/>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 円/kg</a:t>
            </a:r>
            <a:endParaRPr lang="en-US" sz="1230" dirty="0"/>
          </a:p>
        </p:txBody>
      </p:sp>
      <p:sp>
        <p:nvSpPr>
          <p:cNvPr id="19" name="Shape 17"/>
          <p:cNvSpPr/>
          <p:nvPr/>
        </p:nvSpPr>
        <p:spPr>
          <a:xfrm>
            <a:off x="758952" y="3895344"/>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20" name="Text 18"/>
          <p:cNvSpPr/>
          <p:nvPr/>
        </p:nvSpPr>
        <p:spPr>
          <a:xfrm>
            <a:off x="841248" y="3931920"/>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需要料金</a:t>
            </a:r>
            <a:endParaRPr lang="en-US" sz="1230" dirty="0"/>
          </a:p>
        </p:txBody>
      </p:sp>
      <p:sp>
        <p:nvSpPr>
          <p:cNvPr id="21" name="Text 19"/>
          <p:cNvSpPr/>
          <p:nvPr/>
        </p:nvSpPr>
        <p:spPr>
          <a:xfrm>
            <a:off x="2164385" y="3931920"/>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0 円/kW</a:t>
            </a:r>
            <a:endParaRPr lang="en-US" sz="1230" dirty="0"/>
          </a:p>
        </p:txBody>
      </p:sp>
      <p:sp>
        <p:nvSpPr>
          <p:cNvPr id="22" name="Text 20"/>
          <p:cNvSpPr/>
          <p:nvPr/>
        </p:nvSpPr>
        <p:spPr>
          <a:xfrm>
            <a:off x="841248" y="449884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売電単価</a:t>
            </a:r>
            <a:endParaRPr lang="en-US" sz="1230" dirty="0"/>
          </a:p>
        </p:txBody>
      </p:sp>
      <p:sp>
        <p:nvSpPr>
          <p:cNvPr id="23" name="Text 21"/>
          <p:cNvSpPr/>
          <p:nvPr/>
        </p:nvSpPr>
        <p:spPr>
          <a:xfrm>
            <a:off x="2164385" y="449884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0 円/kWh</a:t>
            </a:r>
            <a:endParaRPr lang="en-US" sz="1230" dirty="0"/>
          </a:p>
        </p:txBody>
      </p:sp>
      <p:sp>
        <p:nvSpPr>
          <p:cNvPr id="24" name="Shape 22"/>
          <p:cNvSpPr/>
          <p:nvPr/>
        </p:nvSpPr>
        <p:spPr>
          <a:xfrm>
            <a:off x="758952" y="5029200"/>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25" name="Text 23"/>
          <p:cNvSpPr/>
          <p:nvPr/>
        </p:nvSpPr>
        <p:spPr>
          <a:xfrm>
            <a:off x="841248" y="506577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含まない費用</a:t>
            </a:r>
            <a:endParaRPr lang="en-US" sz="1230" dirty="0"/>
          </a:p>
        </p:txBody>
      </p:sp>
      <p:sp>
        <p:nvSpPr>
          <p:cNvPr id="26" name="Text 24"/>
          <p:cNvSpPr/>
          <p:nvPr/>
        </p:nvSpPr>
        <p:spPr>
          <a:xfrm>
            <a:off x="2164385" y="506577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設備費・劣化費・運転士費</a:t>
            </a:r>
            <a:endParaRPr lang="en-US" sz="1230" dirty="0"/>
          </a:p>
        </p:txBody>
      </p:sp>
      <p:sp>
        <p:nvSpPr>
          <p:cNvPr id="27" name="Shape 25"/>
          <p:cNvSpPr/>
          <p:nvPr/>
        </p:nvSpPr>
        <p:spPr>
          <a:xfrm>
            <a:off x="43434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8" name="Shape 26"/>
          <p:cNvSpPr/>
          <p:nvPr/>
        </p:nvSpPr>
        <p:spPr>
          <a:xfrm>
            <a:off x="4343400" y="1097280"/>
            <a:ext cx="3520440" cy="438912"/>
          </a:xfrm>
          <a:prstGeom prst="rect">
            <a:avLst/>
          </a:prstGeom>
          <a:solidFill>
            <a:srgbClr val="356BB3"/>
          </a:solidFill>
          <a:ln w="12700">
            <a:solidFill>
              <a:srgbClr val="356BB3"/>
            </a:solidFill>
            <a:prstDash val="solid"/>
          </a:ln>
        </p:spPr>
        <p:txBody>
          <a:bodyPr/>
          <a:lstStyle/>
          <a:p>
            <a:endParaRPr lang="ja-JP" altLang="en-US"/>
          </a:p>
        </p:txBody>
      </p:sp>
      <p:sp>
        <p:nvSpPr>
          <p:cNvPr id="29" name="Text 27"/>
          <p:cNvSpPr/>
          <p:nvPr/>
        </p:nvSpPr>
        <p:spPr>
          <a:xfrm>
            <a:off x="4453128" y="1161288"/>
            <a:ext cx="330098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計算の設定</a:t>
            </a:r>
            <a:endParaRPr lang="en-US" sz="1650" dirty="0"/>
          </a:p>
        </p:txBody>
      </p:sp>
      <p:sp>
        <p:nvSpPr>
          <p:cNvPr id="30" name="Shape 28"/>
          <p:cNvSpPr/>
          <p:nvPr/>
        </p:nvSpPr>
        <p:spPr>
          <a:xfrm>
            <a:off x="4416552" y="1627632"/>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31" name="Text 29"/>
          <p:cNvSpPr/>
          <p:nvPr/>
        </p:nvSpPr>
        <p:spPr>
          <a:xfrm>
            <a:off x="4498848" y="166420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計算方式</a:t>
            </a:r>
            <a:endParaRPr lang="en-US" sz="1230" dirty="0"/>
          </a:p>
        </p:txBody>
      </p:sp>
      <p:sp>
        <p:nvSpPr>
          <p:cNvPr id="32" name="Text 30"/>
          <p:cNvSpPr/>
          <p:nvPr/>
        </p:nvSpPr>
        <p:spPr>
          <a:xfrm>
            <a:off x="5821985" y="166420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二段階方式</a:t>
            </a:r>
            <a:endParaRPr lang="en-US" sz="1230" dirty="0"/>
          </a:p>
        </p:txBody>
      </p:sp>
      <p:sp>
        <p:nvSpPr>
          <p:cNvPr id="33" name="Text 31"/>
          <p:cNvSpPr/>
          <p:nvPr/>
        </p:nvSpPr>
        <p:spPr>
          <a:xfrm>
            <a:off x="4498848" y="223113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要求上限</a:t>
            </a:r>
            <a:endParaRPr lang="en-US" sz="1230" dirty="0"/>
          </a:p>
        </p:txBody>
      </p:sp>
      <p:sp>
        <p:nvSpPr>
          <p:cNvPr id="34" name="Text 32"/>
          <p:cNvSpPr/>
          <p:nvPr/>
        </p:nvSpPr>
        <p:spPr>
          <a:xfrm>
            <a:off x="5821985" y="223113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585秒</a:t>
            </a:r>
            <a:endParaRPr lang="en-US" sz="1230" dirty="0"/>
          </a:p>
        </p:txBody>
      </p:sp>
      <p:sp>
        <p:nvSpPr>
          <p:cNvPr id="35" name="Shape 33"/>
          <p:cNvSpPr/>
          <p:nvPr/>
        </p:nvSpPr>
        <p:spPr>
          <a:xfrm>
            <a:off x="4416552" y="2761488"/>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36" name="Text 34"/>
          <p:cNvSpPr/>
          <p:nvPr/>
        </p:nvSpPr>
        <p:spPr>
          <a:xfrm>
            <a:off x="4498848" y="2798064"/>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配車側上限</a:t>
            </a:r>
            <a:endParaRPr lang="en-US" sz="1230" dirty="0"/>
          </a:p>
        </p:txBody>
      </p:sp>
      <p:sp>
        <p:nvSpPr>
          <p:cNvPr id="37" name="Text 35"/>
          <p:cNvSpPr/>
          <p:nvPr/>
        </p:nvSpPr>
        <p:spPr>
          <a:xfrm>
            <a:off x="5821985" y="2798064"/>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435秒</a:t>
            </a:r>
            <a:endParaRPr lang="en-US" sz="1230" dirty="0"/>
          </a:p>
        </p:txBody>
      </p:sp>
      <p:sp>
        <p:nvSpPr>
          <p:cNvPr id="38" name="Text 36"/>
          <p:cNvSpPr/>
          <p:nvPr/>
        </p:nvSpPr>
        <p:spPr>
          <a:xfrm>
            <a:off x="4498848" y="3364992"/>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充電側上限</a:t>
            </a:r>
            <a:endParaRPr lang="en-US" sz="1230" dirty="0"/>
          </a:p>
        </p:txBody>
      </p:sp>
      <p:sp>
        <p:nvSpPr>
          <p:cNvPr id="39" name="Text 37"/>
          <p:cNvSpPr/>
          <p:nvPr/>
        </p:nvSpPr>
        <p:spPr>
          <a:xfrm>
            <a:off x="5821985" y="3364992"/>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30秒／候補</a:t>
            </a:r>
            <a:endParaRPr lang="en-US" sz="1230" dirty="0"/>
          </a:p>
        </p:txBody>
      </p:sp>
      <p:sp>
        <p:nvSpPr>
          <p:cNvPr id="40" name="Shape 38"/>
          <p:cNvSpPr/>
          <p:nvPr/>
        </p:nvSpPr>
        <p:spPr>
          <a:xfrm>
            <a:off x="4416552" y="3895344"/>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41" name="Text 39"/>
          <p:cNvSpPr/>
          <p:nvPr/>
        </p:nvSpPr>
        <p:spPr>
          <a:xfrm>
            <a:off x="4498848" y="3931920"/>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乱数seed</a:t>
            </a:r>
            <a:endParaRPr lang="en-US" sz="1230" dirty="0"/>
          </a:p>
        </p:txBody>
      </p:sp>
      <p:sp>
        <p:nvSpPr>
          <p:cNvPr id="42" name="Text 40"/>
          <p:cNvSpPr/>
          <p:nvPr/>
        </p:nvSpPr>
        <p:spPr>
          <a:xfrm>
            <a:off x="5821985" y="3931920"/>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42</a:t>
            </a:r>
            <a:endParaRPr lang="en-US" sz="1230" dirty="0"/>
          </a:p>
        </p:txBody>
      </p:sp>
      <p:sp>
        <p:nvSpPr>
          <p:cNvPr id="43" name="Text 41"/>
          <p:cNvSpPr/>
          <p:nvPr/>
        </p:nvSpPr>
        <p:spPr>
          <a:xfrm>
            <a:off x="4498848" y="449884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CPU thread</a:t>
            </a:r>
            <a:endParaRPr lang="en-US" sz="1230" dirty="0"/>
          </a:p>
        </p:txBody>
      </p:sp>
      <p:sp>
        <p:nvSpPr>
          <p:cNvPr id="44" name="Text 42"/>
          <p:cNvSpPr/>
          <p:nvPr/>
        </p:nvSpPr>
        <p:spPr>
          <a:xfrm>
            <a:off x="5821985" y="449884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a:t>
            </a:r>
            <a:endParaRPr lang="en-US" sz="1230" dirty="0"/>
          </a:p>
        </p:txBody>
      </p:sp>
      <p:sp>
        <p:nvSpPr>
          <p:cNvPr id="45" name="Shape 43"/>
          <p:cNvSpPr/>
          <p:nvPr/>
        </p:nvSpPr>
        <p:spPr>
          <a:xfrm>
            <a:off x="4416552" y="5029200"/>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46" name="Text 44"/>
          <p:cNvSpPr/>
          <p:nvPr/>
        </p:nvSpPr>
        <p:spPr>
          <a:xfrm>
            <a:off x="4498848" y="506577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目標gap</a:t>
            </a:r>
            <a:endParaRPr lang="en-US" sz="1230" dirty="0"/>
          </a:p>
        </p:txBody>
      </p:sp>
      <p:sp>
        <p:nvSpPr>
          <p:cNvPr id="47" name="Text 45"/>
          <p:cNvSpPr/>
          <p:nvPr/>
        </p:nvSpPr>
        <p:spPr>
          <a:xfrm>
            <a:off x="5821985" y="506577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10%</a:t>
            </a:r>
            <a:endParaRPr lang="en-US" sz="1230" dirty="0"/>
          </a:p>
        </p:txBody>
      </p:sp>
      <p:sp>
        <p:nvSpPr>
          <p:cNvPr id="48" name="Shape 46"/>
          <p:cNvSpPr/>
          <p:nvPr/>
        </p:nvSpPr>
        <p:spPr>
          <a:xfrm>
            <a:off x="80010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49" name="Shape 47"/>
          <p:cNvSpPr/>
          <p:nvPr/>
        </p:nvSpPr>
        <p:spPr>
          <a:xfrm>
            <a:off x="8001000" y="1097280"/>
            <a:ext cx="3520440" cy="438912"/>
          </a:xfrm>
          <a:prstGeom prst="rect">
            <a:avLst/>
          </a:prstGeom>
          <a:solidFill>
            <a:srgbClr val="1F9D8A"/>
          </a:solidFill>
          <a:ln w="12700">
            <a:solidFill>
              <a:srgbClr val="1F9D8A"/>
            </a:solidFill>
            <a:prstDash val="solid"/>
          </a:ln>
        </p:spPr>
        <p:txBody>
          <a:bodyPr/>
          <a:lstStyle/>
          <a:p>
            <a:endParaRPr lang="ja-JP" altLang="en-US"/>
          </a:p>
        </p:txBody>
      </p:sp>
      <p:sp>
        <p:nvSpPr>
          <p:cNvPr id="50" name="Text 48"/>
          <p:cNvSpPr/>
          <p:nvPr/>
        </p:nvSpPr>
        <p:spPr>
          <a:xfrm>
            <a:off x="8110728" y="1161288"/>
            <a:ext cx="330098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候補比較の設定</a:t>
            </a:r>
            <a:endParaRPr lang="en-US" sz="1650" dirty="0"/>
          </a:p>
        </p:txBody>
      </p:sp>
      <p:sp>
        <p:nvSpPr>
          <p:cNvPr id="51" name="Shape 49"/>
          <p:cNvSpPr/>
          <p:nvPr/>
        </p:nvSpPr>
        <p:spPr>
          <a:xfrm>
            <a:off x="8074152" y="1627632"/>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52" name="Text 50"/>
          <p:cNvSpPr/>
          <p:nvPr/>
        </p:nvSpPr>
        <p:spPr>
          <a:xfrm>
            <a:off x="8156448" y="166420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評価候補数</a:t>
            </a:r>
            <a:endParaRPr lang="en-US" sz="1230" dirty="0"/>
          </a:p>
        </p:txBody>
      </p:sp>
      <p:sp>
        <p:nvSpPr>
          <p:cNvPr id="53" name="Text 51"/>
          <p:cNvSpPr/>
          <p:nvPr/>
        </p:nvSpPr>
        <p:spPr>
          <a:xfrm>
            <a:off x="9479585" y="166420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22案</a:t>
            </a:r>
            <a:endParaRPr lang="en-US" sz="1230" dirty="0"/>
          </a:p>
        </p:txBody>
      </p:sp>
      <p:sp>
        <p:nvSpPr>
          <p:cNvPr id="54" name="Text 52"/>
          <p:cNvSpPr/>
          <p:nvPr/>
        </p:nvSpPr>
        <p:spPr>
          <a:xfrm>
            <a:off x="8156448" y="223113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構成探索幅</a:t>
            </a:r>
            <a:endParaRPr lang="en-US" sz="1230" dirty="0"/>
          </a:p>
        </p:txBody>
      </p:sp>
      <p:sp>
        <p:nvSpPr>
          <p:cNvPr id="55" name="Text 53"/>
          <p:cNvSpPr/>
          <p:nvPr/>
        </p:nvSpPr>
        <p:spPr>
          <a:xfrm>
            <a:off x="9479585" y="223113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±4台相当</a:t>
            </a:r>
            <a:endParaRPr lang="en-US" sz="1230" dirty="0"/>
          </a:p>
        </p:txBody>
      </p:sp>
      <p:sp>
        <p:nvSpPr>
          <p:cNvPr id="56" name="Shape 54"/>
          <p:cNvSpPr/>
          <p:nvPr/>
        </p:nvSpPr>
        <p:spPr>
          <a:xfrm>
            <a:off x="8074152" y="2761488"/>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57" name="Text 55"/>
          <p:cNvSpPr/>
          <p:nvPr/>
        </p:nvSpPr>
        <p:spPr>
          <a:xfrm>
            <a:off x="8156448" y="2798064"/>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構成探索範囲</a:t>
            </a:r>
            <a:endParaRPr lang="en-US" sz="1230" dirty="0"/>
          </a:p>
        </p:txBody>
      </p:sp>
      <p:sp>
        <p:nvSpPr>
          <p:cNvPr id="58" name="Text 56"/>
          <p:cNvSpPr/>
          <p:nvPr/>
        </p:nvSpPr>
        <p:spPr>
          <a:xfrm>
            <a:off x="9479585" y="2798064"/>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15～35台</a:t>
            </a:r>
            <a:endParaRPr lang="en-US" sz="1230" dirty="0"/>
          </a:p>
        </p:txBody>
      </p:sp>
      <p:sp>
        <p:nvSpPr>
          <p:cNvPr id="59" name="Text 57"/>
          <p:cNvSpPr/>
          <p:nvPr/>
        </p:nvSpPr>
        <p:spPr>
          <a:xfrm>
            <a:off x="8156448" y="3364992"/>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候補探索時間</a:t>
            </a:r>
            <a:endParaRPr lang="en-US" sz="1230" dirty="0"/>
          </a:p>
        </p:txBody>
      </p:sp>
      <p:sp>
        <p:nvSpPr>
          <p:cNvPr id="60" name="Text 58"/>
          <p:cNvSpPr/>
          <p:nvPr/>
        </p:nvSpPr>
        <p:spPr>
          <a:xfrm>
            <a:off x="9479585" y="3364992"/>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120秒</a:t>
            </a:r>
            <a:endParaRPr lang="en-US" sz="1230" dirty="0"/>
          </a:p>
        </p:txBody>
      </p:sp>
      <p:sp>
        <p:nvSpPr>
          <p:cNvPr id="61" name="Shape 59"/>
          <p:cNvSpPr/>
          <p:nvPr/>
        </p:nvSpPr>
        <p:spPr>
          <a:xfrm>
            <a:off x="8074152" y="3895344"/>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62" name="Text 60"/>
          <p:cNvSpPr/>
          <p:nvPr/>
        </p:nvSpPr>
        <p:spPr>
          <a:xfrm>
            <a:off x="8156448" y="3931920"/>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最終選択</a:t>
            </a:r>
            <a:endParaRPr lang="en-US" sz="1230" dirty="0"/>
          </a:p>
        </p:txBody>
      </p:sp>
      <p:sp>
        <p:nvSpPr>
          <p:cNvPr id="63" name="Text 61"/>
          <p:cNvSpPr/>
          <p:nvPr/>
        </p:nvSpPr>
        <p:spPr>
          <a:xfrm>
            <a:off x="9479585" y="3931920"/>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費用→使用台数→配車ID</a:t>
            </a:r>
            <a:endParaRPr lang="en-US" sz="1230" dirty="0"/>
          </a:p>
        </p:txBody>
      </p:sp>
      <p:sp>
        <p:nvSpPr>
          <p:cNvPr id="64" name="Text 62"/>
          <p:cNvSpPr/>
          <p:nvPr/>
        </p:nvSpPr>
        <p:spPr>
          <a:xfrm>
            <a:off x="8156448" y="449884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全便条件</a:t>
            </a:r>
            <a:endParaRPr lang="en-US" sz="1230" dirty="0"/>
          </a:p>
        </p:txBody>
      </p:sp>
      <p:sp>
        <p:nvSpPr>
          <p:cNvPr id="65" name="Text 63"/>
          <p:cNvSpPr/>
          <p:nvPr/>
        </p:nvSpPr>
        <p:spPr>
          <a:xfrm>
            <a:off x="9479585" y="449884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未担当便を許さない</a:t>
            </a:r>
            <a:endParaRPr lang="en-US" sz="1230" dirty="0"/>
          </a:p>
        </p:txBody>
      </p:sp>
      <p:sp>
        <p:nvSpPr>
          <p:cNvPr id="66" name="Shape 64"/>
          <p:cNvSpPr/>
          <p:nvPr/>
        </p:nvSpPr>
        <p:spPr>
          <a:xfrm>
            <a:off x="8074152" y="5029200"/>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67" name="Text 65"/>
          <p:cNvSpPr/>
          <p:nvPr/>
        </p:nvSpPr>
        <p:spPr>
          <a:xfrm>
            <a:off x="8156448" y="506577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後処理修正</a:t>
            </a:r>
            <a:endParaRPr lang="en-US" sz="1230" dirty="0"/>
          </a:p>
        </p:txBody>
      </p:sp>
      <p:sp>
        <p:nvSpPr>
          <p:cNvPr id="68" name="Text 66"/>
          <p:cNvSpPr/>
          <p:nvPr/>
        </p:nvSpPr>
        <p:spPr>
          <a:xfrm>
            <a:off x="9479585" y="506577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使用しない</a:t>
            </a:r>
            <a:endParaRPr lang="en-US" sz="1230" dirty="0"/>
          </a:p>
        </p:txBody>
      </p:sp>
      <p:sp>
        <p:nvSpPr>
          <p:cNvPr id="69" name="Shape 67"/>
          <p:cNvSpPr/>
          <p:nvPr/>
        </p:nvSpPr>
        <p:spPr>
          <a:xfrm>
            <a:off x="1078992" y="5989320"/>
            <a:ext cx="10012680" cy="347472"/>
          </a:xfrm>
          <a:prstGeom prst="roundRect">
            <a:avLst/>
          </a:prstGeom>
          <a:solidFill>
            <a:srgbClr val="FCECEC"/>
          </a:solidFill>
          <a:ln w="11430">
            <a:solidFill>
              <a:srgbClr val="C94C4C"/>
            </a:solidFill>
            <a:prstDash val="solid"/>
          </a:ln>
        </p:spPr>
        <p:txBody>
          <a:bodyPr/>
          <a:lstStyle/>
          <a:p>
            <a:endParaRPr lang="ja-JP" altLang="en-US"/>
          </a:p>
        </p:txBody>
      </p:sp>
      <p:sp>
        <p:nvSpPr>
          <p:cNvPr id="70" name="Text 68"/>
          <p:cNvSpPr/>
          <p:nvPr/>
        </p:nvSpPr>
        <p:spPr>
          <a:xfrm>
            <a:off x="1298448" y="6053328"/>
            <a:ext cx="9555480" cy="201168"/>
          </a:xfrm>
          <a:prstGeom prst="rect">
            <a:avLst/>
          </a:prstGeom>
          <a:noFill/>
          <a:ln/>
        </p:spPr>
        <p:txBody>
          <a:bodyPr wrap="square" lIns="0" tIns="0" rIns="0" bIns="0" rtlCol="0" anchor="ctr"/>
          <a:lstStyle/>
          <a:p>
            <a:pPr marL="0" indent="0" algn="ctr">
              <a:buNone/>
            </a:pPr>
            <a:r>
              <a:rPr lang="en-US" sz="1400" b="1" dirty="0">
                <a:solidFill>
                  <a:srgbClr val="C94C4C"/>
                </a:solidFill>
                <a:latin typeface="Noto Sans CJK JP" pitchFamily="34" charset="0"/>
                <a:ea typeface="Noto Sans CJK JP" pitchFamily="34" charset="-122"/>
                <a:cs typeface="Noto Sans CJK JP" pitchFamily="34" charset="-120"/>
              </a:rPr>
              <a:t>注意：ここでの評価額はモデル内の比較指標であり、設備投資を含む実際の総費用ではない。</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前回からの差分：結果を「出す」段階から、「理由と信頼性を説明する」段階へ</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8/18</a:t>
            </a:r>
            <a:endParaRPr lang="en-US" sz="850" dirty="0"/>
          </a:p>
        </p:txBody>
      </p:sp>
      <p:sp>
        <p:nvSpPr>
          <p:cNvPr id="6" name="Shape 4"/>
          <p:cNvSpPr/>
          <p:nvPr/>
        </p:nvSpPr>
        <p:spPr>
          <a:xfrm>
            <a:off x="914400" y="1051560"/>
            <a:ext cx="1920240" cy="310896"/>
          </a:xfrm>
          <a:prstGeom prst="roundRect">
            <a:avLst/>
          </a:prstGeom>
          <a:solidFill>
            <a:srgbClr val="687386"/>
          </a:solidFill>
          <a:ln w="12700">
            <a:solidFill>
              <a:srgbClr val="687386"/>
            </a:solidFill>
            <a:prstDash val="solid"/>
          </a:ln>
        </p:spPr>
        <p:txBody>
          <a:bodyPr/>
          <a:lstStyle/>
          <a:p>
            <a:endParaRPr lang="ja-JP" altLang="en-US"/>
          </a:p>
        </p:txBody>
      </p:sp>
      <p:sp>
        <p:nvSpPr>
          <p:cNvPr id="7" name="Text 5"/>
          <p:cNvSpPr/>
          <p:nvPr/>
        </p:nvSpPr>
        <p:spPr>
          <a:xfrm>
            <a:off x="960120" y="1069848"/>
            <a:ext cx="182880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CJK JP" pitchFamily="34" charset="0"/>
                <a:ea typeface="Noto Sans CJK JP" pitchFamily="34" charset="-122"/>
                <a:cs typeface="Noto Sans CJK JP" pitchFamily="34" charset="-120"/>
              </a:rPr>
              <a:t>前回（7月末）</a:t>
            </a:r>
            <a:endParaRPr lang="en-US" sz="1050" dirty="0"/>
          </a:p>
        </p:txBody>
      </p:sp>
      <p:sp>
        <p:nvSpPr>
          <p:cNvPr id="8" name="Shape 6"/>
          <p:cNvSpPr/>
          <p:nvPr/>
        </p:nvSpPr>
        <p:spPr>
          <a:xfrm>
            <a:off x="6537960" y="1051560"/>
            <a:ext cx="1920240" cy="310896"/>
          </a:xfrm>
          <a:prstGeom prst="roundRect">
            <a:avLst/>
          </a:prstGeom>
          <a:solidFill>
            <a:srgbClr val="356BB3"/>
          </a:solidFill>
          <a:ln w="12700">
            <a:solidFill>
              <a:srgbClr val="356BB3"/>
            </a:solidFill>
            <a:prstDash val="solid"/>
          </a:ln>
        </p:spPr>
        <p:txBody>
          <a:bodyPr/>
          <a:lstStyle/>
          <a:p>
            <a:endParaRPr lang="ja-JP" altLang="en-US"/>
          </a:p>
        </p:txBody>
      </p:sp>
      <p:sp>
        <p:nvSpPr>
          <p:cNvPr id="9" name="Text 7"/>
          <p:cNvSpPr/>
          <p:nvPr/>
        </p:nvSpPr>
        <p:spPr>
          <a:xfrm>
            <a:off x="6583680" y="1069848"/>
            <a:ext cx="182880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CJK JP" pitchFamily="34" charset="0"/>
                <a:ea typeface="Noto Sans CJK JP" pitchFamily="34" charset="-122"/>
                <a:cs typeface="Noto Sans CJK JP" pitchFamily="34" charset="-120"/>
              </a:rPr>
              <a:t>現在（8月末）</a:t>
            </a:r>
            <a:endParaRPr lang="en-US" sz="1050" dirty="0"/>
          </a:p>
        </p:txBody>
      </p:sp>
      <p:sp>
        <p:nvSpPr>
          <p:cNvPr id="10" name="Shape 8"/>
          <p:cNvSpPr/>
          <p:nvPr/>
        </p:nvSpPr>
        <p:spPr>
          <a:xfrm>
            <a:off x="594360" y="1527048"/>
            <a:ext cx="11018520" cy="758952"/>
          </a:xfrm>
          <a:prstGeom prst="rect">
            <a:avLst/>
          </a:prstGeom>
          <a:solidFill>
            <a:srgbClr val="F8FAFC"/>
          </a:solidFill>
          <a:ln w="12700">
            <a:solidFill>
              <a:srgbClr val="F8FAFC"/>
            </a:solidFill>
            <a:prstDash val="solid"/>
          </a:ln>
        </p:spPr>
        <p:txBody>
          <a:bodyPr/>
          <a:lstStyle/>
          <a:p>
            <a:endParaRPr lang="ja-JP" altLang="en-US"/>
          </a:p>
        </p:txBody>
      </p:sp>
      <p:sp>
        <p:nvSpPr>
          <p:cNvPr id="11" name="Text 9"/>
          <p:cNvSpPr/>
          <p:nvPr/>
        </p:nvSpPr>
        <p:spPr>
          <a:xfrm>
            <a:off x="777240" y="1600200"/>
            <a:ext cx="1828800" cy="502920"/>
          </a:xfrm>
          <a:prstGeom prst="rect">
            <a:avLst/>
          </a:prstGeom>
          <a:noFill/>
          <a:ln/>
        </p:spPr>
        <p:txBody>
          <a:bodyPr wrap="square" lIns="0" tIns="0" rIns="0" bIns="0" rtlCol="0" anchor="ctr"/>
          <a:lstStyle/>
          <a:p>
            <a:pPr marL="0" indent="0">
              <a:buNone/>
            </a:pPr>
            <a:r>
              <a:rPr lang="en-US" sz="1550" b="1" dirty="0">
                <a:solidFill>
                  <a:srgbClr val="172033"/>
                </a:solidFill>
                <a:latin typeface="Noto Sans CJK JP" pitchFamily="34" charset="0"/>
                <a:ea typeface="Noto Sans CJK JP" pitchFamily="34" charset="-122"/>
                <a:cs typeface="Noto Sans CJK JP" pitchFamily="34" charset="-120"/>
              </a:rPr>
              <a:t>配車案の作り方</a:t>
            </a:r>
            <a:endParaRPr lang="en-US" sz="1550" dirty="0"/>
          </a:p>
        </p:txBody>
      </p:sp>
      <p:sp>
        <p:nvSpPr>
          <p:cNvPr id="12" name="Text 10"/>
          <p:cNvSpPr/>
          <p:nvPr/>
        </p:nvSpPr>
        <p:spPr>
          <a:xfrm>
            <a:off x="2788920" y="1600200"/>
            <a:ext cx="3337560" cy="502920"/>
          </a:xfrm>
          <a:prstGeom prst="rect">
            <a:avLst/>
          </a:prstGeom>
          <a:noFill/>
          <a:ln/>
        </p:spPr>
        <p:txBody>
          <a:bodyPr wrap="square" lIns="0" tIns="0" rIns="0" bIns="0" rtlCol="0" anchor="ctr"/>
          <a:lstStyle/>
          <a:p>
            <a:pPr marL="0" indent="0" algn="ctr">
              <a:buNone/>
            </a:pPr>
            <a:r>
              <a:rPr lang="en-US" sz="1500" dirty="0">
                <a:solidFill>
                  <a:srgbClr val="687386"/>
                </a:solidFill>
                <a:latin typeface="Noto Sans CJK JP" pitchFamily="34" charset="0"/>
                <a:ea typeface="Noto Sans CJK JP" pitchFamily="34" charset="-122"/>
                <a:cs typeface="Noto Sans CJK JP" pitchFamily="34" charset="-120"/>
              </a:rPr>
              <a:t>ほぼ1案だけを後段で評価</a:t>
            </a:r>
            <a:endParaRPr lang="en-US" sz="1500" dirty="0"/>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176" y="1700784"/>
            <a:ext cx="310896" cy="310896"/>
          </a:xfrm>
          <a:prstGeom prst="rect">
            <a:avLst/>
          </a:prstGeom>
        </p:spPr>
      </p:pic>
      <p:sp>
        <p:nvSpPr>
          <p:cNvPr id="14" name="Text 11"/>
          <p:cNvSpPr/>
          <p:nvPr/>
        </p:nvSpPr>
        <p:spPr>
          <a:xfrm>
            <a:off x="6446520" y="1600200"/>
            <a:ext cx="4480560" cy="502920"/>
          </a:xfrm>
          <a:prstGeom prst="rect">
            <a:avLst/>
          </a:prstGeom>
          <a:noFill/>
          <a:ln/>
        </p:spPr>
        <p:txBody>
          <a:bodyPr wrap="square" lIns="0" tIns="0" rIns="0" bIns="0" rtlCol="0" anchor="ctr"/>
          <a:lstStyle/>
          <a:p>
            <a:pPr marL="0" indent="0" algn="ctr">
              <a:buNone/>
            </a:pPr>
            <a:r>
              <a:rPr lang="en-US" sz="1550" b="1" dirty="0">
                <a:solidFill>
                  <a:srgbClr val="1F2A5A"/>
                </a:solidFill>
                <a:latin typeface="Noto Sans CJK JP" pitchFamily="34" charset="0"/>
                <a:ea typeface="Noto Sans CJK JP" pitchFamily="34" charset="-122"/>
                <a:cs typeface="Noto Sans CJK JP" pitchFamily="34" charset="-120"/>
              </a:rPr>
              <a:t>複数案（22案）を比較</a:t>
            </a:r>
            <a:endParaRPr lang="en-US" sz="1550" dirty="0"/>
          </a:p>
        </p:txBody>
      </p:sp>
      <p:sp>
        <p:nvSpPr>
          <p:cNvPr id="15" name="Text 12"/>
          <p:cNvSpPr/>
          <p:nvPr/>
        </p:nvSpPr>
        <p:spPr>
          <a:xfrm>
            <a:off x="777240" y="2468880"/>
            <a:ext cx="1828800" cy="502920"/>
          </a:xfrm>
          <a:prstGeom prst="rect">
            <a:avLst/>
          </a:prstGeom>
          <a:noFill/>
          <a:ln/>
        </p:spPr>
        <p:txBody>
          <a:bodyPr wrap="square" lIns="0" tIns="0" rIns="0" bIns="0" rtlCol="0" anchor="ctr"/>
          <a:lstStyle/>
          <a:p>
            <a:pPr marL="0" indent="0">
              <a:buNone/>
            </a:pPr>
            <a:r>
              <a:rPr lang="en-US" sz="1550" b="1" dirty="0">
                <a:solidFill>
                  <a:srgbClr val="172033"/>
                </a:solidFill>
                <a:latin typeface="Noto Sans CJK JP" pitchFamily="34" charset="0"/>
                <a:ea typeface="Noto Sans CJK JP" pitchFamily="34" charset="-122"/>
                <a:cs typeface="Noto Sans CJK JP" pitchFamily="34" charset="-120"/>
              </a:rPr>
              <a:t>高PV／低PVの結果</a:t>
            </a:r>
            <a:endParaRPr lang="en-US" sz="1550" dirty="0"/>
          </a:p>
        </p:txBody>
      </p:sp>
      <p:sp>
        <p:nvSpPr>
          <p:cNvPr id="16" name="Text 13"/>
          <p:cNvSpPr/>
          <p:nvPr/>
        </p:nvSpPr>
        <p:spPr>
          <a:xfrm>
            <a:off x="2788920" y="2468880"/>
            <a:ext cx="3337560" cy="502920"/>
          </a:xfrm>
          <a:prstGeom prst="rect">
            <a:avLst/>
          </a:prstGeom>
          <a:noFill/>
          <a:ln/>
        </p:spPr>
        <p:txBody>
          <a:bodyPr wrap="square" lIns="0" tIns="0" rIns="0" bIns="0" rtlCol="0" anchor="ctr"/>
          <a:lstStyle/>
          <a:p>
            <a:pPr marL="0" indent="0" algn="ctr">
              <a:buNone/>
            </a:pPr>
            <a:r>
              <a:rPr lang="en-US" sz="1500" dirty="0">
                <a:solidFill>
                  <a:srgbClr val="687386"/>
                </a:solidFill>
                <a:latin typeface="Noto Sans CJK JP" pitchFamily="34" charset="0"/>
                <a:ea typeface="Noto Sans CJK JP" pitchFamily="34" charset="-122"/>
                <a:cs typeface="Noto Sans CJK JP" pitchFamily="34" charset="-120"/>
              </a:rPr>
              <a:t>同じ配車が選ばれた</a:t>
            </a:r>
            <a:endParaRPr lang="en-US" sz="1500" dirty="0"/>
          </a:p>
        </p:txBody>
      </p:sp>
      <p:pic>
        <p:nvPicPr>
          <p:cNvPr id="1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176" y="2569464"/>
            <a:ext cx="310896" cy="310896"/>
          </a:xfrm>
          <a:prstGeom prst="rect">
            <a:avLst/>
          </a:prstGeom>
        </p:spPr>
      </p:pic>
      <p:sp>
        <p:nvSpPr>
          <p:cNvPr id="18" name="Text 14"/>
          <p:cNvSpPr/>
          <p:nvPr/>
        </p:nvSpPr>
        <p:spPr>
          <a:xfrm>
            <a:off x="6446520" y="2468880"/>
            <a:ext cx="4480560" cy="502920"/>
          </a:xfrm>
          <a:prstGeom prst="rect">
            <a:avLst/>
          </a:prstGeom>
          <a:noFill/>
          <a:ln/>
        </p:spPr>
        <p:txBody>
          <a:bodyPr wrap="square" lIns="0" tIns="0" rIns="0" bIns="0" rtlCol="0" anchor="ctr"/>
          <a:lstStyle/>
          <a:p>
            <a:pPr marL="0" indent="0" algn="ctr">
              <a:buNone/>
            </a:pPr>
            <a:r>
              <a:rPr lang="en-US" sz="1550" b="1" dirty="0">
                <a:solidFill>
                  <a:srgbClr val="1F2A5A"/>
                </a:solidFill>
                <a:latin typeface="Noto Sans CJK JP" pitchFamily="34" charset="0"/>
                <a:ea typeface="Noto Sans CJK JP" pitchFamily="34" charset="-122"/>
                <a:cs typeface="Noto Sans CJK JP" pitchFamily="34" charset="-120"/>
              </a:rPr>
              <a:t>異なる配車が選ばれた</a:t>
            </a:r>
            <a:endParaRPr lang="en-US" sz="1550" dirty="0"/>
          </a:p>
        </p:txBody>
      </p:sp>
      <p:sp>
        <p:nvSpPr>
          <p:cNvPr id="19" name="Shape 15"/>
          <p:cNvSpPr/>
          <p:nvPr/>
        </p:nvSpPr>
        <p:spPr>
          <a:xfrm>
            <a:off x="594360" y="3264408"/>
            <a:ext cx="11018520" cy="758952"/>
          </a:xfrm>
          <a:prstGeom prst="rect">
            <a:avLst/>
          </a:prstGeom>
          <a:solidFill>
            <a:srgbClr val="F8FAFC"/>
          </a:solidFill>
          <a:ln w="12700">
            <a:solidFill>
              <a:srgbClr val="F8FAFC"/>
            </a:solidFill>
            <a:prstDash val="solid"/>
          </a:ln>
        </p:spPr>
        <p:txBody>
          <a:bodyPr/>
          <a:lstStyle/>
          <a:p>
            <a:endParaRPr lang="ja-JP" altLang="en-US"/>
          </a:p>
        </p:txBody>
      </p:sp>
      <p:sp>
        <p:nvSpPr>
          <p:cNvPr id="20" name="Text 16"/>
          <p:cNvSpPr/>
          <p:nvPr/>
        </p:nvSpPr>
        <p:spPr>
          <a:xfrm>
            <a:off x="777240" y="3337560"/>
            <a:ext cx="1828800" cy="502920"/>
          </a:xfrm>
          <a:prstGeom prst="rect">
            <a:avLst/>
          </a:prstGeom>
          <a:noFill/>
          <a:ln/>
        </p:spPr>
        <p:txBody>
          <a:bodyPr wrap="square" lIns="0" tIns="0" rIns="0" bIns="0" rtlCol="0" anchor="ctr"/>
          <a:lstStyle/>
          <a:p>
            <a:pPr marL="0" indent="0">
              <a:buNone/>
            </a:pPr>
            <a:r>
              <a:rPr lang="en-US" sz="1550" b="1" dirty="0">
                <a:solidFill>
                  <a:srgbClr val="172033"/>
                </a:solidFill>
                <a:latin typeface="Noto Sans CJK JP" pitchFamily="34" charset="0"/>
                <a:ea typeface="Noto Sans CJK JP" pitchFamily="34" charset="-122"/>
                <a:cs typeface="Noto Sans CJK JP" pitchFamily="34" charset="-120"/>
              </a:rPr>
              <a:t>一日の確認</a:t>
            </a:r>
            <a:endParaRPr lang="en-US" sz="1550" dirty="0"/>
          </a:p>
        </p:txBody>
      </p:sp>
      <p:sp>
        <p:nvSpPr>
          <p:cNvPr id="21" name="Text 17"/>
          <p:cNvSpPr/>
          <p:nvPr/>
        </p:nvSpPr>
        <p:spPr>
          <a:xfrm>
            <a:off x="2788920" y="3337560"/>
            <a:ext cx="3337560" cy="502920"/>
          </a:xfrm>
          <a:prstGeom prst="rect">
            <a:avLst/>
          </a:prstGeom>
          <a:noFill/>
          <a:ln/>
        </p:spPr>
        <p:txBody>
          <a:bodyPr wrap="square" lIns="0" tIns="0" rIns="0" bIns="0" rtlCol="0" anchor="ctr"/>
          <a:lstStyle/>
          <a:p>
            <a:pPr marL="0" indent="0" algn="ctr">
              <a:buNone/>
            </a:pPr>
            <a:r>
              <a:rPr lang="en-US" sz="1500" dirty="0">
                <a:solidFill>
                  <a:srgbClr val="687386"/>
                </a:solidFill>
                <a:latin typeface="Noto Sans CJK JP" pitchFamily="34" charset="0"/>
                <a:ea typeface="Noto Sans CJK JP" pitchFamily="34" charset="-122"/>
                <a:cs typeface="Noto Sans CJK JP" pitchFamily="34" charset="-120"/>
              </a:rPr>
              <a:t>日合計中心</a:t>
            </a:r>
            <a:endParaRPr lang="en-US" sz="1500" dirty="0"/>
          </a:p>
        </p:txBody>
      </p:sp>
      <p:pic>
        <p:nvPicPr>
          <p:cNvPr id="2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176" y="3438144"/>
            <a:ext cx="310896" cy="310896"/>
          </a:xfrm>
          <a:prstGeom prst="rect">
            <a:avLst/>
          </a:prstGeom>
        </p:spPr>
      </p:pic>
      <p:sp>
        <p:nvSpPr>
          <p:cNvPr id="23" name="Text 18"/>
          <p:cNvSpPr/>
          <p:nvPr/>
        </p:nvSpPr>
        <p:spPr>
          <a:xfrm>
            <a:off x="6446520" y="3337560"/>
            <a:ext cx="4480560" cy="502920"/>
          </a:xfrm>
          <a:prstGeom prst="rect">
            <a:avLst/>
          </a:prstGeom>
          <a:noFill/>
          <a:ln/>
        </p:spPr>
        <p:txBody>
          <a:bodyPr wrap="square" lIns="0" tIns="0" rIns="0" bIns="0" rtlCol="0" anchor="ctr"/>
          <a:lstStyle/>
          <a:p>
            <a:pPr marL="0" indent="0" algn="ctr">
              <a:buNone/>
            </a:pPr>
            <a:r>
              <a:rPr lang="en-US" sz="1550" b="1" dirty="0">
                <a:solidFill>
                  <a:srgbClr val="1F2A5A"/>
                </a:solidFill>
                <a:latin typeface="Noto Sans CJK JP" pitchFamily="34" charset="0"/>
                <a:ea typeface="Noto Sans CJK JP" pitchFamily="34" charset="-122"/>
                <a:cs typeface="Noto Sans CJK JP" pitchFamily="34" charset="-120"/>
              </a:rPr>
              <a:t>1時間ごと・15分単位まで確認</a:t>
            </a:r>
            <a:endParaRPr lang="en-US" sz="1550" dirty="0"/>
          </a:p>
        </p:txBody>
      </p:sp>
      <p:sp>
        <p:nvSpPr>
          <p:cNvPr id="24" name="Text 19"/>
          <p:cNvSpPr/>
          <p:nvPr/>
        </p:nvSpPr>
        <p:spPr>
          <a:xfrm>
            <a:off x="777240" y="4206240"/>
            <a:ext cx="1828800" cy="502920"/>
          </a:xfrm>
          <a:prstGeom prst="rect">
            <a:avLst/>
          </a:prstGeom>
          <a:noFill/>
          <a:ln/>
        </p:spPr>
        <p:txBody>
          <a:bodyPr wrap="square" lIns="0" tIns="0" rIns="0" bIns="0" rtlCol="0" anchor="ctr"/>
          <a:lstStyle/>
          <a:p>
            <a:pPr marL="0" indent="0">
              <a:buNone/>
            </a:pPr>
            <a:r>
              <a:rPr lang="en-US" sz="1550" b="1" dirty="0">
                <a:solidFill>
                  <a:srgbClr val="172033"/>
                </a:solidFill>
                <a:latin typeface="Noto Sans CJK JP" pitchFamily="34" charset="0"/>
                <a:ea typeface="Noto Sans CJK JP" pitchFamily="34" charset="-122"/>
                <a:cs typeface="Noto Sans CJK JP" pitchFamily="34" charset="-120"/>
              </a:rPr>
              <a:t>結果の信頼性</a:t>
            </a:r>
            <a:endParaRPr lang="en-US" sz="1550" dirty="0"/>
          </a:p>
        </p:txBody>
      </p:sp>
      <p:sp>
        <p:nvSpPr>
          <p:cNvPr id="25" name="Text 20"/>
          <p:cNvSpPr/>
          <p:nvPr/>
        </p:nvSpPr>
        <p:spPr>
          <a:xfrm>
            <a:off x="2788920" y="4206240"/>
            <a:ext cx="3337560" cy="502920"/>
          </a:xfrm>
          <a:prstGeom prst="rect">
            <a:avLst/>
          </a:prstGeom>
          <a:noFill/>
          <a:ln/>
        </p:spPr>
        <p:txBody>
          <a:bodyPr wrap="square" lIns="0" tIns="0" rIns="0" bIns="0" rtlCol="0" anchor="ctr"/>
          <a:lstStyle/>
          <a:p>
            <a:pPr marL="0" indent="0" algn="ctr">
              <a:buNone/>
            </a:pPr>
            <a:r>
              <a:rPr lang="en-US" sz="1500" dirty="0">
                <a:solidFill>
                  <a:srgbClr val="687386"/>
                </a:solidFill>
                <a:latin typeface="Noto Sans CJK JP" pitchFamily="34" charset="0"/>
                <a:ea typeface="Noto Sans CJK JP" pitchFamily="34" charset="-122"/>
                <a:cs typeface="Noto Sans CJK JP" pitchFamily="34" charset="-120"/>
              </a:rPr>
              <a:t>出力値の確認が中心</a:t>
            </a:r>
            <a:endParaRPr lang="en-US" sz="1500" dirty="0"/>
          </a:p>
        </p:txBody>
      </p:sp>
      <p:pic>
        <p:nvPicPr>
          <p:cNvPr id="2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176" y="4306824"/>
            <a:ext cx="310896" cy="310896"/>
          </a:xfrm>
          <a:prstGeom prst="rect">
            <a:avLst/>
          </a:prstGeom>
        </p:spPr>
      </p:pic>
      <p:sp>
        <p:nvSpPr>
          <p:cNvPr id="27" name="Text 21"/>
          <p:cNvSpPr/>
          <p:nvPr/>
        </p:nvSpPr>
        <p:spPr>
          <a:xfrm>
            <a:off x="6446520" y="4206240"/>
            <a:ext cx="4480560" cy="502920"/>
          </a:xfrm>
          <a:prstGeom prst="rect">
            <a:avLst/>
          </a:prstGeom>
          <a:noFill/>
          <a:ln/>
        </p:spPr>
        <p:txBody>
          <a:bodyPr wrap="square" lIns="0" tIns="0" rIns="0" bIns="0" rtlCol="0" anchor="ctr"/>
          <a:lstStyle/>
          <a:p>
            <a:pPr marL="0" indent="0" algn="ctr">
              <a:buNone/>
            </a:pPr>
            <a:r>
              <a:rPr lang="en-US" sz="1550" b="1" dirty="0">
                <a:solidFill>
                  <a:srgbClr val="1F2A5A"/>
                </a:solidFill>
                <a:latin typeface="Noto Sans CJK JP" pitchFamily="34" charset="0"/>
                <a:ea typeface="Noto Sans CJK JP" pitchFamily="34" charset="-122"/>
                <a:cs typeface="Noto Sans CJK JP" pitchFamily="34" charset="-120"/>
              </a:rPr>
              <a:t>物理・会計・入力・コードを紐づけ</a:t>
            </a:r>
            <a:endParaRPr lang="en-US" sz="1550" dirty="0"/>
          </a:p>
        </p:txBody>
      </p:sp>
      <p:sp>
        <p:nvSpPr>
          <p:cNvPr id="28" name="Shape 22"/>
          <p:cNvSpPr/>
          <p:nvPr/>
        </p:nvSpPr>
        <p:spPr>
          <a:xfrm>
            <a:off x="594360" y="5001768"/>
            <a:ext cx="11018520" cy="758952"/>
          </a:xfrm>
          <a:prstGeom prst="rect">
            <a:avLst/>
          </a:prstGeom>
          <a:solidFill>
            <a:srgbClr val="F8FAFC"/>
          </a:solidFill>
          <a:ln w="12700">
            <a:solidFill>
              <a:srgbClr val="F8FAFC"/>
            </a:solidFill>
            <a:prstDash val="solid"/>
          </a:ln>
        </p:spPr>
        <p:txBody>
          <a:bodyPr/>
          <a:lstStyle/>
          <a:p>
            <a:endParaRPr lang="ja-JP" altLang="en-US"/>
          </a:p>
        </p:txBody>
      </p:sp>
      <p:sp>
        <p:nvSpPr>
          <p:cNvPr id="29" name="Text 23"/>
          <p:cNvSpPr/>
          <p:nvPr/>
        </p:nvSpPr>
        <p:spPr>
          <a:xfrm>
            <a:off x="777240" y="5074920"/>
            <a:ext cx="1828800" cy="502920"/>
          </a:xfrm>
          <a:prstGeom prst="rect">
            <a:avLst/>
          </a:prstGeom>
          <a:noFill/>
          <a:ln/>
        </p:spPr>
        <p:txBody>
          <a:bodyPr wrap="square" lIns="0" tIns="0" rIns="0" bIns="0" rtlCol="0" anchor="ctr"/>
          <a:lstStyle/>
          <a:p>
            <a:pPr marL="0" indent="0">
              <a:buNone/>
            </a:pPr>
            <a:r>
              <a:rPr lang="en-US" sz="1550" b="1" dirty="0">
                <a:solidFill>
                  <a:srgbClr val="172033"/>
                </a:solidFill>
                <a:latin typeface="Noto Sans CJK JP" pitchFamily="34" charset="0"/>
                <a:ea typeface="Noto Sans CJK JP" pitchFamily="34" charset="-122"/>
                <a:cs typeface="Noto Sans CJK JP" pitchFamily="34" charset="-120"/>
              </a:rPr>
              <a:t>次の研究準備</a:t>
            </a:r>
            <a:endParaRPr lang="en-US" sz="1550" dirty="0"/>
          </a:p>
        </p:txBody>
      </p:sp>
      <p:sp>
        <p:nvSpPr>
          <p:cNvPr id="30" name="Text 24"/>
          <p:cNvSpPr/>
          <p:nvPr/>
        </p:nvSpPr>
        <p:spPr>
          <a:xfrm>
            <a:off x="2788920" y="5074920"/>
            <a:ext cx="3337560" cy="502920"/>
          </a:xfrm>
          <a:prstGeom prst="rect">
            <a:avLst/>
          </a:prstGeom>
          <a:noFill/>
          <a:ln/>
        </p:spPr>
        <p:txBody>
          <a:bodyPr wrap="square" lIns="0" tIns="0" rIns="0" bIns="0" rtlCol="0" anchor="ctr"/>
          <a:lstStyle/>
          <a:p>
            <a:pPr marL="0" indent="0" algn="ctr">
              <a:buNone/>
            </a:pPr>
            <a:r>
              <a:rPr lang="en-US" sz="1500" dirty="0">
                <a:solidFill>
                  <a:srgbClr val="687386"/>
                </a:solidFill>
                <a:latin typeface="Noto Sans CJK JP" pitchFamily="34" charset="0"/>
                <a:ea typeface="Noto Sans CJK JP" pitchFamily="34" charset="-122"/>
                <a:cs typeface="Noto Sans CJK JP" pitchFamily="34" charset="-120"/>
              </a:rPr>
              <a:t>不足点が曖昧</a:t>
            </a:r>
            <a:endParaRPr lang="en-US" sz="1500" dirty="0"/>
          </a:p>
        </p:txBody>
      </p:sp>
      <p:pic>
        <p:nvPicPr>
          <p:cNvPr id="31"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176" y="5175504"/>
            <a:ext cx="310896" cy="310896"/>
          </a:xfrm>
          <a:prstGeom prst="rect">
            <a:avLst/>
          </a:prstGeom>
        </p:spPr>
      </p:pic>
      <p:sp>
        <p:nvSpPr>
          <p:cNvPr id="32" name="Text 25"/>
          <p:cNvSpPr/>
          <p:nvPr/>
        </p:nvSpPr>
        <p:spPr>
          <a:xfrm>
            <a:off x="6446520" y="5074920"/>
            <a:ext cx="4480560" cy="502920"/>
          </a:xfrm>
          <a:prstGeom prst="rect">
            <a:avLst/>
          </a:prstGeom>
          <a:noFill/>
          <a:ln/>
        </p:spPr>
        <p:txBody>
          <a:bodyPr wrap="square" lIns="0" tIns="0" rIns="0" bIns="0" rtlCol="0" anchor="ctr"/>
          <a:lstStyle/>
          <a:p>
            <a:pPr marL="0" indent="0" algn="ctr">
              <a:buNone/>
            </a:pPr>
            <a:r>
              <a:rPr lang="en-US" sz="1550" b="1" dirty="0">
                <a:solidFill>
                  <a:srgbClr val="1F2A5A"/>
                </a:solidFill>
                <a:latin typeface="Noto Sans CJK JP" pitchFamily="34" charset="0"/>
                <a:ea typeface="Noto Sans CJK JP" pitchFamily="34" charset="-122"/>
                <a:cs typeface="Noto Sans CJK JP" pitchFamily="34" charset="-120"/>
              </a:rPr>
              <a:t>小規模比較と感度検証を事前設計</a:t>
            </a:r>
            <a:endParaRPr lang="en-US" sz="1550" dirty="0"/>
          </a:p>
        </p:txBody>
      </p:sp>
      <p:sp>
        <p:nvSpPr>
          <p:cNvPr id="33" name="Shape 26"/>
          <p:cNvSpPr/>
          <p:nvPr/>
        </p:nvSpPr>
        <p:spPr>
          <a:xfrm>
            <a:off x="1051560" y="5897880"/>
            <a:ext cx="10058400" cy="438912"/>
          </a:xfrm>
          <a:prstGeom prst="roundRect">
            <a:avLst/>
          </a:prstGeom>
          <a:solidFill>
            <a:srgbClr val="E8F6F3"/>
          </a:solidFill>
          <a:ln w="12700">
            <a:solidFill>
              <a:srgbClr val="1F9D8A"/>
            </a:solidFill>
            <a:prstDash val="solid"/>
          </a:ln>
        </p:spPr>
        <p:txBody>
          <a:bodyPr/>
          <a:lstStyle/>
          <a:p>
            <a:endParaRPr lang="ja-JP" altLang="en-US"/>
          </a:p>
        </p:txBody>
      </p:sp>
      <p:sp>
        <p:nvSpPr>
          <p:cNvPr id="34" name="Text 27"/>
          <p:cNvSpPr/>
          <p:nvPr/>
        </p:nvSpPr>
        <p:spPr>
          <a:xfrm>
            <a:off x="1234440" y="5998464"/>
            <a:ext cx="9692640" cy="228600"/>
          </a:xfrm>
          <a:prstGeom prst="rect">
            <a:avLst/>
          </a:prstGeom>
          <a:noFill/>
          <a:ln/>
        </p:spPr>
        <p:txBody>
          <a:bodyPr wrap="square" lIns="0" tIns="0" rIns="0" bIns="0" rtlCol="0" anchor="ctr"/>
          <a:lstStyle/>
          <a:p>
            <a:pPr marL="0" indent="0" algn="ctr">
              <a:buNone/>
            </a:pPr>
            <a:r>
              <a:rPr lang="en-US" sz="1700" b="1" dirty="0">
                <a:solidFill>
                  <a:srgbClr val="1F9D8A"/>
                </a:solidFill>
                <a:latin typeface="Noto Sans CJK JP" pitchFamily="34" charset="0"/>
                <a:ea typeface="Noto Sans CJK JP" pitchFamily="34" charset="-122"/>
                <a:cs typeface="Noto Sans CJK JP" pitchFamily="34" charset="-120"/>
              </a:rPr>
              <a:t>最大の変化：PV条件が配車に反映されるようになり、その理由を追えるようになった</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この1か月で行ったこと</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9/18</a:t>
            </a:r>
            <a:endParaRPr lang="en-US" sz="850" dirty="0"/>
          </a:p>
        </p:txBody>
      </p:sp>
      <p:sp>
        <p:nvSpPr>
          <p:cNvPr id="6" name="Shape 4"/>
          <p:cNvSpPr/>
          <p:nvPr/>
        </p:nvSpPr>
        <p:spPr>
          <a:xfrm>
            <a:off x="1325880" y="1874520"/>
            <a:ext cx="8915400" cy="0"/>
          </a:xfrm>
          <a:prstGeom prst="line">
            <a:avLst/>
          </a:prstGeom>
          <a:noFill/>
          <a:ln w="38100">
            <a:solidFill>
              <a:srgbClr val="A5AFBD"/>
            </a:solidFill>
            <a:prstDash val="solid"/>
          </a:ln>
        </p:spPr>
        <p:txBody>
          <a:bodyPr/>
          <a:lstStyle/>
          <a:p>
            <a:endParaRPr lang="ja-JP" altLang="en-US"/>
          </a:p>
        </p:txBody>
      </p:sp>
      <p:sp>
        <p:nvSpPr>
          <p:cNvPr id="7" name="Shape 5"/>
          <p:cNvSpPr/>
          <p:nvPr/>
        </p:nvSpPr>
        <p:spPr>
          <a:xfrm>
            <a:off x="1097280" y="1664208"/>
            <a:ext cx="420624" cy="420624"/>
          </a:xfrm>
          <a:prstGeom prst="ellipse">
            <a:avLst/>
          </a:prstGeom>
          <a:solidFill>
            <a:srgbClr val="C94C4C"/>
          </a:solidFill>
          <a:ln w="25400">
            <a:solidFill>
              <a:srgbClr val="FFFFFF"/>
            </a:solidFill>
            <a:prstDash val="solid"/>
          </a:ln>
        </p:spPr>
        <p:txBody>
          <a:bodyPr/>
          <a:lstStyle/>
          <a:p>
            <a:endParaRPr lang="ja-JP" altLang="en-US"/>
          </a:p>
        </p:txBody>
      </p:sp>
      <p:sp>
        <p:nvSpPr>
          <p:cNvPr id="8" name="Text 6"/>
          <p:cNvSpPr/>
          <p:nvPr/>
        </p:nvSpPr>
        <p:spPr>
          <a:xfrm>
            <a:off x="749808" y="1124712"/>
            <a:ext cx="1097280" cy="292608"/>
          </a:xfrm>
          <a:prstGeom prst="rect">
            <a:avLst/>
          </a:prstGeom>
          <a:noFill/>
          <a:ln/>
        </p:spPr>
        <p:txBody>
          <a:bodyPr wrap="square" lIns="0" tIns="0" rIns="0" bIns="0" rtlCol="0" anchor="ctr"/>
          <a:lstStyle/>
          <a:p>
            <a:pPr marL="0" indent="0" algn="ctr">
              <a:buNone/>
            </a:pPr>
            <a:r>
              <a:rPr lang="en-US" sz="1300" b="1" dirty="0">
                <a:solidFill>
                  <a:srgbClr val="C94C4C"/>
                </a:solidFill>
                <a:latin typeface="Noto Sans CJK JP" pitchFamily="34" charset="0"/>
                <a:ea typeface="Noto Sans CJK JP" pitchFamily="34" charset="-122"/>
                <a:cs typeface="Noto Sans CJK JP" pitchFamily="34" charset="-120"/>
              </a:rPr>
              <a:t>8月上旬</a:t>
            </a:r>
            <a:endParaRPr lang="en-US" sz="1300" dirty="0"/>
          </a:p>
        </p:txBody>
      </p:sp>
      <p:sp>
        <p:nvSpPr>
          <p:cNvPr id="9" name="Shape 7"/>
          <p:cNvSpPr/>
          <p:nvPr/>
        </p:nvSpPr>
        <p:spPr>
          <a:xfrm>
            <a:off x="502920" y="2359152"/>
            <a:ext cx="2057400" cy="2331720"/>
          </a:xfrm>
          <a:prstGeom prst="roundRect">
            <a:avLst>
              <a:gd name="adj" fmla="val 3556"/>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10" name="Text 8"/>
          <p:cNvSpPr/>
          <p:nvPr/>
        </p:nvSpPr>
        <p:spPr>
          <a:xfrm>
            <a:off x="685800" y="2578608"/>
            <a:ext cx="1691640" cy="621792"/>
          </a:xfrm>
          <a:prstGeom prst="rect">
            <a:avLst/>
          </a:prstGeom>
          <a:noFill/>
          <a:ln/>
        </p:spPr>
        <p:txBody>
          <a:bodyPr wrap="square" lIns="0" tIns="0" rIns="0" bIns="0" rtlCol="0" anchor="ctr"/>
          <a:lstStyle/>
          <a:p>
            <a:pPr marL="0" indent="0" algn="ctr">
              <a:buNone/>
            </a:pPr>
            <a:r>
              <a:rPr lang="en-US" sz="1700" b="1" dirty="0">
                <a:solidFill>
                  <a:srgbClr val="172033"/>
                </a:solidFill>
                <a:latin typeface="Noto Sans CJK JP" pitchFamily="34" charset="0"/>
                <a:ea typeface="Noto Sans CJK JP" pitchFamily="34" charset="-122"/>
                <a:cs typeface="Noto Sans CJK JP" pitchFamily="34" charset="-120"/>
              </a:rPr>
              <a:t>問題点の洗い出し</a:t>
            </a:r>
            <a:endParaRPr lang="en-US" sz="1700" dirty="0"/>
          </a:p>
        </p:txBody>
      </p:sp>
      <p:sp>
        <p:nvSpPr>
          <p:cNvPr id="11" name="Text 9"/>
          <p:cNvSpPr/>
          <p:nvPr/>
        </p:nvSpPr>
        <p:spPr>
          <a:xfrm>
            <a:off x="713232" y="3401568"/>
            <a:ext cx="1645920" cy="749808"/>
          </a:xfrm>
          <a:prstGeom prst="rect">
            <a:avLst/>
          </a:prstGeom>
          <a:noFill/>
          <a:ln/>
        </p:spPr>
        <p:txBody>
          <a:bodyPr wrap="square" lIns="0" tIns="0" rIns="0" bIns="0" rtlCol="0" anchor="ctr"/>
          <a:lstStyle/>
          <a:p>
            <a:pPr marL="0" indent="0" algn="l">
              <a:buNone/>
            </a:pPr>
            <a:r>
              <a:rPr lang="en-US" sz="1400" dirty="0">
                <a:solidFill>
                  <a:srgbClr val="687386"/>
                </a:solidFill>
                <a:latin typeface="Noto Sans CJK JP" pitchFamily="34" charset="0"/>
                <a:ea typeface="Noto Sans CJK JP" pitchFamily="34" charset="-122"/>
                <a:cs typeface="Noto Sans CJK JP" pitchFamily="34" charset="-120"/>
              </a:rPr>
              <a:t>・同じ配車になる原因を確認</a:t>
            </a:r>
            <a:endParaRPr lang="en-US" sz="1400" dirty="0"/>
          </a:p>
          <a:p>
            <a:pPr marL="0" indent="0" algn="l">
              <a:buNone/>
            </a:pPr>
            <a:r>
              <a:rPr lang="en-US" sz="1400" dirty="0">
                <a:solidFill>
                  <a:srgbClr val="687386"/>
                </a:solidFill>
                <a:latin typeface="Noto Sans CJK JP" pitchFamily="34" charset="0"/>
                <a:ea typeface="Noto Sans CJK JP" pitchFamily="34" charset="-122"/>
                <a:cs typeface="Noto Sans CJK JP" pitchFamily="34" charset="-120"/>
              </a:rPr>
              <a:t>・計算結果の言い過ぎを整理</a:t>
            </a:r>
            <a:endParaRPr lang="en-US" sz="1400" dirty="0"/>
          </a:p>
        </p:txBody>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1288" y="4160520"/>
            <a:ext cx="502920" cy="502920"/>
          </a:xfrm>
          <a:prstGeom prst="rect">
            <a:avLst/>
          </a:prstGeom>
        </p:spPr>
      </p:pic>
      <p:sp>
        <p:nvSpPr>
          <p:cNvPr id="13" name="Shape 10"/>
          <p:cNvSpPr/>
          <p:nvPr/>
        </p:nvSpPr>
        <p:spPr>
          <a:xfrm>
            <a:off x="3840480" y="1664208"/>
            <a:ext cx="420624" cy="420624"/>
          </a:xfrm>
          <a:prstGeom prst="ellipse">
            <a:avLst/>
          </a:prstGeom>
          <a:solidFill>
            <a:srgbClr val="E98B3A"/>
          </a:solidFill>
          <a:ln w="25400">
            <a:solidFill>
              <a:srgbClr val="FFFFFF"/>
            </a:solidFill>
            <a:prstDash val="solid"/>
          </a:ln>
        </p:spPr>
        <p:txBody>
          <a:bodyPr/>
          <a:lstStyle/>
          <a:p>
            <a:endParaRPr lang="ja-JP" altLang="en-US"/>
          </a:p>
        </p:txBody>
      </p:sp>
      <p:sp>
        <p:nvSpPr>
          <p:cNvPr id="14" name="Text 11"/>
          <p:cNvSpPr/>
          <p:nvPr/>
        </p:nvSpPr>
        <p:spPr>
          <a:xfrm>
            <a:off x="3493008" y="1124712"/>
            <a:ext cx="1097280" cy="292608"/>
          </a:xfrm>
          <a:prstGeom prst="rect">
            <a:avLst/>
          </a:prstGeom>
          <a:noFill/>
          <a:ln/>
        </p:spPr>
        <p:txBody>
          <a:bodyPr wrap="square" lIns="0" tIns="0" rIns="0" bIns="0" rtlCol="0" anchor="ctr"/>
          <a:lstStyle/>
          <a:p>
            <a:pPr marL="0" indent="0" algn="ctr">
              <a:buNone/>
            </a:pPr>
            <a:r>
              <a:rPr lang="en-US" sz="1300" b="1" dirty="0">
                <a:solidFill>
                  <a:srgbClr val="E98B3A"/>
                </a:solidFill>
                <a:latin typeface="Noto Sans CJK JP" pitchFamily="34" charset="0"/>
                <a:ea typeface="Noto Sans CJK JP" pitchFamily="34" charset="-122"/>
                <a:cs typeface="Noto Sans CJK JP" pitchFamily="34" charset="-120"/>
              </a:rPr>
              <a:t>8月中旬</a:t>
            </a:r>
            <a:endParaRPr lang="en-US" sz="1300" dirty="0"/>
          </a:p>
        </p:txBody>
      </p:sp>
      <p:sp>
        <p:nvSpPr>
          <p:cNvPr id="15" name="Shape 12"/>
          <p:cNvSpPr/>
          <p:nvPr/>
        </p:nvSpPr>
        <p:spPr>
          <a:xfrm>
            <a:off x="3246120" y="2359152"/>
            <a:ext cx="2057400" cy="2331720"/>
          </a:xfrm>
          <a:prstGeom prst="roundRect">
            <a:avLst>
              <a:gd name="adj" fmla="val 3556"/>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16" name="Text 13"/>
          <p:cNvSpPr/>
          <p:nvPr/>
        </p:nvSpPr>
        <p:spPr>
          <a:xfrm>
            <a:off x="3429000" y="2578608"/>
            <a:ext cx="1691640" cy="621792"/>
          </a:xfrm>
          <a:prstGeom prst="rect">
            <a:avLst/>
          </a:prstGeom>
          <a:noFill/>
          <a:ln/>
        </p:spPr>
        <p:txBody>
          <a:bodyPr wrap="square" lIns="0" tIns="0" rIns="0" bIns="0" rtlCol="0" anchor="ctr"/>
          <a:lstStyle/>
          <a:p>
            <a:pPr marL="0" indent="0" algn="ctr">
              <a:buNone/>
            </a:pPr>
            <a:r>
              <a:rPr lang="en-US" sz="1700" b="1" dirty="0">
                <a:solidFill>
                  <a:srgbClr val="172033"/>
                </a:solidFill>
                <a:latin typeface="Noto Sans CJK JP" pitchFamily="34" charset="0"/>
                <a:ea typeface="Noto Sans CJK JP" pitchFamily="34" charset="-122"/>
                <a:cs typeface="Noto Sans CJK JP" pitchFamily="34" charset="-120"/>
              </a:rPr>
              <a:t>配車案の比較方法を改善</a:t>
            </a:r>
            <a:endParaRPr lang="en-US" sz="1700" dirty="0"/>
          </a:p>
        </p:txBody>
      </p:sp>
      <p:sp>
        <p:nvSpPr>
          <p:cNvPr id="17" name="Text 14"/>
          <p:cNvSpPr/>
          <p:nvPr/>
        </p:nvSpPr>
        <p:spPr>
          <a:xfrm>
            <a:off x="3456432" y="3401568"/>
            <a:ext cx="1645920" cy="749808"/>
          </a:xfrm>
          <a:prstGeom prst="rect">
            <a:avLst/>
          </a:prstGeom>
          <a:noFill/>
          <a:ln/>
        </p:spPr>
        <p:txBody>
          <a:bodyPr wrap="square" lIns="0" tIns="0" rIns="0" bIns="0" rtlCol="0" anchor="ctr"/>
          <a:lstStyle/>
          <a:p>
            <a:pPr marL="0" indent="0" algn="l">
              <a:buNone/>
            </a:pPr>
            <a:r>
              <a:rPr lang="en-US" sz="1400" dirty="0">
                <a:solidFill>
                  <a:srgbClr val="687386"/>
                </a:solidFill>
                <a:latin typeface="Noto Sans CJK JP" pitchFamily="34" charset="0"/>
                <a:ea typeface="Noto Sans CJK JP" pitchFamily="34" charset="-122"/>
                <a:cs typeface="Noto Sans CJK JP" pitchFamily="34" charset="-120"/>
              </a:rPr>
              <a:t>・候補を増やして比較</a:t>
            </a:r>
            <a:endParaRPr lang="en-US" sz="1400" dirty="0"/>
          </a:p>
          <a:p>
            <a:pPr marL="0" indent="0" algn="l">
              <a:buNone/>
            </a:pPr>
            <a:r>
              <a:rPr lang="en-US" sz="1400" dirty="0">
                <a:solidFill>
                  <a:srgbClr val="687386"/>
                </a:solidFill>
                <a:latin typeface="Noto Sans CJK JP" pitchFamily="34" charset="0"/>
                <a:ea typeface="Noto Sans CJK JP" pitchFamily="34" charset="-122"/>
                <a:cs typeface="Noto Sans CJK JP" pitchFamily="34" charset="-120"/>
              </a:rPr>
              <a:t>・高PV／低PVを同条件で評価</a:t>
            </a:r>
            <a:endParaRPr lang="en-US" sz="1400" dirty="0"/>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04488" y="4160520"/>
            <a:ext cx="502920" cy="502920"/>
          </a:xfrm>
          <a:prstGeom prst="rect">
            <a:avLst/>
          </a:prstGeom>
        </p:spPr>
      </p:pic>
      <p:sp>
        <p:nvSpPr>
          <p:cNvPr id="19" name="Shape 15"/>
          <p:cNvSpPr/>
          <p:nvPr/>
        </p:nvSpPr>
        <p:spPr>
          <a:xfrm>
            <a:off x="6583680" y="1664208"/>
            <a:ext cx="420624" cy="420624"/>
          </a:xfrm>
          <a:prstGeom prst="ellipse">
            <a:avLst/>
          </a:prstGeom>
          <a:solidFill>
            <a:srgbClr val="356BB3"/>
          </a:solidFill>
          <a:ln w="25400">
            <a:solidFill>
              <a:srgbClr val="FFFFFF"/>
            </a:solidFill>
            <a:prstDash val="solid"/>
          </a:ln>
        </p:spPr>
        <p:txBody>
          <a:bodyPr/>
          <a:lstStyle/>
          <a:p>
            <a:endParaRPr lang="ja-JP" altLang="en-US"/>
          </a:p>
        </p:txBody>
      </p:sp>
      <p:sp>
        <p:nvSpPr>
          <p:cNvPr id="20" name="Text 16"/>
          <p:cNvSpPr/>
          <p:nvPr/>
        </p:nvSpPr>
        <p:spPr>
          <a:xfrm>
            <a:off x="6236208" y="1124712"/>
            <a:ext cx="1097280" cy="292608"/>
          </a:xfrm>
          <a:prstGeom prst="rect">
            <a:avLst/>
          </a:prstGeom>
          <a:noFill/>
          <a:ln/>
        </p:spPr>
        <p:txBody>
          <a:bodyPr wrap="square" lIns="0" tIns="0" rIns="0" bIns="0" rtlCol="0" anchor="ctr"/>
          <a:lstStyle/>
          <a:p>
            <a:pPr marL="0" indent="0" algn="ctr">
              <a:buNone/>
            </a:pPr>
            <a:r>
              <a:rPr lang="en-US" sz="1300" b="1" dirty="0">
                <a:solidFill>
                  <a:srgbClr val="356BB3"/>
                </a:solidFill>
                <a:latin typeface="Noto Sans CJK JP" pitchFamily="34" charset="0"/>
                <a:ea typeface="Noto Sans CJK JP" pitchFamily="34" charset="-122"/>
                <a:cs typeface="Noto Sans CJK JP" pitchFamily="34" charset="-120"/>
              </a:rPr>
              <a:t>8月下旬</a:t>
            </a:r>
            <a:endParaRPr lang="en-US" sz="1300" dirty="0"/>
          </a:p>
        </p:txBody>
      </p:sp>
      <p:sp>
        <p:nvSpPr>
          <p:cNvPr id="21" name="Shape 17"/>
          <p:cNvSpPr/>
          <p:nvPr/>
        </p:nvSpPr>
        <p:spPr>
          <a:xfrm>
            <a:off x="5989320" y="2359152"/>
            <a:ext cx="2057400" cy="2331720"/>
          </a:xfrm>
          <a:prstGeom prst="roundRect">
            <a:avLst>
              <a:gd name="adj" fmla="val 3556"/>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2" name="Text 18"/>
          <p:cNvSpPr/>
          <p:nvPr/>
        </p:nvSpPr>
        <p:spPr>
          <a:xfrm>
            <a:off x="6172200" y="2578608"/>
            <a:ext cx="1691640" cy="621792"/>
          </a:xfrm>
          <a:prstGeom prst="rect">
            <a:avLst/>
          </a:prstGeom>
          <a:noFill/>
          <a:ln/>
        </p:spPr>
        <p:txBody>
          <a:bodyPr wrap="square" lIns="0" tIns="0" rIns="0" bIns="0" rtlCol="0" anchor="ctr"/>
          <a:lstStyle/>
          <a:p>
            <a:pPr marL="0" indent="0" algn="ctr">
              <a:buNone/>
            </a:pPr>
            <a:r>
              <a:rPr lang="en-US" sz="1700" b="1" dirty="0">
                <a:solidFill>
                  <a:srgbClr val="172033"/>
                </a:solidFill>
                <a:latin typeface="Noto Sans CJK JP" pitchFamily="34" charset="0"/>
                <a:ea typeface="Noto Sans CJK JP" pitchFamily="34" charset="-122"/>
                <a:cs typeface="Noto Sans CJK JP" pitchFamily="34" charset="-120"/>
              </a:rPr>
              <a:t>正式条件で再計算</a:t>
            </a:r>
            <a:endParaRPr lang="en-US" sz="1700" dirty="0"/>
          </a:p>
        </p:txBody>
      </p:sp>
      <p:sp>
        <p:nvSpPr>
          <p:cNvPr id="23" name="Text 19"/>
          <p:cNvSpPr/>
          <p:nvPr/>
        </p:nvSpPr>
        <p:spPr>
          <a:xfrm>
            <a:off x="6199632" y="3401568"/>
            <a:ext cx="1645920" cy="749808"/>
          </a:xfrm>
          <a:prstGeom prst="rect">
            <a:avLst/>
          </a:prstGeom>
          <a:noFill/>
          <a:ln/>
        </p:spPr>
        <p:txBody>
          <a:bodyPr wrap="square" lIns="0" tIns="0" rIns="0" bIns="0" rtlCol="0" anchor="ctr"/>
          <a:lstStyle/>
          <a:p>
            <a:pPr marL="0" indent="0" algn="l">
              <a:buNone/>
            </a:pPr>
            <a:r>
              <a:rPr lang="en-US" sz="1400" dirty="0">
                <a:solidFill>
                  <a:srgbClr val="687386"/>
                </a:solidFill>
                <a:latin typeface="Noto Sans CJK JP" pitchFamily="34" charset="0"/>
                <a:ea typeface="Noto Sans CJK JP" pitchFamily="34" charset="-122"/>
                <a:cs typeface="Noto Sans CJK JP" pitchFamily="34" charset="-120"/>
              </a:rPr>
              <a:t>・Fresh Prepareで再実行</a:t>
            </a:r>
            <a:endParaRPr lang="en-US" sz="1400" dirty="0"/>
          </a:p>
          <a:p>
            <a:pPr marL="0" indent="0" algn="l">
              <a:buNone/>
            </a:pPr>
            <a:r>
              <a:rPr lang="en-US" sz="1400" dirty="0">
                <a:solidFill>
                  <a:srgbClr val="687386"/>
                </a:solidFill>
                <a:latin typeface="Noto Sans CJK JP" pitchFamily="34" charset="0"/>
                <a:ea typeface="Noto Sans CJK JP" pitchFamily="34" charset="-122"/>
                <a:cs typeface="Noto Sans CJK JP" pitchFamily="34" charset="-120"/>
              </a:rPr>
              <a:t>・24時間の運用と会計を確認</a:t>
            </a:r>
            <a:endParaRPr lang="en-US" sz="1400"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47688" y="4160520"/>
            <a:ext cx="502920" cy="502920"/>
          </a:xfrm>
          <a:prstGeom prst="rect">
            <a:avLst/>
          </a:prstGeom>
        </p:spPr>
      </p:pic>
      <p:sp>
        <p:nvSpPr>
          <p:cNvPr id="25" name="Shape 20"/>
          <p:cNvSpPr/>
          <p:nvPr/>
        </p:nvSpPr>
        <p:spPr>
          <a:xfrm>
            <a:off x="9326880" y="1664208"/>
            <a:ext cx="420624" cy="420624"/>
          </a:xfrm>
          <a:prstGeom prst="ellipse">
            <a:avLst/>
          </a:prstGeom>
          <a:solidFill>
            <a:srgbClr val="1F9D8A"/>
          </a:solidFill>
          <a:ln w="25400">
            <a:solidFill>
              <a:srgbClr val="FFFFFF"/>
            </a:solidFill>
            <a:prstDash val="solid"/>
          </a:ln>
        </p:spPr>
        <p:txBody>
          <a:bodyPr/>
          <a:lstStyle/>
          <a:p>
            <a:endParaRPr lang="ja-JP" altLang="en-US"/>
          </a:p>
        </p:txBody>
      </p:sp>
      <p:sp>
        <p:nvSpPr>
          <p:cNvPr id="26" name="Text 21"/>
          <p:cNvSpPr/>
          <p:nvPr/>
        </p:nvSpPr>
        <p:spPr>
          <a:xfrm>
            <a:off x="8979408" y="1124712"/>
            <a:ext cx="1097280" cy="292608"/>
          </a:xfrm>
          <a:prstGeom prst="rect">
            <a:avLst/>
          </a:prstGeom>
          <a:noFill/>
          <a:ln/>
        </p:spPr>
        <p:txBody>
          <a:bodyPr wrap="square" lIns="0" tIns="0" rIns="0" bIns="0" rtlCol="0" anchor="ctr"/>
          <a:lstStyle/>
          <a:p>
            <a:pPr marL="0" indent="0" algn="ctr">
              <a:buNone/>
            </a:pPr>
            <a:r>
              <a:rPr lang="en-US" sz="1300" b="1" dirty="0">
                <a:solidFill>
                  <a:srgbClr val="1F9D8A"/>
                </a:solidFill>
                <a:latin typeface="Noto Sans CJK JP" pitchFamily="34" charset="0"/>
                <a:ea typeface="Noto Sans CJK JP" pitchFamily="34" charset="-122"/>
                <a:cs typeface="Noto Sans CJK JP" pitchFamily="34" charset="-120"/>
              </a:rPr>
              <a:t>8月末</a:t>
            </a:r>
            <a:endParaRPr lang="en-US" sz="1300" dirty="0"/>
          </a:p>
        </p:txBody>
      </p:sp>
      <p:sp>
        <p:nvSpPr>
          <p:cNvPr id="27" name="Shape 22"/>
          <p:cNvSpPr/>
          <p:nvPr/>
        </p:nvSpPr>
        <p:spPr>
          <a:xfrm>
            <a:off x="8732520" y="2359152"/>
            <a:ext cx="2057400" cy="2331720"/>
          </a:xfrm>
          <a:prstGeom prst="roundRect">
            <a:avLst>
              <a:gd name="adj" fmla="val 3556"/>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8" name="Text 23"/>
          <p:cNvSpPr/>
          <p:nvPr/>
        </p:nvSpPr>
        <p:spPr>
          <a:xfrm>
            <a:off x="8915400" y="2578608"/>
            <a:ext cx="1691640" cy="621792"/>
          </a:xfrm>
          <a:prstGeom prst="rect">
            <a:avLst/>
          </a:prstGeom>
          <a:noFill/>
          <a:ln/>
        </p:spPr>
        <p:txBody>
          <a:bodyPr wrap="square" lIns="0" tIns="0" rIns="0" bIns="0" rtlCol="0" anchor="ctr"/>
          <a:lstStyle/>
          <a:p>
            <a:pPr marL="0" indent="0" algn="ctr">
              <a:buNone/>
            </a:pPr>
            <a:r>
              <a:rPr lang="en-US" sz="1700" b="1" dirty="0">
                <a:solidFill>
                  <a:srgbClr val="172033"/>
                </a:solidFill>
                <a:latin typeface="Noto Sans CJK JP" pitchFamily="34" charset="0"/>
                <a:ea typeface="Noto Sans CJK JP" pitchFamily="34" charset="-122"/>
                <a:cs typeface="Noto Sans CJK JP" pitchFamily="34" charset="-120"/>
              </a:rPr>
              <a:t>発表・修論に向けて整理</a:t>
            </a:r>
            <a:endParaRPr lang="en-US" sz="1700" dirty="0"/>
          </a:p>
        </p:txBody>
      </p:sp>
      <p:sp>
        <p:nvSpPr>
          <p:cNvPr id="29" name="Text 24"/>
          <p:cNvSpPr/>
          <p:nvPr/>
        </p:nvSpPr>
        <p:spPr>
          <a:xfrm>
            <a:off x="8942832" y="3401568"/>
            <a:ext cx="1645920" cy="749808"/>
          </a:xfrm>
          <a:prstGeom prst="rect">
            <a:avLst/>
          </a:prstGeom>
          <a:noFill/>
          <a:ln/>
        </p:spPr>
        <p:txBody>
          <a:bodyPr wrap="square" lIns="0" tIns="0" rIns="0" bIns="0" rtlCol="0" anchor="ctr"/>
          <a:lstStyle/>
          <a:p>
            <a:pPr marL="0" indent="0" algn="l">
              <a:buNone/>
            </a:pPr>
            <a:r>
              <a:rPr lang="en-US" sz="1400" dirty="0">
                <a:solidFill>
                  <a:srgbClr val="687386"/>
                </a:solidFill>
                <a:latin typeface="Noto Sans CJK JP" pitchFamily="34" charset="0"/>
                <a:ea typeface="Noto Sans CJK JP" pitchFamily="34" charset="-122"/>
                <a:cs typeface="Noto Sans CJK JP" pitchFamily="34" charset="-120"/>
              </a:rPr>
              <a:t>・96スロット図を作成</a:t>
            </a:r>
            <a:endParaRPr lang="en-US" sz="1400" dirty="0"/>
          </a:p>
          <a:p>
            <a:pPr marL="0" indent="0" algn="l">
              <a:buNone/>
            </a:pPr>
            <a:r>
              <a:rPr lang="en-US" sz="1400" dirty="0">
                <a:solidFill>
                  <a:srgbClr val="687386"/>
                </a:solidFill>
                <a:latin typeface="Noto Sans CJK JP" pitchFamily="34" charset="0"/>
                <a:ea typeface="Noto Sans CJK JP" pitchFamily="34" charset="-122"/>
                <a:cs typeface="Noto Sans CJK JP" pitchFamily="34" charset="-120"/>
              </a:rPr>
              <a:t>・11月の追加実験を事前設計</a:t>
            </a:r>
            <a:endParaRPr lang="en-US" sz="1400" dirty="0"/>
          </a:p>
        </p:txBody>
      </p:sp>
      <p:pic>
        <p:nvPicPr>
          <p:cNvPr id="3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90888" y="4160520"/>
            <a:ext cx="502920" cy="502920"/>
          </a:xfrm>
          <a:prstGeom prst="rect">
            <a:avLst/>
          </a:prstGeom>
        </p:spPr>
      </p:pic>
      <p:sp>
        <p:nvSpPr>
          <p:cNvPr id="31" name="Text 25"/>
          <p:cNvSpPr/>
          <p:nvPr/>
        </p:nvSpPr>
        <p:spPr>
          <a:xfrm>
            <a:off x="1143000" y="5193792"/>
            <a:ext cx="9921240" cy="502920"/>
          </a:xfrm>
          <a:prstGeom prst="rect">
            <a:avLst/>
          </a:prstGeom>
          <a:noFill/>
          <a:ln/>
        </p:spPr>
        <p:txBody>
          <a:bodyPr wrap="square" lIns="0" tIns="0" rIns="0" bIns="0" rtlCol="0" anchor="ctr"/>
          <a:lstStyle/>
          <a:p>
            <a:pPr marL="0" indent="0" algn="ctr">
              <a:buNone/>
            </a:pPr>
            <a:r>
              <a:rPr lang="en-US" sz="1800" b="1" dirty="0">
                <a:solidFill>
                  <a:srgbClr val="1F2A5A"/>
                </a:solidFill>
                <a:latin typeface="Noto Sans CJK JP" pitchFamily="34" charset="0"/>
                <a:ea typeface="Noto Sans CJK JP" pitchFamily="34" charset="-122"/>
                <a:cs typeface="Noto Sans CJK JP" pitchFamily="34" charset="-120"/>
              </a:rPr>
              <a:t>今月は、モデルの機能を増やすよりも「比較できる結果」と「説明できる証拠」を作ることに重点を置いた。</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最新結果①：高PV条件ではBEVを多く、低PV条件ではICEを多く使う配車になった</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10/18</a:t>
            </a:r>
            <a:endParaRPr lang="en-US" sz="850" dirty="0"/>
          </a:p>
        </p:txBody>
      </p:sp>
      <p:sp>
        <p:nvSpPr>
          <p:cNvPr id="6" name="Shape 4"/>
          <p:cNvSpPr/>
          <p:nvPr/>
        </p:nvSpPr>
        <p:spPr>
          <a:xfrm>
            <a:off x="4160520" y="932688"/>
            <a:ext cx="146304" cy="146304"/>
          </a:xfrm>
          <a:prstGeom prst="rect">
            <a:avLst/>
          </a:prstGeom>
          <a:solidFill>
            <a:srgbClr val="1F9D8A"/>
          </a:solidFill>
          <a:ln w="12700">
            <a:solidFill>
              <a:srgbClr val="1F9D8A"/>
            </a:solidFill>
            <a:prstDash val="solid"/>
          </a:ln>
        </p:spPr>
        <p:txBody>
          <a:bodyPr/>
          <a:lstStyle/>
          <a:p>
            <a:endParaRPr lang="ja-JP" altLang="en-US"/>
          </a:p>
        </p:txBody>
      </p:sp>
      <p:sp>
        <p:nvSpPr>
          <p:cNvPr id="7" name="Text 5"/>
          <p:cNvSpPr/>
          <p:nvPr/>
        </p:nvSpPr>
        <p:spPr>
          <a:xfrm>
            <a:off x="4361688" y="905256"/>
            <a:ext cx="1207008" cy="201168"/>
          </a:xfrm>
          <a:prstGeom prst="rect">
            <a:avLst/>
          </a:prstGeom>
          <a:noFill/>
          <a:ln/>
        </p:spPr>
        <p:txBody>
          <a:bodyPr wrap="square" lIns="0" tIns="0" rIns="0" bIns="0" rtlCol="0" anchor="ctr"/>
          <a:lstStyle/>
          <a:p>
            <a:pPr marL="0" indent="0">
              <a:buNone/>
            </a:pPr>
            <a:r>
              <a:rPr lang="en-US" sz="1050" dirty="0">
                <a:solidFill>
                  <a:srgbClr val="687386"/>
                </a:solidFill>
                <a:latin typeface="Noto Sans CJK JP" pitchFamily="34" charset="0"/>
                <a:ea typeface="Noto Sans CJK JP" pitchFamily="34" charset="-122"/>
                <a:cs typeface="Noto Sans CJK JP" pitchFamily="34" charset="-120"/>
              </a:rPr>
              <a:t>BEV</a:t>
            </a:r>
            <a:endParaRPr lang="en-US" sz="1050" dirty="0"/>
          </a:p>
        </p:txBody>
      </p:sp>
      <p:sp>
        <p:nvSpPr>
          <p:cNvPr id="8" name="Shape 6"/>
          <p:cNvSpPr/>
          <p:nvPr/>
        </p:nvSpPr>
        <p:spPr>
          <a:xfrm>
            <a:off x="5577840" y="932688"/>
            <a:ext cx="146304" cy="146304"/>
          </a:xfrm>
          <a:prstGeom prst="rect">
            <a:avLst/>
          </a:prstGeom>
          <a:solidFill>
            <a:srgbClr val="8C6D5A"/>
          </a:solidFill>
          <a:ln w="12700">
            <a:solidFill>
              <a:srgbClr val="8C6D5A"/>
            </a:solidFill>
            <a:prstDash val="solid"/>
          </a:ln>
        </p:spPr>
        <p:txBody>
          <a:bodyPr/>
          <a:lstStyle/>
          <a:p>
            <a:endParaRPr lang="ja-JP" altLang="en-US"/>
          </a:p>
        </p:txBody>
      </p:sp>
      <p:sp>
        <p:nvSpPr>
          <p:cNvPr id="9" name="Text 7"/>
          <p:cNvSpPr/>
          <p:nvPr/>
        </p:nvSpPr>
        <p:spPr>
          <a:xfrm>
            <a:off x="5779008" y="905256"/>
            <a:ext cx="1207008" cy="201168"/>
          </a:xfrm>
          <a:prstGeom prst="rect">
            <a:avLst/>
          </a:prstGeom>
          <a:noFill/>
          <a:ln/>
        </p:spPr>
        <p:txBody>
          <a:bodyPr wrap="square" lIns="0" tIns="0" rIns="0" bIns="0" rtlCol="0" anchor="ctr"/>
          <a:lstStyle/>
          <a:p>
            <a:pPr marL="0" indent="0">
              <a:buNone/>
            </a:pPr>
            <a:r>
              <a:rPr lang="en-US" sz="1050" dirty="0">
                <a:solidFill>
                  <a:srgbClr val="687386"/>
                </a:solidFill>
                <a:latin typeface="Noto Sans CJK JP" pitchFamily="34" charset="0"/>
                <a:ea typeface="Noto Sans CJK JP" pitchFamily="34" charset="-122"/>
                <a:cs typeface="Noto Sans CJK JP" pitchFamily="34" charset="-120"/>
              </a:rPr>
              <a:t>ICE</a:t>
            </a:r>
            <a:endParaRPr lang="en-US" sz="1050" dirty="0"/>
          </a:p>
        </p:txBody>
      </p:sp>
      <p:sp>
        <p:nvSpPr>
          <p:cNvPr id="10" name="Text 8"/>
          <p:cNvSpPr/>
          <p:nvPr/>
        </p:nvSpPr>
        <p:spPr>
          <a:xfrm>
            <a:off x="731520" y="1234440"/>
            <a:ext cx="4389120" cy="320040"/>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使用車両（合計32台）</a:t>
            </a:r>
            <a:endParaRPr lang="en-US" sz="1800" dirty="0"/>
          </a:p>
        </p:txBody>
      </p:sp>
      <p:sp>
        <p:nvSpPr>
          <p:cNvPr id="11" name="Shape 9"/>
          <p:cNvSpPr/>
          <p:nvPr/>
        </p:nvSpPr>
        <p:spPr>
          <a:xfrm>
            <a:off x="1920240" y="1783080"/>
            <a:ext cx="3440430" cy="530352"/>
          </a:xfrm>
          <a:prstGeom prst="rect">
            <a:avLst/>
          </a:prstGeom>
          <a:solidFill>
            <a:srgbClr val="1F9D8A"/>
          </a:solidFill>
          <a:ln w="10160">
            <a:solidFill>
              <a:srgbClr val="FFFFFF"/>
            </a:solidFill>
            <a:prstDash val="solid"/>
          </a:ln>
        </p:spPr>
        <p:txBody>
          <a:bodyPr/>
          <a:lstStyle/>
          <a:p>
            <a:endParaRPr lang="ja-JP" altLang="en-US"/>
          </a:p>
        </p:txBody>
      </p:sp>
      <p:sp>
        <p:nvSpPr>
          <p:cNvPr id="12" name="Text 10"/>
          <p:cNvSpPr/>
          <p:nvPr/>
        </p:nvSpPr>
        <p:spPr>
          <a:xfrm>
            <a:off x="1920240" y="1801368"/>
            <a:ext cx="3440430"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28</a:t>
            </a:r>
            <a:endParaRPr lang="en-US" sz="1400" dirty="0"/>
          </a:p>
        </p:txBody>
      </p:sp>
      <p:sp>
        <p:nvSpPr>
          <p:cNvPr id="13" name="Shape 11"/>
          <p:cNvSpPr/>
          <p:nvPr/>
        </p:nvSpPr>
        <p:spPr>
          <a:xfrm>
            <a:off x="5360670" y="1783080"/>
            <a:ext cx="491490" cy="530352"/>
          </a:xfrm>
          <a:prstGeom prst="rect">
            <a:avLst/>
          </a:prstGeom>
          <a:solidFill>
            <a:srgbClr val="8C6D5A"/>
          </a:solidFill>
          <a:ln w="10160">
            <a:solidFill>
              <a:srgbClr val="FFFFFF"/>
            </a:solidFill>
            <a:prstDash val="solid"/>
          </a:ln>
        </p:spPr>
        <p:txBody>
          <a:bodyPr/>
          <a:lstStyle/>
          <a:p>
            <a:endParaRPr lang="ja-JP" altLang="en-US"/>
          </a:p>
        </p:txBody>
      </p:sp>
      <p:sp>
        <p:nvSpPr>
          <p:cNvPr id="14" name="Text 12"/>
          <p:cNvSpPr/>
          <p:nvPr/>
        </p:nvSpPr>
        <p:spPr>
          <a:xfrm>
            <a:off x="5360670" y="1801368"/>
            <a:ext cx="491490"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5" name="Text 13"/>
          <p:cNvSpPr/>
          <p:nvPr/>
        </p:nvSpPr>
        <p:spPr>
          <a:xfrm>
            <a:off x="960120" y="1773936"/>
            <a:ext cx="868680" cy="530352"/>
          </a:xfrm>
          <a:prstGeom prst="rect">
            <a:avLst/>
          </a:prstGeom>
          <a:noFill/>
          <a:ln/>
        </p:spPr>
        <p:txBody>
          <a:bodyPr wrap="square" lIns="0" tIns="0" rIns="0" bIns="0" rtlCol="0" anchor="ctr"/>
          <a:lstStyle/>
          <a:p>
            <a:pPr marL="0" indent="0" algn="r">
              <a:buNone/>
            </a:pPr>
            <a:r>
              <a:rPr lang="en-US" sz="1350" b="1" dirty="0">
                <a:solidFill>
                  <a:srgbClr val="172033"/>
                </a:solidFill>
                <a:latin typeface="Noto Sans CJK JP" pitchFamily="34" charset="0"/>
                <a:ea typeface="Noto Sans CJK JP" pitchFamily="34" charset="-122"/>
                <a:cs typeface="Noto Sans CJK JP" pitchFamily="34" charset="-120"/>
              </a:rPr>
              <a:t>高PV</a:t>
            </a:r>
            <a:endParaRPr lang="en-US" sz="1350" dirty="0"/>
          </a:p>
        </p:txBody>
      </p:sp>
      <p:sp>
        <p:nvSpPr>
          <p:cNvPr id="16" name="Shape 14"/>
          <p:cNvSpPr/>
          <p:nvPr/>
        </p:nvSpPr>
        <p:spPr>
          <a:xfrm>
            <a:off x="1920240" y="2560320"/>
            <a:ext cx="2580323" cy="530352"/>
          </a:xfrm>
          <a:prstGeom prst="rect">
            <a:avLst/>
          </a:prstGeom>
          <a:solidFill>
            <a:srgbClr val="1F9D8A"/>
          </a:solidFill>
          <a:ln w="10160">
            <a:solidFill>
              <a:srgbClr val="FFFFFF"/>
            </a:solidFill>
            <a:prstDash val="solid"/>
          </a:ln>
        </p:spPr>
        <p:txBody>
          <a:bodyPr/>
          <a:lstStyle/>
          <a:p>
            <a:endParaRPr lang="ja-JP" altLang="en-US"/>
          </a:p>
        </p:txBody>
      </p:sp>
      <p:sp>
        <p:nvSpPr>
          <p:cNvPr id="17" name="Text 15"/>
          <p:cNvSpPr/>
          <p:nvPr/>
        </p:nvSpPr>
        <p:spPr>
          <a:xfrm>
            <a:off x="1920240" y="2578608"/>
            <a:ext cx="2580323"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21</a:t>
            </a:r>
            <a:endParaRPr lang="en-US" sz="1400" dirty="0"/>
          </a:p>
        </p:txBody>
      </p:sp>
      <p:sp>
        <p:nvSpPr>
          <p:cNvPr id="18" name="Shape 16"/>
          <p:cNvSpPr/>
          <p:nvPr/>
        </p:nvSpPr>
        <p:spPr>
          <a:xfrm>
            <a:off x="4500563" y="2560320"/>
            <a:ext cx="1351598" cy="530352"/>
          </a:xfrm>
          <a:prstGeom prst="rect">
            <a:avLst/>
          </a:prstGeom>
          <a:solidFill>
            <a:srgbClr val="8C6D5A"/>
          </a:solidFill>
          <a:ln w="10160">
            <a:solidFill>
              <a:srgbClr val="FFFFFF"/>
            </a:solidFill>
            <a:prstDash val="solid"/>
          </a:ln>
        </p:spPr>
        <p:txBody>
          <a:bodyPr/>
          <a:lstStyle/>
          <a:p>
            <a:endParaRPr lang="ja-JP" altLang="en-US"/>
          </a:p>
        </p:txBody>
      </p:sp>
      <p:sp>
        <p:nvSpPr>
          <p:cNvPr id="19" name="Text 17"/>
          <p:cNvSpPr/>
          <p:nvPr/>
        </p:nvSpPr>
        <p:spPr>
          <a:xfrm>
            <a:off x="4500563" y="2578608"/>
            <a:ext cx="1351598"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11</a:t>
            </a:r>
            <a:endParaRPr lang="en-US" sz="1400" dirty="0"/>
          </a:p>
        </p:txBody>
      </p:sp>
      <p:sp>
        <p:nvSpPr>
          <p:cNvPr id="20" name="Text 18"/>
          <p:cNvSpPr/>
          <p:nvPr/>
        </p:nvSpPr>
        <p:spPr>
          <a:xfrm>
            <a:off x="960120" y="2551176"/>
            <a:ext cx="868680" cy="530352"/>
          </a:xfrm>
          <a:prstGeom prst="rect">
            <a:avLst/>
          </a:prstGeom>
          <a:noFill/>
          <a:ln/>
        </p:spPr>
        <p:txBody>
          <a:bodyPr wrap="square" lIns="0" tIns="0" rIns="0" bIns="0" rtlCol="0" anchor="ctr"/>
          <a:lstStyle/>
          <a:p>
            <a:pPr marL="0" indent="0" algn="r">
              <a:buNone/>
            </a:pPr>
            <a:r>
              <a:rPr lang="en-US" sz="1350" b="1" dirty="0">
                <a:solidFill>
                  <a:srgbClr val="172033"/>
                </a:solidFill>
                <a:latin typeface="Noto Sans CJK JP" pitchFamily="34" charset="0"/>
                <a:ea typeface="Noto Sans CJK JP" pitchFamily="34" charset="-122"/>
                <a:cs typeface="Noto Sans CJK JP" pitchFamily="34" charset="-120"/>
              </a:rPr>
              <a:t>低PV</a:t>
            </a:r>
            <a:endParaRPr lang="en-US" sz="1350" dirty="0"/>
          </a:p>
        </p:txBody>
      </p:sp>
      <p:sp>
        <p:nvSpPr>
          <p:cNvPr id="21" name="Text 19"/>
          <p:cNvSpPr/>
          <p:nvPr/>
        </p:nvSpPr>
        <p:spPr>
          <a:xfrm>
            <a:off x="6355080" y="1234440"/>
            <a:ext cx="4297680" cy="320040"/>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担当便数（合計264便）</a:t>
            </a:r>
            <a:endParaRPr lang="en-US" sz="1800" dirty="0"/>
          </a:p>
        </p:txBody>
      </p:sp>
      <p:sp>
        <p:nvSpPr>
          <p:cNvPr id="22" name="Shape 20"/>
          <p:cNvSpPr/>
          <p:nvPr/>
        </p:nvSpPr>
        <p:spPr>
          <a:xfrm>
            <a:off x="7452360" y="1783080"/>
            <a:ext cx="2550275" cy="530352"/>
          </a:xfrm>
          <a:prstGeom prst="rect">
            <a:avLst/>
          </a:prstGeom>
          <a:solidFill>
            <a:srgbClr val="1F9D8A"/>
          </a:solidFill>
          <a:ln w="10160">
            <a:solidFill>
              <a:srgbClr val="FFFFFF"/>
            </a:solidFill>
            <a:prstDash val="solid"/>
          </a:ln>
        </p:spPr>
        <p:txBody>
          <a:bodyPr/>
          <a:lstStyle/>
          <a:p>
            <a:endParaRPr lang="ja-JP" altLang="en-US"/>
          </a:p>
        </p:txBody>
      </p:sp>
      <p:sp>
        <p:nvSpPr>
          <p:cNvPr id="23" name="Text 21"/>
          <p:cNvSpPr/>
          <p:nvPr/>
        </p:nvSpPr>
        <p:spPr>
          <a:xfrm>
            <a:off x="7452360" y="1801368"/>
            <a:ext cx="2550275"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199</a:t>
            </a:r>
            <a:endParaRPr lang="en-US" sz="1400" dirty="0"/>
          </a:p>
        </p:txBody>
      </p:sp>
      <p:sp>
        <p:nvSpPr>
          <p:cNvPr id="24" name="Shape 22"/>
          <p:cNvSpPr/>
          <p:nvPr/>
        </p:nvSpPr>
        <p:spPr>
          <a:xfrm>
            <a:off x="10002635" y="1783080"/>
            <a:ext cx="833005" cy="530352"/>
          </a:xfrm>
          <a:prstGeom prst="rect">
            <a:avLst/>
          </a:prstGeom>
          <a:solidFill>
            <a:srgbClr val="8C6D5A"/>
          </a:solidFill>
          <a:ln w="10160">
            <a:solidFill>
              <a:srgbClr val="FFFFFF"/>
            </a:solidFill>
            <a:prstDash val="solid"/>
          </a:ln>
        </p:spPr>
        <p:txBody>
          <a:bodyPr/>
          <a:lstStyle/>
          <a:p>
            <a:endParaRPr lang="ja-JP" altLang="en-US"/>
          </a:p>
        </p:txBody>
      </p:sp>
      <p:sp>
        <p:nvSpPr>
          <p:cNvPr id="25" name="Text 23"/>
          <p:cNvSpPr/>
          <p:nvPr/>
        </p:nvSpPr>
        <p:spPr>
          <a:xfrm>
            <a:off x="10002635" y="1801368"/>
            <a:ext cx="833005"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65</a:t>
            </a:r>
            <a:endParaRPr lang="en-US" sz="1400" dirty="0"/>
          </a:p>
        </p:txBody>
      </p:sp>
      <p:sp>
        <p:nvSpPr>
          <p:cNvPr id="26" name="Text 24"/>
          <p:cNvSpPr/>
          <p:nvPr/>
        </p:nvSpPr>
        <p:spPr>
          <a:xfrm>
            <a:off x="6492240" y="1773936"/>
            <a:ext cx="868680" cy="530352"/>
          </a:xfrm>
          <a:prstGeom prst="rect">
            <a:avLst/>
          </a:prstGeom>
          <a:noFill/>
          <a:ln/>
        </p:spPr>
        <p:txBody>
          <a:bodyPr wrap="square" lIns="0" tIns="0" rIns="0" bIns="0" rtlCol="0" anchor="ctr"/>
          <a:lstStyle/>
          <a:p>
            <a:pPr marL="0" indent="0" algn="r">
              <a:buNone/>
            </a:pPr>
            <a:r>
              <a:rPr lang="en-US" sz="1350" b="1" dirty="0">
                <a:solidFill>
                  <a:srgbClr val="172033"/>
                </a:solidFill>
                <a:latin typeface="Noto Sans CJK JP" pitchFamily="34" charset="0"/>
                <a:ea typeface="Noto Sans CJK JP" pitchFamily="34" charset="-122"/>
                <a:cs typeface="Noto Sans CJK JP" pitchFamily="34" charset="-120"/>
              </a:rPr>
              <a:t>高PV</a:t>
            </a:r>
            <a:endParaRPr lang="en-US" sz="1350" dirty="0"/>
          </a:p>
        </p:txBody>
      </p:sp>
      <p:sp>
        <p:nvSpPr>
          <p:cNvPr id="27" name="Shape 25"/>
          <p:cNvSpPr/>
          <p:nvPr/>
        </p:nvSpPr>
        <p:spPr>
          <a:xfrm>
            <a:off x="7452360" y="2560320"/>
            <a:ext cx="1166206" cy="530352"/>
          </a:xfrm>
          <a:prstGeom prst="rect">
            <a:avLst/>
          </a:prstGeom>
          <a:solidFill>
            <a:srgbClr val="1F9D8A"/>
          </a:solidFill>
          <a:ln w="10160">
            <a:solidFill>
              <a:srgbClr val="FFFFFF"/>
            </a:solidFill>
            <a:prstDash val="solid"/>
          </a:ln>
        </p:spPr>
        <p:txBody>
          <a:bodyPr/>
          <a:lstStyle/>
          <a:p>
            <a:endParaRPr lang="ja-JP" altLang="en-US"/>
          </a:p>
        </p:txBody>
      </p:sp>
      <p:sp>
        <p:nvSpPr>
          <p:cNvPr id="28" name="Text 26"/>
          <p:cNvSpPr/>
          <p:nvPr/>
        </p:nvSpPr>
        <p:spPr>
          <a:xfrm>
            <a:off x="7452360" y="2578608"/>
            <a:ext cx="1166206"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91</a:t>
            </a:r>
            <a:endParaRPr lang="en-US" sz="1400" dirty="0"/>
          </a:p>
        </p:txBody>
      </p:sp>
      <p:sp>
        <p:nvSpPr>
          <p:cNvPr id="29" name="Shape 27"/>
          <p:cNvSpPr/>
          <p:nvPr/>
        </p:nvSpPr>
        <p:spPr>
          <a:xfrm>
            <a:off x="8618566" y="2560320"/>
            <a:ext cx="2217074" cy="530352"/>
          </a:xfrm>
          <a:prstGeom prst="rect">
            <a:avLst/>
          </a:prstGeom>
          <a:solidFill>
            <a:srgbClr val="8C6D5A"/>
          </a:solidFill>
          <a:ln w="10160">
            <a:solidFill>
              <a:srgbClr val="FFFFFF"/>
            </a:solidFill>
            <a:prstDash val="solid"/>
          </a:ln>
        </p:spPr>
        <p:txBody>
          <a:bodyPr/>
          <a:lstStyle/>
          <a:p>
            <a:endParaRPr lang="ja-JP" altLang="en-US"/>
          </a:p>
        </p:txBody>
      </p:sp>
      <p:sp>
        <p:nvSpPr>
          <p:cNvPr id="30" name="Text 28"/>
          <p:cNvSpPr/>
          <p:nvPr/>
        </p:nvSpPr>
        <p:spPr>
          <a:xfrm>
            <a:off x="8618566" y="2578608"/>
            <a:ext cx="2217074"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173</a:t>
            </a:r>
            <a:endParaRPr lang="en-US" sz="1400" dirty="0"/>
          </a:p>
        </p:txBody>
      </p:sp>
      <p:sp>
        <p:nvSpPr>
          <p:cNvPr id="31" name="Text 29"/>
          <p:cNvSpPr/>
          <p:nvPr/>
        </p:nvSpPr>
        <p:spPr>
          <a:xfrm>
            <a:off x="6492240" y="2551176"/>
            <a:ext cx="868680" cy="530352"/>
          </a:xfrm>
          <a:prstGeom prst="rect">
            <a:avLst/>
          </a:prstGeom>
          <a:noFill/>
          <a:ln/>
        </p:spPr>
        <p:txBody>
          <a:bodyPr wrap="square" lIns="0" tIns="0" rIns="0" bIns="0" rtlCol="0" anchor="ctr"/>
          <a:lstStyle/>
          <a:p>
            <a:pPr marL="0" indent="0" algn="r">
              <a:buNone/>
            </a:pPr>
            <a:r>
              <a:rPr lang="en-US" sz="1350" b="1" dirty="0">
                <a:solidFill>
                  <a:srgbClr val="172033"/>
                </a:solidFill>
                <a:latin typeface="Noto Sans CJK JP" pitchFamily="34" charset="0"/>
                <a:ea typeface="Noto Sans CJK JP" pitchFamily="34" charset="-122"/>
                <a:cs typeface="Noto Sans CJK JP" pitchFamily="34" charset="-120"/>
              </a:rPr>
              <a:t>低PV</a:t>
            </a:r>
            <a:endParaRPr lang="en-US" sz="1350" dirty="0"/>
          </a:p>
        </p:txBody>
      </p:sp>
      <p:sp>
        <p:nvSpPr>
          <p:cNvPr id="32" name="Shape 30"/>
          <p:cNvSpPr/>
          <p:nvPr/>
        </p:nvSpPr>
        <p:spPr>
          <a:xfrm>
            <a:off x="731520" y="3703320"/>
            <a:ext cx="3429000" cy="1572768"/>
          </a:xfrm>
          <a:prstGeom prst="roundRect">
            <a:avLst>
              <a:gd name="adj" fmla="val 4651"/>
            </a:avLst>
          </a:prstGeom>
          <a:solidFill>
            <a:srgbClr val="E8F6F3"/>
          </a:solidFill>
          <a:ln w="12700">
            <a:solidFill>
              <a:srgbClr val="1F9D8A"/>
            </a:solidFill>
            <a:prstDash val="solid"/>
          </a:ln>
        </p:spPr>
        <p:txBody>
          <a:bodyPr/>
          <a:lstStyle/>
          <a:p>
            <a:endParaRPr lang="ja-JP" altLang="en-US"/>
          </a:p>
        </p:txBody>
      </p:sp>
      <p:pic>
        <p:nvPicPr>
          <p:cNvPr id="3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840" y="4005072"/>
            <a:ext cx="475488" cy="475488"/>
          </a:xfrm>
          <a:prstGeom prst="rect">
            <a:avLst/>
          </a:prstGeom>
        </p:spPr>
      </p:pic>
      <p:sp>
        <p:nvSpPr>
          <p:cNvPr id="34" name="Text 31"/>
          <p:cNvSpPr/>
          <p:nvPr/>
        </p:nvSpPr>
        <p:spPr>
          <a:xfrm>
            <a:off x="1664208" y="3913632"/>
            <a:ext cx="1325880" cy="292608"/>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高PV条件</a:t>
            </a:r>
            <a:endParaRPr lang="en-US" sz="1800" dirty="0"/>
          </a:p>
        </p:txBody>
      </p:sp>
      <p:sp>
        <p:nvSpPr>
          <p:cNvPr id="35" name="Text 32"/>
          <p:cNvSpPr/>
          <p:nvPr/>
        </p:nvSpPr>
        <p:spPr>
          <a:xfrm>
            <a:off x="1005840" y="4370832"/>
            <a:ext cx="2743200" cy="603504"/>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BEV 28台・199便</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 高PVでBEV担当が増加</a:t>
            </a:r>
            <a:endParaRPr lang="en-US" sz="1550" dirty="0"/>
          </a:p>
        </p:txBody>
      </p:sp>
      <p:sp>
        <p:nvSpPr>
          <p:cNvPr id="36" name="Shape 33"/>
          <p:cNvSpPr/>
          <p:nvPr/>
        </p:nvSpPr>
        <p:spPr>
          <a:xfrm>
            <a:off x="4407408" y="3703320"/>
            <a:ext cx="3429000" cy="1572768"/>
          </a:xfrm>
          <a:prstGeom prst="roundRect">
            <a:avLst>
              <a:gd name="adj" fmla="val 4651"/>
            </a:avLst>
          </a:prstGeom>
          <a:solidFill>
            <a:srgbClr val="EAF2FB"/>
          </a:solidFill>
          <a:ln w="12700">
            <a:solidFill>
              <a:srgbClr val="356BB3"/>
            </a:solidFill>
            <a:prstDash val="solid"/>
          </a:ln>
        </p:spPr>
        <p:txBody>
          <a:bodyPr/>
          <a:lstStyle/>
          <a:p>
            <a:endParaRPr lang="ja-JP" altLang="en-US"/>
          </a:p>
        </p:txBody>
      </p:sp>
      <p:pic>
        <p:nvPicPr>
          <p:cNvPr id="3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81728" y="4005072"/>
            <a:ext cx="502920" cy="475488"/>
          </a:xfrm>
          <a:prstGeom prst="rect">
            <a:avLst/>
          </a:prstGeom>
        </p:spPr>
      </p:pic>
      <p:sp>
        <p:nvSpPr>
          <p:cNvPr id="38" name="Text 34"/>
          <p:cNvSpPr/>
          <p:nvPr/>
        </p:nvSpPr>
        <p:spPr>
          <a:xfrm>
            <a:off x="5349240" y="3913632"/>
            <a:ext cx="1325880" cy="292608"/>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低PV条件</a:t>
            </a:r>
            <a:endParaRPr lang="en-US" sz="1800" dirty="0"/>
          </a:p>
        </p:txBody>
      </p:sp>
      <p:sp>
        <p:nvSpPr>
          <p:cNvPr id="39" name="Text 35"/>
          <p:cNvSpPr/>
          <p:nvPr/>
        </p:nvSpPr>
        <p:spPr>
          <a:xfrm>
            <a:off x="4681728" y="4370832"/>
            <a:ext cx="2743200" cy="603504"/>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BEV 21台・91便</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 低PVでICE担当が増加</a:t>
            </a:r>
            <a:endParaRPr lang="en-US" sz="1550" dirty="0"/>
          </a:p>
        </p:txBody>
      </p:sp>
      <p:sp>
        <p:nvSpPr>
          <p:cNvPr id="40" name="Shape 36"/>
          <p:cNvSpPr/>
          <p:nvPr/>
        </p:nvSpPr>
        <p:spPr>
          <a:xfrm>
            <a:off x="8083296" y="3703320"/>
            <a:ext cx="3429000" cy="1572768"/>
          </a:xfrm>
          <a:prstGeom prst="roundRect">
            <a:avLst>
              <a:gd name="adj" fmla="val 4651"/>
            </a:avLst>
          </a:prstGeom>
          <a:solidFill>
            <a:srgbClr val="F8FAFC"/>
          </a:solidFill>
          <a:ln w="12700">
            <a:solidFill>
              <a:srgbClr val="EEF1F5"/>
            </a:solidFill>
            <a:prstDash val="solid"/>
          </a:ln>
        </p:spPr>
        <p:txBody>
          <a:bodyPr/>
          <a:lstStyle/>
          <a:p>
            <a:endParaRPr lang="ja-JP" altLang="en-US"/>
          </a:p>
        </p:txBody>
      </p:sp>
      <p:pic>
        <p:nvPicPr>
          <p:cNvPr id="4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57616" y="4005072"/>
            <a:ext cx="457200" cy="457200"/>
          </a:xfrm>
          <a:prstGeom prst="rect">
            <a:avLst/>
          </a:prstGeom>
        </p:spPr>
      </p:pic>
      <p:sp>
        <p:nvSpPr>
          <p:cNvPr id="42" name="Text 37"/>
          <p:cNvSpPr/>
          <p:nvPr/>
        </p:nvSpPr>
        <p:spPr>
          <a:xfrm>
            <a:off x="9015984" y="3913632"/>
            <a:ext cx="1005840" cy="292608"/>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共通</a:t>
            </a:r>
            <a:endParaRPr lang="en-US" sz="1800" dirty="0"/>
          </a:p>
        </p:txBody>
      </p:sp>
      <p:sp>
        <p:nvSpPr>
          <p:cNvPr id="43" name="Text 38"/>
          <p:cNvSpPr/>
          <p:nvPr/>
        </p:nvSpPr>
        <p:spPr>
          <a:xfrm>
            <a:off x="8357616" y="4370832"/>
            <a:ext cx="2743200" cy="603504"/>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264/264便を運行</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使用総台数はどちらも32台</a:t>
            </a:r>
            <a:endParaRPr lang="en-US" sz="1550" dirty="0"/>
          </a:p>
        </p:txBody>
      </p:sp>
      <p:sp>
        <p:nvSpPr>
          <p:cNvPr id="44" name="Text 39"/>
          <p:cNvSpPr/>
          <p:nvPr/>
        </p:nvSpPr>
        <p:spPr>
          <a:xfrm>
            <a:off x="1828800" y="5797296"/>
            <a:ext cx="8595360" cy="237744"/>
          </a:xfrm>
          <a:prstGeom prst="rect">
            <a:avLst/>
          </a:prstGeom>
          <a:noFill/>
          <a:ln/>
        </p:spPr>
        <p:txBody>
          <a:bodyPr wrap="square" lIns="0" tIns="0" rIns="0" bIns="0" rtlCol="0" anchor="ctr"/>
          <a:lstStyle/>
          <a:p>
            <a:pPr marL="0" indent="0" algn="ctr">
              <a:buNone/>
            </a:pPr>
            <a:r>
              <a:rPr lang="en-US" sz="1080" dirty="0">
                <a:solidFill>
                  <a:srgbClr val="C94C4C"/>
                </a:solidFill>
                <a:latin typeface="Noto Sans CJK JP" pitchFamily="34" charset="0"/>
                <a:ea typeface="Noto Sans CJK JP" pitchFamily="34" charset="-122"/>
                <a:cs typeface="Noto Sans CJK JP" pitchFamily="34" charset="-120"/>
              </a:rPr>
              <a:t>※ 2つの固定条件での結果であり、一般的な天候効果を示すものではない</a:t>
            </a:r>
            <a:endParaRPr lang="en-US" sz="10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先行研究にならい、車両構成と費用の関係を候補ごとに確認</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11/18</a:t>
            </a:r>
            <a:endParaRPr lang="en-US" sz="850" dirty="0"/>
          </a:p>
        </p:txBody>
      </p:sp>
      <p:pic>
        <p:nvPicPr>
          <p:cNvPr id="6" name="Image 0" descr="/mnt/data/candidate_cost_vs_bev.png"/>
          <p:cNvPicPr>
            <a:picLocks noChangeAspect="1"/>
          </p:cNvPicPr>
          <p:nvPr/>
        </p:nvPicPr>
        <p:blipFill>
          <a:blip r:embed="rId3"/>
          <a:stretch>
            <a:fillRect/>
          </a:stretch>
        </p:blipFill>
        <p:spPr>
          <a:xfrm>
            <a:off x="594360" y="960120"/>
            <a:ext cx="7498080" cy="4343400"/>
          </a:xfrm>
          <a:prstGeom prst="rect">
            <a:avLst/>
          </a:prstGeom>
        </p:spPr>
      </p:pic>
      <p:sp>
        <p:nvSpPr>
          <p:cNvPr id="7" name="Shape 4"/>
          <p:cNvSpPr/>
          <p:nvPr/>
        </p:nvSpPr>
        <p:spPr>
          <a:xfrm>
            <a:off x="8275320" y="1078992"/>
            <a:ext cx="3246120" cy="4041648"/>
          </a:xfrm>
          <a:prstGeom prst="roundRect">
            <a:avLst>
              <a:gd name="adj" fmla="val 2254"/>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8" name="Text 5"/>
          <p:cNvSpPr/>
          <p:nvPr/>
        </p:nvSpPr>
        <p:spPr>
          <a:xfrm>
            <a:off x="8567928" y="1344168"/>
            <a:ext cx="2514600" cy="329184"/>
          </a:xfrm>
          <a:prstGeom prst="rect">
            <a:avLst/>
          </a:prstGeom>
          <a:noFill/>
          <a:ln/>
        </p:spPr>
        <p:txBody>
          <a:bodyPr wrap="square" lIns="0" tIns="0" rIns="0" bIns="0" rtlCol="0" anchor="ctr"/>
          <a:lstStyle/>
          <a:p>
            <a:pPr marL="0" indent="0" algn="ctr">
              <a:buNone/>
            </a:pPr>
            <a:r>
              <a:rPr lang="en-US" sz="2000" b="1" dirty="0">
                <a:solidFill>
                  <a:srgbClr val="172033"/>
                </a:solidFill>
                <a:latin typeface="Noto Sans CJK JP" pitchFamily="34" charset="0"/>
                <a:ea typeface="Noto Sans CJK JP" pitchFamily="34" charset="-122"/>
                <a:cs typeface="Noto Sans CJK JP" pitchFamily="34" charset="-120"/>
              </a:rPr>
              <a:t>図から読めること</a:t>
            </a:r>
            <a:endParaRPr lang="en-US" sz="2000" dirty="0"/>
          </a:p>
        </p:txBody>
      </p:sp>
      <p:sp>
        <p:nvSpPr>
          <p:cNvPr id="9" name="Shape 6"/>
          <p:cNvSpPr/>
          <p:nvPr/>
        </p:nvSpPr>
        <p:spPr>
          <a:xfrm>
            <a:off x="8540496" y="2066544"/>
            <a:ext cx="91440" cy="91440"/>
          </a:xfrm>
          <a:prstGeom prst="ellipse">
            <a:avLst/>
          </a:prstGeom>
          <a:solidFill>
            <a:srgbClr val="356BB3"/>
          </a:solidFill>
          <a:ln w="12700">
            <a:solidFill>
              <a:srgbClr val="356BB3"/>
            </a:solidFill>
            <a:prstDash val="solid"/>
          </a:ln>
        </p:spPr>
        <p:txBody>
          <a:bodyPr/>
          <a:lstStyle/>
          <a:p>
            <a:endParaRPr lang="ja-JP" altLang="en-US"/>
          </a:p>
        </p:txBody>
      </p:sp>
      <p:sp>
        <p:nvSpPr>
          <p:cNvPr id="10" name="Text 7"/>
          <p:cNvSpPr/>
          <p:nvPr/>
        </p:nvSpPr>
        <p:spPr>
          <a:xfrm>
            <a:off x="8705088" y="1920240"/>
            <a:ext cx="2395728" cy="560070"/>
          </a:xfrm>
          <a:prstGeom prst="rect">
            <a:avLst/>
          </a:prstGeom>
          <a:noFill/>
          <a:ln/>
        </p:spPr>
        <p:txBody>
          <a:bodyPr wrap="square" lIns="0" tIns="0" rIns="0" bIns="0" rtlCol="0" anchor="ctr">
            <a:normAutofit/>
          </a:bodyPr>
          <a:lstStyle/>
          <a:p>
            <a:pPr marL="0" indent="0">
              <a:buNone/>
            </a:pPr>
            <a:r>
              <a:rPr lang="en-US" sz="1430" dirty="0">
                <a:solidFill>
                  <a:srgbClr val="172033"/>
                </a:solidFill>
                <a:latin typeface="Noto Sans CJK JP" pitchFamily="34" charset="0"/>
                <a:ea typeface="Noto Sans CJK JP" pitchFamily="34" charset="-122"/>
                <a:cs typeface="Noto Sans CJK JP" pitchFamily="34" charset="-120"/>
              </a:rPr>
              <a:t>高PV条件はBEV 28台の候補を選択</a:t>
            </a:r>
            <a:endParaRPr lang="en-US" sz="1430" dirty="0"/>
          </a:p>
        </p:txBody>
      </p:sp>
      <p:sp>
        <p:nvSpPr>
          <p:cNvPr id="11" name="Shape 8"/>
          <p:cNvSpPr/>
          <p:nvPr/>
        </p:nvSpPr>
        <p:spPr>
          <a:xfrm>
            <a:off x="8540496" y="2672334"/>
            <a:ext cx="91440" cy="91440"/>
          </a:xfrm>
          <a:prstGeom prst="ellipse">
            <a:avLst/>
          </a:prstGeom>
          <a:solidFill>
            <a:srgbClr val="356BB3"/>
          </a:solidFill>
          <a:ln w="12700">
            <a:solidFill>
              <a:srgbClr val="356BB3"/>
            </a:solidFill>
            <a:prstDash val="solid"/>
          </a:ln>
        </p:spPr>
        <p:txBody>
          <a:bodyPr/>
          <a:lstStyle/>
          <a:p>
            <a:endParaRPr lang="ja-JP" altLang="en-US"/>
          </a:p>
        </p:txBody>
      </p:sp>
      <p:sp>
        <p:nvSpPr>
          <p:cNvPr id="12" name="Text 9"/>
          <p:cNvSpPr/>
          <p:nvPr/>
        </p:nvSpPr>
        <p:spPr>
          <a:xfrm>
            <a:off x="8705088" y="2526030"/>
            <a:ext cx="2395728" cy="560070"/>
          </a:xfrm>
          <a:prstGeom prst="rect">
            <a:avLst/>
          </a:prstGeom>
          <a:noFill/>
          <a:ln/>
        </p:spPr>
        <p:txBody>
          <a:bodyPr wrap="square" lIns="0" tIns="0" rIns="0" bIns="0" rtlCol="0" anchor="ctr">
            <a:normAutofit/>
          </a:bodyPr>
          <a:lstStyle/>
          <a:p>
            <a:pPr marL="0" indent="0">
              <a:buNone/>
            </a:pPr>
            <a:r>
              <a:rPr lang="en-US" sz="1430" dirty="0">
                <a:solidFill>
                  <a:srgbClr val="172033"/>
                </a:solidFill>
                <a:latin typeface="Noto Sans CJK JP" pitchFamily="34" charset="0"/>
                <a:ea typeface="Noto Sans CJK JP" pitchFamily="34" charset="-122"/>
                <a:cs typeface="Noto Sans CJK JP" pitchFamily="34" charset="-120"/>
              </a:rPr>
              <a:t>低PV条件はBEV 21台の候補を選択</a:t>
            </a:r>
            <a:endParaRPr lang="en-US" sz="1430" dirty="0"/>
          </a:p>
        </p:txBody>
      </p:sp>
      <p:sp>
        <p:nvSpPr>
          <p:cNvPr id="13" name="Shape 10"/>
          <p:cNvSpPr/>
          <p:nvPr/>
        </p:nvSpPr>
        <p:spPr>
          <a:xfrm>
            <a:off x="8540496" y="3278124"/>
            <a:ext cx="91440" cy="91440"/>
          </a:xfrm>
          <a:prstGeom prst="ellipse">
            <a:avLst/>
          </a:prstGeom>
          <a:solidFill>
            <a:srgbClr val="356BB3"/>
          </a:solidFill>
          <a:ln w="12700">
            <a:solidFill>
              <a:srgbClr val="356BB3"/>
            </a:solidFill>
            <a:prstDash val="solid"/>
          </a:ln>
        </p:spPr>
        <p:txBody>
          <a:bodyPr/>
          <a:lstStyle/>
          <a:p>
            <a:endParaRPr lang="ja-JP" altLang="en-US"/>
          </a:p>
        </p:txBody>
      </p:sp>
      <p:sp>
        <p:nvSpPr>
          <p:cNvPr id="14" name="Text 11"/>
          <p:cNvSpPr/>
          <p:nvPr/>
        </p:nvSpPr>
        <p:spPr>
          <a:xfrm>
            <a:off x="8705088" y="3131820"/>
            <a:ext cx="2395728" cy="560070"/>
          </a:xfrm>
          <a:prstGeom prst="rect">
            <a:avLst/>
          </a:prstGeom>
          <a:noFill/>
          <a:ln/>
        </p:spPr>
        <p:txBody>
          <a:bodyPr wrap="square" lIns="0" tIns="0" rIns="0" bIns="0" rtlCol="0" anchor="ctr">
            <a:normAutofit/>
          </a:bodyPr>
          <a:lstStyle/>
          <a:p>
            <a:pPr marL="0" indent="0">
              <a:buNone/>
            </a:pPr>
            <a:r>
              <a:rPr lang="en-US" sz="1430" dirty="0">
                <a:solidFill>
                  <a:srgbClr val="172033"/>
                </a:solidFill>
                <a:latin typeface="Noto Sans CJK JP" pitchFamily="34" charset="0"/>
                <a:ea typeface="Noto Sans CJK JP" pitchFamily="34" charset="-122"/>
                <a:cs typeface="Noto Sans CJK JP" pitchFamily="34" charset="-120"/>
              </a:rPr>
              <a:t>同じ候補でもPV条件で評価額が変わる</a:t>
            </a:r>
            <a:endParaRPr lang="en-US" sz="1430" dirty="0"/>
          </a:p>
        </p:txBody>
      </p:sp>
      <p:sp>
        <p:nvSpPr>
          <p:cNvPr id="15" name="Shape 12"/>
          <p:cNvSpPr/>
          <p:nvPr/>
        </p:nvSpPr>
        <p:spPr>
          <a:xfrm>
            <a:off x="8540496" y="3883914"/>
            <a:ext cx="91440" cy="91440"/>
          </a:xfrm>
          <a:prstGeom prst="ellipse">
            <a:avLst/>
          </a:prstGeom>
          <a:solidFill>
            <a:srgbClr val="356BB3"/>
          </a:solidFill>
          <a:ln w="12700">
            <a:solidFill>
              <a:srgbClr val="356BB3"/>
            </a:solidFill>
            <a:prstDash val="solid"/>
          </a:ln>
        </p:spPr>
        <p:txBody>
          <a:bodyPr/>
          <a:lstStyle/>
          <a:p>
            <a:endParaRPr lang="ja-JP" altLang="en-US"/>
          </a:p>
        </p:txBody>
      </p:sp>
      <p:sp>
        <p:nvSpPr>
          <p:cNvPr id="16" name="Text 13"/>
          <p:cNvSpPr/>
          <p:nvPr/>
        </p:nvSpPr>
        <p:spPr>
          <a:xfrm>
            <a:off x="8705088" y="3737610"/>
            <a:ext cx="2395728" cy="560070"/>
          </a:xfrm>
          <a:prstGeom prst="rect">
            <a:avLst/>
          </a:prstGeom>
          <a:noFill/>
          <a:ln/>
        </p:spPr>
        <p:txBody>
          <a:bodyPr wrap="square" lIns="0" tIns="0" rIns="0" bIns="0" rtlCol="0" anchor="ctr">
            <a:normAutofit/>
          </a:bodyPr>
          <a:lstStyle/>
          <a:p>
            <a:pPr marL="0" indent="0">
              <a:buNone/>
            </a:pPr>
            <a:r>
              <a:rPr lang="en-US" sz="1430" dirty="0">
                <a:solidFill>
                  <a:srgbClr val="172033"/>
                </a:solidFill>
                <a:latin typeface="Noto Sans CJK JP" pitchFamily="34" charset="0"/>
                <a:ea typeface="Noto Sans CJK JP" pitchFamily="34" charset="-122"/>
                <a:cs typeface="Noto Sans CJK JP" pitchFamily="34" charset="-120"/>
              </a:rPr>
              <a:t>BEVを増やせば必ず安くなるわけではない</a:t>
            </a:r>
            <a:endParaRPr lang="en-US" sz="1430" dirty="0"/>
          </a:p>
        </p:txBody>
      </p:sp>
      <p:sp>
        <p:nvSpPr>
          <p:cNvPr id="17" name="Shape 14"/>
          <p:cNvSpPr/>
          <p:nvPr/>
        </p:nvSpPr>
        <p:spPr>
          <a:xfrm>
            <a:off x="8549640" y="4526280"/>
            <a:ext cx="2697480" cy="384048"/>
          </a:xfrm>
          <a:prstGeom prst="roundRect">
            <a:avLst/>
          </a:prstGeom>
          <a:solidFill>
            <a:srgbClr val="FFF5D8"/>
          </a:solidFill>
          <a:ln w="12700">
            <a:solidFill>
              <a:srgbClr val="E7B34B"/>
            </a:solidFill>
            <a:prstDash val="solid"/>
          </a:ln>
        </p:spPr>
        <p:txBody>
          <a:bodyPr/>
          <a:lstStyle/>
          <a:p>
            <a:endParaRPr lang="ja-JP" altLang="en-US"/>
          </a:p>
        </p:txBody>
      </p:sp>
      <p:sp>
        <p:nvSpPr>
          <p:cNvPr id="18" name="Text 15"/>
          <p:cNvSpPr/>
          <p:nvPr/>
        </p:nvSpPr>
        <p:spPr>
          <a:xfrm>
            <a:off x="8732520" y="4617720"/>
            <a:ext cx="2331720" cy="201168"/>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有限22候補内の比較</a:t>
            </a:r>
            <a:endParaRPr lang="en-US" sz="1400" dirty="0"/>
          </a:p>
        </p:txBody>
      </p:sp>
      <p:sp>
        <p:nvSpPr>
          <p:cNvPr id="19" name="Text 16"/>
          <p:cNvSpPr/>
          <p:nvPr/>
        </p:nvSpPr>
        <p:spPr>
          <a:xfrm>
            <a:off x="1005840" y="5742432"/>
            <a:ext cx="10149840" cy="274320"/>
          </a:xfrm>
          <a:prstGeom prst="rect">
            <a:avLst/>
          </a:prstGeom>
          <a:noFill/>
          <a:ln/>
        </p:spPr>
        <p:txBody>
          <a:bodyPr wrap="square" lIns="0" tIns="0" rIns="0" bIns="0" rtlCol="0" anchor="ctr"/>
          <a:lstStyle/>
          <a:p>
            <a:pPr marL="0" indent="0" algn="ctr">
              <a:buNone/>
            </a:pPr>
            <a:r>
              <a:rPr lang="en-US" sz="1100" dirty="0">
                <a:solidFill>
                  <a:srgbClr val="C94C4C"/>
                </a:solidFill>
                <a:latin typeface="Noto Sans CJK JP" pitchFamily="34" charset="0"/>
                <a:ea typeface="Noto Sans CJK JP" pitchFamily="34" charset="-122"/>
                <a:cs typeface="Noto Sans CJK JP" pitchFamily="34" charset="-120"/>
              </a:rPr>
              <a:t>因果関係や全候補の最適性を示す図ではない</a:t>
            </a:r>
            <a:endParaRPr lang="en-US" sz="1100" dirty="0"/>
          </a:p>
        </p:txBody>
      </p:sp>
      <p:sp>
        <p:nvSpPr>
          <p:cNvPr id="20" name="Text 17"/>
          <p:cNvSpPr/>
          <p:nvPr/>
        </p:nvSpPr>
        <p:spPr>
          <a:xfrm>
            <a:off x="566928" y="6318504"/>
            <a:ext cx="10469880" cy="146304"/>
          </a:xfrm>
          <a:prstGeom prst="rect">
            <a:avLst/>
          </a:prstGeom>
          <a:noFill/>
          <a:ln/>
        </p:spPr>
        <p:txBody>
          <a:bodyPr wrap="square" lIns="0" tIns="0" rIns="0" bIns="0" rtlCol="0" anchor="ctr"/>
          <a:lstStyle/>
          <a:p>
            <a:pPr marL="0" indent="0">
              <a:buNone/>
            </a:pPr>
            <a:r>
              <a:rPr lang="en-US" sz="720" dirty="0">
                <a:solidFill>
                  <a:srgbClr val="7B8494"/>
                </a:solidFill>
                <a:latin typeface="Noto Sans CJK JP" pitchFamily="34" charset="0"/>
                <a:ea typeface="Noto Sans CJK JP" pitchFamily="34" charset="-122"/>
                <a:cs typeface="Noto Sans CJK JP" pitchFamily="34" charset="-120"/>
              </a:rPr>
              <a:t>図の構成は Fei et al., Transportation Research Part C 149 (2023) の「台数と収益」の示し方を参考に、本研究データで再作成</a:t>
            </a:r>
            <a:endParaRPr lang="en-US" sz="7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最新結果②：低PV条件では、主に燃料使用の増加によって評価額が高くなった</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12/18</a:t>
            </a:r>
            <a:endParaRPr lang="en-US" sz="850" dirty="0"/>
          </a:p>
        </p:txBody>
      </p:sp>
      <p:sp>
        <p:nvSpPr>
          <p:cNvPr id="6" name="Text 4"/>
          <p:cNvSpPr/>
          <p:nvPr/>
        </p:nvSpPr>
        <p:spPr>
          <a:xfrm>
            <a:off x="731520" y="932688"/>
            <a:ext cx="3749040" cy="292608"/>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モデル上の24時間評価額</a:t>
            </a:r>
            <a:endParaRPr lang="en-US" sz="1800" dirty="0"/>
          </a:p>
        </p:txBody>
      </p:sp>
      <p:sp>
        <p:nvSpPr>
          <p:cNvPr id="7" name="Shape 5"/>
          <p:cNvSpPr/>
          <p:nvPr/>
        </p:nvSpPr>
        <p:spPr>
          <a:xfrm>
            <a:off x="1325880" y="2369195"/>
            <a:ext cx="1234440" cy="2980045"/>
          </a:xfrm>
          <a:prstGeom prst="roundRect">
            <a:avLst/>
          </a:prstGeom>
          <a:solidFill>
            <a:srgbClr val="1F9D8A"/>
          </a:solidFill>
          <a:ln w="12700">
            <a:solidFill>
              <a:srgbClr val="1F9D8A"/>
            </a:solidFill>
            <a:prstDash val="solid"/>
          </a:ln>
        </p:spPr>
        <p:txBody>
          <a:bodyPr/>
          <a:lstStyle/>
          <a:p>
            <a:endParaRPr lang="ja-JP" altLang="en-US"/>
          </a:p>
        </p:txBody>
      </p:sp>
      <p:sp>
        <p:nvSpPr>
          <p:cNvPr id="8" name="Text 6"/>
          <p:cNvSpPr/>
          <p:nvPr/>
        </p:nvSpPr>
        <p:spPr>
          <a:xfrm>
            <a:off x="1188720" y="1930283"/>
            <a:ext cx="1508760" cy="310896"/>
          </a:xfrm>
          <a:prstGeom prst="rect">
            <a:avLst/>
          </a:prstGeom>
          <a:noFill/>
          <a:ln/>
        </p:spPr>
        <p:txBody>
          <a:bodyPr wrap="square" lIns="0" tIns="0" rIns="0" bIns="0" rtlCol="0" anchor="ctr"/>
          <a:lstStyle/>
          <a:p>
            <a:pPr marL="0" indent="0" algn="ctr">
              <a:buNone/>
            </a:pPr>
            <a:r>
              <a:rPr lang="en-US" sz="1700" b="1" dirty="0">
                <a:solidFill>
                  <a:srgbClr val="1F9D8A"/>
                </a:solidFill>
                <a:latin typeface="Noto Sans CJK JP" pitchFamily="34" charset="0"/>
                <a:ea typeface="Noto Sans CJK JP" pitchFamily="34" charset="-122"/>
                <a:cs typeface="Noto Sans CJK JP" pitchFamily="34" charset="-120"/>
              </a:rPr>
              <a:t>661千円</a:t>
            </a:r>
            <a:endParaRPr lang="en-US" sz="1700" dirty="0"/>
          </a:p>
        </p:txBody>
      </p:sp>
      <p:sp>
        <p:nvSpPr>
          <p:cNvPr id="9" name="Text 7"/>
          <p:cNvSpPr/>
          <p:nvPr/>
        </p:nvSpPr>
        <p:spPr>
          <a:xfrm>
            <a:off x="1325880" y="5504688"/>
            <a:ext cx="123444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高PV</a:t>
            </a:r>
            <a:endParaRPr lang="en-US" sz="1400" dirty="0"/>
          </a:p>
        </p:txBody>
      </p:sp>
      <p:sp>
        <p:nvSpPr>
          <p:cNvPr id="10" name="Shape 8"/>
          <p:cNvSpPr/>
          <p:nvPr/>
        </p:nvSpPr>
        <p:spPr>
          <a:xfrm>
            <a:off x="3337560" y="2199608"/>
            <a:ext cx="1234440" cy="3149632"/>
          </a:xfrm>
          <a:prstGeom prst="roundRect">
            <a:avLst/>
          </a:prstGeom>
          <a:solidFill>
            <a:srgbClr val="356BB3"/>
          </a:solidFill>
          <a:ln w="12700">
            <a:solidFill>
              <a:srgbClr val="356BB3"/>
            </a:solidFill>
            <a:prstDash val="solid"/>
          </a:ln>
        </p:spPr>
        <p:txBody>
          <a:bodyPr/>
          <a:lstStyle/>
          <a:p>
            <a:endParaRPr lang="ja-JP" altLang="en-US"/>
          </a:p>
        </p:txBody>
      </p:sp>
      <p:sp>
        <p:nvSpPr>
          <p:cNvPr id="11" name="Text 9"/>
          <p:cNvSpPr/>
          <p:nvPr/>
        </p:nvSpPr>
        <p:spPr>
          <a:xfrm>
            <a:off x="3200400" y="1760696"/>
            <a:ext cx="1508760" cy="310896"/>
          </a:xfrm>
          <a:prstGeom prst="rect">
            <a:avLst/>
          </a:prstGeom>
          <a:noFill/>
          <a:ln/>
        </p:spPr>
        <p:txBody>
          <a:bodyPr wrap="square" lIns="0" tIns="0" rIns="0" bIns="0" rtlCol="0" anchor="ctr"/>
          <a:lstStyle/>
          <a:p>
            <a:pPr marL="0" indent="0" algn="ctr">
              <a:buNone/>
            </a:pPr>
            <a:r>
              <a:rPr lang="en-US" sz="1700" b="1" dirty="0">
                <a:solidFill>
                  <a:srgbClr val="356BB3"/>
                </a:solidFill>
                <a:latin typeface="Noto Sans CJK JP" pitchFamily="34" charset="0"/>
                <a:ea typeface="Noto Sans CJK JP" pitchFamily="34" charset="-122"/>
                <a:cs typeface="Noto Sans CJK JP" pitchFamily="34" charset="-120"/>
              </a:rPr>
              <a:t>699千円</a:t>
            </a:r>
            <a:endParaRPr lang="en-US" sz="1700" dirty="0"/>
          </a:p>
        </p:txBody>
      </p:sp>
      <p:sp>
        <p:nvSpPr>
          <p:cNvPr id="12" name="Text 10"/>
          <p:cNvSpPr/>
          <p:nvPr/>
        </p:nvSpPr>
        <p:spPr>
          <a:xfrm>
            <a:off x="3337560" y="5504688"/>
            <a:ext cx="123444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低PV</a:t>
            </a:r>
            <a:endParaRPr lang="en-US" sz="1400" dirty="0"/>
          </a:p>
        </p:txBody>
      </p:sp>
      <p:sp>
        <p:nvSpPr>
          <p:cNvPr id="13" name="Shape 11"/>
          <p:cNvSpPr/>
          <p:nvPr/>
        </p:nvSpPr>
        <p:spPr>
          <a:xfrm>
            <a:off x="868680" y="5349240"/>
            <a:ext cx="4251960" cy="0"/>
          </a:xfrm>
          <a:prstGeom prst="line">
            <a:avLst/>
          </a:prstGeom>
          <a:noFill/>
          <a:ln w="12700">
            <a:solidFill>
              <a:srgbClr val="A5AFBD"/>
            </a:solidFill>
            <a:prstDash val="solid"/>
          </a:ln>
        </p:spPr>
        <p:txBody>
          <a:bodyPr/>
          <a:lstStyle/>
          <a:p>
            <a:endParaRPr lang="ja-JP" altLang="en-US"/>
          </a:p>
        </p:txBody>
      </p:sp>
      <p:sp>
        <p:nvSpPr>
          <p:cNvPr id="14" name="Shape 12"/>
          <p:cNvSpPr/>
          <p:nvPr/>
        </p:nvSpPr>
        <p:spPr>
          <a:xfrm>
            <a:off x="5577840" y="932688"/>
            <a:ext cx="5669280" cy="4892040"/>
          </a:xfrm>
          <a:prstGeom prst="roundRect">
            <a:avLst>
              <a:gd name="adj" fmla="val 1495"/>
            </a:avLst>
          </a:prstGeom>
          <a:solidFill>
            <a:srgbClr val="F8FAFC"/>
          </a:solidFill>
          <a:ln w="12700">
            <a:solidFill>
              <a:srgbClr val="EEF1F5"/>
            </a:solidFill>
            <a:prstDash val="solid"/>
          </a:ln>
        </p:spPr>
        <p:txBody>
          <a:bodyPr/>
          <a:lstStyle/>
          <a:p>
            <a:endParaRPr lang="ja-JP" altLang="en-US"/>
          </a:p>
        </p:txBody>
      </p:sp>
      <p:sp>
        <p:nvSpPr>
          <p:cNvPr id="15" name="Text 13"/>
          <p:cNvSpPr/>
          <p:nvPr/>
        </p:nvSpPr>
        <p:spPr>
          <a:xfrm>
            <a:off x="5925312" y="1225296"/>
            <a:ext cx="3017520" cy="347472"/>
          </a:xfrm>
          <a:prstGeom prst="rect">
            <a:avLst/>
          </a:prstGeom>
          <a:noFill/>
          <a:ln/>
        </p:spPr>
        <p:txBody>
          <a:bodyPr wrap="square" lIns="0" tIns="0" rIns="0" bIns="0" rtlCol="0" anchor="ctr"/>
          <a:lstStyle/>
          <a:p>
            <a:pPr marL="0" indent="0">
              <a:buNone/>
            </a:pPr>
            <a:r>
              <a:rPr lang="en-US" sz="2000" b="1" dirty="0">
                <a:solidFill>
                  <a:srgbClr val="172033"/>
                </a:solidFill>
                <a:latin typeface="Noto Sans CJK JP" pitchFamily="34" charset="0"/>
                <a:ea typeface="Noto Sans CJK JP" pitchFamily="34" charset="-122"/>
                <a:cs typeface="Noto Sans CJK JP" pitchFamily="34" charset="-120"/>
              </a:rPr>
              <a:t>差額 37,615円の内訳</a:t>
            </a:r>
            <a:endParaRPr lang="en-US" sz="2000" dirty="0"/>
          </a:p>
        </p:txBody>
      </p:sp>
      <p:pic>
        <p:nvPicPr>
          <p:cNvPr id="1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5312" y="1920240"/>
            <a:ext cx="384048" cy="384048"/>
          </a:xfrm>
          <a:prstGeom prst="rect">
            <a:avLst/>
          </a:prstGeom>
        </p:spPr>
      </p:pic>
      <p:sp>
        <p:nvSpPr>
          <p:cNvPr id="17" name="Text 14"/>
          <p:cNvSpPr/>
          <p:nvPr/>
        </p:nvSpPr>
        <p:spPr>
          <a:xfrm>
            <a:off x="6473952" y="1920240"/>
            <a:ext cx="1170432" cy="310896"/>
          </a:xfrm>
          <a:prstGeom prst="rect">
            <a:avLst/>
          </a:prstGeom>
          <a:noFill/>
          <a:ln/>
        </p:spPr>
        <p:txBody>
          <a:bodyPr wrap="square" lIns="0" tIns="0" rIns="0" bIns="0" rtlCol="0" anchor="ctr"/>
          <a:lstStyle/>
          <a:p>
            <a:pPr marL="0" indent="0">
              <a:buNone/>
            </a:pPr>
            <a:r>
              <a:rPr lang="en-US" sz="1600" b="1" dirty="0">
                <a:solidFill>
                  <a:srgbClr val="172033"/>
                </a:solidFill>
                <a:latin typeface="Noto Sans CJK JP" pitchFamily="34" charset="0"/>
                <a:ea typeface="Noto Sans CJK JP" pitchFamily="34" charset="-122"/>
                <a:cs typeface="Noto Sans CJK JP" pitchFamily="34" charset="-120"/>
              </a:rPr>
              <a:t>燃料費</a:t>
            </a:r>
            <a:endParaRPr lang="en-US" sz="1600" dirty="0"/>
          </a:p>
        </p:txBody>
      </p:sp>
      <p:sp>
        <p:nvSpPr>
          <p:cNvPr id="18" name="Shape 15"/>
          <p:cNvSpPr/>
          <p:nvPr/>
        </p:nvSpPr>
        <p:spPr>
          <a:xfrm>
            <a:off x="7635240" y="1956816"/>
            <a:ext cx="2880360" cy="292608"/>
          </a:xfrm>
          <a:prstGeom prst="roundRect">
            <a:avLst/>
          </a:prstGeom>
          <a:solidFill>
            <a:srgbClr val="E98B3A"/>
          </a:solidFill>
          <a:ln w="12700">
            <a:solidFill>
              <a:srgbClr val="E98B3A"/>
            </a:solidFill>
            <a:prstDash val="solid"/>
          </a:ln>
        </p:spPr>
        <p:txBody>
          <a:bodyPr/>
          <a:lstStyle/>
          <a:p>
            <a:endParaRPr lang="ja-JP" altLang="en-US"/>
          </a:p>
        </p:txBody>
      </p:sp>
      <p:sp>
        <p:nvSpPr>
          <p:cNvPr id="19" name="Text 16"/>
          <p:cNvSpPr/>
          <p:nvPr/>
        </p:nvSpPr>
        <p:spPr>
          <a:xfrm>
            <a:off x="9727418" y="1651391"/>
            <a:ext cx="1143000" cy="320040"/>
          </a:xfrm>
          <a:prstGeom prst="rect">
            <a:avLst/>
          </a:prstGeom>
          <a:noFill/>
          <a:ln/>
        </p:spPr>
        <p:txBody>
          <a:bodyPr wrap="square" lIns="0" tIns="0" rIns="0" bIns="0" rtlCol="0" anchor="ctr"/>
          <a:lstStyle/>
          <a:p>
            <a:pPr marL="0" indent="0" algn="r">
              <a:buNone/>
            </a:pPr>
            <a:r>
              <a:rPr lang="en-US" sz="1400" b="1" dirty="0">
                <a:solidFill>
                  <a:srgbClr val="E98B3A"/>
                </a:solidFill>
                <a:latin typeface="Noto Sans CJK JP" pitchFamily="34" charset="0"/>
                <a:ea typeface="Noto Sans CJK JP" pitchFamily="34" charset="-122"/>
                <a:cs typeface="Noto Sans CJK JP" pitchFamily="34" charset="-120"/>
              </a:rPr>
              <a:t>+33,054円</a:t>
            </a:r>
            <a:endParaRPr lang="en-US" sz="1400" dirty="0"/>
          </a:p>
        </p:txBody>
      </p:sp>
      <p:pic>
        <p:nvPicPr>
          <p:cNvPr id="2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5312" y="2907792"/>
            <a:ext cx="384048" cy="384048"/>
          </a:xfrm>
          <a:prstGeom prst="rect">
            <a:avLst/>
          </a:prstGeom>
        </p:spPr>
      </p:pic>
      <p:sp>
        <p:nvSpPr>
          <p:cNvPr id="21" name="Text 17"/>
          <p:cNvSpPr/>
          <p:nvPr/>
        </p:nvSpPr>
        <p:spPr>
          <a:xfrm>
            <a:off x="6473952" y="2907792"/>
            <a:ext cx="1170432" cy="310896"/>
          </a:xfrm>
          <a:prstGeom prst="rect">
            <a:avLst/>
          </a:prstGeom>
          <a:noFill/>
          <a:ln/>
        </p:spPr>
        <p:txBody>
          <a:bodyPr wrap="square" lIns="0" tIns="0" rIns="0" bIns="0" rtlCol="0" anchor="ctr"/>
          <a:lstStyle/>
          <a:p>
            <a:pPr marL="0" indent="0">
              <a:buNone/>
            </a:pPr>
            <a:r>
              <a:rPr lang="en-US" sz="1600" b="1" dirty="0">
                <a:solidFill>
                  <a:srgbClr val="172033"/>
                </a:solidFill>
                <a:latin typeface="Noto Sans CJK JP" pitchFamily="34" charset="0"/>
                <a:ea typeface="Noto Sans CJK JP" pitchFamily="34" charset="-122"/>
                <a:cs typeface="Noto Sans CJK JP" pitchFamily="34" charset="-120"/>
              </a:rPr>
              <a:t>系統電力費</a:t>
            </a:r>
            <a:endParaRPr lang="en-US" sz="1600" dirty="0"/>
          </a:p>
        </p:txBody>
      </p:sp>
      <p:sp>
        <p:nvSpPr>
          <p:cNvPr id="22" name="Shape 18"/>
          <p:cNvSpPr/>
          <p:nvPr/>
        </p:nvSpPr>
        <p:spPr>
          <a:xfrm>
            <a:off x="7635240" y="2944368"/>
            <a:ext cx="342116" cy="292608"/>
          </a:xfrm>
          <a:prstGeom prst="roundRect">
            <a:avLst/>
          </a:prstGeom>
          <a:solidFill>
            <a:srgbClr val="356BB3"/>
          </a:solidFill>
          <a:ln w="12700">
            <a:solidFill>
              <a:srgbClr val="356BB3"/>
            </a:solidFill>
            <a:prstDash val="solid"/>
          </a:ln>
        </p:spPr>
        <p:txBody>
          <a:bodyPr/>
          <a:lstStyle/>
          <a:p>
            <a:endParaRPr lang="ja-JP" altLang="en-US"/>
          </a:p>
        </p:txBody>
      </p:sp>
      <p:sp>
        <p:nvSpPr>
          <p:cNvPr id="23" name="Text 19"/>
          <p:cNvSpPr/>
          <p:nvPr/>
        </p:nvSpPr>
        <p:spPr>
          <a:xfrm>
            <a:off x="9738360" y="2889504"/>
            <a:ext cx="1143000" cy="320040"/>
          </a:xfrm>
          <a:prstGeom prst="rect">
            <a:avLst/>
          </a:prstGeom>
          <a:noFill/>
          <a:ln/>
        </p:spPr>
        <p:txBody>
          <a:bodyPr wrap="square" lIns="0" tIns="0" rIns="0" bIns="0" rtlCol="0" anchor="ctr"/>
          <a:lstStyle/>
          <a:p>
            <a:pPr marL="0" indent="0" algn="r">
              <a:buNone/>
            </a:pPr>
            <a:r>
              <a:rPr lang="en-US" sz="1400" b="1" dirty="0">
                <a:solidFill>
                  <a:srgbClr val="356BB3"/>
                </a:solidFill>
                <a:latin typeface="Noto Sans CJK JP" pitchFamily="34" charset="0"/>
                <a:ea typeface="Noto Sans CJK JP" pitchFamily="34" charset="-122"/>
                <a:cs typeface="Noto Sans CJK JP" pitchFamily="34" charset="-120"/>
              </a:rPr>
              <a:t>+3,926円</a:t>
            </a:r>
            <a:endParaRPr lang="en-US" sz="1400"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25312" y="3895344"/>
            <a:ext cx="384048" cy="384048"/>
          </a:xfrm>
          <a:prstGeom prst="rect">
            <a:avLst/>
          </a:prstGeom>
        </p:spPr>
      </p:pic>
      <p:sp>
        <p:nvSpPr>
          <p:cNvPr id="25" name="Text 20"/>
          <p:cNvSpPr/>
          <p:nvPr/>
        </p:nvSpPr>
        <p:spPr>
          <a:xfrm>
            <a:off x="6473952" y="3895344"/>
            <a:ext cx="1170432" cy="310896"/>
          </a:xfrm>
          <a:prstGeom prst="rect">
            <a:avLst/>
          </a:prstGeom>
          <a:noFill/>
          <a:ln/>
        </p:spPr>
        <p:txBody>
          <a:bodyPr wrap="square" lIns="0" tIns="0" rIns="0" bIns="0" rtlCol="0" anchor="ctr"/>
          <a:lstStyle/>
          <a:p>
            <a:pPr marL="0" indent="0">
              <a:buNone/>
            </a:pPr>
            <a:r>
              <a:rPr lang="en-US" sz="1600" b="1" dirty="0">
                <a:solidFill>
                  <a:srgbClr val="172033"/>
                </a:solidFill>
                <a:latin typeface="Noto Sans CJK JP" pitchFamily="34" charset="0"/>
                <a:ea typeface="Noto Sans CJK JP" pitchFamily="34" charset="-122"/>
                <a:cs typeface="Noto Sans CJK JP" pitchFamily="34" charset="-120"/>
              </a:rPr>
              <a:t>CO₂費用</a:t>
            </a:r>
            <a:endParaRPr lang="en-US" sz="1600" dirty="0"/>
          </a:p>
        </p:txBody>
      </p:sp>
      <p:sp>
        <p:nvSpPr>
          <p:cNvPr id="26" name="Shape 21"/>
          <p:cNvSpPr/>
          <p:nvPr/>
        </p:nvSpPr>
        <p:spPr>
          <a:xfrm>
            <a:off x="7635240" y="3931920"/>
            <a:ext cx="55335" cy="292608"/>
          </a:xfrm>
          <a:prstGeom prst="roundRect">
            <a:avLst/>
          </a:prstGeom>
          <a:solidFill>
            <a:srgbClr val="3B8D5A"/>
          </a:solidFill>
          <a:ln w="12700">
            <a:solidFill>
              <a:srgbClr val="3B8D5A"/>
            </a:solidFill>
            <a:prstDash val="solid"/>
          </a:ln>
        </p:spPr>
        <p:txBody>
          <a:bodyPr/>
          <a:lstStyle/>
          <a:p>
            <a:endParaRPr lang="ja-JP" altLang="en-US"/>
          </a:p>
        </p:txBody>
      </p:sp>
      <p:sp>
        <p:nvSpPr>
          <p:cNvPr id="27" name="Text 22"/>
          <p:cNvSpPr/>
          <p:nvPr/>
        </p:nvSpPr>
        <p:spPr>
          <a:xfrm>
            <a:off x="9738360" y="3877056"/>
            <a:ext cx="1143000" cy="320040"/>
          </a:xfrm>
          <a:prstGeom prst="rect">
            <a:avLst/>
          </a:prstGeom>
          <a:noFill/>
          <a:ln/>
        </p:spPr>
        <p:txBody>
          <a:bodyPr wrap="square" lIns="0" tIns="0" rIns="0" bIns="0" rtlCol="0" anchor="ctr"/>
          <a:lstStyle/>
          <a:p>
            <a:pPr marL="0" indent="0" algn="r">
              <a:buNone/>
            </a:pPr>
            <a:r>
              <a:rPr lang="en-US" sz="1400" b="1" dirty="0">
                <a:solidFill>
                  <a:srgbClr val="3B8D5A"/>
                </a:solidFill>
                <a:latin typeface="Noto Sans CJK JP" pitchFamily="34" charset="0"/>
                <a:ea typeface="Noto Sans CJK JP" pitchFamily="34" charset="-122"/>
                <a:cs typeface="Noto Sans CJK JP" pitchFamily="34" charset="-120"/>
              </a:rPr>
              <a:t>+635円</a:t>
            </a:r>
            <a:endParaRPr lang="en-US" sz="1400" dirty="0"/>
          </a:p>
        </p:txBody>
      </p:sp>
      <p:sp>
        <p:nvSpPr>
          <p:cNvPr id="28" name="Text 23"/>
          <p:cNvSpPr/>
          <p:nvPr/>
        </p:nvSpPr>
        <p:spPr>
          <a:xfrm>
            <a:off x="6400800" y="4983480"/>
            <a:ext cx="3931920" cy="347472"/>
          </a:xfrm>
          <a:prstGeom prst="rect">
            <a:avLst/>
          </a:prstGeom>
          <a:noFill/>
          <a:ln/>
        </p:spPr>
        <p:txBody>
          <a:bodyPr wrap="square" lIns="0" tIns="0" rIns="0" bIns="0" rtlCol="0" anchor="ctr"/>
          <a:lstStyle/>
          <a:p>
            <a:pPr marL="0" indent="0" algn="ctr">
              <a:buNone/>
            </a:pPr>
            <a:r>
              <a:rPr lang="en-US" sz="1900" b="1" dirty="0">
                <a:solidFill>
                  <a:srgbClr val="E98B3A"/>
                </a:solidFill>
                <a:latin typeface="Noto Sans CJK JP" pitchFamily="34" charset="0"/>
                <a:ea typeface="Noto Sans CJK JP" pitchFamily="34" charset="-122"/>
                <a:cs typeface="Noto Sans CJK JP" pitchFamily="34" charset="-120"/>
              </a:rPr>
              <a:t>差額の約88%が燃料費</a:t>
            </a:r>
            <a:endParaRPr lang="en-US" sz="1900" dirty="0"/>
          </a:p>
        </p:txBody>
      </p:sp>
      <p:sp>
        <p:nvSpPr>
          <p:cNvPr id="29" name="Text 24"/>
          <p:cNvSpPr/>
          <p:nvPr/>
        </p:nvSpPr>
        <p:spPr>
          <a:xfrm>
            <a:off x="5989320" y="5440680"/>
            <a:ext cx="4800600" cy="256032"/>
          </a:xfrm>
          <a:prstGeom prst="rect">
            <a:avLst/>
          </a:prstGeom>
          <a:noFill/>
          <a:ln/>
        </p:spPr>
        <p:txBody>
          <a:bodyPr wrap="square" lIns="0" tIns="0" rIns="0" bIns="0" rtlCol="0" anchor="ctr"/>
          <a:lstStyle/>
          <a:p>
            <a:pPr marL="0" indent="0" algn="ctr">
              <a:buNone/>
            </a:pPr>
            <a:r>
              <a:rPr lang="en-US" sz="1050" dirty="0">
                <a:solidFill>
                  <a:srgbClr val="C94C4C"/>
                </a:solidFill>
                <a:latin typeface="Noto Sans CJK JP" pitchFamily="34" charset="0"/>
                <a:ea typeface="Noto Sans CJK JP" pitchFamily="34" charset="-122"/>
                <a:cs typeface="Noto Sans CJK JP" pitchFamily="34" charset="-120"/>
              </a:rPr>
              <a:t>※ 設備投資・電池劣化・運転士費などは含まれていない</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先行研究の電力フロー図にならい、PV・BESS・系統の流れを日合計で整理</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13/18</a:t>
            </a:r>
            <a:endParaRPr lang="en-US" sz="850" dirty="0"/>
          </a:p>
        </p:txBody>
      </p:sp>
      <p:sp>
        <p:nvSpPr>
          <p:cNvPr id="6" name="Shape 4"/>
          <p:cNvSpPr/>
          <p:nvPr/>
        </p:nvSpPr>
        <p:spPr>
          <a:xfrm>
            <a:off x="566928" y="1051560"/>
            <a:ext cx="5394960" cy="5166360"/>
          </a:xfrm>
          <a:prstGeom prst="roundRect">
            <a:avLst>
              <a:gd name="adj" fmla="val 1416"/>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7" name="Shape 5"/>
          <p:cNvSpPr/>
          <p:nvPr/>
        </p:nvSpPr>
        <p:spPr>
          <a:xfrm>
            <a:off x="886968" y="1298448"/>
            <a:ext cx="1417320" cy="310896"/>
          </a:xfrm>
          <a:prstGeom prst="roundRect">
            <a:avLst/>
          </a:prstGeom>
          <a:solidFill>
            <a:srgbClr val="E7B34B"/>
          </a:solidFill>
          <a:ln w="12700">
            <a:solidFill>
              <a:srgbClr val="E7B34B"/>
            </a:solidFill>
            <a:prstDash val="solid"/>
          </a:ln>
        </p:spPr>
        <p:txBody>
          <a:bodyPr/>
          <a:lstStyle/>
          <a:p>
            <a:endParaRPr lang="ja-JP" altLang="en-US"/>
          </a:p>
        </p:txBody>
      </p:sp>
      <p:sp>
        <p:nvSpPr>
          <p:cNvPr id="8" name="Text 6"/>
          <p:cNvSpPr/>
          <p:nvPr/>
        </p:nvSpPr>
        <p:spPr>
          <a:xfrm>
            <a:off x="932688" y="1316736"/>
            <a:ext cx="1325880" cy="256032"/>
          </a:xfrm>
          <a:prstGeom prst="rect">
            <a:avLst/>
          </a:prstGeom>
          <a:noFill/>
          <a:ln/>
        </p:spPr>
        <p:txBody>
          <a:bodyPr wrap="square" lIns="0" tIns="0" rIns="0" bIns="0" rtlCol="0" anchor="ctr"/>
          <a:lstStyle/>
          <a:p>
            <a:pPr marL="0" indent="0" algn="ctr">
              <a:buNone/>
            </a:pPr>
            <a:r>
              <a:rPr lang="en-US" sz="1050" b="1" dirty="0">
                <a:solidFill>
                  <a:srgbClr val="172033"/>
                </a:solidFill>
                <a:latin typeface="Noto Sans CJK JP" pitchFamily="34" charset="0"/>
                <a:ea typeface="Noto Sans CJK JP" pitchFamily="34" charset="-122"/>
                <a:cs typeface="Noto Sans CJK JP" pitchFamily="34" charset="-120"/>
              </a:rPr>
              <a:t>高PV条件</a:t>
            </a:r>
            <a:endParaRPr lang="en-US" sz="1050" dirty="0"/>
          </a:p>
        </p:txBody>
      </p:sp>
      <p:sp>
        <p:nvSpPr>
          <p:cNvPr id="9" name="Text 7"/>
          <p:cNvSpPr/>
          <p:nvPr/>
        </p:nvSpPr>
        <p:spPr>
          <a:xfrm>
            <a:off x="914400" y="1901952"/>
            <a:ext cx="1234440" cy="713232"/>
          </a:xfrm>
          <a:prstGeom prst="rect">
            <a:avLst/>
          </a:prstGeom>
          <a:noFill/>
          <a:ln/>
        </p:spPr>
        <p:txBody>
          <a:bodyPr wrap="square" lIns="0" tIns="0" rIns="0" bIns="0" rtlCol="0" anchor="ctr"/>
          <a:lstStyle/>
          <a:p>
            <a:pPr marL="0" indent="0" algn="ctr">
              <a:buNone/>
            </a:pPr>
            <a:r>
              <a:rPr lang="en-US" sz="1700" b="1" dirty="0">
                <a:solidFill>
                  <a:srgbClr val="E7B34B"/>
                </a:solidFill>
                <a:latin typeface="Noto Sans CJK JP" pitchFamily="34" charset="0"/>
                <a:ea typeface="Noto Sans CJK JP" pitchFamily="34" charset="-122"/>
                <a:cs typeface="Noto Sans CJK JP" pitchFamily="34" charset="-120"/>
              </a:rPr>
              <a:t>PV発電</a:t>
            </a:r>
            <a:endParaRPr lang="en-US" sz="1700" dirty="0"/>
          </a:p>
          <a:p>
            <a:pPr marL="0" indent="0" algn="ctr">
              <a:buNone/>
            </a:pPr>
            <a:r>
              <a:rPr lang="en-US" sz="1700" b="1" dirty="0">
                <a:solidFill>
                  <a:srgbClr val="E7B34B"/>
                </a:solidFill>
                <a:latin typeface="Noto Sans CJK JP" pitchFamily="34" charset="0"/>
                <a:ea typeface="Noto Sans CJK JP" pitchFamily="34" charset="-122"/>
                <a:cs typeface="Noto Sans CJK JP" pitchFamily="34" charset="-120"/>
              </a:rPr>
              <a:t>6,056 kWh</a:t>
            </a:r>
            <a:endParaRPr lang="en-US" sz="1700" dirty="0"/>
          </a:p>
        </p:txBody>
      </p:sp>
      <p:sp>
        <p:nvSpPr>
          <p:cNvPr id="10" name="Shape 8"/>
          <p:cNvSpPr/>
          <p:nvPr/>
        </p:nvSpPr>
        <p:spPr>
          <a:xfrm>
            <a:off x="2139696" y="2075688"/>
            <a:ext cx="438912" cy="347472"/>
          </a:xfrm>
          <a:prstGeom prst="chevron">
            <a:avLst/>
          </a:prstGeom>
          <a:solidFill>
            <a:srgbClr val="A5AFBD"/>
          </a:solidFill>
          <a:ln w="12700">
            <a:solidFill>
              <a:srgbClr val="A5AFBD"/>
            </a:solidFill>
            <a:prstDash val="solid"/>
          </a:ln>
        </p:spPr>
        <p:txBody>
          <a:bodyPr/>
          <a:lstStyle/>
          <a:p>
            <a:endParaRPr lang="ja-JP" altLang="en-US"/>
          </a:p>
        </p:txBody>
      </p:sp>
      <p:sp>
        <p:nvSpPr>
          <p:cNvPr id="11" name="Shape 9"/>
          <p:cNvSpPr/>
          <p:nvPr/>
        </p:nvSpPr>
        <p:spPr>
          <a:xfrm>
            <a:off x="2624328" y="1783080"/>
            <a:ext cx="1325880" cy="960120"/>
          </a:xfrm>
          <a:prstGeom prst="roundRect">
            <a:avLst>
              <a:gd name="adj" fmla="val 7619"/>
            </a:avLst>
          </a:prstGeom>
          <a:solidFill>
            <a:srgbClr val="FFFFFF"/>
          </a:solidFill>
          <a:ln w="12700">
            <a:solidFill>
              <a:srgbClr val="1F9D8A"/>
            </a:solidFill>
            <a:prstDash val="solid"/>
          </a:ln>
        </p:spPr>
        <p:txBody>
          <a:bodyPr/>
          <a:lstStyle/>
          <a:p>
            <a:endParaRPr lang="ja-JP" altLang="en-US"/>
          </a:p>
        </p:txBody>
      </p:sp>
      <p:sp>
        <p:nvSpPr>
          <p:cNvPr id="12" name="Text 10"/>
          <p:cNvSpPr/>
          <p:nvPr/>
        </p:nvSpPr>
        <p:spPr>
          <a:xfrm>
            <a:off x="2743200" y="1975104"/>
            <a:ext cx="1078992" cy="548640"/>
          </a:xfrm>
          <a:prstGeom prst="rect">
            <a:avLst/>
          </a:prstGeom>
          <a:noFill/>
          <a:ln/>
        </p:spPr>
        <p:txBody>
          <a:bodyPr wrap="square" lIns="0" tIns="0" rIns="0" bIns="0" rtlCol="0" anchor="ctr"/>
          <a:lstStyle/>
          <a:p>
            <a:pPr marL="0" indent="0" algn="ctr">
              <a:buNone/>
            </a:pPr>
            <a:r>
              <a:rPr lang="en-US" sz="1350" b="1" dirty="0">
                <a:solidFill>
                  <a:srgbClr val="1F9D8A"/>
                </a:solidFill>
                <a:latin typeface="Noto Sans CJK JP" pitchFamily="34" charset="0"/>
                <a:ea typeface="Noto Sans CJK JP" pitchFamily="34" charset="-122"/>
                <a:cs typeface="Noto Sans CJK JP" pitchFamily="34" charset="-120"/>
              </a:rPr>
              <a:t>直接充電</a:t>
            </a:r>
            <a:endParaRPr lang="en-US" sz="1350" dirty="0"/>
          </a:p>
          <a:p>
            <a:pPr marL="0" indent="0" algn="ctr">
              <a:buNone/>
            </a:pPr>
            <a:r>
              <a:rPr lang="en-US" sz="1350" b="1" dirty="0">
                <a:solidFill>
                  <a:srgbClr val="1F9D8A"/>
                </a:solidFill>
                <a:latin typeface="Noto Sans CJK JP" pitchFamily="34" charset="0"/>
                <a:ea typeface="Noto Sans CJK JP" pitchFamily="34" charset="-122"/>
                <a:cs typeface="Noto Sans CJK JP" pitchFamily="34" charset="-120"/>
              </a:rPr>
              <a:t>110 kWh</a:t>
            </a:r>
            <a:endParaRPr lang="en-US" sz="1350" dirty="0"/>
          </a:p>
        </p:txBody>
      </p:sp>
      <p:sp>
        <p:nvSpPr>
          <p:cNvPr id="13" name="Shape 11"/>
          <p:cNvSpPr/>
          <p:nvPr/>
        </p:nvSpPr>
        <p:spPr>
          <a:xfrm>
            <a:off x="2624328" y="2926080"/>
            <a:ext cx="1325880" cy="960120"/>
          </a:xfrm>
          <a:prstGeom prst="roundRect">
            <a:avLst>
              <a:gd name="adj" fmla="val 7619"/>
            </a:avLst>
          </a:prstGeom>
          <a:solidFill>
            <a:srgbClr val="FFFFFF"/>
          </a:solidFill>
          <a:ln w="12700">
            <a:solidFill>
              <a:srgbClr val="356BB3"/>
            </a:solidFill>
            <a:prstDash val="solid"/>
          </a:ln>
        </p:spPr>
        <p:txBody>
          <a:bodyPr/>
          <a:lstStyle/>
          <a:p>
            <a:endParaRPr lang="ja-JP" altLang="en-US"/>
          </a:p>
        </p:txBody>
      </p:sp>
      <p:sp>
        <p:nvSpPr>
          <p:cNvPr id="14" name="Text 12"/>
          <p:cNvSpPr/>
          <p:nvPr/>
        </p:nvSpPr>
        <p:spPr>
          <a:xfrm>
            <a:off x="2743200" y="3118104"/>
            <a:ext cx="1078992" cy="548640"/>
          </a:xfrm>
          <a:prstGeom prst="rect">
            <a:avLst/>
          </a:prstGeom>
          <a:noFill/>
          <a:ln/>
        </p:spPr>
        <p:txBody>
          <a:bodyPr wrap="square" lIns="0" tIns="0" rIns="0" bIns="0" rtlCol="0" anchor="ctr"/>
          <a:lstStyle/>
          <a:p>
            <a:pPr marL="0" indent="0" algn="ctr">
              <a:buNone/>
            </a:pPr>
            <a:r>
              <a:rPr lang="en-US" sz="1350" b="1" dirty="0">
                <a:solidFill>
                  <a:srgbClr val="356BB3"/>
                </a:solidFill>
                <a:latin typeface="Noto Sans CJK JP" pitchFamily="34" charset="0"/>
                <a:ea typeface="Noto Sans CJK JP" pitchFamily="34" charset="-122"/>
                <a:cs typeface="Noto Sans CJK JP" pitchFamily="34" charset="-120"/>
              </a:rPr>
              <a:t>BESSへ</a:t>
            </a:r>
            <a:endParaRPr lang="en-US" sz="1350" dirty="0"/>
          </a:p>
          <a:p>
            <a:pPr marL="0" indent="0" algn="ctr">
              <a:buNone/>
            </a:pPr>
            <a:r>
              <a:rPr lang="en-US" sz="1350" b="1" dirty="0">
                <a:solidFill>
                  <a:srgbClr val="356BB3"/>
                </a:solidFill>
                <a:latin typeface="Noto Sans CJK JP" pitchFamily="34" charset="0"/>
                <a:ea typeface="Noto Sans CJK JP" pitchFamily="34" charset="-122"/>
                <a:cs typeface="Noto Sans CJK JP" pitchFamily="34" charset="-120"/>
              </a:rPr>
              <a:t>2,573 kWh</a:t>
            </a:r>
            <a:endParaRPr lang="en-US" sz="1350" dirty="0"/>
          </a:p>
        </p:txBody>
      </p:sp>
      <p:sp>
        <p:nvSpPr>
          <p:cNvPr id="15" name="Shape 13"/>
          <p:cNvSpPr/>
          <p:nvPr/>
        </p:nvSpPr>
        <p:spPr>
          <a:xfrm>
            <a:off x="4361688" y="2926080"/>
            <a:ext cx="1188720" cy="960120"/>
          </a:xfrm>
          <a:prstGeom prst="roundRect">
            <a:avLst>
              <a:gd name="adj" fmla="val 7619"/>
            </a:avLst>
          </a:prstGeom>
          <a:solidFill>
            <a:srgbClr val="FFFFFF"/>
          </a:solidFill>
          <a:ln w="12700">
            <a:solidFill>
              <a:srgbClr val="1F2A5A"/>
            </a:solidFill>
            <a:prstDash val="solid"/>
          </a:ln>
        </p:spPr>
        <p:txBody>
          <a:bodyPr/>
          <a:lstStyle/>
          <a:p>
            <a:endParaRPr lang="ja-JP" altLang="en-US"/>
          </a:p>
        </p:txBody>
      </p:sp>
      <p:sp>
        <p:nvSpPr>
          <p:cNvPr id="16" name="Text 14"/>
          <p:cNvSpPr/>
          <p:nvPr/>
        </p:nvSpPr>
        <p:spPr>
          <a:xfrm>
            <a:off x="4471416" y="3118104"/>
            <a:ext cx="960120" cy="548640"/>
          </a:xfrm>
          <a:prstGeom prst="rect">
            <a:avLst/>
          </a:prstGeom>
          <a:noFill/>
          <a:ln/>
        </p:spPr>
        <p:txBody>
          <a:bodyPr wrap="square" lIns="0" tIns="0" rIns="0" bIns="0" rtlCol="0" anchor="ctr"/>
          <a:lstStyle/>
          <a:p>
            <a:pPr marL="0" indent="0" algn="ctr">
              <a:buNone/>
            </a:pPr>
            <a:r>
              <a:rPr lang="en-US" sz="1320" b="1" dirty="0">
                <a:solidFill>
                  <a:srgbClr val="1F2A5A"/>
                </a:solidFill>
                <a:latin typeface="Noto Sans CJK JP" pitchFamily="34" charset="0"/>
                <a:ea typeface="Noto Sans CJK JP" pitchFamily="34" charset="-122"/>
                <a:cs typeface="Noto Sans CJK JP" pitchFamily="34" charset="-120"/>
              </a:rPr>
              <a:t>BESSから</a:t>
            </a:r>
            <a:endParaRPr lang="en-US" sz="1320" dirty="0"/>
          </a:p>
          <a:p>
            <a:pPr marL="0" indent="0" algn="ctr">
              <a:buNone/>
            </a:pPr>
            <a:r>
              <a:rPr lang="en-US" sz="1320" b="1" dirty="0">
                <a:solidFill>
                  <a:srgbClr val="1F2A5A"/>
                </a:solidFill>
                <a:latin typeface="Noto Sans CJK JP" pitchFamily="34" charset="0"/>
                <a:ea typeface="Noto Sans CJK JP" pitchFamily="34" charset="-122"/>
                <a:cs typeface="Noto Sans CJK JP" pitchFamily="34" charset="-120"/>
              </a:rPr>
              <a:t>2,322 kWh</a:t>
            </a:r>
            <a:endParaRPr lang="en-US" sz="1320" dirty="0"/>
          </a:p>
        </p:txBody>
      </p:sp>
      <p:sp>
        <p:nvSpPr>
          <p:cNvPr id="17" name="Shape 15"/>
          <p:cNvSpPr/>
          <p:nvPr/>
        </p:nvSpPr>
        <p:spPr>
          <a:xfrm>
            <a:off x="3977640" y="3227832"/>
            <a:ext cx="310896" cy="310896"/>
          </a:xfrm>
          <a:prstGeom prst="chevron">
            <a:avLst/>
          </a:prstGeom>
          <a:solidFill>
            <a:srgbClr val="356BB3"/>
          </a:solidFill>
          <a:ln w="12700">
            <a:solidFill>
              <a:srgbClr val="356BB3"/>
            </a:solidFill>
            <a:prstDash val="solid"/>
          </a:ln>
        </p:spPr>
        <p:txBody>
          <a:bodyPr/>
          <a:lstStyle/>
          <a:p>
            <a:endParaRPr lang="ja-JP" altLang="en-US"/>
          </a:p>
        </p:txBody>
      </p:sp>
      <p:sp>
        <p:nvSpPr>
          <p:cNvPr id="18" name="Shape 16"/>
          <p:cNvSpPr/>
          <p:nvPr/>
        </p:nvSpPr>
        <p:spPr>
          <a:xfrm>
            <a:off x="2624328" y="4096512"/>
            <a:ext cx="1325880" cy="786384"/>
          </a:xfrm>
          <a:prstGeom prst="roundRect">
            <a:avLst>
              <a:gd name="adj" fmla="val 9302"/>
            </a:avLst>
          </a:prstGeom>
          <a:solidFill>
            <a:srgbClr val="FFFFFF"/>
          </a:solidFill>
          <a:ln w="12700">
            <a:solidFill>
              <a:srgbClr val="A5AFBD"/>
            </a:solidFill>
            <a:prstDash val="solid"/>
          </a:ln>
        </p:spPr>
        <p:txBody>
          <a:bodyPr/>
          <a:lstStyle/>
          <a:p>
            <a:endParaRPr lang="ja-JP" altLang="en-US"/>
          </a:p>
        </p:txBody>
      </p:sp>
      <p:sp>
        <p:nvSpPr>
          <p:cNvPr id="19" name="Text 17"/>
          <p:cNvSpPr/>
          <p:nvPr/>
        </p:nvSpPr>
        <p:spPr>
          <a:xfrm>
            <a:off x="2743200" y="4224528"/>
            <a:ext cx="1078992" cy="438912"/>
          </a:xfrm>
          <a:prstGeom prst="rect">
            <a:avLst/>
          </a:prstGeom>
          <a:noFill/>
          <a:ln/>
        </p:spPr>
        <p:txBody>
          <a:bodyPr wrap="square" lIns="0" tIns="0" rIns="0" bIns="0" rtlCol="0" anchor="ctr"/>
          <a:lstStyle/>
          <a:p>
            <a:pPr marL="0" indent="0" algn="ctr">
              <a:buNone/>
            </a:pPr>
            <a:r>
              <a:rPr lang="en-US" sz="1320" b="1" dirty="0">
                <a:solidFill>
                  <a:srgbClr val="687386"/>
                </a:solidFill>
                <a:latin typeface="Noto Sans CJK JP" pitchFamily="34" charset="0"/>
                <a:ea typeface="Noto Sans CJK JP" pitchFamily="34" charset="-122"/>
                <a:cs typeface="Noto Sans CJK JP" pitchFamily="34" charset="-120"/>
              </a:rPr>
              <a:t>抑制</a:t>
            </a:r>
            <a:endParaRPr lang="en-US" sz="1320" dirty="0"/>
          </a:p>
          <a:p>
            <a:pPr marL="0" indent="0" algn="ctr">
              <a:buNone/>
            </a:pPr>
            <a:r>
              <a:rPr lang="en-US" sz="1320" b="1" dirty="0">
                <a:solidFill>
                  <a:srgbClr val="687386"/>
                </a:solidFill>
                <a:latin typeface="Noto Sans CJK JP" pitchFamily="34" charset="0"/>
                <a:ea typeface="Noto Sans CJK JP" pitchFamily="34" charset="-122"/>
                <a:cs typeface="Noto Sans CJK JP" pitchFamily="34" charset="-120"/>
              </a:rPr>
              <a:t>3,373 kWh</a:t>
            </a:r>
            <a:endParaRPr lang="en-US" sz="1320" dirty="0"/>
          </a:p>
        </p:txBody>
      </p:sp>
      <p:sp>
        <p:nvSpPr>
          <p:cNvPr id="20" name="Shape 18"/>
          <p:cNvSpPr/>
          <p:nvPr/>
        </p:nvSpPr>
        <p:spPr>
          <a:xfrm>
            <a:off x="4361688" y="4096512"/>
            <a:ext cx="1188720" cy="786384"/>
          </a:xfrm>
          <a:prstGeom prst="roundRect">
            <a:avLst>
              <a:gd name="adj" fmla="val 9302"/>
            </a:avLst>
          </a:prstGeom>
          <a:solidFill>
            <a:srgbClr val="FFFFFF"/>
          </a:solidFill>
          <a:ln w="12700">
            <a:solidFill>
              <a:srgbClr val="E98B3A"/>
            </a:solidFill>
            <a:prstDash val="solid"/>
          </a:ln>
        </p:spPr>
        <p:txBody>
          <a:bodyPr/>
          <a:lstStyle/>
          <a:p>
            <a:endParaRPr lang="ja-JP" altLang="en-US"/>
          </a:p>
        </p:txBody>
      </p:sp>
      <p:sp>
        <p:nvSpPr>
          <p:cNvPr id="21" name="Text 19"/>
          <p:cNvSpPr/>
          <p:nvPr/>
        </p:nvSpPr>
        <p:spPr>
          <a:xfrm>
            <a:off x="4462272" y="4224528"/>
            <a:ext cx="987552" cy="438912"/>
          </a:xfrm>
          <a:prstGeom prst="rect">
            <a:avLst/>
          </a:prstGeom>
          <a:noFill/>
          <a:ln/>
        </p:spPr>
        <p:txBody>
          <a:bodyPr wrap="square" lIns="0" tIns="0" rIns="0" bIns="0" rtlCol="0" anchor="ctr"/>
          <a:lstStyle/>
          <a:p>
            <a:pPr marL="0" indent="0" algn="ctr">
              <a:buNone/>
            </a:pPr>
            <a:r>
              <a:rPr lang="en-US" sz="1320" b="1" dirty="0">
                <a:solidFill>
                  <a:srgbClr val="E98B3A"/>
                </a:solidFill>
                <a:latin typeface="Noto Sans CJK JP" pitchFamily="34" charset="0"/>
                <a:ea typeface="Noto Sans CJK JP" pitchFamily="34" charset="-122"/>
                <a:cs typeface="Noto Sans CJK JP" pitchFamily="34" charset="-120"/>
              </a:rPr>
              <a:t>系統から</a:t>
            </a:r>
            <a:endParaRPr lang="en-US" sz="1320" dirty="0"/>
          </a:p>
          <a:p>
            <a:pPr marL="0" indent="0" algn="ctr">
              <a:buNone/>
            </a:pPr>
            <a:r>
              <a:rPr lang="en-US" sz="1320" b="1" dirty="0">
                <a:solidFill>
                  <a:srgbClr val="E98B3A"/>
                </a:solidFill>
                <a:latin typeface="Noto Sans CJK JP" pitchFamily="34" charset="0"/>
                <a:ea typeface="Noto Sans CJK JP" pitchFamily="34" charset="-122"/>
                <a:cs typeface="Noto Sans CJK JP" pitchFamily="34" charset="-120"/>
              </a:rPr>
              <a:t>0 kWh</a:t>
            </a:r>
            <a:endParaRPr lang="en-US" sz="1320" dirty="0"/>
          </a:p>
        </p:txBody>
      </p:sp>
      <p:sp>
        <p:nvSpPr>
          <p:cNvPr id="22" name="Text 20"/>
          <p:cNvSpPr/>
          <p:nvPr/>
        </p:nvSpPr>
        <p:spPr>
          <a:xfrm>
            <a:off x="4087368" y="2148840"/>
            <a:ext cx="155448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BEV充電へ</a:t>
            </a:r>
            <a:endParaRPr lang="en-US" sz="1400" dirty="0"/>
          </a:p>
        </p:txBody>
      </p:sp>
      <p:sp>
        <p:nvSpPr>
          <p:cNvPr id="23" name="Text 21"/>
          <p:cNvSpPr/>
          <p:nvPr/>
        </p:nvSpPr>
        <p:spPr>
          <a:xfrm>
            <a:off x="4178808" y="5074920"/>
            <a:ext cx="1572768" cy="274320"/>
          </a:xfrm>
          <a:prstGeom prst="rect">
            <a:avLst/>
          </a:prstGeom>
          <a:noFill/>
          <a:ln/>
        </p:spPr>
        <p:txBody>
          <a:bodyPr wrap="square" lIns="0" tIns="0" rIns="0" bIns="0" rtlCol="0" anchor="ctr"/>
          <a:lstStyle/>
          <a:p>
            <a:pPr marL="0" indent="0" algn="ctr">
              <a:buNone/>
            </a:pPr>
            <a:r>
              <a:rPr lang="en-US" sz="1150" dirty="0">
                <a:solidFill>
                  <a:srgbClr val="687386"/>
                </a:solidFill>
                <a:latin typeface="Noto Sans CJK JP" pitchFamily="34" charset="0"/>
                <a:ea typeface="Noto Sans CJK JP" pitchFamily="34" charset="-122"/>
                <a:cs typeface="Noto Sans CJK JP" pitchFamily="34" charset="-120"/>
              </a:rPr>
              <a:t>BESS損失 約251 kWh</a:t>
            </a:r>
            <a:endParaRPr lang="en-US" sz="1150" dirty="0"/>
          </a:p>
        </p:txBody>
      </p:sp>
      <p:sp>
        <p:nvSpPr>
          <p:cNvPr id="24" name="Shape 22"/>
          <p:cNvSpPr/>
          <p:nvPr/>
        </p:nvSpPr>
        <p:spPr>
          <a:xfrm>
            <a:off x="6236208" y="1051560"/>
            <a:ext cx="5394960" cy="5166360"/>
          </a:xfrm>
          <a:prstGeom prst="roundRect">
            <a:avLst>
              <a:gd name="adj" fmla="val 1416"/>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5" name="Shape 23"/>
          <p:cNvSpPr/>
          <p:nvPr/>
        </p:nvSpPr>
        <p:spPr>
          <a:xfrm>
            <a:off x="6556248" y="1298448"/>
            <a:ext cx="1417320" cy="310896"/>
          </a:xfrm>
          <a:prstGeom prst="roundRect">
            <a:avLst/>
          </a:prstGeom>
          <a:solidFill>
            <a:srgbClr val="356BB3"/>
          </a:solidFill>
          <a:ln w="12700">
            <a:solidFill>
              <a:srgbClr val="356BB3"/>
            </a:solidFill>
            <a:prstDash val="solid"/>
          </a:ln>
        </p:spPr>
        <p:txBody>
          <a:bodyPr/>
          <a:lstStyle/>
          <a:p>
            <a:endParaRPr lang="ja-JP" altLang="en-US"/>
          </a:p>
        </p:txBody>
      </p:sp>
      <p:sp>
        <p:nvSpPr>
          <p:cNvPr id="26" name="Text 24"/>
          <p:cNvSpPr/>
          <p:nvPr/>
        </p:nvSpPr>
        <p:spPr>
          <a:xfrm>
            <a:off x="6601968" y="1316736"/>
            <a:ext cx="132588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CJK JP" pitchFamily="34" charset="0"/>
                <a:ea typeface="Noto Sans CJK JP" pitchFamily="34" charset="-122"/>
                <a:cs typeface="Noto Sans CJK JP" pitchFamily="34" charset="-120"/>
              </a:rPr>
              <a:t>低PV条件</a:t>
            </a:r>
            <a:endParaRPr lang="en-US" sz="1050" dirty="0"/>
          </a:p>
        </p:txBody>
      </p:sp>
      <p:sp>
        <p:nvSpPr>
          <p:cNvPr id="27" name="Text 25"/>
          <p:cNvSpPr/>
          <p:nvPr/>
        </p:nvSpPr>
        <p:spPr>
          <a:xfrm>
            <a:off x="6583680" y="1901952"/>
            <a:ext cx="1234440" cy="713232"/>
          </a:xfrm>
          <a:prstGeom prst="rect">
            <a:avLst/>
          </a:prstGeom>
          <a:noFill/>
          <a:ln/>
        </p:spPr>
        <p:txBody>
          <a:bodyPr wrap="square" lIns="0" tIns="0" rIns="0" bIns="0" rtlCol="0" anchor="ctr"/>
          <a:lstStyle/>
          <a:p>
            <a:pPr marL="0" indent="0" algn="ctr">
              <a:buNone/>
            </a:pPr>
            <a:r>
              <a:rPr lang="en-US" sz="1700" b="1" dirty="0">
                <a:solidFill>
                  <a:srgbClr val="E7B34B"/>
                </a:solidFill>
                <a:latin typeface="Noto Sans CJK JP" pitchFamily="34" charset="0"/>
                <a:ea typeface="Noto Sans CJK JP" pitchFamily="34" charset="-122"/>
                <a:cs typeface="Noto Sans CJK JP" pitchFamily="34" charset="-120"/>
              </a:rPr>
              <a:t>PV発電</a:t>
            </a:r>
            <a:endParaRPr lang="en-US" sz="1700" dirty="0"/>
          </a:p>
          <a:p>
            <a:pPr marL="0" indent="0" algn="ctr">
              <a:buNone/>
            </a:pPr>
            <a:r>
              <a:rPr lang="en-US" sz="1700" b="1" dirty="0">
                <a:solidFill>
                  <a:srgbClr val="E7B34B"/>
                </a:solidFill>
                <a:latin typeface="Noto Sans CJK JP" pitchFamily="34" charset="0"/>
                <a:ea typeface="Noto Sans CJK JP" pitchFamily="34" charset="-122"/>
                <a:cs typeface="Noto Sans CJK JP" pitchFamily="34" charset="-120"/>
              </a:rPr>
              <a:t>996 kWh</a:t>
            </a:r>
            <a:endParaRPr lang="en-US" sz="1700" dirty="0"/>
          </a:p>
        </p:txBody>
      </p:sp>
      <p:sp>
        <p:nvSpPr>
          <p:cNvPr id="28" name="Shape 26"/>
          <p:cNvSpPr/>
          <p:nvPr/>
        </p:nvSpPr>
        <p:spPr>
          <a:xfrm>
            <a:off x="7808976" y="2075688"/>
            <a:ext cx="438912" cy="347472"/>
          </a:xfrm>
          <a:prstGeom prst="chevron">
            <a:avLst/>
          </a:prstGeom>
          <a:solidFill>
            <a:srgbClr val="A5AFBD"/>
          </a:solidFill>
          <a:ln w="12700">
            <a:solidFill>
              <a:srgbClr val="A5AFBD"/>
            </a:solidFill>
            <a:prstDash val="solid"/>
          </a:ln>
        </p:spPr>
        <p:txBody>
          <a:bodyPr/>
          <a:lstStyle/>
          <a:p>
            <a:endParaRPr lang="ja-JP" altLang="en-US"/>
          </a:p>
        </p:txBody>
      </p:sp>
      <p:sp>
        <p:nvSpPr>
          <p:cNvPr id="29" name="Shape 27"/>
          <p:cNvSpPr/>
          <p:nvPr/>
        </p:nvSpPr>
        <p:spPr>
          <a:xfrm>
            <a:off x="8293608" y="1783080"/>
            <a:ext cx="1325880" cy="960120"/>
          </a:xfrm>
          <a:prstGeom prst="roundRect">
            <a:avLst>
              <a:gd name="adj" fmla="val 7619"/>
            </a:avLst>
          </a:prstGeom>
          <a:solidFill>
            <a:srgbClr val="FFFFFF"/>
          </a:solidFill>
          <a:ln w="12700">
            <a:solidFill>
              <a:srgbClr val="1F9D8A"/>
            </a:solidFill>
            <a:prstDash val="solid"/>
          </a:ln>
        </p:spPr>
        <p:txBody>
          <a:bodyPr/>
          <a:lstStyle/>
          <a:p>
            <a:endParaRPr lang="ja-JP" altLang="en-US"/>
          </a:p>
        </p:txBody>
      </p:sp>
      <p:sp>
        <p:nvSpPr>
          <p:cNvPr id="30" name="Text 28"/>
          <p:cNvSpPr/>
          <p:nvPr/>
        </p:nvSpPr>
        <p:spPr>
          <a:xfrm>
            <a:off x="8412480" y="1975104"/>
            <a:ext cx="1078992" cy="548640"/>
          </a:xfrm>
          <a:prstGeom prst="rect">
            <a:avLst/>
          </a:prstGeom>
          <a:noFill/>
          <a:ln/>
        </p:spPr>
        <p:txBody>
          <a:bodyPr wrap="square" lIns="0" tIns="0" rIns="0" bIns="0" rtlCol="0" anchor="ctr"/>
          <a:lstStyle/>
          <a:p>
            <a:pPr marL="0" indent="0" algn="ctr">
              <a:buNone/>
            </a:pPr>
            <a:r>
              <a:rPr lang="en-US" sz="1350" b="1" dirty="0">
                <a:solidFill>
                  <a:srgbClr val="1F9D8A"/>
                </a:solidFill>
                <a:latin typeface="Noto Sans CJK JP" pitchFamily="34" charset="0"/>
                <a:ea typeface="Noto Sans CJK JP" pitchFamily="34" charset="-122"/>
                <a:cs typeface="Noto Sans CJK JP" pitchFamily="34" charset="-120"/>
              </a:rPr>
              <a:t>直接充電</a:t>
            </a:r>
            <a:endParaRPr lang="en-US" sz="1350" dirty="0"/>
          </a:p>
          <a:p>
            <a:pPr marL="0" indent="0" algn="ctr">
              <a:buNone/>
            </a:pPr>
            <a:r>
              <a:rPr lang="en-US" sz="1350" b="1" dirty="0">
                <a:solidFill>
                  <a:srgbClr val="1F9D8A"/>
                </a:solidFill>
                <a:latin typeface="Noto Sans CJK JP" pitchFamily="34" charset="0"/>
                <a:ea typeface="Noto Sans CJK JP" pitchFamily="34" charset="-122"/>
                <a:cs typeface="Noto Sans CJK JP" pitchFamily="34" charset="-120"/>
              </a:rPr>
              <a:t>231 kWh</a:t>
            </a:r>
            <a:endParaRPr lang="en-US" sz="1350" dirty="0"/>
          </a:p>
        </p:txBody>
      </p:sp>
      <p:sp>
        <p:nvSpPr>
          <p:cNvPr id="31" name="Shape 29"/>
          <p:cNvSpPr/>
          <p:nvPr/>
        </p:nvSpPr>
        <p:spPr>
          <a:xfrm>
            <a:off x="8293608" y="2926080"/>
            <a:ext cx="1325880" cy="960120"/>
          </a:xfrm>
          <a:prstGeom prst="roundRect">
            <a:avLst>
              <a:gd name="adj" fmla="val 7619"/>
            </a:avLst>
          </a:prstGeom>
          <a:solidFill>
            <a:srgbClr val="FFFFFF"/>
          </a:solidFill>
          <a:ln w="12700">
            <a:solidFill>
              <a:srgbClr val="356BB3"/>
            </a:solidFill>
            <a:prstDash val="solid"/>
          </a:ln>
        </p:spPr>
        <p:txBody>
          <a:bodyPr/>
          <a:lstStyle/>
          <a:p>
            <a:endParaRPr lang="ja-JP" altLang="en-US"/>
          </a:p>
        </p:txBody>
      </p:sp>
      <p:sp>
        <p:nvSpPr>
          <p:cNvPr id="32" name="Text 30"/>
          <p:cNvSpPr/>
          <p:nvPr/>
        </p:nvSpPr>
        <p:spPr>
          <a:xfrm>
            <a:off x="8412480" y="3118104"/>
            <a:ext cx="1078992" cy="548640"/>
          </a:xfrm>
          <a:prstGeom prst="rect">
            <a:avLst/>
          </a:prstGeom>
          <a:noFill/>
          <a:ln/>
        </p:spPr>
        <p:txBody>
          <a:bodyPr wrap="square" lIns="0" tIns="0" rIns="0" bIns="0" rtlCol="0" anchor="ctr"/>
          <a:lstStyle/>
          <a:p>
            <a:pPr marL="0" indent="0" algn="ctr">
              <a:buNone/>
            </a:pPr>
            <a:r>
              <a:rPr lang="en-US" sz="1350" b="1" dirty="0">
                <a:solidFill>
                  <a:srgbClr val="356BB3"/>
                </a:solidFill>
                <a:latin typeface="Noto Sans CJK JP" pitchFamily="34" charset="0"/>
                <a:ea typeface="Noto Sans CJK JP" pitchFamily="34" charset="-122"/>
                <a:cs typeface="Noto Sans CJK JP" pitchFamily="34" charset="-120"/>
              </a:rPr>
              <a:t>BESSへ</a:t>
            </a:r>
            <a:endParaRPr lang="en-US" sz="1350" dirty="0"/>
          </a:p>
          <a:p>
            <a:pPr marL="0" indent="0" algn="ctr">
              <a:buNone/>
            </a:pPr>
            <a:r>
              <a:rPr lang="en-US" sz="1350" b="1" dirty="0">
                <a:solidFill>
                  <a:srgbClr val="356BB3"/>
                </a:solidFill>
                <a:latin typeface="Noto Sans CJK JP" pitchFamily="34" charset="0"/>
                <a:ea typeface="Noto Sans CJK JP" pitchFamily="34" charset="-122"/>
                <a:cs typeface="Noto Sans CJK JP" pitchFamily="34" charset="-120"/>
              </a:rPr>
              <a:t>766 kWh</a:t>
            </a:r>
            <a:endParaRPr lang="en-US" sz="1350" dirty="0"/>
          </a:p>
        </p:txBody>
      </p:sp>
      <p:sp>
        <p:nvSpPr>
          <p:cNvPr id="33" name="Shape 31"/>
          <p:cNvSpPr/>
          <p:nvPr/>
        </p:nvSpPr>
        <p:spPr>
          <a:xfrm>
            <a:off x="10030968" y="2926080"/>
            <a:ext cx="1188720" cy="960120"/>
          </a:xfrm>
          <a:prstGeom prst="roundRect">
            <a:avLst>
              <a:gd name="adj" fmla="val 7619"/>
            </a:avLst>
          </a:prstGeom>
          <a:solidFill>
            <a:srgbClr val="FFFFFF"/>
          </a:solidFill>
          <a:ln w="12700">
            <a:solidFill>
              <a:srgbClr val="1F2A5A"/>
            </a:solidFill>
            <a:prstDash val="solid"/>
          </a:ln>
        </p:spPr>
        <p:txBody>
          <a:bodyPr/>
          <a:lstStyle/>
          <a:p>
            <a:endParaRPr lang="ja-JP" altLang="en-US"/>
          </a:p>
        </p:txBody>
      </p:sp>
      <p:sp>
        <p:nvSpPr>
          <p:cNvPr id="34" name="Text 32"/>
          <p:cNvSpPr/>
          <p:nvPr/>
        </p:nvSpPr>
        <p:spPr>
          <a:xfrm>
            <a:off x="10140696" y="3118104"/>
            <a:ext cx="960120" cy="548640"/>
          </a:xfrm>
          <a:prstGeom prst="rect">
            <a:avLst/>
          </a:prstGeom>
          <a:noFill/>
          <a:ln/>
        </p:spPr>
        <p:txBody>
          <a:bodyPr wrap="square" lIns="0" tIns="0" rIns="0" bIns="0" rtlCol="0" anchor="ctr"/>
          <a:lstStyle/>
          <a:p>
            <a:pPr marL="0" indent="0" algn="ctr">
              <a:buNone/>
            </a:pPr>
            <a:r>
              <a:rPr lang="en-US" sz="1320" b="1" dirty="0">
                <a:solidFill>
                  <a:srgbClr val="1F2A5A"/>
                </a:solidFill>
                <a:latin typeface="Noto Sans CJK JP" pitchFamily="34" charset="0"/>
                <a:ea typeface="Noto Sans CJK JP" pitchFamily="34" charset="-122"/>
                <a:cs typeface="Noto Sans CJK JP" pitchFamily="34" charset="-120"/>
              </a:rPr>
              <a:t>BESSから</a:t>
            </a:r>
            <a:endParaRPr lang="en-US" sz="1320" dirty="0"/>
          </a:p>
          <a:p>
            <a:pPr marL="0" indent="0" algn="ctr">
              <a:buNone/>
            </a:pPr>
            <a:r>
              <a:rPr lang="en-US" sz="1320" b="1" dirty="0">
                <a:solidFill>
                  <a:srgbClr val="1F2A5A"/>
                </a:solidFill>
                <a:latin typeface="Noto Sans CJK JP" pitchFamily="34" charset="0"/>
                <a:ea typeface="Noto Sans CJK JP" pitchFamily="34" charset="-122"/>
                <a:cs typeface="Noto Sans CJK JP" pitchFamily="34" charset="-120"/>
              </a:rPr>
              <a:t>691 kWh</a:t>
            </a:r>
            <a:endParaRPr lang="en-US" sz="1320" dirty="0"/>
          </a:p>
        </p:txBody>
      </p:sp>
      <p:sp>
        <p:nvSpPr>
          <p:cNvPr id="35" name="Shape 33"/>
          <p:cNvSpPr/>
          <p:nvPr/>
        </p:nvSpPr>
        <p:spPr>
          <a:xfrm>
            <a:off x="9646920" y="3227832"/>
            <a:ext cx="310896" cy="310896"/>
          </a:xfrm>
          <a:prstGeom prst="chevron">
            <a:avLst/>
          </a:prstGeom>
          <a:solidFill>
            <a:srgbClr val="356BB3"/>
          </a:solidFill>
          <a:ln w="12700">
            <a:solidFill>
              <a:srgbClr val="356BB3"/>
            </a:solidFill>
            <a:prstDash val="solid"/>
          </a:ln>
        </p:spPr>
        <p:txBody>
          <a:bodyPr/>
          <a:lstStyle/>
          <a:p>
            <a:endParaRPr lang="ja-JP" altLang="en-US"/>
          </a:p>
        </p:txBody>
      </p:sp>
      <p:sp>
        <p:nvSpPr>
          <p:cNvPr id="36" name="Shape 34"/>
          <p:cNvSpPr/>
          <p:nvPr/>
        </p:nvSpPr>
        <p:spPr>
          <a:xfrm>
            <a:off x="8293608" y="4096512"/>
            <a:ext cx="1325880" cy="786384"/>
          </a:xfrm>
          <a:prstGeom prst="roundRect">
            <a:avLst>
              <a:gd name="adj" fmla="val 9302"/>
            </a:avLst>
          </a:prstGeom>
          <a:solidFill>
            <a:srgbClr val="FFFFFF"/>
          </a:solidFill>
          <a:ln w="12700">
            <a:solidFill>
              <a:srgbClr val="A5AFBD"/>
            </a:solidFill>
            <a:prstDash val="solid"/>
          </a:ln>
        </p:spPr>
        <p:txBody>
          <a:bodyPr/>
          <a:lstStyle/>
          <a:p>
            <a:endParaRPr lang="ja-JP" altLang="en-US"/>
          </a:p>
        </p:txBody>
      </p:sp>
      <p:sp>
        <p:nvSpPr>
          <p:cNvPr id="37" name="Text 35"/>
          <p:cNvSpPr/>
          <p:nvPr/>
        </p:nvSpPr>
        <p:spPr>
          <a:xfrm>
            <a:off x="8412480" y="4224528"/>
            <a:ext cx="1078992" cy="438912"/>
          </a:xfrm>
          <a:prstGeom prst="rect">
            <a:avLst/>
          </a:prstGeom>
          <a:noFill/>
          <a:ln/>
        </p:spPr>
        <p:txBody>
          <a:bodyPr wrap="square" lIns="0" tIns="0" rIns="0" bIns="0" rtlCol="0" anchor="ctr"/>
          <a:lstStyle/>
          <a:p>
            <a:pPr marL="0" indent="0" algn="ctr">
              <a:buNone/>
            </a:pPr>
            <a:r>
              <a:rPr lang="en-US" sz="1320" b="1" dirty="0">
                <a:solidFill>
                  <a:srgbClr val="687386"/>
                </a:solidFill>
                <a:latin typeface="Noto Sans CJK JP" pitchFamily="34" charset="0"/>
                <a:ea typeface="Noto Sans CJK JP" pitchFamily="34" charset="-122"/>
                <a:cs typeface="Noto Sans CJK JP" pitchFamily="34" charset="-120"/>
              </a:rPr>
              <a:t>抑制</a:t>
            </a:r>
            <a:endParaRPr lang="en-US" sz="1320" dirty="0"/>
          </a:p>
          <a:p>
            <a:pPr marL="0" indent="0" algn="ctr">
              <a:buNone/>
            </a:pPr>
            <a:r>
              <a:rPr lang="en-US" sz="1320" b="1" dirty="0">
                <a:solidFill>
                  <a:srgbClr val="687386"/>
                </a:solidFill>
                <a:latin typeface="Noto Sans CJK JP" pitchFamily="34" charset="0"/>
                <a:ea typeface="Noto Sans CJK JP" pitchFamily="34" charset="-122"/>
                <a:cs typeface="Noto Sans CJK JP" pitchFamily="34" charset="-120"/>
              </a:rPr>
              <a:t>0 kWh</a:t>
            </a:r>
            <a:endParaRPr lang="en-US" sz="1320" dirty="0"/>
          </a:p>
        </p:txBody>
      </p:sp>
      <p:sp>
        <p:nvSpPr>
          <p:cNvPr id="38" name="Shape 36"/>
          <p:cNvSpPr/>
          <p:nvPr/>
        </p:nvSpPr>
        <p:spPr>
          <a:xfrm>
            <a:off x="10030968" y="4096512"/>
            <a:ext cx="1188720" cy="786384"/>
          </a:xfrm>
          <a:prstGeom prst="roundRect">
            <a:avLst>
              <a:gd name="adj" fmla="val 9302"/>
            </a:avLst>
          </a:prstGeom>
          <a:solidFill>
            <a:srgbClr val="FFFFFF"/>
          </a:solidFill>
          <a:ln w="12700">
            <a:solidFill>
              <a:srgbClr val="E98B3A"/>
            </a:solidFill>
            <a:prstDash val="solid"/>
          </a:ln>
        </p:spPr>
        <p:txBody>
          <a:bodyPr/>
          <a:lstStyle/>
          <a:p>
            <a:endParaRPr lang="ja-JP" altLang="en-US"/>
          </a:p>
        </p:txBody>
      </p:sp>
      <p:sp>
        <p:nvSpPr>
          <p:cNvPr id="39" name="Text 37"/>
          <p:cNvSpPr/>
          <p:nvPr/>
        </p:nvSpPr>
        <p:spPr>
          <a:xfrm>
            <a:off x="10131552" y="4224528"/>
            <a:ext cx="987552" cy="438912"/>
          </a:xfrm>
          <a:prstGeom prst="rect">
            <a:avLst/>
          </a:prstGeom>
          <a:noFill/>
          <a:ln/>
        </p:spPr>
        <p:txBody>
          <a:bodyPr wrap="square" lIns="0" tIns="0" rIns="0" bIns="0" rtlCol="0" anchor="ctr"/>
          <a:lstStyle/>
          <a:p>
            <a:pPr marL="0" indent="0" algn="ctr">
              <a:buNone/>
            </a:pPr>
            <a:r>
              <a:rPr lang="en-US" sz="1320" b="1" dirty="0">
                <a:solidFill>
                  <a:srgbClr val="E98B3A"/>
                </a:solidFill>
                <a:latin typeface="Noto Sans CJK JP" pitchFamily="34" charset="0"/>
                <a:ea typeface="Noto Sans CJK JP" pitchFamily="34" charset="-122"/>
                <a:cs typeface="Noto Sans CJK JP" pitchFamily="34" charset="-120"/>
              </a:rPr>
              <a:t>系統から</a:t>
            </a:r>
            <a:endParaRPr lang="en-US" sz="1320" dirty="0"/>
          </a:p>
          <a:p>
            <a:pPr marL="0" indent="0" algn="ctr">
              <a:buNone/>
            </a:pPr>
            <a:r>
              <a:rPr lang="en-US" sz="1320" b="1" dirty="0">
                <a:solidFill>
                  <a:srgbClr val="E98B3A"/>
                </a:solidFill>
                <a:latin typeface="Noto Sans CJK JP" pitchFamily="34" charset="0"/>
                <a:ea typeface="Noto Sans CJK JP" pitchFamily="34" charset="-122"/>
                <a:cs typeface="Noto Sans CJK JP" pitchFamily="34" charset="-120"/>
              </a:rPr>
              <a:t>131 kWh</a:t>
            </a:r>
            <a:endParaRPr lang="en-US" sz="1320" dirty="0"/>
          </a:p>
        </p:txBody>
      </p:sp>
      <p:sp>
        <p:nvSpPr>
          <p:cNvPr id="40" name="Text 38"/>
          <p:cNvSpPr/>
          <p:nvPr/>
        </p:nvSpPr>
        <p:spPr>
          <a:xfrm>
            <a:off x="9756648" y="2148840"/>
            <a:ext cx="155448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BEV充電へ</a:t>
            </a:r>
            <a:endParaRPr lang="en-US" sz="1400" dirty="0"/>
          </a:p>
        </p:txBody>
      </p:sp>
      <p:sp>
        <p:nvSpPr>
          <p:cNvPr id="41" name="Text 39"/>
          <p:cNvSpPr/>
          <p:nvPr/>
        </p:nvSpPr>
        <p:spPr>
          <a:xfrm>
            <a:off x="9848088" y="5074920"/>
            <a:ext cx="1572768" cy="274320"/>
          </a:xfrm>
          <a:prstGeom prst="rect">
            <a:avLst/>
          </a:prstGeom>
          <a:noFill/>
          <a:ln/>
        </p:spPr>
        <p:txBody>
          <a:bodyPr wrap="square" lIns="0" tIns="0" rIns="0" bIns="0" rtlCol="0" anchor="ctr"/>
          <a:lstStyle/>
          <a:p>
            <a:pPr marL="0" indent="0" algn="ctr">
              <a:buNone/>
            </a:pPr>
            <a:r>
              <a:rPr lang="en-US" sz="1150" dirty="0">
                <a:solidFill>
                  <a:srgbClr val="687386"/>
                </a:solidFill>
                <a:latin typeface="Noto Sans CJK JP" pitchFamily="34" charset="0"/>
                <a:ea typeface="Noto Sans CJK JP" pitchFamily="34" charset="-122"/>
                <a:cs typeface="Noto Sans CJK JP" pitchFamily="34" charset="-120"/>
              </a:rPr>
              <a:t>BESS損失 約75 kWh</a:t>
            </a:r>
            <a:endParaRPr lang="en-US" sz="1150" dirty="0"/>
          </a:p>
        </p:txBody>
      </p:sp>
      <p:sp>
        <p:nvSpPr>
          <p:cNvPr id="42" name="Text 40"/>
          <p:cNvSpPr/>
          <p:nvPr/>
        </p:nvSpPr>
        <p:spPr>
          <a:xfrm>
            <a:off x="452628" y="5791747"/>
            <a:ext cx="10378440" cy="292608"/>
          </a:xfrm>
          <a:prstGeom prst="rect">
            <a:avLst/>
          </a:prstGeom>
          <a:noFill/>
          <a:ln/>
        </p:spPr>
        <p:txBody>
          <a:bodyPr wrap="square" lIns="0" tIns="0" rIns="0" bIns="0" rtlCol="0" anchor="ctr"/>
          <a:lstStyle/>
          <a:p>
            <a:pPr marL="0" indent="0" algn="ctr">
              <a:buNone/>
            </a:pPr>
            <a:r>
              <a:rPr lang="en-US" sz="1450" b="1" dirty="0">
                <a:solidFill>
                  <a:srgbClr val="1F2A5A"/>
                </a:solidFill>
                <a:latin typeface="Noto Sans CJK JP" pitchFamily="34" charset="0"/>
                <a:ea typeface="Noto Sans CJK JP" pitchFamily="34" charset="-122"/>
                <a:cs typeface="Noto Sans CJK JP" pitchFamily="34" charset="-120"/>
              </a:rPr>
              <a:t>高PV：抑制が発生。原因の特定は今後の課題　／　低PV：ほぼ全量を使い、不足分を系統から補う</a:t>
            </a:r>
            <a:endParaRPr lang="en-US" sz="1450" dirty="0"/>
          </a:p>
        </p:txBody>
      </p:sp>
      <p:sp>
        <p:nvSpPr>
          <p:cNvPr id="43" name="Text 41"/>
          <p:cNvSpPr/>
          <p:nvPr/>
        </p:nvSpPr>
        <p:spPr>
          <a:xfrm>
            <a:off x="566928" y="6318504"/>
            <a:ext cx="10469880" cy="146304"/>
          </a:xfrm>
          <a:prstGeom prst="rect">
            <a:avLst/>
          </a:prstGeom>
          <a:noFill/>
          <a:ln/>
        </p:spPr>
        <p:txBody>
          <a:bodyPr wrap="square" lIns="0" tIns="0" rIns="0" bIns="0" rtlCol="0" anchor="ctr"/>
          <a:lstStyle/>
          <a:p>
            <a:pPr marL="0" indent="0">
              <a:buNone/>
            </a:pPr>
            <a:r>
              <a:rPr lang="en-US" sz="720" dirty="0">
                <a:solidFill>
                  <a:srgbClr val="7B8494"/>
                </a:solidFill>
                <a:latin typeface="Noto Sans CJK JP" pitchFamily="34" charset="0"/>
                <a:ea typeface="Noto Sans CJK JP" pitchFamily="34" charset="-122"/>
                <a:cs typeface="Noto Sans CJK JP" pitchFamily="34" charset="-120"/>
              </a:rPr>
              <a:t>参考構成：Fei et al. (2023) の時間別充放電図、Najafi et al. (2025) の交通・電力システム統合図を参考に、本研究の日合計値で再構成</a:t>
            </a:r>
            <a:endParaRPr lang="en-US" sz="7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主要結果を一覧表で確認</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14/18</a:t>
            </a:r>
            <a:endParaRPr lang="en-US" sz="850" dirty="0"/>
          </a:p>
        </p:txBody>
      </p:sp>
      <p:sp>
        <p:nvSpPr>
          <p:cNvPr id="6" name="Shape 4"/>
          <p:cNvSpPr/>
          <p:nvPr/>
        </p:nvSpPr>
        <p:spPr>
          <a:xfrm>
            <a:off x="566928" y="1024128"/>
            <a:ext cx="2057400" cy="502920"/>
          </a:xfrm>
          <a:prstGeom prst="rect">
            <a:avLst/>
          </a:prstGeom>
          <a:solidFill>
            <a:srgbClr val="1F2A5A"/>
          </a:solidFill>
          <a:ln w="8890">
            <a:solidFill>
              <a:srgbClr val="EEF1F5"/>
            </a:solidFill>
            <a:prstDash val="solid"/>
          </a:ln>
        </p:spPr>
        <p:txBody>
          <a:bodyPr/>
          <a:lstStyle/>
          <a:p>
            <a:endParaRPr lang="ja-JP" altLang="en-US"/>
          </a:p>
        </p:txBody>
      </p:sp>
      <p:sp>
        <p:nvSpPr>
          <p:cNvPr id="7" name="Text 5"/>
          <p:cNvSpPr/>
          <p:nvPr/>
        </p:nvSpPr>
        <p:spPr>
          <a:xfrm>
            <a:off x="621792" y="1056132"/>
            <a:ext cx="1947672" cy="438912"/>
          </a:xfrm>
          <a:prstGeom prst="rect">
            <a:avLst/>
          </a:prstGeom>
          <a:noFill/>
          <a:ln/>
        </p:spPr>
        <p:txBody>
          <a:bodyPr wrap="square" lIns="0" tIns="0" rIns="0" bIns="0" rtlCol="0" anchor="ctr">
            <a:normAutofit/>
          </a:bodyPr>
          <a:lstStyle/>
          <a:p>
            <a:pPr marL="0" indent="0" algn="l">
              <a:buNone/>
            </a:pPr>
            <a:r>
              <a:rPr lang="en-US" sz="1330" b="1" dirty="0">
                <a:solidFill>
                  <a:srgbClr val="FFFFFF"/>
                </a:solidFill>
                <a:latin typeface="Noto Sans CJK JP" pitchFamily="34" charset="0"/>
                <a:ea typeface="Noto Sans CJK JP" pitchFamily="34" charset="-122"/>
                <a:cs typeface="Noto Sans CJK JP" pitchFamily="34" charset="-120"/>
              </a:rPr>
              <a:t>指標</a:t>
            </a:r>
            <a:endParaRPr lang="en-US" sz="1330" dirty="0"/>
          </a:p>
        </p:txBody>
      </p:sp>
      <p:sp>
        <p:nvSpPr>
          <p:cNvPr id="8" name="Shape 6"/>
          <p:cNvSpPr/>
          <p:nvPr/>
        </p:nvSpPr>
        <p:spPr>
          <a:xfrm>
            <a:off x="2624328" y="1024128"/>
            <a:ext cx="2148840" cy="502920"/>
          </a:xfrm>
          <a:prstGeom prst="rect">
            <a:avLst/>
          </a:prstGeom>
          <a:solidFill>
            <a:srgbClr val="1F2A5A"/>
          </a:solidFill>
          <a:ln w="8890">
            <a:solidFill>
              <a:srgbClr val="EEF1F5"/>
            </a:solidFill>
            <a:prstDash val="solid"/>
          </a:ln>
        </p:spPr>
        <p:txBody>
          <a:bodyPr/>
          <a:lstStyle/>
          <a:p>
            <a:endParaRPr lang="ja-JP" altLang="en-US"/>
          </a:p>
        </p:txBody>
      </p:sp>
      <p:sp>
        <p:nvSpPr>
          <p:cNvPr id="9" name="Text 7"/>
          <p:cNvSpPr/>
          <p:nvPr/>
        </p:nvSpPr>
        <p:spPr>
          <a:xfrm>
            <a:off x="2679192" y="1056132"/>
            <a:ext cx="2039112" cy="438912"/>
          </a:xfrm>
          <a:prstGeom prst="rect">
            <a:avLst/>
          </a:prstGeom>
          <a:noFill/>
          <a:ln/>
        </p:spPr>
        <p:txBody>
          <a:bodyPr wrap="square" lIns="0" tIns="0" rIns="0" bIns="0" rtlCol="0" anchor="ctr">
            <a:normAutofit/>
          </a:bodyPr>
          <a:lstStyle/>
          <a:p>
            <a:pPr marL="0" indent="0" algn="ctr">
              <a:buNone/>
            </a:pPr>
            <a:r>
              <a:rPr lang="en-US" sz="1330" b="1" dirty="0">
                <a:solidFill>
                  <a:srgbClr val="FFFFFF"/>
                </a:solidFill>
                <a:latin typeface="Noto Sans CJK JP" pitchFamily="34" charset="0"/>
                <a:ea typeface="Noto Sans CJK JP" pitchFamily="34" charset="-122"/>
                <a:cs typeface="Noto Sans CJK JP" pitchFamily="34" charset="-120"/>
              </a:rPr>
              <a:t>高PV条件</a:t>
            </a:r>
            <a:endParaRPr lang="en-US" sz="1330" dirty="0"/>
          </a:p>
        </p:txBody>
      </p:sp>
      <p:sp>
        <p:nvSpPr>
          <p:cNvPr id="10" name="Shape 8"/>
          <p:cNvSpPr/>
          <p:nvPr/>
        </p:nvSpPr>
        <p:spPr>
          <a:xfrm>
            <a:off x="4773168" y="1024128"/>
            <a:ext cx="2148840" cy="502920"/>
          </a:xfrm>
          <a:prstGeom prst="rect">
            <a:avLst/>
          </a:prstGeom>
          <a:solidFill>
            <a:srgbClr val="1F2A5A"/>
          </a:solidFill>
          <a:ln w="8890">
            <a:solidFill>
              <a:srgbClr val="EEF1F5"/>
            </a:solidFill>
            <a:prstDash val="solid"/>
          </a:ln>
        </p:spPr>
        <p:txBody>
          <a:bodyPr/>
          <a:lstStyle/>
          <a:p>
            <a:endParaRPr lang="ja-JP" altLang="en-US"/>
          </a:p>
        </p:txBody>
      </p:sp>
      <p:sp>
        <p:nvSpPr>
          <p:cNvPr id="11" name="Text 9"/>
          <p:cNvSpPr/>
          <p:nvPr/>
        </p:nvSpPr>
        <p:spPr>
          <a:xfrm>
            <a:off x="4828032" y="1056132"/>
            <a:ext cx="2039112" cy="438912"/>
          </a:xfrm>
          <a:prstGeom prst="rect">
            <a:avLst/>
          </a:prstGeom>
          <a:noFill/>
          <a:ln/>
        </p:spPr>
        <p:txBody>
          <a:bodyPr wrap="square" lIns="0" tIns="0" rIns="0" bIns="0" rtlCol="0" anchor="ctr">
            <a:normAutofit/>
          </a:bodyPr>
          <a:lstStyle/>
          <a:p>
            <a:pPr marL="0" indent="0" algn="ctr">
              <a:buNone/>
            </a:pPr>
            <a:r>
              <a:rPr lang="en-US" sz="1330" b="1" dirty="0">
                <a:solidFill>
                  <a:srgbClr val="FFFFFF"/>
                </a:solidFill>
                <a:latin typeface="Noto Sans CJK JP" pitchFamily="34" charset="0"/>
                <a:ea typeface="Noto Sans CJK JP" pitchFamily="34" charset="-122"/>
                <a:cs typeface="Noto Sans CJK JP" pitchFamily="34" charset="-120"/>
              </a:rPr>
              <a:t>低PV条件</a:t>
            </a:r>
            <a:endParaRPr lang="en-US" sz="1330" dirty="0"/>
          </a:p>
        </p:txBody>
      </p:sp>
      <p:sp>
        <p:nvSpPr>
          <p:cNvPr id="12" name="Shape 10"/>
          <p:cNvSpPr/>
          <p:nvPr/>
        </p:nvSpPr>
        <p:spPr>
          <a:xfrm>
            <a:off x="6922008" y="1024128"/>
            <a:ext cx="4681728" cy="502920"/>
          </a:xfrm>
          <a:prstGeom prst="rect">
            <a:avLst/>
          </a:prstGeom>
          <a:solidFill>
            <a:srgbClr val="1F2A5A"/>
          </a:solidFill>
          <a:ln w="8890">
            <a:solidFill>
              <a:srgbClr val="EEF1F5"/>
            </a:solidFill>
            <a:prstDash val="solid"/>
          </a:ln>
        </p:spPr>
        <p:txBody>
          <a:bodyPr/>
          <a:lstStyle/>
          <a:p>
            <a:endParaRPr lang="ja-JP" altLang="en-US"/>
          </a:p>
        </p:txBody>
      </p:sp>
      <p:sp>
        <p:nvSpPr>
          <p:cNvPr id="13" name="Text 11"/>
          <p:cNvSpPr/>
          <p:nvPr/>
        </p:nvSpPr>
        <p:spPr>
          <a:xfrm>
            <a:off x="6976872" y="1056132"/>
            <a:ext cx="4572000" cy="438912"/>
          </a:xfrm>
          <a:prstGeom prst="rect">
            <a:avLst/>
          </a:prstGeom>
          <a:noFill/>
          <a:ln/>
        </p:spPr>
        <p:txBody>
          <a:bodyPr wrap="square" lIns="0" tIns="0" rIns="0" bIns="0" rtlCol="0" anchor="ctr">
            <a:normAutofit/>
          </a:bodyPr>
          <a:lstStyle/>
          <a:p>
            <a:pPr marL="0" indent="0" algn="l">
              <a:buNone/>
            </a:pPr>
            <a:r>
              <a:rPr lang="en-US" sz="1330" b="1" dirty="0">
                <a:solidFill>
                  <a:srgbClr val="FFFFFF"/>
                </a:solidFill>
                <a:latin typeface="Noto Sans CJK JP" pitchFamily="34" charset="0"/>
                <a:ea typeface="Noto Sans CJK JP" pitchFamily="34" charset="-122"/>
                <a:cs typeface="Noto Sans CJK JP" pitchFamily="34" charset="-120"/>
              </a:rPr>
              <a:t>読み方</a:t>
            </a:r>
            <a:endParaRPr lang="en-US" sz="1330" dirty="0"/>
          </a:p>
        </p:txBody>
      </p:sp>
      <p:sp>
        <p:nvSpPr>
          <p:cNvPr id="14" name="Shape 12"/>
          <p:cNvSpPr/>
          <p:nvPr/>
        </p:nvSpPr>
        <p:spPr>
          <a:xfrm>
            <a:off x="566928" y="1527048"/>
            <a:ext cx="2057400" cy="502920"/>
          </a:xfrm>
          <a:prstGeom prst="rect">
            <a:avLst/>
          </a:prstGeom>
          <a:solidFill>
            <a:srgbClr val="FFFFFF"/>
          </a:solidFill>
          <a:ln w="8890">
            <a:solidFill>
              <a:srgbClr val="EEF1F5"/>
            </a:solidFill>
            <a:prstDash val="solid"/>
          </a:ln>
        </p:spPr>
        <p:txBody>
          <a:bodyPr/>
          <a:lstStyle/>
          <a:p>
            <a:endParaRPr lang="ja-JP" altLang="en-US"/>
          </a:p>
        </p:txBody>
      </p:sp>
      <p:sp>
        <p:nvSpPr>
          <p:cNvPr id="15" name="Text 13"/>
          <p:cNvSpPr/>
          <p:nvPr/>
        </p:nvSpPr>
        <p:spPr>
          <a:xfrm>
            <a:off x="621792" y="155905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PV発電量</a:t>
            </a:r>
            <a:endParaRPr lang="en-US" sz="1260" dirty="0"/>
          </a:p>
        </p:txBody>
      </p:sp>
      <p:sp>
        <p:nvSpPr>
          <p:cNvPr id="16" name="Shape 14"/>
          <p:cNvSpPr/>
          <p:nvPr/>
        </p:nvSpPr>
        <p:spPr>
          <a:xfrm>
            <a:off x="2624328" y="152704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17" name="Text 15"/>
          <p:cNvSpPr/>
          <p:nvPr/>
        </p:nvSpPr>
        <p:spPr>
          <a:xfrm>
            <a:off x="2679192" y="155905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6,056 kWh</a:t>
            </a:r>
            <a:endParaRPr lang="en-US" sz="1260" dirty="0"/>
          </a:p>
        </p:txBody>
      </p:sp>
      <p:sp>
        <p:nvSpPr>
          <p:cNvPr id="18" name="Shape 16"/>
          <p:cNvSpPr/>
          <p:nvPr/>
        </p:nvSpPr>
        <p:spPr>
          <a:xfrm>
            <a:off x="4773168" y="152704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19" name="Text 17"/>
          <p:cNvSpPr/>
          <p:nvPr/>
        </p:nvSpPr>
        <p:spPr>
          <a:xfrm>
            <a:off x="4828032" y="155905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996 kWh</a:t>
            </a:r>
            <a:endParaRPr lang="en-US" sz="1260" dirty="0"/>
          </a:p>
        </p:txBody>
      </p:sp>
      <p:sp>
        <p:nvSpPr>
          <p:cNvPr id="20" name="Shape 18"/>
          <p:cNvSpPr/>
          <p:nvPr/>
        </p:nvSpPr>
        <p:spPr>
          <a:xfrm>
            <a:off x="6922008" y="1527048"/>
            <a:ext cx="4681728" cy="502920"/>
          </a:xfrm>
          <a:prstGeom prst="rect">
            <a:avLst/>
          </a:prstGeom>
          <a:solidFill>
            <a:srgbClr val="FFFFFF"/>
          </a:solidFill>
          <a:ln w="8890">
            <a:solidFill>
              <a:srgbClr val="EEF1F5"/>
            </a:solidFill>
            <a:prstDash val="solid"/>
          </a:ln>
        </p:spPr>
        <p:txBody>
          <a:bodyPr/>
          <a:lstStyle/>
          <a:p>
            <a:endParaRPr lang="ja-JP" altLang="en-US"/>
          </a:p>
        </p:txBody>
      </p:sp>
      <p:sp>
        <p:nvSpPr>
          <p:cNvPr id="21" name="Text 19"/>
          <p:cNvSpPr/>
          <p:nvPr/>
        </p:nvSpPr>
        <p:spPr>
          <a:xfrm>
            <a:off x="6976872" y="155905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入力として大きく異なる</a:t>
            </a:r>
            <a:endParaRPr lang="en-US" sz="1260" dirty="0"/>
          </a:p>
        </p:txBody>
      </p:sp>
      <p:sp>
        <p:nvSpPr>
          <p:cNvPr id="22" name="Shape 20"/>
          <p:cNvSpPr/>
          <p:nvPr/>
        </p:nvSpPr>
        <p:spPr>
          <a:xfrm>
            <a:off x="566928" y="2029968"/>
            <a:ext cx="2057400" cy="502920"/>
          </a:xfrm>
          <a:prstGeom prst="rect">
            <a:avLst/>
          </a:prstGeom>
          <a:solidFill>
            <a:srgbClr val="F8FAFC"/>
          </a:solidFill>
          <a:ln w="8890">
            <a:solidFill>
              <a:srgbClr val="EEF1F5"/>
            </a:solidFill>
            <a:prstDash val="solid"/>
          </a:ln>
        </p:spPr>
        <p:txBody>
          <a:bodyPr/>
          <a:lstStyle/>
          <a:p>
            <a:endParaRPr lang="ja-JP" altLang="en-US"/>
          </a:p>
        </p:txBody>
      </p:sp>
      <p:sp>
        <p:nvSpPr>
          <p:cNvPr id="23" name="Text 21"/>
          <p:cNvSpPr/>
          <p:nvPr/>
        </p:nvSpPr>
        <p:spPr>
          <a:xfrm>
            <a:off x="621792" y="206197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使用車両</a:t>
            </a:r>
            <a:endParaRPr lang="en-US" sz="1260" dirty="0"/>
          </a:p>
        </p:txBody>
      </p:sp>
      <p:sp>
        <p:nvSpPr>
          <p:cNvPr id="24" name="Shape 22"/>
          <p:cNvSpPr/>
          <p:nvPr/>
        </p:nvSpPr>
        <p:spPr>
          <a:xfrm>
            <a:off x="2624328" y="2029968"/>
            <a:ext cx="2148840" cy="502920"/>
          </a:xfrm>
          <a:prstGeom prst="rect">
            <a:avLst/>
          </a:prstGeom>
          <a:solidFill>
            <a:srgbClr val="F8FAFC"/>
          </a:solidFill>
          <a:ln w="8890">
            <a:solidFill>
              <a:srgbClr val="EEF1F5"/>
            </a:solidFill>
            <a:prstDash val="solid"/>
          </a:ln>
        </p:spPr>
        <p:txBody>
          <a:bodyPr/>
          <a:lstStyle/>
          <a:p>
            <a:endParaRPr lang="ja-JP" altLang="en-US"/>
          </a:p>
        </p:txBody>
      </p:sp>
      <p:sp>
        <p:nvSpPr>
          <p:cNvPr id="25" name="Text 23"/>
          <p:cNvSpPr/>
          <p:nvPr/>
        </p:nvSpPr>
        <p:spPr>
          <a:xfrm>
            <a:off x="2679192" y="206197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BEV 28／ICE 4台</a:t>
            </a:r>
            <a:endParaRPr lang="en-US" sz="1260" dirty="0"/>
          </a:p>
        </p:txBody>
      </p:sp>
      <p:sp>
        <p:nvSpPr>
          <p:cNvPr id="26" name="Shape 24"/>
          <p:cNvSpPr/>
          <p:nvPr/>
        </p:nvSpPr>
        <p:spPr>
          <a:xfrm>
            <a:off x="4773168" y="2029968"/>
            <a:ext cx="2148840" cy="502920"/>
          </a:xfrm>
          <a:prstGeom prst="rect">
            <a:avLst/>
          </a:prstGeom>
          <a:solidFill>
            <a:srgbClr val="F8FAFC"/>
          </a:solidFill>
          <a:ln w="8890">
            <a:solidFill>
              <a:srgbClr val="EEF1F5"/>
            </a:solidFill>
            <a:prstDash val="solid"/>
          </a:ln>
        </p:spPr>
        <p:txBody>
          <a:bodyPr/>
          <a:lstStyle/>
          <a:p>
            <a:endParaRPr lang="ja-JP" altLang="en-US"/>
          </a:p>
        </p:txBody>
      </p:sp>
      <p:sp>
        <p:nvSpPr>
          <p:cNvPr id="27" name="Text 25"/>
          <p:cNvSpPr/>
          <p:nvPr/>
        </p:nvSpPr>
        <p:spPr>
          <a:xfrm>
            <a:off x="4828032" y="206197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BEV 21／ICE 11台</a:t>
            </a:r>
            <a:endParaRPr lang="en-US" sz="1260" dirty="0"/>
          </a:p>
        </p:txBody>
      </p:sp>
      <p:sp>
        <p:nvSpPr>
          <p:cNvPr id="28" name="Shape 26"/>
          <p:cNvSpPr/>
          <p:nvPr/>
        </p:nvSpPr>
        <p:spPr>
          <a:xfrm>
            <a:off x="6922008" y="2029968"/>
            <a:ext cx="4681728" cy="502920"/>
          </a:xfrm>
          <a:prstGeom prst="rect">
            <a:avLst/>
          </a:prstGeom>
          <a:solidFill>
            <a:srgbClr val="F8FAFC"/>
          </a:solidFill>
          <a:ln w="8890">
            <a:solidFill>
              <a:srgbClr val="EEF1F5"/>
            </a:solidFill>
            <a:prstDash val="solid"/>
          </a:ln>
        </p:spPr>
        <p:txBody>
          <a:bodyPr/>
          <a:lstStyle/>
          <a:p>
            <a:endParaRPr lang="ja-JP" altLang="en-US"/>
          </a:p>
        </p:txBody>
      </p:sp>
      <p:sp>
        <p:nvSpPr>
          <p:cNvPr id="29" name="Text 27"/>
          <p:cNvSpPr/>
          <p:nvPr/>
        </p:nvSpPr>
        <p:spPr>
          <a:xfrm>
            <a:off x="6976872" y="206197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総使用台数は32台で共通</a:t>
            </a:r>
            <a:endParaRPr lang="en-US" sz="1260" dirty="0"/>
          </a:p>
        </p:txBody>
      </p:sp>
      <p:sp>
        <p:nvSpPr>
          <p:cNvPr id="30" name="Shape 28"/>
          <p:cNvSpPr/>
          <p:nvPr/>
        </p:nvSpPr>
        <p:spPr>
          <a:xfrm>
            <a:off x="566928" y="2532888"/>
            <a:ext cx="2057400" cy="502920"/>
          </a:xfrm>
          <a:prstGeom prst="rect">
            <a:avLst/>
          </a:prstGeom>
          <a:solidFill>
            <a:srgbClr val="FFFFFF"/>
          </a:solidFill>
          <a:ln w="8890">
            <a:solidFill>
              <a:srgbClr val="EEF1F5"/>
            </a:solidFill>
            <a:prstDash val="solid"/>
          </a:ln>
        </p:spPr>
        <p:txBody>
          <a:bodyPr/>
          <a:lstStyle/>
          <a:p>
            <a:endParaRPr lang="ja-JP" altLang="en-US"/>
          </a:p>
        </p:txBody>
      </p:sp>
      <p:sp>
        <p:nvSpPr>
          <p:cNvPr id="31" name="Text 29"/>
          <p:cNvSpPr/>
          <p:nvPr/>
        </p:nvSpPr>
        <p:spPr>
          <a:xfrm>
            <a:off x="621792" y="256489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担当便</a:t>
            </a:r>
            <a:endParaRPr lang="en-US" sz="1260" dirty="0"/>
          </a:p>
        </p:txBody>
      </p:sp>
      <p:sp>
        <p:nvSpPr>
          <p:cNvPr id="32" name="Shape 30"/>
          <p:cNvSpPr/>
          <p:nvPr/>
        </p:nvSpPr>
        <p:spPr>
          <a:xfrm>
            <a:off x="2624328" y="253288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33" name="Text 31"/>
          <p:cNvSpPr/>
          <p:nvPr/>
        </p:nvSpPr>
        <p:spPr>
          <a:xfrm>
            <a:off x="2679192" y="256489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BEV 199／ICE 65便</a:t>
            </a:r>
            <a:endParaRPr lang="en-US" sz="1260" dirty="0"/>
          </a:p>
        </p:txBody>
      </p:sp>
      <p:sp>
        <p:nvSpPr>
          <p:cNvPr id="34" name="Shape 32"/>
          <p:cNvSpPr/>
          <p:nvPr/>
        </p:nvSpPr>
        <p:spPr>
          <a:xfrm>
            <a:off x="4773168" y="253288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35" name="Text 33"/>
          <p:cNvSpPr/>
          <p:nvPr/>
        </p:nvSpPr>
        <p:spPr>
          <a:xfrm>
            <a:off x="4828032" y="256489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BEV 91／ICE 173便</a:t>
            </a:r>
            <a:endParaRPr lang="en-US" sz="1260" dirty="0"/>
          </a:p>
        </p:txBody>
      </p:sp>
      <p:sp>
        <p:nvSpPr>
          <p:cNvPr id="36" name="Shape 34"/>
          <p:cNvSpPr/>
          <p:nvPr/>
        </p:nvSpPr>
        <p:spPr>
          <a:xfrm>
            <a:off x="6922008" y="2532888"/>
            <a:ext cx="4681728" cy="502920"/>
          </a:xfrm>
          <a:prstGeom prst="rect">
            <a:avLst/>
          </a:prstGeom>
          <a:solidFill>
            <a:srgbClr val="FFFFFF"/>
          </a:solidFill>
          <a:ln w="8890">
            <a:solidFill>
              <a:srgbClr val="EEF1F5"/>
            </a:solidFill>
            <a:prstDash val="solid"/>
          </a:ln>
        </p:spPr>
        <p:txBody>
          <a:bodyPr/>
          <a:lstStyle/>
          <a:p>
            <a:endParaRPr lang="ja-JP" altLang="en-US"/>
          </a:p>
        </p:txBody>
      </p:sp>
      <p:sp>
        <p:nvSpPr>
          <p:cNvPr id="37" name="Text 35"/>
          <p:cNvSpPr/>
          <p:nvPr/>
        </p:nvSpPr>
        <p:spPr>
          <a:xfrm>
            <a:off x="6976872" y="256489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低PVではICE担当が増加</a:t>
            </a:r>
            <a:endParaRPr lang="en-US" sz="1260" dirty="0"/>
          </a:p>
        </p:txBody>
      </p:sp>
      <p:sp>
        <p:nvSpPr>
          <p:cNvPr id="38" name="Shape 36"/>
          <p:cNvSpPr/>
          <p:nvPr/>
        </p:nvSpPr>
        <p:spPr>
          <a:xfrm>
            <a:off x="566928" y="3035808"/>
            <a:ext cx="2057400" cy="502920"/>
          </a:xfrm>
          <a:prstGeom prst="rect">
            <a:avLst/>
          </a:prstGeom>
          <a:solidFill>
            <a:srgbClr val="F8FAFC"/>
          </a:solidFill>
          <a:ln w="8890">
            <a:solidFill>
              <a:srgbClr val="EEF1F5"/>
            </a:solidFill>
            <a:prstDash val="solid"/>
          </a:ln>
        </p:spPr>
        <p:txBody>
          <a:bodyPr/>
          <a:lstStyle/>
          <a:p>
            <a:endParaRPr lang="ja-JP" altLang="en-US"/>
          </a:p>
        </p:txBody>
      </p:sp>
      <p:sp>
        <p:nvSpPr>
          <p:cNvPr id="39" name="Text 37"/>
          <p:cNvSpPr/>
          <p:nvPr/>
        </p:nvSpPr>
        <p:spPr>
          <a:xfrm>
            <a:off x="621792" y="306781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燃料使用量</a:t>
            </a:r>
            <a:endParaRPr lang="en-US" sz="1260" dirty="0"/>
          </a:p>
        </p:txBody>
      </p:sp>
      <p:sp>
        <p:nvSpPr>
          <p:cNvPr id="40" name="Shape 38"/>
          <p:cNvSpPr/>
          <p:nvPr/>
        </p:nvSpPr>
        <p:spPr>
          <a:xfrm>
            <a:off x="2624328" y="3035808"/>
            <a:ext cx="2148840" cy="502920"/>
          </a:xfrm>
          <a:prstGeom prst="rect">
            <a:avLst/>
          </a:prstGeom>
          <a:solidFill>
            <a:srgbClr val="F8FAFC"/>
          </a:solidFill>
          <a:ln w="8890">
            <a:solidFill>
              <a:srgbClr val="EEF1F5"/>
            </a:solidFill>
            <a:prstDash val="solid"/>
          </a:ln>
        </p:spPr>
        <p:txBody>
          <a:bodyPr/>
          <a:lstStyle/>
          <a:p>
            <a:endParaRPr lang="ja-JP" altLang="en-US"/>
          </a:p>
        </p:txBody>
      </p:sp>
      <p:sp>
        <p:nvSpPr>
          <p:cNvPr id="41" name="Text 39"/>
          <p:cNvSpPr/>
          <p:nvPr/>
        </p:nvSpPr>
        <p:spPr>
          <a:xfrm>
            <a:off x="2679192" y="306781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137.5 L</a:t>
            </a:r>
            <a:endParaRPr lang="en-US" sz="1260" dirty="0"/>
          </a:p>
        </p:txBody>
      </p:sp>
      <p:sp>
        <p:nvSpPr>
          <p:cNvPr id="42" name="Shape 40"/>
          <p:cNvSpPr/>
          <p:nvPr/>
        </p:nvSpPr>
        <p:spPr>
          <a:xfrm>
            <a:off x="4773168" y="3035808"/>
            <a:ext cx="2148840" cy="502920"/>
          </a:xfrm>
          <a:prstGeom prst="rect">
            <a:avLst/>
          </a:prstGeom>
          <a:solidFill>
            <a:srgbClr val="F8FAFC"/>
          </a:solidFill>
          <a:ln w="8890">
            <a:solidFill>
              <a:srgbClr val="EEF1F5"/>
            </a:solidFill>
            <a:prstDash val="solid"/>
          </a:ln>
        </p:spPr>
        <p:txBody>
          <a:bodyPr/>
          <a:lstStyle/>
          <a:p>
            <a:endParaRPr lang="ja-JP" altLang="en-US"/>
          </a:p>
        </p:txBody>
      </p:sp>
      <p:sp>
        <p:nvSpPr>
          <p:cNvPr id="43" name="Text 41"/>
          <p:cNvSpPr/>
          <p:nvPr/>
        </p:nvSpPr>
        <p:spPr>
          <a:xfrm>
            <a:off x="4828032" y="306781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357.9 L</a:t>
            </a:r>
            <a:endParaRPr lang="en-US" sz="1260" dirty="0"/>
          </a:p>
        </p:txBody>
      </p:sp>
      <p:sp>
        <p:nvSpPr>
          <p:cNvPr id="44" name="Shape 42"/>
          <p:cNvSpPr/>
          <p:nvPr/>
        </p:nvSpPr>
        <p:spPr>
          <a:xfrm>
            <a:off x="6922008" y="3035808"/>
            <a:ext cx="4681728" cy="502920"/>
          </a:xfrm>
          <a:prstGeom prst="rect">
            <a:avLst/>
          </a:prstGeom>
          <a:solidFill>
            <a:srgbClr val="F8FAFC"/>
          </a:solidFill>
          <a:ln w="8890">
            <a:solidFill>
              <a:srgbClr val="EEF1F5"/>
            </a:solidFill>
            <a:prstDash val="solid"/>
          </a:ln>
        </p:spPr>
        <p:txBody>
          <a:bodyPr/>
          <a:lstStyle/>
          <a:p>
            <a:endParaRPr lang="ja-JP" altLang="en-US"/>
          </a:p>
        </p:txBody>
      </p:sp>
      <p:sp>
        <p:nvSpPr>
          <p:cNvPr id="45" name="Text 43"/>
          <p:cNvSpPr/>
          <p:nvPr/>
        </p:nvSpPr>
        <p:spPr>
          <a:xfrm>
            <a:off x="6976872" y="306781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費用差の主因</a:t>
            </a:r>
            <a:endParaRPr lang="en-US" sz="1260" dirty="0"/>
          </a:p>
        </p:txBody>
      </p:sp>
      <p:sp>
        <p:nvSpPr>
          <p:cNvPr id="46" name="Shape 44"/>
          <p:cNvSpPr/>
          <p:nvPr/>
        </p:nvSpPr>
        <p:spPr>
          <a:xfrm>
            <a:off x="566928" y="3538728"/>
            <a:ext cx="2057400" cy="502920"/>
          </a:xfrm>
          <a:prstGeom prst="rect">
            <a:avLst/>
          </a:prstGeom>
          <a:solidFill>
            <a:srgbClr val="FFFFFF"/>
          </a:solidFill>
          <a:ln w="8890">
            <a:solidFill>
              <a:srgbClr val="EEF1F5"/>
            </a:solidFill>
            <a:prstDash val="solid"/>
          </a:ln>
        </p:spPr>
        <p:txBody>
          <a:bodyPr/>
          <a:lstStyle/>
          <a:p>
            <a:endParaRPr lang="ja-JP" altLang="en-US"/>
          </a:p>
        </p:txBody>
      </p:sp>
      <p:sp>
        <p:nvSpPr>
          <p:cNvPr id="47" name="Text 45"/>
          <p:cNvSpPr/>
          <p:nvPr/>
        </p:nvSpPr>
        <p:spPr>
          <a:xfrm>
            <a:off x="621792" y="357073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系統購入量</a:t>
            </a:r>
            <a:endParaRPr lang="en-US" sz="1260" dirty="0"/>
          </a:p>
        </p:txBody>
      </p:sp>
      <p:sp>
        <p:nvSpPr>
          <p:cNvPr id="48" name="Shape 46"/>
          <p:cNvSpPr/>
          <p:nvPr/>
        </p:nvSpPr>
        <p:spPr>
          <a:xfrm>
            <a:off x="2624328" y="353872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49" name="Text 47"/>
          <p:cNvSpPr/>
          <p:nvPr/>
        </p:nvSpPr>
        <p:spPr>
          <a:xfrm>
            <a:off x="2679192" y="357073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0.0 kWh</a:t>
            </a:r>
            <a:endParaRPr lang="en-US" sz="1260" dirty="0"/>
          </a:p>
        </p:txBody>
      </p:sp>
      <p:sp>
        <p:nvSpPr>
          <p:cNvPr id="50" name="Shape 48"/>
          <p:cNvSpPr/>
          <p:nvPr/>
        </p:nvSpPr>
        <p:spPr>
          <a:xfrm>
            <a:off x="4773168" y="353872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51" name="Text 49"/>
          <p:cNvSpPr/>
          <p:nvPr/>
        </p:nvSpPr>
        <p:spPr>
          <a:xfrm>
            <a:off x="4828032" y="357073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130.9 kWh</a:t>
            </a:r>
            <a:endParaRPr lang="en-US" sz="1260" dirty="0"/>
          </a:p>
        </p:txBody>
      </p:sp>
      <p:sp>
        <p:nvSpPr>
          <p:cNvPr id="52" name="Shape 50"/>
          <p:cNvSpPr/>
          <p:nvPr/>
        </p:nvSpPr>
        <p:spPr>
          <a:xfrm>
            <a:off x="6922008" y="3538728"/>
            <a:ext cx="4681728" cy="502920"/>
          </a:xfrm>
          <a:prstGeom prst="rect">
            <a:avLst/>
          </a:prstGeom>
          <a:solidFill>
            <a:srgbClr val="FFFFFF"/>
          </a:solidFill>
          <a:ln w="8890">
            <a:solidFill>
              <a:srgbClr val="EEF1F5"/>
            </a:solidFill>
            <a:prstDash val="solid"/>
          </a:ln>
        </p:spPr>
        <p:txBody>
          <a:bodyPr/>
          <a:lstStyle/>
          <a:p>
            <a:endParaRPr lang="ja-JP" altLang="en-US"/>
          </a:p>
        </p:txBody>
      </p:sp>
      <p:sp>
        <p:nvSpPr>
          <p:cNvPr id="53" name="Text 51"/>
          <p:cNvSpPr/>
          <p:nvPr/>
        </p:nvSpPr>
        <p:spPr>
          <a:xfrm>
            <a:off x="6976872" y="357073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低PVで不足分を補給</a:t>
            </a:r>
            <a:endParaRPr lang="en-US" sz="1260" dirty="0"/>
          </a:p>
        </p:txBody>
      </p:sp>
      <p:sp>
        <p:nvSpPr>
          <p:cNvPr id="54" name="Shape 52"/>
          <p:cNvSpPr/>
          <p:nvPr/>
        </p:nvSpPr>
        <p:spPr>
          <a:xfrm>
            <a:off x="566928" y="4041648"/>
            <a:ext cx="2057400" cy="502920"/>
          </a:xfrm>
          <a:prstGeom prst="rect">
            <a:avLst/>
          </a:prstGeom>
          <a:solidFill>
            <a:srgbClr val="F8FAFC"/>
          </a:solidFill>
          <a:ln w="8890">
            <a:solidFill>
              <a:srgbClr val="EEF1F5"/>
            </a:solidFill>
            <a:prstDash val="solid"/>
          </a:ln>
        </p:spPr>
        <p:txBody>
          <a:bodyPr/>
          <a:lstStyle/>
          <a:p>
            <a:endParaRPr lang="ja-JP" altLang="en-US"/>
          </a:p>
        </p:txBody>
      </p:sp>
      <p:sp>
        <p:nvSpPr>
          <p:cNvPr id="55" name="Text 53"/>
          <p:cNvSpPr/>
          <p:nvPr/>
        </p:nvSpPr>
        <p:spPr>
          <a:xfrm>
            <a:off x="621792" y="407365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PV抑制量</a:t>
            </a:r>
            <a:endParaRPr lang="en-US" sz="1260" dirty="0"/>
          </a:p>
        </p:txBody>
      </p:sp>
      <p:sp>
        <p:nvSpPr>
          <p:cNvPr id="56" name="Shape 54"/>
          <p:cNvSpPr/>
          <p:nvPr/>
        </p:nvSpPr>
        <p:spPr>
          <a:xfrm>
            <a:off x="2624328" y="4041648"/>
            <a:ext cx="2148840" cy="502920"/>
          </a:xfrm>
          <a:prstGeom prst="rect">
            <a:avLst/>
          </a:prstGeom>
          <a:solidFill>
            <a:srgbClr val="F8FAFC"/>
          </a:solidFill>
          <a:ln w="8890">
            <a:solidFill>
              <a:srgbClr val="EEF1F5"/>
            </a:solidFill>
            <a:prstDash val="solid"/>
          </a:ln>
        </p:spPr>
        <p:txBody>
          <a:bodyPr/>
          <a:lstStyle/>
          <a:p>
            <a:endParaRPr lang="ja-JP" altLang="en-US"/>
          </a:p>
        </p:txBody>
      </p:sp>
      <p:sp>
        <p:nvSpPr>
          <p:cNvPr id="57" name="Text 55"/>
          <p:cNvSpPr/>
          <p:nvPr/>
        </p:nvSpPr>
        <p:spPr>
          <a:xfrm>
            <a:off x="2679192" y="407365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3,373 kWh</a:t>
            </a:r>
            <a:endParaRPr lang="en-US" sz="1260" dirty="0"/>
          </a:p>
        </p:txBody>
      </p:sp>
      <p:sp>
        <p:nvSpPr>
          <p:cNvPr id="58" name="Shape 56"/>
          <p:cNvSpPr/>
          <p:nvPr/>
        </p:nvSpPr>
        <p:spPr>
          <a:xfrm>
            <a:off x="4773168" y="4041648"/>
            <a:ext cx="2148840" cy="502920"/>
          </a:xfrm>
          <a:prstGeom prst="rect">
            <a:avLst/>
          </a:prstGeom>
          <a:solidFill>
            <a:srgbClr val="F8FAFC"/>
          </a:solidFill>
          <a:ln w="8890">
            <a:solidFill>
              <a:srgbClr val="EEF1F5"/>
            </a:solidFill>
            <a:prstDash val="solid"/>
          </a:ln>
        </p:spPr>
        <p:txBody>
          <a:bodyPr/>
          <a:lstStyle/>
          <a:p>
            <a:endParaRPr lang="ja-JP" altLang="en-US"/>
          </a:p>
        </p:txBody>
      </p:sp>
      <p:sp>
        <p:nvSpPr>
          <p:cNvPr id="59" name="Text 57"/>
          <p:cNvSpPr/>
          <p:nvPr/>
        </p:nvSpPr>
        <p:spPr>
          <a:xfrm>
            <a:off x="4828032" y="407365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ほぼ0 kWh</a:t>
            </a:r>
            <a:endParaRPr lang="en-US" sz="1260" dirty="0"/>
          </a:p>
        </p:txBody>
      </p:sp>
      <p:sp>
        <p:nvSpPr>
          <p:cNvPr id="60" name="Shape 58"/>
          <p:cNvSpPr/>
          <p:nvPr/>
        </p:nvSpPr>
        <p:spPr>
          <a:xfrm>
            <a:off x="6922008" y="4041648"/>
            <a:ext cx="4681728" cy="502920"/>
          </a:xfrm>
          <a:prstGeom prst="rect">
            <a:avLst/>
          </a:prstGeom>
          <a:solidFill>
            <a:srgbClr val="F8FAFC"/>
          </a:solidFill>
          <a:ln w="8890">
            <a:solidFill>
              <a:srgbClr val="EEF1F5"/>
            </a:solidFill>
            <a:prstDash val="solid"/>
          </a:ln>
        </p:spPr>
        <p:txBody>
          <a:bodyPr/>
          <a:lstStyle/>
          <a:p>
            <a:endParaRPr lang="ja-JP" altLang="en-US"/>
          </a:p>
        </p:txBody>
      </p:sp>
      <p:sp>
        <p:nvSpPr>
          <p:cNvPr id="61" name="Text 59"/>
          <p:cNvSpPr/>
          <p:nvPr/>
        </p:nvSpPr>
        <p:spPr>
          <a:xfrm>
            <a:off x="6976872" y="407365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抑制の原因は未特定</a:t>
            </a:r>
            <a:endParaRPr lang="en-US" sz="1260" dirty="0"/>
          </a:p>
        </p:txBody>
      </p:sp>
      <p:sp>
        <p:nvSpPr>
          <p:cNvPr id="62" name="Shape 60"/>
          <p:cNvSpPr/>
          <p:nvPr/>
        </p:nvSpPr>
        <p:spPr>
          <a:xfrm>
            <a:off x="566928" y="4544568"/>
            <a:ext cx="2057400" cy="502920"/>
          </a:xfrm>
          <a:prstGeom prst="rect">
            <a:avLst/>
          </a:prstGeom>
          <a:solidFill>
            <a:srgbClr val="FFFFFF"/>
          </a:solidFill>
          <a:ln w="8890">
            <a:solidFill>
              <a:srgbClr val="EEF1F5"/>
            </a:solidFill>
            <a:prstDash val="solid"/>
          </a:ln>
        </p:spPr>
        <p:txBody>
          <a:bodyPr/>
          <a:lstStyle/>
          <a:p>
            <a:endParaRPr lang="ja-JP" altLang="en-US"/>
          </a:p>
        </p:txBody>
      </p:sp>
      <p:sp>
        <p:nvSpPr>
          <p:cNvPr id="63" name="Text 61"/>
          <p:cNvSpPr/>
          <p:nvPr/>
        </p:nvSpPr>
        <p:spPr>
          <a:xfrm>
            <a:off x="621792" y="457657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24時間評価額</a:t>
            </a:r>
            <a:endParaRPr lang="en-US" sz="1260" dirty="0"/>
          </a:p>
        </p:txBody>
      </p:sp>
      <p:sp>
        <p:nvSpPr>
          <p:cNvPr id="64" name="Shape 62"/>
          <p:cNvSpPr/>
          <p:nvPr/>
        </p:nvSpPr>
        <p:spPr>
          <a:xfrm>
            <a:off x="2624328" y="454456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65" name="Text 63"/>
          <p:cNvSpPr/>
          <p:nvPr/>
        </p:nvSpPr>
        <p:spPr>
          <a:xfrm>
            <a:off x="2679192" y="457657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660,984円</a:t>
            </a:r>
            <a:endParaRPr lang="en-US" sz="1260" dirty="0"/>
          </a:p>
        </p:txBody>
      </p:sp>
      <p:sp>
        <p:nvSpPr>
          <p:cNvPr id="66" name="Shape 64"/>
          <p:cNvSpPr/>
          <p:nvPr/>
        </p:nvSpPr>
        <p:spPr>
          <a:xfrm>
            <a:off x="4773168" y="454456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67" name="Text 65"/>
          <p:cNvSpPr/>
          <p:nvPr/>
        </p:nvSpPr>
        <p:spPr>
          <a:xfrm>
            <a:off x="4828032" y="457657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698,599円</a:t>
            </a:r>
            <a:endParaRPr lang="en-US" sz="1260" dirty="0"/>
          </a:p>
        </p:txBody>
      </p:sp>
      <p:sp>
        <p:nvSpPr>
          <p:cNvPr id="68" name="Shape 66"/>
          <p:cNvSpPr/>
          <p:nvPr/>
        </p:nvSpPr>
        <p:spPr>
          <a:xfrm>
            <a:off x="6922008" y="4544568"/>
            <a:ext cx="4681728" cy="502920"/>
          </a:xfrm>
          <a:prstGeom prst="rect">
            <a:avLst/>
          </a:prstGeom>
          <a:solidFill>
            <a:srgbClr val="FFFFFF"/>
          </a:solidFill>
          <a:ln w="8890">
            <a:solidFill>
              <a:srgbClr val="EEF1F5"/>
            </a:solidFill>
            <a:prstDash val="solid"/>
          </a:ln>
        </p:spPr>
        <p:txBody>
          <a:bodyPr/>
          <a:lstStyle/>
          <a:p>
            <a:endParaRPr lang="ja-JP" altLang="en-US"/>
          </a:p>
        </p:txBody>
      </p:sp>
      <p:sp>
        <p:nvSpPr>
          <p:cNvPr id="69" name="Text 67"/>
          <p:cNvSpPr/>
          <p:nvPr/>
        </p:nvSpPr>
        <p:spPr>
          <a:xfrm>
            <a:off x="6976872" y="457657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差額 +37,615円</a:t>
            </a:r>
            <a:endParaRPr lang="en-US" sz="1260" dirty="0"/>
          </a:p>
        </p:txBody>
      </p:sp>
      <p:sp>
        <p:nvSpPr>
          <p:cNvPr id="70" name="Shape 68"/>
          <p:cNvSpPr/>
          <p:nvPr/>
        </p:nvSpPr>
        <p:spPr>
          <a:xfrm>
            <a:off x="566928" y="5047488"/>
            <a:ext cx="2057400" cy="502920"/>
          </a:xfrm>
          <a:prstGeom prst="rect">
            <a:avLst/>
          </a:prstGeom>
          <a:solidFill>
            <a:srgbClr val="F8FAFC"/>
          </a:solidFill>
          <a:ln w="8890">
            <a:solidFill>
              <a:srgbClr val="EEF1F5"/>
            </a:solidFill>
            <a:prstDash val="solid"/>
          </a:ln>
        </p:spPr>
        <p:txBody>
          <a:bodyPr/>
          <a:lstStyle/>
          <a:p>
            <a:endParaRPr lang="ja-JP" altLang="en-US"/>
          </a:p>
        </p:txBody>
      </p:sp>
      <p:sp>
        <p:nvSpPr>
          <p:cNvPr id="71" name="Text 69"/>
          <p:cNvSpPr/>
          <p:nvPr/>
        </p:nvSpPr>
        <p:spPr>
          <a:xfrm>
            <a:off x="621792" y="507949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計算の詰まり具合</a:t>
            </a:r>
            <a:endParaRPr lang="en-US" sz="1260" dirty="0"/>
          </a:p>
        </p:txBody>
      </p:sp>
      <p:sp>
        <p:nvSpPr>
          <p:cNvPr id="72" name="Shape 70"/>
          <p:cNvSpPr/>
          <p:nvPr/>
        </p:nvSpPr>
        <p:spPr>
          <a:xfrm>
            <a:off x="2624328" y="5047488"/>
            <a:ext cx="2148840" cy="502920"/>
          </a:xfrm>
          <a:prstGeom prst="rect">
            <a:avLst/>
          </a:prstGeom>
          <a:solidFill>
            <a:srgbClr val="F8FAFC"/>
          </a:solidFill>
          <a:ln w="8890">
            <a:solidFill>
              <a:srgbClr val="EEF1F5"/>
            </a:solidFill>
            <a:prstDash val="solid"/>
          </a:ln>
        </p:spPr>
        <p:txBody>
          <a:bodyPr/>
          <a:lstStyle/>
          <a:p>
            <a:endParaRPr lang="ja-JP" altLang="en-US"/>
          </a:p>
        </p:txBody>
      </p:sp>
      <p:sp>
        <p:nvSpPr>
          <p:cNvPr id="73" name="Text 71"/>
          <p:cNvSpPr/>
          <p:nvPr/>
        </p:nvSpPr>
        <p:spPr>
          <a:xfrm>
            <a:off x="2679192" y="507949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約9.52%</a:t>
            </a:r>
            <a:endParaRPr lang="en-US" sz="1260" dirty="0"/>
          </a:p>
        </p:txBody>
      </p:sp>
      <p:sp>
        <p:nvSpPr>
          <p:cNvPr id="74" name="Shape 72"/>
          <p:cNvSpPr/>
          <p:nvPr/>
        </p:nvSpPr>
        <p:spPr>
          <a:xfrm>
            <a:off x="4773168" y="5047488"/>
            <a:ext cx="2148840" cy="502920"/>
          </a:xfrm>
          <a:prstGeom prst="rect">
            <a:avLst/>
          </a:prstGeom>
          <a:solidFill>
            <a:srgbClr val="F8FAFC"/>
          </a:solidFill>
          <a:ln w="8890">
            <a:solidFill>
              <a:srgbClr val="EEF1F5"/>
            </a:solidFill>
            <a:prstDash val="solid"/>
          </a:ln>
        </p:spPr>
        <p:txBody>
          <a:bodyPr/>
          <a:lstStyle/>
          <a:p>
            <a:endParaRPr lang="ja-JP" altLang="en-US"/>
          </a:p>
        </p:txBody>
      </p:sp>
      <p:sp>
        <p:nvSpPr>
          <p:cNvPr id="75" name="Text 73"/>
          <p:cNvSpPr/>
          <p:nvPr/>
        </p:nvSpPr>
        <p:spPr>
          <a:xfrm>
            <a:off x="4828032" y="507949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約1.66%</a:t>
            </a:r>
            <a:endParaRPr lang="en-US" sz="1260" dirty="0"/>
          </a:p>
        </p:txBody>
      </p:sp>
      <p:sp>
        <p:nvSpPr>
          <p:cNvPr id="76" name="Shape 74"/>
          <p:cNvSpPr/>
          <p:nvPr/>
        </p:nvSpPr>
        <p:spPr>
          <a:xfrm>
            <a:off x="6922008" y="5047488"/>
            <a:ext cx="4681728" cy="502920"/>
          </a:xfrm>
          <a:prstGeom prst="rect">
            <a:avLst/>
          </a:prstGeom>
          <a:solidFill>
            <a:srgbClr val="F8FAFC"/>
          </a:solidFill>
          <a:ln w="8890">
            <a:solidFill>
              <a:srgbClr val="EEF1F5"/>
            </a:solidFill>
            <a:prstDash val="solid"/>
          </a:ln>
        </p:spPr>
        <p:txBody>
          <a:bodyPr/>
          <a:lstStyle/>
          <a:p>
            <a:endParaRPr lang="ja-JP" altLang="en-US"/>
          </a:p>
        </p:txBody>
      </p:sp>
      <p:sp>
        <p:nvSpPr>
          <p:cNvPr id="77" name="Text 75"/>
          <p:cNvSpPr/>
          <p:nvPr/>
        </p:nvSpPr>
        <p:spPr>
          <a:xfrm>
            <a:off x="6976872" y="507949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配車側の目安。最終費用の誤差ではない</a:t>
            </a:r>
            <a:endParaRPr lang="en-US" sz="1260" dirty="0"/>
          </a:p>
        </p:txBody>
      </p:sp>
      <p:sp>
        <p:nvSpPr>
          <p:cNvPr id="78" name="Shape 76"/>
          <p:cNvSpPr/>
          <p:nvPr/>
        </p:nvSpPr>
        <p:spPr>
          <a:xfrm>
            <a:off x="566928" y="5550408"/>
            <a:ext cx="2057400" cy="502920"/>
          </a:xfrm>
          <a:prstGeom prst="rect">
            <a:avLst/>
          </a:prstGeom>
          <a:solidFill>
            <a:srgbClr val="FFFFFF"/>
          </a:solidFill>
          <a:ln w="8890">
            <a:solidFill>
              <a:srgbClr val="EEF1F5"/>
            </a:solidFill>
            <a:prstDash val="solid"/>
          </a:ln>
        </p:spPr>
        <p:txBody>
          <a:bodyPr/>
          <a:lstStyle/>
          <a:p>
            <a:endParaRPr lang="ja-JP" altLang="en-US"/>
          </a:p>
        </p:txBody>
      </p:sp>
      <p:sp>
        <p:nvSpPr>
          <p:cNvPr id="79" name="Text 77"/>
          <p:cNvSpPr/>
          <p:nvPr/>
        </p:nvSpPr>
        <p:spPr>
          <a:xfrm>
            <a:off x="621792" y="558241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検算</a:t>
            </a:r>
            <a:endParaRPr lang="en-US" sz="1260" dirty="0"/>
          </a:p>
        </p:txBody>
      </p:sp>
      <p:sp>
        <p:nvSpPr>
          <p:cNvPr id="80" name="Shape 78"/>
          <p:cNvSpPr/>
          <p:nvPr/>
        </p:nvSpPr>
        <p:spPr>
          <a:xfrm>
            <a:off x="2624328" y="555040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81" name="Text 79"/>
          <p:cNvSpPr/>
          <p:nvPr/>
        </p:nvSpPr>
        <p:spPr>
          <a:xfrm>
            <a:off x="2679192" y="558241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264便・24/24・PASS</a:t>
            </a:r>
            <a:endParaRPr lang="en-US" sz="1260" dirty="0"/>
          </a:p>
        </p:txBody>
      </p:sp>
      <p:sp>
        <p:nvSpPr>
          <p:cNvPr id="82" name="Shape 80"/>
          <p:cNvSpPr/>
          <p:nvPr/>
        </p:nvSpPr>
        <p:spPr>
          <a:xfrm>
            <a:off x="4773168" y="555040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83" name="Text 81"/>
          <p:cNvSpPr/>
          <p:nvPr/>
        </p:nvSpPr>
        <p:spPr>
          <a:xfrm>
            <a:off x="4828032" y="558241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264便・24/24・PASS</a:t>
            </a:r>
            <a:endParaRPr lang="en-US" sz="1260" dirty="0"/>
          </a:p>
        </p:txBody>
      </p:sp>
      <p:sp>
        <p:nvSpPr>
          <p:cNvPr id="84" name="Shape 82"/>
          <p:cNvSpPr/>
          <p:nvPr/>
        </p:nvSpPr>
        <p:spPr>
          <a:xfrm>
            <a:off x="6922008" y="5550408"/>
            <a:ext cx="4681728" cy="502920"/>
          </a:xfrm>
          <a:prstGeom prst="rect">
            <a:avLst/>
          </a:prstGeom>
          <a:solidFill>
            <a:srgbClr val="FFFFFF"/>
          </a:solidFill>
          <a:ln w="8890">
            <a:solidFill>
              <a:srgbClr val="EEF1F5"/>
            </a:solidFill>
            <a:prstDash val="solid"/>
          </a:ln>
        </p:spPr>
        <p:txBody>
          <a:bodyPr/>
          <a:lstStyle/>
          <a:p>
            <a:endParaRPr lang="ja-JP" altLang="en-US"/>
          </a:p>
        </p:txBody>
      </p:sp>
      <p:sp>
        <p:nvSpPr>
          <p:cNvPr id="85" name="Text 83"/>
          <p:cNvSpPr/>
          <p:nvPr/>
        </p:nvSpPr>
        <p:spPr>
          <a:xfrm>
            <a:off x="6976872" y="558241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物理・会計とも成立</a:t>
            </a:r>
            <a:endParaRPr lang="en-US" sz="1260" dirty="0"/>
          </a:p>
        </p:txBody>
      </p:sp>
      <p:sp>
        <p:nvSpPr>
          <p:cNvPr id="86" name="Shape 84"/>
          <p:cNvSpPr/>
          <p:nvPr/>
        </p:nvSpPr>
        <p:spPr>
          <a:xfrm>
            <a:off x="1033272" y="6016752"/>
            <a:ext cx="10149840" cy="310896"/>
          </a:xfrm>
          <a:prstGeom prst="roundRect">
            <a:avLst/>
          </a:prstGeom>
          <a:solidFill>
            <a:srgbClr val="E8F6F3"/>
          </a:solidFill>
          <a:ln w="11430">
            <a:solidFill>
              <a:srgbClr val="1F9D8A"/>
            </a:solidFill>
            <a:prstDash val="solid"/>
          </a:ln>
        </p:spPr>
        <p:txBody>
          <a:bodyPr/>
          <a:lstStyle/>
          <a:p>
            <a:endParaRPr lang="ja-JP" altLang="en-US"/>
          </a:p>
        </p:txBody>
      </p:sp>
      <p:sp>
        <p:nvSpPr>
          <p:cNvPr id="87" name="Text 85"/>
          <p:cNvSpPr/>
          <p:nvPr/>
        </p:nvSpPr>
        <p:spPr>
          <a:xfrm>
            <a:off x="1234440" y="6071616"/>
            <a:ext cx="9738360" cy="201168"/>
          </a:xfrm>
          <a:prstGeom prst="rect">
            <a:avLst/>
          </a:prstGeom>
          <a:noFill/>
          <a:ln/>
        </p:spPr>
        <p:txBody>
          <a:bodyPr wrap="square" lIns="0" tIns="0" rIns="0" bIns="0" rtlCol="0" anchor="ctr"/>
          <a:lstStyle/>
          <a:p>
            <a:pPr marL="0" indent="0" algn="ctr">
              <a:buNone/>
            </a:pPr>
            <a:r>
              <a:rPr lang="en-US" sz="1480" b="1" dirty="0">
                <a:solidFill>
                  <a:srgbClr val="1F9D8A"/>
                </a:solidFill>
                <a:latin typeface="Noto Sans CJK JP" pitchFamily="34" charset="0"/>
                <a:ea typeface="Noto Sans CJK JP" pitchFamily="34" charset="-122"/>
                <a:cs typeface="Noto Sans CJK JP" pitchFamily="34" charset="-120"/>
              </a:rPr>
              <a:t>結論：PV量の違いに応じて配車と電力の使い方が変わり、両条件とも全便運行と検算を満たした。</a:t>
            </a:r>
            <a:endParaRPr lang="en-US" sz="14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結果の信頼性：一日を進めながら24回見直し、最後に全体を検算</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15/18</a:t>
            </a:r>
            <a:endParaRPr lang="en-US" sz="850" dirty="0"/>
          </a:p>
        </p:txBody>
      </p:sp>
      <p:sp>
        <p:nvSpPr>
          <p:cNvPr id="6" name="Text 4"/>
          <p:cNvSpPr/>
          <p:nvPr/>
        </p:nvSpPr>
        <p:spPr>
          <a:xfrm>
            <a:off x="685800" y="914400"/>
            <a:ext cx="10835640" cy="329184"/>
          </a:xfrm>
          <a:prstGeom prst="rect">
            <a:avLst/>
          </a:prstGeom>
          <a:noFill/>
          <a:ln/>
        </p:spPr>
        <p:txBody>
          <a:bodyPr wrap="square" lIns="0" tIns="0" rIns="0" bIns="0" rtlCol="0" anchor="ctr"/>
          <a:lstStyle/>
          <a:p>
            <a:pPr marL="0" indent="0" algn="ctr">
              <a:buNone/>
            </a:pPr>
            <a:r>
              <a:rPr lang="en-US" sz="1800" dirty="0">
                <a:solidFill>
                  <a:srgbClr val="172033"/>
                </a:solidFill>
                <a:latin typeface="Noto Sans CJK JP" pitchFamily="34" charset="0"/>
                <a:ea typeface="Noto Sans CJK JP" pitchFamily="34" charset="-122"/>
                <a:cs typeface="Noto Sans CJK JP" pitchFamily="34" charset="-120"/>
              </a:rPr>
              <a:t>「朝に作った計画をそのまま使う」のではなく、1時間ごとに残り時間の充電計画を更新する。</a:t>
            </a:r>
            <a:endParaRPr lang="en-US" sz="1800" dirty="0"/>
          </a:p>
        </p:txBody>
      </p:sp>
      <p:sp>
        <p:nvSpPr>
          <p:cNvPr id="7" name="Shape 5"/>
          <p:cNvSpPr/>
          <p:nvPr/>
        </p:nvSpPr>
        <p:spPr>
          <a:xfrm>
            <a:off x="914400" y="1965960"/>
            <a:ext cx="10149840" cy="0"/>
          </a:xfrm>
          <a:prstGeom prst="line">
            <a:avLst/>
          </a:prstGeom>
          <a:noFill/>
          <a:ln w="38100">
            <a:solidFill>
              <a:srgbClr val="356BB3"/>
            </a:solidFill>
            <a:prstDash val="solid"/>
          </a:ln>
        </p:spPr>
        <p:txBody>
          <a:bodyPr/>
          <a:lstStyle/>
          <a:p>
            <a:endParaRPr lang="ja-JP" altLang="en-US"/>
          </a:p>
        </p:txBody>
      </p:sp>
      <p:sp>
        <p:nvSpPr>
          <p:cNvPr id="8" name="Shape 6"/>
          <p:cNvSpPr/>
          <p:nvPr/>
        </p:nvSpPr>
        <p:spPr>
          <a:xfrm>
            <a:off x="804672" y="1856232"/>
            <a:ext cx="219456" cy="219456"/>
          </a:xfrm>
          <a:prstGeom prst="ellipse">
            <a:avLst/>
          </a:prstGeom>
          <a:solidFill>
            <a:srgbClr val="356BB3"/>
          </a:solidFill>
          <a:ln w="12700">
            <a:solidFill>
              <a:srgbClr val="FFFFFF"/>
            </a:solidFill>
            <a:prstDash val="solid"/>
          </a:ln>
        </p:spPr>
        <p:txBody>
          <a:bodyPr/>
          <a:lstStyle/>
          <a:p>
            <a:endParaRPr lang="ja-JP" altLang="en-US"/>
          </a:p>
        </p:txBody>
      </p:sp>
      <p:sp>
        <p:nvSpPr>
          <p:cNvPr id="9" name="Text 7"/>
          <p:cNvSpPr/>
          <p:nvPr/>
        </p:nvSpPr>
        <p:spPr>
          <a:xfrm>
            <a:off x="594360" y="2176272"/>
            <a:ext cx="640080" cy="201168"/>
          </a:xfrm>
          <a:prstGeom prst="rect">
            <a:avLst/>
          </a:prstGeom>
          <a:noFill/>
          <a:ln/>
        </p:spPr>
        <p:txBody>
          <a:bodyPr wrap="square" lIns="0" tIns="0" rIns="0" bIns="0" rtlCol="0" anchor="ctr"/>
          <a:lstStyle/>
          <a:p>
            <a:pPr marL="0" indent="0" algn="ctr">
              <a:buNone/>
            </a:pPr>
            <a:r>
              <a:rPr lang="en-US" sz="1100" dirty="0">
                <a:solidFill>
                  <a:srgbClr val="687386"/>
                </a:solidFill>
                <a:latin typeface="Arial" pitchFamily="34" charset="0"/>
                <a:ea typeface="Arial" pitchFamily="34" charset="-122"/>
                <a:cs typeface="Arial" pitchFamily="34" charset="-120"/>
              </a:rPr>
              <a:t>00:00</a:t>
            </a:r>
            <a:endParaRPr lang="en-US" sz="1100" dirty="0"/>
          </a:p>
        </p:txBody>
      </p:sp>
      <p:sp>
        <p:nvSpPr>
          <p:cNvPr id="10" name="Shape 8"/>
          <p:cNvSpPr/>
          <p:nvPr/>
        </p:nvSpPr>
        <p:spPr>
          <a:xfrm>
            <a:off x="3342132" y="1856232"/>
            <a:ext cx="219456" cy="219456"/>
          </a:xfrm>
          <a:prstGeom prst="ellipse">
            <a:avLst/>
          </a:prstGeom>
          <a:solidFill>
            <a:srgbClr val="356BB3"/>
          </a:solidFill>
          <a:ln w="12700">
            <a:solidFill>
              <a:srgbClr val="FFFFFF"/>
            </a:solidFill>
            <a:prstDash val="solid"/>
          </a:ln>
        </p:spPr>
        <p:txBody>
          <a:bodyPr/>
          <a:lstStyle/>
          <a:p>
            <a:endParaRPr lang="ja-JP" altLang="en-US"/>
          </a:p>
        </p:txBody>
      </p:sp>
      <p:sp>
        <p:nvSpPr>
          <p:cNvPr id="11" name="Text 9"/>
          <p:cNvSpPr/>
          <p:nvPr/>
        </p:nvSpPr>
        <p:spPr>
          <a:xfrm>
            <a:off x="3131820" y="2176272"/>
            <a:ext cx="640080" cy="201168"/>
          </a:xfrm>
          <a:prstGeom prst="rect">
            <a:avLst/>
          </a:prstGeom>
          <a:noFill/>
          <a:ln/>
        </p:spPr>
        <p:txBody>
          <a:bodyPr wrap="square" lIns="0" tIns="0" rIns="0" bIns="0" rtlCol="0" anchor="ctr"/>
          <a:lstStyle/>
          <a:p>
            <a:pPr marL="0" indent="0" algn="ctr">
              <a:buNone/>
            </a:pPr>
            <a:r>
              <a:rPr lang="en-US" sz="1100" dirty="0">
                <a:solidFill>
                  <a:srgbClr val="687386"/>
                </a:solidFill>
                <a:latin typeface="Arial" pitchFamily="34" charset="0"/>
                <a:ea typeface="Arial" pitchFamily="34" charset="-122"/>
                <a:cs typeface="Arial" pitchFamily="34" charset="-120"/>
              </a:rPr>
              <a:t>06:00</a:t>
            </a:r>
            <a:endParaRPr lang="en-US" sz="1100" dirty="0"/>
          </a:p>
        </p:txBody>
      </p:sp>
      <p:sp>
        <p:nvSpPr>
          <p:cNvPr id="12" name="Shape 10"/>
          <p:cNvSpPr/>
          <p:nvPr/>
        </p:nvSpPr>
        <p:spPr>
          <a:xfrm>
            <a:off x="5879592" y="1856232"/>
            <a:ext cx="219456" cy="219456"/>
          </a:xfrm>
          <a:prstGeom prst="ellipse">
            <a:avLst/>
          </a:prstGeom>
          <a:solidFill>
            <a:srgbClr val="356BB3"/>
          </a:solidFill>
          <a:ln w="12700">
            <a:solidFill>
              <a:srgbClr val="FFFFFF"/>
            </a:solidFill>
            <a:prstDash val="solid"/>
          </a:ln>
        </p:spPr>
        <p:txBody>
          <a:bodyPr/>
          <a:lstStyle/>
          <a:p>
            <a:endParaRPr lang="ja-JP" altLang="en-US"/>
          </a:p>
        </p:txBody>
      </p:sp>
      <p:sp>
        <p:nvSpPr>
          <p:cNvPr id="13" name="Text 11"/>
          <p:cNvSpPr/>
          <p:nvPr/>
        </p:nvSpPr>
        <p:spPr>
          <a:xfrm>
            <a:off x="5669280" y="2176272"/>
            <a:ext cx="640080" cy="201168"/>
          </a:xfrm>
          <a:prstGeom prst="rect">
            <a:avLst/>
          </a:prstGeom>
          <a:noFill/>
          <a:ln/>
        </p:spPr>
        <p:txBody>
          <a:bodyPr wrap="square" lIns="0" tIns="0" rIns="0" bIns="0" rtlCol="0" anchor="ctr"/>
          <a:lstStyle/>
          <a:p>
            <a:pPr marL="0" indent="0" algn="ctr">
              <a:buNone/>
            </a:pPr>
            <a:r>
              <a:rPr lang="en-US" sz="1100" dirty="0">
                <a:solidFill>
                  <a:srgbClr val="687386"/>
                </a:solidFill>
                <a:latin typeface="Arial" pitchFamily="34" charset="0"/>
                <a:ea typeface="Arial" pitchFamily="34" charset="-122"/>
                <a:cs typeface="Arial" pitchFamily="34" charset="-120"/>
              </a:rPr>
              <a:t>12:00</a:t>
            </a:r>
            <a:endParaRPr lang="en-US" sz="1100" dirty="0"/>
          </a:p>
        </p:txBody>
      </p:sp>
      <p:sp>
        <p:nvSpPr>
          <p:cNvPr id="14" name="Shape 12"/>
          <p:cNvSpPr/>
          <p:nvPr/>
        </p:nvSpPr>
        <p:spPr>
          <a:xfrm>
            <a:off x="8417052" y="1856232"/>
            <a:ext cx="219456" cy="219456"/>
          </a:xfrm>
          <a:prstGeom prst="ellipse">
            <a:avLst/>
          </a:prstGeom>
          <a:solidFill>
            <a:srgbClr val="356BB3"/>
          </a:solidFill>
          <a:ln w="12700">
            <a:solidFill>
              <a:srgbClr val="FFFFFF"/>
            </a:solidFill>
            <a:prstDash val="solid"/>
          </a:ln>
        </p:spPr>
        <p:txBody>
          <a:bodyPr/>
          <a:lstStyle/>
          <a:p>
            <a:endParaRPr lang="ja-JP" altLang="en-US"/>
          </a:p>
        </p:txBody>
      </p:sp>
      <p:sp>
        <p:nvSpPr>
          <p:cNvPr id="15" name="Text 13"/>
          <p:cNvSpPr/>
          <p:nvPr/>
        </p:nvSpPr>
        <p:spPr>
          <a:xfrm>
            <a:off x="8206740" y="2176272"/>
            <a:ext cx="640080" cy="201168"/>
          </a:xfrm>
          <a:prstGeom prst="rect">
            <a:avLst/>
          </a:prstGeom>
          <a:noFill/>
          <a:ln/>
        </p:spPr>
        <p:txBody>
          <a:bodyPr wrap="square" lIns="0" tIns="0" rIns="0" bIns="0" rtlCol="0" anchor="ctr"/>
          <a:lstStyle/>
          <a:p>
            <a:pPr marL="0" indent="0" algn="ctr">
              <a:buNone/>
            </a:pPr>
            <a:r>
              <a:rPr lang="en-US" sz="1100" dirty="0">
                <a:solidFill>
                  <a:srgbClr val="687386"/>
                </a:solidFill>
                <a:latin typeface="Arial" pitchFamily="34" charset="0"/>
                <a:ea typeface="Arial" pitchFamily="34" charset="-122"/>
                <a:cs typeface="Arial" pitchFamily="34" charset="-120"/>
              </a:rPr>
              <a:t>18:00</a:t>
            </a:r>
            <a:endParaRPr lang="en-US" sz="1100" dirty="0"/>
          </a:p>
        </p:txBody>
      </p:sp>
      <p:sp>
        <p:nvSpPr>
          <p:cNvPr id="16" name="Shape 14"/>
          <p:cNvSpPr/>
          <p:nvPr/>
        </p:nvSpPr>
        <p:spPr>
          <a:xfrm>
            <a:off x="10954512" y="1856232"/>
            <a:ext cx="219456" cy="219456"/>
          </a:xfrm>
          <a:prstGeom prst="ellipse">
            <a:avLst/>
          </a:prstGeom>
          <a:solidFill>
            <a:srgbClr val="356BB3"/>
          </a:solidFill>
          <a:ln w="12700">
            <a:solidFill>
              <a:srgbClr val="FFFFFF"/>
            </a:solidFill>
            <a:prstDash val="solid"/>
          </a:ln>
        </p:spPr>
        <p:txBody>
          <a:bodyPr/>
          <a:lstStyle/>
          <a:p>
            <a:endParaRPr lang="ja-JP" altLang="en-US"/>
          </a:p>
        </p:txBody>
      </p:sp>
      <p:sp>
        <p:nvSpPr>
          <p:cNvPr id="17" name="Text 15"/>
          <p:cNvSpPr/>
          <p:nvPr/>
        </p:nvSpPr>
        <p:spPr>
          <a:xfrm>
            <a:off x="10744200" y="2176272"/>
            <a:ext cx="640080" cy="201168"/>
          </a:xfrm>
          <a:prstGeom prst="rect">
            <a:avLst/>
          </a:prstGeom>
          <a:noFill/>
          <a:ln/>
        </p:spPr>
        <p:txBody>
          <a:bodyPr wrap="square" lIns="0" tIns="0" rIns="0" bIns="0" rtlCol="0" anchor="ctr"/>
          <a:lstStyle/>
          <a:p>
            <a:pPr marL="0" indent="0" algn="ctr">
              <a:buNone/>
            </a:pPr>
            <a:r>
              <a:rPr lang="en-US" sz="1100" dirty="0">
                <a:solidFill>
                  <a:srgbClr val="687386"/>
                </a:solidFill>
                <a:latin typeface="Arial" pitchFamily="34" charset="0"/>
                <a:ea typeface="Arial" pitchFamily="34" charset="-122"/>
                <a:cs typeface="Arial" pitchFamily="34" charset="-120"/>
              </a:rPr>
              <a:t>24:00</a:t>
            </a:r>
            <a:endParaRPr lang="en-US" sz="1100" dirty="0"/>
          </a:p>
        </p:txBody>
      </p:sp>
      <p:sp>
        <p:nvSpPr>
          <p:cNvPr id="18" name="Shape 16"/>
          <p:cNvSpPr/>
          <p:nvPr/>
        </p:nvSpPr>
        <p:spPr>
          <a:xfrm>
            <a:off x="1125855" y="1792224"/>
            <a:ext cx="0" cy="155448"/>
          </a:xfrm>
          <a:prstGeom prst="line">
            <a:avLst/>
          </a:prstGeom>
          <a:noFill/>
          <a:ln w="17780">
            <a:solidFill>
              <a:srgbClr val="1F9D8A"/>
            </a:solidFill>
            <a:prstDash val="solid"/>
          </a:ln>
        </p:spPr>
        <p:txBody>
          <a:bodyPr/>
          <a:lstStyle/>
          <a:p>
            <a:endParaRPr lang="ja-JP" altLang="en-US"/>
          </a:p>
        </p:txBody>
      </p:sp>
      <p:sp>
        <p:nvSpPr>
          <p:cNvPr id="19" name="Shape 17"/>
          <p:cNvSpPr/>
          <p:nvPr/>
        </p:nvSpPr>
        <p:spPr>
          <a:xfrm>
            <a:off x="1548765" y="1792224"/>
            <a:ext cx="0" cy="155448"/>
          </a:xfrm>
          <a:prstGeom prst="line">
            <a:avLst/>
          </a:prstGeom>
          <a:noFill/>
          <a:ln w="17780">
            <a:solidFill>
              <a:srgbClr val="5B8FD3"/>
            </a:solidFill>
            <a:prstDash val="solid"/>
          </a:ln>
        </p:spPr>
        <p:txBody>
          <a:bodyPr/>
          <a:lstStyle/>
          <a:p>
            <a:endParaRPr lang="ja-JP" altLang="en-US"/>
          </a:p>
        </p:txBody>
      </p:sp>
      <p:sp>
        <p:nvSpPr>
          <p:cNvPr id="20" name="Shape 18"/>
          <p:cNvSpPr/>
          <p:nvPr/>
        </p:nvSpPr>
        <p:spPr>
          <a:xfrm>
            <a:off x="1971675" y="1792224"/>
            <a:ext cx="0" cy="155448"/>
          </a:xfrm>
          <a:prstGeom prst="line">
            <a:avLst/>
          </a:prstGeom>
          <a:noFill/>
          <a:ln w="17780">
            <a:solidFill>
              <a:srgbClr val="1F9D8A"/>
            </a:solidFill>
            <a:prstDash val="solid"/>
          </a:ln>
        </p:spPr>
        <p:txBody>
          <a:bodyPr/>
          <a:lstStyle/>
          <a:p>
            <a:endParaRPr lang="ja-JP" altLang="en-US"/>
          </a:p>
        </p:txBody>
      </p:sp>
      <p:sp>
        <p:nvSpPr>
          <p:cNvPr id="21" name="Shape 19"/>
          <p:cNvSpPr/>
          <p:nvPr/>
        </p:nvSpPr>
        <p:spPr>
          <a:xfrm>
            <a:off x="2394585" y="1792224"/>
            <a:ext cx="0" cy="155448"/>
          </a:xfrm>
          <a:prstGeom prst="line">
            <a:avLst/>
          </a:prstGeom>
          <a:noFill/>
          <a:ln w="17780">
            <a:solidFill>
              <a:srgbClr val="5B8FD3"/>
            </a:solidFill>
            <a:prstDash val="solid"/>
          </a:ln>
        </p:spPr>
        <p:txBody>
          <a:bodyPr/>
          <a:lstStyle/>
          <a:p>
            <a:endParaRPr lang="ja-JP" altLang="en-US"/>
          </a:p>
        </p:txBody>
      </p:sp>
      <p:sp>
        <p:nvSpPr>
          <p:cNvPr id="22" name="Shape 20"/>
          <p:cNvSpPr/>
          <p:nvPr/>
        </p:nvSpPr>
        <p:spPr>
          <a:xfrm>
            <a:off x="2817495" y="1792224"/>
            <a:ext cx="0" cy="155448"/>
          </a:xfrm>
          <a:prstGeom prst="line">
            <a:avLst/>
          </a:prstGeom>
          <a:noFill/>
          <a:ln w="17780">
            <a:solidFill>
              <a:srgbClr val="1F9D8A"/>
            </a:solidFill>
            <a:prstDash val="solid"/>
          </a:ln>
        </p:spPr>
        <p:txBody>
          <a:bodyPr/>
          <a:lstStyle/>
          <a:p>
            <a:endParaRPr lang="ja-JP" altLang="en-US"/>
          </a:p>
        </p:txBody>
      </p:sp>
      <p:sp>
        <p:nvSpPr>
          <p:cNvPr id="23" name="Shape 21"/>
          <p:cNvSpPr/>
          <p:nvPr/>
        </p:nvSpPr>
        <p:spPr>
          <a:xfrm>
            <a:off x="3240405" y="1792224"/>
            <a:ext cx="0" cy="155448"/>
          </a:xfrm>
          <a:prstGeom prst="line">
            <a:avLst/>
          </a:prstGeom>
          <a:noFill/>
          <a:ln w="17780">
            <a:solidFill>
              <a:srgbClr val="5B8FD3"/>
            </a:solidFill>
            <a:prstDash val="solid"/>
          </a:ln>
        </p:spPr>
        <p:txBody>
          <a:bodyPr/>
          <a:lstStyle/>
          <a:p>
            <a:endParaRPr lang="ja-JP" altLang="en-US"/>
          </a:p>
        </p:txBody>
      </p:sp>
      <p:sp>
        <p:nvSpPr>
          <p:cNvPr id="24" name="Shape 22"/>
          <p:cNvSpPr/>
          <p:nvPr/>
        </p:nvSpPr>
        <p:spPr>
          <a:xfrm>
            <a:off x="3663315" y="1792224"/>
            <a:ext cx="0" cy="155448"/>
          </a:xfrm>
          <a:prstGeom prst="line">
            <a:avLst/>
          </a:prstGeom>
          <a:noFill/>
          <a:ln w="17780">
            <a:solidFill>
              <a:srgbClr val="1F9D8A"/>
            </a:solidFill>
            <a:prstDash val="solid"/>
          </a:ln>
        </p:spPr>
        <p:txBody>
          <a:bodyPr/>
          <a:lstStyle/>
          <a:p>
            <a:endParaRPr lang="ja-JP" altLang="en-US"/>
          </a:p>
        </p:txBody>
      </p:sp>
      <p:sp>
        <p:nvSpPr>
          <p:cNvPr id="25" name="Shape 23"/>
          <p:cNvSpPr/>
          <p:nvPr/>
        </p:nvSpPr>
        <p:spPr>
          <a:xfrm>
            <a:off x="4086225" y="1792224"/>
            <a:ext cx="0" cy="155448"/>
          </a:xfrm>
          <a:prstGeom prst="line">
            <a:avLst/>
          </a:prstGeom>
          <a:noFill/>
          <a:ln w="17780">
            <a:solidFill>
              <a:srgbClr val="5B8FD3"/>
            </a:solidFill>
            <a:prstDash val="solid"/>
          </a:ln>
        </p:spPr>
        <p:txBody>
          <a:bodyPr/>
          <a:lstStyle/>
          <a:p>
            <a:endParaRPr lang="ja-JP" altLang="en-US"/>
          </a:p>
        </p:txBody>
      </p:sp>
      <p:sp>
        <p:nvSpPr>
          <p:cNvPr id="26" name="Shape 24"/>
          <p:cNvSpPr/>
          <p:nvPr/>
        </p:nvSpPr>
        <p:spPr>
          <a:xfrm>
            <a:off x="4509135" y="1792224"/>
            <a:ext cx="0" cy="155448"/>
          </a:xfrm>
          <a:prstGeom prst="line">
            <a:avLst/>
          </a:prstGeom>
          <a:noFill/>
          <a:ln w="17780">
            <a:solidFill>
              <a:srgbClr val="1F9D8A"/>
            </a:solidFill>
            <a:prstDash val="solid"/>
          </a:ln>
        </p:spPr>
        <p:txBody>
          <a:bodyPr/>
          <a:lstStyle/>
          <a:p>
            <a:endParaRPr lang="ja-JP" altLang="en-US"/>
          </a:p>
        </p:txBody>
      </p:sp>
      <p:sp>
        <p:nvSpPr>
          <p:cNvPr id="27" name="Shape 25"/>
          <p:cNvSpPr/>
          <p:nvPr/>
        </p:nvSpPr>
        <p:spPr>
          <a:xfrm>
            <a:off x="4932045" y="1792224"/>
            <a:ext cx="0" cy="155448"/>
          </a:xfrm>
          <a:prstGeom prst="line">
            <a:avLst/>
          </a:prstGeom>
          <a:noFill/>
          <a:ln w="17780">
            <a:solidFill>
              <a:srgbClr val="5B8FD3"/>
            </a:solidFill>
            <a:prstDash val="solid"/>
          </a:ln>
        </p:spPr>
        <p:txBody>
          <a:bodyPr/>
          <a:lstStyle/>
          <a:p>
            <a:endParaRPr lang="ja-JP" altLang="en-US"/>
          </a:p>
        </p:txBody>
      </p:sp>
      <p:sp>
        <p:nvSpPr>
          <p:cNvPr id="28" name="Shape 26"/>
          <p:cNvSpPr/>
          <p:nvPr/>
        </p:nvSpPr>
        <p:spPr>
          <a:xfrm>
            <a:off x="5354955" y="1792224"/>
            <a:ext cx="0" cy="155448"/>
          </a:xfrm>
          <a:prstGeom prst="line">
            <a:avLst/>
          </a:prstGeom>
          <a:noFill/>
          <a:ln w="17780">
            <a:solidFill>
              <a:srgbClr val="1F9D8A"/>
            </a:solidFill>
            <a:prstDash val="solid"/>
          </a:ln>
        </p:spPr>
        <p:txBody>
          <a:bodyPr/>
          <a:lstStyle/>
          <a:p>
            <a:endParaRPr lang="ja-JP" altLang="en-US"/>
          </a:p>
        </p:txBody>
      </p:sp>
      <p:sp>
        <p:nvSpPr>
          <p:cNvPr id="29" name="Shape 27"/>
          <p:cNvSpPr/>
          <p:nvPr/>
        </p:nvSpPr>
        <p:spPr>
          <a:xfrm>
            <a:off x="5777865" y="1792224"/>
            <a:ext cx="0" cy="155448"/>
          </a:xfrm>
          <a:prstGeom prst="line">
            <a:avLst/>
          </a:prstGeom>
          <a:noFill/>
          <a:ln w="17780">
            <a:solidFill>
              <a:srgbClr val="5B8FD3"/>
            </a:solidFill>
            <a:prstDash val="solid"/>
          </a:ln>
        </p:spPr>
        <p:txBody>
          <a:bodyPr/>
          <a:lstStyle/>
          <a:p>
            <a:endParaRPr lang="ja-JP" altLang="en-US"/>
          </a:p>
        </p:txBody>
      </p:sp>
      <p:sp>
        <p:nvSpPr>
          <p:cNvPr id="30" name="Shape 28"/>
          <p:cNvSpPr/>
          <p:nvPr/>
        </p:nvSpPr>
        <p:spPr>
          <a:xfrm>
            <a:off x="6200775" y="1792224"/>
            <a:ext cx="0" cy="155448"/>
          </a:xfrm>
          <a:prstGeom prst="line">
            <a:avLst/>
          </a:prstGeom>
          <a:noFill/>
          <a:ln w="17780">
            <a:solidFill>
              <a:srgbClr val="1F9D8A"/>
            </a:solidFill>
            <a:prstDash val="solid"/>
          </a:ln>
        </p:spPr>
        <p:txBody>
          <a:bodyPr/>
          <a:lstStyle/>
          <a:p>
            <a:endParaRPr lang="ja-JP" altLang="en-US"/>
          </a:p>
        </p:txBody>
      </p:sp>
      <p:sp>
        <p:nvSpPr>
          <p:cNvPr id="31" name="Shape 29"/>
          <p:cNvSpPr/>
          <p:nvPr/>
        </p:nvSpPr>
        <p:spPr>
          <a:xfrm>
            <a:off x="6623685" y="1792224"/>
            <a:ext cx="0" cy="155448"/>
          </a:xfrm>
          <a:prstGeom prst="line">
            <a:avLst/>
          </a:prstGeom>
          <a:noFill/>
          <a:ln w="17780">
            <a:solidFill>
              <a:srgbClr val="5B8FD3"/>
            </a:solidFill>
            <a:prstDash val="solid"/>
          </a:ln>
        </p:spPr>
        <p:txBody>
          <a:bodyPr/>
          <a:lstStyle/>
          <a:p>
            <a:endParaRPr lang="ja-JP" altLang="en-US"/>
          </a:p>
        </p:txBody>
      </p:sp>
      <p:sp>
        <p:nvSpPr>
          <p:cNvPr id="32" name="Shape 30"/>
          <p:cNvSpPr/>
          <p:nvPr/>
        </p:nvSpPr>
        <p:spPr>
          <a:xfrm>
            <a:off x="7046595" y="1792224"/>
            <a:ext cx="0" cy="155448"/>
          </a:xfrm>
          <a:prstGeom prst="line">
            <a:avLst/>
          </a:prstGeom>
          <a:noFill/>
          <a:ln w="17780">
            <a:solidFill>
              <a:srgbClr val="1F9D8A"/>
            </a:solidFill>
            <a:prstDash val="solid"/>
          </a:ln>
        </p:spPr>
        <p:txBody>
          <a:bodyPr/>
          <a:lstStyle/>
          <a:p>
            <a:endParaRPr lang="ja-JP" altLang="en-US"/>
          </a:p>
        </p:txBody>
      </p:sp>
      <p:sp>
        <p:nvSpPr>
          <p:cNvPr id="33" name="Shape 31"/>
          <p:cNvSpPr/>
          <p:nvPr/>
        </p:nvSpPr>
        <p:spPr>
          <a:xfrm>
            <a:off x="7469505" y="1792224"/>
            <a:ext cx="0" cy="155448"/>
          </a:xfrm>
          <a:prstGeom prst="line">
            <a:avLst/>
          </a:prstGeom>
          <a:noFill/>
          <a:ln w="17780">
            <a:solidFill>
              <a:srgbClr val="5B8FD3"/>
            </a:solidFill>
            <a:prstDash val="solid"/>
          </a:ln>
        </p:spPr>
        <p:txBody>
          <a:bodyPr/>
          <a:lstStyle/>
          <a:p>
            <a:endParaRPr lang="ja-JP" altLang="en-US"/>
          </a:p>
        </p:txBody>
      </p:sp>
      <p:sp>
        <p:nvSpPr>
          <p:cNvPr id="34" name="Shape 32"/>
          <p:cNvSpPr/>
          <p:nvPr/>
        </p:nvSpPr>
        <p:spPr>
          <a:xfrm>
            <a:off x="7892415" y="1792224"/>
            <a:ext cx="0" cy="155448"/>
          </a:xfrm>
          <a:prstGeom prst="line">
            <a:avLst/>
          </a:prstGeom>
          <a:noFill/>
          <a:ln w="17780">
            <a:solidFill>
              <a:srgbClr val="1F9D8A"/>
            </a:solidFill>
            <a:prstDash val="solid"/>
          </a:ln>
        </p:spPr>
        <p:txBody>
          <a:bodyPr/>
          <a:lstStyle/>
          <a:p>
            <a:endParaRPr lang="ja-JP" altLang="en-US"/>
          </a:p>
        </p:txBody>
      </p:sp>
      <p:sp>
        <p:nvSpPr>
          <p:cNvPr id="35" name="Shape 33"/>
          <p:cNvSpPr/>
          <p:nvPr/>
        </p:nvSpPr>
        <p:spPr>
          <a:xfrm>
            <a:off x="8315325" y="1792224"/>
            <a:ext cx="0" cy="155448"/>
          </a:xfrm>
          <a:prstGeom prst="line">
            <a:avLst/>
          </a:prstGeom>
          <a:noFill/>
          <a:ln w="17780">
            <a:solidFill>
              <a:srgbClr val="5B8FD3"/>
            </a:solidFill>
            <a:prstDash val="solid"/>
          </a:ln>
        </p:spPr>
        <p:txBody>
          <a:bodyPr/>
          <a:lstStyle/>
          <a:p>
            <a:endParaRPr lang="ja-JP" altLang="en-US"/>
          </a:p>
        </p:txBody>
      </p:sp>
      <p:sp>
        <p:nvSpPr>
          <p:cNvPr id="36" name="Shape 34"/>
          <p:cNvSpPr/>
          <p:nvPr/>
        </p:nvSpPr>
        <p:spPr>
          <a:xfrm>
            <a:off x="8738235" y="1792224"/>
            <a:ext cx="0" cy="155448"/>
          </a:xfrm>
          <a:prstGeom prst="line">
            <a:avLst/>
          </a:prstGeom>
          <a:noFill/>
          <a:ln w="17780">
            <a:solidFill>
              <a:srgbClr val="1F9D8A"/>
            </a:solidFill>
            <a:prstDash val="solid"/>
          </a:ln>
        </p:spPr>
        <p:txBody>
          <a:bodyPr/>
          <a:lstStyle/>
          <a:p>
            <a:endParaRPr lang="ja-JP" altLang="en-US"/>
          </a:p>
        </p:txBody>
      </p:sp>
      <p:sp>
        <p:nvSpPr>
          <p:cNvPr id="37" name="Shape 35"/>
          <p:cNvSpPr/>
          <p:nvPr/>
        </p:nvSpPr>
        <p:spPr>
          <a:xfrm>
            <a:off x="9161145" y="1792224"/>
            <a:ext cx="0" cy="155448"/>
          </a:xfrm>
          <a:prstGeom prst="line">
            <a:avLst/>
          </a:prstGeom>
          <a:noFill/>
          <a:ln w="17780">
            <a:solidFill>
              <a:srgbClr val="5B8FD3"/>
            </a:solidFill>
            <a:prstDash val="solid"/>
          </a:ln>
        </p:spPr>
        <p:txBody>
          <a:bodyPr/>
          <a:lstStyle/>
          <a:p>
            <a:endParaRPr lang="ja-JP" altLang="en-US"/>
          </a:p>
        </p:txBody>
      </p:sp>
      <p:sp>
        <p:nvSpPr>
          <p:cNvPr id="38" name="Shape 36"/>
          <p:cNvSpPr/>
          <p:nvPr/>
        </p:nvSpPr>
        <p:spPr>
          <a:xfrm>
            <a:off x="9584055" y="1792224"/>
            <a:ext cx="0" cy="155448"/>
          </a:xfrm>
          <a:prstGeom prst="line">
            <a:avLst/>
          </a:prstGeom>
          <a:noFill/>
          <a:ln w="17780">
            <a:solidFill>
              <a:srgbClr val="1F9D8A"/>
            </a:solidFill>
            <a:prstDash val="solid"/>
          </a:ln>
        </p:spPr>
        <p:txBody>
          <a:bodyPr/>
          <a:lstStyle/>
          <a:p>
            <a:endParaRPr lang="ja-JP" altLang="en-US"/>
          </a:p>
        </p:txBody>
      </p:sp>
      <p:sp>
        <p:nvSpPr>
          <p:cNvPr id="39" name="Shape 37"/>
          <p:cNvSpPr/>
          <p:nvPr/>
        </p:nvSpPr>
        <p:spPr>
          <a:xfrm>
            <a:off x="10006965" y="1792224"/>
            <a:ext cx="0" cy="155448"/>
          </a:xfrm>
          <a:prstGeom prst="line">
            <a:avLst/>
          </a:prstGeom>
          <a:noFill/>
          <a:ln w="17780">
            <a:solidFill>
              <a:srgbClr val="5B8FD3"/>
            </a:solidFill>
            <a:prstDash val="solid"/>
          </a:ln>
        </p:spPr>
        <p:txBody>
          <a:bodyPr/>
          <a:lstStyle/>
          <a:p>
            <a:endParaRPr lang="ja-JP" altLang="en-US"/>
          </a:p>
        </p:txBody>
      </p:sp>
      <p:sp>
        <p:nvSpPr>
          <p:cNvPr id="40" name="Shape 38"/>
          <p:cNvSpPr/>
          <p:nvPr/>
        </p:nvSpPr>
        <p:spPr>
          <a:xfrm>
            <a:off x="10429875" y="1792224"/>
            <a:ext cx="0" cy="155448"/>
          </a:xfrm>
          <a:prstGeom prst="line">
            <a:avLst/>
          </a:prstGeom>
          <a:noFill/>
          <a:ln w="17780">
            <a:solidFill>
              <a:srgbClr val="1F9D8A"/>
            </a:solidFill>
            <a:prstDash val="solid"/>
          </a:ln>
        </p:spPr>
        <p:txBody>
          <a:bodyPr/>
          <a:lstStyle/>
          <a:p>
            <a:endParaRPr lang="ja-JP" altLang="en-US"/>
          </a:p>
        </p:txBody>
      </p:sp>
      <p:sp>
        <p:nvSpPr>
          <p:cNvPr id="41" name="Shape 39"/>
          <p:cNvSpPr/>
          <p:nvPr/>
        </p:nvSpPr>
        <p:spPr>
          <a:xfrm>
            <a:off x="10852785" y="1792224"/>
            <a:ext cx="0" cy="155448"/>
          </a:xfrm>
          <a:prstGeom prst="line">
            <a:avLst/>
          </a:prstGeom>
          <a:noFill/>
          <a:ln w="17780">
            <a:solidFill>
              <a:srgbClr val="5B8FD3"/>
            </a:solidFill>
            <a:prstDash val="solid"/>
          </a:ln>
        </p:spPr>
        <p:txBody>
          <a:bodyPr/>
          <a:lstStyle/>
          <a:p>
            <a:endParaRPr lang="ja-JP" altLang="en-US"/>
          </a:p>
        </p:txBody>
      </p:sp>
      <p:sp>
        <p:nvSpPr>
          <p:cNvPr id="42" name="Text 40"/>
          <p:cNvSpPr/>
          <p:nvPr/>
        </p:nvSpPr>
        <p:spPr>
          <a:xfrm>
            <a:off x="4526280" y="1389888"/>
            <a:ext cx="3017520" cy="347472"/>
          </a:xfrm>
          <a:prstGeom prst="rect">
            <a:avLst/>
          </a:prstGeom>
          <a:noFill/>
          <a:ln/>
        </p:spPr>
        <p:txBody>
          <a:bodyPr wrap="square" lIns="0" tIns="0" rIns="0" bIns="0" rtlCol="0" anchor="ctr"/>
          <a:lstStyle/>
          <a:p>
            <a:pPr marL="0" indent="0" algn="ctr">
              <a:buNone/>
            </a:pPr>
            <a:r>
              <a:rPr lang="en-US" sz="2200" b="1" dirty="0">
                <a:solidFill>
                  <a:srgbClr val="3B8D5A"/>
                </a:solidFill>
                <a:latin typeface="Noto Sans CJK JP" pitchFamily="34" charset="0"/>
                <a:ea typeface="Noto Sans CJK JP" pitchFamily="34" charset="-122"/>
                <a:cs typeface="Noto Sans CJK JP" pitchFamily="34" charset="-120"/>
              </a:rPr>
              <a:t>24回すべて成立</a:t>
            </a:r>
            <a:endParaRPr lang="en-US" sz="2200" dirty="0"/>
          </a:p>
        </p:txBody>
      </p:sp>
      <p:sp>
        <p:nvSpPr>
          <p:cNvPr id="43" name="Shape 41"/>
          <p:cNvSpPr/>
          <p:nvPr/>
        </p:nvSpPr>
        <p:spPr>
          <a:xfrm>
            <a:off x="777240" y="2907792"/>
            <a:ext cx="3337560" cy="2331720"/>
          </a:xfrm>
          <a:prstGeom prst="roundRect">
            <a:avLst>
              <a:gd name="adj" fmla="val 3137"/>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4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8992" y="3200400"/>
            <a:ext cx="512064" cy="512064"/>
          </a:xfrm>
          <a:prstGeom prst="rect">
            <a:avLst/>
          </a:prstGeom>
        </p:spPr>
      </p:pic>
      <p:sp>
        <p:nvSpPr>
          <p:cNvPr id="45" name="Text 42"/>
          <p:cNvSpPr/>
          <p:nvPr/>
        </p:nvSpPr>
        <p:spPr>
          <a:xfrm>
            <a:off x="1783080" y="3163824"/>
            <a:ext cx="1828800" cy="347472"/>
          </a:xfrm>
          <a:prstGeom prst="rect">
            <a:avLst/>
          </a:prstGeom>
          <a:noFill/>
          <a:ln/>
        </p:spPr>
        <p:txBody>
          <a:bodyPr wrap="square" lIns="0" tIns="0" rIns="0" bIns="0" rtlCol="0" anchor="ctr"/>
          <a:lstStyle/>
          <a:p>
            <a:pPr marL="0" indent="0">
              <a:buNone/>
            </a:pPr>
            <a:r>
              <a:rPr lang="en-US" sz="2000" b="1" dirty="0">
                <a:solidFill>
                  <a:srgbClr val="172033"/>
                </a:solidFill>
                <a:latin typeface="Noto Sans CJK JP" pitchFamily="34" charset="0"/>
                <a:ea typeface="Noto Sans CJK JP" pitchFamily="34" charset="-122"/>
                <a:cs typeface="Noto Sans CJK JP" pitchFamily="34" charset="-120"/>
              </a:rPr>
              <a:t>15分 × 96区間</a:t>
            </a:r>
            <a:endParaRPr lang="en-US" sz="2000" dirty="0"/>
          </a:p>
        </p:txBody>
      </p:sp>
      <p:sp>
        <p:nvSpPr>
          <p:cNvPr id="46" name="Text 43"/>
          <p:cNvSpPr/>
          <p:nvPr/>
        </p:nvSpPr>
        <p:spPr>
          <a:xfrm>
            <a:off x="1051560" y="3886200"/>
            <a:ext cx="2743200" cy="658368"/>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PV・系統電力・BESSの動きを</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一日分つなげて確認</a:t>
            </a:r>
            <a:endParaRPr lang="en-US" sz="1550" dirty="0"/>
          </a:p>
        </p:txBody>
      </p:sp>
      <p:sp>
        <p:nvSpPr>
          <p:cNvPr id="47" name="Shape 44"/>
          <p:cNvSpPr/>
          <p:nvPr/>
        </p:nvSpPr>
        <p:spPr>
          <a:xfrm>
            <a:off x="4407408" y="2907792"/>
            <a:ext cx="3337560" cy="2331720"/>
          </a:xfrm>
          <a:prstGeom prst="roundRect">
            <a:avLst>
              <a:gd name="adj" fmla="val 3137"/>
            </a:avLst>
          </a:prstGeom>
          <a:solidFill>
            <a:srgbClr val="E8F6F3"/>
          </a:solidFill>
          <a:ln w="12700">
            <a:solidFill>
              <a:srgbClr val="1F9D8A"/>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4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3200400"/>
            <a:ext cx="512064" cy="512064"/>
          </a:xfrm>
          <a:prstGeom prst="rect">
            <a:avLst/>
          </a:prstGeom>
        </p:spPr>
      </p:pic>
      <p:sp>
        <p:nvSpPr>
          <p:cNvPr id="49" name="Text 45"/>
          <p:cNvSpPr/>
          <p:nvPr/>
        </p:nvSpPr>
        <p:spPr>
          <a:xfrm>
            <a:off x="5413248" y="3163824"/>
            <a:ext cx="1828800" cy="347472"/>
          </a:xfrm>
          <a:prstGeom prst="rect">
            <a:avLst/>
          </a:prstGeom>
          <a:noFill/>
          <a:ln/>
        </p:spPr>
        <p:txBody>
          <a:bodyPr wrap="square" lIns="0" tIns="0" rIns="0" bIns="0" rtlCol="0" anchor="ctr"/>
          <a:lstStyle/>
          <a:p>
            <a:pPr marL="0" indent="0">
              <a:buNone/>
            </a:pPr>
            <a:r>
              <a:rPr lang="en-US" sz="2000" b="1" dirty="0">
                <a:solidFill>
                  <a:srgbClr val="172033"/>
                </a:solidFill>
                <a:latin typeface="Noto Sans CJK JP" pitchFamily="34" charset="0"/>
                <a:ea typeface="Noto Sans CJK JP" pitchFamily="34" charset="-122"/>
                <a:cs typeface="Noto Sans CJK JP" pitchFamily="34" charset="-120"/>
              </a:rPr>
              <a:t>物理条件の確認</a:t>
            </a:r>
            <a:endParaRPr lang="en-US" sz="2000" dirty="0"/>
          </a:p>
        </p:txBody>
      </p:sp>
      <p:sp>
        <p:nvSpPr>
          <p:cNvPr id="50" name="Text 46"/>
          <p:cNvSpPr/>
          <p:nvPr/>
        </p:nvSpPr>
        <p:spPr>
          <a:xfrm>
            <a:off x="4681728" y="3886200"/>
            <a:ext cx="2743200" cy="658368"/>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便の重複・SOC・充電器・</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電力収支に矛盾がないか</a:t>
            </a:r>
            <a:endParaRPr lang="en-US" sz="1550" dirty="0"/>
          </a:p>
        </p:txBody>
      </p:sp>
      <p:sp>
        <p:nvSpPr>
          <p:cNvPr id="51" name="Shape 47"/>
          <p:cNvSpPr/>
          <p:nvPr/>
        </p:nvSpPr>
        <p:spPr>
          <a:xfrm>
            <a:off x="8037576" y="2907792"/>
            <a:ext cx="3337560" cy="2331720"/>
          </a:xfrm>
          <a:prstGeom prst="roundRect">
            <a:avLst>
              <a:gd name="adj" fmla="val 3137"/>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5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39328" y="3200400"/>
            <a:ext cx="512064" cy="512064"/>
          </a:xfrm>
          <a:prstGeom prst="rect">
            <a:avLst/>
          </a:prstGeom>
        </p:spPr>
      </p:pic>
      <p:sp>
        <p:nvSpPr>
          <p:cNvPr id="53" name="Text 48"/>
          <p:cNvSpPr/>
          <p:nvPr/>
        </p:nvSpPr>
        <p:spPr>
          <a:xfrm>
            <a:off x="9052560" y="3163824"/>
            <a:ext cx="1783080" cy="347472"/>
          </a:xfrm>
          <a:prstGeom prst="rect">
            <a:avLst/>
          </a:prstGeom>
          <a:noFill/>
          <a:ln/>
        </p:spPr>
        <p:txBody>
          <a:bodyPr wrap="square" lIns="0" tIns="0" rIns="0" bIns="0" rtlCol="0" anchor="ctr"/>
          <a:lstStyle/>
          <a:p>
            <a:pPr marL="0" indent="0">
              <a:buNone/>
            </a:pPr>
            <a:r>
              <a:rPr lang="en-US" sz="2000" b="1" dirty="0">
                <a:solidFill>
                  <a:srgbClr val="172033"/>
                </a:solidFill>
                <a:latin typeface="Noto Sans CJK JP" pitchFamily="34" charset="0"/>
                <a:ea typeface="Noto Sans CJK JP" pitchFamily="34" charset="-122"/>
                <a:cs typeface="Noto Sans CJK JP" pitchFamily="34" charset="-120"/>
              </a:rPr>
              <a:t>証拠の紐づけ</a:t>
            </a:r>
            <a:endParaRPr lang="en-US" sz="2000" dirty="0"/>
          </a:p>
        </p:txBody>
      </p:sp>
      <p:sp>
        <p:nvSpPr>
          <p:cNvPr id="54" name="Text 49"/>
          <p:cNvSpPr/>
          <p:nvPr/>
        </p:nvSpPr>
        <p:spPr>
          <a:xfrm>
            <a:off x="8321040" y="3886200"/>
            <a:ext cx="2743200" cy="658368"/>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入力・コード・出力・費用を</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同じ実行として記録</a:t>
            </a:r>
            <a:endParaRPr lang="en-US" sz="1550" dirty="0"/>
          </a:p>
        </p:txBody>
      </p:sp>
      <p:sp>
        <p:nvSpPr>
          <p:cNvPr id="55" name="Text 50"/>
          <p:cNvSpPr/>
          <p:nvPr/>
        </p:nvSpPr>
        <p:spPr>
          <a:xfrm>
            <a:off x="1143000" y="5760720"/>
            <a:ext cx="9875520" cy="347472"/>
          </a:xfrm>
          <a:prstGeom prst="rect">
            <a:avLst/>
          </a:prstGeom>
          <a:noFill/>
          <a:ln/>
        </p:spPr>
        <p:txBody>
          <a:bodyPr wrap="square" lIns="0" tIns="0" rIns="0" bIns="0" rtlCol="0" anchor="ctr"/>
          <a:lstStyle/>
          <a:p>
            <a:pPr marL="0" indent="0" algn="ctr">
              <a:buNone/>
            </a:pPr>
            <a:r>
              <a:rPr lang="en-US" sz="1750" b="1" dirty="0">
                <a:solidFill>
                  <a:srgbClr val="1F2A5A"/>
                </a:solidFill>
                <a:latin typeface="Noto Sans CJK JP" pitchFamily="34" charset="0"/>
                <a:ea typeface="Noto Sans CJK JP" pitchFamily="34" charset="-122"/>
                <a:cs typeface="Noto Sans CJK JP" pitchFamily="34" charset="-120"/>
              </a:rPr>
              <a:t>結果だけでなく、「どの入力とコードで出した結果か」まで追える状態にした。</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現在の限界：結果は使えるが、まだ「最適な答え」と言い切る段階ではない</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16/18</a:t>
            </a:r>
            <a:endParaRPr lang="en-US" sz="850" dirty="0"/>
          </a:p>
        </p:txBody>
      </p:sp>
      <p:sp>
        <p:nvSpPr>
          <p:cNvPr id="6" name="Shape 4"/>
          <p:cNvSpPr/>
          <p:nvPr/>
        </p:nvSpPr>
        <p:spPr>
          <a:xfrm>
            <a:off x="822960" y="1078992"/>
            <a:ext cx="10607040" cy="749808"/>
          </a:xfrm>
          <a:prstGeom prst="roundRect">
            <a:avLst/>
          </a:prstGeom>
          <a:solidFill>
            <a:srgbClr val="F8FAFC"/>
          </a:solidFill>
          <a:ln w="12700">
            <a:solidFill>
              <a:srgbClr val="EEF1F5"/>
            </a:solidFill>
            <a:prstDash val="solid"/>
          </a:ln>
        </p:spPr>
        <p:txBody>
          <a:bodyPr/>
          <a:lstStyle/>
          <a:p>
            <a:endParaRPr lang="ja-JP" altLang="en-US"/>
          </a:p>
        </p:txBody>
      </p:sp>
      <p:sp>
        <p:nvSpPr>
          <p:cNvPr id="7" name="Shape 5"/>
          <p:cNvSpPr/>
          <p:nvPr/>
        </p:nvSpPr>
        <p:spPr>
          <a:xfrm>
            <a:off x="1051560" y="1243584"/>
            <a:ext cx="384048" cy="384048"/>
          </a:xfrm>
          <a:prstGeom prst="ellipse">
            <a:avLst/>
          </a:prstGeom>
          <a:solidFill>
            <a:srgbClr val="E98B3A"/>
          </a:solidFill>
          <a:ln w="12700">
            <a:solidFill>
              <a:srgbClr val="E98B3A"/>
            </a:solidFill>
            <a:prstDash val="solid"/>
          </a:ln>
        </p:spPr>
        <p:txBody>
          <a:bodyPr/>
          <a:lstStyle/>
          <a:p>
            <a:endParaRPr lang="ja-JP" altLang="en-US"/>
          </a:p>
        </p:txBody>
      </p:sp>
      <p:sp>
        <p:nvSpPr>
          <p:cNvPr id="8" name="Text 6"/>
          <p:cNvSpPr/>
          <p:nvPr/>
        </p:nvSpPr>
        <p:spPr>
          <a:xfrm>
            <a:off x="1051560" y="1197864"/>
            <a:ext cx="384048" cy="384048"/>
          </a:xfrm>
          <a:prstGeom prst="rect">
            <a:avLst/>
          </a:prstGeom>
          <a:noFill/>
          <a:ln/>
        </p:spPr>
        <p:txBody>
          <a:bodyPr wrap="square" lIns="0" tIns="0" rIns="0" bIns="0" rtlCol="0" anchor="ctr"/>
          <a:lstStyle/>
          <a:p>
            <a:pPr marL="0" indent="0" algn="ctr">
              <a:buNone/>
            </a:pPr>
            <a:r>
              <a:rPr lang="en-US" sz="1900" b="1" dirty="0">
                <a:solidFill>
                  <a:srgbClr val="FFFFFF"/>
                </a:solidFill>
                <a:latin typeface="Arial" pitchFamily="34" charset="0"/>
                <a:ea typeface="Arial" pitchFamily="34" charset="-122"/>
                <a:cs typeface="Arial" pitchFamily="34" charset="-120"/>
              </a:rPr>
              <a:t>!</a:t>
            </a:r>
            <a:endParaRPr lang="en-US" sz="1900" dirty="0"/>
          </a:p>
        </p:txBody>
      </p:sp>
      <p:sp>
        <p:nvSpPr>
          <p:cNvPr id="9" name="Text 7"/>
          <p:cNvSpPr/>
          <p:nvPr/>
        </p:nvSpPr>
        <p:spPr>
          <a:xfrm>
            <a:off x="1664208" y="1188720"/>
            <a:ext cx="3657600" cy="256032"/>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すべての配車を調べたわけではない</a:t>
            </a:r>
            <a:endParaRPr lang="en-US" sz="1700" dirty="0"/>
          </a:p>
        </p:txBody>
      </p:sp>
      <p:sp>
        <p:nvSpPr>
          <p:cNvPr id="10" name="Text 8"/>
          <p:cNvSpPr/>
          <p:nvPr/>
        </p:nvSpPr>
        <p:spPr>
          <a:xfrm>
            <a:off x="4983480" y="1188720"/>
            <a:ext cx="5989320" cy="384048"/>
          </a:xfrm>
          <a:prstGeom prst="rect">
            <a:avLst/>
          </a:prstGeom>
          <a:noFill/>
          <a:ln/>
        </p:spPr>
        <p:txBody>
          <a:bodyPr wrap="square" lIns="0" tIns="0" rIns="0" bIns="0" rtlCol="0" anchor="ctr"/>
          <a:lstStyle/>
          <a:p>
            <a:pPr marL="0" indent="0">
              <a:buNone/>
            </a:pPr>
            <a:r>
              <a:rPr lang="en-US" sz="1500" dirty="0">
                <a:solidFill>
                  <a:srgbClr val="687386"/>
                </a:solidFill>
                <a:latin typeface="Noto Sans CJK JP" pitchFamily="34" charset="0"/>
                <a:ea typeface="Noto Sans CJK JP" pitchFamily="34" charset="-122"/>
                <a:cs typeface="Noto Sans CJK JP" pitchFamily="34" charset="-120"/>
              </a:rPr>
              <a:t>評価した有限の配車案の中から選んでいる。</a:t>
            </a:r>
            <a:endParaRPr lang="en-US" sz="1500" dirty="0"/>
          </a:p>
        </p:txBody>
      </p:sp>
      <p:sp>
        <p:nvSpPr>
          <p:cNvPr id="11" name="Shape 9"/>
          <p:cNvSpPr/>
          <p:nvPr/>
        </p:nvSpPr>
        <p:spPr>
          <a:xfrm>
            <a:off x="822960" y="2048256"/>
            <a:ext cx="10607040" cy="749808"/>
          </a:xfrm>
          <a:prstGeom prst="roundRect">
            <a:avLst/>
          </a:prstGeom>
          <a:solidFill>
            <a:srgbClr val="FFFFFF"/>
          </a:solidFill>
          <a:ln w="12700">
            <a:solidFill>
              <a:srgbClr val="EEF1F5"/>
            </a:solidFill>
            <a:prstDash val="solid"/>
          </a:ln>
        </p:spPr>
        <p:txBody>
          <a:bodyPr/>
          <a:lstStyle/>
          <a:p>
            <a:endParaRPr lang="ja-JP" altLang="en-US"/>
          </a:p>
        </p:txBody>
      </p:sp>
      <p:sp>
        <p:nvSpPr>
          <p:cNvPr id="12" name="Shape 10"/>
          <p:cNvSpPr/>
          <p:nvPr/>
        </p:nvSpPr>
        <p:spPr>
          <a:xfrm>
            <a:off x="1051560" y="2212848"/>
            <a:ext cx="384048" cy="384048"/>
          </a:xfrm>
          <a:prstGeom prst="ellipse">
            <a:avLst/>
          </a:prstGeom>
          <a:solidFill>
            <a:srgbClr val="C94C4C"/>
          </a:solidFill>
          <a:ln w="12700">
            <a:solidFill>
              <a:srgbClr val="C94C4C"/>
            </a:solidFill>
            <a:prstDash val="solid"/>
          </a:ln>
        </p:spPr>
        <p:txBody>
          <a:bodyPr/>
          <a:lstStyle/>
          <a:p>
            <a:endParaRPr lang="ja-JP" altLang="en-US"/>
          </a:p>
        </p:txBody>
      </p:sp>
      <p:sp>
        <p:nvSpPr>
          <p:cNvPr id="13" name="Text 11"/>
          <p:cNvSpPr/>
          <p:nvPr/>
        </p:nvSpPr>
        <p:spPr>
          <a:xfrm>
            <a:off x="1051560" y="2167128"/>
            <a:ext cx="384048" cy="384048"/>
          </a:xfrm>
          <a:prstGeom prst="rect">
            <a:avLst/>
          </a:prstGeom>
          <a:noFill/>
          <a:ln/>
        </p:spPr>
        <p:txBody>
          <a:bodyPr wrap="square" lIns="0" tIns="0" rIns="0" bIns="0" rtlCol="0" anchor="ctr"/>
          <a:lstStyle/>
          <a:p>
            <a:pPr marL="0" indent="0" algn="ctr">
              <a:buNone/>
            </a:pPr>
            <a:r>
              <a:rPr lang="en-US" sz="1900" b="1" dirty="0">
                <a:solidFill>
                  <a:srgbClr val="FFFFFF"/>
                </a:solidFill>
                <a:latin typeface="Arial" pitchFamily="34" charset="0"/>
                <a:ea typeface="Arial" pitchFamily="34" charset="-122"/>
                <a:cs typeface="Arial" pitchFamily="34" charset="-120"/>
              </a:rPr>
              <a:t>!</a:t>
            </a:r>
            <a:endParaRPr lang="en-US" sz="1900" dirty="0"/>
          </a:p>
        </p:txBody>
      </p:sp>
      <p:sp>
        <p:nvSpPr>
          <p:cNvPr id="14" name="Text 12"/>
          <p:cNvSpPr/>
          <p:nvPr/>
        </p:nvSpPr>
        <p:spPr>
          <a:xfrm>
            <a:off x="1664208" y="2157984"/>
            <a:ext cx="3657600" cy="256032"/>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高PV条件は計算を詰める余地がある</a:t>
            </a:r>
            <a:endParaRPr lang="en-US" sz="1700" dirty="0"/>
          </a:p>
        </p:txBody>
      </p:sp>
      <p:sp>
        <p:nvSpPr>
          <p:cNvPr id="15" name="Text 13"/>
          <p:cNvSpPr/>
          <p:nvPr/>
        </p:nvSpPr>
        <p:spPr>
          <a:xfrm>
            <a:off x="4983480" y="2157984"/>
            <a:ext cx="5989320" cy="384048"/>
          </a:xfrm>
          <a:prstGeom prst="rect">
            <a:avLst/>
          </a:prstGeom>
          <a:noFill/>
          <a:ln/>
        </p:spPr>
        <p:txBody>
          <a:bodyPr wrap="square" lIns="0" tIns="0" rIns="0" bIns="0" rtlCol="0" anchor="ctr"/>
          <a:lstStyle/>
          <a:p>
            <a:pPr marL="0" indent="0">
              <a:buNone/>
            </a:pPr>
            <a:r>
              <a:rPr lang="en-US" sz="1500" dirty="0">
                <a:solidFill>
                  <a:srgbClr val="687386"/>
                </a:solidFill>
                <a:latin typeface="Noto Sans CJK JP" pitchFamily="34" charset="0"/>
                <a:ea typeface="Noto Sans CJK JP" pitchFamily="34" charset="-122"/>
                <a:cs typeface="Noto Sans CJK JP" pitchFamily="34" charset="-120"/>
              </a:rPr>
              <a:t>計算の詰まり具合の目安は約9.5%（低PVは約1.7%）。</a:t>
            </a:r>
            <a:endParaRPr lang="en-US" sz="1500" dirty="0"/>
          </a:p>
        </p:txBody>
      </p:sp>
      <p:sp>
        <p:nvSpPr>
          <p:cNvPr id="16" name="Shape 14"/>
          <p:cNvSpPr/>
          <p:nvPr/>
        </p:nvSpPr>
        <p:spPr>
          <a:xfrm>
            <a:off x="822960" y="3017520"/>
            <a:ext cx="10607040" cy="749808"/>
          </a:xfrm>
          <a:prstGeom prst="roundRect">
            <a:avLst/>
          </a:prstGeom>
          <a:solidFill>
            <a:srgbClr val="F8FAFC"/>
          </a:solidFill>
          <a:ln w="12700">
            <a:solidFill>
              <a:srgbClr val="EEF1F5"/>
            </a:solidFill>
            <a:prstDash val="solid"/>
          </a:ln>
        </p:spPr>
        <p:txBody>
          <a:bodyPr/>
          <a:lstStyle/>
          <a:p>
            <a:endParaRPr lang="ja-JP" altLang="en-US"/>
          </a:p>
        </p:txBody>
      </p:sp>
      <p:sp>
        <p:nvSpPr>
          <p:cNvPr id="17" name="Shape 15"/>
          <p:cNvSpPr/>
          <p:nvPr/>
        </p:nvSpPr>
        <p:spPr>
          <a:xfrm>
            <a:off x="1051560" y="3182112"/>
            <a:ext cx="384048" cy="384048"/>
          </a:xfrm>
          <a:prstGeom prst="ellipse">
            <a:avLst/>
          </a:prstGeom>
          <a:solidFill>
            <a:srgbClr val="E7B34B"/>
          </a:solidFill>
          <a:ln w="12700">
            <a:solidFill>
              <a:srgbClr val="E7B34B"/>
            </a:solidFill>
            <a:prstDash val="solid"/>
          </a:ln>
        </p:spPr>
        <p:txBody>
          <a:bodyPr/>
          <a:lstStyle/>
          <a:p>
            <a:endParaRPr lang="ja-JP" altLang="en-US"/>
          </a:p>
        </p:txBody>
      </p:sp>
      <p:sp>
        <p:nvSpPr>
          <p:cNvPr id="18" name="Text 16"/>
          <p:cNvSpPr/>
          <p:nvPr/>
        </p:nvSpPr>
        <p:spPr>
          <a:xfrm>
            <a:off x="1051560" y="3136392"/>
            <a:ext cx="384048" cy="384048"/>
          </a:xfrm>
          <a:prstGeom prst="rect">
            <a:avLst/>
          </a:prstGeom>
          <a:noFill/>
          <a:ln/>
        </p:spPr>
        <p:txBody>
          <a:bodyPr wrap="square" lIns="0" tIns="0" rIns="0" bIns="0" rtlCol="0" anchor="ctr"/>
          <a:lstStyle/>
          <a:p>
            <a:pPr marL="0" indent="0" algn="ctr">
              <a:buNone/>
            </a:pPr>
            <a:r>
              <a:rPr lang="en-US" sz="1900" b="1" dirty="0">
                <a:solidFill>
                  <a:srgbClr val="FFFFFF"/>
                </a:solidFill>
                <a:latin typeface="Arial" pitchFamily="34" charset="0"/>
                <a:ea typeface="Arial" pitchFamily="34" charset="-122"/>
                <a:cs typeface="Arial" pitchFamily="34" charset="-120"/>
              </a:rPr>
              <a:t>!</a:t>
            </a:r>
            <a:endParaRPr lang="en-US" sz="1900" dirty="0"/>
          </a:p>
        </p:txBody>
      </p:sp>
      <p:sp>
        <p:nvSpPr>
          <p:cNvPr id="19" name="Text 17"/>
          <p:cNvSpPr/>
          <p:nvPr/>
        </p:nvSpPr>
        <p:spPr>
          <a:xfrm>
            <a:off x="1664208" y="3127248"/>
            <a:ext cx="3657600" cy="256032"/>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低PV条件は次点との差が小さい</a:t>
            </a:r>
            <a:endParaRPr lang="en-US" sz="1700" dirty="0"/>
          </a:p>
        </p:txBody>
      </p:sp>
      <p:sp>
        <p:nvSpPr>
          <p:cNvPr id="20" name="Text 18"/>
          <p:cNvSpPr/>
          <p:nvPr/>
        </p:nvSpPr>
        <p:spPr>
          <a:xfrm>
            <a:off x="4983480" y="3127248"/>
            <a:ext cx="5989320" cy="384048"/>
          </a:xfrm>
          <a:prstGeom prst="rect">
            <a:avLst/>
          </a:prstGeom>
          <a:noFill/>
          <a:ln/>
        </p:spPr>
        <p:txBody>
          <a:bodyPr wrap="square" lIns="0" tIns="0" rIns="0" bIns="0" rtlCol="0" anchor="ctr"/>
          <a:lstStyle/>
          <a:p>
            <a:pPr marL="0" indent="0">
              <a:buNone/>
            </a:pPr>
            <a:r>
              <a:rPr lang="en-US" sz="1500" dirty="0">
                <a:solidFill>
                  <a:srgbClr val="687386"/>
                </a:solidFill>
                <a:latin typeface="Noto Sans CJK JP" pitchFamily="34" charset="0"/>
                <a:ea typeface="Noto Sans CJK JP" pitchFamily="34" charset="-122"/>
                <a:cs typeface="Noto Sans CJK JP" pitchFamily="34" charset="-120"/>
              </a:rPr>
              <a:t>別の配車案が約567円差であり、選択の安定性を確認したい。</a:t>
            </a:r>
            <a:endParaRPr lang="en-US" sz="1500" dirty="0"/>
          </a:p>
        </p:txBody>
      </p:sp>
      <p:sp>
        <p:nvSpPr>
          <p:cNvPr id="21" name="Shape 19"/>
          <p:cNvSpPr/>
          <p:nvPr/>
        </p:nvSpPr>
        <p:spPr>
          <a:xfrm>
            <a:off x="822960" y="3986784"/>
            <a:ext cx="10607040" cy="749808"/>
          </a:xfrm>
          <a:prstGeom prst="roundRect">
            <a:avLst/>
          </a:prstGeom>
          <a:solidFill>
            <a:srgbClr val="FFFFFF"/>
          </a:solidFill>
          <a:ln w="12700">
            <a:solidFill>
              <a:srgbClr val="EEF1F5"/>
            </a:solidFill>
            <a:prstDash val="solid"/>
          </a:ln>
        </p:spPr>
        <p:txBody>
          <a:bodyPr/>
          <a:lstStyle/>
          <a:p>
            <a:endParaRPr lang="ja-JP" altLang="en-US"/>
          </a:p>
        </p:txBody>
      </p:sp>
      <p:sp>
        <p:nvSpPr>
          <p:cNvPr id="22" name="Shape 20"/>
          <p:cNvSpPr/>
          <p:nvPr/>
        </p:nvSpPr>
        <p:spPr>
          <a:xfrm>
            <a:off x="1051560" y="4151376"/>
            <a:ext cx="384048" cy="384048"/>
          </a:xfrm>
          <a:prstGeom prst="ellipse">
            <a:avLst/>
          </a:prstGeom>
          <a:solidFill>
            <a:srgbClr val="356BB3"/>
          </a:solidFill>
          <a:ln w="12700">
            <a:solidFill>
              <a:srgbClr val="356BB3"/>
            </a:solidFill>
            <a:prstDash val="solid"/>
          </a:ln>
        </p:spPr>
        <p:txBody>
          <a:bodyPr/>
          <a:lstStyle/>
          <a:p>
            <a:endParaRPr lang="ja-JP" altLang="en-US"/>
          </a:p>
        </p:txBody>
      </p:sp>
      <p:sp>
        <p:nvSpPr>
          <p:cNvPr id="23" name="Text 21"/>
          <p:cNvSpPr/>
          <p:nvPr/>
        </p:nvSpPr>
        <p:spPr>
          <a:xfrm>
            <a:off x="1051560" y="4105656"/>
            <a:ext cx="384048" cy="384048"/>
          </a:xfrm>
          <a:prstGeom prst="rect">
            <a:avLst/>
          </a:prstGeom>
          <a:noFill/>
          <a:ln/>
        </p:spPr>
        <p:txBody>
          <a:bodyPr wrap="square" lIns="0" tIns="0" rIns="0" bIns="0" rtlCol="0" anchor="ctr"/>
          <a:lstStyle/>
          <a:p>
            <a:pPr marL="0" indent="0" algn="ctr">
              <a:buNone/>
            </a:pPr>
            <a:r>
              <a:rPr lang="en-US" sz="1900" b="1" dirty="0">
                <a:solidFill>
                  <a:srgbClr val="FFFFFF"/>
                </a:solidFill>
                <a:latin typeface="Arial" pitchFamily="34" charset="0"/>
                <a:ea typeface="Arial" pitchFamily="34" charset="-122"/>
                <a:cs typeface="Arial" pitchFamily="34" charset="-120"/>
              </a:rPr>
              <a:t>!</a:t>
            </a:r>
            <a:endParaRPr lang="en-US" sz="1900" dirty="0"/>
          </a:p>
        </p:txBody>
      </p:sp>
      <p:sp>
        <p:nvSpPr>
          <p:cNvPr id="24" name="Text 22"/>
          <p:cNvSpPr/>
          <p:nvPr/>
        </p:nvSpPr>
        <p:spPr>
          <a:xfrm>
            <a:off x="1664208" y="4096512"/>
            <a:ext cx="3657600" cy="256032"/>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2つの条件だけでは一般化できない</a:t>
            </a:r>
            <a:endParaRPr lang="en-US" sz="1700" dirty="0"/>
          </a:p>
        </p:txBody>
      </p:sp>
      <p:sp>
        <p:nvSpPr>
          <p:cNvPr id="25" name="Text 23"/>
          <p:cNvSpPr/>
          <p:nvPr/>
        </p:nvSpPr>
        <p:spPr>
          <a:xfrm>
            <a:off x="4983480" y="4096512"/>
            <a:ext cx="5989320" cy="384048"/>
          </a:xfrm>
          <a:prstGeom prst="rect">
            <a:avLst/>
          </a:prstGeom>
          <a:noFill/>
          <a:ln/>
        </p:spPr>
        <p:txBody>
          <a:bodyPr wrap="square" lIns="0" tIns="0" rIns="0" bIns="0" rtlCol="0" anchor="ctr"/>
          <a:lstStyle/>
          <a:p>
            <a:pPr marL="0" indent="0">
              <a:buNone/>
            </a:pPr>
            <a:r>
              <a:rPr lang="en-US" sz="1500" dirty="0">
                <a:solidFill>
                  <a:srgbClr val="687386"/>
                </a:solidFill>
                <a:latin typeface="Noto Sans CJK JP" pitchFamily="34" charset="0"/>
                <a:ea typeface="Noto Sans CJK JP" pitchFamily="34" charset="-122"/>
                <a:cs typeface="Noto Sans CJK JP" pitchFamily="34" charset="-120"/>
              </a:rPr>
              <a:t>「雨なら必ずこうなる」という結論ではない。</a:t>
            </a:r>
            <a:endParaRPr lang="en-US" sz="1500" dirty="0"/>
          </a:p>
        </p:txBody>
      </p:sp>
      <p:sp>
        <p:nvSpPr>
          <p:cNvPr id="26" name="Shape 24"/>
          <p:cNvSpPr/>
          <p:nvPr/>
        </p:nvSpPr>
        <p:spPr>
          <a:xfrm>
            <a:off x="822960" y="4956048"/>
            <a:ext cx="10607040" cy="749808"/>
          </a:xfrm>
          <a:prstGeom prst="roundRect">
            <a:avLst/>
          </a:prstGeom>
          <a:solidFill>
            <a:srgbClr val="F8FAFC"/>
          </a:solidFill>
          <a:ln w="12700">
            <a:solidFill>
              <a:srgbClr val="EEF1F5"/>
            </a:solidFill>
            <a:prstDash val="solid"/>
          </a:ln>
        </p:spPr>
        <p:txBody>
          <a:bodyPr/>
          <a:lstStyle/>
          <a:p>
            <a:endParaRPr lang="ja-JP" altLang="en-US"/>
          </a:p>
        </p:txBody>
      </p:sp>
      <p:sp>
        <p:nvSpPr>
          <p:cNvPr id="27" name="Shape 25"/>
          <p:cNvSpPr/>
          <p:nvPr/>
        </p:nvSpPr>
        <p:spPr>
          <a:xfrm>
            <a:off x="1051560" y="5120640"/>
            <a:ext cx="384048" cy="384048"/>
          </a:xfrm>
          <a:prstGeom prst="ellipse">
            <a:avLst/>
          </a:prstGeom>
          <a:solidFill>
            <a:srgbClr val="687386"/>
          </a:solidFill>
          <a:ln w="12700">
            <a:solidFill>
              <a:srgbClr val="687386"/>
            </a:solidFill>
            <a:prstDash val="solid"/>
          </a:ln>
        </p:spPr>
        <p:txBody>
          <a:bodyPr/>
          <a:lstStyle/>
          <a:p>
            <a:endParaRPr lang="ja-JP" altLang="en-US"/>
          </a:p>
        </p:txBody>
      </p:sp>
      <p:sp>
        <p:nvSpPr>
          <p:cNvPr id="28" name="Text 26"/>
          <p:cNvSpPr/>
          <p:nvPr/>
        </p:nvSpPr>
        <p:spPr>
          <a:xfrm>
            <a:off x="1051560" y="5074920"/>
            <a:ext cx="384048" cy="384048"/>
          </a:xfrm>
          <a:prstGeom prst="rect">
            <a:avLst/>
          </a:prstGeom>
          <a:noFill/>
          <a:ln/>
        </p:spPr>
        <p:txBody>
          <a:bodyPr wrap="square" lIns="0" tIns="0" rIns="0" bIns="0" rtlCol="0" anchor="ctr"/>
          <a:lstStyle/>
          <a:p>
            <a:pPr marL="0" indent="0" algn="ctr">
              <a:buNone/>
            </a:pPr>
            <a:r>
              <a:rPr lang="en-US" sz="1900" b="1" dirty="0">
                <a:solidFill>
                  <a:srgbClr val="FFFFFF"/>
                </a:solidFill>
                <a:latin typeface="Arial" pitchFamily="34" charset="0"/>
                <a:ea typeface="Arial" pitchFamily="34" charset="-122"/>
                <a:cs typeface="Arial" pitchFamily="34" charset="-120"/>
              </a:rPr>
              <a:t>!</a:t>
            </a:r>
            <a:endParaRPr lang="en-US" sz="1900" dirty="0"/>
          </a:p>
        </p:txBody>
      </p:sp>
      <p:sp>
        <p:nvSpPr>
          <p:cNvPr id="29" name="Text 27"/>
          <p:cNvSpPr/>
          <p:nvPr/>
        </p:nvSpPr>
        <p:spPr>
          <a:xfrm>
            <a:off x="1664208" y="5065776"/>
            <a:ext cx="3657600" cy="256032"/>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費用の範囲が限定される</a:t>
            </a:r>
            <a:endParaRPr lang="en-US" sz="1700" dirty="0"/>
          </a:p>
        </p:txBody>
      </p:sp>
      <p:sp>
        <p:nvSpPr>
          <p:cNvPr id="30" name="Text 28"/>
          <p:cNvSpPr/>
          <p:nvPr/>
        </p:nvSpPr>
        <p:spPr>
          <a:xfrm>
            <a:off x="4983480" y="5065776"/>
            <a:ext cx="5989320" cy="384048"/>
          </a:xfrm>
          <a:prstGeom prst="rect">
            <a:avLst/>
          </a:prstGeom>
          <a:noFill/>
          <a:ln/>
        </p:spPr>
        <p:txBody>
          <a:bodyPr wrap="square" lIns="0" tIns="0" rIns="0" bIns="0" rtlCol="0" anchor="ctr"/>
          <a:lstStyle/>
          <a:p>
            <a:pPr marL="0" indent="0">
              <a:buNone/>
            </a:pPr>
            <a:r>
              <a:rPr lang="en-US" sz="1500" dirty="0">
                <a:solidFill>
                  <a:srgbClr val="687386"/>
                </a:solidFill>
                <a:latin typeface="Noto Sans CJK JP" pitchFamily="34" charset="0"/>
                <a:ea typeface="Noto Sans CJK JP" pitchFamily="34" charset="-122"/>
                <a:cs typeface="Noto Sans CJK JP" pitchFamily="34" charset="-120"/>
              </a:rPr>
              <a:t>設備投資・電池劣化・運転士費などは未反映。</a:t>
            </a:r>
            <a:endParaRPr lang="en-US" sz="1500" dirty="0"/>
          </a:p>
        </p:txBody>
      </p:sp>
      <p:sp>
        <p:nvSpPr>
          <p:cNvPr id="31" name="Shape 29"/>
          <p:cNvSpPr/>
          <p:nvPr/>
        </p:nvSpPr>
        <p:spPr>
          <a:xfrm>
            <a:off x="1234440" y="5989320"/>
            <a:ext cx="9692640" cy="365760"/>
          </a:xfrm>
          <a:prstGeom prst="roundRect">
            <a:avLst/>
          </a:prstGeom>
          <a:solidFill>
            <a:srgbClr val="FCECEC"/>
          </a:solidFill>
          <a:ln w="12700">
            <a:solidFill>
              <a:srgbClr val="C94C4C"/>
            </a:solidFill>
            <a:prstDash val="solid"/>
          </a:ln>
        </p:spPr>
        <p:txBody>
          <a:bodyPr/>
          <a:lstStyle/>
          <a:p>
            <a:endParaRPr lang="ja-JP" altLang="en-US"/>
          </a:p>
        </p:txBody>
      </p:sp>
      <p:sp>
        <p:nvSpPr>
          <p:cNvPr id="32" name="Text 30"/>
          <p:cNvSpPr/>
          <p:nvPr/>
        </p:nvSpPr>
        <p:spPr>
          <a:xfrm>
            <a:off x="1417320" y="6062472"/>
            <a:ext cx="9326880" cy="219456"/>
          </a:xfrm>
          <a:prstGeom prst="rect">
            <a:avLst/>
          </a:prstGeom>
          <a:noFill/>
          <a:ln/>
        </p:spPr>
        <p:txBody>
          <a:bodyPr wrap="square" lIns="0" tIns="0" rIns="0" bIns="0" rtlCol="0" anchor="ctr"/>
          <a:lstStyle/>
          <a:p>
            <a:pPr marL="0" indent="0" algn="ctr">
              <a:buNone/>
            </a:pPr>
            <a:r>
              <a:rPr lang="en-US" sz="1650" b="1" dirty="0">
                <a:solidFill>
                  <a:srgbClr val="C94C4C"/>
                </a:solidFill>
                <a:latin typeface="Noto Sans CJK JP" pitchFamily="34" charset="0"/>
                <a:ea typeface="Noto Sans CJK JP" pitchFamily="34" charset="-122"/>
                <a:cs typeface="Noto Sans CJK JP" pitchFamily="34" charset="-120"/>
              </a:rPr>
              <a:t>今後は「より厳密な小規模比較」と「配車案を増やした場合の変化」を確認する。</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11月に向けた次の作業と、ご相談したいこと</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17/18</a:t>
            </a:r>
            <a:endParaRPr lang="en-US" sz="850" dirty="0"/>
          </a:p>
        </p:txBody>
      </p:sp>
      <p:sp>
        <p:nvSpPr>
          <p:cNvPr id="6" name="Shape 4"/>
          <p:cNvSpPr/>
          <p:nvPr/>
        </p:nvSpPr>
        <p:spPr>
          <a:xfrm>
            <a:off x="621792" y="1024128"/>
            <a:ext cx="5486400" cy="5257800"/>
          </a:xfrm>
          <a:prstGeom prst="roundRect">
            <a:avLst>
              <a:gd name="adj" fmla="val 1391"/>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7" name="Text 5"/>
          <p:cNvSpPr/>
          <p:nvPr/>
        </p:nvSpPr>
        <p:spPr>
          <a:xfrm>
            <a:off x="932688" y="1298448"/>
            <a:ext cx="2286000" cy="329184"/>
          </a:xfrm>
          <a:prstGeom prst="rect">
            <a:avLst/>
          </a:prstGeom>
          <a:noFill/>
          <a:ln/>
        </p:spPr>
        <p:txBody>
          <a:bodyPr wrap="square" lIns="0" tIns="0" rIns="0" bIns="0" rtlCol="0" anchor="ctr"/>
          <a:lstStyle/>
          <a:p>
            <a:pPr marL="0" indent="0">
              <a:buNone/>
            </a:pPr>
            <a:r>
              <a:rPr lang="en-US" sz="2100" b="1" dirty="0">
                <a:solidFill>
                  <a:srgbClr val="1F2A5A"/>
                </a:solidFill>
                <a:latin typeface="Noto Sans CJK JP" pitchFamily="34" charset="0"/>
                <a:ea typeface="Noto Sans CJK JP" pitchFamily="34" charset="-122"/>
                <a:cs typeface="Noto Sans CJK JP" pitchFamily="34" charset="-120"/>
              </a:rPr>
              <a:t>次に優先する作業</a:t>
            </a:r>
            <a:endParaRPr lang="en-US" sz="2100" dirty="0"/>
          </a:p>
        </p:txBody>
      </p:sp>
      <p:sp>
        <p:nvSpPr>
          <p:cNvPr id="8" name="Shape 6"/>
          <p:cNvSpPr/>
          <p:nvPr/>
        </p:nvSpPr>
        <p:spPr>
          <a:xfrm>
            <a:off x="960120" y="1920240"/>
            <a:ext cx="438912" cy="438912"/>
          </a:xfrm>
          <a:prstGeom prst="ellipse">
            <a:avLst/>
          </a:prstGeom>
          <a:solidFill>
            <a:srgbClr val="356BB3"/>
          </a:solidFill>
          <a:ln w="12700">
            <a:solidFill>
              <a:srgbClr val="FFFFFF"/>
            </a:solidFill>
            <a:prstDash val="solid"/>
          </a:ln>
        </p:spPr>
        <p:txBody>
          <a:bodyPr/>
          <a:lstStyle/>
          <a:p>
            <a:endParaRPr lang="ja-JP" altLang="en-US"/>
          </a:p>
        </p:txBody>
      </p:sp>
      <p:sp>
        <p:nvSpPr>
          <p:cNvPr id="9" name="Text 7"/>
          <p:cNvSpPr/>
          <p:nvPr/>
        </p:nvSpPr>
        <p:spPr>
          <a:xfrm>
            <a:off x="960120" y="1883664"/>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0" name="Text 8"/>
          <p:cNvSpPr/>
          <p:nvPr/>
        </p:nvSpPr>
        <p:spPr>
          <a:xfrm>
            <a:off x="1572768" y="1874520"/>
            <a:ext cx="1600200" cy="292608"/>
          </a:xfrm>
          <a:prstGeom prst="rect">
            <a:avLst/>
          </a:prstGeom>
          <a:noFill/>
          <a:ln/>
        </p:spPr>
        <p:txBody>
          <a:bodyPr wrap="square" lIns="0" tIns="0" rIns="0" bIns="0" rtlCol="0" anchor="ctr"/>
          <a:lstStyle/>
          <a:p>
            <a:pPr marL="0" indent="0">
              <a:buNone/>
            </a:pPr>
            <a:r>
              <a:rPr lang="en-US" sz="1750" b="1" dirty="0">
                <a:solidFill>
                  <a:srgbClr val="172033"/>
                </a:solidFill>
                <a:latin typeface="Noto Sans CJK JP" pitchFamily="34" charset="0"/>
                <a:ea typeface="Noto Sans CJK JP" pitchFamily="34" charset="-122"/>
                <a:cs typeface="Noto Sans CJK JP" pitchFamily="34" charset="-120"/>
              </a:rPr>
              <a:t>小規模比較</a:t>
            </a:r>
            <a:endParaRPr lang="en-US" sz="1750" dirty="0"/>
          </a:p>
        </p:txBody>
      </p:sp>
      <p:sp>
        <p:nvSpPr>
          <p:cNvPr id="11" name="Text 9"/>
          <p:cNvSpPr/>
          <p:nvPr/>
        </p:nvSpPr>
        <p:spPr>
          <a:xfrm>
            <a:off x="3063240" y="1856232"/>
            <a:ext cx="2542032" cy="585216"/>
          </a:xfrm>
          <a:prstGeom prst="rect">
            <a:avLst/>
          </a:prstGeom>
          <a:noFill/>
          <a:ln/>
        </p:spPr>
        <p:txBody>
          <a:bodyPr wrap="square" lIns="0" tIns="0" rIns="0" bIns="0" rtlCol="0" anchor="ctr"/>
          <a:lstStyle/>
          <a:p>
            <a:pPr marL="0" indent="0">
              <a:buNone/>
            </a:pPr>
            <a:r>
              <a:rPr lang="en-US" sz="1420" dirty="0">
                <a:solidFill>
                  <a:srgbClr val="687386"/>
                </a:solidFill>
                <a:latin typeface="Noto Sans CJK JP" pitchFamily="34" charset="0"/>
                <a:ea typeface="Noto Sans CJK JP" pitchFamily="34" charset="-122"/>
                <a:cs typeface="Noto Sans CJK JP" pitchFamily="34" charset="-120"/>
              </a:rPr>
              <a:t>8・12・24便で、現在方式と一体型の参照方法を比較</a:t>
            </a:r>
            <a:endParaRPr lang="en-US" sz="1420" dirty="0"/>
          </a:p>
        </p:txBody>
      </p:sp>
      <p:sp>
        <p:nvSpPr>
          <p:cNvPr id="12" name="Shape 10"/>
          <p:cNvSpPr/>
          <p:nvPr/>
        </p:nvSpPr>
        <p:spPr>
          <a:xfrm>
            <a:off x="960120" y="3035808"/>
            <a:ext cx="438912" cy="438912"/>
          </a:xfrm>
          <a:prstGeom prst="ellipse">
            <a:avLst/>
          </a:prstGeom>
          <a:solidFill>
            <a:srgbClr val="1F9D8A"/>
          </a:solidFill>
          <a:ln w="12700">
            <a:solidFill>
              <a:srgbClr val="FFFFFF"/>
            </a:solidFill>
            <a:prstDash val="solid"/>
          </a:ln>
        </p:spPr>
        <p:txBody>
          <a:bodyPr/>
          <a:lstStyle/>
          <a:p>
            <a:endParaRPr lang="ja-JP" altLang="en-US"/>
          </a:p>
        </p:txBody>
      </p:sp>
      <p:sp>
        <p:nvSpPr>
          <p:cNvPr id="13" name="Text 11"/>
          <p:cNvSpPr/>
          <p:nvPr/>
        </p:nvSpPr>
        <p:spPr>
          <a:xfrm>
            <a:off x="960120" y="2999232"/>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Text 12"/>
          <p:cNvSpPr/>
          <p:nvPr/>
        </p:nvSpPr>
        <p:spPr>
          <a:xfrm>
            <a:off x="1572768" y="2990088"/>
            <a:ext cx="1600200" cy="292608"/>
          </a:xfrm>
          <a:prstGeom prst="rect">
            <a:avLst/>
          </a:prstGeom>
          <a:noFill/>
          <a:ln/>
        </p:spPr>
        <p:txBody>
          <a:bodyPr wrap="square" lIns="0" tIns="0" rIns="0" bIns="0" rtlCol="0" anchor="ctr"/>
          <a:lstStyle/>
          <a:p>
            <a:pPr marL="0" indent="0">
              <a:buNone/>
            </a:pPr>
            <a:r>
              <a:rPr lang="en-US" sz="1750" b="1" dirty="0">
                <a:solidFill>
                  <a:srgbClr val="172033"/>
                </a:solidFill>
                <a:latin typeface="Noto Sans CJK JP" pitchFamily="34" charset="0"/>
                <a:ea typeface="Noto Sans CJK JP" pitchFamily="34" charset="-122"/>
                <a:cs typeface="Noto Sans CJK JP" pitchFamily="34" charset="-120"/>
              </a:rPr>
              <a:t>選択結果の安定性</a:t>
            </a:r>
            <a:endParaRPr lang="en-US" sz="1750" dirty="0"/>
          </a:p>
        </p:txBody>
      </p:sp>
      <p:sp>
        <p:nvSpPr>
          <p:cNvPr id="15" name="Text 13"/>
          <p:cNvSpPr/>
          <p:nvPr/>
        </p:nvSpPr>
        <p:spPr>
          <a:xfrm>
            <a:off x="3063240" y="2971800"/>
            <a:ext cx="2542032" cy="585216"/>
          </a:xfrm>
          <a:prstGeom prst="rect">
            <a:avLst/>
          </a:prstGeom>
          <a:noFill/>
          <a:ln/>
        </p:spPr>
        <p:txBody>
          <a:bodyPr wrap="square" lIns="0" tIns="0" rIns="0" bIns="0" rtlCol="0" anchor="ctr"/>
          <a:lstStyle/>
          <a:p>
            <a:pPr marL="0" indent="0">
              <a:buNone/>
            </a:pPr>
            <a:r>
              <a:rPr lang="en-US" sz="1420" dirty="0">
                <a:solidFill>
                  <a:srgbClr val="687386"/>
                </a:solidFill>
                <a:latin typeface="Noto Sans CJK JP" pitchFamily="34" charset="0"/>
                <a:ea typeface="Noto Sans CJK JP" pitchFamily="34" charset="-122"/>
                <a:cs typeface="Noto Sans CJK JP" pitchFamily="34" charset="-120"/>
              </a:rPr>
              <a:t>候補範囲と計算時間を分けて変え、最終配車の変化を確認</a:t>
            </a:r>
            <a:endParaRPr lang="en-US" sz="1420" dirty="0"/>
          </a:p>
        </p:txBody>
      </p:sp>
      <p:sp>
        <p:nvSpPr>
          <p:cNvPr id="16" name="Shape 14"/>
          <p:cNvSpPr/>
          <p:nvPr/>
        </p:nvSpPr>
        <p:spPr>
          <a:xfrm>
            <a:off x="960120" y="4151376"/>
            <a:ext cx="438912" cy="438912"/>
          </a:xfrm>
          <a:prstGeom prst="ellipse">
            <a:avLst/>
          </a:prstGeom>
          <a:solidFill>
            <a:srgbClr val="E7B34B"/>
          </a:solidFill>
          <a:ln w="12700">
            <a:solidFill>
              <a:srgbClr val="FFFFFF"/>
            </a:solidFill>
            <a:prstDash val="solid"/>
          </a:ln>
        </p:spPr>
        <p:txBody>
          <a:bodyPr/>
          <a:lstStyle/>
          <a:p>
            <a:endParaRPr lang="ja-JP" altLang="en-US"/>
          </a:p>
        </p:txBody>
      </p:sp>
      <p:sp>
        <p:nvSpPr>
          <p:cNvPr id="17" name="Text 15"/>
          <p:cNvSpPr/>
          <p:nvPr/>
        </p:nvSpPr>
        <p:spPr>
          <a:xfrm>
            <a:off x="960120" y="4114800"/>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6"/>
          <p:cNvSpPr/>
          <p:nvPr/>
        </p:nvSpPr>
        <p:spPr>
          <a:xfrm>
            <a:off x="1572768" y="4105656"/>
            <a:ext cx="1600200" cy="292608"/>
          </a:xfrm>
          <a:prstGeom prst="rect">
            <a:avLst/>
          </a:prstGeom>
          <a:noFill/>
          <a:ln/>
        </p:spPr>
        <p:txBody>
          <a:bodyPr wrap="square" lIns="0" tIns="0" rIns="0" bIns="0" rtlCol="0" anchor="ctr"/>
          <a:lstStyle/>
          <a:p>
            <a:pPr marL="0" indent="0">
              <a:buNone/>
            </a:pPr>
            <a:r>
              <a:rPr lang="en-US" sz="1750" b="1" dirty="0">
                <a:solidFill>
                  <a:srgbClr val="172033"/>
                </a:solidFill>
                <a:latin typeface="Noto Sans CJK JP" pitchFamily="34" charset="0"/>
                <a:ea typeface="Noto Sans CJK JP" pitchFamily="34" charset="-122"/>
                <a:cs typeface="Noto Sans CJK JP" pitchFamily="34" charset="-120"/>
              </a:rPr>
              <a:t>結果の固定</a:t>
            </a:r>
            <a:endParaRPr lang="en-US" sz="1750" dirty="0"/>
          </a:p>
        </p:txBody>
      </p:sp>
      <p:sp>
        <p:nvSpPr>
          <p:cNvPr id="19" name="Text 17"/>
          <p:cNvSpPr/>
          <p:nvPr/>
        </p:nvSpPr>
        <p:spPr>
          <a:xfrm>
            <a:off x="3063240" y="4087368"/>
            <a:ext cx="2542032" cy="585216"/>
          </a:xfrm>
          <a:prstGeom prst="rect">
            <a:avLst/>
          </a:prstGeom>
          <a:noFill/>
          <a:ln/>
        </p:spPr>
        <p:txBody>
          <a:bodyPr wrap="square" lIns="0" tIns="0" rIns="0" bIns="0" rtlCol="0" anchor="ctr"/>
          <a:lstStyle/>
          <a:p>
            <a:pPr marL="0" indent="0">
              <a:buNone/>
            </a:pPr>
            <a:r>
              <a:rPr lang="en-US" sz="1420" dirty="0">
                <a:solidFill>
                  <a:srgbClr val="687386"/>
                </a:solidFill>
                <a:latin typeface="Noto Sans CJK JP" pitchFamily="34" charset="0"/>
                <a:ea typeface="Noto Sans CJK JP" pitchFamily="34" charset="-122"/>
                <a:cs typeface="Noto Sans CJK JP" pitchFamily="34" charset="-120"/>
              </a:rPr>
              <a:t>10月末までに図表・中間発表・大会原稿の内容を確定</a:t>
            </a:r>
            <a:endParaRPr lang="en-US" sz="1420" dirty="0"/>
          </a:p>
        </p:txBody>
      </p:sp>
      <p:sp>
        <p:nvSpPr>
          <p:cNvPr id="20" name="Shape 18"/>
          <p:cNvSpPr/>
          <p:nvPr/>
        </p:nvSpPr>
        <p:spPr>
          <a:xfrm>
            <a:off x="960120" y="5321808"/>
            <a:ext cx="4773168" cy="475488"/>
          </a:xfrm>
          <a:prstGeom prst="roundRect">
            <a:avLst/>
          </a:prstGeom>
          <a:solidFill>
            <a:srgbClr val="FFFFFF"/>
          </a:solidFill>
          <a:ln w="12700">
            <a:solidFill>
              <a:srgbClr val="356BB3"/>
            </a:solidFill>
            <a:prstDash val="solid"/>
          </a:ln>
        </p:spPr>
        <p:txBody>
          <a:bodyPr/>
          <a:lstStyle/>
          <a:p>
            <a:endParaRPr lang="ja-JP" altLang="en-US"/>
          </a:p>
        </p:txBody>
      </p:sp>
      <p:sp>
        <p:nvSpPr>
          <p:cNvPr id="21" name="Text 19"/>
          <p:cNvSpPr/>
          <p:nvPr/>
        </p:nvSpPr>
        <p:spPr>
          <a:xfrm>
            <a:off x="1188720" y="5431536"/>
            <a:ext cx="4315968" cy="246888"/>
          </a:xfrm>
          <a:prstGeom prst="rect">
            <a:avLst/>
          </a:prstGeom>
          <a:noFill/>
          <a:ln/>
        </p:spPr>
        <p:txBody>
          <a:bodyPr wrap="square" lIns="0" tIns="0" rIns="0" bIns="0" rtlCol="0" anchor="ctr"/>
          <a:lstStyle/>
          <a:p>
            <a:pPr marL="0" indent="0" algn="ctr">
              <a:buNone/>
            </a:pPr>
            <a:r>
              <a:rPr lang="en-US" sz="1450" b="1" dirty="0">
                <a:solidFill>
                  <a:srgbClr val="356BB3"/>
                </a:solidFill>
                <a:latin typeface="Noto Sans CJK JP" pitchFamily="34" charset="0"/>
                <a:ea typeface="Noto Sans CJK JP" pitchFamily="34" charset="-122"/>
                <a:cs typeface="Noto Sans CJK JP" pitchFamily="34" charset="-120"/>
              </a:rPr>
              <a:t>現在は実験実行前の準備まで完了。承認後に実行する。</a:t>
            </a:r>
            <a:endParaRPr lang="en-US" sz="1450" dirty="0"/>
          </a:p>
        </p:txBody>
      </p:sp>
      <p:sp>
        <p:nvSpPr>
          <p:cNvPr id="22" name="Shape 20"/>
          <p:cNvSpPr/>
          <p:nvPr/>
        </p:nvSpPr>
        <p:spPr>
          <a:xfrm>
            <a:off x="6355080" y="1024128"/>
            <a:ext cx="5212080" cy="5257800"/>
          </a:xfrm>
          <a:prstGeom prst="roundRect">
            <a:avLst>
              <a:gd name="adj" fmla="val 1404"/>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3" name="Text 21"/>
          <p:cNvSpPr/>
          <p:nvPr/>
        </p:nvSpPr>
        <p:spPr>
          <a:xfrm>
            <a:off x="6656832" y="1298448"/>
            <a:ext cx="2834640" cy="329184"/>
          </a:xfrm>
          <a:prstGeom prst="rect">
            <a:avLst/>
          </a:prstGeom>
          <a:noFill/>
          <a:ln/>
        </p:spPr>
        <p:txBody>
          <a:bodyPr wrap="square" lIns="0" tIns="0" rIns="0" bIns="0" rtlCol="0" anchor="ctr"/>
          <a:lstStyle/>
          <a:p>
            <a:pPr marL="0" indent="0">
              <a:buNone/>
            </a:pPr>
            <a:r>
              <a:rPr lang="en-US" sz="2100" b="1" dirty="0">
                <a:solidFill>
                  <a:srgbClr val="172033"/>
                </a:solidFill>
                <a:latin typeface="Noto Sans CJK JP" pitchFamily="34" charset="0"/>
                <a:ea typeface="Noto Sans CJK JP" pitchFamily="34" charset="-122"/>
                <a:cs typeface="Noto Sans CJK JP" pitchFamily="34" charset="-120"/>
              </a:rPr>
              <a:t>指導教員に確認したい4点</a:t>
            </a:r>
            <a:endParaRPr lang="en-US" sz="2100" dirty="0"/>
          </a:p>
        </p:txBody>
      </p:sp>
      <p:sp>
        <p:nvSpPr>
          <p:cNvPr id="24" name="Shape 22"/>
          <p:cNvSpPr/>
          <p:nvPr/>
        </p:nvSpPr>
        <p:spPr>
          <a:xfrm>
            <a:off x="6720840" y="1938528"/>
            <a:ext cx="347472" cy="347472"/>
          </a:xfrm>
          <a:prstGeom prst="ellipse">
            <a:avLst/>
          </a:prstGeom>
          <a:solidFill>
            <a:srgbClr val="1F2A5A"/>
          </a:solidFill>
          <a:ln w="12700">
            <a:solidFill>
              <a:srgbClr val="1F2A5A"/>
            </a:solidFill>
            <a:prstDash val="solid"/>
          </a:ln>
        </p:spPr>
        <p:txBody>
          <a:bodyPr/>
          <a:lstStyle/>
          <a:p>
            <a:endParaRPr lang="ja-JP" altLang="en-US"/>
          </a:p>
        </p:txBody>
      </p:sp>
      <p:sp>
        <p:nvSpPr>
          <p:cNvPr id="25" name="Text 23"/>
          <p:cNvSpPr/>
          <p:nvPr/>
        </p:nvSpPr>
        <p:spPr>
          <a:xfrm>
            <a:off x="6720840" y="1911096"/>
            <a:ext cx="347472"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26" name="Text 24"/>
          <p:cNvSpPr/>
          <p:nvPr/>
        </p:nvSpPr>
        <p:spPr>
          <a:xfrm>
            <a:off x="7269480" y="1920240"/>
            <a:ext cx="3749040" cy="402336"/>
          </a:xfrm>
          <a:prstGeom prst="rect">
            <a:avLst/>
          </a:prstGeom>
          <a:noFill/>
          <a:ln/>
        </p:spPr>
        <p:txBody>
          <a:bodyPr wrap="square" lIns="0" tIns="0" rIns="0" bIns="0" rtlCol="0" anchor="ctr"/>
          <a:lstStyle/>
          <a:p>
            <a:pPr marL="0" indent="0">
              <a:buNone/>
            </a:pPr>
            <a:r>
              <a:rPr lang="en-US" sz="1520" b="1" dirty="0">
                <a:solidFill>
                  <a:srgbClr val="172033"/>
                </a:solidFill>
                <a:latin typeface="Noto Sans CJK JP" pitchFamily="34" charset="0"/>
                <a:ea typeface="Noto Sans CJK JP" pitchFamily="34" charset="-122"/>
                <a:cs typeface="Noto Sans CJK JP" pitchFamily="34" charset="-120"/>
              </a:rPr>
              <a:t>全国大会は小規模比較を中心にしてよいか</a:t>
            </a:r>
            <a:endParaRPr lang="en-US" sz="1520" dirty="0"/>
          </a:p>
        </p:txBody>
      </p:sp>
      <p:sp>
        <p:nvSpPr>
          <p:cNvPr id="27" name="Shape 25"/>
          <p:cNvSpPr/>
          <p:nvPr/>
        </p:nvSpPr>
        <p:spPr>
          <a:xfrm>
            <a:off x="6720840" y="2697480"/>
            <a:ext cx="347472" cy="347472"/>
          </a:xfrm>
          <a:prstGeom prst="ellipse">
            <a:avLst/>
          </a:prstGeom>
          <a:solidFill>
            <a:srgbClr val="1F2A5A"/>
          </a:solidFill>
          <a:ln w="12700">
            <a:solidFill>
              <a:srgbClr val="1F2A5A"/>
            </a:solidFill>
            <a:prstDash val="solid"/>
          </a:ln>
        </p:spPr>
        <p:txBody>
          <a:bodyPr/>
          <a:lstStyle/>
          <a:p>
            <a:endParaRPr lang="ja-JP" altLang="en-US"/>
          </a:p>
        </p:txBody>
      </p:sp>
      <p:sp>
        <p:nvSpPr>
          <p:cNvPr id="28" name="Text 26"/>
          <p:cNvSpPr/>
          <p:nvPr/>
        </p:nvSpPr>
        <p:spPr>
          <a:xfrm>
            <a:off x="6720840" y="2670048"/>
            <a:ext cx="347472"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29" name="Text 27"/>
          <p:cNvSpPr/>
          <p:nvPr/>
        </p:nvSpPr>
        <p:spPr>
          <a:xfrm>
            <a:off x="7269480" y="2679192"/>
            <a:ext cx="3749040" cy="402336"/>
          </a:xfrm>
          <a:prstGeom prst="rect">
            <a:avLst/>
          </a:prstGeom>
          <a:noFill/>
          <a:ln/>
        </p:spPr>
        <p:txBody>
          <a:bodyPr wrap="square" lIns="0" tIns="0" rIns="0" bIns="0" rtlCol="0" anchor="ctr"/>
          <a:lstStyle/>
          <a:p>
            <a:pPr marL="0" indent="0">
              <a:buNone/>
            </a:pPr>
            <a:r>
              <a:rPr lang="en-US" sz="1520" b="1" dirty="0">
                <a:solidFill>
                  <a:srgbClr val="172033"/>
                </a:solidFill>
                <a:latin typeface="Noto Sans CJK JP" pitchFamily="34" charset="0"/>
                <a:ea typeface="Noto Sans CJK JP" pitchFamily="34" charset="-122"/>
                <a:cs typeface="Noto Sans CJK JP" pitchFamily="34" charset="-120"/>
              </a:rPr>
              <a:t>高PV側の約9.5%を開示して結果を使用してよいか</a:t>
            </a:r>
            <a:endParaRPr lang="en-US" sz="1520" dirty="0"/>
          </a:p>
        </p:txBody>
      </p:sp>
      <p:sp>
        <p:nvSpPr>
          <p:cNvPr id="30" name="Shape 28"/>
          <p:cNvSpPr/>
          <p:nvPr/>
        </p:nvSpPr>
        <p:spPr>
          <a:xfrm>
            <a:off x="6720840" y="3456432"/>
            <a:ext cx="347472" cy="347472"/>
          </a:xfrm>
          <a:prstGeom prst="ellipse">
            <a:avLst/>
          </a:prstGeom>
          <a:solidFill>
            <a:srgbClr val="1F2A5A"/>
          </a:solidFill>
          <a:ln w="12700">
            <a:solidFill>
              <a:srgbClr val="1F2A5A"/>
            </a:solidFill>
            <a:prstDash val="solid"/>
          </a:ln>
        </p:spPr>
        <p:txBody>
          <a:bodyPr/>
          <a:lstStyle/>
          <a:p>
            <a:endParaRPr lang="ja-JP" altLang="en-US"/>
          </a:p>
        </p:txBody>
      </p:sp>
      <p:sp>
        <p:nvSpPr>
          <p:cNvPr id="31" name="Text 29"/>
          <p:cNvSpPr/>
          <p:nvPr/>
        </p:nvSpPr>
        <p:spPr>
          <a:xfrm>
            <a:off x="6720840" y="3429000"/>
            <a:ext cx="347472"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32" name="Text 30"/>
          <p:cNvSpPr/>
          <p:nvPr/>
        </p:nvSpPr>
        <p:spPr>
          <a:xfrm>
            <a:off x="7269480" y="3438144"/>
            <a:ext cx="3749040" cy="402336"/>
          </a:xfrm>
          <a:prstGeom prst="rect">
            <a:avLst/>
          </a:prstGeom>
          <a:noFill/>
          <a:ln/>
        </p:spPr>
        <p:txBody>
          <a:bodyPr wrap="square" lIns="0" tIns="0" rIns="0" bIns="0" rtlCol="0" anchor="ctr"/>
          <a:lstStyle/>
          <a:p>
            <a:pPr marL="0" indent="0">
              <a:buNone/>
            </a:pPr>
            <a:r>
              <a:rPr lang="en-US" sz="1520" b="1" dirty="0">
                <a:solidFill>
                  <a:srgbClr val="172033"/>
                </a:solidFill>
                <a:latin typeface="Noto Sans CJK JP" pitchFamily="34" charset="0"/>
                <a:ea typeface="Noto Sans CJK JP" pitchFamily="34" charset="-122"/>
                <a:cs typeface="Noto Sans CJK JP" pitchFamily="34" charset="-120"/>
              </a:rPr>
              <a:t>低PV側の候補差をどこまで追加確認するか</a:t>
            </a:r>
            <a:endParaRPr lang="en-US" sz="1520" dirty="0"/>
          </a:p>
        </p:txBody>
      </p:sp>
      <p:sp>
        <p:nvSpPr>
          <p:cNvPr id="33" name="Shape 31"/>
          <p:cNvSpPr/>
          <p:nvPr/>
        </p:nvSpPr>
        <p:spPr>
          <a:xfrm>
            <a:off x="6720840" y="4215384"/>
            <a:ext cx="347472" cy="347472"/>
          </a:xfrm>
          <a:prstGeom prst="ellipse">
            <a:avLst/>
          </a:prstGeom>
          <a:solidFill>
            <a:srgbClr val="1F2A5A"/>
          </a:solidFill>
          <a:ln w="12700">
            <a:solidFill>
              <a:srgbClr val="1F2A5A"/>
            </a:solidFill>
            <a:prstDash val="solid"/>
          </a:ln>
        </p:spPr>
        <p:txBody>
          <a:bodyPr/>
          <a:lstStyle/>
          <a:p>
            <a:endParaRPr lang="ja-JP" altLang="en-US"/>
          </a:p>
        </p:txBody>
      </p:sp>
      <p:sp>
        <p:nvSpPr>
          <p:cNvPr id="34" name="Text 32"/>
          <p:cNvSpPr/>
          <p:nvPr/>
        </p:nvSpPr>
        <p:spPr>
          <a:xfrm>
            <a:off x="6720840" y="4187952"/>
            <a:ext cx="347472"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35" name="Text 33"/>
          <p:cNvSpPr/>
          <p:nvPr/>
        </p:nvSpPr>
        <p:spPr>
          <a:xfrm>
            <a:off x="7269480" y="4197096"/>
            <a:ext cx="3749040" cy="402336"/>
          </a:xfrm>
          <a:prstGeom prst="rect">
            <a:avLst/>
          </a:prstGeom>
          <a:noFill/>
          <a:ln/>
        </p:spPr>
        <p:txBody>
          <a:bodyPr wrap="square" lIns="0" tIns="0" rIns="0" bIns="0" rtlCol="0" anchor="ctr"/>
          <a:lstStyle/>
          <a:p>
            <a:pPr marL="0" indent="0">
              <a:buNone/>
            </a:pPr>
            <a:r>
              <a:rPr lang="en-US" sz="1520" b="1" dirty="0">
                <a:solidFill>
                  <a:srgbClr val="172033"/>
                </a:solidFill>
                <a:latin typeface="Noto Sans CJK JP" pitchFamily="34" charset="0"/>
                <a:ea typeface="Noto Sans CJK JP" pitchFamily="34" charset="-122"/>
                <a:cs typeface="Noto Sans CJK JP" pitchFamily="34" charset="-120"/>
              </a:rPr>
              <a:t>設備費・劣化費なしの費用範囲で発表してよいか</a:t>
            </a:r>
            <a:endParaRPr lang="en-US" sz="1520" dirty="0"/>
          </a:p>
        </p:txBody>
      </p:sp>
      <p:sp>
        <p:nvSpPr>
          <p:cNvPr id="36" name="Shape 34"/>
          <p:cNvSpPr/>
          <p:nvPr/>
        </p:nvSpPr>
        <p:spPr>
          <a:xfrm>
            <a:off x="6720840" y="5257800"/>
            <a:ext cx="4434840" cy="566928"/>
          </a:xfrm>
          <a:prstGeom prst="roundRect">
            <a:avLst/>
          </a:prstGeom>
          <a:solidFill>
            <a:srgbClr val="E8F6F3"/>
          </a:solidFill>
          <a:ln w="12700">
            <a:solidFill>
              <a:srgbClr val="1F9D8A"/>
            </a:solidFill>
            <a:prstDash val="solid"/>
          </a:ln>
        </p:spPr>
        <p:txBody>
          <a:bodyPr/>
          <a:lstStyle/>
          <a:p>
            <a:endParaRPr lang="ja-JP" altLang="en-US"/>
          </a:p>
        </p:txBody>
      </p:sp>
      <p:sp>
        <p:nvSpPr>
          <p:cNvPr id="37" name="Text 35"/>
          <p:cNvSpPr/>
          <p:nvPr/>
        </p:nvSpPr>
        <p:spPr>
          <a:xfrm>
            <a:off x="6931152" y="5358384"/>
            <a:ext cx="4005072" cy="347472"/>
          </a:xfrm>
          <a:prstGeom prst="rect">
            <a:avLst/>
          </a:prstGeom>
          <a:noFill/>
          <a:ln/>
        </p:spPr>
        <p:txBody>
          <a:bodyPr wrap="square" lIns="0" tIns="0" rIns="0" bIns="0" rtlCol="0" anchor="ctr"/>
          <a:lstStyle/>
          <a:p>
            <a:pPr marL="0" indent="0" algn="ctr">
              <a:buNone/>
            </a:pPr>
            <a:r>
              <a:rPr lang="en-US" sz="1350" b="1" dirty="0">
                <a:solidFill>
                  <a:srgbClr val="1F9D8A"/>
                </a:solidFill>
                <a:latin typeface="Noto Sans CJK JP" pitchFamily="34" charset="0"/>
                <a:ea typeface="Noto Sans CJK JP" pitchFamily="34" charset="-122"/>
                <a:cs typeface="Noto Sans CJK JP" pitchFamily="34" charset="-120"/>
              </a:rPr>
              <a:t>現状の主張：2条件で異なる実行可能配車を得た。</a:t>
            </a:r>
            <a:endParaRPr lang="en-US" sz="1350" dirty="0"/>
          </a:p>
          <a:p>
            <a:pPr marL="0" indent="0" algn="ctr">
              <a:buNone/>
            </a:pPr>
            <a:r>
              <a:rPr lang="en-US" sz="1350" b="1" dirty="0">
                <a:solidFill>
                  <a:srgbClr val="1F9D8A"/>
                </a:solidFill>
                <a:latin typeface="Noto Sans CJK JP" pitchFamily="34" charset="0"/>
                <a:ea typeface="Noto Sans CJK JP" pitchFamily="34" charset="-122"/>
                <a:cs typeface="Noto Sans CJK JP" pitchFamily="34" charset="-120"/>
              </a:rPr>
              <a:t>最適性・一般的天候効果はまだ主張しない。</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参考にした先行研究</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進捗報告（参考）</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18/18</a:t>
            </a:r>
            <a:endParaRPr lang="en-US" sz="850" dirty="0"/>
          </a:p>
        </p:txBody>
      </p:sp>
      <p:sp>
        <p:nvSpPr>
          <p:cNvPr id="6" name="Shape 4"/>
          <p:cNvSpPr/>
          <p:nvPr/>
        </p:nvSpPr>
        <p:spPr>
          <a:xfrm>
            <a:off x="640080" y="941832"/>
            <a:ext cx="10927080" cy="694944"/>
          </a:xfrm>
          <a:prstGeom prst="rect">
            <a:avLst/>
          </a:prstGeom>
          <a:solidFill>
            <a:srgbClr val="F8FAFC"/>
          </a:solidFill>
          <a:ln w="12700">
            <a:solidFill>
              <a:srgbClr val="F8FAFC"/>
            </a:solidFill>
            <a:prstDash val="solid"/>
          </a:ln>
        </p:spPr>
        <p:txBody>
          <a:bodyPr/>
          <a:lstStyle/>
          <a:p>
            <a:endParaRPr lang="ja-JP" altLang="en-US"/>
          </a:p>
        </p:txBody>
      </p:sp>
      <p:sp>
        <p:nvSpPr>
          <p:cNvPr id="7" name="Text 5"/>
          <p:cNvSpPr/>
          <p:nvPr/>
        </p:nvSpPr>
        <p:spPr>
          <a:xfrm>
            <a:off x="804672" y="987552"/>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261872" y="987552"/>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Fei, F. et al.</a:t>
            </a:r>
            <a:endParaRPr lang="en-US" sz="1300" dirty="0"/>
          </a:p>
        </p:txBody>
      </p:sp>
      <p:sp>
        <p:nvSpPr>
          <p:cNvPr id="9" name="Text 7"/>
          <p:cNvSpPr/>
          <p:nvPr/>
        </p:nvSpPr>
        <p:spPr>
          <a:xfrm>
            <a:off x="2880360" y="969264"/>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Exploring the profitability of using electric bus fleets for transport and power grid services</a:t>
            </a:r>
            <a:endParaRPr lang="en-US" sz="1220" dirty="0"/>
          </a:p>
        </p:txBody>
      </p:sp>
      <p:sp>
        <p:nvSpPr>
          <p:cNvPr id="10" name="Text 8"/>
          <p:cNvSpPr/>
          <p:nvPr/>
        </p:nvSpPr>
        <p:spPr>
          <a:xfrm>
            <a:off x="8942832" y="978408"/>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Transportation Research Part C, 149, 104060, 2023</a:t>
            </a:r>
            <a:endParaRPr lang="en-US" sz="1080" dirty="0"/>
          </a:p>
        </p:txBody>
      </p:sp>
      <p:sp>
        <p:nvSpPr>
          <p:cNvPr id="11" name="Text 9"/>
          <p:cNvSpPr/>
          <p:nvPr/>
        </p:nvSpPr>
        <p:spPr>
          <a:xfrm>
            <a:off x="804672" y="1783080"/>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1261872" y="1783080"/>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Najafi, A. et al.</a:t>
            </a:r>
            <a:endParaRPr lang="en-US" sz="1300" dirty="0"/>
          </a:p>
        </p:txBody>
      </p:sp>
      <p:sp>
        <p:nvSpPr>
          <p:cNvPr id="13" name="Text 11"/>
          <p:cNvSpPr/>
          <p:nvPr/>
        </p:nvSpPr>
        <p:spPr>
          <a:xfrm>
            <a:off x="2880360" y="1764792"/>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Integrated optimization of charging infrastructure, electric bus scheduling and energy systems</a:t>
            </a:r>
            <a:endParaRPr lang="en-US" sz="1220" dirty="0"/>
          </a:p>
        </p:txBody>
      </p:sp>
      <p:sp>
        <p:nvSpPr>
          <p:cNvPr id="14" name="Text 12"/>
          <p:cNvSpPr/>
          <p:nvPr/>
        </p:nvSpPr>
        <p:spPr>
          <a:xfrm>
            <a:off x="8942832" y="1773936"/>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Transportation Research Part D, 141, 104664, 2025</a:t>
            </a:r>
            <a:endParaRPr lang="en-US" sz="1080" dirty="0"/>
          </a:p>
        </p:txBody>
      </p:sp>
      <p:sp>
        <p:nvSpPr>
          <p:cNvPr id="15" name="Shape 13"/>
          <p:cNvSpPr/>
          <p:nvPr/>
        </p:nvSpPr>
        <p:spPr>
          <a:xfrm>
            <a:off x="640080" y="2532888"/>
            <a:ext cx="10927080" cy="694944"/>
          </a:xfrm>
          <a:prstGeom prst="rect">
            <a:avLst/>
          </a:prstGeom>
          <a:solidFill>
            <a:srgbClr val="F8FAFC"/>
          </a:solidFill>
          <a:ln w="12700">
            <a:solidFill>
              <a:srgbClr val="F8FAFC"/>
            </a:solidFill>
            <a:prstDash val="solid"/>
          </a:ln>
        </p:spPr>
        <p:txBody>
          <a:bodyPr/>
          <a:lstStyle/>
          <a:p>
            <a:endParaRPr lang="ja-JP" altLang="en-US"/>
          </a:p>
        </p:txBody>
      </p:sp>
      <p:sp>
        <p:nvSpPr>
          <p:cNvPr id="16" name="Text 14"/>
          <p:cNvSpPr/>
          <p:nvPr/>
        </p:nvSpPr>
        <p:spPr>
          <a:xfrm>
            <a:off x="804672" y="2578608"/>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[3]</a:t>
            </a:r>
            <a:endParaRPr lang="en-US" sz="1300" dirty="0"/>
          </a:p>
        </p:txBody>
      </p:sp>
      <p:sp>
        <p:nvSpPr>
          <p:cNvPr id="17" name="Text 15"/>
          <p:cNvSpPr/>
          <p:nvPr/>
        </p:nvSpPr>
        <p:spPr>
          <a:xfrm>
            <a:off x="1261872" y="2578608"/>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Zhang, M. et al.</a:t>
            </a:r>
            <a:endParaRPr lang="en-US" sz="1300" dirty="0"/>
          </a:p>
        </p:txBody>
      </p:sp>
      <p:sp>
        <p:nvSpPr>
          <p:cNvPr id="18" name="Text 16"/>
          <p:cNvSpPr/>
          <p:nvPr/>
        </p:nvSpPr>
        <p:spPr>
          <a:xfrm>
            <a:off x="2880360" y="2560320"/>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Optimal Electric Bus Charging Scheduling with Multiple Vehicle and Charger Types Considering Compatibility</a:t>
            </a:r>
            <a:endParaRPr lang="en-US" sz="1220" dirty="0"/>
          </a:p>
        </p:txBody>
      </p:sp>
      <p:sp>
        <p:nvSpPr>
          <p:cNvPr id="19" name="Text 17"/>
          <p:cNvSpPr/>
          <p:nvPr/>
        </p:nvSpPr>
        <p:spPr>
          <a:xfrm>
            <a:off x="8942832" y="2569464"/>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2025</a:t>
            </a:r>
            <a:endParaRPr lang="en-US" sz="1080" dirty="0"/>
          </a:p>
        </p:txBody>
      </p:sp>
      <p:sp>
        <p:nvSpPr>
          <p:cNvPr id="20" name="Text 18"/>
          <p:cNvSpPr/>
          <p:nvPr/>
        </p:nvSpPr>
        <p:spPr>
          <a:xfrm>
            <a:off x="804672" y="3374136"/>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[4]</a:t>
            </a:r>
            <a:endParaRPr lang="en-US" sz="1300" dirty="0"/>
          </a:p>
        </p:txBody>
      </p:sp>
      <p:sp>
        <p:nvSpPr>
          <p:cNvPr id="21" name="Text 19"/>
          <p:cNvSpPr/>
          <p:nvPr/>
        </p:nvSpPr>
        <p:spPr>
          <a:xfrm>
            <a:off x="1261872" y="3374136"/>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He, J. et al.</a:t>
            </a:r>
            <a:endParaRPr lang="en-US" sz="1300" dirty="0"/>
          </a:p>
        </p:txBody>
      </p:sp>
      <p:sp>
        <p:nvSpPr>
          <p:cNvPr id="22" name="Text 20"/>
          <p:cNvSpPr/>
          <p:nvPr/>
        </p:nvSpPr>
        <p:spPr>
          <a:xfrm>
            <a:off x="2880360" y="3355848"/>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Battery electricity bus charging schedule considering bus journey’s energy consumption estimation</a:t>
            </a:r>
            <a:endParaRPr lang="en-US" sz="1220" dirty="0"/>
          </a:p>
        </p:txBody>
      </p:sp>
      <p:sp>
        <p:nvSpPr>
          <p:cNvPr id="23" name="Text 21"/>
          <p:cNvSpPr/>
          <p:nvPr/>
        </p:nvSpPr>
        <p:spPr>
          <a:xfrm>
            <a:off x="8942832" y="3364992"/>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Transportation Research Part D, 115, 103587, 2023</a:t>
            </a:r>
            <a:endParaRPr lang="en-US" sz="1080" dirty="0"/>
          </a:p>
        </p:txBody>
      </p:sp>
      <p:sp>
        <p:nvSpPr>
          <p:cNvPr id="24" name="Shape 22"/>
          <p:cNvSpPr/>
          <p:nvPr/>
        </p:nvSpPr>
        <p:spPr>
          <a:xfrm>
            <a:off x="640080" y="4123944"/>
            <a:ext cx="10927080" cy="694944"/>
          </a:xfrm>
          <a:prstGeom prst="rect">
            <a:avLst/>
          </a:prstGeom>
          <a:solidFill>
            <a:srgbClr val="F8FAFC"/>
          </a:solidFill>
          <a:ln w="12700">
            <a:solidFill>
              <a:srgbClr val="F8FAFC"/>
            </a:solidFill>
            <a:prstDash val="solid"/>
          </a:ln>
        </p:spPr>
        <p:txBody>
          <a:bodyPr/>
          <a:lstStyle/>
          <a:p>
            <a:endParaRPr lang="ja-JP" altLang="en-US"/>
          </a:p>
        </p:txBody>
      </p:sp>
      <p:sp>
        <p:nvSpPr>
          <p:cNvPr id="25" name="Text 23"/>
          <p:cNvSpPr/>
          <p:nvPr/>
        </p:nvSpPr>
        <p:spPr>
          <a:xfrm>
            <a:off x="804672" y="4169664"/>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[5]</a:t>
            </a:r>
            <a:endParaRPr lang="en-US" sz="1300" dirty="0"/>
          </a:p>
        </p:txBody>
      </p:sp>
      <p:sp>
        <p:nvSpPr>
          <p:cNvPr id="26" name="Text 24"/>
          <p:cNvSpPr/>
          <p:nvPr/>
        </p:nvSpPr>
        <p:spPr>
          <a:xfrm>
            <a:off x="1261872" y="4169664"/>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Zhang, Z. et al.</a:t>
            </a:r>
            <a:endParaRPr lang="en-US" sz="1300" dirty="0"/>
          </a:p>
        </p:txBody>
      </p:sp>
      <p:sp>
        <p:nvSpPr>
          <p:cNvPr id="27" name="Text 25"/>
          <p:cNvSpPr/>
          <p:nvPr/>
        </p:nvSpPr>
        <p:spPr>
          <a:xfrm>
            <a:off x="2880360" y="4151376"/>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Analysis and estimation of energy consumption of electric buses using real-world data</a:t>
            </a:r>
            <a:endParaRPr lang="en-US" sz="1220" dirty="0"/>
          </a:p>
        </p:txBody>
      </p:sp>
      <p:sp>
        <p:nvSpPr>
          <p:cNvPr id="28" name="Text 26"/>
          <p:cNvSpPr/>
          <p:nvPr/>
        </p:nvSpPr>
        <p:spPr>
          <a:xfrm>
            <a:off x="8942832" y="4160520"/>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Transportation Research Part D, 126, 104017, 2024</a:t>
            </a:r>
            <a:endParaRPr lang="en-US" sz="1080" dirty="0"/>
          </a:p>
        </p:txBody>
      </p:sp>
      <p:sp>
        <p:nvSpPr>
          <p:cNvPr id="29" name="Text 27"/>
          <p:cNvSpPr/>
          <p:nvPr/>
        </p:nvSpPr>
        <p:spPr>
          <a:xfrm>
            <a:off x="804672" y="4965192"/>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[6]</a:t>
            </a:r>
            <a:endParaRPr lang="en-US" sz="1300" dirty="0"/>
          </a:p>
        </p:txBody>
      </p:sp>
      <p:sp>
        <p:nvSpPr>
          <p:cNvPr id="30" name="Text 28"/>
          <p:cNvSpPr/>
          <p:nvPr/>
        </p:nvSpPr>
        <p:spPr>
          <a:xfrm>
            <a:off x="1261872" y="4965192"/>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Blades, L.A.W. et al.</a:t>
            </a:r>
            <a:endParaRPr lang="en-US" sz="1300" dirty="0"/>
          </a:p>
        </p:txBody>
      </p:sp>
      <p:sp>
        <p:nvSpPr>
          <p:cNvPr id="31" name="Text 29"/>
          <p:cNvSpPr/>
          <p:nvPr/>
        </p:nvSpPr>
        <p:spPr>
          <a:xfrm>
            <a:off x="2880360" y="4946904"/>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Predicting energy consumption of zero emission buses using route feature selection methods</a:t>
            </a:r>
            <a:endParaRPr lang="en-US" sz="1220" dirty="0"/>
          </a:p>
        </p:txBody>
      </p:sp>
      <p:sp>
        <p:nvSpPr>
          <p:cNvPr id="32" name="Text 30"/>
          <p:cNvSpPr/>
          <p:nvPr/>
        </p:nvSpPr>
        <p:spPr>
          <a:xfrm>
            <a:off x="8942832" y="4956048"/>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Transportation Research Part D, 130, 104158, 2024</a:t>
            </a:r>
            <a:endParaRPr lang="en-US" sz="1080" dirty="0"/>
          </a:p>
        </p:txBody>
      </p:sp>
      <p:sp>
        <p:nvSpPr>
          <p:cNvPr id="33" name="Shape 31"/>
          <p:cNvSpPr/>
          <p:nvPr/>
        </p:nvSpPr>
        <p:spPr>
          <a:xfrm>
            <a:off x="1143000" y="5925312"/>
            <a:ext cx="9875520" cy="402336"/>
          </a:xfrm>
          <a:prstGeom prst="roundRect">
            <a:avLst/>
          </a:prstGeom>
          <a:solidFill>
            <a:srgbClr val="EAF2FB"/>
          </a:solidFill>
          <a:ln w="11430">
            <a:solidFill>
              <a:srgbClr val="356BB3"/>
            </a:solidFill>
            <a:prstDash val="solid"/>
          </a:ln>
        </p:spPr>
        <p:txBody>
          <a:bodyPr/>
          <a:lstStyle/>
          <a:p>
            <a:endParaRPr lang="ja-JP" altLang="en-US"/>
          </a:p>
        </p:txBody>
      </p:sp>
      <p:sp>
        <p:nvSpPr>
          <p:cNvPr id="34" name="Text 32"/>
          <p:cNvSpPr/>
          <p:nvPr/>
        </p:nvSpPr>
        <p:spPr>
          <a:xfrm>
            <a:off x="1353312" y="6016752"/>
            <a:ext cx="9464040" cy="210312"/>
          </a:xfrm>
          <a:prstGeom prst="rect">
            <a:avLst/>
          </a:prstGeom>
          <a:noFill/>
          <a:ln/>
        </p:spPr>
        <p:txBody>
          <a:bodyPr wrap="square" lIns="0" tIns="0" rIns="0" bIns="0" rtlCol="0" anchor="ctr"/>
          <a:lstStyle/>
          <a:p>
            <a:pPr marL="0" indent="0" algn="ctr">
              <a:buNone/>
            </a:pPr>
            <a:r>
              <a:rPr lang="en-US" sz="1400" b="1" dirty="0">
                <a:solidFill>
                  <a:srgbClr val="1F2A5A"/>
                </a:solidFill>
                <a:latin typeface="Noto Sans CJK JP" pitchFamily="34" charset="0"/>
                <a:ea typeface="Noto Sans CJK JP" pitchFamily="34" charset="-122"/>
                <a:cs typeface="Noto Sans CJK JP" pitchFamily="34" charset="-120"/>
              </a:rPr>
              <a:t>本資料の図は先行研究の構成を参考にしつつ、すべて本研究の入力・結果から再作成した。</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5443</TotalTime>
  <Words>2068</Words>
  <Application>Microsoft Office PowerPoint</Application>
  <PresentationFormat>ワイド画面</PresentationFormat>
  <Paragraphs>490</Paragraphs>
  <Slides>18</Slides>
  <Notes>18</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18</vt:i4>
      </vt:variant>
    </vt:vector>
  </HeadingPairs>
  <TitlesOfParts>
    <vt:vector size="21" baseType="lpstr">
      <vt:lpstr>Noto Sans CJK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Tokyo City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PV余剰電力を考慮したBEV/ICE混成バスの配車・充電計画</dc:title>
  <dc:subject>修士論文 8月進捗報告</dc:subject>
  <dc:creator>OpenAI</dc:creator>
  <cp:lastModifiedBy>刘 承洋_LIU Chengyang(東京都市大学_Tokyo City University)</cp:lastModifiedBy>
  <cp:revision>2</cp:revision>
  <dcterms:created xsi:type="dcterms:W3CDTF">2026-08-31T08:50:52Z</dcterms:created>
  <dcterms:modified xsi:type="dcterms:W3CDTF">2026-09-06T05:19:54Z</dcterms:modified>
</cp:coreProperties>
</file>