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5864" autoAdjust="0"/>
  </p:normalViewPr>
  <p:slideViewPr>
    <p:cSldViewPr snapToGrid="0" snapToObjects="1">
      <p:cViewPr varScale="1">
        <p:scale>
          <a:sx n="70" d="100"/>
          <a:sy n="70" d="100"/>
        </p:scale>
        <p:origin x="1138"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999720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今日は、電気バスとエンジンバスを組み合わせた配車と充電の研究について報告します。目標は、決められた便を全部走らせながら、太陽光を使える時間と充電の時間を考えて運用を決めることです。まず研究の仕組みを説明し、次に以前の課題に対して何を直したか、どんな結果を確認できたかをお話しします。最後に、まだ証明できていないことと次の検証をご相談します。</a:t>
            </a:r>
          </a:p>
          <a:p xmlns:a="http://schemas.openxmlformats.org/drawingml/2006/main">
            <a:r>
              <a:t/>
            </a:r>
          </a:p>
          <a:p xmlns:a="http://schemas.openxmlformats.org/drawingml/2006/main">
            <a:r>
              <a:t>【補足】</a:t>
            </a:r>
          </a:p>
          <a:p xmlns:a="http://schemas.openxmlformats.org/drawingml/2006/main">
            <a:r>
              <a:t>スライド本体は8月の報告を基にしています。9月5日に既存結果を詳しく分析した内容は、その日付を付けて説明します。ここでいう運行はモデル上の計算で、実車実証ではありません。</a:t>
            </a:r>
          </a:p>
          <a:p xmlns:a="http://schemas.openxmlformats.org/drawingml/2006/main">
            <a:r>
              <a:t/>
            </a:r>
          </a:p>
          <a:p xmlns:a="http://schemas.openxmlformats.org/drawingml/2006/main">
            <a:r>
              <a:t>【出典】docs/evidence/weather_dispatch_rerun_bb0c005/result_summary.json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電気バスは、電池があればいつでも走れるわけではありません。次の便までに必要な電気を充電し、出発時刻に間に合わせる必要があります。例えば、昼に太陽光が多くても、その時間にバスが路線を走っていれば、そのバスへ直接充電できません。一方、営業所に戻ってきても充電器や受電容量には上限があります。そこで、どの便を電気バスが担当するかと、いつ充電するかを関連付けて考えています。</a:t>
            </a:r>
          </a:p>
          <a:p xmlns:a="http://schemas.openxmlformats.org/drawingml/2006/main">
            <a:r>
              <a:t/>
            </a:r>
          </a:p>
          <a:p xmlns:a="http://schemas.openxmlformats.org/drawingml/2006/main">
            <a:r>
              <a:t>【用語と補足】</a:t>
            </a:r>
          </a:p>
          <a:p xmlns:a="http://schemas.openxmlformats.org/drawingml/2006/main">
            <a:r>
              <a:t>BEVは電池で走るバス、ICEはエンジンバス、PVは太陽光発電、BESSは営業所に置く蓄電池です。「一緒に考える」は研究対象全体の話で、計算では配車と電力を二段階に分けています。</a:t>
            </a:r>
          </a:p>
          <a:p xmlns:a="http://schemas.openxmlformats.org/drawingml/2006/main">
            <a:r>
              <a:t/>
            </a:r>
          </a:p>
          <a:p xmlns:a="http://schemas.openxmlformats.org/drawingml/2006/main">
            <a:r>
              <a:t>【次へ】その仕組みを説明するため、先行研究の図表の見せ方も参考にしました。</a:t>
            </a:r>
          </a:p>
          <a:p xmlns:a="http://schemas.openxmlformats.org/drawingml/2006/main">
            <a:r>
              <a:t>【出典】docs/thesis/authoring_v1/03_mathematical_formulation.md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このページでは、文献から何を資料に取り入れたかを示しています。結果の金額だけを出しても、どういう設備や条件で計算したかが分からなければ比較できません。そこで、対象システム、入力条件、電力の流れ、車両構成と評価額の関係を順に示す構成にしました。本研究では、既存の264便を守りながら、電気バスとエンジンバスの担当、充電の電源を確認します。</a:t>
            </a:r>
          </a:p>
          <a:p xmlns:a="http://schemas.openxmlformats.org/drawingml/2006/main">
            <a:r>
              <a:t/>
            </a:r>
          </a:p>
          <a:p xmlns:a="http://schemas.openxmlformats.org/drawingml/2006/main">
            <a:r>
              <a:t>【補足】</a:t>
            </a:r>
          </a:p>
          <a:p xmlns:a="http://schemas.openxmlformats.org/drawingml/2006/main">
            <a:r>
              <a:t>この表は図表構成の参考です。各文献が本研究の設定値を実証しているという意味ではありません。また、混成車両と太陽光を組み合わせただけで世界初とは言えません。9月5日の文献整理では、近い研究との比較方法や確認範囲も整理しています。</a:t>
            </a:r>
          </a:p>
          <a:p xmlns:a="http://schemas.openxmlformats.org/drawingml/2006/main">
            <a:r>
              <a:t/>
            </a:r>
          </a:p>
          <a:p xmlns:a="http://schemas.openxmlformats.org/drawingml/2006/main">
            <a:r>
              <a:t>【出典】元資料3枚目、outcome/2026-09-05_literature_review/README.md、outcome/2026-09-05_august_progress_revision/speaker_notes.md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比較の公平さのため、両条件で同じ平日の264便を使いました。使える車両、電池の初期残量、充電器や料金も固定し、太陽光の発電曲線だけを変えています。高PVは発電量が多い曲線、低PVは少ない曲線です。低PVの曲線は8月10日由来ですが、走らせる便は8月5日の平日ダイヤのままです。つまり、実際の晴れた日と雨の日の観測比較ではなく、同じ運行に異なる太陽光条件を与えた計算です。</a:t>
            </a:r>
          </a:p>
          <a:p xmlns:a="http://schemas.openxmlformats.org/drawingml/2006/main">
            <a:r>
              <a:t/>
            </a:r>
          </a:p>
          <a:p xmlns:a="http://schemas.openxmlformats.org/drawingml/2006/main">
            <a:r>
              <a:t>【補足】</a:t>
            </a:r>
          </a:p>
          <a:p xmlns:a="http://schemas.openxmlformats.org/drawingml/2006/main">
            <a:r>
              <a:t>60台はこの実験の入力から確認した有効車両数です。使える60台と、結果として使った32台を区別します。他の営業所でも必ず同じ台数を使う設定ではありません。</a:t>
            </a:r>
          </a:p>
          <a:p xmlns:a="http://schemas.openxmlformats.org/drawingml/2006/main">
            <a:r>
              <a:t/>
            </a:r>
          </a:p>
          <a:p xmlns:a="http://schemas.openxmlformats.org/drawingml/2006/main">
            <a:r>
              <a:t>【出典】docs/evidence/weather_dispatch_rerun_bb0c005/result_summary.json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まず時刻表と車両などの入力を確定します。次に、充電の見込みも考慮しながら配車候補を複数作ります。その候補ごとに配車を固定し、具体的な充電と太陽光、蓄電池の使い方を計算します。その前日評価額などを比べて採用案を選びます。採用後は担当便を変えず、1時間進むたびに残り時間の電力計画を更新します。最後に、一日全体で便の担当や電池残量、電力と費用が矛盾していないかを確認します。</a:t>
            </a:r>
          </a:p>
          <a:p xmlns:a="http://schemas.openxmlformats.org/drawingml/2006/main">
            <a:r>
              <a:t/>
            </a:r>
          </a:p>
          <a:p xmlns:a="http://schemas.openxmlformats.org/drawingml/2006/main">
            <a:r>
              <a:t>【以前との違い】</a:t>
            </a:r>
          </a:p>
          <a:p xmlns:a="http://schemas.openxmlformats.org/drawingml/2006/main">
            <a:r>
              <a:t>元資料で課題としていた、ほぼ一つの配車だけを詳しく評価する構成に対して、複数の候補を電力側まで評価して選べるようにしました。ただし、考えられる配車を全て調べたわけではありません。</a:t>
            </a:r>
          </a:p>
          <a:p xmlns:a="http://schemas.openxmlformats.org/drawingml/2006/main">
            <a:r>
              <a:t/>
            </a:r>
          </a:p>
          <a:p xmlns:a="http://schemas.openxmlformats.org/drawingml/2006/main">
            <a:r>
              <a:t>【出典】docs/thesis/authoring_v1/03_mathematical_formulation.md、元資料8枚目</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ここは結果を再現するための条件表です。全部を読み上げず、電池容量、初期残量、充電器と受電上限に注目してください。SOCは電池の残量割合です。初期SOCは車両ごとに異なり、全車を満充電から出発させてはいません。充電器は90キロワットが10基ですが、系統から受け取れる電力は200キロワットなので、いつでも全基を系統だけで最大出力にできるわけではありません。太陽光と営業所の蓄電池も含めて電力の収支を考えます。</a:t>
            </a:r>
          </a:p>
          <a:p xmlns:a="http://schemas.openxmlformats.org/drawingml/2006/main">
            <a:r>
              <a:t/>
            </a:r>
          </a:p>
          <a:p xmlns:a="http://schemas.openxmlformats.org/drawingml/2006/main">
            <a:r>
              <a:t>【補足】</a:t>
            </a:r>
          </a:p>
          <a:p xmlns:a="http://schemas.openxmlformats.org/drawingml/2006/main">
            <a:r>
              <a:t>キロワットはその時点の電力、キロワット時は時間を通じて使った電気の量です。設備値はこのケースの入力条件で、実際の弦巻営業所に同じ設備が設置されていると確認した値ではありません。蓄電池は日初と日末の残量を同じにしています。</a:t>
            </a:r>
          </a:p>
          <a:p xmlns:a="http://schemas.openxmlformats.org/drawingml/2006/main">
            <a:r>
              <a:t/>
            </a:r>
          </a:p>
          <a:p xmlns:a="http://schemas.openxmlformats.org/drawingml/2006/main">
            <a:r>
              <a:t>【出典】outcome/2026-09-05_research_progress/04_parameter_sources.csv、docs/thesis/authoring_v1/05_assumptions_parameters_units.md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評価額には、電力、燃料、車両使用費、二酸化炭素に対する費用を含めています。一方、設備投資や電池劣化、運転士費は含んでいません。したがって、実際の営業所の総費用や採算を計算したとは言いません。計算では22候補を評価します。時間上限や乱数の条件も記録し、都合のよい結果だけを選ばないようにしています。</a:t>
            </a:r>
          </a:p>
          <a:p xmlns:a="http://schemas.openxmlformats.org/drawingml/2006/main">
            <a:r>
              <a:t/>
            </a:r>
          </a:p>
          <a:p xmlns:a="http://schemas.openxmlformats.org/drawingml/2006/main">
            <a:r>
              <a:t>【補足】</a:t>
            </a:r>
          </a:p>
          <a:p xmlns:a="http://schemas.openxmlformats.org/drawingml/2006/main">
            <a:r>
              <a:t>585秒は要求設定で、22候補と24回の更新を含む全作業が585秒で終わったという実測値ではありません。15～35台は構成探索の指定範囲で、別の生成経路を含む候補全体は14～35台です。gapはソルバーがその段階で持つ解と保証された下限の隔たりを示します。最終評価額の誤差率とは違います。</a:t>
            </a:r>
          </a:p>
          <a:p xmlns:a="http://schemas.openxmlformats.org/drawingml/2006/main">
            <a:r>
              <a:t/>
            </a:r>
          </a:p>
          <a:p xmlns:a="http://schemas.openxmlformats.org/drawingml/2006/main">
            <a:r>
              <a:t>【出典】docs/thesis/authoring_v1/05_assumptions_parameters_units.md、outcome/2026-09-05_august_progress_revision/speaker_notes.md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ここが今回の進捗の全体像です。左が以前の課題、中央が実際に行った作業、右がその結果です。以前はほぼ一つの配車を詳しく評価し、高低PVで同じ案になると月次資料で報告していました。そこで候補を22案へ増やし、充電まで評価して選ぶようにしました。この二条件では、電気バスの担当が199便と91便に分かれました。また、合計だけでなく時間ごとの電池と電力を検算しました。さらに既存結果を便単位で照合して、変更した108便を特定しました。これは研究の作業と到達点の差分です。同じ条件で旧方式を再実験した性能比較ではないため、何％速くなったとは言いません。次に、作業の順番を説明します。</a:t>
            </a:r>
          </a:p>
          <a:p xmlns:a="http://schemas.openxmlformats.org/drawingml/2006/main">
            <a:r>
              <a:t/>
            </a:r>
          </a:p>
          <a:p xmlns:a="http://schemas.openxmlformats.org/drawingml/2006/main">
            <a:r>
              <a:t>【出典】</a:t>
            </a:r>
          </a:p>
          <a:p xmlns:a="http://schemas.openxmlformats.org/drawingml/2006/main">
            <a:r>
              <a:t>出典：outcome/2026-09-06_speaker_notes/README.md、outcome/2026-09-05_research_progress/02_findings.md、docs/evidence/weather_dispatch_rerun_bb0c005/result_summary.json。実験SHA bb0c005。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作業は目的を分けて進めました。8月には、比較する配車案を増やし、各案について充電できるかと評価額を計算しました。次に、太陽光以外の入力をそろえました。そうしないと、ダイヤや車両の違いによる結果を太陽光の違いと思い込んでしまいます。その条件で計算し直し、一時間ずつ進めた24回の更新と一日の費用を確認しました。9月5日は、新しい計画を求めたのではなく、保存済みの結果を便ごと、15分ごとに読み直しました。これで、合計値の裏側にある担当便と電力、費用を説明できるようになりました。</a:t>
            </a:r>
          </a:p>
          <a:p xmlns:a="http://schemas.openxmlformats.org/drawingml/2006/main">
            <a:r>
              <a:t/>
            </a:r>
          </a:p>
          <a:p xmlns:a="http://schemas.openxmlformats.org/drawingml/2006/main">
            <a:r>
              <a:t>【出典】</a:t>
            </a:r>
          </a:p>
          <a:p xmlns:a="http://schemas.openxmlformats.org/drawingml/2006/main">
            <a:r>
              <a:t>出典：outcome/2026-09-06_speaker_notes/README.md、outcome/2026-09-05_research_progress/02_findings.md、docs/evidence/weather_dispatch_rerun_bb0c005/result_summary.json。実験SHA bb0c005。</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左の車両数と右の便数を分けて見てください。高PVでは電気バス28台で199便、低PVでは21台で91便を担当しました。全体では両方とも32台で264便を担当しています。9月5日に同じ便のIDを突き合わせたところ、低PVのエンジンバス担当から高PVの電気バス担当へ変わったのは108便で、渋22が78便、渋23が30便でした。これで、単に電気バスが増えたという説明から、どの便の担当が変わったかまで示せました。</a:t>
            </a:r>
          </a:p>
          <a:p xmlns:a="http://schemas.openxmlformats.org/drawingml/2006/main">
            <a:r>
              <a:t/>
            </a:r>
          </a:p>
          <a:p xmlns:a="http://schemas.openxmlformats.org/drawingml/2006/main">
            <a:r>
              <a:t>【補足】</a:t>
            </a:r>
          </a:p>
          <a:p xmlns:a="http://schemas.openxmlformats.org/drawingml/2006/main">
            <a:r>
              <a:t>営業距離に占めるBEV割合は高PV72.78%、低PV29.73%です。これは停留所座標に基づく営業距離で、実走行計測や回送を含む総距離ではありません。なぜ個々の便を選んだかの原因分解はまだ必要です。</a:t>
            </a:r>
          </a:p>
          <a:p xmlns:a="http://schemas.openxmlformats.org/drawingml/2006/main">
            <a:r>
              <a:t/>
            </a:r>
          </a:p>
          <a:p xmlns:a="http://schemas.openxmlformats.org/drawingml/2006/main">
            <a:r>
              <a:t>【出典】outcome/2026-09-05_research_progress/02_findings.md、analysis/trip_powertrain_changes.csv（同フォルダ）</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この図は、作った候補ごとに電気バスの台数と評価額を対応させています。高PVで28台、低PVで21台の候補を選びました。ここで重要なのは、電気バスの台数だけで費用が決まらないことです。エンジンバスを含む総台数や担当便、充電できる時間も違います。22候補の中で選んだという意味で読み、全ての配車の中で一番安いことを示す図とは扱いません。</a:t>
            </a:r>
          </a:p>
          <a:p xmlns:a="http://schemas.openxmlformats.org/drawingml/2006/main">
            <a:r>
              <a:t/>
            </a:r>
          </a:p>
          <a:p xmlns:a="http://schemas.openxmlformats.org/drawingml/2006/main">
            <a:r>
              <a:t>【補足】</a:t>
            </a:r>
          </a:p>
          <a:p xmlns:a="http://schemas.openxmlformats.org/drawingml/2006/main">
            <a:r>
              <a:t>この図は候補を選ぶ前日評価額です。次のスライドの一日を更新した後の評価額とは区別します。低PVの採用候補と次点の前日評価額差は約567円です。差が小さいので追加確認したい、とは言えますが、選択が不安定と証明したわけではありません。</a:t>
            </a:r>
          </a:p>
          <a:p xmlns:a="http://schemas.openxmlformats.org/drawingml/2006/main">
            <a:r>
              <a:t/>
            </a:r>
          </a:p>
          <a:p xmlns:a="http://schemas.openxmlformats.org/drawingml/2006/main">
            <a:r>
              <a:t>【出典】docs/thesis/authoring_v1/tables/cross_weather_candidate_analysis_summary.json、outcome/2026-09-05_august_progress_revision/speaker_notes.md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ここでは採用案の一日を通した評価額を比べます。高PVは約66万1千円、低PVは約69万9千円で、差は約3万8千円です。その約88%は燃料費の差でした。9月5日の追加整理では、両条件に共通する車両使用費64万円を分けました。それを除く部分は約2万1千円と約5万9千円です。これで、大きな総額のどこが同じで、どこが変わったかを説明しやすくなりました。</a:t>
            </a:r>
          </a:p>
          <a:p xmlns:a="http://schemas.openxmlformats.org/drawingml/2006/main">
            <a:r>
              <a:t/>
            </a:r>
          </a:p>
          <a:p xmlns:a="http://schemas.openxmlformats.org/drawingml/2006/main">
            <a:r>
              <a:t>【補足】</a:t>
            </a:r>
          </a:p>
          <a:p xmlns:a="http://schemas.openxmlformats.org/drawingml/2006/main">
            <a:r>
              <a:t>最終金額はRolling後の実行日会計が出典です。小数表示は高PV660,983.78円、低PV698,598.63円です。元の精度で計算した差は37,614.84円で、表示値同士の引き算とは丸めのため1銭ずれることがあります。これはPV条件の違いに対する二計画の比較で、旧手法より安くなったという比較ではありません。</a:t>
            </a:r>
          </a:p>
          <a:p xmlns:a="http://schemas.openxmlformats.org/drawingml/2006/main">
            <a:r>
              <a:t/>
            </a:r>
          </a:p>
          <a:p xmlns:a="http://schemas.openxmlformats.org/drawingml/2006/main">
            <a:r>
              <a:t>【出典】outcome/2026-09-05_research_progress/02_findings.md、docs/evidence/weather_dispatch_rerun_bb0c005/SUNNY/executed_day_accounting.json、RAIN/executed_day_accounting.json（同根拠フォルダ）</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矢印は一日合計の電気の量を表しています。高PVでは発電が約6,056キロワット時あり、そのうち約3,373キロワット時を使わず抑制しています。低PVでは約996キロワット時をほぼ使い切り、系統から約131キロワット時を補っています。蓄電池へ入れた量と出た量の差には充放電の損失があります。日初と日末の残量をそろえているため、最初に蓄えた電気を使い切って安く見せる比較ではありません。</a:t>
            </a:r>
          </a:p>
          <a:p xmlns:a="http://schemas.openxmlformats.org/drawingml/2006/main">
            <a:r>
              <a:t/>
            </a:r>
          </a:p>
          <a:p xmlns:a="http://schemas.openxmlformats.org/drawingml/2006/main">
            <a:r>
              <a:t>【追加分析で分かったこと】</a:t>
            </a:r>
          </a:p>
          <a:p xmlns:a="http://schemas.openxmlformats.org/drawingml/2006/main">
            <a:r>
              <a:t>日合計だけでは、太陽光が余った原因を特定できません。9月5日に15分枠を調べると、高PVの抑制量の75.06%は充電電力のない枠で発生していました。ただし、未充電だからバスが不在だったとは言えません。BESSが満杯、充電器が全部使用中という単純な原因説明も、この記録だけでは裏付けられません。</a:t>
            </a:r>
          </a:p>
          <a:p xmlns:a="http://schemas.openxmlformats.org/drawingml/2006/main">
            <a:r>
              <a:t/>
            </a:r>
          </a:p>
          <a:p xmlns:a="http://schemas.openxmlformats.org/drawingml/2006/main">
            <a:r>
              <a:t>【出典】outcome/2026-09-05_research_progress/02_findings.md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ここが9月5日の追加分析で新しく分かった部分です。最初は電気バスの便数が違うという説明でしたが、同じ便を一つずつ比べると、低PVでエンジン担当だった108便が高PVで電気担当に変わっていました。内訳は渋22の78便と渋23の30便です。次に、使わなかった太陽光を15分ごとに調べると、その75.06％が充電電力のない枠で発生していました。ただし、なぜ充電していなかったかまでは特定できていません。最後に費用を分けると、両条件に共通する車両使用費64万円があり、差額約3万8千円の約88％は燃料費でした。単に結果の合計を示す段階から、違いの場所と内訳を説明する段階へ進みました。</a:t>
            </a:r>
          </a:p>
          <a:p xmlns:a="http://schemas.openxmlformats.org/drawingml/2006/main">
            <a:r>
              <a:t/>
            </a:r>
          </a:p>
          <a:p xmlns:a="http://schemas.openxmlformats.org/drawingml/2006/main">
            <a:r>
              <a:t>【出典】</a:t>
            </a:r>
          </a:p>
          <a:p xmlns:a="http://schemas.openxmlformats.org/drawingml/2006/main">
            <a:r>
              <a:t>出典：outcome/2026-09-06_speaker_notes/README.md、outcome/2026-09-05_research_progress/02_findings.md、docs/evidence/weather_dispatch_rerun_bb0c005/result_summary.json。実験SHA bb0c005。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一日を1時間ずつ進め、その時点の電池残量を次の計算へ引き継いで、残りの電力計画を更新します。これを24回つなぎ、実行した部分を15分単位の96区間にまとめました。その一日について、同じ便を重複して担当していないか、次の便に間に合うか、電池や充電器の制限を守るかを確認しました。費用も一日の正本と図表が一致するようにしています。</a:t>
            </a:r>
          </a:p>
          <a:p xmlns:a="http://schemas.openxmlformats.org/drawingml/2006/main">
            <a:r>
              <a:t/>
            </a:r>
          </a:p>
          <a:p xmlns:a="http://schemas.openxmlformats.org/drawingml/2006/main">
            <a:r>
              <a:t>【以前との違い】</a:t>
            </a:r>
          </a:p>
          <a:p xmlns:a="http://schemas.openxmlformats.org/drawingml/2006/main">
            <a:r>
              <a:t>計算が終了したか、日合計がそれらしく見えるかだけでなく、時間ごとのつながりと入力、コード、出力の対応を確認できるようにしました。ただしモデル上の逐次計算で、実車を24時間運行した実績ではありません。また、毎時の更新では配車そのものは変えていません。</a:t>
            </a:r>
          </a:p>
          <a:p xmlns:a="http://schemas.openxmlformats.org/drawingml/2006/main">
            <a:r>
              <a:t/>
            </a:r>
          </a:p>
          <a:p xmlns:a="http://schemas.openxmlformats.org/drawingml/2006/main">
            <a:r>
              <a:t>【出典】docs/evidence/weather_dispatch_rerun_bb0c005/result_summary.json、outcome/2026-09-05_august_progress_revision/speaker_notes.md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ここは、できたことと未確認のことを分けてお伝えするページです。両方の太陽光条件で全便を担当し、電池や充電器などの条件を守る計画を確認しました。金額の内訳も確認できました。しかし、全ての配車の中で一番安いかは分かりません。単純な方法より優れるか、実際の営業所でも同じ結果になるかも別に検証する必要があります。太陽光が余った時間は分かりましたが、原因の特定には追加比較が必要です。なお、配車段階の認証gapは高PV約9.52％、低PV約1.66％で、最終費用全体の誤差率ではありません。人間のレビューや発表承認も、計算の検算とは別の確認です。</a:t>
            </a:r>
          </a:p>
          <a:p xmlns:a="http://schemas.openxmlformats.org/drawingml/2006/main">
            <a:r>
              <a:t/>
            </a:r>
          </a:p>
          <a:p xmlns:a="http://schemas.openxmlformats.org/drawingml/2006/main">
            <a:r>
              <a:t>【出典】</a:t>
            </a:r>
          </a:p>
          <a:p xmlns:a="http://schemas.openxmlformats.org/drawingml/2006/main">
            <a:r>
              <a:t>出典：outcome/2026-09-06_speaker_notes/README.md、outcome/2026-09-05_research_progress/02_findings.md、docs/evidence/weather_dispatch_rerun_bb0c005/result_summary.json。実験SHA bb0c005。</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次の作業は、残った疑問と対応させています。まず、小さな8便、12便、24便の問題で、現在の二段階方式と配車と電力を一体で考える参照方法を比べます。目的の定義にも違いがあるため、金額差を全て二段階に分けた影響とは呼びません。次に、候補範囲と計算時間を一つずつ変えて、選ぶ案と費用がどう変わるかを確認します。低PVは次点の前日評価額との差が約567円だったため、この確認が必要です。太陽光が余る原因も、配車などを固定した比較の条件を決めて切り分けたいと考えています。今日は、比較の範囲、費用に含める項目、どの程度の差を許容するかをご相談したいです。追加実験は承認後に行います。</a:t>
            </a:r>
          </a:p>
          <a:p xmlns:a="http://schemas.openxmlformats.org/drawingml/2006/main">
            <a:r>
              <a:t/>
            </a:r>
          </a:p>
          <a:p xmlns:a="http://schemas.openxmlformats.org/drawingml/2006/main">
            <a:r>
              <a:t>【出典】</a:t>
            </a:r>
          </a:p>
          <a:p xmlns:a="http://schemas.openxmlformats.org/drawingml/2006/main">
            <a:r>
              <a:t>出典：outcome/2026-09-06_speaker_notes/README.md、outcome/2026-09-05_research_progress/02_findings.md、docs/evidence/weather_dispatch_rerun_bb0c005/result_summary.json。実験SHA bb0c005。</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参考文献は、図表の構成や運行と電力を結び付ける考え方を整理するために使いました。図中の計算結果は本研究の入力と結果に基づいています。まとめると、今回の進捗は、複数候補を比べて二つの異なる実行可能な配車を確認し、その違いを便、電力、費用の内訳まで説明できるようにしたことです。次は、現在方式がどの程度よい判断をしているかを小規模な参照方法との比較で確かめます。以上です。</a:t>
            </a:r>
          </a:p>
          <a:p xmlns:a="http://schemas.openxmlformats.org/drawingml/2006/main">
            <a:r>
              <a:t/>
            </a:r>
          </a:p>
          <a:p xmlns:a="http://schemas.openxmlformats.org/drawingml/2006/main">
            <a:r>
              <a:t>【補足】</a:t>
            </a:r>
          </a:p>
          <a:p xmlns:a="http://schemas.openxmlformats.org/drawingml/2006/main">
            <a:r>
              <a:t>先行研究の数値を本研究の性能保証に使いません。文献の確認範囲と追加比較候補は9月5日の文献整理を参照します。</a:t>
            </a:r>
          </a:p>
          <a:p xmlns:a="http://schemas.openxmlformats.org/drawingml/2006/main">
            <a:r>
              <a:t/>
            </a:r>
          </a:p>
          <a:p xmlns:a="http://schemas.openxmlformats.org/drawingml/2006/main">
            <a:r>
              <a:t>【出典】元資料18枚目、outcome/2026-09-05_literature_review/README.md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5.svg"/><Relationship Id="rId7"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4.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8.sv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1.sv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4.svg"/><Relationship Id="rId4" Type="http://schemas.openxmlformats.org/officeDocument/2006/relationships/image" Target="../media/image23.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1F2A5A"/>
          </a:solidFill>
          <a:ln w="12700">
            <a:solidFill>
              <a:srgbClr val="1F2A5A"/>
            </a:solidFill>
            <a:prstDash val="solid"/>
          </a:ln>
        </p:spPr>
        <p:txBody>
          <a:bodyPr/>
          <a:lstStyle/>
          <a:p>
            <a:endParaRPr lang="ja-JP" altLang="en-US"/>
          </a:p>
        </p:txBody>
      </p:sp>
      <p:sp>
        <p:nvSpPr>
          <p:cNvPr id="3" name="Shape 1"/>
          <p:cNvSpPr/>
          <p:nvPr/>
        </p:nvSpPr>
        <p:spPr>
          <a:xfrm>
            <a:off x="594360" y="1051560"/>
            <a:ext cx="10972800" cy="1298448"/>
          </a:xfrm>
          <a:prstGeom prst="roundRect">
            <a:avLst/>
          </a:prstGeom>
          <a:solidFill>
            <a:srgbClr val="1F2A5A"/>
          </a:solidFill>
          <a:ln w="12700">
            <a:solidFill>
              <a:srgbClr val="1F2A5A"/>
            </a:solidFill>
            <a:prstDash val="solid"/>
          </a:ln>
        </p:spPr>
        <p:txBody>
          <a:bodyPr/>
          <a:lstStyle/>
          <a:p>
            <a:endParaRPr lang="ja-JP" altLang="en-US"/>
          </a:p>
        </p:txBody>
      </p:sp>
      <p:sp>
        <p:nvSpPr>
          <p:cNvPr id="4" name="Text 2"/>
          <p:cNvSpPr/>
          <p:nvPr/>
        </p:nvSpPr>
        <p:spPr>
          <a:xfrm>
            <a:off x="960120" y="1344168"/>
            <a:ext cx="10241280" cy="658368"/>
          </a:xfrm>
          <a:prstGeom prst="rect">
            <a:avLst/>
          </a:prstGeom>
          <a:noFill/>
          <a:ln/>
        </p:spPr>
        <p:txBody>
          <a:bodyPr wrap="square" lIns="0" tIns="0" rIns="0" bIns="0" rtlCol="0" anchor="ctr"/>
          <a:lstStyle/>
          <a:p>
            <a:pPr marL="0" indent="0" algn="ctr">
              <a:buNone/>
            </a:pPr>
            <a:r>
              <a:rPr lang="en-US" sz="3400" b="1" dirty="0">
                <a:solidFill>
                  <a:srgbClr val="FFFFFF"/>
                </a:solidFill>
                <a:latin typeface="Noto Sans CJK JP" pitchFamily="34" charset="0"/>
                <a:ea typeface="Noto Sans CJK JP" pitchFamily="34" charset="-122"/>
                <a:cs typeface="Noto Sans CJK JP" pitchFamily="34" charset="-120"/>
              </a:rPr>
              <a:t>修士論文研究　8月進捗報告</a:t>
            </a:r>
            <a:endParaRPr lang="en-US" sz="3400" dirty="0"/>
          </a:p>
        </p:txBody>
      </p:sp>
      <p:sp>
        <p:nvSpPr>
          <p:cNvPr id="5" name="Text 3"/>
          <p:cNvSpPr/>
          <p:nvPr/>
        </p:nvSpPr>
        <p:spPr>
          <a:xfrm>
            <a:off x="1143000" y="2679192"/>
            <a:ext cx="9921240" cy="658368"/>
          </a:xfrm>
          <a:prstGeom prst="rect">
            <a:avLst/>
          </a:prstGeom>
          <a:noFill/>
          <a:ln/>
        </p:spPr>
        <p:txBody>
          <a:bodyPr wrap="square" lIns="0" tIns="0" rIns="0" bIns="0" rtlCol="0" anchor="ctr"/>
          <a:lstStyle/>
          <a:p>
            <a:pPr marL="0" indent="0" algn="ctr">
              <a:buNone/>
            </a:pPr>
            <a:r>
              <a:rPr lang="en-US" sz="2200" b="1" dirty="0">
                <a:solidFill>
                  <a:srgbClr val="172033"/>
                </a:solidFill>
                <a:latin typeface="Noto Sans CJK JP" pitchFamily="34" charset="0"/>
                <a:ea typeface="Noto Sans CJK JP" pitchFamily="34" charset="-122"/>
                <a:cs typeface="Noto Sans CJK JP" pitchFamily="34" charset="-120"/>
              </a:rPr>
              <a:t>PV余剰電力を考慮した BEV／エンジンバス混成運用の配車・充電計画</a:t>
            </a:r>
            <a:endParaRPr lang="en-US" sz="2200" dirty="0"/>
          </a:p>
        </p:txBody>
      </p:sp>
      <p:sp>
        <p:nvSpPr>
          <p:cNvPr id="6" name="Text 4"/>
          <p:cNvSpPr/>
          <p:nvPr/>
        </p:nvSpPr>
        <p:spPr>
          <a:xfrm>
            <a:off x="1920240" y="3419856"/>
            <a:ext cx="8366760" cy="365760"/>
          </a:xfrm>
          <a:prstGeom prst="rect">
            <a:avLst/>
          </a:prstGeom>
          <a:noFill/>
          <a:ln/>
        </p:spPr>
        <p:txBody>
          <a:bodyPr wrap="square" lIns="0" tIns="0" rIns="0" bIns="0" rtlCol="0" anchor="ctr"/>
          <a:lstStyle/>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 前回からの改善点と、11月に向けた次の検証 ―</a:t>
            </a:r>
            <a:endParaRPr lang="en-US" sz="160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54680" y="4187952"/>
            <a:ext cx="658368" cy="658368"/>
          </a:xfrm>
          <a:prstGeom prst="rect">
            <a:avLst/>
          </a:prstGeom>
        </p:spPr>
      </p:pic>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9160" y="4133088"/>
            <a:ext cx="841248" cy="713232"/>
          </a:xfrm>
          <a:prstGeom prst="rect">
            <a:avLst/>
          </a:prstGeom>
        </p:spPr>
      </p:pic>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73952" y="4206240"/>
            <a:ext cx="749808" cy="621792"/>
          </a:xfrm>
          <a:prstGeom prst="rect">
            <a:avLst/>
          </a:prstGeom>
        </p:spPr>
      </p:pic>
      <p:sp>
        <p:nvSpPr>
          <p:cNvPr id="10" name="Shape 5"/>
          <p:cNvSpPr/>
          <p:nvPr/>
        </p:nvSpPr>
        <p:spPr>
          <a:xfrm>
            <a:off x="3794760" y="4526280"/>
            <a:ext cx="822960" cy="0"/>
          </a:xfrm>
          <a:prstGeom prst="line">
            <a:avLst/>
          </a:prstGeom>
          <a:noFill/>
          <a:ln w="25400">
            <a:solidFill>
              <a:srgbClr val="A5AFBD"/>
            </a:solidFill>
            <a:prstDash val="solid"/>
          </a:ln>
        </p:spPr>
        <p:txBody>
          <a:bodyPr/>
          <a:lstStyle/>
          <a:p>
            <a:endParaRPr lang="ja-JP" altLang="en-US"/>
          </a:p>
        </p:txBody>
      </p:sp>
      <p:sp>
        <p:nvSpPr>
          <p:cNvPr id="11" name="Shape 6"/>
          <p:cNvSpPr/>
          <p:nvPr/>
        </p:nvSpPr>
        <p:spPr>
          <a:xfrm>
            <a:off x="5559552" y="4526280"/>
            <a:ext cx="868680" cy="0"/>
          </a:xfrm>
          <a:prstGeom prst="line">
            <a:avLst/>
          </a:prstGeom>
          <a:noFill/>
          <a:ln w="25400">
            <a:solidFill>
              <a:srgbClr val="A5AFBD"/>
            </a:solidFill>
            <a:prstDash val="solid"/>
          </a:ln>
        </p:spPr>
        <p:txBody>
          <a:bodyPr/>
          <a:lstStyle/>
          <a:p>
            <a:endParaRPr lang="ja-JP" altLang="en-US"/>
          </a:p>
        </p:txBody>
      </p:sp>
      <p:sp>
        <p:nvSpPr>
          <p:cNvPr id="12" name="Text 7"/>
          <p:cNvSpPr/>
          <p:nvPr/>
        </p:nvSpPr>
        <p:spPr>
          <a:xfrm>
            <a:off x="1965960" y="5879592"/>
            <a:ext cx="8275320" cy="310896"/>
          </a:xfrm>
          <a:prstGeom prst="rect">
            <a:avLst/>
          </a:prstGeom>
          <a:noFill/>
          <a:ln/>
        </p:spPr>
        <p:txBody>
          <a:bodyPr wrap="square" lIns="0" tIns="0" rIns="0" bIns="0" rtlCol="0" anchor="ctr"/>
          <a:lstStyle/>
          <a:p>
            <a:pPr marL="0" indent="0" algn="ctr">
              <a:buNone/>
            </a:pPr>
            <a:r>
              <a:rPr lang="en-US" sz="1350" dirty="0">
                <a:solidFill>
                  <a:srgbClr val="687386"/>
                </a:solidFill>
                <a:latin typeface="Noto Sans CJK JP" pitchFamily="34" charset="0"/>
                <a:ea typeface="Noto Sans CJK JP" pitchFamily="34" charset="-122"/>
                <a:cs typeface="Noto Sans CJK JP" pitchFamily="34" charset="-120"/>
              </a:rPr>
              <a:t>2026年8月31日　電力システム研究室　劉 承洋</a:t>
            </a:r>
            <a:endParaRPr lang="en-US" sz="1350" dirty="0"/>
          </a:p>
        </p:txBody>
      </p:sp>
      <p:sp>
        <p:nvSpPr>
          <p:cNvPr id="13" name="Text 8"/>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1/18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研究背景：電気バスは「車両」だけでなく「運行と電力」を一緒に考える必要がある</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2/18</a:t>
            </a:r>
            <a:endParaRPr lang="en-US" sz="850" dirty="0"/>
          </a:p>
        </p:txBody>
      </p:sp>
      <p:sp>
        <p:nvSpPr>
          <p:cNvPr id="6" name="Text 4"/>
          <p:cNvSpPr/>
          <p:nvPr/>
        </p:nvSpPr>
        <p:spPr>
          <a:xfrm>
            <a:off x="640080" y="868680"/>
            <a:ext cx="10927080" cy="438912"/>
          </a:xfrm>
          <a:prstGeom prst="rect">
            <a:avLst/>
          </a:prstGeom>
          <a:noFill/>
          <a:ln/>
        </p:spPr>
        <p:txBody>
          <a:bodyPr wrap="square" lIns="0" tIns="0" rIns="0" bIns="0" rtlCol="0" anchor="ctr"/>
          <a:lstStyle/>
          <a:p>
            <a:pPr marL="0" indent="0" algn="ctr">
              <a:buNone/>
            </a:pPr>
            <a:r>
              <a:rPr lang="en-US" sz="1800" dirty="0">
                <a:solidFill>
                  <a:srgbClr val="172033"/>
                </a:solidFill>
                <a:latin typeface="Noto Sans CJK JP" pitchFamily="34" charset="0"/>
                <a:ea typeface="Noto Sans CJK JP" pitchFamily="34" charset="-122"/>
                <a:cs typeface="Noto Sans CJK JP" pitchFamily="34" charset="-120"/>
              </a:rPr>
              <a:t>交通分野の脱炭素化に向けて電気バスの導入が進む一方、営業所では次の3つを同時に満たす必要がある。</a:t>
            </a:r>
            <a:endParaRPr lang="en-US" sz="1800" dirty="0"/>
          </a:p>
        </p:txBody>
      </p:sp>
      <p:sp>
        <p:nvSpPr>
          <p:cNvPr id="7" name="Shape 5"/>
          <p:cNvSpPr/>
          <p:nvPr/>
        </p:nvSpPr>
        <p:spPr>
          <a:xfrm>
            <a:off x="68580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9928" y="1856232"/>
            <a:ext cx="731520" cy="731520"/>
          </a:xfrm>
          <a:prstGeom prst="rect">
            <a:avLst/>
          </a:prstGeom>
        </p:spPr>
      </p:pic>
      <p:sp>
        <p:nvSpPr>
          <p:cNvPr id="9" name="Text 6"/>
          <p:cNvSpPr/>
          <p:nvPr/>
        </p:nvSpPr>
        <p:spPr>
          <a:xfrm>
            <a:off x="1005840" y="2670048"/>
            <a:ext cx="2148840" cy="347472"/>
          </a:xfrm>
          <a:prstGeom prst="rect">
            <a:avLst/>
          </a:prstGeom>
          <a:noFill/>
          <a:ln/>
        </p:spPr>
        <p:txBody>
          <a:bodyPr wrap="square" lIns="0" tIns="0" rIns="0" bIns="0" rtlCol="0" anchor="ctr"/>
          <a:lstStyle/>
          <a:p>
            <a:pPr marL="0" indent="0" algn="ctr">
              <a:buNone/>
            </a:pPr>
            <a:r>
              <a:rPr lang="en-US" sz="2100" b="1" dirty="0">
                <a:solidFill>
                  <a:srgbClr val="172033"/>
                </a:solidFill>
                <a:latin typeface="Noto Sans CJK JP" pitchFamily="34" charset="0"/>
                <a:ea typeface="Noto Sans CJK JP" pitchFamily="34" charset="-122"/>
                <a:cs typeface="Noto Sans CJK JP" pitchFamily="34" charset="-120"/>
              </a:rPr>
              <a:t>運行</a:t>
            </a:r>
            <a:endParaRPr lang="en-US" sz="2100" dirty="0"/>
          </a:p>
        </p:txBody>
      </p:sp>
      <p:sp>
        <p:nvSpPr>
          <p:cNvPr id="10" name="Text 7"/>
          <p:cNvSpPr/>
          <p:nvPr/>
        </p:nvSpPr>
        <p:spPr>
          <a:xfrm>
            <a:off x="1005840" y="3108960"/>
            <a:ext cx="2148840" cy="658368"/>
          </a:xfrm>
          <a:prstGeom prst="rect">
            <a:avLst/>
          </a:prstGeom>
          <a:noFill/>
          <a:ln/>
        </p:spPr>
        <p:txBody>
          <a:bodyPr wrap="square" lIns="0" tIns="0" rIns="0" bIns="0" rtlCol="0" anchor="ctr"/>
          <a:lstStyle/>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決められた便を</a:t>
            </a:r>
            <a:endParaRPr lang="en-US" sz="1600" dirty="0"/>
          </a:p>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欠かさず走らせる</a:t>
            </a:r>
            <a:endParaRPr lang="en-US" sz="1600" dirty="0"/>
          </a:p>
        </p:txBody>
      </p:sp>
      <p:sp>
        <p:nvSpPr>
          <p:cNvPr id="11" name="Shape 8"/>
          <p:cNvSpPr/>
          <p:nvPr/>
        </p:nvSpPr>
        <p:spPr>
          <a:xfrm>
            <a:off x="425196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76088" y="1856232"/>
            <a:ext cx="731520" cy="731520"/>
          </a:xfrm>
          <a:prstGeom prst="rect">
            <a:avLst/>
          </a:prstGeom>
        </p:spPr>
      </p:pic>
      <p:sp>
        <p:nvSpPr>
          <p:cNvPr id="13" name="Text 9"/>
          <p:cNvSpPr/>
          <p:nvPr/>
        </p:nvSpPr>
        <p:spPr>
          <a:xfrm>
            <a:off x="4572000" y="2670048"/>
            <a:ext cx="2148840" cy="347472"/>
          </a:xfrm>
          <a:prstGeom prst="rect">
            <a:avLst/>
          </a:prstGeom>
          <a:noFill/>
          <a:ln/>
        </p:spPr>
        <p:txBody>
          <a:bodyPr wrap="square" lIns="0" tIns="0" rIns="0" bIns="0" rtlCol="0" anchor="ctr"/>
          <a:lstStyle/>
          <a:p>
            <a:pPr marL="0" indent="0" algn="ctr">
              <a:buNone/>
            </a:pPr>
            <a:r>
              <a:rPr lang="en-US" sz="2100" b="1" dirty="0">
                <a:solidFill>
                  <a:srgbClr val="172033"/>
                </a:solidFill>
                <a:latin typeface="Noto Sans CJK JP" pitchFamily="34" charset="0"/>
                <a:ea typeface="Noto Sans CJK JP" pitchFamily="34" charset="-122"/>
                <a:cs typeface="Noto Sans CJK JP" pitchFamily="34" charset="-120"/>
              </a:rPr>
              <a:t>充電・設備</a:t>
            </a:r>
            <a:endParaRPr lang="en-US" sz="2100" dirty="0"/>
          </a:p>
        </p:txBody>
      </p:sp>
      <p:sp>
        <p:nvSpPr>
          <p:cNvPr id="14" name="Text 10"/>
          <p:cNvSpPr/>
          <p:nvPr/>
        </p:nvSpPr>
        <p:spPr>
          <a:xfrm>
            <a:off x="4572000" y="3108960"/>
            <a:ext cx="2148840" cy="658368"/>
          </a:xfrm>
          <a:prstGeom prst="rect">
            <a:avLst/>
          </a:prstGeom>
          <a:noFill/>
          <a:ln/>
        </p:spPr>
        <p:txBody>
          <a:bodyPr wrap="square" lIns="0" tIns="0" rIns="0" bIns="0" rtlCol="0" anchor="ctr"/>
          <a:lstStyle/>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限られた充電器と</a:t>
            </a:r>
            <a:endParaRPr lang="en-US" sz="1600" dirty="0"/>
          </a:p>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受電容量の中で充電する</a:t>
            </a:r>
            <a:endParaRPr lang="en-US" sz="1600" dirty="0"/>
          </a:p>
        </p:txBody>
      </p:sp>
      <p:sp>
        <p:nvSpPr>
          <p:cNvPr id="15" name="Shape 11"/>
          <p:cNvSpPr/>
          <p:nvPr/>
        </p:nvSpPr>
        <p:spPr>
          <a:xfrm>
            <a:off x="781812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42248" y="1856232"/>
            <a:ext cx="731520" cy="731520"/>
          </a:xfrm>
          <a:prstGeom prst="rect">
            <a:avLst/>
          </a:prstGeom>
        </p:spPr>
      </p:pic>
      <p:sp>
        <p:nvSpPr>
          <p:cNvPr id="17" name="Text 12"/>
          <p:cNvSpPr/>
          <p:nvPr/>
        </p:nvSpPr>
        <p:spPr>
          <a:xfrm>
            <a:off x="8138160" y="2670048"/>
            <a:ext cx="2148840" cy="347472"/>
          </a:xfrm>
          <a:prstGeom prst="rect">
            <a:avLst/>
          </a:prstGeom>
          <a:noFill/>
          <a:ln/>
        </p:spPr>
        <p:txBody>
          <a:bodyPr wrap="square" lIns="0" tIns="0" rIns="0" bIns="0" rtlCol="0" anchor="ctr"/>
          <a:lstStyle/>
          <a:p>
            <a:pPr marL="0" indent="0" algn="ctr">
              <a:buNone/>
            </a:pPr>
            <a:r>
              <a:rPr lang="en-US" sz="2100" b="1" dirty="0">
                <a:solidFill>
                  <a:srgbClr val="172033"/>
                </a:solidFill>
                <a:latin typeface="Noto Sans CJK JP" pitchFamily="34" charset="0"/>
                <a:ea typeface="Noto Sans CJK JP" pitchFamily="34" charset="-122"/>
                <a:cs typeface="Noto Sans CJK JP" pitchFamily="34" charset="-120"/>
              </a:rPr>
              <a:t>再生可能エネルギー</a:t>
            </a:r>
            <a:endParaRPr lang="en-US" sz="2100" dirty="0"/>
          </a:p>
        </p:txBody>
      </p:sp>
      <p:sp>
        <p:nvSpPr>
          <p:cNvPr id="18" name="Text 13"/>
          <p:cNvSpPr/>
          <p:nvPr/>
        </p:nvSpPr>
        <p:spPr>
          <a:xfrm>
            <a:off x="8138160" y="3108960"/>
            <a:ext cx="2148840" cy="658368"/>
          </a:xfrm>
          <a:prstGeom prst="rect">
            <a:avLst/>
          </a:prstGeom>
          <a:noFill/>
          <a:ln/>
        </p:spPr>
        <p:txBody>
          <a:bodyPr wrap="square" lIns="0" tIns="0" rIns="0" bIns="0" rtlCol="0" anchor="ctr"/>
          <a:lstStyle/>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時間で変わるPVを</a:t>
            </a:r>
            <a:endParaRPr lang="en-US" sz="1600" dirty="0"/>
          </a:p>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できるだけ有効に使う</a:t>
            </a:r>
            <a:endParaRPr lang="en-US" sz="1600" dirty="0"/>
          </a:p>
        </p:txBody>
      </p:sp>
      <p:sp>
        <p:nvSpPr>
          <p:cNvPr id="19" name="Shape 14"/>
          <p:cNvSpPr/>
          <p:nvPr/>
        </p:nvSpPr>
        <p:spPr>
          <a:xfrm>
            <a:off x="1097280" y="4343400"/>
            <a:ext cx="9966960" cy="1225296"/>
          </a:xfrm>
          <a:prstGeom prst="roundRect">
            <a:avLst/>
          </a:prstGeom>
          <a:solidFill>
            <a:srgbClr val="EAF2FB"/>
          </a:solidFill>
          <a:ln w="15240">
            <a:solidFill>
              <a:srgbClr val="356BB3"/>
            </a:solidFill>
            <a:prstDash val="solid"/>
          </a:ln>
        </p:spPr>
        <p:txBody>
          <a:bodyPr/>
          <a:lstStyle/>
          <a:p>
            <a:endParaRPr lang="ja-JP" altLang="en-US"/>
          </a:p>
        </p:txBody>
      </p:sp>
      <p:sp>
        <p:nvSpPr>
          <p:cNvPr id="20" name="Text 15"/>
          <p:cNvSpPr/>
          <p:nvPr/>
        </p:nvSpPr>
        <p:spPr>
          <a:xfrm>
            <a:off x="1417320" y="4553712"/>
            <a:ext cx="1645920" cy="320040"/>
          </a:xfrm>
          <a:prstGeom prst="rect">
            <a:avLst/>
          </a:prstGeom>
          <a:noFill/>
          <a:ln/>
        </p:spPr>
        <p:txBody>
          <a:bodyPr wrap="square" lIns="0" tIns="0" rIns="0" bIns="0" rtlCol="0" anchor="ctr"/>
          <a:lstStyle/>
          <a:p>
            <a:pPr marL="0" indent="0">
              <a:buNone/>
            </a:pPr>
            <a:r>
              <a:rPr lang="en-US" sz="1800" b="1" dirty="0">
                <a:solidFill>
                  <a:srgbClr val="356BB3"/>
                </a:solidFill>
                <a:latin typeface="Noto Sans CJK JP" pitchFamily="34" charset="0"/>
                <a:ea typeface="Noto Sans CJK JP" pitchFamily="34" charset="-122"/>
                <a:cs typeface="Noto Sans CJK JP" pitchFamily="34" charset="-120"/>
              </a:rPr>
              <a:t>研究のねらい</a:t>
            </a:r>
            <a:endParaRPr lang="en-US" sz="1800" dirty="0"/>
          </a:p>
        </p:txBody>
      </p:sp>
      <p:sp>
        <p:nvSpPr>
          <p:cNvPr id="21" name="Text 16"/>
          <p:cNvSpPr/>
          <p:nvPr/>
        </p:nvSpPr>
        <p:spPr>
          <a:xfrm>
            <a:off x="2788920" y="4498848"/>
            <a:ext cx="7726680" cy="749808"/>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「どの便を電気バスに任せるか」と「いつ、どの電源で充電するか」をまとめて考え、</a:t>
            </a:r>
            <a:endParaRPr lang="en-US" sz="1800" dirty="0"/>
          </a:p>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全便運行を守りながら、PV・蓄電池を使いやすい運用を探す。</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先行研究から整理した「示すべき図表」と本研究の位置づけ</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3/18</a:t>
            </a:r>
            <a:endParaRPr lang="en-US" sz="850" dirty="0"/>
          </a:p>
        </p:txBody>
      </p:sp>
      <p:sp>
        <p:nvSpPr>
          <p:cNvPr id="6" name="Text 4"/>
          <p:cNvSpPr/>
          <p:nvPr/>
        </p:nvSpPr>
        <p:spPr>
          <a:xfrm>
            <a:off x="685800" y="859536"/>
            <a:ext cx="10835640" cy="329184"/>
          </a:xfrm>
          <a:prstGeom prst="rect">
            <a:avLst/>
          </a:prstGeom>
          <a:noFill/>
          <a:ln/>
        </p:spPr>
        <p:txBody>
          <a:bodyPr wrap="square" lIns="0" tIns="0" rIns="0" bIns="0" rtlCol="0" anchor="ctr"/>
          <a:lstStyle/>
          <a:p>
            <a:pPr marL="0" indent="0" algn="ctr">
              <a:buNone/>
            </a:pPr>
            <a:r>
              <a:rPr lang="en-US" sz="1750" dirty="0">
                <a:solidFill>
                  <a:srgbClr val="687386"/>
                </a:solidFill>
                <a:latin typeface="Noto Sans CJK JP" pitchFamily="34" charset="0"/>
                <a:ea typeface="Noto Sans CJK JP" pitchFamily="34" charset="-122"/>
                <a:cs typeface="Noto Sans CJK JP" pitchFamily="34" charset="-120"/>
              </a:rPr>
              <a:t>電気バス研究では、システム構成・入力条件・時間変化・費用との関係をセットで示す例が多い。</a:t>
            </a:r>
            <a:endParaRPr lang="en-US" sz="1750" dirty="0"/>
          </a:p>
        </p:txBody>
      </p:sp>
      <p:sp>
        <p:nvSpPr>
          <p:cNvPr id="7" name="Shape 5"/>
          <p:cNvSpPr/>
          <p:nvPr/>
        </p:nvSpPr>
        <p:spPr>
          <a:xfrm>
            <a:off x="621792" y="1371600"/>
            <a:ext cx="2834640" cy="630936"/>
          </a:xfrm>
          <a:prstGeom prst="rect">
            <a:avLst/>
          </a:prstGeom>
          <a:solidFill>
            <a:srgbClr val="1F2A5A"/>
          </a:solidFill>
          <a:ln w="8890">
            <a:solidFill>
              <a:srgbClr val="EEF1F5"/>
            </a:solidFill>
            <a:prstDash val="solid"/>
          </a:ln>
        </p:spPr>
        <p:txBody>
          <a:bodyPr/>
          <a:lstStyle/>
          <a:p>
            <a:endParaRPr lang="ja-JP" altLang="en-US"/>
          </a:p>
        </p:txBody>
      </p:sp>
      <p:sp>
        <p:nvSpPr>
          <p:cNvPr id="8" name="Text 6"/>
          <p:cNvSpPr/>
          <p:nvPr/>
        </p:nvSpPr>
        <p:spPr>
          <a:xfrm>
            <a:off x="676656" y="1403604"/>
            <a:ext cx="2724912" cy="566928"/>
          </a:xfrm>
          <a:prstGeom prst="rect">
            <a:avLst/>
          </a:prstGeom>
          <a:noFill/>
          <a:ln/>
        </p:spPr>
        <p:txBody>
          <a:bodyPr wrap="square" lIns="0" tIns="0" rIns="0" bIns="0" rtlCol="0" anchor="ctr">
            <a:normAutofit/>
          </a:bodyPr>
          <a:lstStyle/>
          <a:p>
            <a:pPr marL="0" indent="0" algn="l">
              <a:buNone/>
            </a:pPr>
            <a:r>
              <a:rPr lang="en-US" sz="1320" b="1" dirty="0">
                <a:solidFill>
                  <a:srgbClr val="FFFFFF"/>
                </a:solidFill>
                <a:latin typeface="Noto Sans CJK JP" pitchFamily="34" charset="0"/>
                <a:ea typeface="Noto Sans CJK JP" pitchFamily="34" charset="-122"/>
                <a:cs typeface="Noto Sans CJK JP" pitchFamily="34" charset="-120"/>
              </a:rPr>
              <a:t>先行研究でよく示す内容</a:t>
            </a:r>
            <a:endParaRPr lang="en-US" sz="1320" dirty="0"/>
          </a:p>
        </p:txBody>
      </p:sp>
      <p:sp>
        <p:nvSpPr>
          <p:cNvPr id="9" name="Shape 7"/>
          <p:cNvSpPr/>
          <p:nvPr/>
        </p:nvSpPr>
        <p:spPr>
          <a:xfrm>
            <a:off x="3456432" y="1371600"/>
            <a:ext cx="3794760" cy="630936"/>
          </a:xfrm>
          <a:prstGeom prst="rect">
            <a:avLst/>
          </a:prstGeom>
          <a:solidFill>
            <a:srgbClr val="1F2A5A"/>
          </a:solidFill>
          <a:ln w="8890">
            <a:solidFill>
              <a:srgbClr val="EEF1F5"/>
            </a:solidFill>
            <a:prstDash val="solid"/>
          </a:ln>
        </p:spPr>
        <p:txBody>
          <a:bodyPr/>
          <a:lstStyle/>
          <a:p>
            <a:endParaRPr lang="ja-JP" altLang="en-US"/>
          </a:p>
        </p:txBody>
      </p:sp>
      <p:sp>
        <p:nvSpPr>
          <p:cNvPr id="10" name="Text 8"/>
          <p:cNvSpPr/>
          <p:nvPr/>
        </p:nvSpPr>
        <p:spPr>
          <a:xfrm>
            <a:off x="3511296" y="1403604"/>
            <a:ext cx="3685032" cy="566928"/>
          </a:xfrm>
          <a:prstGeom prst="rect">
            <a:avLst/>
          </a:prstGeom>
          <a:noFill/>
          <a:ln/>
        </p:spPr>
        <p:txBody>
          <a:bodyPr wrap="square" lIns="0" tIns="0" rIns="0" bIns="0" rtlCol="0" anchor="ctr">
            <a:normAutofit/>
          </a:bodyPr>
          <a:lstStyle/>
          <a:p>
            <a:pPr marL="0" indent="0" algn="l">
              <a:buNone/>
            </a:pPr>
            <a:r>
              <a:rPr lang="en-US" sz="1320" b="1" dirty="0">
                <a:solidFill>
                  <a:srgbClr val="FFFFFF"/>
                </a:solidFill>
                <a:latin typeface="Noto Sans CJK JP" pitchFamily="34" charset="0"/>
                <a:ea typeface="Noto Sans CJK JP" pitchFamily="34" charset="-122"/>
                <a:cs typeface="Noto Sans CJK JP" pitchFamily="34" charset="-120"/>
              </a:rPr>
              <a:t>本資料で対応する図・表</a:t>
            </a:r>
            <a:endParaRPr lang="en-US" sz="1320" dirty="0"/>
          </a:p>
        </p:txBody>
      </p:sp>
      <p:sp>
        <p:nvSpPr>
          <p:cNvPr id="11" name="Shape 9"/>
          <p:cNvSpPr/>
          <p:nvPr/>
        </p:nvSpPr>
        <p:spPr>
          <a:xfrm>
            <a:off x="7251192" y="1371600"/>
            <a:ext cx="4315968" cy="630936"/>
          </a:xfrm>
          <a:prstGeom prst="rect">
            <a:avLst/>
          </a:prstGeom>
          <a:solidFill>
            <a:srgbClr val="1F2A5A"/>
          </a:solidFill>
          <a:ln w="8890">
            <a:solidFill>
              <a:srgbClr val="EEF1F5"/>
            </a:solidFill>
            <a:prstDash val="solid"/>
          </a:ln>
        </p:spPr>
        <p:txBody>
          <a:bodyPr/>
          <a:lstStyle/>
          <a:p>
            <a:endParaRPr lang="ja-JP" altLang="en-US"/>
          </a:p>
        </p:txBody>
      </p:sp>
      <p:sp>
        <p:nvSpPr>
          <p:cNvPr id="12" name="Text 10"/>
          <p:cNvSpPr/>
          <p:nvPr/>
        </p:nvSpPr>
        <p:spPr>
          <a:xfrm>
            <a:off x="7306056" y="1403604"/>
            <a:ext cx="4206240" cy="566928"/>
          </a:xfrm>
          <a:prstGeom prst="rect">
            <a:avLst/>
          </a:prstGeom>
          <a:noFill/>
          <a:ln/>
        </p:spPr>
        <p:txBody>
          <a:bodyPr wrap="square" lIns="0" tIns="0" rIns="0" bIns="0" rtlCol="0" anchor="ctr">
            <a:normAutofit/>
          </a:bodyPr>
          <a:lstStyle/>
          <a:p>
            <a:pPr marL="0" indent="0" algn="l">
              <a:buNone/>
            </a:pPr>
            <a:r>
              <a:rPr lang="en-US" sz="1320" b="1" dirty="0">
                <a:solidFill>
                  <a:srgbClr val="FFFFFF"/>
                </a:solidFill>
                <a:latin typeface="Noto Sans CJK JP" pitchFamily="34" charset="0"/>
                <a:ea typeface="Noto Sans CJK JP" pitchFamily="34" charset="-122"/>
                <a:cs typeface="Noto Sans CJK JP" pitchFamily="34" charset="-120"/>
              </a:rPr>
              <a:t>参考にした文献</a:t>
            </a:r>
            <a:endParaRPr lang="en-US" sz="1320" dirty="0"/>
          </a:p>
        </p:txBody>
      </p:sp>
      <p:sp>
        <p:nvSpPr>
          <p:cNvPr id="13" name="Shape 11"/>
          <p:cNvSpPr/>
          <p:nvPr/>
        </p:nvSpPr>
        <p:spPr>
          <a:xfrm>
            <a:off x="621792" y="2002536"/>
            <a:ext cx="2834640" cy="630936"/>
          </a:xfrm>
          <a:prstGeom prst="rect">
            <a:avLst/>
          </a:prstGeom>
          <a:solidFill>
            <a:srgbClr val="FFFFFF"/>
          </a:solidFill>
          <a:ln w="8890">
            <a:solidFill>
              <a:srgbClr val="EEF1F5"/>
            </a:solidFill>
            <a:prstDash val="solid"/>
          </a:ln>
        </p:spPr>
        <p:txBody>
          <a:bodyPr/>
          <a:lstStyle/>
          <a:p>
            <a:endParaRPr lang="ja-JP" altLang="en-US"/>
          </a:p>
        </p:txBody>
      </p:sp>
      <p:sp>
        <p:nvSpPr>
          <p:cNvPr id="14" name="Text 12"/>
          <p:cNvSpPr/>
          <p:nvPr/>
        </p:nvSpPr>
        <p:spPr>
          <a:xfrm>
            <a:off x="676656" y="2034540"/>
            <a:ext cx="2724912" cy="566928"/>
          </a:xfrm>
          <a:prstGeom prst="rect">
            <a:avLst/>
          </a:prstGeom>
          <a:noFill/>
          <a:ln/>
        </p:spPr>
        <p:txBody>
          <a:bodyPr wrap="square" lIns="0" tIns="0" rIns="0" bIns="0" rtlCol="0" anchor="ctr">
            <a:normAutofit/>
          </a:bodyPr>
          <a:lstStyle/>
          <a:p>
            <a:pPr marL="0" indent="0" algn="l">
              <a:buNone/>
            </a:pPr>
            <a:r>
              <a:rPr lang="en-US" sz="1220" b="1" dirty="0">
                <a:solidFill>
                  <a:srgbClr val="172033"/>
                </a:solidFill>
                <a:latin typeface="Noto Sans CJK JP" pitchFamily="34" charset="0"/>
                <a:ea typeface="Noto Sans CJK JP" pitchFamily="34" charset="-122"/>
                <a:cs typeface="Noto Sans CJK JP" pitchFamily="34" charset="-120"/>
              </a:rPr>
              <a:t>営業所・車両・電力設備の構成図</a:t>
            </a:r>
            <a:endParaRPr lang="en-US" sz="1220" dirty="0"/>
          </a:p>
        </p:txBody>
      </p:sp>
      <p:sp>
        <p:nvSpPr>
          <p:cNvPr id="15" name="Shape 13"/>
          <p:cNvSpPr/>
          <p:nvPr/>
        </p:nvSpPr>
        <p:spPr>
          <a:xfrm>
            <a:off x="3456432" y="2002536"/>
            <a:ext cx="3794760" cy="630936"/>
          </a:xfrm>
          <a:prstGeom prst="rect">
            <a:avLst/>
          </a:prstGeom>
          <a:solidFill>
            <a:srgbClr val="FFFFFF"/>
          </a:solidFill>
          <a:ln w="8890">
            <a:solidFill>
              <a:srgbClr val="EEF1F5"/>
            </a:solidFill>
            <a:prstDash val="solid"/>
          </a:ln>
        </p:spPr>
        <p:txBody>
          <a:bodyPr/>
          <a:lstStyle/>
          <a:p>
            <a:endParaRPr lang="ja-JP" altLang="en-US"/>
          </a:p>
        </p:txBody>
      </p:sp>
      <p:sp>
        <p:nvSpPr>
          <p:cNvPr id="16" name="Text 14"/>
          <p:cNvSpPr/>
          <p:nvPr/>
        </p:nvSpPr>
        <p:spPr>
          <a:xfrm>
            <a:off x="3511296" y="2034540"/>
            <a:ext cx="3685032"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対象営業所と比較条件の図</a:t>
            </a:r>
            <a:endParaRPr lang="en-US" sz="1220" dirty="0"/>
          </a:p>
        </p:txBody>
      </p:sp>
      <p:sp>
        <p:nvSpPr>
          <p:cNvPr id="17" name="Shape 15"/>
          <p:cNvSpPr/>
          <p:nvPr/>
        </p:nvSpPr>
        <p:spPr>
          <a:xfrm>
            <a:off x="7251192" y="2002536"/>
            <a:ext cx="4315968" cy="630936"/>
          </a:xfrm>
          <a:prstGeom prst="rect">
            <a:avLst/>
          </a:prstGeom>
          <a:solidFill>
            <a:srgbClr val="FFFFFF"/>
          </a:solidFill>
          <a:ln w="8890">
            <a:solidFill>
              <a:srgbClr val="EEF1F5"/>
            </a:solidFill>
            <a:prstDash val="solid"/>
          </a:ln>
        </p:spPr>
        <p:txBody>
          <a:bodyPr/>
          <a:lstStyle/>
          <a:p>
            <a:endParaRPr lang="ja-JP" altLang="en-US"/>
          </a:p>
        </p:txBody>
      </p:sp>
      <p:sp>
        <p:nvSpPr>
          <p:cNvPr id="18" name="Text 16"/>
          <p:cNvSpPr/>
          <p:nvPr/>
        </p:nvSpPr>
        <p:spPr>
          <a:xfrm>
            <a:off x="7306056" y="2034540"/>
            <a:ext cx="4206240"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Najafi et al. (2025), Fei et al. (2023)</a:t>
            </a:r>
            <a:endParaRPr lang="en-US" sz="1220" dirty="0"/>
          </a:p>
        </p:txBody>
      </p:sp>
      <p:sp>
        <p:nvSpPr>
          <p:cNvPr id="19" name="Shape 17"/>
          <p:cNvSpPr/>
          <p:nvPr/>
        </p:nvSpPr>
        <p:spPr>
          <a:xfrm>
            <a:off x="621792" y="2633472"/>
            <a:ext cx="2834640" cy="630936"/>
          </a:xfrm>
          <a:prstGeom prst="rect">
            <a:avLst/>
          </a:prstGeom>
          <a:solidFill>
            <a:srgbClr val="F8FAFC"/>
          </a:solidFill>
          <a:ln w="8890">
            <a:solidFill>
              <a:srgbClr val="EEF1F5"/>
            </a:solidFill>
            <a:prstDash val="solid"/>
          </a:ln>
        </p:spPr>
        <p:txBody>
          <a:bodyPr/>
          <a:lstStyle/>
          <a:p>
            <a:endParaRPr lang="ja-JP" altLang="en-US"/>
          </a:p>
        </p:txBody>
      </p:sp>
      <p:sp>
        <p:nvSpPr>
          <p:cNvPr id="20" name="Text 18"/>
          <p:cNvSpPr/>
          <p:nvPr/>
        </p:nvSpPr>
        <p:spPr>
          <a:xfrm>
            <a:off x="676656" y="2665476"/>
            <a:ext cx="2724912" cy="566928"/>
          </a:xfrm>
          <a:prstGeom prst="rect">
            <a:avLst/>
          </a:prstGeom>
          <a:noFill/>
          <a:ln/>
        </p:spPr>
        <p:txBody>
          <a:bodyPr wrap="square" lIns="0" tIns="0" rIns="0" bIns="0" rtlCol="0" anchor="ctr">
            <a:normAutofit/>
          </a:bodyPr>
          <a:lstStyle/>
          <a:p>
            <a:pPr marL="0" indent="0" algn="l">
              <a:buNone/>
            </a:pPr>
            <a:r>
              <a:rPr lang="en-US" sz="1220" b="1" dirty="0">
                <a:solidFill>
                  <a:srgbClr val="172033"/>
                </a:solidFill>
                <a:latin typeface="Noto Sans CJK JP" pitchFamily="34" charset="0"/>
                <a:ea typeface="Noto Sans CJK JP" pitchFamily="34" charset="-122"/>
                <a:cs typeface="Noto Sans CJK JP" pitchFamily="34" charset="-120"/>
              </a:rPr>
              <a:t>電池・充電器・SOC・価格などの入力表</a:t>
            </a:r>
            <a:endParaRPr lang="en-US" sz="1220" dirty="0"/>
          </a:p>
        </p:txBody>
      </p:sp>
      <p:sp>
        <p:nvSpPr>
          <p:cNvPr id="21" name="Shape 19"/>
          <p:cNvSpPr/>
          <p:nvPr/>
        </p:nvSpPr>
        <p:spPr>
          <a:xfrm>
            <a:off x="3456432" y="2633472"/>
            <a:ext cx="3794760" cy="630936"/>
          </a:xfrm>
          <a:prstGeom prst="rect">
            <a:avLst/>
          </a:prstGeom>
          <a:solidFill>
            <a:srgbClr val="F8FAFC"/>
          </a:solidFill>
          <a:ln w="8890">
            <a:solidFill>
              <a:srgbClr val="EEF1F5"/>
            </a:solidFill>
            <a:prstDash val="solid"/>
          </a:ln>
        </p:spPr>
        <p:txBody>
          <a:bodyPr/>
          <a:lstStyle/>
          <a:p>
            <a:endParaRPr lang="ja-JP" altLang="en-US"/>
          </a:p>
        </p:txBody>
      </p:sp>
      <p:sp>
        <p:nvSpPr>
          <p:cNvPr id="22" name="Text 20"/>
          <p:cNvSpPr/>
          <p:nvPr/>
        </p:nvSpPr>
        <p:spPr>
          <a:xfrm>
            <a:off x="3511296" y="2665476"/>
            <a:ext cx="3685032"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車両・設備・費用・計算条件の表</a:t>
            </a:r>
            <a:endParaRPr lang="en-US" sz="1220" dirty="0"/>
          </a:p>
        </p:txBody>
      </p:sp>
      <p:sp>
        <p:nvSpPr>
          <p:cNvPr id="23" name="Shape 21"/>
          <p:cNvSpPr/>
          <p:nvPr/>
        </p:nvSpPr>
        <p:spPr>
          <a:xfrm>
            <a:off x="7251192" y="2633472"/>
            <a:ext cx="4315968" cy="630936"/>
          </a:xfrm>
          <a:prstGeom prst="rect">
            <a:avLst/>
          </a:prstGeom>
          <a:solidFill>
            <a:srgbClr val="F8FAFC"/>
          </a:solidFill>
          <a:ln w="8890">
            <a:solidFill>
              <a:srgbClr val="EEF1F5"/>
            </a:solidFill>
            <a:prstDash val="solid"/>
          </a:ln>
        </p:spPr>
        <p:txBody>
          <a:bodyPr/>
          <a:lstStyle/>
          <a:p>
            <a:endParaRPr lang="ja-JP" altLang="en-US"/>
          </a:p>
        </p:txBody>
      </p:sp>
      <p:sp>
        <p:nvSpPr>
          <p:cNvPr id="24" name="Text 22"/>
          <p:cNvSpPr/>
          <p:nvPr/>
        </p:nvSpPr>
        <p:spPr>
          <a:xfrm>
            <a:off x="7306056" y="2665476"/>
            <a:ext cx="4206240"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Fei et al. (2023), Zhang et al. (2025)</a:t>
            </a:r>
            <a:endParaRPr lang="en-US" sz="1220" dirty="0"/>
          </a:p>
        </p:txBody>
      </p:sp>
      <p:sp>
        <p:nvSpPr>
          <p:cNvPr id="25" name="Shape 23"/>
          <p:cNvSpPr/>
          <p:nvPr/>
        </p:nvSpPr>
        <p:spPr>
          <a:xfrm>
            <a:off x="621792" y="3264408"/>
            <a:ext cx="2834640" cy="630936"/>
          </a:xfrm>
          <a:prstGeom prst="rect">
            <a:avLst/>
          </a:prstGeom>
          <a:solidFill>
            <a:srgbClr val="FFFFFF"/>
          </a:solidFill>
          <a:ln w="8890">
            <a:solidFill>
              <a:srgbClr val="EEF1F5"/>
            </a:solidFill>
            <a:prstDash val="solid"/>
          </a:ln>
        </p:spPr>
        <p:txBody>
          <a:bodyPr/>
          <a:lstStyle/>
          <a:p>
            <a:endParaRPr lang="ja-JP" altLang="en-US"/>
          </a:p>
        </p:txBody>
      </p:sp>
      <p:sp>
        <p:nvSpPr>
          <p:cNvPr id="26" name="Text 24"/>
          <p:cNvSpPr/>
          <p:nvPr/>
        </p:nvSpPr>
        <p:spPr>
          <a:xfrm>
            <a:off x="676656" y="3296412"/>
            <a:ext cx="2724912" cy="566928"/>
          </a:xfrm>
          <a:prstGeom prst="rect">
            <a:avLst/>
          </a:prstGeom>
          <a:noFill/>
          <a:ln/>
        </p:spPr>
        <p:txBody>
          <a:bodyPr wrap="square" lIns="0" tIns="0" rIns="0" bIns="0" rtlCol="0" anchor="ctr">
            <a:normAutofit/>
          </a:bodyPr>
          <a:lstStyle/>
          <a:p>
            <a:pPr marL="0" indent="0" algn="l">
              <a:buNone/>
            </a:pPr>
            <a:r>
              <a:rPr lang="en-US" sz="1220" b="1" dirty="0">
                <a:solidFill>
                  <a:srgbClr val="172033"/>
                </a:solidFill>
                <a:latin typeface="Noto Sans CJK JP" pitchFamily="34" charset="0"/>
                <a:ea typeface="Noto Sans CJK JP" pitchFamily="34" charset="-122"/>
                <a:cs typeface="Noto Sans CJK JP" pitchFamily="34" charset="-120"/>
              </a:rPr>
              <a:t>一日の充電・PV・蓄電池の動き</a:t>
            </a:r>
            <a:endParaRPr lang="en-US" sz="1220" dirty="0"/>
          </a:p>
        </p:txBody>
      </p:sp>
      <p:sp>
        <p:nvSpPr>
          <p:cNvPr id="27" name="Shape 25"/>
          <p:cNvSpPr/>
          <p:nvPr/>
        </p:nvSpPr>
        <p:spPr>
          <a:xfrm>
            <a:off x="3456432" y="3264408"/>
            <a:ext cx="3794760" cy="630936"/>
          </a:xfrm>
          <a:prstGeom prst="rect">
            <a:avLst/>
          </a:prstGeom>
          <a:solidFill>
            <a:srgbClr val="FFFFFF"/>
          </a:solidFill>
          <a:ln w="8890">
            <a:solidFill>
              <a:srgbClr val="EEF1F5"/>
            </a:solidFill>
            <a:prstDash val="solid"/>
          </a:ln>
        </p:spPr>
        <p:txBody>
          <a:bodyPr/>
          <a:lstStyle/>
          <a:p>
            <a:endParaRPr lang="ja-JP" altLang="en-US"/>
          </a:p>
        </p:txBody>
      </p:sp>
      <p:sp>
        <p:nvSpPr>
          <p:cNvPr id="28" name="Text 26"/>
          <p:cNvSpPr/>
          <p:nvPr/>
        </p:nvSpPr>
        <p:spPr>
          <a:xfrm>
            <a:off x="3511296" y="3296412"/>
            <a:ext cx="3685032"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PV利用、BESS、系統購入の流れ</a:t>
            </a:r>
            <a:endParaRPr lang="en-US" sz="1220" dirty="0"/>
          </a:p>
        </p:txBody>
      </p:sp>
      <p:sp>
        <p:nvSpPr>
          <p:cNvPr id="29" name="Shape 27"/>
          <p:cNvSpPr/>
          <p:nvPr/>
        </p:nvSpPr>
        <p:spPr>
          <a:xfrm>
            <a:off x="7251192" y="3264408"/>
            <a:ext cx="4315968" cy="630936"/>
          </a:xfrm>
          <a:prstGeom prst="rect">
            <a:avLst/>
          </a:prstGeom>
          <a:solidFill>
            <a:srgbClr val="FFFFFF"/>
          </a:solidFill>
          <a:ln w="8890">
            <a:solidFill>
              <a:srgbClr val="EEF1F5"/>
            </a:solidFill>
            <a:prstDash val="solid"/>
          </a:ln>
        </p:spPr>
        <p:txBody>
          <a:bodyPr/>
          <a:lstStyle/>
          <a:p>
            <a:endParaRPr lang="ja-JP" altLang="en-US"/>
          </a:p>
        </p:txBody>
      </p:sp>
      <p:sp>
        <p:nvSpPr>
          <p:cNvPr id="30" name="Text 28"/>
          <p:cNvSpPr/>
          <p:nvPr/>
        </p:nvSpPr>
        <p:spPr>
          <a:xfrm>
            <a:off x="7306056" y="3296412"/>
            <a:ext cx="4206240"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Fei et al. (2023), Najafi et al. (2025)</a:t>
            </a:r>
            <a:endParaRPr lang="en-US" sz="1220" dirty="0"/>
          </a:p>
        </p:txBody>
      </p:sp>
      <p:sp>
        <p:nvSpPr>
          <p:cNvPr id="31" name="Shape 29"/>
          <p:cNvSpPr/>
          <p:nvPr/>
        </p:nvSpPr>
        <p:spPr>
          <a:xfrm>
            <a:off x="621792" y="3895344"/>
            <a:ext cx="2834640" cy="630936"/>
          </a:xfrm>
          <a:prstGeom prst="rect">
            <a:avLst/>
          </a:prstGeom>
          <a:solidFill>
            <a:srgbClr val="F8FAFC"/>
          </a:solidFill>
          <a:ln w="8890">
            <a:solidFill>
              <a:srgbClr val="EEF1F5"/>
            </a:solidFill>
            <a:prstDash val="solid"/>
          </a:ln>
        </p:spPr>
        <p:txBody>
          <a:bodyPr/>
          <a:lstStyle/>
          <a:p>
            <a:endParaRPr lang="ja-JP" altLang="en-US"/>
          </a:p>
        </p:txBody>
      </p:sp>
      <p:sp>
        <p:nvSpPr>
          <p:cNvPr id="32" name="Text 30"/>
          <p:cNvSpPr/>
          <p:nvPr/>
        </p:nvSpPr>
        <p:spPr>
          <a:xfrm>
            <a:off x="676656" y="3927348"/>
            <a:ext cx="2724912" cy="566928"/>
          </a:xfrm>
          <a:prstGeom prst="rect">
            <a:avLst/>
          </a:prstGeom>
          <a:noFill/>
          <a:ln/>
        </p:spPr>
        <p:txBody>
          <a:bodyPr wrap="square" lIns="0" tIns="0" rIns="0" bIns="0" rtlCol="0" anchor="ctr">
            <a:normAutofit/>
          </a:bodyPr>
          <a:lstStyle/>
          <a:p>
            <a:pPr marL="0" indent="0" algn="l">
              <a:buNone/>
            </a:pPr>
            <a:r>
              <a:rPr lang="en-US" sz="1220" b="1" dirty="0">
                <a:solidFill>
                  <a:srgbClr val="172033"/>
                </a:solidFill>
                <a:latin typeface="Noto Sans CJK JP" pitchFamily="34" charset="0"/>
                <a:ea typeface="Noto Sans CJK JP" pitchFamily="34" charset="-122"/>
                <a:cs typeface="Noto Sans CJK JP" pitchFamily="34" charset="-120"/>
              </a:rPr>
              <a:t>車両構成と費用・収益の関係</a:t>
            </a:r>
            <a:endParaRPr lang="en-US" sz="1220" dirty="0"/>
          </a:p>
        </p:txBody>
      </p:sp>
      <p:sp>
        <p:nvSpPr>
          <p:cNvPr id="33" name="Shape 31"/>
          <p:cNvSpPr/>
          <p:nvPr/>
        </p:nvSpPr>
        <p:spPr>
          <a:xfrm>
            <a:off x="3456432" y="3895344"/>
            <a:ext cx="3794760" cy="630936"/>
          </a:xfrm>
          <a:prstGeom prst="rect">
            <a:avLst/>
          </a:prstGeom>
          <a:solidFill>
            <a:srgbClr val="F8FAFC"/>
          </a:solidFill>
          <a:ln w="8890">
            <a:solidFill>
              <a:srgbClr val="EEF1F5"/>
            </a:solidFill>
            <a:prstDash val="solid"/>
          </a:ln>
        </p:spPr>
        <p:txBody>
          <a:bodyPr/>
          <a:lstStyle/>
          <a:p>
            <a:endParaRPr lang="ja-JP" altLang="en-US"/>
          </a:p>
        </p:txBody>
      </p:sp>
      <p:sp>
        <p:nvSpPr>
          <p:cNvPr id="34" name="Text 32"/>
          <p:cNvSpPr/>
          <p:nvPr/>
        </p:nvSpPr>
        <p:spPr>
          <a:xfrm>
            <a:off x="3511296" y="3927348"/>
            <a:ext cx="3685032"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22配車候補のBEV台数と評価額</a:t>
            </a:r>
            <a:endParaRPr lang="en-US" sz="1220" dirty="0"/>
          </a:p>
        </p:txBody>
      </p:sp>
      <p:sp>
        <p:nvSpPr>
          <p:cNvPr id="35" name="Shape 33"/>
          <p:cNvSpPr/>
          <p:nvPr/>
        </p:nvSpPr>
        <p:spPr>
          <a:xfrm>
            <a:off x="7251192" y="3895344"/>
            <a:ext cx="4315968" cy="630936"/>
          </a:xfrm>
          <a:prstGeom prst="rect">
            <a:avLst/>
          </a:prstGeom>
          <a:solidFill>
            <a:srgbClr val="F8FAFC"/>
          </a:solidFill>
          <a:ln w="8890">
            <a:solidFill>
              <a:srgbClr val="EEF1F5"/>
            </a:solidFill>
            <a:prstDash val="solid"/>
          </a:ln>
        </p:spPr>
        <p:txBody>
          <a:bodyPr/>
          <a:lstStyle/>
          <a:p>
            <a:endParaRPr lang="ja-JP" altLang="en-US"/>
          </a:p>
        </p:txBody>
      </p:sp>
      <p:sp>
        <p:nvSpPr>
          <p:cNvPr id="36" name="Text 34"/>
          <p:cNvSpPr/>
          <p:nvPr/>
        </p:nvSpPr>
        <p:spPr>
          <a:xfrm>
            <a:off x="7306056" y="3927348"/>
            <a:ext cx="4206240"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Fei et al. (2023)</a:t>
            </a:r>
            <a:endParaRPr lang="en-US" sz="1220" dirty="0"/>
          </a:p>
        </p:txBody>
      </p:sp>
      <p:sp>
        <p:nvSpPr>
          <p:cNvPr id="37" name="Shape 35"/>
          <p:cNvSpPr/>
          <p:nvPr/>
        </p:nvSpPr>
        <p:spPr>
          <a:xfrm>
            <a:off x="621792" y="4526280"/>
            <a:ext cx="2834640" cy="630936"/>
          </a:xfrm>
          <a:prstGeom prst="rect">
            <a:avLst/>
          </a:prstGeom>
          <a:solidFill>
            <a:srgbClr val="FFFFFF"/>
          </a:solidFill>
          <a:ln w="8890">
            <a:solidFill>
              <a:srgbClr val="EEF1F5"/>
            </a:solidFill>
            <a:prstDash val="solid"/>
          </a:ln>
        </p:spPr>
        <p:txBody>
          <a:bodyPr/>
          <a:lstStyle/>
          <a:p>
            <a:endParaRPr lang="ja-JP" altLang="en-US"/>
          </a:p>
        </p:txBody>
      </p:sp>
      <p:sp>
        <p:nvSpPr>
          <p:cNvPr id="38" name="Text 36"/>
          <p:cNvSpPr/>
          <p:nvPr/>
        </p:nvSpPr>
        <p:spPr>
          <a:xfrm>
            <a:off x="676656" y="4558284"/>
            <a:ext cx="2724912" cy="566928"/>
          </a:xfrm>
          <a:prstGeom prst="rect">
            <a:avLst/>
          </a:prstGeom>
          <a:noFill/>
          <a:ln/>
        </p:spPr>
        <p:txBody>
          <a:bodyPr wrap="square" lIns="0" tIns="0" rIns="0" bIns="0" rtlCol="0" anchor="ctr">
            <a:normAutofit/>
          </a:bodyPr>
          <a:lstStyle/>
          <a:p>
            <a:pPr marL="0" indent="0" algn="l">
              <a:buNone/>
            </a:pPr>
            <a:r>
              <a:rPr lang="en-US" sz="1220" b="1" dirty="0">
                <a:solidFill>
                  <a:srgbClr val="172033"/>
                </a:solidFill>
                <a:latin typeface="Noto Sans CJK JP" pitchFamily="34" charset="0"/>
                <a:ea typeface="Noto Sans CJK JP" pitchFamily="34" charset="-122"/>
                <a:cs typeface="Noto Sans CJK JP" pitchFamily="34" charset="-120"/>
              </a:rPr>
              <a:t>便ごとの消費量をどう扱うか</a:t>
            </a:r>
            <a:endParaRPr lang="en-US" sz="1220" dirty="0"/>
          </a:p>
        </p:txBody>
      </p:sp>
      <p:sp>
        <p:nvSpPr>
          <p:cNvPr id="39" name="Shape 37"/>
          <p:cNvSpPr/>
          <p:nvPr/>
        </p:nvSpPr>
        <p:spPr>
          <a:xfrm>
            <a:off x="3456432" y="4526280"/>
            <a:ext cx="3794760" cy="630936"/>
          </a:xfrm>
          <a:prstGeom prst="rect">
            <a:avLst/>
          </a:prstGeom>
          <a:solidFill>
            <a:srgbClr val="FFFFFF"/>
          </a:solidFill>
          <a:ln w="8890">
            <a:solidFill>
              <a:srgbClr val="EEF1F5"/>
            </a:solidFill>
            <a:prstDash val="solid"/>
          </a:ln>
        </p:spPr>
        <p:txBody>
          <a:bodyPr/>
          <a:lstStyle/>
          <a:p>
            <a:endParaRPr lang="ja-JP" altLang="en-US"/>
          </a:p>
        </p:txBody>
      </p:sp>
      <p:sp>
        <p:nvSpPr>
          <p:cNvPr id="40" name="Text 38"/>
          <p:cNvSpPr/>
          <p:nvPr/>
        </p:nvSpPr>
        <p:spPr>
          <a:xfrm>
            <a:off x="3511296" y="4558284"/>
            <a:ext cx="3685032"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便別入力を用いた配車・充電計算</a:t>
            </a:r>
            <a:endParaRPr lang="en-US" sz="1220" dirty="0"/>
          </a:p>
        </p:txBody>
      </p:sp>
      <p:sp>
        <p:nvSpPr>
          <p:cNvPr id="41" name="Shape 39"/>
          <p:cNvSpPr/>
          <p:nvPr/>
        </p:nvSpPr>
        <p:spPr>
          <a:xfrm>
            <a:off x="7251192" y="4526280"/>
            <a:ext cx="4315968" cy="630936"/>
          </a:xfrm>
          <a:prstGeom prst="rect">
            <a:avLst/>
          </a:prstGeom>
          <a:solidFill>
            <a:srgbClr val="FFFFFF"/>
          </a:solidFill>
          <a:ln w="8890">
            <a:solidFill>
              <a:srgbClr val="EEF1F5"/>
            </a:solidFill>
            <a:prstDash val="solid"/>
          </a:ln>
        </p:spPr>
        <p:txBody>
          <a:bodyPr/>
          <a:lstStyle/>
          <a:p>
            <a:endParaRPr lang="ja-JP" altLang="en-US"/>
          </a:p>
        </p:txBody>
      </p:sp>
      <p:sp>
        <p:nvSpPr>
          <p:cNvPr id="42" name="Text 40"/>
          <p:cNvSpPr/>
          <p:nvPr/>
        </p:nvSpPr>
        <p:spPr>
          <a:xfrm>
            <a:off x="7306056" y="4558284"/>
            <a:ext cx="4206240"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He et al. (2023), Zhang et al. (2024)</a:t>
            </a:r>
            <a:endParaRPr lang="en-US" sz="1220" dirty="0"/>
          </a:p>
        </p:txBody>
      </p:sp>
      <p:sp>
        <p:nvSpPr>
          <p:cNvPr id="43" name="Shape 41"/>
          <p:cNvSpPr/>
          <p:nvPr/>
        </p:nvSpPr>
        <p:spPr>
          <a:xfrm>
            <a:off x="932688" y="5440680"/>
            <a:ext cx="10332720" cy="658368"/>
          </a:xfrm>
          <a:prstGeom prst="roundRect">
            <a:avLst/>
          </a:prstGeom>
          <a:solidFill>
            <a:srgbClr val="E8F6F3"/>
          </a:solidFill>
          <a:ln w="13970">
            <a:solidFill>
              <a:srgbClr val="1F9D8A"/>
            </a:solidFill>
            <a:prstDash val="solid"/>
          </a:ln>
        </p:spPr>
        <p:txBody>
          <a:bodyPr/>
          <a:lstStyle/>
          <a:p>
            <a:endParaRPr lang="ja-JP" altLang="en-US"/>
          </a:p>
        </p:txBody>
      </p:sp>
      <p:sp>
        <p:nvSpPr>
          <p:cNvPr id="44" name="Text 42"/>
          <p:cNvSpPr/>
          <p:nvPr/>
        </p:nvSpPr>
        <p:spPr>
          <a:xfrm>
            <a:off x="1170432" y="5596128"/>
            <a:ext cx="9875520" cy="301752"/>
          </a:xfrm>
          <a:prstGeom prst="rect">
            <a:avLst/>
          </a:prstGeom>
          <a:noFill/>
          <a:ln/>
        </p:spPr>
        <p:txBody>
          <a:bodyPr wrap="square" lIns="0" tIns="0" rIns="0" bIns="0" rtlCol="0" anchor="ctr"/>
          <a:lstStyle/>
          <a:p>
            <a:pPr marL="0" indent="0" algn="ctr">
              <a:buNone/>
            </a:pPr>
            <a:r>
              <a:rPr lang="en-US" sz="1650" b="1" dirty="0">
                <a:solidFill>
                  <a:srgbClr val="1F9D8A"/>
                </a:solidFill>
                <a:latin typeface="Noto Sans CJK JP" pitchFamily="34" charset="0"/>
                <a:ea typeface="Noto Sans CJK JP" pitchFamily="34" charset="-122"/>
                <a:cs typeface="Noto Sans CJK JP" pitchFamily="34" charset="-120"/>
              </a:rPr>
              <a:t>本研究の焦点：既存営業所の264便を対象に、BEV／ICEの担当便とPV・BESSを使う充電運用を同時に確認する</a:t>
            </a:r>
            <a:endParaRPr lang="en-US" sz="1650" dirty="0"/>
          </a:p>
        </p:txBody>
      </p:sp>
      <p:sp>
        <p:nvSpPr>
          <p:cNvPr id="45" name="Text 43"/>
          <p:cNvSpPr/>
          <p:nvPr/>
        </p:nvSpPr>
        <p:spPr>
          <a:xfrm>
            <a:off x="566928" y="6318504"/>
            <a:ext cx="10469880" cy="146304"/>
          </a:xfrm>
          <a:prstGeom prst="rect">
            <a:avLst/>
          </a:prstGeom>
          <a:noFill/>
          <a:ln/>
        </p:spPr>
        <p:txBody>
          <a:bodyPr wrap="square" lIns="0" tIns="0" rIns="0" bIns="0" rtlCol="0" anchor="ctr"/>
          <a:lstStyle/>
          <a:p>
            <a:pPr marL="0" indent="0">
              <a:buNone/>
            </a:pPr>
            <a:r>
              <a:rPr lang="en-US" sz="720" dirty="0">
                <a:solidFill>
                  <a:srgbClr val="7B8494"/>
                </a:solidFill>
                <a:latin typeface="Noto Sans CJK JP" pitchFamily="34" charset="0"/>
                <a:ea typeface="Noto Sans CJK JP" pitchFamily="34" charset="-122"/>
                <a:cs typeface="Noto Sans CJK JP" pitchFamily="34" charset="-120"/>
              </a:rPr>
              <a:t>参考：No07, No18, No36, No39, No42（添付文献）</a:t>
            </a:r>
            <a:endParaRPr lang="en-US" sz="7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実験対象：同じ平日264便に、PVの多い条件と少ない条件を与えて比較</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4/18</a:t>
            </a:r>
            <a:endParaRPr lang="en-US" sz="850" dirty="0"/>
          </a:p>
        </p:txBody>
      </p:sp>
      <p:sp>
        <p:nvSpPr>
          <p:cNvPr id="6" name="Shape 4"/>
          <p:cNvSpPr/>
          <p:nvPr/>
        </p:nvSpPr>
        <p:spPr>
          <a:xfrm>
            <a:off x="594360" y="914400"/>
            <a:ext cx="4572000" cy="5349240"/>
          </a:xfrm>
          <a:prstGeom prst="roundRect">
            <a:avLst>
              <a:gd name="adj" fmla="val 1600"/>
            </a:avLst>
          </a:prstGeom>
          <a:solidFill>
            <a:srgbClr val="F8FAFC"/>
          </a:solidFill>
          <a:ln w="12700">
            <a:solidFill>
              <a:srgbClr val="EEF1F5"/>
            </a:solidFill>
            <a:prstDash val="solid"/>
          </a:ln>
        </p:spPr>
        <p:txBody>
          <a:bodyPr/>
          <a:lstStyle/>
          <a:p>
            <a:endParaRPr lang="ja-JP" altLang="en-US"/>
          </a:p>
        </p:txBody>
      </p:sp>
      <p:sp>
        <p:nvSpPr>
          <p:cNvPr id="7" name="Text 5"/>
          <p:cNvSpPr/>
          <p:nvPr/>
        </p:nvSpPr>
        <p:spPr>
          <a:xfrm>
            <a:off x="896112" y="1143000"/>
            <a:ext cx="2011680" cy="329184"/>
          </a:xfrm>
          <a:prstGeom prst="rect">
            <a:avLst/>
          </a:prstGeom>
          <a:noFill/>
          <a:ln/>
        </p:spPr>
        <p:txBody>
          <a:bodyPr wrap="square" lIns="0" tIns="0" rIns="0" bIns="0" rtlCol="0" anchor="ctr"/>
          <a:lstStyle/>
          <a:p>
            <a:pPr marL="0" indent="0">
              <a:buNone/>
            </a:pPr>
            <a:r>
              <a:rPr lang="en-US" sz="2000" b="1" dirty="0">
                <a:solidFill>
                  <a:srgbClr val="172033"/>
                </a:solidFill>
                <a:latin typeface="Noto Sans CJK JP" pitchFamily="34" charset="0"/>
                <a:ea typeface="Noto Sans CJK JP" pitchFamily="34" charset="-122"/>
                <a:cs typeface="Noto Sans CJK JP" pitchFamily="34" charset="-120"/>
              </a:rPr>
              <a:t>共通して固定する条件</a:t>
            </a:r>
            <a:endParaRPr lang="en-US" sz="2000"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0120" y="1755648"/>
            <a:ext cx="548640" cy="502920"/>
          </a:xfrm>
          <a:prstGeom prst="rect">
            <a:avLst/>
          </a:prstGeom>
        </p:spPr>
      </p:pic>
      <p:sp>
        <p:nvSpPr>
          <p:cNvPr id="9" name="Text 6"/>
          <p:cNvSpPr/>
          <p:nvPr/>
        </p:nvSpPr>
        <p:spPr>
          <a:xfrm>
            <a:off x="1664208" y="1746504"/>
            <a:ext cx="2971800" cy="310896"/>
          </a:xfrm>
          <a:prstGeom prst="rect">
            <a:avLst/>
          </a:prstGeom>
          <a:noFill/>
          <a:ln/>
        </p:spPr>
        <p:txBody>
          <a:bodyPr wrap="square" lIns="0" tIns="0" rIns="0" bIns="0" rtlCol="0" anchor="ctr"/>
          <a:lstStyle/>
          <a:p>
            <a:pPr marL="0" indent="0">
              <a:buNone/>
            </a:pPr>
            <a:r>
              <a:rPr lang="en-US" sz="1750" b="1" dirty="0">
                <a:solidFill>
                  <a:srgbClr val="1F2A5A"/>
                </a:solidFill>
                <a:latin typeface="Noto Sans CJK JP" pitchFamily="34" charset="0"/>
                <a:ea typeface="Noto Sans CJK JP" pitchFamily="34" charset="-122"/>
                <a:cs typeface="Noto Sans CJK JP" pitchFamily="34" charset="-120"/>
              </a:rPr>
              <a:t>弦巻営業所・平日264便（16路線）</a:t>
            </a:r>
            <a:endParaRPr lang="en-US" sz="1750"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0120" y="2487168"/>
            <a:ext cx="548640" cy="475488"/>
          </a:xfrm>
          <a:prstGeom prst="rect">
            <a:avLst/>
          </a:prstGeom>
        </p:spPr>
      </p:pic>
      <p:sp>
        <p:nvSpPr>
          <p:cNvPr id="11" name="Text 7"/>
          <p:cNvSpPr/>
          <p:nvPr/>
        </p:nvSpPr>
        <p:spPr>
          <a:xfrm>
            <a:off x="1664208" y="2487168"/>
            <a:ext cx="2971800" cy="310896"/>
          </a:xfrm>
          <a:prstGeom prst="rect">
            <a:avLst/>
          </a:prstGeom>
          <a:noFill/>
          <a:ln/>
        </p:spPr>
        <p:txBody>
          <a:bodyPr wrap="square" lIns="0" tIns="0" rIns="0" bIns="0" rtlCol="0" anchor="ctr"/>
          <a:lstStyle/>
          <a:p>
            <a:pPr marL="0" indent="0">
              <a:buNone/>
            </a:pPr>
            <a:r>
              <a:rPr lang="en-US" sz="1700" b="1" dirty="0">
                <a:solidFill>
                  <a:srgbClr val="172033"/>
                </a:solidFill>
                <a:latin typeface="Noto Sans CJK JP" pitchFamily="34" charset="0"/>
                <a:ea typeface="Noto Sans CJK JP" pitchFamily="34" charset="-122"/>
                <a:cs typeface="Noto Sans CJK JP" pitchFamily="34" charset="-120"/>
              </a:rPr>
              <a:t>車両60台：BEV 35台／ICE 25台</a:t>
            </a:r>
            <a:endParaRPr lang="en-US" sz="17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0120" y="3218688"/>
            <a:ext cx="502920" cy="502920"/>
          </a:xfrm>
          <a:prstGeom prst="rect">
            <a:avLst/>
          </a:prstGeom>
        </p:spPr>
      </p:pic>
      <p:sp>
        <p:nvSpPr>
          <p:cNvPr id="13" name="Text 8"/>
          <p:cNvSpPr/>
          <p:nvPr/>
        </p:nvSpPr>
        <p:spPr>
          <a:xfrm>
            <a:off x="1664208" y="3218688"/>
            <a:ext cx="2971800" cy="310896"/>
          </a:xfrm>
          <a:prstGeom prst="rect">
            <a:avLst/>
          </a:prstGeom>
          <a:noFill/>
          <a:ln/>
        </p:spPr>
        <p:txBody>
          <a:bodyPr wrap="square" lIns="0" tIns="0" rIns="0" bIns="0" rtlCol="0" anchor="ctr"/>
          <a:lstStyle/>
          <a:p>
            <a:pPr marL="0" indent="0">
              <a:buNone/>
            </a:pPr>
            <a:r>
              <a:rPr lang="en-US" sz="1700" b="1" dirty="0">
                <a:solidFill>
                  <a:srgbClr val="172033"/>
                </a:solidFill>
                <a:latin typeface="Noto Sans CJK JP" pitchFamily="34" charset="0"/>
                <a:ea typeface="Noto Sans CJK JP" pitchFamily="34" charset="-122"/>
                <a:cs typeface="Noto Sans CJK JP" pitchFamily="34" charset="-120"/>
              </a:rPr>
              <a:t>充電器・BESS・受電上限・料金は同一</a:t>
            </a:r>
            <a:endParaRPr lang="en-US" sz="17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0120" y="3950208"/>
            <a:ext cx="502920" cy="502920"/>
          </a:xfrm>
          <a:prstGeom prst="rect">
            <a:avLst/>
          </a:prstGeom>
        </p:spPr>
      </p:pic>
      <p:sp>
        <p:nvSpPr>
          <p:cNvPr id="15" name="Text 9"/>
          <p:cNvSpPr/>
          <p:nvPr/>
        </p:nvSpPr>
        <p:spPr>
          <a:xfrm>
            <a:off x="1664208" y="3950208"/>
            <a:ext cx="2971800" cy="310896"/>
          </a:xfrm>
          <a:prstGeom prst="rect">
            <a:avLst/>
          </a:prstGeom>
          <a:noFill/>
          <a:ln/>
        </p:spPr>
        <p:txBody>
          <a:bodyPr wrap="square" lIns="0" tIns="0" rIns="0" bIns="0" rtlCol="0" anchor="ctr"/>
          <a:lstStyle/>
          <a:p>
            <a:pPr marL="0" indent="0">
              <a:buNone/>
            </a:pPr>
            <a:r>
              <a:rPr lang="en-US" sz="1700" b="1" dirty="0">
                <a:solidFill>
                  <a:srgbClr val="172033"/>
                </a:solidFill>
                <a:latin typeface="Noto Sans CJK JP" pitchFamily="34" charset="0"/>
                <a:ea typeface="Noto Sans CJK JP" pitchFamily="34" charset="-122"/>
                <a:cs typeface="Noto Sans CJK JP" pitchFamily="34" charset="-120"/>
              </a:rPr>
              <a:t>15分単位、1時間ごとに運用を見直す</a:t>
            </a:r>
            <a:endParaRPr lang="en-US" sz="1700" dirty="0"/>
          </a:p>
        </p:txBody>
      </p:sp>
      <p:sp>
        <p:nvSpPr>
          <p:cNvPr id="16" name="Shape 10"/>
          <p:cNvSpPr/>
          <p:nvPr/>
        </p:nvSpPr>
        <p:spPr>
          <a:xfrm>
            <a:off x="960120" y="4754880"/>
            <a:ext cx="3822192" cy="841248"/>
          </a:xfrm>
          <a:prstGeom prst="roundRect">
            <a:avLst/>
          </a:prstGeom>
          <a:solidFill>
            <a:srgbClr val="FFFFFF"/>
          </a:solidFill>
          <a:ln w="12700">
            <a:solidFill>
              <a:srgbClr val="356BB3"/>
            </a:solidFill>
            <a:prstDash val="solid"/>
          </a:ln>
        </p:spPr>
        <p:txBody>
          <a:bodyPr/>
          <a:lstStyle/>
          <a:p>
            <a:endParaRPr lang="ja-JP" altLang="en-US"/>
          </a:p>
        </p:txBody>
      </p:sp>
      <p:sp>
        <p:nvSpPr>
          <p:cNvPr id="17" name="Text 11"/>
          <p:cNvSpPr/>
          <p:nvPr/>
        </p:nvSpPr>
        <p:spPr>
          <a:xfrm>
            <a:off x="1188720" y="4919472"/>
            <a:ext cx="3383280" cy="457200"/>
          </a:xfrm>
          <a:prstGeom prst="rect">
            <a:avLst/>
          </a:prstGeom>
          <a:noFill/>
          <a:ln/>
        </p:spPr>
        <p:txBody>
          <a:bodyPr wrap="square" lIns="0" tIns="0" rIns="0" bIns="0" rtlCol="0" anchor="ctr"/>
          <a:lstStyle/>
          <a:p>
            <a:pPr marL="0" indent="0" algn="ctr">
              <a:buNone/>
            </a:pPr>
            <a:r>
              <a:rPr lang="en-US" sz="1550" b="1" dirty="0">
                <a:solidFill>
                  <a:srgbClr val="1F2A5A"/>
                </a:solidFill>
                <a:latin typeface="Noto Sans CJK JP" pitchFamily="34" charset="0"/>
                <a:ea typeface="Noto Sans CJK JP" pitchFamily="34" charset="-122"/>
                <a:cs typeface="Noto Sans CJK JP" pitchFamily="34" charset="-120"/>
              </a:rPr>
              <a:t>比較したいこと</a:t>
            </a:r>
            <a:endParaRPr lang="en-US" sz="1550" dirty="0"/>
          </a:p>
          <a:p>
            <a:pPr marL="0" indent="0" algn="ctr">
              <a:buNone/>
            </a:pPr>
            <a:r>
              <a:rPr lang="en-US" sz="1550" b="1" dirty="0">
                <a:solidFill>
                  <a:srgbClr val="1F2A5A"/>
                </a:solidFill>
                <a:latin typeface="Noto Sans CJK JP" pitchFamily="34" charset="0"/>
                <a:ea typeface="Noto Sans CJK JP" pitchFamily="34" charset="-122"/>
                <a:cs typeface="Noto Sans CJK JP" pitchFamily="34" charset="-120"/>
              </a:rPr>
              <a:t>PV量の違いで、配車・電力・費用がどう変わるか</a:t>
            </a:r>
            <a:endParaRPr lang="en-US" sz="1550" dirty="0"/>
          </a:p>
        </p:txBody>
      </p:sp>
      <p:sp>
        <p:nvSpPr>
          <p:cNvPr id="18" name="Shape 12"/>
          <p:cNvSpPr/>
          <p:nvPr/>
        </p:nvSpPr>
        <p:spPr>
          <a:xfrm>
            <a:off x="5440680" y="914400"/>
            <a:ext cx="2788920" cy="5349240"/>
          </a:xfrm>
          <a:prstGeom prst="roundRect">
            <a:avLst>
              <a:gd name="adj" fmla="val 2623"/>
            </a:avLst>
          </a:prstGeom>
          <a:solidFill>
            <a:srgbClr val="FFF5D8"/>
          </a:solidFill>
          <a:ln w="12700">
            <a:solidFill>
              <a:srgbClr val="E7B34B"/>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19" name="Shape 13"/>
          <p:cNvSpPr/>
          <p:nvPr/>
        </p:nvSpPr>
        <p:spPr>
          <a:xfrm>
            <a:off x="6062472" y="1188720"/>
            <a:ext cx="1508760" cy="310896"/>
          </a:xfrm>
          <a:prstGeom prst="roundRect">
            <a:avLst/>
          </a:prstGeom>
          <a:solidFill>
            <a:srgbClr val="E7B34B"/>
          </a:solidFill>
          <a:ln w="12700">
            <a:solidFill>
              <a:srgbClr val="E7B34B"/>
            </a:solidFill>
            <a:prstDash val="solid"/>
          </a:ln>
        </p:spPr>
        <p:txBody>
          <a:bodyPr/>
          <a:lstStyle/>
          <a:p>
            <a:endParaRPr lang="ja-JP" altLang="en-US"/>
          </a:p>
        </p:txBody>
      </p:sp>
      <p:sp>
        <p:nvSpPr>
          <p:cNvPr id="20" name="Text 14"/>
          <p:cNvSpPr/>
          <p:nvPr/>
        </p:nvSpPr>
        <p:spPr>
          <a:xfrm>
            <a:off x="6108192" y="1207008"/>
            <a:ext cx="1417320" cy="256032"/>
          </a:xfrm>
          <a:prstGeom prst="rect">
            <a:avLst/>
          </a:prstGeom>
          <a:noFill/>
          <a:ln/>
        </p:spPr>
        <p:txBody>
          <a:bodyPr wrap="square" lIns="0" tIns="0" rIns="0" bIns="0" rtlCol="0" anchor="ctr"/>
          <a:lstStyle/>
          <a:p>
            <a:pPr marL="0" indent="0" algn="ctr">
              <a:buNone/>
            </a:pPr>
            <a:r>
              <a:rPr lang="en-US" sz="1050" b="1" dirty="0">
                <a:solidFill>
                  <a:srgbClr val="172033"/>
                </a:solidFill>
                <a:latin typeface="Noto Sans CJK JP" pitchFamily="34" charset="0"/>
                <a:ea typeface="Noto Sans CJK JP" pitchFamily="34" charset="-122"/>
                <a:cs typeface="Noto Sans CJK JP" pitchFamily="34" charset="-120"/>
              </a:rPr>
              <a:t>高PV条件</a:t>
            </a:r>
            <a:endParaRPr lang="en-US" sz="1050" dirty="0"/>
          </a:p>
        </p:txBody>
      </p:sp>
      <p:pic>
        <p:nvPicPr>
          <p:cNvPr id="2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46520" y="1865376"/>
            <a:ext cx="749808" cy="749808"/>
          </a:xfrm>
          <a:prstGeom prst="rect">
            <a:avLst/>
          </a:prstGeom>
        </p:spPr>
      </p:pic>
      <p:sp>
        <p:nvSpPr>
          <p:cNvPr id="22" name="Text 15"/>
          <p:cNvSpPr/>
          <p:nvPr/>
        </p:nvSpPr>
        <p:spPr>
          <a:xfrm>
            <a:off x="5806440" y="2761488"/>
            <a:ext cx="2057400" cy="256032"/>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PV入力</a:t>
            </a:r>
            <a:endParaRPr lang="en-US" sz="1400" dirty="0"/>
          </a:p>
        </p:txBody>
      </p:sp>
      <p:sp>
        <p:nvSpPr>
          <p:cNvPr id="23" name="Text 16"/>
          <p:cNvSpPr/>
          <p:nvPr/>
        </p:nvSpPr>
        <p:spPr>
          <a:xfrm>
            <a:off x="5742432" y="3090672"/>
            <a:ext cx="2176272" cy="310896"/>
          </a:xfrm>
          <a:prstGeom prst="rect">
            <a:avLst/>
          </a:prstGeom>
          <a:noFill/>
          <a:ln/>
        </p:spPr>
        <p:txBody>
          <a:bodyPr wrap="square" lIns="0" tIns="0" rIns="0" bIns="0" rtlCol="0" anchor="ctr"/>
          <a:lstStyle/>
          <a:p>
            <a:pPr marL="0" indent="0" algn="ctr">
              <a:buNone/>
            </a:pPr>
            <a:r>
              <a:rPr lang="en-US" sz="1700" b="1" dirty="0">
                <a:solidFill>
                  <a:srgbClr val="172033"/>
                </a:solidFill>
                <a:latin typeface="Noto Sans CJK JP" pitchFamily="34" charset="0"/>
                <a:ea typeface="Noto Sans CJK JP" pitchFamily="34" charset="-122"/>
                <a:cs typeface="Noto Sans CJK JP" pitchFamily="34" charset="-120"/>
              </a:rPr>
              <a:t>2025/08/05由来</a:t>
            </a:r>
            <a:endParaRPr lang="en-US" sz="1700" dirty="0"/>
          </a:p>
        </p:txBody>
      </p:sp>
      <p:sp>
        <p:nvSpPr>
          <p:cNvPr id="24" name="Text 17"/>
          <p:cNvSpPr/>
          <p:nvPr/>
        </p:nvSpPr>
        <p:spPr>
          <a:xfrm>
            <a:off x="5760720" y="3675888"/>
            <a:ext cx="2148840" cy="310896"/>
          </a:xfrm>
          <a:prstGeom prst="rect">
            <a:avLst/>
          </a:prstGeom>
          <a:noFill/>
          <a:ln/>
        </p:spPr>
        <p:txBody>
          <a:bodyPr wrap="square" lIns="0" tIns="0" rIns="0" bIns="0" rtlCol="0" anchor="ctr"/>
          <a:lstStyle/>
          <a:p>
            <a:pPr marL="0" indent="0" algn="ctr">
              <a:buNone/>
            </a:pPr>
            <a:r>
              <a:rPr lang="en-US" sz="1900" b="1" dirty="0">
                <a:solidFill>
                  <a:srgbClr val="1F9D8A"/>
                </a:solidFill>
                <a:latin typeface="Noto Sans CJK JP" pitchFamily="34" charset="0"/>
                <a:ea typeface="Noto Sans CJK JP" pitchFamily="34" charset="-122"/>
                <a:cs typeface="Noto Sans CJK JP" pitchFamily="34" charset="-120"/>
              </a:rPr>
              <a:t>日合計 6,056 kWh</a:t>
            </a:r>
            <a:endParaRPr lang="en-US" sz="1900" dirty="0"/>
          </a:p>
        </p:txBody>
      </p:sp>
      <p:sp>
        <p:nvSpPr>
          <p:cNvPr id="25" name="Text 18"/>
          <p:cNvSpPr/>
          <p:nvPr/>
        </p:nvSpPr>
        <p:spPr>
          <a:xfrm>
            <a:off x="5833872" y="4709160"/>
            <a:ext cx="2011680" cy="256032"/>
          </a:xfrm>
          <a:prstGeom prst="rect">
            <a:avLst/>
          </a:prstGeom>
          <a:noFill/>
          <a:ln/>
        </p:spPr>
        <p:txBody>
          <a:bodyPr wrap="square" lIns="0" tIns="0" rIns="0" bIns="0" rtlCol="0" anchor="ctr"/>
          <a:lstStyle/>
          <a:p>
            <a:pPr marL="0" indent="0" algn="ctr">
              <a:buNone/>
            </a:pPr>
            <a:r>
              <a:rPr lang="en-US" sz="1300" dirty="0">
                <a:solidFill>
                  <a:srgbClr val="687386"/>
                </a:solidFill>
                <a:latin typeface="Noto Sans CJK JP" pitchFamily="34" charset="0"/>
                <a:ea typeface="Noto Sans CJK JP" pitchFamily="34" charset="-122"/>
                <a:cs typeface="Noto Sans CJK JP" pitchFamily="34" charset="-120"/>
              </a:rPr>
              <a:t>平日時刻表は共通</a:t>
            </a:r>
            <a:endParaRPr lang="en-US" sz="1300" dirty="0"/>
          </a:p>
        </p:txBody>
      </p:sp>
      <p:sp>
        <p:nvSpPr>
          <p:cNvPr id="26" name="Shape 19"/>
          <p:cNvSpPr/>
          <p:nvPr/>
        </p:nvSpPr>
        <p:spPr>
          <a:xfrm>
            <a:off x="8485632" y="914400"/>
            <a:ext cx="2788920" cy="5349240"/>
          </a:xfrm>
          <a:prstGeom prst="roundRect">
            <a:avLst>
              <a:gd name="adj" fmla="val 2623"/>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27" name="Shape 20"/>
          <p:cNvSpPr/>
          <p:nvPr/>
        </p:nvSpPr>
        <p:spPr>
          <a:xfrm>
            <a:off x="9125712" y="1188720"/>
            <a:ext cx="1508760" cy="310896"/>
          </a:xfrm>
          <a:prstGeom prst="roundRect">
            <a:avLst/>
          </a:prstGeom>
          <a:solidFill>
            <a:srgbClr val="356BB3"/>
          </a:solidFill>
          <a:ln w="12700">
            <a:solidFill>
              <a:srgbClr val="356BB3"/>
            </a:solidFill>
            <a:prstDash val="solid"/>
          </a:ln>
        </p:spPr>
        <p:txBody>
          <a:bodyPr/>
          <a:lstStyle/>
          <a:p>
            <a:endParaRPr lang="ja-JP" altLang="en-US"/>
          </a:p>
        </p:txBody>
      </p:sp>
      <p:sp>
        <p:nvSpPr>
          <p:cNvPr id="28" name="Text 21"/>
          <p:cNvSpPr/>
          <p:nvPr/>
        </p:nvSpPr>
        <p:spPr>
          <a:xfrm>
            <a:off x="9171432" y="1207008"/>
            <a:ext cx="141732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Noto Sans CJK JP" pitchFamily="34" charset="0"/>
                <a:ea typeface="Noto Sans CJK JP" pitchFamily="34" charset="-122"/>
                <a:cs typeface="Noto Sans CJK JP" pitchFamily="34" charset="-120"/>
              </a:rPr>
              <a:t>低PV条件</a:t>
            </a:r>
            <a:endParaRPr lang="en-US" sz="1050" dirty="0"/>
          </a:p>
        </p:txBody>
      </p:sp>
      <p:pic>
        <p:nvPicPr>
          <p:cNvPr id="2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491472" y="1865376"/>
            <a:ext cx="749808" cy="749808"/>
          </a:xfrm>
          <a:prstGeom prst="rect">
            <a:avLst/>
          </a:prstGeom>
        </p:spPr>
      </p:pic>
      <p:sp>
        <p:nvSpPr>
          <p:cNvPr id="30" name="Text 22"/>
          <p:cNvSpPr/>
          <p:nvPr/>
        </p:nvSpPr>
        <p:spPr>
          <a:xfrm>
            <a:off x="8851392" y="2761488"/>
            <a:ext cx="2057400" cy="256032"/>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PV入力</a:t>
            </a:r>
            <a:endParaRPr lang="en-US" sz="1400" dirty="0"/>
          </a:p>
        </p:txBody>
      </p:sp>
      <p:sp>
        <p:nvSpPr>
          <p:cNvPr id="31" name="Text 23"/>
          <p:cNvSpPr/>
          <p:nvPr/>
        </p:nvSpPr>
        <p:spPr>
          <a:xfrm>
            <a:off x="8796528" y="3090672"/>
            <a:ext cx="2176272" cy="310896"/>
          </a:xfrm>
          <a:prstGeom prst="rect">
            <a:avLst/>
          </a:prstGeom>
          <a:noFill/>
          <a:ln/>
        </p:spPr>
        <p:txBody>
          <a:bodyPr wrap="square" lIns="0" tIns="0" rIns="0" bIns="0" rtlCol="0" anchor="ctr"/>
          <a:lstStyle/>
          <a:p>
            <a:pPr marL="0" indent="0" algn="ctr">
              <a:buNone/>
            </a:pPr>
            <a:r>
              <a:rPr lang="en-US" sz="1700" b="1" dirty="0">
                <a:solidFill>
                  <a:srgbClr val="172033"/>
                </a:solidFill>
                <a:latin typeface="Noto Sans CJK JP" pitchFamily="34" charset="0"/>
                <a:ea typeface="Noto Sans CJK JP" pitchFamily="34" charset="-122"/>
                <a:cs typeface="Noto Sans CJK JP" pitchFamily="34" charset="-120"/>
              </a:rPr>
              <a:t>2025/08/10由来</a:t>
            </a:r>
            <a:endParaRPr lang="en-US" sz="1700" dirty="0"/>
          </a:p>
        </p:txBody>
      </p:sp>
      <p:sp>
        <p:nvSpPr>
          <p:cNvPr id="32" name="Text 24"/>
          <p:cNvSpPr/>
          <p:nvPr/>
        </p:nvSpPr>
        <p:spPr>
          <a:xfrm>
            <a:off x="8814816" y="3675888"/>
            <a:ext cx="2148840" cy="310896"/>
          </a:xfrm>
          <a:prstGeom prst="rect">
            <a:avLst/>
          </a:prstGeom>
          <a:noFill/>
          <a:ln/>
        </p:spPr>
        <p:txBody>
          <a:bodyPr wrap="square" lIns="0" tIns="0" rIns="0" bIns="0" rtlCol="0" anchor="ctr"/>
          <a:lstStyle/>
          <a:p>
            <a:pPr marL="0" indent="0" algn="ctr">
              <a:buNone/>
            </a:pPr>
            <a:r>
              <a:rPr lang="en-US" sz="1900" b="1" dirty="0">
                <a:solidFill>
                  <a:srgbClr val="356BB3"/>
                </a:solidFill>
                <a:latin typeface="Noto Sans CJK JP" pitchFamily="34" charset="0"/>
                <a:ea typeface="Noto Sans CJK JP" pitchFamily="34" charset="-122"/>
                <a:cs typeface="Noto Sans CJK JP" pitchFamily="34" charset="-120"/>
              </a:rPr>
              <a:t>日合計 996 kWh</a:t>
            </a:r>
            <a:endParaRPr lang="en-US" sz="1900" dirty="0"/>
          </a:p>
        </p:txBody>
      </p:sp>
      <p:sp>
        <p:nvSpPr>
          <p:cNvPr id="33" name="Text 25"/>
          <p:cNvSpPr/>
          <p:nvPr/>
        </p:nvSpPr>
        <p:spPr>
          <a:xfrm>
            <a:off x="8705088" y="4645152"/>
            <a:ext cx="2395728" cy="384048"/>
          </a:xfrm>
          <a:prstGeom prst="rect">
            <a:avLst/>
          </a:prstGeom>
          <a:noFill/>
          <a:ln/>
        </p:spPr>
        <p:txBody>
          <a:bodyPr wrap="square" lIns="0" tIns="0" rIns="0" bIns="0" rtlCol="0" anchor="ctr"/>
          <a:lstStyle/>
          <a:p>
            <a:pPr marL="0" indent="0" algn="ctr">
              <a:buNone/>
            </a:pPr>
            <a:r>
              <a:rPr lang="en-US" sz="1250" b="1" dirty="0">
                <a:solidFill>
                  <a:srgbClr val="C94C4C"/>
                </a:solidFill>
                <a:latin typeface="Noto Sans CJK JP" pitchFamily="34" charset="0"/>
                <a:ea typeface="Noto Sans CJK JP" pitchFamily="34" charset="-122"/>
                <a:cs typeface="Noto Sans CJK JP" pitchFamily="34" charset="-120"/>
              </a:rPr>
              <a:t>実際の日曜運行ではない</a:t>
            </a:r>
            <a:endParaRPr lang="en-US" sz="1250" dirty="0"/>
          </a:p>
        </p:txBody>
      </p:sp>
      <p:sp>
        <p:nvSpPr>
          <p:cNvPr id="34" name="Text 26"/>
          <p:cNvSpPr/>
          <p:nvPr/>
        </p:nvSpPr>
        <p:spPr>
          <a:xfrm>
            <a:off x="566928" y="6318504"/>
            <a:ext cx="10469880" cy="146304"/>
          </a:xfrm>
          <a:prstGeom prst="rect">
            <a:avLst/>
          </a:prstGeom>
          <a:noFill/>
          <a:ln/>
        </p:spPr>
        <p:txBody>
          <a:bodyPr wrap="square" lIns="0" tIns="0" rIns="0" bIns="0" rtlCol="0" anchor="ctr"/>
          <a:lstStyle/>
          <a:p>
            <a:pPr marL="0" indent="0">
              <a:buNone/>
            </a:pPr>
            <a:r>
              <a:rPr lang="en-US" sz="720" dirty="0">
                <a:solidFill>
                  <a:srgbClr val="7B8494"/>
                </a:solidFill>
                <a:latin typeface="Noto Sans CJK JP" pitchFamily="34" charset="0"/>
                <a:ea typeface="Noto Sans CJK JP" pitchFamily="34" charset="-122"/>
                <a:cs typeface="Noto Sans CJK JP" pitchFamily="34" charset="-120"/>
              </a:rPr>
              <a:t>実験の範囲：一つの営業所・一つの平日時刻表・2種類のPV入力による比較</a:t>
            </a:r>
            <a:endParaRPr lang="en-US" sz="7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研究手法：複数の配車案を作り、充電・電力運用まで確認して選ぶ</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5/18</a:t>
            </a:r>
            <a:endParaRPr lang="en-US" sz="850" dirty="0"/>
          </a:p>
        </p:txBody>
      </p:sp>
      <p:sp>
        <p:nvSpPr>
          <p:cNvPr id="6" name="Text 4"/>
          <p:cNvSpPr/>
          <p:nvPr/>
        </p:nvSpPr>
        <p:spPr>
          <a:xfrm>
            <a:off x="731520" y="877824"/>
            <a:ext cx="10789920" cy="320040"/>
          </a:xfrm>
          <a:prstGeom prst="rect">
            <a:avLst/>
          </a:prstGeom>
          <a:noFill/>
          <a:ln/>
        </p:spPr>
        <p:txBody>
          <a:bodyPr wrap="square" lIns="0" tIns="0" rIns="0" bIns="0" rtlCol="0" anchor="ctr"/>
          <a:lstStyle/>
          <a:p>
            <a:pPr marL="0" indent="0" algn="ctr">
              <a:buNone/>
            </a:pPr>
            <a:r>
              <a:rPr lang="en-US" sz="1800" dirty="0">
                <a:solidFill>
                  <a:srgbClr val="687386"/>
                </a:solidFill>
                <a:latin typeface="Noto Sans CJK JP" pitchFamily="34" charset="0"/>
                <a:ea typeface="Noto Sans CJK JP" pitchFamily="34" charset="-122"/>
                <a:cs typeface="Noto Sans CJK JP" pitchFamily="34" charset="-120"/>
              </a:rPr>
              <a:t>難しい数式を使わずに言うと、次の5段階の処理を行っている。</a:t>
            </a:r>
            <a:endParaRPr lang="en-US" sz="1800" dirty="0"/>
          </a:p>
        </p:txBody>
      </p:sp>
      <p:sp>
        <p:nvSpPr>
          <p:cNvPr id="7" name="Shape 5"/>
          <p:cNvSpPr/>
          <p:nvPr/>
        </p:nvSpPr>
        <p:spPr>
          <a:xfrm>
            <a:off x="50292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0432" y="1810512"/>
            <a:ext cx="640080" cy="640080"/>
          </a:xfrm>
          <a:prstGeom prst="rect">
            <a:avLst/>
          </a:prstGeom>
        </p:spPr>
      </p:pic>
      <p:sp>
        <p:nvSpPr>
          <p:cNvPr id="9" name="Text 6"/>
          <p:cNvSpPr/>
          <p:nvPr/>
        </p:nvSpPr>
        <p:spPr>
          <a:xfrm>
            <a:off x="667512" y="2587752"/>
            <a:ext cx="1636776" cy="566928"/>
          </a:xfrm>
          <a:prstGeom prst="rect">
            <a:avLst/>
          </a:prstGeom>
          <a:noFill/>
          <a:ln/>
        </p:spPr>
        <p:txBody>
          <a:bodyPr wrap="square" lIns="0" tIns="0" rIns="0" bIns="0" rtlCol="0" anchor="ctr"/>
          <a:lstStyle/>
          <a:p>
            <a:pPr marL="0" indent="0" algn="ctr">
              <a:buNone/>
            </a:pPr>
            <a:r>
              <a:rPr lang="en-US" sz="1750" b="1" dirty="0">
                <a:solidFill>
                  <a:srgbClr val="172033"/>
                </a:solidFill>
                <a:latin typeface="Noto Sans CJK JP" pitchFamily="34" charset="0"/>
                <a:ea typeface="Noto Sans CJK JP" pitchFamily="34" charset="-122"/>
                <a:cs typeface="Noto Sans CJK JP" pitchFamily="34" charset="-120"/>
              </a:rPr>
              <a:t>① 入力を読み込む</a:t>
            </a:r>
            <a:endParaRPr lang="en-US" sz="1750" dirty="0"/>
          </a:p>
        </p:txBody>
      </p:sp>
      <p:sp>
        <p:nvSpPr>
          <p:cNvPr id="10" name="Text 7"/>
          <p:cNvSpPr/>
          <p:nvPr/>
        </p:nvSpPr>
        <p:spPr>
          <a:xfrm>
            <a:off x="667512" y="3310128"/>
            <a:ext cx="1636776" cy="822960"/>
          </a:xfrm>
          <a:prstGeom prst="rect">
            <a:avLst/>
          </a:prstGeom>
          <a:noFill/>
          <a:ln/>
        </p:spPr>
        <p:txBody>
          <a:bodyPr wrap="square" lIns="0" tIns="0" rIns="0" bIns="0" rtlCol="0" anchor="ctr"/>
          <a:lstStyle/>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時刻表・車両・充電器・</a:t>
            </a:r>
            <a:endParaRPr lang="en-US" sz="1420" dirty="0"/>
          </a:p>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PV・蓄電池</a:t>
            </a:r>
            <a:endParaRPr lang="en-US" sz="1420" dirty="0"/>
          </a:p>
        </p:txBody>
      </p:sp>
      <p:sp>
        <p:nvSpPr>
          <p:cNvPr id="11" name="Shape 8"/>
          <p:cNvSpPr/>
          <p:nvPr/>
        </p:nvSpPr>
        <p:spPr>
          <a:xfrm>
            <a:off x="2478024" y="2852928"/>
            <a:ext cx="320040" cy="347472"/>
          </a:xfrm>
          <a:prstGeom prst="chevron">
            <a:avLst/>
          </a:prstGeom>
          <a:solidFill>
            <a:srgbClr val="A5AFBD"/>
          </a:solidFill>
          <a:ln w="12700">
            <a:solidFill>
              <a:srgbClr val="A5AFBD"/>
            </a:solidFill>
            <a:prstDash val="solid"/>
          </a:ln>
        </p:spPr>
        <p:txBody>
          <a:bodyPr/>
          <a:lstStyle/>
          <a:p>
            <a:endParaRPr lang="ja-JP" altLang="en-US"/>
          </a:p>
        </p:txBody>
      </p:sp>
      <p:sp>
        <p:nvSpPr>
          <p:cNvPr id="12" name="Shape 9"/>
          <p:cNvSpPr/>
          <p:nvPr/>
        </p:nvSpPr>
        <p:spPr>
          <a:xfrm>
            <a:off x="2834640" y="1508760"/>
            <a:ext cx="1965960" cy="3337560"/>
          </a:xfrm>
          <a:prstGeom prst="roundRect">
            <a:avLst>
              <a:gd name="adj" fmla="val 3721"/>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2152" y="1810512"/>
            <a:ext cx="640080" cy="640080"/>
          </a:xfrm>
          <a:prstGeom prst="rect">
            <a:avLst/>
          </a:prstGeom>
        </p:spPr>
      </p:pic>
      <p:sp>
        <p:nvSpPr>
          <p:cNvPr id="14" name="Text 10"/>
          <p:cNvSpPr/>
          <p:nvPr/>
        </p:nvSpPr>
        <p:spPr>
          <a:xfrm>
            <a:off x="2999232" y="2587752"/>
            <a:ext cx="1636776" cy="566928"/>
          </a:xfrm>
          <a:prstGeom prst="rect">
            <a:avLst/>
          </a:prstGeom>
          <a:noFill/>
          <a:ln/>
        </p:spPr>
        <p:txBody>
          <a:bodyPr wrap="square" lIns="0" tIns="0" rIns="0" bIns="0" rtlCol="0" anchor="ctr"/>
          <a:lstStyle/>
          <a:p>
            <a:pPr marL="0" indent="0" algn="ctr">
              <a:buNone/>
            </a:pPr>
            <a:r>
              <a:rPr lang="en-US" sz="1750" b="1" dirty="0">
                <a:solidFill>
                  <a:srgbClr val="172033"/>
                </a:solidFill>
                <a:latin typeface="Noto Sans CJK JP" pitchFamily="34" charset="0"/>
                <a:ea typeface="Noto Sans CJK JP" pitchFamily="34" charset="-122"/>
                <a:cs typeface="Noto Sans CJK JP" pitchFamily="34" charset="-120"/>
              </a:rPr>
              <a:t>② 配車案を作る</a:t>
            </a:r>
            <a:endParaRPr lang="en-US" sz="1750" dirty="0"/>
          </a:p>
        </p:txBody>
      </p:sp>
      <p:sp>
        <p:nvSpPr>
          <p:cNvPr id="15" name="Text 11"/>
          <p:cNvSpPr/>
          <p:nvPr/>
        </p:nvSpPr>
        <p:spPr>
          <a:xfrm>
            <a:off x="2999232" y="3310128"/>
            <a:ext cx="1636776" cy="822960"/>
          </a:xfrm>
          <a:prstGeom prst="rect">
            <a:avLst/>
          </a:prstGeom>
          <a:noFill/>
          <a:ln/>
        </p:spPr>
        <p:txBody>
          <a:bodyPr wrap="square" lIns="0" tIns="0" rIns="0" bIns="0" rtlCol="0" anchor="ctr"/>
          <a:lstStyle/>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BEV／ICEの担当を</a:t>
            </a:r>
            <a:endParaRPr lang="en-US" sz="1420" dirty="0"/>
          </a:p>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複数案つくる</a:t>
            </a:r>
            <a:endParaRPr lang="en-US" sz="1420" dirty="0"/>
          </a:p>
        </p:txBody>
      </p:sp>
      <p:sp>
        <p:nvSpPr>
          <p:cNvPr id="16" name="Shape 12"/>
          <p:cNvSpPr/>
          <p:nvPr/>
        </p:nvSpPr>
        <p:spPr>
          <a:xfrm>
            <a:off x="4809744" y="2852928"/>
            <a:ext cx="320040" cy="347472"/>
          </a:xfrm>
          <a:prstGeom prst="chevron">
            <a:avLst/>
          </a:prstGeom>
          <a:solidFill>
            <a:srgbClr val="A5AFBD"/>
          </a:solidFill>
          <a:ln w="12700">
            <a:solidFill>
              <a:srgbClr val="A5AFBD"/>
            </a:solidFill>
            <a:prstDash val="solid"/>
          </a:ln>
        </p:spPr>
        <p:txBody>
          <a:bodyPr/>
          <a:lstStyle/>
          <a:p>
            <a:endParaRPr lang="ja-JP" altLang="en-US"/>
          </a:p>
        </p:txBody>
      </p:sp>
      <p:sp>
        <p:nvSpPr>
          <p:cNvPr id="17" name="Shape 13"/>
          <p:cNvSpPr/>
          <p:nvPr/>
        </p:nvSpPr>
        <p:spPr>
          <a:xfrm>
            <a:off x="516636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33872" y="1810512"/>
            <a:ext cx="640080" cy="640080"/>
          </a:xfrm>
          <a:prstGeom prst="rect">
            <a:avLst/>
          </a:prstGeom>
        </p:spPr>
      </p:pic>
      <p:sp>
        <p:nvSpPr>
          <p:cNvPr id="19" name="Text 14"/>
          <p:cNvSpPr/>
          <p:nvPr/>
        </p:nvSpPr>
        <p:spPr>
          <a:xfrm>
            <a:off x="5330952" y="2587752"/>
            <a:ext cx="1636776" cy="566928"/>
          </a:xfrm>
          <a:prstGeom prst="rect">
            <a:avLst/>
          </a:prstGeom>
          <a:noFill/>
          <a:ln/>
        </p:spPr>
        <p:txBody>
          <a:bodyPr wrap="square" lIns="0" tIns="0" rIns="0" bIns="0" rtlCol="0" anchor="ctr"/>
          <a:lstStyle/>
          <a:p>
            <a:pPr marL="0" indent="0" algn="ctr">
              <a:buNone/>
            </a:pPr>
            <a:r>
              <a:rPr lang="en-US" sz="1750" b="1" dirty="0">
                <a:solidFill>
                  <a:srgbClr val="172033"/>
                </a:solidFill>
                <a:latin typeface="Noto Sans CJK JP" pitchFamily="34" charset="0"/>
                <a:ea typeface="Noto Sans CJK JP" pitchFamily="34" charset="-122"/>
                <a:cs typeface="Noto Sans CJK JP" pitchFamily="34" charset="-120"/>
              </a:rPr>
              <a:t>③ 電力を調整する</a:t>
            </a:r>
            <a:endParaRPr lang="en-US" sz="1750" dirty="0"/>
          </a:p>
        </p:txBody>
      </p:sp>
      <p:sp>
        <p:nvSpPr>
          <p:cNvPr id="20" name="Text 15"/>
          <p:cNvSpPr/>
          <p:nvPr/>
        </p:nvSpPr>
        <p:spPr>
          <a:xfrm>
            <a:off x="5330952" y="3310128"/>
            <a:ext cx="1636776" cy="822960"/>
          </a:xfrm>
          <a:prstGeom prst="rect">
            <a:avLst/>
          </a:prstGeom>
          <a:noFill/>
          <a:ln/>
        </p:spPr>
        <p:txBody>
          <a:bodyPr wrap="square" lIns="0" tIns="0" rIns="0" bIns="0" rtlCol="0" anchor="ctr"/>
          <a:lstStyle/>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各案について充電・</a:t>
            </a:r>
            <a:endParaRPr lang="en-US" sz="1420" dirty="0"/>
          </a:p>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PV・BESSを調整</a:t>
            </a:r>
            <a:endParaRPr lang="en-US" sz="1420" dirty="0"/>
          </a:p>
        </p:txBody>
      </p:sp>
      <p:sp>
        <p:nvSpPr>
          <p:cNvPr id="21" name="Shape 16"/>
          <p:cNvSpPr/>
          <p:nvPr/>
        </p:nvSpPr>
        <p:spPr>
          <a:xfrm>
            <a:off x="7141464" y="2852928"/>
            <a:ext cx="320040" cy="347472"/>
          </a:xfrm>
          <a:prstGeom prst="chevron">
            <a:avLst/>
          </a:prstGeom>
          <a:solidFill>
            <a:srgbClr val="A5AFBD"/>
          </a:solidFill>
          <a:ln w="12700">
            <a:solidFill>
              <a:srgbClr val="A5AFBD"/>
            </a:solidFill>
            <a:prstDash val="solid"/>
          </a:ln>
        </p:spPr>
        <p:txBody>
          <a:bodyPr/>
          <a:lstStyle/>
          <a:p>
            <a:endParaRPr lang="ja-JP" altLang="en-US"/>
          </a:p>
        </p:txBody>
      </p:sp>
      <p:sp>
        <p:nvSpPr>
          <p:cNvPr id="22" name="Shape 17"/>
          <p:cNvSpPr/>
          <p:nvPr/>
        </p:nvSpPr>
        <p:spPr>
          <a:xfrm>
            <a:off x="7498080" y="1508760"/>
            <a:ext cx="1965960" cy="3337560"/>
          </a:xfrm>
          <a:prstGeom prst="roundRect">
            <a:avLst>
              <a:gd name="adj" fmla="val 3721"/>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65592" y="1810512"/>
            <a:ext cx="640080" cy="640080"/>
          </a:xfrm>
          <a:prstGeom prst="rect">
            <a:avLst/>
          </a:prstGeom>
        </p:spPr>
      </p:pic>
      <p:sp>
        <p:nvSpPr>
          <p:cNvPr id="24" name="Text 18"/>
          <p:cNvSpPr/>
          <p:nvPr/>
        </p:nvSpPr>
        <p:spPr>
          <a:xfrm>
            <a:off x="7662672" y="2587752"/>
            <a:ext cx="1636776" cy="566928"/>
          </a:xfrm>
          <a:prstGeom prst="rect">
            <a:avLst/>
          </a:prstGeom>
          <a:noFill/>
          <a:ln/>
        </p:spPr>
        <p:txBody>
          <a:bodyPr wrap="square" lIns="0" tIns="0" rIns="0" bIns="0" rtlCol="0" anchor="ctr"/>
          <a:lstStyle/>
          <a:p>
            <a:pPr marL="0" indent="0" algn="ctr">
              <a:buNone/>
            </a:pPr>
            <a:r>
              <a:rPr lang="en-US" sz="1750" b="1" dirty="0">
                <a:solidFill>
                  <a:srgbClr val="172033"/>
                </a:solidFill>
                <a:latin typeface="Noto Sans CJK JP" pitchFamily="34" charset="0"/>
                <a:ea typeface="Noto Sans CJK JP" pitchFamily="34" charset="-122"/>
                <a:cs typeface="Noto Sans CJK JP" pitchFamily="34" charset="-120"/>
              </a:rPr>
              <a:t>④ 1時間ごとに見直す</a:t>
            </a:r>
            <a:endParaRPr lang="en-US" sz="1750" dirty="0"/>
          </a:p>
        </p:txBody>
      </p:sp>
      <p:sp>
        <p:nvSpPr>
          <p:cNvPr id="25" name="Text 19"/>
          <p:cNvSpPr/>
          <p:nvPr/>
        </p:nvSpPr>
        <p:spPr>
          <a:xfrm>
            <a:off x="7662672" y="3310128"/>
            <a:ext cx="1636776" cy="822960"/>
          </a:xfrm>
          <a:prstGeom prst="rect">
            <a:avLst/>
          </a:prstGeom>
          <a:noFill/>
          <a:ln/>
        </p:spPr>
        <p:txBody>
          <a:bodyPr wrap="square" lIns="0" tIns="0" rIns="0" bIns="0" rtlCol="0" anchor="ctr"/>
          <a:lstStyle/>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実際に進む時間に合わせて</a:t>
            </a:r>
            <a:endParaRPr lang="en-US" sz="1420" dirty="0"/>
          </a:p>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残りの運用を再計算</a:t>
            </a:r>
            <a:endParaRPr lang="en-US" sz="1420" dirty="0"/>
          </a:p>
        </p:txBody>
      </p:sp>
      <p:sp>
        <p:nvSpPr>
          <p:cNvPr id="26" name="Shape 20"/>
          <p:cNvSpPr/>
          <p:nvPr/>
        </p:nvSpPr>
        <p:spPr>
          <a:xfrm>
            <a:off x="9473184" y="2852928"/>
            <a:ext cx="320040" cy="347472"/>
          </a:xfrm>
          <a:prstGeom prst="chevron">
            <a:avLst/>
          </a:prstGeom>
          <a:solidFill>
            <a:srgbClr val="A5AFBD"/>
          </a:solidFill>
          <a:ln w="12700">
            <a:solidFill>
              <a:srgbClr val="A5AFBD"/>
            </a:solidFill>
            <a:prstDash val="solid"/>
          </a:ln>
        </p:spPr>
        <p:txBody>
          <a:bodyPr/>
          <a:lstStyle/>
          <a:p>
            <a:endParaRPr lang="ja-JP" altLang="en-US"/>
          </a:p>
        </p:txBody>
      </p:sp>
      <p:sp>
        <p:nvSpPr>
          <p:cNvPr id="27" name="Shape 21"/>
          <p:cNvSpPr/>
          <p:nvPr/>
        </p:nvSpPr>
        <p:spPr>
          <a:xfrm>
            <a:off x="982980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2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97312" y="1810512"/>
            <a:ext cx="640080" cy="640080"/>
          </a:xfrm>
          <a:prstGeom prst="rect">
            <a:avLst/>
          </a:prstGeom>
        </p:spPr>
      </p:pic>
      <p:sp>
        <p:nvSpPr>
          <p:cNvPr id="29" name="Text 22"/>
          <p:cNvSpPr/>
          <p:nvPr/>
        </p:nvSpPr>
        <p:spPr>
          <a:xfrm>
            <a:off x="9994392" y="2587752"/>
            <a:ext cx="1636776" cy="566928"/>
          </a:xfrm>
          <a:prstGeom prst="rect">
            <a:avLst/>
          </a:prstGeom>
          <a:noFill/>
          <a:ln/>
        </p:spPr>
        <p:txBody>
          <a:bodyPr wrap="square" lIns="0" tIns="0" rIns="0" bIns="0" rtlCol="0" anchor="ctr"/>
          <a:lstStyle/>
          <a:p>
            <a:pPr marL="0" indent="0" algn="ctr">
              <a:buNone/>
            </a:pPr>
            <a:r>
              <a:rPr lang="en-US" sz="1750" b="1" dirty="0">
                <a:solidFill>
                  <a:srgbClr val="172033"/>
                </a:solidFill>
                <a:latin typeface="Noto Sans CJK JP" pitchFamily="34" charset="0"/>
                <a:ea typeface="Noto Sans CJK JP" pitchFamily="34" charset="-122"/>
                <a:cs typeface="Noto Sans CJK JP" pitchFamily="34" charset="-120"/>
              </a:rPr>
              <a:t>⑤ 結果を検算する</a:t>
            </a:r>
            <a:endParaRPr lang="en-US" sz="1750" dirty="0"/>
          </a:p>
        </p:txBody>
      </p:sp>
      <p:sp>
        <p:nvSpPr>
          <p:cNvPr id="30" name="Text 23"/>
          <p:cNvSpPr/>
          <p:nvPr/>
        </p:nvSpPr>
        <p:spPr>
          <a:xfrm>
            <a:off x="9994392" y="3310128"/>
            <a:ext cx="1636776" cy="822960"/>
          </a:xfrm>
          <a:prstGeom prst="rect">
            <a:avLst/>
          </a:prstGeom>
          <a:noFill/>
          <a:ln/>
        </p:spPr>
        <p:txBody>
          <a:bodyPr wrap="square" lIns="0" tIns="0" rIns="0" bIns="0" rtlCol="0" anchor="ctr"/>
          <a:lstStyle/>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全便・SOC・電力・費用が</a:t>
            </a:r>
            <a:endParaRPr lang="en-US" sz="1420" dirty="0"/>
          </a:p>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矛盾していないか確認</a:t>
            </a:r>
            <a:endParaRPr lang="en-US" sz="1420" dirty="0"/>
          </a:p>
        </p:txBody>
      </p:sp>
      <p:sp>
        <p:nvSpPr>
          <p:cNvPr id="31" name="Shape 24"/>
          <p:cNvSpPr/>
          <p:nvPr/>
        </p:nvSpPr>
        <p:spPr>
          <a:xfrm>
            <a:off x="1143000" y="5257800"/>
            <a:ext cx="9875520" cy="658368"/>
          </a:xfrm>
          <a:prstGeom prst="roundRect">
            <a:avLst/>
          </a:prstGeom>
          <a:solidFill>
            <a:srgbClr val="EAF2FB"/>
          </a:solidFill>
          <a:ln w="12700">
            <a:solidFill>
              <a:srgbClr val="356BB3"/>
            </a:solidFill>
            <a:prstDash val="solid"/>
          </a:ln>
        </p:spPr>
        <p:txBody>
          <a:bodyPr/>
          <a:lstStyle/>
          <a:p>
            <a:endParaRPr lang="ja-JP" altLang="en-US"/>
          </a:p>
        </p:txBody>
      </p:sp>
      <p:sp>
        <p:nvSpPr>
          <p:cNvPr id="32" name="Text 25"/>
          <p:cNvSpPr/>
          <p:nvPr/>
        </p:nvSpPr>
        <p:spPr>
          <a:xfrm>
            <a:off x="1417320" y="5431536"/>
            <a:ext cx="9326880" cy="310896"/>
          </a:xfrm>
          <a:prstGeom prst="rect">
            <a:avLst/>
          </a:prstGeom>
          <a:noFill/>
          <a:ln/>
        </p:spPr>
        <p:txBody>
          <a:bodyPr wrap="square" lIns="0" tIns="0" rIns="0" bIns="0" rtlCol="0" anchor="ctr"/>
          <a:lstStyle/>
          <a:p>
            <a:pPr marL="0" indent="0" algn="ctr">
              <a:buNone/>
            </a:pPr>
            <a:r>
              <a:rPr lang="en-US" sz="1800" b="1" dirty="0">
                <a:solidFill>
                  <a:srgbClr val="1F2A5A"/>
                </a:solidFill>
                <a:latin typeface="Noto Sans CJK JP" pitchFamily="34" charset="0"/>
                <a:ea typeface="Noto Sans CJK JP" pitchFamily="34" charset="-122"/>
                <a:cs typeface="Noto Sans CJK JP" pitchFamily="34" charset="-120"/>
              </a:rPr>
              <a:t>ここでいう「最適化」＝ 条件を守りながら、より良い組合せをコンピュータで探す処理</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設定パラメータ①：運行・車両・営業所設備</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6/18</a:t>
            </a:r>
            <a:endParaRPr lang="en-US" sz="850" dirty="0"/>
          </a:p>
        </p:txBody>
      </p:sp>
      <p:sp>
        <p:nvSpPr>
          <p:cNvPr id="6" name="Text 4"/>
          <p:cNvSpPr/>
          <p:nvPr/>
        </p:nvSpPr>
        <p:spPr>
          <a:xfrm>
            <a:off x="685800" y="841248"/>
            <a:ext cx="10835640" cy="310896"/>
          </a:xfrm>
          <a:prstGeom prst="rect">
            <a:avLst/>
          </a:prstGeom>
          <a:noFill/>
          <a:ln/>
        </p:spPr>
        <p:txBody>
          <a:bodyPr wrap="square" lIns="0" tIns="0" rIns="0" bIns="0" rtlCol="0" anchor="ctr"/>
          <a:lstStyle/>
          <a:p>
            <a:pPr marL="0" indent="0" algn="ctr">
              <a:buNone/>
            </a:pPr>
            <a:r>
              <a:rPr lang="en-US" sz="1700" dirty="0">
                <a:solidFill>
                  <a:srgbClr val="687386"/>
                </a:solidFill>
                <a:latin typeface="Noto Sans CJK JP" pitchFamily="34" charset="0"/>
                <a:ea typeface="Noto Sans CJK JP" pitchFamily="34" charset="-122"/>
                <a:cs typeface="Noto Sans CJK JP" pitchFamily="34" charset="-120"/>
              </a:rPr>
              <a:t>先行研究と同様に、結果へ影響する前提条件を表として明示する。</a:t>
            </a:r>
            <a:endParaRPr lang="en-US" sz="1700" dirty="0"/>
          </a:p>
        </p:txBody>
      </p:sp>
      <p:sp>
        <p:nvSpPr>
          <p:cNvPr id="7" name="Shape 5"/>
          <p:cNvSpPr/>
          <p:nvPr/>
        </p:nvSpPr>
        <p:spPr>
          <a:xfrm>
            <a:off x="621792"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8" name="Shape 6"/>
          <p:cNvSpPr/>
          <p:nvPr/>
        </p:nvSpPr>
        <p:spPr>
          <a:xfrm>
            <a:off x="621792" y="1234440"/>
            <a:ext cx="3611880" cy="438912"/>
          </a:xfrm>
          <a:prstGeom prst="rect">
            <a:avLst/>
          </a:prstGeom>
          <a:solidFill>
            <a:srgbClr val="1F2A5A"/>
          </a:solidFill>
          <a:ln w="12700">
            <a:solidFill>
              <a:srgbClr val="1F2A5A"/>
            </a:solidFill>
            <a:prstDash val="solid"/>
          </a:ln>
        </p:spPr>
        <p:txBody>
          <a:bodyPr/>
          <a:lstStyle/>
          <a:p>
            <a:endParaRPr lang="ja-JP" altLang="en-US"/>
          </a:p>
        </p:txBody>
      </p:sp>
      <p:sp>
        <p:nvSpPr>
          <p:cNvPr id="9" name="Text 7"/>
          <p:cNvSpPr/>
          <p:nvPr/>
        </p:nvSpPr>
        <p:spPr>
          <a:xfrm>
            <a:off x="731520" y="1298448"/>
            <a:ext cx="3392424" cy="292608"/>
          </a:xfrm>
          <a:prstGeom prst="rect">
            <a:avLst/>
          </a:prstGeom>
          <a:noFill/>
          <a:ln/>
        </p:spPr>
        <p:txBody>
          <a:bodyPr wrap="square" lIns="0" tIns="0" rIns="0" bIns="0" rtlCol="0" anchor="ctr"/>
          <a:lstStyle/>
          <a:p>
            <a:pPr marL="0" indent="0" algn="ctr">
              <a:buNone/>
            </a:pPr>
            <a:r>
              <a:rPr lang="en-US" sz="1650" b="1" dirty="0">
                <a:solidFill>
                  <a:srgbClr val="FFFFFF"/>
                </a:solidFill>
                <a:latin typeface="Noto Sans CJK JP" pitchFamily="34" charset="0"/>
                <a:ea typeface="Noto Sans CJK JP" pitchFamily="34" charset="-122"/>
                <a:cs typeface="Noto Sans CJK JP" pitchFamily="34" charset="-120"/>
              </a:rPr>
              <a:t>運行条件</a:t>
            </a:r>
            <a:endParaRPr lang="en-US" sz="1650" dirty="0"/>
          </a:p>
        </p:txBody>
      </p:sp>
      <p:sp>
        <p:nvSpPr>
          <p:cNvPr id="10" name="Shape 8"/>
          <p:cNvSpPr/>
          <p:nvPr/>
        </p:nvSpPr>
        <p:spPr>
          <a:xfrm>
            <a:off x="694944" y="1764792"/>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11" name="Text 9"/>
          <p:cNvSpPr/>
          <p:nvPr/>
        </p:nvSpPr>
        <p:spPr>
          <a:xfrm>
            <a:off x="777240" y="1801368"/>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対象営業所</a:t>
            </a:r>
            <a:endParaRPr lang="en-US" sz="1230" dirty="0"/>
          </a:p>
        </p:txBody>
      </p:sp>
      <p:sp>
        <p:nvSpPr>
          <p:cNvPr id="12" name="Text 10"/>
          <p:cNvSpPr/>
          <p:nvPr/>
        </p:nvSpPr>
        <p:spPr>
          <a:xfrm>
            <a:off x="2138782" y="1801368"/>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弦巻営業所</a:t>
            </a:r>
            <a:endParaRPr lang="en-US" sz="1230" dirty="0"/>
          </a:p>
        </p:txBody>
      </p:sp>
      <p:sp>
        <p:nvSpPr>
          <p:cNvPr id="13" name="Text 11"/>
          <p:cNvSpPr/>
          <p:nvPr/>
        </p:nvSpPr>
        <p:spPr>
          <a:xfrm>
            <a:off x="777240" y="2368296"/>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時刻表</a:t>
            </a:r>
            <a:endParaRPr lang="en-US" sz="1230" dirty="0"/>
          </a:p>
        </p:txBody>
      </p:sp>
      <p:sp>
        <p:nvSpPr>
          <p:cNvPr id="14" name="Text 12"/>
          <p:cNvSpPr/>
          <p:nvPr/>
        </p:nvSpPr>
        <p:spPr>
          <a:xfrm>
            <a:off x="2138782" y="2368296"/>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平日 264便／16路線</a:t>
            </a:r>
            <a:endParaRPr lang="en-US" sz="1230" dirty="0"/>
          </a:p>
        </p:txBody>
      </p:sp>
      <p:sp>
        <p:nvSpPr>
          <p:cNvPr id="15" name="Shape 13"/>
          <p:cNvSpPr/>
          <p:nvPr/>
        </p:nvSpPr>
        <p:spPr>
          <a:xfrm>
            <a:off x="694944" y="2898648"/>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16" name="Text 14"/>
          <p:cNvSpPr/>
          <p:nvPr/>
        </p:nvSpPr>
        <p:spPr>
          <a:xfrm>
            <a:off x="777240" y="2935224"/>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内部時間刻み</a:t>
            </a:r>
            <a:endParaRPr lang="en-US" sz="1230" dirty="0"/>
          </a:p>
        </p:txBody>
      </p:sp>
      <p:sp>
        <p:nvSpPr>
          <p:cNvPr id="17" name="Text 15"/>
          <p:cNvSpPr/>
          <p:nvPr/>
        </p:nvSpPr>
        <p:spPr>
          <a:xfrm>
            <a:off x="2138782" y="2935224"/>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15分（1日96区間）</a:t>
            </a:r>
            <a:endParaRPr lang="en-US" sz="1230" dirty="0"/>
          </a:p>
        </p:txBody>
      </p:sp>
      <p:sp>
        <p:nvSpPr>
          <p:cNvPr id="18" name="Text 16"/>
          <p:cNvSpPr/>
          <p:nvPr/>
        </p:nvSpPr>
        <p:spPr>
          <a:xfrm>
            <a:off x="777240" y="3502152"/>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運用見直し</a:t>
            </a:r>
            <a:endParaRPr lang="en-US" sz="1230" dirty="0"/>
          </a:p>
        </p:txBody>
      </p:sp>
      <p:sp>
        <p:nvSpPr>
          <p:cNvPr id="19" name="Text 17"/>
          <p:cNvSpPr/>
          <p:nvPr/>
        </p:nvSpPr>
        <p:spPr>
          <a:xfrm>
            <a:off x="2138782" y="3502152"/>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60分ごと・24回</a:t>
            </a:r>
            <a:endParaRPr lang="en-US" sz="1230" dirty="0"/>
          </a:p>
        </p:txBody>
      </p:sp>
      <p:sp>
        <p:nvSpPr>
          <p:cNvPr id="20" name="Shape 18"/>
          <p:cNvSpPr/>
          <p:nvPr/>
        </p:nvSpPr>
        <p:spPr>
          <a:xfrm>
            <a:off x="694944" y="4032504"/>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21" name="Text 19"/>
          <p:cNvSpPr/>
          <p:nvPr/>
        </p:nvSpPr>
        <p:spPr>
          <a:xfrm>
            <a:off x="777240" y="4069080"/>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比較日</a:t>
            </a:r>
            <a:endParaRPr lang="en-US" sz="1230" dirty="0"/>
          </a:p>
        </p:txBody>
      </p:sp>
      <p:sp>
        <p:nvSpPr>
          <p:cNvPr id="22" name="Text 20"/>
          <p:cNvSpPr/>
          <p:nvPr/>
        </p:nvSpPr>
        <p:spPr>
          <a:xfrm>
            <a:off x="2138782" y="4069080"/>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運行日は2025/08/05で固定</a:t>
            </a:r>
            <a:endParaRPr lang="en-US" sz="1230" dirty="0"/>
          </a:p>
        </p:txBody>
      </p:sp>
      <p:sp>
        <p:nvSpPr>
          <p:cNvPr id="23" name="Text 21"/>
          <p:cNvSpPr/>
          <p:nvPr/>
        </p:nvSpPr>
        <p:spPr>
          <a:xfrm>
            <a:off x="777240" y="4636008"/>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高PV入力</a:t>
            </a:r>
            <a:endParaRPr lang="en-US" sz="1230" dirty="0"/>
          </a:p>
        </p:txBody>
      </p:sp>
      <p:sp>
        <p:nvSpPr>
          <p:cNvPr id="24" name="Text 22"/>
          <p:cNvSpPr/>
          <p:nvPr/>
        </p:nvSpPr>
        <p:spPr>
          <a:xfrm>
            <a:off x="2138782" y="4636008"/>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2025/08/05由来</a:t>
            </a:r>
            <a:endParaRPr lang="en-US" sz="1230" dirty="0"/>
          </a:p>
        </p:txBody>
      </p:sp>
      <p:sp>
        <p:nvSpPr>
          <p:cNvPr id="25" name="Shape 23"/>
          <p:cNvSpPr/>
          <p:nvPr/>
        </p:nvSpPr>
        <p:spPr>
          <a:xfrm>
            <a:off x="694944" y="5166360"/>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26" name="Text 24"/>
          <p:cNvSpPr/>
          <p:nvPr/>
        </p:nvSpPr>
        <p:spPr>
          <a:xfrm>
            <a:off x="777240" y="5202936"/>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低PV入力</a:t>
            </a:r>
            <a:endParaRPr lang="en-US" sz="1230" dirty="0"/>
          </a:p>
        </p:txBody>
      </p:sp>
      <p:sp>
        <p:nvSpPr>
          <p:cNvPr id="27" name="Text 25"/>
          <p:cNvSpPr/>
          <p:nvPr/>
        </p:nvSpPr>
        <p:spPr>
          <a:xfrm>
            <a:off x="2138782" y="5202936"/>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2025/08/10由来</a:t>
            </a:r>
            <a:endParaRPr lang="en-US" sz="1230" dirty="0"/>
          </a:p>
        </p:txBody>
      </p:sp>
      <p:sp>
        <p:nvSpPr>
          <p:cNvPr id="28" name="Shape 26"/>
          <p:cNvSpPr/>
          <p:nvPr/>
        </p:nvSpPr>
        <p:spPr>
          <a:xfrm>
            <a:off x="4297680"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29" name="Shape 27"/>
          <p:cNvSpPr/>
          <p:nvPr/>
        </p:nvSpPr>
        <p:spPr>
          <a:xfrm>
            <a:off x="4297680" y="1234440"/>
            <a:ext cx="3611880" cy="438912"/>
          </a:xfrm>
          <a:prstGeom prst="rect">
            <a:avLst/>
          </a:prstGeom>
          <a:solidFill>
            <a:srgbClr val="1F9D8A"/>
          </a:solidFill>
          <a:ln w="12700">
            <a:solidFill>
              <a:srgbClr val="1F9D8A"/>
            </a:solidFill>
            <a:prstDash val="solid"/>
          </a:ln>
        </p:spPr>
        <p:txBody>
          <a:bodyPr/>
          <a:lstStyle/>
          <a:p>
            <a:endParaRPr lang="ja-JP" altLang="en-US"/>
          </a:p>
        </p:txBody>
      </p:sp>
      <p:sp>
        <p:nvSpPr>
          <p:cNvPr id="30" name="Text 28"/>
          <p:cNvSpPr/>
          <p:nvPr/>
        </p:nvSpPr>
        <p:spPr>
          <a:xfrm>
            <a:off x="4407408" y="1298448"/>
            <a:ext cx="3392424" cy="292608"/>
          </a:xfrm>
          <a:prstGeom prst="rect">
            <a:avLst/>
          </a:prstGeom>
          <a:noFill/>
          <a:ln/>
        </p:spPr>
        <p:txBody>
          <a:bodyPr wrap="square" lIns="0" tIns="0" rIns="0" bIns="0" rtlCol="0" anchor="ctr"/>
          <a:lstStyle/>
          <a:p>
            <a:pPr marL="0" indent="0" algn="ctr">
              <a:buNone/>
            </a:pPr>
            <a:r>
              <a:rPr lang="en-US" sz="1650" b="1" dirty="0">
                <a:solidFill>
                  <a:srgbClr val="FFFFFF"/>
                </a:solidFill>
                <a:latin typeface="Noto Sans CJK JP" pitchFamily="34" charset="0"/>
                <a:ea typeface="Noto Sans CJK JP" pitchFamily="34" charset="-122"/>
                <a:cs typeface="Noto Sans CJK JP" pitchFamily="34" charset="-120"/>
              </a:rPr>
              <a:t>車両条件</a:t>
            </a:r>
            <a:endParaRPr lang="en-US" sz="1650" dirty="0"/>
          </a:p>
        </p:txBody>
      </p:sp>
      <p:sp>
        <p:nvSpPr>
          <p:cNvPr id="31" name="Shape 29"/>
          <p:cNvSpPr/>
          <p:nvPr/>
        </p:nvSpPr>
        <p:spPr>
          <a:xfrm>
            <a:off x="4370832" y="1764792"/>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32" name="Text 30"/>
          <p:cNvSpPr/>
          <p:nvPr/>
        </p:nvSpPr>
        <p:spPr>
          <a:xfrm>
            <a:off x="4453128" y="1801368"/>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有効車両</a:t>
            </a:r>
            <a:endParaRPr lang="en-US" sz="1230" dirty="0"/>
          </a:p>
        </p:txBody>
      </p:sp>
      <p:sp>
        <p:nvSpPr>
          <p:cNvPr id="33" name="Text 31"/>
          <p:cNvSpPr/>
          <p:nvPr/>
        </p:nvSpPr>
        <p:spPr>
          <a:xfrm>
            <a:off x="5814670" y="1801368"/>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BEV 35台／ICE 25台</a:t>
            </a:r>
            <a:endParaRPr lang="en-US" sz="1230" dirty="0"/>
          </a:p>
        </p:txBody>
      </p:sp>
      <p:sp>
        <p:nvSpPr>
          <p:cNvPr id="34" name="Text 32"/>
          <p:cNvSpPr/>
          <p:nvPr/>
        </p:nvSpPr>
        <p:spPr>
          <a:xfrm>
            <a:off x="4453128" y="2368296"/>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BEV電池容量</a:t>
            </a:r>
            <a:endParaRPr lang="en-US" sz="1230" dirty="0"/>
          </a:p>
        </p:txBody>
      </p:sp>
      <p:sp>
        <p:nvSpPr>
          <p:cNvPr id="35" name="Text 33"/>
          <p:cNvSpPr/>
          <p:nvPr/>
        </p:nvSpPr>
        <p:spPr>
          <a:xfrm>
            <a:off x="5814670" y="2368296"/>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314 kWh／台</a:t>
            </a:r>
            <a:endParaRPr lang="en-US" sz="1230" dirty="0"/>
          </a:p>
        </p:txBody>
      </p:sp>
      <p:sp>
        <p:nvSpPr>
          <p:cNvPr id="36" name="Shape 34"/>
          <p:cNvSpPr/>
          <p:nvPr/>
        </p:nvSpPr>
        <p:spPr>
          <a:xfrm>
            <a:off x="4370832" y="2898648"/>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37" name="Text 35"/>
          <p:cNvSpPr/>
          <p:nvPr/>
        </p:nvSpPr>
        <p:spPr>
          <a:xfrm>
            <a:off x="4453128" y="2935224"/>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BEV電費</a:t>
            </a:r>
            <a:endParaRPr lang="en-US" sz="1230" dirty="0"/>
          </a:p>
        </p:txBody>
      </p:sp>
      <p:sp>
        <p:nvSpPr>
          <p:cNvPr id="38" name="Text 36"/>
          <p:cNvSpPr/>
          <p:nvPr/>
        </p:nvSpPr>
        <p:spPr>
          <a:xfrm>
            <a:off x="5814670" y="2935224"/>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1.316 kWh/km</a:t>
            </a:r>
            <a:endParaRPr lang="en-US" sz="1230" dirty="0"/>
          </a:p>
        </p:txBody>
      </p:sp>
      <p:sp>
        <p:nvSpPr>
          <p:cNvPr id="39" name="Text 37"/>
          <p:cNvSpPr/>
          <p:nvPr/>
        </p:nvSpPr>
        <p:spPr>
          <a:xfrm>
            <a:off x="4453128" y="3502152"/>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BEV充電上限</a:t>
            </a:r>
            <a:endParaRPr lang="en-US" sz="1230" dirty="0"/>
          </a:p>
        </p:txBody>
      </p:sp>
      <p:sp>
        <p:nvSpPr>
          <p:cNvPr id="40" name="Text 38"/>
          <p:cNvSpPr/>
          <p:nvPr/>
        </p:nvSpPr>
        <p:spPr>
          <a:xfrm>
            <a:off x="5814670" y="3502152"/>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90 kW／台</a:t>
            </a:r>
            <a:endParaRPr lang="en-US" sz="1230" dirty="0"/>
          </a:p>
        </p:txBody>
      </p:sp>
      <p:sp>
        <p:nvSpPr>
          <p:cNvPr id="41" name="Shape 39"/>
          <p:cNvSpPr/>
          <p:nvPr/>
        </p:nvSpPr>
        <p:spPr>
          <a:xfrm>
            <a:off x="4370832" y="4032504"/>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42" name="Text 40"/>
          <p:cNvSpPr/>
          <p:nvPr/>
        </p:nvSpPr>
        <p:spPr>
          <a:xfrm>
            <a:off x="4453128" y="4069080"/>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BEV SOC範囲</a:t>
            </a:r>
            <a:endParaRPr lang="en-US" sz="1230" dirty="0"/>
          </a:p>
        </p:txBody>
      </p:sp>
      <p:sp>
        <p:nvSpPr>
          <p:cNvPr id="43" name="Text 41"/>
          <p:cNvSpPr/>
          <p:nvPr/>
        </p:nvSpPr>
        <p:spPr>
          <a:xfrm>
            <a:off x="5814670" y="4069080"/>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20～90%</a:t>
            </a:r>
            <a:endParaRPr lang="en-US" sz="1230" dirty="0"/>
          </a:p>
        </p:txBody>
      </p:sp>
      <p:sp>
        <p:nvSpPr>
          <p:cNvPr id="44" name="Text 42"/>
          <p:cNvSpPr/>
          <p:nvPr/>
        </p:nvSpPr>
        <p:spPr>
          <a:xfrm>
            <a:off x="4453128" y="4636008"/>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BEV初期SOC</a:t>
            </a:r>
            <a:endParaRPr lang="en-US" sz="1230" dirty="0"/>
          </a:p>
        </p:txBody>
      </p:sp>
      <p:sp>
        <p:nvSpPr>
          <p:cNvPr id="45" name="Text 43"/>
          <p:cNvSpPr/>
          <p:nvPr/>
        </p:nvSpPr>
        <p:spPr>
          <a:xfrm>
            <a:off x="5814670" y="4636008"/>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車両別 21.95～77.43%</a:t>
            </a:r>
            <a:endParaRPr lang="en-US" sz="1230" dirty="0"/>
          </a:p>
        </p:txBody>
      </p:sp>
      <p:sp>
        <p:nvSpPr>
          <p:cNvPr id="46" name="Shape 44"/>
          <p:cNvSpPr/>
          <p:nvPr/>
        </p:nvSpPr>
        <p:spPr>
          <a:xfrm>
            <a:off x="4370832" y="5166360"/>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47" name="Text 45"/>
          <p:cNvSpPr/>
          <p:nvPr/>
        </p:nvSpPr>
        <p:spPr>
          <a:xfrm>
            <a:off x="4453128" y="5202936"/>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ICE条件</a:t>
            </a:r>
            <a:endParaRPr lang="en-US" sz="1230" dirty="0"/>
          </a:p>
        </p:txBody>
      </p:sp>
      <p:sp>
        <p:nvSpPr>
          <p:cNvPr id="48" name="Text 46"/>
          <p:cNvSpPr/>
          <p:nvPr/>
        </p:nvSpPr>
        <p:spPr>
          <a:xfrm>
            <a:off x="5814670" y="5202936"/>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160 L・4.52 km/L</a:t>
            </a:r>
            <a:endParaRPr lang="en-US" sz="1230" dirty="0"/>
          </a:p>
        </p:txBody>
      </p:sp>
      <p:sp>
        <p:nvSpPr>
          <p:cNvPr id="49" name="Shape 47"/>
          <p:cNvSpPr/>
          <p:nvPr/>
        </p:nvSpPr>
        <p:spPr>
          <a:xfrm>
            <a:off x="7973568"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50" name="Shape 48"/>
          <p:cNvSpPr/>
          <p:nvPr/>
        </p:nvSpPr>
        <p:spPr>
          <a:xfrm>
            <a:off x="7973568" y="1234440"/>
            <a:ext cx="3611880" cy="438912"/>
          </a:xfrm>
          <a:prstGeom prst="rect">
            <a:avLst/>
          </a:prstGeom>
          <a:solidFill>
            <a:srgbClr val="356BB3"/>
          </a:solidFill>
          <a:ln w="12700">
            <a:solidFill>
              <a:srgbClr val="356BB3"/>
            </a:solidFill>
            <a:prstDash val="solid"/>
          </a:ln>
        </p:spPr>
        <p:txBody>
          <a:bodyPr/>
          <a:lstStyle/>
          <a:p>
            <a:endParaRPr lang="ja-JP" altLang="en-US"/>
          </a:p>
        </p:txBody>
      </p:sp>
      <p:sp>
        <p:nvSpPr>
          <p:cNvPr id="51" name="Text 49"/>
          <p:cNvSpPr/>
          <p:nvPr/>
        </p:nvSpPr>
        <p:spPr>
          <a:xfrm>
            <a:off x="8083296" y="1298448"/>
            <a:ext cx="3392424" cy="292608"/>
          </a:xfrm>
          <a:prstGeom prst="rect">
            <a:avLst/>
          </a:prstGeom>
          <a:noFill/>
          <a:ln/>
        </p:spPr>
        <p:txBody>
          <a:bodyPr wrap="square" lIns="0" tIns="0" rIns="0" bIns="0" rtlCol="0" anchor="ctr"/>
          <a:lstStyle/>
          <a:p>
            <a:pPr marL="0" indent="0" algn="ctr">
              <a:buNone/>
            </a:pPr>
            <a:r>
              <a:rPr lang="en-US" sz="1650" b="1" dirty="0">
                <a:solidFill>
                  <a:srgbClr val="FFFFFF"/>
                </a:solidFill>
                <a:latin typeface="Noto Sans CJK JP" pitchFamily="34" charset="0"/>
                <a:ea typeface="Noto Sans CJK JP" pitchFamily="34" charset="-122"/>
                <a:cs typeface="Noto Sans CJK JP" pitchFamily="34" charset="-120"/>
              </a:rPr>
              <a:t>営業所設備</a:t>
            </a:r>
            <a:endParaRPr lang="en-US" sz="1650" dirty="0"/>
          </a:p>
        </p:txBody>
      </p:sp>
      <p:sp>
        <p:nvSpPr>
          <p:cNvPr id="52" name="Shape 50"/>
          <p:cNvSpPr/>
          <p:nvPr/>
        </p:nvSpPr>
        <p:spPr>
          <a:xfrm>
            <a:off x="8046720" y="1764792"/>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53" name="Text 51"/>
          <p:cNvSpPr/>
          <p:nvPr/>
        </p:nvSpPr>
        <p:spPr>
          <a:xfrm>
            <a:off x="8129016" y="1801368"/>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充電器</a:t>
            </a:r>
            <a:endParaRPr lang="en-US" sz="1230" dirty="0"/>
          </a:p>
        </p:txBody>
      </p:sp>
      <p:sp>
        <p:nvSpPr>
          <p:cNvPr id="54" name="Text 52"/>
          <p:cNvSpPr/>
          <p:nvPr/>
        </p:nvSpPr>
        <p:spPr>
          <a:xfrm>
            <a:off x="9490558" y="1801368"/>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90 kW × 10基</a:t>
            </a:r>
            <a:endParaRPr lang="en-US" sz="1230" dirty="0"/>
          </a:p>
        </p:txBody>
      </p:sp>
      <p:sp>
        <p:nvSpPr>
          <p:cNvPr id="55" name="Text 53"/>
          <p:cNvSpPr/>
          <p:nvPr/>
        </p:nvSpPr>
        <p:spPr>
          <a:xfrm>
            <a:off x="8129016" y="2368296"/>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同時接続</a:t>
            </a:r>
            <a:endParaRPr lang="en-US" sz="1230" dirty="0"/>
          </a:p>
        </p:txBody>
      </p:sp>
      <p:sp>
        <p:nvSpPr>
          <p:cNvPr id="56" name="Text 54"/>
          <p:cNvSpPr/>
          <p:nvPr/>
        </p:nvSpPr>
        <p:spPr>
          <a:xfrm>
            <a:off x="9490558" y="2368296"/>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各1ポート</a:t>
            </a:r>
            <a:endParaRPr lang="en-US" sz="1230" dirty="0"/>
          </a:p>
        </p:txBody>
      </p:sp>
      <p:sp>
        <p:nvSpPr>
          <p:cNvPr id="57" name="Shape 55"/>
          <p:cNvSpPr/>
          <p:nvPr/>
        </p:nvSpPr>
        <p:spPr>
          <a:xfrm>
            <a:off x="8046720" y="2898648"/>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58" name="Text 56"/>
          <p:cNvSpPr/>
          <p:nvPr/>
        </p:nvSpPr>
        <p:spPr>
          <a:xfrm>
            <a:off x="8129016" y="2935224"/>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V2G</a:t>
            </a:r>
            <a:endParaRPr lang="en-US" sz="1230" dirty="0"/>
          </a:p>
        </p:txBody>
      </p:sp>
      <p:sp>
        <p:nvSpPr>
          <p:cNvPr id="59" name="Text 57"/>
          <p:cNvSpPr/>
          <p:nvPr/>
        </p:nvSpPr>
        <p:spPr>
          <a:xfrm>
            <a:off x="9490558" y="2935224"/>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使用しない</a:t>
            </a:r>
            <a:endParaRPr lang="en-US" sz="1230" dirty="0"/>
          </a:p>
        </p:txBody>
      </p:sp>
      <p:sp>
        <p:nvSpPr>
          <p:cNvPr id="60" name="Text 58"/>
          <p:cNvSpPr/>
          <p:nvPr/>
        </p:nvSpPr>
        <p:spPr>
          <a:xfrm>
            <a:off x="8129016" y="3502152"/>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受電上限</a:t>
            </a:r>
            <a:endParaRPr lang="en-US" sz="1230" dirty="0"/>
          </a:p>
        </p:txBody>
      </p:sp>
      <p:sp>
        <p:nvSpPr>
          <p:cNvPr id="61" name="Text 59"/>
          <p:cNvSpPr/>
          <p:nvPr/>
        </p:nvSpPr>
        <p:spPr>
          <a:xfrm>
            <a:off x="9490558" y="3502152"/>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200 kW</a:t>
            </a:r>
            <a:endParaRPr lang="en-US" sz="1230" dirty="0"/>
          </a:p>
        </p:txBody>
      </p:sp>
      <p:sp>
        <p:nvSpPr>
          <p:cNvPr id="62" name="Shape 60"/>
          <p:cNvSpPr/>
          <p:nvPr/>
        </p:nvSpPr>
        <p:spPr>
          <a:xfrm>
            <a:off x="8046720" y="4032504"/>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63" name="Text 61"/>
          <p:cNvSpPr/>
          <p:nvPr/>
        </p:nvSpPr>
        <p:spPr>
          <a:xfrm>
            <a:off x="8129016" y="4069080"/>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PV定格</a:t>
            </a:r>
            <a:endParaRPr lang="en-US" sz="1230" dirty="0"/>
          </a:p>
        </p:txBody>
      </p:sp>
      <p:sp>
        <p:nvSpPr>
          <p:cNvPr id="64" name="Text 62"/>
          <p:cNvSpPr/>
          <p:nvPr/>
        </p:nvSpPr>
        <p:spPr>
          <a:xfrm>
            <a:off x="9490558" y="4069080"/>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1,000 kW</a:t>
            </a:r>
            <a:endParaRPr lang="en-US" sz="1230" dirty="0"/>
          </a:p>
        </p:txBody>
      </p:sp>
      <p:sp>
        <p:nvSpPr>
          <p:cNvPr id="65" name="Text 63"/>
          <p:cNvSpPr/>
          <p:nvPr/>
        </p:nvSpPr>
        <p:spPr>
          <a:xfrm>
            <a:off x="8129016" y="4636008"/>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BESS</a:t>
            </a:r>
            <a:endParaRPr lang="en-US" sz="1230" dirty="0"/>
          </a:p>
        </p:txBody>
      </p:sp>
      <p:sp>
        <p:nvSpPr>
          <p:cNvPr id="66" name="Text 64"/>
          <p:cNvSpPr/>
          <p:nvPr/>
        </p:nvSpPr>
        <p:spPr>
          <a:xfrm>
            <a:off x="9490558" y="4636008"/>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6,000 kWh／900 kW</a:t>
            </a:r>
            <a:endParaRPr lang="en-US" sz="1230" dirty="0"/>
          </a:p>
        </p:txBody>
      </p:sp>
      <p:sp>
        <p:nvSpPr>
          <p:cNvPr id="67" name="Shape 65"/>
          <p:cNvSpPr/>
          <p:nvPr/>
        </p:nvSpPr>
        <p:spPr>
          <a:xfrm>
            <a:off x="8046720" y="5166360"/>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68" name="Text 66"/>
          <p:cNvSpPr/>
          <p:nvPr/>
        </p:nvSpPr>
        <p:spPr>
          <a:xfrm>
            <a:off x="8129016" y="5202936"/>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BESS境界</a:t>
            </a:r>
            <a:endParaRPr lang="en-US" sz="1230" dirty="0"/>
          </a:p>
        </p:txBody>
      </p:sp>
      <p:sp>
        <p:nvSpPr>
          <p:cNvPr id="69" name="Text 67"/>
          <p:cNvSpPr/>
          <p:nvPr/>
        </p:nvSpPr>
        <p:spPr>
          <a:xfrm>
            <a:off x="9490558" y="5202936"/>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3,000 → 3,000 kWh</a:t>
            </a:r>
            <a:endParaRPr lang="en-US" sz="1230" dirty="0"/>
          </a:p>
        </p:txBody>
      </p:sp>
      <p:sp>
        <p:nvSpPr>
          <p:cNvPr id="70" name="Text 68"/>
          <p:cNvSpPr/>
          <p:nvPr/>
        </p:nvSpPr>
        <p:spPr>
          <a:xfrm>
            <a:off x="566928" y="6318504"/>
            <a:ext cx="10469880" cy="146304"/>
          </a:xfrm>
          <a:prstGeom prst="rect">
            <a:avLst/>
          </a:prstGeom>
          <a:noFill/>
          <a:ln/>
        </p:spPr>
        <p:txBody>
          <a:bodyPr wrap="square" lIns="0" tIns="0" rIns="0" bIns="0" rtlCol="0" anchor="ctr"/>
          <a:lstStyle/>
          <a:p>
            <a:pPr marL="0" indent="0">
              <a:buNone/>
            </a:pPr>
            <a:r>
              <a:rPr lang="en-US" sz="720" dirty="0">
                <a:solidFill>
                  <a:srgbClr val="7B8494"/>
                </a:solidFill>
                <a:latin typeface="Noto Sans CJK JP" pitchFamily="34" charset="0"/>
                <a:ea typeface="Noto Sans CJK JP" pitchFamily="34" charset="-122"/>
                <a:cs typeface="Noto Sans CJK JP" pitchFamily="34" charset="-120"/>
              </a:rPr>
              <a:t>参考構成：Fei et al. (2023) のケーススタディ入力表、Zhang et al. (2025) の車両・充電器条件表</a:t>
            </a:r>
            <a:endParaRPr lang="en-US" sz="7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設定パラメータ②：費用・計算・配車候補の条件</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7/18</a:t>
            </a:r>
            <a:endParaRPr lang="en-US" sz="850" dirty="0"/>
          </a:p>
        </p:txBody>
      </p:sp>
      <p:sp>
        <p:nvSpPr>
          <p:cNvPr id="6" name="Shape 4"/>
          <p:cNvSpPr/>
          <p:nvPr/>
        </p:nvSpPr>
        <p:spPr>
          <a:xfrm>
            <a:off x="6858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7" name="Shape 5"/>
          <p:cNvSpPr/>
          <p:nvPr/>
        </p:nvSpPr>
        <p:spPr>
          <a:xfrm>
            <a:off x="685800" y="1097280"/>
            <a:ext cx="3520440" cy="438912"/>
          </a:xfrm>
          <a:prstGeom prst="rect">
            <a:avLst/>
          </a:prstGeom>
          <a:solidFill>
            <a:srgbClr val="E98B3A"/>
          </a:solidFill>
          <a:ln w="12700">
            <a:solidFill>
              <a:srgbClr val="E98B3A"/>
            </a:solidFill>
            <a:prstDash val="solid"/>
          </a:ln>
        </p:spPr>
        <p:txBody>
          <a:bodyPr/>
          <a:lstStyle/>
          <a:p>
            <a:endParaRPr lang="ja-JP" altLang="en-US"/>
          </a:p>
        </p:txBody>
      </p:sp>
      <p:sp>
        <p:nvSpPr>
          <p:cNvPr id="8" name="Text 6"/>
          <p:cNvSpPr/>
          <p:nvPr/>
        </p:nvSpPr>
        <p:spPr>
          <a:xfrm>
            <a:off x="795528" y="1161288"/>
            <a:ext cx="3300984" cy="292608"/>
          </a:xfrm>
          <a:prstGeom prst="rect">
            <a:avLst/>
          </a:prstGeom>
          <a:noFill/>
          <a:ln/>
        </p:spPr>
        <p:txBody>
          <a:bodyPr wrap="square" lIns="0" tIns="0" rIns="0" bIns="0" rtlCol="0" anchor="ctr"/>
          <a:lstStyle/>
          <a:p>
            <a:pPr marL="0" indent="0" algn="ctr">
              <a:buNone/>
            </a:pPr>
            <a:r>
              <a:rPr lang="en-US" sz="1650" b="1" dirty="0">
                <a:solidFill>
                  <a:srgbClr val="FFFFFF"/>
                </a:solidFill>
                <a:latin typeface="Noto Sans CJK JP" pitchFamily="34" charset="0"/>
                <a:ea typeface="Noto Sans CJK JP" pitchFamily="34" charset="-122"/>
                <a:cs typeface="Noto Sans CJK JP" pitchFamily="34" charset="-120"/>
              </a:rPr>
              <a:t>費用の設定</a:t>
            </a:r>
            <a:endParaRPr lang="en-US" sz="1650" dirty="0"/>
          </a:p>
        </p:txBody>
      </p:sp>
      <p:sp>
        <p:nvSpPr>
          <p:cNvPr id="9" name="Shape 7"/>
          <p:cNvSpPr/>
          <p:nvPr/>
        </p:nvSpPr>
        <p:spPr>
          <a:xfrm>
            <a:off x="758952" y="1627632"/>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10" name="Text 8"/>
          <p:cNvSpPr/>
          <p:nvPr/>
        </p:nvSpPr>
        <p:spPr>
          <a:xfrm>
            <a:off x="841248" y="1664208"/>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系統電力単価</a:t>
            </a:r>
            <a:endParaRPr lang="en-US" sz="1230" dirty="0"/>
          </a:p>
        </p:txBody>
      </p:sp>
      <p:sp>
        <p:nvSpPr>
          <p:cNvPr id="11" name="Text 9"/>
          <p:cNvSpPr/>
          <p:nvPr/>
        </p:nvSpPr>
        <p:spPr>
          <a:xfrm>
            <a:off x="2164385" y="1664208"/>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30 円/kWh</a:t>
            </a:r>
            <a:endParaRPr lang="en-US" sz="1230" dirty="0"/>
          </a:p>
        </p:txBody>
      </p:sp>
      <p:sp>
        <p:nvSpPr>
          <p:cNvPr id="12" name="Text 10"/>
          <p:cNvSpPr/>
          <p:nvPr/>
        </p:nvSpPr>
        <p:spPr>
          <a:xfrm>
            <a:off x="841248" y="2231136"/>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軽油単価</a:t>
            </a:r>
            <a:endParaRPr lang="en-US" sz="1230" dirty="0"/>
          </a:p>
        </p:txBody>
      </p:sp>
      <p:sp>
        <p:nvSpPr>
          <p:cNvPr id="13" name="Text 11"/>
          <p:cNvSpPr/>
          <p:nvPr/>
        </p:nvSpPr>
        <p:spPr>
          <a:xfrm>
            <a:off x="2164385" y="2231136"/>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150 円/L</a:t>
            </a:r>
            <a:endParaRPr lang="en-US" sz="1230" dirty="0"/>
          </a:p>
        </p:txBody>
      </p:sp>
      <p:sp>
        <p:nvSpPr>
          <p:cNvPr id="14" name="Shape 12"/>
          <p:cNvSpPr/>
          <p:nvPr/>
        </p:nvSpPr>
        <p:spPr>
          <a:xfrm>
            <a:off x="758952" y="2761488"/>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15" name="Text 13"/>
          <p:cNvSpPr/>
          <p:nvPr/>
        </p:nvSpPr>
        <p:spPr>
          <a:xfrm>
            <a:off x="841248" y="2798064"/>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車両使用費</a:t>
            </a:r>
            <a:endParaRPr lang="en-US" sz="1230" dirty="0"/>
          </a:p>
        </p:txBody>
      </p:sp>
      <p:sp>
        <p:nvSpPr>
          <p:cNvPr id="16" name="Text 14"/>
          <p:cNvSpPr/>
          <p:nvPr/>
        </p:nvSpPr>
        <p:spPr>
          <a:xfrm>
            <a:off x="2164385" y="2798064"/>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20,000 円/台日</a:t>
            </a:r>
            <a:endParaRPr lang="en-US" sz="1230" dirty="0"/>
          </a:p>
        </p:txBody>
      </p:sp>
      <p:sp>
        <p:nvSpPr>
          <p:cNvPr id="17" name="Text 15"/>
          <p:cNvSpPr/>
          <p:nvPr/>
        </p:nvSpPr>
        <p:spPr>
          <a:xfrm>
            <a:off x="841248" y="3364992"/>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CO₂価格</a:t>
            </a:r>
            <a:endParaRPr lang="en-US" sz="1230" dirty="0"/>
          </a:p>
        </p:txBody>
      </p:sp>
      <p:sp>
        <p:nvSpPr>
          <p:cNvPr id="18" name="Text 16"/>
          <p:cNvSpPr/>
          <p:nvPr/>
        </p:nvSpPr>
        <p:spPr>
          <a:xfrm>
            <a:off x="2164385" y="3364992"/>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 円/kg</a:t>
            </a:r>
            <a:endParaRPr lang="en-US" sz="1230" dirty="0"/>
          </a:p>
        </p:txBody>
      </p:sp>
      <p:sp>
        <p:nvSpPr>
          <p:cNvPr id="19" name="Shape 17"/>
          <p:cNvSpPr/>
          <p:nvPr/>
        </p:nvSpPr>
        <p:spPr>
          <a:xfrm>
            <a:off x="758952" y="3895344"/>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20" name="Text 18"/>
          <p:cNvSpPr/>
          <p:nvPr/>
        </p:nvSpPr>
        <p:spPr>
          <a:xfrm>
            <a:off x="841248" y="3931920"/>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需要料金</a:t>
            </a:r>
            <a:endParaRPr lang="en-US" sz="1230" dirty="0"/>
          </a:p>
        </p:txBody>
      </p:sp>
      <p:sp>
        <p:nvSpPr>
          <p:cNvPr id="21" name="Text 19"/>
          <p:cNvSpPr/>
          <p:nvPr/>
        </p:nvSpPr>
        <p:spPr>
          <a:xfrm>
            <a:off x="2164385" y="3931920"/>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0 円/kW</a:t>
            </a:r>
            <a:endParaRPr lang="en-US" sz="1230" dirty="0"/>
          </a:p>
        </p:txBody>
      </p:sp>
      <p:sp>
        <p:nvSpPr>
          <p:cNvPr id="22" name="Text 20"/>
          <p:cNvSpPr/>
          <p:nvPr/>
        </p:nvSpPr>
        <p:spPr>
          <a:xfrm>
            <a:off x="841248" y="4498848"/>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売電単価</a:t>
            </a:r>
            <a:endParaRPr lang="en-US" sz="1230" dirty="0"/>
          </a:p>
        </p:txBody>
      </p:sp>
      <p:sp>
        <p:nvSpPr>
          <p:cNvPr id="23" name="Text 21"/>
          <p:cNvSpPr/>
          <p:nvPr/>
        </p:nvSpPr>
        <p:spPr>
          <a:xfrm>
            <a:off x="2164385" y="4498848"/>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0 円/kWh</a:t>
            </a:r>
            <a:endParaRPr lang="en-US" sz="1230" dirty="0"/>
          </a:p>
        </p:txBody>
      </p:sp>
      <p:sp>
        <p:nvSpPr>
          <p:cNvPr id="24" name="Shape 22"/>
          <p:cNvSpPr/>
          <p:nvPr/>
        </p:nvSpPr>
        <p:spPr>
          <a:xfrm>
            <a:off x="758952" y="5029200"/>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25" name="Text 23"/>
          <p:cNvSpPr/>
          <p:nvPr/>
        </p:nvSpPr>
        <p:spPr>
          <a:xfrm>
            <a:off x="841248" y="5065776"/>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含まない費用</a:t>
            </a:r>
            <a:endParaRPr lang="en-US" sz="1230" dirty="0"/>
          </a:p>
        </p:txBody>
      </p:sp>
      <p:sp>
        <p:nvSpPr>
          <p:cNvPr id="26" name="Text 24"/>
          <p:cNvSpPr/>
          <p:nvPr/>
        </p:nvSpPr>
        <p:spPr>
          <a:xfrm>
            <a:off x="2164385" y="5065776"/>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設備費・劣化費・運転士費</a:t>
            </a:r>
            <a:endParaRPr lang="en-US" sz="1230" dirty="0"/>
          </a:p>
        </p:txBody>
      </p:sp>
      <p:sp>
        <p:nvSpPr>
          <p:cNvPr id="27" name="Shape 25"/>
          <p:cNvSpPr/>
          <p:nvPr/>
        </p:nvSpPr>
        <p:spPr>
          <a:xfrm>
            <a:off x="43434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28" name="Shape 26"/>
          <p:cNvSpPr/>
          <p:nvPr/>
        </p:nvSpPr>
        <p:spPr>
          <a:xfrm>
            <a:off x="4343400" y="1097280"/>
            <a:ext cx="3520440" cy="438912"/>
          </a:xfrm>
          <a:prstGeom prst="rect">
            <a:avLst/>
          </a:prstGeom>
          <a:solidFill>
            <a:srgbClr val="356BB3"/>
          </a:solidFill>
          <a:ln w="12700">
            <a:solidFill>
              <a:srgbClr val="356BB3"/>
            </a:solidFill>
            <a:prstDash val="solid"/>
          </a:ln>
        </p:spPr>
        <p:txBody>
          <a:bodyPr/>
          <a:lstStyle/>
          <a:p>
            <a:endParaRPr lang="ja-JP" altLang="en-US"/>
          </a:p>
        </p:txBody>
      </p:sp>
      <p:sp>
        <p:nvSpPr>
          <p:cNvPr id="29" name="Text 27"/>
          <p:cNvSpPr/>
          <p:nvPr/>
        </p:nvSpPr>
        <p:spPr>
          <a:xfrm>
            <a:off x="4453128" y="1161288"/>
            <a:ext cx="3300984" cy="292608"/>
          </a:xfrm>
          <a:prstGeom prst="rect">
            <a:avLst/>
          </a:prstGeom>
          <a:noFill/>
          <a:ln/>
        </p:spPr>
        <p:txBody>
          <a:bodyPr wrap="square" lIns="0" tIns="0" rIns="0" bIns="0" rtlCol="0" anchor="ctr"/>
          <a:lstStyle/>
          <a:p>
            <a:pPr marL="0" indent="0" algn="ctr">
              <a:buNone/>
            </a:pPr>
            <a:r>
              <a:rPr lang="en-US" sz="1650" b="1" dirty="0">
                <a:solidFill>
                  <a:srgbClr val="FFFFFF"/>
                </a:solidFill>
                <a:latin typeface="Noto Sans CJK JP" pitchFamily="34" charset="0"/>
                <a:ea typeface="Noto Sans CJK JP" pitchFamily="34" charset="-122"/>
                <a:cs typeface="Noto Sans CJK JP" pitchFamily="34" charset="-120"/>
              </a:rPr>
              <a:t>計算の設定</a:t>
            </a:r>
            <a:endParaRPr lang="en-US" sz="1650" dirty="0"/>
          </a:p>
        </p:txBody>
      </p:sp>
      <p:sp>
        <p:nvSpPr>
          <p:cNvPr id="30" name="Shape 28"/>
          <p:cNvSpPr/>
          <p:nvPr/>
        </p:nvSpPr>
        <p:spPr>
          <a:xfrm>
            <a:off x="4416552" y="1627632"/>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31" name="Text 29"/>
          <p:cNvSpPr/>
          <p:nvPr/>
        </p:nvSpPr>
        <p:spPr>
          <a:xfrm>
            <a:off x="4498848" y="1664208"/>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計算方式</a:t>
            </a:r>
            <a:endParaRPr lang="en-US" sz="1230" dirty="0"/>
          </a:p>
        </p:txBody>
      </p:sp>
      <p:sp>
        <p:nvSpPr>
          <p:cNvPr id="32" name="Text 30"/>
          <p:cNvSpPr/>
          <p:nvPr/>
        </p:nvSpPr>
        <p:spPr>
          <a:xfrm>
            <a:off x="5821985" y="1664208"/>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二段階方式</a:t>
            </a:r>
            <a:endParaRPr lang="en-US" sz="1230" dirty="0"/>
          </a:p>
        </p:txBody>
      </p:sp>
      <p:sp>
        <p:nvSpPr>
          <p:cNvPr id="33" name="Text 31"/>
          <p:cNvSpPr/>
          <p:nvPr/>
        </p:nvSpPr>
        <p:spPr>
          <a:xfrm>
            <a:off x="4498848" y="2231136"/>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要求上限</a:t>
            </a:r>
            <a:endParaRPr lang="en-US" sz="1230" dirty="0"/>
          </a:p>
        </p:txBody>
      </p:sp>
      <p:sp>
        <p:nvSpPr>
          <p:cNvPr id="34" name="Text 32"/>
          <p:cNvSpPr/>
          <p:nvPr/>
        </p:nvSpPr>
        <p:spPr>
          <a:xfrm>
            <a:off x="5821985" y="2231136"/>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585秒</a:t>
            </a:r>
            <a:endParaRPr lang="en-US" sz="1230" dirty="0"/>
          </a:p>
        </p:txBody>
      </p:sp>
      <p:sp>
        <p:nvSpPr>
          <p:cNvPr id="35" name="Shape 33"/>
          <p:cNvSpPr/>
          <p:nvPr/>
        </p:nvSpPr>
        <p:spPr>
          <a:xfrm>
            <a:off x="4416552" y="2761488"/>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36" name="Text 34"/>
          <p:cNvSpPr/>
          <p:nvPr/>
        </p:nvSpPr>
        <p:spPr>
          <a:xfrm>
            <a:off x="4498848" y="2798064"/>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配車側上限</a:t>
            </a:r>
            <a:endParaRPr lang="en-US" sz="1230" dirty="0"/>
          </a:p>
        </p:txBody>
      </p:sp>
      <p:sp>
        <p:nvSpPr>
          <p:cNvPr id="37" name="Text 35"/>
          <p:cNvSpPr/>
          <p:nvPr/>
        </p:nvSpPr>
        <p:spPr>
          <a:xfrm>
            <a:off x="5821985" y="2798064"/>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435秒</a:t>
            </a:r>
            <a:endParaRPr lang="en-US" sz="1230" dirty="0"/>
          </a:p>
        </p:txBody>
      </p:sp>
      <p:sp>
        <p:nvSpPr>
          <p:cNvPr id="38" name="Text 36"/>
          <p:cNvSpPr/>
          <p:nvPr/>
        </p:nvSpPr>
        <p:spPr>
          <a:xfrm>
            <a:off x="4498848" y="3364992"/>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充電側上限</a:t>
            </a:r>
            <a:endParaRPr lang="en-US" sz="1230" dirty="0"/>
          </a:p>
        </p:txBody>
      </p:sp>
      <p:sp>
        <p:nvSpPr>
          <p:cNvPr id="39" name="Text 37"/>
          <p:cNvSpPr/>
          <p:nvPr/>
        </p:nvSpPr>
        <p:spPr>
          <a:xfrm>
            <a:off x="5821985" y="3364992"/>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30秒／候補</a:t>
            </a:r>
            <a:endParaRPr lang="en-US" sz="1230" dirty="0"/>
          </a:p>
        </p:txBody>
      </p:sp>
      <p:sp>
        <p:nvSpPr>
          <p:cNvPr id="40" name="Shape 38"/>
          <p:cNvSpPr/>
          <p:nvPr/>
        </p:nvSpPr>
        <p:spPr>
          <a:xfrm>
            <a:off x="4416552" y="3895344"/>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41" name="Text 39"/>
          <p:cNvSpPr/>
          <p:nvPr/>
        </p:nvSpPr>
        <p:spPr>
          <a:xfrm>
            <a:off x="4498848" y="3931920"/>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乱数seed</a:t>
            </a:r>
            <a:endParaRPr lang="en-US" sz="1230" dirty="0"/>
          </a:p>
        </p:txBody>
      </p:sp>
      <p:sp>
        <p:nvSpPr>
          <p:cNvPr id="42" name="Text 40"/>
          <p:cNvSpPr/>
          <p:nvPr/>
        </p:nvSpPr>
        <p:spPr>
          <a:xfrm>
            <a:off x="5821985" y="3931920"/>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42</a:t>
            </a:r>
            <a:endParaRPr lang="en-US" sz="1230" dirty="0"/>
          </a:p>
        </p:txBody>
      </p:sp>
      <p:sp>
        <p:nvSpPr>
          <p:cNvPr id="43" name="Text 41"/>
          <p:cNvSpPr/>
          <p:nvPr/>
        </p:nvSpPr>
        <p:spPr>
          <a:xfrm>
            <a:off x="4498848" y="4498848"/>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CPU thread</a:t>
            </a:r>
            <a:endParaRPr lang="en-US" sz="1230" dirty="0"/>
          </a:p>
        </p:txBody>
      </p:sp>
      <p:sp>
        <p:nvSpPr>
          <p:cNvPr id="44" name="Text 42"/>
          <p:cNvSpPr/>
          <p:nvPr/>
        </p:nvSpPr>
        <p:spPr>
          <a:xfrm>
            <a:off x="5821985" y="4498848"/>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a:t>
            </a:r>
            <a:endParaRPr lang="en-US" sz="1230" dirty="0"/>
          </a:p>
        </p:txBody>
      </p:sp>
      <p:sp>
        <p:nvSpPr>
          <p:cNvPr id="45" name="Shape 43"/>
          <p:cNvSpPr/>
          <p:nvPr/>
        </p:nvSpPr>
        <p:spPr>
          <a:xfrm>
            <a:off x="4416552" y="5029200"/>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46" name="Text 44"/>
          <p:cNvSpPr/>
          <p:nvPr/>
        </p:nvSpPr>
        <p:spPr>
          <a:xfrm>
            <a:off x="4498848" y="5065776"/>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目標gap</a:t>
            </a:r>
            <a:endParaRPr lang="en-US" sz="1230" dirty="0"/>
          </a:p>
        </p:txBody>
      </p:sp>
      <p:sp>
        <p:nvSpPr>
          <p:cNvPr id="47" name="Text 45"/>
          <p:cNvSpPr/>
          <p:nvPr/>
        </p:nvSpPr>
        <p:spPr>
          <a:xfrm>
            <a:off x="5821985" y="5065776"/>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10%</a:t>
            </a:r>
            <a:endParaRPr lang="en-US" sz="1230" dirty="0"/>
          </a:p>
        </p:txBody>
      </p:sp>
      <p:sp>
        <p:nvSpPr>
          <p:cNvPr id="48" name="Shape 46"/>
          <p:cNvSpPr/>
          <p:nvPr/>
        </p:nvSpPr>
        <p:spPr>
          <a:xfrm>
            <a:off x="80010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49" name="Shape 47"/>
          <p:cNvSpPr/>
          <p:nvPr/>
        </p:nvSpPr>
        <p:spPr>
          <a:xfrm>
            <a:off x="8001000" y="1097280"/>
            <a:ext cx="3520440" cy="438912"/>
          </a:xfrm>
          <a:prstGeom prst="rect">
            <a:avLst/>
          </a:prstGeom>
          <a:solidFill>
            <a:srgbClr val="1F9D8A"/>
          </a:solidFill>
          <a:ln w="12700">
            <a:solidFill>
              <a:srgbClr val="1F9D8A"/>
            </a:solidFill>
            <a:prstDash val="solid"/>
          </a:ln>
        </p:spPr>
        <p:txBody>
          <a:bodyPr/>
          <a:lstStyle/>
          <a:p>
            <a:endParaRPr lang="ja-JP" altLang="en-US"/>
          </a:p>
        </p:txBody>
      </p:sp>
      <p:sp>
        <p:nvSpPr>
          <p:cNvPr id="50" name="Text 48"/>
          <p:cNvSpPr/>
          <p:nvPr/>
        </p:nvSpPr>
        <p:spPr>
          <a:xfrm>
            <a:off x="8110728" y="1161288"/>
            <a:ext cx="3300984" cy="292608"/>
          </a:xfrm>
          <a:prstGeom prst="rect">
            <a:avLst/>
          </a:prstGeom>
          <a:noFill/>
          <a:ln/>
        </p:spPr>
        <p:txBody>
          <a:bodyPr wrap="square" lIns="0" tIns="0" rIns="0" bIns="0" rtlCol="0" anchor="ctr"/>
          <a:lstStyle/>
          <a:p>
            <a:pPr marL="0" indent="0" algn="ctr">
              <a:buNone/>
            </a:pPr>
            <a:r>
              <a:rPr lang="en-US" sz="1650" b="1" dirty="0">
                <a:solidFill>
                  <a:srgbClr val="FFFFFF"/>
                </a:solidFill>
                <a:latin typeface="Noto Sans CJK JP" pitchFamily="34" charset="0"/>
                <a:ea typeface="Noto Sans CJK JP" pitchFamily="34" charset="-122"/>
                <a:cs typeface="Noto Sans CJK JP" pitchFamily="34" charset="-120"/>
              </a:rPr>
              <a:t>候補比較の設定</a:t>
            </a:r>
            <a:endParaRPr lang="en-US" sz="1650" dirty="0"/>
          </a:p>
        </p:txBody>
      </p:sp>
      <p:sp>
        <p:nvSpPr>
          <p:cNvPr id="51" name="Shape 49"/>
          <p:cNvSpPr/>
          <p:nvPr/>
        </p:nvSpPr>
        <p:spPr>
          <a:xfrm>
            <a:off x="8074152" y="1627632"/>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52" name="Text 50"/>
          <p:cNvSpPr/>
          <p:nvPr/>
        </p:nvSpPr>
        <p:spPr>
          <a:xfrm>
            <a:off x="8156448" y="1664208"/>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評価候補数</a:t>
            </a:r>
            <a:endParaRPr lang="en-US" sz="1230" dirty="0"/>
          </a:p>
        </p:txBody>
      </p:sp>
      <p:sp>
        <p:nvSpPr>
          <p:cNvPr id="53" name="Text 51"/>
          <p:cNvSpPr/>
          <p:nvPr/>
        </p:nvSpPr>
        <p:spPr>
          <a:xfrm>
            <a:off x="9479585" y="1664208"/>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22案</a:t>
            </a:r>
            <a:endParaRPr lang="en-US" sz="1230" dirty="0"/>
          </a:p>
        </p:txBody>
      </p:sp>
      <p:sp>
        <p:nvSpPr>
          <p:cNvPr id="54" name="Text 52"/>
          <p:cNvSpPr/>
          <p:nvPr/>
        </p:nvSpPr>
        <p:spPr>
          <a:xfrm>
            <a:off x="8156448" y="2231136"/>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構成探索幅</a:t>
            </a:r>
            <a:endParaRPr lang="en-US" sz="1230" dirty="0"/>
          </a:p>
        </p:txBody>
      </p:sp>
      <p:sp>
        <p:nvSpPr>
          <p:cNvPr id="55" name="Text 53"/>
          <p:cNvSpPr/>
          <p:nvPr/>
        </p:nvSpPr>
        <p:spPr>
          <a:xfrm>
            <a:off x="9479585" y="2231136"/>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±4台相当</a:t>
            </a:r>
            <a:endParaRPr lang="en-US" sz="1230" dirty="0"/>
          </a:p>
        </p:txBody>
      </p:sp>
      <p:sp>
        <p:nvSpPr>
          <p:cNvPr id="56" name="Shape 54"/>
          <p:cNvSpPr/>
          <p:nvPr/>
        </p:nvSpPr>
        <p:spPr>
          <a:xfrm>
            <a:off x="8074152" y="2761488"/>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57" name="Text 55"/>
          <p:cNvSpPr/>
          <p:nvPr/>
        </p:nvSpPr>
        <p:spPr>
          <a:xfrm>
            <a:off x="8156448" y="2798064"/>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構成探索範囲</a:t>
            </a:r>
            <a:endParaRPr lang="en-US" sz="1230" dirty="0"/>
          </a:p>
        </p:txBody>
      </p:sp>
      <p:sp>
        <p:nvSpPr>
          <p:cNvPr id="58" name="Text 56"/>
          <p:cNvSpPr/>
          <p:nvPr/>
        </p:nvSpPr>
        <p:spPr>
          <a:xfrm>
            <a:off x="9479585" y="2798064"/>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15～35台</a:t>
            </a:r>
            <a:endParaRPr lang="en-US" sz="1230" dirty="0"/>
          </a:p>
        </p:txBody>
      </p:sp>
      <p:sp>
        <p:nvSpPr>
          <p:cNvPr id="59" name="Text 57"/>
          <p:cNvSpPr/>
          <p:nvPr/>
        </p:nvSpPr>
        <p:spPr>
          <a:xfrm>
            <a:off x="8156448" y="3364992"/>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候補探索時間</a:t>
            </a:r>
            <a:endParaRPr lang="en-US" sz="1230" dirty="0"/>
          </a:p>
        </p:txBody>
      </p:sp>
      <p:sp>
        <p:nvSpPr>
          <p:cNvPr id="60" name="Text 58"/>
          <p:cNvSpPr/>
          <p:nvPr/>
        </p:nvSpPr>
        <p:spPr>
          <a:xfrm>
            <a:off x="9479585" y="3364992"/>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120秒</a:t>
            </a:r>
            <a:endParaRPr lang="en-US" sz="1230" dirty="0"/>
          </a:p>
        </p:txBody>
      </p:sp>
      <p:sp>
        <p:nvSpPr>
          <p:cNvPr id="61" name="Shape 59"/>
          <p:cNvSpPr/>
          <p:nvPr/>
        </p:nvSpPr>
        <p:spPr>
          <a:xfrm>
            <a:off x="8074152" y="3895344"/>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62" name="Text 60"/>
          <p:cNvSpPr/>
          <p:nvPr/>
        </p:nvSpPr>
        <p:spPr>
          <a:xfrm>
            <a:off x="8156448" y="3931920"/>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最終選択</a:t>
            </a:r>
            <a:endParaRPr lang="en-US" sz="1230" dirty="0"/>
          </a:p>
        </p:txBody>
      </p:sp>
      <p:sp>
        <p:nvSpPr>
          <p:cNvPr id="63" name="Text 61"/>
          <p:cNvSpPr/>
          <p:nvPr/>
        </p:nvSpPr>
        <p:spPr>
          <a:xfrm>
            <a:off x="9479585" y="3931920"/>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費用→使用台数→配車ID</a:t>
            </a:r>
            <a:endParaRPr lang="en-US" sz="1230" dirty="0"/>
          </a:p>
        </p:txBody>
      </p:sp>
      <p:sp>
        <p:nvSpPr>
          <p:cNvPr id="64" name="Text 62"/>
          <p:cNvSpPr/>
          <p:nvPr/>
        </p:nvSpPr>
        <p:spPr>
          <a:xfrm>
            <a:off x="8156448" y="4498848"/>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全便条件</a:t>
            </a:r>
            <a:endParaRPr lang="en-US" sz="1230" dirty="0"/>
          </a:p>
        </p:txBody>
      </p:sp>
      <p:sp>
        <p:nvSpPr>
          <p:cNvPr id="65" name="Text 63"/>
          <p:cNvSpPr/>
          <p:nvPr/>
        </p:nvSpPr>
        <p:spPr>
          <a:xfrm>
            <a:off x="9479585" y="4498848"/>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未担当便を許さない</a:t>
            </a:r>
            <a:endParaRPr lang="en-US" sz="1230" dirty="0"/>
          </a:p>
        </p:txBody>
      </p:sp>
      <p:sp>
        <p:nvSpPr>
          <p:cNvPr id="66" name="Shape 64"/>
          <p:cNvSpPr/>
          <p:nvPr/>
        </p:nvSpPr>
        <p:spPr>
          <a:xfrm>
            <a:off x="8074152" y="5029200"/>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67" name="Text 65"/>
          <p:cNvSpPr/>
          <p:nvPr/>
        </p:nvSpPr>
        <p:spPr>
          <a:xfrm>
            <a:off x="8156448" y="5065776"/>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後処理修正</a:t>
            </a:r>
            <a:endParaRPr lang="en-US" sz="1230" dirty="0"/>
          </a:p>
        </p:txBody>
      </p:sp>
      <p:sp>
        <p:nvSpPr>
          <p:cNvPr id="68" name="Text 66"/>
          <p:cNvSpPr/>
          <p:nvPr/>
        </p:nvSpPr>
        <p:spPr>
          <a:xfrm>
            <a:off x="9479585" y="5065776"/>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使用しない</a:t>
            </a:r>
            <a:endParaRPr lang="en-US" sz="1230" dirty="0"/>
          </a:p>
        </p:txBody>
      </p:sp>
      <p:sp>
        <p:nvSpPr>
          <p:cNvPr id="69" name="Shape 67"/>
          <p:cNvSpPr/>
          <p:nvPr/>
        </p:nvSpPr>
        <p:spPr>
          <a:xfrm>
            <a:off x="1078992" y="5989320"/>
            <a:ext cx="10012680" cy="347472"/>
          </a:xfrm>
          <a:prstGeom prst="roundRect">
            <a:avLst/>
          </a:prstGeom>
          <a:solidFill>
            <a:srgbClr val="FCECEC"/>
          </a:solidFill>
          <a:ln w="11430">
            <a:solidFill>
              <a:srgbClr val="C94C4C"/>
            </a:solidFill>
            <a:prstDash val="solid"/>
          </a:ln>
        </p:spPr>
        <p:txBody>
          <a:bodyPr/>
          <a:lstStyle/>
          <a:p>
            <a:endParaRPr lang="ja-JP" altLang="en-US"/>
          </a:p>
        </p:txBody>
      </p:sp>
      <p:sp>
        <p:nvSpPr>
          <p:cNvPr id="70" name="Text 68"/>
          <p:cNvSpPr/>
          <p:nvPr/>
        </p:nvSpPr>
        <p:spPr>
          <a:xfrm>
            <a:off x="1298448" y="6053328"/>
            <a:ext cx="9555480" cy="201168"/>
          </a:xfrm>
          <a:prstGeom prst="rect">
            <a:avLst/>
          </a:prstGeom>
          <a:noFill/>
          <a:ln/>
        </p:spPr>
        <p:txBody>
          <a:bodyPr wrap="square" lIns="0" tIns="0" rIns="0" bIns="0" rtlCol="0" anchor="ctr"/>
          <a:lstStyle/>
          <a:p>
            <a:pPr marL="0" indent="0" algn="ctr">
              <a:buNone/>
            </a:pPr>
            <a:r>
              <a:rPr lang="en-US" sz="1400" b="1" dirty="0">
                <a:solidFill>
                  <a:srgbClr val="C94C4C"/>
                </a:solidFill>
                <a:latin typeface="Noto Sans CJK JP" pitchFamily="34" charset="0"/>
                <a:ea typeface="Noto Sans CJK JP" pitchFamily="34" charset="-122"/>
                <a:cs typeface="Noto Sans CJK JP" pitchFamily="34" charset="-120"/>
              </a:rPr>
              <a:t>注意：ここでの評価額はモデル内の比較指標であり、設備投資を含む実際の総費用ではない。</a:t>
            </a:r>
            <a:endParaRPr lang="en-US" sz="1400" dirty="0"/>
          </a:p>
        </p:txBody>
      </p:sp>
    </p:spTree>
  </p:cSld>
  <p:clrMapOvr>
    <a:masterClrMapping/>
  </p:clrMapOvr>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D453791-27ED-4A1F-B8E3-951C3A4F80F6}"/>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前回から進んだこと</a:t>
            </a:r>
          </a:p>
        </p:txBody>
      </p:sp>
      <p:sp>
        <p:nvSpPr>
          <p:cNvPr id="2" name="">
            <a:extLst xmlns:a="http://schemas.openxmlformats.org/drawingml/2006/main">
              <a:ext uri="{FF2B5EF4-FFF2-40B4-BE49-F238E27FC236}">
                <a16:creationId xmlns:a16="http://schemas.microsoft.com/office/drawing/2014/main" id="{55F97538-31D1-468E-9FCF-F5329D890CBD}"/>
              </a:ext>
            </a:extLst>
          </p:cNvPr>
          <p:cNvSpPr>
            <a:spLocks xmlns:a="http://schemas.openxmlformats.org/drawingml/2006/main" noGrp="1"/>
          </p:cNvSpPr>
          <p:nvPr/>
        </p:nvSpPr>
        <p:spPr>
          <a:xfrm xmlns:a="http://schemas.openxmlformats.org/drawingml/2006/main">
            <a:off x="571500" y="9620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87B"/>
                </a:solidFill>
                <a:latin typeface="Meiryo"/>
                <a:ea typeface="Meiryo"/>
                <a:cs typeface="Meiryo"/>
              </a:defRPr>
            </a:pPr>
            <a:r>
              <a:rPr sz="1875" b="0">
                <a:solidFill>
                  <a:srgbClr val="59687B"/>
                </a:solidFill>
                <a:latin typeface="Meiryo"/>
                <a:ea typeface="Meiryo"/>
                <a:cs typeface="Meiryo"/>
              </a:rPr>
              <a:t>太陽光の条件を変えたときの違いを、具体的な運用で説明できるようにした</a:t>
            </a:r>
          </a:p>
        </p:txBody>
      </p:sp>
      <p:graphicFrame>
        <p:nvGraphicFramePr>
          <p:cNvPr id="9" name=""/>
          <p:cNvGraphicFramePr/>
          <p:nvPr/>
        </p:nvGraphicFramePr>
        <p:xfrm>
          <a:off xmlns:a="http://schemas.openxmlformats.org/drawingml/2006/main" x="571500" y="1714500"/>
          <a:ext xmlns:a="http://schemas.openxmlformats.org/drawingml/2006/main" cx="11049000" cy="3476625"/>
        </p:xfrm>
        <a:graphic xmlns:a="http://schemas.openxmlformats.org/drawingml/2006/main">
          <a:graphicData uri="http://schemas.openxmlformats.org/drawingml/2006/table">
            <a:tbl>
              <a:tblPr/>
              <a:tblGrid>
                <a:gridCol w="3476625"/>
                <a:gridCol w="3667125"/>
                <a:gridCol w="3905250"/>
              </a:tblGrid>
              <a:tr h="869156">
                <a:tc>
                  <a:txBody>
                    <a:bodyPr/>
                    <a:lstStyle/>
                    <a:p>
                      <a:r>
                        <a:rPr sz="1875" b="1">
                          <a:solidFill>
                            <a:srgbClr val="FFFFFF"/>
                          </a:solidFill>
                          <a:latin typeface="Meiryo"/>
                          <a:ea typeface="Meiryo"/>
                          <a:cs typeface="Meiryo"/>
                        </a:rPr>
                        <a:t>以前の課題</a:t>
                      </a:r>
                    </a:p>
                  </a:txBody>
                  <a:tcPr marL="91440" marR="91440" marT="45720" marB="45720">
                    <a:solidFill>
                      <a:srgbClr val="202B58"/>
                    </a:solidFill>
                  </a:tcPr>
                </a:tc>
                <a:tc>
                  <a:txBody>
                    <a:bodyPr/>
                    <a:lstStyle/>
                    <a:p>
                      <a:r>
                        <a:rPr sz="1875" b="1">
                          <a:solidFill>
                            <a:srgbClr val="FFFFFF"/>
                          </a:solidFill>
                          <a:latin typeface="Meiryo"/>
                          <a:ea typeface="Meiryo"/>
                          <a:cs typeface="Meiryo"/>
                        </a:rPr>
                        <a:t>行った作業</a:t>
                      </a:r>
                    </a:p>
                  </a:txBody>
                  <a:tcPr marL="91440" marR="91440" marT="45720" marB="45720">
                    <a:solidFill>
                      <a:srgbClr val="202B58"/>
                    </a:solidFill>
                  </a:tcPr>
                </a:tc>
                <a:tc>
                  <a:txBody>
                    <a:bodyPr/>
                    <a:lstStyle/>
                    <a:p>
                      <a:r>
                        <a:rPr sz="1875" b="1">
                          <a:solidFill>
                            <a:srgbClr val="FFFFFF"/>
                          </a:solidFill>
                          <a:latin typeface="Meiryo"/>
                          <a:ea typeface="Meiryo"/>
                          <a:cs typeface="Meiryo"/>
                        </a:rPr>
                        <a:t>確認できたこと</a:t>
                      </a:r>
                    </a:p>
                  </a:txBody>
                  <a:tcPr marL="91440" marR="91440" marT="45720" marB="45720">
                    <a:solidFill>
                      <a:srgbClr val="202B58"/>
                    </a:solidFill>
                  </a:tcPr>
                </a:tc>
              </a:tr>
              <a:tr h="869156">
                <a:tc>
                  <a:txBody>
                    <a:bodyPr/>
                    <a:lstStyle/>
                    <a:p>
                      <a:r>
                        <a:rPr sz="1875" b="0">
                          <a:solidFill>
                            <a:srgbClr val="202B58"/>
                          </a:solidFill>
                          <a:latin typeface="Meiryo"/>
                          <a:ea typeface="Meiryo"/>
                          <a:cs typeface="Meiryo"/>
                        </a:rPr>
                        <a:t>ほぼ1案だけを詳しく評価</a:t>
                      </a:r>
                    </a:p>
                    <a:p>
                      <a:r>
                        <a:rPr sz="1875" b="0">
                          <a:solidFill>
                            <a:srgbClr val="202B58"/>
                          </a:solidFill>
                          <a:latin typeface="Meiryo"/>
                          <a:ea typeface="Meiryo"/>
                          <a:cs typeface="Meiryo"/>
                        </a:rPr>
                        <a:t>高低PVでも同じ配車</a:t>
                      </a:r>
                    </a:p>
                  </a:txBody>
                  <a:tcPr marL="91440" marR="91440" marT="45720" marB="45720">
                    <a:solidFill>
                      <a:srgbClr val="F1F5F8"/>
                    </a:solidFill>
                  </a:tcPr>
                </a:tc>
                <a:tc>
                  <a:txBody>
                    <a:bodyPr/>
                    <a:lstStyle/>
                    <a:p>
                      <a:r>
                        <a:rPr sz="1875" b="0">
                          <a:solidFill>
                            <a:srgbClr val="202B58"/>
                          </a:solidFill>
                          <a:latin typeface="Meiryo"/>
                          <a:ea typeface="Meiryo"/>
                          <a:cs typeface="Meiryo"/>
                        </a:rPr>
                        <a:t>22案の担当便と</a:t>
                      </a:r>
                    </a:p>
                    <a:p>
                      <a:r>
                        <a:rPr sz="1875" b="0">
                          <a:solidFill>
                            <a:srgbClr val="202B58"/>
                          </a:solidFill>
                          <a:latin typeface="Meiryo"/>
                          <a:ea typeface="Meiryo"/>
                          <a:cs typeface="Meiryo"/>
                        </a:rPr>
                        <a:t>充電計画を比較</a:t>
                      </a:r>
                    </a:p>
                  </a:txBody>
                  <a:tcPr marL="91440" marR="91440" marT="45720" marB="45720">
                    <a:solidFill>
                      <a:srgbClr val="F1F5F8"/>
                    </a:solidFill>
                  </a:tcPr>
                </a:tc>
                <a:tc>
                  <a:txBody>
                    <a:bodyPr/>
                    <a:lstStyle/>
                    <a:p>
                      <a:r>
                        <a:rPr sz="1875" b="0">
                          <a:solidFill>
                            <a:srgbClr val="202B58"/>
                          </a:solidFill>
                          <a:latin typeface="Meiryo"/>
                          <a:ea typeface="Meiryo"/>
                          <a:cs typeface="Meiryo"/>
                        </a:rPr>
                        <a:t>電気バスの担当が</a:t>
                      </a:r>
                    </a:p>
                    <a:p>
                      <a:r>
                        <a:rPr sz="1875" b="0">
                          <a:solidFill>
                            <a:srgbClr val="202B58"/>
                          </a:solidFill>
                          <a:latin typeface="Meiryo"/>
                          <a:ea typeface="Meiryo"/>
                          <a:cs typeface="Meiryo"/>
                        </a:rPr>
                        <a:t>高PV 199便／低PV 91便</a:t>
                      </a:r>
                    </a:p>
                  </a:txBody>
                  <a:tcPr marL="91440" marR="91440" marT="45720" marB="45720">
                    <a:solidFill>
                      <a:srgbClr val="F1F5F8"/>
                    </a:solidFill>
                  </a:tcPr>
                </a:tc>
              </a:tr>
              <a:tr h="869156">
                <a:tc>
                  <a:txBody>
                    <a:bodyPr/>
                    <a:lstStyle/>
                    <a:p>
                      <a:r>
                        <a:rPr sz="1875" b="0">
                          <a:solidFill>
                            <a:srgbClr val="202B58"/>
                          </a:solidFill>
                          <a:latin typeface="Meiryo"/>
                          <a:ea typeface="Meiryo"/>
                          <a:cs typeface="Meiryo"/>
                        </a:rPr>
                        <a:t>一日の合計だけでは</a:t>
                      </a:r>
                    </a:p>
                    <a:p>
                      <a:r>
                        <a:rPr sz="1875" b="0">
                          <a:solidFill>
                            <a:srgbClr val="202B58"/>
                          </a:solidFill>
                          <a:latin typeface="Meiryo"/>
                          <a:ea typeface="Meiryo"/>
                          <a:cs typeface="Meiryo"/>
                        </a:rPr>
                        <a:t>途中の矛盾が見えにくい</a:t>
                      </a:r>
                    </a:p>
                  </a:txBody>
                  <a:tcPr marL="91440" marR="91440" marT="45720" marB="45720">
                    <a:solidFill>
                      <a:srgbClr val="FFFFFF"/>
                    </a:solidFill>
                  </a:tcPr>
                </a:tc>
                <a:tc>
                  <a:txBody>
                    <a:bodyPr/>
                    <a:lstStyle/>
                    <a:p>
                      <a:r>
                        <a:rPr sz="1875" b="0">
                          <a:solidFill>
                            <a:srgbClr val="202B58"/>
                          </a:solidFill>
                          <a:latin typeface="Meiryo"/>
                          <a:ea typeface="Meiryo"/>
                          <a:cs typeface="Meiryo"/>
                        </a:rPr>
                        <a:t>1時間ずつ計画を更新</a:t>
                      </a:r>
                    </a:p>
                    <a:p>
                      <a:r>
                        <a:rPr sz="1875" b="0">
                          <a:solidFill>
                            <a:srgbClr val="202B58"/>
                          </a:solidFill>
                          <a:latin typeface="Meiryo"/>
                          <a:ea typeface="Meiryo"/>
                          <a:cs typeface="Meiryo"/>
                        </a:rPr>
                        <a:t>15分ごとの状態を検算</a:t>
                      </a:r>
                    </a:p>
                  </a:txBody>
                  <a:tcPr marL="91440" marR="91440" marT="45720" marB="45720">
                    <a:solidFill>
                      <a:srgbClr val="FFFFFF"/>
                    </a:solidFill>
                  </a:tcPr>
                </a:tc>
                <a:tc>
                  <a:txBody>
                    <a:bodyPr/>
                    <a:lstStyle/>
                    <a:p>
                      <a:r>
                        <a:rPr sz="1875" b="0">
                          <a:solidFill>
                            <a:srgbClr val="202B58"/>
                          </a:solidFill>
                          <a:latin typeface="Meiryo"/>
                          <a:ea typeface="Meiryo"/>
                          <a:cs typeface="Meiryo"/>
                        </a:rPr>
                        <a:t>両条件で264便を担当</a:t>
                      </a:r>
                    </a:p>
                    <a:p>
                      <a:r>
                        <a:rPr sz="1875" b="0">
                          <a:solidFill>
                            <a:srgbClr val="202B58"/>
                          </a:solidFill>
                          <a:latin typeface="Meiryo"/>
                          <a:ea typeface="Meiryo"/>
                          <a:cs typeface="Meiryo"/>
                        </a:rPr>
                        <a:t>電池・電力・費用も確認</a:t>
                      </a:r>
                    </a:p>
                  </a:txBody>
                  <a:tcPr marL="91440" marR="91440" marT="45720" marB="45720">
                    <a:solidFill>
                      <a:srgbClr val="FFFFFF"/>
                    </a:solidFill>
                  </a:tcPr>
                </a:tc>
              </a:tr>
              <a:tr h="869156">
                <a:tc>
                  <a:txBody>
                    <a:bodyPr/>
                    <a:lstStyle/>
                    <a:p>
                      <a:r>
                        <a:rPr sz="1875" b="0">
                          <a:solidFill>
                            <a:srgbClr val="202B58"/>
                          </a:solidFill>
                          <a:latin typeface="Meiryo"/>
                          <a:ea typeface="Meiryo"/>
                          <a:cs typeface="Meiryo"/>
                        </a:rPr>
                        <a:t>台数と総額だけでは</a:t>
                      </a:r>
                    </a:p>
                    <a:p>
                      <a:r>
                        <a:rPr sz="1875" b="0">
                          <a:solidFill>
                            <a:srgbClr val="202B58"/>
                          </a:solidFill>
                          <a:latin typeface="Meiryo"/>
                          <a:ea typeface="Meiryo"/>
                          <a:cs typeface="Meiryo"/>
                        </a:rPr>
                        <a:t>違いの中身が分からない</a:t>
                      </a:r>
                    </a:p>
                  </a:txBody>
                  <a:tcPr marL="91440" marR="91440" marT="45720" marB="45720">
                    <a:solidFill>
                      <a:srgbClr val="F1F5F8"/>
                    </a:solidFill>
                  </a:tcPr>
                </a:tc>
                <a:tc>
                  <a:txBody>
                    <a:bodyPr/>
                    <a:lstStyle/>
                    <a:p>
                      <a:r>
                        <a:rPr sz="1875" b="0">
                          <a:solidFill>
                            <a:srgbClr val="202B58"/>
                          </a:solidFill>
                          <a:latin typeface="Meiryo"/>
                          <a:ea typeface="Meiryo"/>
                          <a:cs typeface="Meiryo"/>
                        </a:rPr>
                        <a:t>同じ便を照合し</a:t>
                      </a:r>
                    </a:p>
                    <a:p>
                      <a:r>
                        <a:rPr sz="1875" b="0">
                          <a:solidFill>
                            <a:srgbClr val="202B58"/>
                          </a:solidFill>
                          <a:latin typeface="Meiryo"/>
                          <a:ea typeface="Meiryo"/>
                          <a:cs typeface="Meiryo"/>
                        </a:rPr>
                        <a:t>電力と費用を分解</a:t>
                      </a:r>
                    </a:p>
                  </a:txBody>
                  <a:tcPr marL="91440" marR="91440" marT="45720" marB="45720">
                    <a:solidFill>
                      <a:srgbClr val="F1F5F8"/>
                    </a:solidFill>
                  </a:tcPr>
                </a:tc>
                <a:tc>
                  <a:txBody>
                    <a:bodyPr/>
                    <a:lstStyle/>
                    <a:p>
                      <a:r>
                        <a:rPr sz="1875" b="0">
                          <a:solidFill>
                            <a:srgbClr val="202B58"/>
                          </a:solidFill>
                          <a:latin typeface="Meiryo"/>
                          <a:ea typeface="Meiryo"/>
                          <a:cs typeface="Meiryo"/>
                        </a:rPr>
                        <a:t>変わった108便と</a:t>
                      </a:r>
                    </a:p>
                    <a:p>
                      <a:r>
                        <a:rPr sz="1875" b="0">
                          <a:solidFill>
                            <a:srgbClr val="202B58"/>
                          </a:solidFill>
                          <a:latin typeface="Meiryo"/>
                          <a:ea typeface="Meiryo"/>
                          <a:cs typeface="Meiryo"/>
                        </a:rPr>
                        <a:t>費用差の内訳を特定</a:t>
                      </a:r>
                    </a:p>
                  </a:txBody>
                  <a:tcPr marL="91440" marR="91440" marT="45720" marB="45720">
                    <a:solidFill>
                      <a:srgbClr val="F1F5F8"/>
                    </a:solidFill>
                  </a:tcPr>
                </a:tc>
              </a:tr>
            </a:tbl>
          </a:graphicData>
        </a:graphic>
      </p:graphicFrame>
      <p:sp>
        <p:nvSpPr>
          <p:cNvPr id="4" name="">
            <a:extLst xmlns:a="http://schemas.openxmlformats.org/drawingml/2006/main">
              <a:ext uri="{FF2B5EF4-FFF2-40B4-BE49-F238E27FC236}">
                <a16:creationId xmlns:a16="http://schemas.microsoft.com/office/drawing/2014/main" id="{F3CDBF78-C262-4DB3-ABAC-E07D1914444B}"/>
              </a:ext>
            </a:extLst>
          </p:cNvPr>
          <p:cNvSpPr>
            <a:spLocks xmlns:a="http://schemas.openxmlformats.org/drawingml/2006/main" noGrp="1"/>
          </p:cNvSpPr>
          <p:nvPr/>
        </p:nvSpPr>
        <p:spPr>
          <a:xfrm xmlns:a="http://schemas.openxmlformats.org/drawingml/2006/main">
            <a:off x="571500" y="54387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9A8C"/>
                </a:solidFill>
                <a:latin typeface="Meiryo"/>
                <a:ea typeface="Meiryo"/>
                <a:cs typeface="Meiryo"/>
              </a:defRPr>
            </a:pPr>
            <a:r>
              <a:rPr sz="2025" b="1">
                <a:solidFill>
                  <a:srgbClr val="159A8C"/>
                </a:solidFill>
                <a:latin typeface="Meiryo"/>
                <a:ea typeface="Meiryo"/>
                <a:cs typeface="Meiryo"/>
              </a:rPr>
              <a:t>進捗：計画を比べ、その違いと確認範囲を説明できるようになった</a:t>
            </a:r>
          </a:p>
        </p:txBody>
      </p:sp>
      <p:sp>
        <p:nvSpPr>
          <p:cNvPr id="5" name="">
            <a:extLst xmlns:a="http://schemas.openxmlformats.org/drawingml/2006/main">
              <a:ext uri="{FF2B5EF4-FFF2-40B4-BE49-F238E27FC236}">
                <a16:creationId xmlns:a16="http://schemas.microsoft.com/office/drawing/2014/main" id="{B9605CB5-0552-4FBE-BEED-C93D661F1EDE}"/>
              </a:ext>
            </a:extLst>
          </p:cNvPr>
          <p:cNvSpPr>
            <a:spLocks xmlns:a="http://schemas.openxmlformats.org/drawingml/2006/main" noGrp="1"/>
          </p:cNvSpPr>
          <p:nvPr/>
        </p:nvSpPr>
        <p:spPr>
          <a:xfrm xmlns:a="http://schemas.openxmlformats.org/drawingml/2006/main">
            <a:off x="571500" y="6143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E4D36"/>
                </a:solidFill>
                <a:latin typeface="Meiryo"/>
                <a:ea typeface="Meiryo"/>
                <a:cs typeface="Meiryo"/>
              </a:defRPr>
            </a:pPr>
            <a:r>
              <a:rPr sz="1350" b="0">
                <a:solidFill>
                  <a:srgbClr val="7E4D36"/>
                </a:solidFill>
                <a:latin typeface="Meiryo"/>
                <a:ea typeface="Meiryo"/>
                <a:cs typeface="Meiryo"/>
              </a:rPr>
              <a:t>以前の状態は元の月次報告による。旧方式への速度・費用の改善率は未検証。</a:t>
            </a:r>
          </a:p>
        </p:txBody>
      </p:sp>
      <p:sp>
        <p:nvSpPr>
          <p:cNvPr id="6" name="">
            <a:extLst xmlns:a="http://schemas.openxmlformats.org/drawingml/2006/main">
              <a:ext uri="{FF2B5EF4-FFF2-40B4-BE49-F238E27FC236}">
                <a16:creationId xmlns:a16="http://schemas.microsoft.com/office/drawing/2014/main" id="{17D77E2F-F125-410B-9424-2715C5BDEF87}"/>
              </a:ext>
            </a:extLst>
          </p:cNvPr>
          <p:cNvSpPr>
            <a:spLocks xmlns:a="http://schemas.openxmlformats.org/drawingml/2006/main" noGrp="1"/>
          </p:cNvSpPr>
          <p:nvPr/>
        </p:nvSpPr>
        <p:spPr>
          <a:xfrm xmlns:a="http://schemas.openxmlformats.org/drawingml/2006/main">
            <a:off x="11144250" y="6524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48B"/>
                </a:solidFill>
                <a:latin typeface="Meiryo"/>
                <a:ea typeface="Meiryo"/>
                <a:cs typeface="Meiryo"/>
              </a:defRPr>
            </a:pPr>
            <a:r>
              <a:rPr sz="900" b="0">
                <a:solidFill>
                  <a:srgbClr val="66748B"/>
                </a:solidFill>
                <a:latin typeface="Meiryo"/>
                <a:ea typeface="Meiryo"/>
                <a:cs typeface="Meiryo"/>
              </a:rPr>
              <a:t>8/18</a:t>
            </a:r>
          </a:p>
        </p:txBody>
      </p:sp>
    </p:spTree>
    <p:extLst>
      <p:ext uri="{BB962C8B-B14F-4D97-AF65-F5344CB8AC3E}">
        <p14:creationId xmlns:p14="http://schemas.microsoft.com/office/powerpoint/2010/main" val="151005244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6795B7-40D1-4F06-A8FD-310A3739E651}"/>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問題に対して、何をどう直したか</a:t>
            </a:r>
          </a:p>
        </p:txBody>
      </p:sp>
      <p:sp>
        <p:nvSpPr>
          <p:cNvPr id="2" name="">
            <a:extLst xmlns:a="http://schemas.openxmlformats.org/drawingml/2006/main">
              <a:ext uri="{FF2B5EF4-FFF2-40B4-BE49-F238E27FC236}">
                <a16:creationId xmlns:a16="http://schemas.microsoft.com/office/drawing/2014/main" id="{5C5DEB77-182D-4127-B4EE-DD7C133959FF}"/>
              </a:ext>
            </a:extLst>
          </p:cNvPr>
          <p:cNvSpPr>
            <a:spLocks xmlns:a="http://schemas.openxmlformats.org/drawingml/2006/main" noGrp="1"/>
          </p:cNvSpPr>
          <p:nvPr/>
        </p:nvSpPr>
        <p:spPr>
          <a:xfrm xmlns:a="http://schemas.openxmlformats.org/drawingml/2006/main">
            <a:off x="571500" y="9620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87B"/>
                </a:solidFill>
                <a:latin typeface="Meiryo"/>
                <a:ea typeface="Meiryo"/>
                <a:cs typeface="Meiryo"/>
              </a:defRPr>
            </a:pPr>
            <a:r>
              <a:rPr sz="1875" b="0">
                <a:solidFill>
                  <a:srgbClr val="59687B"/>
                </a:solidFill>
                <a:latin typeface="Meiryo"/>
                <a:ea typeface="Meiryo"/>
                <a:cs typeface="Meiryo"/>
              </a:rPr>
              <a:t>8月に計画を作り直し、9月5日にその結果を詳しく読み解いた</a:t>
            </a:r>
          </a:p>
        </p:txBody>
      </p:sp>
      <p:graphicFrame>
        <p:nvGraphicFramePr>
          <p:cNvPr id="9" name=""/>
          <p:cNvGraphicFramePr/>
          <p:nvPr/>
        </p:nvGraphicFramePr>
        <p:xfrm>
          <a:off xmlns:a="http://schemas.openxmlformats.org/drawingml/2006/main" x="571500" y="1714500"/>
          <a:ext xmlns:a="http://schemas.openxmlformats.org/drawingml/2006/main" cx="11049000" cy="3476625"/>
        </p:xfrm>
        <a:graphic xmlns:a="http://schemas.openxmlformats.org/drawingml/2006/main">
          <a:graphicData uri="http://schemas.openxmlformats.org/drawingml/2006/table">
            <a:tbl>
              <a:tblPr/>
              <a:tblGrid>
                <a:gridCol w="3476625"/>
                <a:gridCol w="3667125"/>
                <a:gridCol w="3905250"/>
              </a:tblGrid>
              <a:tr h="695325">
                <a:tc>
                  <a:txBody>
                    <a:bodyPr/>
                    <a:lstStyle/>
                    <a:p>
                      <a:r>
                        <a:rPr sz="1875" b="1">
                          <a:solidFill>
                            <a:srgbClr val="FFFFFF"/>
                          </a:solidFill>
                          <a:latin typeface="Meiryo"/>
                          <a:ea typeface="Meiryo"/>
                          <a:cs typeface="Meiryo"/>
                        </a:rPr>
                        <a:t>時期・目的</a:t>
                      </a:r>
                    </a:p>
                  </a:txBody>
                  <a:tcPr marL="91440" marR="91440" marT="45720" marB="45720">
                    <a:solidFill>
                      <a:srgbClr val="202B58"/>
                    </a:solidFill>
                  </a:tcPr>
                </a:tc>
                <a:tc>
                  <a:txBody>
                    <a:bodyPr/>
                    <a:lstStyle/>
                    <a:p>
                      <a:r>
                        <a:rPr sz="1875" b="1">
                          <a:solidFill>
                            <a:srgbClr val="FFFFFF"/>
                          </a:solidFill>
                          <a:latin typeface="Meiryo"/>
                          <a:ea typeface="Meiryo"/>
                          <a:cs typeface="Meiryo"/>
                        </a:rPr>
                        <a:t>具体的な作業</a:t>
                      </a:r>
                    </a:p>
                  </a:txBody>
                  <a:tcPr marL="91440" marR="91440" marT="45720" marB="45720">
                    <a:solidFill>
                      <a:srgbClr val="202B58"/>
                    </a:solidFill>
                  </a:tcPr>
                </a:tc>
                <a:tc>
                  <a:txBody>
                    <a:bodyPr/>
                    <a:lstStyle/>
                    <a:p>
                      <a:r>
                        <a:rPr sz="1875" b="1">
                          <a:solidFill>
                            <a:srgbClr val="FFFFFF"/>
                          </a:solidFill>
                          <a:latin typeface="Meiryo"/>
                          <a:ea typeface="Meiryo"/>
                          <a:cs typeface="Meiryo"/>
                        </a:rPr>
                        <a:t>その作業が必要な理由</a:t>
                      </a:r>
                    </a:p>
                  </a:txBody>
                  <a:tcPr marL="91440" marR="91440" marT="45720" marB="45720">
                    <a:solidFill>
                      <a:srgbClr val="202B58"/>
                    </a:solidFill>
                  </a:tcPr>
                </a:tc>
              </a:tr>
              <a:tr h="695325">
                <a:tc>
                  <a:txBody>
                    <a:bodyPr/>
                    <a:lstStyle/>
                    <a:p>
                      <a:r>
                        <a:rPr sz="1875" b="0">
                          <a:solidFill>
                            <a:srgbClr val="202B58"/>
                          </a:solidFill>
                          <a:latin typeface="Meiryo"/>
                          <a:ea typeface="Meiryo"/>
                          <a:cs typeface="Meiryo"/>
                        </a:rPr>
                        <a:t>8月：比較方法を直す</a:t>
                      </a:r>
                    </a:p>
                  </a:txBody>
                  <a:tcPr marL="91440" marR="91440" marT="45720" marB="45720">
                    <a:solidFill>
                      <a:srgbClr val="F1F5F8"/>
                    </a:solidFill>
                  </a:tcPr>
                </a:tc>
                <a:tc>
                  <a:txBody>
                    <a:bodyPr/>
                    <a:lstStyle/>
                    <a:p>
                      <a:r>
                        <a:rPr sz="1875" b="0">
                          <a:solidFill>
                            <a:srgbClr val="202B58"/>
                          </a:solidFill>
                          <a:latin typeface="Meiryo"/>
                          <a:ea typeface="Meiryo"/>
                          <a:cs typeface="Meiryo"/>
                        </a:rPr>
                        <a:t>複数の担当便案を作り</a:t>
                      </a:r>
                    </a:p>
                    <a:p>
                      <a:r>
                        <a:rPr sz="1875" b="0">
                          <a:solidFill>
                            <a:srgbClr val="202B58"/>
                          </a:solidFill>
                          <a:latin typeface="Meiryo"/>
                          <a:ea typeface="Meiryo"/>
                          <a:cs typeface="Meiryo"/>
                        </a:rPr>
                        <a:t>各案の充電まで計算</a:t>
                      </a:r>
                    </a:p>
                  </a:txBody>
                  <a:tcPr marL="91440" marR="91440" marT="45720" marB="45720">
                    <a:solidFill>
                      <a:srgbClr val="F1F5F8"/>
                    </a:solidFill>
                  </a:tcPr>
                </a:tc>
                <a:tc>
                  <a:txBody>
                    <a:bodyPr/>
                    <a:lstStyle/>
                    <a:p>
                      <a:r>
                        <a:rPr sz="1875" b="0">
                          <a:solidFill>
                            <a:srgbClr val="202B58"/>
                          </a:solidFill>
                          <a:latin typeface="Meiryo"/>
                          <a:ea typeface="Meiryo"/>
                          <a:cs typeface="Meiryo"/>
                        </a:rPr>
                        <a:t>一つの案だけでは</a:t>
                      </a:r>
                    </a:p>
                    <a:p>
                      <a:r>
                        <a:rPr sz="1875" b="0">
                          <a:solidFill>
                            <a:srgbClr val="202B58"/>
                          </a:solidFill>
                          <a:latin typeface="Meiryo"/>
                          <a:ea typeface="Meiryo"/>
                          <a:cs typeface="Meiryo"/>
                        </a:rPr>
                        <a:t>他の選択肢と比べられない</a:t>
                      </a:r>
                    </a:p>
                  </a:txBody>
                  <a:tcPr marL="91440" marR="91440" marT="45720" marB="45720">
                    <a:solidFill>
                      <a:srgbClr val="F1F5F8"/>
                    </a:solidFill>
                  </a:tcPr>
                </a:tc>
              </a:tr>
              <a:tr h="695325">
                <a:tc>
                  <a:txBody>
                    <a:bodyPr/>
                    <a:lstStyle/>
                    <a:p>
                      <a:r>
                        <a:rPr sz="1875" b="0">
                          <a:solidFill>
                            <a:srgbClr val="202B58"/>
                          </a:solidFill>
                          <a:latin typeface="Meiryo"/>
                          <a:ea typeface="Meiryo"/>
                          <a:cs typeface="Meiryo"/>
                        </a:rPr>
                        <a:t>8月：条件をそろえる</a:t>
                      </a:r>
                    </a:p>
                  </a:txBody>
                  <a:tcPr marL="91440" marR="91440" marT="45720" marB="45720">
                    <a:solidFill>
                      <a:srgbClr val="FFFFFF"/>
                    </a:solidFill>
                  </a:tcPr>
                </a:tc>
                <a:tc>
                  <a:txBody>
                    <a:bodyPr/>
                    <a:lstStyle/>
                    <a:p>
                      <a:r>
                        <a:rPr sz="1875" b="0">
                          <a:solidFill>
                            <a:srgbClr val="202B58"/>
                          </a:solidFill>
                          <a:latin typeface="Meiryo"/>
                          <a:ea typeface="Meiryo"/>
                          <a:cs typeface="Meiryo"/>
                        </a:rPr>
                        <a:t>同じ264便・車両・設備で</a:t>
                      </a:r>
                    </a:p>
                    <a:p>
                      <a:r>
                        <a:rPr sz="1875" b="0">
                          <a:solidFill>
                            <a:srgbClr val="202B58"/>
                          </a:solidFill>
                          <a:latin typeface="Meiryo"/>
                          <a:ea typeface="Meiryo"/>
                          <a:cs typeface="Meiryo"/>
                        </a:rPr>
                        <a:t>太陽光の曲線だけを変更</a:t>
                      </a:r>
                    </a:p>
                  </a:txBody>
                  <a:tcPr marL="91440" marR="91440" marT="45720" marB="45720">
                    <a:solidFill>
                      <a:srgbClr val="FFFFFF"/>
                    </a:solidFill>
                  </a:tcPr>
                </a:tc>
                <a:tc>
                  <a:txBody>
                    <a:bodyPr/>
                    <a:lstStyle/>
                    <a:p>
                      <a:r>
                        <a:rPr sz="1875" b="0">
                          <a:solidFill>
                            <a:srgbClr val="202B58"/>
                          </a:solidFill>
                          <a:latin typeface="Meiryo"/>
                          <a:ea typeface="Meiryo"/>
                          <a:cs typeface="Meiryo"/>
                        </a:rPr>
                        <a:t>運行条件の違いを</a:t>
                      </a:r>
                    </a:p>
                    <a:p>
                      <a:r>
                        <a:rPr sz="1875" b="0">
                          <a:solidFill>
                            <a:srgbClr val="202B58"/>
                          </a:solidFill>
                          <a:latin typeface="Meiryo"/>
                          <a:ea typeface="Meiryo"/>
                          <a:cs typeface="Meiryo"/>
                        </a:rPr>
                        <a:t>太陽光の効果と混同しない</a:t>
                      </a:r>
                    </a:p>
                  </a:txBody>
                  <a:tcPr marL="91440" marR="91440" marT="45720" marB="45720">
                    <a:solidFill>
                      <a:srgbClr val="FFFFFF"/>
                    </a:solidFill>
                  </a:tcPr>
                </a:tc>
              </a:tr>
              <a:tr h="695325">
                <a:tc>
                  <a:txBody>
                    <a:bodyPr/>
                    <a:lstStyle/>
                    <a:p>
                      <a:r>
                        <a:rPr sz="1875" b="0">
                          <a:solidFill>
                            <a:srgbClr val="202B58"/>
                          </a:solidFill>
                          <a:latin typeface="Meiryo"/>
                          <a:ea typeface="Meiryo"/>
                          <a:cs typeface="Meiryo"/>
                        </a:rPr>
                        <a:t>8月：一日を確かめる</a:t>
                      </a:r>
                    </a:p>
                  </a:txBody>
                  <a:tcPr marL="91440" marR="91440" marT="45720" marB="45720">
                    <a:solidFill>
                      <a:srgbClr val="F1F5F8"/>
                    </a:solidFill>
                  </a:tcPr>
                </a:tc>
                <a:tc>
                  <a:txBody>
                    <a:bodyPr/>
                    <a:lstStyle/>
                    <a:p>
                      <a:r>
                        <a:rPr sz="1875" b="0">
                          <a:solidFill>
                            <a:srgbClr val="202B58"/>
                          </a:solidFill>
                          <a:latin typeface="Meiryo"/>
                          <a:ea typeface="Meiryo"/>
                          <a:cs typeface="Meiryo"/>
                        </a:rPr>
                        <a:t>入力を確定して再計算</a:t>
                      </a:r>
                    </a:p>
                    <a:p>
                      <a:r>
                        <a:rPr sz="1875" b="0">
                          <a:solidFill>
                            <a:srgbClr val="202B58"/>
                          </a:solidFill>
                          <a:latin typeface="Meiryo"/>
                          <a:ea typeface="Meiryo"/>
                          <a:cs typeface="Meiryo"/>
                        </a:rPr>
                        <a:t>24回の更新と費用を検算</a:t>
                      </a:r>
                    </a:p>
                  </a:txBody>
                  <a:tcPr marL="91440" marR="91440" marT="45720" marB="45720">
                    <a:solidFill>
                      <a:srgbClr val="F1F5F8"/>
                    </a:solidFill>
                  </a:tcPr>
                </a:tc>
                <a:tc>
                  <a:txBody>
                    <a:bodyPr/>
                    <a:lstStyle/>
                    <a:p>
                      <a:r>
                        <a:rPr sz="1875" b="0">
                          <a:solidFill>
                            <a:srgbClr val="202B58"/>
                          </a:solidFill>
                          <a:latin typeface="Meiryo"/>
                          <a:ea typeface="Meiryo"/>
                          <a:cs typeface="Meiryo"/>
                        </a:rPr>
                        <a:t>途中の電池不足や</a:t>
                      </a:r>
                    </a:p>
                    <a:p>
                      <a:r>
                        <a:rPr sz="1875" b="0">
                          <a:solidFill>
                            <a:srgbClr val="202B58"/>
                          </a:solidFill>
                          <a:latin typeface="Meiryo"/>
                          <a:ea typeface="Meiryo"/>
                          <a:cs typeface="Meiryo"/>
                        </a:rPr>
                        <a:t>金額の食い違いを見落とさない</a:t>
                      </a:r>
                    </a:p>
                  </a:txBody>
                  <a:tcPr marL="91440" marR="91440" marT="45720" marB="45720">
                    <a:solidFill>
                      <a:srgbClr val="F1F5F8"/>
                    </a:solidFill>
                  </a:tcPr>
                </a:tc>
              </a:tr>
              <a:tr h="695325">
                <a:tc>
                  <a:txBody>
                    <a:bodyPr/>
                    <a:lstStyle/>
                    <a:p>
                      <a:r>
                        <a:rPr sz="1875" b="0">
                          <a:solidFill>
                            <a:srgbClr val="202B58"/>
                          </a:solidFill>
                          <a:latin typeface="Meiryo"/>
                          <a:ea typeface="Meiryo"/>
                          <a:cs typeface="Meiryo"/>
                        </a:rPr>
                        <a:t>9月5日：理由を調べる</a:t>
                      </a:r>
                    </a:p>
                  </a:txBody>
                  <a:tcPr marL="91440" marR="91440" marT="45720" marB="45720">
                    <a:solidFill>
                      <a:srgbClr val="FFFFFF"/>
                    </a:solidFill>
                  </a:tcPr>
                </a:tc>
                <a:tc>
                  <a:txBody>
                    <a:bodyPr/>
                    <a:lstStyle/>
                    <a:p>
                      <a:r>
                        <a:rPr sz="1875" b="0">
                          <a:solidFill>
                            <a:srgbClr val="202B58"/>
                          </a:solidFill>
                          <a:latin typeface="Meiryo"/>
                          <a:ea typeface="Meiryo"/>
                          <a:cs typeface="Meiryo"/>
                        </a:rPr>
                        <a:t>既存結果を便ごと・15分ごと</a:t>
                      </a:r>
                    </a:p>
                    <a:p>
                      <a:r>
                        <a:rPr sz="1875" b="0">
                          <a:solidFill>
                            <a:srgbClr val="202B58"/>
                          </a:solidFill>
                          <a:latin typeface="Meiryo"/>
                          <a:ea typeface="Meiryo"/>
                          <a:cs typeface="Meiryo"/>
                        </a:rPr>
                        <a:t>に照合し、費用も分解</a:t>
                      </a:r>
                    </a:p>
                  </a:txBody>
                  <a:tcPr marL="91440" marR="91440" marT="45720" marB="45720">
                    <a:solidFill>
                      <a:srgbClr val="FFFFFF"/>
                    </a:solidFill>
                  </a:tcPr>
                </a:tc>
                <a:tc>
                  <a:txBody>
                    <a:bodyPr/>
                    <a:lstStyle/>
                    <a:p>
                      <a:r>
                        <a:rPr sz="1875" b="0">
                          <a:solidFill>
                            <a:srgbClr val="202B58"/>
                          </a:solidFill>
                          <a:latin typeface="Meiryo"/>
                          <a:ea typeface="Meiryo"/>
                          <a:cs typeface="Meiryo"/>
                        </a:rPr>
                        <a:t>どの便が変わり、何が</a:t>
                      </a:r>
                    </a:p>
                    <a:p>
                      <a:r>
                        <a:rPr sz="1875" b="0">
                          <a:solidFill>
                            <a:srgbClr val="202B58"/>
                          </a:solidFill>
                          <a:latin typeface="Meiryo"/>
                          <a:ea typeface="Meiryo"/>
                          <a:cs typeface="Meiryo"/>
                        </a:rPr>
                        <a:t>費用差につながったかを示す</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2D65716-E61D-4570-AE6E-F4B51066C92F}"/>
              </a:ext>
            </a:extLst>
          </p:cNvPr>
          <p:cNvSpPr>
            <a:spLocks xmlns:a="http://schemas.openxmlformats.org/drawingml/2006/main" noGrp="1"/>
          </p:cNvSpPr>
          <p:nvPr/>
        </p:nvSpPr>
        <p:spPr>
          <a:xfrm xmlns:a="http://schemas.openxmlformats.org/drawingml/2006/main">
            <a:off x="571500" y="54387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9A8C"/>
                </a:solidFill>
                <a:latin typeface="Meiryo"/>
                <a:ea typeface="Meiryo"/>
                <a:cs typeface="Meiryo"/>
              </a:defRPr>
            </a:pPr>
            <a:r>
              <a:rPr sz="2025" b="1">
                <a:solidFill>
                  <a:srgbClr val="159A8C"/>
                </a:solidFill>
                <a:latin typeface="Meiryo"/>
                <a:ea typeface="Meiryo"/>
                <a:cs typeface="Meiryo"/>
              </a:rPr>
              <a:t>9月5日の追加分は、保存済みの計算結果を詳しく分析した成果</a:t>
            </a:r>
          </a:p>
        </p:txBody>
      </p:sp>
      <p:sp>
        <p:nvSpPr>
          <p:cNvPr id="5" name="">
            <a:extLst xmlns:a="http://schemas.openxmlformats.org/drawingml/2006/main">
              <a:ext uri="{FF2B5EF4-FFF2-40B4-BE49-F238E27FC236}">
                <a16:creationId xmlns:a16="http://schemas.microsoft.com/office/drawing/2014/main" id="{40829F9A-7E76-454C-9588-BBF2418E74A4}"/>
              </a:ext>
            </a:extLst>
          </p:cNvPr>
          <p:cNvSpPr>
            <a:spLocks xmlns:a="http://schemas.openxmlformats.org/drawingml/2006/main" noGrp="1"/>
          </p:cNvSpPr>
          <p:nvPr/>
        </p:nvSpPr>
        <p:spPr>
          <a:xfrm xmlns:a="http://schemas.openxmlformats.org/drawingml/2006/main">
            <a:off x="571500" y="6143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E4D36"/>
                </a:solidFill>
                <a:latin typeface="Meiryo"/>
                <a:ea typeface="Meiryo"/>
                <a:cs typeface="Meiryo"/>
              </a:defRPr>
            </a:pPr>
            <a:r>
              <a:rPr sz="1350" b="0">
                <a:solidFill>
                  <a:srgbClr val="7E4D36"/>
                </a:solidFill>
                <a:latin typeface="Meiryo"/>
                <a:ea typeface="Meiryo"/>
                <a:cs typeface="Meiryo"/>
              </a:rPr>
              <a:t>9月5日および今回の資料更新では、新しい最適化実験を行っていない。</a:t>
            </a:r>
          </a:p>
        </p:txBody>
      </p:sp>
      <p:sp>
        <p:nvSpPr>
          <p:cNvPr id="6" name="">
            <a:extLst xmlns:a="http://schemas.openxmlformats.org/drawingml/2006/main">
              <a:ext uri="{FF2B5EF4-FFF2-40B4-BE49-F238E27FC236}">
                <a16:creationId xmlns:a16="http://schemas.microsoft.com/office/drawing/2014/main" id="{C565D8B7-6AE7-4331-B00C-83873AAF438A}"/>
              </a:ext>
            </a:extLst>
          </p:cNvPr>
          <p:cNvSpPr>
            <a:spLocks xmlns:a="http://schemas.openxmlformats.org/drawingml/2006/main" noGrp="1"/>
          </p:cNvSpPr>
          <p:nvPr/>
        </p:nvSpPr>
        <p:spPr>
          <a:xfrm xmlns:a="http://schemas.openxmlformats.org/drawingml/2006/main">
            <a:off x="11144250" y="6524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48B"/>
                </a:solidFill>
                <a:latin typeface="Meiryo"/>
                <a:ea typeface="Meiryo"/>
                <a:cs typeface="Meiryo"/>
              </a:defRPr>
            </a:pPr>
            <a:r>
              <a:rPr sz="900" b="0">
                <a:solidFill>
                  <a:srgbClr val="66748B"/>
                </a:solidFill>
                <a:latin typeface="Meiryo"/>
                <a:ea typeface="Meiryo"/>
                <a:cs typeface="Meiryo"/>
              </a:rPr>
              <a:t>9/18</a:t>
            </a:r>
          </a:p>
        </p:txBody>
      </p:sp>
    </p:spTree>
    <p:extLst>
      <p:ext uri="{BB962C8B-B14F-4D97-AF65-F5344CB8AC3E}">
        <p14:creationId xmlns:p14="http://schemas.microsoft.com/office/powerpoint/2010/main" val="1366052382"/>
      </p:ext>
    </p:extLst>
  </p:cSld>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最新結果①：高PV条件ではBEVを多く、低PV条件ではICEを多く使う配車になった</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10/18</a:t>
            </a:r>
            <a:endParaRPr lang="en-US" sz="850" dirty="0"/>
          </a:p>
        </p:txBody>
      </p:sp>
      <p:sp>
        <p:nvSpPr>
          <p:cNvPr id="6" name="Shape 4"/>
          <p:cNvSpPr/>
          <p:nvPr/>
        </p:nvSpPr>
        <p:spPr>
          <a:xfrm>
            <a:off x="4160520" y="932688"/>
            <a:ext cx="146304" cy="146304"/>
          </a:xfrm>
          <a:prstGeom prst="rect">
            <a:avLst/>
          </a:prstGeom>
          <a:solidFill>
            <a:srgbClr val="1F9D8A"/>
          </a:solidFill>
          <a:ln w="12700">
            <a:solidFill>
              <a:srgbClr val="1F9D8A"/>
            </a:solidFill>
            <a:prstDash val="solid"/>
          </a:ln>
        </p:spPr>
        <p:txBody>
          <a:bodyPr/>
          <a:lstStyle/>
          <a:p>
            <a:endParaRPr lang="ja-JP" altLang="en-US"/>
          </a:p>
        </p:txBody>
      </p:sp>
      <p:sp>
        <p:nvSpPr>
          <p:cNvPr id="7" name="Text 5"/>
          <p:cNvSpPr/>
          <p:nvPr/>
        </p:nvSpPr>
        <p:spPr>
          <a:xfrm>
            <a:off x="4361688" y="905256"/>
            <a:ext cx="1207008" cy="201168"/>
          </a:xfrm>
          <a:prstGeom prst="rect">
            <a:avLst/>
          </a:prstGeom>
          <a:noFill/>
          <a:ln/>
        </p:spPr>
        <p:txBody>
          <a:bodyPr wrap="square" lIns="0" tIns="0" rIns="0" bIns="0" rtlCol="0" anchor="ctr"/>
          <a:lstStyle/>
          <a:p>
            <a:pPr marL="0" indent="0">
              <a:buNone/>
            </a:pPr>
            <a:r>
              <a:rPr lang="en-US" sz="1050" dirty="0">
                <a:solidFill>
                  <a:srgbClr val="687386"/>
                </a:solidFill>
                <a:latin typeface="Noto Sans CJK JP" pitchFamily="34" charset="0"/>
                <a:ea typeface="Noto Sans CJK JP" pitchFamily="34" charset="-122"/>
                <a:cs typeface="Noto Sans CJK JP" pitchFamily="34" charset="-120"/>
              </a:rPr>
              <a:t>BEV</a:t>
            </a:r>
            <a:endParaRPr lang="en-US" sz="1050" dirty="0"/>
          </a:p>
        </p:txBody>
      </p:sp>
      <p:sp>
        <p:nvSpPr>
          <p:cNvPr id="8" name="Shape 6"/>
          <p:cNvSpPr/>
          <p:nvPr/>
        </p:nvSpPr>
        <p:spPr>
          <a:xfrm>
            <a:off x="5577840" y="932688"/>
            <a:ext cx="146304" cy="146304"/>
          </a:xfrm>
          <a:prstGeom prst="rect">
            <a:avLst/>
          </a:prstGeom>
          <a:solidFill>
            <a:srgbClr val="8C6D5A"/>
          </a:solidFill>
          <a:ln w="12700">
            <a:solidFill>
              <a:srgbClr val="8C6D5A"/>
            </a:solidFill>
            <a:prstDash val="solid"/>
          </a:ln>
        </p:spPr>
        <p:txBody>
          <a:bodyPr/>
          <a:lstStyle/>
          <a:p>
            <a:endParaRPr lang="ja-JP" altLang="en-US"/>
          </a:p>
        </p:txBody>
      </p:sp>
      <p:sp>
        <p:nvSpPr>
          <p:cNvPr id="9" name="Text 7"/>
          <p:cNvSpPr/>
          <p:nvPr/>
        </p:nvSpPr>
        <p:spPr>
          <a:xfrm>
            <a:off x="5779008" y="905256"/>
            <a:ext cx="1207008" cy="201168"/>
          </a:xfrm>
          <a:prstGeom prst="rect">
            <a:avLst/>
          </a:prstGeom>
          <a:noFill/>
          <a:ln/>
        </p:spPr>
        <p:txBody>
          <a:bodyPr wrap="square" lIns="0" tIns="0" rIns="0" bIns="0" rtlCol="0" anchor="ctr"/>
          <a:lstStyle/>
          <a:p>
            <a:pPr marL="0" indent="0">
              <a:buNone/>
            </a:pPr>
            <a:r>
              <a:rPr lang="en-US" sz="1050" dirty="0">
                <a:solidFill>
                  <a:srgbClr val="687386"/>
                </a:solidFill>
                <a:latin typeface="Noto Sans CJK JP" pitchFamily="34" charset="0"/>
                <a:ea typeface="Noto Sans CJK JP" pitchFamily="34" charset="-122"/>
                <a:cs typeface="Noto Sans CJK JP" pitchFamily="34" charset="-120"/>
              </a:rPr>
              <a:t>ICE</a:t>
            </a:r>
            <a:endParaRPr lang="en-US" sz="1050" dirty="0"/>
          </a:p>
        </p:txBody>
      </p:sp>
      <p:sp>
        <p:nvSpPr>
          <p:cNvPr id="10" name="Text 8"/>
          <p:cNvSpPr/>
          <p:nvPr/>
        </p:nvSpPr>
        <p:spPr>
          <a:xfrm>
            <a:off x="731520" y="1234440"/>
            <a:ext cx="4389120" cy="320040"/>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使用車両（合計32台）</a:t>
            </a:r>
            <a:endParaRPr lang="en-US" sz="1800" dirty="0"/>
          </a:p>
        </p:txBody>
      </p:sp>
      <p:sp>
        <p:nvSpPr>
          <p:cNvPr id="11" name="Shape 9"/>
          <p:cNvSpPr/>
          <p:nvPr/>
        </p:nvSpPr>
        <p:spPr>
          <a:xfrm>
            <a:off x="1920240" y="1783080"/>
            <a:ext cx="3440430" cy="530352"/>
          </a:xfrm>
          <a:prstGeom prst="rect">
            <a:avLst/>
          </a:prstGeom>
          <a:solidFill>
            <a:srgbClr val="1F9D8A"/>
          </a:solidFill>
          <a:ln w="10160">
            <a:solidFill>
              <a:srgbClr val="FFFFFF"/>
            </a:solidFill>
            <a:prstDash val="solid"/>
          </a:ln>
        </p:spPr>
        <p:txBody>
          <a:bodyPr/>
          <a:lstStyle/>
          <a:p>
            <a:endParaRPr lang="ja-JP" altLang="en-US"/>
          </a:p>
        </p:txBody>
      </p:sp>
      <p:sp>
        <p:nvSpPr>
          <p:cNvPr id="12" name="Text 10"/>
          <p:cNvSpPr/>
          <p:nvPr/>
        </p:nvSpPr>
        <p:spPr>
          <a:xfrm>
            <a:off x="1920240" y="1801368"/>
            <a:ext cx="3440430"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28</a:t>
            </a:r>
            <a:endParaRPr lang="en-US" sz="1400" dirty="0"/>
          </a:p>
        </p:txBody>
      </p:sp>
      <p:sp>
        <p:nvSpPr>
          <p:cNvPr id="13" name="Shape 11"/>
          <p:cNvSpPr/>
          <p:nvPr/>
        </p:nvSpPr>
        <p:spPr>
          <a:xfrm>
            <a:off x="5360670" y="1783080"/>
            <a:ext cx="491490" cy="530352"/>
          </a:xfrm>
          <a:prstGeom prst="rect">
            <a:avLst/>
          </a:prstGeom>
          <a:solidFill>
            <a:srgbClr val="8C6D5A"/>
          </a:solidFill>
          <a:ln w="10160">
            <a:solidFill>
              <a:srgbClr val="FFFFFF"/>
            </a:solidFill>
            <a:prstDash val="solid"/>
          </a:ln>
        </p:spPr>
        <p:txBody>
          <a:bodyPr/>
          <a:lstStyle/>
          <a:p>
            <a:endParaRPr lang="ja-JP" altLang="en-US"/>
          </a:p>
        </p:txBody>
      </p:sp>
      <p:sp>
        <p:nvSpPr>
          <p:cNvPr id="14" name="Text 12"/>
          <p:cNvSpPr/>
          <p:nvPr/>
        </p:nvSpPr>
        <p:spPr>
          <a:xfrm>
            <a:off x="5360670" y="1801368"/>
            <a:ext cx="491490"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5" name="Text 13"/>
          <p:cNvSpPr/>
          <p:nvPr/>
        </p:nvSpPr>
        <p:spPr>
          <a:xfrm>
            <a:off x="960120" y="1773936"/>
            <a:ext cx="868680" cy="530352"/>
          </a:xfrm>
          <a:prstGeom prst="rect">
            <a:avLst/>
          </a:prstGeom>
          <a:noFill/>
          <a:ln/>
        </p:spPr>
        <p:txBody>
          <a:bodyPr wrap="square" lIns="0" tIns="0" rIns="0" bIns="0" rtlCol="0" anchor="ctr"/>
          <a:lstStyle/>
          <a:p>
            <a:pPr marL="0" indent="0" algn="r">
              <a:buNone/>
            </a:pPr>
            <a:r>
              <a:rPr lang="en-US" sz="1350" b="1" dirty="0">
                <a:solidFill>
                  <a:srgbClr val="172033"/>
                </a:solidFill>
                <a:latin typeface="Noto Sans CJK JP" pitchFamily="34" charset="0"/>
                <a:ea typeface="Noto Sans CJK JP" pitchFamily="34" charset="-122"/>
                <a:cs typeface="Noto Sans CJK JP" pitchFamily="34" charset="-120"/>
              </a:rPr>
              <a:t>高PV</a:t>
            </a:r>
            <a:endParaRPr lang="en-US" sz="1350" dirty="0"/>
          </a:p>
        </p:txBody>
      </p:sp>
      <p:sp>
        <p:nvSpPr>
          <p:cNvPr id="16" name="Shape 14"/>
          <p:cNvSpPr/>
          <p:nvPr/>
        </p:nvSpPr>
        <p:spPr>
          <a:xfrm>
            <a:off x="1920240" y="2560320"/>
            <a:ext cx="2580323" cy="530352"/>
          </a:xfrm>
          <a:prstGeom prst="rect">
            <a:avLst/>
          </a:prstGeom>
          <a:solidFill>
            <a:srgbClr val="1F9D8A"/>
          </a:solidFill>
          <a:ln w="10160">
            <a:solidFill>
              <a:srgbClr val="FFFFFF"/>
            </a:solidFill>
            <a:prstDash val="solid"/>
          </a:ln>
        </p:spPr>
        <p:txBody>
          <a:bodyPr/>
          <a:lstStyle/>
          <a:p>
            <a:endParaRPr lang="ja-JP" altLang="en-US"/>
          </a:p>
        </p:txBody>
      </p:sp>
      <p:sp>
        <p:nvSpPr>
          <p:cNvPr id="17" name="Text 15"/>
          <p:cNvSpPr/>
          <p:nvPr/>
        </p:nvSpPr>
        <p:spPr>
          <a:xfrm>
            <a:off x="1920240" y="2578608"/>
            <a:ext cx="2580323"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21</a:t>
            </a:r>
            <a:endParaRPr lang="en-US" sz="1400" dirty="0"/>
          </a:p>
        </p:txBody>
      </p:sp>
      <p:sp>
        <p:nvSpPr>
          <p:cNvPr id="18" name="Shape 16"/>
          <p:cNvSpPr/>
          <p:nvPr/>
        </p:nvSpPr>
        <p:spPr>
          <a:xfrm>
            <a:off x="4500563" y="2560320"/>
            <a:ext cx="1351598" cy="530352"/>
          </a:xfrm>
          <a:prstGeom prst="rect">
            <a:avLst/>
          </a:prstGeom>
          <a:solidFill>
            <a:srgbClr val="8C6D5A"/>
          </a:solidFill>
          <a:ln w="10160">
            <a:solidFill>
              <a:srgbClr val="FFFFFF"/>
            </a:solidFill>
            <a:prstDash val="solid"/>
          </a:ln>
        </p:spPr>
        <p:txBody>
          <a:bodyPr/>
          <a:lstStyle/>
          <a:p>
            <a:endParaRPr lang="ja-JP" altLang="en-US"/>
          </a:p>
        </p:txBody>
      </p:sp>
      <p:sp>
        <p:nvSpPr>
          <p:cNvPr id="19" name="Text 17"/>
          <p:cNvSpPr/>
          <p:nvPr/>
        </p:nvSpPr>
        <p:spPr>
          <a:xfrm>
            <a:off x="4500563" y="2578608"/>
            <a:ext cx="1351598"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11</a:t>
            </a:r>
            <a:endParaRPr lang="en-US" sz="1400" dirty="0"/>
          </a:p>
        </p:txBody>
      </p:sp>
      <p:sp>
        <p:nvSpPr>
          <p:cNvPr id="20" name="Text 18"/>
          <p:cNvSpPr/>
          <p:nvPr/>
        </p:nvSpPr>
        <p:spPr>
          <a:xfrm>
            <a:off x="960120" y="2551176"/>
            <a:ext cx="868680" cy="530352"/>
          </a:xfrm>
          <a:prstGeom prst="rect">
            <a:avLst/>
          </a:prstGeom>
          <a:noFill/>
          <a:ln/>
        </p:spPr>
        <p:txBody>
          <a:bodyPr wrap="square" lIns="0" tIns="0" rIns="0" bIns="0" rtlCol="0" anchor="ctr"/>
          <a:lstStyle/>
          <a:p>
            <a:pPr marL="0" indent="0" algn="r">
              <a:buNone/>
            </a:pPr>
            <a:r>
              <a:rPr lang="en-US" sz="1350" b="1" dirty="0">
                <a:solidFill>
                  <a:srgbClr val="172033"/>
                </a:solidFill>
                <a:latin typeface="Noto Sans CJK JP" pitchFamily="34" charset="0"/>
                <a:ea typeface="Noto Sans CJK JP" pitchFamily="34" charset="-122"/>
                <a:cs typeface="Noto Sans CJK JP" pitchFamily="34" charset="-120"/>
              </a:rPr>
              <a:t>低PV</a:t>
            </a:r>
            <a:endParaRPr lang="en-US" sz="1350" dirty="0"/>
          </a:p>
        </p:txBody>
      </p:sp>
      <p:sp>
        <p:nvSpPr>
          <p:cNvPr id="21" name="Text 19"/>
          <p:cNvSpPr/>
          <p:nvPr/>
        </p:nvSpPr>
        <p:spPr>
          <a:xfrm>
            <a:off x="6355080" y="1234440"/>
            <a:ext cx="4297680" cy="320040"/>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担当便数（合計264便）</a:t>
            </a:r>
            <a:endParaRPr lang="en-US" sz="1800" dirty="0"/>
          </a:p>
        </p:txBody>
      </p:sp>
      <p:sp>
        <p:nvSpPr>
          <p:cNvPr id="22" name="Shape 20"/>
          <p:cNvSpPr/>
          <p:nvPr/>
        </p:nvSpPr>
        <p:spPr>
          <a:xfrm>
            <a:off x="7452360" y="1783080"/>
            <a:ext cx="2550275" cy="530352"/>
          </a:xfrm>
          <a:prstGeom prst="rect">
            <a:avLst/>
          </a:prstGeom>
          <a:solidFill>
            <a:srgbClr val="1F9D8A"/>
          </a:solidFill>
          <a:ln w="10160">
            <a:solidFill>
              <a:srgbClr val="FFFFFF"/>
            </a:solidFill>
            <a:prstDash val="solid"/>
          </a:ln>
        </p:spPr>
        <p:txBody>
          <a:bodyPr/>
          <a:lstStyle/>
          <a:p>
            <a:endParaRPr lang="ja-JP" altLang="en-US"/>
          </a:p>
        </p:txBody>
      </p:sp>
      <p:sp>
        <p:nvSpPr>
          <p:cNvPr id="23" name="Text 21"/>
          <p:cNvSpPr/>
          <p:nvPr/>
        </p:nvSpPr>
        <p:spPr>
          <a:xfrm>
            <a:off x="7452360" y="1801368"/>
            <a:ext cx="2550275"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199</a:t>
            </a:r>
            <a:endParaRPr lang="en-US" sz="1400" dirty="0"/>
          </a:p>
        </p:txBody>
      </p:sp>
      <p:sp>
        <p:nvSpPr>
          <p:cNvPr id="24" name="Shape 22"/>
          <p:cNvSpPr/>
          <p:nvPr/>
        </p:nvSpPr>
        <p:spPr>
          <a:xfrm>
            <a:off x="10002635" y="1783080"/>
            <a:ext cx="833005" cy="530352"/>
          </a:xfrm>
          <a:prstGeom prst="rect">
            <a:avLst/>
          </a:prstGeom>
          <a:solidFill>
            <a:srgbClr val="8C6D5A"/>
          </a:solidFill>
          <a:ln w="10160">
            <a:solidFill>
              <a:srgbClr val="FFFFFF"/>
            </a:solidFill>
            <a:prstDash val="solid"/>
          </a:ln>
        </p:spPr>
        <p:txBody>
          <a:bodyPr/>
          <a:lstStyle/>
          <a:p>
            <a:endParaRPr lang="ja-JP" altLang="en-US"/>
          </a:p>
        </p:txBody>
      </p:sp>
      <p:sp>
        <p:nvSpPr>
          <p:cNvPr id="25" name="Text 23"/>
          <p:cNvSpPr/>
          <p:nvPr/>
        </p:nvSpPr>
        <p:spPr>
          <a:xfrm>
            <a:off x="10002635" y="1801368"/>
            <a:ext cx="833005"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65</a:t>
            </a:r>
            <a:endParaRPr lang="en-US" sz="1400" dirty="0"/>
          </a:p>
        </p:txBody>
      </p:sp>
      <p:sp>
        <p:nvSpPr>
          <p:cNvPr id="26" name="Text 24"/>
          <p:cNvSpPr/>
          <p:nvPr/>
        </p:nvSpPr>
        <p:spPr>
          <a:xfrm>
            <a:off x="6492240" y="1773936"/>
            <a:ext cx="868680" cy="530352"/>
          </a:xfrm>
          <a:prstGeom prst="rect">
            <a:avLst/>
          </a:prstGeom>
          <a:noFill/>
          <a:ln/>
        </p:spPr>
        <p:txBody>
          <a:bodyPr wrap="square" lIns="0" tIns="0" rIns="0" bIns="0" rtlCol="0" anchor="ctr"/>
          <a:lstStyle/>
          <a:p>
            <a:pPr marL="0" indent="0" algn="r">
              <a:buNone/>
            </a:pPr>
            <a:r>
              <a:rPr lang="en-US" sz="1350" b="1" dirty="0">
                <a:solidFill>
                  <a:srgbClr val="172033"/>
                </a:solidFill>
                <a:latin typeface="Noto Sans CJK JP" pitchFamily="34" charset="0"/>
                <a:ea typeface="Noto Sans CJK JP" pitchFamily="34" charset="-122"/>
                <a:cs typeface="Noto Sans CJK JP" pitchFamily="34" charset="-120"/>
              </a:rPr>
              <a:t>高PV</a:t>
            </a:r>
            <a:endParaRPr lang="en-US" sz="1350" dirty="0"/>
          </a:p>
        </p:txBody>
      </p:sp>
      <p:sp>
        <p:nvSpPr>
          <p:cNvPr id="27" name="Shape 25"/>
          <p:cNvSpPr/>
          <p:nvPr/>
        </p:nvSpPr>
        <p:spPr>
          <a:xfrm>
            <a:off x="7452360" y="2560320"/>
            <a:ext cx="1166206" cy="530352"/>
          </a:xfrm>
          <a:prstGeom prst="rect">
            <a:avLst/>
          </a:prstGeom>
          <a:solidFill>
            <a:srgbClr val="1F9D8A"/>
          </a:solidFill>
          <a:ln w="10160">
            <a:solidFill>
              <a:srgbClr val="FFFFFF"/>
            </a:solidFill>
            <a:prstDash val="solid"/>
          </a:ln>
        </p:spPr>
        <p:txBody>
          <a:bodyPr/>
          <a:lstStyle/>
          <a:p>
            <a:endParaRPr lang="ja-JP" altLang="en-US"/>
          </a:p>
        </p:txBody>
      </p:sp>
      <p:sp>
        <p:nvSpPr>
          <p:cNvPr id="28" name="Text 26"/>
          <p:cNvSpPr/>
          <p:nvPr/>
        </p:nvSpPr>
        <p:spPr>
          <a:xfrm>
            <a:off x="7452360" y="2578608"/>
            <a:ext cx="1166206"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91</a:t>
            </a:r>
            <a:endParaRPr lang="en-US" sz="1400" dirty="0"/>
          </a:p>
        </p:txBody>
      </p:sp>
      <p:sp>
        <p:nvSpPr>
          <p:cNvPr id="29" name="Shape 27"/>
          <p:cNvSpPr/>
          <p:nvPr/>
        </p:nvSpPr>
        <p:spPr>
          <a:xfrm>
            <a:off x="8618566" y="2560320"/>
            <a:ext cx="2217074" cy="530352"/>
          </a:xfrm>
          <a:prstGeom prst="rect">
            <a:avLst/>
          </a:prstGeom>
          <a:solidFill>
            <a:srgbClr val="8C6D5A"/>
          </a:solidFill>
          <a:ln w="10160">
            <a:solidFill>
              <a:srgbClr val="FFFFFF"/>
            </a:solidFill>
            <a:prstDash val="solid"/>
          </a:ln>
        </p:spPr>
        <p:txBody>
          <a:bodyPr/>
          <a:lstStyle/>
          <a:p>
            <a:endParaRPr lang="ja-JP" altLang="en-US"/>
          </a:p>
        </p:txBody>
      </p:sp>
      <p:sp>
        <p:nvSpPr>
          <p:cNvPr id="30" name="Text 28"/>
          <p:cNvSpPr/>
          <p:nvPr/>
        </p:nvSpPr>
        <p:spPr>
          <a:xfrm>
            <a:off x="8618566" y="2578608"/>
            <a:ext cx="2217074"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173</a:t>
            </a:r>
            <a:endParaRPr lang="en-US" sz="1400" dirty="0"/>
          </a:p>
        </p:txBody>
      </p:sp>
      <p:sp>
        <p:nvSpPr>
          <p:cNvPr id="31" name="Text 29"/>
          <p:cNvSpPr/>
          <p:nvPr/>
        </p:nvSpPr>
        <p:spPr>
          <a:xfrm>
            <a:off x="6492240" y="2551176"/>
            <a:ext cx="868680" cy="530352"/>
          </a:xfrm>
          <a:prstGeom prst="rect">
            <a:avLst/>
          </a:prstGeom>
          <a:noFill/>
          <a:ln/>
        </p:spPr>
        <p:txBody>
          <a:bodyPr wrap="square" lIns="0" tIns="0" rIns="0" bIns="0" rtlCol="0" anchor="ctr"/>
          <a:lstStyle/>
          <a:p>
            <a:pPr marL="0" indent="0" algn="r">
              <a:buNone/>
            </a:pPr>
            <a:r>
              <a:rPr lang="en-US" sz="1350" b="1" dirty="0">
                <a:solidFill>
                  <a:srgbClr val="172033"/>
                </a:solidFill>
                <a:latin typeface="Noto Sans CJK JP" pitchFamily="34" charset="0"/>
                <a:ea typeface="Noto Sans CJK JP" pitchFamily="34" charset="-122"/>
                <a:cs typeface="Noto Sans CJK JP" pitchFamily="34" charset="-120"/>
              </a:rPr>
              <a:t>低PV</a:t>
            </a:r>
            <a:endParaRPr lang="en-US" sz="1350" dirty="0"/>
          </a:p>
        </p:txBody>
      </p:sp>
      <p:sp>
        <p:nvSpPr>
          <p:cNvPr id="32" name="Shape 30"/>
          <p:cNvSpPr/>
          <p:nvPr/>
        </p:nvSpPr>
        <p:spPr>
          <a:xfrm>
            <a:off x="731520" y="3703320"/>
            <a:ext cx="3429000" cy="1572768"/>
          </a:xfrm>
          <a:prstGeom prst="roundRect">
            <a:avLst>
              <a:gd name="adj" fmla="val 4651"/>
            </a:avLst>
          </a:prstGeom>
          <a:solidFill>
            <a:srgbClr val="E8F6F3"/>
          </a:solidFill>
          <a:ln w="12700">
            <a:solidFill>
              <a:srgbClr val="1F9D8A"/>
            </a:solidFill>
            <a:prstDash val="solid"/>
          </a:ln>
        </p:spPr>
        <p:txBody>
          <a:bodyPr/>
          <a:lstStyle/>
          <a:p>
            <a:endParaRPr lang="ja-JP" altLang="en-US"/>
          </a:p>
        </p:txBody>
      </p:sp>
      <p:pic>
        <p:nvPicPr>
          <p:cNvPr id="3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5840" y="4005072"/>
            <a:ext cx="475488" cy="475488"/>
          </a:xfrm>
          <a:prstGeom prst="rect">
            <a:avLst/>
          </a:prstGeom>
        </p:spPr>
      </p:pic>
      <p:sp>
        <p:nvSpPr>
          <p:cNvPr id="34" name="Text 31"/>
          <p:cNvSpPr/>
          <p:nvPr/>
        </p:nvSpPr>
        <p:spPr>
          <a:xfrm>
            <a:off x="1664208" y="3913632"/>
            <a:ext cx="1325880" cy="292608"/>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高PV条件</a:t>
            </a:r>
            <a:endParaRPr lang="en-US" sz="1800" dirty="0"/>
          </a:p>
        </p:txBody>
      </p:sp>
      <p:sp>
        <p:nvSpPr>
          <p:cNvPr id="35" name="Text 32"/>
          <p:cNvSpPr/>
          <p:nvPr/>
        </p:nvSpPr>
        <p:spPr>
          <a:xfrm>
            <a:off x="1005840" y="4370832"/>
            <a:ext cx="2743200" cy="603504"/>
          </a:xfrm>
          <a:prstGeom prst="rect">
            <a:avLst/>
          </a:prstGeom>
          <a:noFill/>
          <a:ln/>
        </p:spPr>
        <p:txBody>
          <a:bodyPr wrap="square" lIns="0" tIns="0" rIns="0" bIns="0" rtlCol="0" anchor="ctr"/>
          <a:lstStyle/>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BEV 28台・199便</a:t>
            </a:r>
            <a:endParaRPr lang="en-US" sz="1550" dirty="0"/>
          </a:p>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 高PVでBEV担当が増加</a:t>
            </a:r>
            <a:endParaRPr lang="en-US" sz="1550" dirty="0"/>
          </a:p>
        </p:txBody>
      </p:sp>
      <p:sp>
        <p:nvSpPr>
          <p:cNvPr id="36" name="Shape 33"/>
          <p:cNvSpPr/>
          <p:nvPr/>
        </p:nvSpPr>
        <p:spPr>
          <a:xfrm>
            <a:off x="4407408" y="3703320"/>
            <a:ext cx="3429000" cy="1572768"/>
          </a:xfrm>
          <a:prstGeom prst="roundRect">
            <a:avLst>
              <a:gd name="adj" fmla="val 4651"/>
            </a:avLst>
          </a:prstGeom>
          <a:solidFill>
            <a:srgbClr val="EAF2FB"/>
          </a:solidFill>
          <a:ln w="12700">
            <a:solidFill>
              <a:srgbClr val="356BB3"/>
            </a:solidFill>
            <a:prstDash val="solid"/>
          </a:ln>
        </p:spPr>
        <p:txBody>
          <a:bodyPr/>
          <a:lstStyle/>
          <a:p>
            <a:endParaRPr lang="ja-JP" altLang="en-US"/>
          </a:p>
        </p:txBody>
      </p:sp>
      <p:pic>
        <p:nvPicPr>
          <p:cNvPr id="3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81728" y="4005072"/>
            <a:ext cx="502920" cy="475488"/>
          </a:xfrm>
          <a:prstGeom prst="rect">
            <a:avLst/>
          </a:prstGeom>
        </p:spPr>
      </p:pic>
      <p:sp>
        <p:nvSpPr>
          <p:cNvPr id="38" name="Text 34"/>
          <p:cNvSpPr/>
          <p:nvPr/>
        </p:nvSpPr>
        <p:spPr>
          <a:xfrm>
            <a:off x="5349240" y="3913632"/>
            <a:ext cx="1325880" cy="292608"/>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低PV条件</a:t>
            </a:r>
            <a:endParaRPr lang="en-US" sz="1800" dirty="0"/>
          </a:p>
        </p:txBody>
      </p:sp>
      <p:sp>
        <p:nvSpPr>
          <p:cNvPr id="39" name="Text 35"/>
          <p:cNvSpPr/>
          <p:nvPr/>
        </p:nvSpPr>
        <p:spPr>
          <a:xfrm>
            <a:off x="4681728" y="4370832"/>
            <a:ext cx="2743200" cy="603504"/>
          </a:xfrm>
          <a:prstGeom prst="rect">
            <a:avLst/>
          </a:prstGeom>
          <a:noFill/>
          <a:ln/>
        </p:spPr>
        <p:txBody>
          <a:bodyPr wrap="square" lIns="0" tIns="0" rIns="0" bIns="0" rtlCol="0" anchor="ctr"/>
          <a:lstStyle/>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BEV 21台・91便</a:t>
            </a:r>
            <a:endParaRPr lang="en-US" sz="1550" dirty="0"/>
          </a:p>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 低PVでICE担当が増加</a:t>
            </a:r>
            <a:endParaRPr lang="en-US" sz="1550" dirty="0"/>
          </a:p>
        </p:txBody>
      </p:sp>
      <p:sp>
        <p:nvSpPr>
          <p:cNvPr id="40" name="Shape 36"/>
          <p:cNvSpPr/>
          <p:nvPr/>
        </p:nvSpPr>
        <p:spPr>
          <a:xfrm>
            <a:off x="8083296" y="3703320"/>
            <a:ext cx="3429000" cy="1572768"/>
          </a:xfrm>
          <a:prstGeom prst="roundRect">
            <a:avLst>
              <a:gd name="adj" fmla="val 4651"/>
            </a:avLst>
          </a:prstGeom>
          <a:solidFill>
            <a:srgbClr val="F8FAFC"/>
          </a:solidFill>
          <a:ln w="12700">
            <a:solidFill>
              <a:srgbClr val="EEF1F5"/>
            </a:solidFill>
            <a:prstDash val="solid"/>
          </a:ln>
        </p:spPr>
        <p:txBody>
          <a:bodyPr/>
          <a:lstStyle/>
          <a:p>
            <a:endParaRPr lang="ja-JP" altLang="en-US"/>
          </a:p>
        </p:txBody>
      </p:sp>
      <p:pic>
        <p:nvPicPr>
          <p:cNvPr id="4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57616" y="4005072"/>
            <a:ext cx="457200" cy="457200"/>
          </a:xfrm>
          <a:prstGeom prst="rect">
            <a:avLst/>
          </a:prstGeom>
        </p:spPr>
      </p:pic>
      <p:sp>
        <p:nvSpPr>
          <p:cNvPr id="42" name="Text 37"/>
          <p:cNvSpPr/>
          <p:nvPr/>
        </p:nvSpPr>
        <p:spPr>
          <a:xfrm>
            <a:off x="9015984" y="3913632"/>
            <a:ext cx="1005840" cy="292608"/>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共通</a:t>
            </a:r>
            <a:endParaRPr lang="en-US" sz="1800" dirty="0"/>
          </a:p>
        </p:txBody>
      </p:sp>
      <p:sp>
        <p:nvSpPr>
          <p:cNvPr id="43" name="Text 38"/>
          <p:cNvSpPr/>
          <p:nvPr/>
        </p:nvSpPr>
        <p:spPr>
          <a:xfrm>
            <a:off x="8357616" y="4370832"/>
            <a:ext cx="2743200" cy="603504"/>
          </a:xfrm>
          <a:prstGeom prst="rect">
            <a:avLst/>
          </a:prstGeom>
          <a:noFill/>
          <a:ln/>
        </p:spPr>
        <p:txBody>
          <a:bodyPr wrap="square" lIns="0" tIns="0" rIns="0" bIns="0" rtlCol="0" anchor="ctr"/>
          <a:lstStyle/>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264/264便を運行</a:t>
            </a:r>
            <a:endParaRPr lang="en-US" sz="1550" dirty="0"/>
          </a:p>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使用総台数はどちらも32台</a:t>
            </a:r>
            <a:endParaRPr lang="en-US" sz="1550" dirty="0"/>
          </a:p>
        </p:txBody>
      </p:sp>
      <p:sp>
        <p:nvSpPr>
          <p:cNvPr id="44" name="Text 39"/>
          <p:cNvSpPr/>
          <p:nvPr/>
        </p:nvSpPr>
        <p:spPr>
          <a:xfrm>
            <a:off x="1828800" y="5797296"/>
            <a:ext cx="8595360" cy="237744"/>
          </a:xfrm>
          <a:prstGeom prst="rect">
            <a:avLst/>
          </a:prstGeom>
          <a:noFill/>
          <a:ln/>
        </p:spPr>
        <p:txBody>
          <a:bodyPr wrap="square" lIns="0" tIns="0" rIns="0" bIns="0" rtlCol="0" anchor="ctr"/>
          <a:lstStyle/>
          <a:p>
            <a:pPr marL="0" indent="0" algn="ctr">
              <a:buNone/>
            </a:pPr>
            <a:r>
              <a:rPr lang="en-US" sz="1080" dirty="0">
                <a:solidFill>
                  <a:srgbClr val="C94C4C"/>
                </a:solidFill>
                <a:latin typeface="Noto Sans CJK JP" pitchFamily="34" charset="0"/>
                <a:ea typeface="Noto Sans CJK JP" pitchFamily="34" charset="-122"/>
                <a:cs typeface="Noto Sans CJK JP" pitchFamily="34" charset="-120"/>
              </a:rPr>
              <a:t>※ 2つの固定条件での結果であり、一般的な天候効果を示すものではない</a:t>
            </a:r>
            <a:endParaRPr lang="en-US" sz="10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先行研究にならい、車両構成と費用の関係を候補ごとに確認</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11/18</a:t>
            </a:r>
            <a:endParaRPr lang="en-US" sz="850" dirty="0"/>
          </a:p>
        </p:txBody>
      </p:sp>
      <p:pic>
        <p:nvPicPr>
          <p:cNvPr id="6" name="Image 0" descr="/mnt/data/candidate_cost_vs_bev.png"/>
          <p:cNvPicPr>
            <a:picLocks noChangeAspect="1"/>
          </p:cNvPicPr>
          <p:nvPr/>
        </p:nvPicPr>
        <p:blipFill>
          <a:blip r:embed="rId3"/>
          <a:stretch>
            <a:fillRect/>
          </a:stretch>
        </p:blipFill>
        <p:spPr>
          <a:xfrm>
            <a:off x="594360" y="960120"/>
            <a:ext cx="7498080" cy="4343400"/>
          </a:xfrm>
          <a:prstGeom prst="rect">
            <a:avLst/>
          </a:prstGeom>
        </p:spPr>
      </p:pic>
      <p:sp>
        <p:nvSpPr>
          <p:cNvPr id="7" name="Shape 4"/>
          <p:cNvSpPr/>
          <p:nvPr/>
        </p:nvSpPr>
        <p:spPr>
          <a:xfrm>
            <a:off x="8275320" y="1078992"/>
            <a:ext cx="3246120" cy="4041648"/>
          </a:xfrm>
          <a:prstGeom prst="roundRect">
            <a:avLst>
              <a:gd name="adj" fmla="val 2254"/>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8" name="Text 5"/>
          <p:cNvSpPr/>
          <p:nvPr/>
        </p:nvSpPr>
        <p:spPr>
          <a:xfrm>
            <a:off x="8567928" y="1344168"/>
            <a:ext cx="2514600" cy="329184"/>
          </a:xfrm>
          <a:prstGeom prst="rect">
            <a:avLst/>
          </a:prstGeom>
          <a:noFill/>
          <a:ln/>
        </p:spPr>
        <p:txBody>
          <a:bodyPr wrap="square" lIns="0" tIns="0" rIns="0" bIns="0" rtlCol="0" anchor="ctr"/>
          <a:lstStyle/>
          <a:p>
            <a:pPr marL="0" indent="0" algn="ctr">
              <a:buNone/>
            </a:pPr>
            <a:r>
              <a:rPr lang="en-US" sz="2000" b="1" dirty="0">
                <a:solidFill>
                  <a:srgbClr val="172033"/>
                </a:solidFill>
                <a:latin typeface="Noto Sans CJK JP" pitchFamily="34" charset="0"/>
                <a:ea typeface="Noto Sans CJK JP" pitchFamily="34" charset="-122"/>
                <a:cs typeface="Noto Sans CJK JP" pitchFamily="34" charset="-120"/>
              </a:rPr>
              <a:t>図から読めること</a:t>
            </a:r>
            <a:endParaRPr lang="en-US" sz="2000" dirty="0"/>
          </a:p>
        </p:txBody>
      </p:sp>
      <p:sp>
        <p:nvSpPr>
          <p:cNvPr id="9" name="Shape 6"/>
          <p:cNvSpPr/>
          <p:nvPr/>
        </p:nvSpPr>
        <p:spPr>
          <a:xfrm>
            <a:off x="8540496" y="2066544"/>
            <a:ext cx="91440" cy="91440"/>
          </a:xfrm>
          <a:prstGeom prst="ellipse">
            <a:avLst/>
          </a:prstGeom>
          <a:solidFill>
            <a:srgbClr val="356BB3"/>
          </a:solidFill>
          <a:ln w="12700">
            <a:solidFill>
              <a:srgbClr val="356BB3"/>
            </a:solidFill>
            <a:prstDash val="solid"/>
          </a:ln>
        </p:spPr>
        <p:txBody>
          <a:bodyPr/>
          <a:lstStyle/>
          <a:p>
            <a:endParaRPr lang="ja-JP" altLang="en-US"/>
          </a:p>
        </p:txBody>
      </p:sp>
      <p:sp>
        <p:nvSpPr>
          <p:cNvPr id="10" name="Text 7"/>
          <p:cNvSpPr/>
          <p:nvPr/>
        </p:nvSpPr>
        <p:spPr>
          <a:xfrm>
            <a:off x="8705088" y="1920240"/>
            <a:ext cx="2395728" cy="560070"/>
          </a:xfrm>
          <a:prstGeom prst="rect">
            <a:avLst/>
          </a:prstGeom>
          <a:noFill/>
          <a:ln/>
        </p:spPr>
        <p:txBody>
          <a:bodyPr wrap="square" lIns="0" tIns="0" rIns="0" bIns="0" rtlCol="0" anchor="ctr">
            <a:normAutofit/>
          </a:bodyPr>
          <a:lstStyle/>
          <a:p>
            <a:pPr marL="0" indent="0">
              <a:buNone/>
            </a:pPr>
            <a:r>
              <a:rPr lang="en-US" sz="1430" dirty="0">
                <a:solidFill>
                  <a:srgbClr val="172033"/>
                </a:solidFill>
                <a:latin typeface="Noto Sans CJK JP" pitchFamily="34" charset="0"/>
                <a:ea typeface="Noto Sans CJK JP" pitchFamily="34" charset="-122"/>
                <a:cs typeface="Noto Sans CJK JP" pitchFamily="34" charset="-120"/>
              </a:rPr>
              <a:t>高PV条件はBEV 28台の候補を選択</a:t>
            </a:r>
            <a:endParaRPr lang="en-US" sz="1430" dirty="0"/>
          </a:p>
        </p:txBody>
      </p:sp>
      <p:sp>
        <p:nvSpPr>
          <p:cNvPr id="11" name="Shape 8"/>
          <p:cNvSpPr/>
          <p:nvPr/>
        </p:nvSpPr>
        <p:spPr>
          <a:xfrm>
            <a:off x="8540496" y="2672334"/>
            <a:ext cx="91440" cy="91440"/>
          </a:xfrm>
          <a:prstGeom prst="ellipse">
            <a:avLst/>
          </a:prstGeom>
          <a:solidFill>
            <a:srgbClr val="356BB3"/>
          </a:solidFill>
          <a:ln w="12700">
            <a:solidFill>
              <a:srgbClr val="356BB3"/>
            </a:solidFill>
            <a:prstDash val="solid"/>
          </a:ln>
        </p:spPr>
        <p:txBody>
          <a:bodyPr/>
          <a:lstStyle/>
          <a:p>
            <a:endParaRPr lang="ja-JP" altLang="en-US"/>
          </a:p>
        </p:txBody>
      </p:sp>
      <p:sp>
        <p:nvSpPr>
          <p:cNvPr id="12" name="Text 9"/>
          <p:cNvSpPr/>
          <p:nvPr/>
        </p:nvSpPr>
        <p:spPr>
          <a:xfrm>
            <a:off x="8705088" y="2526030"/>
            <a:ext cx="2395728" cy="560070"/>
          </a:xfrm>
          <a:prstGeom prst="rect">
            <a:avLst/>
          </a:prstGeom>
          <a:noFill/>
          <a:ln/>
        </p:spPr>
        <p:txBody>
          <a:bodyPr wrap="square" lIns="0" tIns="0" rIns="0" bIns="0" rtlCol="0" anchor="ctr">
            <a:normAutofit/>
          </a:bodyPr>
          <a:lstStyle/>
          <a:p>
            <a:pPr marL="0" indent="0">
              <a:buNone/>
            </a:pPr>
            <a:r>
              <a:rPr lang="en-US" sz="1430" dirty="0">
                <a:solidFill>
                  <a:srgbClr val="172033"/>
                </a:solidFill>
                <a:latin typeface="Noto Sans CJK JP" pitchFamily="34" charset="0"/>
                <a:ea typeface="Noto Sans CJK JP" pitchFamily="34" charset="-122"/>
                <a:cs typeface="Noto Sans CJK JP" pitchFamily="34" charset="-120"/>
              </a:rPr>
              <a:t>低PV条件はBEV 21台の候補を選択</a:t>
            </a:r>
            <a:endParaRPr lang="en-US" sz="1430" dirty="0"/>
          </a:p>
        </p:txBody>
      </p:sp>
      <p:sp>
        <p:nvSpPr>
          <p:cNvPr id="13" name="Shape 10"/>
          <p:cNvSpPr/>
          <p:nvPr/>
        </p:nvSpPr>
        <p:spPr>
          <a:xfrm>
            <a:off x="8540496" y="3278124"/>
            <a:ext cx="91440" cy="91440"/>
          </a:xfrm>
          <a:prstGeom prst="ellipse">
            <a:avLst/>
          </a:prstGeom>
          <a:solidFill>
            <a:srgbClr val="356BB3"/>
          </a:solidFill>
          <a:ln w="12700">
            <a:solidFill>
              <a:srgbClr val="356BB3"/>
            </a:solidFill>
            <a:prstDash val="solid"/>
          </a:ln>
        </p:spPr>
        <p:txBody>
          <a:bodyPr/>
          <a:lstStyle/>
          <a:p>
            <a:endParaRPr lang="ja-JP" altLang="en-US"/>
          </a:p>
        </p:txBody>
      </p:sp>
      <p:sp>
        <p:nvSpPr>
          <p:cNvPr id="14" name="Text 11"/>
          <p:cNvSpPr/>
          <p:nvPr/>
        </p:nvSpPr>
        <p:spPr>
          <a:xfrm>
            <a:off x="8705088" y="3131820"/>
            <a:ext cx="2395728" cy="560070"/>
          </a:xfrm>
          <a:prstGeom prst="rect">
            <a:avLst/>
          </a:prstGeom>
          <a:noFill/>
          <a:ln/>
        </p:spPr>
        <p:txBody>
          <a:bodyPr wrap="square" lIns="0" tIns="0" rIns="0" bIns="0" rtlCol="0" anchor="ctr">
            <a:normAutofit/>
          </a:bodyPr>
          <a:lstStyle/>
          <a:p>
            <a:pPr marL="0" indent="0">
              <a:buNone/>
            </a:pPr>
            <a:r>
              <a:rPr lang="en-US" sz="1430" dirty="0">
                <a:solidFill>
                  <a:srgbClr val="172033"/>
                </a:solidFill>
                <a:latin typeface="Noto Sans CJK JP" pitchFamily="34" charset="0"/>
                <a:ea typeface="Noto Sans CJK JP" pitchFamily="34" charset="-122"/>
                <a:cs typeface="Noto Sans CJK JP" pitchFamily="34" charset="-120"/>
              </a:rPr>
              <a:t>同じ候補でもPV条件で評価額が変わる</a:t>
            </a:r>
            <a:endParaRPr lang="en-US" sz="1430" dirty="0"/>
          </a:p>
        </p:txBody>
      </p:sp>
      <p:sp>
        <p:nvSpPr>
          <p:cNvPr id="15" name="Shape 12"/>
          <p:cNvSpPr/>
          <p:nvPr/>
        </p:nvSpPr>
        <p:spPr>
          <a:xfrm>
            <a:off x="8540496" y="3883914"/>
            <a:ext cx="91440" cy="91440"/>
          </a:xfrm>
          <a:prstGeom prst="ellipse">
            <a:avLst/>
          </a:prstGeom>
          <a:solidFill>
            <a:srgbClr val="356BB3"/>
          </a:solidFill>
          <a:ln w="12700">
            <a:solidFill>
              <a:srgbClr val="356BB3"/>
            </a:solidFill>
            <a:prstDash val="solid"/>
          </a:ln>
        </p:spPr>
        <p:txBody>
          <a:bodyPr/>
          <a:lstStyle/>
          <a:p>
            <a:endParaRPr lang="ja-JP" altLang="en-US"/>
          </a:p>
        </p:txBody>
      </p:sp>
      <p:sp>
        <p:nvSpPr>
          <p:cNvPr id="16" name="Text 13"/>
          <p:cNvSpPr/>
          <p:nvPr/>
        </p:nvSpPr>
        <p:spPr>
          <a:xfrm>
            <a:off x="8705088" y="3737610"/>
            <a:ext cx="2395728" cy="560070"/>
          </a:xfrm>
          <a:prstGeom prst="rect">
            <a:avLst/>
          </a:prstGeom>
          <a:noFill/>
          <a:ln/>
        </p:spPr>
        <p:txBody>
          <a:bodyPr wrap="square" lIns="0" tIns="0" rIns="0" bIns="0" rtlCol="0" anchor="ctr">
            <a:normAutofit/>
          </a:bodyPr>
          <a:lstStyle/>
          <a:p>
            <a:pPr marL="0" indent="0">
              <a:buNone/>
            </a:pPr>
            <a:r>
              <a:rPr lang="en-US" sz="1430" dirty="0">
                <a:solidFill>
                  <a:srgbClr val="172033"/>
                </a:solidFill>
                <a:latin typeface="Noto Sans CJK JP" pitchFamily="34" charset="0"/>
                <a:ea typeface="Noto Sans CJK JP" pitchFamily="34" charset="-122"/>
                <a:cs typeface="Noto Sans CJK JP" pitchFamily="34" charset="-120"/>
              </a:rPr>
              <a:t>BEVを増やせば必ず安くなるわけではない</a:t>
            </a:r>
            <a:endParaRPr lang="en-US" sz="1430" dirty="0"/>
          </a:p>
        </p:txBody>
      </p:sp>
      <p:sp>
        <p:nvSpPr>
          <p:cNvPr id="17" name="Shape 14"/>
          <p:cNvSpPr/>
          <p:nvPr/>
        </p:nvSpPr>
        <p:spPr>
          <a:xfrm>
            <a:off x="8549640" y="4526280"/>
            <a:ext cx="2697480" cy="384048"/>
          </a:xfrm>
          <a:prstGeom prst="roundRect">
            <a:avLst/>
          </a:prstGeom>
          <a:solidFill>
            <a:srgbClr val="FFF5D8"/>
          </a:solidFill>
          <a:ln w="12700">
            <a:solidFill>
              <a:srgbClr val="E7B34B"/>
            </a:solidFill>
            <a:prstDash val="solid"/>
          </a:ln>
        </p:spPr>
        <p:txBody>
          <a:bodyPr/>
          <a:lstStyle/>
          <a:p>
            <a:endParaRPr lang="ja-JP" altLang="en-US"/>
          </a:p>
        </p:txBody>
      </p:sp>
      <p:sp>
        <p:nvSpPr>
          <p:cNvPr id="18" name="Text 15"/>
          <p:cNvSpPr/>
          <p:nvPr/>
        </p:nvSpPr>
        <p:spPr>
          <a:xfrm>
            <a:off x="8732520" y="4617720"/>
            <a:ext cx="2331720" cy="201168"/>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有限22候補内の比較</a:t>
            </a:r>
            <a:endParaRPr lang="en-US" sz="1400" dirty="0"/>
          </a:p>
        </p:txBody>
      </p:sp>
      <p:sp>
        <p:nvSpPr>
          <p:cNvPr id="19" name="Text 16"/>
          <p:cNvSpPr/>
          <p:nvPr/>
        </p:nvSpPr>
        <p:spPr>
          <a:xfrm>
            <a:off x="1005840" y="5742432"/>
            <a:ext cx="10149840" cy="274320"/>
          </a:xfrm>
          <a:prstGeom prst="rect">
            <a:avLst/>
          </a:prstGeom>
          <a:noFill/>
          <a:ln/>
        </p:spPr>
        <p:txBody>
          <a:bodyPr wrap="square" lIns="0" tIns="0" rIns="0" bIns="0" rtlCol="0" anchor="ctr"/>
          <a:lstStyle/>
          <a:p>
            <a:pPr marL="0" indent="0" algn="ctr">
              <a:buNone/>
            </a:pPr>
            <a:r>
              <a:rPr lang="en-US" sz="1100" dirty="0">
                <a:solidFill>
                  <a:srgbClr val="C94C4C"/>
                </a:solidFill>
                <a:latin typeface="Noto Sans CJK JP" pitchFamily="34" charset="0"/>
                <a:ea typeface="Noto Sans CJK JP" pitchFamily="34" charset="-122"/>
                <a:cs typeface="Noto Sans CJK JP" pitchFamily="34" charset="-120"/>
              </a:rPr>
              <a:t>因果関係や全候補の最適性を示す図ではない</a:t>
            </a:r>
            <a:endParaRPr lang="en-US" sz="1100" dirty="0"/>
          </a:p>
        </p:txBody>
      </p:sp>
      <p:sp>
        <p:nvSpPr>
          <p:cNvPr id="20" name="Text 17"/>
          <p:cNvSpPr/>
          <p:nvPr/>
        </p:nvSpPr>
        <p:spPr>
          <a:xfrm>
            <a:off x="566928" y="6318504"/>
            <a:ext cx="10469880" cy="146304"/>
          </a:xfrm>
          <a:prstGeom prst="rect">
            <a:avLst/>
          </a:prstGeom>
          <a:noFill/>
          <a:ln/>
        </p:spPr>
        <p:txBody>
          <a:bodyPr wrap="square" lIns="0" tIns="0" rIns="0" bIns="0" rtlCol="0" anchor="ctr"/>
          <a:lstStyle/>
          <a:p>
            <a:pPr marL="0" indent="0">
              <a:buNone/>
            </a:pPr>
            <a:r>
              <a:rPr lang="en-US" sz="720" dirty="0">
                <a:solidFill>
                  <a:srgbClr val="7B8494"/>
                </a:solidFill>
                <a:latin typeface="Noto Sans CJK JP" pitchFamily="34" charset="0"/>
                <a:ea typeface="Noto Sans CJK JP" pitchFamily="34" charset="-122"/>
                <a:cs typeface="Noto Sans CJK JP" pitchFamily="34" charset="-120"/>
              </a:rPr>
              <a:t>図の構成は Fei et al., Transportation Research Part C 149 (2023) の「台数と収益」の示し方を参考に、本研究データで再作成</a:t>
            </a:r>
            <a:endParaRPr lang="en-US" sz="7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最新結果②：低PV条件では、主に燃料使用の増加によって評価額が高くなった</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12/18</a:t>
            </a:r>
            <a:endParaRPr lang="en-US" sz="850" dirty="0"/>
          </a:p>
        </p:txBody>
      </p:sp>
      <p:sp>
        <p:nvSpPr>
          <p:cNvPr id="6" name="Text 4"/>
          <p:cNvSpPr/>
          <p:nvPr/>
        </p:nvSpPr>
        <p:spPr>
          <a:xfrm>
            <a:off x="731520" y="932688"/>
            <a:ext cx="3749040" cy="292608"/>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モデル上の24時間評価額</a:t>
            </a:r>
            <a:endParaRPr lang="en-US" sz="1800" dirty="0"/>
          </a:p>
        </p:txBody>
      </p:sp>
      <p:sp>
        <p:nvSpPr>
          <p:cNvPr id="7" name="Shape 5"/>
          <p:cNvSpPr/>
          <p:nvPr/>
        </p:nvSpPr>
        <p:spPr>
          <a:xfrm>
            <a:off x="1325880" y="2369195"/>
            <a:ext cx="1234440" cy="2980045"/>
          </a:xfrm>
          <a:prstGeom prst="roundRect">
            <a:avLst/>
          </a:prstGeom>
          <a:solidFill>
            <a:srgbClr val="1F9D8A"/>
          </a:solidFill>
          <a:ln w="12700">
            <a:solidFill>
              <a:srgbClr val="1F9D8A"/>
            </a:solidFill>
            <a:prstDash val="solid"/>
          </a:ln>
        </p:spPr>
        <p:txBody>
          <a:bodyPr/>
          <a:lstStyle/>
          <a:p>
            <a:endParaRPr lang="ja-JP" altLang="en-US"/>
          </a:p>
        </p:txBody>
      </p:sp>
      <p:sp>
        <p:nvSpPr>
          <p:cNvPr id="8" name="Text 6"/>
          <p:cNvSpPr/>
          <p:nvPr/>
        </p:nvSpPr>
        <p:spPr>
          <a:xfrm>
            <a:off x="1188720" y="1930283"/>
            <a:ext cx="1508760" cy="310896"/>
          </a:xfrm>
          <a:prstGeom prst="rect">
            <a:avLst/>
          </a:prstGeom>
          <a:noFill/>
          <a:ln/>
        </p:spPr>
        <p:txBody>
          <a:bodyPr wrap="square" lIns="0" tIns="0" rIns="0" bIns="0" rtlCol="0" anchor="ctr"/>
          <a:lstStyle/>
          <a:p>
            <a:pPr marL="0" indent="0" algn="ctr">
              <a:buNone/>
            </a:pPr>
            <a:r>
              <a:rPr lang="en-US" sz="1700" b="1" dirty="0">
                <a:solidFill>
                  <a:srgbClr val="1F9D8A"/>
                </a:solidFill>
                <a:latin typeface="Noto Sans CJK JP" pitchFamily="34" charset="0"/>
                <a:ea typeface="Noto Sans CJK JP" pitchFamily="34" charset="-122"/>
                <a:cs typeface="Noto Sans CJK JP" pitchFamily="34" charset="-120"/>
              </a:rPr>
              <a:t>661千円</a:t>
            </a:r>
            <a:endParaRPr lang="en-US" sz="1700" dirty="0"/>
          </a:p>
        </p:txBody>
      </p:sp>
      <p:sp>
        <p:nvSpPr>
          <p:cNvPr id="9" name="Text 7"/>
          <p:cNvSpPr/>
          <p:nvPr/>
        </p:nvSpPr>
        <p:spPr>
          <a:xfrm>
            <a:off x="1325880" y="5504688"/>
            <a:ext cx="1234440" cy="256032"/>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高PV</a:t>
            </a:r>
            <a:endParaRPr lang="en-US" sz="1400" dirty="0"/>
          </a:p>
        </p:txBody>
      </p:sp>
      <p:sp>
        <p:nvSpPr>
          <p:cNvPr id="10" name="Shape 8"/>
          <p:cNvSpPr/>
          <p:nvPr/>
        </p:nvSpPr>
        <p:spPr>
          <a:xfrm>
            <a:off x="3337560" y="2199608"/>
            <a:ext cx="1234440" cy="3149632"/>
          </a:xfrm>
          <a:prstGeom prst="roundRect">
            <a:avLst/>
          </a:prstGeom>
          <a:solidFill>
            <a:srgbClr val="356BB3"/>
          </a:solidFill>
          <a:ln w="12700">
            <a:solidFill>
              <a:srgbClr val="356BB3"/>
            </a:solidFill>
            <a:prstDash val="solid"/>
          </a:ln>
        </p:spPr>
        <p:txBody>
          <a:bodyPr/>
          <a:lstStyle/>
          <a:p>
            <a:endParaRPr lang="ja-JP" altLang="en-US"/>
          </a:p>
        </p:txBody>
      </p:sp>
      <p:sp>
        <p:nvSpPr>
          <p:cNvPr id="11" name="Text 9"/>
          <p:cNvSpPr/>
          <p:nvPr/>
        </p:nvSpPr>
        <p:spPr>
          <a:xfrm>
            <a:off x="3200400" y="1760696"/>
            <a:ext cx="1508760" cy="310896"/>
          </a:xfrm>
          <a:prstGeom prst="rect">
            <a:avLst/>
          </a:prstGeom>
          <a:noFill/>
          <a:ln/>
        </p:spPr>
        <p:txBody>
          <a:bodyPr wrap="square" lIns="0" tIns="0" rIns="0" bIns="0" rtlCol="0" anchor="ctr"/>
          <a:lstStyle/>
          <a:p>
            <a:pPr marL="0" indent="0" algn="ctr">
              <a:buNone/>
            </a:pPr>
            <a:r>
              <a:rPr lang="en-US" sz="1700" b="1" dirty="0">
                <a:solidFill>
                  <a:srgbClr val="356BB3"/>
                </a:solidFill>
                <a:latin typeface="Noto Sans CJK JP" pitchFamily="34" charset="0"/>
                <a:ea typeface="Noto Sans CJK JP" pitchFamily="34" charset="-122"/>
                <a:cs typeface="Noto Sans CJK JP" pitchFamily="34" charset="-120"/>
              </a:rPr>
              <a:t>699千円</a:t>
            </a:r>
            <a:endParaRPr lang="en-US" sz="1700" dirty="0"/>
          </a:p>
        </p:txBody>
      </p:sp>
      <p:sp>
        <p:nvSpPr>
          <p:cNvPr id="12" name="Text 10"/>
          <p:cNvSpPr/>
          <p:nvPr/>
        </p:nvSpPr>
        <p:spPr>
          <a:xfrm>
            <a:off x="3337560" y="5504688"/>
            <a:ext cx="1234440" cy="256032"/>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低PV</a:t>
            </a:r>
            <a:endParaRPr lang="en-US" sz="1400" dirty="0"/>
          </a:p>
        </p:txBody>
      </p:sp>
      <p:sp>
        <p:nvSpPr>
          <p:cNvPr id="13" name="Shape 11"/>
          <p:cNvSpPr/>
          <p:nvPr/>
        </p:nvSpPr>
        <p:spPr>
          <a:xfrm>
            <a:off x="868680" y="5349240"/>
            <a:ext cx="4251960" cy="0"/>
          </a:xfrm>
          <a:prstGeom prst="line">
            <a:avLst/>
          </a:prstGeom>
          <a:noFill/>
          <a:ln w="12700">
            <a:solidFill>
              <a:srgbClr val="A5AFBD"/>
            </a:solidFill>
            <a:prstDash val="solid"/>
          </a:ln>
        </p:spPr>
        <p:txBody>
          <a:bodyPr/>
          <a:lstStyle/>
          <a:p>
            <a:endParaRPr lang="ja-JP" altLang="en-US"/>
          </a:p>
        </p:txBody>
      </p:sp>
      <p:sp>
        <p:nvSpPr>
          <p:cNvPr id="14" name="Shape 12"/>
          <p:cNvSpPr/>
          <p:nvPr/>
        </p:nvSpPr>
        <p:spPr>
          <a:xfrm>
            <a:off x="5577840" y="932688"/>
            <a:ext cx="5669280" cy="4892040"/>
          </a:xfrm>
          <a:prstGeom prst="roundRect">
            <a:avLst>
              <a:gd name="adj" fmla="val 1495"/>
            </a:avLst>
          </a:prstGeom>
          <a:solidFill>
            <a:srgbClr val="F8FAFC"/>
          </a:solidFill>
          <a:ln w="12700">
            <a:solidFill>
              <a:srgbClr val="EEF1F5"/>
            </a:solidFill>
            <a:prstDash val="solid"/>
          </a:ln>
        </p:spPr>
        <p:txBody>
          <a:bodyPr/>
          <a:lstStyle/>
          <a:p>
            <a:endParaRPr lang="ja-JP" altLang="en-US"/>
          </a:p>
        </p:txBody>
      </p:sp>
      <p:sp>
        <p:nvSpPr>
          <p:cNvPr id="15" name="Text 13"/>
          <p:cNvSpPr/>
          <p:nvPr/>
        </p:nvSpPr>
        <p:spPr>
          <a:xfrm>
            <a:off x="5925312" y="1225296"/>
            <a:ext cx="3017520" cy="347472"/>
          </a:xfrm>
          <a:prstGeom prst="rect">
            <a:avLst/>
          </a:prstGeom>
          <a:noFill/>
          <a:ln/>
        </p:spPr>
        <p:txBody>
          <a:bodyPr wrap="square" lIns="0" tIns="0" rIns="0" bIns="0" rtlCol="0" anchor="ctr"/>
          <a:lstStyle/>
          <a:p>
            <a:pPr marL="0" indent="0">
              <a:buNone/>
            </a:pPr>
            <a:r>
              <a:rPr lang="en-US" sz="2000" b="1" dirty="0">
                <a:solidFill>
                  <a:srgbClr val="172033"/>
                </a:solidFill>
                <a:latin typeface="Noto Sans CJK JP" pitchFamily="34" charset="0"/>
                <a:ea typeface="Noto Sans CJK JP" pitchFamily="34" charset="-122"/>
                <a:cs typeface="Noto Sans CJK JP" pitchFamily="34" charset="-120"/>
              </a:rPr>
              <a:t>差額 37,615円の内訳</a:t>
            </a:r>
            <a:endParaRPr lang="en-US" sz="2000" dirty="0"/>
          </a:p>
        </p:txBody>
      </p:sp>
      <p:pic>
        <p:nvPicPr>
          <p:cNvPr id="1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5312" y="1920240"/>
            <a:ext cx="384048" cy="384048"/>
          </a:xfrm>
          <a:prstGeom prst="rect">
            <a:avLst/>
          </a:prstGeom>
        </p:spPr>
      </p:pic>
      <p:sp>
        <p:nvSpPr>
          <p:cNvPr id="17" name="Text 14"/>
          <p:cNvSpPr/>
          <p:nvPr/>
        </p:nvSpPr>
        <p:spPr>
          <a:xfrm>
            <a:off x="6473952" y="1920240"/>
            <a:ext cx="1170432" cy="310896"/>
          </a:xfrm>
          <a:prstGeom prst="rect">
            <a:avLst/>
          </a:prstGeom>
          <a:noFill/>
          <a:ln/>
        </p:spPr>
        <p:txBody>
          <a:bodyPr wrap="square" lIns="0" tIns="0" rIns="0" bIns="0" rtlCol="0" anchor="ctr"/>
          <a:lstStyle/>
          <a:p>
            <a:pPr marL="0" indent="0">
              <a:buNone/>
            </a:pPr>
            <a:r>
              <a:rPr lang="en-US" sz="1600" b="1" dirty="0">
                <a:solidFill>
                  <a:srgbClr val="172033"/>
                </a:solidFill>
                <a:latin typeface="Noto Sans CJK JP" pitchFamily="34" charset="0"/>
                <a:ea typeface="Noto Sans CJK JP" pitchFamily="34" charset="-122"/>
                <a:cs typeface="Noto Sans CJK JP" pitchFamily="34" charset="-120"/>
              </a:rPr>
              <a:t>燃料費</a:t>
            </a:r>
            <a:endParaRPr lang="en-US" sz="1600" dirty="0"/>
          </a:p>
        </p:txBody>
      </p:sp>
      <p:sp>
        <p:nvSpPr>
          <p:cNvPr id="18" name="Shape 15"/>
          <p:cNvSpPr/>
          <p:nvPr/>
        </p:nvSpPr>
        <p:spPr>
          <a:xfrm>
            <a:off x="7635240" y="1956816"/>
            <a:ext cx="2880360" cy="292608"/>
          </a:xfrm>
          <a:prstGeom prst="roundRect">
            <a:avLst/>
          </a:prstGeom>
          <a:solidFill>
            <a:srgbClr val="E98B3A"/>
          </a:solidFill>
          <a:ln w="12700">
            <a:solidFill>
              <a:srgbClr val="E98B3A"/>
            </a:solidFill>
            <a:prstDash val="solid"/>
          </a:ln>
        </p:spPr>
        <p:txBody>
          <a:bodyPr/>
          <a:lstStyle/>
          <a:p>
            <a:endParaRPr lang="ja-JP" altLang="en-US"/>
          </a:p>
        </p:txBody>
      </p:sp>
      <p:sp>
        <p:nvSpPr>
          <p:cNvPr id="19" name="Text 16"/>
          <p:cNvSpPr/>
          <p:nvPr/>
        </p:nvSpPr>
        <p:spPr>
          <a:xfrm>
            <a:off x="9727418" y="1651391"/>
            <a:ext cx="1143000" cy="320040"/>
          </a:xfrm>
          <a:prstGeom prst="rect">
            <a:avLst/>
          </a:prstGeom>
          <a:noFill/>
          <a:ln/>
        </p:spPr>
        <p:txBody>
          <a:bodyPr wrap="square" lIns="0" tIns="0" rIns="0" bIns="0" rtlCol="0" anchor="ctr"/>
          <a:lstStyle/>
          <a:p>
            <a:pPr marL="0" indent="0" algn="r">
              <a:buNone/>
            </a:pPr>
            <a:r>
              <a:rPr lang="en-US" sz="1400" b="1" dirty="0">
                <a:solidFill>
                  <a:srgbClr val="E98B3A"/>
                </a:solidFill>
                <a:latin typeface="Noto Sans CJK JP" pitchFamily="34" charset="0"/>
                <a:ea typeface="Noto Sans CJK JP" pitchFamily="34" charset="-122"/>
                <a:cs typeface="Noto Sans CJK JP" pitchFamily="34" charset="-120"/>
              </a:rPr>
              <a:t>+33,054円</a:t>
            </a:r>
            <a:endParaRPr lang="en-US" sz="1400" dirty="0"/>
          </a:p>
        </p:txBody>
      </p:sp>
      <p:pic>
        <p:nvPicPr>
          <p:cNvPr id="2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5312" y="2907792"/>
            <a:ext cx="384048" cy="384048"/>
          </a:xfrm>
          <a:prstGeom prst="rect">
            <a:avLst/>
          </a:prstGeom>
        </p:spPr>
      </p:pic>
      <p:sp>
        <p:nvSpPr>
          <p:cNvPr id="21" name="Text 17"/>
          <p:cNvSpPr/>
          <p:nvPr/>
        </p:nvSpPr>
        <p:spPr>
          <a:xfrm>
            <a:off x="6473952" y="2907792"/>
            <a:ext cx="1170432" cy="310896"/>
          </a:xfrm>
          <a:prstGeom prst="rect">
            <a:avLst/>
          </a:prstGeom>
          <a:noFill/>
          <a:ln/>
        </p:spPr>
        <p:txBody>
          <a:bodyPr wrap="square" lIns="0" tIns="0" rIns="0" bIns="0" rtlCol="0" anchor="ctr"/>
          <a:lstStyle/>
          <a:p>
            <a:pPr marL="0" indent="0">
              <a:buNone/>
            </a:pPr>
            <a:r>
              <a:rPr lang="en-US" sz="1600" b="1" dirty="0">
                <a:solidFill>
                  <a:srgbClr val="172033"/>
                </a:solidFill>
                <a:latin typeface="Noto Sans CJK JP" pitchFamily="34" charset="0"/>
                <a:ea typeface="Noto Sans CJK JP" pitchFamily="34" charset="-122"/>
                <a:cs typeface="Noto Sans CJK JP" pitchFamily="34" charset="-120"/>
              </a:rPr>
              <a:t>系統電力費</a:t>
            </a:r>
            <a:endParaRPr lang="en-US" sz="1600" dirty="0"/>
          </a:p>
        </p:txBody>
      </p:sp>
      <p:sp>
        <p:nvSpPr>
          <p:cNvPr id="22" name="Shape 18"/>
          <p:cNvSpPr/>
          <p:nvPr/>
        </p:nvSpPr>
        <p:spPr>
          <a:xfrm>
            <a:off x="7635240" y="2944368"/>
            <a:ext cx="342116" cy="292608"/>
          </a:xfrm>
          <a:prstGeom prst="roundRect">
            <a:avLst/>
          </a:prstGeom>
          <a:solidFill>
            <a:srgbClr val="356BB3"/>
          </a:solidFill>
          <a:ln w="12700">
            <a:solidFill>
              <a:srgbClr val="356BB3"/>
            </a:solidFill>
            <a:prstDash val="solid"/>
          </a:ln>
        </p:spPr>
        <p:txBody>
          <a:bodyPr/>
          <a:lstStyle/>
          <a:p>
            <a:endParaRPr lang="ja-JP" altLang="en-US"/>
          </a:p>
        </p:txBody>
      </p:sp>
      <p:sp>
        <p:nvSpPr>
          <p:cNvPr id="23" name="Text 19"/>
          <p:cNvSpPr/>
          <p:nvPr/>
        </p:nvSpPr>
        <p:spPr>
          <a:xfrm>
            <a:off x="9738360" y="2889504"/>
            <a:ext cx="1143000" cy="320040"/>
          </a:xfrm>
          <a:prstGeom prst="rect">
            <a:avLst/>
          </a:prstGeom>
          <a:noFill/>
          <a:ln/>
        </p:spPr>
        <p:txBody>
          <a:bodyPr wrap="square" lIns="0" tIns="0" rIns="0" bIns="0" rtlCol="0" anchor="ctr"/>
          <a:lstStyle/>
          <a:p>
            <a:pPr marL="0" indent="0" algn="r">
              <a:buNone/>
            </a:pPr>
            <a:r>
              <a:rPr lang="en-US" sz="1400" b="1" dirty="0">
                <a:solidFill>
                  <a:srgbClr val="356BB3"/>
                </a:solidFill>
                <a:latin typeface="Noto Sans CJK JP" pitchFamily="34" charset="0"/>
                <a:ea typeface="Noto Sans CJK JP" pitchFamily="34" charset="-122"/>
                <a:cs typeface="Noto Sans CJK JP" pitchFamily="34" charset="-120"/>
              </a:rPr>
              <a:t>+3,926円</a:t>
            </a:r>
            <a:endParaRPr lang="en-US" sz="1400" dirty="0"/>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25312" y="3895344"/>
            <a:ext cx="384048" cy="384048"/>
          </a:xfrm>
          <a:prstGeom prst="rect">
            <a:avLst/>
          </a:prstGeom>
        </p:spPr>
      </p:pic>
      <p:sp>
        <p:nvSpPr>
          <p:cNvPr id="25" name="Text 20"/>
          <p:cNvSpPr/>
          <p:nvPr/>
        </p:nvSpPr>
        <p:spPr>
          <a:xfrm>
            <a:off x="6473952" y="3895344"/>
            <a:ext cx="1170432" cy="310896"/>
          </a:xfrm>
          <a:prstGeom prst="rect">
            <a:avLst/>
          </a:prstGeom>
          <a:noFill/>
          <a:ln/>
        </p:spPr>
        <p:txBody>
          <a:bodyPr wrap="square" lIns="0" tIns="0" rIns="0" bIns="0" rtlCol="0" anchor="ctr"/>
          <a:lstStyle/>
          <a:p>
            <a:pPr marL="0" indent="0">
              <a:buNone/>
            </a:pPr>
            <a:r>
              <a:rPr lang="en-US" sz="1600" b="1" dirty="0">
                <a:solidFill>
                  <a:srgbClr val="172033"/>
                </a:solidFill>
                <a:latin typeface="Noto Sans CJK JP" pitchFamily="34" charset="0"/>
                <a:ea typeface="Noto Sans CJK JP" pitchFamily="34" charset="-122"/>
                <a:cs typeface="Noto Sans CJK JP" pitchFamily="34" charset="-120"/>
              </a:rPr>
              <a:t>CO₂費用</a:t>
            </a:r>
            <a:endParaRPr lang="en-US" sz="1600" dirty="0"/>
          </a:p>
        </p:txBody>
      </p:sp>
      <p:sp>
        <p:nvSpPr>
          <p:cNvPr id="26" name="Shape 21"/>
          <p:cNvSpPr/>
          <p:nvPr/>
        </p:nvSpPr>
        <p:spPr>
          <a:xfrm>
            <a:off x="7635240" y="3931920"/>
            <a:ext cx="55335" cy="292608"/>
          </a:xfrm>
          <a:prstGeom prst="roundRect">
            <a:avLst/>
          </a:prstGeom>
          <a:solidFill>
            <a:srgbClr val="3B8D5A"/>
          </a:solidFill>
          <a:ln w="12700">
            <a:solidFill>
              <a:srgbClr val="3B8D5A"/>
            </a:solidFill>
            <a:prstDash val="solid"/>
          </a:ln>
        </p:spPr>
        <p:txBody>
          <a:bodyPr/>
          <a:lstStyle/>
          <a:p>
            <a:endParaRPr lang="ja-JP" altLang="en-US"/>
          </a:p>
        </p:txBody>
      </p:sp>
      <p:sp>
        <p:nvSpPr>
          <p:cNvPr id="27" name="Text 22"/>
          <p:cNvSpPr/>
          <p:nvPr/>
        </p:nvSpPr>
        <p:spPr>
          <a:xfrm>
            <a:off x="9738360" y="3877056"/>
            <a:ext cx="1143000" cy="320040"/>
          </a:xfrm>
          <a:prstGeom prst="rect">
            <a:avLst/>
          </a:prstGeom>
          <a:noFill/>
          <a:ln/>
        </p:spPr>
        <p:txBody>
          <a:bodyPr wrap="square" lIns="0" tIns="0" rIns="0" bIns="0" rtlCol="0" anchor="ctr"/>
          <a:lstStyle/>
          <a:p>
            <a:pPr marL="0" indent="0" algn="r">
              <a:buNone/>
            </a:pPr>
            <a:r>
              <a:rPr lang="en-US" sz="1400" b="1" dirty="0">
                <a:solidFill>
                  <a:srgbClr val="3B8D5A"/>
                </a:solidFill>
                <a:latin typeface="Noto Sans CJK JP" pitchFamily="34" charset="0"/>
                <a:ea typeface="Noto Sans CJK JP" pitchFamily="34" charset="-122"/>
                <a:cs typeface="Noto Sans CJK JP" pitchFamily="34" charset="-120"/>
              </a:rPr>
              <a:t>+635円</a:t>
            </a:r>
            <a:endParaRPr lang="en-US" sz="1400" dirty="0"/>
          </a:p>
        </p:txBody>
      </p:sp>
      <p:sp>
        <p:nvSpPr>
          <p:cNvPr id="28" name="Text 23"/>
          <p:cNvSpPr/>
          <p:nvPr/>
        </p:nvSpPr>
        <p:spPr>
          <a:xfrm>
            <a:off x="6400800" y="4983480"/>
            <a:ext cx="3931920" cy="347472"/>
          </a:xfrm>
          <a:prstGeom prst="rect">
            <a:avLst/>
          </a:prstGeom>
          <a:noFill/>
          <a:ln/>
        </p:spPr>
        <p:txBody>
          <a:bodyPr wrap="square" lIns="0" tIns="0" rIns="0" bIns="0" rtlCol="0" anchor="ctr"/>
          <a:lstStyle/>
          <a:p>
            <a:pPr marL="0" indent="0" algn="ctr">
              <a:buNone/>
            </a:pPr>
            <a:r>
              <a:rPr lang="en-US" sz="1900" b="1" dirty="0">
                <a:solidFill>
                  <a:srgbClr val="E98B3A"/>
                </a:solidFill>
                <a:latin typeface="Noto Sans CJK JP" pitchFamily="34" charset="0"/>
                <a:ea typeface="Noto Sans CJK JP" pitchFamily="34" charset="-122"/>
                <a:cs typeface="Noto Sans CJK JP" pitchFamily="34" charset="-120"/>
              </a:rPr>
              <a:t>差額の約88%が燃料費</a:t>
            </a:r>
            <a:endParaRPr lang="en-US" sz="1900" dirty="0"/>
          </a:p>
        </p:txBody>
      </p:sp>
      <p:sp>
        <p:nvSpPr>
          <p:cNvPr id="29" name="Text 24"/>
          <p:cNvSpPr/>
          <p:nvPr/>
        </p:nvSpPr>
        <p:spPr>
          <a:xfrm>
            <a:off x="5989320" y="5440680"/>
            <a:ext cx="4800600" cy="256032"/>
          </a:xfrm>
          <a:prstGeom prst="rect">
            <a:avLst/>
          </a:prstGeom>
          <a:noFill/>
          <a:ln/>
        </p:spPr>
        <p:txBody>
          <a:bodyPr wrap="square" lIns="0" tIns="0" rIns="0" bIns="0" rtlCol="0" anchor="ctr"/>
          <a:lstStyle/>
          <a:p>
            <a:pPr marL="0" indent="0" algn="ctr">
              <a:buNone/>
            </a:pPr>
            <a:r>
              <a:rPr lang="en-US" sz="1050" dirty="0">
                <a:solidFill>
                  <a:srgbClr val="C94C4C"/>
                </a:solidFill>
                <a:latin typeface="Noto Sans CJK JP" pitchFamily="34" charset="0"/>
                <a:ea typeface="Noto Sans CJK JP" pitchFamily="34" charset="-122"/>
                <a:cs typeface="Noto Sans CJK JP" pitchFamily="34" charset="-120"/>
              </a:rPr>
              <a:t>※ 設備投資・電池劣化・運転士費などは含まれていない</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先行研究の電力フロー図にならい、PV・BESS・系統の流れを日合計で整理</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13/18</a:t>
            </a:r>
            <a:endParaRPr lang="en-US" sz="850" dirty="0"/>
          </a:p>
        </p:txBody>
      </p:sp>
      <p:sp>
        <p:nvSpPr>
          <p:cNvPr id="6" name="Shape 4"/>
          <p:cNvSpPr/>
          <p:nvPr/>
        </p:nvSpPr>
        <p:spPr>
          <a:xfrm>
            <a:off x="566928" y="1051560"/>
            <a:ext cx="5394960" cy="5166360"/>
          </a:xfrm>
          <a:prstGeom prst="roundRect">
            <a:avLst>
              <a:gd name="adj" fmla="val 1416"/>
            </a:avLst>
          </a:prstGeom>
          <a:solidFill>
            <a:srgbClr val="FFF5D8"/>
          </a:solidFill>
          <a:ln w="12700">
            <a:solidFill>
              <a:srgbClr val="E7B34B"/>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7" name="Shape 5"/>
          <p:cNvSpPr/>
          <p:nvPr/>
        </p:nvSpPr>
        <p:spPr>
          <a:xfrm>
            <a:off x="886968" y="1298448"/>
            <a:ext cx="1417320" cy="310896"/>
          </a:xfrm>
          <a:prstGeom prst="roundRect">
            <a:avLst/>
          </a:prstGeom>
          <a:solidFill>
            <a:srgbClr val="E7B34B"/>
          </a:solidFill>
          <a:ln w="12700">
            <a:solidFill>
              <a:srgbClr val="E7B34B"/>
            </a:solidFill>
            <a:prstDash val="solid"/>
          </a:ln>
        </p:spPr>
        <p:txBody>
          <a:bodyPr/>
          <a:lstStyle/>
          <a:p>
            <a:endParaRPr lang="ja-JP" altLang="en-US"/>
          </a:p>
        </p:txBody>
      </p:sp>
      <p:sp>
        <p:nvSpPr>
          <p:cNvPr id="8" name="Text 6"/>
          <p:cNvSpPr/>
          <p:nvPr/>
        </p:nvSpPr>
        <p:spPr>
          <a:xfrm>
            <a:off x="932688" y="1316736"/>
            <a:ext cx="1325880" cy="256032"/>
          </a:xfrm>
          <a:prstGeom prst="rect">
            <a:avLst/>
          </a:prstGeom>
          <a:noFill/>
          <a:ln/>
        </p:spPr>
        <p:txBody>
          <a:bodyPr wrap="square" lIns="0" tIns="0" rIns="0" bIns="0" rtlCol="0" anchor="ctr"/>
          <a:lstStyle/>
          <a:p>
            <a:pPr marL="0" indent="0" algn="ctr">
              <a:buNone/>
            </a:pPr>
            <a:r>
              <a:rPr lang="en-US" sz="1050" b="1" dirty="0">
                <a:solidFill>
                  <a:srgbClr val="172033"/>
                </a:solidFill>
                <a:latin typeface="Noto Sans CJK JP" pitchFamily="34" charset="0"/>
                <a:ea typeface="Noto Sans CJK JP" pitchFamily="34" charset="-122"/>
                <a:cs typeface="Noto Sans CJK JP" pitchFamily="34" charset="-120"/>
              </a:rPr>
              <a:t>高PV条件</a:t>
            </a:r>
            <a:endParaRPr lang="en-US" sz="1050" dirty="0"/>
          </a:p>
        </p:txBody>
      </p:sp>
      <p:sp>
        <p:nvSpPr>
          <p:cNvPr id="9" name="Text 7"/>
          <p:cNvSpPr/>
          <p:nvPr/>
        </p:nvSpPr>
        <p:spPr>
          <a:xfrm>
            <a:off x="914400" y="1901952"/>
            <a:ext cx="1234440" cy="713232"/>
          </a:xfrm>
          <a:prstGeom prst="rect">
            <a:avLst/>
          </a:prstGeom>
          <a:noFill/>
          <a:ln/>
        </p:spPr>
        <p:txBody>
          <a:bodyPr wrap="square" lIns="0" tIns="0" rIns="0" bIns="0" rtlCol="0" anchor="ctr"/>
          <a:lstStyle/>
          <a:p>
            <a:pPr marL="0" indent="0" algn="ctr">
              <a:buNone/>
            </a:pPr>
            <a:r>
              <a:rPr lang="en-US" sz="1700" b="1" dirty="0">
                <a:solidFill>
                  <a:srgbClr val="E7B34B"/>
                </a:solidFill>
                <a:latin typeface="Noto Sans CJK JP" pitchFamily="34" charset="0"/>
                <a:ea typeface="Noto Sans CJK JP" pitchFamily="34" charset="-122"/>
                <a:cs typeface="Noto Sans CJK JP" pitchFamily="34" charset="-120"/>
              </a:rPr>
              <a:t>PV発電</a:t>
            </a:r>
            <a:endParaRPr lang="en-US" sz="1700" dirty="0"/>
          </a:p>
          <a:p>
            <a:pPr marL="0" indent="0" algn="ctr">
              <a:buNone/>
            </a:pPr>
            <a:r>
              <a:rPr lang="en-US" sz="1700" b="1" dirty="0">
                <a:solidFill>
                  <a:srgbClr val="E7B34B"/>
                </a:solidFill>
                <a:latin typeface="Noto Sans CJK JP" pitchFamily="34" charset="0"/>
                <a:ea typeface="Noto Sans CJK JP" pitchFamily="34" charset="-122"/>
                <a:cs typeface="Noto Sans CJK JP" pitchFamily="34" charset="-120"/>
              </a:rPr>
              <a:t>6,056 kWh</a:t>
            </a:r>
            <a:endParaRPr lang="en-US" sz="1700" dirty="0"/>
          </a:p>
        </p:txBody>
      </p:sp>
      <p:sp>
        <p:nvSpPr>
          <p:cNvPr id="10" name="Shape 8"/>
          <p:cNvSpPr/>
          <p:nvPr/>
        </p:nvSpPr>
        <p:spPr>
          <a:xfrm>
            <a:off x="2139696" y="2075688"/>
            <a:ext cx="438912" cy="347472"/>
          </a:xfrm>
          <a:prstGeom prst="chevron">
            <a:avLst/>
          </a:prstGeom>
          <a:solidFill>
            <a:srgbClr val="A5AFBD"/>
          </a:solidFill>
          <a:ln w="12700">
            <a:solidFill>
              <a:srgbClr val="A5AFBD"/>
            </a:solidFill>
            <a:prstDash val="solid"/>
          </a:ln>
        </p:spPr>
        <p:txBody>
          <a:bodyPr/>
          <a:lstStyle/>
          <a:p>
            <a:endParaRPr lang="ja-JP" altLang="en-US"/>
          </a:p>
        </p:txBody>
      </p:sp>
      <p:sp>
        <p:nvSpPr>
          <p:cNvPr id="11" name="Shape 9"/>
          <p:cNvSpPr/>
          <p:nvPr/>
        </p:nvSpPr>
        <p:spPr>
          <a:xfrm>
            <a:off x="2624328" y="1783080"/>
            <a:ext cx="1325880" cy="960120"/>
          </a:xfrm>
          <a:prstGeom prst="roundRect">
            <a:avLst>
              <a:gd name="adj" fmla="val 7619"/>
            </a:avLst>
          </a:prstGeom>
          <a:solidFill>
            <a:srgbClr val="FFFFFF"/>
          </a:solidFill>
          <a:ln w="12700">
            <a:solidFill>
              <a:srgbClr val="1F9D8A"/>
            </a:solidFill>
            <a:prstDash val="solid"/>
          </a:ln>
        </p:spPr>
        <p:txBody>
          <a:bodyPr/>
          <a:lstStyle/>
          <a:p>
            <a:endParaRPr lang="ja-JP" altLang="en-US"/>
          </a:p>
        </p:txBody>
      </p:sp>
      <p:sp>
        <p:nvSpPr>
          <p:cNvPr id="12" name="Text 10"/>
          <p:cNvSpPr/>
          <p:nvPr/>
        </p:nvSpPr>
        <p:spPr>
          <a:xfrm>
            <a:off x="2743200" y="1975104"/>
            <a:ext cx="1078992" cy="548640"/>
          </a:xfrm>
          <a:prstGeom prst="rect">
            <a:avLst/>
          </a:prstGeom>
          <a:noFill/>
          <a:ln/>
        </p:spPr>
        <p:txBody>
          <a:bodyPr wrap="square" lIns="0" tIns="0" rIns="0" bIns="0" rtlCol="0" anchor="ctr"/>
          <a:lstStyle/>
          <a:p>
            <a:pPr marL="0" indent="0" algn="ctr">
              <a:buNone/>
            </a:pPr>
            <a:r>
              <a:rPr lang="en-US" sz="1350" b="1" dirty="0">
                <a:solidFill>
                  <a:srgbClr val="1F9D8A"/>
                </a:solidFill>
                <a:latin typeface="Noto Sans CJK JP" pitchFamily="34" charset="0"/>
                <a:ea typeface="Noto Sans CJK JP" pitchFamily="34" charset="-122"/>
                <a:cs typeface="Noto Sans CJK JP" pitchFamily="34" charset="-120"/>
              </a:rPr>
              <a:t>直接充電</a:t>
            </a:r>
            <a:endParaRPr lang="en-US" sz="1350" dirty="0"/>
          </a:p>
          <a:p>
            <a:pPr marL="0" indent="0" algn="ctr">
              <a:buNone/>
            </a:pPr>
            <a:r>
              <a:rPr lang="en-US" sz="1350" b="1" dirty="0">
                <a:solidFill>
                  <a:srgbClr val="1F9D8A"/>
                </a:solidFill>
                <a:latin typeface="Noto Sans CJK JP" pitchFamily="34" charset="0"/>
                <a:ea typeface="Noto Sans CJK JP" pitchFamily="34" charset="-122"/>
                <a:cs typeface="Noto Sans CJK JP" pitchFamily="34" charset="-120"/>
              </a:rPr>
              <a:t>110 kWh</a:t>
            </a:r>
            <a:endParaRPr lang="en-US" sz="1350" dirty="0"/>
          </a:p>
        </p:txBody>
      </p:sp>
      <p:sp>
        <p:nvSpPr>
          <p:cNvPr id="13" name="Shape 11"/>
          <p:cNvSpPr/>
          <p:nvPr/>
        </p:nvSpPr>
        <p:spPr>
          <a:xfrm>
            <a:off x="2624328" y="2926080"/>
            <a:ext cx="1325880" cy="960120"/>
          </a:xfrm>
          <a:prstGeom prst="roundRect">
            <a:avLst>
              <a:gd name="adj" fmla="val 7619"/>
            </a:avLst>
          </a:prstGeom>
          <a:solidFill>
            <a:srgbClr val="FFFFFF"/>
          </a:solidFill>
          <a:ln w="12700">
            <a:solidFill>
              <a:srgbClr val="356BB3"/>
            </a:solidFill>
            <a:prstDash val="solid"/>
          </a:ln>
        </p:spPr>
        <p:txBody>
          <a:bodyPr/>
          <a:lstStyle/>
          <a:p>
            <a:endParaRPr lang="ja-JP" altLang="en-US"/>
          </a:p>
        </p:txBody>
      </p:sp>
      <p:sp>
        <p:nvSpPr>
          <p:cNvPr id="14" name="Text 12"/>
          <p:cNvSpPr/>
          <p:nvPr/>
        </p:nvSpPr>
        <p:spPr>
          <a:xfrm>
            <a:off x="2743200" y="3118104"/>
            <a:ext cx="1078992" cy="548640"/>
          </a:xfrm>
          <a:prstGeom prst="rect">
            <a:avLst/>
          </a:prstGeom>
          <a:noFill/>
          <a:ln/>
        </p:spPr>
        <p:txBody>
          <a:bodyPr wrap="square" lIns="0" tIns="0" rIns="0" bIns="0" rtlCol="0" anchor="ctr"/>
          <a:lstStyle/>
          <a:p>
            <a:pPr marL="0" indent="0" algn="ctr">
              <a:buNone/>
            </a:pPr>
            <a:r>
              <a:rPr lang="en-US" sz="1350" b="1" dirty="0">
                <a:solidFill>
                  <a:srgbClr val="356BB3"/>
                </a:solidFill>
                <a:latin typeface="Noto Sans CJK JP" pitchFamily="34" charset="0"/>
                <a:ea typeface="Noto Sans CJK JP" pitchFamily="34" charset="-122"/>
                <a:cs typeface="Noto Sans CJK JP" pitchFamily="34" charset="-120"/>
              </a:rPr>
              <a:t>BESSへ</a:t>
            </a:r>
            <a:endParaRPr lang="en-US" sz="1350" dirty="0"/>
          </a:p>
          <a:p>
            <a:pPr marL="0" indent="0" algn="ctr">
              <a:buNone/>
            </a:pPr>
            <a:r>
              <a:rPr lang="en-US" sz="1350" b="1" dirty="0">
                <a:solidFill>
                  <a:srgbClr val="356BB3"/>
                </a:solidFill>
                <a:latin typeface="Noto Sans CJK JP" pitchFamily="34" charset="0"/>
                <a:ea typeface="Noto Sans CJK JP" pitchFamily="34" charset="-122"/>
                <a:cs typeface="Noto Sans CJK JP" pitchFamily="34" charset="-120"/>
              </a:rPr>
              <a:t>2,573 kWh</a:t>
            </a:r>
            <a:endParaRPr lang="en-US" sz="1350" dirty="0"/>
          </a:p>
        </p:txBody>
      </p:sp>
      <p:sp>
        <p:nvSpPr>
          <p:cNvPr id="15" name="Shape 13"/>
          <p:cNvSpPr/>
          <p:nvPr/>
        </p:nvSpPr>
        <p:spPr>
          <a:xfrm>
            <a:off x="4361688" y="2926080"/>
            <a:ext cx="1188720" cy="960120"/>
          </a:xfrm>
          <a:prstGeom prst="roundRect">
            <a:avLst>
              <a:gd name="adj" fmla="val 7619"/>
            </a:avLst>
          </a:prstGeom>
          <a:solidFill>
            <a:srgbClr val="FFFFFF"/>
          </a:solidFill>
          <a:ln w="12700">
            <a:solidFill>
              <a:srgbClr val="1F2A5A"/>
            </a:solidFill>
            <a:prstDash val="solid"/>
          </a:ln>
        </p:spPr>
        <p:txBody>
          <a:bodyPr/>
          <a:lstStyle/>
          <a:p>
            <a:endParaRPr lang="ja-JP" altLang="en-US"/>
          </a:p>
        </p:txBody>
      </p:sp>
      <p:sp>
        <p:nvSpPr>
          <p:cNvPr id="16" name="Text 14"/>
          <p:cNvSpPr/>
          <p:nvPr/>
        </p:nvSpPr>
        <p:spPr>
          <a:xfrm>
            <a:off x="4471416" y="3118104"/>
            <a:ext cx="960120" cy="548640"/>
          </a:xfrm>
          <a:prstGeom prst="rect">
            <a:avLst/>
          </a:prstGeom>
          <a:noFill/>
          <a:ln/>
        </p:spPr>
        <p:txBody>
          <a:bodyPr wrap="square" lIns="0" tIns="0" rIns="0" bIns="0" rtlCol="0" anchor="ctr"/>
          <a:lstStyle/>
          <a:p>
            <a:pPr marL="0" indent="0" algn="ctr">
              <a:buNone/>
            </a:pPr>
            <a:r>
              <a:rPr lang="en-US" sz="1320" b="1" dirty="0">
                <a:solidFill>
                  <a:srgbClr val="1F2A5A"/>
                </a:solidFill>
                <a:latin typeface="Noto Sans CJK JP" pitchFamily="34" charset="0"/>
                <a:ea typeface="Noto Sans CJK JP" pitchFamily="34" charset="-122"/>
                <a:cs typeface="Noto Sans CJK JP" pitchFamily="34" charset="-120"/>
              </a:rPr>
              <a:t>BESSから</a:t>
            </a:r>
            <a:endParaRPr lang="en-US" sz="1320" dirty="0"/>
          </a:p>
          <a:p>
            <a:pPr marL="0" indent="0" algn="ctr">
              <a:buNone/>
            </a:pPr>
            <a:r>
              <a:rPr lang="en-US" sz="1320" b="1" dirty="0">
                <a:solidFill>
                  <a:srgbClr val="1F2A5A"/>
                </a:solidFill>
                <a:latin typeface="Noto Sans CJK JP" pitchFamily="34" charset="0"/>
                <a:ea typeface="Noto Sans CJK JP" pitchFamily="34" charset="-122"/>
                <a:cs typeface="Noto Sans CJK JP" pitchFamily="34" charset="-120"/>
              </a:rPr>
              <a:t>2,322 kWh</a:t>
            </a:r>
            <a:endParaRPr lang="en-US" sz="1320" dirty="0"/>
          </a:p>
        </p:txBody>
      </p:sp>
      <p:sp>
        <p:nvSpPr>
          <p:cNvPr id="17" name="Shape 15"/>
          <p:cNvSpPr/>
          <p:nvPr/>
        </p:nvSpPr>
        <p:spPr>
          <a:xfrm>
            <a:off x="3977640" y="3227832"/>
            <a:ext cx="310896" cy="310896"/>
          </a:xfrm>
          <a:prstGeom prst="chevron">
            <a:avLst/>
          </a:prstGeom>
          <a:solidFill>
            <a:srgbClr val="356BB3"/>
          </a:solidFill>
          <a:ln w="12700">
            <a:solidFill>
              <a:srgbClr val="356BB3"/>
            </a:solidFill>
            <a:prstDash val="solid"/>
          </a:ln>
        </p:spPr>
        <p:txBody>
          <a:bodyPr/>
          <a:lstStyle/>
          <a:p>
            <a:endParaRPr lang="ja-JP" altLang="en-US"/>
          </a:p>
        </p:txBody>
      </p:sp>
      <p:sp>
        <p:nvSpPr>
          <p:cNvPr id="18" name="Shape 16"/>
          <p:cNvSpPr/>
          <p:nvPr/>
        </p:nvSpPr>
        <p:spPr>
          <a:xfrm>
            <a:off x="2624328" y="4096512"/>
            <a:ext cx="1325880" cy="786384"/>
          </a:xfrm>
          <a:prstGeom prst="roundRect">
            <a:avLst>
              <a:gd name="adj" fmla="val 9302"/>
            </a:avLst>
          </a:prstGeom>
          <a:solidFill>
            <a:srgbClr val="FFFFFF"/>
          </a:solidFill>
          <a:ln w="12700">
            <a:solidFill>
              <a:srgbClr val="A5AFBD"/>
            </a:solidFill>
            <a:prstDash val="solid"/>
          </a:ln>
        </p:spPr>
        <p:txBody>
          <a:bodyPr/>
          <a:lstStyle/>
          <a:p>
            <a:endParaRPr lang="ja-JP" altLang="en-US"/>
          </a:p>
        </p:txBody>
      </p:sp>
      <p:sp>
        <p:nvSpPr>
          <p:cNvPr id="19" name="Text 17"/>
          <p:cNvSpPr/>
          <p:nvPr/>
        </p:nvSpPr>
        <p:spPr>
          <a:xfrm>
            <a:off x="2743200" y="4224528"/>
            <a:ext cx="1078992" cy="438912"/>
          </a:xfrm>
          <a:prstGeom prst="rect">
            <a:avLst/>
          </a:prstGeom>
          <a:noFill/>
          <a:ln/>
        </p:spPr>
        <p:txBody>
          <a:bodyPr wrap="square" lIns="0" tIns="0" rIns="0" bIns="0" rtlCol="0" anchor="ctr"/>
          <a:lstStyle/>
          <a:p>
            <a:pPr marL="0" indent="0" algn="ctr">
              <a:buNone/>
            </a:pPr>
            <a:r>
              <a:rPr lang="en-US" sz="1320" b="1" dirty="0">
                <a:solidFill>
                  <a:srgbClr val="687386"/>
                </a:solidFill>
                <a:latin typeface="Noto Sans CJK JP" pitchFamily="34" charset="0"/>
                <a:ea typeface="Noto Sans CJK JP" pitchFamily="34" charset="-122"/>
                <a:cs typeface="Noto Sans CJK JP" pitchFamily="34" charset="-120"/>
              </a:rPr>
              <a:t>抑制</a:t>
            </a:r>
            <a:endParaRPr lang="en-US" sz="1320" dirty="0"/>
          </a:p>
          <a:p>
            <a:pPr marL="0" indent="0" algn="ctr">
              <a:buNone/>
            </a:pPr>
            <a:r>
              <a:rPr lang="en-US" sz="1320" b="1" dirty="0">
                <a:solidFill>
                  <a:srgbClr val="687386"/>
                </a:solidFill>
                <a:latin typeface="Noto Sans CJK JP" pitchFamily="34" charset="0"/>
                <a:ea typeface="Noto Sans CJK JP" pitchFamily="34" charset="-122"/>
                <a:cs typeface="Noto Sans CJK JP" pitchFamily="34" charset="-120"/>
              </a:rPr>
              <a:t>3,373 kWh</a:t>
            </a:r>
            <a:endParaRPr lang="en-US" sz="1320" dirty="0"/>
          </a:p>
        </p:txBody>
      </p:sp>
      <p:sp>
        <p:nvSpPr>
          <p:cNvPr id="20" name="Shape 18"/>
          <p:cNvSpPr/>
          <p:nvPr/>
        </p:nvSpPr>
        <p:spPr>
          <a:xfrm>
            <a:off x="4361688" y="4096512"/>
            <a:ext cx="1188720" cy="786384"/>
          </a:xfrm>
          <a:prstGeom prst="roundRect">
            <a:avLst>
              <a:gd name="adj" fmla="val 9302"/>
            </a:avLst>
          </a:prstGeom>
          <a:solidFill>
            <a:srgbClr val="FFFFFF"/>
          </a:solidFill>
          <a:ln w="12700">
            <a:solidFill>
              <a:srgbClr val="E98B3A"/>
            </a:solidFill>
            <a:prstDash val="solid"/>
          </a:ln>
        </p:spPr>
        <p:txBody>
          <a:bodyPr/>
          <a:lstStyle/>
          <a:p>
            <a:endParaRPr lang="ja-JP" altLang="en-US"/>
          </a:p>
        </p:txBody>
      </p:sp>
      <p:sp>
        <p:nvSpPr>
          <p:cNvPr id="21" name="Text 19"/>
          <p:cNvSpPr/>
          <p:nvPr/>
        </p:nvSpPr>
        <p:spPr>
          <a:xfrm>
            <a:off x="4462272" y="4224528"/>
            <a:ext cx="987552" cy="438912"/>
          </a:xfrm>
          <a:prstGeom prst="rect">
            <a:avLst/>
          </a:prstGeom>
          <a:noFill/>
          <a:ln/>
        </p:spPr>
        <p:txBody>
          <a:bodyPr wrap="square" lIns="0" tIns="0" rIns="0" bIns="0" rtlCol="0" anchor="ctr"/>
          <a:lstStyle/>
          <a:p>
            <a:pPr marL="0" indent="0" algn="ctr">
              <a:buNone/>
            </a:pPr>
            <a:r>
              <a:rPr lang="en-US" sz="1320" b="1" dirty="0">
                <a:solidFill>
                  <a:srgbClr val="E98B3A"/>
                </a:solidFill>
                <a:latin typeface="Noto Sans CJK JP" pitchFamily="34" charset="0"/>
                <a:ea typeface="Noto Sans CJK JP" pitchFamily="34" charset="-122"/>
                <a:cs typeface="Noto Sans CJK JP" pitchFamily="34" charset="-120"/>
              </a:rPr>
              <a:t>系統から</a:t>
            </a:r>
            <a:endParaRPr lang="en-US" sz="1320" dirty="0"/>
          </a:p>
          <a:p>
            <a:pPr marL="0" indent="0" algn="ctr">
              <a:buNone/>
            </a:pPr>
            <a:r>
              <a:rPr lang="en-US" sz="1320" b="1" dirty="0">
                <a:solidFill>
                  <a:srgbClr val="E98B3A"/>
                </a:solidFill>
                <a:latin typeface="Noto Sans CJK JP" pitchFamily="34" charset="0"/>
                <a:ea typeface="Noto Sans CJK JP" pitchFamily="34" charset="-122"/>
                <a:cs typeface="Noto Sans CJK JP" pitchFamily="34" charset="-120"/>
              </a:rPr>
              <a:t>0 kWh</a:t>
            </a:r>
            <a:endParaRPr lang="en-US" sz="1320" dirty="0"/>
          </a:p>
        </p:txBody>
      </p:sp>
      <p:sp>
        <p:nvSpPr>
          <p:cNvPr id="22" name="Text 20"/>
          <p:cNvSpPr/>
          <p:nvPr/>
        </p:nvSpPr>
        <p:spPr>
          <a:xfrm>
            <a:off x="4087368" y="2148840"/>
            <a:ext cx="1554480" cy="256032"/>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BEV充電へ</a:t>
            </a:r>
            <a:endParaRPr lang="en-US" sz="1400" dirty="0"/>
          </a:p>
        </p:txBody>
      </p:sp>
      <p:sp>
        <p:nvSpPr>
          <p:cNvPr id="23" name="Text 21"/>
          <p:cNvSpPr/>
          <p:nvPr/>
        </p:nvSpPr>
        <p:spPr>
          <a:xfrm>
            <a:off x="4178808" y="5074920"/>
            <a:ext cx="1572768" cy="274320"/>
          </a:xfrm>
          <a:prstGeom prst="rect">
            <a:avLst/>
          </a:prstGeom>
          <a:noFill/>
          <a:ln/>
        </p:spPr>
        <p:txBody>
          <a:bodyPr wrap="square" lIns="0" tIns="0" rIns="0" bIns="0" rtlCol="0" anchor="ctr"/>
          <a:lstStyle/>
          <a:p>
            <a:pPr marL="0" indent="0" algn="ctr">
              <a:buNone/>
            </a:pPr>
            <a:r>
              <a:rPr lang="en-US" sz="1150" dirty="0">
                <a:solidFill>
                  <a:srgbClr val="687386"/>
                </a:solidFill>
                <a:latin typeface="Noto Sans CJK JP" pitchFamily="34" charset="0"/>
                <a:ea typeface="Noto Sans CJK JP" pitchFamily="34" charset="-122"/>
                <a:cs typeface="Noto Sans CJK JP" pitchFamily="34" charset="-120"/>
              </a:rPr>
              <a:t>BESS損失 約251 kWh</a:t>
            </a:r>
            <a:endParaRPr lang="en-US" sz="1150" dirty="0"/>
          </a:p>
        </p:txBody>
      </p:sp>
      <p:sp>
        <p:nvSpPr>
          <p:cNvPr id="24" name="Shape 22"/>
          <p:cNvSpPr/>
          <p:nvPr/>
        </p:nvSpPr>
        <p:spPr>
          <a:xfrm>
            <a:off x="6236208" y="1051560"/>
            <a:ext cx="5394960" cy="5166360"/>
          </a:xfrm>
          <a:prstGeom prst="roundRect">
            <a:avLst>
              <a:gd name="adj" fmla="val 1416"/>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25" name="Shape 23"/>
          <p:cNvSpPr/>
          <p:nvPr/>
        </p:nvSpPr>
        <p:spPr>
          <a:xfrm>
            <a:off x="6556248" y="1298448"/>
            <a:ext cx="1417320" cy="310896"/>
          </a:xfrm>
          <a:prstGeom prst="roundRect">
            <a:avLst/>
          </a:prstGeom>
          <a:solidFill>
            <a:srgbClr val="356BB3"/>
          </a:solidFill>
          <a:ln w="12700">
            <a:solidFill>
              <a:srgbClr val="356BB3"/>
            </a:solidFill>
            <a:prstDash val="solid"/>
          </a:ln>
        </p:spPr>
        <p:txBody>
          <a:bodyPr/>
          <a:lstStyle/>
          <a:p>
            <a:endParaRPr lang="ja-JP" altLang="en-US"/>
          </a:p>
        </p:txBody>
      </p:sp>
      <p:sp>
        <p:nvSpPr>
          <p:cNvPr id="26" name="Text 24"/>
          <p:cNvSpPr/>
          <p:nvPr/>
        </p:nvSpPr>
        <p:spPr>
          <a:xfrm>
            <a:off x="6601968" y="1316736"/>
            <a:ext cx="132588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Noto Sans CJK JP" pitchFamily="34" charset="0"/>
                <a:ea typeface="Noto Sans CJK JP" pitchFamily="34" charset="-122"/>
                <a:cs typeface="Noto Sans CJK JP" pitchFamily="34" charset="-120"/>
              </a:rPr>
              <a:t>低PV条件</a:t>
            </a:r>
            <a:endParaRPr lang="en-US" sz="1050" dirty="0"/>
          </a:p>
        </p:txBody>
      </p:sp>
      <p:sp>
        <p:nvSpPr>
          <p:cNvPr id="27" name="Text 25"/>
          <p:cNvSpPr/>
          <p:nvPr/>
        </p:nvSpPr>
        <p:spPr>
          <a:xfrm>
            <a:off x="6583680" y="1901952"/>
            <a:ext cx="1234440" cy="713232"/>
          </a:xfrm>
          <a:prstGeom prst="rect">
            <a:avLst/>
          </a:prstGeom>
          <a:noFill/>
          <a:ln/>
        </p:spPr>
        <p:txBody>
          <a:bodyPr wrap="square" lIns="0" tIns="0" rIns="0" bIns="0" rtlCol="0" anchor="ctr"/>
          <a:lstStyle/>
          <a:p>
            <a:pPr marL="0" indent="0" algn="ctr">
              <a:buNone/>
            </a:pPr>
            <a:r>
              <a:rPr lang="en-US" sz="1700" b="1" dirty="0">
                <a:solidFill>
                  <a:srgbClr val="E7B34B"/>
                </a:solidFill>
                <a:latin typeface="Noto Sans CJK JP" pitchFamily="34" charset="0"/>
                <a:ea typeface="Noto Sans CJK JP" pitchFamily="34" charset="-122"/>
                <a:cs typeface="Noto Sans CJK JP" pitchFamily="34" charset="-120"/>
              </a:rPr>
              <a:t>PV発電</a:t>
            </a:r>
            <a:endParaRPr lang="en-US" sz="1700" dirty="0"/>
          </a:p>
          <a:p>
            <a:pPr marL="0" indent="0" algn="ctr">
              <a:buNone/>
            </a:pPr>
            <a:r>
              <a:rPr lang="en-US" sz="1700" b="1" dirty="0">
                <a:solidFill>
                  <a:srgbClr val="E7B34B"/>
                </a:solidFill>
                <a:latin typeface="Noto Sans CJK JP" pitchFamily="34" charset="0"/>
                <a:ea typeface="Noto Sans CJK JP" pitchFamily="34" charset="-122"/>
                <a:cs typeface="Noto Sans CJK JP" pitchFamily="34" charset="-120"/>
              </a:rPr>
              <a:t>996 kWh</a:t>
            </a:r>
            <a:endParaRPr lang="en-US" sz="1700" dirty="0"/>
          </a:p>
        </p:txBody>
      </p:sp>
      <p:sp>
        <p:nvSpPr>
          <p:cNvPr id="28" name="Shape 26"/>
          <p:cNvSpPr/>
          <p:nvPr/>
        </p:nvSpPr>
        <p:spPr>
          <a:xfrm>
            <a:off x="7808976" y="2075688"/>
            <a:ext cx="438912" cy="347472"/>
          </a:xfrm>
          <a:prstGeom prst="chevron">
            <a:avLst/>
          </a:prstGeom>
          <a:solidFill>
            <a:srgbClr val="A5AFBD"/>
          </a:solidFill>
          <a:ln w="12700">
            <a:solidFill>
              <a:srgbClr val="A5AFBD"/>
            </a:solidFill>
            <a:prstDash val="solid"/>
          </a:ln>
        </p:spPr>
        <p:txBody>
          <a:bodyPr/>
          <a:lstStyle/>
          <a:p>
            <a:endParaRPr lang="ja-JP" altLang="en-US"/>
          </a:p>
        </p:txBody>
      </p:sp>
      <p:sp>
        <p:nvSpPr>
          <p:cNvPr id="29" name="Shape 27"/>
          <p:cNvSpPr/>
          <p:nvPr/>
        </p:nvSpPr>
        <p:spPr>
          <a:xfrm>
            <a:off x="8293608" y="1783080"/>
            <a:ext cx="1325880" cy="960120"/>
          </a:xfrm>
          <a:prstGeom prst="roundRect">
            <a:avLst>
              <a:gd name="adj" fmla="val 7619"/>
            </a:avLst>
          </a:prstGeom>
          <a:solidFill>
            <a:srgbClr val="FFFFFF"/>
          </a:solidFill>
          <a:ln w="12700">
            <a:solidFill>
              <a:srgbClr val="1F9D8A"/>
            </a:solidFill>
            <a:prstDash val="solid"/>
          </a:ln>
        </p:spPr>
        <p:txBody>
          <a:bodyPr/>
          <a:lstStyle/>
          <a:p>
            <a:endParaRPr lang="ja-JP" altLang="en-US"/>
          </a:p>
        </p:txBody>
      </p:sp>
      <p:sp>
        <p:nvSpPr>
          <p:cNvPr id="30" name="Text 28"/>
          <p:cNvSpPr/>
          <p:nvPr/>
        </p:nvSpPr>
        <p:spPr>
          <a:xfrm>
            <a:off x="8412480" y="1975104"/>
            <a:ext cx="1078992" cy="548640"/>
          </a:xfrm>
          <a:prstGeom prst="rect">
            <a:avLst/>
          </a:prstGeom>
          <a:noFill/>
          <a:ln/>
        </p:spPr>
        <p:txBody>
          <a:bodyPr wrap="square" lIns="0" tIns="0" rIns="0" bIns="0" rtlCol="0" anchor="ctr"/>
          <a:lstStyle/>
          <a:p>
            <a:pPr marL="0" indent="0" algn="ctr">
              <a:buNone/>
            </a:pPr>
            <a:r>
              <a:rPr lang="en-US" sz="1350" b="1" dirty="0">
                <a:solidFill>
                  <a:srgbClr val="1F9D8A"/>
                </a:solidFill>
                <a:latin typeface="Noto Sans CJK JP" pitchFamily="34" charset="0"/>
                <a:ea typeface="Noto Sans CJK JP" pitchFamily="34" charset="-122"/>
                <a:cs typeface="Noto Sans CJK JP" pitchFamily="34" charset="-120"/>
              </a:rPr>
              <a:t>直接充電</a:t>
            </a:r>
            <a:endParaRPr lang="en-US" sz="1350" dirty="0"/>
          </a:p>
          <a:p>
            <a:pPr marL="0" indent="0" algn="ctr">
              <a:buNone/>
            </a:pPr>
            <a:r>
              <a:rPr lang="en-US" sz="1350" b="1" dirty="0">
                <a:solidFill>
                  <a:srgbClr val="1F9D8A"/>
                </a:solidFill>
                <a:latin typeface="Noto Sans CJK JP" pitchFamily="34" charset="0"/>
                <a:ea typeface="Noto Sans CJK JP" pitchFamily="34" charset="-122"/>
                <a:cs typeface="Noto Sans CJK JP" pitchFamily="34" charset="-120"/>
              </a:rPr>
              <a:t>231 kWh</a:t>
            </a:r>
            <a:endParaRPr lang="en-US" sz="1350" dirty="0"/>
          </a:p>
        </p:txBody>
      </p:sp>
      <p:sp>
        <p:nvSpPr>
          <p:cNvPr id="31" name="Shape 29"/>
          <p:cNvSpPr/>
          <p:nvPr/>
        </p:nvSpPr>
        <p:spPr>
          <a:xfrm>
            <a:off x="8293608" y="2926080"/>
            <a:ext cx="1325880" cy="960120"/>
          </a:xfrm>
          <a:prstGeom prst="roundRect">
            <a:avLst>
              <a:gd name="adj" fmla="val 7619"/>
            </a:avLst>
          </a:prstGeom>
          <a:solidFill>
            <a:srgbClr val="FFFFFF"/>
          </a:solidFill>
          <a:ln w="12700">
            <a:solidFill>
              <a:srgbClr val="356BB3"/>
            </a:solidFill>
            <a:prstDash val="solid"/>
          </a:ln>
        </p:spPr>
        <p:txBody>
          <a:bodyPr/>
          <a:lstStyle/>
          <a:p>
            <a:endParaRPr lang="ja-JP" altLang="en-US"/>
          </a:p>
        </p:txBody>
      </p:sp>
      <p:sp>
        <p:nvSpPr>
          <p:cNvPr id="32" name="Text 30"/>
          <p:cNvSpPr/>
          <p:nvPr/>
        </p:nvSpPr>
        <p:spPr>
          <a:xfrm>
            <a:off x="8412480" y="3118104"/>
            <a:ext cx="1078992" cy="548640"/>
          </a:xfrm>
          <a:prstGeom prst="rect">
            <a:avLst/>
          </a:prstGeom>
          <a:noFill/>
          <a:ln/>
        </p:spPr>
        <p:txBody>
          <a:bodyPr wrap="square" lIns="0" tIns="0" rIns="0" bIns="0" rtlCol="0" anchor="ctr"/>
          <a:lstStyle/>
          <a:p>
            <a:pPr marL="0" indent="0" algn="ctr">
              <a:buNone/>
            </a:pPr>
            <a:r>
              <a:rPr lang="en-US" sz="1350" b="1" dirty="0">
                <a:solidFill>
                  <a:srgbClr val="356BB3"/>
                </a:solidFill>
                <a:latin typeface="Noto Sans CJK JP" pitchFamily="34" charset="0"/>
                <a:ea typeface="Noto Sans CJK JP" pitchFamily="34" charset="-122"/>
                <a:cs typeface="Noto Sans CJK JP" pitchFamily="34" charset="-120"/>
              </a:rPr>
              <a:t>BESSへ</a:t>
            </a:r>
            <a:endParaRPr lang="en-US" sz="1350" dirty="0"/>
          </a:p>
          <a:p>
            <a:pPr marL="0" indent="0" algn="ctr">
              <a:buNone/>
            </a:pPr>
            <a:r>
              <a:rPr lang="en-US" sz="1350" b="1" dirty="0">
                <a:solidFill>
                  <a:srgbClr val="356BB3"/>
                </a:solidFill>
                <a:latin typeface="Noto Sans CJK JP" pitchFamily="34" charset="0"/>
                <a:ea typeface="Noto Sans CJK JP" pitchFamily="34" charset="-122"/>
                <a:cs typeface="Noto Sans CJK JP" pitchFamily="34" charset="-120"/>
              </a:rPr>
              <a:t>766 kWh</a:t>
            </a:r>
            <a:endParaRPr lang="en-US" sz="1350" dirty="0"/>
          </a:p>
        </p:txBody>
      </p:sp>
      <p:sp>
        <p:nvSpPr>
          <p:cNvPr id="33" name="Shape 31"/>
          <p:cNvSpPr/>
          <p:nvPr/>
        </p:nvSpPr>
        <p:spPr>
          <a:xfrm>
            <a:off x="10030968" y="2926080"/>
            <a:ext cx="1188720" cy="960120"/>
          </a:xfrm>
          <a:prstGeom prst="roundRect">
            <a:avLst>
              <a:gd name="adj" fmla="val 7619"/>
            </a:avLst>
          </a:prstGeom>
          <a:solidFill>
            <a:srgbClr val="FFFFFF"/>
          </a:solidFill>
          <a:ln w="12700">
            <a:solidFill>
              <a:srgbClr val="1F2A5A"/>
            </a:solidFill>
            <a:prstDash val="solid"/>
          </a:ln>
        </p:spPr>
        <p:txBody>
          <a:bodyPr/>
          <a:lstStyle/>
          <a:p>
            <a:endParaRPr lang="ja-JP" altLang="en-US"/>
          </a:p>
        </p:txBody>
      </p:sp>
      <p:sp>
        <p:nvSpPr>
          <p:cNvPr id="34" name="Text 32"/>
          <p:cNvSpPr/>
          <p:nvPr/>
        </p:nvSpPr>
        <p:spPr>
          <a:xfrm>
            <a:off x="10140696" y="3118104"/>
            <a:ext cx="960120" cy="548640"/>
          </a:xfrm>
          <a:prstGeom prst="rect">
            <a:avLst/>
          </a:prstGeom>
          <a:noFill/>
          <a:ln/>
        </p:spPr>
        <p:txBody>
          <a:bodyPr wrap="square" lIns="0" tIns="0" rIns="0" bIns="0" rtlCol="0" anchor="ctr"/>
          <a:lstStyle/>
          <a:p>
            <a:pPr marL="0" indent="0" algn="ctr">
              <a:buNone/>
            </a:pPr>
            <a:r>
              <a:rPr lang="en-US" sz="1320" b="1" dirty="0">
                <a:solidFill>
                  <a:srgbClr val="1F2A5A"/>
                </a:solidFill>
                <a:latin typeface="Noto Sans CJK JP" pitchFamily="34" charset="0"/>
                <a:ea typeface="Noto Sans CJK JP" pitchFamily="34" charset="-122"/>
                <a:cs typeface="Noto Sans CJK JP" pitchFamily="34" charset="-120"/>
              </a:rPr>
              <a:t>BESSから</a:t>
            </a:r>
            <a:endParaRPr lang="en-US" sz="1320" dirty="0"/>
          </a:p>
          <a:p>
            <a:pPr marL="0" indent="0" algn="ctr">
              <a:buNone/>
            </a:pPr>
            <a:r>
              <a:rPr lang="en-US" sz="1320" b="1" dirty="0">
                <a:solidFill>
                  <a:srgbClr val="1F2A5A"/>
                </a:solidFill>
                <a:latin typeface="Noto Sans CJK JP" pitchFamily="34" charset="0"/>
                <a:ea typeface="Noto Sans CJK JP" pitchFamily="34" charset="-122"/>
                <a:cs typeface="Noto Sans CJK JP" pitchFamily="34" charset="-120"/>
              </a:rPr>
              <a:t>691 kWh</a:t>
            </a:r>
            <a:endParaRPr lang="en-US" sz="1320" dirty="0"/>
          </a:p>
        </p:txBody>
      </p:sp>
      <p:sp>
        <p:nvSpPr>
          <p:cNvPr id="35" name="Shape 33"/>
          <p:cNvSpPr/>
          <p:nvPr/>
        </p:nvSpPr>
        <p:spPr>
          <a:xfrm>
            <a:off x="9646920" y="3227832"/>
            <a:ext cx="310896" cy="310896"/>
          </a:xfrm>
          <a:prstGeom prst="chevron">
            <a:avLst/>
          </a:prstGeom>
          <a:solidFill>
            <a:srgbClr val="356BB3"/>
          </a:solidFill>
          <a:ln w="12700">
            <a:solidFill>
              <a:srgbClr val="356BB3"/>
            </a:solidFill>
            <a:prstDash val="solid"/>
          </a:ln>
        </p:spPr>
        <p:txBody>
          <a:bodyPr/>
          <a:lstStyle/>
          <a:p>
            <a:endParaRPr lang="ja-JP" altLang="en-US"/>
          </a:p>
        </p:txBody>
      </p:sp>
      <p:sp>
        <p:nvSpPr>
          <p:cNvPr id="36" name="Shape 34"/>
          <p:cNvSpPr/>
          <p:nvPr/>
        </p:nvSpPr>
        <p:spPr>
          <a:xfrm>
            <a:off x="8293608" y="4096512"/>
            <a:ext cx="1325880" cy="786384"/>
          </a:xfrm>
          <a:prstGeom prst="roundRect">
            <a:avLst>
              <a:gd name="adj" fmla="val 9302"/>
            </a:avLst>
          </a:prstGeom>
          <a:solidFill>
            <a:srgbClr val="FFFFFF"/>
          </a:solidFill>
          <a:ln w="12700">
            <a:solidFill>
              <a:srgbClr val="A5AFBD"/>
            </a:solidFill>
            <a:prstDash val="solid"/>
          </a:ln>
        </p:spPr>
        <p:txBody>
          <a:bodyPr/>
          <a:lstStyle/>
          <a:p>
            <a:endParaRPr lang="ja-JP" altLang="en-US"/>
          </a:p>
        </p:txBody>
      </p:sp>
      <p:sp>
        <p:nvSpPr>
          <p:cNvPr id="37" name="Text 35"/>
          <p:cNvSpPr/>
          <p:nvPr/>
        </p:nvSpPr>
        <p:spPr>
          <a:xfrm>
            <a:off x="8412480" y="4224528"/>
            <a:ext cx="1078992" cy="438912"/>
          </a:xfrm>
          <a:prstGeom prst="rect">
            <a:avLst/>
          </a:prstGeom>
          <a:noFill/>
          <a:ln/>
        </p:spPr>
        <p:txBody>
          <a:bodyPr wrap="square" lIns="0" tIns="0" rIns="0" bIns="0" rtlCol="0" anchor="ctr"/>
          <a:lstStyle/>
          <a:p>
            <a:pPr marL="0" indent="0" algn="ctr">
              <a:buNone/>
            </a:pPr>
            <a:r>
              <a:rPr lang="en-US" sz="1320" b="1" dirty="0">
                <a:solidFill>
                  <a:srgbClr val="687386"/>
                </a:solidFill>
                <a:latin typeface="Noto Sans CJK JP" pitchFamily="34" charset="0"/>
                <a:ea typeface="Noto Sans CJK JP" pitchFamily="34" charset="-122"/>
                <a:cs typeface="Noto Sans CJK JP" pitchFamily="34" charset="-120"/>
              </a:rPr>
              <a:t>抑制</a:t>
            </a:r>
            <a:endParaRPr lang="en-US" sz="1320" dirty="0"/>
          </a:p>
          <a:p>
            <a:pPr marL="0" indent="0" algn="ctr">
              <a:buNone/>
            </a:pPr>
            <a:r>
              <a:rPr lang="en-US" sz="1320" b="1" dirty="0">
                <a:solidFill>
                  <a:srgbClr val="687386"/>
                </a:solidFill>
                <a:latin typeface="Noto Sans CJK JP" pitchFamily="34" charset="0"/>
                <a:ea typeface="Noto Sans CJK JP" pitchFamily="34" charset="-122"/>
                <a:cs typeface="Noto Sans CJK JP" pitchFamily="34" charset="-120"/>
              </a:rPr>
              <a:t>0 kWh</a:t>
            </a:r>
            <a:endParaRPr lang="en-US" sz="1320" dirty="0"/>
          </a:p>
        </p:txBody>
      </p:sp>
      <p:sp>
        <p:nvSpPr>
          <p:cNvPr id="38" name="Shape 36"/>
          <p:cNvSpPr/>
          <p:nvPr/>
        </p:nvSpPr>
        <p:spPr>
          <a:xfrm>
            <a:off x="10030968" y="4096512"/>
            <a:ext cx="1188720" cy="786384"/>
          </a:xfrm>
          <a:prstGeom prst="roundRect">
            <a:avLst>
              <a:gd name="adj" fmla="val 9302"/>
            </a:avLst>
          </a:prstGeom>
          <a:solidFill>
            <a:srgbClr val="FFFFFF"/>
          </a:solidFill>
          <a:ln w="12700">
            <a:solidFill>
              <a:srgbClr val="E98B3A"/>
            </a:solidFill>
            <a:prstDash val="solid"/>
          </a:ln>
        </p:spPr>
        <p:txBody>
          <a:bodyPr/>
          <a:lstStyle/>
          <a:p>
            <a:endParaRPr lang="ja-JP" altLang="en-US"/>
          </a:p>
        </p:txBody>
      </p:sp>
      <p:sp>
        <p:nvSpPr>
          <p:cNvPr id="39" name="Text 37"/>
          <p:cNvSpPr/>
          <p:nvPr/>
        </p:nvSpPr>
        <p:spPr>
          <a:xfrm>
            <a:off x="10131552" y="4224528"/>
            <a:ext cx="987552" cy="438912"/>
          </a:xfrm>
          <a:prstGeom prst="rect">
            <a:avLst/>
          </a:prstGeom>
          <a:noFill/>
          <a:ln/>
        </p:spPr>
        <p:txBody>
          <a:bodyPr wrap="square" lIns="0" tIns="0" rIns="0" bIns="0" rtlCol="0" anchor="ctr"/>
          <a:lstStyle/>
          <a:p>
            <a:pPr marL="0" indent="0" algn="ctr">
              <a:buNone/>
            </a:pPr>
            <a:r>
              <a:rPr lang="en-US" sz="1320" b="1" dirty="0">
                <a:solidFill>
                  <a:srgbClr val="E98B3A"/>
                </a:solidFill>
                <a:latin typeface="Noto Sans CJK JP" pitchFamily="34" charset="0"/>
                <a:ea typeface="Noto Sans CJK JP" pitchFamily="34" charset="-122"/>
                <a:cs typeface="Noto Sans CJK JP" pitchFamily="34" charset="-120"/>
              </a:rPr>
              <a:t>系統から</a:t>
            </a:r>
            <a:endParaRPr lang="en-US" sz="1320" dirty="0"/>
          </a:p>
          <a:p>
            <a:pPr marL="0" indent="0" algn="ctr">
              <a:buNone/>
            </a:pPr>
            <a:r>
              <a:rPr lang="en-US" sz="1320" b="1" dirty="0">
                <a:solidFill>
                  <a:srgbClr val="E98B3A"/>
                </a:solidFill>
                <a:latin typeface="Noto Sans CJK JP" pitchFamily="34" charset="0"/>
                <a:ea typeface="Noto Sans CJK JP" pitchFamily="34" charset="-122"/>
                <a:cs typeface="Noto Sans CJK JP" pitchFamily="34" charset="-120"/>
              </a:rPr>
              <a:t>131 kWh</a:t>
            </a:r>
            <a:endParaRPr lang="en-US" sz="1320" dirty="0"/>
          </a:p>
        </p:txBody>
      </p:sp>
      <p:sp>
        <p:nvSpPr>
          <p:cNvPr id="40" name="Text 38"/>
          <p:cNvSpPr/>
          <p:nvPr/>
        </p:nvSpPr>
        <p:spPr>
          <a:xfrm>
            <a:off x="9756648" y="2148840"/>
            <a:ext cx="1554480" cy="256032"/>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BEV充電へ</a:t>
            </a:r>
            <a:endParaRPr lang="en-US" sz="1400" dirty="0"/>
          </a:p>
        </p:txBody>
      </p:sp>
      <p:sp>
        <p:nvSpPr>
          <p:cNvPr id="41" name="Text 39"/>
          <p:cNvSpPr/>
          <p:nvPr/>
        </p:nvSpPr>
        <p:spPr>
          <a:xfrm>
            <a:off x="9848088" y="5074920"/>
            <a:ext cx="1572768" cy="274320"/>
          </a:xfrm>
          <a:prstGeom prst="rect">
            <a:avLst/>
          </a:prstGeom>
          <a:noFill/>
          <a:ln/>
        </p:spPr>
        <p:txBody>
          <a:bodyPr wrap="square" lIns="0" tIns="0" rIns="0" bIns="0" rtlCol="0" anchor="ctr"/>
          <a:lstStyle/>
          <a:p>
            <a:pPr marL="0" indent="0" algn="ctr">
              <a:buNone/>
            </a:pPr>
            <a:r>
              <a:rPr lang="en-US" sz="1150" dirty="0">
                <a:solidFill>
                  <a:srgbClr val="687386"/>
                </a:solidFill>
                <a:latin typeface="Noto Sans CJK JP" pitchFamily="34" charset="0"/>
                <a:ea typeface="Noto Sans CJK JP" pitchFamily="34" charset="-122"/>
                <a:cs typeface="Noto Sans CJK JP" pitchFamily="34" charset="-120"/>
              </a:rPr>
              <a:t>BESS損失 約75 kWh</a:t>
            </a:r>
            <a:endParaRPr lang="en-US" sz="1150" dirty="0"/>
          </a:p>
        </p:txBody>
      </p:sp>
      <p:sp>
        <p:nvSpPr>
          <p:cNvPr id="42" name="Text 40"/>
          <p:cNvSpPr/>
          <p:nvPr/>
        </p:nvSpPr>
        <p:spPr>
          <a:xfrm>
            <a:off x="452628" y="5791747"/>
            <a:ext cx="10378440" cy="292608"/>
          </a:xfrm>
          <a:prstGeom prst="rect">
            <a:avLst/>
          </a:prstGeom>
          <a:noFill/>
          <a:ln/>
        </p:spPr>
        <p:txBody>
          <a:bodyPr wrap="square" lIns="0" tIns="0" rIns="0" bIns="0" rtlCol="0" anchor="ctr"/>
          <a:lstStyle/>
          <a:p>
            <a:pPr marL="0" indent="0" algn="ctr">
              <a:buNone/>
            </a:pPr>
            <a:r>
              <a:rPr lang="en-US" sz="1450" b="1" dirty="0">
                <a:solidFill>
                  <a:srgbClr val="1F2A5A"/>
                </a:solidFill>
                <a:latin typeface="Noto Sans CJK JP" pitchFamily="34" charset="0"/>
                <a:ea typeface="Noto Sans CJK JP" pitchFamily="34" charset="-122"/>
                <a:cs typeface="Noto Sans CJK JP" pitchFamily="34" charset="-120"/>
              </a:rPr>
              <a:t>高PV：抑制が発生。原因の特定は今後の課題　／　低PV：ほぼ全量を使い、不足分を系統から補う</a:t>
            </a:r>
            <a:endParaRPr lang="en-US" sz="1450" dirty="0"/>
          </a:p>
        </p:txBody>
      </p:sp>
      <p:sp>
        <p:nvSpPr>
          <p:cNvPr id="43" name="Text 41"/>
          <p:cNvSpPr/>
          <p:nvPr/>
        </p:nvSpPr>
        <p:spPr>
          <a:xfrm>
            <a:off x="566928" y="6318504"/>
            <a:ext cx="10469880" cy="146304"/>
          </a:xfrm>
          <a:prstGeom prst="rect">
            <a:avLst/>
          </a:prstGeom>
          <a:noFill/>
          <a:ln/>
        </p:spPr>
        <p:txBody>
          <a:bodyPr wrap="square" lIns="0" tIns="0" rIns="0" bIns="0" rtlCol="0" anchor="ctr"/>
          <a:lstStyle/>
          <a:p>
            <a:pPr marL="0" indent="0">
              <a:buNone/>
            </a:pPr>
            <a:r>
              <a:rPr lang="en-US" sz="720" dirty="0">
                <a:solidFill>
                  <a:srgbClr val="7B8494"/>
                </a:solidFill>
                <a:latin typeface="Noto Sans CJK JP" pitchFamily="34" charset="0"/>
                <a:ea typeface="Noto Sans CJK JP" pitchFamily="34" charset="-122"/>
                <a:cs typeface="Noto Sans CJK JP" pitchFamily="34" charset="-120"/>
              </a:rPr>
              <a:t>参考構成：Fei et al. (2023) の時間別充放電図、Najafi et al. (2025) の交通・電力システム統合図を参考に、本研究の日合計値で再構成</a:t>
            </a:r>
            <a:endParaRPr lang="en-US" sz="720" dirty="0"/>
          </a:p>
        </p:txBody>
      </p:sp>
    </p:spTree>
  </p:cSld>
  <p:clrMapOvr>
    <a:masterClrMapping/>
  </p:clrMapOvr>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A3EAA2-FF56-4749-B255-B88E4DCB7B7F}"/>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追加分析で、結果の中身が分かった</a:t>
            </a:r>
          </a:p>
        </p:txBody>
      </p:sp>
      <p:sp>
        <p:nvSpPr>
          <p:cNvPr id="2" name="">
            <a:extLst xmlns:a="http://schemas.openxmlformats.org/drawingml/2006/main">
              <a:ext uri="{FF2B5EF4-FFF2-40B4-BE49-F238E27FC236}">
                <a16:creationId xmlns:a16="http://schemas.microsoft.com/office/drawing/2014/main" id="{E366884F-9852-4764-8160-D9B3288EE6C8}"/>
              </a:ext>
            </a:extLst>
          </p:cNvPr>
          <p:cNvSpPr>
            <a:spLocks xmlns:a="http://schemas.openxmlformats.org/drawingml/2006/main" noGrp="1"/>
          </p:cNvSpPr>
          <p:nvPr/>
        </p:nvSpPr>
        <p:spPr>
          <a:xfrm xmlns:a="http://schemas.openxmlformats.org/drawingml/2006/main">
            <a:off x="571500" y="9620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87B"/>
                </a:solidFill>
                <a:latin typeface="Meiryo"/>
                <a:ea typeface="Meiryo"/>
                <a:cs typeface="Meiryo"/>
              </a:defRPr>
            </a:pPr>
            <a:r>
              <a:rPr sz="1875" b="0">
                <a:solidFill>
                  <a:srgbClr val="59687B"/>
                </a:solidFill>
                <a:latin typeface="Meiryo"/>
                <a:ea typeface="Meiryo"/>
                <a:cs typeface="Meiryo"/>
              </a:rPr>
              <a:t>9月5日の進捗：同じ結果を、便・時間・費用の内訳まで確認</a:t>
            </a:r>
          </a:p>
        </p:txBody>
      </p:sp>
      <p:graphicFrame>
        <p:nvGraphicFramePr>
          <p:cNvPr id="9" name=""/>
          <p:cNvGraphicFramePr/>
          <p:nvPr/>
        </p:nvGraphicFramePr>
        <p:xfrm>
          <a:off xmlns:a="http://schemas.openxmlformats.org/drawingml/2006/main" x="571500" y="1714500"/>
          <a:ext xmlns:a="http://schemas.openxmlformats.org/drawingml/2006/main" cx="11049000" cy="3476625"/>
        </p:xfrm>
        <a:graphic xmlns:a="http://schemas.openxmlformats.org/drawingml/2006/main">
          <a:graphicData uri="http://schemas.openxmlformats.org/drawingml/2006/table">
            <a:tbl>
              <a:tblPr/>
              <a:tblGrid>
                <a:gridCol w="3476625"/>
                <a:gridCol w="3667125"/>
                <a:gridCol w="3905250"/>
              </a:tblGrid>
              <a:tr h="869156">
                <a:tc>
                  <a:txBody>
                    <a:bodyPr/>
                    <a:lstStyle/>
                    <a:p>
                      <a:r>
                        <a:rPr sz="1875" b="1">
                          <a:solidFill>
                            <a:srgbClr val="FFFFFF"/>
                          </a:solidFill>
                          <a:latin typeface="Meiryo"/>
                          <a:ea typeface="Meiryo"/>
                          <a:cs typeface="Meiryo"/>
                        </a:rPr>
                        <a:t>これまでの説明</a:t>
                      </a:r>
                    </a:p>
                  </a:txBody>
                  <a:tcPr marL="91440" marR="91440" marT="45720" marB="45720">
                    <a:solidFill>
                      <a:srgbClr val="202B58"/>
                    </a:solidFill>
                  </a:tcPr>
                </a:tc>
                <a:tc>
                  <a:txBody>
                    <a:bodyPr/>
                    <a:lstStyle/>
                    <a:p>
                      <a:r>
                        <a:rPr sz="1875" b="1">
                          <a:solidFill>
                            <a:srgbClr val="FFFFFF"/>
                          </a:solidFill>
                          <a:latin typeface="Meiryo"/>
                          <a:ea typeface="Meiryo"/>
                          <a:cs typeface="Meiryo"/>
                        </a:rPr>
                        <a:t>追加で調べたこと</a:t>
                      </a:r>
                    </a:p>
                  </a:txBody>
                  <a:tcPr marL="91440" marR="91440" marT="45720" marB="45720">
                    <a:solidFill>
                      <a:srgbClr val="202B58"/>
                    </a:solidFill>
                  </a:tcPr>
                </a:tc>
                <a:tc>
                  <a:txBody>
                    <a:bodyPr/>
                    <a:lstStyle/>
                    <a:p>
                      <a:r>
                        <a:rPr sz="1875" b="1">
                          <a:solidFill>
                            <a:srgbClr val="FFFFFF"/>
                          </a:solidFill>
                          <a:latin typeface="Meiryo"/>
                          <a:ea typeface="Meiryo"/>
                          <a:cs typeface="Meiryo"/>
                        </a:rPr>
                        <a:t>新しく分かったこと</a:t>
                      </a:r>
                    </a:p>
                  </a:txBody>
                  <a:tcPr marL="91440" marR="91440" marT="45720" marB="45720">
                    <a:solidFill>
                      <a:srgbClr val="202B58"/>
                    </a:solidFill>
                  </a:tcPr>
                </a:tc>
              </a:tr>
              <a:tr h="869156">
                <a:tc>
                  <a:txBody>
                    <a:bodyPr/>
                    <a:lstStyle/>
                    <a:p>
                      <a:r>
                        <a:rPr sz="1875" b="0">
                          <a:solidFill>
                            <a:srgbClr val="202B58"/>
                          </a:solidFill>
                          <a:latin typeface="Meiryo"/>
                          <a:ea typeface="Meiryo"/>
                          <a:cs typeface="Meiryo"/>
                        </a:rPr>
                        <a:t>電気バスの担当便数が違う</a:t>
                      </a:r>
                    </a:p>
                  </a:txBody>
                  <a:tcPr marL="91440" marR="91440" marT="45720" marB="45720">
                    <a:solidFill>
                      <a:srgbClr val="F1F5F8"/>
                    </a:solidFill>
                  </a:tcPr>
                </a:tc>
                <a:tc>
                  <a:txBody>
                    <a:bodyPr/>
                    <a:lstStyle/>
                    <a:p>
                      <a:r>
                        <a:rPr sz="1875" b="0">
                          <a:solidFill>
                            <a:srgbClr val="202B58"/>
                          </a:solidFill>
                          <a:latin typeface="Meiryo"/>
                          <a:ea typeface="Meiryo"/>
                          <a:cs typeface="Meiryo"/>
                        </a:rPr>
                        <a:t>両条件で同じ便を</a:t>
                      </a:r>
                    </a:p>
                    <a:p>
                      <a:r>
                        <a:rPr sz="1875" b="0">
                          <a:solidFill>
                            <a:srgbClr val="202B58"/>
                          </a:solidFill>
                          <a:latin typeface="Meiryo"/>
                          <a:ea typeface="Meiryo"/>
                          <a:cs typeface="Meiryo"/>
                        </a:rPr>
                        <a:t>1便ずつ対応付けた</a:t>
                      </a:r>
                    </a:p>
                  </a:txBody>
                  <a:tcPr marL="91440" marR="91440" marT="45720" marB="45720">
                    <a:solidFill>
                      <a:srgbClr val="F1F5F8"/>
                    </a:solidFill>
                  </a:tcPr>
                </a:tc>
                <a:tc>
                  <a:txBody>
                    <a:bodyPr/>
                    <a:lstStyle/>
                    <a:p>
                      <a:r>
                        <a:rPr sz="1875" b="0">
                          <a:solidFill>
                            <a:srgbClr val="202B58"/>
                          </a:solidFill>
                          <a:latin typeface="Meiryo"/>
                          <a:ea typeface="Meiryo"/>
                          <a:cs typeface="Meiryo"/>
                        </a:rPr>
                        <a:t>エンジンから電気へ108便</a:t>
                      </a:r>
                    </a:p>
                    <a:p>
                      <a:r>
                        <a:rPr sz="1875" b="0">
                          <a:solidFill>
                            <a:srgbClr val="202B58"/>
                          </a:solidFill>
                          <a:latin typeface="Meiryo"/>
                          <a:ea typeface="Meiryo"/>
                          <a:cs typeface="Meiryo"/>
                        </a:rPr>
                        <a:t>渋22：78便／渋23：30便</a:t>
                      </a:r>
                    </a:p>
                  </a:txBody>
                  <a:tcPr marL="91440" marR="91440" marT="45720" marB="45720">
                    <a:solidFill>
                      <a:srgbClr val="F1F5F8"/>
                    </a:solidFill>
                  </a:tcPr>
                </a:tc>
              </a:tr>
              <a:tr h="869156">
                <a:tc>
                  <a:txBody>
                    <a:bodyPr/>
                    <a:lstStyle/>
                    <a:p>
                      <a:r>
                        <a:rPr sz="1875" b="0">
                          <a:solidFill>
                            <a:srgbClr val="202B58"/>
                          </a:solidFill>
                          <a:latin typeface="Meiryo"/>
                          <a:ea typeface="Meiryo"/>
                          <a:cs typeface="Meiryo"/>
                        </a:rPr>
                        <a:t>太陽光が3,373 kWh余る</a:t>
                      </a:r>
                    </a:p>
                  </a:txBody>
                  <a:tcPr marL="91440" marR="91440" marT="45720" marB="45720">
                    <a:solidFill>
                      <a:srgbClr val="FFFFFF"/>
                    </a:solidFill>
                  </a:tcPr>
                </a:tc>
                <a:tc>
                  <a:txBody>
                    <a:bodyPr/>
                    <a:lstStyle/>
                    <a:p>
                      <a:r>
                        <a:rPr sz="1875" b="0">
                          <a:solidFill>
                            <a:srgbClr val="202B58"/>
                          </a:solidFill>
                          <a:latin typeface="Meiryo"/>
                          <a:ea typeface="Meiryo"/>
                          <a:cs typeface="Meiryo"/>
                        </a:rPr>
                        <a:t>15分ごとの未利用電力と</a:t>
                      </a:r>
                    </a:p>
                    <a:p>
                      <a:r>
                        <a:rPr sz="1875" b="0">
                          <a:solidFill>
                            <a:srgbClr val="202B58"/>
                          </a:solidFill>
                          <a:latin typeface="Meiryo"/>
                          <a:ea typeface="Meiryo"/>
                          <a:cs typeface="Meiryo"/>
                        </a:rPr>
                        <a:t>充電の有無を重ねた</a:t>
                      </a:r>
                    </a:p>
                  </a:txBody>
                  <a:tcPr marL="91440" marR="91440" marT="45720" marB="45720">
                    <a:solidFill>
                      <a:srgbClr val="FFFFFF"/>
                    </a:solidFill>
                  </a:tcPr>
                </a:tc>
                <a:tc>
                  <a:txBody>
                    <a:bodyPr/>
                    <a:lstStyle/>
                    <a:p>
                      <a:r>
                        <a:rPr sz="1875" b="0">
                          <a:solidFill>
                            <a:srgbClr val="202B58"/>
                          </a:solidFill>
                          <a:latin typeface="Meiryo"/>
                          <a:ea typeface="Meiryo"/>
                          <a:cs typeface="Meiryo"/>
                        </a:rPr>
                        <a:t>抑制量の75.06%が未充電枠</a:t>
                      </a:r>
                    </a:p>
                    <a:p>
                      <a:r>
                        <a:rPr sz="1875" b="0">
                          <a:solidFill>
                            <a:srgbClr val="202B58"/>
                          </a:solidFill>
                          <a:latin typeface="Meiryo"/>
                          <a:ea typeface="Meiryo"/>
                          <a:cs typeface="Meiryo"/>
                        </a:rPr>
                        <a:t>原因の特定はまだ必要</a:t>
                      </a:r>
                    </a:p>
                  </a:txBody>
                  <a:tcPr marL="91440" marR="91440" marT="45720" marB="45720">
                    <a:solidFill>
                      <a:srgbClr val="FFFFFF"/>
                    </a:solidFill>
                  </a:tcPr>
                </a:tc>
              </a:tr>
              <a:tr h="869156">
                <a:tc>
                  <a:txBody>
                    <a:bodyPr/>
                    <a:lstStyle/>
                    <a:p>
                      <a:r>
                        <a:rPr sz="1875" b="0">
                          <a:solidFill>
                            <a:srgbClr val="202B58"/>
                          </a:solidFill>
                          <a:latin typeface="Meiryo"/>
                          <a:ea typeface="Meiryo"/>
                          <a:cs typeface="Meiryo"/>
                        </a:rPr>
                        <a:t>評価額が約3.8万円違う</a:t>
                      </a:r>
                    </a:p>
                  </a:txBody>
                  <a:tcPr marL="91440" marR="91440" marT="45720" marB="45720">
                    <a:solidFill>
                      <a:srgbClr val="F1F5F8"/>
                    </a:solidFill>
                  </a:tcPr>
                </a:tc>
                <a:tc>
                  <a:txBody>
                    <a:bodyPr/>
                    <a:lstStyle/>
                    <a:p>
                      <a:r>
                        <a:rPr sz="1875" b="0">
                          <a:solidFill>
                            <a:srgbClr val="202B58"/>
                          </a:solidFill>
                          <a:latin typeface="Meiryo"/>
                          <a:ea typeface="Meiryo"/>
                          <a:cs typeface="Meiryo"/>
                        </a:rPr>
                        <a:t>同じ費用と</a:t>
                      </a:r>
                    </a:p>
                    <a:p>
                      <a:r>
                        <a:rPr sz="1875" b="0">
                          <a:solidFill>
                            <a:srgbClr val="202B58"/>
                          </a:solidFill>
                          <a:latin typeface="Meiryo"/>
                          <a:ea typeface="Meiryo"/>
                          <a:cs typeface="Meiryo"/>
                        </a:rPr>
                        <a:t>変化した費用を分けた</a:t>
                      </a:r>
                    </a:p>
                  </a:txBody>
                  <a:tcPr marL="91440" marR="91440" marT="45720" marB="45720">
                    <a:solidFill>
                      <a:srgbClr val="F1F5F8"/>
                    </a:solidFill>
                  </a:tcPr>
                </a:tc>
                <a:tc>
                  <a:txBody>
                    <a:bodyPr/>
                    <a:lstStyle/>
                    <a:p>
                      <a:r>
                        <a:rPr sz="1875" b="0">
                          <a:solidFill>
                            <a:srgbClr val="202B58"/>
                          </a:solidFill>
                          <a:latin typeface="Meiryo"/>
                          <a:ea typeface="Meiryo"/>
                          <a:cs typeface="Meiryo"/>
                        </a:rPr>
                        <a:t>車両使用費64万円は共通</a:t>
                      </a:r>
                    </a:p>
                    <a:p>
                      <a:r>
                        <a:rPr sz="1875" b="0">
                          <a:solidFill>
                            <a:srgbClr val="202B58"/>
                          </a:solidFill>
                          <a:latin typeface="Meiryo"/>
                          <a:ea typeface="Meiryo"/>
                          <a:cs typeface="Meiryo"/>
                        </a:rPr>
                        <a:t>差額の約88%は燃料費</a:t>
                      </a:r>
                    </a:p>
                  </a:txBody>
                  <a:tcPr marL="91440" marR="91440" marT="45720" marB="45720">
                    <a:solidFill>
                      <a:srgbClr val="F1F5F8"/>
                    </a:solidFill>
                  </a:tcPr>
                </a:tc>
              </a:tr>
            </a:tbl>
          </a:graphicData>
        </a:graphic>
      </p:graphicFrame>
      <p:sp>
        <p:nvSpPr>
          <p:cNvPr id="4" name="">
            <a:extLst xmlns:a="http://schemas.openxmlformats.org/drawingml/2006/main">
              <a:ext uri="{FF2B5EF4-FFF2-40B4-BE49-F238E27FC236}">
                <a16:creationId xmlns:a16="http://schemas.microsoft.com/office/drawing/2014/main" id="{581D8ABC-C90F-4156-9742-3709E67F01BC}"/>
              </a:ext>
            </a:extLst>
          </p:cNvPr>
          <p:cNvSpPr>
            <a:spLocks xmlns:a="http://schemas.openxmlformats.org/drawingml/2006/main" noGrp="1"/>
          </p:cNvSpPr>
          <p:nvPr/>
        </p:nvSpPr>
        <p:spPr>
          <a:xfrm xmlns:a="http://schemas.openxmlformats.org/drawingml/2006/main">
            <a:off x="571500" y="54387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9A8C"/>
                </a:solidFill>
                <a:latin typeface="Meiryo"/>
                <a:ea typeface="Meiryo"/>
                <a:cs typeface="Meiryo"/>
              </a:defRPr>
            </a:pPr>
            <a:r>
              <a:rPr sz="2025" b="1">
                <a:solidFill>
                  <a:srgbClr val="159A8C"/>
                </a:solidFill>
                <a:latin typeface="Meiryo"/>
                <a:ea typeface="Meiryo"/>
                <a:cs typeface="Meiryo"/>
              </a:rPr>
              <a:t>「違いがある」に加え、「どこが違うか」まで具体的に示せた</a:t>
            </a:r>
          </a:p>
        </p:txBody>
      </p:sp>
      <p:sp>
        <p:nvSpPr>
          <p:cNvPr id="5" name="">
            <a:extLst xmlns:a="http://schemas.openxmlformats.org/drawingml/2006/main">
              <a:ext uri="{FF2B5EF4-FFF2-40B4-BE49-F238E27FC236}">
                <a16:creationId xmlns:a16="http://schemas.microsoft.com/office/drawing/2014/main" id="{EF459F65-1147-49B1-8C66-4DA4412A553C}"/>
              </a:ext>
            </a:extLst>
          </p:cNvPr>
          <p:cNvSpPr>
            <a:spLocks xmlns:a="http://schemas.openxmlformats.org/drawingml/2006/main" noGrp="1"/>
          </p:cNvSpPr>
          <p:nvPr/>
        </p:nvSpPr>
        <p:spPr>
          <a:xfrm xmlns:a="http://schemas.openxmlformats.org/drawingml/2006/main">
            <a:off x="571500" y="6143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E4D36"/>
                </a:solidFill>
                <a:latin typeface="Meiryo"/>
                <a:ea typeface="Meiryo"/>
                <a:cs typeface="Meiryo"/>
              </a:defRPr>
            </a:pPr>
            <a:r>
              <a:rPr sz="1350" b="0">
                <a:solidFill>
                  <a:srgbClr val="7E4D36"/>
                </a:solidFill>
                <a:latin typeface="Meiryo"/>
                <a:ea typeface="Meiryo"/>
                <a:cs typeface="Meiryo"/>
              </a:rPr>
              <a:t>抑制＝使わなかった太陽光。未充電だから車両不在、とは断定できない。</a:t>
            </a:r>
          </a:p>
        </p:txBody>
      </p:sp>
      <p:sp>
        <p:nvSpPr>
          <p:cNvPr id="6" name="">
            <a:extLst xmlns:a="http://schemas.openxmlformats.org/drawingml/2006/main">
              <a:ext uri="{FF2B5EF4-FFF2-40B4-BE49-F238E27FC236}">
                <a16:creationId xmlns:a16="http://schemas.microsoft.com/office/drawing/2014/main" id="{5AEBE5C0-4AB5-47F2-9AC8-833D37F8F8F3}"/>
              </a:ext>
            </a:extLst>
          </p:cNvPr>
          <p:cNvSpPr>
            <a:spLocks xmlns:a="http://schemas.openxmlformats.org/drawingml/2006/main" noGrp="1"/>
          </p:cNvSpPr>
          <p:nvPr/>
        </p:nvSpPr>
        <p:spPr>
          <a:xfrm xmlns:a="http://schemas.openxmlformats.org/drawingml/2006/main">
            <a:off x="11144250" y="6524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48B"/>
                </a:solidFill>
                <a:latin typeface="Meiryo"/>
                <a:ea typeface="Meiryo"/>
                <a:cs typeface="Meiryo"/>
              </a:defRPr>
            </a:pPr>
            <a:r>
              <a:rPr sz="900" b="0">
                <a:solidFill>
                  <a:srgbClr val="66748B"/>
                </a:solidFill>
                <a:latin typeface="Meiryo"/>
                <a:ea typeface="Meiryo"/>
                <a:cs typeface="Meiryo"/>
              </a:rPr>
              <a:t>14/18</a:t>
            </a:r>
          </a:p>
        </p:txBody>
      </p:sp>
    </p:spTree>
    <p:extLst>
      <p:ext uri="{BB962C8B-B14F-4D97-AF65-F5344CB8AC3E}">
        <p14:creationId xmlns:p14="http://schemas.microsoft.com/office/powerpoint/2010/main" val="1305427852"/>
      </p:ext>
    </p:extLst>
  </p:cSld>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結果の信頼性：一日を進めながら24回見直し、最後に全体を検算</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15/18</a:t>
            </a:r>
            <a:endParaRPr lang="en-US" sz="850" dirty="0"/>
          </a:p>
        </p:txBody>
      </p:sp>
      <p:sp>
        <p:nvSpPr>
          <p:cNvPr id="6" name="Text 4"/>
          <p:cNvSpPr/>
          <p:nvPr/>
        </p:nvSpPr>
        <p:spPr>
          <a:xfrm>
            <a:off x="685800" y="914400"/>
            <a:ext cx="10835640" cy="329184"/>
          </a:xfrm>
          <a:prstGeom prst="rect">
            <a:avLst/>
          </a:prstGeom>
          <a:noFill/>
          <a:ln/>
        </p:spPr>
        <p:txBody>
          <a:bodyPr wrap="square" lIns="0" tIns="0" rIns="0" bIns="0" rtlCol="0" anchor="ctr"/>
          <a:lstStyle/>
          <a:p>
            <a:pPr marL="0" indent="0" algn="ctr">
              <a:buNone/>
            </a:pPr>
            <a:r>
              <a:rPr lang="en-US" sz="1800" dirty="0">
                <a:solidFill>
                  <a:srgbClr val="172033"/>
                </a:solidFill>
                <a:latin typeface="Noto Sans CJK JP" pitchFamily="34" charset="0"/>
                <a:ea typeface="Noto Sans CJK JP" pitchFamily="34" charset="-122"/>
                <a:cs typeface="Noto Sans CJK JP" pitchFamily="34" charset="-120"/>
              </a:rPr>
              <a:t>「朝に作った計画をそのまま使う」のではなく、1時間ごとに残り時間の充電計画を更新する。</a:t>
            </a:r>
            <a:endParaRPr lang="en-US" sz="1800" dirty="0"/>
          </a:p>
        </p:txBody>
      </p:sp>
      <p:sp>
        <p:nvSpPr>
          <p:cNvPr id="7" name="Shape 5"/>
          <p:cNvSpPr/>
          <p:nvPr/>
        </p:nvSpPr>
        <p:spPr>
          <a:xfrm>
            <a:off x="914400" y="1965960"/>
            <a:ext cx="10149840" cy="0"/>
          </a:xfrm>
          <a:prstGeom prst="line">
            <a:avLst/>
          </a:prstGeom>
          <a:noFill/>
          <a:ln w="38100">
            <a:solidFill>
              <a:srgbClr val="356BB3"/>
            </a:solidFill>
            <a:prstDash val="solid"/>
          </a:ln>
        </p:spPr>
        <p:txBody>
          <a:bodyPr/>
          <a:lstStyle/>
          <a:p>
            <a:endParaRPr lang="ja-JP" altLang="en-US"/>
          </a:p>
        </p:txBody>
      </p:sp>
      <p:sp>
        <p:nvSpPr>
          <p:cNvPr id="8" name="Shape 6"/>
          <p:cNvSpPr/>
          <p:nvPr/>
        </p:nvSpPr>
        <p:spPr>
          <a:xfrm>
            <a:off x="804672" y="1856232"/>
            <a:ext cx="219456" cy="219456"/>
          </a:xfrm>
          <a:prstGeom prst="ellipse">
            <a:avLst/>
          </a:prstGeom>
          <a:solidFill>
            <a:srgbClr val="356BB3"/>
          </a:solidFill>
          <a:ln w="12700">
            <a:solidFill>
              <a:srgbClr val="FFFFFF"/>
            </a:solidFill>
            <a:prstDash val="solid"/>
          </a:ln>
        </p:spPr>
        <p:txBody>
          <a:bodyPr/>
          <a:lstStyle/>
          <a:p>
            <a:endParaRPr lang="ja-JP" altLang="en-US"/>
          </a:p>
        </p:txBody>
      </p:sp>
      <p:sp>
        <p:nvSpPr>
          <p:cNvPr id="9" name="Text 7"/>
          <p:cNvSpPr/>
          <p:nvPr/>
        </p:nvSpPr>
        <p:spPr>
          <a:xfrm>
            <a:off x="594360" y="2176272"/>
            <a:ext cx="640080" cy="201168"/>
          </a:xfrm>
          <a:prstGeom prst="rect">
            <a:avLst/>
          </a:prstGeom>
          <a:noFill/>
          <a:ln/>
        </p:spPr>
        <p:txBody>
          <a:bodyPr wrap="square" lIns="0" tIns="0" rIns="0" bIns="0" rtlCol="0" anchor="ctr"/>
          <a:lstStyle/>
          <a:p>
            <a:pPr marL="0" indent="0" algn="ctr">
              <a:buNone/>
            </a:pPr>
            <a:r>
              <a:rPr lang="en-US" sz="1100" dirty="0">
                <a:solidFill>
                  <a:srgbClr val="687386"/>
                </a:solidFill>
                <a:latin typeface="Arial" pitchFamily="34" charset="0"/>
                <a:ea typeface="Arial" pitchFamily="34" charset="-122"/>
                <a:cs typeface="Arial" pitchFamily="34" charset="-120"/>
              </a:rPr>
              <a:t>00:00</a:t>
            </a:r>
            <a:endParaRPr lang="en-US" sz="1100" dirty="0"/>
          </a:p>
        </p:txBody>
      </p:sp>
      <p:sp>
        <p:nvSpPr>
          <p:cNvPr id="10" name="Shape 8"/>
          <p:cNvSpPr/>
          <p:nvPr/>
        </p:nvSpPr>
        <p:spPr>
          <a:xfrm>
            <a:off x="3342132" y="1856232"/>
            <a:ext cx="219456" cy="219456"/>
          </a:xfrm>
          <a:prstGeom prst="ellipse">
            <a:avLst/>
          </a:prstGeom>
          <a:solidFill>
            <a:srgbClr val="356BB3"/>
          </a:solidFill>
          <a:ln w="12700">
            <a:solidFill>
              <a:srgbClr val="FFFFFF"/>
            </a:solidFill>
            <a:prstDash val="solid"/>
          </a:ln>
        </p:spPr>
        <p:txBody>
          <a:bodyPr/>
          <a:lstStyle/>
          <a:p>
            <a:endParaRPr lang="ja-JP" altLang="en-US"/>
          </a:p>
        </p:txBody>
      </p:sp>
      <p:sp>
        <p:nvSpPr>
          <p:cNvPr id="11" name="Text 9"/>
          <p:cNvSpPr/>
          <p:nvPr/>
        </p:nvSpPr>
        <p:spPr>
          <a:xfrm>
            <a:off x="3131820" y="2176272"/>
            <a:ext cx="640080" cy="201168"/>
          </a:xfrm>
          <a:prstGeom prst="rect">
            <a:avLst/>
          </a:prstGeom>
          <a:noFill/>
          <a:ln/>
        </p:spPr>
        <p:txBody>
          <a:bodyPr wrap="square" lIns="0" tIns="0" rIns="0" bIns="0" rtlCol="0" anchor="ctr"/>
          <a:lstStyle/>
          <a:p>
            <a:pPr marL="0" indent="0" algn="ctr">
              <a:buNone/>
            </a:pPr>
            <a:r>
              <a:rPr lang="en-US" sz="1100" dirty="0">
                <a:solidFill>
                  <a:srgbClr val="687386"/>
                </a:solidFill>
                <a:latin typeface="Arial" pitchFamily="34" charset="0"/>
                <a:ea typeface="Arial" pitchFamily="34" charset="-122"/>
                <a:cs typeface="Arial" pitchFamily="34" charset="-120"/>
              </a:rPr>
              <a:t>06:00</a:t>
            </a:r>
            <a:endParaRPr lang="en-US" sz="1100" dirty="0"/>
          </a:p>
        </p:txBody>
      </p:sp>
      <p:sp>
        <p:nvSpPr>
          <p:cNvPr id="12" name="Shape 10"/>
          <p:cNvSpPr/>
          <p:nvPr/>
        </p:nvSpPr>
        <p:spPr>
          <a:xfrm>
            <a:off x="5879592" y="1856232"/>
            <a:ext cx="219456" cy="219456"/>
          </a:xfrm>
          <a:prstGeom prst="ellipse">
            <a:avLst/>
          </a:prstGeom>
          <a:solidFill>
            <a:srgbClr val="356BB3"/>
          </a:solidFill>
          <a:ln w="12700">
            <a:solidFill>
              <a:srgbClr val="FFFFFF"/>
            </a:solidFill>
            <a:prstDash val="solid"/>
          </a:ln>
        </p:spPr>
        <p:txBody>
          <a:bodyPr/>
          <a:lstStyle/>
          <a:p>
            <a:endParaRPr lang="ja-JP" altLang="en-US"/>
          </a:p>
        </p:txBody>
      </p:sp>
      <p:sp>
        <p:nvSpPr>
          <p:cNvPr id="13" name="Text 11"/>
          <p:cNvSpPr/>
          <p:nvPr/>
        </p:nvSpPr>
        <p:spPr>
          <a:xfrm>
            <a:off x="5669280" y="2176272"/>
            <a:ext cx="640080" cy="201168"/>
          </a:xfrm>
          <a:prstGeom prst="rect">
            <a:avLst/>
          </a:prstGeom>
          <a:noFill/>
          <a:ln/>
        </p:spPr>
        <p:txBody>
          <a:bodyPr wrap="square" lIns="0" tIns="0" rIns="0" bIns="0" rtlCol="0" anchor="ctr"/>
          <a:lstStyle/>
          <a:p>
            <a:pPr marL="0" indent="0" algn="ctr">
              <a:buNone/>
            </a:pPr>
            <a:r>
              <a:rPr lang="en-US" sz="1100" dirty="0">
                <a:solidFill>
                  <a:srgbClr val="687386"/>
                </a:solidFill>
                <a:latin typeface="Arial" pitchFamily="34" charset="0"/>
                <a:ea typeface="Arial" pitchFamily="34" charset="-122"/>
                <a:cs typeface="Arial" pitchFamily="34" charset="-120"/>
              </a:rPr>
              <a:t>12:00</a:t>
            </a:r>
            <a:endParaRPr lang="en-US" sz="1100" dirty="0"/>
          </a:p>
        </p:txBody>
      </p:sp>
      <p:sp>
        <p:nvSpPr>
          <p:cNvPr id="14" name="Shape 12"/>
          <p:cNvSpPr/>
          <p:nvPr/>
        </p:nvSpPr>
        <p:spPr>
          <a:xfrm>
            <a:off x="8417052" y="1856232"/>
            <a:ext cx="219456" cy="219456"/>
          </a:xfrm>
          <a:prstGeom prst="ellipse">
            <a:avLst/>
          </a:prstGeom>
          <a:solidFill>
            <a:srgbClr val="356BB3"/>
          </a:solidFill>
          <a:ln w="12700">
            <a:solidFill>
              <a:srgbClr val="FFFFFF"/>
            </a:solidFill>
            <a:prstDash val="solid"/>
          </a:ln>
        </p:spPr>
        <p:txBody>
          <a:bodyPr/>
          <a:lstStyle/>
          <a:p>
            <a:endParaRPr lang="ja-JP" altLang="en-US"/>
          </a:p>
        </p:txBody>
      </p:sp>
      <p:sp>
        <p:nvSpPr>
          <p:cNvPr id="15" name="Text 13"/>
          <p:cNvSpPr/>
          <p:nvPr/>
        </p:nvSpPr>
        <p:spPr>
          <a:xfrm>
            <a:off x="8206740" y="2176272"/>
            <a:ext cx="640080" cy="201168"/>
          </a:xfrm>
          <a:prstGeom prst="rect">
            <a:avLst/>
          </a:prstGeom>
          <a:noFill/>
          <a:ln/>
        </p:spPr>
        <p:txBody>
          <a:bodyPr wrap="square" lIns="0" tIns="0" rIns="0" bIns="0" rtlCol="0" anchor="ctr"/>
          <a:lstStyle/>
          <a:p>
            <a:pPr marL="0" indent="0" algn="ctr">
              <a:buNone/>
            </a:pPr>
            <a:r>
              <a:rPr lang="en-US" sz="1100" dirty="0">
                <a:solidFill>
                  <a:srgbClr val="687386"/>
                </a:solidFill>
                <a:latin typeface="Arial" pitchFamily="34" charset="0"/>
                <a:ea typeface="Arial" pitchFamily="34" charset="-122"/>
                <a:cs typeface="Arial" pitchFamily="34" charset="-120"/>
              </a:rPr>
              <a:t>18:00</a:t>
            </a:r>
            <a:endParaRPr lang="en-US" sz="1100" dirty="0"/>
          </a:p>
        </p:txBody>
      </p:sp>
      <p:sp>
        <p:nvSpPr>
          <p:cNvPr id="16" name="Shape 14"/>
          <p:cNvSpPr/>
          <p:nvPr/>
        </p:nvSpPr>
        <p:spPr>
          <a:xfrm>
            <a:off x="10954512" y="1856232"/>
            <a:ext cx="219456" cy="219456"/>
          </a:xfrm>
          <a:prstGeom prst="ellipse">
            <a:avLst/>
          </a:prstGeom>
          <a:solidFill>
            <a:srgbClr val="356BB3"/>
          </a:solidFill>
          <a:ln w="12700">
            <a:solidFill>
              <a:srgbClr val="FFFFFF"/>
            </a:solidFill>
            <a:prstDash val="solid"/>
          </a:ln>
        </p:spPr>
        <p:txBody>
          <a:bodyPr/>
          <a:lstStyle/>
          <a:p>
            <a:endParaRPr lang="ja-JP" altLang="en-US"/>
          </a:p>
        </p:txBody>
      </p:sp>
      <p:sp>
        <p:nvSpPr>
          <p:cNvPr id="17" name="Text 15"/>
          <p:cNvSpPr/>
          <p:nvPr/>
        </p:nvSpPr>
        <p:spPr>
          <a:xfrm>
            <a:off x="10744200" y="2176272"/>
            <a:ext cx="640080" cy="201168"/>
          </a:xfrm>
          <a:prstGeom prst="rect">
            <a:avLst/>
          </a:prstGeom>
          <a:noFill/>
          <a:ln/>
        </p:spPr>
        <p:txBody>
          <a:bodyPr wrap="square" lIns="0" tIns="0" rIns="0" bIns="0" rtlCol="0" anchor="ctr"/>
          <a:lstStyle/>
          <a:p>
            <a:pPr marL="0" indent="0" algn="ctr">
              <a:buNone/>
            </a:pPr>
            <a:r>
              <a:rPr lang="en-US" sz="1100" dirty="0">
                <a:solidFill>
                  <a:srgbClr val="687386"/>
                </a:solidFill>
                <a:latin typeface="Arial" pitchFamily="34" charset="0"/>
                <a:ea typeface="Arial" pitchFamily="34" charset="-122"/>
                <a:cs typeface="Arial" pitchFamily="34" charset="-120"/>
              </a:rPr>
              <a:t>24:00</a:t>
            </a:r>
            <a:endParaRPr lang="en-US" sz="1100" dirty="0"/>
          </a:p>
        </p:txBody>
      </p:sp>
      <p:sp>
        <p:nvSpPr>
          <p:cNvPr id="18" name="Shape 16"/>
          <p:cNvSpPr/>
          <p:nvPr/>
        </p:nvSpPr>
        <p:spPr>
          <a:xfrm>
            <a:off x="1125855" y="1792224"/>
            <a:ext cx="0" cy="155448"/>
          </a:xfrm>
          <a:prstGeom prst="line">
            <a:avLst/>
          </a:prstGeom>
          <a:noFill/>
          <a:ln w="17780">
            <a:solidFill>
              <a:srgbClr val="1F9D8A"/>
            </a:solidFill>
            <a:prstDash val="solid"/>
          </a:ln>
        </p:spPr>
        <p:txBody>
          <a:bodyPr/>
          <a:lstStyle/>
          <a:p>
            <a:endParaRPr lang="ja-JP" altLang="en-US"/>
          </a:p>
        </p:txBody>
      </p:sp>
      <p:sp>
        <p:nvSpPr>
          <p:cNvPr id="19" name="Shape 17"/>
          <p:cNvSpPr/>
          <p:nvPr/>
        </p:nvSpPr>
        <p:spPr>
          <a:xfrm>
            <a:off x="1548765" y="1792224"/>
            <a:ext cx="0" cy="155448"/>
          </a:xfrm>
          <a:prstGeom prst="line">
            <a:avLst/>
          </a:prstGeom>
          <a:noFill/>
          <a:ln w="17780">
            <a:solidFill>
              <a:srgbClr val="5B8FD3"/>
            </a:solidFill>
            <a:prstDash val="solid"/>
          </a:ln>
        </p:spPr>
        <p:txBody>
          <a:bodyPr/>
          <a:lstStyle/>
          <a:p>
            <a:endParaRPr lang="ja-JP" altLang="en-US"/>
          </a:p>
        </p:txBody>
      </p:sp>
      <p:sp>
        <p:nvSpPr>
          <p:cNvPr id="20" name="Shape 18"/>
          <p:cNvSpPr/>
          <p:nvPr/>
        </p:nvSpPr>
        <p:spPr>
          <a:xfrm>
            <a:off x="1971675" y="1792224"/>
            <a:ext cx="0" cy="155448"/>
          </a:xfrm>
          <a:prstGeom prst="line">
            <a:avLst/>
          </a:prstGeom>
          <a:noFill/>
          <a:ln w="17780">
            <a:solidFill>
              <a:srgbClr val="1F9D8A"/>
            </a:solidFill>
            <a:prstDash val="solid"/>
          </a:ln>
        </p:spPr>
        <p:txBody>
          <a:bodyPr/>
          <a:lstStyle/>
          <a:p>
            <a:endParaRPr lang="ja-JP" altLang="en-US"/>
          </a:p>
        </p:txBody>
      </p:sp>
      <p:sp>
        <p:nvSpPr>
          <p:cNvPr id="21" name="Shape 19"/>
          <p:cNvSpPr/>
          <p:nvPr/>
        </p:nvSpPr>
        <p:spPr>
          <a:xfrm>
            <a:off x="2394585" y="1792224"/>
            <a:ext cx="0" cy="155448"/>
          </a:xfrm>
          <a:prstGeom prst="line">
            <a:avLst/>
          </a:prstGeom>
          <a:noFill/>
          <a:ln w="17780">
            <a:solidFill>
              <a:srgbClr val="5B8FD3"/>
            </a:solidFill>
            <a:prstDash val="solid"/>
          </a:ln>
        </p:spPr>
        <p:txBody>
          <a:bodyPr/>
          <a:lstStyle/>
          <a:p>
            <a:endParaRPr lang="ja-JP" altLang="en-US"/>
          </a:p>
        </p:txBody>
      </p:sp>
      <p:sp>
        <p:nvSpPr>
          <p:cNvPr id="22" name="Shape 20"/>
          <p:cNvSpPr/>
          <p:nvPr/>
        </p:nvSpPr>
        <p:spPr>
          <a:xfrm>
            <a:off x="2817495" y="1792224"/>
            <a:ext cx="0" cy="155448"/>
          </a:xfrm>
          <a:prstGeom prst="line">
            <a:avLst/>
          </a:prstGeom>
          <a:noFill/>
          <a:ln w="17780">
            <a:solidFill>
              <a:srgbClr val="1F9D8A"/>
            </a:solidFill>
            <a:prstDash val="solid"/>
          </a:ln>
        </p:spPr>
        <p:txBody>
          <a:bodyPr/>
          <a:lstStyle/>
          <a:p>
            <a:endParaRPr lang="ja-JP" altLang="en-US"/>
          </a:p>
        </p:txBody>
      </p:sp>
      <p:sp>
        <p:nvSpPr>
          <p:cNvPr id="23" name="Shape 21"/>
          <p:cNvSpPr/>
          <p:nvPr/>
        </p:nvSpPr>
        <p:spPr>
          <a:xfrm>
            <a:off x="3240405" y="1792224"/>
            <a:ext cx="0" cy="155448"/>
          </a:xfrm>
          <a:prstGeom prst="line">
            <a:avLst/>
          </a:prstGeom>
          <a:noFill/>
          <a:ln w="17780">
            <a:solidFill>
              <a:srgbClr val="5B8FD3"/>
            </a:solidFill>
            <a:prstDash val="solid"/>
          </a:ln>
        </p:spPr>
        <p:txBody>
          <a:bodyPr/>
          <a:lstStyle/>
          <a:p>
            <a:endParaRPr lang="ja-JP" altLang="en-US"/>
          </a:p>
        </p:txBody>
      </p:sp>
      <p:sp>
        <p:nvSpPr>
          <p:cNvPr id="24" name="Shape 22"/>
          <p:cNvSpPr/>
          <p:nvPr/>
        </p:nvSpPr>
        <p:spPr>
          <a:xfrm>
            <a:off x="3663315" y="1792224"/>
            <a:ext cx="0" cy="155448"/>
          </a:xfrm>
          <a:prstGeom prst="line">
            <a:avLst/>
          </a:prstGeom>
          <a:noFill/>
          <a:ln w="17780">
            <a:solidFill>
              <a:srgbClr val="1F9D8A"/>
            </a:solidFill>
            <a:prstDash val="solid"/>
          </a:ln>
        </p:spPr>
        <p:txBody>
          <a:bodyPr/>
          <a:lstStyle/>
          <a:p>
            <a:endParaRPr lang="ja-JP" altLang="en-US"/>
          </a:p>
        </p:txBody>
      </p:sp>
      <p:sp>
        <p:nvSpPr>
          <p:cNvPr id="25" name="Shape 23"/>
          <p:cNvSpPr/>
          <p:nvPr/>
        </p:nvSpPr>
        <p:spPr>
          <a:xfrm>
            <a:off x="4086225" y="1792224"/>
            <a:ext cx="0" cy="155448"/>
          </a:xfrm>
          <a:prstGeom prst="line">
            <a:avLst/>
          </a:prstGeom>
          <a:noFill/>
          <a:ln w="17780">
            <a:solidFill>
              <a:srgbClr val="5B8FD3"/>
            </a:solidFill>
            <a:prstDash val="solid"/>
          </a:ln>
        </p:spPr>
        <p:txBody>
          <a:bodyPr/>
          <a:lstStyle/>
          <a:p>
            <a:endParaRPr lang="ja-JP" altLang="en-US"/>
          </a:p>
        </p:txBody>
      </p:sp>
      <p:sp>
        <p:nvSpPr>
          <p:cNvPr id="26" name="Shape 24"/>
          <p:cNvSpPr/>
          <p:nvPr/>
        </p:nvSpPr>
        <p:spPr>
          <a:xfrm>
            <a:off x="4509135" y="1792224"/>
            <a:ext cx="0" cy="155448"/>
          </a:xfrm>
          <a:prstGeom prst="line">
            <a:avLst/>
          </a:prstGeom>
          <a:noFill/>
          <a:ln w="17780">
            <a:solidFill>
              <a:srgbClr val="1F9D8A"/>
            </a:solidFill>
            <a:prstDash val="solid"/>
          </a:ln>
        </p:spPr>
        <p:txBody>
          <a:bodyPr/>
          <a:lstStyle/>
          <a:p>
            <a:endParaRPr lang="ja-JP" altLang="en-US"/>
          </a:p>
        </p:txBody>
      </p:sp>
      <p:sp>
        <p:nvSpPr>
          <p:cNvPr id="27" name="Shape 25"/>
          <p:cNvSpPr/>
          <p:nvPr/>
        </p:nvSpPr>
        <p:spPr>
          <a:xfrm>
            <a:off x="4932045" y="1792224"/>
            <a:ext cx="0" cy="155448"/>
          </a:xfrm>
          <a:prstGeom prst="line">
            <a:avLst/>
          </a:prstGeom>
          <a:noFill/>
          <a:ln w="17780">
            <a:solidFill>
              <a:srgbClr val="5B8FD3"/>
            </a:solidFill>
            <a:prstDash val="solid"/>
          </a:ln>
        </p:spPr>
        <p:txBody>
          <a:bodyPr/>
          <a:lstStyle/>
          <a:p>
            <a:endParaRPr lang="ja-JP" altLang="en-US"/>
          </a:p>
        </p:txBody>
      </p:sp>
      <p:sp>
        <p:nvSpPr>
          <p:cNvPr id="28" name="Shape 26"/>
          <p:cNvSpPr/>
          <p:nvPr/>
        </p:nvSpPr>
        <p:spPr>
          <a:xfrm>
            <a:off x="5354955" y="1792224"/>
            <a:ext cx="0" cy="155448"/>
          </a:xfrm>
          <a:prstGeom prst="line">
            <a:avLst/>
          </a:prstGeom>
          <a:noFill/>
          <a:ln w="17780">
            <a:solidFill>
              <a:srgbClr val="1F9D8A"/>
            </a:solidFill>
            <a:prstDash val="solid"/>
          </a:ln>
        </p:spPr>
        <p:txBody>
          <a:bodyPr/>
          <a:lstStyle/>
          <a:p>
            <a:endParaRPr lang="ja-JP" altLang="en-US"/>
          </a:p>
        </p:txBody>
      </p:sp>
      <p:sp>
        <p:nvSpPr>
          <p:cNvPr id="29" name="Shape 27"/>
          <p:cNvSpPr/>
          <p:nvPr/>
        </p:nvSpPr>
        <p:spPr>
          <a:xfrm>
            <a:off x="5777865" y="1792224"/>
            <a:ext cx="0" cy="155448"/>
          </a:xfrm>
          <a:prstGeom prst="line">
            <a:avLst/>
          </a:prstGeom>
          <a:noFill/>
          <a:ln w="17780">
            <a:solidFill>
              <a:srgbClr val="5B8FD3"/>
            </a:solidFill>
            <a:prstDash val="solid"/>
          </a:ln>
        </p:spPr>
        <p:txBody>
          <a:bodyPr/>
          <a:lstStyle/>
          <a:p>
            <a:endParaRPr lang="ja-JP" altLang="en-US"/>
          </a:p>
        </p:txBody>
      </p:sp>
      <p:sp>
        <p:nvSpPr>
          <p:cNvPr id="30" name="Shape 28"/>
          <p:cNvSpPr/>
          <p:nvPr/>
        </p:nvSpPr>
        <p:spPr>
          <a:xfrm>
            <a:off x="6200775" y="1792224"/>
            <a:ext cx="0" cy="155448"/>
          </a:xfrm>
          <a:prstGeom prst="line">
            <a:avLst/>
          </a:prstGeom>
          <a:noFill/>
          <a:ln w="17780">
            <a:solidFill>
              <a:srgbClr val="1F9D8A"/>
            </a:solidFill>
            <a:prstDash val="solid"/>
          </a:ln>
        </p:spPr>
        <p:txBody>
          <a:bodyPr/>
          <a:lstStyle/>
          <a:p>
            <a:endParaRPr lang="ja-JP" altLang="en-US"/>
          </a:p>
        </p:txBody>
      </p:sp>
      <p:sp>
        <p:nvSpPr>
          <p:cNvPr id="31" name="Shape 29"/>
          <p:cNvSpPr/>
          <p:nvPr/>
        </p:nvSpPr>
        <p:spPr>
          <a:xfrm>
            <a:off x="6623685" y="1792224"/>
            <a:ext cx="0" cy="155448"/>
          </a:xfrm>
          <a:prstGeom prst="line">
            <a:avLst/>
          </a:prstGeom>
          <a:noFill/>
          <a:ln w="17780">
            <a:solidFill>
              <a:srgbClr val="5B8FD3"/>
            </a:solidFill>
            <a:prstDash val="solid"/>
          </a:ln>
        </p:spPr>
        <p:txBody>
          <a:bodyPr/>
          <a:lstStyle/>
          <a:p>
            <a:endParaRPr lang="ja-JP" altLang="en-US"/>
          </a:p>
        </p:txBody>
      </p:sp>
      <p:sp>
        <p:nvSpPr>
          <p:cNvPr id="32" name="Shape 30"/>
          <p:cNvSpPr/>
          <p:nvPr/>
        </p:nvSpPr>
        <p:spPr>
          <a:xfrm>
            <a:off x="7046595" y="1792224"/>
            <a:ext cx="0" cy="155448"/>
          </a:xfrm>
          <a:prstGeom prst="line">
            <a:avLst/>
          </a:prstGeom>
          <a:noFill/>
          <a:ln w="17780">
            <a:solidFill>
              <a:srgbClr val="1F9D8A"/>
            </a:solidFill>
            <a:prstDash val="solid"/>
          </a:ln>
        </p:spPr>
        <p:txBody>
          <a:bodyPr/>
          <a:lstStyle/>
          <a:p>
            <a:endParaRPr lang="ja-JP" altLang="en-US"/>
          </a:p>
        </p:txBody>
      </p:sp>
      <p:sp>
        <p:nvSpPr>
          <p:cNvPr id="33" name="Shape 31"/>
          <p:cNvSpPr/>
          <p:nvPr/>
        </p:nvSpPr>
        <p:spPr>
          <a:xfrm>
            <a:off x="7469505" y="1792224"/>
            <a:ext cx="0" cy="155448"/>
          </a:xfrm>
          <a:prstGeom prst="line">
            <a:avLst/>
          </a:prstGeom>
          <a:noFill/>
          <a:ln w="17780">
            <a:solidFill>
              <a:srgbClr val="5B8FD3"/>
            </a:solidFill>
            <a:prstDash val="solid"/>
          </a:ln>
        </p:spPr>
        <p:txBody>
          <a:bodyPr/>
          <a:lstStyle/>
          <a:p>
            <a:endParaRPr lang="ja-JP" altLang="en-US"/>
          </a:p>
        </p:txBody>
      </p:sp>
      <p:sp>
        <p:nvSpPr>
          <p:cNvPr id="34" name="Shape 32"/>
          <p:cNvSpPr/>
          <p:nvPr/>
        </p:nvSpPr>
        <p:spPr>
          <a:xfrm>
            <a:off x="7892415" y="1792224"/>
            <a:ext cx="0" cy="155448"/>
          </a:xfrm>
          <a:prstGeom prst="line">
            <a:avLst/>
          </a:prstGeom>
          <a:noFill/>
          <a:ln w="17780">
            <a:solidFill>
              <a:srgbClr val="1F9D8A"/>
            </a:solidFill>
            <a:prstDash val="solid"/>
          </a:ln>
        </p:spPr>
        <p:txBody>
          <a:bodyPr/>
          <a:lstStyle/>
          <a:p>
            <a:endParaRPr lang="ja-JP" altLang="en-US"/>
          </a:p>
        </p:txBody>
      </p:sp>
      <p:sp>
        <p:nvSpPr>
          <p:cNvPr id="35" name="Shape 33"/>
          <p:cNvSpPr/>
          <p:nvPr/>
        </p:nvSpPr>
        <p:spPr>
          <a:xfrm>
            <a:off x="8315325" y="1792224"/>
            <a:ext cx="0" cy="155448"/>
          </a:xfrm>
          <a:prstGeom prst="line">
            <a:avLst/>
          </a:prstGeom>
          <a:noFill/>
          <a:ln w="17780">
            <a:solidFill>
              <a:srgbClr val="5B8FD3"/>
            </a:solidFill>
            <a:prstDash val="solid"/>
          </a:ln>
        </p:spPr>
        <p:txBody>
          <a:bodyPr/>
          <a:lstStyle/>
          <a:p>
            <a:endParaRPr lang="ja-JP" altLang="en-US"/>
          </a:p>
        </p:txBody>
      </p:sp>
      <p:sp>
        <p:nvSpPr>
          <p:cNvPr id="36" name="Shape 34"/>
          <p:cNvSpPr/>
          <p:nvPr/>
        </p:nvSpPr>
        <p:spPr>
          <a:xfrm>
            <a:off x="8738235" y="1792224"/>
            <a:ext cx="0" cy="155448"/>
          </a:xfrm>
          <a:prstGeom prst="line">
            <a:avLst/>
          </a:prstGeom>
          <a:noFill/>
          <a:ln w="17780">
            <a:solidFill>
              <a:srgbClr val="1F9D8A"/>
            </a:solidFill>
            <a:prstDash val="solid"/>
          </a:ln>
        </p:spPr>
        <p:txBody>
          <a:bodyPr/>
          <a:lstStyle/>
          <a:p>
            <a:endParaRPr lang="ja-JP" altLang="en-US"/>
          </a:p>
        </p:txBody>
      </p:sp>
      <p:sp>
        <p:nvSpPr>
          <p:cNvPr id="37" name="Shape 35"/>
          <p:cNvSpPr/>
          <p:nvPr/>
        </p:nvSpPr>
        <p:spPr>
          <a:xfrm>
            <a:off x="9161145" y="1792224"/>
            <a:ext cx="0" cy="155448"/>
          </a:xfrm>
          <a:prstGeom prst="line">
            <a:avLst/>
          </a:prstGeom>
          <a:noFill/>
          <a:ln w="17780">
            <a:solidFill>
              <a:srgbClr val="5B8FD3"/>
            </a:solidFill>
            <a:prstDash val="solid"/>
          </a:ln>
        </p:spPr>
        <p:txBody>
          <a:bodyPr/>
          <a:lstStyle/>
          <a:p>
            <a:endParaRPr lang="ja-JP" altLang="en-US"/>
          </a:p>
        </p:txBody>
      </p:sp>
      <p:sp>
        <p:nvSpPr>
          <p:cNvPr id="38" name="Shape 36"/>
          <p:cNvSpPr/>
          <p:nvPr/>
        </p:nvSpPr>
        <p:spPr>
          <a:xfrm>
            <a:off x="9584055" y="1792224"/>
            <a:ext cx="0" cy="155448"/>
          </a:xfrm>
          <a:prstGeom prst="line">
            <a:avLst/>
          </a:prstGeom>
          <a:noFill/>
          <a:ln w="17780">
            <a:solidFill>
              <a:srgbClr val="1F9D8A"/>
            </a:solidFill>
            <a:prstDash val="solid"/>
          </a:ln>
        </p:spPr>
        <p:txBody>
          <a:bodyPr/>
          <a:lstStyle/>
          <a:p>
            <a:endParaRPr lang="ja-JP" altLang="en-US"/>
          </a:p>
        </p:txBody>
      </p:sp>
      <p:sp>
        <p:nvSpPr>
          <p:cNvPr id="39" name="Shape 37"/>
          <p:cNvSpPr/>
          <p:nvPr/>
        </p:nvSpPr>
        <p:spPr>
          <a:xfrm>
            <a:off x="10006965" y="1792224"/>
            <a:ext cx="0" cy="155448"/>
          </a:xfrm>
          <a:prstGeom prst="line">
            <a:avLst/>
          </a:prstGeom>
          <a:noFill/>
          <a:ln w="17780">
            <a:solidFill>
              <a:srgbClr val="5B8FD3"/>
            </a:solidFill>
            <a:prstDash val="solid"/>
          </a:ln>
        </p:spPr>
        <p:txBody>
          <a:bodyPr/>
          <a:lstStyle/>
          <a:p>
            <a:endParaRPr lang="ja-JP" altLang="en-US"/>
          </a:p>
        </p:txBody>
      </p:sp>
      <p:sp>
        <p:nvSpPr>
          <p:cNvPr id="40" name="Shape 38"/>
          <p:cNvSpPr/>
          <p:nvPr/>
        </p:nvSpPr>
        <p:spPr>
          <a:xfrm>
            <a:off x="10429875" y="1792224"/>
            <a:ext cx="0" cy="155448"/>
          </a:xfrm>
          <a:prstGeom prst="line">
            <a:avLst/>
          </a:prstGeom>
          <a:noFill/>
          <a:ln w="17780">
            <a:solidFill>
              <a:srgbClr val="1F9D8A"/>
            </a:solidFill>
            <a:prstDash val="solid"/>
          </a:ln>
        </p:spPr>
        <p:txBody>
          <a:bodyPr/>
          <a:lstStyle/>
          <a:p>
            <a:endParaRPr lang="ja-JP" altLang="en-US"/>
          </a:p>
        </p:txBody>
      </p:sp>
      <p:sp>
        <p:nvSpPr>
          <p:cNvPr id="41" name="Shape 39"/>
          <p:cNvSpPr/>
          <p:nvPr/>
        </p:nvSpPr>
        <p:spPr>
          <a:xfrm>
            <a:off x="10852785" y="1792224"/>
            <a:ext cx="0" cy="155448"/>
          </a:xfrm>
          <a:prstGeom prst="line">
            <a:avLst/>
          </a:prstGeom>
          <a:noFill/>
          <a:ln w="17780">
            <a:solidFill>
              <a:srgbClr val="5B8FD3"/>
            </a:solidFill>
            <a:prstDash val="solid"/>
          </a:ln>
        </p:spPr>
        <p:txBody>
          <a:bodyPr/>
          <a:lstStyle/>
          <a:p>
            <a:endParaRPr lang="ja-JP" altLang="en-US"/>
          </a:p>
        </p:txBody>
      </p:sp>
      <p:sp>
        <p:nvSpPr>
          <p:cNvPr id="42" name="Text 40"/>
          <p:cNvSpPr/>
          <p:nvPr/>
        </p:nvSpPr>
        <p:spPr>
          <a:xfrm>
            <a:off x="4526280" y="1389888"/>
            <a:ext cx="3017520" cy="347472"/>
          </a:xfrm>
          <a:prstGeom prst="rect">
            <a:avLst/>
          </a:prstGeom>
          <a:noFill/>
          <a:ln/>
        </p:spPr>
        <p:txBody>
          <a:bodyPr wrap="square" lIns="0" tIns="0" rIns="0" bIns="0" rtlCol="0" anchor="ctr"/>
          <a:lstStyle/>
          <a:p>
            <a:pPr marL="0" indent="0" algn="ctr">
              <a:buNone/>
            </a:pPr>
            <a:r>
              <a:rPr lang="en-US" sz="2200" b="1" dirty="0">
                <a:solidFill>
                  <a:srgbClr val="3B8D5A"/>
                </a:solidFill>
                <a:latin typeface="Noto Sans CJK JP" pitchFamily="34" charset="0"/>
                <a:ea typeface="Noto Sans CJK JP" pitchFamily="34" charset="-122"/>
                <a:cs typeface="Noto Sans CJK JP" pitchFamily="34" charset="-120"/>
              </a:rPr>
              <a:t>24回すべて成立</a:t>
            </a:r>
            <a:endParaRPr lang="en-US" sz="2200" dirty="0"/>
          </a:p>
        </p:txBody>
      </p:sp>
      <p:sp>
        <p:nvSpPr>
          <p:cNvPr id="43" name="Shape 41"/>
          <p:cNvSpPr/>
          <p:nvPr/>
        </p:nvSpPr>
        <p:spPr>
          <a:xfrm>
            <a:off x="777240" y="2907792"/>
            <a:ext cx="3337560" cy="2331720"/>
          </a:xfrm>
          <a:prstGeom prst="roundRect">
            <a:avLst>
              <a:gd name="adj" fmla="val 3137"/>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4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8992" y="3200400"/>
            <a:ext cx="512064" cy="512064"/>
          </a:xfrm>
          <a:prstGeom prst="rect">
            <a:avLst/>
          </a:prstGeom>
        </p:spPr>
      </p:pic>
      <p:sp>
        <p:nvSpPr>
          <p:cNvPr id="45" name="Text 42"/>
          <p:cNvSpPr/>
          <p:nvPr/>
        </p:nvSpPr>
        <p:spPr>
          <a:xfrm>
            <a:off x="1783080" y="3163824"/>
            <a:ext cx="1828800" cy="347472"/>
          </a:xfrm>
          <a:prstGeom prst="rect">
            <a:avLst/>
          </a:prstGeom>
          <a:noFill/>
          <a:ln/>
        </p:spPr>
        <p:txBody>
          <a:bodyPr wrap="square" lIns="0" tIns="0" rIns="0" bIns="0" rtlCol="0" anchor="ctr"/>
          <a:lstStyle/>
          <a:p>
            <a:pPr marL="0" indent="0">
              <a:buNone/>
            </a:pPr>
            <a:r>
              <a:rPr lang="en-US" sz="2000" b="1" dirty="0">
                <a:solidFill>
                  <a:srgbClr val="172033"/>
                </a:solidFill>
                <a:latin typeface="Noto Sans CJK JP" pitchFamily="34" charset="0"/>
                <a:ea typeface="Noto Sans CJK JP" pitchFamily="34" charset="-122"/>
                <a:cs typeface="Noto Sans CJK JP" pitchFamily="34" charset="-120"/>
              </a:rPr>
              <a:t>15分 × 96区間</a:t>
            </a:r>
            <a:endParaRPr lang="en-US" sz="2000" dirty="0"/>
          </a:p>
        </p:txBody>
      </p:sp>
      <p:sp>
        <p:nvSpPr>
          <p:cNvPr id="46" name="Text 43"/>
          <p:cNvSpPr/>
          <p:nvPr/>
        </p:nvSpPr>
        <p:spPr>
          <a:xfrm>
            <a:off x="1051560" y="3886200"/>
            <a:ext cx="2743200" cy="658368"/>
          </a:xfrm>
          <a:prstGeom prst="rect">
            <a:avLst/>
          </a:prstGeom>
          <a:noFill/>
          <a:ln/>
        </p:spPr>
        <p:txBody>
          <a:bodyPr wrap="square" lIns="0" tIns="0" rIns="0" bIns="0" rtlCol="0" anchor="ctr"/>
          <a:lstStyle/>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PV・系統電力・BESSの動きを</a:t>
            </a:r>
            <a:endParaRPr lang="en-US" sz="1550" dirty="0"/>
          </a:p>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一日分つなげて確認</a:t>
            </a:r>
            <a:endParaRPr lang="en-US" sz="1550" dirty="0"/>
          </a:p>
        </p:txBody>
      </p:sp>
      <p:sp>
        <p:nvSpPr>
          <p:cNvPr id="47" name="Shape 44"/>
          <p:cNvSpPr/>
          <p:nvPr/>
        </p:nvSpPr>
        <p:spPr>
          <a:xfrm>
            <a:off x="4407408" y="2907792"/>
            <a:ext cx="3337560" cy="2331720"/>
          </a:xfrm>
          <a:prstGeom prst="roundRect">
            <a:avLst>
              <a:gd name="adj" fmla="val 3137"/>
            </a:avLst>
          </a:prstGeom>
          <a:solidFill>
            <a:srgbClr val="E8F6F3"/>
          </a:solidFill>
          <a:ln w="12700">
            <a:solidFill>
              <a:srgbClr val="1F9D8A"/>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4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9160" y="3200400"/>
            <a:ext cx="512064" cy="512064"/>
          </a:xfrm>
          <a:prstGeom prst="rect">
            <a:avLst/>
          </a:prstGeom>
        </p:spPr>
      </p:pic>
      <p:sp>
        <p:nvSpPr>
          <p:cNvPr id="49" name="Text 45"/>
          <p:cNvSpPr/>
          <p:nvPr/>
        </p:nvSpPr>
        <p:spPr>
          <a:xfrm>
            <a:off x="5413248" y="3163824"/>
            <a:ext cx="1828800" cy="347472"/>
          </a:xfrm>
          <a:prstGeom prst="rect">
            <a:avLst/>
          </a:prstGeom>
          <a:noFill/>
          <a:ln/>
        </p:spPr>
        <p:txBody>
          <a:bodyPr wrap="square" lIns="0" tIns="0" rIns="0" bIns="0" rtlCol="0" anchor="ctr"/>
          <a:lstStyle/>
          <a:p>
            <a:pPr marL="0" indent="0">
              <a:buNone/>
            </a:pPr>
            <a:r>
              <a:rPr lang="en-US" sz="2000" b="1" dirty="0">
                <a:solidFill>
                  <a:srgbClr val="172033"/>
                </a:solidFill>
                <a:latin typeface="Noto Sans CJK JP" pitchFamily="34" charset="0"/>
                <a:ea typeface="Noto Sans CJK JP" pitchFamily="34" charset="-122"/>
                <a:cs typeface="Noto Sans CJK JP" pitchFamily="34" charset="-120"/>
              </a:rPr>
              <a:t>物理条件の確認</a:t>
            </a:r>
            <a:endParaRPr lang="en-US" sz="2000" dirty="0"/>
          </a:p>
        </p:txBody>
      </p:sp>
      <p:sp>
        <p:nvSpPr>
          <p:cNvPr id="50" name="Text 46"/>
          <p:cNvSpPr/>
          <p:nvPr/>
        </p:nvSpPr>
        <p:spPr>
          <a:xfrm>
            <a:off x="4681728" y="3886200"/>
            <a:ext cx="2743200" cy="658368"/>
          </a:xfrm>
          <a:prstGeom prst="rect">
            <a:avLst/>
          </a:prstGeom>
          <a:noFill/>
          <a:ln/>
        </p:spPr>
        <p:txBody>
          <a:bodyPr wrap="square" lIns="0" tIns="0" rIns="0" bIns="0" rtlCol="0" anchor="ctr"/>
          <a:lstStyle/>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便の重複・SOC・充電器・</a:t>
            </a:r>
            <a:endParaRPr lang="en-US" sz="1550" dirty="0"/>
          </a:p>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電力収支に矛盾がないか</a:t>
            </a:r>
            <a:endParaRPr lang="en-US" sz="1550" dirty="0"/>
          </a:p>
        </p:txBody>
      </p:sp>
      <p:sp>
        <p:nvSpPr>
          <p:cNvPr id="51" name="Shape 47"/>
          <p:cNvSpPr/>
          <p:nvPr/>
        </p:nvSpPr>
        <p:spPr>
          <a:xfrm>
            <a:off x="8037576" y="2907792"/>
            <a:ext cx="3337560" cy="2331720"/>
          </a:xfrm>
          <a:prstGeom prst="roundRect">
            <a:avLst>
              <a:gd name="adj" fmla="val 3137"/>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5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39328" y="3200400"/>
            <a:ext cx="512064" cy="512064"/>
          </a:xfrm>
          <a:prstGeom prst="rect">
            <a:avLst/>
          </a:prstGeom>
        </p:spPr>
      </p:pic>
      <p:sp>
        <p:nvSpPr>
          <p:cNvPr id="53" name="Text 48"/>
          <p:cNvSpPr/>
          <p:nvPr/>
        </p:nvSpPr>
        <p:spPr>
          <a:xfrm>
            <a:off x="9052560" y="3163824"/>
            <a:ext cx="1783080" cy="347472"/>
          </a:xfrm>
          <a:prstGeom prst="rect">
            <a:avLst/>
          </a:prstGeom>
          <a:noFill/>
          <a:ln/>
        </p:spPr>
        <p:txBody>
          <a:bodyPr wrap="square" lIns="0" tIns="0" rIns="0" bIns="0" rtlCol="0" anchor="ctr"/>
          <a:lstStyle/>
          <a:p>
            <a:pPr marL="0" indent="0">
              <a:buNone/>
            </a:pPr>
            <a:r>
              <a:rPr lang="en-US" sz="2000" b="1" dirty="0">
                <a:solidFill>
                  <a:srgbClr val="172033"/>
                </a:solidFill>
                <a:latin typeface="Noto Sans CJK JP" pitchFamily="34" charset="0"/>
                <a:ea typeface="Noto Sans CJK JP" pitchFamily="34" charset="-122"/>
                <a:cs typeface="Noto Sans CJK JP" pitchFamily="34" charset="-120"/>
              </a:rPr>
              <a:t>証拠の紐づけ</a:t>
            </a:r>
            <a:endParaRPr lang="en-US" sz="2000" dirty="0"/>
          </a:p>
        </p:txBody>
      </p:sp>
      <p:sp>
        <p:nvSpPr>
          <p:cNvPr id="54" name="Text 49"/>
          <p:cNvSpPr/>
          <p:nvPr/>
        </p:nvSpPr>
        <p:spPr>
          <a:xfrm>
            <a:off x="8321040" y="3886200"/>
            <a:ext cx="2743200" cy="658368"/>
          </a:xfrm>
          <a:prstGeom prst="rect">
            <a:avLst/>
          </a:prstGeom>
          <a:noFill/>
          <a:ln/>
        </p:spPr>
        <p:txBody>
          <a:bodyPr wrap="square" lIns="0" tIns="0" rIns="0" bIns="0" rtlCol="0" anchor="ctr"/>
          <a:lstStyle/>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入力・コード・出力・費用を</a:t>
            </a:r>
            <a:endParaRPr lang="en-US" sz="1550" dirty="0"/>
          </a:p>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同じ実行として記録</a:t>
            </a:r>
            <a:endParaRPr lang="en-US" sz="1550" dirty="0"/>
          </a:p>
        </p:txBody>
      </p:sp>
      <p:sp>
        <p:nvSpPr>
          <p:cNvPr id="55" name="Text 50"/>
          <p:cNvSpPr/>
          <p:nvPr/>
        </p:nvSpPr>
        <p:spPr>
          <a:xfrm>
            <a:off x="1143000" y="5760720"/>
            <a:ext cx="9875520" cy="347472"/>
          </a:xfrm>
          <a:prstGeom prst="rect">
            <a:avLst/>
          </a:prstGeom>
          <a:noFill/>
          <a:ln/>
        </p:spPr>
        <p:txBody>
          <a:bodyPr wrap="square" lIns="0" tIns="0" rIns="0" bIns="0" rtlCol="0" anchor="ctr"/>
          <a:lstStyle/>
          <a:p>
            <a:pPr marL="0" indent="0" algn="ctr">
              <a:buNone/>
            </a:pPr>
            <a:r>
              <a:rPr lang="en-US" sz="1750" b="1" dirty="0">
                <a:solidFill>
                  <a:srgbClr val="1F2A5A"/>
                </a:solidFill>
                <a:latin typeface="Noto Sans CJK JP" pitchFamily="34" charset="0"/>
                <a:ea typeface="Noto Sans CJK JP" pitchFamily="34" charset="-122"/>
                <a:cs typeface="Noto Sans CJK JP" pitchFamily="34" charset="-120"/>
              </a:rPr>
              <a:t>結果だけでなく、「どの入力とコードで出した結果か」まで追える状態にした。</a:t>
            </a:r>
            <a:endParaRPr lang="en-US" sz="1750" dirty="0"/>
          </a:p>
        </p:txBody>
      </p:sp>
    </p:spTree>
  </p:cSld>
  <p:clrMapOvr>
    <a:masterClrMapping/>
  </p:clrMapOvr>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03065E-B3F2-4E2B-A327-53F59F8364C1}"/>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確認できたことと、まだ分からないこと</a:t>
            </a:r>
          </a:p>
        </p:txBody>
      </p:sp>
      <p:sp>
        <p:nvSpPr>
          <p:cNvPr id="2" name="">
            <a:extLst xmlns:a="http://schemas.openxmlformats.org/drawingml/2006/main">
              <a:ext uri="{FF2B5EF4-FFF2-40B4-BE49-F238E27FC236}">
                <a16:creationId xmlns:a16="http://schemas.microsoft.com/office/drawing/2014/main" id="{4E69ACB4-316E-45AC-AEF6-8021A058604A}"/>
              </a:ext>
            </a:extLst>
          </p:cNvPr>
          <p:cNvSpPr>
            <a:spLocks xmlns:a="http://schemas.openxmlformats.org/drawingml/2006/main" noGrp="1"/>
          </p:cNvSpPr>
          <p:nvPr/>
        </p:nvSpPr>
        <p:spPr>
          <a:xfrm xmlns:a="http://schemas.openxmlformats.org/drawingml/2006/main">
            <a:off x="571500" y="9620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87B"/>
                </a:solidFill>
                <a:latin typeface="Meiryo"/>
                <a:ea typeface="Meiryo"/>
                <a:cs typeface="Meiryo"/>
              </a:defRPr>
            </a:pPr>
            <a:r>
              <a:rPr sz="1875" b="0">
                <a:solidFill>
                  <a:srgbClr val="59687B"/>
                </a:solidFill>
                <a:latin typeface="Meiryo"/>
                <a:ea typeface="Meiryo"/>
                <a:cs typeface="Meiryo"/>
              </a:rPr>
              <a:t>動く計画ができたことと、最もよい計画であることは別の確認</a:t>
            </a:r>
          </a:p>
        </p:txBody>
      </p:sp>
      <p:graphicFrame>
        <p:nvGraphicFramePr>
          <p:cNvPr id="9" name=""/>
          <p:cNvGraphicFramePr/>
          <p:nvPr/>
        </p:nvGraphicFramePr>
        <p:xfrm>
          <a:off xmlns:a="http://schemas.openxmlformats.org/drawingml/2006/main" x="571500" y="1714500"/>
          <a:ext xmlns:a="http://schemas.openxmlformats.org/drawingml/2006/main" cx="11049000" cy="3476625"/>
        </p:xfrm>
        <a:graphic xmlns:a="http://schemas.openxmlformats.org/drawingml/2006/main">
          <a:graphicData uri="http://schemas.openxmlformats.org/drawingml/2006/table">
            <a:tbl>
              <a:tblPr/>
              <a:tblGrid>
                <a:gridCol w="5524500"/>
                <a:gridCol w="5524500"/>
              </a:tblGrid>
              <a:tr h="869156">
                <a:tc>
                  <a:txBody>
                    <a:bodyPr/>
                    <a:lstStyle/>
                    <a:p>
                      <a:r>
                        <a:rPr sz="1875" b="1">
                          <a:solidFill>
                            <a:srgbClr val="FFFFFF"/>
                          </a:solidFill>
                          <a:latin typeface="Meiryo"/>
                          <a:ea typeface="Meiryo"/>
                          <a:cs typeface="Meiryo"/>
                        </a:rPr>
                        <a:t>確認できたこと</a:t>
                      </a:r>
                    </a:p>
                  </a:txBody>
                  <a:tcPr marL="91440" marR="91440" marT="45720" marB="45720">
                    <a:solidFill>
                      <a:srgbClr val="202B58"/>
                    </a:solidFill>
                  </a:tcPr>
                </a:tc>
                <a:tc>
                  <a:txBody>
                    <a:bodyPr/>
                    <a:lstStyle/>
                    <a:p>
                      <a:r>
                        <a:rPr sz="1875" b="1">
                          <a:solidFill>
                            <a:srgbClr val="FFFFFF"/>
                          </a:solidFill>
                          <a:latin typeface="Meiryo"/>
                          <a:ea typeface="Meiryo"/>
                          <a:cs typeface="Meiryo"/>
                        </a:rPr>
                        <a:t>まだ分からないこと</a:t>
                      </a:r>
                    </a:p>
                  </a:txBody>
                  <a:tcPr marL="91440" marR="91440" marT="45720" marB="45720">
                    <a:solidFill>
                      <a:srgbClr val="202B58"/>
                    </a:solidFill>
                  </a:tcPr>
                </a:tc>
              </a:tr>
              <a:tr h="869156">
                <a:tc>
                  <a:txBody>
                    <a:bodyPr/>
                    <a:lstStyle/>
                    <a:p>
                      <a:r>
                        <a:rPr sz="1875" b="0">
                          <a:solidFill>
                            <a:srgbClr val="202B58"/>
                          </a:solidFill>
                          <a:latin typeface="Meiryo"/>
                          <a:ea typeface="Meiryo"/>
                          <a:cs typeface="Meiryo"/>
                        </a:rPr>
                        <a:t>同じ264便を、両方の太陽光条件で担当</a:t>
                      </a:r>
                    </a:p>
                    <a:p>
                      <a:r>
                        <a:rPr sz="1875" b="0">
                          <a:solidFill>
                            <a:srgbClr val="202B58"/>
                          </a:solidFill>
                          <a:latin typeface="Meiryo"/>
                          <a:ea typeface="Meiryo"/>
                          <a:cs typeface="Meiryo"/>
                        </a:rPr>
                        <a:t>電池・充電器・電力の条件を検算</a:t>
                      </a:r>
                    </a:p>
                  </a:txBody>
                  <a:tcPr marL="91440" marR="91440" marT="45720" marB="45720">
                    <a:solidFill>
                      <a:srgbClr val="F1F5F8"/>
                    </a:solidFill>
                  </a:tcPr>
                </a:tc>
                <a:tc>
                  <a:txBody>
                    <a:bodyPr/>
                    <a:lstStyle/>
                    <a:p>
                      <a:r>
                        <a:rPr sz="1875" b="0">
                          <a:solidFill>
                            <a:srgbClr val="202B58"/>
                          </a:solidFill>
                          <a:latin typeface="Meiryo"/>
                          <a:ea typeface="Meiryo"/>
                          <a:cs typeface="Meiryo"/>
                        </a:rPr>
                        <a:t>全ての配車の中で最も安いか</a:t>
                      </a:r>
                    </a:p>
                    <a:p>
                      <a:r>
                        <a:rPr sz="1875" b="0">
                          <a:solidFill>
                            <a:srgbClr val="202B58"/>
                          </a:solidFill>
                          <a:latin typeface="Meiryo"/>
                          <a:ea typeface="Meiryo"/>
                          <a:cs typeface="Meiryo"/>
                        </a:rPr>
                        <a:t>22候補の外には、よりよい案があるか</a:t>
                      </a:r>
                    </a:p>
                  </a:txBody>
                  <a:tcPr marL="91440" marR="91440" marT="45720" marB="45720">
                    <a:solidFill>
                      <a:srgbClr val="F1F5F8"/>
                    </a:solidFill>
                  </a:tcPr>
                </a:tc>
              </a:tr>
              <a:tr h="869156">
                <a:tc>
                  <a:txBody>
                    <a:bodyPr/>
                    <a:lstStyle/>
                    <a:p>
                      <a:r>
                        <a:rPr sz="1875" b="0">
                          <a:solidFill>
                            <a:srgbClr val="202B58"/>
                          </a:solidFill>
                          <a:latin typeface="Meiryo"/>
                          <a:ea typeface="Meiryo"/>
                          <a:cs typeface="Meiryo"/>
                        </a:rPr>
                        <a:t>採用した計画の一日の評価額と</a:t>
                      </a:r>
                    </a:p>
                    <a:p>
                      <a:r>
                        <a:rPr sz="1875" b="0">
                          <a:solidFill>
                            <a:srgbClr val="202B58"/>
                          </a:solidFill>
                          <a:latin typeface="Meiryo"/>
                          <a:ea typeface="Meiryo"/>
                          <a:cs typeface="Meiryo"/>
                        </a:rPr>
                        <a:t>燃料費などの内訳を確認</a:t>
                      </a:r>
                    </a:p>
                  </a:txBody>
                  <a:tcPr marL="91440" marR="91440" marT="45720" marB="45720">
                    <a:solidFill>
                      <a:srgbClr val="FFFFFF"/>
                    </a:solidFill>
                  </a:tcPr>
                </a:tc>
                <a:tc>
                  <a:txBody>
                    <a:bodyPr/>
                    <a:lstStyle/>
                    <a:p>
                      <a:r>
                        <a:rPr sz="1875" b="0">
                          <a:solidFill>
                            <a:srgbClr val="202B58"/>
                          </a:solidFill>
                          <a:latin typeface="Meiryo"/>
                          <a:ea typeface="Meiryo"/>
                          <a:cs typeface="Meiryo"/>
                        </a:rPr>
                        <a:t>単純な方法よりどれだけよいか</a:t>
                      </a:r>
                    </a:p>
                    <a:p>
                      <a:r>
                        <a:rPr sz="1875" b="0">
                          <a:solidFill>
                            <a:srgbClr val="202B58"/>
                          </a:solidFill>
                          <a:latin typeface="Meiryo"/>
                          <a:ea typeface="Meiryo"/>
                          <a:cs typeface="Meiryo"/>
                        </a:rPr>
                        <a:t>実際の営業所でも同じ効果があるか</a:t>
                      </a:r>
                    </a:p>
                  </a:txBody>
                  <a:tcPr marL="91440" marR="91440" marT="45720" marB="45720">
                    <a:solidFill>
                      <a:srgbClr val="FFFFFF"/>
                    </a:solidFill>
                  </a:tcPr>
                </a:tc>
              </a:tr>
              <a:tr h="869156">
                <a:tc>
                  <a:txBody>
                    <a:bodyPr/>
                    <a:lstStyle/>
                    <a:p>
                      <a:r>
                        <a:rPr sz="1875" b="0">
                          <a:solidFill>
                            <a:srgbClr val="202B58"/>
                          </a:solidFill>
                          <a:latin typeface="Meiryo"/>
                          <a:ea typeface="Meiryo"/>
                          <a:cs typeface="Meiryo"/>
                        </a:rPr>
                        <a:t>どの便が変わり、いつ太陽光が余るか</a:t>
                      </a:r>
                    </a:p>
                    <a:p>
                      <a:r>
                        <a:rPr sz="1875" b="0">
                          <a:solidFill>
                            <a:srgbClr val="202B58"/>
                          </a:solidFill>
                          <a:latin typeface="Meiryo"/>
                          <a:ea typeface="Meiryo"/>
                          <a:cs typeface="Meiryo"/>
                        </a:rPr>
                        <a:t>を具体的に示した</a:t>
                      </a:r>
                    </a:p>
                  </a:txBody>
                  <a:tcPr marL="91440" marR="91440" marT="45720" marB="45720">
                    <a:solidFill>
                      <a:srgbClr val="F1F5F8"/>
                    </a:solidFill>
                  </a:tcPr>
                </a:tc>
                <a:tc>
                  <a:txBody>
                    <a:bodyPr/>
                    <a:lstStyle/>
                    <a:p>
                      <a:r>
                        <a:rPr sz="1875" b="0">
                          <a:solidFill>
                            <a:srgbClr val="202B58"/>
                          </a:solidFill>
                          <a:latin typeface="Meiryo"/>
                          <a:ea typeface="Meiryo"/>
                          <a:cs typeface="Meiryo"/>
                        </a:rPr>
                        <a:t>なぜその便を選び、その時間に余るか</a:t>
                      </a:r>
                    </a:p>
                    <a:p>
                      <a:r>
                        <a:rPr sz="1875" b="0">
                          <a:solidFill>
                            <a:srgbClr val="202B58"/>
                          </a:solidFill>
                          <a:latin typeface="Meiryo"/>
                          <a:ea typeface="Meiryo"/>
                          <a:cs typeface="Meiryo"/>
                        </a:rPr>
                        <a:t>原因を分けた検証はまだ必要</a:t>
                      </a:r>
                    </a:p>
                  </a:txBody>
                  <a:tcPr marL="91440" marR="91440" marT="45720" marB="45720">
                    <a:solidFill>
                      <a:srgbClr val="F1F5F8"/>
                    </a:solidFill>
                  </a:tcPr>
                </a:tc>
              </a:tr>
            </a:tbl>
          </a:graphicData>
        </a:graphic>
      </p:graphicFrame>
      <p:sp>
        <p:nvSpPr>
          <p:cNvPr id="4" name="">
            <a:extLst xmlns:a="http://schemas.openxmlformats.org/drawingml/2006/main">
              <a:ext uri="{FF2B5EF4-FFF2-40B4-BE49-F238E27FC236}">
                <a16:creationId xmlns:a16="http://schemas.microsoft.com/office/drawing/2014/main" id="{6698ED32-8F6A-4245-BEE1-368A7B109997}"/>
              </a:ext>
            </a:extLst>
          </p:cNvPr>
          <p:cNvSpPr>
            <a:spLocks xmlns:a="http://schemas.openxmlformats.org/drawingml/2006/main" noGrp="1"/>
          </p:cNvSpPr>
          <p:nvPr/>
        </p:nvSpPr>
        <p:spPr>
          <a:xfrm xmlns:a="http://schemas.openxmlformats.org/drawingml/2006/main">
            <a:off x="571500" y="54387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9A8C"/>
                </a:solidFill>
                <a:latin typeface="Meiryo"/>
                <a:ea typeface="Meiryo"/>
                <a:cs typeface="Meiryo"/>
              </a:defRPr>
            </a:pPr>
            <a:r>
              <a:rPr sz="2025" b="1">
                <a:solidFill>
                  <a:srgbClr val="159A8C"/>
                </a:solidFill>
                <a:latin typeface="Meiryo"/>
                <a:ea typeface="Meiryo"/>
                <a:cs typeface="Meiryo"/>
              </a:rPr>
              <a:t>現時点の結論：二条件で、異なる実行可能な計画と説明材料を得た</a:t>
            </a:r>
          </a:p>
        </p:txBody>
      </p:sp>
      <p:sp>
        <p:nvSpPr>
          <p:cNvPr id="5" name="">
            <a:extLst xmlns:a="http://schemas.openxmlformats.org/drawingml/2006/main">
              <a:ext uri="{FF2B5EF4-FFF2-40B4-BE49-F238E27FC236}">
                <a16:creationId xmlns:a16="http://schemas.microsoft.com/office/drawing/2014/main" id="{125B12C8-683E-47D9-86EB-2AAB6BA06D04}"/>
              </a:ext>
            </a:extLst>
          </p:cNvPr>
          <p:cNvSpPr>
            <a:spLocks xmlns:a="http://schemas.openxmlformats.org/drawingml/2006/main" noGrp="1"/>
          </p:cNvSpPr>
          <p:nvPr/>
        </p:nvSpPr>
        <p:spPr>
          <a:xfrm xmlns:a="http://schemas.openxmlformats.org/drawingml/2006/main">
            <a:off x="571500" y="6143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E4D36"/>
                </a:solidFill>
                <a:latin typeface="Meiryo"/>
                <a:ea typeface="Meiryo"/>
                <a:cs typeface="Meiryo"/>
              </a:defRPr>
            </a:pPr>
            <a:r>
              <a:rPr sz="1350" b="0">
                <a:solidFill>
                  <a:srgbClr val="7E4D36"/>
                </a:solidFill>
                <a:latin typeface="Meiryo"/>
                <a:ea typeface="Meiryo"/>
                <a:cs typeface="Meiryo"/>
              </a:rPr>
              <a:t>最適性・一般的な天候効果は未証明。設備費・劣化費・運転士費は評価額に含まない。</a:t>
            </a:r>
          </a:p>
        </p:txBody>
      </p:sp>
      <p:sp>
        <p:nvSpPr>
          <p:cNvPr id="6" name="">
            <a:extLst xmlns:a="http://schemas.openxmlformats.org/drawingml/2006/main">
              <a:ext uri="{FF2B5EF4-FFF2-40B4-BE49-F238E27FC236}">
                <a16:creationId xmlns:a16="http://schemas.microsoft.com/office/drawing/2014/main" id="{C390F35A-C4B4-4F8B-94E8-9B20204839A3}"/>
              </a:ext>
            </a:extLst>
          </p:cNvPr>
          <p:cNvSpPr>
            <a:spLocks xmlns:a="http://schemas.openxmlformats.org/drawingml/2006/main" noGrp="1"/>
          </p:cNvSpPr>
          <p:nvPr/>
        </p:nvSpPr>
        <p:spPr>
          <a:xfrm xmlns:a="http://schemas.openxmlformats.org/drawingml/2006/main">
            <a:off x="11144250" y="6524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48B"/>
                </a:solidFill>
                <a:latin typeface="Meiryo"/>
                <a:ea typeface="Meiryo"/>
                <a:cs typeface="Meiryo"/>
              </a:defRPr>
            </a:pPr>
            <a:r>
              <a:rPr sz="900" b="0">
                <a:solidFill>
                  <a:srgbClr val="66748B"/>
                </a:solidFill>
                <a:latin typeface="Meiryo"/>
                <a:ea typeface="Meiryo"/>
                <a:cs typeface="Meiryo"/>
              </a:rPr>
              <a:t>16/18</a:t>
            </a:r>
          </a:p>
        </p:txBody>
      </p:sp>
    </p:spTree>
    <p:extLst>
      <p:ext uri="{BB962C8B-B14F-4D97-AF65-F5344CB8AC3E}">
        <p14:creationId xmlns:p14="http://schemas.microsoft.com/office/powerpoint/2010/main" val="57612274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AD9A21-08EC-4201-AA11-B01EDCD6A915}"/>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次の検証で、何を確かめるか</a:t>
            </a:r>
          </a:p>
        </p:txBody>
      </p:sp>
      <p:sp>
        <p:nvSpPr>
          <p:cNvPr id="2" name="">
            <a:extLst xmlns:a="http://schemas.openxmlformats.org/drawingml/2006/main">
              <a:ext uri="{FF2B5EF4-FFF2-40B4-BE49-F238E27FC236}">
                <a16:creationId xmlns:a16="http://schemas.microsoft.com/office/drawing/2014/main" id="{14E9AAB1-12FB-4C70-B4B8-AFA348E0419C}"/>
              </a:ext>
            </a:extLst>
          </p:cNvPr>
          <p:cNvSpPr>
            <a:spLocks xmlns:a="http://schemas.openxmlformats.org/drawingml/2006/main" noGrp="1"/>
          </p:cNvSpPr>
          <p:nvPr/>
        </p:nvSpPr>
        <p:spPr>
          <a:xfrm xmlns:a="http://schemas.openxmlformats.org/drawingml/2006/main">
            <a:off x="571500" y="9620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87B"/>
                </a:solidFill>
                <a:latin typeface="Meiryo"/>
                <a:ea typeface="Meiryo"/>
                <a:cs typeface="Meiryo"/>
              </a:defRPr>
            </a:pPr>
            <a:r>
              <a:rPr sz="1875" b="0">
                <a:solidFill>
                  <a:srgbClr val="59687B"/>
                </a:solidFill>
                <a:latin typeface="Meiryo"/>
                <a:ea typeface="Meiryo"/>
                <a:cs typeface="Meiryo"/>
              </a:rPr>
              <a:t>残る疑問ごとに、比較する条件を分けて決める</a:t>
            </a:r>
          </a:p>
        </p:txBody>
      </p:sp>
      <p:graphicFrame>
        <p:nvGraphicFramePr>
          <p:cNvPr id="9" name=""/>
          <p:cNvGraphicFramePr/>
          <p:nvPr/>
        </p:nvGraphicFramePr>
        <p:xfrm>
          <a:off xmlns:a="http://schemas.openxmlformats.org/drawingml/2006/main" x="571500" y="1714500"/>
          <a:ext xmlns:a="http://schemas.openxmlformats.org/drawingml/2006/main" cx="11049000" cy="3476625"/>
        </p:xfrm>
        <a:graphic xmlns:a="http://schemas.openxmlformats.org/drawingml/2006/main">
          <a:graphicData uri="http://schemas.openxmlformats.org/drawingml/2006/table">
            <a:tbl>
              <a:tblPr/>
              <a:tblGrid>
                <a:gridCol w="3476625"/>
                <a:gridCol w="3667125"/>
                <a:gridCol w="3905250"/>
              </a:tblGrid>
              <a:tr h="869156">
                <a:tc>
                  <a:txBody>
                    <a:bodyPr/>
                    <a:lstStyle/>
                    <a:p>
                      <a:r>
                        <a:rPr sz="1875" b="1">
                          <a:solidFill>
                            <a:srgbClr val="FFFFFF"/>
                          </a:solidFill>
                          <a:latin typeface="Meiryo"/>
                          <a:ea typeface="Meiryo"/>
                          <a:cs typeface="Meiryo"/>
                        </a:rPr>
                        <a:t>残る疑問</a:t>
                      </a:r>
                    </a:p>
                  </a:txBody>
                  <a:tcPr marL="91440" marR="91440" marT="45720" marB="45720">
                    <a:solidFill>
                      <a:srgbClr val="202B58"/>
                    </a:solidFill>
                  </a:tcPr>
                </a:tc>
                <a:tc>
                  <a:txBody>
                    <a:bodyPr/>
                    <a:lstStyle/>
                    <a:p>
                      <a:r>
                        <a:rPr sz="1875" b="1">
                          <a:solidFill>
                            <a:srgbClr val="FFFFFF"/>
                          </a:solidFill>
                          <a:latin typeface="Meiryo"/>
                          <a:ea typeface="Meiryo"/>
                          <a:cs typeface="Meiryo"/>
                        </a:rPr>
                        <a:t>次に行う作業</a:t>
                      </a:r>
                    </a:p>
                  </a:txBody>
                  <a:tcPr marL="91440" marR="91440" marT="45720" marB="45720">
                    <a:solidFill>
                      <a:srgbClr val="202B58"/>
                    </a:solidFill>
                  </a:tcPr>
                </a:tc>
                <a:tc>
                  <a:txBody>
                    <a:bodyPr/>
                    <a:lstStyle/>
                    <a:p>
                      <a:r>
                        <a:rPr sz="1875" b="1">
                          <a:solidFill>
                            <a:srgbClr val="FFFFFF"/>
                          </a:solidFill>
                          <a:latin typeface="Meiryo"/>
                          <a:ea typeface="Meiryo"/>
                          <a:cs typeface="Meiryo"/>
                        </a:rPr>
                        <a:t>分かるようにしたいこと</a:t>
                      </a:r>
                    </a:p>
                  </a:txBody>
                  <a:tcPr marL="91440" marR="91440" marT="45720" marB="45720">
                    <a:solidFill>
                      <a:srgbClr val="202B58"/>
                    </a:solidFill>
                  </a:tcPr>
                </a:tc>
              </a:tr>
              <a:tr h="869156">
                <a:tc>
                  <a:txBody>
                    <a:bodyPr/>
                    <a:lstStyle/>
                    <a:p>
                      <a:r>
                        <a:rPr sz="1875" b="0">
                          <a:solidFill>
                            <a:srgbClr val="202B58"/>
                          </a:solidFill>
                          <a:latin typeface="Meiryo"/>
                          <a:ea typeface="Meiryo"/>
                          <a:cs typeface="Meiryo"/>
                        </a:rPr>
                        <a:t>現在の方法は</a:t>
                      </a:r>
                    </a:p>
                    <a:p>
                      <a:r>
                        <a:rPr sz="1875" b="0">
                          <a:solidFill>
                            <a:srgbClr val="202B58"/>
                          </a:solidFill>
                          <a:latin typeface="Meiryo"/>
                          <a:ea typeface="Meiryo"/>
                          <a:cs typeface="Meiryo"/>
                        </a:rPr>
                        <a:t>どの程度よい答えか</a:t>
                      </a:r>
                    </a:p>
                  </a:txBody>
                  <a:tcPr marL="91440" marR="91440" marT="45720" marB="45720">
                    <a:solidFill>
                      <a:srgbClr val="F1F5F8"/>
                    </a:solidFill>
                  </a:tcPr>
                </a:tc>
                <a:tc>
                  <a:txBody>
                    <a:bodyPr/>
                    <a:lstStyle/>
                    <a:p>
                      <a:r>
                        <a:rPr sz="1875" b="0">
                          <a:solidFill>
                            <a:srgbClr val="202B58"/>
                          </a:solidFill>
                          <a:latin typeface="Meiryo"/>
                          <a:ea typeface="Meiryo"/>
                          <a:cs typeface="Meiryo"/>
                        </a:rPr>
                        <a:t>8・12・24便で</a:t>
                      </a:r>
                    </a:p>
                    <a:p>
                      <a:r>
                        <a:rPr sz="1875" b="0">
                          <a:solidFill>
                            <a:srgbClr val="202B58"/>
                          </a:solidFill>
                          <a:latin typeface="Meiryo"/>
                          <a:ea typeface="Meiryo"/>
                          <a:cs typeface="Meiryo"/>
                        </a:rPr>
                        <a:t>一体型の参照方法と比較</a:t>
                      </a:r>
                    </a:p>
                  </a:txBody>
                  <a:tcPr marL="91440" marR="91440" marT="45720" marB="45720">
                    <a:solidFill>
                      <a:srgbClr val="F1F5F8"/>
                    </a:solidFill>
                  </a:tcPr>
                </a:tc>
                <a:tc>
                  <a:txBody>
                    <a:bodyPr/>
                    <a:lstStyle/>
                    <a:p>
                      <a:r>
                        <a:rPr sz="1875" b="0">
                          <a:solidFill>
                            <a:srgbClr val="202B58"/>
                          </a:solidFill>
                          <a:latin typeface="Meiryo"/>
                          <a:ea typeface="Meiryo"/>
                          <a:cs typeface="Meiryo"/>
                        </a:rPr>
                        <a:t>小さな問題での</a:t>
                      </a:r>
                    </a:p>
                    <a:p>
                      <a:r>
                        <a:rPr sz="1875" b="0">
                          <a:solidFill>
                            <a:srgbClr val="202B58"/>
                          </a:solidFill>
                          <a:latin typeface="Meiryo"/>
                          <a:ea typeface="Meiryo"/>
                          <a:cs typeface="Meiryo"/>
                        </a:rPr>
                        <a:t>評価額と計算時間の違い</a:t>
                      </a:r>
                    </a:p>
                  </a:txBody>
                  <a:tcPr marL="91440" marR="91440" marT="45720" marB="45720">
                    <a:solidFill>
                      <a:srgbClr val="F1F5F8"/>
                    </a:solidFill>
                  </a:tcPr>
                </a:tc>
              </a:tr>
              <a:tr h="869156">
                <a:tc>
                  <a:txBody>
                    <a:bodyPr/>
                    <a:lstStyle/>
                    <a:p>
                      <a:r>
                        <a:rPr sz="1875" b="0">
                          <a:solidFill>
                            <a:srgbClr val="202B58"/>
                          </a:solidFill>
                          <a:latin typeface="Meiryo"/>
                          <a:ea typeface="Meiryo"/>
                          <a:cs typeface="Meiryo"/>
                        </a:rPr>
                        <a:t>候補や時間を増やすと</a:t>
                      </a:r>
                    </a:p>
                    <a:p>
                      <a:r>
                        <a:rPr sz="1875" b="0">
                          <a:solidFill>
                            <a:srgbClr val="202B58"/>
                          </a:solidFill>
                          <a:latin typeface="Meiryo"/>
                          <a:ea typeface="Meiryo"/>
                          <a:cs typeface="Meiryo"/>
                        </a:rPr>
                        <a:t>選ぶ案は変わるか</a:t>
                      </a:r>
                    </a:p>
                  </a:txBody>
                  <a:tcPr marL="91440" marR="91440" marT="45720" marB="45720">
                    <a:solidFill>
                      <a:srgbClr val="FFFFFF"/>
                    </a:solidFill>
                  </a:tcPr>
                </a:tc>
                <a:tc>
                  <a:txBody>
                    <a:bodyPr/>
                    <a:lstStyle/>
                    <a:p>
                      <a:r>
                        <a:rPr sz="1875" b="0">
                          <a:solidFill>
                            <a:srgbClr val="202B58"/>
                          </a:solidFill>
                          <a:latin typeface="Meiryo"/>
                          <a:ea typeface="Meiryo"/>
                          <a:cs typeface="Meiryo"/>
                        </a:rPr>
                        <a:t>候補範囲と計算時間を</a:t>
                      </a:r>
                    </a:p>
                    <a:p>
                      <a:r>
                        <a:rPr sz="1875" b="0">
                          <a:solidFill>
                            <a:srgbClr val="202B58"/>
                          </a:solidFill>
                          <a:latin typeface="Meiryo"/>
                          <a:ea typeface="Meiryo"/>
                          <a:cs typeface="Meiryo"/>
                        </a:rPr>
                        <a:t>一つずつ変える</a:t>
                      </a:r>
                    </a:p>
                  </a:txBody>
                  <a:tcPr marL="91440" marR="91440" marT="45720" marB="45720">
                    <a:solidFill>
                      <a:srgbClr val="FFFFFF"/>
                    </a:solidFill>
                  </a:tcPr>
                </a:tc>
                <a:tc>
                  <a:txBody>
                    <a:bodyPr/>
                    <a:lstStyle/>
                    <a:p>
                      <a:r>
                        <a:rPr sz="1875" b="0">
                          <a:solidFill>
                            <a:srgbClr val="202B58"/>
                          </a:solidFill>
                          <a:latin typeface="Meiryo"/>
                          <a:ea typeface="Meiryo"/>
                          <a:cs typeface="Meiryo"/>
                        </a:rPr>
                        <a:t>同じ案を選び続けるか</a:t>
                      </a:r>
                    </a:p>
                    <a:p>
                      <a:r>
                        <a:rPr sz="1875" b="0">
                          <a:solidFill>
                            <a:srgbClr val="202B58"/>
                          </a:solidFill>
                          <a:latin typeface="Meiryo"/>
                          <a:ea typeface="Meiryo"/>
                          <a:cs typeface="Meiryo"/>
                        </a:rPr>
                        <a:t>費用がどれだけ変わるか</a:t>
                      </a:r>
                    </a:p>
                  </a:txBody>
                  <a:tcPr marL="91440" marR="91440" marT="45720" marB="45720">
                    <a:solidFill>
                      <a:srgbClr val="FFFFFF"/>
                    </a:solidFill>
                  </a:tcPr>
                </a:tc>
              </a:tr>
              <a:tr h="869156">
                <a:tc>
                  <a:txBody>
                    <a:bodyPr/>
                    <a:lstStyle/>
                    <a:p>
                      <a:r>
                        <a:rPr sz="1875" b="0">
                          <a:solidFill>
                            <a:srgbClr val="202B58"/>
                          </a:solidFill>
                          <a:latin typeface="Meiryo"/>
                          <a:ea typeface="Meiryo"/>
                          <a:cs typeface="Meiryo"/>
                        </a:rPr>
                        <a:t>太陽光が余る原因は何か</a:t>
                      </a:r>
                    </a:p>
                  </a:txBody>
                  <a:tcPr marL="91440" marR="91440" marT="45720" marB="45720">
                    <a:solidFill>
                      <a:srgbClr val="F1F5F8"/>
                    </a:solidFill>
                  </a:tcPr>
                </a:tc>
                <a:tc>
                  <a:txBody>
                    <a:bodyPr/>
                    <a:lstStyle/>
                    <a:p>
                      <a:r>
                        <a:rPr sz="1875" b="0">
                          <a:solidFill>
                            <a:srgbClr val="202B58"/>
                          </a:solidFill>
                          <a:latin typeface="Meiryo"/>
                          <a:ea typeface="Meiryo"/>
                          <a:cs typeface="Meiryo"/>
                        </a:rPr>
                        <a:t>配車を固定するなど</a:t>
                      </a:r>
                    </a:p>
                    <a:p>
                      <a:r>
                        <a:rPr sz="1875" b="0">
                          <a:solidFill>
                            <a:srgbClr val="202B58"/>
                          </a:solidFill>
                          <a:latin typeface="Meiryo"/>
                          <a:ea typeface="Meiryo"/>
                          <a:cs typeface="Meiryo"/>
                        </a:rPr>
                        <a:t>比較条件を決めて検証</a:t>
                      </a:r>
                    </a:p>
                  </a:txBody>
                  <a:tcPr marL="91440" marR="91440" marT="45720" marB="45720">
                    <a:solidFill>
                      <a:srgbClr val="F1F5F8"/>
                    </a:solidFill>
                  </a:tcPr>
                </a:tc>
                <a:tc>
                  <a:txBody>
                    <a:bodyPr/>
                    <a:lstStyle/>
                    <a:p>
                      <a:r>
                        <a:rPr sz="1875" b="0">
                          <a:solidFill>
                            <a:srgbClr val="202B58"/>
                          </a:solidFill>
                          <a:latin typeface="Meiryo"/>
                          <a:ea typeface="Meiryo"/>
                          <a:cs typeface="Meiryo"/>
                        </a:rPr>
                        <a:t>車両の所在や残量条件等の</a:t>
                      </a:r>
                    </a:p>
                    <a:p>
                      <a:r>
                        <a:rPr sz="1875" b="0">
                          <a:solidFill>
                            <a:srgbClr val="202B58"/>
                          </a:solidFill>
                          <a:latin typeface="Meiryo"/>
                          <a:ea typeface="Meiryo"/>
                          <a:cs typeface="Meiryo"/>
                        </a:rPr>
                        <a:t>影響を切り分ける</a:t>
                      </a:r>
                    </a:p>
                  </a:txBody>
                  <a:tcPr marL="91440" marR="91440" marT="45720" marB="45720">
                    <a:solidFill>
                      <a:srgbClr val="F1F5F8"/>
                    </a:solidFill>
                  </a:tcPr>
                </a:tc>
              </a:tr>
            </a:tbl>
          </a:graphicData>
        </a:graphic>
      </p:graphicFrame>
      <p:sp>
        <p:nvSpPr>
          <p:cNvPr id="4" name="">
            <a:extLst xmlns:a="http://schemas.openxmlformats.org/drawingml/2006/main">
              <a:ext uri="{FF2B5EF4-FFF2-40B4-BE49-F238E27FC236}">
                <a16:creationId xmlns:a16="http://schemas.microsoft.com/office/drawing/2014/main" id="{A61DB6B6-C41D-4652-AA82-1FC50BC53EDB}"/>
              </a:ext>
            </a:extLst>
          </p:cNvPr>
          <p:cNvSpPr>
            <a:spLocks xmlns:a="http://schemas.openxmlformats.org/drawingml/2006/main" noGrp="1"/>
          </p:cNvSpPr>
          <p:nvPr/>
        </p:nvSpPr>
        <p:spPr>
          <a:xfrm xmlns:a="http://schemas.openxmlformats.org/drawingml/2006/main">
            <a:off x="571500" y="54387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9A8C"/>
                </a:solidFill>
                <a:latin typeface="Meiryo"/>
                <a:ea typeface="Meiryo"/>
                <a:cs typeface="Meiryo"/>
              </a:defRPr>
            </a:pPr>
            <a:r>
              <a:rPr sz="2025" b="1">
                <a:solidFill>
                  <a:srgbClr val="159A8C"/>
                </a:solidFill>
                <a:latin typeface="Meiryo"/>
                <a:ea typeface="Meiryo"/>
                <a:cs typeface="Meiryo"/>
              </a:rPr>
              <a:t>指導教員への相談：比較範囲・費用項目・許容する差を決めてから実行</a:t>
            </a:r>
          </a:p>
        </p:txBody>
      </p:sp>
      <p:sp>
        <p:nvSpPr>
          <p:cNvPr id="5" name="">
            <a:extLst xmlns:a="http://schemas.openxmlformats.org/drawingml/2006/main">
              <a:ext uri="{FF2B5EF4-FFF2-40B4-BE49-F238E27FC236}">
                <a16:creationId xmlns:a16="http://schemas.microsoft.com/office/drawing/2014/main" id="{37E1AC43-846C-4E58-8DE5-A001E5BF30FC}"/>
              </a:ext>
            </a:extLst>
          </p:cNvPr>
          <p:cNvSpPr>
            <a:spLocks xmlns:a="http://schemas.openxmlformats.org/drawingml/2006/main" noGrp="1"/>
          </p:cNvSpPr>
          <p:nvPr/>
        </p:nvSpPr>
        <p:spPr>
          <a:xfrm xmlns:a="http://schemas.openxmlformats.org/drawingml/2006/main">
            <a:off x="571500" y="6143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E4D36"/>
                </a:solidFill>
                <a:latin typeface="Meiryo"/>
                <a:ea typeface="Meiryo"/>
                <a:cs typeface="Meiryo"/>
              </a:defRPr>
            </a:pPr>
            <a:r>
              <a:rPr sz="1350" b="0">
                <a:solidFill>
                  <a:srgbClr val="7E4D36"/>
                </a:solidFill>
                <a:latin typeface="Meiryo"/>
                <a:ea typeface="Meiryo"/>
                <a:cs typeface="Meiryo"/>
              </a:rPr>
              <a:t>いずれも今後の検証。追加実験は承認後に実施する。最適性や原因を先に決めつけない。</a:t>
            </a:r>
          </a:p>
        </p:txBody>
      </p:sp>
      <p:sp>
        <p:nvSpPr>
          <p:cNvPr id="6" name="">
            <a:extLst xmlns:a="http://schemas.openxmlformats.org/drawingml/2006/main">
              <a:ext uri="{FF2B5EF4-FFF2-40B4-BE49-F238E27FC236}">
                <a16:creationId xmlns:a16="http://schemas.microsoft.com/office/drawing/2014/main" id="{F61FBDB6-833D-4084-AAF6-5B6EF2CBFCEE}"/>
              </a:ext>
            </a:extLst>
          </p:cNvPr>
          <p:cNvSpPr>
            <a:spLocks xmlns:a="http://schemas.openxmlformats.org/drawingml/2006/main" noGrp="1"/>
          </p:cNvSpPr>
          <p:nvPr/>
        </p:nvSpPr>
        <p:spPr>
          <a:xfrm xmlns:a="http://schemas.openxmlformats.org/drawingml/2006/main">
            <a:off x="11144250" y="6524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48B"/>
                </a:solidFill>
                <a:latin typeface="Meiryo"/>
                <a:ea typeface="Meiryo"/>
                <a:cs typeface="Meiryo"/>
              </a:defRPr>
            </a:pPr>
            <a:r>
              <a:rPr sz="900" b="0">
                <a:solidFill>
                  <a:srgbClr val="66748B"/>
                </a:solidFill>
                <a:latin typeface="Meiryo"/>
                <a:ea typeface="Meiryo"/>
                <a:cs typeface="Meiryo"/>
              </a:rPr>
              <a:t>17/18</a:t>
            </a:r>
          </a:p>
        </p:txBody>
      </p:sp>
    </p:spTree>
    <p:extLst>
      <p:ext uri="{BB962C8B-B14F-4D97-AF65-F5344CB8AC3E}">
        <p14:creationId xmlns:p14="http://schemas.microsoft.com/office/powerpoint/2010/main" val="2028028205"/>
      </p:ext>
    </p:extLst>
  </p:cSld>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参考にした先行研究</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進捗報告（参考）</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18/18</a:t>
            </a:r>
            <a:endParaRPr lang="en-US" sz="850" dirty="0"/>
          </a:p>
        </p:txBody>
      </p:sp>
      <p:sp>
        <p:nvSpPr>
          <p:cNvPr id="6" name="Shape 4"/>
          <p:cNvSpPr/>
          <p:nvPr/>
        </p:nvSpPr>
        <p:spPr>
          <a:xfrm>
            <a:off x="640080" y="941832"/>
            <a:ext cx="10927080" cy="694944"/>
          </a:xfrm>
          <a:prstGeom prst="rect">
            <a:avLst/>
          </a:prstGeom>
          <a:solidFill>
            <a:srgbClr val="F8FAFC"/>
          </a:solidFill>
          <a:ln w="12700">
            <a:solidFill>
              <a:srgbClr val="F8FAFC"/>
            </a:solidFill>
            <a:prstDash val="solid"/>
          </a:ln>
        </p:spPr>
        <p:txBody>
          <a:bodyPr/>
          <a:lstStyle/>
          <a:p>
            <a:endParaRPr lang="ja-JP" altLang="en-US"/>
          </a:p>
        </p:txBody>
      </p:sp>
      <p:sp>
        <p:nvSpPr>
          <p:cNvPr id="7" name="Text 5"/>
          <p:cNvSpPr/>
          <p:nvPr/>
        </p:nvSpPr>
        <p:spPr>
          <a:xfrm>
            <a:off x="804672" y="987552"/>
            <a:ext cx="411480" cy="274320"/>
          </a:xfrm>
          <a:prstGeom prst="rect">
            <a:avLst/>
          </a:prstGeom>
          <a:noFill/>
          <a:ln/>
        </p:spPr>
        <p:txBody>
          <a:bodyPr wrap="square" lIns="0" tIns="0" rIns="0" bIns="0" rtlCol="0" anchor="ctr"/>
          <a:lstStyle/>
          <a:p>
            <a:pPr marL="0" indent="0">
              <a:buNone/>
            </a:pPr>
            <a:r>
              <a:rPr lang="en-US" sz="1300" b="1" dirty="0">
                <a:solidFill>
                  <a:srgbClr val="356BB3"/>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261872" y="987552"/>
            <a:ext cx="1691640" cy="274320"/>
          </a:xfrm>
          <a:prstGeom prst="rect">
            <a:avLst/>
          </a:prstGeom>
          <a:noFill/>
          <a:ln/>
        </p:spPr>
        <p:txBody>
          <a:bodyPr wrap="square" lIns="0" tIns="0" rIns="0" bIns="0" rtlCol="0" anchor="ctr"/>
          <a:lstStyle/>
          <a:p>
            <a:pPr marL="0" indent="0">
              <a:buNone/>
            </a:pPr>
            <a:r>
              <a:rPr lang="en-US" sz="1300" b="1" dirty="0">
                <a:solidFill>
                  <a:srgbClr val="172033"/>
                </a:solidFill>
                <a:latin typeface="Noto Sans CJK JP" pitchFamily="34" charset="0"/>
                <a:ea typeface="Noto Sans CJK JP" pitchFamily="34" charset="-122"/>
                <a:cs typeface="Noto Sans CJK JP" pitchFamily="34" charset="-120"/>
              </a:rPr>
              <a:t>Fei, F. et al.</a:t>
            </a:r>
            <a:endParaRPr lang="en-US" sz="1300" dirty="0"/>
          </a:p>
        </p:txBody>
      </p:sp>
      <p:sp>
        <p:nvSpPr>
          <p:cNvPr id="9" name="Text 7"/>
          <p:cNvSpPr/>
          <p:nvPr/>
        </p:nvSpPr>
        <p:spPr>
          <a:xfrm>
            <a:off x="2880360" y="969264"/>
            <a:ext cx="5989320" cy="402336"/>
          </a:xfrm>
          <a:prstGeom prst="rect">
            <a:avLst/>
          </a:prstGeom>
          <a:noFill/>
          <a:ln/>
        </p:spPr>
        <p:txBody>
          <a:bodyPr wrap="square" lIns="0" tIns="0" rIns="0" bIns="0" rtlCol="0" anchor="ctr">
            <a:normAutofit/>
          </a:bodyPr>
          <a:lstStyle/>
          <a:p>
            <a:pPr marL="0" indent="0">
              <a:buNone/>
            </a:pPr>
            <a:r>
              <a:rPr lang="en-US" sz="1220" dirty="0">
                <a:solidFill>
                  <a:srgbClr val="172033"/>
                </a:solidFill>
                <a:latin typeface="Noto Sans CJK JP" pitchFamily="34" charset="0"/>
                <a:ea typeface="Noto Sans CJK JP" pitchFamily="34" charset="-122"/>
                <a:cs typeface="Noto Sans CJK JP" pitchFamily="34" charset="-120"/>
              </a:rPr>
              <a:t>Exploring the profitability of using electric bus fleets for transport and power grid services</a:t>
            </a:r>
            <a:endParaRPr lang="en-US" sz="1220" dirty="0"/>
          </a:p>
        </p:txBody>
      </p:sp>
      <p:sp>
        <p:nvSpPr>
          <p:cNvPr id="10" name="Text 8"/>
          <p:cNvSpPr/>
          <p:nvPr/>
        </p:nvSpPr>
        <p:spPr>
          <a:xfrm>
            <a:off x="8942832" y="978408"/>
            <a:ext cx="2331720" cy="384048"/>
          </a:xfrm>
          <a:prstGeom prst="rect">
            <a:avLst/>
          </a:prstGeom>
          <a:noFill/>
          <a:ln/>
        </p:spPr>
        <p:txBody>
          <a:bodyPr wrap="square" lIns="0" tIns="0" rIns="0" bIns="0" rtlCol="0" anchor="ctr">
            <a:normAutofit/>
          </a:bodyPr>
          <a:lstStyle/>
          <a:p>
            <a:pPr marL="0" indent="0" algn="r">
              <a:buNone/>
            </a:pPr>
            <a:r>
              <a:rPr lang="en-US" sz="1080" dirty="0">
                <a:solidFill>
                  <a:srgbClr val="687386"/>
                </a:solidFill>
                <a:latin typeface="Noto Sans CJK JP" pitchFamily="34" charset="0"/>
                <a:ea typeface="Noto Sans CJK JP" pitchFamily="34" charset="-122"/>
                <a:cs typeface="Noto Sans CJK JP" pitchFamily="34" charset="-120"/>
              </a:rPr>
              <a:t>Transportation Research Part C, 149, 104060, 2023</a:t>
            </a:r>
            <a:endParaRPr lang="en-US" sz="1080" dirty="0"/>
          </a:p>
        </p:txBody>
      </p:sp>
      <p:sp>
        <p:nvSpPr>
          <p:cNvPr id="11" name="Text 9"/>
          <p:cNvSpPr/>
          <p:nvPr/>
        </p:nvSpPr>
        <p:spPr>
          <a:xfrm>
            <a:off x="804672" y="1783080"/>
            <a:ext cx="411480" cy="274320"/>
          </a:xfrm>
          <a:prstGeom prst="rect">
            <a:avLst/>
          </a:prstGeom>
          <a:noFill/>
          <a:ln/>
        </p:spPr>
        <p:txBody>
          <a:bodyPr wrap="square" lIns="0" tIns="0" rIns="0" bIns="0" rtlCol="0" anchor="ctr"/>
          <a:lstStyle/>
          <a:p>
            <a:pPr marL="0" indent="0">
              <a:buNone/>
            </a:pPr>
            <a:r>
              <a:rPr lang="en-US" sz="1300" b="1" dirty="0">
                <a:solidFill>
                  <a:srgbClr val="356BB3"/>
                </a:solidFill>
                <a:latin typeface="Arial" pitchFamily="34" charset="0"/>
                <a:ea typeface="Arial" pitchFamily="34" charset="-122"/>
                <a:cs typeface="Arial" pitchFamily="34" charset="-120"/>
              </a:rPr>
              <a:t>[2]</a:t>
            </a:r>
            <a:endParaRPr lang="en-US" sz="1300" dirty="0"/>
          </a:p>
        </p:txBody>
      </p:sp>
      <p:sp>
        <p:nvSpPr>
          <p:cNvPr id="12" name="Text 10"/>
          <p:cNvSpPr/>
          <p:nvPr/>
        </p:nvSpPr>
        <p:spPr>
          <a:xfrm>
            <a:off x="1261872" y="1783080"/>
            <a:ext cx="1691640" cy="274320"/>
          </a:xfrm>
          <a:prstGeom prst="rect">
            <a:avLst/>
          </a:prstGeom>
          <a:noFill/>
          <a:ln/>
        </p:spPr>
        <p:txBody>
          <a:bodyPr wrap="square" lIns="0" tIns="0" rIns="0" bIns="0" rtlCol="0" anchor="ctr"/>
          <a:lstStyle/>
          <a:p>
            <a:pPr marL="0" indent="0">
              <a:buNone/>
            </a:pPr>
            <a:r>
              <a:rPr lang="en-US" sz="1300" b="1" dirty="0">
                <a:solidFill>
                  <a:srgbClr val="172033"/>
                </a:solidFill>
                <a:latin typeface="Noto Sans CJK JP" pitchFamily="34" charset="0"/>
                <a:ea typeface="Noto Sans CJK JP" pitchFamily="34" charset="-122"/>
                <a:cs typeface="Noto Sans CJK JP" pitchFamily="34" charset="-120"/>
              </a:rPr>
              <a:t>Najafi, A. et al.</a:t>
            </a:r>
            <a:endParaRPr lang="en-US" sz="1300" dirty="0"/>
          </a:p>
        </p:txBody>
      </p:sp>
      <p:sp>
        <p:nvSpPr>
          <p:cNvPr id="13" name="Text 11"/>
          <p:cNvSpPr/>
          <p:nvPr/>
        </p:nvSpPr>
        <p:spPr>
          <a:xfrm>
            <a:off x="2880360" y="1764792"/>
            <a:ext cx="5989320" cy="402336"/>
          </a:xfrm>
          <a:prstGeom prst="rect">
            <a:avLst/>
          </a:prstGeom>
          <a:noFill/>
          <a:ln/>
        </p:spPr>
        <p:txBody>
          <a:bodyPr wrap="square" lIns="0" tIns="0" rIns="0" bIns="0" rtlCol="0" anchor="ctr">
            <a:normAutofit/>
          </a:bodyPr>
          <a:lstStyle/>
          <a:p>
            <a:pPr marL="0" indent="0">
              <a:buNone/>
            </a:pPr>
            <a:r>
              <a:rPr lang="en-US" sz="1220" dirty="0">
                <a:solidFill>
                  <a:srgbClr val="172033"/>
                </a:solidFill>
                <a:latin typeface="Noto Sans CJK JP" pitchFamily="34" charset="0"/>
                <a:ea typeface="Noto Sans CJK JP" pitchFamily="34" charset="-122"/>
                <a:cs typeface="Noto Sans CJK JP" pitchFamily="34" charset="-120"/>
              </a:rPr>
              <a:t>Integrated optimization of charging infrastructure, electric bus scheduling and energy systems</a:t>
            </a:r>
            <a:endParaRPr lang="en-US" sz="1220" dirty="0"/>
          </a:p>
        </p:txBody>
      </p:sp>
      <p:sp>
        <p:nvSpPr>
          <p:cNvPr id="14" name="Text 12"/>
          <p:cNvSpPr/>
          <p:nvPr/>
        </p:nvSpPr>
        <p:spPr>
          <a:xfrm>
            <a:off x="8942832" y="1773936"/>
            <a:ext cx="2331720" cy="384048"/>
          </a:xfrm>
          <a:prstGeom prst="rect">
            <a:avLst/>
          </a:prstGeom>
          <a:noFill/>
          <a:ln/>
        </p:spPr>
        <p:txBody>
          <a:bodyPr wrap="square" lIns="0" tIns="0" rIns="0" bIns="0" rtlCol="0" anchor="ctr">
            <a:normAutofit/>
          </a:bodyPr>
          <a:lstStyle/>
          <a:p>
            <a:pPr marL="0" indent="0" algn="r">
              <a:buNone/>
            </a:pPr>
            <a:r>
              <a:rPr lang="en-US" sz="1080" dirty="0">
                <a:solidFill>
                  <a:srgbClr val="687386"/>
                </a:solidFill>
                <a:latin typeface="Noto Sans CJK JP" pitchFamily="34" charset="0"/>
                <a:ea typeface="Noto Sans CJK JP" pitchFamily="34" charset="-122"/>
                <a:cs typeface="Noto Sans CJK JP" pitchFamily="34" charset="-120"/>
              </a:rPr>
              <a:t>Transportation Research Part D, 141, 104664, 2025</a:t>
            </a:r>
            <a:endParaRPr lang="en-US" sz="1080" dirty="0"/>
          </a:p>
        </p:txBody>
      </p:sp>
      <p:sp>
        <p:nvSpPr>
          <p:cNvPr id="15" name="Shape 13"/>
          <p:cNvSpPr/>
          <p:nvPr/>
        </p:nvSpPr>
        <p:spPr>
          <a:xfrm>
            <a:off x="640080" y="2532888"/>
            <a:ext cx="10927080" cy="694944"/>
          </a:xfrm>
          <a:prstGeom prst="rect">
            <a:avLst/>
          </a:prstGeom>
          <a:solidFill>
            <a:srgbClr val="F8FAFC"/>
          </a:solidFill>
          <a:ln w="12700">
            <a:solidFill>
              <a:srgbClr val="F8FAFC"/>
            </a:solidFill>
            <a:prstDash val="solid"/>
          </a:ln>
        </p:spPr>
        <p:txBody>
          <a:bodyPr/>
          <a:lstStyle/>
          <a:p>
            <a:endParaRPr lang="ja-JP" altLang="en-US"/>
          </a:p>
        </p:txBody>
      </p:sp>
      <p:sp>
        <p:nvSpPr>
          <p:cNvPr id="16" name="Text 14"/>
          <p:cNvSpPr/>
          <p:nvPr/>
        </p:nvSpPr>
        <p:spPr>
          <a:xfrm>
            <a:off x="804672" y="2578608"/>
            <a:ext cx="411480" cy="274320"/>
          </a:xfrm>
          <a:prstGeom prst="rect">
            <a:avLst/>
          </a:prstGeom>
          <a:noFill/>
          <a:ln/>
        </p:spPr>
        <p:txBody>
          <a:bodyPr wrap="square" lIns="0" tIns="0" rIns="0" bIns="0" rtlCol="0" anchor="ctr"/>
          <a:lstStyle/>
          <a:p>
            <a:pPr marL="0" indent="0">
              <a:buNone/>
            </a:pPr>
            <a:r>
              <a:rPr lang="en-US" sz="1300" b="1" dirty="0">
                <a:solidFill>
                  <a:srgbClr val="356BB3"/>
                </a:solidFill>
                <a:latin typeface="Arial" pitchFamily="34" charset="0"/>
                <a:ea typeface="Arial" pitchFamily="34" charset="-122"/>
                <a:cs typeface="Arial" pitchFamily="34" charset="-120"/>
              </a:rPr>
              <a:t>[3]</a:t>
            </a:r>
            <a:endParaRPr lang="en-US" sz="1300" dirty="0"/>
          </a:p>
        </p:txBody>
      </p:sp>
      <p:sp>
        <p:nvSpPr>
          <p:cNvPr id="17" name="Text 15"/>
          <p:cNvSpPr/>
          <p:nvPr/>
        </p:nvSpPr>
        <p:spPr>
          <a:xfrm>
            <a:off x="1261872" y="2578608"/>
            <a:ext cx="1691640" cy="274320"/>
          </a:xfrm>
          <a:prstGeom prst="rect">
            <a:avLst/>
          </a:prstGeom>
          <a:noFill/>
          <a:ln/>
        </p:spPr>
        <p:txBody>
          <a:bodyPr wrap="square" lIns="0" tIns="0" rIns="0" bIns="0" rtlCol="0" anchor="ctr"/>
          <a:lstStyle/>
          <a:p>
            <a:pPr marL="0" indent="0">
              <a:buNone/>
            </a:pPr>
            <a:r>
              <a:rPr lang="en-US" sz="1300" b="1" dirty="0">
                <a:solidFill>
                  <a:srgbClr val="172033"/>
                </a:solidFill>
                <a:latin typeface="Noto Sans CJK JP" pitchFamily="34" charset="0"/>
                <a:ea typeface="Noto Sans CJK JP" pitchFamily="34" charset="-122"/>
                <a:cs typeface="Noto Sans CJK JP" pitchFamily="34" charset="-120"/>
              </a:rPr>
              <a:t>Zhang, M. et al.</a:t>
            </a:r>
            <a:endParaRPr lang="en-US" sz="1300" dirty="0"/>
          </a:p>
        </p:txBody>
      </p:sp>
      <p:sp>
        <p:nvSpPr>
          <p:cNvPr id="18" name="Text 16"/>
          <p:cNvSpPr/>
          <p:nvPr/>
        </p:nvSpPr>
        <p:spPr>
          <a:xfrm>
            <a:off x="2880360" y="2560320"/>
            <a:ext cx="5989320" cy="402336"/>
          </a:xfrm>
          <a:prstGeom prst="rect">
            <a:avLst/>
          </a:prstGeom>
          <a:noFill/>
          <a:ln/>
        </p:spPr>
        <p:txBody>
          <a:bodyPr wrap="square" lIns="0" tIns="0" rIns="0" bIns="0" rtlCol="0" anchor="ctr">
            <a:normAutofit/>
          </a:bodyPr>
          <a:lstStyle/>
          <a:p>
            <a:pPr marL="0" indent="0">
              <a:buNone/>
            </a:pPr>
            <a:r>
              <a:rPr lang="en-US" sz="1220" dirty="0">
                <a:solidFill>
                  <a:srgbClr val="172033"/>
                </a:solidFill>
                <a:latin typeface="Noto Sans CJK JP" pitchFamily="34" charset="0"/>
                <a:ea typeface="Noto Sans CJK JP" pitchFamily="34" charset="-122"/>
                <a:cs typeface="Noto Sans CJK JP" pitchFamily="34" charset="-120"/>
              </a:rPr>
              <a:t>Optimal Electric Bus Charging Scheduling with Multiple Vehicle and Charger Types Considering Compatibility</a:t>
            </a:r>
            <a:endParaRPr lang="en-US" sz="1220" dirty="0"/>
          </a:p>
        </p:txBody>
      </p:sp>
      <p:sp>
        <p:nvSpPr>
          <p:cNvPr id="19" name="Text 17"/>
          <p:cNvSpPr/>
          <p:nvPr/>
        </p:nvSpPr>
        <p:spPr>
          <a:xfrm>
            <a:off x="8942832" y="2569464"/>
            <a:ext cx="2331720" cy="384048"/>
          </a:xfrm>
          <a:prstGeom prst="rect">
            <a:avLst/>
          </a:prstGeom>
          <a:noFill/>
          <a:ln/>
        </p:spPr>
        <p:txBody>
          <a:bodyPr wrap="square" lIns="0" tIns="0" rIns="0" bIns="0" rtlCol="0" anchor="ctr">
            <a:normAutofit/>
          </a:bodyPr>
          <a:lstStyle/>
          <a:p>
            <a:pPr marL="0" indent="0" algn="r">
              <a:buNone/>
            </a:pPr>
            <a:r>
              <a:rPr lang="en-US" sz="1080" dirty="0">
                <a:solidFill>
                  <a:srgbClr val="687386"/>
                </a:solidFill>
                <a:latin typeface="Noto Sans CJK JP" pitchFamily="34" charset="0"/>
                <a:ea typeface="Noto Sans CJK JP" pitchFamily="34" charset="-122"/>
                <a:cs typeface="Noto Sans CJK JP" pitchFamily="34" charset="-120"/>
              </a:rPr>
              <a:t>2025</a:t>
            </a:r>
            <a:endParaRPr lang="en-US" sz="1080" dirty="0"/>
          </a:p>
        </p:txBody>
      </p:sp>
      <p:sp>
        <p:nvSpPr>
          <p:cNvPr id="20" name="Text 18"/>
          <p:cNvSpPr/>
          <p:nvPr/>
        </p:nvSpPr>
        <p:spPr>
          <a:xfrm>
            <a:off x="804672" y="3374136"/>
            <a:ext cx="411480" cy="274320"/>
          </a:xfrm>
          <a:prstGeom prst="rect">
            <a:avLst/>
          </a:prstGeom>
          <a:noFill/>
          <a:ln/>
        </p:spPr>
        <p:txBody>
          <a:bodyPr wrap="square" lIns="0" tIns="0" rIns="0" bIns="0" rtlCol="0" anchor="ctr"/>
          <a:lstStyle/>
          <a:p>
            <a:pPr marL="0" indent="0">
              <a:buNone/>
            </a:pPr>
            <a:r>
              <a:rPr lang="en-US" sz="1300" b="1" dirty="0">
                <a:solidFill>
                  <a:srgbClr val="356BB3"/>
                </a:solidFill>
                <a:latin typeface="Arial" pitchFamily="34" charset="0"/>
                <a:ea typeface="Arial" pitchFamily="34" charset="-122"/>
                <a:cs typeface="Arial" pitchFamily="34" charset="-120"/>
              </a:rPr>
              <a:t>[4]</a:t>
            </a:r>
            <a:endParaRPr lang="en-US" sz="1300" dirty="0"/>
          </a:p>
        </p:txBody>
      </p:sp>
      <p:sp>
        <p:nvSpPr>
          <p:cNvPr id="21" name="Text 19"/>
          <p:cNvSpPr/>
          <p:nvPr/>
        </p:nvSpPr>
        <p:spPr>
          <a:xfrm>
            <a:off x="1261872" y="3374136"/>
            <a:ext cx="1691640" cy="274320"/>
          </a:xfrm>
          <a:prstGeom prst="rect">
            <a:avLst/>
          </a:prstGeom>
          <a:noFill/>
          <a:ln/>
        </p:spPr>
        <p:txBody>
          <a:bodyPr wrap="square" lIns="0" tIns="0" rIns="0" bIns="0" rtlCol="0" anchor="ctr"/>
          <a:lstStyle/>
          <a:p>
            <a:pPr marL="0" indent="0">
              <a:buNone/>
            </a:pPr>
            <a:r>
              <a:rPr lang="en-US" sz="1300" b="1" dirty="0">
                <a:solidFill>
                  <a:srgbClr val="172033"/>
                </a:solidFill>
                <a:latin typeface="Noto Sans CJK JP" pitchFamily="34" charset="0"/>
                <a:ea typeface="Noto Sans CJK JP" pitchFamily="34" charset="-122"/>
                <a:cs typeface="Noto Sans CJK JP" pitchFamily="34" charset="-120"/>
              </a:rPr>
              <a:t>He, J. et al.</a:t>
            </a:r>
            <a:endParaRPr lang="en-US" sz="1300" dirty="0"/>
          </a:p>
        </p:txBody>
      </p:sp>
      <p:sp>
        <p:nvSpPr>
          <p:cNvPr id="22" name="Text 20"/>
          <p:cNvSpPr/>
          <p:nvPr/>
        </p:nvSpPr>
        <p:spPr>
          <a:xfrm>
            <a:off x="2880360" y="3355848"/>
            <a:ext cx="5989320" cy="402336"/>
          </a:xfrm>
          <a:prstGeom prst="rect">
            <a:avLst/>
          </a:prstGeom>
          <a:noFill/>
          <a:ln/>
        </p:spPr>
        <p:txBody>
          <a:bodyPr wrap="square" lIns="0" tIns="0" rIns="0" bIns="0" rtlCol="0" anchor="ctr">
            <a:normAutofit/>
          </a:bodyPr>
          <a:lstStyle/>
          <a:p>
            <a:pPr marL="0" indent="0">
              <a:buNone/>
            </a:pPr>
            <a:r>
              <a:rPr lang="en-US" sz="1220" dirty="0">
                <a:solidFill>
                  <a:srgbClr val="172033"/>
                </a:solidFill>
                <a:latin typeface="Noto Sans CJK JP" pitchFamily="34" charset="0"/>
                <a:ea typeface="Noto Sans CJK JP" pitchFamily="34" charset="-122"/>
                <a:cs typeface="Noto Sans CJK JP" pitchFamily="34" charset="-120"/>
              </a:rPr>
              <a:t>Battery electricity bus charging schedule considering bus journey’s energy consumption estimation</a:t>
            </a:r>
            <a:endParaRPr lang="en-US" sz="1220" dirty="0"/>
          </a:p>
        </p:txBody>
      </p:sp>
      <p:sp>
        <p:nvSpPr>
          <p:cNvPr id="23" name="Text 21"/>
          <p:cNvSpPr/>
          <p:nvPr/>
        </p:nvSpPr>
        <p:spPr>
          <a:xfrm>
            <a:off x="8942832" y="3364992"/>
            <a:ext cx="2331720" cy="384048"/>
          </a:xfrm>
          <a:prstGeom prst="rect">
            <a:avLst/>
          </a:prstGeom>
          <a:noFill/>
          <a:ln/>
        </p:spPr>
        <p:txBody>
          <a:bodyPr wrap="square" lIns="0" tIns="0" rIns="0" bIns="0" rtlCol="0" anchor="ctr">
            <a:normAutofit/>
          </a:bodyPr>
          <a:lstStyle/>
          <a:p>
            <a:pPr marL="0" indent="0" algn="r">
              <a:buNone/>
            </a:pPr>
            <a:r>
              <a:rPr lang="en-US" sz="1080" dirty="0">
                <a:solidFill>
                  <a:srgbClr val="687386"/>
                </a:solidFill>
                <a:latin typeface="Noto Sans CJK JP" pitchFamily="34" charset="0"/>
                <a:ea typeface="Noto Sans CJK JP" pitchFamily="34" charset="-122"/>
                <a:cs typeface="Noto Sans CJK JP" pitchFamily="34" charset="-120"/>
              </a:rPr>
              <a:t>Transportation Research Part D, 115, 103587, 2023</a:t>
            </a:r>
            <a:endParaRPr lang="en-US" sz="1080" dirty="0"/>
          </a:p>
        </p:txBody>
      </p:sp>
      <p:sp>
        <p:nvSpPr>
          <p:cNvPr id="24" name="Shape 22"/>
          <p:cNvSpPr/>
          <p:nvPr/>
        </p:nvSpPr>
        <p:spPr>
          <a:xfrm>
            <a:off x="640080" y="4123944"/>
            <a:ext cx="10927080" cy="694944"/>
          </a:xfrm>
          <a:prstGeom prst="rect">
            <a:avLst/>
          </a:prstGeom>
          <a:solidFill>
            <a:srgbClr val="F8FAFC"/>
          </a:solidFill>
          <a:ln w="12700">
            <a:solidFill>
              <a:srgbClr val="F8FAFC"/>
            </a:solidFill>
            <a:prstDash val="solid"/>
          </a:ln>
        </p:spPr>
        <p:txBody>
          <a:bodyPr/>
          <a:lstStyle/>
          <a:p>
            <a:endParaRPr lang="ja-JP" altLang="en-US"/>
          </a:p>
        </p:txBody>
      </p:sp>
      <p:sp>
        <p:nvSpPr>
          <p:cNvPr id="25" name="Text 23"/>
          <p:cNvSpPr/>
          <p:nvPr/>
        </p:nvSpPr>
        <p:spPr>
          <a:xfrm>
            <a:off x="804672" y="4169664"/>
            <a:ext cx="411480" cy="274320"/>
          </a:xfrm>
          <a:prstGeom prst="rect">
            <a:avLst/>
          </a:prstGeom>
          <a:noFill/>
          <a:ln/>
        </p:spPr>
        <p:txBody>
          <a:bodyPr wrap="square" lIns="0" tIns="0" rIns="0" bIns="0" rtlCol="0" anchor="ctr"/>
          <a:lstStyle/>
          <a:p>
            <a:pPr marL="0" indent="0">
              <a:buNone/>
            </a:pPr>
            <a:r>
              <a:rPr lang="en-US" sz="1300" b="1" dirty="0">
                <a:solidFill>
                  <a:srgbClr val="356BB3"/>
                </a:solidFill>
                <a:latin typeface="Arial" pitchFamily="34" charset="0"/>
                <a:ea typeface="Arial" pitchFamily="34" charset="-122"/>
                <a:cs typeface="Arial" pitchFamily="34" charset="-120"/>
              </a:rPr>
              <a:t>[5]</a:t>
            </a:r>
            <a:endParaRPr lang="en-US" sz="1300" dirty="0"/>
          </a:p>
        </p:txBody>
      </p:sp>
      <p:sp>
        <p:nvSpPr>
          <p:cNvPr id="26" name="Text 24"/>
          <p:cNvSpPr/>
          <p:nvPr/>
        </p:nvSpPr>
        <p:spPr>
          <a:xfrm>
            <a:off x="1261872" y="4169664"/>
            <a:ext cx="1691640" cy="274320"/>
          </a:xfrm>
          <a:prstGeom prst="rect">
            <a:avLst/>
          </a:prstGeom>
          <a:noFill/>
          <a:ln/>
        </p:spPr>
        <p:txBody>
          <a:bodyPr wrap="square" lIns="0" tIns="0" rIns="0" bIns="0" rtlCol="0" anchor="ctr"/>
          <a:lstStyle/>
          <a:p>
            <a:pPr marL="0" indent="0">
              <a:buNone/>
            </a:pPr>
            <a:r>
              <a:rPr lang="en-US" sz="1300" b="1" dirty="0">
                <a:solidFill>
                  <a:srgbClr val="172033"/>
                </a:solidFill>
                <a:latin typeface="Noto Sans CJK JP" pitchFamily="34" charset="0"/>
                <a:ea typeface="Noto Sans CJK JP" pitchFamily="34" charset="-122"/>
                <a:cs typeface="Noto Sans CJK JP" pitchFamily="34" charset="-120"/>
              </a:rPr>
              <a:t>Zhang, Z. et al.</a:t>
            </a:r>
            <a:endParaRPr lang="en-US" sz="1300" dirty="0"/>
          </a:p>
        </p:txBody>
      </p:sp>
      <p:sp>
        <p:nvSpPr>
          <p:cNvPr id="27" name="Text 25"/>
          <p:cNvSpPr/>
          <p:nvPr/>
        </p:nvSpPr>
        <p:spPr>
          <a:xfrm>
            <a:off x="2880360" y="4151376"/>
            <a:ext cx="5989320" cy="402336"/>
          </a:xfrm>
          <a:prstGeom prst="rect">
            <a:avLst/>
          </a:prstGeom>
          <a:noFill/>
          <a:ln/>
        </p:spPr>
        <p:txBody>
          <a:bodyPr wrap="square" lIns="0" tIns="0" rIns="0" bIns="0" rtlCol="0" anchor="ctr">
            <a:normAutofit/>
          </a:bodyPr>
          <a:lstStyle/>
          <a:p>
            <a:pPr marL="0" indent="0">
              <a:buNone/>
            </a:pPr>
            <a:r>
              <a:rPr lang="en-US" sz="1220" dirty="0">
                <a:solidFill>
                  <a:srgbClr val="172033"/>
                </a:solidFill>
                <a:latin typeface="Noto Sans CJK JP" pitchFamily="34" charset="0"/>
                <a:ea typeface="Noto Sans CJK JP" pitchFamily="34" charset="-122"/>
                <a:cs typeface="Noto Sans CJK JP" pitchFamily="34" charset="-120"/>
              </a:rPr>
              <a:t>Analysis and estimation of energy consumption of electric buses using real-world data</a:t>
            </a:r>
            <a:endParaRPr lang="en-US" sz="1220" dirty="0"/>
          </a:p>
        </p:txBody>
      </p:sp>
      <p:sp>
        <p:nvSpPr>
          <p:cNvPr id="28" name="Text 26"/>
          <p:cNvSpPr/>
          <p:nvPr/>
        </p:nvSpPr>
        <p:spPr>
          <a:xfrm>
            <a:off x="8942832" y="4160520"/>
            <a:ext cx="2331720" cy="384048"/>
          </a:xfrm>
          <a:prstGeom prst="rect">
            <a:avLst/>
          </a:prstGeom>
          <a:noFill/>
          <a:ln/>
        </p:spPr>
        <p:txBody>
          <a:bodyPr wrap="square" lIns="0" tIns="0" rIns="0" bIns="0" rtlCol="0" anchor="ctr">
            <a:normAutofit/>
          </a:bodyPr>
          <a:lstStyle/>
          <a:p>
            <a:pPr marL="0" indent="0" algn="r">
              <a:buNone/>
            </a:pPr>
            <a:r>
              <a:rPr lang="en-US" sz="1080" dirty="0">
                <a:solidFill>
                  <a:srgbClr val="687386"/>
                </a:solidFill>
                <a:latin typeface="Noto Sans CJK JP" pitchFamily="34" charset="0"/>
                <a:ea typeface="Noto Sans CJK JP" pitchFamily="34" charset="-122"/>
                <a:cs typeface="Noto Sans CJK JP" pitchFamily="34" charset="-120"/>
              </a:rPr>
              <a:t>Transportation Research Part D, 126, 104017, 2024</a:t>
            </a:r>
            <a:endParaRPr lang="en-US" sz="1080" dirty="0"/>
          </a:p>
        </p:txBody>
      </p:sp>
      <p:sp>
        <p:nvSpPr>
          <p:cNvPr id="29" name="Text 27"/>
          <p:cNvSpPr/>
          <p:nvPr/>
        </p:nvSpPr>
        <p:spPr>
          <a:xfrm>
            <a:off x="804672" y="4965192"/>
            <a:ext cx="411480" cy="274320"/>
          </a:xfrm>
          <a:prstGeom prst="rect">
            <a:avLst/>
          </a:prstGeom>
          <a:noFill/>
          <a:ln/>
        </p:spPr>
        <p:txBody>
          <a:bodyPr wrap="square" lIns="0" tIns="0" rIns="0" bIns="0" rtlCol="0" anchor="ctr"/>
          <a:lstStyle/>
          <a:p>
            <a:pPr marL="0" indent="0">
              <a:buNone/>
            </a:pPr>
            <a:r>
              <a:rPr lang="en-US" sz="1300" b="1" dirty="0">
                <a:solidFill>
                  <a:srgbClr val="356BB3"/>
                </a:solidFill>
                <a:latin typeface="Arial" pitchFamily="34" charset="0"/>
                <a:ea typeface="Arial" pitchFamily="34" charset="-122"/>
                <a:cs typeface="Arial" pitchFamily="34" charset="-120"/>
              </a:rPr>
              <a:t>[6]</a:t>
            </a:r>
            <a:endParaRPr lang="en-US" sz="1300" dirty="0"/>
          </a:p>
        </p:txBody>
      </p:sp>
      <p:sp>
        <p:nvSpPr>
          <p:cNvPr id="30" name="Text 28"/>
          <p:cNvSpPr/>
          <p:nvPr/>
        </p:nvSpPr>
        <p:spPr>
          <a:xfrm>
            <a:off x="1261872" y="4965192"/>
            <a:ext cx="1691640" cy="274320"/>
          </a:xfrm>
          <a:prstGeom prst="rect">
            <a:avLst/>
          </a:prstGeom>
          <a:noFill/>
          <a:ln/>
        </p:spPr>
        <p:txBody>
          <a:bodyPr wrap="square" lIns="0" tIns="0" rIns="0" bIns="0" rtlCol="0" anchor="ctr"/>
          <a:lstStyle/>
          <a:p>
            <a:pPr marL="0" indent="0">
              <a:buNone/>
            </a:pPr>
            <a:r>
              <a:rPr lang="en-US" sz="1300" b="1" dirty="0">
                <a:solidFill>
                  <a:srgbClr val="172033"/>
                </a:solidFill>
                <a:latin typeface="Noto Sans CJK JP" pitchFamily="34" charset="0"/>
                <a:ea typeface="Noto Sans CJK JP" pitchFamily="34" charset="-122"/>
                <a:cs typeface="Noto Sans CJK JP" pitchFamily="34" charset="-120"/>
              </a:rPr>
              <a:t>Blades, L.A.W. et al.</a:t>
            </a:r>
            <a:endParaRPr lang="en-US" sz="1300" dirty="0"/>
          </a:p>
        </p:txBody>
      </p:sp>
      <p:sp>
        <p:nvSpPr>
          <p:cNvPr id="31" name="Text 29"/>
          <p:cNvSpPr/>
          <p:nvPr/>
        </p:nvSpPr>
        <p:spPr>
          <a:xfrm>
            <a:off x="2880360" y="4946904"/>
            <a:ext cx="5989320" cy="402336"/>
          </a:xfrm>
          <a:prstGeom prst="rect">
            <a:avLst/>
          </a:prstGeom>
          <a:noFill/>
          <a:ln/>
        </p:spPr>
        <p:txBody>
          <a:bodyPr wrap="square" lIns="0" tIns="0" rIns="0" bIns="0" rtlCol="0" anchor="ctr">
            <a:normAutofit/>
          </a:bodyPr>
          <a:lstStyle/>
          <a:p>
            <a:pPr marL="0" indent="0">
              <a:buNone/>
            </a:pPr>
            <a:r>
              <a:rPr lang="en-US" sz="1220" dirty="0">
                <a:solidFill>
                  <a:srgbClr val="172033"/>
                </a:solidFill>
                <a:latin typeface="Noto Sans CJK JP" pitchFamily="34" charset="0"/>
                <a:ea typeface="Noto Sans CJK JP" pitchFamily="34" charset="-122"/>
                <a:cs typeface="Noto Sans CJK JP" pitchFamily="34" charset="-120"/>
              </a:rPr>
              <a:t>Predicting energy consumption of zero emission buses using route feature selection methods</a:t>
            </a:r>
            <a:endParaRPr lang="en-US" sz="1220" dirty="0"/>
          </a:p>
        </p:txBody>
      </p:sp>
      <p:sp>
        <p:nvSpPr>
          <p:cNvPr id="32" name="Text 30"/>
          <p:cNvSpPr/>
          <p:nvPr/>
        </p:nvSpPr>
        <p:spPr>
          <a:xfrm>
            <a:off x="8942832" y="4956048"/>
            <a:ext cx="2331720" cy="384048"/>
          </a:xfrm>
          <a:prstGeom prst="rect">
            <a:avLst/>
          </a:prstGeom>
          <a:noFill/>
          <a:ln/>
        </p:spPr>
        <p:txBody>
          <a:bodyPr wrap="square" lIns="0" tIns="0" rIns="0" bIns="0" rtlCol="0" anchor="ctr">
            <a:normAutofit/>
          </a:bodyPr>
          <a:lstStyle/>
          <a:p>
            <a:pPr marL="0" indent="0" algn="r">
              <a:buNone/>
            </a:pPr>
            <a:r>
              <a:rPr lang="en-US" sz="1080" dirty="0">
                <a:solidFill>
                  <a:srgbClr val="687386"/>
                </a:solidFill>
                <a:latin typeface="Noto Sans CJK JP" pitchFamily="34" charset="0"/>
                <a:ea typeface="Noto Sans CJK JP" pitchFamily="34" charset="-122"/>
                <a:cs typeface="Noto Sans CJK JP" pitchFamily="34" charset="-120"/>
              </a:rPr>
              <a:t>Transportation Research Part D, 130, 104158, 2024</a:t>
            </a:r>
            <a:endParaRPr lang="en-US" sz="1080" dirty="0"/>
          </a:p>
        </p:txBody>
      </p:sp>
      <p:sp>
        <p:nvSpPr>
          <p:cNvPr id="33" name="Shape 31"/>
          <p:cNvSpPr/>
          <p:nvPr/>
        </p:nvSpPr>
        <p:spPr>
          <a:xfrm>
            <a:off x="1143000" y="5925312"/>
            <a:ext cx="9875520" cy="402336"/>
          </a:xfrm>
          <a:prstGeom prst="roundRect">
            <a:avLst/>
          </a:prstGeom>
          <a:solidFill>
            <a:srgbClr val="EAF2FB"/>
          </a:solidFill>
          <a:ln w="11430">
            <a:solidFill>
              <a:srgbClr val="356BB3"/>
            </a:solidFill>
            <a:prstDash val="solid"/>
          </a:ln>
        </p:spPr>
        <p:txBody>
          <a:bodyPr/>
          <a:lstStyle/>
          <a:p>
            <a:endParaRPr lang="ja-JP" altLang="en-US"/>
          </a:p>
        </p:txBody>
      </p:sp>
      <p:sp>
        <p:nvSpPr>
          <p:cNvPr id="34" name="Text 32"/>
          <p:cNvSpPr/>
          <p:nvPr/>
        </p:nvSpPr>
        <p:spPr>
          <a:xfrm>
            <a:off x="1353312" y="6016752"/>
            <a:ext cx="9464040" cy="210312"/>
          </a:xfrm>
          <a:prstGeom prst="rect">
            <a:avLst/>
          </a:prstGeom>
          <a:noFill/>
          <a:ln/>
        </p:spPr>
        <p:txBody>
          <a:bodyPr wrap="square" lIns="0" tIns="0" rIns="0" bIns="0" rtlCol="0" anchor="ctr"/>
          <a:lstStyle/>
          <a:p>
            <a:pPr marL="0" indent="0" algn="ctr">
              <a:buNone/>
            </a:pPr>
            <a:r>
              <a:rPr lang="en-US" sz="1400" b="1" dirty="0">
                <a:solidFill>
                  <a:srgbClr val="1F2A5A"/>
                </a:solidFill>
                <a:latin typeface="Noto Sans CJK JP" pitchFamily="34" charset="0"/>
                <a:ea typeface="Noto Sans CJK JP" pitchFamily="34" charset="-122"/>
                <a:cs typeface="Noto Sans CJK JP" pitchFamily="34" charset="-120"/>
              </a:rPr>
              <a:t>本資料の図は先行研究の構成を参考にしつつ、すべて本研究の入力・結果から再作成した。</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5443</TotalTime>
  <Words>2068</Words>
  <Application>Microsoft Office PowerPoint</Application>
  <PresentationFormat>ワイド画面</PresentationFormat>
  <Paragraphs>490</Paragraphs>
  <Slides>18</Slides>
  <Notes>18</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18</vt:i4>
      </vt:variant>
    </vt:vector>
  </HeadingPairs>
  <TitlesOfParts>
    <vt:vector size="21" baseType="lpstr">
      <vt:lpstr>Noto Sans CJK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Tokyo City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PV余剰電力を考慮したBEV/ICE混成バスの配車・充電計画</dc:title>
  <dc:subject>修士論文 8月進捗報告</dc:subject>
  <dc:creator>OpenAI</dc:creator>
  <cp:lastModifiedBy>刘 承洋_LIU Chengyang(東京都市大学_Tokyo City University)</cp:lastModifiedBy>
  <cp:revision>2</cp:revision>
  <dcterms:created xsi:type="dcterms:W3CDTF">2026-08-31T08:50:52Z</dcterms:created>
  <dcterms:modified xsi:type="dcterms:W3CDTF">2026-09-06T05:19:54Z</dcterms:modified>
</cp:coreProperties>
</file>