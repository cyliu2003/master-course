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5d5706eb364d97" /><Relationship Type="http://schemas.openxmlformats.org/officeDocument/2006/relationships/extended-properties" Target="/docProps/app.xml" Id="R6bd45d7d4eb34583" /><Relationship Type="http://schemas.openxmlformats.org/officeDocument/2006/relationships/officeDocument" Target="/ppt/presentation.xml" Id="Rced8ed5737a84f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3f61512af947c7"/>
  </p:sldMasterIdLst>
  <p:notesMasterIdLst>
    <p:notesMasterId xmlns:r="http://schemas.openxmlformats.org/officeDocument/2006/relationships" r:id="Rfc961ffa909d4846"/>
  </p:notesMasterIdLst>
  <p:sldIdLst>
    <p:sldId xmlns:r="http://schemas.openxmlformats.org/officeDocument/2006/relationships" id="256" r:id="Re321a3a7767d4f6d"/>
    <p:sldId xmlns:r="http://schemas.openxmlformats.org/officeDocument/2006/relationships" id="257" r:id="Rcb93be66b3194fd8"/>
    <p:sldId xmlns:r="http://schemas.openxmlformats.org/officeDocument/2006/relationships" id="258" r:id="R4fabae4e11f1432c"/>
    <p:sldId xmlns:r="http://schemas.openxmlformats.org/officeDocument/2006/relationships" id="259" r:id="R60ac081883164abd"/>
    <p:sldId xmlns:r="http://schemas.openxmlformats.org/officeDocument/2006/relationships" id="260" r:id="R34e6585bff544dbb"/>
    <p:sldId xmlns:r="http://schemas.openxmlformats.org/officeDocument/2006/relationships" id="261" r:id="R7cce952b47404c6c"/>
    <p:sldId xmlns:r="http://schemas.openxmlformats.org/officeDocument/2006/relationships" id="262" r:id="Ra7d5347a6f0d461e"/>
    <p:sldId xmlns:r="http://schemas.openxmlformats.org/officeDocument/2006/relationships" id="263" r:id="R1c8238e6b4c04090"/>
    <p:sldId xmlns:r="http://schemas.openxmlformats.org/officeDocument/2006/relationships" id="264" r:id="Rfb77a55ed3794d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43436693634875" /><Relationship Type="http://schemas.openxmlformats.org/officeDocument/2006/relationships/slideMaster" Target="/ppt/slideMasters/slideMaster1.xml" Id="R063f61512af947c7" /><Relationship Type="http://schemas.openxmlformats.org/officeDocument/2006/relationships/notesMaster" Target="/ppt/notesMasters/notesMaster1.xml" Id="Rfc961ffa909d4846" /><Relationship Type="http://schemas.openxmlformats.org/officeDocument/2006/relationships/presProps" Target="/ppt/presProps.xml" Id="R21e08f8637744911" /><Relationship Type="http://schemas.openxmlformats.org/officeDocument/2006/relationships/tableStyles" Target="/ppt/tableStyles.xml" Id="R23f73d55ffa94ad7" /><Relationship Type="http://schemas.openxmlformats.org/officeDocument/2006/relationships/slide" Target="/ppt/slides/slide1.xml" Id="Re321a3a7767d4f6d" /><Relationship Type="http://schemas.openxmlformats.org/officeDocument/2006/relationships/slide" Target="/ppt/slides/slide2.xml" Id="Rcb93be66b3194fd8" /><Relationship Type="http://schemas.openxmlformats.org/officeDocument/2006/relationships/slide" Target="/ppt/slides/slide3.xml" Id="R4fabae4e11f1432c" /><Relationship Type="http://schemas.openxmlformats.org/officeDocument/2006/relationships/slide" Target="/ppt/slides/slide4.xml" Id="R60ac081883164abd" /><Relationship Type="http://schemas.openxmlformats.org/officeDocument/2006/relationships/slide" Target="/ppt/slides/slide5.xml" Id="R34e6585bff544dbb" /><Relationship Type="http://schemas.openxmlformats.org/officeDocument/2006/relationships/slide" Target="/ppt/slides/slide6.xml" Id="R7cce952b47404c6c" /><Relationship Type="http://schemas.openxmlformats.org/officeDocument/2006/relationships/slide" Target="/ppt/slides/slide7.xml" Id="Ra7d5347a6f0d461e" /><Relationship Type="http://schemas.openxmlformats.org/officeDocument/2006/relationships/slide" Target="/ppt/slides/slide8.xml" Id="R1c8238e6b4c04090" /><Relationship Type="http://schemas.openxmlformats.org/officeDocument/2006/relationships/slide" Target="/ppt/slides/slide9.xml" Id="Rfb77a55ed3794d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e715c97e4b43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5c3010c175452d" /><Relationship Type="http://schemas.openxmlformats.org/officeDocument/2006/relationships/notesMaster" Target="/ppt/notesMasters/notesMaster1.xml" Id="R01e9e1b6f56f40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a553f970ac4c4c" /><Relationship Type="http://schemas.openxmlformats.org/officeDocument/2006/relationships/notesMaster" Target="/ppt/notesMasters/notesMaster1.xml" Id="R5701e426213346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e69de8ed8e4ad5" /><Relationship Type="http://schemas.openxmlformats.org/officeDocument/2006/relationships/notesMaster" Target="/ppt/notesMasters/notesMaster1.xml" Id="R0a796e75ca3543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be16f10b8c4300" /><Relationship Type="http://schemas.openxmlformats.org/officeDocument/2006/relationships/notesMaster" Target="/ppt/notesMasters/notesMaster1.xml" Id="Rd92dd83d72b34f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0f4981a8194067" /><Relationship Type="http://schemas.openxmlformats.org/officeDocument/2006/relationships/notesMaster" Target="/ppt/notesMasters/notesMaster1.xml" Id="R9181d512131c49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3175d9e58d47d0" /><Relationship Type="http://schemas.openxmlformats.org/officeDocument/2006/relationships/notesMaster" Target="/ppt/notesMasters/notesMaster1.xml" Id="Rbdc50850927449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45e8fed01a445c" /><Relationship Type="http://schemas.openxmlformats.org/officeDocument/2006/relationships/notesMaster" Target="/ppt/notesMasters/notesMaster1.xml" Id="R9b1f2c46432a4a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01c1110f2f40bd" /><Relationship Type="http://schemas.openxmlformats.org/officeDocument/2006/relationships/notesMaster" Target="/ppt/notesMasters/notesMaster1.xml" Id="R35ad85312f7a4a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84c8e2a99848d7" /><Relationship Type="http://schemas.openxmlformats.org/officeDocument/2006/relationships/notesMaster" Target="/ppt/notesMasters/notesMaster1.xml" Id="R313e4984b92a42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資料源: outcome/2026-09-05_research_progress/analysis/summary.json と manifest.json。凍結実行 bb0c005、分析時HEAD c0b82ae3。 本日は新しい最適化結果ではなく、既存の高PV・低PV2計画を、営業距離・担当便・充電の観点で分析し直した結果を説明します。運用とはモデル上の計算であり実車実証ではありません。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docs/thesis/authoring_v1/03_mathematical_formulation.md。Stage 1は車両と便接続に加え時刻別エネルギーの緩和表現を扱います。Stage 2では配車を固定して具体的な電力運用を解きます。候補選択後のRollingでも配車は固定です。太陽光が多くても、営業所にいない時間にはバスへ充電できません。まずこの時間の結び付きが研究の難しさだと説明し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資料源: outcome/2026-09-05_research_progress/analysis/summary.json と manifest.json。凍結実行 bb0c005、分析時HEAD c0b82ae3。 docs/evidence/weather_dispatch_rerun_bb0c005/result_summary.json。運行はどちらも2025年8月5日のWEEKDAYです。低PVは8月10日由来のPV曲線を適用します。日曜の実車運行や一般の天候効果は評価していません。両方で物理検算と24回のRollingおよび費用会計を確認しました。Stage 1のgapを最終費用の誤差率と解釈しないでください。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資料源: outcome/2026-09-05_research_progress/analysis/summary.json と manifest.json。凍結実行 bb0c005、分析時HEAD c0b82ae3。 営業距離のみで回送は除きます。距離は停留所列から計算したPrepared入力値で、実走行距離の計測値ではありません。便数割合より距離・時間割合が小さいため、便数だけを示すとBEVの運行量を大きく見せる可能性があります。これで短い便を選んだ理由まで証明したわけ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資料源: outcome/2026-09-05_research_progress/analysis/summary.json と manifest.json。凍結実行 bb0c005、分析時HEAD c0b82ae3。 詳細はanalysis/trip_powertrain_changes.csv。渋21/22/23は16 route IDをまとめた3つの系統群です。低PVでBEVだった91便は高PVでもBEVで、逆方向の置換はありません。営業便の位置はanalysis/figures/01_dispatch_by_route.pngで確認できます。高PV条件から低PV条件へ時間が進んだという意味ではなく、同じ便を2計画で照合した比較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資料源: outcome/2026-09-05_research_progress/analysis/summary.json と manifest.json。凍結実行 bb0c005、分析時HEAD c0b82ae3。 費用の正本はRollingのexecuted_day_accounting.json。高PV合計660983.7838045002円、低PV698598.6286431606円。両方32台のため64万円の車両使用費が共通ですが、車両費はモデル全体では決定変数に依存し、常に消せる定数ではありません。差37614.8448386603円の約87.9%は燃料費です。RAINのday-ahead候補評価698296.465283954円は別の費用基準です。設備投資、運転士、保守等を含む採算評価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資料源: outcome/2026-09-05_research_progress/analysis/summary.json と manifest.json。凍結実行 bb0c005、分析時HEAD c0b82ae3。 analysis/executed_slots.csvから計算。高PVの抑制3373.22 kWhのうち2531.995 kWh、75.06%は正の充電電力がない枠で生じます。抑制枠末のBESS SOCは最大3644.33 kWhで上限4800 kWhに達していません。これらは同時に観測した状態であり、原因の比率ではありません。帰庫、必要電力量、終端SOC、運用モード、同費用の別解を切り分けるには別の分析が必要です。全ポート使用数は電力1e-6 kW超で定義しています。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出典: docs/research/november_2026/signoff/02_small_oracle_contract.md と scripts/audit_small_integrated_weather_milp.py。小規模実験には既存の承認テンプレートがあり未署名です。既存M0は全ICE統合参照、M1は混成Phase3でPV/BESSなし、M2は現行Phase3、M3は統合scalar参照です。これは既定配車と先着順充電の比較ではありません。単純方式のルールと評価対象を結果を見る前に決める必要があり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資料源: outcome/2026-09-05_research_progress/analysis/summary.json と manifest.json。凍結実行 bb0c005、分析時HEAD c0b82ae3。 今回は既存の凍結結果を再集計し、研究の説明力を増やしました。新たな手法性能や一般化を証明したわけではありません。本人には、研究の入力と出力、全便を守ることと最安を証明することの差、小規模比較が期待通りでなかった場合に分かることを、自分の言葉で説明していただきます。次の判断は小規模比較の承認とbaseline定義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06784c1f2f46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58c5fa5c69434f" /><Relationship Type="http://schemas.openxmlformats.org/officeDocument/2006/relationships/slideLayout" Target="/ppt/slideLayouts/slideLayout1.xml" Id="R9af9d2b97b304b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f9d2b97b304b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5409bfc814bd8" /><Relationship Type="http://schemas.openxmlformats.org/officeDocument/2006/relationships/notesSlide" Target="/ppt/notesSlides/notesSlide1.xml" Id="R40a7859cb74242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f3ad8882f44ac" /><Relationship Type="http://schemas.openxmlformats.org/officeDocument/2006/relationships/notesSlide" Target="/ppt/notesSlides/notesSlide2.xml" Id="R566198f046df48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132d82a884c45" /><Relationship Type="http://schemas.openxmlformats.org/officeDocument/2006/relationships/notesSlide" Target="/ppt/notesSlides/notesSlide3.xml" Id="R7993ac983b0842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296c060834651" /><Relationship Type="http://schemas.openxmlformats.org/officeDocument/2006/relationships/chart" Target="/ppt/slides/charts/chart1.xml" Id="Ra6ae4b84e59b486d" /><Relationship Type="http://schemas.openxmlformats.org/officeDocument/2006/relationships/notesSlide" Target="/ppt/notesSlides/notesSlide4.xml" Id="R1b876810021441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4b240e9634520" /><Relationship Type="http://schemas.openxmlformats.org/officeDocument/2006/relationships/notesSlide" Target="/ppt/notesSlides/notesSlide5.xml" Id="R7253878de57d4c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b90129bbe4a9a" /><Relationship Type="http://schemas.openxmlformats.org/officeDocument/2006/relationships/chart" Target="/ppt/slides/charts/chart2.xml" Id="Rc4f30341d0874a5f" /><Relationship Type="http://schemas.openxmlformats.org/officeDocument/2006/relationships/notesSlide" Target="/ppt/notesSlides/notesSlide6.xml" Id="R30056d846c2945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86b97b43e4209" /><Relationship Type="http://schemas.openxmlformats.org/officeDocument/2006/relationships/notesSlide" Target="/ppt/notesSlides/notesSlide7.xml" Id="Rc476072e01294a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59f5c45514d49" /><Relationship Type="http://schemas.openxmlformats.org/officeDocument/2006/relationships/notesSlide" Target="/ppt/notesSlides/notesSlide8.xml" Id="Rdfceaec41fce4c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38b89feb04f19" /><Relationship Type="http://schemas.openxmlformats.org/officeDocument/2006/relationships/notesSlide" Target="/ppt/notesSlides/notesSlide9.xml" Id="R67ea4ec17e254de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高PV</c:v>
          </c:tx>
          <c:spPr>
            <a:solidFill xmlns:a="http://schemas.openxmlformats.org/drawingml/2006/main">
              <a:srgbClr val="147D76"/>
            </a:solidFill>
          </c:spPr>
          <c:cat>
            <c:strRef>
              <c:f>'Chart Data'!$A$2:$A$4</c:f>
              <c:strCache>
                <c:ptCount val="3"/>
                <c:pt idx="0">
                  <c:v>便数割合</c:v>
                </c:pt>
                <c:pt idx="1">
                  <c:v>営業距離割合</c:v>
                </c:pt>
                <c:pt idx="2">
                  <c:v>営業時間割合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0.753788</c:v>
                </c:pt>
                <c:pt idx="1">
                  <c:v>0.727765</c:v>
                </c:pt>
                <c:pt idx="2">
                  <c:v>0.724304</c:v>
                </c:pt>
              </c:numCache>
            </c:numRef>
          </c:val>
        </c:ser>
        <c:ser>
          <c:idx val="1"/>
          <c:order val="1"/>
          <c:tx>
            <c:v>低PV</c:v>
          </c:tx>
          <c:spPr>
            <a:solidFill xmlns:a="http://schemas.openxmlformats.org/drawingml/2006/main">
              <a:srgbClr val="574CA0"/>
            </a:solidFill>
          </c:spPr>
          <c:cat>
            <c:strRef>
              <c:f>'Chart Data'!$C$2:$C$4</c:f>
              <c:strCache>
                <c:ptCount val="3"/>
                <c:pt idx="0">
                  <c:v>便数割合</c:v>
                </c:pt>
                <c:pt idx="1">
                  <c:v>営業距離割合</c:v>
                </c:pt>
                <c:pt idx="2">
                  <c:v>営業時間割合</c:v>
                </c:pt>
              </c:strCache>
            </c:strRef>
          </c:cat>
          <c:val>
            <c:numRef>
              <c:f>'Chart Data'!$D$2:$D$4</c:f>
              <c:numCache>
                <c:formatCode>0%</c:formatCode>
                <c:ptCount val="3"/>
                <c:pt idx="0">
                  <c:v>0.344697</c:v>
                </c:pt>
                <c:pt idx="1">
                  <c:v>0.297282</c:v>
                </c:pt>
                <c:pt idx="2">
                  <c:v>0.29225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eiryo"/>
                  <a:ea typeface="Meiryo"/>
                  <a:cs typeface="Meiry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eiryo"/>
                <a:ea typeface="Meiryo"/>
                <a:cs typeface="Meiryo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eiryo"/>
                <a:ea typeface="Meiryo"/>
                <a:cs typeface="Meiryo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Meiryo"/>
              <a:ea typeface="Meiryo"/>
              <a:cs typeface="Meiryo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燃料費</c:v>
          </c:tx>
          <c:spPr>
            <a:solidFill xmlns:a="http://schemas.openxmlformats.org/drawingml/2006/main">
              <a:srgbClr val="AE6635"/>
            </a:solidFill>
          </c:spPr>
          <c:cat>
            <c:strRef>
              <c:f>'Chart Data'!$A$2:$A$3</c:f>
              <c:strCache>
                <c:ptCount val="2"/>
                <c:pt idx="0">
                  <c:v>高PV</c:v>
                </c:pt>
                <c:pt idx="1">
                  <c:v>低PV</c:v>
                </c:pt>
              </c:strCache>
            </c:strRef>
          </c:cat>
          <c:val>
            <c:numRef>
              <c:f>'Chart Data'!$B$2:$B$3</c:f>
              <c:numCache>
                <c:formatCode>#,##0</c:formatCode>
                <c:ptCount val="2"/>
                <c:pt idx="0">
                  <c:v>20628.17</c:v>
                </c:pt>
                <c:pt idx="1">
                  <c:v>53682.2</c:v>
                </c:pt>
              </c:numCache>
            </c:numRef>
          </c:val>
        </c:ser>
        <c:ser>
          <c:idx val="1"/>
          <c:order val="1"/>
          <c:tx>
            <c:v>系統電力費</c:v>
          </c:tx>
          <c:spPr>
            <a:solidFill xmlns:a="http://schemas.openxmlformats.org/drawingml/2006/main">
              <a:srgbClr val="574CA0"/>
            </a:solidFill>
          </c:spPr>
          <c:cat>
            <c:strRef>
              <c:f>'Chart Data'!$C$2:$C$3</c:f>
              <c:strCache>
                <c:ptCount val="2"/>
                <c:pt idx="0">
                  <c:v>高PV</c:v>
                </c:pt>
                <c:pt idx="1">
                  <c:v>低PV</c:v>
                </c:pt>
              </c:strCache>
            </c:strRef>
          </c:cat>
          <c:val>
            <c:numRef>
              <c:f>'Chart Data'!$D$2:$D$3</c:f>
              <c:numCache>
                <c:formatCode>#,##0</c:formatCode>
                <c:ptCount val="2"/>
                <c:pt idx="0">
                  <c:v>0</c:v>
                </c:pt>
                <c:pt idx="1">
                  <c:v>3925.56</c:v>
                </c:pt>
              </c:numCache>
            </c:numRef>
          </c:val>
        </c:ser>
        <c:ser>
          <c:idx val="2"/>
          <c:order val="2"/>
          <c:tx>
            <c:v>CO₂費用</c:v>
          </c:tx>
          <c:spPr>
            <a:solidFill xmlns:a="http://schemas.openxmlformats.org/drawingml/2006/main">
              <a:srgbClr val="87989D"/>
            </a:solidFill>
          </c:spPr>
          <c:cat>
            <c:strRef>
              <c:f>'Chart Data'!$E$2:$E$3</c:f>
              <c:strCache>
                <c:ptCount val="2"/>
                <c:pt idx="0">
                  <c:v>高PV</c:v>
                </c:pt>
                <c:pt idx="1">
                  <c:v>低PV</c:v>
                </c:pt>
              </c:strCache>
            </c:strRef>
          </c:cat>
          <c:val>
            <c:numRef>
              <c:f>'Chart Data'!$F$2:$F$3</c:f>
              <c:numCache>
                <c:formatCode>#,##0</c:formatCode>
                <c:ptCount val="2"/>
                <c:pt idx="0">
                  <c:v>355.62</c:v>
                </c:pt>
                <c:pt idx="1">
                  <c:v>990.87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eiryo"/>
                  <a:ea typeface="Meiryo"/>
                  <a:cs typeface="Meiry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Meiryo"/>
                <a:ea typeface="Meiryo"/>
                <a:cs typeface="Meiryo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eiryo"/>
                    <a:ea typeface="Meiryo"/>
                    <a:cs typeface="Meiryo"/>
                  </a:rPr>
                  <a:t>円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eiryo"/>
                  <a:ea typeface="Meiryo"/>
                  <a:cs typeface="Meiryo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eiryo"/>
                <a:ea typeface="Meiryo"/>
                <a:cs typeface="Meiryo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Meiryo"/>
              <a:ea typeface="Meiryo"/>
              <a:cs typeface="Meiryo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685EC9-F1C4-43E4-95FA-61B646E5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23D"/>
                </a:solidFill>
                <a:latin typeface="Meiryo"/>
                <a:ea typeface="Meiryo"/>
                <a:cs typeface="Meiryo"/>
              </a:defRPr>
            </a:pPr>
            <a:r>
              <a:rPr sz="3150" b="1">
                <a:solidFill>
                  <a:srgbClr val="18323D"/>
                </a:solidFill>
                <a:latin typeface="Meiryo"/>
                <a:ea typeface="Meiryo"/>
                <a:cs typeface="Meiryo"/>
              </a:rPr>
              <a:t>PVと混成バス運用の研究進捗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DD31F-7F31-4272-8A4E-9D3020B6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2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36772"/>
                </a:solidFill>
                <a:latin typeface="Meiryo"/>
                <a:ea typeface="Meiryo"/>
                <a:cs typeface="Meiryo"/>
              </a:rPr>
              <a:t>1　2026年9月5日　凍結実験 bb0c005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558E18-B977-4604-949B-D6A29F5E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8323D"/>
                </a:solidFill>
                <a:latin typeface="Meiryo"/>
                <a:ea typeface="Meiryo"/>
                <a:cs typeface="Meiryo"/>
              </a:defRPr>
            </a:pPr>
            <a:r>
              <a:rPr sz="3750" b="1">
                <a:solidFill>
                  <a:srgbClr val="18323D"/>
                </a:solidFill>
                <a:latin typeface="Meiryo"/>
                <a:ea typeface="Meiryo"/>
                <a:cs typeface="Meiryo"/>
              </a:rPr>
              <a:t>BEV／ICEの配車・充電計画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8CD633-4F6C-4F02-A86B-89D46A0F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47D7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7D76"/>
                </a:solidFill>
                <a:latin typeface="Meiryo"/>
                <a:ea typeface="Meiryo"/>
                <a:cs typeface="Meiryo"/>
              </a:rPr>
              <a:t>既存結果の説明分析と、次の手法検証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D1D6A-15FF-4CD6-ABC0-F5BAF768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2437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23D"/>
                </a:solidFill>
                <a:latin typeface="Meiryo"/>
                <a:ea typeface="Meiryo"/>
                <a:cs typeface="Meiryo"/>
              </a:defRPr>
            </a:pPr>
            <a:r>
              <a:rPr sz="2100" b="0">
                <a:solidFill>
                  <a:srgbClr val="18323D"/>
                </a:solidFill>
                <a:latin typeface="Meiryo"/>
                <a:ea typeface="Meiryo"/>
                <a:cs typeface="Meiryo"/>
              </a:rPr>
              <a:t>電力システム研究室　劉 承洋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74786-37F0-4C19-BD68-B339A0E1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721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23D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8323D"/>
                </a:solidFill>
                <a:latin typeface="Meiryo"/>
                <a:ea typeface="Meiryo"/>
                <a:cs typeface="Meiryo"/>
              </a:rPr>
              <a:t>モデル上の264便運行を確認済み。手法の比較実験は準備段階。</a:t>
            </a:r>
          </a:p>
        </p:txBody>
      </p:sp>
    </p:spTree>
    <p:extLst>
      <p:ext uri="{BB962C8B-B14F-4D97-AF65-F5344CB8AC3E}">
        <p14:creationId xmlns:p14="http://schemas.microsoft.com/office/powerpoint/2010/main" val="21407204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A62654-921E-462C-A17B-0AA24AC2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23D"/>
                </a:solidFill>
                <a:latin typeface="Meiryo"/>
                <a:ea typeface="Meiryo"/>
                <a:cs typeface="Meiryo"/>
              </a:defRPr>
            </a:pPr>
            <a:r>
              <a:rPr sz="3150" b="1">
                <a:solidFill>
                  <a:srgbClr val="18323D"/>
                </a:solidFill>
                <a:latin typeface="Meiryo"/>
                <a:ea typeface="Meiryo"/>
                <a:cs typeface="Meiryo"/>
              </a:rPr>
              <a:t>研究の問いと二段階方式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7E0AD7-45D3-4082-9238-E15BFE97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2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36772"/>
                </a:solidFill>
                <a:latin typeface="Meiryo"/>
                <a:ea typeface="Meiryo"/>
                <a:cs typeface="Meiryo"/>
              </a:rPr>
              <a:t>2　2026年9月5日　凍結実験 bb0c005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D5036-0C19-44CB-B1A8-179FF3A9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7D7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7D76"/>
                </a:solidFill>
                <a:latin typeface="Meiryo"/>
                <a:ea typeface="Meiryo"/>
                <a:cs typeface="Meiryo"/>
              </a:rPr>
              <a:t>全便を守り、PV条件に応じた配車と充電を計画する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110490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382000"/>
              </a:tblGrid>
              <a:tr h="6000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段階</a:t>
                      </a:r>
                    </a:p>
                  </a:txBody>
                  <a:tcPr marL="91440" marR="91440" marT="45720" marB="45720">
                    <a:solidFill>
                      <a:srgbClr val="1832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決めること</a:t>
                      </a:r>
                    </a:p>
                  </a:txBody>
                  <a:tcPr marL="91440" marR="91440" marT="45720" marB="45720">
                    <a:solidFill>
                      <a:srgbClr val="18323D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Stage 1</a:t>
                      </a:r>
                    </a:p>
                  </a:txBody>
                  <a:tcPr marL="91440" marR="91440" marT="45720" marB="45720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充電の見込みを含めて配車候補を作る</a:t>
                      </a:r>
                    </a:p>
                  </a:txBody>
                  <a:tcPr marL="91440" marR="91440" marT="45720" marB="45720">
                    <a:solidFill>
                      <a:srgbClr val="F2F6F7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Stage 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配車を固定し、充電・PV・BESSを計画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候補選択</a:t>
                      </a:r>
                    </a:p>
                  </a:txBody>
                  <a:tcPr marL="91440" marR="91440" marT="45720" marB="45720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評価した有限候補から採用案を選ぶ</a:t>
                      </a:r>
                    </a:p>
                  </a:txBody>
                  <a:tcPr marL="91440" marR="91440" marT="45720" marB="45720">
                    <a:solidFill>
                      <a:srgbClr val="F2F6F7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毎時のRolling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配車を固定して残りの電力計画を更新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2574AF-FEB8-41FF-BAD6-ABD0E541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721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23D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8323D"/>
                </a:solidFill>
                <a:latin typeface="Meiryo"/>
                <a:ea typeface="Meiryo"/>
                <a:cs typeface="Meiryo"/>
              </a:rPr>
              <a:t>制約の例：全便を1台ずつ担当、便間接続、SOC、充電器・受電上限</a:t>
            </a:r>
          </a:p>
        </p:txBody>
      </p:sp>
    </p:spTree>
    <p:extLst>
      <p:ext uri="{BB962C8B-B14F-4D97-AF65-F5344CB8AC3E}">
        <p14:creationId xmlns:p14="http://schemas.microsoft.com/office/powerpoint/2010/main" val="20443948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9D8B55-DB9D-427E-8F3B-2ADB9B2F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23D"/>
                </a:solidFill>
                <a:latin typeface="Meiryo"/>
                <a:ea typeface="Meiryo"/>
                <a:cs typeface="Meiryo"/>
              </a:defRPr>
            </a:pPr>
            <a:r>
              <a:rPr sz="3150" b="1">
                <a:solidFill>
                  <a:srgbClr val="18323D"/>
                </a:solidFill>
                <a:latin typeface="Meiryo"/>
                <a:ea typeface="Meiryo"/>
                <a:cs typeface="Meiryo"/>
              </a:rPr>
              <a:t>固定運行・高PV／低PVの確認済み結果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419B7C-C78F-4994-AC01-2C722EC1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2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36772"/>
                </a:solidFill>
                <a:latin typeface="Meiryo"/>
                <a:ea typeface="Meiryo"/>
                <a:cs typeface="Meiryo"/>
              </a:rPr>
              <a:t>3　2026年9月5日　凍結実験 bb0c005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0"/>
                <a:gridCol w="2952750"/>
                <a:gridCol w="2952750"/>
              </a:tblGrid>
              <a:tr h="5794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指標</a:t>
                      </a:r>
                    </a:p>
                  </a:txBody>
                  <a:tcPr marL="91440" marR="91440" marT="45720" marB="45720">
                    <a:solidFill>
                      <a:srgbClr val="1832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高PV</a:t>
                      </a:r>
                    </a:p>
                  </a:txBody>
                  <a:tcPr marL="91440" marR="91440" marT="45720" marB="45720">
                    <a:solidFill>
                      <a:srgbClr val="1832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低PV</a:t>
                      </a:r>
                    </a:p>
                  </a:txBody>
                  <a:tcPr marL="91440" marR="91440" marT="45720" marB="45720">
                    <a:solidFill>
                      <a:srgbClr val="18323D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全便担当</a:t>
                      </a:r>
                    </a:p>
                  </a:txBody>
                  <a:tcPr marL="91440" marR="91440" marT="45720" marB="45720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264 / 264</a:t>
                      </a:r>
                    </a:p>
                  </a:txBody>
                  <a:tcPr marL="91440" marR="91440" marT="45720" marB="45720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264 / 264</a:t>
                      </a:r>
                    </a:p>
                  </a:txBody>
                  <a:tcPr marL="91440" marR="91440" marT="45720" marB="45720">
                    <a:solidFill>
                      <a:srgbClr val="F2F6F7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使用BEV / ICE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28 / 4 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21 / 11 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BEV / ICE担当便</a:t>
                      </a:r>
                    </a:p>
                  </a:txBody>
                  <a:tcPr marL="91440" marR="91440" marT="45720" marB="45720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199 / 65 便</a:t>
                      </a:r>
                    </a:p>
                  </a:txBody>
                  <a:tcPr marL="91440" marR="91440" marT="45720" marB="45720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91 / 173 便</a:t>
                      </a:r>
                    </a:p>
                  </a:txBody>
                  <a:tcPr marL="91440" marR="91440" marT="45720" marB="45720">
                    <a:solidFill>
                      <a:srgbClr val="F2F6F7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Rolling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24 / 24 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24 / 24 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Stage 1認証gap</a:t>
                      </a:r>
                    </a:p>
                  </a:txBody>
                  <a:tcPr marL="91440" marR="91440" marT="45720" marB="45720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9.52%</a:t>
                      </a:r>
                    </a:p>
                  </a:txBody>
                  <a:tcPr marL="91440" marR="91440" marT="45720" marB="45720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1.66%</a:t>
                      </a:r>
                    </a:p>
                  </a:txBody>
                  <a:tcPr marL="91440" marR="91440" marT="45720" marB="45720">
                    <a:solidFill>
                      <a:srgbClr val="F2F6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65742C-D107-4899-BF12-E7CA93A9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4827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23D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8323D"/>
                </a:solidFill>
                <a:latin typeface="Meiryo"/>
                <a:ea typeface="Meiryo"/>
                <a:cs typeface="Meiryo"/>
              </a:rPr>
              <a:t>同じ平日運行に2種類のPV曲線を適用した、モデル内の比較。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9376A2-7CCB-4988-A3A7-14DBCAAA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7D4729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D4729"/>
                </a:solidFill>
                <a:latin typeface="Meiryo"/>
                <a:ea typeface="Meiryo"/>
                <a:cs typeface="Meiryo"/>
              </a:rPr>
              <a:t>Stage 1 gapは、その段階の目的に対する値。最終評価額の誤差率ではない。</a:t>
            </a:r>
          </a:p>
        </p:txBody>
      </p:sp>
    </p:spTree>
    <p:extLst>
      <p:ext uri="{BB962C8B-B14F-4D97-AF65-F5344CB8AC3E}">
        <p14:creationId xmlns:p14="http://schemas.microsoft.com/office/powerpoint/2010/main" val="10535399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636F66-34FD-47E6-8B0E-31F06BB7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23D"/>
                </a:solidFill>
                <a:latin typeface="Meiryo"/>
                <a:ea typeface="Meiryo"/>
                <a:cs typeface="Meiryo"/>
              </a:defRPr>
            </a:pPr>
            <a:r>
              <a:rPr sz="3150" b="1">
                <a:solidFill>
                  <a:srgbClr val="18323D"/>
                </a:solidFill>
                <a:latin typeface="Meiryo"/>
                <a:ea typeface="Meiryo"/>
                <a:cs typeface="Meiryo"/>
              </a:rPr>
              <a:t>BEVの担当量を距離と時間で捉える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72B0F-6B4B-4DDA-9F61-8B7BDE22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2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36772"/>
                </a:solidFill>
                <a:latin typeface="Meiryo"/>
                <a:ea typeface="Meiryo"/>
                <a:cs typeface="Meiryo"/>
              </a:rPr>
              <a:t>4　2026年9月5日　凍結実験 bb0c005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571500" y="1476375"/>
          <a:ext xmlns:a="http://schemas.openxmlformats.org/drawingml/2006/main" cx="11049000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6ae4b84e59b486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F0455-2986-40CA-A5B0-C37D02BB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435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7D7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7D76"/>
                </a:solidFill>
                <a:latin typeface="Meiryo"/>
                <a:ea typeface="Meiryo"/>
                <a:cs typeface="Meiryo"/>
              </a:rPr>
              <a:t>BEV営業距離比：高PV 72.8% ／ 低PV 29.7%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33C28-7322-454E-8C13-7EE3BA5A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483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23D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8323D"/>
                </a:solidFill>
                <a:latin typeface="Meiryo"/>
                <a:ea typeface="Meiryo"/>
                <a:cs typeface="Meiryo"/>
              </a:rPr>
              <a:t>距離は停留所列由来の入力値。営業便を対象とし、回送距離を含まない。</a:t>
            </a:r>
          </a:p>
        </p:txBody>
      </p:sp>
    </p:spTree>
    <p:extLst>
      <p:ext uri="{BB962C8B-B14F-4D97-AF65-F5344CB8AC3E}">
        <p14:creationId xmlns:p14="http://schemas.microsoft.com/office/powerpoint/2010/main" val="7190822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6A152B-C02C-4BF0-862C-58E54267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23D"/>
                </a:solidFill>
                <a:latin typeface="Meiryo"/>
                <a:ea typeface="Meiryo"/>
                <a:cs typeface="Meiryo"/>
              </a:defRPr>
            </a:pPr>
            <a:r>
              <a:rPr sz="3150" b="1">
                <a:solidFill>
                  <a:srgbClr val="18323D"/>
                </a:solidFill>
                <a:latin typeface="Meiryo"/>
                <a:ea typeface="Meiryo"/>
                <a:cs typeface="Meiryo"/>
              </a:rPr>
              <a:t>108便のICE担当が高PVではBEVに変わる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133E96-BAC7-4A92-9C28-18379CF9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2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36772"/>
                </a:solidFill>
                <a:latin typeface="Meiryo"/>
                <a:ea typeface="Meiryo"/>
                <a:cs typeface="Meiryo"/>
              </a:rPr>
              <a:t>5　2026年9月5日　凍結実験 bb0c005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71500" y="1619250"/>
          <a:ext xmlns:a="http://schemas.openxmlformats.org/drawingml/2006/main" cx="11049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286000"/>
                <a:gridCol w="3905250"/>
                <a:gridCol w="2286000"/>
              </a:tblGrid>
              <a:tr h="6286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系統群</a:t>
                      </a:r>
                    </a:p>
                  </a:txBody>
                  <a:tcPr marL="91440" marR="91440" marT="45720" marB="45720">
                    <a:solidFill>
                      <a:srgbClr val="1832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両方BEV</a:t>
                      </a:r>
                    </a:p>
                  </a:txBody>
                  <a:tcPr marL="91440" marR="91440" marT="45720" marB="45720">
                    <a:solidFill>
                      <a:srgbClr val="1832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低PV ICE → 高PV BEV</a:t>
                      </a:r>
                    </a:p>
                  </a:txBody>
                  <a:tcPr marL="91440" marR="91440" marT="45720" marB="45720">
                    <a:solidFill>
                      <a:srgbClr val="1832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両方ICE</a:t>
                      </a:r>
                    </a:p>
                  </a:txBody>
                  <a:tcPr marL="91440" marR="91440" marT="45720" marB="45720">
                    <a:solidFill>
                      <a:srgbClr val="18323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渋21</a:t>
                      </a:r>
                    </a:p>
                  </a:txBody>
                  <a:tcPr marL="91440" marR="91440" marT="45720" marB="45720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42</a:t>
                      </a:r>
                    </a:p>
                  </a:txBody>
                  <a:tcPr marL="91440" marR="91440" marT="45720" marB="45720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2F6F7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渋22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78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渋23</a:t>
                      </a:r>
                    </a:p>
                  </a:txBody>
                  <a:tcPr marL="91440" marR="91440" marT="45720" marB="45720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17</a:t>
                      </a:r>
                    </a:p>
                  </a:txBody>
                  <a:tcPr marL="91440" marR="91440" marT="45720" marB="45720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30</a:t>
                      </a:r>
                    </a:p>
                  </a:txBody>
                  <a:tcPr marL="91440" marR="91440" marT="45720" marB="45720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65</a:t>
                      </a:r>
                    </a:p>
                  </a:txBody>
                  <a:tcPr marL="91440" marR="91440" marT="45720" marB="45720">
                    <a:solidFill>
                      <a:srgbClr val="F2F6F7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合計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91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108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65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D03E70-77FA-4AAA-88C3-364EE870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5302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7D76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147D76"/>
                </a:solidFill>
                <a:latin typeface="Meiryo"/>
                <a:ea typeface="Meiryo"/>
                <a:cs typeface="Meiryo"/>
              </a:rPr>
              <a:t>置換は渋22の78便と渋23の30便に集中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FDA51-7400-4C18-950D-FF668D34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626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323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323D"/>
                </a:solidFill>
                <a:latin typeface="Meiryo"/>
                <a:ea typeface="Meiryo"/>
                <a:cs typeface="Meiryo"/>
              </a:rPr>
              <a:t>この2計画の差として確認。一般の天候効果や置換原因の証明は今後の課題。</a:t>
            </a:r>
          </a:p>
        </p:txBody>
      </p:sp>
    </p:spTree>
    <p:extLst>
      <p:ext uri="{BB962C8B-B14F-4D97-AF65-F5344CB8AC3E}">
        <p14:creationId xmlns:p14="http://schemas.microsoft.com/office/powerpoint/2010/main" val="1022425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F99B12-78BD-430B-B032-0C3257B6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23D"/>
                </a:solidFill>
                <a:latin typeface="Meiryo"/>
                <a:ea typeface="Meiryo"/>
                <a:cs typeface="Meiryo"/>
              </a:defRPr>
            </a:pPr>
            <a:r>
              <a:rPr sz="3150" b="1">
                <a:solidFill>
                  <a:srgbClr val="18323D"/>
                </a:solidFill>
                <a:latin typeface="Meiryo"/>
                <a:ea typeface="Meiryo"/>
                <a:cs typeface="Meiryo"/>
              </a:rPr>
              <a:t>共通車両使用費を除いた評価額の内訳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9998D-536A-46D7-AF29-184C4BC1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2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36772"/>
                </a:solidFill>
                <a:latin typeface="Meiryo"/>
                <a:ea typeface="Meiryo"/>
                <a:cs typeface="Meiryo"/>
              </a:rPr>
              <a:t>6　2026年9月5日　凍結実験 bb0c005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71500" y="1524000"/>
          <a:ext xmlns:a="http://schemas.openxmlformats.org/drawingml/2006/main" cx="709612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4f30341d0874a5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6AE13-2FAD-47D4-B4D8-19263E2E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23D"/>
                </a:solidFill>
                <a:latin typeface="Meiryo"/>
                <a:ea typeface="Meiryo"/>
                <a:cs typeface="Meiryo"/>
              </a:defRPr>
            </a:pPr>
            <a:r>
              <a:rPr sz="2100" b="0">
                <a:solidFill>
                  <a:srgbClr val="18323D"/>
                </a:solidFill>
                <a:latin typeface="Meiryo"/>
                <a:ea typeface="Meiryo"/>
                <a:cs typeface="Meiryo"/>
              </a:rPr>
              <a:t>車両使用費以外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F81059-CCB1-4436-9E05-4B137628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3381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7D7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7D76"/>
                </a:solidFill>
                <a:latin typeface="Meiryo"/>
                <a:ea typeface="Meiryo"/>
                <a:cs typeface="Meiryo"/>
              </a:rPr>
              <a:t>高PV 20,984円</a:t>
            </a:r>
          </a:p>
          <a:p xmlns:a="http://schemas.openxmlformats.org/drawingml/2006/main">
            <a:pPr>
              <a:defRPr sz="2250" b="1">
                <a:solidFill>
                  <a:srgbClr val="147D7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7D76"/>
                </a:solidFill>
                <a:latin typeface="Meiryo"/>
                <a:ea typeface="Meiryo"/>
                <a:cs typeface="Meiryo"/>
              </a:rPr>
              <a:t>低PV 58,599円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674292-B1A2-4A2E-AEB5-C1B889F8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10025"/>
            <a:ext cx="338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23D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8323D"/>
                </a:solidFill>
                <a:latin typeface="Meiryo"/>
                <a:ea typeface="Meiryo"/>
                <a:cs typeface="Meiryo"/>
              </a:rPr>
              <a:t>差額の87.9%は燃料費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FAADB4-E7CF-4A86-AAD2-F3EF6BC4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323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323D"/>
                </a:solidFill>
                <a:latin typeface="Meiryo"/>
                <a:ea typeface="Meiryo"/>
                <a:cs typeface="Meiryo"/>
              </a:rPr>
              <a:t>両計画の車両使用費は64万円。全体評価額は高PV 660,984円／低PV 698,599円。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E84F8C-FDE3-4D8E-BEF0-751A8834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9597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D4729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7D4729"/>
                </a:solidFill>
                <a:latin typeface="Meiryo"/>
                <a:ea typeface="Meiryo"/>
                <a:cs typeface="Meiryo"/>
              </a:rPr>
              <a:t>費用の範囲：モデル評価額。設備投資・運転士費などを含む採算評価は未実施。</a:t>
            </a:r>
          </a:p>
        </p:txBody>
      </p:sp>
    </p:spTree>
    <p:extLst>
      <p:ext uri="{BB962C8B-B14F-4D97-AF65-F5344CB8AC3E}">
        <p14:creationId xmlns:p14="http://schemas.microsoft.com/office/powerpoint/2010/main" val="2873806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C74AF8-40AF-42D2-BFE8-F0FD5ADC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23D"/>
                </a:solidFill>
                <a:latin typeface="Meiryo"/>
                <a:ea typeface="Meiryo"/>
                <a:cs typeface="Meiryo"/>
              </a:defRPr>
            </a:pPr>
            <a:r>
              <a:rPr sz="3150" b="1">
                <a:solidFill>
                  <a:srgbClr val="18323D"/>
                </a:solidFill>
                <a:latin typeface="Meiryo"/>
                <a:ea typeface="Meiryo"/>
                <a:cs typeface="Meiryo"/>
              </a:rPr>
              <a:t>PV抑制時の状態と、説明できる限界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07ACE8-D1C1-4311-925B-BE981066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2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36772"/>
                </a:solidFill>
                <a:latin typeface="Meiryo"/>
                <a:ea typeface="Meiryo"/>
                <a:cs typeface="Meiryo"/>
              </a:rPr>
              <a:t>7　2026年9月5日　凍結実験 bb0c005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71500" y="1619250"/>
          <a:ext xmlns:a="http://schemas.openxmlformats.org/drawingml/2006/main" cx="11049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524750"/>
                <a:gridCol w="3524250"/>
              </a:tblGrid>
              <a:tr h="6286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高PVの抑制枠での観測</a:t>
                      </a:r>
                    </a:p>
                  </a:txBody>
                  <a:tcPr marL="91440" marR="91440" marT="45720" marB="45720">
                    <a:solidFill>
                      <a:srgbClr val="1832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結果</a:t>
                      </a:r>
                    </a:p>
                  </a:txBody>
                  <a:tcPr marL="91440" marR="91440" marT="45720" marB="45720">
                    <a:solidFill>
                      <a:srgbClr val="18323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PV抑制量</a:t>
                      </a:r>
                    </a:p>
                  </a:txBody>
                  <a:tcPr marL="91440" marR="91440" marT="45720" marB="45720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3,373.22 kWh</a:t>
                      </a:r>
                    </a:p>
                  </a:txBody>
                  <a:tcPr marL="91440" marR="91440" marT="45720" marB="45720">
                    <a:solidFill>
                      <a:srgbClr val="F2F6F7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未充電枠で発生した抑制の割合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75.06%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10ポート全使用と重なる抑制</a:t>
                      </a:r>
                    </a:p>
                  </a:txBody>
                  <a:tcPr marL="91440" marR="91440" marT="45720" marB="45720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0 kWh</a:t>
                      </a:r>
                    </a:p>
                  </a:txBody>
                  <a:tcPr marL="91440" marR="91440" marT="45720" marB="45720">
                    <a:solidFill>
                      <a:srgbClr val="F2F6F7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BESS枠末SOCが上限と重なる抑制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23D"/>
                          </a:solidFill>
                          <a:latin typeface="Meiryo"/>
                          <a:ea typeface="Meiryo"/>
                          <a:cs typeface="Meiryo"/>
                        </a:rPr>
                        <a:t>0 kWh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7CB3ED-0E70-4C10-BB57-0AA3F0FF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7D7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7D76"/>
                </a:solidFill>
                <a:latin typeface="Meiryo"/>
                <a:ea typeface="Meiryo"/>
                <a:cs typeface="Meiryo"/>
              </a:rPr>
              <a:t>「BESSが満杯」「充電器が満杯」だけでは説明できない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F4296-1CD4-4656-8612-B0D9F238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323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8323D"/>
                </a:solidFill>
                <a:latin typeface="Meiryo"/>
                <a:ea typeface="Meiryo"/>
                <a:cs typeface="Meiryo"/>
              </a:rPr>
              <a:t>同時に観測した状態。原因の割合、充電待ち時間、設備の最小必要数は未識別。</a:t>
            </a:r>
          </a:p>
        </p:txBody>
      </p:sp>
    </p:spTree>
    <p:extLst>
      <p:ext uri="{BB962C8B-B14F-4D97-AF65-F5344CB8AC3E}">
        <p14:creationId xmlns:p14="http://schemas.microsoft.com/office/powerpoint/2010/main" val="16919602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B99CE-B069-4CE7-A9F2-7DEBD5AE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23D"/>
                </a:solidFill>
                <a:latin typeface="Meiryo"/>
                <a:ea typeface="Meiryo"/>
                <a:cs typeface="Meiryo"/>
              </a:defRPr>
            </a:pPr>
            <a:r>
              <a:rPr sz="3150" b="1">
                <a:solidFill>
                  <a:srgbClr val="18323D"/>
                </a:solidFill>
                <a:latin typeface="Meiryo"/>
                <a:ea typeface="Meiryo"/>
                <a:cs typeface="Meiryo"/>
              </a:rPr>
              <a:t>次の手法検証と比較の定義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2E6BE-B6EB-44B9-93B5-17E26A77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2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36772"/>
                </a:solidFill>
                <a:latin typeface="Meiryo"/>
                <a:ea typeface="Meiryo"/>
                <a:cs typeface="Meiryo"/>
              </a:rPr>
              <a:t>8　2026年9月5日　凍結実験 bb0c005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69D25F-DE43-49EA-89BF-BD4219AA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335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7D76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147D76"/>
                </a:solidFill>
                <a:latin typeface="Meiryo"/>
                <a:ea typeface="Meiryo"/>
                <a:cs typeface="Meiryo"/>
              </a:rPr>
              <a:t>1. RAIN 8・12・24便の統合参照比較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EFA6A-5633-45A5-B2F5-9AEE79B0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1104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23D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8323D"/>
                </a:solidFill>
                <a:latin typeface="Meiryo"/>
                <a:ea typeface="Meiryo"/>
                <a:cs typeface="Meiryo"/>
              </a:rPr>
              <a:t>同一入力で二段階方式と統合参照を評価。</a:t>
            </a:r>
          </a:p>
          <a:p xmlns:a="http://schemas.openxmlformats.org/drawingml/2006/main">
            <a:pPr>
              <a:defRPr sz="2025" b="0">
                <a:solidFill>
                  <a:srgbClr val="18323D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8323D"/>
                </a:solidFill>
                <a:latin typeface="Meiryo"/>
                <a:ea typeface="Meiryo"/>
                <a:cs typeface="Meiryo"/>
              </a:rPr>
              <a:t>呼称は「Phase 3整合小規模解とscalar統合参照解の評価額差」。</a:t>
            </a:r>
          </a:p>
          <a:p xmlns:a="http://schemas.openxmlformats.org/drawingml/2006/main">
            <a:pPr>
              <a:defRPr sz="2025" b="0">
                <a:solidFill>
                  <a:srgbClr val="18323D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8323D"/>
                </a:solidFill>
                <a:latin typeface="Meiryo"/>
                <a:ea typeface="Meiryo"/>
                <a:cs typeface="Meiryo"/>
              </a:rPr>
              <a:t>結果は未取得。承認済み条件と時間上限に従って実行する。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6519C-1FEB-4CD0-AFAF-A122A606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14775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7D76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147D76"/>
                </a:solidFill>
                <a:latin typeface="Meiryo"/>
                <a:ea typeface="Meiryo"/>
                <a:cs typeface="Meiryo"/>
              </a:rPr>
              <a:t>2. 単純方式のbaselineを定義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92A53-957D-4004-A83D-7A8DB057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1104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23D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8323D"/>
                </a:solidFill>
                <a:latin typeface="Meiryo"/>
                <a:ea typeface="Meiryo"/>
                <a:cs typeface="Meiryo"/>
              </a:rPr>
              <a:t>既定配車と先着順充電の規則を固定する。</a:t>
            </a:r>
          </a:p>
          <a:p xmlns:a="http://schemas.openxmlformats.org/drawingml/2006/main">
            <a:pPr>
              <a:defRPr sz="2025" b="0">
                <a:solidFill>
                  <a:srgbClr val="18323D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8323D"/>
                </a:solidFill>
                <a:latin typeface="Meiryo"/>
                <a:ea typeface="Meiryo"/>
                <a:cs typeface="Meiryo"/>
              </a:rPr>
              <a:t>既存M0〜M3は別の比較。PV/BESSを同時に変更すると、</a:t>
            </a:r>
          </a:p>
          <a:p xmlns:a="http://schemas.openxmlformats.org/drawingml/2006/main">
            <a:pPr>
              <a:defRPr sz="2025" b="0">
                <a:solidFill>
                  <a:srgbClr val="18323D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8323D"/>
                </a:solidFill>
                <a:latin typeface="Meiryo"/>
                <a:ea typeface="Meiryo"/>
                <a:cs typeface="Meiryo"/>
              </a:rPr>
              <a:t>配車・充電のどちらが効いたか分離できない。</a:t>
            </a:r>
          </a:p>
        </p:txBody>
      </p:sp>
    </p:spTree>
    <p:extLst>
      <p:ext uri="{BB962C8B-B14F-4D97-AF65-F5344CB8AC3E}">
        <p14:creationId xmlns:p14="http://schemas.microsoft.com/office/powerpoint/2010/main" val="9019861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04B6A7-4EC7-4346-A86D-A57C2FF2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23D"/>
                </a:solidFill>
                <a:latin typeface="Meiryo"/>
                <a:ea typeface="Meiryo"/>
                <a:cs typeface="Meiryo"/>
              </a:defRPr>
            </a:pPr>
            <a:r>
              <a:rPr sz="3150" b="1">
                <a:solidFill>
                  <a:srgbClr val="18323D"/>
                </a:solidFill>
                <a:latin typeface="Meiryo"/>
                <a:ea typeface="Meiryo"/>
                <a:cs typeface="Meiryo"/>
              </a:rPr>
              <a:t>今回の進捗と次回までの説明課題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35957A-4616-4924-ABE6-842B14C6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2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36772"/>
                </a:solidFill>
                <a:latin typeface="Meiryo"/>
                <a:ea typeface="Meiryo"/>
                <a:cs typeface="Meiryo"/>
              </a:rPr>
              <a:t>9　2026年9月5日　凍結実験 bb0c005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3C1FC6-B3FA-447E-9429-CAB2372E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38275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47D76"/>
                </a:solidFill>
                <a:latin typeface="Meiryo"/>
                <a:ea typeface="Meiryo"/>
                <a:cs typeface="Meiryo"/>
              </a:defRPr>
            </a:pPr>
            <a:r>
              <a:rPr sz="2475" b="1">
                <a:solidFill>
                  <a:srgbClr val="147D76"/>
                </a:solidFill>
                <a:latin typeface="Meiryo"/>
                <a:ea typeface="Meiryo"/>
                <a:cs typeface="Meiryo"/>
              </a:rPr>
              <a:t>進捗：便数に加えて、距離・置換箇所・充電状態を確認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3148AE-7286-45A5-BBFD-710F8C3E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43175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323D"/>
                </a:solidFill>
                <a:latin typeface="Meiryo"/>
                <a:ea typeface="Meiryo"/>
                <a:cs typeface="Meiryo"/>
              </a:defRPr>
            </a:pPr>
            <a:r>
              <a:rPr sz="2325" b="0">
                <a:solidFill>
                  <a:srgbClr val="18323D"/>
                </a:solidFill>
                <a:latin typeface="Meiryo"/>
                <a:ea typeface="Meiryo"/>
                <a:cs typeface="Meiryo"/>
              </a:rPr>
              <a:t>残る中心課題：単純方式に対する利点と、選択結果の安定性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28EDD3-0CFA-4FEA-A121-16F3C322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23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323D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8323D"/>
                </a:solidFill>
                <a:latin typeface="Meiryo"/>
                <a:ea typeface="Meiryo"/>
                <a:cs typeface="Meiryo"/>
              </a:rPr>
              <a:t>次回の説明課題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7ABC7-F538-4B6C-B97E-BAA9763A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11049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23D"/>
                </a:solidFill>
                <a:latin typeface="Meiryo"/>
                <a:ea typeface="Meiryo"/>
                <a:cs typeface="Meiryo"/>
              </a:defRPr>
            </a:pPr>
            <a:r>
              <a:rPr sz="2100" b="0">
                <a:solidFill>
                  <a:srgbClr val="18323D"/>
                </a:solidFill>
                <a:latin typeface="Meiryo"/>
                <a:ea typeface="Meiryo"/>
                <a:cs typeface="Meiryo"/>
              </a:rPr>
              <a:t>研究は何を入力し、何を決めるか。</a:t>
            </a:r>
          </a:p>
          <a:p xmlns:a="http://schemas.openxmlformats.org/drawingml/2006/main">
            <a:pPr>
              <a:defRPr sz="2100" b="0">
                <a:solidFill>
                  <a:srgbClr val="18323D"/>
                </a:solidFill>
                <a:latin typeface="Meiryo"/>
                <a:ea typeface="Meiryo"/>
                <a:cs typeface="Meiryo"/>
              </a:defRPr>
            </a:pPr>
            <a:r>
              <a:rPr sz="2100" b="0">
                <a:solidFill>
                  <a:srgbClr val="18323D"/>
                </a:solidFill>
                <a:latin typeface="Meiryo"/>
                <a:ea typeface="Meiryo"/>
                <a:cs typeface="Meiryo"/>
              </a:rPr>
              <a:t>実行可能な計画と、最も安い計画はどう違うか。</a:t>
            </a:r>
          </a:p>
          <a:p xmlns:a="http://schemas.openxmlformats.org/drawingml/2006/main">
            <a:pPr>
              <a:defRPr sz="2100" b="0">
                <a:solidFill>
                  <a:srgbClr val="18323D"/>
                </a:solidFill>
                <a:latin typeface="Meiryo"/>
                <a:ea typeface="Meiryo"/>
                <a:cs typeface="Meiryo"/>
              </a:defRPr>
            </a:pPr>
            <a:r>
              <a:rPr sz="2100" b="0">
                <a:solidFill>
                  <a:srgbClr val="18323D"/>
                </a:solidFill>
                <a:latin typeface="Meiryo"/>
                <a:ea typeface="Meiryo"/>
                <a:cs typeface="Meiryo"/>
              </a:rPr>
              <a:t>統合参照との差が大きかったら、何が分かるか。</a:t>
            </a:r>
          </a:p>
        </p:txBody>
      </p:sp>
    </p:spTree>
    <p:extLst>
      <p:ext uri="{BB962C8B-B14F-4D97-AF65-F5344CB8AC3E}">
        <p14:creationId xmlns:p14="http://schemas.microsoft.com/office/powerpoint/2010/main" val="12609198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2026-09-05T02:22:58.6670000Z</dcterms:created>
  <dcterms:modified xsi:type="dcterms:W3CDTF">2026-09-05T02:22:58.6670000Z</dcterms:modified>
</coreProperties>
</file>