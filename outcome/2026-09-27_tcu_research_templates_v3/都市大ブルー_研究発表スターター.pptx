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［所属］の［氏名］です。本日は、［研究題目］について報告します。この研究では、［対象］における［課題］を扱い、［何を明らかにするか］を検証します。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研究の問いを1文で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はじめに、［背景／発表の構成］をご説明します。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研究題目・発表会・所属・氏名・日付を記入。題目は2行まで。指導教員名が必要なら所属欄に追加する。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15–25秒】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本日は、［背景と目的］、［手法と条件］、［結果と考察］の順に説明します。特に［重点を置く項目］をご確認いただきたいと考えています。最後に、［まとめ／相談事項］をお伝えします。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重点を置く項目を指す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まず、［最初の章の内容］です。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発表時間に合わせて3〜4項目に絞る。章名だけでなく、各章で何を示すかを書く。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社会背景と研究背景を分けて説明します。［政策・社会の目標］を受けて、［取組・変化］が進められています。その実現には、［技術的な課題］への対応が必要です。右の図は［現象・課題の根拠］を示しています。そこで、［必要な技術・対応］に着目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社会の目標→取組→技術課題の順で下へ進み、右図で根拠を示す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この背景を踏まえ、残る研究課題と今回の目的を示します。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文献・確認した事実］から、対象技術には［課題1］と［課題2］が残っています。本研究は、このうち［今回扱う課題］に焦点を当てます。具体的には、［対象・条件］における［方法］と［評価量］の関係を調べます。［条件］では［予測する変化］が生じると考えていますが、現時点では仮説です。［方法A］と［方法B］を比較し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課題の根拠→今回の焦点→目的→未検証の仮説を示す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次に、この課題に関する先行研究と本研究の位置づけを説明します。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先行研究を［比較軸］で整理しました。［研究A］は［扱う点］、［研究B］は［扱う点］に特徴があります。一方、［共通して残る課題］については、［未解決の内容］が残っています。本研究は、そのうち［今回扱う点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全セルを読まず比較軸と差分を指す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次に、その課題に対する本研究の着眼点を説明します。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必要な比較軸を先に決める。既存研究の対象・条件が異なるときは性能数値を直接比較しない。最終行には実証済みの差分だけを書く。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で扱うシステムの全体像です。左側の［入力データ］を与え、中央の［モデル・処理］で［決めること］を求めます。右側には［出力・評価指標］が得られます。今回の対象は［範囲］で、［範囲外］は含めません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入力→処理→出力の順に指す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次に、各段階の手順を説明します。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箱と矢印は編集可能。入力・決定事項・出力の関係を示す。略語は初出で説明する。箱を追加しすぎず、詳細は補足へ。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手順は［工程数］段階です。まず［入力準備］を行い、次に［モデル化］、続いて［計算・実験］を行います。最後に［評価・検証］を確認します。このうち本研究で工夫したのは［工程と工夫］です。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全工程の読み上げより工夫点に時間を使う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その工程で使う主要な式を示します。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4工程の流れ。手法名だけでなく各段階の入力と出力を説明する。実際の依存関係に合わせて矢印を変更する。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45–75秒】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式は［式が表す関係］を表しています。［記号］は［意味・単位］で、［記号］は［意味・単位］です。式の［項］は［役割］に対応します。［前提条件］の下で成り立ち、［研究の中でどう使うか］に用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式全体の意味→主要項→前提の順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このモデルを、次の条件で検証します。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左側は数式用の入力欄。複雑な数式はAlt+=でPowerPoint標準の数式を挿入する。変数の意味と単位、式が何を表すかを必ず添える。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条件を示します。対象は［データ・日付・範囲］です。［共通にする条件］をそろえ、［変更する要因］のみを変えます。実行条件は［必要な設定］です。条件の違いがある場合は［違いと解釈への影響］を考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共通条件と変更条件を指し分ける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比較に使う評価指標を説明します。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共通にする条件と変える条件を分ける。データ・手法・パラメータ・乱数・時間制限を必要に応じて記録し、再現の詳細をノートに残す。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な評価指標は［指標］です。［算出方法］で求め、単位は［単位］とします。集計対象は［期間・範囲］で、割合や平均の分母は［分母］です。補助指標の［指標］を使って、［確認する点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主要指標の定義・単位・分母を伝える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この指標で得られた結果を示します。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指標名・定義・単位・集計範囲をそろえる。平均の分母、割合の母数、時間解像度を明示。電力[kW]と電力量[kWh]は別指標。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条件ごとの［評価指標］を比較した結果です。横軸は［条件］、縦軸は［指標・単位］で、［系列］を比較しています。［着目条件］では、［比較対象］に対して［差・単位］でした。［ばらつき・条件］を踏まえると、［確認できる結論］が言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仮データを必ず実験値に交換してから読む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次に、［時間変化／この結果の解釈］を説明します。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確認できた範囲は［対象・条件］です。一方、［未検証の条件］では確認ができていません。また、［制約］が結果の解釈に影響します。そのため、［言えること］までは示せますが、［まだ言えないこと］は今後の検証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未検証の範囲を曖昧にしない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以上を踏まえて、研究の要点をまとめます。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では、［目的］を検証しました。主に［結果1］と［結果2］を確認しました。結論は［対象・条件］の範囲に限られます。今後は［残る課題］に取り組みます。以上で発表を終わります。ご清聴ありがとうござい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目的への答えと適用範囲を伝える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［質疑へ進む／必要なら補足資料を開く］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目的への答えを最初に置く。方法の説明を繰り返すより、得られた知見と限界をまとめる。最後に次の検証を一つ示す。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必要時のみ】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こちらは発表で参照した資料です。［主な主張］の根拠は文献［番号］、［手法］の原典は文献［番号］です。必要に応じて、該当する箇所をご説明します。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通常は全件を読み上げない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［該当する本文または補足へ移る］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社会背景・研究背景" preserve="1">
  <p:cSld name="29 導入A 社会背景・研究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">
            <a:extLst>
              <a:ext uri="{FF2B5EF4-FFF2-40B4-BE49-F238E27FC236}">
                <a16:creationId xmlns:a16="http://schemas.microsoft.com/office/drawing/2014/main" id="{35B6E907-37D8-4B7F-BD51-E3A61AB04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4AE92CBF-8A4C-40E0-8D8A-0FBF62BF227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84AE505-8251-40C8-BEC5-536EBE91CB6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15">
            <a:extLst>
              <a:ext uri="{FF2B5EF4-FFF2-40B4-BE49-F238E27FC236}">
                <a16:creationId xmlns:a16="http://schemas.microsoft.com/office/drawing/2014/main" id="{26B9757C-35D8-4490-BAF8-96065DE3C33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課題・研究目的" preserve="1">
  <p:cSld name="30 導入A 研究課題・研究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7">
            <a:extLst>
              <a:ext uri="{FF2B5EF4-FFF2-40B4-BE49-F238E27FC236}">
                <a16:creationId xmlns:a16="http://schemas.microsoft.com/office/drawing/2014/main" id="{EA11532D-4211-4C8C-82C2-1633FB44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">
            <a:extLst>
              <a:ext uri="{FF2B5EF4-FFF2-40B4-BE49-F238E27FC236}">
                <a16:creationId xmlns:a16="http://schemas.microsoft.com/office/drawing/2014/main" id="{CA3D0E6F-F856-417B-BD0C-00FF81A1E53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1">
            <a:extLst>
              <a:ext uri="{FF2B5EF4-FFF2-40B4-BE49-F238E27FC236}">
                <a16:creationId xmlns:a16="http://schemas.microsoft.com/office/drawing/2014/main" id="{1B093E44-7F7F-4289-AC46-4B6E9B68A1E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7">
            <a:extLst>
              <a:ext uri="{FF2B5EF4-FFF2-40B4-BE49-F238E27FC236}">
                <a16:creationId xmlns:a16="http://schemas.microsoft.com/office/drawing/2014/main" id="{3F997FE7-FD9F-4DE7-AE45-91BCC48D727E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31">
            <a:extLst>
              <a:ext uri="{FF2B5EF4-FFF2-40B4-BE49-F238E27FC236}">
                <a16:creationId xmlns:a16="http://schemas.microsoft.com/office/drawing/2014/main" id="{824799D4-DB2B-402A-8229-940D1FD3165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社会の要請・現場の課題" preserve="1">
  <p:cSld name="31 導入B 社会の要請・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3">
            <a:extLst>
              <a:ext uri="{FF2B5EF4-FFF2-40B4-BE49-F238E27FC236}">
                <a16:creationId xmlns:a16="http://schemas.microsoft.com/office/drawing/2014/main" id="{0B4E6639-942F-4527-A230-A69C1DAB3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5">
            <a:extLst>
              <a:ext uri="{FF2B5EF4-FFF2-40B4-BE49-F238E27FC236}">
                <a16:creationId xmlns:a16="http://schemas.microsoft.com/office/drawing/2014/main" id="{86F20D8C-0755-443E-8529-B6312A41F87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37">
            <a:extLst>
              <a:ext uri="{FF2B5EF4-FFF2-40B4-BE49-F238E27FC236}">
                <a16:creationId xmlns:a16="http://schemas.microsoft.com/office/drawing/2014/main" id="{09A3FCAD-AFC2-48A4-BD18-BDB2376EB2B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6">
            <a:extLst>
              <a:ext uri="{FF2B5EF4-FFF2-40B4-BE49-F238E27FC236}">
                <a16:creationId xmlns:a16="http://schemas.microsoft.com/office/drawing/2014/main" id="{CDB9E452-267A-429F-9BA0-9E76C14558F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比較手法・仮説" preserve="1">
  <p:cSld name="32 導入B 比較手法・仮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TIC_rule_48">
            <a:extLst>
              <a:ext uri="{FF2B5EF4-FFF2-40B4-BE49-F238E27FC236}">
                <a16:creationId xmlns:a16="http://schemas.microsoft.com/office/drawing/2014/main" id="{B454553F-A0EA-4845-B71C-48B204C40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0">
            <a:extLst>
              <a:ext uri="{FF2B5EF4-FFF2-40B4-BE49-F238E27FC236}">
                <a16:creationId xmlns:a16="http://schemas.microsoft.com/office/drawing/2014/main" id="{504EE668-586F-45B7-9C51-32398FA37F6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2">
            <a:extLst>
              <a:ext uri="{FF2B5EF4-FFF2-40B4-BE49-F238E27FC236}">
                <a16:creationId xmlns:a16="http://schemas.microsoft.com/office/drawing/2014/main" id="{51B0E6C1-71B7-44DB-A882-FE694A308AE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57">
            <a:extLst>
              <a:ext uri="{FF2B5EF4-FFF2-40B4-BE49-F238E27FC236}">
                <a16:creationId xmlns:a16="http://schemas.microsoft.com/office/drawing/2014/main" id="{8F365B0D-DABE-4F07-A860-38AFE222C929}"/>
              </a:ext>
            </a:extLst>
          </p:cNvPr>
          <p:cNvSpPr>
            <a:spLocks noGrp="1"/>
          </p:cNvSpPr>
          <p:nvPr/>
        </p:nvSpPr>
        <p:spPr>
          <a:xfrm>
            <a:off x="6057900" y="1819275"/>
            <a:ext cx="19050" cy="220027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63">
            <a:extLst>
              <a:ext uri="{FF2B5EF4-FFF2-40B4-BE49-F238E27FC236}">
                <a16:creationId xmlns:a16="http://schemas.microsoft.com/office/drawing/2014/main" id="{AC06013A-5627-4D4E-8F3A-108BBCD3EBEB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目的・意義" preserve="1">
  <p:cSld name="33 導入C 目的・意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5">
            <a:extLst>
              <a:ext uri="{FF2B5EF4-FFF2-40B4-BE49-F238E27FC236}">
                <a16:creationId xmlns:a16="http://schemas.microsoft.com/office/drawing/2014/main" id="{BD7F2AF3-E51C-4693-80ED-EF8CDC520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7">
            <a:extLst>
              <a:ext uri="{FF2B5EF4-FFF2-40B4-BE49-F238E27FC236}">
                <a16:creationId xmlns:a16="http://schemas.microsoft.com/office/drawing/2014/main" id="{68F539C4-1B3B-4805-A7EE-566E436AA77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9">
            <a:extLst>
              <a:ext uri="{FF2B5EF4-FFF2-40B4-BE49-F238E27FC236}">
                <a16:creationId xmlns:a16="http://schemas.microsoft.com/office/drawing/2014/main" id="{65D148F2-A484-4606-A794-B52914E5312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4">
            <a:extLst>
              <a:ext uri="{FF2B5EF4-FFF2-40B4-BE49-F238E27FC236}">
                <a16:creationId xmlns:a16="http://schemas.microsoft.com/office/drawing/2014/main" id="{4E1605D6-0C2B-4E1A-8CAA-DB01D9B5ACBD}"/>
              </a:ext>
            </a:extLst>
          </p:cNvPr>
          <p:cNvSpPr>
            <a:spLocks noGrp="1"/>
          </p:cNvSpPr>
          <p:nvPr/>
        </p:nvSpPr>
        <p:spPr>
          <a:xfrm>
            <a:off x="571500" y="3533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79">
            <a:extLst>
              <a:ext uri="{FF2B5EF4-FFF2-40B4-BE49-F238E27FC236}">
                <a16:creationId xmlns:a16="http://schemas.microsoft.com/office/drawing/2014/main" id="{4018BF7E-D0F0-41DE-82FB-D60CC0639E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研究手法・検証範囲" preserve="1">
  <p:cSld name="34 導入C 研究手法・検証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1">
            <a:extLst>
              <a:ext uri="{FF2B5EF4-FFF2-40B4-BE49-F238E27FC236}">
                <a16:creationId xmlns:a16="http://schemas.microsoft.com/office/drawing/2014/main" id="{31348976-F154-4FB8-A94D-0C377048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3">
            <a:extLst>
              <a:ext uri="{FF2B5EF4-FFF2-40B4-BE49-F238E27FC236}">
                <a16:creationId xmlns:a16="http://schemas.microsoft.com/office/drawing/2014/main" id="{804D5639-D6E0-49D4-B216-96EF3FD60E6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5">
            <a:extLst>
              <a:ext uri="{FF2B5EF4-FFF2-40B4-BE49-F238E27FC236}">
                <a16:creationId xmlns:a16="http://schemas.microsoft.com/office/drawing/2014/main" id="{5344F1A5-4C61-439A-ACD2-DDAF56C0427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5">
            <a:extLst>
              <a:ext uri="{FF2B5EF4-FFF2-40B4-BE49-F238E27FC236}">
                <a16:creationId xmlns:a16="http://schemas.microsoft.com/office/drawing/2014/main" id="{04E7C8E2-F8FE-4365-9A68-E6212FA4B31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558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20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152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279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33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00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587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33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3987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6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707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058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3798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00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08247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7085</Words>
  <Application>Microsoft Office PowerPoint</Application>
  <DocSecurity>0</DocSecurity>
  <PresentationFormat>ワイド画面</PresentationFormat>
  <Paragraphs>690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7" baseType="lpstr">
      <vt:lpstr>Times New Roman</vt:lpstr>
      <vt:lpstr>ChatGPT</vt:lpstr>
      <vt:lpstr>［研究題目］ ［必要なら2行目］</vt:lpstr>
      <vt:lpstr>本日の構成</vt:lpstr>
      <vt:lpstr>社会背景・研究背景</vt:lpstr>
      <vt:lpstr>研究課題と本研究の目的</vt:lpstr>
      <vt:lpstr>先行研究と本研究の位置づけ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［条件間の差を示す結果］</vt:lpstr>
      <vt:lpstr>結果の解釈と考察</vt:lpstr>
      <vt:lpstr>研究の限界と適用範囲</vt:lpstr>
      <vt:lpstr>まとめと今後の課題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2026-09-27T07:04:45Z</dcterms:modified>
</cp:coreProperties>
</file>