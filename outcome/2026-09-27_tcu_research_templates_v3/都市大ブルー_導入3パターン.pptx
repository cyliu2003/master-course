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90" r:id="rId2"/>
    <p:sldId id="291" r:id="rId3"/>
    <p:sldId id="292" r:id="rId4"/>
    <p:sldId id="293" r:id="rId5"/>
    <p:sldId id="294" r:id="rId6"/>
    <p:sldId id="295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ja-JP" altLang="en-US" sz="1200" kern="1200">
        <a:latin typeface="Times New Roman"/>
        <a:ea typeface="Meiryo"/>
        <a:cs typeface="Times New Roman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45–60秒】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まず、社会背景と研究背景を分けて説明します。［政策・社会の目標］を受けて、［取組・変化］が進められています。その実現には、［技術的な課題］への対応が必要です。右の図は［現象・課題の根拠］を示しています。そこで、［必要な技術・対応］に着目しました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社会の目標→取組→技術課題の順で下へ進み、右図で根拠を示す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この背景を踏まえ、残る研究課題と今回の目的を示します。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タイトル・本文・補助見出しの［ ］を自分の研究へ置換します。不要な補助見出しは削除できます。図の比率を保ち、出典・対象期間・条件を記入します。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【構成の参照】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提供資料「刘承洋_9月発表用.pptx」（表紙日付2025年9月17日）2ページ。社会背景から技術的課題へ絞る流れ、課題と研究目的の対応、比較する方法と仮説、対象モデルと条件の示し方を参考にした。技術上の主張・政策値・研究値・図・大学ロゴは転記していな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参照ファイル SHA256: 194aa6b7b080f717c5f29a9099e2e9d58fc5020e53af040c633305c77ce80186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政策の目標：［正式資料名・発行主体・年・頁・URL］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参考資料の言い回しを使っても、未検証の予測は仮説として記載する。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45–60秒】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文献・確認した事実］から、対象技術には［課題1］と［課題2］が残っています。本研究は、このうち［今回扱う課題］に焦点を当てます。具体的には、［対象・条件］における［方法］と［評価量］の関係を調べます。［条件］では［予測する変化］が生じると考えていますが、現時点では仮説です。［方法A］と［方法B］を比較し、［効果・適用範囲］を定量的に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課題の根拠→今回の焦点→目的→未検証の仮説を示す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次に、この課題に関する先行研究と本研究の位置づけを説明します。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タイトル・本文・補助見出しの［ ］を自分の研究へ置換します。不要な補助見出しは削除できます。図の比率を保ち、出典・対象期間・条件を記入します。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【構成の参照】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提供資料「刘承洋_9月発表用.pptx」（表紙日付2025年9月17日）3ページ。社会背景から技術的課題へ絞る流れ、課題と研究目的の対応、比較する方法と仮説、対象モデルと条件の示し方を参考にした。技術上の主張・政策値・研究値・図・大学ロゴは転記していな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参照ファイル SHA256: 194aa6b7b080f717c5f29a9099e2e9d58fc5020e53af040c633305c77ce80186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政策の目標：［正式資料名・発行主体・年・頁・URL］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参考資料の言い回しを使っても、未検証の予測は仮説として記載する。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まず、［現場・利用者］に求められている役割を説明します。左の［写真・運用図］は［対象・場面］です。社会からは［要請］があり、現場は［条件］を満たす必要があります。一方、［技術的課題］が残っています。［数値・観察事実］を根拠として、本研究では［着目する課題］を扱い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左の対象図→右上の要請→右下の制約の順に指す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この課題に対して、比較する方法と検証する仮説を示します。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タイトル・本文・補助見出しの［ ］を自分の研究へ置換します。不要な補助見出しは削除できます。図の比率を保ち、出典・対象期間・条件を記入します。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【構成の参照】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提供資料「刘承洋_9月発表用.pptx」（表紙日付2025年9月17日）2ページ。社会背景から技術的課題へ絞る流れ、課題と研究目的の対応、比較する方法と仮説、対象モデルと条件の示し方を参考にした。技術上の主張・政策値・研究値・図・大学ロゴは転記していな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参照ファイル SHA256: 194aa6b7b080f717c5f29a9099e2e9d58fc5020e53af040c633305c77ce80186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政策の目標：［正式資料名・発行主体・年・頁・URL］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参考資料の言い回しを使っても、未検証の予測は仮説として記載する。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45–60秒】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比較する方法は［方法A］と［方法B］です。［出典］では、方法Aは［働き］により［特徴］を持つと報告されています。方法Bは［働き］が異なり、［条件］で［指標］に［予測する違い］が生じると考えています。これは現時点では仮説です。［共通条件］をそろえ、［変える条件］を変化させて、［指標・判定基準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既知の特徴の根拠と、未検証の仮説を指し分ける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続いて、この仮説を確かめる対象と方法を説明します。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タイトル・本文・補助見出しの［ ］を自分の研究へ置換します。不要な補助見出しは削除できます。図の比率を保ち、出典・対象期間・条件を記入します。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【構成の参照】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提供資料「刘承洋_9月発表用.pptx」（表紙日付2025年9月17日）3ページ。社会背景から技術的課題へ絞る流れ、課題と研究目的の対応、比較する方法と仮説、対象モデルと条件の示し方を参考にした。技術上の主張・政策値・研究値・図・大学ロゴは転記していな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参照ファイル SHA256: 194aa6b7b080f717c5f29a9099e2e9d58fc5020e53af040c633305c77ce80186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政策の目標：［正式資料名・発行主体・年・頁・URL］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参考資料の言い回しを使っても、未検証の予測は仮説として記載する。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30–45秒】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最初に研究の目的をお伝えします。本研究では、［対象・条件］における［方法］と［評価量］の関係を明らかにします。背景には［社会・現場の要請］と［未解決の技術的課題］があります。得られる知見を［誰のどの判断］に役立てることを想定し、［適用条件］も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大きな目的文→必要な理由→知見の使い道の順に示す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次に、研究の進め方と検証範囲を説明します。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タイトル・本文・補助見出しの［ ］を自分の研究へ置換します。不要な補助見出しは削除できます。図の比率を保ち、出典・対象期間・条件を記入します。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【構成の参照】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提供資料「刘承洋_9月発表用.pptx」（表紙日付2025年9月17日）3ページ。社会背景から技術的課題へ絞る流れ、課題と研究目的の対応、比較する方法と仮説、対象モデルと条件の示し方を参考にした。技術上の主張・政策値・研究値・図・大学ロゴは転記していな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参照ファイル SHA256: 194aa6b7b080f717c5f29a9099e2e9d58fc5020e53af040c633305c77ce80186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政策の目標：［正式資料名・発行主体・年・頁・URL］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参考資料の言い回しを使っても、未検証の予測は仮説として記載する。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【発表カンペ｜目安 40–55秒】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［ ］を埋めて話します。時間は内容に応じて調整してください。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【話す内容】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左側が、今回対象とする［モデル・仕組み］です。［入力］を与えて、［出力・応答］を調べます。右側に示すように、［方法］を比較し、［変える条件と範囲］を変化させます。［固定条件］はそろえ、［指標・単位］と［判定基準］で評価します。これにより、［効果・適用範囲］を定量的に示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【指す場所・間の取り方】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モデル→変更条件→固定条件→評価基準の順に指す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【次ページへのつなぎ】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このうち、［詳細を補う点］を次に説明します。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※ページの順番を変えた場合は、つなぎの文も修正してください。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【自分用のメモ】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強調する語：［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省略できる説明：［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想定質問：［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回答の要点と根拠：［ 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未確認のとき：この点はまだ確認できていません。［確認方法］で確認します。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endParaRPr lang="ja-JP" altLang="en-US" sz="1200">
              <a:latin typeface="Times New Roman"/>
              <a:ea typeface="Meiryo"/>
              <a:cs typeface="Times New Roman"/>
            </a:endParaRP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【記入・編集の補足】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タイトル・本文・補助見出しの［ ］を自分の研究へ置換します。不要な補助見出しは削除できます。図の比率を保ち、出典・対象期間・条件を記入します。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【構成の参照】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提供資料「刘承洋_9月発表用.pptx」（表紙日付2025年9月17日）4ページ。社会背景から技術的課題へ絞る流れ、課題と研究目的の対応、比較する方法と仮説、対象モデルと条件の示し方を参考にした。技術上の主張・政策値・研究値・図・大学ロゴは転記していない。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参照ファイル SHA256: 194aa6b7b080f717c5f29a9099e2e9d58fc5020e53af040c633305c77ce80186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政策の目標：［正式資料名・発行主体・年・頁・URL］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現場の事実：［資料名・対象期間・範囲・URL］</a:t>
            </a:r>
          </a:p>
          <a:p>
            <a:pPr>
              <a:defRPr lang="ja-JP" altLang="en-US" sz="1200">
                <a:latin typeface="Times New Roman"/>
                <a:ea typeface="Meiryo"/>
                <a:cs typeface="Times New Roman"/>
              </a:defRPr>
            </a:pPr>
            <a:r>
              <a:rPr lang="ja-JP" altLang="en-US" sz="1200">
                <a:latin typeface="Times New Roman"/>
                <a:ea typeface="Meiryo"/>
                <a:cs typeface="Times New Roman"/>
              </a:rPr>
              <a:t>参考資料の言い回しを使っても、未検証の予測は仮説として記載する。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研究発表の表紙" preserve="1">
  <p:cSld name="01 研究発表の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TIC_rule_1">
            <a:extLst>
              <a:ext uri="{FF2B5EF4-FFF2-40B4-BE49-F238E27FC236}">
                <a16:creationId xmlns:a16="http://schemas.microsoft.com/office/drawing/2014/main" id="{BCF2AE1A-DD65-4F91-9444-3779680999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subtitle_2">
            <a:extLst>
              <a:ext uri="{FF2B5EF4-FFF2-40B4-BE49-F238E27FC236}">
                <a16:creationId xmlns:a16="http://schemas.microsoft.com/office/drawing/2014/main" id="{D95785DB-FFA5-4AD3-9C65-D2801F0266A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研究発表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">
            <a:extLst>
              <a:ext uri="{FF2B5EF4-FFF2-40B4-BE49-F238E27FC236}">
                <a16:creationId xmlns:a16="http://schemas.microsoft.com/office/drawing/2014/main" id="{6F294B2D-47F6-46D8-8246-12EB62BA7D0B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TATIC_rule_4">
            <a:extLst>
              <a:ext uri="{FF2B5EF4-FFF2-40B4-BE49-F238E27FC236}">
                <a16:creationId xmlns:a16="http://schemas.microsoft.com/office/drawing/2014/main" id="{93E2E4C4-AC79-45C5-8F0C-180A32C1F3C8}"/>
              </a:ext>
            </a:extLst>
          </p:cNvPr>
          <p:cNvSpPr>
            <a:spLocks noGrp="1"/>
          </p:cNvSpPr>
          <p:nvPr/>
        </p:nvSpPr>
        <p:spPr>
          <a:xfrm>
            <a:off x="628650" y="4048125"/>
            <a:ext cx="1466850" cy="571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5" name="PH_body_5">
            <a:extLst>
              <a:ext uri="{FF2B5EF4-FFF2-40B4-BE49-F238E27FC236}">
                <a16:creationId xmlns:a16="http://schemas.microsoft.com/office/drawing/2014/main" id="{9C6D1B29-C1CB-4997-A923-69A544DD171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［発表会・学会・審査会の名称］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6">
            <a:extLst>
              <a:ext uri="{FF2B5EF4-FFF2-40B4-BE49-F238E27FC236}">
                <a16:creationId xmlns:a16="http://schemas.microsoft.com/office/drawing/2014/main" id="{DC5F9089-9455-4D49-801B-13B794E7E09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進捗報告の表紙" preserve="1">
  <p:cSld name="02 進捗報告の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TIC_rule_7">
            <a:extLst>
              <a:ext uri="{FF2B5EF4-FFF2-40B4-BE49-F238E27FC236}">
                <a16:creationId xmlns:a16="http://schemas.microsoft.com/office/drawing/2014/main" id="{5FD949CB-DC91-432E-A26E-C78D01BAAC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subtitle_8">
            <a:extLst>
              <a:ext uri="{FF2B5EF4-FFF2-40B4-BE49-F238E27FC236}">
                <a16:creationId xmlns:a16="http://schemas.microsoft.com/office/drawing/2014/main" id="{3D38E6BF-A38A-4CC2-AC09-88A1EC34AD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研究進捗報告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9">
            <a:extLst>
              <a:ext uri="{FF2B5EF4-FFF2-40B4-BE49-F238E27FC236}">
                <a16:creationId xmlns:a16="http://schemas.microsoft.com/office/drawing/2014/main" id="{71E19A1D-4EDC-4651-9F96-7720FEE771C7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TATIC_rule_10">
            <a:extLst>
              <a:ext uri="{FF2B5EF4-FFF2-40B4-BE49-F238E27FC236}">
                <a16:creationId xmlns:a16="http://schemas.microsoft.com/office/drawing/2014/main" id="{D19A1F19-49B4-4CD7-B414-BDCFF7141469}"/>
              </a:ext>
            </a:extLst>
          </p:cNvPr>
          <p:cNvSpPr>
            <a:spLocks noGrp="1"/>
          </p:cNvSpPr>
          <p:nvPr/>
        </p:nvSpPr>
        <p:spPr>
          <a:xfrm>
            <a:off x="628650" y="4048125"/>
            <a:ext cx="1466850" cy="571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5" name="PH_body_11">
            <a:extLst>
              <a:ext uri="{FF2B5EF4-FFF2-40B4-BE49-F238E27FC236}">
                <a16:creationId xmlns:a16="http://schemas.microsoft.com/office/drawing/2014/main" id="{3F24A689-DAF1-4A63-9945-755DD40CCAA6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［対象期間］　YYYY.MM.DD – MM.DD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12">
            <a:extLst>
              <a:ext uri="{FF2B5EF4-FFF2-40B4-BE49-F238E27FC236}">
                <a16:creationId xmlns:a16="http://schemas.microsoft.com/office/drawing/2014/main" id="{6F5E82F1-9F62-42C8-B411-033CA8DB29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発表の流れ" preserve="1">
  <p:cSld name="03 発表の流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TATIC_rule_13">
            <a:extLst>
              <a:ext uri="{FF2B5EF4-FFF2-40B4-BE49-F238E27FC236}">
                <a16:creationId xmlns:a16="http://schemas.microsoft.com/office/drawing/2014/main" id="{2BB7DF9A-704C-4F96-A5B8-C89329834D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4">
            <a:extLst>
              <a:ext uri="{FF2B5EF4-FFF2-40B4-BE49-F238E27FC236}">
                <a16:creationId xmlns:a16="http://schemas.microsoft.com/office/drawing/2014/main" id="{B65A4C6A-4808-4645-A4EE-9CAC25DDE9B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本日の構成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5">
            <a:extLst>
              <a:ext uri="{FF2B5EF4-FFF2-40B4-BE49-F238E27FC236}">
                <a16:creationId xmlns:a16="http://schemas.microsoft.com/office/drawing/2014/main" id="{6FCA304F-4C0E-442B-B84E-A4A40310566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6">
            <a:extLst>
              <a:ext uri="{FF2B5EF4-FFF2-40B4-BE49-F238E27FC236}">
                <a16:creationId xmlns:a16="http://schemas.microsoft.com/office/drawing/2014/main" id="{715B940A-C45E-46E9-BB55-2CB0593ED885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7">
            <a:extLst>
              <a:ext uri="{FF2B5EF4-FFF2-40B4-BE49-F238E27FC236}">
                <a16:creationId xmlns:a16="http://schemas.microsoft.com/office/drawing/2014/main" id="{C50ABC14-7CA3-410C-B59A-4E76A348655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8">
            <a:extLst>
              <a:ext uri="{FF2B5EF4-FFF2-40B4-BE49-F238E27FC236}">
                <a16:creationId xmlns:a16="http://schemas.microsoft.com/office/drawing/2014/main" id="{D3112512-068D-43A9-936D-1C3F0CC4A752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E9204B3-D722-47F1-8EF4-FCE251560EB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9">
            <a:extLst>
              <a:ext uri="{FF2B5EF4-FFF2-40B4-BE49-F238E27FC236}">
                <a16:creationId xmlns:a16="http://schemas.microsoft.com/office/drawing/2014/main" id="{FE3E2D09-11C3-47D7-8DDD-FEE0828F9F1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19125" y="179070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0">
            <a:extLst>
              <a:ext uri="{FF2B5EF4-FFF2-40B4-BE49-F238E27FC236}">
                <a16:creationId xmlns:a16="http://schemas.microsoft.com/office/drawing/2014/main" id="{AE06B57D-1919-437A-8B27-2A1323A5CC7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619250" y="179070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背景と目的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1">
            <a:extLst>
              <a:ext uri="{FF2B5EF4-FFF2-40B4-BE49-F238E27FC236}">
                <a16:creationId xmlns:a16="http://schemas.microsoft.com/office/drawing/2014/main" id="{8FF25471-1D11-472A-8B36-20A1DFCA44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524500" y="179070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［何が課題で、何を明らかにするか］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22">
            <a:extLst>
              <a:ext uri="{FF2B5EF4-FFF2-40B4-BE49-F238E27FC236}">
                <a16:creationId xmlns:a16="http://schemas.microsoft.com/office/drawing/2014/main" id="{9F7A7686-7C60-43F7-9CC5-229B5F228F98}"/>
              </a:ext>
            </a:extLst>
          </p:cNvPr>
          <p:cNvSpPr>
            <a:spLocks noGrp="1"/>
          </p:cNvSpPr>
          <p:nvPr/>
        </p:nvSpPr>
        <p:spPr>
          <a:xfrm>
            <a:off x="1619250" y="2543175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1" name="PH_body_23">
            <a:extLst>
              <a:ext uri="{FF2B5EF4-FFF2-40B4-BE49-F238E27FC236}">
                <a16:creationId xmlns:a16="http://schemas.microsoft.com/office/drawing/2014/main" id="{F3403483-19F6-4848-AB3D-AB1248A33A3D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19125" y="277177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4">
            <a:extLst>
              <a:ext uri="{FF2B5EF4-FFF2-40B4-BE49-F238E27FC236}">
                <a16:creationId xmlns:a16="http://schemas.microsoft.com/office/drawing/2014/main" id="{A930AC73-AD67-4012-81B4-CFA46E52E8F2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1619250" y="277177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手法と条件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5">
            <a:extLst>
              <a:ext uri="{FF2B5EF4-FFF2-40B4-BE49-F238E27FC236}">
                <a16:creationId xmlns:a16="http://schemas.microsoft.com/office/drawing/2014/main" id="{9AFC7BD7-5DE1-49D7-AB12-324BA6DBBCE1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524500" y="277177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［どのように検証するか］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rule_26">
            <a:extLst>
              <a:ext uri="{FF2B5EF4-FFF2-40B4-BE49-F238E27FC236}">
                <a16:creationId xmlns:a16="http://schemas.microsoft.com/office/drawing/2014/main" id="{FDC9CADB-1FE3-4EBC-B64C-F493A6D759A0}"/>
              </a:ext>
            </a:extLst>
          </p:cNvPr>
          <p:cNvSpPr>
            <a:spLocks noGrp="1"/>
          </p:cNvSpPr>
          <p:nvPr/>
        </p:nvSpPr>
        <p:spPr>
          <a:xfrm>
            <a:off x="1619250" y="3524250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5" name="PH_body_27">
            <a:extLst>
              <a:ext uri="{FF2B5EF4-FFF2-40B4-BE49-F238E27FC236}">
                <a16:creationId xmlns:a16="http://schemas.microsoft.com/office/drawing/2014/main" id="{359C4BDE-6312-44FD-A1F8-D7CC5D914927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19125" y="375285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28">
            <a:extLst>
              <a:ext uri="{FF2B5EF4-FFF2-40B4-BE49-F238E27FC236}">
                <a16:creationId xmlns:a16="http://schemas.microsoft.com/office/drawing/2014/main" id="{88A3DAA8-E108-4EA2-AAB6-4F9485B393B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619250" y="375285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結果と考察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29">
            <a:extLst>
              <a:ext uri="{FF2B5EF4-FFF2-40B4-BE49-F238E27FC236}">
                <a16:creationId xmlns:a16="http://schemas.microsoft.com/office/drawing/2014/main" id="{DDA282F9-C66E-46A9-A385-EA247CEC401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524500" y="375285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［何がわかり、どこまで言えるか］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rule_30">
            <a:extLst>
              <a:ext uri="{FF2B5EF4-FFF2-40B4-BE49-F238E27FC236}">
                <a16:creationId xmlns:a16="http://schemas.microsoft.com/office/drawing/2014/main" id="{17223891-D9F4-4A1D-946B-BB2E6001DFE1}"/>
              </a:ext>
            </a:extLst>
          </p:cNvPr>
          <p:cNvSpPr>
            <a:spLocks noGrp="1"/>
          </p:cNvSpPr>
          <p:nvPr/>
        </p:nvSpPr>
        <p:spPr>
          <a:xfrm>
            <a:off x="1619250" y="4505325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9" name="PH_body_31">
            <a:extLst>
              <a:ext uri="{FF2B5EF4-FFF2-40B4-BE49-F238E27FC236}">
                <a16:creationId xmlns:a16="http://schemas.microsoft.com/office/drawing/2014/main" id="{ECCB45BD-E096-4E35-A08C-EC1BE3391F6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9125" y="473392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32">
            <a:extLst>
              <a:ext uri="{FF2B5EF4-FFF2-40B4-BE49-F238E27FC236}">
                <a16:creationId xmlns:a16="http://schemas.microsoft.com/office/drawing/2014/main" id="{9E015EE4-1075-47FF-A875-780122FA0E8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619250" y="473392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まとめ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33">
            <a:extLst>
              <a:ext uri="{FF2B5EF4-FFF2-40B4-BE49-F238E27FC236}">
                <a16:creationId xmlns:a16="http://schemas.microsoft.com/office/drawing/2014/main" id="{84D02C4D-DEB3-4F47-875D-82DC311369E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524500" y="473392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［結論と残された課題］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章扉" preserve="1">
  <p:cSld name="04 章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ATIC_rule_34">
            <a:extLst>
              <a:ext uri="{FF2B5EF4-FFF2-40B4-BE49-F238E27FC236}">
                <a16:creationId xmlns:a16="http://schemas.microsoft.com/office/drawing/2014/main" id="{BC6795F1-BA4A-4955-8417-F3F5E5137E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body_35">
            <a:extLst>
              <a:ext uri="{FF2B5EF4-FFF2-40B4-BE49-F238E27FC236}">
                <a16:creationId xmlns:a16="http://schemas.microsoft.com/office/drawing/2014/main" id="{E095F2D9-4CD9-4935-88C5-099FCD0E3A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9125" y="2009775"/>
            <a:ext cx="219075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8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6">
            <a:extLst>
              <a:ext uri="{FF2B5EF4-FFF2-40B4-BE49-F238E27FC236}">
                <a16:creationId xmlns:a16="http://schemas.microsoft.com/office/drawing/2014/main" id="{5CCAF294-F4DE-4AB2-94A1-087B494F1A40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3057525" y="2352675"/>
            <a:ext cx="824865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［章の名称］</a:t>
            </a:r>
            <a:endParaRPr lang="ja-JP" altLang="en-US" sz="3675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body_37">
            <a:extLst>
              <a:ext uri="{FF2B5EF4-FFF2-40B4-BE49-F238E27FC236}">
                <a16:creationId xmlns:a16="http://schemas.microsoft.com/office/drawing/2014/main" id="{5EEACC6B-BE5A-4503-97C9-A38323A2144C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3105150" y="3486150"/>
            <a:ext cx="8001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［この章で伝えることを1文で］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背景と課題" preserve="1">
  <p:cSld name="05 背景と課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38">
            <a:extLst>
              <a:ext uri="{FF2B5EF4-FFF2-40B4-BE49-F238E27FC236}">
                <a16:creationId xmlns:a16="http://schemas.microsoft.com/office/drawing/2014/main" id="{F8196F0B-1D2E-4A32-ACF0-B41229C024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39">
            <a:extLst>
              <a:ext uri="{FF2B5EF4-FFF2-40B4-BE49-F238E27FC236}">
                <a16:creationId xmlns:a16="http://schemas.microsoft.com/office/drawing/2014/main" id="{9FF45C0D-7424-4495-8695-B4B4F78D37E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研究の背景と課題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40">
            <a:extLst>
              <a:ext uri="{FF2B5EF4-FFF2-40B4-BE49-F238E27FC236}">
                <a16:creationId xmlns:a16="http://schemas.microsoft.com/office/drawing/2014/main" id="{94121608-A7F0-4F71-AE52-27D6A08E644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41">
            <a:extLst>
              <a:ext uri="{FF2B5EF4-FFF2-40B4-BE49-F238E27FC236}">
                <a16:creationId xmlns:a16="http://schemas.microsoft.com/office/drawing/2014/main" id="{FA4B55E2-2623-4E85-9FC8-AB3457523208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42">
            <a:extLst>
              <a:ext uri="{FF2B5EF4-FFF2-40B4-BE49-F238E27FC236}">
                <a16:creationId xmlns:a16="http://schemas.microsoft.com/office/drawing/2014/main" id="{4FA49625-6BB2-4EA9-9BE1-BD22D8E246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43">
            <a:extLst>
              <a:ext uri="{FF2B5EF4-FFF2-40B4-BE49-F238E27FC236}">
                <a16:creationId xmlns:a16="http://schemas.microsoft.com/office/drawing/2014/main" id="{9804D8E3-E740-4215-ACA4-670FAFE8E3D8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F268B1F-ABF2-494C-B6F1-9BD89E85C95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44">
            <a:extLst>
              <a:ext uri="{FF2B5EF4-FFF2-40B4-BE49-F238E27FC236}">
                <a16:creationId xmlns:a16="http://schemas.microsoft.com/office/drawing/2014/main" id="{720A50DA-649D-477F-A234-B0376604366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42386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45">
            <a:extLst>
              <a:ext uri="{FF2B5EF4-FFF2-40B4-BE49-F238E27FC236}">
                <a16:creationId xmlns:a16="http://schemas.microsoft.com/office/drawing/2014/main" id="{DB3A18F4-E705-4AB0-9958-8FAB3467FF8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4248150" cy="1171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［対象分野の現状］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［重要性を示す事実］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46">
            <a:extLst>
              <a:ext uri="{FF2B5EF4-FFF2-40B4-BE49-F238E27FC236}">
                <a16:creationId xmlns:a16="http://schemas.microsoft.com/office/drawing/2014/main" id="{A9D557C7-E616-4AF9-BDE5-46ED6537DDF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838575"/>
            <a:ext cx="42481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未解決の課題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47">
            <a:extLst>
              <a:ext uri="{FF2B5EF4-FFF2-40B4-BE49-F238E27FC236}">
                <a16:creationId xmlns:a16="http://schemas.microsoft.com/office/drawing/2014/main" id="{F8F94CF4-095B-4B51-AAED-CFE5843686E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305300"/>
            <a:ext cx="42481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［現在の方法では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難しいこと］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48">
            <a:extLst>
              <a:ext uri="{FF2B5EF4-FFF2-40B4-BE49-F238E27FC236}">
                <a16:creationId xmlns:a16="http://schemas.microsoft.com/office/drawing/2014/main" id="{CACEFC15-4513-49D3-A66F-7ECCFEF791D1}"/>
              </a:ext>
            </a:extLst>
          </p:cNvPr>
          <p:cNvSpPr>
            <a:spLocks noGrp="1"/>
          </p:cNvSpPr>
          <p:nvPr>
            <p:ph idx="7" hasCustomPrompt="1"/>
          </p:nvPr>
        </p:nvSpPr>
        <p:spPr>
          <a:xfrm>
            <a:off x="5219700" y="1809750"/>
            <a:ext cx="6400800" cy="34194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［背景を示す図・写真・統計］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source_49">
            <a:extLst>
              <a:ext uri="{FF2B5EF4-FFF2-40B4-BE49-F238E27FC236}">
                <a16:creationId xmlns:a16="http://schemas.microsoft.com/office/drawing/2014/main" id="{32FC929E-98F2-4AEF-B27E-D4F58023C0E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238750" y="5286375"/>
            <a:ext cx="63722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出典：［著者・資料名・年］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 研究目的と問い" preserve="1">
  <p:cSld name="06 研究目的と問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50">
            <a:extLst>
              <a:ext uri="{FF2B5EF4-FFF2-40B4-BE49-F238E27FC236}">
                <a16:creationId xmlns:a16="http://schemas.microsoft.com/office/drawing/2014/main" id="{7B3A6735-70F8-4D07-9688-CE669599BC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51">
            <a:extLst>
              <a:ext uri="{FF2B5EF4-FFF2-40B4-BE49-F238E27FC236}">
                <a16:creationId xmlns:a16="http://schemas.microsoft.com/office/drawing/2014/main" id="{64A05A5B-ABC1-457A-B01A-C265855BCB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研究目的と研究の問い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52">
            <a:extLst>
              <a:ext uri="{FF2B5EF4-FFF2-40B4-BE49-F238E27FC236}">
                <a16:creationId xmlns:a16="http://schemas.microsoft.com/office/drawing/2014/main" id="{CC85461D-5318-4D48-80CD-F8D23C806F3E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53">
            <a:extLst>
              <a:ext uri="{FF2B5EF4-FFF2-40B4-BE49-F238E27FC236}">
                <a16:creationId xmlns:a16="http://schemas.microsoft.com/office/drawing/2014/main" id="{4FEF5F2D-49AD-4420-A9FE-2454BC014DC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54">
            <a:extLst>
              <a:ext uri="{FF2B5EF4-FFF2-40B4-BE49-F238E27FC236}">
                <a16:creationId xmlns:a16="http://schemas.microsoft.com/office/drawing/2014/main" id="{49A3E8FC-C805-4575-8BEC-E8B576DBBE3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55">
            <a:extLst>
              <a:ext uri="{FF2B5EF4-FFF2-40B4-BE49-F238E27FC236}">
                <a16:creationId xmlns:a16="http://schemas.microsoft.com/office/drawing/2014/main" id="{2C3D4666-3CBA-470F-96AE-D64D632F390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A47D0B2-3402-4EFB-A7C5-5E1AFDEF55B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56">
            <a:extLst>
              <a:ext uri="{FF2B5EF4-FFF2-40B4-BE49-F238E27FC236}">
                <a16:creationId xmlns:a16="http://schemas.microsoft.com/office/drawing/2014/main" id="{FF408E39-254F-49EC-8B2B-5EAC10067BC4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526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57">
            <a:extLst>
              <a:ext uri="{FF2B5EF4-FFF2-40B4-BE49-F238E27FC236}">
                <a16:creationId xmlns:a16="http://schemas.microsoft.com/office/drawing/2014/main" id="{771A73F6-AAE3-4C6C-8F13-B010149B3F8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1104900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［何を明らかにする研究かを1文で］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58">
            <a:extLst>
              <a:ext uri="{FF2B5EF4-FFF2-40B4-BE49-F238E27FC236}">
                <a16:creationId xmlns:a16="http://schemas.microsoft.com/office/drawing/2014/main" id="{F8E0FE25-CE78-477C-9EBB-9E3AA0544FBE}"/>
              </a:ext>
            </a:extLst>
          </p:cNvPr>
          <p:cNvSpPr>
            <a:spLocks noGrp="1"/>
          </p:cNvSpPr>
          <p:nvPr/>
        </p:nvSpPr>
        <p:spPr>
          <a:xfrm>
            <a:off x="571500" y="330517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59">
            <a:extLst>
              <a:ext uri="{FF2B5EF4-FFF2-40B4-BE49-F238E27FC236}">
                <a16:creationId xmlns:a16="http://schemas.microsoft.com/office/drawing/2014/main" id="{1089C763-D27D-4D22-9C3D-55B4B86E2E2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57600"/>
            <a:ext cx="50387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対象・比較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60">
            <a:extLst>
              <a:ext uri="{FF2B5EF4-FFF2-40B4-BE49-F238E27FC236}">
                <a16:creationId xmlns:a16="http://schemas.microsoft.com/office/drawing/2014/main" id="{6F696AAB-062A-4ED2-9DB8-1BF5BA30A2A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62425"/>
            <a:ext cx="510540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［対象とする範囲］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［比較対象・基準］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61">
            <a:extLst>
              <a:ext uri="{FF2B5EF4-FFF2-40B4-BE49-F238E27FC236}">
                <a16:creationId xmlns:a16="http://schemas.microsoft.com/office/drawing/2014/main" id="{894E36BA-1B09-4FA1-B670-B9D030630475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496050" y="3657600"/>
            <a:ext cx="5124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評価すること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62">
            <a:extLst>
              <a:ext uri="{FF2B5EF4-FFF2-40B4-BE49-F238E27FC236}">
                <a16:creationId xmlns:a16="http://schemas.microsoft.com/office/drawing/2014/main" id="{62A4610F-ABE0-4FFA-9A30-72BB65ECF930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4162425"/>
            <a:ext cx="512445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［主要な指標・単位］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［判定するための条件］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 先行研究の比較" preserve="1">
  <p:cSld name="07 先行研究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63">
            <a:extLst>
              <a:ext uri="{FF2B5EF4-FFF2-40B4-BE49-F238E27FC236}">
                <a16:creationId xmlns:a16="http://schemas.microsoft.com/office/drawing/2014/main" id="{DCE84DC4-DC22-4475-B817-F3459146D0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64">
            <a:extLst>
              <a:ext uri="{FF2B5EF4-FFF2-40B4-BE49-F238E27FC236}">
                <a16:creationId xmlns:a16="http://schemas.microsoft.com/office/drawing/2014/main" id="{468FA9BD-3EA3-4E97-8C1C-655A968C330E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先行研究と本研究の位置づけ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65">
            <a:extLst>
              <a:ext uri="{FF2B5EF4-FFF2-40B4-BE49-F238E27FC236}">
                <a16:creationId xmlns:a16="http://schemas.microsoft.com/office/drawing/2014/main" id="{85F4D892-3115-4285-81B6-64F8D12E3C0F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66">
            <a:extLst>
              <a:ext uri="{FF2B5EF4-FFF2-40B4-BE49-F238E27FC236}">
                <a16:creationId xmlns:a16="http://schemas.microsoft.com/office/drawing/2014/main" id="{91FAF0DD-B409-4792-A296-980E700DFBDE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［比較軸を3つまで選び、残る課題を示す］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67">
            <a:extLst>
              <a:ext uri="{FF2B5EF4-FFF2-40B4-BE49-F238E27FC236}">
                <a16:creationId xmlns:a16="http://schemas.microsoft.com/office/drawing/2014/main" id="{78D777FE-3722-477B-9909-FCE0A9D7923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68">
            <a:extLst>
              <a:ext uri="{FF2B5EF4-FFF2-40B4-BE49-F238E27FC236}">
                <a16:creationId xmlns:a16="http://schemas.microsoft.com/office/drawing/2014/main" id="{02E71EC9-DCA9-4041-9DA2-C83EDE9816D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69">
            <a:extLst>
              <a:ext uri="{FF2B5EF4-FFF2-40B4-BE49-F238E27FC236}">
                <a16:creationId xmlns:a16="http://schemas.microsoft.com/office/drawing/2014/main" id="{D8C97FE3-802E-4E0A-98C1-2762DC2EA72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7C8AC51-C97F-4839-8FBD-2DAB5B22186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tbl_84"/>
          <p:cNvSpPr>
            <a:spLocks noGrp="1"/>
          </p:cNvSpPr>
          <p:nvPr>
            <p:ph type="tbl" idx="84" hasCustomPrompt="1"/>
          </p:nvPr>
        </p:nvSpPr>
        <p:spPr>
          <a:xfrm>
            <a:off x="571500" y="1933575"/>
            <a:ext cx="11049000" cy="33147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70">
            <a:extLst>
              <a:ext uri="{FF2B5EF4-FFF2-40B4-BE49-F238E27FC236}">
                <a16:creationId xmlns:a16="http://schemas.microsoft.com/office/drawing/2014/main" id="{A4FF3374-C000-44A3-8A08-FD7F9E8E048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71">
            <a:extLst>
              <a:ext uri="{FF2B5EF4-FFF2-40B4-BE49-F238E27FC236}">
                <a16:creationId xmlns:a16="http://schemas.microsoft.com/office/drawing/2014/main" id="{EA8BB820-47EF-466A-B74A-1DC3E2113E4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［先行研究に対して、本研究が扱う未解決点］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 本研究の着眼点" preserve="1">
  <p:cSld name="08 本研究の着眼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72">
            <a:extLst>
              <a:ext uri="{FF2B5EF4-FFF2-40B4-BE49-F238E27FC236}">
                <a16:creationId xmlns:a16="http://schemas.microsoft.com/office/drawing/2014/main" id="{89B45F4A-B589-4474-AAC5-DAEA9432DF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73">
            <a:extLst>
              <a:ext uri="{FF2B5EF4-FFF2-40B4-BE49-F238E27FC236}">
                <a16:creationId xmlns:a16="http://schemas.microsoft.com/office/drawing/2014/main" id="{8EA1BB3F-A8B4-4BF4-AEDC-7EC003B8E59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本研究の着眼点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74">
            <a:extLst>
              <a:ext uri="{FF2B5EF4-FFF2-40B4-BE49-F238E27FC236}">
                <a16:creationId xmlns:a16="http://schemas.microsoft.com/office/drawing/2014/main" id="{41A934FC-9BF5-4CC7-89F0-D52D795AAF76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75">
            <a:extLst>
              <a:ext uri="{FF2B5EF4-FFF2-40B4-BE49-F238E27FC236}">
                <a16:creationId xmlns:a16="http://schemas.microsoft.com/office/drawing/2014/main" id="{6649FEF9-BB39-4C0D-B4E5-CDDDBF56F11E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76">
            <a:extLst>
              <a:ext uri="{FF2B5EF4-FFF2-40B4-BE49-F238E27FC236}">
                <a16:creationId xmlns:a16="http://schemas.microsoft.com/office/drawing/2014/main" id="{27CA8639-FFF6-463D-96FC-1252AE4413C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77">
            <a:extLst>
              <a:ext uri="{FF2B5EF4-FFF2-40B4-BE49-F238E27FC236}">
                <a16:creationId xmlns:a16="http://schemas.microsoft.com/office/drawing/2014/main" id="{F06E83DB-3167-4F29-B6D4-2263E6CDB1E9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CB16DD3-F1DA-4B2E-8EFB-BFDCA7AC5D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78">
            <a:extLst>
              <a:ext uri="{FF2B5EF4-FFF2-40B4-BE49-F238E27FC236}">
                <a16:creationId xmlns:a16="http://schemas.microsoft.com/office/drawing/2014/main" id="{E0BB3E44-1C5B-448F-9CA0-DA303DC0CF9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716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従来の方法・課題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79">
            <a:extLst>
              <a:ext uri="{FF2B5EF4-FFF2-40B4-BE49-F238E27FC236}">
                <a16:creationId xmlns:a16="http://schemas.microsoft.com/office/drawing/2014/main" id="{77C2F9B1-9367-4048-8CA3-D86542D31C07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543675" y="17716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本研究で検証すること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80">
            <a:extLst>
              <a:ext uri="{FF2B5EF4-FFF2-40B4-BE49-F238E27FC236}">
                <a16:creationId xmlns:a16="http://schemas.microsoft.com/office/drawing/2014/main" id="{F5050F85-696D-43EA-A161-6CD1DC0D3A28}"/>
              </a:ext>
            </a:extLst>
          </p:cNvPr>
          <p:cNvSpPr>
            <a:spLocks noGrp="1"/>
          </p:cNvSpPr>
          <p:nvPr/>
        </p:nvSpPr>
        <p:spPr>
          <a:xfrm>
            <a:off x="6048375" y="1771650"/>
            <a:ext cx="19050" cy="335280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PH_body_81">
            <a:extLst>
              <a:ext uri="{FF2B5EF4-FFF2-40B4-BE49-F238E27FC236}">
                <a16:creationId xmlns:a16="http://schemas.microsoft.com/office/drawing/2014/main" id="{2B04FDB2-B68B-4064-AD3D-14A5CEFADD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476500"/>
            <a:ext cx="5067300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82">
            <a:extLst>
              <a:ext uri="{FF2B5EF4-FFF2-40B4-BE49-F238E27FC236}">
                <a16:creationId xmlns:a16="http://schemas.microsoft.com/office/drawing/2014/main" id="{BD593F6D-C0F0-404E-A499-F312D654459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476500"/>
            <a:ext cx="5076825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83">
            <a:extLst>
              <a:ext uri="{FF2B5EF4-FFF2-40B4-BE49-F238E27FC236}">
                <a16:creationId xmlns:a16="http://schemas.microsoft.com/office/drawing/2014/main" id="{C059BAD3-7522-4638-BD8F-41EC2778AA03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84">
            <a:extLst>
              <a:ext uri="{FF2B5EF4-FFF2-40B4-BE49-F238E27FC236}">
                <a16:creationId xmlns:a16="http://schemas.microsoft.com/office/drawing/2014/main" id="{9C0D1B88-F3CA-4CB8-B723-7BDC13FAF3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［研究の貢献を、確認できる範囲で1文に］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 対象システム" preserve="1">
  <p:cSld name="09 対象システ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85">
            <a:extLst>
              <a:ext uri="{FF2B5EF4-FFF2-40B4-BE49-F238E27FC236}">
                <a16:creationId xmlns:a16="http://schemas.microsoft.com/office/drawing/2014/main" id="{5C1C2315-45DB-4F74-9719-17A2258543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86">
            <a:extLst>
              <a:ext uri="{FF2B5EF4-FFF2-40B4-BE49-F238E27FC236}">
                <a16:creationId xmlns:a16="http://schemas.microsoft.com/office/drawing/2014/main" id="{F930A9EA-FEA8-4CAE-92BB-24BD2C6C245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対象システムと入出力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87">
            <a:extLst>
              <a:ext uri="{FF2B5EF4-FFF2-40B4-BE49-F238E27FC236}">
                <a16:creationId xmlns:a16="http://schemas.microsoft.com/office/drawing/2014/main" id="{13EF2258-14E0-49A6-B5F6-3003B9CD7E15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88">
            <a:extLst>
              <a:ext uri="{FF2B5EF4-FFF2-40B4-BE49-F238E27FC236}">
                <a16:creationId xmlns:a16="http://schemas.microsoft.com/office/drawing/2014/main" id="{9BC4B46F-EF01-419A-86AD-94CE1350AAB4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89">
            <a:extLst>
              <a:ext uri="{FF2B5EF4-FFF2-40B4-BE49-F238E27FC236}">
                <a16:creationId xmlns:a16="http://schemas.microsoft.com/office/drawing/2014/main" id="{0F6C37D7-9B9F-4DDE-907F-55F81DFE1A1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90">
            <a:extLst>
              <a:ext uri="{FF2B5EF4-FFF2-40B4-BE49-F238E27FC236}">
                <a16:creationId xmlns:a16="http://schemas.microsoft.com/office/drawing/2014/main" id="{67F79251-E37D-4989-A8AE-72B87566B31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04F1B49-3B01-4A5E-8FA1-14A19260BFB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91">
            <a:extLst>
              <a:ext uri="{FF2B5EF4-FFF2-40B4-BE49-F238E27FC236}">
                <a16:creationId xmlns:a16="http://schemas.microsoft.com/office/drawing/2014/main" id="{EAD8E5B2-59BE-4C59-AE49-5DE9442083A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2371725"/>
            <a:ext cx="290512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［入力データ］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arrow_92">
            <a:extLst>
              <a:ext uri="{FF2B5EF4-FFF2-40B4-BE49-F238E27FC236}">
                <a16:creationId xmlns:a16="http://schemas.microsoft.com/office/drawing/2014/main" id="{58C8C0D7-71AB-466B-8C6D-343BF36C68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359092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93">
            <a:extLst>
              <a:ext uri="{FF2B5EF4-FFF2-40B4-BE49-F238E27FC236}">
                <a16:creationId xmlns:a16="http://schemas.microsoft.com/office/drawing/2014/main" id="{AB36D823-CFC9-4001-A64A-D73B98CA53CE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4362450" y="2371725"/>
            <a:ext cx="3486150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［対象システム・モデル］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94">
            <a:extLst>
              <a:ext uri="{FF2B5EF4-FFF2-40B4-BE49-F238E27FC236}">
                <a16:creationId xmlns:a16="http://schemas.microsoft.com/office/drawing/2014/main" id="{E4CED4CE-84B6-467D-B0F1-A8DDE7530F75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02957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95">
            <a:extLst>
              <a:ext uri="{FF2B5EF4-FFF2-40B4-BE49-F238E27FC236}">
                <a16:creationId xmlns:a16="http://schemas.microsoft.com/office/drawing/2014/main" id="{B381801D-DAAE-4F41-8CF8-91E199A80D71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8810625" y="2371725"/>
            <a:ext cx="280987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［出力・評価］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96">
            <a:extLst>
              <a:ext uri="{FF2B5EF4-FFF2-40B4-BE49-F238E27FC236}">
                <a16:creationId xmlns:a16="http://schemas.microsoft.com/office/drawing/2014/main" id="{1224B3D6-79FE-4D78-926A-51B085F435B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352925"/>
            <a:ext cx="290512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［入力の種類・期間］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97">
            <a:extLst>
              <a:ext uri="{FF2B5EF4-FFF2-40B4-BE49-F238E27FC236}">
                <a16:creationId xmlns:a16="http://schemas.microsoft.com/office/drawing/2014/main" id="{A7D02868-9A61-4B8D-9AA1-FB21DB97D9FC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4362450" y="4352925"/>
            <a:ext cx="34861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［対象範囲・境界］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8">
            <a:extLst>
              <a:ext uri="{FF2B5EF4-FFF2-40B4-BE49-F238E27FC236}">
                <a16:creationId xmlns:a16="http://schemas.microsoft.com/office/drawing/2014/main" id="{B8B7A290-FA01-4E02-A8FF-0C392903A92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810625" y="4352925"/>
            <a:ext cx="280987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［求める量・指標］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99">
            <a:extLst>
              <a:ext uri="{FF2B5EF4-FFF2-40B4-BE49-F238E27FC236}">
                <a16:creationId xmlns:a16="http://schemas.microsoft.com/office/drawing/2014/main" id="{2CD57E1A-3F77-4F14-AF79-54A581B76F01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100">
            <a:extLst>
              <a:ext uri="{FF2B5EF4-FFF2-40B4-BE49-F238E27FC236}">
                <a16:creationId xmlns:a16="http://schemas.microsoft.com/office/drawing/2014/main" id="{E7CEFA93-C80C-4F62-9BC1-19D8C94E1E7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［この研究で扱う範囲と、扱わない範囲］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 手法と手順" preserve="1">
  <p:cSld name="10 手法と手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TATIC_rule_101">
            <a:extLst>
              <a:ext uri="{FF2B5EF4-FFF2-40B4-BE49-F238E27FC236}">
                <a16:creationId xmlns:a16="http://schemas.microsoft.com/office/drawing/2014/main" id="{27E43745-3BB1-4022-B5B1-CAE9CA8FF8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02">
            <a:extLst>
              <a:ext uri="{FF2B5EF4-FFF2-40B4-BE49-F238E27FC236}">
                <a16:creationId xmlns:a16="http://schemas.microsoft.com/office/drawing/2014/main" id="{07BF7BB9-3116-4717-90CF-7B2D61E9075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提案手法・実験の手順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03">
            <a:extLst>
              <a:ext uri="{FF2B5EF4-FFF2-40B4-BE49-F238E27FC236}">
                <a16:creationId xmlns:a16="http://schemas.microsoft.com/office/drawing/2014/main" id="{C11CCF57-358B-4091-868D-FCD5FD15404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04">
            <a:extLst>
              <a:ext uri="{FF2B5EF4-FFF2-40B4-BE49-F238E27FC236}">
                <a16:creationId xmlns:a16="http://schemas.microsoft.com/office/drawing/2014/main" id="{16DB3B68-D605-4081-8EF9-31515436424B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05">
            <a:extLst>
              <a:ext uri="{FF2B5EF4-FFF2-40B4-BE49-F238E27FC236}">
                <a16:creationId xmlns:a16="http://schemas.microsoft.com/office/drawing/2014/main" id="{4C4C7F66-35D0-48F0-B118-85459E6EA85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06">
            <a:extLst>
              <a:ext uri="{FF2B5EF4-FFF2-40B4-BE49-F238E27FC236}">
                <a16:creationId xmlns:a16="http://schemas.microsoft.com/office/drawing/2014/main" id="{EB706618-45A4-47D5-B068-72D2D79614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F9923D1-896A-46AE-8598-CEAFE62C056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07">
            <a:extLst>
              <a:ext uri="{FF2B5EF4-FFF2-40B4-BE49-F238E27FC236}">
                <a16:creationId xmlns:a16="http://schemas.microsoft.com/office/drawing/2014/main" id="{55BC22C1-6862-42AA-BB51-EA0E5F4FCC22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08">
            <a:extLst>
              <a:ext uri="{FF2B5EF4-FFF2-40B4-BE49-F238E27FC236}">
                <a16:creationId xmlns:a16="http://schemas.microsoft.com/office/drawing/2014/main" id="{5FD60E6B-0465-4D7B-B395-1F575F2774E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［入力準備］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09">
            <a:extLst>
              <a:ext uri="{FF2B5EF4-FFF2-40B4-BE49-F238E27FC236}">
                <a16:creationId xmlns:a16="http://schemas.microsoft.com/office/drawing/2014/main" id="{E468FF98-0AF3-4AB9-8D67-394B418EDF1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110">
            <a:extLst>
              <a:ext uri="{FF2B5EF4-FFF2-40B4-BE49-F238E27FC236}">
                <a16:creationId xmlns:a16="http://schemas.microsoft.com/office/drawing/2014/main" id="{4BB7E2D4-FC88-4491-ABC3-0E3743C42F1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298132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111">
            <a:extLst>
              <a:ext uri="{FF2B5EF4-FFF2-40B4-BE49-F238E27FC236}">
                <a16:creationId xmlns:a16="http://schemas.microsoft.com/office/drawing/2014/main" id="{9B5BDD61-E196-488F-963B-2FB154A53E3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343852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112">
            <a:extLst>
              <a:ext uri="{FF2B5EF4-FFF2-40B4-BE49-F238E27FC236}">
                <a16:creationId xmlns:a16="http://schemas.microsoft.com/office/drawing/2014/main" id="{C740DE55-D780-4984-A754-EFBE74BE5D9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343852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［モデル化］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113">
            <a:extLst>
              <a:ext uri="{FF2B5EF4-FFF2-40B4-BE49-F238E27FC236}">
                <a16:creationId xmlns:a16="http://schemas.microsoft.com/office/drawing/2014/main" id="{F2E0900F-307A-4673-BBAA-FE9026266D3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343852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arrow_114">
            <a:extLst>
              <a:ext uri="{FF2B5EF4-FFF2-40B4-BE49-F238E27FC236}">
                <a16:creationId xmlns:a16="http://schemas.microsoft.com/office/drawing/2014/main" id="{63684BE0-E7F3-4DA8-9EFC-EDC75F4B947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848350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115">
            <a:extLst>
              <a:ext uri="{FF2B5EF4-FFF2-40B4-BE49-F238E27FC236}">
                <a16:creationId xmlns:a16="http://schemas.microsoft.com/office/drawing/2014/main" id="{BA2AA20D-19F8-44B7-B5A5-BE7D54DBCCE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30555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116">
            <a:extLst>
              <a:ext uri="{FF2B5EF4-FFF2-40B4-BE49-F238E27FC236}">
                <a16:creationId xmlns:a16="http://schemas.microsoft.com/office/drawing/2014/main" id="{DAD236CC-039C-466C-B5AA-BBE1458ED42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0555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［計算・実験］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117">
            <a:extLst>
              <a:ext uri="{FF2B5EF4-FFF2-40B4-BE49-F238E27FC236}">
                <a16:creationId xmlns:a16="http://schemas.microsoft.com/office/drawing/2014/main" id="{96629B5F-8BF2-492E-ABFE-A56004B2BB0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0555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arrow_118">
            <a:extLst>
              <a:ext uri="{FF2B5EF4-FFF2-40B4-BE49-F238E27FC236}">
                <a16:creationId xmlns:a16="http://schemas.microsoft.com/office/drawing/2014/main" id="{B0370B1D-6784-4801-BF81-318C1D36EE8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71537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9" name="PH_body_119">
            <a:extLst>
              <a:ext uri="{FF2B5EF4-FFF2-40B4-BE49-F238E27FC236}">
                <a16:creationId xmlns:a16="http://schemas.microsoft.com/office/drawing/2014/main" id="{B0FA148A-5083-45E0-AB30-0A2A393C91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7257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120">
            <a:extLst>
              <a:ext uri="{FF2B5EF4-FFF2-40B4-BE49-F238E27FC236}">
                <a16:creationId xmlns:a16="http://schemas.microsoft.com/office/drawing/2014/main" id="{0C27789E-4828-400A-85E9-54868FC0D32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917257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［評価・検証］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121">
            <a:extLst>
              <a:ext uri="{FF2B5EF4-FFF2-40B4-BE49-F238E27FC236}">
                <a16:creationId xmlns:a16="http://schemas.microsoft.com/office/drawing/2014/main" id="{2BE62D3C-38DA-4B68-BB9D-8EE6356A7CE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917257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2" name="STATIC_rule_122">
            <a:extLst>
              <a:ext uri="{FF2B5EF4-FFF2-40B4-BE49-F238E27FC236}">
                <a16:creationId xmlns:a16="http://schemas.microsoft.com/office/drawing/2014/main" id="{50640B4D-30D0-400E-9C97-53644867B28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3" name="PH_takeaway_123">
            <a:extLst>
              <a:ext uri="{FF2B5EF4-FFF2-40B4-BE49-F238E27FC236}">
                <a16:creationId xmlns:a16="http://schemas.microsoft.com/office/drawing/2014/main" id="{D3938228-1A34-4FE7-A101-55C7221D3CED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［提案手法で特に工夫した工程］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 数式と記号" preserve="1">
  <p:cSld name="11 数式と記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24">
            <a:extLst>
              <a:ext uri="{FF2B5EF4-FFF2-40B4-BE49-F238E27FC236}">
                <a16:creationId xmlns:a16="http://schemas.microsoft.com/office/drawing/2014/main" id="{1009A224-6E90-465F-A3E0-8700AF5A88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25">
            <a:extLst>
              <a:ext uri="{FF2B5EF4-FFF2-40B4-BE49-F238E27FC236}">
                <a16:creationId xmlns:a16="http://schemas.microsoft.com/office/drawing/2014/main" id="{1B1D3107-0094-4F3A-B7AA-3922F79B503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モデル・数式の定義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26">
            <a:extLst>
              <a:ext uri="{FF2B5EF4-FFF2-40B4-BE49-F238E27FC236}">
                <a16:creationId xmlns:a16="http://schemas.microsoft.com/office/drawing/2014/main" id="{4E840209-C2A6-49EF-84DB-D3659839566D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27">
            <a:extLst>
              <a:ext uri="{FF2B5EF4-FFF2-40B4-BE49-F238E27FC236}">
                <a16:creationId xmlns:a16="http://schemas.microsoft.com/office/drawing/2014/main" id="{2839E345-4B26-4A33-9339-37F2029CE4B0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28">
            <a:extLst>
              <a:ext uri="{FF2B5EF4-FFF2-40B4-BE49-F238E27FC236}">
                <a16:creationId xmlns:a16="http://schemas.microsoft.com/office/drawing/2014/main" id="{75107FAE-E027-4EEB-AC4B-3C2F034F701D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29">
            <a:extLst>
              <a:ext uri="{FF2B5EF4-FFF2-40B4-BE49-F238E27FC236}">
                <a16:creationId xmlns:a16="http://schemas.microsoft.com/office/drawing/2014/main" id="{EEFE40E0-8818-49C9-A686-74EC9777134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48A26B9-78DD-44B5-9F2D-C7405CA79AF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30">
            <a:extLst>
              <a:ext uri="{FF2B5EF4-FFF2-40B4-BE49-F238E27FC236}">
                <a16:creationId xmlns:a16="http://schemas.microsoft.com/office/drawing/2014/main" id="{C5281C47-057A-4FF3-82FA-B68590A901F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［目的関数・主要な関係式］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131">
            <a:extLst>
              <a:ext uri="{FF2B5EF4-FFF2-40B4-BE49-F238E27FC236}">
                <a16:creationId xmlns:a16="http://schemas.microsoft.com/office/drawing/2014/main" id="{CC4D84DC-60C4-4FFD-9D0E-74D3CD075B3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76475"/>
            <a:ext cx="6067425" cy="1962150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［ここに数式を入力］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32">
            <a:extLst>
              <a:ext uri="{FF2B5EF4-FFF2-40B4-BE49-F238E27FC236}">
                <a16:creationId xmlns:a16="http://schemas.microsoft.com/office/drawing/2014/main" id="{E03C703F-EF9E-4C4C-98A7-0CED5AF139F0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543425"/>
            <a:ext cx="60674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［式が表す意味・成立する条件］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6" name="PH_tbl_86"/>
          <p:cNvSpPr>
            <a:spLocks noGrp="1"/>
          </p:cNvSpPr>
          <p:nvPr>
            <p:ph type="tbl" idx="86" hasCustomPrompt="1"/>
          </p:nvPr>
        </p:nvSpPr>
        <p:spPr>
          <a:xfrm>
            <a:off x="7143750" y="1962150"/>
            <a:ext cx="4476750" cy="324802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 実験条件" preserve="1">
  <p:cSld name="12 実験条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33">
            <a:extLst>
              <a:ext uri="{FF2B5EF4-FFF2-40B4-BE49-F238E27FC236}">
                <a16:creationId xmlns:a16="http://schemas.microsoft.com/office/drawing/2014/main" id="{B43A585D-6F5A-4B03-83F9-0D540838BA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34">
            <a:extLst>
              <a:ext uri="{FF2B5EF4-FFF2-40B4-BE49-F238E27FC236}">
                <a16:creationId xmlns:a16="http://schemas.microsoft.com/office/drawing/2014/main" id="{7790C9BA-7C4C-44A0-ACE1-05DE95C14B2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実験条件と比較方法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35">
            <a:extLst>
              <a:ext uri="{FF2B5EF4-FFF2-40B4-BE49-F238E27FC236}">
                <a16:creationId xmlns:a16="http://schemas.microsoft.com/office/drawing/2014/main" id="{11F680F3-F5C0-48C4-9A86-BA4723B34AB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36">
            <a:extLst>
              <a:ext uri="{FF2B5EF4-FFF2-40B4-BE49-F238E27FC236}">
                <a16:creationId xmlns:a16="http://schemas.microsoft.com/office/drawing/2014/main" id="{1042DE4B-ABBA-40EA-8935-C2E476E5115C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［対象期間・データ・比較方法を明示］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37">
            <a:extLst>
              <a:ext uri="{FF2B5EF4-FFF2-40B4-BE49-F238E27FC236}">
                <a16:creationId xmlns:a16="http://schemas.microsoft.com/office/drawing/2014/main" id="{2D2D8254-1070-4188-BB04-7EC6D19D1CE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38">
            <a:extLst>
              <a:ext uri="{FF2B5EF4-FFF2-40B4-BE49-F238E27FC236}">
                <a16:creationId xmlns:a16="http://schemas.microsoft.com/office/drawing/2014/main" id="{3CF95C8A-7244-4F02-9427-A59EAF0E9B2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39">
            <a:extLst>
              <a:ext uri="{FF2B5EF4-FFF2-40B4-BE49-F238E27FC236}">
                <a16:creationId xmlns:a16="http://schemas.microsoft.com/office/drawing/2014/main" id="{EF4B299A-BB4C-49ED-80E3-85084EA2AE1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0AA31640-4FB4-4047-8C3E-2EBAB15C1BB5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tbl_84"/>
          <p:cNvSpPr>
            <a:spLocks noGrp="1"/>
          </p:cNvSpPr>
          <p:nvPr>
            <p:ph type="tbl" idx="84" hasCustomPrompt="1"/>
          </p:nvPr>
        </p:nvSpPr>
        <p:spPr>
          <a:xfrm>
            <a:off x="571500" y="1943100"/>
            <a:ext cx="11049000" cy="333375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140">
            <a:extLst>
              <a:ext uri="{FF2B5EF4-FFF2-40B4-BE49-F238E27FC236}">
                <a16:creationId xmlns:a16="http://schemas.microsoft.com/office/drawing/2014/main" id="{44077EEA-5FDE-47F7-A995-753BEA4B7F0A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141">
            <a:extLst>
              <a:ext uri="{FF2B5EF4-FFF2-40B4-BE49-F238E27FC236}">
                <a16:creationId xmlns:a16="http://schemas.microsoft.com/office/drawing/2014/main" id="{73DBA814-1938-4475-BDE3-96DEF36DA2C8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［比較で動かす要因は何か］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 評価指標" preserve="1">
  <p:cSld name="13 評価指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142">
            <a:extLst>
              <a:ext uri="{FF2B5EF4-FFF2-40B4-BE49-F238E27FC236}">
                <a16:creationId xmlns:a16="http://schemas.microsoft.com/office/drawing/2014/main" id="{A07E9790-35F8-4541-9245-16130E58D9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43">
            <a:extLst>
              <a:ext uri="{FF2B5EF4-FFF2-40B4-BE49-F238E27FC236}">
                <a16:creationId xmlns:a16="http://schemas.microsoft.com/office/drawing/2014/main" id="{AD770508-2538-4F7C-B9C1-552836201B59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評価指標と単位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44">
            <a:extLst>
              <a:ext uri="{FF2B5EF4-FFF2-40B4-BE49-F238E27FC236}">
                <a16:creationId xmlns:a16="http://schemas.microsoft.com/office/drawing/2014/main" id="{1388EDD3-9BDF-4B6F-9E1C-F1D7791D95E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45">
            <a:extLst>
              <a:ext uri="{FF2B5EF4-FFF2-40B4-BE49-F238E27FC236}">
                <a16:creationId xmlns:a16="http://schemas.microsoft.com/office/drawing/2014/main" id="{2B30D1A8-7244-4A92-8FBD-B6EFD2B6A59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46">
            <a:extLst>
              <a:ext uri="{FF2B5EF4-FFF2-40B4-BE49-F238E27FC236}">
                <a16:creationId xmlns:a16="http://schemas.microsoft.com/office/drawing/2014/main" id="{C39ECB7A-C75B-427F-A419-E5B5612D137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47">
            <a:extLst>
              <a:ext uri="{FF2B5EF4-FFF2-40B4-BE49-F238E27FC236}">
                <a16:creationId xmlns:a16="http://schemas.microsoft.com/office/drawing/2014/main" id="{29B099E3-1A1B-4F2B-B52A-6A12936CC37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06DFF19-2B2B-4849-AF7A-9D746F74967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895475"/>
            <a:ext cx="11049000" cy="34194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148">
            <a:extLst>
              <a:ext uri="{FF2B5EF4-FFF2-40B4-BE49-F238E27FC236}">
                <a16:creationId xmlns:a16="http://schemas.microsoft.com/office/drawing/2014/main" id="{FC80E642-22EC-4295-91E5-2545A82BBDE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149">
            <a:extLst>
              <a:ext uri="{FF2B5EF4-FFF2-40B4-BE49-F238E27FC236}">
                <a16:creationId xmlns:a16="http://schemas.microsoft.com/office/drawing/2014/main" id="{02DE6CFB-6985-4AC7-B249-D2CBC253E2E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［主にどの指標で、何を判断するか］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 図を大きく配置" preserve="1">
  <p:cSld name="14 図を大きく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50">
            <a:extLst>
              <a:ext uri="{FF2B5EF4-FFF2-40B4-BE49-F238E27FC236}">
                <a16:creationId xmlns:a16="http://schemas.microsoft.com/office/drawing/2014/main" id="{8E309090-A8D2-4917-9B75-8A5320AE51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51">
            <a:extLst>
              <a:ext uri="{FF2B5EF4-FFF2-40B4-BE49-F238E27FC236}">
                <a16:creationId xmlns:a16="http://schemas.microsoft.com/office/drawing/2014/main" id="{B0B581F5-5C06-4352-AF83-96439C74381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［図から伝えたいことを1文で］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52">
            <a:extLst>
              <a:ext uri="{FF2B5EF4-FFF2-40B4-BE49-F238E27FC236}">
                <a16:creationId xmlns:a16="http://schemas.microsoft.com/office/drawing/2014/main" id="{0F0F87C2-FF15-4DCD-B0DA-93239364D302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53">
            <a:extLst>
              <a:ext uri="{FF2B5EF4-FFF2-40B4-BE49-F238E27FC236}">
                <a16:creationId xmlns:a16="http://schemas.microsoft.com/office/drawing/2014/main" id="{7DB7AF97-946C-45DF-914B-AEB0AF7C4FB2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54">
            <a:extLst>
              <a:ext uri="{FF2B5EF4-FFF2-40B4-BE49-F238E27FC236}">
                <a16:creationId xmlns:a16="http://schemas.microsoft.com/office/drawing/2014/main" id="{538F630D-3F66-4371-B057-6F07B40CE00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55">
            <a:extLst>
              <a:ext uri="{FF2B5EF4-FFF2-40B4-BE49-F238E27FC236}">
                <a16:creationId xmlns:a16="http://schemas.microsoft.com/office/drawing/2014/main" id="{1F335F21-1298-49B2-9858-FEC66844EC2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D7BE9C0-99E0-4791-9B37-33E13F9803A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156">
            <a:extLst>
              <a:ext uri="{FF2B5EF4-FFF2-40B4-BE49-F238E27FC236}">
                <a16:creationId xmlns:a16="http://schemas.microsoft.com/office/drawing/2014/main" id="{94E57467-8060-482A-8092-E8771711937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619250"/>
            <a:ext cx="11049000" cy="36480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［図・グラフ・写真を配置］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157">
            <a:extLst>
              <a:ext uri="{FF2B5EF4-FFF2-40B4-BE49-F238E27FC236}">
                <a16:creationId xmlns:a16="http://schemas.microsoft.com/office/drawing/2014/main" id="{B57BC433-6EAB-4673-BBDD-00239C646F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334000"/>
            <a:ext cx="1101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条件：［対象・期間］　　出典：［資料・図番号］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158">
            <a:extLst>
              <a:ext uri="{FF2B5EF4-FFF2-40B4-BE49-F238E27FC236}">
                <a16:creationId xmlns:a16="http://schemas.microsoft.com/office/drawing/2014/main" id="{977C1908-E6B8-4B82-A108-FA97D3579DA5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159">
            <a:extLst>
              <a:ext uri="{FF2B5EF4-FFF2-40B4-BE49-F238E27FC236}">
                <a16:creationId xmlns:a16="http://schemas.microsoft.com/office/drawing/2014/main" id="{D6CA1207-8DE8-4FD3-B983-677812A260A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［この図からわかること］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 2つの図を比較" preserve="1">
  <p:cSld name="15 2つの図を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160">
            <a:extLst>
              <a:ext uri="{FF2B5EF4-FFF2-40B4-BE49-F238E27FC236}">
                <a16:creationId xmlns:a16="http://schemas.microsoft.com/office/drawing/2014/main" id="{B996B042-6029-4FA6-887D-0AD704C4E9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61">
            <a:extLst>
              <a:ext uri="{FF2B5EF4-FFF2-40B4-BE49-F238E27FC236}">
                <a16:creationId xmlns:a16="http://schemas.microsoft.com/office/drawing/2014/main" id="{6C944D14-8F59-41BA-9DCE-C6BBBC02F91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［比較してわかったことを1文で］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62">
            <a:extLst>
              <a:ext uri="{FF2B5EF4-FFF2-40B4-BE49-F238E27FC236}">
                <a16:creationId xmlns:a16="http://schemas.microsoft.com/office/drawing/2014/main" id="{74C915D0-A8FD-4E75-A2E2-31A8FCD44D2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63">
            <a:extLst>
              <a:ext uri="{FF2B5EF4-FFF2-40B4-BE49-F238E27FC236}">
                <a16:creationId xmlns:a16="http://schemas.microsoft.com/office/drawing/2014/main" id="{917103C4-2187-4DB2-A743-C7FF5076F50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64">
            <a:extLst>
              <a:ext uri="{FF2B5EF4-FFF2-40B4-BE49-F238E27FC236}">
                <a16:creationId xmlns:a16="http://schemas.microsoft.com/office/drawing/2014/main" id="{2488C842-C151-43CC-8F6F-C835922856E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65">
            <a:extLst>
              <a:ext uri="{FF2B5EF4-FFF2-40B4-BE49-F238E27FC236}">
                <a16:creationId xmlns:a16="http://schemas.microsoft.com/office/drawing/2014/main" id="{1495142B-800A-4BB9-94DD-A1DBEFC38D0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E87F731-0D5B-4EFF-A316-95E25522D1B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66">
            <a:extLst>
              <a:ext uri="{FF2B5EF4-FFF2-40B4-BE49-F238E27FC236}">
                <a16:creationId xmlns:a16="http://schemas.microsoft.com/office/drawing/2014/main" id="{91BDD338-CCB6-4045-BEF2-17B1ECFAF85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［条件A・対象期間］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67">
            <a:extLst>
              <a:ext uri="{FF2B5EF4-FFF2-40B4-BE49-F238E27FC236}">
                <a16:creationId xmlns:a16="http://schemas.microsoft.com/office/drawing/2014/main" id="{001BF490-B5AF-45A9-81D4-4844D79C844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334125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［条件B・対象期間］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168">
            <a:extLst>
              <a:ext uri="{FF2B5EF4-FFF2-40B4-BE49-F238E27FC236}">
                <a16:creationId xmlns:a16="http://schemas.microsoft.com/office/drawing/2014/main" id="{E42D523A-F926-43C5-821A-E869BFD2F5C3}"/>
              </a:ext>
            </a:extLst>
          </p:cNvPr>
          <p:cNvSpPr>
            <a:spLocks noGrp="1"/>
          </p:cNvSpPr>
          <p:nvPr>
            <p:ph idx="5" hasCustomPrompt="1"/>
          </p:nvPr>
        </p:nvSpPr>
        <p:spPr>
          <a:xfrm>
            <a:off x="571500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［図A］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figure_169">
            <a:extLst>
              <a:ext uri="{FF2B5EF4-FFF2-40B4-BE49-F238E27FC236}">
                <a16:creationId xmlns:a16="http://schemas.microsoft.com/office/drawing/2014/main" id="{1DF8FBF7-CE6E-45A0-B6A8-475315C433EC}"/>
              </a:ext>
            </a:extLst>
          </p:cNvPr>
          <p:cNvSpPr>
            <a:spLocks noGrp="1"/>
          </p:cNvSpPr>
          <p:nvPr>
            <p:ph idx="6" hasCustomPrompt="1"/>
          </p:nvPr>
        </p:nvSpPr>
        <p:spPr>
          <a:xfrm>
            <a:off x="6334125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［図B］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source_170">
            <a:extLst>
              <a:ext uri="{FF2B5EF4-FFF2-40B4-BE49-F238E27FC236}">
                <a16:creationId xmlns:a16="http://schemas.microsoft.com/office/drawing/2014/main" id="{99E0A3F3-9A43-406E-A3FB-A50D9FD71533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81025" y="5248275"/>
            <a:ext cx="110394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共通条件：［そろえた条件］　／　相違点：［変えた条件］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171">
            <a:extLst>
              <a:ext uri="{FF2B5EF4-FFF2-40B4-BE49-F238E27FC236}">
                <a16:creationId xmlns:a16="http://schemas.microsoft.com/office/drawing/2014/main" id="{60C29C0F-5FD7-47E0-96B1-FB540B1D1000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172">
            <a:extLst>
              <a:ext uri="{FF2B5EF4-FFF2-40B4-BE49-F238E27FC236}">
                <a16:creationId xmlns:a16="http://schemas.microsoft.com/office/drawing/2014/main" id="{A1CD5186-6553-4B65-A4CE-AFFB56CA6C7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［差の大きさと、読み取れる範囲］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 棒グラフ" preserve="1">
  <p:cSld name="16 棒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173">
            <a:extLst>
              <a:ext uri="{FF2B5EF4-FFF2-40B4-BE49-F238E27FC236}">
                <a16:creationId xmlns:a16="http://schemas.microsoft.com/office/drawing/2014/main" id="{3D7A9B91-F2F5-40AF-936F-AE94E4B275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74">
            <a:extLst>
              <a:ext uri="{FF2B5EF4-FFF2-40B4-BE49-F238E27FC236}">
                <a16:creationId xmlns:a16="http://schemas.microsoft.com/office/drawing/2014/main" id="{9852A747-D298-49CC-A62B-2D9A53E38BD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［条件間の差を示す結果］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75">
            <a:extLst>
              <a:ext uri="{FF2B5EF4-FFF2-40B4-BE49-F238E27FC236}">
                <a16:creationId xmlns:a16="http://schemas.microsoft.com/office/drawing/2014/main" id="{793E8FEB-360C-428F-87D1-B743F84D149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76">
            <a:extLst>
              <a:ext uri="{FF2B5EF4-FFF2-40B4-BE49-F238E27FC236}">
                <a16:creationId xmlns:a16="http://schemas.microsoft.com/office/drawing/2014/main" id="{4719A553-2A4F-41FD-8C7D-7ADFF83406B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77">
            <a:extLst>
              <a:ext uri="{FF2B5EF4-FFF2-40B4-BE49-F238E27FC236}">
                <a16:creationId xmlns:a16="http://schemas.microsoft.com/office/drawing/2014/main" id="{1C9A81F3-B5C5-47CB-8C55-AFAB09693A62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78">
            <a:extLst>
              <a:ext uri="{FF2B5EF4-FFF2-40B4-BE49-F238E27FC236}">
                <a16:creationId xmlns:a16="http://schemas.microsoft.com/office/drawing/2014/main" id="{46AEA721-85CB-4FCB-9811-AE3102E341D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79">
            <a:extLst>
              <a:ext uri="{FF2B5EF4-FFF2-40B4-BE49-F238E27FC236}">
                <a16:creationId xmlns:a16="http://schemas.microsoft.com/office/drawing/2014/main" id="{1C916C7A-66B4-4308-896D-55103B4D3D0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1EC7995-E76F-499D-ACBF-A098A5FB7FA2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chart_84"/>
          <p:cNvSpPr>
            <a:spLocks noGrp="1"/>
          </p:cNvSpPr>
          <p:nvPr>
            <p:ph type="chart" idx="84" hasCustomPrompt="1"/>
          </p:nvPr>
        </p:nvSpPr>
        <p:spPr>
          <a:xfrm>
            <a:off x="523875" y="1809750"/>
            <a:ext cx="7839075" cy="36576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［グラフを挿入］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180">
            <a:extLst>
              <a:ext uri="{FF2B5EF4-FFF2-40B4-BE49-F238E27FC236}">
                <a16:creationId xmlns:a16="http://schemas.microsoft.com/office/drawing/2014/main" id="{D17FE43B-7303-489D-A2C1-08FFF3ACA20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結果の要点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81">
            <a:extLst>
              <a:ext uri="{FF2B5EF4-FFF2-40B4-BE49-F238E27FC236}">
                <a16:creationId xmlns:a16="http://schemas.microsoft.com/office/drawing/2014/main" id="{581821F0-85BB-4FCC-B03A-47FB52C1C77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［差・変化量］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［ばらつき・条件］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182">
            <a:extLst>
              <a:ext uri="{FF2B5EF4-FFF2-40B4-BE49-F238E27FC236}">
                <a16:creationId xmlns:a16="http://schemas.microsoft.com/office/drawing/2014/main" id="{09066068-DE17-44A4-A632-4FFF78AA0F9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2" name="PH_takeaway_183">
            <a:extLst>
              <a:ext uri="{FF2B5EF4-FFF2-40B4-BE49-F238E27FC236}">
                <a16:creationId xmlns:a16="http://schemas.microsoft.com/office/drawing/2014/main" id="{76B39325-F1C1-452D-904F-6AFDF4FA21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［数値に基づく結論を記入］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 時系列グラフ" preserve="1">
  <p:cSld name="17 時系列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184">
            <a:extLst>
              <a:ext uri="{FF2B5EF4-FFF2-40B4-BE49-F238E27FC236}">
                <a16:creationId xmlns:a16="http://schemas.microsoft.com/office/drawing/2014/main" id="{830942BE-19A1-414C-B8F0-F619DEA2B3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85">
            <a:extLst>
              <a:ext uri="{FF2B5EF4-FFF2-40B4-BE49-F238E27FC236}">
                <a16:creationId xmlns:a16="http://schemas.microsoft.com/office/drawing/2014/main" id="{BEF7FE91-D991-44B9-BCB4-C48E9B58E344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［時間による変化を示す結果］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86">
            <a:extLst>
              <a:ext uri="{FF2B5EF4-FFF2-40B4-BE49-F238E27FC236}">
                <a16:creationId xmlns:a16="http://schemas.microsoft.com/office/drawing/2014/main" id="{D2EC1593-4D5C-4811-8083-2D432B37D29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87">
            <a:extLst>
              <a:ext uri="{FF2B5EF4-FFF2-40B4-BE49-F238E27FC236}">
                <a16:creationId xmlns:a16="http://schemas.microsoft.com/office/drawing/2014/main" id="{EA206BC8-0245-4B5E-94CA-8EB2BC075438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88">
            <a:extLst>
              <a:ext uri="{FF2B5EF4-FFF2-40B4-BE49-F238E27FC236}">
                <a16:creationId xmlns:a16="http://schemas.microsoft.com/office/drawing/2014/main" id="{D277A187-8297-46CD-8046-8214A0C6531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89">
            <a:extLst>
              <a:ext uri="{FF2B5EF4-FFF2-40B4-BE49-F238E27FC236}">
                <a16:creationId xmlns:a16="http://schemas.microsoft.com/office/drawing/2014/main" id="{EDEB11EA-8D32-485E-8FB7-742ED0C81A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90">
            <a:extLst>
              <a:ext uri="{FF2B5EF4-FFF2-40B4-BE49-F238E27FC236}">
                <a16:creationId xmlns:a16="http://schemas.microsoft.com/office/drawing/2014/main" id="{0063B7EE-EDA5-48FC-B840-F864E074EF3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65B3A68-D506-4E0E-BB24-104EB841937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chart_84"/>
          <p:cNvSpPr>
            <a:spLocks noGrp="1"/>
          </p:cNvSpPr>
          <p:nvPr>
            <p:ph type="chart" idx="84" hasCustomPrompt="1"/>
          </p:nvPr>
        </p:nvSpPr>
        <p:spPr>
          <a:xfrm>
            <a:off x="523875" y="1809750"/>
            <a:ext cx="7839075" cy="36576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［グラフを挿入］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191">
            <a:extLst>
              <a:ext uri="{FF2B5EF4-FFF2-40B4-BE49-F238E27FC236}">
                <a16:creationId xmlns:a16="http://schemas.microsoft.com/office/drawing/2014/main" id="{CF27537F-618E-4E7D-9963-1E470233588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注目する区間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92">
            <a:extLst>
              <a:ext uri="{FF2B5EF4-FFF2-40B4-BE49-F238E27FC236}">
                <a16:creationId xmlns:a16="http://schemas.microsoft.com/office/drawing/2014/main" id="{667CE2C5-892F-4A39-BD67-9361CEBD97EC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［いつ変化したか］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［そのときの条件］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193">
            <a:extLst>
              <a:ext uri="{FF2B5EF4-FFF2-40B4-BE49-F238E27FC236}">
                <a16:creationId xmlns:a16="http://schemas.microsoft.com/office/drawing/2014/main" id="{F153A4AE-C485-41B9-B94D-3DD47A54D30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2" name="PH_takeaway_194">
            <a:extLst>
              <a:ext uri="{FF2B5EF4-FFF2-40B4-BE49-F238E27FC236}">
                <a16:creationId xmlns:a16="http://schemas.microsoft.com/office/drawing/2014/main" id="{FC4EBECB-6CCF-4038-ADC9-6702893C7F64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［時間変化からわかること］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 数値結果の表" preserve="1">
  <p:cSld name="18 数値結果の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95">
            <a:extLst>
              <a:ext uri="{FF2B5EF4-FFF2-40B4-BE49-F238E27FC236}">
                <a16:creationId xmlns:a16="http://schemas.microsoft.com/office/drawing/2014/main" id="{E0A49765-9B19-4A7E-86CF-93C7B212CB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96">
            <a:extLst>
              <a:ext uri="{FF2B5EF4-FFF2-40B4-BE49-F238E27FC236}">
                <a16:creationId xmlns:a16="http://schemas.microsoft.com/office/drawing/2014/main" id="{FF38C00D-F884-4DEC-A800-AE31CDB2DAF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［主要な結果を1文で］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97">
            <a:extLst>
              <a:ext uri="{FF2B5EF4-FFF2-40B4-BE49-F238E27FC236}">
                <a16:creationId xmlns:a16="http://schemas.microsoft.com/office/drawing/2014/main" id="{10F4B349-AB6A-45A0-8574-A626F59B13D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98">
            <a:extLst>
              <a:ext uri="{FF2B5EF4-FFF2-40B4-BE49-F238E27FC236}">
                <a16:creationId xmlns:a16="http://schemas.microsoft.com/office/drawing/2014/main" id="{4F0F98B4-1D3F-461E-A74E-44D6784CDB53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99">
            <a:extLst>
              <a:ext uri="{FF2B5EF4-FFF2-40B4-BE49-F238E27FC236}">
                <a16:creationId xmlns:a16="http://schemas.microsoft.com/office/drawing/2014/main" id="{0385D097-E4E4-4FFB-B1CA-A79C32DFD76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0">
            <a:extLst>
              <a:ext uri="{FF2B5EF4-FFF2-40B4-BE49-F238E27FC236}">
                <a16:creationId xmlns:a16="http://schemas.microsoft.com/office/drawing/2014/main" id="{841854E9-379F-43F8-9D98-F8B60B968B9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522CC70-2FB3-4074-B3D6-9B96A98478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857375"/>
            <a:ext cx="11049000" cy="33432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201">
            <a:extLst>
              <a:ext uri="{FF2B5EF4-FFF2-40B4-BE49-F238E27FC236}">
                <a16:creationId xmlns:a16="http://schemas.microsoft.com/office/drawing/2014/main" id="{7D3E1919-7C45-4417-B11A-42E94EADB0F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81025" y="5276850"/>
            <a:ext cx="110204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対象：［期間・母数］　　丸め：［表示桁数］　　出典：［結果ファイル等］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02">
            <a:extLst>
              <a:ext uri="{FF2B5EF4-FFF2-40B4-BE49-F238E27FC236}">
                <a16:creationId xmlns:a16="http://schemas.microsoft.com/office/drawing/2014/main" id="{1987A278-C4DC-4DCC-801B-4C56D29980B8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203">
            <a:extLst>
              <a:ext uri="{FF2B5EF4-FFF2-40B4-BE49-F238E27FC236}">
                <a16:creationId xmlns:a16="http://schemas.microsoft.com/office/drawing/2014/main" id="{9DC44FED-6386-4FD5-970F-5DECD5F6947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［この数値が研究目的に対して意味すること］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 結果と考察" preserve="1">
  <p:cSld name="19 結果と考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204">
            <a:extLst>
              <a:ext uri="{FF2B5EF4-FFF2-40B4-BE49-F238E27FC236}">
                <a16:creationId xmlns:a16="http://schemas.microsoft.com/office/drawing/2014/main" id="{316FC284-630F-4B39-BE5E-594C5B9314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05">
            <a:extLst>
              <a:ext uri="{FF2B5EF4-FFF2-40B4-BE49-F238E27FC236}">
                <a16:creationId xmlns:a16="http://schemas.microsoft.com/office/drawing/2014/main" id="{64A98154-5B38-4DEF-A7B9-39E4F682DF2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結果の解釈と考察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06">
            <a:extLst>
              <a:ext uri="{FF2B5EF4-FFF2-40B4-BE49-F238E27FC236}">
                <a16:creationId xmlns:a16="http://schemas.microsoft.com/office/drawing/2014/main" id="{A992AEF6-79CB-40AA-B636-DE908029B58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07">
            <a:extLst>
              <a:ext uri="{FF2B5EF4-FFF2-40B4-BE49-F238E27FC236}">
                <a16:creationId xmlns:a16="http://schemas.microsoft.com/office/drawing/2014/main" id="{B597BF48-4C5C-414C-8825-C99FC8F7F8F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08">
            <a:extLst>
              <a:ext uri="{FF2B5EF4-FFF2-40B4-BE49-F238E27FC236}">
                <a16:creationId xmlns:a16="http://schemas.microsoft.com/office/drawing/2014/main" id="{32F70129-AE5B-4824-B1B4-4399439335B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9">
            <a:extLst>
              <a:ext uri="{FF2B5EF4-FFF2-40B4-BE49-F238E27FC236}">
                <a16:creationId xmlns:a16="http://schemas.microsoft.com/office/drawing/2014/main" id="{0FEA8FDE-390E-471B-BE56-E0A5D1DDCAA6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C2CFC2C-2FB8-420B-B156-7A433C6FF1A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10">
            <a:extLst>
              <a:ext uri="{FF2B5EF4-FFF2-40B4-BE49-F238E27FC236}">
                <a16:creationId xmlns:a16="http://schemas.microsoft.com/office/drawing/2014/main" id="{6EFD69B4-5841-4F85-B256-49147E47468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観察された事実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11">
            <a:extLst>
              <a:ext uri="{FF2B5EF4-FFF2-40B4-BE49-F238E27FC236}">
                <a16:creationId xmlns:a16="http://schemas.microsoft.com/office/drawing/2014/main" id="{6EC25216-BA1C-4E18-8F44-C27E3DBAF27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381250"/>
            <a:ext cx="5048250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［結果1：図表・数値を添える］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［結果2：比較条件を添える］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12">
            <a:extLst>
              <a:ext uri="{FF2B5EF4-FFF2-40B4-BE49-F238E27FC236}">
                <a16:creationId xmlns:a16="http://schemas.microsoft.com/office/drawing/2014/main" id="{4EABBFD5-7C5B-4E07-8DB5-4AFB4F78469A}"/>
              </a:ext>
            </a:extLst>
          </p:cNvPr>
          <p:cNvSpPr>
            <a:spLocks noGrp="1"/>
          </p:cNvSpPr>
          <p:nvPr/>
        </p:nvSpPr>
        <p:spPr>
          <a:xfrm>
            <a:off x="6048375" y="1752600"/>
            <a:ext cx="19050" cy="33718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213">
            <a:extLst>
              <a:ext uri="{FF2B5EF4-FFF2-40B4-BE49-F238E27FC236}">
                <a16:creationId xmlns:a16="http://schemas.microsoft.com/office/drawing/2014/main" id="{EAF2E50E-7E93-49B3-B1A2-6F1C1C9A1DC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43675" y="17335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解釈・考えられる理由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14">
            <a:extLst>
              <a:ext uri="{FF2B5EF4-FFF2-40B4-BE49-F238E27FC236}">
                <a16:creationId xmlns:a16="http://schemas.microsoft.com/office/drawing/2014/main" id="{6236302D-2F32-4E75-BA2C-BA3E3986356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381250"/>
            <a:ext cx="5076825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215">
            <a:extLst>
              <a:ext uri="{FF2B5EF4-FFF2-40B4-BE49-F238E27FC236}">
                <a16:creationId xmlns:a16="http://schemas.microsoft.com/office/drawing/2014/main" id="{FBE912A9-AA79-4F79-8208-611E8567C4CC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216">
            <a:extLst>
              <a:ext uri="{FF2B5EF4-FFF2-40B4-BE49-F238E27FC236}">
                <a16:creationId xmlns:a16="http://schemas.microsoft.com/office/drawing/2014/main" id="{81980F0F-27A3-4CC4-85D8-330BFC2946DD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［残る仮説と、次に確かめること］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 限界と適用範囲" preserve="1">
  <p:cSld name="20 限界と適用範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17">
            <a:extLst>
              <a:ext uri="{FF2B5EF4-FFF2-40B4-BE49-F238E27FC236}">
                <a16:creationId xmlns:a16="http://schemas.microsoft.com/office/drawing/2014/main" id="{0E16B828-4C6A-412D-8F00-EBB03F95B0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18">
            <a:extLst>
              <a:ext uri="{FF2B5EF4-FFF2-40B4-BE49-F238E27FC236}">
                <a16:creationId xmlns:a16="http://schemas.microsoft.com/office/drawing/2014/main" id="{C91A69AD-2FF5-41E6-9AA1-97982AA9450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研究の限界と適用範囲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19">
            <a:extLst>
              <a:ext uri="{FF2B5EF4-FFF2-40B4-BE49-F238E27FC236}">
                <a16:creationId xmlns:a16="http://schemas.microsoft.com/office/drawing/2014/main" id="{9B4E1151-D1FB-47EF-819C-8CA2D583049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20">
            <a:extLst>
              <a:ext uri="{FF2B5EF4-FFF2-40B4-BE49-F238E27FC236}">
                <a16:creationId xmlns:a16="http://schemas.microsoft.com/office/drawing/2014/main" id="{E2634CD5-A67F-4B5A-A5CE-48F4A87D041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21">
            <a:extLst>
              <a:ext uri="{FF2B5EF4-FFF2-40B4-BE49-F238E27FC236}">
                <a16:creationId xmlns:a16="http://schemas.microsoft.com/office/drawing/2014/main" id="{15593167-B7A2-42BF-8920-AB56492FDE6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22">
            <a:extLst>
              <a:ext uri="{FF2B5EF4-FFF2-40B4-BE49-F238E27FC236}">
                <a16:creationId xmlns:a16="http://schemas.microsoft.com/office/drawing/2014/main" id="{93D56FCA-7E2C-45FD-854F-BDC49E86A7C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F655165-D5B6-46DA-9B78-A9227F73766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33575"/>
            <a:ext cx="11049000" cy="321945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23">
            <a:extLst>
              <a:ext uri="{FF2B5EF4-FFF2-40B4-BE49-F238E27FC236}">
                <a16:creationId xmlns:a16="http://schemas.microsoft.com/office/drawing/2014/main" id="{9EDBBFE8-F19E-4EFB-8CDB-2988C36D67FC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24">
            <a:extLst>
              <a:ext uri="{FF2B5EF4-FFF2-40B4-BE49-F238E27FC236}">
                <a16:creationId xmlns:a16="http://schemas.microsoft.com/office/drawing/2014/main" id="{E06BC44B-1054-400C-A99A-C690304FB56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［本研究の結論が成り立つ範囲］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 まとめ" preserve="1">
  <p:cSld name="21 まと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225">
            <a:extLst>
              <a:ext uri="{FF2B5EF4-FFF2-40B4-BE49-F238E27FC236}">
                <a16:creationId xmlns:a16="http://schemas.microsoft.com/office/drawing/2014/main" id="{A4E25F37-3D33-4B1F-B6AA-BF698B61E0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26">
            <a:extLst>
              <a:ext uri="{FF2B5EF4-FFF2-40B4-BE49-F238E27FC236}">
                <a16:creationId xmlns:a16="http://schemas.microsoft.com/office/drawing/2014/main" id="{5FB83661-1EC4-4433-A9B1-B483608FE2F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まとめと今後の課題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27">
            <a:extLst>
              <a:ext uri="{FF2B5EF4-FFF2-40B4-BE49-F238E27FC236}">
                <a16:creationId xmlns:a16="http://schemas.microsoft.com/office/drawing/2014/main" id="{3363C3EC-0182-40D8-98DF-2EC6ED6883A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28">
            <a:extLst>
              <a:ext uri="{FF2B5EF4-FFF2-40B4-BE49-F238E27FC236}">
                <a16:creationId xmlns:a16="http://schemas.microsoft.com/office/drawing/2014/main" id="{57F614FB-DF2A-4210-B97B-3F9DBD6124D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29">
            <a:extLst>
              <a:ext uri="{FF2B5EF4-FFF2-40B4-BE49-F238E27FC236}">
                <a16:creationId xmlns:a16="http://schemas.microsoft.com/office/drawing/2014/main" id="{A5F257B2-ACFF-48D6-BA83-B5C0FA831685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30">
            <a:extLst>
              <a:ext uri="{FF2B5EF4-FFF2-40B4-BE49-F238E27FC236}">
                <a16:creationId xmlns:a16="http://schemas.microsoft.com/office/drawing/2014/main" id="{E798A89B-FFA1-4CB3-ADAC-3FDE204F1F31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68667A5-D456-44E3-8DC7-D7CBD654079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31">
            <a:extLst>
              <a:ext uri="{FF2B5EF4-FFF2-40B4-BE49-F238E27FC236}">
                <a16:creationId xmlns:a16="http://schemas.microsoft.com/office/drawing/2014/main" id="{956879AE-3461-4D5F-B53E-996FFA4464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研究の問いへの答え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32">
            <a:extLst>
              <a:ext uri="{FF2B5EF4-FFF2-40B4-BE49-F238E27FC236}">
                <a16:creationId xmlns:a16="http://schemas.microsoft.com/office/drawing/2014/main" id="{299BAF2F-B0AB-4E8A-8297-A342EBD2EBD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47900"/>
            <a:ext cx="11049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［確認できた結論を1文で］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33">
            <a:extLst>
              <a:ext uri="{FF2B5EF4-FFF2-40B4-BE49-F238E27FC236}">
                <a16:creationId xmlns:a16="http://schemas.microsoft.com/office/drawing/2014/main" id="{741EDFCB-E2DE-4ADD-A746-D27772547822}"/>
              </a:ext>
            </a:extLst>
          </p:cNvPr>
          <p:cNvSpPr>
            <a:spLocks noGrp="1"/>
          </p:cNvSpPr>
          <p:nvPr/>
        </p:nvSpPr>
        <p:spPr>
          <a:xfrm>
            <a:off x="571500" y="33337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234">
            <a:extLst>
              <a:ext uri="{FF2B5EF4-FFF2-40B4-BE49-F238E27FC236}">
                <a16:creationId xmlns:a16="http://schemas.microsoft.com/office/drawing/2014/main" id="{E29771CC-6E51-444C-B99C-D498F111CA36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86175"/>
            <a:ext cx="51530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根拠となる結果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35">
            <a:extLst>
              <a:ext uri="{FF2B5EF4-FFF2-40B4-BE49-F238E27FC236}">
                <a16:creationId xmlns:a16="http://schemas.microsoft.com/office/drawing/2014/main" id="{6E2C5E9B-E918-4ADE-AECE-58DCBDE53EC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91000"/>
            <a:ext cx="51625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［重要な結果・数値］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［結論が成立する条件］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36">
            <a:extLst>
              <a:ext uri="{FF2B5EF4-FFF2-40B4-BE49-F238E27FC236}">
                <a16:creationId xmlns:a16="http://schemas.microsoft.com/office/drawing/2014/main" id="{35229B3F-1925-4491-AF77-2F53C05F71D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53200" y="3686175"/>
            <a:ext cx="50673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今後の課題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37">
            <a:extLst>
              <a:ext uri="{FF2B5EF4-FFF2-40B4-BE49-F238E27FC236}">
                <a16:creationId xmlns:a16="http://schemas.microsoft.com/office/drawing/2014/main" id="{DDD935E5-AEF3-4F2A-8BC4-C8B965DEFAD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53200" y="419100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［残っている検証］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［次に取り組むこと］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 今回の進捗" preserve="1">
  <p:cSld name="22 今回の進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38">
            <a:extLst>
              <a:ext uri="{FF2B5EF4-FFF2-40B4-BE49-F238E27FC236}">
                <a16:creationId xmlns:a16="http://schemas.microsoft.com/office/drawing/2014/main" id="{DAEABD35-C60C-4FE4-B5C0-976C117EB8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39">
            <a:extLst>
              <a:ext uri="{FF2B5EF4-FFF2-40B4-BE49-F238E27FC236}">
                <a16:creationId xmlns:a16="http://schemas.microsoft.com/office/drawing/2014/main" id="{8589B14F-96CB-464A-BFFE-99B77FBA1D6D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前回からの進捗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40">
            <a:extLst>
              <a:ext uri="{FF2B5EF4-FFF2-40B4-BE49-F238E27FC236}">
                <a16:creationId xmlns:a16="http://schemas.microsoft.com/office/drawing/2014/main" id="{F860A1C0-B790-43E2-B6FA-1EC5102D779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41">
            <a:extLst>
              <a:ext uri="{FF2B5EF4-FFF2-40B4-BE49-F238E27FC236}">
                <a16:creationId xmlns:a16="http://schemas.microsoft.com/office/drawing/2014/main" id="{59FCA3AD-37A7-447A-AEE1-F617DBA06A23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42">
            <a:extLst>
              <a:ext uri="{FF2B5EF4-FFF2-40B4-BE49-F238E27FC236}">
                <a16:creationId xmlns:a16="http://schemas.microsoft.com/office/drawing/2014/main" id="{D1600780-DB2C-42C1-98D6-970C466A44B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43">
            <a:extLst>
              <a:ext uri="{FF2B5EF4-FFF2-40B4-BE49-F238E27FC236}">
                <a16:creationId xmlns:a16="http://schemas.microsoft.com/office/drawing/2014/main" id="{94795A54-231B-42FA-A81E-1DF22EEF57D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7CFF3B15-C6E6-4E9D-8467-E6B8396B0B1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62150"/>
            <a:ext cx="11049000" cy="31527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44">
            <a:extLst>
              <a:ext uri="{FF2B5EF4-FFF2-40B4-BE49-F238E27FC236}">
                <a16:creationId xmlns:a16="http://schemas.microsoft.com/office/drawing/2014/main" id="{561D9C14-37E8-4300-B4E1-AD6F3D78F68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45">
            <a:extLst>
              <a:ext uri="{FF2B5EF4-FFF2-40B4-BE49-F238E27FC236}">
                <a16:creationId xmlns:a16="http://schemas.microsoft.com/office/drawing/2014/main" id="{F0CB1F72-E61D-47DC-BDAB-6BF7D7813C3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［今回、最も前進した点］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 前回の指摘への対応" preserve="1">
  <p:cSld name="23 前回の指摘への対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ATIC_rule_246">
            <a:extLst>
              <a:ext uri="{FF2B5EF4-FFF2-40B4-BE49-F238E27FC236}">
                <a16:creationId xmlns:a16="http://schemas.microsoft.com/office/drawing/2014/main" id="{36B31E5B-4B61-4D45-A465-CBB5E78A6A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47">
            <a:extLst>
              <a:ext uri="{FF2B5EF4-FFF2-40B4-BE49-F238E27FC236}">
                <a16:creationId xmlns:a16="http://schemas.microsoft.com/office/drawing/2014/main" id="{7D059F1B-6D4C-4F7A-8F1A-E0291CD25D1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前回の指摘と対応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48">
            <a:extLst>
              <a:ext uri="{FF2B5EF4-FFF2-40B4-BE49-F238E27FC236}">
                <a16:creationId xmlns:a16="http://schemas.microsoft.com/office/drawing/2014/main" id="{6A951676-EFB0-43CD-845F-FB91692530E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49">
            <a:extLst>
              <a:ext uri="{FF2B5EF4-FFF2-40B4-BE49-F238E27FC236}">
                <a16:creationId xmlns:a16="http://schemas.microsoft.com/office/drawing/2014/main" id="{04B62AAC-4212-4486-BFBD-844B9BF2A5D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50">
            <a:extLst>
              <a:ext uri="{FF2B5EF4-FFF2-40B4-BE49-F238E27FC236}">
                <a16:creationId xmlns:a16="http://schemas.microsoft.com/office/drawing/2014/main" id="{7BD4E611-1024-4CDD-A3E7-3D60D480CE90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1">
            <a:extLst>
              <a:ext uri="{FF2B5EF4-FFF2-40B4-BE49-F238E27FC236}">
                <a16:creationId xmlns:a16="http://schemas.microsoft.com/office/drawing/2014/main" id="{1C2C004A-5EEF-45F7-8A58-273CD50EA6D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E8E0239-5C76-4530-AE89-1A43DC01484A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33575"/>
            <a:ext cx="11049000" cy="33432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 問題と対応方針" preserve="1">
  <p:cSld name="24 問題と対応方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TIC_rule_252">
            <a:extLst>
              <a:ext uri="{FF2B5EF4-FFF2-40B4-BE49-F238E27FC236}">
                <a16:creationId xmlns:a16="http://schemas.microsoft.com/office/drawing/2014/main" id="{30FEA784-0A68-41B7-AA52-D2EBAB9C70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53">
            <a:extLst>
              <a:ext uri="{FF2B5EF4-FFF2-40B4-BE49-F238E27FC236}">
                <a16:creationId xmlns:a16="http://schemas.microsoft.com/office/drawing/2014/main" id="{025A7F9C-8EEF-4B86-A274-73B871FE07A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現在の課題と対応方針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54">
            <a:extLst>
              <a:ext uri="{FF2B5EF4-FFF2-40B4-BE49-F238E27FC236}">
                <a16:creationId xmlns:a16="http://schemas.microsoft.com/office/drawing/2014/main" id="{86B77118-9ED1-4F1C-AC94-65285518694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55">
            <a:extLst>
              <a:ext uri="{FF2B5EF4-FFF2-40B4-BE49-F238E27FC236}">
                <a16:creationId xmlns:a16="http://schemas.microsoft.com/office/drawing/2014/main" id="{A32FF333-1ECF-4ED3-8CFF-A9A7A815C1A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56">
            <a:extLst>
              <a:ext uri="{FF2B5EF4-FFF2-40B4-BE49-F238E27FC236}">
                <a16:creationId xmlns:a16="http://schemas.microsoft.com/office/drawing/2014/main" id="{633682F5-4902-49FB-BABA-8F0992FDA13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7">
            <a:extLst>
              <a:ext uri="{FF2B5EF4-FFF2-40B4-BE49-F238E27FC236}">
                <a16:creationId xmlns:a16="http://schemas.microsoft.com/office/drawing/2014/main" id="{0313CC8E-D4F3-4DBB-91E1-D9931739EF7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FCED423-818E-4C73-BE8D-69BF507C61F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58">
            <a:extLst>
              <a:ext uri="{FF2B5EF4-FFF2-40B4-BE49-F238E27FC236}">
                <a16:creationId xmlns:a16="http://schemas.microsoft.com/office/drawing/2014/main" id="{65670E51-326E-44DF-9A04-EAD4B914C3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起きていること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59">
            <a:extLst>
              <a:ext uri="{FF2B5EF4-FFF2-40B4-BE49-F238E27FC236}">
                <a16:creationId xmlns:a16="http://schemas.microsoft.com/office/drawing/2014/main" id="{736EF9DD-7646-42F5-A888-9159804F8D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28850"/>
            <a:ext cx="506730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［問題・影響範囲］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［観測された事実］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260">
            <a:extLst>
              <a:ext uri="{FF2B5EF4-FFF2-40B4-BE49-F238E27FC236}">
                <a16:creationId xmlns:a16="http://schemas.microsoft.com/office/drawing/2014/main" id="{F60B388D-F739-44D4-80D3-13A1CB35D73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34150" y="1733550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原因の仮説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61">
            <a:extLst>
              <a:ext uri="{FF2B5EF4-FFF2-40B4-BE49-F238E27FC236}">
                <a16:creationId xmlns:a16="http://schemas.microsoft.com/office/drawing/2014/main" id="{D2767C73-6382-4B3B-9412-B3113AA53D5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2228850"/>
            <a:ext cx="508635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［考えられる原因］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［根拠と未確認点］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262">
            <a:extLst>
              <a:ext uri="{FF2B5EF4-FFF2-40B4-BE49-F238E27FC236}">
                <a16:creationId xmlns:a16="http://schemas.microsoft.com/office/drawing/2014/main" id="{9B2AB5F7-43E0-4D69-9AB9-CF6C8D7DF5A2}"/>
              </a:ext>
            </a:extLst>
          </p:cNvPr>
          <p:cNvSpPr>
            <a:spLocks noGrp="1"/>
          </p:cNvSpPr>
          <p:nvPr/>
        </p:nvSpPr>
        <p:spPr>
          <a:xfrm>
            <a:off x="571500" y="37052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2" name="LABEL_263">
            <a:extLst>
              <a:ext uri="{FF2B5EF4-FFF2-40B4-BE49-F238E27FC236}">
                <a16:creationId xmlns:a16="http://schemas.microsoft.com/office/drawing/2014/main" id="{620800A7-3F32-45A3-A2DD-04A889753CA6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952875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次に行う対応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64">
            <a:extLst>
              <a:ext uri="{FF2B5EF4-FFF2-40B4-BE49-F238E27FC236}">
                <a16:creationId xmlns:a16="http://schemas.microsoft.com/office/drawing/2014/main" id="{10A47258-C56B-403B-A928-AFB86F59EEE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［切り分け・修正・再検証］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265">
            <a:extLst>
              <a:ext uri="{FF2B5EF4-FFF2-40B4-BE49-F238E27FC236}">
                <a16:creationId xmlns:a16="http://schemas.microsoft.com/office/drawing/2014/main" id="{6E3A2175-6C0E-4662-9B74-ADC75F17B3A2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3952875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解決したと判断する条件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266">
            <a:extLst>
              <a:ext uri="{FF2B5EF4-FFF2-40B4-BE49-F238E27FC236}">
                <a16:creationId xmlns:a16="http://schemas.microsoft.com/office/drawing/2014/main" id="{2226AB33-A9C7-406A-9ACA-7604A20DD8E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53415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［検証項目・合格条件］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 次回までの計画" preserve="1">
  <p:cSld name="25 次回までの計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67">
            <a:extLst>
              <a:ext uri="{FF2B5EF4-FFF2-40B4-BE49-F238E27FC236}">
                <a16:creationId xmlns:a16="http://schemas.microsoft.com/office/drawing/2014/main" id="{C43FEDD6-3A29-4D24-BE86-2E3A7226C5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68">
            <a:extLst>
              <a:ext uri="{FF2B5EF4-FFF2-40B4-BE49-F238E27FC236}">
                <a16:creationId xmlns:a16="http://schemas.microsoft.com/office/drawing/2014/main" id="{EF1C6D4B-1CA8-44A0-8276-EC6BFA7E570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次回までの計画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69">
            <a:extLst>
              <a:ext uri="{FF2B5EF4-FFF2-40B4-BE49-F238E27FC236}">
                <a16:creationId xmlns:a16="http://schemas.microsoft.com/office/drawing/2014/main" id="{6CCC0D37-5E40-4E05-900E-1119D627890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70">
            <a:extLst>
              <a:ext uri="{FF2B5EF4-FFF2-40B4-BE49-F238E27FC236}">
                <a16:creationId xmlns:a16="http://schemas.microsoft.com/office/drawing/2014/main" id="{695716BF-7794-4986-B19C-6B77E4862295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71">
            <a:extLst>
              <a:ext uri="{FF2B5EF4-FFF2-40B4-BE49-F238E27FC236}">
                <a16:creationId xmlns:a16="http://schemas.microsoft.com/office/drawing/2014/main" id="{8DCEA30E-8A94-4BD3-90B0-EF56AEA8892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72">
            <a:extLst>
              <a:ext uri="{FF2B5EF4-FFF2-40B4-BE49-F238E27FC236}">
                <a16:creationId xmlns:a16="http://schemas.microsoft.com/office/drawing/2014/main" id="{FE3C6A44-C8F9-48FE-8021-98EE08F4A6B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04FB73C-3638-43B5-8B18-40921CA4492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24050"/>
            <a:ext cx="11049000" cy="324802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73">
            <a:extLst>
              <a:ext uri="{FF2B5EF4-FFF2-40B4-BE49-F238E27FC236}">
                <a16:creationId xmlns:a16="http://schemas.microsoft.com/office/drawing/2014/main" id="{AA4F733F-5CAB-4753-8C2E-9A8C25A24F3D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74">
            <a:extLst>
              <a:ext uri="{FF2B5EF4-FFF2-40B4-BE49-F238E27FC236}">
                <a16:creationId xmlns:a16="http://schemas.microsoft.com/office/drawing/2014/main" id="{C9C147A1-38B1-4DFF-B406-D91612FFA66B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［次回の報告で明らかにすること］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 相談事項" preserve="1">
  <p:cSld name="26 相談事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TATIC_rule_275">
            <a:extLst>
              <a:ext uri="{FF2B5EF4-FFF2-40B4-BE49-F238E27FC236}">
                <a16:creationId xmlns:a16="http://schemas.microsoft.com/office/drawing/2014/main" id="{C95FCD9A-D840-461C-82AE-AA9692AC22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76">
            <a:extLst>
              <a:ext uri="{FF2B5EF4-FFF2-40B4-BE49-F238E27FC236}">
                <a16:creationId xmlns:a16="http://schemas.microsoft.com/office/drawing/2014/main" id="{20AA2063-EE94-41FC-9669-5BFF76E1560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相談したいこと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77">
            <a:extLst>
              <a:ext uri="{FF2B5EF4-FFF2-40B4-BE49-F238E27FC236}">
                <a16:creationId xmlns:a16="http://schemas.microsoft.com/office/drawing/2014/main" id="{0178BE3B-7A1B-4E16-B264-DFBA42E2A64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78">
            <a:extLst>
              <a:ext uri="{FF2B5EF4-FFF2-40B4-BE49-F238E27FC236}">
                <a16:creationId xmlns:a16="http://schemas.microsoft.com/office/drawing/2014/main" id="{CDD283BD-71CA-4CDE-92D5-6E75E9A2B3A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79">
            <a:extLst>
              <a:ext uri="{FF2B5EF4-FFF2-40B4-BE49-F238E27FC236}">
                <a16:creationId xmlns:a16="http://schemas.microsoft.com/office/drawing/2014/main" id="{95ACFC36-DEF1-46B9-A9C8-E18E92B31C8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80">
            <a:extLst>
              <a:ext uri="{FF2B5EF4-FFF2-40B4-BE49-F238E27FC236}">
                <a16:creationId xmlns:a16="http://schemas.microsoft.com/office/drawing/2014/main" id="{350AC0FA-301C-4A27-9208-4448D797B2B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AF3C694-DA13-4161-B4F2-6A3A2ACE86B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81">
            <a:extLst>
              <a:ext uri="{FF2B5EF4-FFF2-40B4-BE49-F238E27FC236}">
                <a16:creationId xmlns:a16="http://schemas.microsoft.com/office/drawing/2014/main" id="{F1E43570-D5D6-408D-BE74-B13C625199F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764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判断したい論点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82">
            <a:extLst>
              <a:ext uri="{FF2B5EF4-FFF2-40B4-BE49-F238E27FC236}">
                <a16:creationId xmlns:a16="http://schemas.microsoft.com/office/drawing/2014/main" id="{2537092E-FA99-4D6C-A9D6-E25BF7FF45D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1431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［何を決めたいか］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5" name="PH_tbl_85"/>
          <p:cNvSpPr>
            <a:spLocks noGrp="1"/>
          </p:cNvSpPr>
          <p:nvPr>
            <p:ph type="tbl" idx="85" hasCustomPrompt="1"/>
          </p:nvPr>
        </p:nvSpPr>
        <p:spPr>
          <a:xfrm>
            <a:off x="571500" y="3248025"/>
            <a:ext cx="11049000" cy="19716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283">
            <a:extLst>
              <a:ext uri="{FF2B5EF4-FFF2-40B4-BE49-F238E27FC236}">
                <a16:creationId xmlns:a16="http://schemas.microsoft.com/office/drawing/2014/main" id="{073458F3-AE62-4102-B098-CE6CEFDCED22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1" name="PH_takeaway_284">
            <a:extLst>
              <a:ext uri="{FF2B5EF4-FFF2-40B4-BE49-F238E27FC236}">
                <a16:creationId xmlns:a16="http://schemas.microsoft.com/office/drawing/2014/main" id="{C1A62184-BD3B-4BD8-BA05-87D3F9828EE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［現時点の案と、相談したい判断］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 参考文献" preserve="1">
  <p:cSld name="27 参考文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TIC_rule_285">
            <a:extLst>
              <a:ext uri="{FF2B5EF4-FFF2-40B4-BE49-F238E27FC236}">
                <a16:creationId xmlns:a16="http://schemas.microsoft.com/office/drawing/2014/main" id="{AF636F89-5F2C-400A-88F5-DCACD5533C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86">
            <a:extLst>
              <a:ext uri="{FF2B5EF4-FFF2-40B4-BE49-F238E27FC236}">
                <a16:creationId xmlns:a16="http://schemas.microsoft.com/office/drawing/2014/main" id="{A5648F92-5E79-4E51-9FDF-100E50B115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参考文献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87">
            <a:extLst>
              <a:ext uri="{FF2B5EF4-FFF2-40B4-BE49-F238E27FC236}">
                <a16:creationId xmlns:a16="http://schemas.microsoft.com/office/drawing/2014/main" id="{CAD5CE1A-8160-446F-B957-D3DF4402F1E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88">
            <a:extLst>
              <a:ext uri="{FF2B5EF4-FFF2-40B4-BE49-F238E27FC236}">
                <a16:creationId xmlns:a16="http://schemas.microsoft.com/office/drawing/2014/main" id="{02C0E659-6958-492D-B7F6-1170BE27D0FC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89">
            <a:extLst>
              <a:ext uri="{FF2B5EF4-FFF2-40B4-BE49-F238E27FC236}">
                <a16:creationId xmlns:a16="http://schemas.microsoft.com/office/drawing/2014/main" id="{5F8C18EC-3A61-45B0-A2C7-66930E99C74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90">
            <a:extLst>
              <a:ext uri="{FF2B5EF4-FFF2-40B4-BE49-F238E27FC236}">
                <a16:creationId xmlns:a16="http://schemas.microsoft.com/office/drawing/2014/main" id="{D9DA78F1-B705-4BF6-97A0-1BF5B46E6C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2023DAF-1831-46B6-8476-F5D55B9466C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291">
            <a:extLst>
              <a:ext uri="{FF2B5EF4-FFF2-40B4-BE49-F238E27FC236}">
                <a16:creationId xmlns:a16="http://schemas.microsoft.com/office/drawing/2014/main" id="{42B1F993-E2C7-40D4-A3D2-64ECE34FC4C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[1]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92">
            <a:extLst>
              <a:ext uri="{FF2B5EF4-FFF2-40B4-BE49-F238E27FC236}">
                <a16:creationId xmlns:a16="http://schemas.microsoft.com/office/drawing/2014/main" id="{153612DD-437F-43AA-A55E-BB9EFFF5D93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381125" y="17145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93">
            <a:extLst>
              <a:ext uri="{FF2B5EF4-FFF2-40B4-BE49-F238E27FC236}">
                <a16:creationId xmlns:a16="http://schemas.microsoft.com/office/drawing/2014/main" id="{D7A62DB5-74D9-451D-820A-BE1D70D1F26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7241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[2]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94">
            <a:extLst>
              <a:ext uri="{FF2B5EF4-FFF2-40B4-BE49-F238E27FC236}">
                <a16:creationId xmlns:a16="http://schemas.microsoft.com/office/drawing/2014/main" id="{6238AAB4-F6EB-45DE-A4D6-64210964BFC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1381125" y="27241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95">
            <a:extLst>
              <a:ext uri="{FF2B5EF4-FFF2-40B4-BE49-F238E27FC236}">
                <a16:creationId xmlns:a16="http://schemas.microsoft.com/office/drawing/2014/main" id="{F3EC9676-5B67-4C05-BD4D-1A0968B66110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7338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[3]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296">
            <a:extLst>
              <a:ext uri="{FF2B5EF4-FFF2-40B4-BE49-F238E27FC236}">
                <a16:creationId xmlns:a16="http://schemas.microsoft.com/office/drawing/2014/main" id="{AFD8FC16-E108-4AF7-8A41-5E7DA18BB1C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1381125" y="37338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97">
            <a:extLst>
              <a:ext uri="{FF2B5EF4-FFF2-40B4-BE49-F238E27FC236}">
                <a16:creationId xmlns:a16="http://schemas.microsoft.com/office/drawing/2014/main" id="{D9E57E21-CFC3-4C77-8CC9-53E05561456E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7434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[4]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298">
            <a:extLst>
              <a:ext uri="{FF2B5EF4-FFF2-40B4-BE49-F238E27FC236}">
                <a16:creationId xmlns:a16="http://schemas.microsoft.com/office/drawing/2014/main" id="{68E8937D-F1C9-41FD-849C-8C7B803243B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381125" y="47434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 補足・自由配置" preserve="1">
  <p:cSld name="28 補足・自由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ATIC_rule_299">
            <a:extLst>
              <a:ext uri="{FF2B5EF4-FFF2-40B4-BE49-F238E27FC236}">
                <a16:creationId xmlns:a16="http://schemas.microsoft.com/office/drawing/2014/main" id="{5B0CB8B4-F433-4430-992F-6DB6ABE2DE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300">
            <a:extLst>
              <a:ext uri="{FF2B5EF4-FFF2-40B4-BE49-F238E27FC236}">
                <a16:creationId xmlns:a16="http://schemas.microsoft.com/office/drawing/2014/main" id="{0D34370B-3BF8-4750-A51F-C5780A86754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補足：［説明する項目］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301">
            <a:extLst>
              <a:ext uri="{FF2B5EF4-FFF2-40B4-BE49-F238E27FC236}">
                <a16:creationId xmlns:a16="http://schemas.microsoft.com/office/drawing/2014/main" id="{74F4E1BD-EBA7-4334-AAA7-AA4C157563B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302">
            <a:extLst>
              <a:ext uri="{FF2B5EF4-FFF2-40B4-BE49-F238E27FC236}">
                <a16:creationId xmlns:a16="http://schemas.microsoft.com/office/drawing/2014/main" id="{5D97772C-BE02-4002-9F5D-48304CCDB86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303">
            <a:extLst>
              <a:ext uri="{FF2B5EF4-FFF2-40B4-BE49-F238E27FC236}">
                <a16:creationId xmlns:a16="http://schemas.microsoft.com/office/drawing/2014/main" id="{52368D6B-844D-4D65-A3D6-50BB43DF508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304">
            <a:extLst>
              <a:ext uri="{FF2B5EF4-FFF2-40B4-BE49-F238E27FC236}">
                <a16:creationId xmlns:a16="http://schemas.microsoft.com/office/drawing/2014/main" id="{CD387312-5471-4892-82AF-B8DA57AB2D4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DC0D953-3D37-4A3F-AFDF-A1F7A30D3F67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305">
            <a:extLst>
              <a:ext uri="{FF2B5EF4-FFF2-40B4-BE49-F238E27FC236}">
                <a16:creationId xmlns:a16="http://schemas.microsoft.com/office/drawing/2014/main" id="{F13F1B17-9BDE-4368-B2EA-B7D84EAC011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733550"/>
            <a:ext cx="11049000" cy="34385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［追加の図・表・説明を配置］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306">
            <a:extLst>
              <a:ext uri="{FF2B5EF4-FFF2-40B4-BE49-F238E27FC236}">
                <a16:creationId xmlns:a16="http://schemas.microsoft.com/office/drawing/2014/main" id="{DB5DC574-5DEC-496F-A20B-2F4DE56C831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27685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条件・出典：［再現に必要な補足情報］</a:t>
            </a:r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 導入A 社会背景・研究背景" preserve="1">
  <p:cSld name="29 導入A 社会背景・研究背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1">
            <a:extLst>
              <a:ext uri="{FF2B5EF4-FFF2-40B4-BE49-F238E27FC236}">
                <a16:creationId xmlns:a16="http://schemas.microsoft.com/office/drawing/2014/main" id="{35B6E907-37D8-4B7F-BD51-E3A61AB040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">
            <a:extLst>
              <a:ext uri="{FF2B5EF4-FFF2-40B4-BE49-F238E27FC236}">
                <a16:creationId xmlns:a16="http://schemas.microsoft.com/office/drawing/2014/main" id="{06034849-7290-4EBF-9483-7106BCD1405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社会背景・研究背景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3">
            <a:extLst>
              <a:ext uri="{FF2B5EF4-FFF2-40B4-BE49-F238E27FC236}">
                <a16:creationId xmlns:a16="http://schemas.microsoft.com/office/drawing/2014/main" id="{4AE92CBF-8A4C-40E0-8D8A-0FBF62BF2272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4">
            <a:extLst>
              <a:ext uri="{FF2B5EF4-FFF2-40B4-BE49-F238E27FC236}">
                <a16:creationId xmlns:a16="http://schemas.microsoft.com/office/drawing/2014/main" id="{42BB7A37-5A9D-4FF4-93EC-7CB49B13AFE8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［社会的背景を端的に示す補助見出し］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5">
            <a:extLst>
              <a:ext uri="{FF2B5EF4-FFF2-40B4-BE49-F238E27FC236}">
                <a16:creationId xmlns:a16="http://schemas.microsoft.com/office/drawing/2014/main" id="{B84AE505-8251-40C8-BEC5-536EBE91CB6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6">
            <a:extLst>
              <a:ext uri="{FF2B5EF4-FFF2-40B4-BE49-F238E27FC236}">
                <a16:creationId xmlns:a16="http://schemas.microsoft.com/office/drawing/2014/main" id="{8F1184B9-5CB6-4E39-8024-C2019E8B064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7">
            <a:extLst>
              <a:ext uri="{FF2B5EF4-FFF2-40B4-BE49-F238E27FC236}">
                <a16:creationId xmlns:a16="http://schemas.microsoft.com/office/drawing/2014/main" id="{BF9B661D-F5E0-440B-B3C0-04160910D468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60EDF77-217F-499E-9AF2-6067BC2DCC27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8">
            <a:extLst>
              <a:ext uri="{FF2B5EF4-FFF2-40B4-BE49-F238E27FC236}">
                <a16:creationId xmlns:a16="http://schemas.microsoft.com/office/drawing/2014/main" id="{C8677966-46BF-45DB-AA7A-E67ECA0E266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790700"/>
            <a:ext cx="59626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社会背景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9">
            <a:extLst>
              <a:ext uri="{FF2B5EF4-FFF2-40B4-BE49-F238E27FC236}">
                <a16:creationId xmlns:a16="http://schemas.microsoft.com/office/drawing/2014/main" id="{4AAF519F-5A9F-4D17-B6DD-15084F8B3BE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266950"/>
            <a:ext cx="596265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［政策・社会が目指す姿］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［実現に向けた取組・変化］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10">
            <a:extLst>
              <a:ext uri="{FF2B5EF4-FFF2-40B4-BE49-F238E27FC236}">
                <a16:creationId xmlns:a16="http://schemas.microsoft.com/office/drawing/2014/main" id="{4A0A000E-D742-49A4-8C23-AB5FAE7D6DF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3267075" y="3314700"/>
            <a:ext cx="533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7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↓</a:t>
            </a:r>
            <a:endParaRPr lang="ja-JP" altLang="en-US" sz="27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LABEL_11">
            <a:extLst>
              <a:ext uri="{FF2B5EF4-FFF2-40B4-BE49-F238E27FC236}">
                <a16:creationId xmlns:a16="http://schemas.microsoft.com/office/drawing/2014/main" id="{003AA621-C2D6-466C-9A9E-795AB1884CAB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867150"/>
            <a:ext cx="59626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12">
            <a:extLst>
              <a:ext uri="{FF2B5EF4-FFF2-40B4-BE49-F238E27FC236}">
                <a16:creationId xmlns:a16="http://schemas.microsoft.com/office/drawing/2014/main" id="{60144341-B641-41B8-98DC-1F8192F8932C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362450"/>
            <a:ext cx="5962650" cy="1009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［取組に伴って生じる技術的課題］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［解決のために必要な対応］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figure_13">
            <a:extLst>
              <a:ext uri="{FF2B5EF4-FFF2-40B4-BE49-F238E27FC236}">
                <a16:creationId xmlns:a16="http://schemas.microsoft.com/office/drawing/2014/main" id="{401BC5B1-47A8-4387-A5C3-479C4FFB2676}"/>
              </a:ext>
            </a:extLst>
          </p:cNvPr>
          <p:cNvSpPr>
            <a:spLocks noGrp="1"/>
          </p:cNvSpPr>
          <p:nvPr>
            <p:ph idx="9" hasCustomPrompt="1"/>
          </p:nvPr>
        </p:nvSpPr>
        <p:spPr>
          <a:xfrm>
            <a:off x="7134225" y="1952625"/>
            <a:ext cx="4486275" cy="2705100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［技術的課題を示す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図・統計・概念図］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source_14">
            <a:extLst>
              <a:ext uri="{FF2B5EF4-FFF2-40B4-BE49-F238E27FC236}">
                <a16:creationId xmlns:a16="http://schemas.microsoft.com/office/drawing/2014/main" id="{ED57E3F3-B504-436B-8CD4-DFE0C4D49F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134225" y="4819650"/>
            <a:ext cx="448627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政策：［資料名・年・頁］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図：［出典・対象範囲］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15">
            <a:extLst>
              <a:ext uri="{FF2B5EF4-FFF2-40B4-BE49-F238E27FC236}">
                <a16:creationId xmlns:a16="http://schemas.microsoft.com/office/drawing/2014/main" id="{26B9757C-35D8-4490-BAF8-96065DE3C331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16">
            <a:extLst>
              <a:ext uri="{FF2B5EF4-FFF2-40B4-BE49-F238E27FC236}">
                <a16:creationId xmlns:a16="http://schemas.microsoft.com/office/drawing/2014/main" id="{8581A6F4-A006-45B3-926F-2E7EE3CFEF7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［社会の目標］を支えるには、［技術的課題］の解決が必要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0 導入A 研究課題・研究目的" preserve="1">
  <p:cSld name="30 導入A 研究課題・研究目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17">
            <a:extLst>
              <a:ext uri="{FF2B5EF4-FFF2-40B4-BE49-F238E27FC236}">
                <a16:creationId xmlns:a16="http://schemas.microsoft.com/office/drawing/2014/main" id="{EA11532D-4211-4C8C-82C2-1633FB44C7E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8">
            <a:extLst>
              <a:ext uri="{FF2B5EF4-FFF2-40B4-BE49-F238E27FC236}">
                <a16:creationId xmlns:a16="http://schemas.microsoft.com/office/drawing/2014/main" id="{F5FC2D4F-8E39-4711-ACBA-8605CC9CC09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研究課題と本研究の目的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9">
            <a:extLst>
              <a:ext uri="{FF2B5EF4-FFF2-40B4-BE49-F238E27FC236}">
                <a16:creationId xmlns:a16="http://schemas.microsoft.com/office/drawing/2014/main" id="{CA3D0E6F-F856-417B-BD0C-00FF81A1E53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20">
            <a:extLst>
              <a:ext uri="{FF2B5EF4-FFF2-40B4-BE49-F238E27FC236}">
                <a16:creationId xmlns:a16="http://schemas.microsoft.com/office/drawing/2014/main" id="{440B67EB-5E61-4F91-A4C2-20E26338108A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［本研究の役割を端的に示す補助見出し］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21">
            <a:extLst>
              <a:ext uri="{FF2B5EF4-FFF2-40B4-BE49-F238E27FC236}">
                <a16:creationId xmlns:a16="http://schemas.microsoft.com/office/drawing/2014/main" id="{1B093E44-7F7F-4289-AC46-4B6E9B68A1E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22">
            <a:extLst>
              <a:ext uri="{FF2B5EF4-FFF2-40B4-BE49-F238E27FC236}">
                <a16:creationId xmlns:a16="http://schemas.microsoft.com/office/drawing/2014/main" id="{C7B25552-D3E7-48C4-88D8-2F465A3D993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23">
            <a:extLst>
              <a:ext uri="{FF2B5EF4-FFF2-40B4-BE49-F238E27FC236}">
                <a16:creationId xmlns:a16="http://schemas.microsoft.com/office/drawing/2014/main" id="{D4F3709F-D73E-4F2E-BC9C-97592D997077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BB971D6-722B-46AC-BB3F-D3AD3C0A299F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4">
            <a:extLst>
              <a:ext uri="{FF2B5EF4-FFF2-40B4-BE49-F238E27FC236}">
                <a16:creationId xmlns:a16="http://schemas.microsoft.com/office/drawing/2014/main" id="{515EFFE9-B490-477E-900D-F902F12ECB1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781175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対象技術に残る課題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5">
            <a:extLst>
              <a:ext uri="{FF2B5EF4-FFF2-40B4-BE49-F238E27FC236}">
                <a16:creationId xmlns:a16="http://schemas.microsoft.com/office/drawing/2014/main" id="{55B842B2-E5D1-47DE-AB92-2A81A766807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219325"/>
            <a:ext cx="11049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［課題1：効果・仕組みの明確化］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［課題2：適用条件・限界の明確化］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source_26">
            <a:extLst>
              <a:ext uri="{FF2B5EF4-FFF2-40B4-BE49-F238E27FC236}">
                <a16:creationId xmlns:a16="http://schemas.microsoft.com/office/drawing/2014/main" id="{BDDC3A0D-FF5F-4381-90AC-15FD66978DFB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3095625"/>
            <a:ext cx="11049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課題の根拠：［文献番号／確認した事実・日付］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27">
            <a:extLst>
              <a:ext uri="{FF2B5EF4-FFF2-40B4-BE49-F238E27FC236}">
                <a16:creationId xmlns:a16="http://schemas.microsoft.com/office/drawing/2014/main" id="{3F997FE7-FD9F-4DE7-AE45-91BCC48D727E}"/>
              </a:ext>
            </a:extLst>
          </p:cNvPr>
          <p:cNvSpPr>
            <a:spLocks noGrp="1"/>
          </p:cNvSpPr>
          <p:nvPr/>
        </p:nvSpPr>
        <p:spPr>
          <a:xfrm>
            <a:off x="571500" y="34385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2" name="LABEL_28">
            <a:extLst>
              <a:ext uri="{FF2B5EF4-FFF2-40B4-BE49-F238E27FC236}">
                <a16:creationId xmlns:a16="http://schemas.microsoft.com/office/drawing/2014/main" id="{24C384A6-EA68-481A-BD93-7CC6F73EE154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609975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本研究の目的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9">
            <a:extLst>
              <a:ext uri="{FF2B5EF4-FFF2-40B4-BE49-F238E27FC236}">
                <a16:creationId xmlns:a16="http://schemas.microsoft.com/office/drawing/2014/main" id="{CEEF5CCC-CFBD-435D-BD61-B32EBA42615C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076700"/>
            <a:ext cx="11049000" cy="771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［対象・条件］における［方法］と［評価量］の関係を明らかにする</a:t>
            </a:r>
            <a:endParaRPr lang="ja-JP" altLang="en-US" sz="24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30">
            <a:extLst>
              <a:ext uri="{FF2B5EF4-FFF2-40B4-BE49-F238E27FC236}">
                <a16:creationId xmlns:a16="http://schemas.microsoft.com/office/drawing/2014/main" id="{1E3C9D6A-E3F4-4526-8708-AED7D1C45CA8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9244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仮説：［条件］では、［方法の違い］により［評価量］が［変化］する</a:t>
            </a:r>
            <a:endParaRPr lang="ja-JP" altLang="en-US" sz="19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31">
            <a:extLst>
              <a:ext uri="{FF2B5EF4-FFF2-40B4-BE49-F238E27FC236}">
                <a16:creationId xmlns:a16="http://schemas.microsoft.com/office/drawing/2014/main" id="{824799D4-DB2B-402A-8229-940D1FD3165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32">
            <a:extLst>
              <a:ext uri="{FF2B5EF4-FFF2-40B4-BE49-F238E27FC236}">
                <a16:creationId xmlns:a16="http://schemas.microsoft.com/office/drawing/2014/main" id="{820848C7-0409-4C18-94C9-FEC47841487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［対象条件］での［効果・適用範囲］を定量的に示す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1 導入B 社会の要請・現場の課題" preserve="1">
  <p:cSld name="31 導入B 社会の要請・現場の課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TIC_rule_33">
            <a:extLst>
              <a:ext uri="{FF2B5EF4-FFF2-40B4-BE49-F238E27FC236}">
                <a16:creationId xmlns:a16="http://schemas.microsoft.com/office/drawing/2014/main" id="{0B4E6639-942F-4527-A230-A69C1DAB34E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34">
            <a:extLst>
              <a:ext uri="{FF2B5EF4-FFF2-40B4-BE49-F238E27FC236}">
                <a16:creationId xmlns:a16="http://schemas.microsoft.com/office/drawing/2014/main" id="{E4C8C69D-1043-4478-92BE-E9007ED267E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社会の要請と現場の課題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35">
            <a:extLst>
              <a:ext uri="{FF2B5EF4-FFF2-40B4-BE49-F238E27FC236}">
                <a16:creationId xmlns:a16="http://schemas.microsoft.com/office/drawing/2014/main" id="{86F20D8C-0755-443E-8529-B6312A41F870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36">
            <a:extLst>
              <a:ext uri="{FF2B5EF4-FFF2-40B4-BE49-F238E27FC236}">
                <a16:creationId xmlns:a16="http://schemas.microsoft.com/office/drawing/2014/main" id="{16AFF1AC-4281-41CD-B46D-C946DB13032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［現場の状況を端的に示す補助見出し］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37">
            <a:extLst>
              <a:ext uri="{FF2B5EF4-FFF2-40B4-BE49-F238E27FC236}">
                <a16:creationId xmlns:a16="http://schemas.microsoft.com/office/drawing/2014/main" id="{09A3FCAD-AFC2-48A4-BD18-BDB2376EB2B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38">
            <a:extLst>
              <a:ext uri="{FF2B5EF4-FFF2-40B4-BE49-F238E27FC236}">
                <a16:creationId xmlns:a16="http://schemas.microsoft.com/office/drawing/2014/main" id="{7CCC4355-F209-4DF1-83E3-128D8C30552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39">
            <a:extLst>
              <a:ext uri="{FF2B5EF4-FFF2-40B4-BE49-F238E27FC236}">
                <a16:creationId xmlns:a16="http://schemas.microsoft.com/office/drawing/2014/main" id="{EC7025DB-9A57-429D-87CB-B07329C6A362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4F46FB15-09A9-4A12-AEB4-82227F56097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40">
            <a:extLst>
              <a:ext uri="{FF2B5EF4-FFF2-40B4-BE49-F238E27FC236}">
                <a16:creationId xmlns:a16="http://schemas.microsoft.com/office/drawing/2014/main" id="{344B90EE-5CD5-41C9-A69C-F2E001D8191D}"/>
              </a:ext>
            </a:extLst>
          </p:cNvPr>
          <p:cNvSpPr>
            <a:spLocks noGrp="1"/>
          </p:cNvSpPr>
          <p:nvPr>
            <p:ph idx="4" hasCustomPrompt="1"/>
          </p:nvPr>
        </p:nvSpPr>
        <p:spPr>
          <a:xfrm>
            <a:off x="571500" y="1971675"/>
            <a:ext cx="5324475" cy="2714625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［対象の写真・運用図］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source_41">
            <a:extLst>
              <a:ext uri="{FF2B5EF4-FFF2-40B4-BE49-F238E27FC236}">
                <a16:creationId xmlns:a16="http://schemas.microsoft.com/office/drawing/2014/main" id="{F53F088D-A7EE-4971-B5BA-EE994EFFACF6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819650"/>
            <a:ext cx="532447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出典：［資料名・年・頁／撮影者］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対象：［地域・組織・期間］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42">
            <a:extLst>
              <a:ext uri="{FF2B5EF4-FFF2-40B4-BE49-F238E27FC236}">
                <a16:creationId xmlns:a16="http://schemas.microsoft.com/office/drawing/2014/main" id="{AC4A263D-D000-452E-839D-6285399D421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1828800"/>
            <a:ext cx="50863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求められる役割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43">
            <a:extLst>
              <a:ext uri="{FF2B5EF4-FFF2-40B4-BE49-F238E27FC236}">
                <a16:creationId xmlns:a16="http://schemas.microsoft.com/office/drawing/2014/main" id="{25458659-A694-4E30-8758-7C81054889A1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34150" y="2324100"/>
            <a:ext cx="50863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［社会・利用者が求めること］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［現場が満たすべき条件］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44">
            <a:extLst>
              <a:ext uri="{FF2B5EF4-FFF2-40B4-BE49-F238E27FC236}">
                <a16:creationId xmlns:a16="http://schemas.microsoft.com/office/drawing/2014/main" id="{4D92BE35-318C-4A83-8698-0227A89E365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34150" y="3790950"/>
            <a:ext cx="50863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現場に残る技術的課題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45">
            <a:extLst>
              <a:ext uri="{FF2B5EF4-FFF2-40B4-BE49-F238E27FC236}">
                <a16:creationId xmlns:a16="http://schemas.microsoft.com/office/drawing/2014/main" id="{7923FE8C-CC5C-4DCD-A108-1EC3C99EE6D3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4286250"/>
            <a:ext cx="50863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［役割を果たすうえで難しい点］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［根拠となる数値・観察事実］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rule_46">
            <a:extLst>
              <a:ext uri="{FF2B5EF4-FFF2-40B4-BE49-F238E27FC236}">
                <a16:creationId xmlns:a16="http://schemas.microsoft.com/office/drawing/2014/main" id="{CDB9E452-267A-429F-9BA0-9E76C14558F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5" name="PH_takeaway_47">
            <a:extLst>
              <a:ext uri="{FF2B5EF4-FFF2-40B4-BE49-F238E27FC236}">
                <a16:creationId xmlns:a16="http://schemas.microsoft.com/office/drawing/2014/main" id="{6F1423BA-D45B-4104-94EB-8B4A48BD7CE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［現場の要請］と［技術的制約］を満たす方法を検討する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2 導入B 比較手法・仮説" preserve="1">
  <p:cSld name="32 導入B 比較手法・仮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TATIC_rule_48">
            <a:extLst>
              <a:ext uri="{FF2B5EF4-FFF2-40B4-BE49-F238E27FC236}">
                <a16:creationId xmlns:a16="http://schemas.microsoft.com/office/drawing/2014/main" id="{B454553F-A0EA-4845-B71C-48B204C405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49">
            <a:extLst>
              <a:ext uri="{FF2B5EF4-FFF2-40B4-BE49-F238E27FC236}">
                <a16:creationId xmlns:a16="http://schemas.microsoft.com/office/drawing/2014/main" id="{41DE371D-0321-4746-931E-0F8F49FB539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比較する方法と検証する仮説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50">
            <a:extLst>
              <a:ext uri="{FF2B5EF4-FFF2-40B4-BE49-F238E27FC236}">
                <a16:creationId xmlns:a16="http://schemas.microsoft.com/office/drawing/2014/main" id="{504EE668-586F-45B7-9C51-32398FA37F6F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51">
            <a:extLst>
              <a:ext uri="{FF2B5EF4-FFF2-40B4-BE49-F238E27FC236}">
                <a16:creationId xmlns:a16="http://schemas.microsoft.com/office/drawing/2014/main" id="{64B6E17A-AFB1-467E-AC19-F45508B6296B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［比較の問いを端的に示す補助見出し］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52">
            <a:extLst>
              <a:ext uri="{FF2B5EF4-FFF2-40B4-BE49-F238E27FC236}">
                <a16:creationId xmlns:a16="http://schemas.microsoft.com/office/drawing/2014/main" id="{51B0E6C1-71B7-44DB-A882-FE694A308AE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53">
            <a:extLst>
              <a:ext uri="{FF2B5EF4-FFF2-40B4-BE49-F238E27FC236}">
                <a16:creationId xmlns:a16="http://schemas.microsoft.com/office/drawing/2014/main" id="{FE5CF9D9-0582-4C59-B9E7-B570AFD31FF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54">
            <a:extLst>
              <a:ext uri="{FF2B5EF4-FFF2-40B4-BE49-F238E27FC236}">
                <a16:creationId xmlns:a16="http://schemas.microsoft.com/office/drawing/2014/main" id="{DF96A076-3BDF-4D8B-B971-0D413C9C1B9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017DB3FD-49A5-4BA5-BABC-674332D3F8F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55">
            <a:extLst>
              <a:ext uri="{FF2B5EF4-FFF2-40B4-BE49-F238E27FC236}">
                <a16:creationId xmlns:a16="http://schemas.microsoft.com/office/drawing/2014/main" id="{B63765D3-1A3D-45AE-813B-04909947140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09750"/>
            <a:ext cx="51244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［方法A：比較の基準］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56">
            <a:extLst>
              <a:ext uri="{FF2B5EF4-FFF2-40B4-BE49-F238E27FC236}">
                <a16:creationId xmlns:a16="http://schemas.microsoft.com/office/drawing/2014/main" id="{66B01FEE-BE43-4D58-A93F-9A3BB9A4FF9A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05575" y="1809750"/>
            <a:ext cx="51149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［方法B：検証する方法］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57">
            <a:extLst>
              <a:ext uri="{FF2B5EF4-FFF2-40B4-BE49-F238E27FC236}">
                <a16:creationId xmlns:a16="http://schemas.microsoft.com/office/drawing/2014/main" id="{8F365B0D-DABE-4F07-A860-38AFE222C929}"/>
              </a:ext>
            </a:extLst>
          </p:cNvPr>
          <p:cNvSpPr>
            <a:spLocks noGrp="1"/>
          </p:cNvSpPr>
          <p:nvPr/>
        </p:nvSpPr>
        <p:spPr>
          <a:xfrm>
            <a:off x="6057900" y="1819275"/>
            <a:ext cx="19050" cy="2200275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1" name="PH_body_58">
            <a:extLst>
              <a:ext uri="{FF2B5EF4-FFF2-40B4-BE49-F238E27FC236}">
                <a16:creationId xmlns:a16="http://schemas.microsoft.com/office/drawing/2014/main" id="{5B9AE82E-DA99-4714-91B2-254E049F22AA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2343150"/>
            <a:ext cx="51244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［方法の基本的な働き］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［既にわかっている特徴］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59">
            <a:extLst>
              <a:ext uri="{FF2B5EF4-FFF2-40B4-BE49-F238E27FC236}">
                <a16:creationId xmlns:a16="http://schemas.microsoft.com/office/drawing/2014/main" id="{16334E37-6EB5-4584-91EB-7C19A67E448B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05575" y="2343150"/>
            <a:ext cx="5114925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［方法の基本的な働き］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［適すると考える条件］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source_60">
            <a:extLst>
              <a:ext uri="{FF2B5EF4-FFF2-40B4-BE49-F238E27FC236}">
                <a16:creationId xmlns:a16="http://schemas.microsoft.com/office/drawing/2014/main" id="{D9F43596-2794-40F9-A400-861712E036C2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3933825"/>
            <a:ext cx="51244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根拠：［文献番号／既往結果・日付］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61">
            <a:extLst>
              <a:ext uri="{FF2B5EF4-FFF2-40B4-BE49-F238E27FC236}">
                <a16:creationId xmlns:a16="http://schemas.microsoft.com/office/drawing/2014/main" id="{EF6E94AE-4CA8-4042-BC9D-62D0CDE0CB2C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295775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検証する仮説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62">
            <a:extLst>
              <a:ext uri="{FF2B5EF4-FFF2-40B4-BE49-F238E27FC236}">
                <a16:creationId xmlns:a16="http://schemas.microsoft.com/office/drawing/2014/main" id="{14DE3350-C435-4986-9313-EC98FF23ED9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71500" y="476250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［条件］では、［方法B］と［方法A］の［指標］に［予測する違い］が生じる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STATIC_rule_63">
            <a:extLst>
              <a:ext uri="{FF2B5EF4-FFF2-40B4-BE49-F238E27FC236}">
                <a16:creationId xmlns:a16="http://schemas.microsoft.com/office/drawing/2014/main" id="{AC06013A-5627-4D4E-8F3A-108BBCD3EBEB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7" name="PH_takeaway_64">
            <a:extLst>
              <a:ext uri="{FF2B5EF4-FFF2-40B4-BE49-F238E27FC236}">
                <a16:creationId xmlns:a16="http://schemas.microsoft.com/office/drawing/2014/main" id="{2FCF5391-46BB-4EAD-90FF-A83EB1310CD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［条件］を変えながら、［方法A］と［方法B］の違いを確かめる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3 導入C 目的・意義" preserve="1">
  <p:cSld name="33 導入C 目的・意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65">
            <a:extLst>
              <a:ext uri="{FF2B5EF4-FFF2-40B4-BE49-F238E27FC236}">
                <a16:creationId xmlns:a16="http://schemas.microsoft.com/office/drawing/2014/main" id="{BD7F2AF3-E51C-4693-80ED-EF8CDC5204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66">
            <a:extLst>
              <a:ext uri="{FF2B5EF4-FFF2-40B4-BE49-F238E27FC236}">
                <a16:creationId xmlns:a16="http://schemas.microsoft.com/office/drawing/2014/main" id="{5601FB43-E303-48D9-95D7-3DB967B10F1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研究の目的と社会的な意義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67">
            <a:extLst>
              <a:ext uri="{FF2B5EF4-FFF2-40B4-BE49-F238E27FC236}">
                <a16:creationId xmlns:a16="http://schemas.microsoft.com/office/drawing/2014/main" id="{68F539C4-1B3B-4805-A7EE-566E436AA77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68">
            <a:extLst>
              <a:ext uri="{FF2B5EF4-FFF2-40B4-BE49-F238E27FC236}">
                <a16:creationId xmlns:a16="http://schemas.microsoft.com/office/drawing/2014/main" id="{218B2475-D647-4E89-90A6-1CFA2104B8FB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［研究の要点を端的に示す補助見出し］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69">
            <a:extLst>
              <a:ext uri="{FF2B5EF4-FFF2-40B4-BE49-F238E27FC236}">
                <a16:creationId xmlns:a16="http://schemas.microsoft.com/office/drawing/2014/main" id="{65D148F2-A484-4606-A794-B52914E5312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70">
            <a:extLst>
              <a:ext uri="{FF2B5EF4-FFF2-40B4-BE49-F238E27FC236}">
                <a16:creationId xmlns:a16="http://schemas.microsoft.com/office/drawing/2014/main" id="{A2834104-8871-4B6F-9C93-FD4406DF6AFC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71">
            <a:extLst>
              <a:ext uri="{FF2B5EF4-FFF2-40B4-BE49-F238E27FC236}">
                <a16:creationId xmlns:a16="http://schemas.microsoft.com/office/drawing/2014/main" id="{C1AAD221-A00A-49CB-A513-A99904067A7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56E8190-E110-4FF3-9840-813182DA255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72">
            <a:extLst>
              <a:ext uri="{FF2B5EF4-FFF2-40B4-BE49-F238E27FC236}">
                <a16:creationId xmlns:a16="http://schemas.microsoft.com/office/drawing/2014/main" id="{931F6788-1C33-430A-AD78-7CE894F3071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09750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研究の目的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73">
            <a:extLst>
              <a:ext uri="{FF2B5EF4-FFF2-40B4-BE49-F238E27FC236}">
                <a16:creationId xmlns:a16="http://schemas.microsoft.com/office/drawing/2014/main" id="{0444A46F-CA4E-430C-80A2-E6048609F31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324100"/>
            <a:ext cx="110490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7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［対象・条件］における［方法］と［評価量］の関係を明らかにする</a:t>
            </a:r>
            <a:endParaRPr lang="ja-JP" altLang="en-US" sz="27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74">
            <a:extLst>
              <a:ext uri="{FF2B5EF4-FFF2-40B4-BE49-F238E27FC236}">
                <a16:creationId xmlns:a16="http://schemas.microsoft.com/office/drawing/2014/main" id="{4E1605D6-0C2B-4E1A-8CAA-DB01D9B5ACBD}"/>
              </a:ext>
            </a:extLst>
          </p:cNvPr>
          <p:cNvSpPr>
            <a:spLocks noGrp="1"/>
          </p:cNvSpPr>
          <p:nvPr/>
        </p:nvSpPr>
        <p:spPr>
          <a:xfrm>
            <a:off x="571500" y="353377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1" name="LABEL_75">
            <a:extLst>
              <a:ext uri="{FF2B5EF4-FFF2-40B4-BE49-F238E27FC236}">
                <a16:creationId xmlns:a16="http://schemas.microsoft.com/office/drawing/2014/main" id="{67C2AFDA-6E13-4C29-86EF-4D3D3A923F6F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3857625"/>
            <a:ext cx="51530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この研究が必要な理由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76">
            <a:extLst>
              <a:ext uri="{FF2B5EF4-FFF2-40B4-BE49-F238E27FC236}">
                <a16:creationId xmlns:a16="http://schemas.microsoft.com/office/drawing/2014/main" id="{2A4F7513-F852-4EA2-86B8-FFAE303A8C58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4362450"/>
            <a:ext cx="5153025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［社会・現場の要請］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［解決されていない技術的課題］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LABEL_77">
            <a:extLst>
              <a:ext uri="{FF2B5EF4-FFF2-40B4-BE49-F238E27FC236}">
                <a16:creationId xmlns:a16="http://schemas.microsoft.com/office/drawing/2014/main" id="{0199A734-A4BE-46EF-9707-144A28A62343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3857625"/>
            <a:ext cx="51244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得られる知見の使い道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78">
            <a:extLst>
              <a:ext uri="{FF2B5EF4-FFF2-40B4-BE49-F238E27FC236}">
                <a16:creationId xmlns:a16="http://schemas.microsoft.com/office/drawing/2014/main" id="{060B5343-CADB-4D1F-95CB-5EFC61049AE1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496050" y="4362450"/>
            <a:ext cx="512445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［誰の、どの判断に役立つか］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［適用にあたり確認する条件］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79">
            <a:extLst>
              <a:ext uri="{FF2B5EF4-FFF2-40B4-BE49-F238E27FC236}">
                <a16:creationId xmlns:a16="http://schemas.microsoft.com/office/drawing/2014/main" id="{4018BF7E-D0F0-41DE-82FB-D60CC0639EA8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80">
            <a:extLst>
              <a:ext uri="{FF2B5EF4-FFF2-40B4-BE49-F238E27FC236}">
                <a16:creationId xmlns:a16="http://schemas.microsoft.com/office/drawing/2014/main" id="{3220FBF2-4AA1-4646-BC69-13DA3C00375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［本研究で得る知見］を［活用場面］の判断材料とする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4 導入C 研究手法・検証範囲" preserve="1">
  <p:cSld name="34 導入C 研究手法・検証範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81">
            <a:extLst>
              <a:ext uri="{FF2B5EF4-FFF2-40B4-BE49-F238E27FC236}">
                <a16:creationId xmlns:a16="http://schemas.microsoft.com/office/drawing/2014/main" id="{31348976-F154-4FB8-A94D-0C37704897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82">
            <a:extLst>
              <a:ext uri="{FF2B5EF4-FFF2-40B4-BE49-F238E27FC236}">
                <a16:creationId xmlns:a16="http://schemas.microsoft.com/office/drawing/2014/main" id="{6E459EED-90DF-4967-A904-61F183071CE2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研究の進め方と検証範囲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83">
            <a:extLst>
              <a:ext uri="{FF2B5EF4-FFF2-40B4-BE49-F238E27FC236}">
                <a16:creationId xmlns:a16="http://schemas.microsoft.com/office/drawing/2014/main" id="{804D5639-D6E0-49D4-B216-96EF3FD60E6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84">
            <a:extLst>
              <a:ext uri="{FF2B5EF4-FFF2-40B4-BE49-F238E27FC236}">
                <a16:creationId xmlns:a16="http://schemas.microsoft.com/office/drawing/2014/main" id="{E470F452-D73D-4E4C-81CB-8D3B9FB490F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［今回の到達点を端的に示す補助見出し］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85">
            <a:extLst>
              <a:ext uri="{FF2B5EF4-FFF2-40B4-BE49-F238E27FC236}">
                <a16:creationId xmlns:a16="http://schemas.microsoft.com/office/drawing/2014/main" id="{5344F1A5-4C61-439A-ACD2-DDAF56C0427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86">
            <a:extLst>
              <a:ext uri="{FF2B5EF4-FFF2-40B4-BE49-F238E27FC236}">
                <a16:creationId xmlns:a16="http://schemas.microsoft.com/office/drawing/2014/main" id="{0DE499C7-B998-4E3C-9B8F-5CAF5C67F8A5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87">
            <a:extLst>
              <a:ext uri="{FF2B5EF4-FFF2-40B4-BE49-F238E27FC236}">
                <a16:creationId xmlns:a16="http://schemas.microsoft.com/office/drawing/2014/main" id="{BC64196B-DF1D-448D-896B-89CF19E47699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93DE876-7A98-4A5E-B354-34765974B5E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88">
            <a:extLst>
              <a:ext uri="{FF2B5EF4-FFF2-40B4-BE49-F238E27FC236}">
                <a16:creationId xmlns:a16="http://schemas.microsoft.com/office/drawing/2014/main" id="{D465FCB6-AA27-4435-AB40-49C8016A9C3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09750"/>
            <a:ext cx="61055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対象とするモデル・仕組み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89">
            <a:extLst>
              <a:ext uri="{FF2B5EF4-FFF2-40B4-BE49-F238E27FC236}">
                <a16:creationId xmlns:a16="http://schemas.microsoft.com/office/drawing/2014/main" id="{F55B8B99-2AFE-4E81-A1A9-ADC18F2125DB}"/>
              </a:ext>
            </a:extLst>
          </p:cNvPr>
          <p:cNvSpPr>
            <a:spLocks noGrp="1"/>
          </p:cNvSpPr>
          <p:nvPr>
            <p:ph idx="5" hasCustomPrompt="1"/>
          </p:nvPr>
        </p:nvSpPr>
        <p:spPr>
          <a:xfrm>
            <a:off x="571500" y="2352675"/>
            <a:ext cx="6105525" cy="2200275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［入力 → 対象モデル → 出力］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［系統図・構成図などを配置］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90">
            <a:extLst>
              <a:ext uri="{FF2B5EF4-FFF2-40B4-BE49-F238E27FC236}">
                <a16:creationId xmlns:a16="http://schemas.microsoft.com/office/drawing/2014/main" id="{88991716-9BC9-43CA-A3CB-6407582500EA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762500"/>
            <a:ext cx="610552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対象範囲：［今回含めるもの・含めないもの］</a:t>
            </a:r>
            <a:endParaRPr lang="ja-JP" altLang="en-US" sz="18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LABEL_91">
            <a:extLst>
              <a:ext uri="{FF2B5EF4-FFF2-40B4-BE49-F238E27FC236}">
                <a16:creationId xmlns:a16="http://schemas.microsoft.com/office/drawing/2014/main" id="{1A482A3F-A4EF-4F44-9C7B-F9B47C61CEFA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219950" y="1809750"/>
            <a:ext cx="44005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比較する条件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92">
            <a:extLst>
              <a:ext uri="{FF2B5EF4-FFF2-40B4-BE49-F238E27FC236}">
                <a16:creationId xmlns:a16="http://schemas.microsoft.com/office/drawing/2014/main" id="{8ECA1690-FBE7-4DE0-BA6A-1F8DB75E2951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7219950" y="2343150"/>
            <a:ext cx="4400550" cy="1457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方法：［比較する方法］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条件：［変える量・範囲・単位］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固定：［そろえる条件］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LABEL_93">
            <a:extLst>
              <a:ext uri="{FF2B5EF4-FFF2-40B4-BE49-F238E27FC236}">
                <a16:creationId xmlns:a16="http://schemas.microsoft.com/office/drawing/2014/main" id="{F7A213AB-6DB5-45CC-9FB3-5FB6BE982863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7219950" y="4124325"/>
            <a:ext cx="44005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確かめること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4">
            <a:extLst>
              <a:ext uri="{FF2B5EF4-FFF2-40B4-BE49-F238E27FC236}">
                <a16:creationId xmlns:a16="http://schemas.microsoft.com/office/drawing/2014/main" id="{424DC48F-0FBF-4DC4-88FC-EB44956F6F7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219950" y="4629150"/>
            <a:ext cx="44005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［評価量・単位］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［妥当性を確かめる基準］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95">
            <a:extLst>
              <a:ext uri="{FF2B5EF4-FFF2-40B4-BE49-F238E27FC236}">
                <a16:creationId xmlns:a16="http://schemas.microsoft.com/office/drawing/2014/main" id="{04E7C8E2-F8FE-4365-9A68-E6212FA4B317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96">
            <a:extLst>
              <a:ext uri="{FF2B5EF4-FFF2-40B4-BE49-F238E27FC236}">
                <a16:creationId xmlns:a16="http://schemas.microsoft.com/office/drawing/2014/main" id="{4AC41B8B-54B0-43C8-BAEA-8BE67EDE927E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［条件の変化］に対する［効果・適用範囲］を定量的に示す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都市大ブルー研究テンプレー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p:txStyles>
    <p:titleStyle>
      <a:lvl1pPr marL="0" indent="0" algn="l">
        <a:lnSpc>
          <a:spcPct val="90000"/>
        </a:lnSpc>
        <a:spcBef>
          <a:spcPts val="0"/>
        </a:spcBef>
        <a:buNone/>
        <a:defRPr lang="ja-JP" altLang="en-US" sz="3300">
          <a:solidFill>
            <a:schemeClr val="tx1"/>
          </a:solidFill>
          <a:latin typeface="Times New Roman"/>
          <a:ea typeface="Meiryo"/>
          <a:cs typeface="Times New Roman"/>
        </a:defRPr>
      </a:lvl1pPr>
    </p:titleStyle>
    <p:bodyStyle>
      <a:lvl1pPr marL="0" indent="0" algn="l">
        <a:lnSpc>
          <a:spcPct val="90000"/>
        </a:lnSpc>
        <a:spcBef>
          <a:spcPts val="10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1pPr>
      <a:lvl2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2pPr>
      <a:lvl3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3pPr>
      <a:lvl4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4pPr>
      <a:lvl5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5pPr>
      <a:lvl6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6pPr>
      <a:lvl7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7pPr>
      <a:lvl8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8pPr>
      <a:lvl9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9pPr>
    </p:bodyStyle>
    <p:otherStyle>
      <a:lvl1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1pPr>
      <a:lvl2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2pPr>
      <a:lvl3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3pPr>
      <a:lvl4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4pPr>
      <a:lvl5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5pPr>
      <a:lvl6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6pPr>
      <a:lvl7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7pPr>
      <a:lvl8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8pPr>
      <a:lvl9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">
            <a:extLst>
              <a:ext uri="{FF2B5EF4-FFF2-40B4-BE49-F238E27FC236}">
                <a16:creationId xmlns:a16="http://schemas.microsoft.com/office/drawing/2014/main" id="{06034849-7290-4EBF-9483-7106BCD1405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社会背景・研究背景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4">
            <a:extLst>
              <a:ext uri="{FF2B5EF4-FFF2-40B4-BE49-F238E27FC236}">
                <a16:creationId xmlns:a16="http://schemas.microsoft.com/office/drawing/2014/main" id="{42BB7A37-5A9D-4FF4-93EC-7CB49B13AFE8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［社会的背景を端的に示す補助見出し］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6">
            <a:extLst>
              <a:ext uri="{FF2B5EF4-FFF2-40B4-BE49-F238E27FC236}">
                <a16:creationId xmlns:a16="http://schemas.microsoft.com/office/drawing/2014/main" id="{8F1184B9-5CB6-4E39-8024-C2019E8B064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7">
            <a:extLst>
              <a:ext uri="{FF2B5EF4-FFF2-40B4-BE49-F238E27FC236}">
                <a16:creationId xmlns:a16="http://schemas.microsoft.com/office/drawing/2014/main" id="{BF9B661D-F5E0-440B-B3C0-04160910D468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60EDF77-217F-499E-9AF2-6067BC2DCC27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8">
            <a:extLst>
              <a:ext uri="{FF2B5EF4-FFF2-40B4-BE49-F238E27FC236}">
                <a16:creationId xmlns:a16="http://schemas.microsoft.com/office/drawing/2014/main" id="{C8677966-46BF-45DB-AA7A-E67ECA0E266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790700"/>
            <a:ext cx="59626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社会背景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9">
            <a:extLst>
              <a:ext uri="{FF2B5EF4-FFF2-40B4-BE49-F238E27FC236}">
                <a16:creationId xmlns:a16="http://schemas.microsoft.com/office/drawing/2014/main" id="{4AAF519F-5A9F-4D17-B6DD-15084F8B3BE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266950"/>
            <a:ext cx="596265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［政策・社会が目指す姿］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［実現に向けた取組・変化］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10">
            <a:extLst>
              <a:ext uri="{FF2B5EF4-FFF2-40B4-BE49-F238E27FC236}">
                <a16:creationId xmlns:a16="http://schemas.microsoft.com/office/drawing/2014/main" id="{4A0A000E-D742-49A4-8C23-AB5FAE7D6DF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3267075" y="3314700"/>
            <a:ext cx="5334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7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↓</a:t>
            </a:r>
            <a:endParaRPr lang="ja-JP" altLang="en-US" sz="27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LABEL_11">
            <a:extLst>
              <a:ext uri="{FF2B5EF4-FFF2-40B4-BE49-F238E27FC236}">
                <a16:creationId xmlns:a16="http://schemas.microsoft.com/office/drawing/2014/main" id="{003AA621-C2D6-466C-9A9E-795AB1884CAB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867150"/>
            <a:ext cx="59626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12">
            <a:extLst>
              <a:ext uri="{FF2B5EF4-FFF2-40B4-BE49-F238E27FC236}">
                <a16:creationId xmlns:a16="http://schemas.microsoft.com/office/drawing/2014/main" id="{60144341-B641-41B8-98DC-1F8192F8932C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362450"/>
            <a:ext cx="5962650" cy="1009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［取組に伴って生じる技術的課題］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［解決のために必要な対応］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figure_13">
            <a:extLst>
              <a:ext uri="{FF2B5EF4-FFF2-40B4-BE49-F238E27FC236}">
                <a16:creationId xmlns:a16="http://schemas.microsoft.com/office/drawing/2014/main" id="{401BC5B1-47A8-4387-A5C3-479C4FFB2676}"/>
              </a:ext>
            </a:extLst>
          </p:cNvPr>
          <p:cNvSpPr>
            <a:spLocks noGrp="1"/>
          </p:cNvSpPr>
          <p:nvPr>
            <p:ph idx="9" hasCustomPrompt="1"/>
          </p:nvPr>
        </p:nvSpPr>
        <p:spPr>
          <a:xfrm>
            <a:off x="7134225" y="1952625"/>
            <a:ext cx="4486275" cy="2705100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［技術的課題を示す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図・統計・概念図］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source_14">
            <a:extLst>
              <a:ext uri="{FF2B5EF4-FFF2-40B4-BE49-F238E27FC236}">
                <a16:creationId xmlns:a16="http://schemas.microsoft.com/office/drawing/2014/main" id="{ED57E3F3-B504-436B-8CD4-DFE0C4D49FB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134225" y="4819650"/>
            <a:ext cx="448627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政策：［資料名・年・頁］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図：［出典・対象範囲］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PH_takeaway_16">
            <a:extLst>
              <a:ext uri="{FF2B5EF4-FFF2-40B4-BE49-F238E27FC236}">
                <a16:creationId xmlns:a16="http://schemas.microsoft.com/office/drawing/2014/main" id="{8581A6F4-A006-45B3-926F-2E7EE3CFEF7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［社会の目標］を支えるには、［技術的課題］の解決が必要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75287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8">
            <a:extLst>
              <a:ext uri="{FF2B5EF4-FFF2-40B4-BE49-F238E27FC236}">
                <a16:creationId xmlns:a16="http://schemas.microsoft.com/office/drawing/2014/main" id="{F5FC2D4F-8E39-4711-ACBA-8605CC9CC09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研究課題と本研究の目的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20">
            <a:extLst>
              <a:ext uri="{FF2B5EF4-FFF2-40B4-BE49-F238E27FC236}">
                <a16:creationId xmlns:a16="http://schemas.microsoft.com/office/drawing/2014/main" id="{440B67EB-5E61-4F91-A4C2-20E26338108A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［本研究の役割を端的に示す補助見出し］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22">
            <a:extLst>
              <a:ext uri="{FF2B5EF4-FFF2-40B4-BE49-F238E27FC236}">
                <a16:creationId xmlns:a16="http://schemas.microsoft.com/office/drawing/2014/main" id="{C7B25552-D3E7-48C4-88D8-2F465A3D993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23">
            <a:extLst>
              <a:ext uri="{FF2B5EF4-FFF2-40B4-BE49-F238E27FC236}">
                <a16:creationId xmlns:a16="http://schemas.microsoft.com/office/drawing/2014/main" id="{D4F3709F-D73E-4F2E-BC9C-97592D997077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BB971D6-722B-46AC-BB3F-D3AD3C0A299F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4">
            <a:extLst>
              <a:ext uri="{FF2B5EF4-FFF2-40B4-BE49-F238E27FC236}">
                <a16:creationId xmlns:a16="http://schemas.microsoft.com/office/drawing/2014/main" id="{515EFFE9-B490-477E-900D-F902F12ECB1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781175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対象技術に残る課題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5">
            <a:extLst>
              <a:ext uri="{FF2B5EF4-FFF2-40B4-BE49-F238E27FC236}">
                <a16:creationId xmlns:a16="http://schemas.microsoft.com/office/drawing/2014/main" id="{55B842B2-E5D1-47DE-AB92-2A81A766807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219325"/>
            <a:ext cx="11049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［課題1：効果・仕組みの明確化］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［課題2：適用条件・限界の明確化］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source_26">
            <a:extLst>
              <a:ext uri="{FF2B5EF4-FFF2-40B4-BE49-F238E27FC236}">
                <a16:creationId xmlns:a16="http://schemas.microsoft.com/office/drawing/2014/main" id="{BDDC3A0D-FF5F-4381-90AC-15FD66978DFB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3095625"/>
            <a:ext cx="110490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課題の根拠：［文献番号／確認した事実・日付］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8">
            <a:extLst>
              <a:ext uri="{FF2B5EF4-FFF2-40B4-BE49-F238E27FC236}">
                <a16:creationId xmlns:a16="http://schemas.microsoft.com/office/drawing/2014/main" id="{24C384A6-EA68-481A-BD93-7CC6F73EE154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609975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本研究の目的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9">
            <a:extLst>
              <a:ext uri="{FF2B5EF4-FFF2-40B4-BE49-F238E27FC236}">
                <a16:creationId xmlns:a16="http://schemas.microsoft.com/office/drawing/2014/main" id="{CEEF5CCC-CFBD-435D-BD61-B32EBA42615C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076700"/>
            <a:ext cx="11049000" cy="771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［対象・条件］における［方法］と［評価量］の関係を明らかにする</a:t>
            </a:r>
            <a:endParaRPr lang="ja-JP" altLang="en-US" sz="24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30">
            <a:extLst>
              <a:ext uri="{FF2B5EF4-FFF2-40B4-BE49-F238E27FC236}">
                <a16:creationId xmlns:a16="http://schemas.microsoft.com/office/drawing/2014/main" id="{1E3C9D6A-E3F4-4526-8708-AED7D1C45CA8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9244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仮説：［条件］では、［方法の違い］により［評価量］が［変化］する</a:t>
            </a:r>
            <a:endParaRPr lang="ja-JP" altLang="en-US" sz="19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PH_takeaway_32">
            <a:extLst>
              <a:ext uri="{FF2B5EF4-FFF2-40B4-BE49-F238E27FC236}">
                <a16:creationId xmlns:a16="http://schemas.microsoft.com/office/drawing/2014/main" id="{820848C7-0409-4C18-94C9-FEC47841487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［対象条件］での［効果・適用範囲］を定量的に示す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93653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34">
            <a:extLst>
              <a:ext uri="{FF2B5EF4-FFF2-40B4-BE49-F238E27FC236}">
                <a16:creationId xmlns:a16="http://schemas.microsoft.com/office/drawing/2014/main" id="{E4C8C69D-1043-4478-92BE-E9007ED267E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社会の要請と現場の課題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36">
            <a:extLst>
              <a:ext uri="{FF2B5EF4-FFF2-40B4-BE49-F238E27FC236}">
                <a16:creationId xmlns:a16="http://schemas.microsoft.com/office/drawing/2014/main" id="{16AFF1AC-4281-41CD-B46D-C946DB13032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［現場の状況を端的に示す補助見出し］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38">
            <a:extLst>
              <a:ext uri="{FF2B5EF4-FFF2-40B4-BE49-F238E27FC236}">
                <a16:creationId xmlns:a16="http://schemas.microsoft.com/office/drawing/2014/main" id="{7CCC4355-F209-4DF1-83E3-128D8C30552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39">
            <a:extLst>
              <a:ext uri="{FF2B5EF4-FFF2-40B4-BE49-F238E27FC236}">
                <a16:creationId xmlns:a16="http://schemas.microsoft.com/office/drawing/2014/main" id="{EC7025DB-9A57-429D-87CB-B07329C6A362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4F46FB15-09A9-4A12-AEB4-82227F56097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3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40">
            <a:extLst>
              <a:ext uri="{FF2B5EF4-FFF2-40B4-BE49-F238E27FC236}">
                <a16:creationId xmlns:a16="http://schemas.microsoft.com/office/drawing/2014/main" id="{344B90EE-5CD5-41C9-A69C-F2E001D8191D}"/>
              </a:ext>
            </a:extLst>
          </p:cNvPr>
          <p:cNvSpPr>
            <a:spLocks noGrp="1"/>
          </p:cNvSpPr>
          <p:nvPr>
            <p:ph idx="4" hasCustomPrompt="1"/>
          </p:nvPr>
        </p:nvSpPr>
        <p:spPr>
          <a:xfrm>
            <a:off x="571500" y="1971675"/>
            <a:ext cx="5324475" cy="2714625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［対象の写真・運用図］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source_41">
            <a:extLst>
              <a:ext uri="{FF2B5EF4-FFF2-40B4-BE49-F238E27FC236}">
                <a16:creationId xmlns:a16="http://schemas.microsoft.com/office/drawing/2014/main" id="{F53F088D-A7EE-4971-B5BA-EE994EFFACF6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819650"/>
            <a:ext cx="5324475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出典：［資料名・年・頁／撮影者］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対象：［地域・組織・期間］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42">
            <a:extLst>
              <a:ext uri="{FF2B5EF4-FFF2-40B4-BE49-F238E27FC236}">
                <a16:creationId xmlns:a16="http://schemas.microsoft.com/office/drawing/2014/main" id="{AC4A263D-D000-452E-839D-6285399D421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1828800"/>
            <a:ext cx="50863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求められる役割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43">
            <a:extLst>
              <a:ext uri="{FF2B5EF4-FFF2-40B4-BE49-F238E27FC236}">
                <a16:creationId xmlns:a16="http://schemas.microsoft.com/office/drawing/2014/main" id="{25458659-A694-4E30-8758-7C81054889A1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34150" y="2324100"/>
            <a:ext cx="50863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［社会・利用者が求めること］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［現場が満たすべき条件］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44">
            <a:extLst>
              <a:ext uri="{FF2B5EF4-FFF2-40B4-BE49-F238E27FC236}">
                <a16:creationId xmlns:a16="http://schemas.microsoft.com/office/drawing/2014/main" id="{4D92BE35-318C-4A83-8698-0227A89E365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34150" y="3790950"/>
            <a:ext cx="50863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現場に残る技術的課題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45">
            <a:extLst>
              <a:ext uri="{FF2B5EF4-FFF2-40B4-BE49-F238E27FC236}">
                <a16:creationId xmlns:a16="http://schemas.microsoft.com/office/drawing/2014/main" id="{7923FE8C-CC5C-4DCD-A108-1EC3C99EE6D3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4286250"/>
            <a:ext cx="50863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［役割を果たすうえで難しい点］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［根拠となる数値・観察事実］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takeaway_47">
            <a:extLst>
              <a:ext uri="{FF2B5EF4-FFF2-40B4-BE49-F238E27FC236}">
                <a16:creationId xmlns:a16="http://schemas.microsoft.com/office/drawing/2014/main" id="{6F1423BA-D45B-4104-94EB-8B4A48BD7CE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［現場の要請］と［技術的制約］を満たす方法を検討する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34959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49">
            <a:extLst>
              <a:ext uri="{FF2B5EF4-FFF2-40B4-BE49-F238E27FC236}">
                <a16:creationId xmlns:a16="http://schemas.microsoft.com/office/drawing/2014/main" id="{41DE371D-0321-4746-931E-0F8F49FB539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比較する方法と検証する仮説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51">
            <a:extLst>
              <a:ext uri="{FF2B5EF4-FFF2-40B4-BE49-F238E27FC236}">
                <a16:creationId xmlns:a16="http://schemas.microsoft.com/office/drawing/2014/main" id="{64B6E17A-AFB1-467E-AC19-F45508B6296B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［比較の問いを端的に示す補助見出し］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53">
            <a:extLst>
              <a:ext uri="{FF2B5EF4-FFF2-40B4-BE49-F238E27FC236}">
                <a16:creationId xmlns:a16="http://schemas.microsoft.com/office/drawing/2014/main" id="{FE5CF9D9-0582-4C59-B9E7-B570AFD31FF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54">
            <a:extLst>
              <a:ext uri="{FF2B5EF4-FFF2-40B4-BE49-F238E27FC236}">
                <a16:creationId xmlns:a16="http://schemas.microsoft.com/office/drawing/2014/main" id="{DF96A076-3BDF-4D8B-B971-0D413C9C1B9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017DB3FD-49A5-4BA5-BABC-674332D3F8F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4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55">
            <a:extLst>
              <a:ext uri="{FF2B5EF4-FFF2-40B4-BE49-F238E27FC236}">
                <a16:creationId xmlns:a16="http://schemas.microsoft.com/office/drawing/2014/main" id="{B63765D3-1A3D-45AE-813B-04909947140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09750"/>
            <a:ext cx="51244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［方法A：比較の基準］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56">
            <a:extLst>
              <a:ext uri="{FF2B5EF4-FFF2-40B4-BE49-F238E27FC236}">
                <a16:creationId xmlns:a16="http://schemas.microsoft.com/office/drawing/2014/main" id="{66B01FEE-BE43-4D58-A93F-9A3BB9A4FF9A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05575" y="1809750"/>
            <a:ext cx="51149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［方法B：検証する方法］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58">
            <a:extLst>
              <a:ext uri="{FF2B5EF4-FFF2-40B4-BE49-F238E27FC236}">
                <a16:creationId xmlns:a16="http://schemas.microsoft.com/office/drawing/2014/main" id="{5B9AE82E-DA99-4714-91B2-254E049F22AA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2343150"/>
            <a:ext cx="51244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［方法の基本的な働き］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［既にわかっている特徴］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59">
            <a:extLst>
              <a:ext uri="{FF2B5EF4-FFF2-40B4-BE49-F238E27FC236}">
                <a16:creationId xmlns:a16="http://schemas.microsoft.com/office/drawing/2014/main" id="{16334E37-6EB5-4584-91EB-7C19A67E448B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05575" y="2343150"/>
            <a:ext cx="5114925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［方法の基本的な働き］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［適すると考える条件］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source_60">
            <a:extLst>
              <a:ext uri="{FF2B5EF4-FFF2-40B4-BE49-F238E27FC236}">
                <a16:creationId xmlns:a16="http://schemas.microsoft.com/office/drawing/2014/main" id="{D9F43596-2794-40F9-A400-861712E036C2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3933825"/>
            <a:ext cx="51244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根拠：［文献番号／既往結果・日付］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61">
            <a:extLst>
              <a:ext uri="{FF2B5EF4-FFF2-40B4-BE49-F238E27FC236}">
                <a16:creationId xmlns:a16="http://schemas.microsoft.com/office/drawing/2014/main" id="{EF6E94AE-4CA8-4042-BC9D-62D0CDE0CB2C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295775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検証する仮説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62">
            <a:extLst>
              <a:ext uri="{FF2B5EF4-FFF2-40B4-BE49-F238E27FC236}">
                <a16:creationId xmlns:a16="http://schemas.microsoft.com/office/drawing/2014/main" id="{14DE3350-C435-4986-9313-EC98FF23ED9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71500" y="4762500"/>
            <a:ext cx="11049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［条件］では、［方法B］と［方法A］の［指標］に［予測する違い］が生じる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takeaway_64">
            <a:extLst>
              <a:ext uri="{FF2B5EF4-FFF2-40B4-BE49-F238E27FC236}">
                <a16:creationId xmlns:a16="http://schemas.microsoft.com/office/drawing/2014/main" id="{2FCF5391-46BB-4EAD-90FF-A83EB1310CDA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［条件］を変えながら、［方法A］と［方法B］の違いを確かめる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63211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66">
            <a:extLst>
              <a:ext uri="{FF2B5EF4-FFF2-40B4-BE49-F238E27FC236}">
                <a16:creationId xmlns:a16="http://schemas.microsoft.com/office/drawing/2014/main" id="{5601FB43-E303-48D9-95D7-3DB967B10F1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研究の目的と社会的な意義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68">
            <a:extLst>
              <a:ext uri="{FF2B5EF4-FFF2-40B4-BE49-F238E27FC236}">
                <a16:creationId xmlns:a16="http://schemas.microsoft.com/office/drawing/2014/main" id="{218B2475-D647-4E89-90A6-1CFA2104B8FB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［研究の要点を端的に示す補助見出し］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70">
            <a:extLst>
              <a:ext uri="{FF2B5EF4-FFF2-40B4-BE49-F238E27FC236}">
                <a16:creationId xmlns:a16="http://schemas.microsoft.com/office/drawing/2014/main" id="{A2834104-8871-4B6F-9C93-FD4406DF6AFC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71">
            <a:extLst>
              <a:ext uri="{FF2B5EF4-FFF2-40B4-BE49-F238E27FC236}">
                <a16:creationId xmlns:a16="http://schemas.microsoft.com/office/drawing/2014/main" id="{C1AAD221-A00A-49CB-A513-A99904067A7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56E8190-E110-4FF3-9840-813182DA255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5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72">
            <a:extLst>
              <a:ext uri="{FF2B5EF4-FFF2-40B4-BE49-F238E27FC236}">
                <a16:creationId xmlns:a16="http://schemas.microsoft.com/office/drawing/2014/main" id="{931F6788-1C33-430A-AD78-7CE894F3071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09750"/>
            <a:ext cx="110490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研究の目的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73">
            <a:extLst>
              <a:ext uri="{FF2B5EF4-FFF2-40B4-BE49-F238E27FC236}">
                <a16:creationId xmlns:a16="http://schemas.microsoft.com/office/drawing/2014/main" id="{0444A46F-CA4E-430C-80A2-E6048609F31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324100"/>
            <a:ext cx="1104900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7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［対象・条件］における［方法］と［評価量］の関係を明らかにする</a:t>
            </a:r>
            <a:endParaRPr lang="ja-JP" altLang="en-US" sz="27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LABEL_75">
            <a:extLst>
              <a:ext uri="{FF2B5EF4-FFF2-40B4-BE49-F238E27FC236}">
                <a16:creationId xmlns:a16="http://schemas.microsoft.com/office/drawing/2014/main" id="{67C2AFDA-6E13-4C29-86EF-4D3D3A923F6F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3857625"/>
            <a:ext cx="51530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この研究が必要な理由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76">
            <a:extLst>
              <a:ext uri="{FF2B5EF4-FFF2-40B4-BE49-F238E27FC236}">
                <a16:creationId xmlns:a16="http://schemas.microsoft.com/office/drawing/2014/main" id="{2A4F7513-F852-4EA2-86B8-FFAE303A8C58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4362450"/>
            <a:ext cx="5153025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［社会・現場の要請］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［解決されていない技術的課題］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LABEL_77">
            <a:extLst>
              <a:ext uri="{FF2B5EF4-FFF2-40B4-BE49-F238E27FC236}">
                <a16:creationId xmlns:a16="http://schemas.microsoft.com/office/drawing/2014/main" id="{0199A734-A4BE-46EF-9707-144A28A62343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3857625"/>
            <a:ext cx="51244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得られる知見の使い道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78">
            <a:extLst>
              <a:ext uri="{FF2B5EF4-FFF2-40B4-BE49-F238E27FC236}">
                <a16:creationId xmlns:a16="http://schemas.microsoft.com/office/drawing/2014/main" id="{060B5343-CADB-4D1F-95CB-5EFC61049AE1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496050" y="4362450"/>
            <a:ext cx="5124450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［誰の、どの判断に役立つか］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［適用にあたり確認する条件］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PH_takeaway_80">
            <a:extLst>
              <a:ext uri="{FF2B5EF4-FFF2-40B4-BE49-F238E27FC236}">
                <a16:creationId xmlns:a16="http://schemas.microsoft.com/office/drawing/2014/main" id="{3220FBF2-4AA1-4646-BC69-13DA3C003756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［本研究で得る知見］を［活用場面］の判断材料とする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13496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82">
            <a:extLst>
              <a:ext uri="{FF2B5EF4-FFF2-40B4-BE49-F238E27FC236}">
                <a16:creationId xmlns:a16="http://schemas.microsoft.com/office/drawing/2014/main" id="{6E459EED-90DF-4967-A904-61F183071CE2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400050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研究の進め方と検証範囲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84">
            <a:extLst>
              <a:ext uri="{FF2B5EF4-FFF2-40B4-BE49-F238E27FC236}">
                <a16:creationId xmlns:a16="http://schemas.microsoft.com/office/drawing/2014/main" id="{E470F452-D73D-4E4C-81CB-8D3B9FB490F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3350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6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［今回の到達点を端的に示す補助見出し］</a:t>
            </a:r>
            <a:endParaRPr lang="ja-JP" altLang="en-US" sz="16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86">
            <a:extLst>
              <a:ext uri="{FF2B5EF4-FFF2-40B4-BE49-F238E27FC236}">
                <a16:creationId xmlns:a16="http://schemas.microsoft.com/office/drawing/2014/main" id="{0DE499C7-B998-4E3C-9B8F-5CAF5C67F8A5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87">
            <a:extLst>
              <a:ext uri="{FF2B5EF4-FFF2-40B4-BE49-F238E27FC236}">
                <a16:creationId xmlns:a16="http://schemas.microsoft.com/office/drawing/2014/main" id="{BC64196B-DF1D-448D-896B-89CF19E47699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953750" y="641985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93DE876-7A98-4A5E-B354-34765974B5E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6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88">
            <a:extLst>
              <a:ext uri="{FF2B5EF4-FFF2-40B4-BE49-F238E27FC236}">
                <a16:creationId xmlns:a16="http://schemas.microsoft.com/office/drawing/2014/main" id="{D465FCB6-AA27-4435-AB40-49C8016A9C3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1809750"/>
            <a:ext cx="6105525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対象とするモデル・仕組み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89">
            <a:extLst>
              <a:ext uri="{FF2B5EF4-FFF2-40B4-BE49-F238E27FC236}">
                <a16:creationId xmlns:a16="http://schemas.microsoft.com/office/drawing/2014/main" id="{F55B8B99-2AFE-4E81-A1A9-ADC18F2125DB}"/>
              </a:ext>
            </a:extLst>
          </p:cNvPr>
          <p:cNvSpPr>
            <a:spLocks noGrp="1"/>
          </p:cNvSpPr>
          <p:nvPr>
            <p:ph idx="5" hasCustomPrompt="1"/>
          </p:nvPr>
        </p:nvSpPr>
        <p:spPr>
          <a:xfrm>
            <a:off x="571500" y="2352675"/>
            <a:ext cx="6105525" cy="2200275"/>
          </a:xfrm>
          <a:prstGeom prst="rect">
            <a:avLst/>
          </a:prstGeom>
          <a:solidFill>
            <a:srgbClr val="EDF8FD"/>
          </a:solidFill>
          <a:ln w="11430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［入力 → 対象モデル → 出力］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  <a:p>
            <a:pPr algn="ctr">
              <a:def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［系統図・構成図などを配置］</a:t>
            </a:r>
            <a:endParaRPr lang="ja-JP" altLang="en-US" sz="21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90">
            <a:extLst>
              <a:ext uri="{FF2B5EF4-FFF2-40B4-BE49-F238E27FC236}">
                <a16:creationId xmlns:a16="http://schemas.microsoft.com/office/drawing/2014/main" id="{88991716-9BC9-43CA-A3CB-6407582500EA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762500"/>
            <a:ext cx="6105525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対象範囲：［今回含めるもの・含めないもの］</a:t>
            </a:r>
            <a:endParaRPr lang="ja-JP" altLang="en-US" sz="18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LABEL_91">
            <a:extLst>
              <a:ext uri="{FF2B5EF4-FFF2-40B4-BE49-F238E27FC236}">
                <a16:creationId xmlns:a16="http://schemas.microsoft.com/office/drawing/2014/main" id="{1A482A3F-A4EF-4F44-9C7B-F9B47C61CEFA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219950" y="1809750"/>
            <a:ext cx="44005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比較する条件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92">
            <a:extLst>
              <a:ext uri="{FF2B5EF4-FFF2-40B4-BE49-F238E27FC236}">
                <a16:creationId xmlns:a16="http://schemas.microsoft.com/office/drawing/2014/main" id="{8ECA1690-FBE7-4DE0-BA6A-1F8DB75E2951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7219950" y="2343150"/>
            <a:ext cx="4400550" cy="1457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方法：［比較する方法］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条件：［変える量・範囲・単位］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固定：［そろえる条件］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LABEL_93">
            <a:extLst>
              <a:ext uri="{FF2B5EF4-FFF2-40B4-BE49-F238E27FC236}">
                <a16:creationId xmlns:a16="http://schemas.microsoft.com/office/drawing/2014/main" id="{F7A213AB-6DB5-45CC-9FB3-5FB6BE982863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7219950" y="4124325"/>
            <a:ext cx="440055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確かめること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4">
            <a:extLst>
              <a:ext uri="{FF2B5EF4-FFF2-40B4-BE49-F238E27FC236}">
                <a16:creationId xmlns:a16="http://schemas.microsoft.com/office/drawing/2014/main" id="{424DC48F-0FBF-4DC4-88FC-EB44956F6F7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7219950" y="4629150"/>
            <a:ext cx="44005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［評価量・単位］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［妥当性を確かめる基準］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PH_takeaway_96">
            <a:extLst>
              <a:ext uri="{FF2B5EF4-FFF2-40B4-BE49-F238E27FC236}">
                <a16:creationId xmlns:a16="http://schemas.microsoft.com/office/drawing/2014/main" id="{4AC41B8B-54B0-43C8-BAEA-8BE67EDE927E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［条件の変化］に対する［効果・適用範囲］を定量的に示す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68942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3135</Words>
  <Application>Microsoft Office PowerPoint</Application>
  <DocSecurity>0</DocSecurity>
  <PresentationFormat>ワイド画面</PresentationFormat>
  <Paragraphs>255</Paragraphs>
  <Slides>6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8" baseType="lpstr">
      <vt:lpstr>Times New Roman</vt:lpstr>
      <vt:lpstr>ChatGPT</vt:lpstr>
      <vt:lpstr>社会背景・研究背景</vt:lpstr>
      <vt:lpstr>研究課題と本研究の目的</vt:lpstr>
      <vt:lpstr>社会の要請と現場の課題</vt:lpstr>
      <vt:lpstr>比較する方法と検証する仮説</vt:lpstr>
      <vt:lpstr>研究の目的と社会的な意義</vt:lpstr>
      <vt:lpstr>研究の進め方と検証範囲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刘 承洋_LIU Chengyang(東京都市大学_Tokyo City University)</cp:lastModifiedBy>
  <cp:revision>2</cp:revision>
  <dcterms:created xsi:type="dcterms:W3CDTF">2026-09-27T04:53:20Z</dcterms:created>
  <dcterms:modified xsi:type="dcterms:W3CDTF">2026-09-27T07:04:41Z</dcterms:modified>
</cp:coreProperties>
</file>