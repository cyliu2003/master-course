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比較対象</c:v>
          </c:tx>
          <c:spPr>
            <a:solidFill>
              <a:srgbClr val="849BA8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5F-4CC2-ACC8-FC5B39ABA3DD}"/>
            </c:ext>
          </c:extLst>
        </c:ser>
        <c:ser>
          <c:idx val="1"/>
          <c:order val="1"/>
          <c:tx>
            <c:v>提案手法</c:v>
          </c:tx>
          <c:spPr>
            <a:solidFill>
              <a:srgbClr val="0098D7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5F-4CC2-ACC8-FC5B39ABA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比較対象</c:v>
          </c:tx>
          <c:spPr>
            <a:ln w="28575">
              <a:solidFill>
                <a:srgbClr val="849BA8"/>
              </a:solidFill>
              <a:prstDash val="dash"/>
            </a:ln>
          </c:spPr>
          <c:marker>
            <c:symbol val="square"/>
            <c:size val="8"/>
            <c:spPr>
              <a:solidFill>
                <a:srgbClr val="849BA8"/>
              </a:solidFill>
              <a:ln w="12700">
                <a:solidFill>
                  <a:srgbClr val="849BA8"/>
                </a:solidFill>
              </a:ln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60-49CE-B5AB-7858F2E203E4}"/>
            </c:ext>
          </c:extLst>
        </c:ser>
        <c:ser>
          <c:idx val="1"/>
          <c:order val="1"/>
          <c:tx>
            <c:v>提案手法</c:v>
          </c:tx>
          <c:spPr>
            <a:ln w="38100">
              <a:solidFill>
                <a:srgbClr val="0098D7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0098D7"/>
              </a:solidFill>
              <a:ln w="12700">
                <a:solidFill>
                  <a:srgbClr val="0098D7"/>
                </a:solidFill>
              </a:ln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60-49CE-B5AB-7858F2E20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経過時間［単位］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［所属］の［氏名］です。本日は、［研究題目］について報告します。この研究では、［対象］における［課題］を扱い、［何を明らかにするか］を検証します。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研究の問いを1文で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はじめに、［背景／発表の構成］をご説明します。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研究題目・発表会・所属・氏名・日付を記入。題目は2行まで。指導教員名が必要なら所属欄に追加する。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［所属］の［氏名］です。［対象期間］の研究進捗を報告します。今回は［主に取り組んだ内容］を進めました。本日は、［確認できたこと］と［相談したいこと］を中心にお話しします。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今回の差分と相談事項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まず、今回取り組んだ研究の問いを確認します。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今回扱う期間と題目を記入。進捗報告は「今回の問い→前回からの差分→根拠→課題→次回計画」の順で話す。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15–25秒】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本日は、［背景と目的］、［手法と条件］、［結果と考察］の順に説明します。特に［重点を置く項目］をご確認いただきたいと考えています。最後に、［まとめ／相談事項］をお伝えします。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重点を置く項目を指す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まず、［最初の章の内容］です。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発表時間に合わせて3〜4項目に絞る。章名だけでなく、各章で何を示すかを書く。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5–10秒】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ここからは［章の名称］について説明します。この章では、［伝えること］を示します。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章が切り替わることを短く伝える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最初に、［次ページの主題］をご覧ください。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区切りが必要な長い発表でのみ使用。短い進捗報告では省略してよい。章名を大きく記入する。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背景には［対象分野の現状］があります。［出典］では、［重要性を示す事実］が報告されています。図の［着目箇所］に示すように、［観察できること］がわかります。一方、現在の方法では［未解決の課題］が残って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右図の根拠と左下の課題をつなぐ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そこで、本研究の目的を［目的］としました。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背景の事実には出典を添える。右側には、課題を最もよく伝える図・写真・統計を1つ置く。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本研究の目的は、［何を明らかにするか］です。［対象・範囲］に対して、［比較対象］と［検証する方法］を比較します。主に［指標・単位］を用いて評価し、［判定条件］を確認します。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目的と手段を分けて話す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この問いが既存の研究とどう関係するかを説明します。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目的と手段を分ける。「何を、何と比べ、何で評価するか」を具体化。数値目標は根拠がある場合だけ入れる。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先行研究を［比較軸］で整理しました。［研究A］は［扱う点］、［研究B］は［扱う点］に特徴があります。一方、［共通して残る課題］については、［未解決の内容］が残っています。本研究は、そのうち［今回扱う点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全セルを読まず比較軸と差分を指す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次に、その課題に対する本研究の着眼点を説明します。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必要な比較軸を先に決める。既存研究の対象・条件が異なるときは性能数値を直接比較しない。最終行には実証済みの差分だけを書く。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着眼点は［着眼点］です。左側の［課題1］に対して、右側の［対応する方法］を検証します。また、［課題2］に対しては［対応する方法］を考えます。今回確認する貢献は［検証可能な差分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左右の対応を同じ順序で示す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この考え方を、［対象システム］に適用します。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問題と提案の対応を同じ行に置く。新規性は意図と検証済みの貢献を区別して記入する。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で扱うシステムの全体像です。左側の［入力データ］を与え、中央の［モデル・処理］で［決めること］を求めます。右側には［出力・評価指標］が得られます。今回の対象は［範囲］で、［範囲外］は含めません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入力→処理→出力の順に指す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次に、各段階の手順を説明します。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箱と矢印は編集可能。入力・決定事項・出力の関係を示す。略語は初出で説明する。箱を追加しすぎず、詳細は補足へ。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手順は［工程数］段階です。まず［入力準備］を行い、次に［モデル化］、続いて［計算・実験］を行います。最後に［評価・検証］を確認します。このうち本研究で工夫したのは［工程と工夫］です。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全工程の読み上げより工夫点に時間を使う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その工程で使う主要な式を示します。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4工程の流れ。手法名だけでなく各段階の入力と出力を説明する。実際の依存関係に合わせて矢印を変更する。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45–75秒】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式は［式が表す関係］を表しています。［記号］は［意味・単位］で、［記号］は［意味・単位］です。式の［項］は［役割］に対応します。［前提条件］の下で成り立ち、［研究の中でどう使うか］に用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式全体の意味→主要項→前提の順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このモデルを、次の条件で検証します。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左側は数式用の入力欄。複雑な数式はAlt+=でPowerPoint標準の数式を挿入する。変数の意味と単位、式が何を表すかを必ず添える。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条件を示します。対象は［データ・日付・範囲］です。［共通にする条件］をそろえ、［変更する要因］のみを変えます。実行条件は［必要な設定］です。条件の違いがある場合は［違いと解釈への影響］を考慮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共通条件と変更条件を指し分ける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比較に使う評価指標を説明します。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共通にする条件と変える条件を分ける。データ・手法・パラメータ・乱数・時間制限を必要に応じて記録し、再現の詳細をノートに残す。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な評価指標は［指標］です。［算出方法］で求め、単位は［単位］とします。集計対象は［期間・範囲］で、割合や平均の分母は［分母］です。補助指標の［指標］を使って、［確認する点］も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主要指標の定義・単位・分母を伝える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この指標で得られた結果を示します。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指標名・定義・単位・集計範囲をそろえる。平均の分母、割合の母数、時間解像度を明示。電力[kW]と電力量[kWh]は別指標。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図は［対象・期間・条件］における［内容］を示しています。横軸は［名称・単位］、縦軸は［名称・単位］です。特に［着目箇所］を見ると、［読み取れる事実］が確認できます。この図から言えるのは［要点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図の読み方→着目箇所→事実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次に、［比較結果／その解釈］を説明します。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結果の図には対象期間、条件、軸名、単位、凡例、出典を添える。本文は図から読み取れることに絞る。画像を入れる場合は縦横比を保持。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が［条件A］、右が［条件B］の結果です。［共通条件］をそろえ、［相違点］を変えています。［比較箇所］では、［差の大きさ・単位］が確認できます。ただし、［比較上の注意］があるため、結論は［言える範囲］に限り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同じ軸・時間帯・単位の位置を比較する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この差を、［次の指標／考察］から確認します。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2図で軸範囲・単位・色・期間をそろえる。比較条件が違う場合は差を明示。月別12週では各月の選定週を指し、季節全体や年間一般へ広げない。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条件ごとの［評価指標］を比較した結果です。横軸は［条件］、縦軸は［指標・単位］で、［系列］を比較しています。［着目条件］では、［比較対象］に対して［差・単位］でした。［ばらつき・条件］を踏まえると、［確認できる結論］が言え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仮データを必ず実験値に交換してから読む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次に、［時間変化／この結果の解釈］を説明します。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このグラフは編集練習用の仮データで、研究結果ではない。右クリック→データの編集で埋め込みExcelを変更。系列名・カテゴリ・軸の単位・注記も同時に更新する。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対象期間］の［指標］の推移を示します。横軸は［時間・単位］、縦軸は［指標・単位］です。［線の種類］が［条件］に対応します。［時点・区間］に注目すると、［変化］が確認できます。現時点で言えることは［観察結果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線種・マーカーを示し、注目する区間を指す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これらの結果を、主要な指標で整理します。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仮データであり研究結果ではない。横軸には時刻の原点・間隔、縦軸には対象と単位を記入。15分平均などは補間の意味を説明し、必要なら階段状の図に差し替える。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要な結果を表にまとめました。［行・条件］と［列・指標］をご覧ください。［比較対象］に対して［差・単位］となりました。［他の指標］については［結果］でした。比較した条件とデータの範囲内では、［結論］と整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重要な1〜2セルに絞る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続いて、結果から考えられる理由を説明します。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重要な数値に絞って示す。差と変化率を混同しない。集計対象・単位・桁数を統一する。12代表週の全数値は同じ表を2枚に複製し1〜6月／7〜12月に分けられる。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では、観察した結果と、その解釈を分けて説明します。確認した事実は［結果］です。その理由として［仮説・解釈］が考えられます。ただし、［別の説明の可能性］はまだ除外できていません。これを確かめるには［追加検証］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事実と推測の欄を明確に指し分ける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次に、結論が当てはまる範囲と限界を示します。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左に観察された事実、右に解釈を書く。因果関係は検証なしに断定しない。他の説明があり得る場合は次の検証へつなぐ。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確認できた範囲は［対象・条件］です。一方、［未検証の条件］では確認ができていません。また、［制約］が結果の解釈に影響します。そのため、［言えること］までは示せますが、［まだ言えないこと］は今後の検証課題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未検証の範囲を曖昧にしない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以上を踏まえて、研究の要点をまとめます。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確認済みと未確認の境界を示す。計算完了、実行可能性、会計整合、最適性、研究採用はそれぞれ別に確認する。未達ゲートがある資料はDIAGNOSTIC / NOT USED FOR RESEARCH CONCLUSIONSと明記。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では、［目的］を検証しました。主に［結果1］と［結果2］を確認しました。結論は［対象・条件］の範囲に限られます。今後は［残る課題］に取り組みます。以上で発表を終わります。ご清聴ありがとうござい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目的への答えと適用範囲を伝える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［質疑へ進む／必要なら補足資料を開く］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目的への答えを最初に置く。方法の説明を繰り返すより、得られた知見と限界をまとめる。最後に次の検証を一つ示す。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から今回までの変更点を報告します。［項目］について、前回は［状態］でしたが、今回は［行ったこと・現在の状態］まで進みました。確認できる根拠は［図・表・記録］です。［未完了の項目］は［残っている作業］の段階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実施済み・確認済み・未完了を区別する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このうち、［主要な結果／残る問題］を詳しく説明します。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実施した作業ではなく、前回から何がわかったかを示す。状況は「完了・継続・未着手」等の言葉で記し、色だけに頼らない。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いただいた［指摘］に対し、［対応内容］を実施しました。［確認できた根拠］により、［対応後の状態］を確認しています。一方、［残っている点］については、［次に行う確認］が必要です。本日はこの対応で［確認いただきたい点］を相談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指摘→対応→根拠→残件の順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続いて、前回からの進捗全体を示します。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指摘内容、行った対応、結果と残課題を対応させる。口頭回答だけでなく、根拠のスライド番号・資料も記す。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現在の問題は［観察された問題］です。原因として［仮説］を考えていますが、現時点では未確認です。［切り分け方法］を行い、［判定条件］で仮説を確認します。結果に応じて［対応案］へ進みます。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原因を断定せず、判定条件を示す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これを踏まえた次回までの計画です。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事実として起きたことと原因の仮説を分ける。対応策には、改善したと判断する基準を付ける。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次回までに［優先課題］に取り組みます。［期限］までに［作業］を行い、［成果物］を用意します。完了の基準は［確認条件］です。［依存する作業］があるため、［順序・代替案］の順で進めます。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作業名だけでなく成果物と完了条件を伝える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最後に、計画を進めるうえで相談したい点です。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作業だけでなく、次回持参する成果物と完了条件を書く。予定を結果として書かない。期限は実際の日付へ置換する。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ご相談したいのは、［決めたいこと］です。案Aは［利点・制約］、案Bは［利点・制約］です。私は［理由］から［推奨案］を考えています。［判断いただきたい点］について、ご意見をいただけますでしょう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判断の選択肢と自分の考えを伝える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［回答を受けて、次の作業・期限を確認する］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判断をお願いしたい論点を1つに絞る。選択肢と影響、現時点の案を用意すると相談しやすい。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必要時のみ】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こちらは発表で参照した資料です。［主な主張］の根拠は文献［番号］、［手法］の原典は文献［番号］です。必要に応じて、該当する箇所をご説明します。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通常は全件を読み上げない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［該当する本文または補足へ移る］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本文で引用した文献のみ記載。著者、年、題目、媒体、巻号・頁、DOI/URLを統一書式で。4件程度までとし、多ければ複製する。テンプレートの作成参考資料ではなく、自分の研究文献を記入。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必要時30–60秒】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ご質問の［論点］について、補足します。この図は［条件・範囲］を示しています。［着目箇所］から［確認できること］がわかります。一方、［まだ確認できていないこと］については、［確認方法］で調べる必要があり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質問に直接関係する部分だけを示す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［質問への答え］というのが、現時点での回答です。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本文に置くと長くなる条件、導出、追加結果、質疑用資料を配置。本文から参照できるよう題名を具体的にする。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社会背景と研究背景を分けて説明します。［政策・社会の目標］を受けて、［取組・変化］が進められています。その実現には、［技術的な課題］への対応が必要です。右の図は［現象・課題の根拠］を示しています。そこで、［必要な技術・対応］に着目し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社会の目標→取組→技術課題の順で下へ進み、右図で根拠を示す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この背景を踏まえ、残る研究課題と今回の目的を示します。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2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文献・確認した事実］から、対象技術には［課題1］と［課題2］が残っています。本研究は、このうち［今回扱う課題］に焦点を当てます。具体的には、［対象・条件］における［方法］と［評価量］の関係を調べます。［条件］では［予測する変化］が生じると考えていますが、現時点では仮説です。［方法A］と［方法B］を比較し、［効果・適用範囲］を定量的に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課題の根拠→今回の焦点→目的→未検証の仮説を示す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次に、この課題に関する先行研究と本研究の位置づけを説明します。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現場・利用者］に求められている役割を説明します。左の［写真・運用図］は［対象・場面］です。社会からは［要請］があり、現場は［条件］を満たす必要があります。一方、［技術的課題］が残っています。［数値・観察事実］を根拠として、本研究では［着目する課題］を扱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左の対象図→右上の要請→右下の制約の順に指す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この課題に対して、比較する方法と検証する仮説を示します。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2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する方法は［方法A］と［方法B］です。［出典］では、方法Aは［働き］により［特徴］を持つと報告されています。方法Bは［働き］が異なり、［条件］で［指標］に［予測する違い］が生じると考えています。これは現時点では仮説です。［共通条件］をそろえ、［変える条件］を変化させて、［指標・判定基準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既知の特徴の根拠と、未検証の仮説を指し分ける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続いて、この仮説を確かめる対象と方法を説明します。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初に研究の目的をお伝えします。本研究では、［対象・条件］における［方法］と［評価量］の関係を明らかにします。背景には［社会・現場の要請］と［未解決の技術的課題］があります。得られる知見を［誰のどの判断］に役立てることを想定し、［適用条件］も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大きな目的文→必要な理由→知見の使い道の順に示す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次に、研究の進め方と検証範囲を説明します。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40–55秒】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側が、今回対象とする［モデル・仕組み］です。［入力］を与えて、［出力・応答］を調べます。右側に示すように、［方法］を比較し、［変える条件と範囲］を変化させます。［固定条件］はそろえ、［指標・単位］と［判定基準］で評価します。これにより、［効果・適用範囲］を定量的に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モデル→変更条件→固定条件→評価基準の順に指す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このうち、［詳細を補う点］を次に説明します。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4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社会背景・研究背景" preserve="1">
  <p:cSld name="29 導入A 社会背景・研究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">
            <a:extLst>
              <a:ext uri="{FF2B5EF4-FFF2-40B4-BE49-F238E27FC236}">
                <a16:creationId xmlns:a16="http://schemas.microsoft.com/office/drawing/2014/main" id="{35B6E907-37D8-4B7F-BD51-E3A61AB04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4AE92CBF-8A4C-40E0-8D8A-0FBF62BF227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84AE505-8251-40C8-BEC5-536EBE91CB6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15">
            <a:extLst>
              <a:ext uri="{FF2B5EF4-FFF2-40B4-BE49-F238E27FC236}">
                <a16:creationId xmlns:a16="http://schemas.microsoft.com/office/drawing/2014/main" id="{26B9757C-35D8-4490-BAF8-96065DE3C33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課題・研究目的" preserve="1">
  <p:cSld name="30 導入A 研究課題・研究目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7">
            <a:extLst>
              <a:ext uri="{FF2B5EF4-FFF2-40B4-BE49-F238E27FC236}">
                <a16:creationId xmlns:a16="http://schemas.microsoft.com/office/drawing/2014/main" id="{EA11532D-4211-4C8C-82C2-1633FB44C7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">
            <a:extLst>
              <a:ext uri="{FF2B5EF4-FFF2-40B4-BE49-F238E27FC236}">
                <a16:creationId xmlns:a16="http://schemas.microsoft.com/office/drawing/2014/main" id="{CA3D0E6F-F856-417B-BD0C-00FF81A1E53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1">
            <a:extLst>
              <a:ext uri="{FF2B5EF4-FFF2-40B4-BE49-F238E27FC236}">
                <a16:creationId xmlns:a16="http://schemas.microsoft.com/office/drawing/2014/main" id="{1B093E44-7F7F-4289-AC46-4B6E9B68A1E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7">
            <a:extLst>
              <a:ext uri="{FF2B5EF4-FFF2-40B4-BE49-F238E27FC236}">
                <a16:creationId xmlns:a16="http://schemas.microsoft.com/office/drawing/2014/main" id="{3F997FE7-FD9F-4DE7-AE45-91BCC48D727E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31">
            <a:extLst>
              <a:ext uri="{FF2B5EF4-FFF2-40B4-BE49-F238E27FC236}">
                <a16:creationId xmlns:a16="http://schemas.microsoft.com/office/drawing/2014/main" id="{824799D4-DB2B-402A-8229-940D1FD3165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社会の要請・現場の課題" preserve="1">
  <p:cSld name="31 導入B 社会の要請・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3">
            <a:extLst>
              <a:ext uri="{FF2B5EF4-FFF2-40B4-BE49-F238E27FC236}">
                <a16:creationId xmlns:a16="http://schemas.microsoft.com/office/drawing/2014/main" id="{0B4E6639-942F-4527-A230-A69C1DAB34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4">
            <a:extLst>
              <a:ext uri="{FF2B5EF4-FFF2-40B4-BE49-F238E27FC236}">
                <a16:creationId xmlns:a16="http://schemas.microsoft.com/office/drawing/2014/main" id="{E4C8C69D-1043-4478-92BE-E9007ED267E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社会の要請と現場の課題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5">
            <a:extLst>
              <a:ext uri="{FF2B5EF4-FFF2-40B4-BE49-F238E27FC236}">
                <a16:creationId xmlns:a16="http://schemas.microsoft.com/office/drawing/2014/main" id="{86F20D8C-0755-443E-8529-B6312A41F870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36">
            <a:extLst>
              <a:ext uri="{FF2B5EF4-FFF2-40B4-BE49-F238E27FC236}">
                <a16:creationId xmlns:a16="http://schemas.microsoft.com/office/drawing/2014/main" id="{16AFF1AC-4281-41CD-B46D-C946DB13032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37">
            <a:extLst>
              <a:ext uri="{FF2B5EF4-FFF2-40B4-BE49-F238E27FC236}">
                <a16:creationId xmlns:a16="http://schemas.microsoft.com/office/drawing/2014/main" id="{09A3FCAD-AFC2-48A4-BD18-BDB2376EB2B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38">
            <a:extLst>
              <a:ext uri="{FF2B5EF4-FFF2-40B4-BE49-F238E27FC236}">
                <a16:creationId xmlns:a16="http://schemas.microsoft.com/office/drawing/2014/main" id="{7CCC4355-F209-4DF1-83E3-128D8C30552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39">
            <a:extLst>
              <a:ext uri="{FF2B5EF4-FFF2-40B4-BE49-F238E27FC236}">
                <a16:creationId xmlns:a16="http://schemas.microsoft.com/office/drawing/2014/main" id="{EC7025DB-9A57-429D-87CB-B07329C6A36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4F46FB15-09A9-4A12-AEB4-82227F56097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0">
            <a:extLst>
              <a:ext uri="{FF2B5EF4-FFF2-40B4-BE49-F238E27FC236}">
                <a16:creationId xmlns:a16="http://schemas.microsoft.com/office/drawing/2014/main" id="{344B90EE-5CD5-41C9-A69C-F2E001D8191D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1">
            <a:extLst>
              <a:ext uri="{FF2B5EF4-FFF2-40B4-BE49-F238E27FC236}">
                <a16:creationId xmlns:a16="http://schemas.microsoft.com/office/drawing/2014/main" id="{F53F088D-A7EE-4971-B5BA-EE994EFFACF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2">
            <a:extLst>
              <a:ext uri="{FF2B5EF4-FFF2-40B4-BE49-F238E27FC236}">
                <a16:creationId xmlns:a16="http://schemas.microsoft.com/office/drawing/2014/main" id="{AC4A263D-D000-452E-839D-6285399D42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2880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求められる役割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3">
            <a:extLst>
              <a:ext uri="{FF2B5EF4-FFF2-40B4-BE49-F238E27FC236}">
                <a16:creationId xmlns:a16="http://schemas.microsoft.com/office/drawing/2014/main" id="{25458659-A694-4E30-8758-7C81054889A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24100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［社会・利用者が求めること］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［現場が満たすべき条件］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4">
            <a:extLst>
              <a:ext uri="{FF2B5EF4-FFF2-40B4-BE49-F238E27FC236}">
                <a16:creationId xmlns:a16="http://schemas.microsoft.com/office/drawing/2014/main" id="{4D92BE35-318C-4A83-8698-0227A89E365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79095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現場に残る技術的課題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5">
            <a:extLst>
              <a:ext uri="{FF2B5EF4-FFF2-40B4-BE49-F238E27FC236}">
                <a16:creationId xmlns:a16="http://schemas.microsoft.com/office/drawing/2014/main" id="{7923FE8C-CC5C-4DCD-A108-1EC3C99EE6D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286250"/>
            <a:ext cx="50863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［役割を果たすうえで難しい点］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［根拠となる数値・観察事実］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6">
            <a:extLst>
              <a:ext uri="{FF2B5EF4-FFF2-40B4-BE49-F238E27FC236}">
                <a16:creationId xmlns:a16="http://schemas.microsoft.com/office/drawing/2014/main" id="{CDB9E452-267A-429F-9BA0-9E76C14558F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47">
            <a:extLst>
              <a:ext uri="{FF2B5EF4-FFF2-40B4-BE49-F238E27FC236}">
                <a16:creationId xmlns:a16="http://schemas.microsoft.com/office/drawing/2014/main" id="{6F1423BA-D45B-4104-94EB-8B4A48BD7CE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［現場の要請］と［技術的制約］を満たす方法を検討する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比較手法・仮説" preserve="1">
  <p:cSld name="32 導入B 比較手法・仮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ATIC_rule_48">
            <a:extLst>
              <a:ext uri="{FF2B5EF4-FFF2-40B4-BE49-F238E27FC236}">
                <a16:creationId xmlns:a16="http://schemas.microsoft.com/office/drawing/2014/main" id="{B454553F-A0EA-4845-B71C-48B204C405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49">
            <a:extLst>
              <a:ext uri="{FF2B5EF4-FFF2-40B4-BE49-F238E27FC236}">
                <a16:creationId xmlns:a16="http://schemas.microsoft.com/office/drawing/2014/main" id="{41DE371D-0321-4746-931E-0F8F49FB539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比較する方法と検証する仮説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0">
            <a:extLst>
              <a:ext uri="{FF2B5EF4-FFF2-40B4-BE49-F238E27FC236}">
                <a16:creationId xmlns:a16="http://schemas.microsoft.com/office/drawing/2014/main" id="{504EE668-586F-45B7-9C51-32398FA37F6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51">
            <a:extLst>
              <a:ext uri="{FF2B5EF4-FFF2-40B4-BE49-F238E27FC236}">
                <a16:creationId xmlns:a16="http://schemas.microsoft.com/office/drawing/2014/main" id="{64B6E17A-AFB1-467E-AC19-F45508B6296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2">
            <a:extLst>
              <a:ext uri="{FF2B5EF4-FFF2-40B4-BE49-F238E27FC236}">
                <a16:creationId xmlns:a16="http://schemas.microsoft.com/office/drawing/2014/main" id="{51B0E6C1-71B7-44DB-A882-FE694A308AE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53">
            <a:extLst>
              <a:ext uri="{FF2B5EF4-FFF2-40B4-BE49-F238E27FC236}">
                <a16:creationId xmlns:a16="http://schemas.microsoft.com/office/drawing/2014/main" id="{FE5CF9D9-0582-4C59-B9E7-B570AFD31FF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4">
            <a:extLst>
              <a:ext uri="{FF2B5EF4-FFF2-40B4-BE49-F238E27FC236}">
                <a16:creationId xmlns:a16="http://schemas.microsoft.com/office/drawing/2014/main" id="{DF96A076-3BDF-4D8B-B971-0D413C9C1B9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17DB3FD-49A5-4BA5-BABC-674332D3F8F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5">
            <a:extLst>
              <a:ext uri="{FF2B5EF4-FFF2-40B4-BE49-F238E27FC236}">
                <a16:creationId xmlns:a16="http://schemas.microsoft.com/office/drawing/2014/main" id="{B63765D3-1A3D-45AE-813B-04909947140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［方法A：比較の基準］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6">
            <a:extLst>
              <a:ext uri="{FF2B5EF4-FFF2-40B4-BE49-F238E27FC236}">
                <a16:creationId xmlns:a16="http://schemas.microsoft.com/office/drawing/2014/main" id="{66B01FEE-BE43-4D58-A93F-9A3BB9A4FF9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8097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［方法B：検証する方法］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57">
            <a:extLst>
              <a:ext uri="{FF2B5EF4-FFF2-40B4-BE49-F238E27FC236}">
                <a16:creationId xmlns:a16="http://schemas.microsoft.com/office/drawing/2014/main" id="{8F365B0D-DABE-4F07-A860-38AFE222C929}"/>
              </a:ext>
            </a:extLst>
          </p:cNvPr>
          <p:cNvSpPr>
            <a:spLocks noGrp="1"/>
          </p:cNvSpPr>
          <p:nvPr/>
        </p:nvSpPr>
        <p:spPr>
          <a:xfrm>
            <a:off x="6057900" y="1819275"/>
            <a:ext cx="19050" cy="220027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58">
            <a:extLst>
              <a:ext uri="{FF2B5EF4-FFF2-40B4-BE49-F238E27FC236}">
                <a16:creationId xmlns:a16="http://schemas.microsoft.com/office/drawing/2014/main" id="{5B9AE82E-DA99-4714-91B2-254E049F22A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343150"/>
            <a:ext cx="5124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［既にわかっている特徴］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59">
            <a:extLst>
              <a:ext uri="{FF2B5EF4-FFF2-40B4-BE49-F238E27FC236}">
                <a16:creationId xmlns:a16="http://schemas.microsoft.com/office/drawing/2014/main" id="{16334E37-6EB5-4584-91EB-7C19A67E448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343150"/>
            <a:ext cx="51149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［適すると考える条件］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60">
            <a:extLst>
              <a:ext uri="{FF2B5EF4-FFF2-40B4-BE49-F238E27FC236}">
                <a16:creationId xmlns:a16="http://schemas.microsoft.com/office/drawing/2014/main" id="{D9F43596-2794-40F9-A400-861712E036C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3933825"/>
            <a:ext cx="5124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根拠：［文献番号／既往結果・日付］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61">
            <a:extLst>
              <a:ext uri="{FF2B5EF4-FFF2-40B4-BE49-F238E27FC236}">
                <a16:creationId xmlns:a16="http://schemas.microsoft.com/office/drawing/2014/main" id="{EF6E94AE-4CA8-4042-BC9D-62D0CDE0CB2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2957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検証する仮説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62">
            <a:extLst>
              <a:ext uri="{FF2B5EF4-FFF2-40B4-BE49-F238E27FC236}">
                <a16:creationId xmlns:a16="http://schemas.microsoft.com/office/drawing/2014/main" id="{14DE3350-C435-4986-9313-EC98FF23ED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71500" y="4762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［条件］では、［方法B］と［方法A］の［指標］に［予測する違い］が生じる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63">
            <a:extLst>
              <a:ext uri="{FF2B5EF4-FFF2-40B4-BE49-F238E27FC236}">
                <a16:creationId xmlns:a16="http://schemas.microsoft.com/office/drawing/2014/main" id="{AC06013A-5627-4D4E-8F3A-108BBCD3EBEB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7" name="PH_takeaway_64">
            <a:extLst>
              <a:ext uri="{FF2B5EF4-FFF2-40B4-BE49-F238E27FC236}">
                <a16:creationId xmlns:a16="http://schemas.microsoft.com/office/drawing/2014/main" id="{2FCF5391-46BB-4EAD-90FF-A83EB1310CD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［条件］を変えながら、［方法A］と［方法B］の違いを確かめる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目的・意義" preserve="1">
  <p:cSld name="33 導入C 目的・意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5">
            <a:extLst>
              <a:ext uri="{FF2B5EF4-FFF2-40B4-BE49-F238E27FC236}">
                <a16:creationId xmlns:a16="http://schemas.microsoft.com/office/drawing/2014/main" id="{BD7F2AF3-E51C-4693-80ED-EF8CDC5204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6">
            <a:extLst>
              <a:ext uri="{FF2B5EF4-FFF2-40B4-BE49-F238E27FC236}">
                <a16:creationId xmlns:a16="http://schemas.microsoft.com/office/drawing/2014/main" id="{5601FB43-E303-48D9-95D7-3DB967B10F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研究の目的と社会的な意義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7">
            <a:extLst>
              <a:ext uri="{FF2B5EF4-FFF2-40B4-BE49-F238E27FC236}">
                <a16:creationId xmlns:a16="http://schemas.microsoft.com/office/drawing/2014/main" id="{68F539C4-1B3B-4805-A7EE-566E436AA77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8">
            <a:extLst>
              <a:ext uri="{FF2B5EF4-FFF2-40B4-BE49-F238E27FC236}">
                <a16:creationId xmlns:a16="http://schemas.microsoft.com/office/drawing/2014/main" id="{218B2475-D647-4E89-90A6-1CFA2104B8F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9">
            <a:extLst>
              <a:ext uri="{FF2B5EF4-FFF2-40B4-BE49-F238E27FC236}">
                <a16:creationId xmlns:a16="http://schemas.microsoft.com/office/drawing/2014/main" id="{65D148F2-A484-4606-A794-B52914E5312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70">
            <a:extLst>
              <a:ext uri="{FF2B5EF4-FFF2-40B4-BE49-F238E27FC236}">
                <a16:creationId xmlns:a16="http://schemas.microsoft.com/office/drawing/2014/main" id="{A2834104-8871-4B6F-9C93-FD4406DF6AFC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1">
            <a:extLst>
              <a:ext uri="{FF2B5EF4-FFF2-40B4-BE49-F238E27FC236}">
                <a16:creationId xmlns:a16="http://schemas.microsoft.com/office/drawing/2014/main" id="{C1AAD221-A00A-49CB-A513-A99904067A7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56E8190-E110-4FF3-9840-813182DA255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2">
            <a:extLst>
              <a:ext uri="{FF2B5EF4-FFF2-40B4-BE49-F238E27FC236}">
                <a16:creationId xmlns:a16="http://schemas.microsoft.com/office/drawing/2014/main" id="{931F6788-1C33-430A-AD78-7CE894F3071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3">
            <a:extLst>
              <a:ext uri="{FF2B5EF4-FFF2-40B4-BE49-F238E27FC236}">
                <a16:creationId xmlns:a16="http://schemas.microsoft.com/office/drawing/2014/main" id="{0444A46F-CA4E-430C-80A2-E6048609F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24100"/>
            <a:ext cx="11049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4">
            <a:extLst>
              <a:ext uri="{FF2B5EF4-FFF2-40B4-BE49-F238E27FC236}">
                <a16:creationId xmlns:a16="http://schemas.microsoft.com/office/drawing/2014/main" id="{4E1605D6-0C2B-4E1A-8CAA-DB01D9B5ACBD}"/>
              </a:ext>
            </a:extLst>
          </p:cNvPr>
          <p:cNvSpPr>
            <a:spLocks noGrp="1"/>
          </p:cNvSpPr>
          <p:nvPr/>
        </p:nvSpPr>
        <p:spPr>
          <a:xfrm>
            <a:off x="571500" y="3533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LABEL_75">
            <a:extLst>
              <a:ext uri="{FF2B5EF4-FFF2-40B4-BE49-F238E27FC236}">
                <a16:creationId xmlns:a16="http://schemas.microsoft.com/office/drawing/2014/main" id="{67C2AFDA-6E13-4C29-86EF-4D3D3A923F6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57625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この研究が必要な理由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6">
            <a:extLst>
              <a:ext uri="{FF2B5EF4-FFF2-40B4-BE49-F238E27FC236}">
                <a16:creationId xmlns:a16="http://schemas.microsoft.com/office/drawing/2014/main" id="{2A4F7513-F852-4EA2-86B8-FFAE303A8C5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62450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［社会・現場の要請］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［解決されていない技術的課題］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7">
            <a:extLst>
              <a:ext uri="{FF2B5EF4-FFF2-40B4-BE49-F238E27FC236}">
                <a16:creationId xmlns:a16="http://schemas.microsoft.com/office/drawing/2014/main" id="{0199A734-A4BE-46EF-9707-144A28A62343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57625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得られる知見の使い道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8">
            <a:extLst>
              <a:ext uri="{FF2B5EF4-FFF2-40B4-BE49-F238E27FC236}">
                <a16:creationId xmlns:a16="http://schemas.microsoft.com/office/drawing/2014/main" id="{060B5343-CADB-4D1F-95CB-5EFC61049AE1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62450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［適用にあたり確認する条件］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79">
            <a:extLst>
              <a:ext uri="{FF2B5EF4-FFF2-40B4-BE49-F238E27FC236}">
                <a16:creationId xmlns:a16="http://schemas.microsoft.com/office/drawing/2014/main" id="{4018BF7E-D0F0-41DE-82FB-D60CC0639E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80">
            <a:extLst>
              <a:ext uri="{FF2B5EF4-FFF2-40B4-BE49-F238E27FC236}">
                <a16:creationId xmlns:a16="http://schemas.microsoft.com/office/drawing/2014/main" id="{3220FBF2-4AA1-4646-BC69-13DA3C00375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研究手法・検証範囲" preserve="1">
  <p:cSld name="34 導入C 研究手法・検証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1">
            <a:extLst>
              <a:ext uri="{FF2B5EF4-FFF2-40B4-BE49-F238E27FC236}">
                <a16:creationId xmlns:a16="http://schemas.microsoft.com/office/drawing/2014/main" id="{31348976-F154-4FB8-A94D-0C37704897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2">
            <a:extLst>
              <a:ext uri="{FF2B5EF4-FFF2-40B4-BE49-F238E27FC236}">
                <a16:creationId xmlns:a16="http://schemas.microsoft.com/office/drawing/2014/main" id="{6E459EED-90DF-4967-A904-61F183071CE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研究の進め方と検証範囲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3">
            <a:extLst>
              <a:ext uri="{FF2B5EF4-FFF2-40B4-BE49-F238E27FC236}">
                <a16:creationId xmlns:a16="http://schemas.microsoft.com/office/drawing/2014/main" id="{804D5639-D6E0-49D4-B216-96EF3FD60E6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84">
            <a:extLst>
              <a:ext uri="{FF2B5EF4-FFF2-40B4-BE49-F238E27FC236}">
                <a16:creationId xmlns:a16="http://schemas.microsoft.com/office/drawing/2014/main" id="{E470F452-D73D-4E4C-81CB-8D3B9FB490F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5">
            <a:extLst>
              <a:ext uri="{FF2B5EF4-FFF2-40B4-BE49-F238E27FC236}">
                <a16:creationId xmlns:a16="http://schemas.microsoft.com/office/drawing/2014/main" id="{5344F1A5-4C61-439A-ACD2-DDAF56C0427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86">
            <a:extLst>
              <a:ext uri="{FF2B5EF4-FFF2-40B4-BE49-F238E27FC236}">
                <a16:creationId xmlns:a16="http://schemas.microsoft.com/office/drawing/2014/main" id="{0DE499C7-B998-4E3C-9B8F-5CAF5C67F8A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7">
            <a:extLst>
              <a:ext uri="{FF2B5EF4-FFF2-40B4-BE49-F238E27FC236}">
                <a16:creationId xmlns:a16="http://schemas.microsoft.com/office/drawing/2014/main" id="{BC64196B-DF1D-448D-896B-89CF19E4769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93DE876-7A98-4A5E-B354-34765974B5E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8">
            <a:extLst>
              <a:ext uri="{FF2B5EF4-FFF2-40B4-BE49-F238E27FC236}">
                <a16:creationId xmlns:a16="http://schemas.microsoft.com/office/drawing/2014/main" id="{D465FCB6-AA27-4435-AB40-49C8016A9C3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対象とするモデル・仕組み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89">
            <a:extLst>
              <a:ext uri="{FF2B5EF4-FFF2-40B4-BE49-F238E27FC236}">
                <a16:creationId xmlns:a16="http://schemas.microsoft.com/office/drawing/2014/main" id="{F55B8B99-2AFE-4E81-A1A9-ADC18F2125DB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352675"/>
            <a:ext cx="6105525" cy="220027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 → 対象モデル → 出力］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［系統図・構成図などを配置］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90">
            <a:extLst>
              <a:ext uri="{FF2B5EF4-FFF2-40B4-BE49-F238E27FC236}">
                <a16:creationId xmlns:a16="http://schemas.microsoft.com/office/drawing/2014/main" id="{88991716-9BC9-43CA-A3CB-6407582500E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762500"/>
            <a:ext cx="61055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対象範囲：［今回含めるもの・含めないもの］</a:t>
            </a:r>
            <a:endParaRPr lang="ja-JP" altLang="en-US" sz="18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91">
            <a:extLst>
              <a:ext uri="{FF2B5EF4-FFF2-40B4-BE49-F238E27FC236}">
                <a16:creationId xmlns:a16="http://schemas.microsoft.com/office/drawing/2014/main" id="{1A482A3F-A4EF-4F44-9C7B-F9B47C61CEF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219950" y="1809750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比較する条件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2">
            <a:extLst>
              <a:ext uri="{FF2B5EF4-FFF2-40B4-BE49-F238E27FC236}">
                <a16:creationId xmlns:a16="http://schemas.microsoft.com/office/drawing/2014/main" id="{8ECA1690-FBE7-4DE0-BA6A-1F8DB75E295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219950" y="2343150"/>
            <a:ext cx="44005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方法：［比較する方法］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条件：［変える量・範囲・単位］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固定：［そろえる条件］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3">
            <a:extLst>
              <a:ext uri="{FF2B5EF4-FFF2-40B4-BE49-F238E27FC236}">
                <a16:creationId xmlns:a16="http://schemas.microsoft.com/office/drawing/2014/main" id="{F7A213AB-6DB5-45CC-9FB3-5FB6BE98286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219950" y="4124325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確かめること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4">
            <a:extLst>
              <a:ext uri="{FF2B5EF4-FFF2-40B4-BE49-F238E27FC236}">
                <a16:creationId xmlns:a16="http://schemas.microsoft.com/office/drawing/2014/main" id="{424DC48F-0FBF-4DC4-88FC-EB44956F6F7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19950" y="4629150"/>
            <a:ext cx="44005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［評価量・単位］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［妥当性を確かめる基準］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5">
            <a:extLst>
              <a:ext uri="{FF2B5EF4-FFF2-40B4-BE49-F238E27FC236}">
                <a16:creationId xmlns:a16="http://schemas.microsoft.com/office/drawing/2014/main" id="{04E7C8E2-F8FE-4365-9A68-E6212FA4B31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96">
            <a:extLst>
              <a:ext uri="{FF2B5EF4-FFF2-40B4-BE49-F238E27FC236}">
                <a16:creationId xmlns:a16="http://schemas.microsoft.com/office/drawing/2014/main" id="{4AC41B8B-54B0-43C8-BAEA-8BE67EDE92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［条件の変化］に対する［効果・適用範囲］を定量的に示す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18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51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161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06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5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860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33575"/>
          <a:ext cx="11049000" cy="33147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扱うこと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残る課題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本研究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［検証する点］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［適用範囲］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405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531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5224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780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7143750" y="1962150"/>
          <a:ext cx="4476750" cy="324802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記号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意味・単位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［x］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［y］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［α］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［係数・単位］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44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43100"/>
          <a:ext cx="11049000" cy="3333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共通条件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変更する条件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対象・期間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［データ・日付・範囲］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手法・パラメータ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［固定する設定］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［比較する設定］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初期条件・設備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［同じにする条件］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実行条件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［seed・時間制限等］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40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895475"/>
          <a:ext cx="11049000" cy="34194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定義・算出方法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対象・集計範囲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470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4281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258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8567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286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7" name="表 16"/>
          <p:cNvGraphicFramePr/>
          <p:nvPr/>
        </p:nvGraphicFramePr>
        <p:xfrm>
          <a:off x="571500" y="1857375"/>
          <a:ext cx="11049000" cy="334327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条件A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条件B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差・変化率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［主要指標］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69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9220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33575"/>
          <a:ext cx="11049000" cy="32194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確認した範囲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まだ言えないこと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追加で必要な検証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［対象・条件］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［一般化の限界］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［追加条件・実験］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［評価した指標］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［未評価の性質］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［追加の指標・検算］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［成立した確認］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［残る仮説］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［反証できる検証］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9430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9767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62150"/>
          <a:ext cx="11049000" cy="31527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前回の状態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今回の変更・成果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状況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79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4" name="表 13"/>
          <p:cNvGraphicFramePr/>
          <p:nvPr/>
        </p:nvGraphicFramePr>
        <p:xfrm>
          <a:off x="571500" y="1933575"/>
          <a:ext cx="11049000" cy="33432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819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前回の指摘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今回の対応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結果・根拠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残る確認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523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4333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24050"/>
          <a:ext cx="11049000" cy="324802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実施すること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期限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成果物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完了条件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［最優先の検証］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［図表・記録］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［判断できる状態］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［次の作業］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［資料・結果］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［確認する項目］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［報告準備］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［報告スライド］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［説明できる範囲］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6550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571500" y="3248025"/>
          <a:ext cx="11049000" cy="1971675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選択肢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期待する効果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注意点・必要な作業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［案A］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［案B］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1873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2029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8051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8350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508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4">
            <a:extLst>
              <a:ext uri="{FF2B5EF4-FFF2-40B4-BE49-F238E27FC236}">
                <a16:creationId xmlns:a16="http://schemas.microsoft.com/office/drawing/2014/main" id="{E4C8C69D-1043-4478-92BE-E9007ED267E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社会の要請と現場の課題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36">
            <a:extLst>
              <a:ext uri="{FF2B5EF4-FFF2-40B4-BE49-F238E27FC236}">
                <a16:creationId xmlns:a16="http://schemas.microsoft.com/office/drawing/2014/main" id="{16AFF1AC-4281-41CD-B46D-C946DB13032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38">
            <a:extLst>
              <a:ext uri="{FF2B5EF4-FFF2-40B4-BE49-F238E27FC236}">
                <a16:creationId xmlns:a16="http://schemas.microsoft.com/office/drawing/2014/main" id="{7CCC4355-F209-4DF1-83E3-128D8C30552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39">
            <a:extLst>
              <a:ext uri="{FF2B5EF4-FFF2-40B4-BE49-F238E27FC236}">
                <a16:creationId xmlns:a16="http://schemas.microsoft.com/office/drawing/2014/main" id="{EC7025DB-9A57-429D-87CB-B07329C6A36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4F46FB15-09A9-4A12-AEB4-82227F56097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0">
            <a:extLst>
              <a:ext uri="{FF2B5EF4-FFF2-40B4-BE49-F238E27FC236}">
                <a16:creationId xmlns:a16="http://schemas.microsoft.com/office/drawing/2014/main" id="{344B90EE-5CD5-41C9-A69C-F2E001D8191D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1">
            <a:extLst>
              <a:ext uri="{FF2B5EF4-FFF2-40B4-BE49-F238E27FC236}">
                <a16:creationId xmlns:a16="http://schemas.microsoft.com/office/drawing/2014/main" id="{F53F088D-A7EE-4971-B5BA-EE994EFFACF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2">
            <a:extLst>
              <a:ext uri="{FF2B5EF4-FFF2-40B4-BE49-F238E27FC236}">
                <a16:creationId xmlns:a16="http://schemas.microsoft.com/office/drawing/2014/main" id="{AC4A263D-D000-452E-839D-6285399D42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2880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求められる役割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3">
            <a:extLst>
              <a:ext uri="{FF2B5EF4-FFF2-40B4-BE49-F238E27FC236}">
                <a16:creationId xmlns:a16="http://schemas.microsoft.com/office/drawing/2014/main" id="{25458659-A694-4E30-8758-7C81054889A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24100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［社会・利用者が求めること］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［現場が満たすべき条件］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4">
            <a:extLst>
              <a:ext uri="{FF2B5EF4-FFF2-40B4-BE49-F238E27FC236}">
                <a16:creationId xmlns:a16="http://schemas.microsoft.com/office/drawing/2014/main" id="{4D92BE35-318C-4A83-8698-0227A89E365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79095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現場に残る技術的課題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5">
            <a:extLst>
              <a:ext uri="{FF2B5EF4-FFF2-40B4-BE49-F238E27FC236}">
                <a16:creationId xmlns:a16="http://schemas.microsoft.com/office/drawing/2014/main" id="{7923FE8C-CC5C-4DCD-A108-1EC3C99EE6D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286250"/>
            <a:ext cx="50863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［役割を果たすうえで難しい点］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［根拠となる数値・観察事実］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47">
            <a:extLst>
              <a:ext uri="{FF2B5EF4-FFF2-40B4-BE49-F238E27FC236}">
                <a16:creationId xmlns:a16="http://schemas.microsoft.com/office/drawing/2014/main" id="{6F1423BA-D45B-4104-94EB-8B4A48BD7CE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［現場の要請］と［技術的制約］を満たす方法を検討する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6083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49">
            <a:extLst>
              <a:ext uri="{FF2B5EF4-FFF2-40B4-BE49-F238E27FC236}">
                <a16:creationId xmlns:a16="http://schemas.microsoft.com/office/drawing/2014/main" id="{41DE371D-0321-4746-931E-0F8F49FB539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比較する方法と検証する仮説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51">
            <a:extLst>
              <a:ext uri="{FF2B5EF4-FFF2-40B4-BE49-F238E27FC236}">
                <a16:creationId xmlns:a16="http://schemas.microsoft.com/office/drawing/2014/main" id="{64B6E17A-AFB1-467E-AC19-F45508B6296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53">
            <a:extLst>
              <a:ext uri="{FF2B5EF4-FFF2-40B4-BE49-F238E27FC236}">
                <a16:creationId xmlns:a16="http://schemas.microsoft.com/office/drawing/2014/main" id="{FE5CF9D9-0582-4C59-B9E7-B570AFD31FF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4">
            <a:extLst>
              <a:ext uri="{FF2B5EF4-FFF2-40B4-BE49-F238E27FC236}">
                <a16:creationId xmlns:a16="http://schemas.microsoft.com/office/drawing/2014/main" id="{DF96A076-3BDF-4D8B-B971-0D413C9C1B9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17DB3FD-49A5-4BA5-BABC-674332D3F8F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5">
            <a:extLst>
              <a:ext uri="{FF2B5EF4-FFF2-40B4-BE49-F238E27FC236}">
                <a16:creationId xmlns:a16="http://schemas.microsoft.com/office/drawing/2014/main" id="{B63765D3-1A3D-45AE-813B-04909947140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［方法A：比較の基準］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6">
            <a:extLst>
              <a:ext uri="{FF2B5EF4-FFF2-40B4-BE49-F238E27FC236}">
                <a16:creationId xmlns:a16="http://schemas.microsoft.com/office/drawing/2014/main" id="{66B01FEE-BE43-4D58-A93F-9A3BB9A4FF9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8097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［方法B：検証する方法］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58">
            <a:extLst>
              <a:ext uri="{FF2B5EF4-FFF2-40B4-BE49-F238E27FC236}">
                <a16:creationId xmlns:a16="http://schemas.microsoft.com/office/drawing/2014/main" id="{5B9AE82E-DA99-4714-91B2-254E049F22A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343150"/>
            <a:ext cx="5124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［既にわかっている特徴］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59">
            <a:extLst>
              <a:ext uri="{FF2B5EF4-FFF2-40B4-BE49-F238E27FC236}">
                <a16:creationId xmlns:a16="http://schemas.microsoft.com/office/drawing/2014/main" id="{16334E37-6EB5-4584-91EB-7C19A67E448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343150"/>
            <a:ext cx="51149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［適すると考える条件］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60">
            <a:extLst>
              <a:ext uri="{FF2B5EF4-FFF2-40B4-BE49-F238E27FC236}">
                <a16:creationId xmlns:a16="http://schemas.microsoft.com/office/drawing/2014/main" id="{D9F43596-2794-40F9-A400-861712E036C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3933825"/>
            <a:ext cx="5124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根拠：［文献番号／既往結果・日付］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61">
            <a:extLst>
              <a:ext uri="{FF2B5EF4-FFF2-40B4-BE49-F238E27FC236}">
                <a16:creationId xmlns:a16="http://schemas.microsoft.com/office/drawing/2014/main" id="{EF6E94AE-4CA8-4042-BC9D-62D0CDE0CB2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2957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検証する仮説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62">
            <a:extLst>
              <a:ext uri="{FF2B5EF4-FFF2-40B4-BE49-F238E27FC236}">
                <a16:creationId xmlns:a16="http://schemas.microsoft.com/office/drawing/2014/main" id="{14DE3350-C435-4986-9313-EC98FF23ED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71500" y="4762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［条件］では、［方法B］と［方法A］の［指標］に［予測する違い］が生じる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takeaway_64">
            <a:extLst>
              <a:ext uri="{FF2B5EF4-FFF2-40B4-BE49-F238E27FC236}">
                <a16:creationId xmlns:a16="http://schemas.microsoft.com/office/drawing/2014/main" id="{2FCF5391-46BB-4EAD-90FF-A83EB1310CD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［条件］を変えながら、［方法A］と［方法B］の違いを確かめる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885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6">
            <a:extLst>
              <a:ext uri="{FF2B5EF4-FFF2-40B4-BE49-F238E27FC236}">
                <a16:creationId xmlns:a16="http://schemas.microsoft.com/office/drawing/2014/main" id="{5601FB43-E303-48D9-95D7-3DB967B10F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研究の目的と社会的な意義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8">
            <a:extLst>
              <a:ext uri="{FF2B5EF4-FFF2-40B4-BE49-F238E27FC236}">
                <a16:creationId xmlns:a16="http://schemas.microsoft.com/office/drawing/2014/main" id="{218B2475-D647-4E89-90A6-1CFA2104B8F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70">
            <a:extLst>
              <a:ext uri="{FF2B5EF4-FFF2-40B4-BE49-F238E27FC236}">
                <a16:creationId xmlns:a16="http://schemas.microsoft.com/office/drawing/2014/main" id="{A2834104-8871-4B6F-9C93-FD4406DF6AFC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1">
            <a:extLst>
              <a:ext uri="{FF2B5EF4-FFF2-40B4-BE49-F238E27FC236}">
                <a16:creationId xmlns:a16="http://schemas.microsoft.com/office/drawing/2014/main" id="{C1AAD221-A00A-49CB-A513-A99904067A7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56E8190-E110-4FF3-9840-813182DA255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2">
            <a:extLst>
              <a:ext uri="{FF2B5EF4-FFF2-40B4-BE49-F238E27FC236}">
                <a16:creationId xmlns:a16="http://schemas.microsoft.com/office/drawing/2014/main" id="{931F6788-1C33-430A-AD78-7CE894F3071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3">
            <a:extLst>
              <a:ext uri="{FF2B5EF4-FFF2-40B4-BE49-F238E27FC236}">
                <a16:creationId xmlns:a16="http://schemas.microsoft.com/office/drawing/2014/main" id="{0444A46F-CA4E-430C-80A2-E6048609F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24100"/>
            <a:ext cx="11049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75">
            <a:extLst>
              <a:ext uri="{FF2B5EF4-FFF2-40B4-BE49-F238E27FC236}">
                <a16:creationId xmlns:a16="http://schemas.microsoft.com/office/drawing/2014/main" id="{67C2AFDA-6E13-4C29-86EF-4D3D3A923F6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57625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この研究が必要な理由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6">
            <a:extLst>
              <a:ext uri="{FF2B5EF4-FFF2-40B4-BE49-F238E27FC236}">
                <a16:creationId xmlns:a16="http://schemas.microsoft.com/office/drawing/2014/main" id="{2A4F7513-F852-4EA2-86B8-FFAE303A8C5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62450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［社会・現場の要請］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［解決されていない技術的課題］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7">
            <a:extLst>
              <a:ext uri="{FF2B5EF4-FFF2-40B4-BE49-F238E27FC236}">
                <a16:creationId xmlns:a16="http://schemas.microsoft.com/office/drawing/2014/main" id="{0199A734-A4BE-46EF-9707-144A28A62343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57625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得られる知見の使い道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8">
            <a:extLst>
              <a:ext uri="{FF2B5EF4-FFF2-40B4-BE49-F238E27FC236}">
                <a16:creationId xmlns:a16="http://schemas.microsoft.com/office/drawing/2014/main" id="{060B5343-CADB-4D1F-95CB-5EFC61049AE1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62450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［適用にあたり確認する条件］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80">
            <a:extLst>
              <a:ext uri="{FF2B5EF4-FFF2-40B4-BE49-F238E27FC236}">
                <a16:creationId xmlns:a16="http://schemas.microsoft.com/office/drawing/2014/main" id="{3220FBF2-4AA1-4646-BC69-13DA3C00375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8652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2">
            <a:extLst>
              <a:ext uri="{FF2B5EF4-FFF2-40B4-BE49-F238E27FC236}">
                <a16:creationId xmlns:a16="http://schemas.microsoft.com/office/drawing/2014/main" id="{6E459EED-90DF-4967-A904-61F183071CE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研究の進め方と検証範囲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84">
            <a:extLst>
              <a:ext uri="{FF2B5EF4-FFF2-40B4-BE49-F238E27FC236}">
                <a16:creationId xmlns:a16="http://schemas.microsoft.com/office/drawing/2014/main" id="{E470F452-D73D-4E4C-81CB-8D3B9FB490F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86">
            <a:extLst>
              <a:ext uri="{FF2B5EF4-FFF2-40B4-BE49-F238E27FC236}">
                <a16:creationId xmlns:a16="http://schemas.microsoft.com/office/drawing/2014/main" id="{0DE499C7-B998-4E3C-9B8F-5CAF5C67F8A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7">
            <a:extLst>
              <a:ext uri="{FF2B5EF4-FFF2-40B4-BE49-F238E27FC236}">
                <a16:creationId xmlns:a16="http://schemas.microsoft.com/office/drawing/2014/main" id="{BC64196B-DF1D-448D-896B-89CF19E4769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93DE876-7A98-4A5E-B354-34765974B5E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8">
            <a:extLst>
              <a:ext uri="{FF2B5EF4-FFF2-40B4-BE49-F238E27FC236}">
                <a16:creationId xmlns:a16="http://schemas.microsoft.com/office/drawing/2014/main" id="{D465FCB6-AA27-4435-AB40-49C8016A9C3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対象とするモデル・仕組み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89">
            <a:extLst>
              <a:ext uri="{FF2B5EF4-FFF2-40B4-BE49-F238E27FC236}">
                <a16:creationId xmlns:a16="http://schemas.microsoft.com/office/drawing/2014/main" id="{F55B8B99-2AFE-4E81-A1A9-ADC18F2125DB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352675"/>
            <a:ext cx="6105525" cy="220027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 → 対象モデル → 出力］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［系統図・構成図などを配置］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90">
            <a:extLst>
              <a:ext uri="{FF2B5EF4-FFF2-40B4-BE49-F238E27FC236}">
                <a16:creationId xmlns:a16="http://schemas.microsoft.com/office/drawing/2014/main" id="{88991716-9BC9-43CA-A3CB-6407582500E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762500"/>
            <a:ext cx="61055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対象範囲：［今回含めるもの・含めないもの］</a:t>
            </a:r>
            <a:endParaRPr lang="ja-JP" altLang="en-US" sz="18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91">
            <a:extLst>
              <a:ext uri="{FF2B5EF4-FFF2-40B4-BE49-F238E27FC236}">
                <a16:creationId xmlns:a16="http://schemas.microsoft.com/office/drawing/2014/main" id="{1A482A3F-A4EF-4F44-9C7B-F9B47C61CEF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219950" y="1809750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比較する条件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2">
            <a:extLst>
              <a:ext uri="{FF2B5EF4-FFF2-40B4-BE49-F238E27FC236}">
                <a16:creationId xmlns:a16="http://schemas.microsoft.com/office/drawing/2014/main" id="{8ECA1690-FBE7-4DE0-BA6A-1F8DB75E295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219950" y="2343150"/>
            <a:ext cx="44005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方法：［比較する方法］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条件：［変える量・範囲・単位］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固定：［そろえる条件］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3">
            <a:extLst>
              <a:ext uri="{FF2B5EF4-FFF2-40B4-BE49-F238E27FC236}">
                <a16:creationId xmlns:a16="http://schemas.microsoft.com/office/drawing/2014/main" id="{F7A213AB-6DB5-45CC-9FB3-5FB6BE98286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219950" y="4124325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確かめること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4">
            <a:extLst>
              <a:ext uri="{FF2B5EF4-FFF2-40B4-BE49-F238E27FC236}">
                <a16:creationId xmlns:a16="http://schemas.microsoft.com/office/drawing/2014/main" id="{424DC48F-0FBF-4DC4-88FC-EB44956F6F7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19950" y="4629150"/>
            <a:ext cx="44005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［評価量・単位］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［妥当性を確かめる基準］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96">
            <a:extLst>
              <a:ext uri="{FF2B5EF4-FFF2-40B4-BE49-F238E27FC236}">
                <a16:creationId xmlns:a16="http://schemas.microsoft.com/office/drawing/2014/main" id="{4AC41B8B-54B0-43C8-BAEA-8BE67EDE92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［条件の変化］に対する［効果・適用範囲］を定量的に示す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42640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15837</Words>
  <Application>Microsoft Office PowerPoint</Application>
  <DocSecurity>0</DocSecurity>
  <PresentationFormat>ワイド画面</PresentationFormat>
  <Paragraphs>1512</Paragraphs>
  <Slides>34</Slides>
  <Notes>34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36" baseType="lpstr">
      <vt:lpstr>Times New Roman</vt:lpstr>
      <vt:lpstr>ChatGPT</vt:lpstr>
      <vt:lpstr>［研究題目］ ［必要なら2行目］</vt:lpstr>
      <vt:lpstr>［研究題目］ ［必要なら2行目］</vt:lpstr>
      <vt:lpstr>本日の構成</vt:lpstr>
      <vt:lpstr>［章の名称］</vt:lpstr>
      <vt:lpstr>研究の背景と課題</vt:lpstr>
      <vt:lpstr>研究目的と研究の問い</vt:lpstr>
      <vt:lpstr>先行研究と本研究の位置づけ</vt:lpstr>
      <vt:lpstr>本研究の着眼点</vt:lpstr>
      <vt:lpstr>対象システムと入出力</vt:lpstr>
      <vt:lpstr>提案手法・実験の手順</vt:lpstr>
      <vt:lpstr>モデル・数式の定義</vt:lpstr>
      <vt:lpstr>実験条件と比較方法</vt:lpstr>
      <vt:lpstr>評価指標と単位</vt:lpstr>
      <vt:lpstr>［図から伝えたいことを1文で］</vt:lpstr>
      <vt:lpstr>［比較してわかったことを1文で］</vt:lpstr>
      <vt:lpstr>［条件間の差を示す結果］</vt:lpstr>
      <vt:lpstr>［時間による変化を示す結果］</vt:lpstr>
      <vt:lpstr>［主要な結果を1文で］</vt:lpstr>
      <vt:lpstr>結果の解釈と考察</vt:lpstr>
      <vt:lpstr>研究の限界と適用範囲</vt:lpstr>
      <vt:lpstr>まとめと今後の課題</vt:lpstr>
      <vt:lpstr>前回からの進捗</vt:lpstr>
      <vt:lpstr>前回の指摘と対応</vt:lpstr>
      <vt:lpstr>現在の課題と対応方針</vt:lpstr>
      <vt:lpstr>次回までの計画</vt:lpstr>
      <vt:lpstr>相談したいこと</vt:lpstr>
      <vt:lpstr>参考文献</vt:lpstr>
      <vt:lpstr>補足：［説明する項目］</vt:lpstr>
      <vt:lpstr>社会背景・研究背景</vt:lpstr>
      <vt:lpstr>研究課題と本研究の目的</vt:lpstr>
      <vt:lpstr>社会の要請と現場の課題</vt:lpstr>
      <vt:lpstr>比較する方法と検証する仮説</vt:lpstr>
      <vt:lpstr>研究の目的と社会的な意義</vt:lpstr>
      <vt:lpstr>研究の進め方と検証範囲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1</cp:revision>
  <dcterms:created xsi:type="dcterms:W3CDTF">2026-09-27T04:53:20Z</dcterms:created>
  <dcterms:modified xsi:type="dcterms:W3CDTF">2026-09-27T07:04:42Z</dcterms:modified>
</cp:coreProperties>
</file>