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［所属］の［氏名］です。［対象期間］の研究進捗を報告します。今回は［主に取り組んだ内容］を進めました。本日は、［確認できたこと］と［相談したいこと］を中心にお話しします。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今回の差分と相談事項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まず、今回取り組んだ研究の問いを確認します。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今回扱う期間と題目を記入。進捗報告は「今回の問い→前回からの差分→根拠→課題→次回計画」の順で話す。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本研究の目的は、［何を明らかにするか］です。［対象・範囲］に対して、［比較対象］と［検証する方法］を比較します。主に［指標・単位］を用いて評価し、［判定条件］を確認します。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目的と手段を分けて話す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この問いが既存の研究とどう関係するかを説明します。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目的と手段を分ける。「何を、何と比べ、何で評価するか」を具体化。数値目標は根拠がある場合だけ入れる。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いただいた［指摘］に対し、［対応内容］を実施しました。［確認できた根拠］により、［対応後の状態］を確認しています。一方、［残っている点］については、［次に行う確認］が必要です。本日はこの対応で［確認いただきたい点］を相談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指摘→対応→根拠→残件の順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続いて、前回からの進捗全体を示します。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指摘内容、行った対応、結果と残課題を対応させる。口頭回答だけでなく、根拠のスライド番号・資料も記す。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前回から今回までの変更点を報告します。［項目］について、前回は［状態］でしたが、今回は［行ったこと・現在の状態］まで進みました。確認できる根拠は［図・表・記録］です。［未完了の項目］は［残っている作業］の段階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実施済み・確認済み・未完了を区別する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このうち、［主要な結果／残る問題］を詳しく説明します。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実施した作業ではなく、前回から何がわかったかを示す。状況は「完了・継続・未着手」等の言葉で記し、色だけに頼らない。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が［条件A］、右が［条件B］の結果です。［共通条件］をそろえ、［相違点］を変えています。［比較箇所］では、［差の大きさ・単位］が確認できます。ただし、［比較上の注意］があるため、結論は［言える範囲］に限り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同じ軸・時間帯・単位の位置を比較する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この差を、［次の指標／考察］から確認します。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2図で軸範囲・単位・色・期間をそろえる。比較条件が違う場合は差を明示。月別12週では各月の選定週を指し、季節全体や年間一般へ広げない。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では、観察した結果と、その解釈を分けて説明します。確認した事実は［結果］です。その理由として［仮説・解釈］が考えられます。ただし、［別の説明の可能性］はまだ除外できていません。これを確かめるには［追加検証］が必要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事実と推測の欄を明確に指し分ける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次に、結論が当てはまる範囲と限界を示します。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左に観察された事実、右に解釈を書く。因果関係は検証なしに断定しない。他の説明があり得る場合は次の検証へつなぐ。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現在の問題は［観察された問題］です。原因として［仮説］を考えていますが、現時点では未確認です。［切り分け方法］を行い、［判定条件］で仮説を確認します。結果に応じて［対応案］へ進みます。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原因を断定せず、判定条件を示す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これを踏まえた次回までの計画です。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事実として起きたことと原因の仮説を分ける。対応策には、改善したと判断する基準を付ける。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次回までに［優先課題］に取り組みます。［期限］までに［作業］を行い、［成果物］を用意します。完了の基準は［確認条件］です。［依存する作業］があるため、［順序・代替案］の順で進めます。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作業名だけでなく成果物と完了条件を伝える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最後に、計画を進めるうえで相談したい点です。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作業だけでなく、次回持参する成果物と完了条件を書く。予定を結果として書かない。期限は実際の日付へ置換する。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ご相談したいのは、［決めたいこと］です。案Aは［利点・制約］、案Bは［利点・制約］です。私は［理由］から［推奨案］を考えています。［判断いただきたい点］について、ご意見をいただけますでしょう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判断の選択肢と自分の考えを伝える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［回答を受けて、次の作業・期限を確認する］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判断をお願いしたい論点を1つに絞る。選択肢と影響、現時点の案を用意すると相談しやすい。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 導入A 社会背景・研究背景" preserve="1">
  <p:cSld name="29 導入A 社会背景・研究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">
            <a:extLst>
              <a:ext uri="{FF2B5EF4-FFF2-40B4-BE49-F238E27FC236}">
                <a16:creationId xmlns:a16="http://schemas.microsoft.com/office/drawing/2014/main" id="{35B6E907-37D8-4B7F-BD51-E3A61AB040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">
            <a:extLst>
              <a:ext uri="{FF2B5EF4-FFF2-40B4-BE49-F238E27FC236}">
                <a16:creationId xmlns:a16="http://schemas.microsoft.com/office/drawing/2014/main" id="{06034849-7290-4EBF-9483-7106BCD1405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社会背景・研究背景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">
            <a:extLst>
              <a:ext uri="{FF2B5EF4-FFF2-40B4-BE49-F238E27FC236}">
                <a16:creationId xmlns:a16="http://schemas.microsoft.com/office/drawing/2014/main" id="{4AE92CBF-8A4C-40E0-8D8A-0FBF62BF227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42BB7A37-5A9D-4FF4-93EC-7CB49B13AFE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">
            <a:extLst>
              <a:ext uri="{FF2B5EF4-FFF2-40B4-BE49-F238E27FC236}">
                <a16:creationId xmlns:a16="http://schemas.microsoft.com/office/drawing/2014/main" id="{B84AE505-8251-40C8-BEC5-536EBE91CB6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8F1184B9-5CB6-4E39-8024-C2019E8B064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BF9B661D-F5E0-440B-B3C0-04160910D46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60EDF77-217F-499E-9AF2-6067BC2DCC2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C8677966-46BF-45DB-AA7A-E67ECA0E26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9070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4AAF519F-5A9F-4D17-B6DD-15084F8B3BE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66950"/>
            <a:ext cx="59626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［政策・社会が目指す姿］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［実現に向けた取組・変化］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0">
            <a:extLst>
              <a:ext uri="{FF2B5EF4-FFF2-40B4-BE49-F238E27FC236}">
                <a16:creationId xmlns:a16="http://schemas.microsoft.com/office/drawing/2014/main" id="{4A0A000E-D742-49A4-8C23-AB5FAE7D6DF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267075" y="3314700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↓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11">
            <a:extLst>
              <a:ext uri="{FF2B5EF4-FFF2-40B4-BE49-F238E27FC236}">
                <a16:creationId xmlns:a16="http://schemas.microsoft.com/office/drawing/2014/main" id="{003AA621-C2D6-466C-9A9E-795AB1884CA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86715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12">
            <a:extLst>
              <a:ext uri="{FF2B5EF4-FFF2-40B4-BE49-F238E27FC236}">
                <a16:creationId xmlns:a16="http://schemas.microsoft.com/office/drawing/2014/main" id="{60144341-B641-41B8-98DC-1F8192F8932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62450"/>
            <a:ext cx="59626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［取組に伴って生じる技術的課題］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［解決のために必要な対応］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figure_13">
            <a:extLst>
              <a:ext uri="{FF2B5EF4-FFF2-40B4-BE49-F238E27FC236}">
                <a16:creationId xmlns:a16="http://schemas.microsoft.com/office/drawing/2014/main" id="{401BC5B1-47A8-4387-A5C3-479C4FFB2676}"/>
              </a:ext>
            </a:extLst>
          </p:cNvPr>
          <p:cNvSpPr>
            <a:spLocks noGrp="1"/>
          </p:cNvSpPr>
          <p:nvPr>
            <p:ph idx="9" hasCustomPrompt="1"/>
          </p:nvPr>
        </p:nvSpPr>
        <p:spPr>
          <a:xfrm>
            <a:off x="7134225" y="1952625"/>
            <a:ext cx="4486275" cy="2705100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［技術的課題を示す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図・統計・概念図］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source_14">
            <a:extLst>
              <a:ext uri="{FF2B5EF4-FFF2-40B4-BE49-F238E27FC236}">
                <a16:creationId xmlns:a16="http://schemas.microsoft.com/office/drawing/2014/main" id="{ED57E3F3-B504-436B-8CD4-DFE0C4D49F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34225" y="48196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政策：［資料名・年・頁］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図：［出典・対象範囲］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15">
            <a:extLst>
              <a:ext uri="{FF2B5EF4-FFF2-40B4-BE49-F238E27FC236}">
                <a16:creationId xmlns:a16="http://schemas.microsoft.com/office/drawing/2014/main" id="{26B9757C-35D8-4490-BAF8-96065DE3C33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6">
            <a:extLst>
              <a:ext uri="{FF2B5EF4-FFF2-40B4-BE49-F238E27FC236}">
                <a16:creationId xmlns:a16="http://schemas.microsoft.com/office/drawing/2014/main" id="{8581A6F4-A006-45B3-926F-2E7EE3CFEF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［社会の目標］を支えるには、［技術的課題］の解決が必要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 導入A 研究課題・研究目的" preserve="1">
  <p:cSld name="30 導入A 研究課題・研究目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7">
            <a:extLst>
              <a:ext uri="{FF2B5EF4-FFF2-40B4-BE49-F238E27FC236}">
                <a16:creationId xmlns:a16="http://schemas.microsoft.com/office/drawing/2014/main" id="{EA11532D-4211-4C8C-82C2-1633FB44C7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">
            <a:extLst>
              <a:ext uri="{FF2B5EF4-FFF2-40B4-BE49-F238E27FC236}">
                <a16:creationId xmlns:a16="http://schemas.microsoft.com/office/drawing/2014/main" id="{F5FC2D4F-8E39-4711-ACBA-8605CC9CC09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研究課題と本研究の目的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">
            <a:extLst>
              <a:ext uri="{FF2B5EF4-FFF2-40B4-BE49-F238E27FC236}">
                <a16:creationId xmlns:a16="http://schemas.microsoft.com/office/drawing/2014/main" id="{CA3D0E6F-F856-417B-BD0C-00FF81A1E53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20">
            <a:extLst>
              <a:ext uri="{FF2B5EF4-FFF2-40B4-BE49-F238E27FC236}">
                <a16:creationId xmlns:a16="http://schemas.microsoft.com/office/drawing/2014/main" id="{440B67EB-5E61-4F91-A4C2-20E26338108A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21">
            <a:extLst>
              <a:ext uri="{FF2B5EF4-FFF2-40B4-BE49-F238E27FC236}">
                <a16:creationId xmlns:a16="http://schemas.microsoft.com/office/drawing/2014/main" id="{1B093E44-7F7F-4289-AC46-4B6E9B68A1E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22">
            <a:extLst>
              <a:ext uri="{FF2B5EF4-FFF2-40B4-BE49-F238E27FC236}">
                <a16:creationId xmlns:a16="http://schemas.microsoft.com/office/drawing/2014/main" id="{C7B25552-D3E7-48C4-88D8-2F465A3D993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3">
            <a:extLst>
              <a:ext uri="{FF2B5EF4-FFF2-40B4-BE49-F238E27FC236}">
                <a16:creationId xmlns:a16="http://schemas.microsoft.com/office/drawing/2014/main" id="{D4F3709F-D73E-4F2E-BC9C-97592D997077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BB971D6-722B-46AC-BB3F-D3AD3C0A299F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4">
            <a:extLst>
              <a:ext uri="{FF2B5EF4-FFF2-40B4-BE49-F238E27FC236}">
                <a16:creationId xmlns:a16="http://schemas.microsoft.com/office/drawing/2014/main" id="{515EFFE9-B490-477E-900D-F902F12ECB1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811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対象技術に残る課題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5">
            <a:extLst>
              <a:ext uri="{FF2B5EF4-FFF2-40B4-BE49-F238E27FC236}">
                <a16:creationId xmlns:a16="http://schemas.microsoft.com/office/drawing/2014/main" id="{55B842B2-E5D1-47DE-AB92-2A81A76680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19325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［課題1：効果・仕組みの明確化］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［課題2：適用条件・限界の明確化］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source_26">
            <a:extLst>
              <a:ext uri="{FF2B5EF4-FFF2-40B4-BE49-F238E27FC236}">
                <a16:creationId xmlns:a16="http://schemas.microsoft.com/office/drawing/2014/main" id="{BDDC3A0D-FF5F-4381-90AC-15FD66978DF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0956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課題の根拠：［文献番号／確認した事実・日付］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7">
            <a:extLst>
              <a:ext uri="{FF2B5EF4-FFF2-40B4-BE49-F238E27FC236}">
                <a16:creationId xmlns:a16="http://schemas.microsoft.com/office/drawing/2014/main" id="{3F997FE7-FD9F-4DE7-AE45-91BCC48D727E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8">
            <a:extLst>
              <a:ext uri="{FF2B5EF4-FFF2-40B4-BE49-F238E27FC236}">
                <a16:creationId xmlns:a16="http://schemas.microsoft.com/office/drawing/2014/main" id="{24C384A6-EA68-481A-BD93-7CC6F73EE15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6099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">
            <a:extLst>
              <a:ext uri="{FF2B5EF4-FFF2-40B4-BE49-F238E27FC236}">
                <a16:creationId xmlns:a16="http://schemas.microsoft.com/office/drawing/2014/main" id="{CEEF5CCC-CFBD-435D-BD61-B32EBA42615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4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30">
            <a:extLst>
              <a:ext uri="{FF2B5EF4-FFF2-40B4-BE49-F238E27FC236}">
                <a16:creationId xmlns:a16="http://schemas.microsoft.com/office/drawing/2014/main" id="{1E3C9D6A-E3F4-4526-8708-AED7D1C45CA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9244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仮説：［条件］では、［方法の違い］により［評価量］が［変化］する</a:t>
            </a:r>
            <a:endParaRPr lang="ja-JP" altLang="en-US" sz="19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31">
            <a:extLst>
              <a:ext uri="{FF2B5EF4-FFF2-40B4-BE49-F238E27FC236}">
                <a16:creationId xmlns:a16="http://schemas.microsoft.com/office/drawing/2014/main" id="{824799D4-DB2B-402A-8229-940D1FD3165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32">
            <a:extLst>
              <a:ext uri="{FF2B5EF4-FFF2-40B4-BE49-F238E27FC236}">
                <a16:creationId xmlns:a16="http://schemas.microsoft.com/office/drawing/2014/main" id="{820848C7-0409-4C18-94C9-FEC4784148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［対象条件］での［効果・適用範囲］を定量的に示す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 導入B 社会の要請・現場の課題" preserve="1">
  <p:cSld name="31 導入B 社会の要請・現場の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33">
            <a:extLst>
              <a:ext uri="{FF2B5EF4-FFF2-40B4-BE49-F238E27FC236}">
                <a16:creationId xmlns:a16="http://schemas.microsoft.com/office/drawing/2014/main" id="{0B4E6639-942F-4527-A230-A69C1DAB34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4">
            <a:extLst>
              <a:ext uri="{FF2B5EF4-FFF2-40B4-BE49-F238E27FC236}">
                <a16:creationId xmlns:a16="http://schemas.microsoft.com/office/drawing/2014/main" id="{E4C8C69D-1043-4478-92BE-E9007ED267E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社会の要請と現場の課題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5">
            <a:extLst>
              <a:ext uri="{FF2B5EF4-FFF2-40B4-BE49-F238E27FC236}">
                <a16:creationId xmlns:a16="http://schemas.microsoft.com/office/drawing/2014/main" id="{86F20D8C-0755-443E-8529-B6312A41F870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36">
            <a:extLst>
              <a:ext uri="{FF2B5EF4-FFF2-40B4-BE49-F238E27FC236}">
                <a16:creationId xmlns:a16="http://schemas.microsoft.com/office/drawing/2014/main" id="{16AFF1AC-4281-41CD-B46D-C946DB13032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37">
            <a:extLst>
              <a:ext uri="{FF2B5EF4-FFF2-40B4-BE49-F238E27FC236}">
                <a16:creationId xmlns:a16="http://schemas.microsoft.com/office/drawing/2014/main" id="{09A3FCAD-AFC2-48A4-BD18-BDB2376EB2B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38">
            <a:extLst>
              <a:ext uri="{FF2B5EF4-FFF2-40B4-BE49-F238E27FC236}">
                <a16:creationId xmlns:a16="http://schemas.microsoft.com/office/drawing/2014/main" id="{7CCC4355-F209-4DF1-83E3-128D8C30552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39">
            <a:extLst>
              <a:ext uri="{FF2B5EF4-FFF2-40B4-BE49-F238E27FC236}">
                <a16:creationId xmlns:a16="http://schemas.microsoft.com/office/drawing/2014/main" id="{EC7025DB-9A57-429D-87CB-B07329C6A36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4F46FB15-09A9-4A12-AEB4-82227F56097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0">
            <a:extLst>
              <a:ext uri="{FF2B5EF4-FFF2-40B4-BE49-F238E27FC236}">
                <a16:creationId xmlns:a16="http://schemas.microsoft.com/office/drawing/2014/main" id="{344B90EE-5CD5-41C9-A69C-F2E001D8191D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1">
            <a:extLst>
              <a:ext uri="{FF2B5EF4-FFF2-40B4-BE49-F238E27FC236}">
                <a16:creationId xmlns:a16="http://schemas.microsoft.com/office/drawing/2014/main" id="{F53F088D-A7EE-4971-B5BA-EE994EFFACF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2">
            <a:extLst>
              <a:ext uri="{FF2B5EF4-FFF2-40B4-BE49-F238E27FC236}">
                <a16:creationId xmlns:a16="http://schemas.microsoft.com/office/drawing/2014/main" id="{AC4A263D-D000-452E-839D-6285399D42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2880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求められる役割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3">
            <a:extLst>
              <a:ext uri="{FF2B5EF4-FFF2-40B4-BE49-F238E27FC236}">
                <a16:creationId xmlns:a16="http://schemas.microsoft.com/office/drawing/2014/main" id="{25458659-A694-4E30-8758-7C81054889A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24100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［社会・利用者が求めること］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［現場が満たすべき条件］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4">
            <a:extLst>
              <a:ext uri="{FF2B5EF4-FFF2-40B4-BE49-F238E27FC236}">
                <a16:creationId xmlns:a16="http://schemas.microsoft.com/office/drawing/2014/main" id="{4D92BE35-318C-4A83-8698-0227A89E365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79095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現場に残る技術的課題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5">
            <a:extLst>
              <a:ext uri="{FF2B5EF4-FFF2-40B4-BE49-F238E27FC236}">
                <a16:creationId xmlns:a16="http://schemas.microsoft.com/office/drawing/2014/main" id="{7923FE8C-CC5C-4DCD-A108-1EC3C99EE6D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286250"/>
            <a:ext cx="50863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［役割を果たすうえで難しい点］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［根拠となる数値・観察事実］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46">
            <a:extLst>
              <a:ext uri="{FF2B5EF4-FFF2-40B4-BE49-F238E27FC236}">
                <a16:creationId xmlns:a16="http://schemas.microsoft.com/office/drawing/2014/main" id="{CDB9E452-267A-429F-9BA0-9E76C14558F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47">
            <a:extLst>
              <a:ext uri="{FF2B5EF4-FFF2-40B4-BE49-F238E27FC236}">
                <a16:creationId xmlns:a16="http://schemas.microsoft.com/office/drawing/2014/main" id="{6F1423BA-D45B-4104-94EB-8B4A48BD7CE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［現場の要請］と［技術的制約］を満たす方法を検討する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 導入B 比較手法・仮説" preserve="1">
  <p:cSld name="32 導入B 比較手法・仮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ATIC_rule_48">
            <a:extLst>
              <a:ext uri="{FF2B5EF4-FFF2-40B4-BE49-F238E27FC236}">
                <a16:creationId xmlns:a16="http://schemas.microsoft.com/office/drawing/2014/main" id="{B454553F-A0EA-4845-B71C-48B204C405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49">
            <a:extLst>
              <a:ext uri="{FF2B5EF4-FFF2-40B4-BE49-F238E27FC236}">
                <a16:creationId xmlns:a16="http://schemas.microsoft.com/office/drawing/2014/main" id="{41DE371D-0321-4746-931E-0F8F49FB539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比較する方法と検証する仮説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0">
            <a:extLst>
              <a:ext uri="{FF2B5EF4-FFF2-40B4-BE49-F238E27FC236}">
                <a16:creationId xmlns:a16="http://schemas.microsoft.com/office/drawing/2014/main" id="{504EE668-586F-45B7-9C51-32398FA37F6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51">
            <a:extLst>
              <a:ext uri="{FF2B5EF4-FFF2-40B4-BE49-F238E27FC236}">
                <a16:creationId xmlns:a16="http://schemas.microsoft.com/office/drawing/2014/main" id="{64B6E17A-AFB1-467E-AC19-F45508B6296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2">
            <a:extLst>
              <a:ext uri="{FF2B5EF4-FFF2-40B4-BE49-F238E27FC236}">
                <a16:creationId xmlns:a16="http://schemas.microsoft.com/office/drawing/2014/main" id="{51B0E6C1-71B7-44DB-A882-FE694A308AE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53">
            <a:extLst>
              <a:ext uri="{FF2B5EF4-FFF2-40B4-BE49-F238E27FC236}">
                <a16:creationId xmlns:a16="http://schemas.microsoft.com/office/drawing/2014/main" id="{FE5CF9D9-0582-4C59-B9E7-B570AFD31FF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4">
            <a:extLst>
              <a:ext uri="{FF2B5EF4-FFF2-40B4-BE49-F238E27FC236}">
                <a16:creationId xmlns:a16="http://schemas.microsoft.com/office/drawing/2014/main" id="{DF96A076-3BDF-4D8B-B971-0D413C9C1B9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17DB3FD-49A5-4BA5-BABC-674332D3F8F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5">
            <a:extLst>
              <a:ext uri="{FF2B5EF4-FFF2-40B4-BE49-F238E27FC236}">
                <a16:creationId xmlns:a16="http://schemas.microsoft.com/office/drawing/2014/main" id="{B63765D3-1A3D-45AE-813B-04909947140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［方法A：比較の基準］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6">
            <a:extLst>
              <a:ext uri="{FF2B5EF4-FFF2-40B4-BE49-F238E27FC236}">
                <a16:creationId xmlns:a16="http://schemas.microsoft.com/office/drawing/2014/main" id="{66B01FEE-BE43-4D58-A93F-9A3BB9A4FF9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8097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［方法B：検証する方法］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57">
            <a:extLst>
              <a:ext uri="{FF2B5EF4-FFF2-40B4-BE49-F238E27FC236}">
                <a16:creationId xmlns:a16="http://schemas.microsoft.com/office/drawing/2014/main" id="{8F365B0D-DABE-4F07-A860-38AFE222C929}"/>
              </a:ext>
            </a:extLst>
          </p:cNvPr>
          <p:cNvSpPr>
            <a:spLocks noGrp="1"/>
          </p:cNvSpPr>
          <p:nvPr/>
        </p:nvSpPr>
        <p:spPr>
          <a:xfrm>
            <a:off x="6057900" y="1819275"/>
            <a:ext cx="19050" cy="2200275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58">
            <a:extLst>
              <a:ext uri="{FF2B5EF4-FFF2-40B4-BE49-F238E27FC236}">
                <a16:creationId xmlns:a16="http://schemas.microsoft.com/office/drawing/2014/main" id="{5B9AE82E-DA99-4714-91B2-254E049F22A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343150"/>
            <a:ext cx="5124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［既にわかっている特徴］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59">
            <a:extLst>
              <a:ext uri="{FF2B5EF4-FFF2-40B4-BE49-F238E27FC236}">
                <a16:creationId xmlns:a16="http://schemas.microsoft.com/office/drawing/2014/main" id="{16334E37-6EB5-4584-91EB-7C19A67E448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343150"/>
            <a:ext cx="51149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［適すると考える条件］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60">
            <a:extLst>
              <a:ext uri="{FF2B5EF4-FFF2-40B4-BE49-F238E27FC236}">
                <a16:creationId xmlns:a16="http://schemas.microsoft.com/office/drawing/2014/main" id="{D9F43596-2794-40F9-A400-861712E036C2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3933825"/>
            <a:ext cx="51244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根拠：［文献番号／既往結果・日付］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61">
            <a:extLst>
              <a:ext uri="{FF2B5EF4-FFF2-40B4-BE49-F238E27FC236}">
                <a16:creationId xmlns:a16="http://schemas.microsoft.com/office/drawing/2014/main" id="{EF6E94AE-4CA8-4042-BC9D-62D0CDE0CB2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2957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検証する仮説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62">
            <a:extLst>
              <a:ext uri="{FF2B5EF4-FFF2-40B4-BE49-F238E27FC236}">
                <a16:creationId xmlns:a16="http://schemas.microsoft.com/office/drawing/2014/main" id="{14DE3350-C435-4986-9313-EC98FF23ED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71500" y="47625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［条件］では、［方法B］と［方法A］の［指標］に［予測する違い］が生じる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STATIC_rule_63">
            <a:extLst>
              <a:ext uri="{FF2B5EF4-FFF2-40B4-BE49-F238E27FC236}">
                <a16:creationId xmlns:a16="http://schemas.microsoft.com/office/drawing/2014/main" id="{AC06013A-5627-4D4E-8F3A-108BBCD3EBEB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7" name="PH_takeaway_64">
            <a:extLst>
              <a:ext uri="{FF2B5EF4-FFF2-40B4-BE49-F238E27FC236}">
                <a16:creationId xmlns:a16="http://schemas.microsoft.com/office/drawing/2014/main" id="{2FCF5391-46BB-4EAD-90FF-A83EB1310CD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［条件］を変えながら、［方法A］と［方法B］の違いを確かめる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 導入C 目的・意義" preserve="1">
  <p:cSld name="33 導入C 目的・意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65">
            <a:extLst>
              <a:ext uri="{FF2B5EF4-FFF2-40B4-BE49-F238E27FC236}">
                <a16:creationId xmlns:a16="http://schemas.microsoft.com/office/drawing/2014/main" id="{BD7F2AF3-E51C-4693-80ED-EF8CDC5204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6">
            <a:extLst>
              <a:ext uri="{FF2B5EF4-FFF2-40B4-BE49-F238E27FC236}">
                <a16:creationId xmlns:a16="http://schemas.microsoft.com/office/drawing/2014/main" id="{5601FB43-E303-48D9-95D7-3DB967B10F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研究の目的と社会的な意義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7">
            <a:extLst>
              <a:ext uri="{FF2B5EF4-FFF2-40B4-BE49-F238E27FC236}">
                <a16:creationId xmlns:a16="http://schemas.microsoft.com/office/drawing/2014/main" id="{68F539C4-1B3B-4805-A7EE-566E436AA77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8">
            <a:extLst>
              <a:ext uri="{FF2B5EF4-FFF2-40B4-BE49-F238E27FC236}">
                <a16:creationId xmlns:a16="http://schemas.microsoft.com/office/drawing/2014/main" id="{218B2475-D647-4E89-90A6-1CFA2104B8F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9">
            <a:extLst>
              <a:ext uri="{FF2B5EF4-FFF2-40B4-BE49-F238E27FC236}">
                <a16:creationId xmlns:a16="http://schemas.microsoft.com/office/drawing/2014/main" id="{65D148F2-A484-4606-A794-B52914E5312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70">
            <a:extLst>
              <a:ext uri="{FF2B5EF4-FFF2-40B4-BE49-F238E27FC236}">
                <a16:creationId xmlns:a16="http://schemas.microsoft.com/office/drawing/2014/main" id="{A2834104-8871-4B6F-9C93-FD4406DF6AFC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1">
            <a:extLst>
              <a:ext uri="{FF2B5EF4-FFF2-40B4-BE49-F238E27FC236}">
                <a16:creationId xmlns:a16="http://schemas.microsoft.com/office/drawing/2014/main" id="{C1AAD221-A00A-49CB-A513-A99904067A7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56E8190-E110-4FF3-9840-813182DA255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2">
            <a:extLst>
              <a:ext uri="{FF2B5EF4-FFF2-40B4-BE49-F238E27FC236}">
                <a16:creationId xmlns:a16="http://schemas.microsoft.com/office/drawing/2014/main" id="{931F6788-1C33-430A-AD78-7CE894F3071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3">
            <a:extLst>
              <a:ext uri="{FF2B5EF4-FFF2-40B4-BE49-F238E27FC236}">
                <a16:creationId xmlns:a16="http://schemas.microsoft.com/office/drawing/2014/main" id="{0444A46F-CA4E-430C-80A2-E6048609F31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24100"/>
            <a:ext cx="11049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74">
            <a:extLst>
              <a:ext uri="{FF2B5EF4-FFF2-40B4-BE49-F238E27FC236}">
                <a16:creationId xmlns:a16="http://schemas.microsoft.com/office/drawing/2014/main" id="{4E1605D6-0C2B-4E1A-8CAA-DB01D9B5ACBD}"/>
              </a:ext>
            </a:extLst>
          </p:cNvPr>
          <p:cNvSpPr>
            <a:spLocks noGrp="1"/>
          </p:cNvSpPr>
          <p:nvPr/>
        </p:nvSpPr>
        <p:spPr>
          <a:xfrm>
            <a:off x="571500" y="35337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LABEL_75">
            <a:extLst>
              <a:ext uri="{FF2B5EF4-FFF2-40B4-BE49-F238E27FC236}">
                <a16:creationId xmlns:a16="http://schemas.microsoft.com/office/drawing/2014/main" id="{67C2AFDA-6E13-4C29-86EF-4D3D3A923F6F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57625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この研究が必要な理由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6">
            <a:extLst>
              <a:ext uri="{FF2B5EF4-FFF2-40B4-BE49-F238E27FC236}">
                <a16:creationId xmlns:a16="http://schemas.microsoft.com/office/drawing/2014/main" id="{2A4F7513-F852-4EA2-86B8-FFAE303A8C5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62450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［社会・現場の要請］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［解決されていない技術的課題］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7">
            <a:extLst>
              <a:ext uri="{FF2B5EF4-FFF2-40B4-BE49-F238E27FC236}">
                <a16:creationId xmlns:a16="http://schemas.microsoft.com/office/drawing/2014/main" id="{0199A734-A4BE-46EF-9707-144A28A62343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57625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得られる知見の使い道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8">
            <a:extLst>
              <a:ext uri="{FF2B5EF4-FFF2-40B4-BE49-F238E27FC236}">
                <a16:creationId xmlns:a16="http://schemas.microsoft.com/office/drawing/2014/main" id="{060B5343-CADB-4D1F-95CB-5EFC61049AE1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62450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［適用にあたり確認する条件］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79">
            <a:extLst>
              <a:ext uri="{FF2B5EF4-FFF2-40B4-BE49-F238E27FC236}">
                <a16:creationId xmlns:a16="http://schemas.microsoft.com/office/drawing/2014/main" id="{4018BF7E-D0F0-41DE-82FB-D60CC0639EA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80">
            <a:extLst>
              <a:ext uri="{FF2B5EF4-FFF2-40B4-BE49-F238E27FC236}">
                <a16:creationId xmlns:a16="http://schemas.microsoft.com/office/drawing/2014/main" id="{3220FBF2-4AA1-4646-BC69-13DA3C00375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 導入C 研究手法・検証範囲" preserve="1">
  <p:cSld name="34 導入C 研究手法・検証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1">
            <a:extLst>
              <a:ext uri="{FF2B5EF4-FFF2-40B4-BE49-F238E27FC236}">
                <a16:creationId xmlns:a16="http://schemas.microsoft.com/office/drawing/2014/main" id="{31348976-F154-4FB8-A94D-0C37704897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2">
            <a:extLst>
              <a:ext uri="{FF2B5EF4-FFF2-40B4-BE49-F238E27FC236}">
                <a16:creationId xmlns:a16="http://schemas.microsoft.com/office/drawing/2014/main" id="{6E459EED-90DF-4967-A904-61F183071CE2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研究の進め方と検証範囲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3">
            <a:extLst>
              <a:ext uri="{FF2B5EF4-FFF2-40B4-BE49-F238E27FC236}">
                <a16:creationId xmlns:a16="http://schemas.microsoft.com/office/drawing/2014/main" id="{804D5639-D6E0-49D4-B216-96EF3FD60E6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84">
            <a:extLst>
              <a:ext uri="{FF2B5EF4-FFF2-40B4-BE49-F238E27FC236}">
                <a16:creationId xmlns:a16="http://schemas.microsoft.com/office/drawing/2014/main" id="{E470F452-D73D-4E4C-81CB-8D3B9FB490F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85">
            <a:extLst>
              <a:ext uri="{FF2B5EF4-FFF2-40B4-BE49-F238E27FC236}">
                <a16:creationId xmlns:a16="http://schemas.microsoft.com/office/drawing/2014/main" id="{5344F1A5-4C61-439A-ACD2-DDAF56C0427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86">
            <a:extLst>
              <a:ext uri="{FF2B5EF4-FFF2-40B4-BE49-F238E27FC236}">
                <a16:creationId xmlns:a16="http://schemas.microsoft.com/office/drawing/2014/main" id="{0DE499C7-B998-4E3C-9B8F-5CAF5C67F8A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7">
            <a:extLst>
              <a:ext uri="{FF2B5EF4-FFF2-40B4-BE49-F238E27FC236}">
                <a16:creationId xmlns:a16="http://schemas.microsoft.com/office/drawing/2014/main" id="{BC64196B-DF1D-448D-896B-89CF19E4769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93DE876-7A98-4A5E-B354-34765974B5E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8">
            <a:extLst>
              <a:ext uri="{FF2B5EF4-FFF2-40B4-BE49-F238E27FC236}">
                <a16:creationId xmlns:a16="http://schemas.microsoft.com/office/drawing/2014/main" id="{D465FCB6-AA27-4435-AB40-49C8016A9C3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61055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対象とするモデル・仕組み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89">
            <a:extLst>
              <a:ext uri="{FF2B5EF4-FFF2-40B4-BE49-F238E27FC236}">
                <a16:creationId xmlns:a16="http://schemas.microsoft.com/office/drawing/2014/main" id="{F55B8B99-2AFE-4E81-A1A9-ADC18F2125DB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352675"/>
            <a:ext cx="6105525" cy="220027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 → 対象モデル → 出力］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［系統図・構成図などを配置］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90">
            <a:extLst>
              <a:ext uri="{FF2B5EF4-FFF2-40B4-BE49-F238E27FC236}">
                <a16:creationId xmlns:a16="http://schemas.microsoft.com/office/drawing/2014/main" id="{88991716-9BC9-43CA-A3CB-6407582500E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762500"/>
            <a:ext cx="61055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対象範囲：［今回含めるもの・含めないもの］</a:t>
            </a:r>
            <a:endParaRPr lang="ja-JP" altLang="en-US" sz="18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91">
            <a:extLst>
              <a:ext uri="{FF2B5EF4-FFF2-40B4-BE49-F238E27FC236}">
                <a16:creationId xmlns:a16="http://schemas.microsoft.com/office/drawing/2014/main" id="{1A482A3F-A4EF-4F44-9C7B-F9B47C61CEF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219950" y="1809750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比較する条件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2">
            <a:extLst>
              <a:ext uri="{FF2B5EF4-FFF2-40B4-BE49-F238E27FC236}">
                <a16:creationId xmlns:a16="http://schemas.microsoft.com/office/drawing/2014/main" id="{8ECA1690-FBE7-4DE0-BA6A-1F8DB75E295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219950" y="2343150"/>
            <a:ext cx="440055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方法：［比較する方法］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条件：［変える量・範囲・単位］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固定：［そろえる条件］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3">
            <a:extLst>
              <a:ext uri="{FF2B5EF4-FFF2-40B4-BE49-F238E27FC236}">
                <a16:creationId xmlns:a16="http://schemas.microsoft.com/office/drawing/2014/main" id="{F7A213AB-6DB5-45CC-9FB3-5FB6BE98286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219950" y="4124325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確かめること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4">
            <a:extLst>
              <a:ext uri="{FF2B5EF4-FFF2-40B4-BE49-F238E27FC236}">
                <a16:creationId xmlns:a16="http://schemas.microsoft.com/office/drawing/2014/main" id="{424DC48F-0FBF-4DC4-88FC-EB44956F6F7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19950" y="4629150"/>
            <a:ext cx="44005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［評価量・単位］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［妥当性を確かめる基準］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5">
            <a:extLst>
              <a:ext uri="{FF2B5EF4-FFF2-40B4-BE49-F238E27FC236}">
                <a16:creationId xmlns:a16="http://schemas.microsoft.com/office/drawing/2014/main" id="{04E7C8E2-F8FE-4365-9A68-E6212FA4B317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96">
            <a:extLst>
              <a:ext uri="{FF2B5EF4-FFF2-40B4-BE49-F238E27FC236}">
                <a16:creationId xmlns:a16="http://schemas.microsoft.com/office/drawing/2014/main" id="{4AC41B8B-54B0-43C8-BAEA-8BE67EDE927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［条件の変化］に対する［効果・適用範囲］を定量的に示す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027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8564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4" name="表 13"/>
          <p:cNvGraphicFramePr/>
          <p:nvPr/>
        </p:nvGraphicFramePr>
        <p:xfrm>
          <a:off x="571500" y="1933575"/>
          <a:ext cx="11049000" cy="33432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819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前回の指摘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今回の対応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結果・根拠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残る確認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616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62150"/>
          <a:ext cx="11049000" cy="315277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前回の状態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今回の変更・成果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状況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957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4646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781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821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24050"/>
          <a:ext cx="11049000" cy="324802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実施すること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期限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成果物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完了条件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［最優先の検証］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［図表・記録］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［判断できる状態］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［次の作業］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［資料・結果］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［確認する項目］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［報告準備］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［報告スライド］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［説明できる範囲］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3548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571500" y="3248025"/>
          <a:ext cx="11049000" cy="1971675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選択肢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期待する効果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注意点・必要な作業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［案A］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［案B］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7994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4059</Words>
  <Application>Microsoft Office PowerPoint</Application>
  <DocSecurity>0</DocSecurity>
  <PresentationFormat>ワイド画面</PresentationFormat>
  <Paragraphs>404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1" baseType="lpstr">
      <vt:lpstr>Times New Roman</vt:lpstr>
      <vt:lpstr>ChatGPT</vt:lpstr>
      <vt:lpstr>［研究題目］ ［必要なら2行目］</vt:lpstr>
      <vt:lpstr>研究目的と研究の問い</vt:lpstr>
      <vt:lpstr>前回の指摘と対応</vt:lpstr>
      <vt:lpstr>前回からの進捗</vt:lpstr>
      <vt:lpstr>［比較してわかったことを1文で］</vt:lpstr>
      <vt:lpstr>結果の解釈と考察</vt:lpstr>
      <vt:lpstr>現在の課題と対応方針</vt:lpstr>
      <vt:lpstr>次回までの計画</vt:lpstr>
      <vt:lpstr>相談したいこと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2</cp:revision>
  <dcterms:created xsi:type="dcterms:W3CDTF">2026-09-27T04:53:20Z</dcterms:created>
  <dcterms:modified xsi:type="dcterms:W3CDTF">2026-09-27T07:04:46Z</dcterms:modified>
</cp:coreProperties>
</file>