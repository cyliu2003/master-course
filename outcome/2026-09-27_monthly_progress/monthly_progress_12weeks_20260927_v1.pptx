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80" r:id="rId2"/>
    <p:sldId id="281" r:id="rId3"/>
    <p:sldId id="282" r:id="rId4"/>
    <p:sldId id="283" r:id="rId5"/>
    <p:sldId id="284" r:id="rId6"/>
    <p:sldId id="285"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購入電力量</c:v>
          </c:tx>
          <c:spPr>
            <a:solidFill>
              <a:srgbClr val="287CB2"/>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6.596368</c:v>
                </c:pt>
                <c:pt idx="1">
                  <c:v>3.6882160000000002</c:v>
                </c:pt>
                <c:pt idx="2">
                  <c:v>10.178226</c:v>
                </c:pt>
                <c:pt idx="3">
                  <c:v>1.6325989999999999</c:v>
                </c:pt>
                <c:pt idx="4">
                  <c:v>3.5132500000000002</c:v>
                </c:pt>
                <c:pt idx="5">
                  <c:v>2.4293529999999999</c:v>
                </c:pt>
                <c:pt idx="6">
                  <c:v>0.87549299999999997</c:v>
                </c:pt>
                <c:pt idx="7">
                  <c:v>0.33728200000000003</c:v>
                </c:pt>
                <c:pt idx="8">
                  <c:v>3.8188870000000001</c:v>
                </c:pt>
                <c:pt idx="9">
                  <c:v>5.5498770000000004</c:v>
                </c:pt>
                <c:pt idx="10">
                  <c:v>6.7005749999999997</c:v>
                </c:pt>
                <c:pt idx="11">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C03-4EAF-ABD5-FD9C908DC643}"/>
            </c:ext>
          </c:extLst>
        </c:ser>
        <c:ser>
          <c:idx val="1"/>
          <c:order val="1"/>
          <c:tx>
            <c:v>PV供給可能量</c:v>
          </c:tx>
          <c:spPr>
            <a:solidFill>
              <a:srgbClr val="E4AD32"/>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15.703537000000001</c:v>
                </c:pt>
                <c:pt idx="1">
                  <c:v>21.340737000000001</c:v>
                </c:pt>
                <c:pt idx="2">
                  <c:v>14.855874999999999</c:v>
                </c:pt>
                <c:pt idx="3">
                  <c:v>26.357437000000001</c:v>
                </c:pt>
                <c:pt idx="4">
                  <c:v>26.638574999999999</c:v>
                </c:pt>
                <c:pt idx="5">
                  <c:v>31.601513000000001</c:v>
                </c:pt>
                <c:pt idx="6">
                  <c:v>32.054986999999997</c:v>
                </c:pt>
                <c:pt idx="7">
                  <c:v>30.559411999999998</c:v>
                </c:pt>
                <c:pt idx="8">
                  <c:v>27.782250000000001</c:v>
                </c:pt>
                <c:pt idx="9">
                  <c:v>17.270724999999999</c:v>
                </c:pt>
                <c:pt idx="10">
                  <c:v>15.847187999999999</c:v>
                </c:pt>
                <c:pt idx="11">
                  <c:v>15.595587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C03-4EAF-ABD5-FD9C908DC643}"/>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scaling>
        <c:delete val="0"/>
        <c:axPos val="l"/>
        <c:numFmt formatCode="0" sourceLinked="1"/>
        <c:majorTickMark val="none"/>
        <c:minorTickMark val="none"/>
        <c:tickLblPos val="nextTo"/>
        <c:spPr>
          <a:ln w="9525">
            <a:solidFill>
              <a:srgbClr val="D4D4D4"/>
            </a:solidFill>
            <a:prstDash val="solid"/>
          </a:ln>
        </c:spPr>
        <c:txPr>
          <a:bodyPr anchorCtr="1"/>
          <a:lstStyle/>
          <a:p>
            <a:pPr>
              <a:defRPr>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725" b="1">
                <a:solidFill>
                  <a:srgbClr val="202B58"/>
                </a:solidFill>
                <a:latin typeface="Noto Sans JP"/>
                <a:ea typeface="Noto Sans JP"/>
                <a:cs typeface="Noto Sans JP"/>
              </a:rPr>
              <a:t>PV</a:t>
            </a:r>
            <a:r>
              <a:rPr lang="ja-JP" altLang="en-US" sz="1725" b="1">
                <a:solidFill>
                  <a:srgbClr val="202B58"/>
                </a:solidFill>
                <a:latin typeface="Noto Sans JP"/>
                <a:ea typeface="Noto Sans JP"/>
                <a:cs typeface="Noto Sans JP"/>
              </a:rPr>
              <a:t>発電の行き先</a:t>
            </a:r>
          </a:p>
        </c:rich>
      </c:tx>
      <c:overlay val="0"/>
    </c:title>
    <c:autoTitleDeleted val="0"/>
    <c:plotArea>
      <c:layout/>
      <c:barChart>
        <c:barDir val="col"/>
        <c:grouping val="stacked"/>
        <c:varyColors val="0"/>
        <c:ser>
          <c:idx val="0"/>
          <c:order val="0"/>
          <c:tx>
            <c:v>バスへ直接</c:v>
          </c:tx>
          <c:spPr>
            <a:solidFill>
              <a:srgbClr val="159A8C"/>
            </a:solidFill>
            <a:ln w="0">
              <a:solidFill>
                <a:srgbClr val="159A8C"/>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2.1010610000000001</c:v>
                </c:pt>
                <c:pt idx="1">
                  <c:v>1.892601</c:v>
                </c:pt>
                <c:pt idx="2">
                  <c:v>2.428499</c:v>
                </c:pt>
                <c:pt idx="3">
                  <c:v>1.2934909999999999</c:v>
                </c:pt>
                <c:pt idx="4">
                  <c:v>2.9059710000000001</c:v>
                </c:pt>
                <c:pt idx="5">
                  <c:v>3.0009809999999999</c:v>
                </c:pt>
                <c:pt idx="6">
                  <c:v>2.261012</c:v>
                </c:pt>
                <c:pt idx="7">
                  <c:v>2.1494930000000001</c:v>
                </c:pt>
                <c:pt idx="8">
                  <c:v>2.7684419999999998</c:v>
                </c:pt>
                <c:pt idx="9">
                  <c:v>2.6209370000000001</c:v>
                </c:pt>
                <c:pt idx="10">
                  <c:v>2.4314969999999998</c:v>
                </c:pt>
                <c:pt idx="11">
                  <c:v>2.1157910000000002</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0-D7F3-4FE4-B28D-9620390B1364}"/>
            </c:ext>
          </c:extLst>
        </c:ser>
        <c:ser>
          <c:idx val="1"/>
          <c:order val="1"/>
          <c:tx>
            <c:v>BESSへ充電</c:v>
          </c:tx>
          <c:spPr>
            <a:solidFill>
              <a:srgbClr val="8BBDA8"/>
            </a:solidFill>
            <a:ln w="0">
              <a:solidFill>
                <a:srgbClr val="8BBDA8"/>
              </a:solidFill>
            </a:ln>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11.559010000000001</c:v>
                </c:pt>
                <c:pt idx="1">
                  <c:v>15.702211999999999</c:v>
                </c:pt>
                <c:pt idx="2">
                  <c:v>8.8243329999999993</c:v>
                </c:pt>
                <c:pt idx="3">
                  <c:v>15.488135</c:v>
                </c:pt>
                <c:pt idx="4">
                  <c:v>12.5291</c:v>
                </c:pt>
                <c:pt idx="5">
                  <c:v>13.728068</c:v>
                </c:pt>
                <c:pt idx="6">
                  <c:v>15.635232999999999</c:v>
                </c:pt>
                <c:pt idx="7">
                  <c:v>14.715045</c:v>
                </c:pt>
                <c:pt idx="8">
                  <c:v>13.06038</c:v>
                </c:pt>
                <c:pt idx="9">
                  <c:v>12.453913</c:v>
                </c:pt>
                <c:pt idx="10">
                  <c:v>9.4824669999999998</c:v>
                </c:pt>
                <c:pt idx="11">
                  <c:v>11.403618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8BBDA8"/>
                    </a:solidFill>
                  </a:ln>
                </c14:spPr>
              </c14:invertSolidFillFmt>
            </c:ext>
            <c:ext xmlns:c16="http://schemas.microsoft.com/office/drawing/2014/chart" uri="{C3380CC4-5D6E-409C-BE32-E72D297353CC}">
              <c16:uniqueId val="{00000001-D7F3-4FE4-B28D-9620390B1364}"/>
            </c:ext>
          </c:extLst>
        </c:ser>
        <c:ser>
          <c:idx val="2"/>
          <c:order val="2"/>
          <c:tx>
            <c:v>抑制（未利用）</c:v>
          </c:tx>
          <c:spPr>
            <a:solidFill>
              <a:srgbClr val="C8CCD2"/>
            </a:solidFill>
            <a:ln w="0">
              <a:solidFill>
                <a:srgbClr val="C8CCD2"/>
              </a:solidFill>
            </a:ln>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2.043466</c:v>
                </c:pt>
                <c:pt idx="1">
                  <c:v>3.745924</c:v>
                </c:pt>
                <c:pt idx="2">
                  <c:v>3.603043</c:v>
                </c:pt>
                <c:pt idx="3">
                  <c:v>9.5719860000000008</c:v>
                </c:pt>
                <c:pt idx="4">
                  <c:v>11.188841</c:v>
                </c:pt>
                <c:pt idx="5">
                  <c:v>14.844201999999999</c:v>
                </c:pt>
                <c:pt idx="6">
                  <c:v>14.130055</c:v>
                </c:pt>
                <c:pt idx="7">
                  <c:v>13.673199</c:v>
                </c:pt>
                <c:pt idx="8">
                  <c:v>11.949603</c:v>
                </c:pt>
                <c:pt idx="9">
                  <c:v>2.194175</c:v>
                </c:pt>
                <c:pt idx="10">
                  <c:v>3.9332240000000001</c:v>
                </c:pt>
                <c:pt idx="11">
                  <c:v>2.0761780000000001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C8CCD2"/>
                    </a:solidFill>
                  </a:ln>
                </c14:spPr>
              </c14:invertSolidFillFmt>
            </c:ext>
            <c:ext xmlns:c16="http://schemas.microsoft.com/office/drawing/2014/chart" uri="{C3380CC4-5D6E-409C-BE32-E72D297353CC}">
              <c16:uniqueId val="{00000002-D7F3-4FE4-B28D-9620390B1364}"/>
            </c:ext>
          </c:extLst>
        </c:ser>
        <c:dLbls>
          <c:showLegendKey val="0"/>
          <c:showVal val="0"/>
          <c:showCatName val="0"/>
          <c:showSerName val="0"/>
          <c:showPercent val="0"/>
          <c:showBubbleSize val="0"/>
        </c:dLbls>
        <c:gapWidth val="6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4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週間購入電力量</a:t>
            </a:r>
          </a:p>
        </c:rich>
      </c:tx>
      <c:overlay val="0"/>
    </c:title>
    <c:autoTitleDeleted val="0"/>
    <c:plotArea>
      <c:layout/>
      <c:barChart>
        <c:barDir val="col"/>
        <c:grouping val="clustered"/>
        <c:varyColors val="0"/>
        <c:ser>
          <c:idx val="0"/>
          <c:order val="0"/>
          <c:tx>
            <c:v>週間購入電力量</c:v>
          </c:tx>
          <c:spPr>
            <a:solidFill>
              <a:srgbClr val="316DB6"/>
            </a:solidFill>
            <a:ln w="0">
              <a:solidFill>
                <a:srgbClr val="316DB6"/>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5.6216749999999998</c:v>
                </c:pt>
                <c:pt idx="1">
                  <c:v>2.123523</c:v>
                </c:pt>
                <c:pt idx="2">
                  <c:v>7.7940560000000003</c:v>
                </c:pt>
                <c:pt idx="3">
                  <c:v>2.70669</c:v>
                </c:pt>
                <c:pt idx="4">
                  <c:v>3.9818889999999998</c:v>
                </c:pt>
                <c:pt idx="5">
                  <c:v>2.8048120000000001</c:v>
                </c:pt>
                <c:pt idx="6">
                  <c:v>1.74637</c:v>
                </c:pt>
                <c:pt idx="7">
                  <c:v>2.7238250000000002</c:v>
                </c:pt>
                <c:pt idx="8">
                  <c:v>3.619456</c:v>
                </c:pt>
                <c:pt idx="9">
                  <c:v>4.2941500000000001</c:v>
                </c:pt>
                <c:pt idx="10">
                  <c:v>7.3024019999999998</c:v>
                </c:pt>
                <c:pt idx="11">
                  <c:v>5.6954159999999998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383E-4BF0-B53A-B34046774309}"/>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9"/>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725" b="1">
                <a:solidFill>
                  <a:srgbClr val="202B58"/>
                </a:solidFill>
                <a:latin typeface="Noto Sans JP"/>
                <a:ea typeface="Noto Sans JP"/>
                <a:cs typeface="Noto Sans JP"/>
              </a:rPr>
              <a:t>日別購入電力量</a:t>
            </a:r>
          </a:p>
        </c:rich>
      </c:tx>
      <c:overlay val="0"/>
    </c:title>
    <c:autoTitleDeleted val="0"/>
    <c:plotArea>
      <c:layout/>
      <c:barChart>
        <c:barDir val="col"/>
        <c:grouping val="clustered"/>
        <c:varyColors val="0"/>
        <c:ser>
          <c:idx val="0"/>
          <c:order val="0"/>
          <c:tx>
            <c:v>3月</c:v>
          </c:tx>
          <c:spPr>
            <a:solidFill>
              <a:srgbClr val="316DB6"/>
            </a:solidFill>
            <a:ln w="0">
              <a:solidFill>
                <a:srgbClr val="316DB6"/>
              </a:solidFill>
            </a:ln>
          </c:spPr>
          <c:invertIfNegative val="1"/>
          <c:cat>
            <c:strRef>
              <c:f>'Chart Data'!$A$2:$A$8</c:f>
              <c:strCache>
                <c:ptCount val="7"/>
                <c:pt idx="0">
                  <c:v>月</c:v>
                </c:pt>
                <c:pt idx="1">
                  <c:v>火</c:v>
                </c:pt>
                <c:pt idx="2">
                  <c:v>水</c:v>
                </c:pt>
                <c:pt idx="3">
                  <c:v>木</c:v>
                </c:pt>
                <c:pt idx="4">
                  <c:v>金</c:v>
                </c:pt>
                <c:pt idx="5">
                  <c:v>土</c:v>
                </c:pt>
                <c:pt idx="6">
                  <c:v>日</c:v>
                </c:pt>
              </c:strCache>
            </c:strRef>
          </c:cat>
          <c:val>
            <c:numRef>
              <c:f>'Chart Data'!$B$2:$B$8</c:f>
              <c:numCache>
                <c:formatCode>0</c:formatCode>
                <c:ptCount val="7"/>
                <c:pt idx="0">
                  <c:v>954.06707700000004</c:v>
                </c:pt>
                <c:pt idx="1">
                  <c:v>1313.9582270000001</c:v>
                </c:pt>
                <c:pt idx="2">
                  <c:v>1592.7003500000001</c:v>
                </c:pt>
                <c:pt idx="3">
                  <c:v>1666.6040869999999</c:v>
                </c:pt>
                <c:pt idx="4">
                  <c:v>1137.8023270000001</c:v>
                </c:pt>
                <c:pt idx="5">
                  <c:v>103.348445</c:v>
                </c:pt>
                <c:pt idx="6">
                  <c:v>1025.5759700000001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88EA-445F-A262-81C2F788C405}"/>
            </c:ext>
          </c:extLst>
        </c:ser>
        <c:ser>
          <c:idx val="1"/>
          <c:order val="1"/>
          <c:tx>
            <c:v>11月</c:v>
          </c:tx>
          <c:spPr>
            <a:solidFill>
              <a:srgbClr val="159A8C"/>
            </a:solidFill>
            <a:ln w="0">
              <a:solidFill>
                <a:srgbClr val="159A8C"/>
              </a:solidFill>
            </a:ln>
          </c:spPr>
          <c:invertIfNegative val="1"/>
          <c:cat>
            <c:strRef>
              <c:f>'Chart Data'!$C$2:$C$8</c:f>
              <c:strCache>
                <c:ptCount val="7"/>
                <c:pt idx="0">
                  <c:v>月</c:v>
                </c:pt>
                <c:pt idx="1">
                  <c:v>火</c:v>
                </c:pt>
                <c:pt idx="2">
                  <c:v>水</c:v>
                </c:pt>
                <c:pt idx="3">
                  <c:v>木</c:v>
                </c:pt>
                <c:pt idx="4">
                  <c:v>金</c:v>
                </c:pt>
                <c:pt idx="5">
                  <c:v>土</c:v>
                </c:pt>
                <c:pt idx="6">
                  <c:v>日</c:v>
                </c:pt>
              </c:strCache>
            </c:strRef>
          </c:cat>
          <c:val>
            <c:numRef>
              <c:f>'Chart Data'!$D$2:$D$8</c:f>
              <c:numCache>
                <c:formatCode>0</c:formatCode>
                <c:ptCount val="7"/>
                <c:pt idx="0">
                  <c:v>259.95864999999998</c:v>
                </c:pt>
                <c:pt idx="1">
                  <c:v>1007.844835</c:v>
                </c:pt>
                <c:pt idx="2">
                  <c:v>1224.5884370000001</c:v>
                </c:pt>
                <c:pt idx="3">
                  <c:v>1175.5506849999999</c:v>
                </c:pt>
                <c:pt idx="4">
                  <c:v>1387.3919920000001</c:v>
                </c:pt>
                <c:pt idx="5">
                  <c:v>752.44450800000004</c:v>
                </c:pt>
                <c:pt idx="6">
                  <c:v>1494.6230539999999</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1-88EA-445F-A262-81C2F788C405}"/>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8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kWh／</a:t>
                </a:r>
                <a:r>
                  <a:rPr lang="ja-JP" altLang="en-US">
                    <a:latin typeface="Noto Sans JP"/>
                    <a:ea typeface="Noto Sans JP"/>
                    <a:cs typeface="Noto Sans JP"/>
                  </a:rPr>
                  <a:t>日</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650" b="1">
                <a:solidFill>
                  <a:srgbClr val="202B58"/>
                </a:solidFill>
                <a:latin typeface="Noto Sans JP"/>
                <a:ea typeface="Noto Sans JP"/>
                <a:cs typeface="Noto Sans JP"/>
              </a:rPr>
              <a:t>受電電力</a:t>
            </a:r>
          </a:p>
        </c:rich>
      </c:tx>
      <c:overlay val="0"/>
    </c:title>
    <c:autoTitleDeleted val="0"/>
    <c:plotArea>
      <c:layout/>
      <c:scatterChart>
        <c:scatterStyle val="lineMarker"/>
        <c:varyColors val="1"/>
        <c:ser>
          <c:idx val="0"/>
          <c:order val="0"/>
          <c:tx>
            <c:v>3月</c:v>
          </c:tx>
          <c:spPr>
            <a:ln w="19050">
              <a:solidFill>
                <a:srgbClr val="316DB6"/>
              </a:solidFill>
            </a:ln>
          </c:spPr>
          <c:marker>
            <c:symbol val="none"/>
          </c:marker>
          <c:xVal>
            <c:numRef>
              <c:f>'Chart Data'!$A$2:$A$1345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Data'!$B$2:$B$1345</c:f>
              <c:numCache>
                <c:formatCode>0</c:formatCode>
                <c:ptCount val="1344"/>
                <c:pt idx="0">
                  <c:v>0</c:v>
                </c:pt>
                <c:pt idx="1">
                  <c:v>0</c:v>
                </c:pt>
                <c:pt idx="2">
                  <c:v>0</c:v>
                </c:pt>
                <c:pt idx="3">
                  <c:v>0</c:v>
                </c:pt>
                <c:pt idx="4">
                  <c:v>0</c:v>
                </c:pt>
                <c:pt idx="5">
                  <c:v>0</c:v>
                </c:pt>
                <c:pt idx="6">
                  <c:v>0</c:v>
                </c:pt>
                <c:pt idx="7">
                  <c:v>0</c:v>
                </c:pt>
                <c:pt idx="8">
                  <c:v>522.565877</c:v>
                </c:pt>
                <c:pt idx="9">
                  <c:v>522.565877</c:v>
                </c:pt>
                <c:pt idx="10">
                  <c:v>849.44159999999999</c:v>
                </c:pt>
                <c:pt idx="11">
                  <c:v>849.44159999999999</c:v>
                </c:pt>
                <c:pt idx="12">
                  <c:v>780.63036699999998</c:v>
                </c:pt>
                <c:pt idx="13">
                  <c:v>780.63036699999998</c:v>
                </c:pt>
                <c:pt idx="14">
                  <c:v>806.47088799999995</c:v>
                </c:pt>
                <c:pt idx="15">
                  <c:v>806.47088799999995</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15.45</c:v>
                </c:pt>
                <c:pt idx="53">
                  <c:v>15.45</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19.218900000000001</c:v>
                </c:pt>
                <c:pt idx="123">
                  <c:v>19.218900000000001</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52.005868</c:v>
                </c:pt>
                <c:pt idx="177">
                  <c:v>52.005868</c:v>
                </c:pt>
                <c:pt idx="178">
                  <c:v>90.000100000000003</c:v>
                </c:pt>
                <c:pt idx="179">
                  <c:v>90.000100000000003</c:v>
                </c:pt>
                <c:pt idx="180">
                  <c:v>120.0003</c:v>
                </c:pt>
                <c:pt idx="181">
                  <c:v>120.0003</c:v>
                </c:pt>
                <c:pt idx="182">
                  <c:v>194.86930799999999</c:v>
                </c:pt>
                <c:pt idx="183">
                  <c:v>194.86930799999999</c:v>
                </c:pt>
                <c:pt idx="184">
                  <c:v>60</c:v>
                </c:pt>
                <c:pt idx="185">
                  <c:v>60</c:v>
                </c:pt>
                <c:pt idx="186">
                  <c:v>150</c:v>
                </c:pt>
                <c:pt idx="187">
                  <c:v>150</c:v>
                </c:pt>
                <c:pt idx="188">
                  <c:v>60</c:v>
                </c:pt>
                <c:pt idx="189">
                  <c:v>60</c:v>
                </c:pt>
                <c:pt idx="190">
                  <c:v>1E-4</c:v>
                </c:pt>
                <c:pt idx="191">
                  <c:v>1E-4</c:v>
                </c:pt>
                <c:pt idx="192">
                  <c:v>120</c:v>
                </c:pt>
                <c:pt idx="193">
                  <c:v>120</c:v>
                </c:pt>
                <c:pt idx="194">
                  <c:v>90</c:v>
                </c:pt>
                <c:pt idx="195">
                  <c:v>90</c:v>
                </c:pt>
                <c:pt idx="196">
                  <c:v>90</c:v>
                </c:pt>
                <c:pt idx="197">
                  <c:v>90</c:v>
                </c:pt>
                <c:pt idx="198">
                  <c:v>1E-4</c:v>
                </c:pt>
                <c:pt idx="199">
                  <c:v>1E-4</c:v>
                </c:pt>
                <c:pt idx="200">
                  <c:v>200</c:v>
                </c:pt>
                <c:pt idx="201">
                  <c:v>200</c:v>
                </c:pt>
                <c:pt idx="202">
                  <c:v>200</c:v>
                </c:pt>
                <c:pt idx="203">
                  <c:v>200</c:v>
                </c:pt>
                <c:pt idx="204">
                  <c:v>200</c:v>
                </c:pt>
                <c:pt idx="205">
                  <c:v>200</c:v>
                </c:pt>
                <c:pt idx="206">
                  <c:v>200</c:v>
                </c:pt>
                <c:pt idx="207">
                  <c:v>200</c:v>
                </c:pt>
                <c:pt idx="208">
                  <c:v>200</c:v>
                </c:pt>
                <c:pt idx="209">
                  <c:v>200</c:v>
                </c:pt>
                <c:pt idx="210">
                  <c:v>0</c:v>
                </c:pt>
                <c:pt idx="211">
                  <c:v>0</c:v>
                </c:pt>
                <c:pt idx="212">
                  <c:v>0</c:v>
                </c:pt>
                <c:pt idx="213">
                  <c:v>0</c:v>
                </c:pt>
                <c:pt idx="214">
                  <c:v>0</c:v>
                </c:pt>
                <c:pt idx="215">
                  <c:v>0</c:v>
                </c:pt>
                <c:pt idx="216">
                  <c:v>133.26263700000001</c:v>
                </c:pt>
                <c:pt idx="217">
                  <c:v>133.26263700000001</c:v>
                </c:pt>
                <c:pt idx="218">
                  <c:v>200</c:v>
                </c:pt>
                <c:pt idx="219">
                  <c:v>200</c:v>
                </c:pt>
                <c:pt idx="220">
                  <c:v>200</c:v>
                </c:pt>
                <c:pt idx="221">
                  <c:v>200</c:v>
                </c:pt>
                <c:pt idx="222">
                  <c:v>200</c:v>
                </c:pt>
                <c:pt idx="223">
                  <c:v>200</c:v>
                </c:pt>
                <c:pt idx="224">
                  <c:v>200</c:v>
                </c:pt>
                <c:pt idx="225">
                  <c:v>200</c:v>
                </c:pt>
                <c:pt idx="226">
                  <c:v>0</c:v>
                </c:pt>
                <c:pt idx="227">
                  <c:v>0</c:v>
                </c:pt>
                <c:pt idx="228">
                  <c:v>200</c:v>
                </c:pt>
                <c:pt idx="229">
                  <c:v>200</c:v>
                </c:pt>
                <c:pt idx="230">
                  <c:v>200</c:v>
                </c:pt>
                <c:pt idx="231">
                  <c:v>200</c:v>
                </c:pt>
                <c:pt idx="232">
                  <c:v>60</c:v>
                </c:pt>
                <c:pt idx="233">
                  <c:v>60</c:v>
                </c:pt>
                <c:pt idx="234">
                  <c:v>0</c:v>
                </c:pt>
                <c:pt idx="235">
                  <c:v>0</c:v>
                </c:pt>
                <c:pt idx="236">
                  <c:v>16.737262999999999</c:v>
                </c:pt>
                <c:pt idx="237">
                  <c:v>16.737262999999999</c:v>
                </c:pt>
                <c:pt idx="238">
                  <c:v>60</c:v>
                </c:pt>
                <c:pt idx="239">
                  <c:v>60</c:v>
                </c:pt>
                <c:pt idx="240">
                  <c:v>0</c:v>
                </c:pt>
                <c:pt idx="241">
                  <c:v>0</c:v>
                </c:pt>
                <c:pt idx="242">
                  <c:v>199.78</c:v>
                </c:pt>
                <c:pt idx="243">
                  <c:v>199.78</c:v>
                </c:pt>
                <c:pt idx="244">
                  <c:v>37.049999999999997</c:v>
                </c:pt>
                <c:pt idx="245">
                  <c:v>37.049999999999997</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60</c:v>
                </c:pt>
                <c:pt idx="349">
                  <c:v>60</c:v>
                </c:pt>
                <c:pt idx="350">
                  <c:v>90</c:v>
                </c:pt>
                <c:pt idx="351">
                  <c:v>90</c:v>
                </c:pt>
                <c:pt idx="352">
                  <c:v>90</c:v>
                </c:pt>
                <c:pt idx="353">
                  <c:v>90</c:v>
                </c:pt>
                <c:pt idx="354">
                  <c:v>90</c:v>
                </c:pt>
                <c:pt idx="355">
                  <c:v>90</c:v>
                </c:pt>
                <c:pt idx="356">
                  <c:v>90</c:v>
                </c:pt>
                <c:pt idx="357">
                  <c:v>90</c:v>
                </c:pt>
                <c:pt idx="358">
                  <c:v>150</c:v>
                </c:pt>
                <c:pt idx="359">
                  <c:v>150</c:v>
                </c:pt>
                <c:pt idx="360">
                  <c:v>90.000100000000003</c:v>
                </c:pt>
                <c:pt idx="361">
                  <c:v>90.000100000000003</c:v>
                </c:pt>
                <c:pt idx="362">
                  <c:v>90.000100000000003</c:v>
                </c:pt>
                <c:pt idx="363">
                  <c:v>90.000100000000003</c:v>
                </c:pt>
                <c:pt idx="364">
                  <c:v>109.00291</c:v>
                </c:pt>
                <c:pt idx="365">
                  <c:v>109.00291</c:v>
                </c:pt>
                <c:pt idx="366">
                  <c:v>180</c:v>
                </c:pt>
                <c:pt idx="367">
                  <c:v>180</c:v>
                </c:pt>
                <c:pt idx="368">
                  <c:v>180</c:v>
                </c:pt>
                <c:pt idx="369">
                  <c:v>180</c:v>
                </c:pt>
                <c:pt idx="370">
                  <c:v>200</c:v>
                </c:pt>
                <c:pt idx="371">
                  <c:v>200</c:v>
                </c:pt>
                <c:pt idx="372">
                  <c:v>180.0001</c:v>
                </c:pt>
                <c:pt idx="373">
                  <c:v>180.0001</c:v>
                </c:pt>
                <c:pt idx="374">
                  <c:v>200</c:v>
                </c:pt>
                <c:pt idx="375">
                  <c:v>200</c:v>
                </c:pt>
                <c:pt idx="376">
                  <c:v>200</c:v>
                </c:pt>
                <c:pt idx="377">
                  <c:v>200</c:v>
                </c:pt>
                <c:pt idx="378">
                  <c:v>150</c:v>
                </c:pt>
                <c:pt idx="379">
                  <c:v>150</c:v>
                </c:pt>
                <c:pt idx="380">
                  <c:v>39.999600000000001</c:v>
                </c:pt>
                <c:pt idx="381">
                  <c:v>39.999600000000001</c:v>
                </c:pt>
                <c:pt idx="382">
                  <c:v>60.000100000000003</c:v>
                </c:pt>
                <c:pt idx="383">
                  <c:v>60.000100000000003</c:v>
                </c:pt>
                <c:pt idx="384">
                  <c:v>200</c:v>
                </c:pt>
                <c:pt idx="385">
                  <c:v>200</c:v>
                </c:pt>
                <c:pt idx="386">
                  <c:v>200</c:v>
                </c:pt>
                <c:pt idx="387">
                  <c:v>200</c:v>
                </c:pt>
                <c:pt idx="388">
                  <c:v>186.60931600000001</c:v>
                </c:pt>
                <c:pt idx="389">
                  <c:v>186.60931600000001</c:v>
                </c:pt>
                <c:pt idx="390">
                  <c:v>120.0001</c:v>
                </c:pt>
                <c:pt idx="391">
                  <c:v>120.0001</c:v>
                </c:pt>
                <c:pt idx="392">
                  <c:v>36.959679000000001</c:v>
                </c:pt>
                <c:pt idx="393">
                  <c:v>36.959679000000001</c:v>
                </c:pt>
                <c:pt idx="394">
                  <c:v>200</c:v>
                </c:pt>
                <c:pt idx="395">
                  <c:v>200</c:v>
                </c:pt>
                <c:pt idx="396">
                  <c:v>190.241918</c:v>
                </c:pt>
                <c:pt idx="397">
                  <c:v>190.241918</c:v>
                </c:pt>
                <c:pt idx="398">
                  <c:v>120.0001</c:v>
                </c:pt>
                <c:pt idx="399">
                  <c:v>120.0001</c:v>
                </c:pt>
                <c:pt idx="400">
                  <c:v>200</c:v>
                </c:pt>
                <c:pt idx="401">
                  <c:v>200</c:v>
                </c:pt>
                <c:pt idx="402">
                  <c:v>60.000300000000003</c:v>
                </c:pt>
                <c:pt idx="403">
                  <c:v>60.000300000000003</c:v>
                </c:pt>
                <c:pt idx="404">
                  <c:v>131.973386</c:v>
                </c:pt>
                <c:pt idx="405">
                  <c:v>131.973386</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72.844164000000006</c:v>
                </c:pt>
                <c:pt idx="425">
                  <c:v>72.844164000000006</c:v>
                </c:pt>
                <c:pt idx="426">
                  <c:v>0</c:v>
                </c:pt>
                <c:pt idx="427">
                  <c:v>0</c:v>
                </c:pt>
                <c:pt idx="428">
                  <c:v>200</c:v>
                </c:pt>
                <c:pt idx="429">
                  <c:v>200</c:v>
                </c:pt>
                <c:pt idx="430">
                  <c:v>200</c:v>
                </c:pt>
                <c:pt idx="431">
                  <c:v>200</c:v>
                </c:pt>
                <c:pt idx="432">
                  <c:v>47.148642000000002</c:v>
                </c:pt>
                <c:pt idx="433">
                  <c:v>47.148642000000002</c:v>
                </c:pt>
                <c:pt idx="434">
                  <c:v>178.3</c:v>
                </c:pt>
                <c:pt idx="435">
                  <c:v>178.3</c:v>
                </c:pt>
                <c:pt idx="436">
                  <c:v>31.418842000000001</c:v>
                </c:pt>
                <c:pt idx="437">
                  <c:v>31.418842000000001</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14.35</c:v>
                </c:pt>
                <c:pt idx="511">
                  <c:v>14.35</c:v>
                </c:pt>
                <c:pt idx="512">
                  <c:v>27.95</c:v>
                </c:pt>
                <c:pt idx="513">
                  <c:v>27.95</c:v>
                </c:pt>
                <c:pt idx="514">
                  <c:v>44.1</c:v>
                </c:pt>
                <c:pt idx="515">
                  <c:v>44.1</c:v>
                </c:pt>
                <c:pt idx="516">
                  <c:v>43.557000000000002</c:v>
                </c:pt>
                <c:pt idx="517">
                  <c:v>43.557000000000002</c:v>
                </c:pt>
                <c:pt idx="518">
                  <c:v>5.9838370000000003</c:v>
                </c:pt>
                <c:pt idx="519">
                  <c:v>5.9838370000000003</c:v>
                </c:pt>
                <c:pt idx="520">
                  <c:v>0</c:v>
                </c:pt>
                <c:pt idx="521">
                  <c:v>0</c:v>
                </c:pt>
                <c:pt idx="522">
                  <c:v>0</c:v>
                </c:pt>
                <c:pt idx="523">
                  <c:v>0</c:v>
                </c:pt>
                <c:pt idx="524">
                  <c:v>0</c:v>
                </c:pt>
                <c:pt idx="525">
                  <c:v>0</c:v>
                </c:pt>
                <c:pt idx="526">
                  <c:v>0</c:v>
                </c:pt>
                <c:pt idx="527">
                  <c:v>0</c:v>
                </c:pt>
                <c:pt idx="528">
                  <c:v>1E-4</c:v>
                </c:pt>
                <c:pt idx="529">
                  <c:v>1E-4</c:v>
                </c:pt>
                <c:pt idx="530">
                  <c:v>1E-4</c:v>
                </c:pt>
                <c:pt idx="531">
                  <c:v>1E-4</c:v>
                </c:pt>
                <c:pt idx="532">
                  <c:v>1E-4</c:v>
                </c:pt>
                <c:pt idx="533">
                  <c:v>1E-4</c:v>
                </c:pt>
                <c:pt idx="534">
                  <c:v>1E-4</c:v>
                </c:pt>
                <c:pt idx="535">
                  <c:v>1E-4</c:v>
                </c:pt>
                <c:pt idx="536">
                  <c:v>1E-4</c:v>
                </c:pt>
                <c:pt idx="537">
                  <c:v>1E-4</c:v>
                </c:pt>
                <c:pt idx="538">
                  <c:v>1E-4</c:v>
                </c:pt>
                <c:pt idx="539">
                  <c:v>1E-4</c:v>
                </c:pt>
                <c:pt idx="540">
                  <c:v>1E-4</c:v>
                </c:pt>
                <c:pt idx="541">
                  <c:v>1E-4</c:v>
                </c:pt>
                <c:pt idx="542">
                  <c:v>1E-4</c:v>
                </c:pt>
                <c:pt idx="543">
                  <c:v>1E-4</c:v>
                </c:pt>
                <c:pt idx="544">
                  <c:v>90</c:v>
                </c:pt>
                <c:pt idx="545">
                  <c:v>90</c:v>
                </c:pt>
                <c:pt idx="546">
                  <c:v>1E-4</c:v>
                </c:pt>
                <c:pt idx="547">
                  <c:v>1E-4</c:v>
                </c:pt>
                <c:pt idx="548">
                  <c:v>1E-4</c:v>
                </c:pt>
                <c:pt idx="549">
                  <c:v>1E-4</c:v>
                </c:pt>
                <c:pt idx="550">
                  <c:v>46.076092000000003</c:v>
                </c:pt>
                <c:pt idx="551">
                  <c:v>46.076092000000003</c:v>
                </c:pt>
                <c:pt idx="552">
                  <c:v>60</c:v>
                </c:pt>
                <c:pt idx="553">
                  <c:v>60</c:v>
                </c:pt>
                <c:pt idx="554">
                  <c:v>90.000100000000003</c:v>
                </c:pt>
                <c:pt idx="555">
                  <c:v>90.000100000000003</c:v>
                </c:pt>
                <c:pt idx="556">
                  <c:v>90.000100000000003</c:v>
                </c:pt>
                <c:pt idx="557">
                  <c:v>90.000100000000003</c:v>
                </c:pt>
                <c:pt idx="558">
                  <c:v>150.0001</c:v>
                </c:pt>
                <c:pt idx="559">
                  <c:v>150.0001</c:v>
                </c:pt>
                <c:pt idx="560">
                  <c:v>180</c:v>
                </c:pt>
                <c:pt idx="561">
                  <c:v>180</c:v>
                </c:pt>
                <c:pt idx="562">
                  <c:v>200</c:v>
                </c:pt>
                <c:pt idx="563">
                  <c:v>200</c:v>
                </c:pt>
                <c:pt idx="564">
                  <c:v>200</c:v>
                </c:pt>
                <c:pt idx="565">
                  <c:v>200</c:v>
                </c:pt>
                <c:pt idx="566">
                  <c:v>200</c:v>
                </c:pt>
                <c:pt idx="567">
                  <c:v>200</c:v>
                </c:pt>
                <c:pt idx="568">
                  <c:v>200</c:v>
                </c:pt>
                <c:pt idx="569">
                  <c:v>200</c:v>
                </c:pt>
                <c:pt idx="570">
                  <c:v>200</c:v>
                </c:pt>
                <c:pt idx="571">
                  <c:v>200</c:v>
                </c:pt>
                <c:pt idx="572">
                  <c:v>153.28672299999999</c:v>
                </c:pt>
                <c:pt idx="573">
                  <c:v>153.28672299999999</c:v>
                </c:pt>
                <c:pt idx="574">
                  <c:v>200</c:v>
                </c:pt>
                <c:pt idx="575">
                  <c:v>200</c:v>
                </c:pt>
                <c:pt idx="576">
                  <c:v>194.93030200000001</c:v>
                </c:pt>
                <c:pt idx="577">
                  <c:v>194.93030200000001</c:v>
                </c:pt>
                <c:pt idx="578">
                  <c:v>90.000100000000003</c:v>
                </c:pt>
                <c:pt idx="579">
                  <c:v>90.000100000000003</c:v>
                </c:pt>
                <c:pt idx="580">
                  <c:v>180.0001</c:v>
                </c:pt>
                <c:pt idx="581">
                  <c:v>180.0001</c:v>
                </c:pt>
                <c:pt idx="582">
                  <c:v>180.0001</c:v>
                </c:pt>
                <c:pt idx="583">
                  <c:v>180.0001</c:v>
                </c:pt>
                <c:pt idx="584">
                  <c:v>200</c:v>
                </c:pt>
                <c:pt idx="585">
                  <c:v>200</c:v>
                </c:pt>
                <c:pt idx="586">
                  <c:v>200</c:v>
                </c:pt>
                <c:pt idx="587">
                  <c:v>200</c:v>
                </c:pt>
                <c:pt idx="588">
                  <c:v>200</c:v>
                </c:pt>
                <c:pt idx="589">
                  <c:v>200</c:v>
                </c:pt>
                <c:pt idx="590">
                  <c:v>200</c:v>
                </c:pt>
                <c:pt idx="591">
                  <c:v>200</c:v>
                </c:pt>
                <c:pt idx="592">
                  <c:v>199.65171900000001</c:v>
                </c:pt>
                <c:pt idx="593">
                  <c:v>199.65171900000001</c:v>
                </c:pt>
                <c:pt idx="594">
                  <c:v>192.75019</c:v>
                </c:pt>
                <c:pt idx="595">
                  <c:v>192.75019</c:v>
                </c:pt>
                <c:pt idx="596">
                  <c:v>200</c:v>
                </c:pt>
                <c:pt idx="597">
                  <c:v>200</c:v>
                </c:pt>
                <c:pt idx="598">
                  <c:v>200</c:v>
                </c:pt>
                <c:pt idx="599">
                  <c:v>200</c:v>
                </c:pt>
                <c:pt idx="600">
                  <c:v>200</c:v>
                </c:pt>
                <c:pt idx="601">
                  <c:v>200</c:v>
                </c:pt>
                <c:pt idx="602">
                  <c:v>200</c:v>
                </c:pt>
                <c:pt idx="603">
                  <c:v>200</c:v>
                </c:pt>
                <c:pt idx="604">
                  <c:v>200</c:v>
                </c:pt>
                <c:pt idx="605">
                  <c:v>200</c:v>
                </c:pt>
                <c:pt idx="606">
                  <c:v>200</c:v>
                </c:pt>
                <c:pt idx="607">
                  <c:v>200</c:v>
                </c:pt>
                <c:pt idx="608">
                  <c:v>200</c:v>
                </c:pt>
                <c:pt idx="609">
                  <c:v>200</c:v>
                </c:pt>
                <c:pt idx="610">
                  <c:v>200</c:v>
                </c:pt>
                <c:pt idx="611">
                  <c:v>200</c:v>
                </c:pt>
                <c:pt idx="612">
                  <c:v>200</c:v>
                </c:pt>
                <c:pt idx="613">
                  <c:v>200</c:v>
                </c:pt>
                <c:pt idx="614">
                  <c:v>200</c:v>
                </c:pt>
                <c:pt idx="615">
                  <c:v>200</c:v>
                </c:pt>
                <c:pt idx="616">
                  <c:v>200</c:v>
                </c:pt>
                <c:pt idx="617">
                  <c:v>200</c:v>
                </c:pt>
                <c:pt idx="618">
                  <c:v>0</c:v>
                </c:pt>
                <c:pt idx="619">
                  <c:v>0</c:v>
                </c:pt>
                <c:pt idx="620">
                  <c:v>200</c:v>
                </c:pt>
                <c:pt idx="621">
                  <c:v>200</c:v>
                </c:pt>
                <c:pt idx="622">
                  <c:v>200</c:v>
                </c:pt>
                <c:pt idx="623">
                  <c:v>200</c:v>
                </c:pt>
                <c:pt idx="624">
                  <c:v>157.39528999999999</c:v>
                </c:pt>
                <c:pt idx="625">
                  <c:v>157.39528999999999</c:v>
                </c:pt>
                <c:pt idx="626">
                  <c:v>202.94499999999999</c:v>
                </c:pt>
                <c:pt idx="627">
                  <c:v>202.94499999999999</c:v>
                </c:pt>
                <c:pt idx="628">
                  <c:v>41.002547</c:v>
                </c:pt>
                <c:pt idx="629">
                  <c:v>41.002547</c:v>
                </c:pt>
                <c:pt idx="630">
                  <c:v>32.170999999999999</c:v>
                </c:pt>
                <c:pt idx="631">
                  <c:v>32.170999999999999</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1.6</c:v>
                </c:pt>
                <c:pt idx="701">
                  <c:v>1.6</c:v>
                </c:pt>
                <c:pt idx="702">
                  <c:v>22.85</c:v>
                </c:pt>
                <c:pt idx="703">
                  <c:v>22.85</c:v>
                </c:pt>
                <c:pt idx="704">
                  <c:v>35.393999999999998</c:v>
                </c:pt>
                <c:pt idx="705">
                  <c:v>35.393999999999998</c:v>
                </c:pt>
                <c:pt idx="706">
                  <c:v>51.75</c:v>
                </c:pt>
                <c:pt idx="707">
                  <c:v>51.75</c:v>
                </c:pt>
                <c:pt idx="708">
                  <c:v>54.515999999999998</c:v>
                </c:pt>
                <c:pt idx="709">
                  <c:v>54.515999999999998</c:v>
                </c:pt>
                <c:pt idx="710">
                  <c:v>40.222000000000001</c:v>
                </c:pt>
                <c:pt idx="711">
                  <c:v>40.222000000000001</c:v>
                </c:pt>
                <c:pt idx="712">
                  <c:v>14.782</c:v>
                </c:pt>
                <c:pt idx="713">
                  <c:v>14.782</c:v>
                </c:pt>
                <c:pt idx="714">
                  <c:v>4.4560000000000004</c:v>
                </c:pt>
                <c:pt idx="715">
                  <c:v>4.4560000000000004</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60</c:v>
                </c:pt>
                <c:pt idx="747">
                  <c:v>60</c:v>
                </c:pt>
                <c:pt idx="748">
                  <c:v>0</c:v>
                </c:pt>
                <c:pt idx="749">
                  <c:v>0</c:v>
                </c:pt>
                <c:pt idx="750">
                  <c:v>60</c:v>
                </c:pt>
                <c:pt idx="751">
                  <c:v>60</c:v>
                </c:pt>
                <c:pt idx="752">
                  <c:v>150</c:v>
                </c:pt>
                <c:pt idx="753">
                  <c:v>150</c:v>
                </c:pt>
                <c:pt idx="754">
                  <c:v>150</c:v>
                </c:pt>
                <c:pt idx="755">
                  <c:v>150</c:v>
                </c:pt>
                <c:pt idx="756">
                  <c:v>90</c:v>
                </c:pt>
                <c:pt idx="757">
                  <c:v>90</c:v>
                </c:pt>
                <c:pt idx="758">
                  <c:v>200</c:v>
                </c:pt>
                <c:pt idx="759">
                  <c:v>200</c:v>
                </c:pt>
                <c:pt idx="760">
                  <c:v>200</c:v>
                </c:pt>
                <c:pt idx="761">
                  <c:v>200</c:v>
                </c:pt>
                <c:pt idx="762">
                  <c:v>200</c:v>
                </c:pt>
                <c:pt idx="763">
                  <c:v>200</c:v>
                </c:pt>
                <c:pt idx="764">
                  <c:v>200</c:v>
                </c:pt>
                <c:pt idx="765">
                  <c:v>200</c:v>
                </c:pt>
                <c:pt idx="766">
                  <c:v>200</c:v>
                </c:pt>
                <c:pt idx="767">
                  <c:v>200</c:v>
                </c:pt>
                <c:pt idx="768">
                  <c:v>150</c:v>
                </c:pt>
                <c:pt idx="769">
                  <c:v>150</c:v>
                </c:pt>
                <c:pt idx="770">
                  <c:v>111.50858100000001</c:v>
                </c:pt>
                <c:pt idx="771">
                  <c:v>111.50858100000001</c:v>
                </c:pt>
                <c:pt idx="772">
                  <c:v>180.0001</c:v>
                </c:pt>
                <c:pt idx="773">
                  <c:v>180.0001</c:v>
                </c:pt>
                <c:pt idx="774">
                  <c:v>200</c:v>
                </c:pt>
                <c:pt idx="775">
                  <c:v>200</c:v>
                </c:pt>
                <c:pt idx="776">
                  <c:v>200</c:v>
                </c:pt>
                <c:pt idx="777">
                  <c:v>200</c:v>
                </c:pt>
                <c:pt idx="778">
                  <c:v>200</c:v>
                </c:pt>
                <c:pt idx="779">
                  <c:v>200</c:v>
                </c:pt>
                <c:pt idx="780">
                  <c:v>200</c:v>
                </c:pt>
                <c:pt idx="781">
                  <c:v>200</c:v>
                </c:pt>
                <c:pt idx="782">
                  <c:v>200</c:v>
                </c:pt>
                <c:pt idx="783">
                  <c:v>200</c:v>
                </c:pt>
                <c:pt idx="784">
                  <c:v>200</c:v>
                </c:pt>
                <c:pt idx="785">
                  <c:v>200</c:v>
                </c:pt>
                <c:pt idx="786">
                  <c:v>168.570718</c:v>
                </c:pt>
                <c:pt idx="787">
                  <c:v>168.570718</c:v>
                </c:pt>
                <c:pt idx="788">
                  <c:v>180.0001</c:v>
                </c:pt>
                <c:pt idx="789">
                  <c:v>180.0001</c:v>
                </c:pt>
                <c:pt idx="790">
                  <c:v>180.0001</c:v>
                </c:pt>
                <c:pt idx="791">
                  <c:v>180.0001</c:v>
                </c:pt>
                <c:pt idx="792">
                  <c:v>200</c:v>
                </c:pt>
                <c:pt idx="793">
                  <c:v>200</c:v>
                </c:pt>
                <c:pt idx="794">
                  <c:v>200</c:v>
                </c:pt>
                <c:pt idx="795">
                  <c:v>200</c:v>
                </c:pt>
                <c:pt idx="796">
                  <c:v>168.697305</c:v>
                </c:pt>
                <c:pt idx="797">
                  <c:v>168.697305</c:v>
                </c:pt>
                <c:pt idx="798">
                  <c:v>134.51307199999999</c:v>
                </c:pt>
                <c:pt idx="799">
                  <c:v>134.51307199999999</c:v>
                </c:pt>
                <c:pt idx="800">
                  <c:v>200</c:v>
                </c:pt>
                <c:pt idx="801">
                  <c:v>200</c:v>
                </c:pt>
                <c:pt idx="802">
                  <c:v>0</c:v>
                </c:pt>
                <c:pt idx="803">
                  <c:v>0</c:v>
                </c:pt>
                <c:pt idx="804">
                  <c:v>200</c:v>
                </c:pt>
                <c:pt idx="805">
                  <c:v>200</c:v>
                </c:pt>
                <c:pt idx="806">
                  <c:v>200</c:v>
                </c:pt>
                <c:pt idx="807">
                  <c:v>200</c:v>
                </c:pt>
                <c:pt idx="808">
                  <c:v>84.644332000000006</c:v>
                </c:pt>
                <c:pt idx="809">
                  <c:v>84.644332000000006</c:v>
                </c:pt>
                <c:pt idx="810">
                  <c:v>200</c:v>
                </c:pt>
                <c:pt idx="811">
                  <c:v>200</c:v>
                </c:pt>
                <c:pt idx="812">
                  <c:v>200</c:v>
                </c:pt>
                <c:pt idx="813">
                  <c:v>200</c:v>
                </c:pt>
                <c:pt idx="814">
                  <c:v>200</c:v>
                </c:pt>
                <c:pt idx="815">
                  <c:v>200</c:v>
                </c:pt>
                <c:pt idx="816">
                  <c:v>200</c:v>
                </c:pt>
                <c:pt idx="817">
                  <c:v>200</c:v>
                </c:pt>
                <c:pt idx="818">
                  <c:v>193.27500000000001</c:v>
                </c:pt>
                <c:pt idx="819">
                  <c:v>193.27500000000001</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13.827999999999999</c:v>
                </c:pt>
                <c:pt idx="1013">
                  <c:v>13.827999999999999</c:v>
                </c:pt>
                <c:pt idx="1014">
                  <c:v>38.512</c:v>
                </c:pt>
                <c:pt idx="1015">
                  <c:v>38.512</c:v>
                </c:pt>
                <c:pt idx="1016">
                  <c:v>26</c:v>
                </c:pt>
                <c:pt idx="1017">
                  <c:v>26</c:v>
                </c:pt>
                <c:pt idx="1018">
                  <c:v>48.013157999999997</c:v>
                </c:pt>
                <c:pt idx="1019">
                  <c:v>48.013157999999997</c:v>
                </c:pt>
                <c:pt idx="1020">
                  <c:v>16.899999999999999</c:v>
                </c:pt>
                <c:pt idx="1021">
                  <c:v>16.899999999999999</c:v>
                </c:pt>
                <c:pt idx="1022">
                  <c:v>0</c:v>
                </c:pt>
                <c:pt idx="1023">
                  <c:v>0</c:v>
                </c:pt>
                <c:pt idx="1024">
                  <c:v>0</c:v>
                </c:pt>
                <c:pt idx="1025">
                  <c:v>0</c:v>
                </c:pt>
                <c:pt idx="1026">
                  <c:v>37.200000000000003</c:v>
                </c:pt>
                <c:pt idx="1027">
                  <c:v>37.200000000000003</c:v>
                </c:pt>
                <c:pt idx="1028">
                  <c:v>23.6</c:v>
                </c:pt>
                <c:pt idx="1029">
                  <c:v>23.6</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60</c:v>
                </c:pt>
                <c:pt idx="1129">
                  <c:v>60</c:v>
                </c:pt>
                <c:pt idx="1130">
                  <c:v>90</c:v>
                </c:pt>
                <c:pt idx="1131">
                  <c:v>90</c:v>
                </c:pt>
                <c:pt idx="1132">
                  <c:v>59.340622000000003</c:v>
                </c:pt>
                <c:pt idx="1133">
                  <c:v>59.340622000000003</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60.000300000000003</c:v>
                </c:pt>
                <c:pt idx="1153">
                  <c:v>60.000300000000003</c:v>
                </c:pt>
                <c:pt idx="1154">
                  <c:v>180.00020000000001</c:v>
                </c:pt>
                <c:pt idx="1155">
                  <c:v>180.00020000000001</c:v>
                </c:pt>
                <c:pt idx="1156">
                  <c:v>200</c:v>
                </c:pt>
                <c:pt idx="1157">
                  <c:v>200</c:v>
                </c:pt>
                <c:pt idx="1158">
                  <c:v>2.9999999999999997E-4</c:v>
                </c:pt>
                <c:pt idx="1159">
                  <c:v>2.9999999999999997E-4</c:v>
                </c:pt>
                <c:pt idx="1160">
                  <c:v>90.000200000000007</c:v>
                </c:pt>
                <c:pt idx="1161">
                  <c:v>90.000200000000007</c:v>
                </c:pt>
                <c:pt idx="1162">
                  <c:v>200</c:v>
                </c:pt>
                <c:pt idx="1163">
                  <c:v>200</c:v>
                </c:pt>
                <c:pt idx="1164">
                  <c:v>1E-4</c:v>
                </c:pt>
                <c:pt idx="1165">
                  <c:v>1E-4</c:v>
                </c:pt>
                <c:pt idx="1166">
                  <c:v>128.92160000000001</c:v>
                </c:pt>
                <c:pt idx="1167">
                  <c:v>128.92160000000001</c:v>
                </c:pt>
                <c:pt idx="1168">
                  <c:v>90</c:v>
                </c:pt>
                <c:pt idx="1169">
                  <c:v>90</c:v>
                </c:pt>
                <c:pt idx="1170">
                  <c:v>180.00020000000001</c:v>
                </c:pt>
                <c:pt idx="1171">
                  <c:v>180.00020000000001</c:v>
                </c:pt>
                <c:pt idx="1172">
                  <c:v>150.00020000000001</c:v>
                </c:pt>
                <c:pt idx="1173">
                  <c:v>150.00020000000001</c:v>
                </c:pt>
                <c:pt idx="1174">
                  <c:v>200</c:v>
                </c:pt>
                <c:pt idx="1175">
                  <c:v>200</c:v>
                </c:pt>
                <c:pt idx="1176">
                  <c:v>200</c:v>
                </c:pt>
                <c:pt idx="1177">
                  <c:v>200</c:v>
                </c:pt>
                <c:pt idx="1178">
                  <c:v>200</c:v>
                </c:pt>
                <c:pt idx="1179">
                  <c:v>200</c:v>
                </c:pt>
                <c:pt idx="1180">
                  <c:v>200</c:v>
                </c:pt>
                <c:pt idx="1181">
                  <c:v>200</c:v>
                </c:pt>
                <c:pt idx="1182">
                  <c:v>0</c:v>
                </c:pt>
                <c:pt idx="1183">
                  <c:v>0</c:v>
                </c:pt>
                <c:pt idx="1184">
                  <c:v>200</c:v>
                </c:pt>
                <c:pt idx="1185">
                  <c:v>200</c:v>
                </c:pt>
                <c:pt idx="1186">
                  <c:v>60</c:v>
                </c:pt>
                <c:pt idx="1187">
                  <c:v>60</c:v>
                </c:pt>
                <c:pt idx="1188">
                  <c:v>0</c:v>
                </c:pt>
                <c:pt idx="1189">
                  <c:v>0</c:v>
                </c:pt>
                <c:pt idx="1190">
                  <c:v>200</c:v>
                </c:pt>
                <c:pt idx="1191">
                  <c:v>200</c:v>
                </c:pt>
                <c:pt idx="1192">
                  <c:v>200</c:v>
                </c:pt>
                <c:pt idx="1193">
                  <c:v>200</c:v>
                </c:pt>
                <c:pt idx="1194">
                  <c:v>200</c:v>
                </c:pt>
                <c:pt idx="1195">
                  <c:v>200</c:v>
                </c:pt>
                <c:pt idx="1196">
                  <c:v>200</c:v>
                </c:pt>
                <c:pt idx="1197">
                  <c:v>200</c:v>
                </c:pt>
                <c:pt idx="1198">
                  <c:v>200</c:v>
                </c:pt>
                <c:pt idx="1199">
                  <c:v>200</c:v>
                </c:pt>
                <c:pt idx="1200">
                  <c:v>0</c:v>
                </c:pt>
                <c:pt idx="1201">
                  <c:v>0</c:v>
                </c:pt>
                <c:pt idx="1202">
                  <c:v>197.23699999999999</c:v>
                </c:pt>
                <c:pt idx="1203">
                  <c:v>197.23699999999999</c:v>
                </c:pt>
                <c:pt idx="1204">
                  <c:v>197.30799999999999</c:v>
                </c:pt>
                <c:pt idx="1205">
                  <c:v>197.30799999999999</c:v>
                </c:pt>
                <c:pt idx="1206">
                  <c:v>57.728734000000003</c:v>
                </c:pt>
                <c:pt idx="1207">
                  <c:v>57.728734000000003</c:v>
                </c:pt>
                <c:pt idx="1208">
                  <c:v>3.117</c:v>
                </c:pt>
                <c:pt idx="1209">
                  <c:v>3.117</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101.415296</c:v>
                </c:pt>
                <c:pt idx="1309">
                  <c:v>101.415296</c:v>
                </c:pt>
                <c:pt idx="1310">
                  <c:v>0</c:v>
                </c:pt>
                <c:pt idx="1311">
                  <c:v>0</c:v>
                </c:pt>
                <c:pt idx="1312">
                  <c:v>1E-4</c:v>
                </c:pt>
                <c:pt idx="1313">
                  <c:v>1E-4</c:v>
                </c:pt>
                <c:pt idx="1314">
                  <c:v>48.418466000000002</c:v>
                </c:pt>
                <c:pt idx="1315">
                  <c:v>48.418466000000002</c:v>
                </c:pt>
                <c:pt idx="1316">
                  <c:v>98.156084000000007</c:v>
                </c:pt>
                <c:pt idx="1317">
                  <c:v>98.156084000000007</c:v>
                </c:pt>
                <c:pt idx="1318">
                  <c:v>60.000100000000003</c:v>
                </c:pt>
                <c:pt idx="1319">
                  <c:v>60.000100000000003</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numCache>
            </c:numRef>
          </c:yVal>
          <c:smooth val="0"/>
          <c:extLst>
            <c:ext xmlns:c16="http://schemas.microsoft.com/office/drawing/2014/chart" uri="{C3380CC4-5D6E-409C-BE32-E72D297353CC}">
              <c16:uniqueId val="{00000000-C6DD-42B7-AABB-992809F7D90C}"/>
            </c:ext>
          </c:extLst>
        </c:ser>
        <c:ser>
          <c:idx val="1"/>
          <c:order val="1"/>
          <c:tx>
            <c:v>11月</c:v>
          </c:tx>
          <c:spPr>
            <a:ln w="19050">
              <a:solidFill>
                <a:srgbClr val="159A8C"/>
              </a:solidFill>
            </a:ln>
          </c:spPr>
          <c:marker>
            <c:symbol val="none"/>
          </c:marker>
          <c:xVal>
            <c:numRef>
              <c:f>'Chart Data'!$C$2:$C$1345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Data'!$D$2:$D$1345</c:f>
              <c:numCache>
                <c:formatCode>0</c:formatCode>
                <c:ptCount val="13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98.178884999999994</c:v>
                </c:pt>
                <c:pt idx="33">
                  <c:v>98.178884999999994</c:v>
                </c:pt>
                <c:pt idx="34">
                  <c:v>0</c:v>
                </c:pt>
                <c:pt idx="35">
                  <c:v>0</c:v>
                </c:pt>
                <c:pt idx="36">
                  <c:v>0</c:v>
                </c:pt>
                <c:pt idx="37">
                  <c:v>0</c:v>
                </c:pt>
                <c:pt idx="38">
                  <c:v>0</c:v>
                </c:pt>
                <c:pt idx="39">
                  <c:v>0</c:v>
                </c:pt>
                <c:pt idx="40">
                  <c:v>0</c:v>
                </c:pt>
                <c:pt idx="41">
                  <c:v>0</c:v>
                </c:pt>
                <c:pt idx="42">
                  <c:v>0</c:v>
                </c:pt>
                <c:pt idx="43">
                  <c:v>0</c:v>
                </c:pt>
                <c:pt idx="44">
                  <c:v>98.178884999999994</c:v>
                </c:pt>
                <c:pt idx="45">
                  <c:v>98.178884999999994</c:v>
                </c:pt>
                <c:pt idx="46">
                  <c:v>98.178884999999994</c:v>
                </c:pt>
                <c:pt idx="47">
                  <c:v>98.178884999999994</c:v>
                </c:pt>
                <c:pt idx="48">
                  <c:v>0</c:v>
                </c:pt>
                <c:pt idx="49">
                  <c:v>0</c:v>
                </c:pt>
                <c:pt idx="50">
                  <c:v>0</c:v>
                </c:pt>
                <c:pt idx="51">
                  <c:v>0</c:v>
                </c:pt>
                <c:pt idx="52">
                  <c:v>7.8849999999999998</c:v>
                </c:pt>
                <c:pt idx="53">
                  <c:v>7.8849999999999998</c:v>
                </c:pt>
                <c:pt idx="54">
                  <c:v>13.91</c:v>
                </c:pt>
                <c:pt idx="55">
                  <c:v>13.91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0</c:v>
                </c:pt>
                <c:pt idx="177">
                  <c:v>0</c:v>
                </c:pt>
                <c:pt idx="178">
                  <c:v>82.608421000000007</c:v>
                </c:pt>
                <c:pt idx="179">
                  <c:v>82.608421000000007</c:v>
                </c:pt>
                <c:pt idx="180">
                  <c:v>98.178884999999994</c:v>
                </c:pt>
                <c:pt idx="181">
                  <c:v>98.178884999999994</c:v>
                </c:pt>
                <c:pt idx="182">
                  <c:v>98.178884999999994</c:v>
                </c:pt>
                <c:pt idx="183">
                  <c:v>98.178884999999994</c:v>
                </c:pt>
                <c:pt idx="184">
                  <c:v>90.000100000000003</c:v>
                </c:pt>
                <c:pt idx="185">
                  <c:v>90.000100000000003</c:v>
                </c:pt>
                <c:pt idx="186">
                  <c:v>98.178884999999994</c:v>
                </c:pt>
                <c:pt idx="187">
                  <c:v>98.178884999999994</c:v>
                </c:pt>
                <c:pt idx="188">
                  <c:v>98.178884999999994</c:v>
                </c:pt>
                <c:pt idx="189">
                  <c:v>98.178884999999994</c:v>
                </c:pt>
                <c:pt idx="190">
                  <c:v>98.178884999999994</c:v>
                </c:pt>
                <c:pt idx="191">
                  <c:v>98.178884999999994</c:v>
                </c:pt>
                <c:pt idx="192">
                  <c:v>98.178884999999994</c:v>
                </c:pt>
                <c:pt idx="193">
                  <c:v>98.178884999999994</c:v>
                </c:pt>
                <c:pt idx="194">
                  <c:v>98.178884999999994</c:v>
                </c:pt>
                <c:pt idx="195">
                  <c:v>98.178884999999994</c:v>
                </c:pt>
                <c:pt idx="196">
                  <c:v>98.178884999999994</c:v>
                </c:pt>
                <c:pt idx="197">
                  <c:v>98.178884999999994</c:v>
                </c:pt>
                <c:pt idx="198">
                  <c:v>0</c:v>
                </c:pt>
                <c:pt idx="199">
                  <c:v>0</c:v>
                </c:pt>
                <c:pt idx="200">
                  <c:v>0</c:v>
                </c:pt>
                <c:pt idx="201">
                  <c:v>0</c:v>
                </c:pt>
                <c:pt idx="202">
                  <c:v>0</c:v>
                </c:pt>
                <c:pt idx="203">
                  <c:v>0</c:v>
                </c:pt>
                <c:pt idx="204">
                  <c:v>119.9999</c:v>
                </c:pt>
                <c:pt idx="205">
                  <c:v>119.9999</c:v>
                </c:pt>
                <c:pt idx="206">
                  <c:v>0</c:v>
                </c:pt>
                <c:pt idx="207">
                  <c:v>0</c:v>
                </c:pt>
                <c:pt idx="208">
                  <c:v>180.0001</c:v>
                </c:pt>
                <c:pt idx="209">
                  <c:v>180.0001</c:v>
                </c:pt>
                <c:pt idx="210">
                  <c:v>150</c:v>
                </c:pt>
                <c:pt idx="211">
                  <c:v>150</c:v>
                </c:pt>
                <c:pt idx="212">
                  <c:v>90</c:v>
                </c:pt>
                <c:pt idx="213">
                  <c:v>90</c:v>
                </c:pt>
                <c:pt idx="214">
                  <c:v>0</c:v>
                </c:pt>
                <c:pt idx="215">
                  <c:v>0</c:v>
                </c:pt>
                <c:pt idx="216">
                  <c:v>183.91354899999999</c:v>
                </c:pt>
                <c:pt idx="217">
                  <c:v>183.91354899999999</c:v>
                </c:pt>
                <c:pt idx="218">
                  <c:v>183.91354899999999</c:v>
                </c:pt>
                <c:pt idx="219">
                  <c:v>183.91354899999999</c:v>
                </c:pt>
                <c:pt idx="220">
                  <c:v>0</c:v>
                </c:pt>
                <c:pt idx="221">
                  <c:v>0</c:v>
                </c:pt>
                <c:pt idx="222">
                  <c:v>183.91354899999999</c:v>
                </c:pt>
                <c:pt idx="223">
                  <c:v>183.91354899999999</c:v>
                </c:pt>
                <c:pt idx="224">
                  <c:v>183.91354899999999</c:v>
                </c:pt>
                <c:pt idx="225">
                  <c:v>183.91354899999999</c:v>
                </c:pt>
                <c:pt idx="226">
                  <c:v>0</c:v>
                </c:pt>
                <c:pt idx="227">
                  <c:v>0</c:v>
                </c:pt>
                <c:pt idx="228">
                  <c:v>0</c:v>
                </c:pt>
                <c:pt idx="229">
                  <c:v>0</c:v>
                </c:pt>
                <c:pt idx="230">
                  <c:v>183.91354899999999</c:v>
                </c:pt>
                <c:pt idx="231">
                  <c:v>183.91354899999999</c:v>
                </c:pt>
                <c:pt idx="232">
                  <c:v>187.12770499999999</c:v>
                </c:pt>
                <c:pt idx="233">
                  <c:v>187.12770499999999</c:v>
                </c:pt>
                <c:pt idx="234">
                  <c:v>0</c:v>
                </c:pt>
                <c:pt idx="235">
                  <c:v>0</c:v>
                </c:pt>
                <c:pt idx="236">
                  <c:v>187.12770499999999</c:v>
                </c:pt>
                <c:pt idx="237">
                  <c:v>187.12770499999999</c:v>
                </c:pt>
                <c:pt idx="238">
                  <c:v>187.12770499999999</c:v>
                </c:pt>
                <c:pt idx="239">
                  <c:v>187.12770499999999</c:v>
                </c:pt>
                <c:pt idx="240">
                  <c:v>200</c:v>
                </c:pt>
                <c:pt idx="241">
                  <c:v>200</c:v>
                </c:pt>
                <c:pt idx="242">
                  <c:v>197.029</c:v>
                </c:pt>
                <c:pt idx="243">
                  <c:v>197.029</c:v>
                </c:pt>
                <c:pt idx="244">
                  <c:v>47.25</c:v>
                </c:pt>
                <c:pt idx="245">
                  <c:v>47.25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60</c:v>
                </c:pt>
                <c:pt idx="347">
                  <c:v>60</c:v>
                </c:pt>
                <c:pt idx="348">
                  <c:v>60</c:v>
                </c:pt>
                <c:pt idx="349">
                  <c:v>60</c:v>
                </c:pt>
                <c:pt idx="350">
                  <c:v>0</c:v>
                </c:pt>
                <c:pt idx="351">
                  <c:v>0</c:v>
                </c:pt>
                <c:pt idx="352">
                  <c:v>60</c:v>
                </c:pt>
                <c:pt idx="353">
                  <c:v>60</c:v>
                </c:pt>
                <c:pt idx="354">
                  <c:v>60</c:v>
                </c:pt>
                <c:pt idx="355">
                  <c:v>60</c:v>
                </c:pt>
                <c:pt idx="356">
                  <c:v>0</c:v>
                </c:pt>
                <c:pt idx="357">
                  <c:v>0</c:v>
                </c:pt>
                <c:pt idx="358">
                  <c:v>0</c:v>
                </c:pt>
                <c:pt idx="359">
                  <c:v>0</c:v>
                </c:pt>
                <c:pt idx="360">
                  <c:v>1E-4</c:v>
                </c:pt>
                <c:pt idx="361">
                  <c:v>1E-4</c:v>
                </c:pt>
                <c:pt idx="362">
                  <c:v>1E-4</c:v>
                </c:pt>
                <c:pt idx="363">
                  <c:v>1E-4</c:v>
                </c:pt>
                <c:pt idx="364">
                  <c:v>1E-4</c:v>
                </c:pt>
                <c:pt idx="365">
                  <c:v>1E-4</c:v>
                </c:pt>
                <c:pt idx="366">
                  <c:v>31.61242</c:v>
                </c:pt>
                <c:pt idx="367">
                  <c:v>31.61242</c:v>
                </c:pt>
                <c:pt idx="368">
                  <c:v>200</c:v>
                </c:pt>
                <c:pt idx="369">
                  <c:v>200</c:v>
                </c:pt>
                <c:pt idx="370">
                  <c:v>200</c:v>
                </c:pt>
                <c:pt idx="371">
                  <c:v>200</c:v>
                </c:pt>
                <c:pt idx="372">
                  <c:v>180</c:v>
                </c:pt>
                <c:pt idx="373">
                  <c:v>180</c:v>
                </c:pt>
                <c:pt idx="374">
                  <c:v>0</c:v>
                </c:pt>
                <c:pt idx="375">
                  <c:v>0</c:v>
                </c:pt>
                <c:pt idx="376">
                  <c:v>150</c:v>
                </c:pt>
                <c:pt idx="377">
                  <c:v>150</c:v>
                </c:pt>
                <c:pt idx="378">
                  <c:v>0</c:v>
                </c:pt>
                <c:pt idx="379">
                  <c:v>0</c:v>
                </c:pt>
                <c:pt idx="380">
                  <c:v>120.0001</c:v>
                </c:pt>
                <c:pt idx="381">
                  <c:v>120.0001</c:v>
                </c:pt>
                <c:pt idx="382">
                  <c:v>150</c:v>
                </c:pt>
                <c:pt idx="383">
                  <c:v>150</c:v>
                </c:pt>
                <c:pt idx="384">
                  <c:v>0</c:v>
                </c:pt>
                <c:pt idx="385">
                  <c:v>0</c:v>
                </c:pt>
                <c:pt idx="386">
                  <c:v>200</c:v>
                </c:pt>
                <c:pt idx="387">
                  <c:v>200</c:v>
                </c:pt>
                <c:pt idx="388">
                  <c:v>200</c:v>
                </c:pt>
                <c:pt idx="389">
                  <c:v>200</c:v>
                </c:pt>
                <c:pt idx="390">
                  <c:v>200</c:v>
                </c:pt>
                <c:pt idx="391">
                  <c:v>200</c:v>
                </c:pt>
                <c:pt idx="392">
                  <c:v>0</c:v>
                </c:pt>
                <c:pt idx="393">
                  <c:v>0</c:v>
                </c:pt>
                <c:pt idx="394">
                  <c:v>200</c:v>
                </c:pt>
                <c:pt idx="395">
                  <c:v>200</c:v>
                </c:pt>
                <c:pt idx="396">
                  <c:v>0</c:v>
                </c:pt>
                <c:pt idx="397">
                  <c:v>0</c:v>
                </c:pt>
                <c:pt idx="398">
                  <c:v>180</c:v>
                </c:pt>
                <c:pt idx="399">
                  <c:v>180</c:v>
                </c:pt>
                <c:pt idx="400">
                  <c:v>200</c:v>
                </c:pt>
                <c:pt idx="401">
                  <c:v>200</c:v>
                </c:pt>
                <c:pt idx="402">
                  <c:v>200</c:v>
                </c:pt>
                <c:pt idx="403">
                  <c:v>200</c:v>
                </c:pt>
                <c:pt idx="404">
                  <c:v>200</c:v>
                </c:pt>
                <c:pt idx="405">
                  <c:v>200</c:v>
                </c:pt>
                <c:pt idx="406">
                  <c:v>200</c:v>
                </c:pt>
                <c:pt idx="407">
                  <c:v>200</c:v>
                </c:pt>
                <c:pt idx="408">
                  <c:v>120.0001</c:v>
                </c:pt>
                <c:pt idx="409">
                  <c:v>120.0001</c:v>
                </c:pt>
                <c:pt idx="410">
                  <c:v>163.08470700000001</c:v>
                </c:pt>
                <c:pt idx="411">
                  <c:v>163.08470700000001</c:v>
                </c:pt>
                <c:pt idx="412">
                  <c:v>174.15554599999999</c:v>
                </c:pt>
                <c:pt idx="413">
                  <c:v>174.15554599999999</c:v>
                </c:pt>
                <c:pt idx="414">
                  <c:v>200</c:v>
                </c:pt>
                <c:pt idx="415">
                  <c:v>200</c:v>
                </c:pt>
                <c:pt idx="416">
                  <c:v>190.29781</c:v>
                </c:pt>
                <c:pt idx="417">
                  <c:v>190.29781</c:v>
                </c:pt>
                <c:pt idx="418">
                  <c:v>200</c:v>
                </c:pt>
                <c:pt idx="419">
                  <c:v>200</c:v>
                </c:pt>
                <c:pt idx="420">
                  <c:v>180</c:v>
                </c:pt>
                <c:pt idx="421">
                  <c:v>180</c:v>
                </c:pt>
                <c:pt idx="422">
                  <c:v>200</c:v>
                </c:pt>
                <c:pt idx="423">
                  <c:v>200</c:v>
                </c:pt>
                <c:pt idx="424">
                  <c:v>0</c:v>
                </c:pt>
                <c:pt idx="425">
                  <c:v>0</c:v>
                </c:pt>
                <c:pt idx="426">
                  <c:v>200</c:v>
                </c:pt>
                <c:pt idx="427">
                  <c:v>200</c:v>
                </c:pt>
                <c:pt idx="428">
                  <c:v>0</c:v>
                </c:pt>
                <c:pt idx="429">
                  <c:v>0</c:v>
                </c:pt>
                <c:pt idx="430">
                  <c:v>200</c:v>
                </c:pt>
                <c:pt idx="431">
                  <c:v>200</c:v>
                </c:pt>
                <c:pt idx="432">
                  <c:v>200</c:v>
                </c:pt>
                <c:pt idx="433">
                  <c:v>200</c:v>
                </c:pt>
                <c:pt idx="434">
                  <c:v>193.375</c:v>
                </c:pt>
                <c:pt idx="435">
                  <c:v>193.375</c:v>
                </c:pt>
                <c:pt idx="436">
                  <c:v>24.3</c:v>
                </c:pt>
                <c:pt idx="437">
                  <c:v>24.3</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53.488737</c:v>
                </c:pt>
                <c:pt idx="521">
                  <c:v>53.488737</c:v>
                </c:pt>
                <c:pt idx="522">
                  <c:v>16.388389</c:v>
                </c:pt>
                <c:pt idx="523">
                  <c:v>16.388389</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90</c:v>
                </c:pt>
                <c:pt idx="549">
                  <c:v>90</c:v>
                </c:pt>
                <c:pt idx="550">
                  <c:v>73.263357999999997</c:v>
                </c:pt>
                <c:pt idx="551">
                  <c:v>73.263357999999997</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1E-4</c:v>
                </c:pt>
                <c:pt idx="567">
                  <c:v>1E-4</c:v>
                </c:pt>
                <c:pt idx="568">
                  <c:v>200</c:v>
                </c:pt>
                <c:pt idx="569">
                  <c:v>200</c:v>
                </c:pt>
                <c:pt idx="570">
                  <c:v>200</c:v>
                </c:pt>
                <c:pt idx="571">
                  <c:v>200</c:v>
                </c:pt>
                <c:pt idx="572">
                  <c:v>60</c:v>
                </c:pt>
                <c:pt idx="573">
                  <c:v>60</c:v>
                </c:pt>
                <c:pt idx="574">
                  <c:v>120</c:v>
                </c:pt>
                <c:pt idx="575">
                  <c:v>120</c:v>
                </c:pt>
                <c:pt idx="576">
                  <c:v>200</c:v>
                </c:pt>
                <c:pt idx="577">
                  <c:v>200</c:v>
                </c:pt>
                <c:pt idx="578">
                  <c:v>0</c:v>
                </c:pt>
                <c:pt idx="579">
                  <c:v>0</c:v>
                </c:pt>
                <c:pt idx="580">
                  <c:v>0</c:v>
                </c:pt>
                <c:pt idx="581">
                  <c:v>0</c:v>
                </c:pt>
                <c:pt idx="582">
                  <c:v>0</c:v>
                </c:pt>
                <c:pt idx="583">
                  <c:v>0</c:v>
                </c:pt>
                <c:pt idx="584">
                  <c:v>68.491619</c:v>
                </c:pt>
                <c:pt idx="585">
                  <c:v>68.491619</c:v>
                </c:pt>
                <c:pt idx="586">
                  <c:v>0</c:v>
                </c:pt>
                <c:pt idx="587">
                  <c:v>0</c:v>
                </c:pt>
                <c:pt idx="588">
                  <c:v>1E-4</c:v>
                </c:pt>
                <c:pt idx="589">
                  <c:v>1E-4</c:v>
                </c:pt>
                <c:pt idx="590">
                  <c:v>1E-4</c:v>
                </c:pt>
                <c:pt idx="591">
                  <c:v>1E-4</c:v>
                </c:pt>
                <c:pt idx="592">
                  <c:v>0</c:v>
                </c:pt>
                <c:pt idx="593">
                  <c:v>0</c:v>
                </c:pt>
                <c:pt idx="594">
                  <c:v>200</c:v>
                </c:pt>
                <c:pt idx="595">
                  <c:v>200</c:v>
                </c:pt>
                <c:pt idx="596">
                  <c:v>200</c:v>
                </c:pt>
                <c:pt idx="597">
                  <c:v>200</c:v>
                </c:pt>
                <c:pt idx="598">
                  <c:v>0</c:v>
                </c:pt>
                <c:pt idx="599">
                  <c:v>0</c:v>
                </c:pt>
                <c:pt idx="600">
                  <c:v>200</c:v>
                </c:pt>
                <c:pt idx="601">
                  <c:v>200</c:v>
                </c:pt>
                <c:pt idx="602">
                  <c:v>200</c:v>
                </c:pt>
                <c:pt idx="603">
                  <c:v>200</c:v>
                </c:pt>
                <c:pt idx="604">
                  <c:v>200</c:v>
                </c:pt>
                <c:pt idx="605">
                  <c:v>200</c:v>
                </c:pt>
                <c:pt idx="606">
                  <c:v>8.8337070000000004</c:v>
                </c:pt>
                <c:pt idx="607">
                  <c:v>8.8337070000000004</c:v>
                </c:pt>
                <c:pt idx="608">
                  <c:v>200</c:v>
                </c:pt>
                <c:pt idx="609">
                  <c:v>200</c:v>
                </c:pt>
                <c:pt idx="610">
                  <c:v>200</c:v>
                </c:pt>
                <c:pt idx="611">
                  <c:v>200</c:v>
                </c:pt>
                <c:pt idx="612">
                  <c:v>200</c:v>
                </c:pt>
                <c:pt idx="613">
                  <c:v>200</c:v>
                </c:pt>
                <c:pt idx="614">
                  <c:v>0</c:v>
                </c:pt>
                <c:pt idx="615">
                  <c:v>0</c:v>
                </c:pt>
                <c:pt idx="616">
                  <c:v>200</c:v>
                </c:pt>
                <c:pt idx="617">
                  <c:v>200</c:v>
                </c:pt>
                <c:pt idx="618">
                  <c:v>112.864861</c:v>
                </c:pt>
                <c:pt idx="619">
                  <c:v>112.864861</c:v>
                </c:pt>
                <c:pt idx="620">
                  <c:v>200</c:v>
                </c:pt>
                <c:pt idx="621">
                  <c:v>200</c:v>
                </c:pt>
                <c:pt idx="622">
                  <c:v>200</c:v>
                </c:pt>
                <c:pt idx="623">
                  <c:v>200</c:v>
                </c:pt>
                <c:pt idx="624">
                  <c:v>200</c:v>
                </c:pt>
                <c:pt idx="625">
                  <c:v>200</c:v>
                </c:pt>
                <c:pt idx="626">
                  <c:v>4.5999999999999999E-2</c:v>
                </c:pt>
                <c:pt idx="627">
                  <c:v>4.5999999999999999E-2</c:v>
                </c:pt>
                <c:pt idx="628">
                  <c:v>4.3008439999999997</c:v>
                </c:pt>
                <c:pt idx="629">
                  <c:v>4.3008439999999997</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20.5059</c:v>
                </c:pt>
                <c:pt idx="709">
                  <c:v>20.5059</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90</c:v>
                </c:pt>
                <c:pt idx="751">
                  <c:v>90</c:v>
                </c:pt>
                <c:pt idx="752">
                  <c:v>90</c:v>
                </c:pt>
                <c:pt idx="753">
                  <c:v>90</c:v>
                </c:pt>
                <c:pt idx="754">
                  <c:v>180</c:v>
                </c:pt>
                <c:pt idx="755">
                  <c:v>180</c:v>
                </c:pt>
                <c:pt idx="756">
                  <c:v>200</c:v>
                </c:pt>
                <c:pt idx="757">
                  <c:v>200</c:v>
                </c:pt>
                <c:pt idx="758">
                  <c:v>210</c:v>
                </c:pt>
                <c:pt idx="759">
                  <c:v>210</c:v>
                </c:pt>
                <c:pt idx="760">
                  <c:v>210.0001</c:v>
                </c:pt>
                <c:pt idx="761">
                  <c:v>210.0001</c:v>
                </c:pt>
                <c:pt idx="762">
                  <c:v>234.781274</c:v>
                </c:pt>
                <c:pt idx="763">
                  <c:v>234.781274</c:v>
                </c:pt>
                <c:pt idx="764">
                  <c:v>222.37823599999999</c:v>
                </c:pt>
                <c:pt idx="765">
                  <c:v>222.37823599999999</c:v>
                </c:pt>
                <c:pt idx="766">
                  <c:v>210</c:v>
                </c:pt>
                <c:pt idx="767">
                  <c:v>210</c:v>
                </c:pt>
                <c:pt idx="768">
                  <c:v>200</c:v>
                </c:pt>
                <c:pt idx="769">
                  <c:v>200</c:v>
                </c:pt>
                <c:pt idx="770">
                  <c:v>200</c:v>
                </c:pt>
                <c:pt idx="771">
                  <c:v>200</c:v>
                </c:pt>
                <c:pt idx="772">
                  <c:v>234.781274</c:v>
                </c:pt>
                <c:pt idx="773">
                  <c:v>234.781274</c:v>
                </c:pt>
                <c:pt idx="774">
                  <c:v>210.0001</c:v>
                </c:pt>
                <c:pt idx="775">
                  <c:v>210.0001</c:v>
                </c:pt>
                <c:pt idx="776">
                  <c:v>200</c:v>
                </c:pt>
                <c:pt idx="777">
                  <c:v>200</c:v>
                </c:pt>
                <c:pt idx="778">
                  <c:v>230.90538000000001</c:v>
                </c:pt>
                <c:pt idx="779">
                  <c:v>230.90538000000001</c:v>
                </c:pt>
                <c:pt idx="780">
                  <c:v>233.85704699999999</c:v>
                </c:pt>
                <c:pt idx="781">
                  <c:v>233.85704699999999</c:v>
                </c:pt>
                <c:pt idx="782">
                  <c:v>200</c:v>
                </c:pt>
                <c:pt idx="783">
                  <c:v>200</c:v>
                </c:pt>
                <c:pt idx="784">
                  <c:v>200</c:v>
                </c:pt>
                <c:pt idx="785">
                  <c:v>200</c:v>
                </c:pt>
                <c:pt idx="786">
                  <c:v>200</c:v>
                </c:pt>
                <c:pt idx="787">
                  <c:v>200</c:v>
                </c:pt>
                <c:pt idx="788">
                  <c:v>234.781274</c:v>
                </c:pt>
                <c:pt idx="789">
                  <c:v>234.781274</c:v>
                </c:pt>
                <c:pt idx="790">
                  <c:v>230.912826</c:v>
                </c:pt>
                <c:pt idx="791">
                  <c:v>230.912826</c:v>
                </c:pt>
                <c:pt idx="792">
                  <c:v>200</c:v>
                </c:pt>
                <c:pt idx="793">
                  <c:v>200</c:v>
                </c:pt>
                <c:pt idx="794">
                  <c:v>234.781274</c:v>
                </c:pt>
                <c:pt idx="795">
                  <c:v>234.781274</c:v>
                </c:pt>
                <c:pt idx="796">
                  <c:v>234.781274</c:v>
                </c:pt>
                <c:pt idx="797">
                  <c:v>234.781274</c:v>
                </c:pt>
                <c:pt idx="798">
                  <c:v>234.781274</c:v>
                </c:pt>
                <c:pt idx="799">
                  <c:v>234.781274</c:v>
                </c:pt>
                <c:pt idx="800">
                  <c:v>200</c:v>
                </c:pt>
                <c:pt idx="801">
                  <c:v>200</c:v>
                </c:pt>
                <c:pt idx="802">
                  <c:v>200</c:v>
                </c:pt>
                <c:pt idx="803">
                  <c:v>200</c:v>
                </c:pt>
                <c:pt idx="804">
                  <c:v>200</c:v>
                </c:pt>
                <c:pt idx="805">
                  <c:v>200</c:v>
                </c:pt>
                <c:pt idx="806">
                  <c:v>200</c:v>
                </c:pt>
                <c:pt idx="807">
                  <c:v>200</c:v>
                </c:pt>
                <c:pt idx="808">
                  <c:v>200</c:v>
                </c:pt>
                <c:pt idx="809">
                  <c:v>200</c:v>
                </c:pt>
                <c:pt idx="810">
                  <c:v>200</c:v>
                </c:pt>
                <c:pt idx="811">
                  <c:v>200</c:v>
                </c:pt>
                <c:pt idx="812">
                  <c:v>200</c:v>
                </c:pt>
                <c:pt idx="813">
                  <c:v>200</c:v>
                </c:pt>
                <c:pt idx="814">
                  <c:v>200</c:v>
                </c:pt>
                <c:pt idx="815">
                  <c:v>200</c:v>
                </c:pt>
                <c:pt idx="816">
                  <c:v>201.41615899999999</c:v>
                </c:pt>
                <c:pt idx="817">
                  <c:v>201.41615899999999</c:v>
                </c:pt>
                <c:pt idx="818">
                  <c:v>197.45500000000001</c:v>
                </c:pt>
                <c:pt idx="819">
                  <c:v>197.45500000000001</c:v>
                </c:pt>
                <c:pt idx="820">
                  <c:v>37.9</c:v>
                </c:pt>
                <c:pt idx="821">
                  <c:v>37.9</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2.8</c:v>
                </c:pt>
                <c:pt idx="897">
                  <c:v>2.8</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30.414784999999998</c:v>
                </c:pt>
                <c:pt idx="953">
                  <c:v>30.414784999999998</c:v>
                </c:pt>
                <c:pt idx="954">
                  <c:v>0</c:v>
                </c:pt>
                <c:pt idx="955">
                  <c:v>0</c:v>
                </c:pt>
                <c:pt idx="956">
                  <c:v>1E-4</c:v>
                </c:pt>
                <c:pt idx="957">
                  <c:v>1E-4</c:v>
                </c:pt>
                <c:pt idx="958">
                  <c:v>2.0000000000000001E-4</c:v>
                </c:pt>
                <c:pt idx="959">
                  <c:v>2.0000000000000001E-4</c:v>
                </c:pt>
                <c:pt idx="960">
                  <c:v>0</c:v>
                </c:pt>
                <c:pt idx="961">
                  <c:v>0</c:v>
                </c:pt>
                <c:pt idx="962">
                  <c:v>0</c:v>
                </c:pt>
                <c:pt idx="963">
                  <c:v>0</c:v>
                </c:pt>
                <c:pt idx="964">
                  <c:v>0</c:v>
                </c:pt>
                <c:pt idx="965">
                  <c:v>0</c:v>
                </c:pt>
                <c:pt idx="966">
                  <c:v>0</c:v>
                </c:pt>
                <c:pt idx="967">
                  <c:v>0</c:v>
                </c:pt>
                <c:pt idx="968">
                  <c:v>200</c:v>
                </c:pt>
                <c:pt idx="969">
                  <c:v>200</c:v>
                </c:pt>
                <c:pt idx="970">
                  <c:v>0</c:v>
                </c:pt>
                <c:pt idx="971">
                  <c:v>0</c:v>
                </c:pt>
                <c:pt idx="972">
                  <c:v>0</c:v>
                </c:pt>
                <c:pt idx="973">
                  <c:v>0</c:v>
                </c:pt>
                <c:pt idx="974">
                  <c:v>0</c:v>
                </c:pt>
                <c:pt idx="975">
                  <c:v>0</c:v>
                </c:pt>
                <c:pt idx="976">
                  <c:v>104.671358</c:v>
                </c:pt>
                <c:pt idx="977">
                  <c:v>104.671358</c:v>
                </c:pt>
                <c:pt idx="978">
                  <c:v>180.0001</c:v>
                </c:pt>
                <c:pt idx="979">
                  <c:v>180.0001</c:v>
                </c:pt>
                <c:pt idx="980">
                  <c:v>0</c:v>
                </c:pt>
                <c:pt idx="981">
                  <c:v>0</c:v>
                </c:pt>
                <c:pt idx="982">
                  <c:v>120.00020000000001</c:v>
                </c:pt>
                <c:pt idx="983">
                  <c:v>120.00020000000001</c:v>
                </c:pt>
                <c:pt idx="984">
                  <c:v>200</c:v>
                </c:pt>
                <c:pt idx="985">
                  <c:v>200</c:v>
                </c:pt>
                <c:pt idx="986">
                  <c:v>150</c:v>
                </c:pt>
                <c:pt idx="987">
                  <c:v>150</c:v>
                </c:pt>
                <c:pt idx="988">
                  <c:v>90</c:v>
                </c:pt>
                <c:pt idx="989">
                  <c:v>90</c:v>
                </c:pt>
                <c:pt idx="990">
                  <c:v>60</c:v>
                </c:pt>
                <c:pt idx="991">
                  <c:v>60</c:v>
                </c:pt>
                <c:pt idx="992">
                  <c:v>120</c:v>
                </c:pt>
                <c:pt idx="993">
                  <c:v>120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200</c:v>
                </c:pt>
                <c:pt idx="1007">
                  <c:v>200</c:v>
                </c:pt>
                <c:pt idx="1008">
                  <c:v>0</c:v>
                </c:pt>
                <c:pt idx="1009">
                  <c:v>0</c:v>
                </c:pt>
                <c:pt idx="1010">
                  <c:v>0</c:v>
                </c:pt>
                <c:pt idx="1011">
                  <c:v>0</c:v>
                </c:pt>
                <c:pt idx="1012">
                  <c:v>0</c:v>
                </c:pt>
                <c:pt idx="1013">
                  <c:v>0</c:v>
                </c:pt>
                <c:pt idx="1014">
                  <c:v>13.939</c:v>
                </c:pt>
                <c:pt idx="1015">
                  <c:v>13.939</c:v>
                </c:pt>
                <c:pt idx="1016">
                  <c:v>167.13442499999999</c:v>
                </c:pt>
                <c:pt idx="1017">
                  <c:v>167.13442499999999</c:v>
                </c:pt>
                <c:pt idx="1018">
                  <c:v>49.233747000000001</c:v>
                </c:pt>
                <c:pt idx="1019">
                  <c:v>49.233747000000001</c:v>
                </c:pt>
                <c:pt idx="1020">
                  <c:v>6.7</c:v>
                </c:pt>
                <c:pt idx="1021">
                  <c:v>6.7</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3.7196750000000001</c:v>
                </c:pt>
                <c:pt idx="1129">
                  <c:v>3.7196750000000001</c:v>
                </c:pt>
                <c:pt idx="1130">
                  <c:v>54.379227</c:v>
                </c:pt>
                <c:pt idx="1131">
                  <c:v>54.379227</c:v>
                </c:pt>
                <c:pt idx="1132">
                  <c:v>0</c:v>
                </c:pt>
                <c:pt idx="1133">
                  <c:v>0</c:v>
                </c:pt>
                <c:pt idx="1134">
                  <c:v>0</c:v>
                </c:pt>
                <c:pt idx="1135">
                  <c:v>0</c:v>
                </c:pt>
                <c:pt idx="1136">
                  <c:v>1E-4</c:v>
                </c:pt>
                <c:pt idx="1137">
                  <c:v>1E-4</c:v>
                </c:pt>
                <c:pt idx="1138">
                  <c:v>1E-4</c:v>
                </c:pt>
                <c:pt idx="1139">
                  <c:v>1E-4</c:v>
                </c:pt>
                <c:pt idx="1140">
                  <c:v>1E-4</c:v>
                </c:pt>
                <c:pt idx="1141">
                  <c:v>1E-4</c:v>
                </c:pt>
                <c:pt idx="1142">
                  <c:v>90</c:v>
                </c:pt>
                <c:pt idx="1143">
                  <c:v>90</c:v>
                </c:pt>
                <c:pt idx="1144">
                  <c:v>0</c:v>
                </c:pt>
                <c:pt idx="1145">
                  <c:v>0</c:v>
                </c:pt>
                <c:pt idx="1146">
                  <c:v>0</c:v>
                </c:pt>
                <c:pt idx="1147">
                  <c:v>0</c:v>
                </c:pt>
                <c:pt idx="1148">
                  <c:v>0</c:v>
                </c:pt>
                <c:pt idx="1149">
                  <c:v>0</c:v>
                </c:pt>
                <c:pt idx="1150">
                  <c:v>0</c:v>
                </c:pt>
                <c:pt idx="1151">
                  <c:v>0</c:v>
                </c:pt>
                <c:pt idx="1152">
                  <c:v>150</c:v>
                </c:pt>
                <c:pt idx="1153">
                  <c:v>150</c:v>
                </c:pt>
                <c:pt idx="1154">
                  <c:v>60</c:v>
                </c:pt>
                <c:pt idx="1155">
                  <c:v>60</c:v>
                </c:pt>
                <c:pt idx="1156">
                  <c:v>0</c:v>
                </c:pt>
                <c:pt idx="1157">
                  <c:v>0</c:v>
                </c:pt>
                <c:pt idx="1158">
                  <c:v>0</c:v>
                </c:pt>
                <c:pt idx="1159">
                  <c:v>0</c:v>
                </c:pt>
                <c:pt idx="1160">
                  <c:v>90.000200000000007</c:v>
                </c:pt>
                <c:pt idx="1161">
                  <c:v>90.000200000000007</c:v>
                </c:pt>
                <c:pt idx="1162">
                  <c:v>90.000100000000003</c:v>
                </c:pt>
                <c:pt idx="1163">
                  <c:v>90.000100000000003</c:v>
                </c:pt>
                <c:pt idx="1164">
                  <c:v>75.863547999999994</c:v>
                </c:pt>
                <c:pt idx="1165">
                  <c:v>75.863547999999994</c:v>
                </c:pt>
                <c:pt idx="1166">
                  <c:v>163.26253700000001</c:v>
                </c:pt>
                <c:pt idx="1167">
                  <c:v>163.26253700000001</c:v>
                </c:pt>
                <c:pt idx="1168">
                  <c:v>120</c:v>
                </c:pt>
                <c:pt idx="1169">
                  <c:v>120</c:v>
                </c:pt>
                <c:pt idx="1170">
                  <c:v>150</c:v>
                </c:pt>
                <c:pt idx="1171">
                  <c:v>150</c:v>
                </c:pt>
                <c:pt idx="1172">
                  <c:v>163.26253700000001</c:v>
                </c:pt>
                <c:pt idx="1173">
                  <c:v>163.26253700000001</c:v>
                </c:pt>
                <c:pt idx="1174">
                  <c:v>0</c:v>
                </c:pt>
                <c:pt idx="1175">
                  <c:v>0</c:v>
                </c:pt>
                <c:pt idx="1176">
                  <c:v>0</c:v>
                </c:pt>
                <c:pt idx="1177">
                  <c:v>0</c:v>
                </c:pt>
                <c:pt idx="1178">
                  <c:v>165.39392100000001</c:v>
                </c:pt>
                <c:pt idx="1179">
                  <c:v>165.39392100000001</c:v>
                </c:pt>
                <c:pt idx="1180">
                  <c:v>0</c:v>
                </c:pt>
                <c:pt idx="1181">
                  <c:v>0</c:v>
                </c:pt>
                <c:pt idx="1182">
                  <c:v>200</c:v>
                </c:pt>
                <c:pt idx="1183">
                  <c:v>200</c:v>
                </c:pt>
                <c:pt idx="1184">
                  <c:v>0</c:v>
                </c:pt>
                <c:pt idx="1185">
                  <c:v>0</c:v>
                </c:pt>
                <c:pt idx="1186">
                  <c:v>200</c:v>
                </c:pt>
                <c:pt idx="1187">
                  <c:v>200</c:v>
                </c:pt>
                <c:pt idx="1188">
                  <c:v>0</c:v>
                </c:pt>
                <c:pt idx="1189">
                  <c:v>0</c:v>
                </c:pt>
                <c:pt idx="1190">
                  <c:v>0</c:v>
                </c:pt>
                <c:pt idx="1191">
                  <c:v>0</c:v>
                </c:pt>
                <c:pt idx="1192">
                  <c:v>200</c:v>
                </c:pt>
                <c:pt idx="1193">
                  <c:v>200</c:v>
                </c:pt>
                <c:pt idx="1194">
                  <c:v>200</c:v>
                </c:pt>
                <c:pt idx="1195">
                  <c:v>200</c:v>
                </c:pt>
                <c:pt idx="1196">
                  <c:v>100.784722</c:v>
                </c:pt>
                <c:pt idx="1197">
                  <c:v>100.784722</c:v>
                </c:pt>
                <c:pt idx="1198">
                  <c:v>200</c:v>
                </c:pt>
                <c:pt idx="1199">
                  <c:v>200</c:v>
                </c:pt>
                <c:pt idx="1200">
                  <c:v>182.05279899999999</c:v>
                </c:pt>
                <c:pt idx="1201">
                  <c:v>182.05279899999999</c:v>
                </c:pt>
                <c:pt idx="1202">
                  <c:v>197.45</c:v>
                </c:pt>
                <c:pt idx="1203">
                  <c:v>197.45</c:v>
                </c:pt>
                <c:pt idx="1204">
                  <c:v>188.667</c:v>
                </c:pt>
                <c:pt idx="1205">
                  <c:v>188.667</c:v>
                </c:pt>
                <c:pt idx="1206">
                  <c:v>129.8501</c:v>
                </c:pt>
                <c:pt idx="1207">
                  <c:v>129.8501</c:v>
                </c:pt>
                <c:pt idx="1208">
                  <c:v>96.700100000000006</c:v>
                </c:pt>
                <c:pt idx="1209">
                  <c:v>96.700100000000006</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35.057000000000002</c:v>
                </c:pt>
                <c:pt idx="1245">
                  <c:v>35.057000000000002</c:v>
                </c:pt>
                <c:pt idx="1246">
                  <c:v>74.965999999999994</c:v>
                </c:pt>
                <c:pt idx="1247">
                  <c:v>74.965999999999994</c:v>
                </c:pt>
                <c:pt idx="1248">
                  <c:v>75.587999999999994</c:v>
                </c:pt>
                <c:pt idx="1249">
                  <c:v>75.587999999999994</c:v>
                </c:pt>
                <c:pt idx="1250">
                  <c:v>0</c:v>
                </c:pt>
                <c:pt idx="1251">
                  <c:v>0</c:v>
                </c:pt>
                <c:pt idx="1252">
                  <c:v>0</c:v>
                </c:pt>
                <c:pt idx="1253">
                  <c:v>0</c:v>
                </c:pt>
                <c:pt idx="1254">
                  <c:v>21.393999999999998</c:v>
                </c:pt>
                <c:pt idx="1255">
                  <c:v>21.393999999999998</c:v>
                </c:pt>
                <c:pt idx="1256">
                  <c:v>17.842336</c:v>
                </c:pt>
                <c:pt idx="1257">
                  <c:v>17.842336</c:v>
                </c:pt>
                <c:pt idx="1258">
                  <c:v>17.907</c:v>
                </c:pt>
                <c:pt idx="1259">
                  <c:v>17.907</c:v>
                </c:pt>
                <c:pt idx="1260">
                  <c:v>39.530999999999999</c:v>
                </c:pt>
                <c:pt idx="1261">
                  <c:v>39.530999999999999</c:v>
                </c:pt>
                <c:pt idx="1262">
                  <c:v>41.002761999999997</c:v>
                </c:pt>
                <c:pt idx="1263">
                  <c:v>41.002761999999997</c:v>
                </c:pt>
                <c:pt idx="1264">
                  <c:v>8.3629999999999995</c:v>
                </c:pt>
                <c:pt idx="1265">
                  <c:v>8.3629999999999995</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6.4192169999999997</c:v>
                </c:pt>
                <c:pt idx="1279">
                  <c:v>6.4192169999999997</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60</c:v>
                </c:pt>
                <c:pt idx="1311">
                  <c:v>60</c:v>
                </c:pt>
                <c:pt idx="1312">
                  <c:v>60</c:v>
                </c:pt>
                <c:pt idx="1313">
                  <c:v>60</c:v>
                </c:pt>
                <c:pt idx="1314">
                  <c:v>47.134036999999999</c:v>
                </c:pt>
                <c:pt idx="1315">
                  <c:v>47.134036999999999</c:v>
                </c:pt>
                <c:pt idx="1316">
                  <c:v>60.000100000000003</c:v>
                </c:pt>
                <c:pt idx="1317">
                  <c:v>60.000100000000003</c:v>
                </c:pt>
                <c:pt idx="1318">
                  <c:v>90</c:v>
                </c:pt>
                <c:pt idx="1319">
                  <c:v>90</c:v>
                </c:pt>
                <c:pt idx="1320">
                  <c:v>90</c:v>
                </c:pt>
                <c:pt idx="1321">
                  <c:v>90</c:v>
                </c:pt>
                <c:pt idx="1322">
                  <c:v>150</c:v>
                </c:pt>
                <c:pt idx="1323">
                  <c:v>150</c:v>
                </c:pt>
                <c:pt idx="1324">
                  <c:v>200</c:v>
                </c:pt>
                <c:pt idx="1325">
                  <c:v>200</c:v>
                </c:pt>
                <c:pt idx="1326">
                  <c:v>200</c:v>
                </c:pt>
                <c:pt idx="1327">
                  <c:v>200</c:v>
                </c:pt>
                <c:pt idx="1328">
                  <c:v>160.0001</c:v>
                </c:pt>
                <c:pt idx="1329">
                  <c:v>160.0001</c:v>
                </c:pt>
                <c:pt idx="1330">
                  <c:v>200</c:v>
                </c:pt>
                <c:pt idx="1331">
                  <c:v>200</c:v>
                </c:pt>
                <c:pt idx="1332">
                  <c:v>200</c:v>
                </c:pt>
                <c:pt idx="1333">
                  <c:v>200</c:v>
                </c:pt>
                <c:pt idx="1334">
                  <c:v>200</c:v>
                </c:pt>
                <c:pt idx="1335">
                  <c:v>200</c:v>
                </c:pt>
                <c:pt idx="1336">
                  <c:v>200</c:v>
                </c:pt>
                <c:pt idx="1337">
                  <c:v>200</c:v>
                </c:pt>
                <c:pt idx="1338">
                  <c:v>200</c:v>
                </c:pt>
                <c:pt idx="1339">
                  <c:v>200</c:v>
                </c:pt>
                <c:pt idx="1340">
                  <c:v>200</c:v>
                </c:pt>
                <c:pt idx="1341">
                  <c:v>200</c:v>
                </c:pt>
                <c:pt idx="1342">
                  <c:v>200</c:v>
                </c:pt>
                <c:pt idx="1343">
                  <c:v>200</c:v>
                </c:pt>
              </c:numCache>
            </c:numRef>
          </c:yVal>
          <c:smooth val="0"/>
          <c:extLst>
            <c:ext xmlns:c16="http://schemas.microsoft.com/office/drawing/2014/chart" uri="{C3380CC4-5D6E-409C-BE32-E72D297353CC}">
              <c16:uniqueId val="{00000001-C6DD-42B7-AABB-992809F7D90C}"/>
            </c:ext>
          </c:extLst>
        </c:ser>
        <c:ser>
          <c:idx val="2"/>
          <c:order val="2"/>
          <c:tx>
            <c:v>超過判定値 200 kW</c:v>
          </c:tx>
          <c:spPr>
            <a:ln w="9525">
              <a:solidFill>
                <a:srgbClr val="BA4F50"/>
              </a:solidFill>
            </a:ln>
          </c:spPr>
          <c:marker>
            <c:symbol val="none"/>
          </c:marker>
          <c:xVal>
            <c:numRef>
              <c:f>'Chart Data'!$E$2:$E$3</c:f>
              <c:numCache>
                <c:formatCode>General</c:formatCode>
                <c:ptCount val="2"/>
                <c:pt idx="0">
                  <c:v>0</c:v>
                </c:pt>
                <c:pt idx="1">
                  <c:v>168</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C6DD-42B7-AABB-992809F7D90C}"/>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68"/>
          <c:min val="0"/>
        </c:scaling>
        <c:delete val="0"/>
        <c:axPos val="b"/>
        <c:title>
          <c:tx>
            <c:rich>
              <a:bodyPr/>
              <a:lstStyle/>
              <a:p>
                <a:r>
                  <a:rPr lang="ja-JP" altLang="en-US">
                    <a:latin typeface="Noto Sans JP"/>
                    <a:ea typeface="Noto Sans JP"/>
                    <a:cs typeface="Noto Sans JP"/>
                  </a:rPr>
                  <a:t>週開始からの時間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4"/>
      </c:valAx>
      <c:spPr>
        <a:solidFill>
          <a:srgbClr val="FFFFFF"/>
        </a:solidFill>
      </c:spPr>
    </c:plotArea>
    <c:legend>
      <c:legendPos val="b"/>
      <c:overlay val="0"/>
      <c:txPr>
        <a:bodyPr anchorCtr="1"/>
        <a:lstStyle/>
        <a:p>
          <a:pPr>
            <a:defRPr sz="1275">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3/3 00:00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6</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受電電力</c:v>
          </c:tx>
          <c:spPr>
            <a:ln w="19050">
              <a:solidFill>
                <a:srgbClr val="316DB6"/>
              </a:solidFill>
            </a:ln>
          </c:spPr>
          <c:marker>
            <c:symbol val="none"/>
          </c:marker>
          <c:xVal>
            <c:numRef>
              <c:f>'Chart Data'!$A$2:$A$49</c:f>
              <c:numCache>
                <c:formatCode>General</c:formatCode>
                <c:ptCount val="48"/>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numCache>
            </c:numRef>
          </c:xVal>
          <c:yVal>
            <c:numRef>
              <c:f>'Chart Data'!$B$2:$B$49</c:f>
              <c:numCache>
                <c:formatCode>0</c:formatCode>
                <c:ptCount val="48"/>
                <c:pt idx="0">
                  <c:v>0</c:v>
                </c:pt>
                <c:pt idx="1">
                  <c:v>0</c:v>
                </c:pt>
                <c:pt idx="2">
                  <c:v>0</c:v>
                </c:pt>
                <c:pt idx="3">
                  <c:v>0</c:v>
                </c:pt>
                <c:pt idx="4">
                  <c:v>0</c:v>
                </c:pt>
                <c:pt idx="5">
                  <c:v>0</c:v>
                </c:pt>
                <c:pt idx="6">
                  <c:v>0</c:v>
                </c:pt>
                <c:pt idx="7">
                  <c:v>0</c:v>
                </c:pt>
                <c:pt idx="8">
                  <c:v>522.565877</c:v>
                </c:pt>
                <c:pt idx="9">
                  <c:v>522.565877</c:v>
                </c:pt>
                <c:pt idx="10">
                  <c:v>849.44159999999999</c:v>
                </c:pt>
                <c:pt idx="11">
                  <c:v>849.44159999999999</c:v>
                </c:pt>
                <c:pt idx="12">
                  <c:v>780.63036699999998</c:v>
                </c:pt>
                <c:pt idx="13">
                  <c:v>780.63036699999998</c:v>
                </c:pt>
                <c:pt idx="14">
                  <c:v>806.47088799999995</c:v>
                </c:pt>
                <c:pt idx="15">
                  <c:v>806.47088799999995</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numCache>
            </c:numRef>
          </c:yVal>
          <c:smooth val="0"/>
          <c:extLst>
            <c:ext xmlns:c16="http://schemas.microsoft.com/office/drawing/2014/chart" uri="{C3380CC4-5D6E-409C-BE32-E72D297353CC}">
              <c16:uniqueId val="{00000000-40CC-4266-BB57-DD63422850C5}"/>
            </c:ext>
          </c:extLst>
        </c:ser>
        <c:ser>
          <c:idx val="1"/>
          <c:order val="1"/>
          <c:tx>
            <c:v>超過判定値 200 kW</c:v>
          </c:tx>
          <c:spPr>
            <a:ln w="9525">
              <a:solidFill>
                <a:srgbClr val="BA4F50"/>
              </a:solidFill>
            </a:ln>
          </c:spPr>
          <c:marker>
            <c:symbol val="none"/>
          </c:marker>
          <c:xVal>
            <c:numRef>
              <c:f>'Chart Data'!$C$2:$C$3</c:f>
              <c:numCache>
                <c:formatCode>General</c:formatCode>
                <c:ptCount val="2"/>
                <c:pt idx="0">
                  <c:v>0</c:v>
                </c:pt>
                <c:pt idx="1">
                  <c:v>6</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40CC-4266-BB57-DD63422850C5}"/>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
          <c:min val="0"/>
        </c:scaling>
        <c:delete val="0"/>
        <c:axPos val="b"/>
        <c:title>
          <c:tx>
            <c:rich>
              <a:bodyPr/>
              <a:lstStyle/>
              <a:p>
                <a:r>
                  <a:rPr lang="en-US" altLang="ja-JP">
                    <a:latin typeface="Noto Sans JP"/>
                    <a:ea typeface="Noto Sans JP"/>
                    <a:cs typeface="Noto Sans JP"/>
                  </a:rPr>
                  <a:t>3/3 00:00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1"/>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11/13 21:00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10</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受電電力</c:v>
          </c:tx>
          <c:spPr>
            <a:ln w="19050">
              <a:solidFill>
                <a:srgbClr val="159A8C"/>
              </a:solidFill>
            </a:ln>
          </c:spPr>
          <c:marker>
            <c:symbol val="none"/>
          </c:marker>
          <c:xVal>
            <c:numRef>
              <c:f>'Chart Data'!$A$2:$A$81</c:f>
              <c:numCache>
                <c:formatCode>General</c:formatCode>
                <c:ptCount val="8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numCache>
            </c:numRef>
          </c:xVal>
          <c:yVal>
            <c:numRef>
              <c:f>'Chart Data'!$B$2:$B$81</c:f>
              <c:numCache>
                <c:formatCode>0</c:formatCode>
                <c:ptCount val="80"/>
                <c:pt idx="0">
                  <c:v>60</c:v>
                </c:pt>
                <c:pt idx="1">
                  <c:v>60</c:v>
                </c:pt>
                <c:pt idx="2">
                  <c:v>90</c:v>
                </c:pt>
                <c:pt idx="3">
                  <c:v>90</c:v>
                </c:pt>
                <c:pt idx="4">
                  <c:v>90</c:v>
                </c:pt>
                <c:pt idx="5">
                  <c:v>90</c:v>
                </c:pt>
                <c:pt idx="6">
                  <c:v>90</c:v>
                </c:pt>
                <c:pt idx="7">
                  <c:v>90</c:v>
                </c:pt>
                <c:pt idx="8">
                  <c:v>90</c:v>
                </c:pt>
                <c:pt idx="9">
                  <c:v>90</c:v>
                </c:pt>
                <c:pt idx="10">
                  <c:v>180</c:v>
                </c:pt>
                <c:pt idx="11">
                  <c:v>180</c:v>
                </c:pt>
                <c:pt idx="12">
                  <c:v>200</c:v>
                </c:pt>
                <c:pt idx="13">
                  <c:v>200</c:v>
                </c:pt>
                <c:pt idx="14">
                  <c:v>210</c:v>
                </c:pt>
                <c:pt idx="15">
                  <c:v>210</c:v>
                </c:pt>
                <c:pt idx="16">
                  <c:v>210.0001</c:v>
                </c:pt>
                <c:pt idx="17">
                  <c:v>210.0001</c:v>
                </c:pt>
                <c:pt idx="18">
                  <c:v>234.781274</c:v>
                </c:pt>
                <c:pt idx="19">
                  <c:v>234.781274</c:v>
                </c:pt>
                <c:pt idx="20">
                  <c:v>222.37823599999999</c:v>
                </c:pt>
                <c:pt idx="21">
                  <c:v>222.37823599999999</c:v>
                </c:pt>
                <c:pt idx="22">
                  <c:v>210</c:v>
                </c:pt>
                <c:pt idx="23">
                  <c:v>210</c:v>
                </c:pt>
                <c:pt idx="24">
                  <c:v>200</c:v>
                </c:pt>
                <c:pt idx="25">
                  <c:v>200</c:v>
                </c:pt>
                <c:pt idx="26">
                  <c:v>200</c:v>
                </c:pt>
                <c:pt idx="27">
                  <c:v>200</c:v>
                </c:pt>
                <c:pt idx="28">
                  <c:v>234.781274</c:v>
                </c:pt>
                <c:pt idx="29">
                  <c:v>234.781274</c:v>
                </c:pt>
                <c:pt idx="30">
                  <c:v>210.0001</c:v>
                </c:pt>
                <c:pt idx="31">
                  <c:v>210.0001</c:v>
                </c:pt>
                <c:pt idx="32">
                  <c:v>200</c:v>
                </c:pt>
                <c:pt idx="33">
                  <c:v>200</c:v>
                </c:pt>
                <c:pt idx="34">
                  <c:v>230.90538000000001</c:v>
                </c:pt>
                <c:pt idx="35">
                  <c:v>230.90538000000001</c:v>
                </c:pt>
                <c:pt idx="36">
                  <c:v>233.85704699999999</c:v>
                </c:pt>
                <c:pt idx="37">
                  <c:v>233.85704699999999</c:v>
                </c:pt>
                <c:pt idx="38">
                  <c:v>200</c:v>
                </c:pt>
                <c:pt idx="39">
                  <c:v>200</c:v>
                </c:pt>
                <c:pt idx="40">
                  <c:v>200</c:v>
                </c:pt>
                <c:pt idx="41">
                  <c:v>200</c:v>
                </c:pt>
                <c:pt idx="42">
                  <c:v>200</c:v>
                </c:pt>
                <c:pt idx="43">
                  <c:v>200</c:v>
                </c:pt>
                <c:pt idx="44">
                  <c:v>234.781274</c:v>
                </c:pt>
                <c:pt idx="45">
                  <c:v>234.781274</c:v>
                </c:pt>
                <c:pt idx="46">
                  <c:v>230.912826</c:v>
                </c:pt>
                <c:pt idx="47">
                  <c:v>230.912826</c:v>
                </c:pt>
                <c:pt idx="48">
                  <c:v>200</c:v>
                </c:pt>
                <c:pt idx="49">
                  <c:v>200</c:v>
                </c:pt>
                <c:pt idx="50">
                  <c:v>234.781274</c:v>
                </c:pt>
                <c:pt idx="51">
                  <c:v>234.781274</c:v>
                </c:pt>
                <c:pt idx="52">
                  <c:v>234.781274</c:v>
                </c:pt>
                <c:pt idx="53">
                  <c:v>234.781274</c:v>
                </c:pt>
                <c:pt idx="54">
                  <c:v>234.781274</c:v>
                </c:pt>
                <c:pt idx="55">
                  <c:v>234.781274</c:v>
                </c:pt>
                <c:pt idx="56">
                  <c:v>200</c:v>
                </c:pt>
                <c:pt idx="57">
                  <c:v>200</c:v>
                </c:pt>
                <c:pt idx="58">
                  <c:v>200</c:v>
                </c:pt>
                <c:pt idx="59">
                  <c:v>200</c:v>
                </c:pt>
                <c:pt idx="60">
                  <c:v>200</c:v>
                </c:pt>
                <c:pt idx="61">
                  <c:v>200</c:v>
                </c:pt>
                <c:pt idx="62">
                  <c:v>200</c:v>
                </c:pt>
                <c:pt idx="63">
                  <c:v>200</c:v>
                </c:pt>
                <c:pt idx="64">
                  <c:v>200</c:v>
                </c:pt>
                <c:pt idx="65">
                  <c:v>200</c:v>
                </c:pt>
                <c:pt idx="66">
                  <c:v>200</c:v>
                </c:pt>
                <c:pt idx="67">
                  <c:v>200</c:v>
                </c:pt>
                <c:pt idx="68">
                  <c:v>200</c:v>
                </c:pt>
                <c:pt idx="69">
                  <c:v>200</c:v>
                </c:pt>
                <c:pt idx="70">
                  <c:v>200</c:v>
                </c:pt>
                <c:pt idx="71">
                  <c:v>200</c:v>
                </c:pt>
                <c:pt idx="72">
                  <c:v>201.41615899999999</c:v>
                </c:pt>
                <c:pt idx="73">
                  <c:v>201.41615899999999</c:v>
                </c:pt>
                <c:pt idx="74">
                  <c:v>197.45500000000001</c:v>
                </c:pt>
                <c:pt idx="75">
                  <c:v>197.45500000000001</c:v>
                </c:pt>
                <c:pt idx="76">
                  <c:v>37.9</c:v>
                </c:pt>
                <c:pt idx="77">
                  <c:v>37.9</c:v>
                </c:pt>
                <c:pt idx="78">
                  <c:v>0</c:v>
                </c:pt>
                <c:pt idx="79">
                  <c:v>0</c:v>
                </c:pt>
              </c:numCache>
            </c:numRef>
          </c:yVal>
          <c:smooth val="0"/>
          <c:extLst>
            <c:ext xmlns:c16="http://schemas.microsoft.com/office/drawing/2014/chart" uri="{C3380CC4-5D6E-409C-BE32-E72D297353CC}">
              <c16:uniqueId val="{00000000-15AA-4CC2-9EE6-D303D8A671B4}"/>
            </c:ext>
          </c:extLst>
        </c:ser>
        <c:ser>
          <c:idx val="1"/>
          <c:order val="1"/>
          <c:tx>
            <c:v>超過判定値 200 kW</c:v>
          </c:tx>
          <c:spPr>
            <a:ln w="9525">
              <a:solidFill>
                <a:srgbClr val="BA4F50"/>
              </a:solidFill>
            </a:ln>
          </c:spPr>
          <c:marker>
            <c:symbol val="none"/>
          </c:marker>
          <c:xVal>
            <c:numRef>
              <c:f>'Chart Data'!$C$2:$C$3</c:f>
              <c:numCache>
                <c:formatCode>General</c:formatCode>
                <c:ptCount val="2"/>
                <c:pt idx="0">
                  <c:v>0</c:v>
                </c:pt>
                <c:pt idx="1">
                  <c:v>10</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15AA-4CC2-9EE6-D303D8A671B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0"/>
          <c:min val="0"/>
        </c:scaling>
        <c:delete val="0"/>
        <c:axPos val="b"/>
        <c:title>
          <c:tx>
            <c:rich>
              <a:bodyPr/>
              <a:lstStyle/>
              <a:p>
                <a:r>
                  <a:rPr lang="en-US" altLang="ja-JP">
                    <a:latin typeface="Noto Sans JP"/>
                    <a:ea typeface="Noto Sans JP"/>
                    <a:cs typeface="Noto Sans JP"/>
                  </a:rPr>
                  <a:t>11/13 21:00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費用差（</a:t>
            </a:r>
            <a:r>
              <a:rPr lang="en-US" altLang="zh-TW" sz="1725" b="1">
                <a:solidFill>
                  <a:srgbClr val="202B58"/>
                </a:solidFill>
                <a:latin typeface="Noto Sans JP"/>
                <a:ea typeface="Noto Sans JP"/>
                <a:cs typeface="Noto Sans JP"/>
              </a:rPr>
              <a:t>3</a:t>
            </a:r>
            <a:r>
              <a:rPr lang="zh-TW" altLang="en-US" sz="1725" b="1">
                <a:solidFill>
                  <a:srgbClr val="202B58"/>
                </a:solidFill>
                <a:latin typeface="Noto Sans JP"/>
                <a:ea typeface="Noto Sans JP"/>
                <a:cs typeface="Noto Sans JP"/>
              </a:rPr>
              <a:t>月−</a:t>
            </a:r>
            <a:r>
              <a:rPr lang="en-US" altLang="zh-TW" sz="1725" b="1">
                <a:solidFill>
                  <a:srgbClr val="202B58"/>
                </a:solidFill>
                <a:latin typeface="Noto Sans JP"/>
                <a:ea typeface="Noto Sans JP"/>
                <a:cs typeface="Noto Sans JP"/>
              </a:rPr>
              <a:t>11</a:t>
            </a:r>
            <a:r>
              <a:rPr lang="zh-TW" altLang="en-US" sz="1725" b="1">
                <a:solidFill>
                  <a:srgbClr val="202B58"/>
                </a:solidFill>
                <a:latin typeface="Noto Sans JP"/>
                <a:ea typeface="Noto Sans JP"/>
                <a:cs typeface="Noto Sans JP"/>
              </a:rPr>
              <a:t>月）</a:t>
            </a:r>
          </a:p>
        </c:rich>
      </c:tx>
      <c:overlay val="0"/>
    </c:title>
    <c:autoTitleDeleted val="0"/>
    <c:plotArea>
      <c:layout/>
      <c:barChart>
        <c:barDir val="col"/>
        <c:grouping val="clustered"/>
        <c:varyColors val="0"/>
        <c:ser>
          <c:idx val="0"/>
          <c:order val="0"/>
          <c:tx>
            <c:v>差額</c:v>
          </c:tx>
          <c:spPr>
            <a:solidFill>
              <a:srgbClr val="316DB6"/>
            </a:solidFill>
            <a:ln w="0">
              <a:solidFill>
                <a:srgbClr val="316DB6"/>
              </a:solidFill>
            </a:ln>
          </c:spPr>
          <c:invertIfNegative val="1"/>
          <c:dLbls>
            <c:numFmt formatCode="0.00" sourceLinked="0"/>
            <c:spPr>
              <a:noFill/>
              <a:ln>
                <a:noFill/>
              </a:ln>
              <a:effectLst/>
            </c:spPr>
            <c:txPr>
              <a:bodyPr anchorCtr="1"/>
              <a:lstStyle/>
              <a:p>
                <a:pPr>
                  <a:defRPr sz="1200">
                    <a:latin typeface="Noto Sans JP"/>
                    <a:ea typeface="Noto Sans JP"/>
                    <a:cs typeface="Noto Sans JP"/>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0円/kWh</c:v>
                </c:pt>
                <c:pt idx="1">
                  <c:v>100円/kWh</c:v>
                </c:pt>
                <c:pt idx="2">
                  <c:v>500円/kWh</c:v>
                </c:pt>
              </c:strCache>
            </c:strRef>
          </c:cat>
          <c:val>
            <c:numRef>
              <c:f>'Chart Data'!$B$2:$B$4</c:f>
              <c:numCache>
                <c:formatCode>0</c:formatCode>
                <c:ptCount val="3"/>
                <c:pt idx="0">
                  <c:v>1.5663499999999999</c:v>
                </c:pt>
                <c:pt idx="1">
                  <c:v>6.0510910000000004</c:v>
                </c:pt>
                <c:pt idx="2">
                  <c:v>23.990053</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E7B9-436B-AF5A-759BF69A4EC3}"/>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8"/>
          <c:min val="0"/>
        </c:scaling>
        <c:delete val="0"/>
        <c:axPos val="l"/>
        <c:majorGridlines>
          <c:spPr>
            <a:ln w="9525">
              <a:solidFill>
                <a:srgbClr val="DFE4EA"/>
              </a:solidFill>
            </a:ln>
          </c:spPr>
        </c:majorGridlines>
        <c:title>
          <c:tx>
            <c:rich>
              <a:bodyPr/>
              <a:lstStyle/>
              <a:p>
                <a:r>
                  <a:rPr lang="ja-JP" altLang="en-US">
                    <a:latin typeface="Noto Sans JP"/>
                    <a:ea typeface="Noto Sans JP"/>
                    <a:cs typeface="Noto Sans JP"/>
                  </a:rPr>
                  <a:t>万円／週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出典：C:\master-course\output\executed_soc_20260926\monthly_report\revisions\6729fc3bb239e8985c73f9ec537f6bd9d476794bc32391c1a68a996ff4d3a7fd/comparison.json</a:t>
            </a:r>
          </a:p>
          <a:p>
            <a:r>
              <a:t>SHA256 bd7df17312343b0d0e682630d46f65292c43051913fceb4d2bb5e3c1ca8395aa</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仮・正式用 ／ 渋21・22・23 ／ 2025年の各月から連続7日間</a:t>
            </a:r>
          </a:p>
          <a:p>
            <a:r>
              <a:t>各日の日付別ダイヤ・PVを使用し、車両と蓄電池の状態を引き継ぐ</a:t>
            </a:r>
          </a:p>
          <a:p>
            <a:r>
              <a:t>現版 f524eca2 の全12週の集計更新。以降の旧24枚は履歴として非表示で保管。</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88983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出典：C:\master-course\output\executed_soc_20260926\monthly_report\revisions\6729fc3bb239e8985c73f9ec537f6bd9d476794bc32391c1a68a996ff4d3a7fd/comparison.json</a:t>
            </a:r>
          </a:p>
          <a:p>
            <a:r>
              <a:t>SHA256 bd7df17312343b0d0e682630d46f65292c43051913fceb4d2bb5e3c1ca8395aa</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単位：万円。営業7日間と最終翌朝までの実行会計を集計</a:t>
            </a:r>
          </a:p>
          <a:p>
            <a:r>
              <a:t>車両日費と、買電・燃料・契約超過モデル費を分けて読む</a:t>
            </a:r>
          </a:p>
          <a:p>
            <a:r>
              <a:t>燃料は消費在庫の評価を含む。超過モデル費は実契約の請求額ではない。設備投資費は未計上。</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28152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出典：C:\master-course\output\executed_soc_20260926\monthly_report\revisions\6729fc3bb239e8985c73f9ec537f6bd9d476794bc32391c1a68a996ff4d3a7fd/comparison.json</a:t>
            </a:r>
          </a:p>
          <a:p>
            <a:r>
              <a:t>SHA256 bd7df17312343b0d0e682630d46f65292c43051913fceb4d2bb5e3c1ca8395aa</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単位：万円。営業7日間と最終翌朝までの実行会計を集計</a:t>
            </a:r>
          </a:p>
          <a:p>
            <a:r>
              <a:t>車両日費と、買電・燃料・契約超過モデル費を分けて読む</a:t>
            </a:r>
          </a:p>
          <a:p>
            <a:r>
              <a:t>燃料は消費在庫の評価を含む。超過モデル費は実契約の請求額ではない。設備投資費は未計上。</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6446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出典：C:\master-course\output\executed_soc_20260926\monthly_report\revisions\6729fc3bb239e8985c73f9ec537f6bd9d476794bc32391c1a68a996ff4d3a7fd/comparison.json</a:t>
            </a:r>
          </a:p>
          <a:p>
            <a:r>
              <a:t>SHA256 bd7df17312343b0d0e682630d46f65292c43051913fceb4d2bb5e3c1ca8395aa</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単位：MWh。収録済みの各月1週を比較（営業7日間＋最終翌朝）</a:t>
            </a:r>
          </a:p>
          <a:p>
            <a:r>
              <a:t>月平均・年間合計ではなく、それぞれの代表週の結果を示す</a:t>
            </a:r>
          </a:p>
          <a:p>
            <a:r>
              <a:t>電費・燃費は一定。PVだけの因果効果や、冷暖房負荷を含む季節差とは解釈しない。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84313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出典：C:\master-course\output\executed_soc_20260926\monthly_report\revisions\6729fc3bb239e8985c73f9ec537f6bd9d476794bc32391c1a68a996ff4d3a7fd/comparison.json</a:t>
            </a:r>
          </a:p>
          <a:p>
            <a:r>
              <a:t>SHA256 bd7df17312343b0d0e682630d46f65292c43051913fceb4d2bb5e3c1ca8395aa</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収録12週の最高額 3月と最低額 8月の差。最適費用の順位ではない</a:t>
            </a:r>
          </a:p>
          <a:p>
            <a:r>
              <a:t>週次費用差は 194.81万円。費目と入力条件を併せて解釈する</a:t>
            </a:r>
          </a:p>
          <a:p>
            <a:r>
              <a:t>差は観測した計画間の記述値。PVの効果・手法の削減効果・年間節約額を直接示さない。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9881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出典：C:\master-course\output\executed_soc_20260926\monthly_report\revisions\6729fc3bb239e8985c73f9ec537f6bd9d476794bc32391c1a68a996ff4d3a7fd/comparison.json</a:t>
            </a:r>
          </a:p>
          <a:p>
            <a:r>
              <a:t>SHA256 bd7df17312343b0d0e682630d46f65292c43051913fceb4d2bb5e3c1ca8395aa</a:t>
            </a:r>
          </a:p>
          <a:p>
            <a:r>
              <a:t>計算固定版 f524eca2552a4386bd033a15bbe046c14dc09281</a:t>
            </a:r>
          </a:p>
          <a:p>
            <a:r>
              <a:t>グラフはMWh小数6桁に表示用丸め。原値は同梱comparison.json。</a:t>
            </a:r>
          </a:p>
          <a:p>
            <a:r>
              <a:t>元の実行会計と物理検証を照合した週だけ収録。図表復旧と原FAILEDは別記録。</a:t>
            </a:r>
          </a:p>
          <a:p>
            <a:r>
              <a:t>週次運行・経済性・月別の違いを、原本に対応する数値で説明する</a:t>
            </a:r>
          </a:p>
          <a:p>
            <a:r>
              <a:t>図表の注意と、運行・会計の不整合を区別して結果を積み上げる</a:t>
            </a:r>
          </a:p>
          <a:p>
            <a:r>
              <a:t>DIAGNOSTIC / NOT USED FOR RESEARCH CONCLUSIONS。独立した正式研究採用承認は別途必要。</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36840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の目的は、全便の運行を守りながら、電気バスとエンジンバスの担当、電気バスの充電、太陽光と蓄電池の利用を計画することです。今回は各月1週間、合計12週間を計算しました。前半でモデルと比較条件を説明し、後半で先生からご指摘いただいた3月と11月の違いを、時刻別の受電電力と費用の内訳から説明します。実バスの運行実験ではなく、保存した入力に基づくシミュレーション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目的は、便を欠かさず運行しながら費用を抑える配車・充電計画です。今回確かめたのは、同じ曜日構成の12週を計算できるか、受電電力や費用が週によってどう違うかです。同じ週に対する基準運用との比較はまだありません。</a:t>
            </a:r>
          </a:p>
          <a:p>
            <a:r>
              <a:t>次のつながり：何を計画し、どの入力を使うのかを説明します。</a:t>
            </a:r>
          </a:p>
          <a:p>
            <a:r>
              <a:t>想定質問「削減効果が出たのか」：週同士の費用差は確認しましたが、提案手法による削減効果としてはまだ示していません。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電気バス、ICEはエンジンバスです。BESSは車載電池とは別の、営業所に置く蓄電池です。PVは太陽光発電で、電気バスへ直接使うか蓄電池へ貯めます。系統から受電した電力量が購入電力量です。余ったPVのうち使わずに抑えた量を抑制量と呼びます。</a:t>
            </a:r>
          </a:p>
          <a:p>
            <a:r>
              <a:t>次のつながり：これらの車両と設備のどの条件を全月で揃えたかを示します。</a:t>
            </a:r>
          </a:p>
          <a:p>
            <a:r>
              <a:t>想定質問「蓄電池のSOCはバスか」：この資料でBESS残量と書く箇所は定置用です。車載電池のSOCは別の制約で確認しています。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週はPV量や費用を見て選び直していません。各月の最初の、祝日を含まない月内完結の7日間という規則です。入力車両は60台で、BEV35台、ICE25台。すべてを必ず使用する条件ではなく、使用台数や担当便は求解結果です。</a:t>
            </a:r>
          </a:p>
          <a:p>
            <a:r>
              <a:t>次のつながり：同じ設備とルールの下で、どの順番で計画を求めるかを説明します。</a:t>
            </a:r>
          </a:p>
          <a:p>
            <a:r>
              <a:t>想定質問「公平ならPVだけの効果か」：配車や予測誤差も週ごとに変わるため、PV単独の因果比較にはなりません。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前日計画ではまず便を担当する車両を決め、その配車に対する充電計画を計算します。毎時の更新では配車を固定し、その時点の残量と予測から最大24時間先を計画し、先頭1時間分を実行として採用します。計算の予測入力は2024年だけから作った季節別の統計的な予測です。実行時には2025年の履歴推定PVを適用します。予測と将来の履歴値は分けています。</a:t>
            </a:r>
          </a:p>
          <a:p>
            <a:r>
              <a:t>次のつながり：この手順で12週がどこまで成立したかを示します。</a:t>
            </a:r>
          </a:p>
          <a:p>
            <a:r>
              <a:t>想定質問「未来の実績を見て最適化したのか」：計画と実行用のPVを分離し、2025年履歴を予測学習へ混ぜていません。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全12週で168時間の更新と672個の15分区間が完了しました。未担当便やSOC、充電器などの違反は0件です。週間費用と台帳も丸め前で照合しています。ただし、最適性の目標には未到達です。3月と11月の配車段階gapは84.6%と85.2%で、目標10%を満たしません。またBESSは週末に初期残量へ戻す条件ではなく、在庫利用を含みます。</a:t>
            </a:r>
          </a:p>
          <a:p>
            <a:r>
              <a:t>次のつながり：まず電力の量と大きさの意味を整理してから結果を読みます。</a:t>
            </a:r>
          </a:p>
          <a:p>
            <a:r>
              <a:t>想定質問「検証通過なら研究として完成か」：計算の成立、費用の整合、最適性、手法の優位性、研究承認は別の判定です。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受電電力は系統から購入する電力の各15分平均値P(t)です。1週間は168時間、672区間です。受電ピークはこの672個のP(t)の最大値で、単位はkWです。週間購入電力量はP(t)に0.25時間を掛けて672区間を合計した値、週間平均受電電力は週間購入電力量を168時間で割った値です。100 kWが15分続く場合の電力量は25 kWhです。この例は指標説明用です。瞬時最大電力はこの時間解像度からは分かりません。</a:t>
            </a:r>
          </a:p>
          <a:p>
            <a:r>
              <a:t>次のつながり：この区別を使って、まず12週の購入電力量、その後3月と11月の受電ピーク差を見ます。</a:t>
            </a:r>
          </a:p>
          <a:p>
            <a:r>
              <a:t>想定質問「平均受電が少ないのになぜ購入電力量が多いか」：週間平均は購入電力量を168時間で割った量なので同じ順位になります。前回右図が表していたのは最大値です。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左図はPV発電をバスへの直接供給、BESS充電、抑制に分けています。右図は外部から購入した量です。7月は発電が最多、購入電力量が最少ですが、発電の44.1%を抑制しています。3月と11月は購入電力量が多い週です。発電の総量だけでは、充電する時刻や抑制の発生を説明し切れません。</a:t>
            </a:r>
          </a:p>
          <a:p>
            <a:r>
              <a:t>次のつながり：購入電力量が近い3月と11月を取り上げ、受電ピークの違いを説明します。</a:t>
            </a:r>
          </a:p>
          <a:p>
            <a:r>
              <a:t>想定質問「BESSを増やせば解決するか」：抑制の原因を容量不足に特定していないため、設備容量の結論には同条件の追加比較が必要です。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説明：充電量は両週約20 MWhで近い値です。系統からの購入電力量は3月7.79 MWh、11月7.30 MWh、週間平均受電電力は46.4 kWと43.5 kWです。一方、受電ピークは849.4 kWと234.8 kWで大きく異なります。ここから、購入電力量の違いよりも時間的な集中に注目します。台日とは日ごとの使用台数を足した値です。</a:t>
            </a:r>
          </a:p>
          <a:p>
            <a:r>
              <a:t>次のつながり：11月の購入が一時的かどうか、日別に分解します。</a:t>
            </a:r>
          </a:p>
          <a:p>
            <a:r>
              <a:t>想定質問「11月はPVが少ないからか」：3月14.86 MWh、11月15.85 MWhで、11月の発電総量はむしろやや多い結果です。時刻別の関係が必要です。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説明：日別に購入電力量を積算すると、11月は7日すべてで購入しています。購入が1 kWを超える区間を足すと50.75時間で、3月の51.75時間と近い値です。最大の1日でも全体の20.5%です。したがって週間購入電力量の全体を一度の短い不足だけでは説明できません。</a:t>
            </a:r>
          </a:p>
          <a:p>
            <a:r>
              <a:t>次のつながり：同じ受電時間でも3月の受電ピークが高くなる様子を、15分時系列で確認します。</a:t>
            </a:r>
          </a:p>
          <a:p>
            <a:r>
              <a:t>想定質問「小さい受電を数えて時間が増えていないか」：1 kWを超える区間と定義し、微小な計算残差を除いています。閾値を変えた際の定義の差は補足資料に保持しています。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説明：線は各15分の平均値を階段状に表示し、時間平均で受電ピークをならしていません。3月は初日未明に大きな受電ピークが見えます。一方11月は200 kW前後に購入が分散しています。赤線は超えてはいけない物理制約ではなく、超過に追加の費用を与える基準です。</a:t>
            </a:r>
          </a:p>
          <a:p>
            <a:r>
              <a:t>次のつながり：赤線より上の部分を拡大すると、費用につながる超過の大きさが分かります。</a:t>
            </a:r>
          </a:p>
          <a:p>
            <a:r>
              <a:t>想定質問「実際の瞬時最大電力か」：各15分の平均値の最大であり、それより短い瞬時最大電力はこの時間解像度からは分かりません。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説明：3月の200 kW超過は計1.25時間で、超過電力量の99.86%が初日1時から2時に集中しています。11月の超過は計3.75時間分ですが、超過の高さは小さく、すべて11月13日夜から14日朝にあります。11月の超過が一晩に集中することと、購入全体が一時的であることを分けて説明します。</a:t>
            </a:r>
          </a:p>
          <a:p>
            <a:r>
              <a:t>次のつながり：なぜ系統購入になったのか、受電ピーク区間の電源を確認します。</a:t>
            </a:r>
          </a:p>
          <a:p>
            <a:r>
              <a:t>想定質問「11月の超過の方が長いのに安いのか」：超過電力と時間の積、すなわち超過電力量が小さいためです。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説明：受電ピーク区間ではPV供給もBESS放電も0です。BESS残量は3月3000 kWh、11月2096.7 kWhで下限を上回っていました。よって単に蓄電池が空だったとは説明できません。ただし、後の運行を守りながら別の放電計画を実行できるかはまだ比較していません。計算上は系統購入で需要を満たしており、未担当便やSOC不足は0件です。</a:t>
            </a:r>
          </a:p>
          <a:p>
            <a:r>
              <a:t>次のつながり：この電力の違いが週間費用へどれだけ寄与したかを分解します。</a:t>
            </a:r>
          </a:p>
          <a:p>
            <a:r>
              <a:t>想定質問「最適化が間違っているのか」：実行可能性の検査は通過していますが、最適性や改善余地は未確定です。この場で原因を断定しません。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費用は実行済み週間会計から取得しました。車両使用費は1台を1日使うごとに2万円というモデル値で、両週412万円です。週間費用の差23.99万円のうち22.42万円が超過ペナルティです。通常の電力費の差は1.47万円で、残りは燃料とCO2です。</a:t>
            </a:r>
          </a:p>
          <a:p>
            <a:r>
              <a:t>次のつながり：この差を支配する超過ペナルティの式と単価を明示します。</a:t>
            </a:r>
          </a:p>
          <a:p>
            <a:r>
              <a:t>想定質問「車両費の根拠は」：今回の共通入力係数です。実運用の原価としての妥当性を、この実験で検証したわけではありません。燃料費も現金購入だけでなく初期燃料在庫の消費評価を含みます。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説明：200 kWを超えた電力だけに時間を掛け、超過電力量を求めます。たとえば250 kWを15分購入すると、超過は50 kW×0.25時間で12.5 kWh、追加費用は6250円です。このほか購入全量には30円/kWhの通常費用が掛かります。実験では超過を許すルールであり、超過そのものは物理違反ではありません。一般の月間デマンド料金としては扱いません。</a:t>
            </a:r>
          </a:p>
          <a:p>
            <a:r>
              <a:t>次のつながり：単価によって費用差の見え方が変わるため、その依存性も示します。</a:t>
            </a:r>
          </a:p>
          <a:p>
            <a:r>
              <a:t>想定質問「なぜ500円なのか」：採用された共通モデル係数であることは確認していますが、実契約に基づく妥当性は未確認です。仮定として明示し、係数依存性を併記します。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23.99万円は11月の週間費用に対して5.42%、1便当たり140.79円です。これが実務上大きいかは、実際の原価と比較運用を確認して判断する必要があります。また同じ配車・電力を固定して超過ペナルティ単価だけを0円、100円、500円とすると差は1.57、6.05、23.99万円です。差額が費用係数へ強く依存しています。</a:t>
            </a:r>
          </a:p>
          <a:p>
            <a:r>
              <a:t>次のつながり：3月と11月だけでなく、季節ごとの傾向として何が読めるかを整理します。</a:t>
            </a:r>
          </a:p>
          <a:p>
            <a:r>
              <a:t>想定質問「500円をやめれば節約できるか」：この図は同じ運用を違う単価で評価しただけです。単価を変えて再最適化した結果でも、実際に契約を変更できるという意味でもありません。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説明：選択3週の平均購入電力量は夏が2425 kWh、秋が5072 kWhです。夏のPV抑制率は45.3%で、利用できる時間との対応が次の検討点になります。春の平均費用が高い点には3月の大きな超過ペナルティが影響します。ただし選択した3月の週の日射量は月平均より35.2%少なく、典型的な3月とは限りません。冷暖房による季節需要の変化も未入力です。</a:t>
            </a:r>
          </a:p>
          <a:p>
            <a:r>
              <a:t>次のつながり：以上を先生のご質問への回答と次の検証へまとめます。</a:t>
            </a:r>
          </a:p>
          <a:p>
            <a:r>
              <a:t>想定質問「夏が有利と一般化できるか」：この設備・固定電費・選択週の範囲ではその傾向ですが、年間や別の週へは未検証です。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説明：先生への回答は三点です。11月の購入全体は7日間に分散していますが、200 kW超過は一晩に集中しました。週間費用差23.99万円の93.5%はモデルの超過ペナルティで説明できます。その一方で、BESSを含む代替運用で超過を避けられるかや手法の優位性は未確定です。次は同じ入力と残量条件を固定した基準運用との比較を行う設計が必要です。</a:t>
            </a:r>
          </a:p>
          <a:p>
            <a:r>
              <a:t>想定質問「今回の前進は何か」：全12週の運行・充電・会計を一貫して検算でき、費用差の主要因と未解明点を数値で切り分けられたことです。</a:t>
            </a:r>
          </a:p>
          <a:p>
            <a:r>
              <a:t>締め：費用係数の位置付けと、基準運用をどう定めるかについてご意見をいただきたいと考えています。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説明：BEVは314 kWh、SOC20〜90%、最大充電90 kWです。10基の充電器を共有します。定置用蓄電池は6000 kWh、初期3000 kWh、下限1200 kWh、上限4800 kWhです。3月・11月の終端は1200 kWhで、初期から1800 kWh減っています。毎週リセットするため、この残量を年間52回無料に利用できるわけではありません。V2Gは使っていません。</a:t>
            </a:r>
          </a:p>
          <a:p>
            <a:r>
              <a:t>想定質問「同じ初期残量なら完全に公平か」：出発条件は揃っていますが、終端在庫や得られた配車・探索の質は別に確認が必要です。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時刻表は2026年原本を曜日に対応させ、評価日は2025年、予測学習は2024年です。予測は季節別の統計的な代理モデルで、Solcastの予測製品の技能評価ではありません。選択週の日平均日射量は3月が月全体より35.2%少なく、11月が2.2%少ない結果でした。日射量は地表面の資源量であり、設備からの発電量とは単位も異なります。</a:t>
            </a:r>
          </a:p>
          <a:p>
            <a:r>
              <a:t>想定質問「都合のよい週を選んだか」：週選択の暦規則は固定し、日射の代表性は選択後に調べたものです。</a:t>
            </a:r>
          </a:p>
          <a:p>
            <a:r>
              <a:t>追加出典：C:/master-course/docs/notes/SHIBU21_23_MONTHLY_IRRADIANCE_CONTEXT_20260914.json。これは旧SHAで作成した入力の記述資料であり、旧版の最適化費用を混ぜていません。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今回の受電ピーク原因を調べる段階では同じ配車を固定し、PV、車両、料金、初期残量、終端条件と設備を揃えて充電計画を比較します。基準の充電規則は事前に定め、両案が運行・物理条件を満たした場合にだけ費用を比較します。配車も含む手法全体の比較は別段階です。独立した複数週や年、乱数条件を設計し、平均だけでなく差のばらつき、計算時間、実行可能性、最適性指標を確認します。</a:t>
            </a:r>
          </a:p>
          <a:p>
            <a:r>
              <a:t>想定質問「今の3月と11月の差で代用できないか」：入力も配車も異なるため、手法だけの差として解釈できません。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残る研究ゲートは、配車段階gapの事前目標未達、二段階解法の統合最適性、車両入力の正式な来歴契約、過去資料2件の証拠整合です。独立した研究承認も未取得です。営業便距離は地理的な代理値で実道路距離ではありません。現在の数値を隠すのではなく、こうした条件下で得た実行可能な計画の診断として報告します。</a:t>
            </a:r>
          </a:p>
          <a:p>
            <a:r>
              <a:t>出典：主結果と季節集計はSHIBU21_23_MONTHLY_PHASE_SEARCH_RESULTS_20260915.json。電力詳細はoutcome/2026-09-18_urabe_followup/analysis.json。日射の代表性はSHIBU21_23_MONTHLY_IRRADIANCE_CONTEXT_20260914.json。期間・設備設定は凍結worktreeのconfig/shibu21_23_monthly_2025_20260914.jsonと各Prepared原本。</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14805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03A7603-42A9-4BA5-B100-061CBC3FD2AE}"/>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9月進捗：月別代表週 12／12週を検算</a:t>
            </a:r>
          </a:p>
        </p:txBody>
      </p:sp>
      <p:sp>
        <p:nvSpPr>
          <p:cNvPr id="2" name="正方形/長方形 1">
            <a:extLst>
              <a:ext uri="{FF2B5EF4-FFF2-40B4-BE49-F238E27FC236}">
                <a16:creationId xmlns:a16="http://schemas.microsoft.com/office/drawing/2014/main" id="{D2066F22-4661-413E-AB35-D03089812A7A}"/>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渋21・22・23 ／ 2025年の各月から連続7日間</a:t>
            </a:r>
          </a:p>
        </p:txBody>
      </p:sp>
      <p:sp>
        <p:nvSpPr>
          <p:cNvPr id="3" name="正方形/長方形 2">
            <a:extLst>
              <a:ext uri="{FF2B5EF4-FFF2-40B4-BE49-F238E27FC236}">
                <a16:creationId xmlns:a16="http://schemas.microsoft.com/office/drawing/2014/main" id="{9295E86F-F511-47D9-AC90-9D2733333630}"/>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各日の日付別ダイヤ・PVを使用し、車両と蓄電池の状態を引き継ぐ</a:t>
            </a:r>
          </a:p>
        </p:txBody>
      </p:sp>
      <p:sp>
        <p:nvSpPr>
          <p:cNvPr id="4" name="正方形/長方形 3">
            <a:extLst>
              <a:ext uri="{FF2B5EF4-FFF2-40B4-BE49-F238E27FC236}">
                <a16:creationId xmlns:a16="http://schemas.microsoft.com/office/drawing/2014/main" id="{F92FFA54-194F-4AA1-99E5-570203FB77B1}"/>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現版 f524eca2 の全12週の集計更新。以降の旧24枚は履歴として非表示で保管。</a:t>
            </a:r>
          </a:p>
        </p:txBody>
      </p:sp>
      <p:graphicFrame>
        <p:nvGraphicFramePr>
          <p:cNvPr id="10" name="表 9"/>
          <p:cNvGraphicFramePr/>
          <p:nvPr/>
        </p:nvGraphicFramePr>
        <p:xfrm>
          <a:off x="571500" y="1752600"/>
          <a:ext cx="11049000" cy="3733800"/>
        </p:xfrm>
        <a:graphic>
          <a:graphicData uri="http://schemas.openxmlformats.org/drawingml/2006/table">
            <a:tbl>
              <a:tblPr/>
              <a:tblGrid>
                <a:gridCol w="2762250">
                  <a:extLst>
                    <a:ext uri="{9D8B030D-6E8A-4147-A177-3AD203B41FA5}">
                      <a16:colId xmlns:a16="http://schemas.microsoft.com/office/drawing/2014/main" val="20000"/>
                    </a:ext>
                  </a:extLst>
                </a:gridCol>
                <a:gridCol w="8286750">
                  <a:extLst>
                    <a:ext uri="{9D8B030D-6E8A-4147-A177-3AD203B41FA5}">
                      <a16:colId xmlns:a16="http://schemas.microsoft.com/office/drawing/2014/main" val="20001"/>
                    </a:ext>
                  </a:extLst>
                </a:gridCol>
              </a:tblGrid>
              <a:tr h="622300">
                <a:tc>
                  <a:txBody>
                    <a:bodyPr/>
                    <a:lstStyle/>
                    <a:p>
                      <a:r>
                        <a:rPr sz="1725" b="1">
                          <a:solidFill>
                            <a:srgbClr val="FFFFFF"/>
                          </a:solidFill>
                          <a:latin typeface="Noto Sans JP"/>
                          <a:ea typeface="Noto Sans JP"/>
                          <a:cs typeface="Noto Sans JP"/>
                        </a:rPr>
                        <a:t>確認項目</a:t>
                      </a:r>
                    </a:p>
                  </a:txBody>
                  <a:tcPr>
                    <a:solidFill>
                      <a:srgbClr val="202B58"/>
                    </a:solidFill>
                  </a:tcPr>
                </a:tc>
                <a:tc>
                  <a:txBody>
                    <a:bodyPr/>
                    <a:lstStyle/>
                    <a:p>
                      <a:r>
                        <a:rPr sz="1725" b="1">
                          <a:solidFill>
                            <a:srgbClr val="FFFFFF"/>
                          </a:solidFill>
                          <a:latin typeface="Noto Sans JP"/>
                          <a:ea typeface="Noto Sans JP"/>
                          <a:cs typeface="Noto Sans JP"/>
                        </a:rPr>
                        <a:t>現在の結果</a:t>
                      </a:r>
                    </a:p>
                  </a:txBody>
                  <a:tcPr>
                    <a:solidFill>
                      <a:srgbClr val="202B58"/>
                    </a:solidFill>
                  </a:tcPr>
                </a:tc>
                <a:extLst>
                  <a:ext uri="{0D108BD9-81ED-4DB2-BD59-A6C34878D82A}">
                    <a16:rowId xmlns:a16="http://schemas.microsoft.com/office/drawing/2014/main" val="10000"/>
                  </a:ext>
                </a:extLst>
              </a:tr>
              <a:tr h="622300">
                <a:tc>
                  <a:txBody>
                    <a:bodyPr/>
                    <a:lstStyle/>
                    <a:p>
                      <a:r>
                        <a:rPr sz="1725" b="0">
                          <a:solidFill>
                            <a:srgbClr val="202B58"/>
                          </a:solidFill>
                          <a:latin typeface="Noto Sans JP"/>
                          <a:ea typeface="Noto Sans JP"/>
                          <a:cs typeface="Noto Sans JP"/>
                        </a:rPr>
                        <a:t>収録した代表週</a:t>
                      </a:r>
                    </a:p>
                  </a:txBody>
                  <a:tcPr>
                    <a:solidFill>
                      <a:srgbClr val="F1F5F8"/>
                    </a:solidFill>
                  </a:tcPr>
                </a:tc>
                <a:tc>
                  <a:txBody>
                    <a:bodyPr/>
                    <a:lstStyle/>
                    <a:p>
                      <a:r>
                        <a:rPr sz="1725" b="0">
                          <a:solidFill>
                            <a:srgbClr val="202B58"/>
                          </a:solidFill>
                          <a:latin typeface="Noto Sans JP"/>
                          <a:ea typeface="Noto Sans JP"/>
                          <a:cs typeface="Noto Sans JP"/>
                        </a:rPr>
                        <a:t>1月、2月、3月、4月、5月、6月、7月、8月、9月、10月、11月、12月</a:t>
                      </a:r>
                    </a:p>
                  </a:txBody>
                  <a:tcPr>
                    <a:solidFill>
                      <a:srgbClr val="F1F5F8"/>
                    </a:solidFill>
                  </a:tcPr>
                </a:tc>
                <a:extLst>
                  <a:ext uri="{0D108BD9-81ED-4DB2-BD59-A6C34878D82A}">
                    <a16:rowId xmlns:a16="http://schemas.microsoft.com/office/drawing/2014/main" val="10001"/>
                  </a:ext>
                </a:extLst>
              </a:tr>
              <a:tr h="622300">
                <a:tc>
                  <a:txBody>
                    <a:bodyPr/>
                    <a:lstStyle/>
                    <a:p>
                      <a:r>
                        <a:rPr sz="1725" b="0">
                          <a:solidFill>
                            <a:srgbClr val="202B58"/>
                          </a:solidFill>
                          <a:latin typeface="Noto Sans JP"/>
                          <a:ea typeface="Noto Sans JP"/>
                          <a:cs typeface="Noto Sans JP"/>
                        </a:rPr>
                        <a:t>残る対象</a:t>
                      </a:r>
                    </a:p>
                  </a:txBody>
                  <a:tcPr>
                    <a:solidFill>
                      <a:srgbClr val="FFFFFF"/>
                    </a:solidFill>
                  </a:tcPr>
                </a:tc>
                <a:tc>
                  <a:txBody>
                    <a:bodyPr/>
                    <a:lstStyle/>
                    <a:p>
                      <a:r>
                        <a:rPr sz="1725" b="0">
                          <a:solidFill>
                            <a:srgbClr val="202B58"/>
                          </a:solidFill>
                          <a:latin typeface="Noto Sans JP"/>
                          <a:ea typeface="Noto Sans JP"/>
                          <a:cs typeface="Noto Sans JP"/>
                        </a:rPr>
                        <a:t>全12週を収録</a:t>
                      </a:r>
                    </a:p>
                  </a:txBody>
                  <a:tcPr>
                    <a:solidFill>
                      <a:srgbClr val="FFFFFF"/>
                    </a:solidFill>
                  </a:tcPr>
                </a:tc>
                <a:extLst>
                  <a:ext uri="{0D108BD9-81ED-4DB2-BD59-A6C34878D82A}">
                    <a16:rowId xmlns:a16="http://schemas.microsoft.com/office/drawing/2014/main" val="10002"/>
                  </a:ext>
                </a:extLst>
              </a:tr>
              <a:tr h="622300">
                <a:tc>
                  <a:txBody>
                    <a:bodyPr/>
                    <a:lstStyle/>
                    <a:p>
                      <a:r>
                        <a:rPr sz="1725" b="0">
                          <a:solidFill>
                            <a:srgbClr val="202B58"/>
                          </a:solidFill>
                          <a:latin typeface="Noto Sans JP"/>
                          <a:ea typeface="Noto Sans JP"/>
                          <a:cs typeface="Noto Sans JP"/>
                        </a:rPr>
                        <a:t>運行と評価期間</a:t>
                      </a:r>
                    </a:p>
                  </a:txBody>
                  <a:tcPr>
                    <a:solidFill>
                      <a:srgbClr val="F1F5F8"/>
                    </a:solidFill>
                  </a:tcPr>
                </a:tc>
                <a:tc>
                  <a:txBody>
                    <a:bodyPr/>
                    <a:lstStyle/>
                    <a:p>
                      <a:r>
                        <a:rPr sz="1725" b="0">
                          <a:solidFill>
                            <a:srgbClr val="202B58"/>
                          </a:solidFill>
                          <a:latin typeface="Noto Sans JP"/>
                          <a:ea typeface="Noto Sans JP"/>
                          <a:cs typeface="Noto Sans JP"/>
                        </a:rPr>
                        <a:t>1週1,704便。営業7日間＋最終翌朝の充電・受電・費用</a:t>
                      </a:r>
                    </a:p>
                  </a:txBody>
                  <a:tcPr>
                    <a:solidFill>
                      <a:srgbClr val="F1F5F8"/>
                    </a:solidFill>
                  </a:tcPr>
                </a:tc>
                <a:extLst>
                  <a:ext uri="{0D108BD9-81ED-4DB2-BD59-A6C34878D82A}">
                    <a16:rowId xmlns:a16="http://schemas.microsoft.com/office/drawing/2014/main" val="10003"/>
                  </a:ext>
                </a:extLst>
              </a:tr>
              <a:tr h="622300">
                <a:tc>
                  <a:txBody>
                    <a:bodyPr/>
                    <a:lstStyle/>
                    <a:p>
                      <a:r>
                        <a:rPr sz="1725" b="0">
                          <a:solidFill>
                            <a:srgbClr val="202B58"/>
                          </a:solidFill>
                          <a:latin typeface="Noto Sans JP"/>
                          <a:ea typeface="Noto Sans JP"/>
                          <a:cs typeface="Noto Sans JP"/>
                        </a:rPr>
                        <a:t>図表の注意</a:t>
                      </a:r>
                    </a:p>
                  </a:txBody>
                  <a:tcPr>
                    <a:solidFill>
                      <a:srgbClr val="FFFFFF"/>
                    </a:solidFill>
                  </a:tcPr>
                </a:tc>
                <a:tc>
                  <a:txBody>
                    <a:bodyPr/>
                    <a:lstStyle/>
                    <a:p>
                      <a:r>
                        <a:rPr sz="1725" b="0">
                          <a:solidFill>
                            <a:srgbClr val="202B58"/>
                          </a:solidFill>
                          <a:latin typeface="Noto Sans JP"/>
                          <a:ea typeface="Noto Sans JP"/>
                          <a:cs typeface="Noto Sans JP"/>
                        </a:rPr>
                        <a:t>1月・11月・12月を原本から図表復旧。原FAILEDを保持、再求解なし</a:t>
                      </a:r>
                    </a:p>
                  </a:txBody>
                  <a:tcPr>
                    <a:solidFill>
                      <a:srgbClr val="FFFFFF"/>
                    </a:solidFill>
                  </a:tcPr>
                </a:tc>
                <a:extLst>
                  <a:ext uri="{0D108BD9-81ED-4DB2-BD59-A6C34878D82A}">
                    <a16:rowId xmlns:a16="http://schemas.microsoft.com/office/drawing/2014/main" val="10004"/>
                  </a:ext>
                </a:extLst>
              </a:tr>
              <a:tr h="622300">
                <a:tc>
                  <a:txBody>
                    <a:bodyPr/>
                    <a:lstStyle/>
                    <a:p>
                      <a:r>
                        <a:rPr sz="1725" b="0">
                          <a:solidFill>
                            <a:srgbClr val="202B58"/>
                          </a:solidFill>
                          <a:latin typeface="Noto Sans JP"/>
                          <a:ea typeface="Noto Sans JP"/>
                          <a:cs typeface="Noto Sans JP"/>
                        </a:rPr>
                        <a:t>結果の位置付け</a:t>
                      </a:r>
                    </a:p>
                  </a:txBody>
                  <a:tcPr>
                    <a:solidFill>
                      <a:srgbClr val="F1F5F8"/>
                    </a:solidFill>
                  </a:tcPr>
                </a:tc>
                <a:tc>
                  <a:txBody>
                    <a:bodyPr/>
                    <a:lstStyle/>
                    <a:p>
                      <a:r>
                        <a:rPr sz="1725" b="0">
                          <a:solidFill>
                            <a:srgbClr val="202B58"/>
                          </a:solidFill>
                          <a:latin typeface="Noto Sans JP"/>
                          <a:ea typeface="Noto Sans JP"/>
                          <a:cs typeface="Noto Sans JP"/>
                        </a:rPr>
                        <a:t>検算済みの条件付き週次評価。統合最適性・正式研究採用は未証明</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83229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E57FE346-EEE0-45C6-8F14-48E0A80796AB}"/>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月別の週次費用（1〜6月）</a:t>
            </a:r>
          </a:p>
        </p:txBody>
      </p:sp>
      <p:sp>
        <p:nvSpPr>
          <p:cNvPr id="2" name="正方形/長方形 1">
            <a:extLst>
              <a:ext uri="{FF2B5EF4-FFF2-40B4-BE49-F238E27FC236}">
                <a16:creationId xmlns:a16="http://schemas.microsoft.com/office/drawing/2014/main" id="{D9A75B09-A7FD-4C57-AA15-1F952825460B}"/>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単位：万円。営業7日間と最終翌朝までの実行会計を集計</a:t>
            </a:r>
          </a:p>
        </p:txBody>
      </p:sp>
      <p:sp>
        <p:nvSpPr>
          <p:cNvPr id="3" name="正方形/長方形 2">
            <a:extLst>
              <a:ext uri="{FF2B5EF4-FFF2-40B4-BE49-F238E27FC236}">
                <a16:creationId xmlns:a16="http://schemas.microsoft.com/office/drawing/2014/main" id="{D147588D-6F69-477A-8829-2C1F7D3B6DE5}"/>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車両日費と、買電・燃料・契約超過モデル費を分けて読む</a:t>
            </a:r>
          </a:p>
        </p:txBody>
      </p:sp>
      <p:sp>
        <p:nvSpPr>
          <p:cNvPr id="4" name="正方形/長方形 3">
            <a:extLst>
              <a:ext uri="{FF2B5EF4-FFF2-40B4-BE49-F238E27FC236}">
                <a16:creationId xmlns:a16="http://schemas.microsoft.com/office/drawing/2014/main" id="{1FE77517-CEF3-4AC6-9304-A847AC4F777B}"/>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燃料は消費在庫の評価を含む。超過モデル費は実契約の請求額ではない。設備投資費は未計上。</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17526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gridCol w="1924050">
                  <a:extLst>
                    <a:ext uri="{9D8B030D-6E8A-4147-A177-3AD203B41FA5}">
                      <a16:colId xmlns:a16="http://schemas.microsoft.com/office/drawing/2014/main" val="20005"/>
                    </a:ext>
                  </a:extLst>
                </a:gridCol>
                <a:gridCol w="1504950">
                  <a:extLst>
                    <a:ext uri="{9D8B030D-6E8A-4147-A177-3AD203B41FA5}">
                      <a16:colId xmlns:a16="http://schemas.microsoft.com/office/drawing/2014/main" val="20006"/>
                    </a:ext>
                  </a:extLst>
                </a:gridCol>
              </a:tblGrid>
              <a:tr h="519793">
                <a:tc>
                  <a:txBody>
                    <a:bodyPr/>
                    <a:lstStyle/>
                    <a:p>
                      <a:r>
                        <a:rPr sz="1725" b="1">
                          <a:solidFill>
                            <a:srgbClr val="FFFFFF"/>
                          </a:solidFill>
                          <a:latin typeface="Noto Sans JP"/>
                          <a:ea typeface="Noto Sans JP"/>
                          <a:cs typeface="Noto Sans JP"/>
                        </a:rPr>
                        <a:t>月／週開始</a:t>
                      </a:r>
                    </a:p>
                  </a:txBody>
                  <a:tcPr>
                    <a:solidFill>
                      <a:srgbClr val="202B58"/>
                    </a:solidFill>
                  </a:tcPr>
                </a:tc>
                <a:tc>
                  <a:txBody>
                    <a:bodyPr/>
                    <a:lstStyle/>
                    <a:p>
                      <a:r>
                        <a:rPr sz="1725" b="1">
                          <a:solidFill>
                            <a:srgbClr val="FFFFFF"/>
                          </a:solidFill>
                          <a:latin typeface="Noto Sans JP"/>
                          <a:ea typeface="Noto Sans JP"/>
                          <a:cs typeface="Noto Sans JP"/>
                        </a:rPr>
                        <a:t>総費用</a:t>
                      </a:r>
                    </a:p>
                  </a:txBody>
                  <a:tcPr>
                    <a:solidFill>
                      <a:srgbClr val="202B58"/>
                    </a:solidFill>
                  </a:tcPr>
                </a:tc>
                <a:tc>
                  <a:txBody>
                    <a:bodyPr/>
                    <a:lstStyle/>
                    <a:p>
                      <a:r>
                        <a:rPr sz="1725" b="1">
                          <a:solidFill>
                            <a:srgbClr val="FFFFFF"/>
                          </a:solidFill>
                          <a:latin typeface="Noto Sans JP"/>
                          <a:ea typeface="Noto Sans JP"/>
                          <a:cs typeface="Noto Sans JP"/>
                        </a:rPr>
                        <a:t>車両日費</a:t>
                      </a:r>
                    </a:p>
                  </a:txBody>
                  <a:tcPr>
                    <a:solidFill>
                      <a:srgbClr val="202B58"/>
                    </a:solidFill>
                  </a:tcPr>
                </a:tc>
                <a:tc>
                  <a:txBody>
                    <a:bodyPr/>
                    <a:lstStyle/>
                    <a:p>
                      <a:r>
                        <a:rPr sz="1725" b="1">
                          <a:solidFill>
                            <a:srgbClr val="FFFFFF"/>
                          </a:solidFill>
                          <a:latin typeface="Noto Sans JP"/>
                          <a:ea typeface="Noto Sans JP"/>
                          <a:cs typeface="Noto Sans JP"/>
                        </a:rPr>
                        <a:t>買電費</a:t>
                      </a:r>
                    </a:p>
                  </a:txBody>
                  <a:tcPr>
                    <a:solidFill>
                      <a:srgbClr val="202B58"/>
                    </a:solidFill>
                  </a:tcPr>
                </a:tc>
                <a:tc>
                  <a:txBody>
                    <a:bodyPr/>
                    <a:lstStyle/>
                    <a:p>
                      <a:r>
                        <a:rPr sz="1725" b="1">
                          <a:solidFill>
                            <a:srgbClr val="FFFFFF"/>
                          </a:solidFill>
                          <a:latin typeface="Noto Sans JP"/>
                          <a:ea typeface="Noto Sans JP"/>
                          <a:cs typeface="Noto Sans JP"/>
                        </a:rPr>
                        <a:t>燃料費</a:t>
                      </a:r>
                    </a:p>
                  </a:txBody>
                  <a:tcPr>
                    <a:solidFill>
                      <a:srgbClr val="202B58"/>
                    </a:solidFill>
                  </a:tcPr>
                </a:tc>
                <a:tc>
                  <a:txBody>
                    <a:bodyPr/>
                    <a:lstStyle/>
                    <a:p>
                      <a:r>
                        <a:rPr sz="1725" b="1">
                          <a:solidFill>
                            <a:srgbClr val="FFFFFF"/>
                          </a:solidFill>
                          <a:latin typeface="Noto Sans JP"/>
                          <a:ea typeface="Noto Sans JP"/>
                          <a:cs typeface="Noto Sans JP"/>
                        </a:rPr>
                        <a:t>超過モデル費</a:t>
                      </a:r>
                    </a:p>
                  </a:txBody>
                  <a:tcPr>
                    <a:solidFill>
                      <a:srgbClr val="202B58"/>
                    </a:solidFill>
                  </a:tcPr>
                </a:tc>
                <a:tc>
                  <a:txBody>
                    <a:bodyPr/>
                    <a:lstStyle/>
                    <a:p>
                      <a:r>
                        <a:rPr sz="1725" b="1">
                          <a:solidFill>
                            <a:srgbClr val="FFFFFF"/>
                          </a:solidFill>
                          <a:latin typeface="Noto Sans JP"/>
                          <a:ea typeface="Noto Sans JP"/>
                          <a:cs typeface="Noto Sans JP"/>
                        </a:rPr>
                        <a:t>CO₂費</a:t>
                      </a:r>
                    </a:p>
                  </a:txBody>
                  <a:tcPr>
                    <a:solidFill>
                      <a:srgbClr val="202B58"/>
                    </a:solidFill>
                  </a:tcPr>
                </a:tc>
                <a:extLst>
                  <a:ext uri="{0D108BD9-81ED-4DB2-BD59-A6C34878D82A}">
                    <a16:rowId xmlns:a16="http://schemas.microsoft.com/office/drawing/2014/main" val="10000"/>
                  </a:ext>
                </a:extLst>
              </a:tr>
              <a:tr h="519793">
                <a:tc>
                  <a:txBody>
                    <a:bodyPr/>
                    <a:lstStyle/>
                    <a:p>
                      <a:r>
                        <a:rPr sz="1725" b="0">
                          <a:solidFill>
                            <a:srgbClr val="202B58"/>
                          </a:solidFill>
                          <a:latin typeface="Noto Sans JP"/>
                          <a:ea typeface="Noto Sans JP"/>
                          <a:cs typeface="Noto Sans JP"/>
                        </a:rPr>
                        <a:t>1月 01-06</a:t>
                      </a:r>
                    </a:p>
                  </a:txBody>
                  <a:tcPr>
                    <a:solidFill>
                      <a:srgbClr val="F1F5F8"/>
                    </a:solidFill>
                  </a:tcPr>
                </a:tc>
                <a:tc>
                  <a:txBody>
                    <a:bodyPr/>
                    <a:lstStyle/>
                    <a:p>
                      <a:r>
                        <a:rPr sz="1725" b="0">
                          <a:solidFill>
                            <a:srgbClr val="202B58"/>
                          </a:solidFill>
                          <a:latin typeface="Noto Sans JP"/>
                          <a:ea typeface="Noto Sans JP"/>
                          <a:cs typeface="Noto Sans JP"/>
                        </a:rPr>
                        <a:t>486.05</a:t>
                      </a:r>
                    </a:p>
                  </a:txBody>
                  <a:tcPr>
                    <a:solidFill>
                      <a:srgbClr val="F1F5F8"/>
                    </a:solidFill>
                  </a:tcPr>
                </a:tc>
                <a:tc>
                  <a:txBody>
                    <a:bodyPr/>
                    <a:lstStyle/>
                    <a:p>
                      <a:r>
                        <a:rPr sz="1725" b="0">
                          <a:solidFill>
                            <a:srgbClr val="202B58"/>
                          </a:solidFill>
                          <a:latin typeface="Noto Sans JP"/>
                          <a:ea typeface="Noto Sans JP"/>
                          <a:cs typeface="Noto Sans JP"/>
                        </a:rPr>
                        <a:t>410.00</a:t>
                      </a:r>
                    </a:p>
                  </a:txBody>
                  <a:tcPr>
                    <a:solidFill>
                      <a:srgbClr val="F1F5F8"/>
                    </a:solidFill>
                  </a:tcPr>
                </a:tc>
                <a:tc>
                  <a:txBody>
                    <a:bodyPr/>
                    <a:lstStyle/>
                    <a:p>
                      <a:r>
                        <a:rPr sz="1725" b="0">
                          <a:solidFill>
                            <a:srgbClr val="202B58"/>
                          </a:solidFill>
                          <a:latin typeface="Noto Sans JP"/>
                          <a:ea typeface="Noto Sans JP"/>
                          <a:cs typeface="Noto Sans JP"/>
                        </a:rPr>
                        <a:t>19.79</a:t>
                      </a:r>
                    </a:p>
                  </a:txBody>
                  <a:tcPr>
                    <a:solidFill>
                      <a:srgbClr val="F1F5F8"/>
                    </a:solidFill>
                  </a:tcPr>
                </a:tc>
                <a:tc>
                  <a:txBody>
                    <a:bodyPr/>
                    <a:lstStyle/>
                    <a:p>
                      <a:r>
                        <a:rPr sz="1725" b="0">
                          <a:solidFill>
                            <a:srgbClr val="202B58"/>
                          </a:solidFill>
                          <a:latin typeface="Noto Sans JP"/>
                          <a:ea typeface="Noto Sans JP"/>
                          <a:cs typeface="Noto Sans JP"/>
                        </a:rPr>
                        <a:t>3.63</a:t>
                      </a:r>
                    </a:p>
                  </a:txBody>
                  <a:tcPr>
                    <a:solidFill>
                      <a:srgbClr val="F1F5F8"/>
                    </a:solidFill>
                  </a:tcPr>
                </a:tc>
                <a:tc>
                  <a:txBody>
                    <a:bodyPr/>
                    <a:lstStyle/>
                    <a:p>
                      <a:r>
                        <a:rPr sz="1725" b="0">
                          <a:solidFill>
                            <a:srgbClr val="202B58"/>
                          </a:solidFill>
                          <a:latin typeface="Noto Sans JP"/>
                          <a:ea typeface="Noto Sans JP"/>
                          <a:cs typeface="Noto Sans JP"/>
                        </a:rPr>
                        <a:t>52.23</a:t>
                      </a:r>
                    </a:p>
                  </a:txBody>
                  <a:tcPr>
                    <a:solidFill>
                      <a:srgbClr val="F1F5F8"/>
                    </a:solidFill>
                  </a:tcPr>
                </a:tc>
                <a:tc>
                  <a:txBody>
                    <a:bodyPr/>
                    <a:lstStyle/>
                    <a:p>
                      <a:r>
                        <a:rPr sz="1725" b="0">
                          <a:solidFill>
                            <a:srgbClr val="202B58"/>
                          </a:solidFill>
                          <a:latin typeface="Noto Sans JP"/>
                          <a:ea typeface="Noto Sans JP"/>
                          <a:cs typeface="Noto Sans JP"/>
                        </a:rPr>
                        <a:t>0.39</a:t>
                      </a:r>
                    </a:p>
                  </a:txBody>
                  <a:tcPr>
                    <a:solidFill>
                      <a:srgbClr val="F1F5F8"/>
                    </a:solidFill>
                  </a:tcPr>
                </a:tc>
                <a:extLst>
                  <a:ext uri="{0D108BD9-81ED-4DB2-BD59-A6C34878D82A}">
                    <a16:rowId xmlns:a16="http://schemas.microsoft.com/office/drawing/2014/main" val="10001"/>
                  </a:ext>
                </a:extLst>
              </a:tr>
              <a:tr h="519793">
                <a:tc>
                  <a:txBody>
                    <a:bodyPr/>
                    <a:lstStyle/>
                    <a:p>
                      <a:r>
                        <a:rPr sz="1725" b="0">
                          <a:solidFill>
                            <a:srgbClr val="202B58"/>
                          </a:solidFill>
                          <a:latin typeface="Noto Sans JP"/>
                          <a:ea typeface="Noto Sans JP"/>
                          <a:cs typeface="Noto Sans JP"/>
                        </a:rPr>
                        <a:t>2月 02-03</a:t>
                      </a:r>
                    </a:p>
                  </a:txBody>
                  <a:tcPr>
                    <a:solidFill>
                      <a:srgbClr val="FFFFFF"/>
                    </a:solidFill>
                  </a:tcPr>
                </a:tc>
                <a:tc>
                  <a:txBody>
                    <a:bodyPr/>
                    <a:lstStyle/>
                    <a:p>
                      <a:r>
                        <a:rPr sz="1725" b="0">
                          <a:solidFill>
                            <a:srgbClr val="202B58"/>
                          </a:solidFill>
                          <a:latin typeface="Noto Sans JP"/>
                          <a:ea typeface="Noto Sans JP"/>
                          <a:cs typeface="Noto Sans JP"/>
                        </a:rPr>
                        <a:t>477.64</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11.06</a:t>
                      </a:r>
                    </a:p>
                  </a:txBody>
                  <a:tcPr>
                    <a:solidFill>
                      <a:srgbClr val="FFFFFF"/>
                    </a:solidFill>
                  </a:tcPr>
                </a:tc>
                <a:tc>
                  <a:txBody>
                    <a:bodyPr/>
                    <a:lstStyle/>
                    <a:p>
                      <a:r>
                        <a:rPr sz="1725" b="0">
                          <a:solidFill>
                            <a:srgbClr val="202B58"/>
                          </a:solidFill>
                          <a:latin typeface="Noto Sans JP"/>
                          <a:ea typeface="Noto Sans JP"/>
                          <a:cs typeface="Noto Sans JP"/>
                        </a:rPr>
                        <a:t>3.74</a:t>
                      </a:r>
                    </a:p>
                  </a:txBody>
                  <a:tcPr>
                    <a:solidFill>
                      <a:srgbClr val="FFFFFF"/>
                    </a:solidFill>
                  </a:tcPr>
                </a:tc>
                <a:tc>
                  <a:txBody>
                    <a:bodyPr/>
                    <a:lstStyle/>
                    <a:p>
                      <a:r>
                        <a:rPr sz="1725" b="0">
                          <a:solidFill>
                            <a:srgbClr val="202B58"/>
                          </a:solidFill>
                          <a:latin typeface="Noto Sans JP"/>
                          <a:ea typeface="Noto Sans JP"/>
                          <a:cs typeface="Noto Sans JP"/>
                        </a:rPr>
                        <a:t>50.59</a:t>
                      </a:r>
                    </a:p>
                  </a:txBody>
                  <a:tcPr>
                    <a:solidFill>
                      <a:srgbClr val="FFFFFF"/>
                    </a:solidFill>
                  </a:tcPr>
                </a:tc>
                <a:tc>
                  <a:txBody>
                    <a:bodyPr/>
                    <a:lstStyle/>
                    <a:p>
                      <a:r>
                        <a:rPr sz="1725" b="0">
                          <a:solidFill>
                            <a:srgbClr val="202B58"/>
                          </a:solidFill>
                          <a:latin typeface="Noto Sans JP"/>
                          <a:ea typeface="Noto Sans JP"/>
                          <a:cs typeface="Noto Sans JP"/>
                        </a:rPr>
                        <a:t>0.25</a:t>
                      </a:r>
                    </a:p>
                  </a:txBody>
                  <a:tcPr>
                    <a:solidFill>
                      <a:srgbClr val="FFFFFF"/>
                    </a:solidFill>
                  </a:tcPr>
                </a:tc>
                <a:extLst>
                  <a:ext uri="{0D108BD9-81ED-4DB2-BD59-A6C34878D82A}">
                    <a16:rowId xmlns:a16="http://schemas.microsoft.com/office/drawing/2014/main" val="10002"/>
                  </a:ext>
                </a:extLst>
              </a:tr>
              <a:tr h="519793">
                <a:tc>
                  <a:txBody>
                    <a:bodyPr/>
                    <a:lstStyle/>
                    <a:p>
                      <a:r>
                        <a:rPr sz="1725" b="0">
                          <a:solidFill>
                            <a:srgbClr val="202B58"/>
                          </a:solidFill>
                          <a:latin typeface="Noto Sans JP"/>
                          <a:ea typeface="Noto Sans JP"/>
                          <a:cs typeface="Noto Sans JP"/>
                        </a:rPr>
                        <a:t>3月 03-03</a:t>
                      </a:r>
                    </a:p>
                  </a:txBody>
                  <a:tcPr>
                    <a:solidFill>
                      <a:srgbClr val="F1F5F8"/>
                    </a:solidFill>
                  </a:tcPr>
                </a:tc>
                <a:tc>
                  <a:txBody>
                    <a:bodyPr/>
                    <a:lstStyle/>
                    <a:p>
                      <a:r>
                        <a:rPr sz="1725" b="0">
                          <a:solidFill>
                            <a:srgbClr val="202B58"/>
                          </a:solidFill>
                          <a:latin typeface="Noto Sans JP"/>
                          <a:ea typeface="Noto Sans JP"/>
                          <a:cs typeface="Noto Sans JP"/>
                        </a:rPr>
                        <a:t>612.65</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30.53</a:t>
                      </a:r>
                    </a:p>
                  </a:txBody>
                  <a:tcPr>
                    <a:solidFill>
                      <a:srgbClr val="F1F5F8"/>
                    </a:solidFill>
                  </a:tcPr>
                </a:tc>
                <a:tc>
                  <a:txBody>
                    <a:bodyPr/>
                    <a:lstStyle/>
                    <a:p>
                      <a:r>
                        <a:rPr sz="1725" b="0">
                          <a:solidFill>
                            <a:srgbClr val="202B58"/>
                          </a:solidFill>
                          <a:latin typeface="Noto Sans JP"/>
                          <a:ea typeface="Noto Sans JP"/>
                          <a:cs typeface="Noto Sans JP"/>
                        </a:rPr>
                        <a:t>3.60</a:t>
                      </a:r>
                    </a:p>
                  </a:txBody>
                  <a:tcPr>
                    <a:solidFill>
                      <a:srgbClr val="F1F5F8"/>
                    </a:solidFill>
                  </a:tcPr>
                </a:tc>
                <a:tc>
                  <a:txBody>
                    <a:bodyPr/>
                    <a:lstStyle/>
                    <a:p>
                      <a:r>
                        <a:rPr sz="1725" b="0">
                          <a:solidFill>
                            <a:srgbClr val="202B58"/>
                          </a:solidFill>
                          <a:latin typeface="Noto Sans JP"/>
                          <a:ea typeface="Noto Sans JP"/>
                          <a:cs typeface="Noto Sans JP"/>
                        </a:rPr>
                        <a:t>165.95</a:t>
                      </a:r>
                    </a:p>
                  </a:txBody>
                  <a:tcPr>
                    <a:solidFill>
                      <a:srgbClr val="F1F5F8"/>
                    </a:solidFill>
                  </a:tcPr>
                </a:tc>
                <a:tc>
                  <a:txBody>
                    <a:bodyPr/>
                    <a:lstStyle/>
                    <a:p>
                      <a:r>
                        <a:rPr sz="1725" b="0">
                          <a:solidFill>
                            <a:srgbClr val="202B58"/>
                          </a:solidFill>
                          <a:latin typeface="Noto Sans JP"/>
                          <a:ea typeface="Noto Sans JP"/>
                          <a:cs typeface="Noto Sans JP"/>
                        </a:rPr>
                        <a:t>0.57</a:t>
                      </a:r>
                    </a:p>
                  </a:txBody>
                  <a:tcPr>
                    <a:solidFill>
                      <a:srgbClr val="F1F5F8"/>
                    </a:solidFill>
                  </a:tcPr>
                </a:tc>
                <a:extLst>
                  <a:ext uri="{0D108BD9-81ED-4DB2-BD59-A6C34878D82A}">
                    <a16:rowId xmlns:a16="http://schemas.microsoft.com/office/drawing/2014/main" val="10003"/>
                  </a:ext>
                </a:extLst>
              </a:tr>
              <a:tr h="519793">
                <a:tc>
                  <a:txBody>
                    <a:bodyPr/>
                    <a:lstStyle/>
                    <a:p>
                      <a:r>
                        <a:rPr sz="1725" b="0">
                          <a:solidFill>
                            <a:srgbClr val="202B58"/>
                          </a:solidFill>
                          <a:latin typeface="Noto Sans JP"/>
                          <a:ea typeface="Noto Sans JP"/>
                          <a:cs typeface="Noto Sans JP"/>
                        </a:rPr>
                        <a:t>4月 04-07</a:t>
                      </a:r>
                    </a:p>
                  </a:txBody>
                  <a:tcPr>
                    <a:solidFill>
                      <a:srgbClr val="FFFFFF"/>
                    </a:solidFill>
                  </a:tcPr>
                </a:tc>
                <a:tc>
                  <a:txBody>
                    <a:bodyPr/>
                    <a:lstStyle/>
                    <a:p>
                      <a:r>
                        <a:rPr sz="1725" b="0">
                          <a:solidFill>
                            <a:srgbClr val="202B58"/>
                          </a:solidFill>
                          <a:latin typeface="Noto Sans JP"/>
                          <a:ea typeface="Noto Sans JP"/>
                          <a:cs typeface="Noto Sans JP"/>
                        </a:rPr>
                        <a:t>423.51</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4.90</a:t>
                      </a:r>
                    </a:p>
                  </a:txBody>
                  <a:tcPr>
                    <a:solidFill>
                      <a:srgbClr val="FFFFFF"/>
                    </a:solidFill>
                  </a:tcPr>
                </a:tc>
                <a:tc>
                  <a:txBody>
                    <a:bodyPr/>
                    <a:lstStyle/>
                    <a:p>
                      <a:r>
                        <a:rPr sz="1725" b="0">
                          <a:solidFill>
                            <a:srgbClr val="202B58"/>
                          </a:solidFill>
                          <a:latin typeface="Noto Sans JP"/>
                          <a:ea typeface="Noto Sans JP"/>
                          <a:cs typeface="Noto Sans JP"/>
                        </a:rPr>
                        <a:t>4.22</a:t>
                      </a:r>
                    </a:p>
                  </a:txBody>
                  <a:tcPr>
                    <a:solidFill>
                      <a:srgbClr val="FFFFFF"/>
                    </a:solidFill>
                  </a:tcPr>
                </a:tc>
                <a:tc>
                  <a:txBody>
                    <a:bodyPr/>
                    <a:lstStyle/>
                    <a:p>
                      <a:r>
                        <a:rPr sz="1725" b="0">
                          <a:solidFill>
                            <a:srgbClr val="202B58"/>
                          </a:solidFill>
                          <a:latin typeface="Noto Sans JP"/>
                          <a:ea typeface="Noto Sans JP"/>
                          <a:cs typeface="Noto Sans JP"/>
                        </a:rPr>
                        <a:t>2.23</a:t>
                      </a:r>
                    </a:p>
                  </a:txBody>
                  <a:tcPr>
                    <a:solidFill>
                      <a:srgbClr val="FFFFFF"/>
                    </a:solidFill>
                  </a:tcPr>
                </a:tc>
                <a:tc>
                  <a:txBody>
                    <a:bodyPr/>
                    <a:lstStyle/>
                    <a:p>
                      <a:r>
                        <a:rPr sz="1725" b="0">
                          <a:solidFill>
                            <a:srgbClr val="202B58"/>
                          </a:solidFill>
                          <a:latin typeface="Noto Sans JP"/>
                          <a:ea typeface="Noto Sans JP"/>
                          <a:cs typeface="Noto Sans JP"/>
                        </a:rPr>
                        <a:t>0.15</a:t>
                      </a:r>
                    </a:p>
                  </a:txBody>
                  <a:tcPr>
                    <a:solidFill>
                      <a:srgbClr val="FFFFFF"/>
                    </a:solidFill>
                  </a:tcPr>
                </a:tc>
                <a:extLst>
                  <a:ext uri="{0D108BD9-81ED-4DB2-BD59-A6C34878D82A}">
                    <a16:rowId xmlns:a16="http://schemas.microsoft.com/office/drawing/2014/main" val="10004"/>
                  </a:ext>
                </a:extLst>
              </a:tr>
              <a:tr h="519793">
                <a:tc>
                  <a:txBody>
                    <a:bodyPr/>
                    <a:lstStyle/>
                    <a:p>
                      <a:r>
                        <a:rPr sz="1725" b="0">
                          <a:solidFill>
                            <a:srgbClr val="202B58"/>
                          </a:solidFill>
                          <a:latin typeface="Noto Sans JP"/>
                          <a:ea typeface="Noto Sans JP"/>
                          <a:cs typeface="Noto Sans JP"/>
                        </a:rPr>
                        <a:t>5月 05-12</a:t>
                      </a:r>
                    </a:p>
                  </a:txBody>
                  <a:tcPr>
                    <a:solidFill>
                      <a:srgbClr val="F1F5F8"/>
                    </a:solidFill>
                  </a:tcPr>
                </a:tc>
                <a:tc>
                  <a:txBody>
                    <a:bodyPr/>
                    <a:lstStyle/>
                    <a:p>
                      <a:r>
                        <a:rPr sz="1725" b="0">
                          <a:solidFill>
                            <a:srgbClr val="202B58"/>
                          </a:solidFill>
                          <a:latin typeface="Noto Sans JP"/>
                          <a:ea typeface="Noto Sans JP"/>
                          <a:cs typeface="Noto Sans JP"/>
                        </a:rPr>
                        <a:t>481.15</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10.54</a:t>
                      </a:r>
                    </a:p>
                  </a:txBody>
                  <a:tcPr>
                    <a:solidFill>
                      <a:srgbClr val="F1F5F8"/>
                    </a:solidFill>
                  </a:tcPr>
                </a:tc>
                <a:tc>
                  <a:txBody>
                    <a:bodyPr/>
                    <a:lstStyle/>
                    <a:p>
                      <a:r>
                        <a:rPr sz="1725" b="0">
                          <a:solidFill>
                            <a:srgbClr val="202B58"/>
                          </a:solidFill>
                          <a:latin typeface="Noto Sans JP"/>
                          <a:ea typeface="Noto Sans JP"/>
                          <a:cs typeface="Noto Sans JP"/>
                        </a:rPr>
                        <a:t>3.65</a:t>
                      </a:r>
                    </a:p>
                  </a:txBody>
                  <a:tcPr>
                    <a:solidFill>
                      <a:srgbClr val="F1F5F8"/>
                    </a:solidFill>
                  </a:tcPr>
                </a:tc>
                <a:tc>
                  <a:txBody>
                    <a:bodyPr/>
                    <a:lstStyle/>
                    <a:p>
                      <a:r>
                        <a:rPr sz="1725" b="0">
                          <a:solidFill>
                            <a:srgbClr val="202B58"/>
                          </a:solidFill>
                          <a:latin typeface="Noto Sans JP"/>
                          <a:ea typeface="Noto Sans JP"/>
                          <a:cs typeface="Noto Sans JP"/>
                        </a:rPr>
                        <a:t>54.72</a:t>
                      </a:r>
                    </a:p>
                  </a:txBody>
                  <a:tcPr>
                    <a:solidFill>
                      <a:srgbClr val="F1F5F8"/>
                    </a:solidFill>
                  </a:tcPr>
                </a:tc>
                <a:tc>
                  <a:txBody>
                    <a:bodyPr/>
                    <a:lstStyle/>
                    <a:p>
                      <a:r>
                        <a:rPr sz="1725" b="0">
                          <a:solidFill>
                            <a:srgbClr val="202B58"/>
                          </a:solidFill>
                          <a:latin typeface="Noto Sans JP"/>
                          <a:ea typeface="Noto Sans JP"/>
                          <a:cs typeface="Noto Sans JP"/>
                        </a:rPr>
                        <a:t>0.24</a:t>
                      </a:r>
                    </a:p>
                  </a:txBody>
                  <a:tcPr>
                    <a:solidFill>
                      <a:srgbClr val="F1F5F8"/>
                    </a:solidFill>
                  </a:tcPr>
                </a:tc>
                <a:extLst>
                  <a:ext uri="{0D108BD9-81ED-4DB2-BD59-A6C34878D82A}">
                    <a16:rowId xmlns:a16="http://schemas.microsoft.com/office/drawing/2014/main" val="10005"/>
                  </a:ext>
                </a:extLst>
              </a:tr>
              <a:tr h="519793">
                <a:tc>
                  <a:txBody>
                    <a:bodyPr/>
                    <a:lstStyle/>
                    <a:p>
                      <a:r>
                        <a:rPr sz="1725" b="0">
                          <a:solidFill>
                            <a:srgbClr val="202B58"/>
                          </a:solidFill>
                          <a:latin typeface="Noto Sans JP"/>
                          <a:ea typeface="Noto Sans JP"/>
                          <a:cs typeface="Noto Sans JP"/>
                        </a:rPr>
                        <a:t>6月 06-02</a:t>
                      </a:r>
                    </a:p>
                  </a:txBody>
                  <a:tcPr>
                    <a:solidFill>
                      <a:srgbClr val="FFFFFF"/>
                    </a:solidFill>
                  </a:tcPr>
                </a:tc>
                <a:tc>
                  <a:txBody>
                    <a:bodyPr/>
                    <a:lstStyle/>
                    <a:p>
                      <a:r>
                        <a:rPr sz="1725" b="0">
                          <a:solidFill>
                            <a:srgbClr val="202B58"/>
                          </a:solidFill>
                          <a:latin typeface="Noto Sans JP"/>
                          <a:ea typeface="Noto Sans JP"/>
                          <a:cs typeface="Noto Sans JP"/>
                        </a:rPr>
                        <a:t>457.76</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7.29</a:t>
                      </a:r>
                    </a:p>
                  </a:txBody>
                  <a:tcPr>
                    <a:solidFill>
                      <a:srgbClr val="FFFFFF"/>
                    </a:solidFill>
                  </a:tcPr>
                </a:tc>
                <a:tc>
                  <a:txBody>
                    <a:bodyPr/>
                    <a:lstStyle/>
                    <a:p>
                      <a:r>
                        <a:rPr sz="1725" b="0">
                          <a:solidFill>
                            <a:srgbClr val="202B58"/>
                          </a:solidFill>
                          <a:latin typeface="Noto Sans JP"/>
                          <a:ea typeface="Noto Sans JP"/>
                          <a:cs typeface="Noto Sans JP"/>
                        </a:rPr>
                        <a:t>3.65</a:t>
                      </a:r>
                    </a:p>
                  </a:txBody>
                  <a:tcPr>
                    <a:solidFill>
                      <a:srgbClr val="FFFFFF"/>
                    </a:solidFill>
                  </a:tcPr>
                </a:tc>
                <a:tc>
                  <a:txBody>
                    <a:bodyPr/>
                    <a:lstStyle/>
                    <a:p>
                      <a:r>
                        <a:rPr sz="1725" b="0">
                          <a:solidFill>
                            <a:srgbClr val="202B58"/>
                          </a:solidFill>
                          <a:latin typeface="Noto Sans JP"/>
                          <a:ea typeface="Noto Sans JP"/>
                          <a:cs typeface="Noto Sans JP"/>
                        </a:rPr>
                        <a:t>34.64</a:t>
                      </a:r>
                    </a:p>
                  </a:txBody>
                  <a:tcPr>
                    <a:solidFill>
                      <a:srgbClr val="FFFFFF"/>
                    </a:solidFill>
                  </a:tcPr>
                </a:tc>
                <a:tc>
                  <a:txBody>
                    <a:bodyPr/>
                    <a:lstStyle/>
                    <a:p>
                      <a:r>
                        <a:rPr sz="1725" b="0">
                          <a:solidFill>
                            <a:srgbClr val="202B58"/>
                          </a:solidFill>
                          <a:latin typeface="Noto Sans JP"/>
                          <a:ea typeface="Noto Sans JP"/>
                          <a:cs typeface="Noto Sans JP"/>
                        </a:rPr>
                        <a:t>0.18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02981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A1FCDA66-2E82-4F12-857A-0900DF50F437}"/>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月別の週次費用（7〜12月）</a:t>
            </a:r>
          </a:p>
        </p:txBody>
      </p:sp>
      <p:sp>
        <p:nvSpPr>
          <p:cNvPr id="2" name="正方形/長方形 1">
            <a:extLst>
              <a:ext uri="{FF2B5EF4-FFF2-40B4-BE49-F238E27FC236}">
                <a16:creationId xmlns:a16="http://schemas.microsoft.com/office/drawing/2014/main" id="{A91D1A00-BA5C-4B39-829F-0F0988C3735F}"/>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単位：万円。営業7日間と最終翌朝までの実行会計を集計</a:t>
            </a:r>
          </a:p>
        </p:txBody>
      </p:sp>
      <p:sp>
        <p:nvSpPr>
          <p:cNvPr id="3" name="正方形/長方形 2">
            <a:extLst>
              <a:ext uri="{FF2B5EF4-FFF2-40B4-BE49-F238E27FC236}">
                <a16:creationId xmlns:a16="http://schemas.microsoft.com/office/drawing/2014/main" id="{81F6FC3E-10BB-4758-847C-EAF22342D932}"/>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車両日費と、買電・燃料・契約超過モデル費を分けて読む</a:t>
            </a:r>
          </a:p>
        </p:txBody>
      </p:sp>
      <p:sp>
        <p:nvSpPr>
          <p:cNvPr id="4" name="正方形/長方形 3">
            <a:extLst>
              <a:ext uri="{FF2B5EF4-FFF2-40B4-BE49-F238E27FC236}">
                <a16:creationId xmlns:a16="http://schemas.microsoft.com/office/drawing/2014/main" id="{63006A82-388C-45DF-A69F-EF73652B1210}"/>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燃料は消費在庫の評価を含む。超過モデル費は実契約の請求額ではない。設備投資費は未計上。</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17526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gridCol w="1924050">
                  <a:extLst>
                    <a:ext uri="{9D8B030D-6E8A-4147-A177-3AD203B41FA5}">
                      <a16:colId xmlns:a16="http://schemas.microsoft.com/office/drawing/2014/main" val="20005"/>
                    </a:ext>
                  </a:extLst>
                </a:gridCol>
                <a:gridCol w="1504950">
                  <a:extLst>
                    <a:ext uri="{9D8B030D-6E8A-4147-A177-3AD203B41FA5}">
                      <a16:colId xmlns:a16="http://schemas.microsoft.com/office/drawing/2014/main" val="20006"/>
                    </a:ext>
                  </a:extLst>
                </a:gridCol>
              </a:tblGrid>
              <a:tr h="519793">
                <a:tc>
                  <a:txBody>
                    <a:bodyPr/>
                    <a:lstStyle/>
                    <a:p>
                      <a:r>
                        <a:rPr sz="1725" b="1">
                          <a:solidFill>
                            <a:srgbClr val="FFFFFF"/>
                          </a:solidFill>
                          <a:latin typeface="Noto Sans JP"/>
                          <a:ea typeface="Noto Sans JP"/>
                          <a:cs typeface="Noto Sans JP"/>
                        </a:rPr>
                        <a:t>月／週開始</a:t>
                      </a:r>
                    </a:p>
                  </a:txBody>
                  <a:tcPr>
                    <a:solidFill>
                      <a:srgbClr val="202B58"/>
                    </a:solidFill>
                  </a:tcPr>
                </a:tc>
                <a:tc>
                  <a:txBody>
                    <a:bodyPr/>
                    <a:lstStyle/>
                    <a:p>
                      <a:r>
                        <a:rPr sz="1725" b="1">
                          <a:solidFill>
                            <a:srgbClr val="FFFFFF"/>
                          </a:solidFill>
                          <a:latin typeface="Noto Sans JP"/>
                          <a:ea typeface="Noto Sans JP"/>
                          <a:cs typeface="Noto Sans JP"/>
                        </a:rPr>
                        <a:t>総費用</a:t>
                      </a:r>
                    </a:p>
                  </a:txBody>
                  <a:tcPr>
                    <a:solidFill>
                      <a:srgbClr val="202B58"/>
                    </a:solidFill>
                  </a:tcPr>
                </a:tc>
                <a:tc>
                  <a:txBody>
                    <a:bodyPr/>
                    <a:lstStyle/>
                    <a:p>
                      <a:r>
                        <a:rPr sz="1725" b="1">
                          <a:solidFill>
                            <a:srgbClr val="FFFFFF"/>
                          </a:solidFill>
                          <a:latin typeface="Noto Sans JP"/>
                          <a:ea typeface="Noto Sans JP"/>
                          <a:cs typeface="Noto Sans JP"/>
                        </a:rPr>
                        <a:t>車両日費</a:t>
                      </a:r>
                    </a:p>
                  </a:txBody>
                  <a:tcPr>
                    <a:solidFill>
                      <a:srgbClr val="202B58"/>
                    </a:solidFill>
                  </a:tcPr>
                </a:tc>
                <a:tc>
                  <a:txBody>
                    <a:bodyPr/>
                    <a:lstStyle/>
                    <a:p>
                      <a:r>
                        <a:rPr sz="1725" b="1">
                          <a:solidFill>
                            <a:srgbClr val="FFFFFF"/>
                          </a:solidFill>
                          <a:latin typeface="Noto Sans JP"/>
                          <a:ea typeface="Noto Sans JP"/>
                          <a:cs typeface="Noto Sans JP"/>
                        </a:rPr>
                        <a:t>買電費</a:t>
                      </a:r>
                    </a:p>
                  </a:txBody>
                  <a:tcPr>
                    <a:solidFill>
                      <a:srgbClr val="202B58"/>
                    </a:solidFill>
                  </a:tcPr>
                </a:tc>
                <a:tc>
                  <a:txBody>
                    <a:bodyPr/>
                    <a:lstStyle/>
                    <a:p>
                      <a:r>
                        <a:rPr sz="1725" b="1">
                          <a:solidFill>
                            <a:srgbClr val="FFFFFF"/>
                          </a:solidFill>
                          <a:latin typeface="Noto Sans JP"/>
                          <a:ea typeface="Noto Sans JP"/>
                          <a:cs typeface="Noto Sans JP"/>
                        </a:rPr>
                        <a:t>燃料費</a:t>
                      </a:r>
                    </a:p>
                  </a:txBody>
                  <a:tcPr>
                    <a:solidFill>
                      <a:srgbClr val="202B58"/>
                    </a:solidFill>
                  </a:tcPr>
                </a:tc>
                <a:tc>
                  <a:txBody>
                    <a:bodyPr/>
                    <a:lstStyle/>
                    <a:p>
                      <a:r>
                        <a:rPr sz="1725" b="1">
                          <a:solidFill>
                            <a:srgbClr val="FFFFFF"/>
                          </a:solidFill>
                          <a:latin typeface="Noto Sans JP"/>
                          <a:ea typeface="Noto Sans JP"/>
                          <a:cs typeface="Noto Sans JP"/>
                        </a:rPr>
                        <a:t>超過モデル費</a:t>
                      </a:r>
                    </a:p>
                  </a:txBody>
                  <a:tcPr>
                    <a:solidFill>
                      <a:srgbClr val="202B58"/>
                    </a:solidFill>
                  </a:tcPr>
                </a:tc>
                <a:tc>
                  <a:txBody>
                    <a:bodyPr/>
                    <a:lstStyle/>
                    <a:p>
                      <a:r>
                        <a:rPr sz="1725" b="1">
                          <a:solidFill>
                            <a:srgbClr val="FFFFFF"/>
                          </a:solidFill>
                          <a:latin typeface="Noto Sans JP"/>
                          <a:ea typeface="Noto Sans JP"/>
                          <a:cs typeface="Noto Sans JP"/>
                        </a:rPr>
                        <a:t>CO₂費</a:t>
                      </a:r>
                    </a:p>
                  </a:txBody>
                  <a:tcPr>
                    <a:solidFill>
                      <a:srgbClr val="202B58"/>
                    </a:solidFill>
                  </a:tcPr>
                </a:tc>
                <a:extLst>
                  <a:ext uri="{0D108BD9-81ED-4DB2-BD59-A6C34878D82A}">
                    <a16:rowId xmlns:a16="http://schemas.microsoft.com/office/drawing/2014/main" val="10000"/>
                  </a:ext>
                </a:extLst>
              </a:tr>
              <a:tr h="519793">
                <a:tc>
                  <a:txBody>
                    <a:bodyPr/>
                    <a:lstStyle/>
                    <a:p>
                      <a:r>
                        <a:rPr sz="1725" b="0">
                          <a:solidFill>
                            <a:srgbClr val="202B58"/>
                          </a:solidFill>
                          <a:latin typeface="Noto Sans JP"/>
                          <a:ea typeface="Noto Sans JP"/>
                          <a:cs typeface="Noto Sans JP"/>
                        </a:rPr>
                        <a:t>7月 07-07</a:t>
                      </a:r>
                    </a:p>
                  </a:txBody>
                  <a:tcPr>
                    <a:solidFill>
                      <a:srgbClr val="F1F5F8"/>
                    </a:solidFill>
                  </a:tcPr>
                </a:tc>
                <a:tc>
                  <a:txBody>
                    <a:bodyPr/>
                    <a:lstStyle/>
                    <a:p>
                      <a:r>
                        <a:rPr sz="1725" b="0">
                          <a:solidFill>
                            <a:srgbClr val="202B58"/>
                          </a:solidFill>
                          <a:latin typeface="Noto Sans JP"/>
                          <a:ea typeface="Noto Sans JP"/>
                          <a:cs typeface="Noto Sans JP"/>
                        </a:rPr>
                        <a:t>418.59</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2.63</a:t>
                      </a:r>
                    </a:p>
                  </a:txBody>
                  <a:tcPr>
                    <a:solidFill>
                      <a:srgbClr val="F1F5F8"/>
                    </a:solidFill>
                  </a:tcPr>
                </a:tc>
                <a:tc>
                  <a:txBody>
                    <a:bodyPr/>
                    <a:lstStyle/>
                    <a:p>
                      <a:r>
                        <a:rPr sz="1725" b="0">
                          <a:solidFill>
                            <a:srgbClr val="202B58"/>
                          </a:solidFill>
                          <a:latin typeface="Noto Sans JP"/>
                          <a:ea typeface="Noto Sans JP"/>
                          <a:cs typeface="Noto Sans JP"/>
                        </a:rPr>
                        <a:t>3.85</a:t>
                      </a:r>
                    </a:p>
                  </a:txBody>
                  <a:tcPr>
                    <a:solidFill>
                      <a:srgbClr val="F1F5F8"/>
                    </a:solidFill>
                  </a:tcPr>
                </a:tc>
                <a:tc>
                  <a:txBody>
                    <a:bodyPr/>
                    <a:lstStyle/>
                    <a:p>
                      <a:r>
                        <a:rPr sz="1725" b="0">
                          <a:solidFill>
                            <a:srgbClr val="202B58"/>
                          </a:solidFill>
                          <a:latin typeface="Noto Sans JP"/>
                          <a:ea typeface="Noto Sans JP"/>
                          <a:cs typeface="Noto Sans JP"/>
                        </a:rPr>
                        <a:t>0.00</a:t>
                      </a:r>
                    </a:p>
                  </a:txBody>
                  <a:tcPr>
                    <a:solidFill>
                      <a:srgbClr val="F1F5F8"/>
                    </a:solidFill>
                  </a:tcPr>
                </a:tc>
                <a:tc>
                  <a:txBody>
                    <a:bodyPr/>
                    <a:lstStyle/>
                    <a:p>
                      <a:r>
                        <a:rPr sz="1725" b="0">
                          <a:solidFill>
                            <a:srgbClr val="202B58"/>
                          </a:solidFill>
                          <a:latin typeface="Noto Sans JP"/>
                          <a:ea typeface="Noto Sans JP"/>
                          <a:cs typeface="Noto Sans JP"/>
                        </a:rPr>
                        <a:t>0.11</a:t>
                      </a:r>
                    </a:p>
                  </a:txBody>
                  <a:tcPr>
                    <a:solidFill>
                      <a:srgbClr val="F1F5F8"/>
                    </a:solidFill>
                  </a:tcPr>
                </a:tc>
                <a:extLst>
                  <a:ext uri="{0D108BD9-81ED-4DB2-BD59-A6C34878D82A}">
                    <a16:rowId xmlns:a16="http://schemas.microsoft.com/office/drawing/2014/main" val="10001"/>
                  </a:ext>
                </a:extLst>
              </a:tr>
              <a:tr h="519793">
                <a:tc>
                  <a:txBody>
                    <a:bodyPr/>
                    <a:lstStyle/>
                    <a:p>
                      <a:r>
                        <a:rPr sz="1725" b="0">
                          <a:solidFill>
                            <a:srgbClr val="202B58"/>
                          </a:solidFill>
                          <a:latin typeface="Noto Sans JP"/>
                          <a:ea typeface="Noto Sans JP"/>
                          <a:cs typeface="Noto Sans JP"/>
                        </a:rPr>
                        <a:t>8月 08-04</a:t>
                      </a:r>
                    </a:p>
                  </a:txBody>
                  <a:tcPr>
                    <a:solidFill>
                      <a:srgbClr val="FFFFFF"/>
                    </a:solidFill>
                  </a:tcPr>
                </a:tc>
                <a:tc>
                  <a:txBody>
                    <a:bodyPr/>
                    <a:lstStyle/>
                    <a:p>
                      <a:r>
                        <a:rPr sz="1725" b="0">
                          <a:solidFill>
                            <a:srgbClr val="202B58"/>
                          </a:solidFill>
                          <a:latin typeface="Noto Sans JP"/>
                          <a:ea typeface="Noto Sans JP"/>
                          <a:cs typeface="Noto Sans JP"/>
                        </a:rPr>
                        <a:t>417.85</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1.01</a:t>
                      </a:r>
                    </a:p>
                  </a:txBody>
                  <a:tcPr>
                    <a:solidFill>
                      <a:srgbClr val="FFFFFF"/>
                    </a:solidFill>
                  </a:tcPr>
                </a:tc>
                <a:tc>
                  <a:txBody>
                    <a:bodyPr/>
                    <a:lstStyle/>
                    <a:p>
                      <a:r>
                        <a:rPr sz="1725" b="0">
                          <a:solidFill>
                            <a:srgbClr val="202B58"/>
                          </a:solidFill>
                          <a:latin typeface="Noto Sans JP"/>
                          <a:ea typeface="Noto Sans JP"/>
                          <a:cs typeface="Noto Sans JP"/>
                        </a:rPr>
                        <a:t>3.68</a:t>
                      </a:r>
                    </a:p>
                  </a:txBody>
                  <a:tcPr>
                    <a:solidFill>
                      <a:srgbClr val="FFFFFF"/>
                    </a:solidFill>
                  </a:tcPr>
                </a:tc>
                <a:tc>
                  <a:txBody>
                    <a:bodyPr/>
                    <a:lstStyle/>
                    <a:p>
                      <a:r>
                        <a:rPr sz="1725" b="0">
                          <a:solidFill>
                            <a:srgbClr val="202B58"/>
                          </a:solidFill>
                          <a:latin typeface="Noto Sans JP"/>
                          <a:ea typeface="Noto Sans JP"/>
                          <a:cs typeface="Noto Sans JP"/>
                        </a:rPr>
                        <a:t>1.07</a:t>
                      </a:r>
                    </a:p>
                  </a:txBody>
                  <a:tcPr>
                    <a:solidFill>
                      <a:srgbClr val="FFFFFF"/>
                    </a:solidFill>
                  </a:tcPr>
                </a:tc>
                <a:tc>
                  <a:txBody>
                    <a:bodyPr/>
                    <a:lstStyle/>
                    <a:p>
                      <a:r>
                        <a:rPr sz="1725" b="0">
                          <a:solidFill>
                            <a:srgbClr val="202B58"/>
                          </a:solidFill>
                          <a:latin typeface="Noto Sans JP"/>
                          <a:ea typeface="Noto Sans JP"/>
                          <a:cs typeface="Noto Sans JP"/>
                        </a:rPr>
                        <a:t>0.08</a:t>
                      </a:r>
                    </a:p>
                  </a:txBody>
                  <a:tcPr>
                    <a:solidFill>
                      <a:srgbClr val="FFFFFF"/>
                    </a:solidFill>
                  </a:tcPr>
                </a:tc>
                <a:extLst>
                  <a:ext uri="{0D108BD9-81ED-4DB2-BD59-A6C34878D82A}">
                    <a16:rowId xmlns:a16="http://schemas.microsoft.com/office/drawing/2014/main" val="10002"/>
                  </a:ext>
                </a:extLst>
              </a:tr>
              <a:tr h="519793">
                <a:tc>
                  <a:txBody>
                    <a:bodyPr/>
                    <a:lstStyle/>
                    <a:p>
                      <a:r>
                        <a:rPr sz="1725" b="0">
                          <a:solidFill>
                            <a:srgbClr val="202B58"/>
                          </a:solidFill>
                          <a:latin typeface="Noto Sans JP"/>
                          <a:ea typeface="Noto Sans JP"/>
                          <a:cs typeface="Noto Sans JP"/>
                        </a:rPr>
                        <a:t>9月 09-01</a:t>
                      </a:r>
                    </a:p>
                  </a:txBody>
                  <a:tcPr>
                    <a:solidFill>
                      <a:srgbClr val="F1F5F8"/>
                    </a:solidFill>
                  </a:tcPr>
                </a:tc>
                <a:tc>
                  <a:txBody>
                    <a:bodyPr/>
                    <a:lstStyle/>
                    <a:p>
                      <a:r>
                        <a:rPr sz="1725" b="0">
                          <a:solidFill>
                            <a:srgbClr val="202B58"/>
                          </a:solidFill>
                          <a:latin typeface="Noto Sans JP"/>
                          <a:ea typeface="Noto Sans JP"/>
                          <a:cs typeface="Noto Sans JP"/>
                        </a:rPr>
                        <a:t>496.62</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11.46</a:t>
                      </a:r>
                    </a:p>
                  </a:txBody>
                  <a:tcPr>
                    <a:solidFill>
                      <a:srgbClr val="F1F5F8"/>
                    </a:solidFill>
                  </a:tcPr>
                </a:tc>
                <a:tc>
                  <a:txBody>
                    <a:bodyPr/>
                    <a:lstStyle/>
                    <a:p>
                      <a:r>
                        <a:rPr sz="1725" b="0">
                          <a:solidFill>
                            <a:srgbClr val="202B58"/>
                          </a:solidFill>
                          <a:latin typeface="Noto Sans JP"/>
                          <a:ea typeface="Noto Sans JP"/>
                          <a:cs typeface="Noto Sans JP"/>
                        </a:rPr>
                        <a:t>3.78</a:t>
                      </a:r>
                    </a:p>
                  </a:txBody>
                  <a:tcPr>
                    <a:solidFill>
                      <a:srgbClr val="F1F5F8"/>
                    </a:solidFill>
                  </a:tcPr>
                </a:tc>
                <a:tc>
                  <a:txBody>
                    <a:bodyPr/>
                    <a:lstStyle/>
                    <a:p>
                      <a:r>
                        <a:rPr sz="1725" b="0">
                          <a:solidFill>
                            <a:srgbClr val="202B58"/>
                          </a:solidFill>
                          <a:latin typeface="Noto Sans JP"/>
                          <a:ea typeface="Noto Sans JP"/>
                          <a:cs typeface="Noto Sans JP"/>
                        </a:rPr>
                        <a:t>69.13</a:t>
                      </a:r>
                    </a:p>
                  </a:txBody>
                  <a:tcPr>
                    <a:solidFill>
                      <a:srgbClr val="F1F5F8"/>
                    </a:solidFill>
                  </a:tcPr>
                </a:tc>
                <a:tc>
                  <a:txBody>
                    <a:bodyPr/>
                    <a:lstStyle/>
                    <a:p>
                      <a:r>
                        <a:rPr sz="1725" b="0">
                          <a:solidFill>
                            <a:srgbClr val="202B58"/>
                          </a:solidFill>
                          <a:latin typeface="Noto Sans JP"/>
                          <a:ea typeface="Noto Sans JP"/>
                          <a:cs typeface="Noto Sans JP"/>
                        </a:rPr>
                        <a:t>0.26</a:t>
                      </a:r>
                    </a:p>
                  </a:txBody>
                  <a:tcPr>
                    <a:solidFill>
                      <a:srgbClr val="F1F5F8"/>
                    </a:solidFill>
                  </a:tcPr>
                </a:tc>
                <a:extLst>
                  <a:ext uri="{0D108BD9-81ED-4DB2-BD59-A6C34878D82A}">
                    <a16:rowId xmlns:a16="http://schemas.microsoft.com/office/drawing/2014/main" val="10003"/>
                  </a:ext>
                </a:extLst>
              </a:tr>
              <a:tr h="519793">
                <a:tc>
                  <a:txBody>
                    <a:bodyPr/>
                    <a:lstStyle/>
                    <a:p>
                      <a:r>
                        <a:rPr sz="1725" b="0">
                          <a:solidFill>
                            <a:srgbClr val="202B58"/>
                          </a:solidFill>
                          <a:latin typeface="Noto Sans JP"/>
                          <a:ea typeface="Noto Sans JP"/>
                          <a:cs typeface="Noto Sans JP"/>
                        </a:rPr>
                        <a:t>10月 10-06</a:t>
                      </a:r>
                    </a:p>
                  </a:txBody>
                  <a:tcPr>
                    <a:solidFill>
                      <a:srgbClr val="FFFFFF"/>
                    </a:solidFill>
                  </a:tcPr>
                </a:tc>
                <a:tc>
                  <a:txBody>
                    <a:bodyPr/>
                    <a:lstStyle/>
                    <a:p>
                      <a:r>
                        <a:rPr sz="1725" b="0">
                          <a:solidFill>
                            <a:srgbClr val="202B58"/>
                          </a:solidFill>
                          <a:latin typeface="Noto Sans JP"/>
                          <a:ea typeface="Noto Sans JP"/>
                          <a:cs typeface="Noto Sans JP"/>
                        </a:rPr>
                        <a:t>466.35</a:t>
                      </a:r>
                    </a:p>
                  </a:txBody>
                  <a:tcPr>
                    <a:solidFill>
                      <a:srgbClr val="FFFFFF"/>
                    </a:solidFill>
                  </a:tcPr>
                </a:tc>
                <a:tc>
                  <a:txBody>
                    <a:bodyPr/>
                    <a:lstStyle/>
                    <a:p>
                      <a:r>
                        <a:rPr sz="1725" b="0">
                          <a:solidFill>
                            <a:srgbClr val="202B58"/>
                          </a:solidFill>
                          <a:latin typeface="Noto Sans JP"/>
                          <a:ea typeface="Noto Sans JP"/>
                          <a:cs typeface="Noto Sans JP"/>
                        </a:rPr>
                        <a:t>410.00</a:t>
                      </a:r>
                    </a:p>
                  </a:txBody>
                  <a:tcPr>
                    <a:solidFill>
                      <a:srgbClr val="FFFFFF"/>
                    </a:solidFill>
                  </a:tcPr>
                </a:tc>
                <a:tc>
                  <a:txBody>
                    <a:bodyPr/>
                    <a:lstStyle/>
                    <a:p>
                      <a:r>
                        <a:rPr sz="1725" b="0">
                          <a:solidFill>
                            <a:srgbClr val="202B58"/>
                          </a:solidFill>
                          <a:latin typeface="Noto Sans JP"/>
                          <a:ea typeface="Noto Sans JP"/>
                          <a:cs typeface="Noto Sans JP"/>
                        </a:rPr>
                        <a:t>16.65</a:t>
                      </a:r>
                    </a:p>
                  </a:txBody>
                  <a:tcPr>
                    <a:solidFill>
                      <a:srgbClr val="FFFFFF"/>
                    </a:solidFill>
                  </a:tcPr>
                </a:tc>
                <a:tc>
                  <a:txBody>
                    <a:bodyPr/>
                    <a:lstStyle/>
                    <a:p>
                      <a:r>
                        <a:rPr sz="1725" b="0">
                          <a:solidFill>
                            <a:srgbClr val="202B58"/>
                          </a:solidFill>
                          <a:latin typeface="Noto Sans JP"/>
                          <a:ea typeface="Noto Sans JP"/>
                          <a:cs typeface="Noto Sans JP"/>
                        </a:rPr>
                        <a:t>3.63</a:t>
                      </a:r>
                    </a:p>
                  </a:txBody>
                  <a:tcPr>
                    <a:solidFill>
                      <a:srgbClr val="FFFFFF"/>
                    </a:solidFill>
                  </a:tcPr>
                </a:tc>
                <a:tc>
                  <a:txBody>
                    <a:bodyPr/>
                    <a:lstStyle/>
                    <a:p>
                      <a:r>
                        <a:rPr sz="1725" b="0">
                          <a:solidFill>
                            <a:srgbClr val="202B58"/>
                          </a:solidFill>
                          <a:latin typeface="Noto Sans JP"/>
                          <a:ea typeface="Noto Sans JP"/>
                          <a:cs typeface="Noto Sans JP"/>
                        </a:rPr>
                        <a:t>35.73</a:t>
                      </a:r>
                    </a:p>
                  </a:txBody>
                  <a:tcPr>
                    <a:solidFill>
                      <a:srgbClr val="FFFFFF"/>
                    </a:solidFill>
                  </a:tcPr>
                </a:tc>
                <a:tc>
                  <a:txBody>
                    <a:bodyPr/>
                    <a:lstStyle/>
                    <a:p>
                      <a:r>
                        <a:rPr sz="1725" b="0">
                          <a:solidFill>
                            <a:srgbClr val="202B58"/>
                          </a:solidFill>
                          <a:latin typeface="Noto Sans JP"/>
                          <a:ea typeface="Noto Sans JP"/>
                          <a:cs typeface="Noto Sans JP"/>
                        </a:rPr>
                        <a:t>0.34</a:t>
                      </a:r>
                    </a:p>
                  </a:txBody>
                  <a:tcPr>
                    <a:solidFill>
                      <a:srgbClr val="FFFFFF"/>
                    </a:solidFill>
                  </a:tcPr>
                </a:tc>
                <a:extLst>
                  <a:ext uri="{0D108BD9-81ED-4DB2-BD59-A6C34878D82A}">
                    <a16:rowId xmlns:a16="http://schemas.microsoft.com/office/drawing/2014/main" val="10004"/>
                  </a:ext>
                </a:extLst>
              </a:tr>
              <a:tr h="519793">
                <a:tc>
                  <a:txBody>
                    <a:bodyPr/>
                    <a:lstStyle/>
                    <a:p>
                      <a:r>
                        <a:rPr sz="1725" b="0">
                          <a:solidFill>
                            <a:srgbClr val="202B58"/>
                          </a:solidFill>
                          <a:latin typeface="Noto Sans JP"/>
                          <a:ea typeface="Noto Sans JP"/>
                          <a:cs typeface="Noto Sans JP"/>
                        </a:rPr>
                        <a:t>11月 11-10</a:t>
                      </a:r>
                    </a:p>
                  </a:txBody>
                  <a:tcPr>
                    <a:solidFill>
                      <a:srgbClr val="F1F5F8"/>
                    </a:solidFill>
                  </a:tcPr>
                </a:tc>
                <a:tc>
                  <a:txBody>
                    <a:bodyPr/>
                    <a:lstStyle/>
                    <a:p>
                      <a:r>
                        <a:rPr sz="1725" b="0">
                          <a:solidFill>
                            <a:srgbClr val="202B58"/>
                          </a:solidFill>
                          <a:latin typeface="Noto Sans JP"/>
                          <a:ea typeface="Noto Sans JP"/>
                          <a:cs typeface="Noto Sans JP"/>
                        </a:rPr>
                        <a:t>511.02</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20.10</a:t>
                      </a:r>
                    </a:p>
                  </a:txBody>
                  <a:tcPr>
                    <a:solidFill>
                      <a:srgbClr val="F1F5F8"/>
                    </a:solidFill>
                  </a:tcPr>
                </a:tc>
                <a:tc>
                  <a:txBody>
                    <a:bodyPr/>
                    <a:lstStyle/>
                    <a:p>
                      <a:r>
                        <a:rPr sz="1725" b="0">
                          <a:solidFill>
                            <a:srgbClr val="202B58"/>
                          </a:solidFill>
                          <a:latin typeface="Noto Sans JP"/>
                          <a:ea typeface="Noto Sans JP"/>
                          <a:cs typeface="Noto Sans JP"/>
                        </a:rPr>
                        <a:t>3.53</a:t>
                      </a:r>
                    </a:p>
                  </a:txBody>
                  <a:tcPr>
                    <a:solidFill>
                      <a:srgbClr val="F1F5F8"/>
                    </a:solidFill>
                  </a:tcPr>
                </a:tc>
                <a:tc>
                  <a:txBody>
                    <a:bodyPr/>
                    <a:lstStyle/>
                    <a:p>
                      <a:r>
                        <a:rPr sz="1725" b="0">
                          <a:solidFill>
                            <a:srgbClr val="202B58"/>
                          </a:solidFill>
                          <a:latin typeface="Noto Sans JP"/>
                          <a:ea typeface="Noto Sans JP"/>
                          <a:cs typeface="Noto Sans JP"/>
                        </a:rPr>
                        <a:t>74.99</a:t>
                      </a:r>
                    </a:p>
                  </a:txBody>
                  <a:tcPr>
                    <a:solidFill>
                      <a:srgbClr val="F1F5F8"/>
                    </a:solidFill>
                  </a:tcPr>
                </a:tc>
                <a:tc>
                  <a:txBody>
                    <a:bodyPr/>
                    <a:lstStyle/>
                    <a:p>
                      <a:r>
                        <a:rPr sz="1725" b="0">
                          <a:solidFill>
                            <a:srgbClr val="202B58"/>
                          </a:solidFill>
                          <a:latin typeface="Noto Sans JP"/>
                          <a:ea typeface="Noto Sans JP"/>
                          <a:cs typeface="Noto Sans JP"/>
                        </a:rPr>
                        <a:t>0.40</a:t>
                      </a:r>
                    </a:p>
                  </a:txBody>
                  <a:tcPr>
                    <a:solidFill>
                      <a:srgbClr val="F1F5F8"/>
                    </a:solidFill>
                  </a:tcPr>
                </a:tc>
                <a:extLst>
                  <a:ext uri="{0D108BD9-81ED-4DB2-BD59-A6C34878D82A}">
                    <a16:rowId xmlns:a16="http://schemas.microsoft.com/office/drawing/2014/main" val="10005"/>
                  </a:ext>
                </a:extLst>
              </a:tr>
              <a:tr h="519793">
                <a:tc>
                  <a:txBody>
                    <a:bodyPr/>
                    <a:lstStyle/>
                    <a:p>
                      <a:r>
                        <a:rPr sz="1725" b="0">
                          <a:solidFill>
                            <a:srgbClr val="202B58"/>
                          </a:solidFill>
                          <a:latin typeface="Noto Sans JP"/>
                          <a:ea typeface="Noto Sans JP"/>
                          <a:cs typeface="Noto Sans JP"/>
                        </a:rPr>
                        <a:t>12月 12-01</a:t>
                      </a:r>
                    </a:p>
                  </a:txBody>
                  <a:tcPr>
                    <a:solidFill>
                      <a:srgbClr val="FFFFFF"/>
                    </a:solidFill>
                  </a:tcPr>
                </a:tc>
                <a:tc>
                  <a:txBody>
                    <a:bodyPr/>
                    <a:lstStyle/>
                    <a:p>
                      <a:r>
                        <a:rPr sz="1725" b="0">
                          <a:solidFill>
                            <a:srgbClr val="202B58"/>
                          </a:solidFill>
                          <a:latin typeface="Noto Sans JP"/>
                          <a:ea typeface="Noto Sans JP"/>
                          <a:cs typeface="Noto Sans JP"/>
                        </a:rPr>
                        <a:t>499.26</a:t>
                      </a:r>
                    </a:p>
                  </a:txBody>
                  <a:tcPr>
                    <a:solidFill>
                      <a:srgbClr val="FFFFFF"/>
                    </a:solidFill>
                  </a:tcPr>
                </a:tc>
                <a:tc>
                  <a:txBody>
                    <a:bodyPr/>
                    <a:lstStyle/>
                    <a:p>
                      <a:r>
                        <a:rPr sz="1725" b="0">
                          <a:solidFill>
                            <a:srgbClr val="202B58"/>
                          </a:solidFill>
                          <a:latin typeface="Noto Sans JP"/>
                          <a:ea typeface="Noto Sans JP"/>
                          <a:cs typeface="Noto Sans JP"/>
                        </a:rPr>
                        <a:t>412.00</a:t>
                      </a:r>
                    </a:p>
                  </a:txBody>
                  <a:tcPr>
                    <a:solidFill>
                      <a:srgbClr val="FFFFFF"/>
                    </a:solidFill>
                  </a:tcPr>
                </a:tc>
                <a:tc>
                  <a:txBody>
                    <a:bodyPr/>
                    <a:lstStyle/>
                    <a:p>
                      <a:r>
                        <a:rPr sz="1725" b="0">
                          <a:solidFill>
                            <a:srgbClr val="202B58"/>
                          </a:solidFill>
                          <a:latin typeface="Noto Sans JP"/>
                          <a:ea typeface="Noto Sans JP"/>
                          <a:cs typeface="Noto Sans JP"/>
                        </a:rPr>
                        <a:t>20.89</a:t>
                      </a:r>
                    </a:p>
                  </a:txBody>
                  <a:tcPr>
                    <a:solidFill>
                      <a:srgbClr val="FFFFFF"/>
                    </a:solidFill>
                  </a:tcPr>
                </a:tc>
                <a:tc>
                  <a:txBody>
                    <a:bodyPr/>
                    <a:lstStyle/>
                    <a:p>
                      <a:r>
                        <a:rPr sz="1725" b="0">
                          <a:solidFill>
                            <a:srgbClr val="202B58"/>
                          </a:solidFill>
                          <a:latin typeface="Noto Sans JP"/>
                          <a:ea typeface="Noto Sans JP"/>
                          <a:cs typeface="Noto Sans JP"/>
                        </a:rPr>
                        <a:t>3.84</a:t>
                      </a:r>
                    </a:p>
                  </a:txBody>
                  <a:tcPr>
                    <a:solidFill>
                      <a:srgbClr val="FFFFFF"/>
                    </a:solidFill>
                  </a:tcPr>
                </a:tc>
                <a:tc>
                  <a:txBody>
                    <a:bodyPr/>
                    <a:lstStyle/>
                    <a:p>
                      <a:r>
                        <a:rPr sz="1725" b="0">
                          <a:solidFill>
                            <a:srgbClr val="202B58"/>
                          </a:solidFill>
                          <a:latin typeface="Noto Sans JP"/>
                          <a:ea typeface="Noto Sans JP"/>
                          <a:cs typeface="Noto Sans JP"/>
                        </a:rPr>
                        <a:t>62.12</a:t>
                      </a:r>
                    </a:p>
                  </a:txBody>
                  <a:tcPr>
                    <a:solidFill>
                      <a:srgbClr val="FFFFFF"/>
                    </a:solidFill>
                  </a:tcPr>
                </a:tc>
                <a:tc>
                  <a:txBody>
                    <a:bodyPr/>
                    <a:lstStyle/>
                    <a:p>
                      <a:r>
                        <a:rPr sz="1725" b="0">
                          <a:solidFill>
                            <a:srgbClr val="202B58"/>
                          </a:solidFill>
                          <a:latin typeface="Noto Sans JP"/>
                          <a:ea typeface="Noto Sans JP"/>
                          <a:cs typeface="Noto Sans JP"/>
                        </a:rPr>
                        <a:t>0.41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38016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51D57C5D-3D5D-409B-851D-FCC593652A9E}"/>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代表週の購入電力量とPV供給可能量</a:t>
            </a:r>
          </a:p>
        </p:txBody>
      </p:sp>
      <p:sp>
        <p:nvSpPr>
          <p:cNvPr id="2" name="正方形/長方形 1">
            <a:extLst>
              <a:ext uri="{FF2B5EF4-FFF2-40B4-BE49-F238E27FC236}">
                <a16:creationId xmlns:a16="http://schemas.microsoft.com/office/drawing/2014/main" id="{B19091E2-7802-4ACE-9D36-C9A8324C8530}"/>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単位：MWh。収録済みの各月1週を比較（営業7日間＋最終翌朝）</a:t>
            </a:r>
          </a:p>
        </p:txBody>
      </p:sp>
      <p:sp>
        <p:nvSpPr>
          <p:cNvPr id="3" name="正方形/長方形 2">
            <a:extLst>
              <a:ext uri="{FF2B5EF4-FFF2-40B4-BE49-F238E27FC236}">
                <a16:creationId xmlns:a16="http://schemas.microsoft.com/office/drawing/2014/main" id="{BF13105B-7E66-43E5-B343-8D8FED0AB649}"/>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月平均・年間合計ではなく、それぞれの代表週の結果を示す</a:t>
            </a:r>
          </a:p>
        </p:txBody>
      </p:sp>
      <p:sp>
        <p:nvSpPr>
          <p:cNvPr id="4" name="正方形/長方形 3">
            <a:extLst>
              <a:ext uri="{FF2B5EF4-FFF2-40B4-BE49-F238E27FC236}">
                <a16:creationId xmlns:a16="http://schemas.microsoft.com/office/drawing/2014/main" id="{BFC246E1-C077-4E1E-8FA5-45D0E779C783}"/>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電費・燃費は一定。PVだけの因果効果や、冷暖房負荷を含む季節差とは解釈しない。</a:t>
            </a:r>
          </a:p>
        </p:txBody>
      </p:sp>
      <p:graphicFrame>
        <p:nvGraphicFramePr>
          <p:cNvPr id="10" name="Chart"/>
          <p:cNvGraphicFramePr/>
          <p:nvPr/>
        </p:nvGraphicFramePr>
        <p:xfrm>
          <a:off x="666750" y="1752600"/>
          <a:ext cx="10763250"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3503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1328F6A6-43A6-479F-9DBC-B9BEB1B43FF5}"/>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費用差の内訳</a:t>
            </a:r>
          </a:p>
        </p:txBody>
      </p:sp>
      <p:sp>
        <p:nvSpPr>
          <p:cNvPr id="2" name="正方形/長方形 1">
            <a:extLst>
              <a:ext uri="{FF2B5EF4-FFF2-40B4-BE49-F238E27FC236}">
                <a16:creationId xmlns:a16="http://schemas.microsoft.com/office/drawing/2014/main" id="{93ACF90D-C256-43B9-B9BE-5EAC096194F3}"/>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収録12週の最高額 3月と最低額 8月の差。最適費用の順位ではない</a:t>
            </a:r>
          </a:p>
        </p:txBody>
      </p:sp>
      <p:sp>
        <p:nvSpPr>
          <p:cNvPr id="3" name="正方形/長方形 2">
            <a:extLst>
              <a:ext uri="{FF2B5EF4-FFF2-40B4-BE49-F238E27FC236}">
                <a16:creationId xmlns:a16="http://schemas.microsoft.com/office/drawing/2014/main" id="{4E1ED0C2-F2FB-486F-92C1-782D124CA76A}"/>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週次費用差は 194.81万円。費目と入力条件を併せて解釈する</a:t>
            </a:r>
          </a:p>
        </p:txBody>
      </p:sp>
      <p:sp>
        <p:nvSpPr>
          <p:cNvPr id="4" name="正方形/長方形 3">
            <a:extLst>
              <a:ext uri="{FF2B5EF4-FFF2-40B4-BE49-F238E27FC236}">
                <a16:creationId xmlns:a16="http://schemas.microsoft.com/office/drawing/2014/main" id="{1D591F6C-087B-4DED-91FB-ED8C66100FC1}"/>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差は観測した計画間の記述値。PVの効果・手法の削減効果・年間節約額を直接示さない。</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647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606425">
                <a:tc>
                  <a:txBody>
                    <a:bodyPr/>
                    <a:lstStyle/>
                    <a:p>
                      <a:r>
                        <a:rPr sz="1875" b="1">
                          <a:solidFill>
                            <a:srgbClr val="FFFFFF"/>
                          </a:solidFill>
                          <a:latin typeface="Noto Sans JP"/>
                          <a:ea typeface="Noto Sans JP"/>
                          <a:cs typeface="Noto Sans JP"/>
                        </a:rPr>
                        <a:t>費目</a:t>
                      </a:r>
                    </a:p>
                  </a:txBody>
                  <a:tcPr>
                    <a:solidFill>
                      <a:srgbClr val="202B58"/>
                    </a:solidFill>
                  </a:tcPr>
                </a:tc>
                <a:tc>
                  <a:txBody>
                    <a:bodyPr/>
                    <a:lstStyle/>
                    <a:p>
                      <a:r>
                        <a:rPr sz="1875" b="1">
                          <a:solidFill>
                            <a:srgbClr val="FFFFFF"/>
                          </a:solidFill>
                          <a:latin typeface="Noto Sans JP"/>
                          <a:ea typeface="Noto Sans JP"/>
                          <a:cs typeface="Noto Sans JP"/>
                        </a:rPr>
                        <a:t>3月 − 8月 [万円]</a:t>
                      </a:r>
                    </a:p>
                  </a:txBody>
                  <a:tcPr>
                    <a:solidFill>
                      <a:srgbClr val="202B58"/>
                    </a:solidFill>
                  </a:tcPr>
                </a:tc>
                <a:extLst>
                  <a:ext uri="{0D108BD9-81ED-4DB2-BD59-A6C34878D82A}">
                    <a16:rowId xmlns:a16="http://schemas.microsoft.com/office/drawing/2014/main" val="10000"/>
                  </a:ext>
                </a:extLst>
              </a:tr>
              <a:tr h="606425">
                <a:tc>
                  <a:txBody>
                    <a:bodyPr/>
                    <a:lstStyle/>
                    <a:p>
                      <a:r>
                        <a:rPr sz="1875" b="0">
                          <a:solidFill>
                            <a:srgbClr val="202B58"/>
                          </a:solidFill>
                          <a:latin typeface="Noto Sans JP"/>
                          <a:ea typeface="Noto Sans JP"/>
                          <a:cs typeface="Noto Sans JP"/>
                        </a:rPr>
                        <a:t>車両日費</a:t>
                      </a:r>
                    </a:p>
                  </a:txBody>
                  <a:tcPr>
                    <a:solidFill>
                      <a:srgbClr val="F1F5F8"/>
                    </a:solidFill>
                  </a:tcPr>
                </a:tc>
                <a:tc>
                  <a:txBody>
                    <a:bodyPr/>
                    <a:lstStyle/>
                    <a:p>
                      <a:r>
                        <a:rPr sz="1875"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606425">
                <a:tc>
                  <a:txBody>
                    <a:bodyPr/>
                    <a:lstStyle/>
                    <a:p>
                      <a:r>
                        <a:rPr sz="1875" b="0">
                          <a:solidFill>
                            <a:srgbClr val="202B58"/>
                          </a:solidFill>
                          <a:latin typeface="Noto Sans JP"/>
                          <a:ea typeface="Noto Sans JP"/>
                          <a:cs typeface="Noto Sans JP"/>
                        </a:rPr>
                        <a:t>買電費</a:t>
                      </a:r>
                    </a:p>
                  </a:txBody>
                  <a:tcPr>
                    <a:solidFill>
                      <a:srgbClr val="FFFFFF"/>
                    </a:solidFill>
                  </a:tcPr>
                </a:tc>
                <a:tc>
                  <a:txBody>
                    <a:bodyPr/>
                    <a:lstStyle/>
                    <a:p>
                      <a:r>
                        <a:rPr sz="1875" b="0">
                          <a:solidFill>
                            <a:srgbClr val="202B58"/>
                          </a:solidFill>
                          <a:latin typeface="Noto Sans JP"/>
                          <a:ea typeface="Noto Sans JP"/>
                          <a:cs typeface="Noto Sans JP"/>
                        </a:rPr>
                        <a:t>29.52</a:t>
                      </a:r>
                    </a:p>
                  </a:txBody>
                  <a:tcPr>
                    <a:solidFill>
                      <a:srgbClr val="FFFFFF"/>
                    </a:solidFill>
                  </a:tcPr>
                </a:tc>
                <a:extLst>
                  <a:ext uri="{0D108BD9-81ED-4DB2-BD59-A6C34878D82A}">
                    <a16:rowId xmlns:a16="http://schemas.microsoft.com/office/drawing/2014/main" val="10002"/>
                  </a:ext>
                </a:extLst>
              </a:tr>
              <a:tr h="606425">
                <a:tc>
                  <a:txBody>
                    <a:bodyPr/>
                    <a:lstStyle/>
                    <a:p>
                      <a:r>
                        <a:rPr sz="1875" b="0">
                          <a:solidFill>
                            <a:srgbClr val="202B58"/>
                          </a:solidFill>
                          <a:latin typeface="Noto Sans JP"/>
                          <a:ea typeface="Noto Sans JP"/>
                          <a:cs typeface="Noto Sans JP"/>
                        </a:rPr>
                        <a:t>燃料費（消費在庫の評価含む）</a:t>
                      </a:r>
                    </a:p>
                  </a:txBody>
                  <a:tcPr>
                    <a:solidFill>
                      <a:srgbClr val="F1F5F8"/>
                    </a:solidFill>
                  </a:tcPr>
                </a:tc>
                <a:tc>
                  <a:txBody>
                    <a:bodyPr/>
                    <a:lstStyle/>
                    <a:p>
                      <a:r>
                        <a:rPr sz="1875" b="0">
                          <a:solidFill>
                            <a:srgbClr val="202B58"/>
                          </a:solidFill>
                          <a:latin typeface="Noto Sans JP"/>
                          <a:ea typeface="Noto Sans JP"/>
                          <a:cs typeface="Noto Sans JP"/>
                        </a:rPr>
                        <a:t>-0.09</a:t>
                      </a:r>
                    </a:p>
                  </a:txBody>
                  <a:tcPr>
                    <a:solidFill>
                      <a:srgbClr val="F1F5F8"/>
                    </a:solidFill>
                  </a:tcPr>
                </a:tc>
                <a:extLst>
                  <a:ext uri="{0D108BD9-81ED-4DB2-BD59-A6C34878D82A}">
                    <a16:rowId xmlns:a16="http://schemas.microsoft.com/office/drawing/2014/main" val="10003"/>
                  </a:ext>
                </a:extLst>
              </a:tr>
              <a:tr h="606425">
                <a:tc>
                  <a:txBody>
                    <a:bodyPr/>
                    <a:lstStyle/>
                    <a:p>
                      <a:r>
                        <a:rPr sz="1875" b="0">
                          <a:solidFill>
                            <a:srgbClr val="202B58"/>
                          </a:solidFill>
                          <a:latin typeface="Noto Sans JP"/>
                          <a:ea typeface="Noto Sans JP"/>
                          <a:cs typeface="Noto Sans JP"/>
                        </a:rPr>
                        <a:t>契約超過モデル費</a:t>
                      </a:r>
                    </a:p>
                  </a:txBody>
                  <a:tcPr>
                    <a:solidFill>
                      <a:srgbClr val="FFFFFF"/>
                    </a:solidFill>
                  </a:tcPr>
                </a:tc>
                <a:tc>
                  <a:txBody>
                    <a:bodyPr/>
                    <a:lstStyle/>
                    <a:p>
                      <a:r>
                        <a:rPr sz="1875" b="0">
                          <a:solidFill>
                            <a:srgbClr val="202B58"/>
                          </a:solidFill>
                          <a:latin typeface="Noto Sans JP"/>
                          <a:ea typeface="Noto Sans JP"/>
                          <a:cs typeface="Noto Sans JP"/>
                        </a:rPr>
                        <a:t>164.88</a:t>
                      </a:r>
                    </a:p>
                  </a:txBody>
                  <a:tcPr>
                    <a:solidFill>
                      <a:srgbClr val="FFFFFF"/>
                    </a:solidFill>
                  </a:tcPr>
                </a:tc>
                <a:extLst>
                  <a:ext uri="{0D108BD9-81ED-4DB2-BD59-A6C34878D82A}">
                    <a16:rowId xmlns:a16="http://schemas.microsoft.com/office/drawing/2014/main" val="10004"/>
                  </a:ext>
                </a:extLst>
              </a:tr>
              <a:tr h="606425">
                <a:tc>
                  <a:txBody>
                    <a:bodyPr/>
                    <a:lstStyle/>
                    <a:p>
                      <a:r>
                        <a:rPr sz="1875" b="0">
                          <a:solidFill>
                            <a:srgbClr val="202B58"/>
                          </a:solidFill>
                          <a:latin typeface="Noto Sans JP"/>
                          <a:ea typeface="Noto Sans JP"/>
                          <a:cs typeface="Noto Sans JP"/>
                        </a:rPr>
                        <a:t>CO₂費</a:t>
                      </a:r>
                    </a:p>
                  </a:txBody>
                  <a:tcPr>
                    <a:solidFill>
                      <a:srgbClr val="F1F5F8"/>
                    </a:solidFill>
                  </a:tcPr>
                </a:tc>
                <a:tc>
                  <a:txBody>
                    <a:bodyPr/>
                    <a:lstStyle/>
                    <a:p>
                      <a:r>
                        <a:rPr sz="1875" b="0">
                          <a:solidFill>
                            <a:srgbClr val="202B58"/>
                          </a:solidFill>
                          <a:latin typeface="Noto Sans JP"/>
                          <a:ea typeface="Noto Sans JP"/>
                          <a:cs typeface="Noto Sans JP"/>
                        </a:rPr>
                        <a:t>0.49</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46181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93495CB-485D-44A8-B9BB-E8F86F4EA985}"/>
              </a:ext>
            </a:extLst>
          </p:cNvPr>
          <p:cNvSpPr>
            <a:spLocks noGrp="1"/>
          </p:cNvSpPr>
          <p:nvPr/>
        </p:nvSpPr>
        <p:spPr>
          <a:xfrm>
            <a:off x="514350" y="238125"/>
            <a:ext cx="11144250" cy="628650"/>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確認できたことと残る範囲</a:t>
            </a:r>
          </a:p>
        </p:txBody>
      </p:sp>
      <p:sp>
        <p:nvSpPr>
          <p:cNvPr id="2" name="正方形/長方形 1">
            <a:extLst>
              <a:ext uri="{FF2B5EF4-FFF2-40B4-BE49-F238E27FC236}">
                <a16:creationId xmlns:a16="http://schemas.microsoft.com/office/drawing/2014/main" id="{590F6191-F3ED-481D-988A-B53C97DB1B43}"/>
              </a:ext>
            </a:extLst>
          </p:cNvPr>
          <p:cNvSpPr>
            <a:spLocks noGrp="1"/>
          </p:cNvSpPr>
          <p:nvPr/>
        </p:nvSpPr>
        <p:spPr>
          <a:xfrm>
            <a:off x="666750" y="1009650"/>
            <a:ext cx="10906125" cy="60960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週次運行・経済性・月別の違いを、原本に対応する数値で説明する</a:t>
            </a:r>
          </a:p>
        </p:txBody>
      </p:sp>
      <p:sp>
        <p:nvSpPr>
          <p:cNvPr id="3" name="正方形/長方形 2">
            <a:extLst>
              <a:ext uri="{FF2B5EF4-FFF2-40B4-BE49-F238E27FC236}">
                <a16:creationId xmlns:a16="http://schemas.microsoft.com/office/drawing/2014/main" id="{EA1904FF-E8B7-4D0D-BE6B-C59770FE4589}"/>
              </a:ext>
            </a:extLst>
          </p:cNvPr>
          <p:cNvSpPr>
            <a:spLocks noGrp="1"/>
          </p:cNvSpPr>
          <p:nvPr/>
        </p:nvSpPr>
        <p:spPr>
          <a:xfrm>
            <a:off x="666750" y="5667375"/>
            <a:ext cx="10906125" cy="514350"/>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図表の注意と、運行・会計の不整合を区別して結果を積み上げる</a:t>
            </a:r>
          </a:p>
        </p:txBody>
      </p:sp>
      <p:sp>
        <p:nvSpPr>
          <p:cNvPr id="4" name="正方形/長方形 3">
            <a:extLst>
              <a:ext uri="{FF2B5EF4-FFF2-40B4-BE49-F238E27FC236}">
                <a16:creationId xmlns:a16="http://schemas.microsoft.com/office/drawing/2014/main" id="{26362EF1-E838-4491-B1BE-F9DF7A0BC8F3}"/>
              </a:ext>
            </a:extLst>
          </p:cNvPr>
          <p:cNvSpPr>
            <a:spLocks noGrp="1"/>
          </p:cNvSpPr>
          <p:nvPr/>
        </p:nvSpPr>
        <p:spPr>
          <a:xfrm>
            <a:off x="666750" y="6276975"/>
            <a:ext cx="10906125" cy="36195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DIAGNOSTIC / NOT USED FOR RESEARCH CONCLUSIONS。独立した正式研究採用承認は別途必要。</a:t>
            </a:r>
          </a:p>
        </p:txBody>
      </p:sp>
      <p:graphicFrame>
        <p:nvGraphicFramePr>
          <p:cNvPr id="10" name="表 9"/>
          <p:cNvGraphicFramePr/>
          <p:nvPr/>
        </p:nvGraphicFramePr>
        <p:xfrm>
          <a:off x="571500" y="1752600"/>
          <a:ext cx="11049000" cy="3638550"/>
        </p:xfrm>
        <a:graphic>
          <a:graphicData uri="http://schemas.openxmlformats.org/drawingml/2006/table">
            <a:tbl>
              <a:tblPr/>
              <a:tblGrid>
                <a:gridCol w="2619375">
                  <a:extLst>
                    <a:ext uri="{9D8B030D-6E8A-4147-A177-3AD203B41FA5}">
                      <a16:colId xmlns:a16="http://schemas.microsoft.com/office/drawing/2014/main" val="20000"/>
                    </a:ext>
                  </a:extLst>
                </a:gridCol>
                <a:gridCol w="8429625">
                  <a:extLst>
                    <a:ext uri="{9D8B030D-6E8A-4147-A177-3AD203B41FA5}">
                      <a16:colId xmlns:a16="http://schemas.microsoft.com/office/drawing/2014/main" val="20001"/>
                    </a:ext>
                  </a:extLst>
                </a:gridCol>
              </a:tblGrid>
              <a:tr h="606425">
                <a:tc>
                  <a:txBody>
                    <a:bodyPr/>
                    <a:lstStyle/>
                    <a:p>
                      <a:r>
                        <a:rPr sz="1725" b="1">
                          <a:solidFill>
                            <a:srgbClr val="FFFFFF"/>
                          </a:solidFill>
                          <a:latin typeface="Noto Sans JP"/>
                          <a:ea typeface="Noto Sans JP"/>
                          <a:cs typeface="Noto Sans JP"/>
                        </a:rPr>
                        <a:t>論点</a:t>
                      </a:r>
                    </a:p>
                  </a:txBody>
                  <a:tcPr>
                    <a:solidFill>
                      <a:srgbClr val="202B58"/>
                    </a:solidFill>
                  </a:tcPr>
                </a:tc>
                <a:tc>
                  <a:txBody>
                    <a:bodyPr/>
                    <a:lstStyle/>
                    <a:p>
                      <a:r>
                        <a:rPr sz="1725" b="1">
                          <a:solidFill>
                            <a:srgbClr val="FFFFFF"/>
                          </a:solidFill>
                          <a:latin typeface="Noto Sans JP"/>
                          <a:ea typeface="Noto Sans JP"/>
                          <a:cs typeface="Noto Sans JP"/>
                        </a:rPr>
                        <a:t>結果・解釈の範囲</a:t>
                      </a:r>
                    </a:p>
                  </a:txBody>
                  <a:tcPr>
                    <a:solidFill>
                      <a:srgbClr val="202B58"/>
                    </a:solidFill>
                  </a:tcPr>
                </a:tc>
                <a:extLst>
                  <a:ext uri="{0D108BD9-81ED-4DB2-BD59-A6C34878D82A}">
                    <a16:rowId xmlns:a16="http://schemas.microsoft.com/office/drawing/2014/main" val="10000"/>
                  </a:ext>
                </a:extLst>
              </a:tr>
              <a:tr h="606425">
                <a:tc>
                  <a:txBody>
                    <a:bodyPr/>
                    <a:lstStyle/>
                    <a:p>
                      <a:r>
                        <a:rPr sz="1725" b="0">
                          <a:solidFill>
                            <a:srgbClr val="202B58"/>
                          </a:solidFill>
                          <a:latin typeface="Noto Sans JP"/>
                          <a:ea typeface="Noto Sans JP"/>
                          <a:cs typeface="Noto Sans JP"/>
                        </a:rPr>
                        <a:t>連続7日間</a:t>
                      </a:r>
                    </a:p>
                  </a:txBody>
                  <a:tcPr>
                    <a:solidFill>
                      <a:srgbClr val="F1F5F8"/>
                    </a:solidFill>
                  </a:tcPr>
                </a:tc>
                <a:tc>
                  <a:txBody>
                    <a:bodyPr/>
                    <a:lstStyle/>
                    <a:p>
                      <a:r>
                        <a:rPr sz="1725" b="0">
                          <a:solidFill>
                            <a:srgbClr val="202B58"/>
                          </a:solidFill>
                          <a:latin typeface="Noto Sans JP"/>
                          <a:ea typeface="Noto Sans JP"/>
                          <a:cs typeface="Noto Sans JP"/>
                        </a:rPr>
                        <a:t>12週で全便・SOC・電力収支・会計を確認。全12週を収録。</a:t>
                      </a:r>
                    </a:p>
                  </a:txBody>
                  <a:tcPr>
                    <a:solidFill>
                      <a:srgbClr val="F1F5F8"/>
                    </a:solidFill>
                  </a:tcPr>
                </a:tc>
                <a:extLst>
                  <a:ext uri="{0D108BD9-81ED-4DB2-BD59-A6C34878D82A}">
                    <a16:rowId xmlns:a16="http://schemas.microsoft.com/office/drawing/2014/main" val="10001"/>
                  </a:ext>
                </a:extLst>
              </a:tr>
              <a:tr h="606425">
                <a:tc>
                  <a:txBody>
                    <a:bodyPr/>
                    <a:lstStyle/>
                    <a:p>
                      <a:r>
                        <a:rPr sz="1725" b="0">
                          <a:solidFill>
                            <a:srgbClr val="202B58"/>
                          </a:solidFill>
                          <a:latin typeface="Noto Sans JP"/>
                          <a:ea typeface="Noto Sans JP"/>
                          <a:cs typeface="Noto Sans JP"/>
                        </a:rPr>
                        <a:t>週間費用</a:t>
                      </a:r>
                    </a:p>
                  </a:txBody>
                  <a:tcPr>
                    <a:solidFill>
                      <a:srgbClr val="FFFFFF"/>
                    </a:solidFill>
                  </a:tcPr>
                </a:tc>
                <a:tc>
                  <a:txBody>
                    <a:bodyPr/>
                    <a:lstStyle/>
                    <a:p>
                      <a:r>
                        <a:rPr sz="1725" b="0">
                          <a:solidFill>
                            <a:srgbClr val="202B58"/>
                          </a:solidFill>
                          <a:latin typeface="Noto Sans JP"/>
                          <a:ea typeface="Noto Sans JP"/>
                          <a:cs typeface="Noto Sans JP"/>
                        </a:rPr>
                        <a:t>417.85〜612.65万円。設備投資の採算は評価外。</a:t>
                      </a:r>
                    </a:p>
                  </a:txBody>
                  <a:tcPr>
                    <a:solidFill>
                      <a:srgbClr val="FFFFFF"/>
                    </a:solidFill>
                  </a:tcPr>
                </a:tc>
                <a:extLst>
                  <a:ext uri="{0D108BD9-81ED-4DB2-BD59-A6C34878D82A}">
                    <a16:rowId xmlns:a16="http://schemas.microsoft.com/office/drawing/2014/main" val="10002"/>
                  </a:ext>
                </a:extLst>
              </a:tr>
              <a:tr h="606425">
                <a:tc>
                  <a:txBody>
                    <a:bodyPr/>
                    <a:lstStyle/>
                    <a:p>
                      <a:r>
                        <a:rPr sz="1725" b="0">
                          <a:solidFill>
                            <a:srgbClr val="202B58"/>
                          </a:solidFill>
                          <a:latin typeface="Noto Sans JP"/>
                          <a:ea typeface="Noto Sans JP"/>
                          <a:cs typeface="Noto Sans JP"/>
                        </a:rPr>
                        <a:t>BESSの在庫</a:t>
                      </a:r>
                    </a:p>
                  </a:txBody>
                  <a:tcPr>
                    <a:solidFill>
                      <a:srgbClr val="F1F5F8"/>
                    </a:solidFill>
                  </a:tcPr>
                </a:tc>
                <a:tc>
                  <a:txBody>
                    <a:bodyPr/>
                    <a:lstStyle/>
                    <a:p>
                      <a:r>
                        <a:rPr sz="1725" b="0">
                          <a:solidFill>
                            <a:srgbClr val="202B58"/>
                          </a:solidFill>
                          <a:latin typeface="Noto Sans JP"/>
                          <a:ea typeface="Noto Sans JP"/>
                          <a:cs typeface="Noto Sans JP"/>
                        </a:rPr>
                        <a:t>12月：3,000 → 1,539.42 kWh。初期在庫利用を含む。</a:t>
                      </a:r>
                    </a:p>
                  </a:txBody>
                  <a:tcPr>
                    <a:solidFill>
                      <a:srgbClr val="F1F5F8"/>
                    </a:solidFill>
                  </a:tcPr>
                </a:tc>
                <a:extLst>
                  <a:ext uri="{0D108BD9-81ED-4DB2-BD59-A6C34878D82A}">
                    <a16:rowId xmlns:a16="http://schemas.microsoft.com/office/drawing/2014/main" val="10003"/>
                  </a:ext>
                </a:extLst>
              </a:tr>
              <a:tr h="606425">
                <a:tc>
                  <a:txBody>
                    <a:bodyPr/>
                    <a:lstStyle/>
                    <a:p>
                      <a:r>
                        <a:rPr sz="1725" b="0">
                          <a:solidFill>
                            <a:srgbClr val="202B58"/>
                          </a:solidFill>
                          <a:latin typeface="Noto Sans JP"/>
                          <a:ea typeface="Noto Sans JP"/>
                          <a:cs typeface="Noto Sans JP"/>
                        </a:rPr>
                        <a:t>季節の説明</a:t>
                      </a:r>
                    </a:p>
                  </a:txBody>
                  <a:tcPr>
                    <a:solidFill>
                      <a:srgbClr val="FFFFFF"/>
                    </a:solidFill>
                  </a:tcPr>
                </a:tc>
                <a:tc>
                  <a:txBody>
                    <a:bodyPr/>
                    <a:lstStyle/>
                    <a:p>
                      <a:r>
                        <a:rPr sz="1725" b="0">
                          <a:solidFill>
                            <a:srgbClr val="202B58"/>
                          </a:solidFill>
                          <a:latin typeface="Noto Sans JP"/>
                          <a:ea typeface="Noto Sans JP"/>
                          <a:cs typeface="Noto Sans JP"/>
                        </a:rPr>
                        <a:t>電費一定・各月1週の条件差。空調負荷・季節全体の平均は未評価。</a:t>
                      </a:r>
                    </a:p>
                  </a:txBody>
                  <a:tcPr>
                    <a:solidFill>
                      <a:srgbClr val="FFFFFF"/>
                    </a:solidFill>
                  </a:tcPr>
                </a:tc>
                <a:extLst>
                  <a:ext uri="{0D108BD9-81ED-4DB2-BD59-A6C34878D82A}">
                    <a16:rowId xmlns:a16="http://schemas.microsoft.com/office/drawing/2014/main" val="10004"/>
                  </a:ext>
                </a:extLst>
              </a:tr>
              <a:tr h="606425">
                <a:tc>
                  <a:txBody>
                    <a:bodyPr/>
                    <a:lstStyle/>
                    <a:p>
                      <a:r>
                        <a:rPr sz="1725" b="0">
                          <a:solidFill>
                            <a:srgbClr val="202B58"/>
                          </a:solidFill>
                          <a:latin typeface="Noto Sans JP"/>
                          <a:ea typeface="Noto Sans JP"/>
                          <a:cs typeface="Noto Sans JP"/>
                        </a:rPr>
                        <a:t>次の更新</a:t>
                      </a:r>
                    </a:p>
                  </a:txBody>
                  <a:tcPr>
                    <a:solidFill>
                      <a:srgbClr val="F1F5F8"/>
                    </a:solidFill>
                  </a:tcPr>
                </a:tc>
                <a:tc>
                  <a:txBody>
                    <a:bodyPr/>
                    <a:lstStyle/>
                    <a:p>
                      <a:r>
                        <a:rPr sz="1725" b="0">
                          <a:solidFill>
                            <a:srgbClr val="202B58"/>
                          </a:solidFill>
                          <a:latin typeface="Noto Sans JP"/>
                          <a:ea typeface="Noto Sans JP"/>
                          <a:cs typeface="Noto Sans JP"/>
                        </a:rPr>
                        <a:t>全月の運用・費用・気象標準カーブを最終資料へ統合。</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47041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3400" b="1">
                <a:solidFill>
                  <a:srgbClr val="FFFFFF"/>
                </a:solidFill>
                <a:latin typeface="Noto Sans JP"/>
                <a:ea typeface="Noto Sans JP"/>
                <a:cs typeface="Noto Sans JP"/>
              </a:rPr>
              <a:t>修士論文研究　9月進捗報告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2200" b="1">
                <a:solidFill>
                  <a:srgbClr val="172033"/>
                </a:solidFill>
                <a:latin typeface="Noto Sans JP"/>
                <a:ea typeface="Noto Sans JP"/>
                <a:cs typeface="Noto Sans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defRPr>
                <a:latin typeface="Noto Sans JP"/>
                <a:ea typeface="Noto Sans JP"/>
                <a:cs typeface="Noto Sans JP"/>
              </a:defRPr>
            </a:pPr>
            <a:r>
              <a:rPr sz="1600">
                <a:solidFill>
                  <a:srgbClr val="687386"/>
                </a:solidFill>
                <a:latin typeface="Noto Sans JP"/>
                <a:ea typeface="Noto Sans JP"/>
                <a:cs typeface="Noto Sans JP"/>
              </a:rPr>
              <a:t>月別12週のシミュレーションと、受電電力・費用の違い</a:t>
            </a:r>
            <a:endParaRPr sz="1600"/>
          </a:p>
        </p:txBody>
      </p:sp>
      <p:pic>
        <p:nvPicPr>
          <p:cNvPr id="27" name="Image 0"/>
          <p:cNvPicPr>
            <a:picLocks noChangeAspect="1"/>
          </p:cNvPicPr>
          <p:nvPr/>
        </p:nvPicPr>
        <p:blipFill>
          <a:blip r:embed="rId3"/>
          <a:srcRect/>
          <a:stretch>
            <a:fillRect/>
          </a:stretch>
        </p:blipFill>
        <p:spPr>
          <a:xfrm>
            <a:off x="3154680" y="4187952"/>
            <a:ext cx="658368" cy="658368"/>
          </a:xfrm>
          <a:prstGeom prst="rect">
            <a:avLst/>
          </a:prstGeom>
        </p:spPr>
      </p:pic>
      <p:pic>
        <p:nvPicPr>
          <p:cNvPr id="28" name="Image 1"/>
          <p:cNvPicPr>
            <a:picLocks noChangeAspect="1"/>
          </p:cNvPicPr>
          <p:nvPr/>
        </p:nvPicPr>
        <p:blipFill>
          <a:blip r:embed="rId4"/>
          <a:srcRect t="2314" b="2314"/>
          <a:stretch>
            <a:fillRect/>
          </a:stretch>
        </p:blipFill>
        <p:spPr>
          <a:xfrm>
            <a:off x="4709160" y="4133088"/>
            <a:ext cx="841248" cy="713232"/>
          </a:xfrm>
          <a:prstGeom prst="rect">
            <a:avLst/>
          </a:prstGeom>
        </p:spPr>
      </p:pic>
      <p:pic>
        <p:nvPicPr>
          <p:cNvPr id="29" name="Image 2"/>
          <p:cNvPicPr>
            <a:picLocks noChangeAspect="1"/>
          </p:cNvPicPr>
          <p:nvPr/>
        </p:nvPicPr>
        <p:blipFill>
          <a:blip r:embed="rId5"/>
          <a:srcRect t="3357" b="3357"/>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defRPr>
                <a:latin typeface="Noto Sans JP"/>
                <a:ea typeface="Noto Sans JP"/>
                <a:cs typeface="Noto Sans JP"/>
              </a:defRPr>
            </a:pPr>
            <a:r>
              <a:rPr sz="1350">
                <a:solidFill>
                  <a:srgbClr val="687386"/>
                </a:solidFill>
                <a:latin typeface="Noto Sans JP"/>
                <a:ea typeface="Noto Sans JP"/>
                <a:cs typeface="Noto Sans JP"/>
              </a:rPr>
              <a:t>2026年9月18日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defRPr>
                <a:latin typeface="Noto Sans JP"/>
                <a:ea typeface="Noto Sans JP"/>
                <a:cs typeface="Noto Sans JP"/>
              </a:defRPr>
            </a:pPr>
            <a:r>
              <a:rPr sz="850">
                <a:solidFill>
                  <a:srgbClr val="687386"/>
                </a:solidFill>
                <a:latin typeface="Noto Sans JP"/>
                <a:ea typeface="Noto Sans JP"/>
                <a:cs typeface="Noto Sans JP"/>
              </a:rPr>
              <a:t>1/24</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666750" y="5238750"/>
            <a:ext cx="10858500" cy="428625"/>
          </a:xfrm>
          <a:prstGeom prst="rect">
            <a:avLst/>
          </a:prstGeom>
          <a:noFill/>
          <a:ln w="0">
            <a:noFill/>
          </a:ln>
        </p:spPr>
        <p:txBody>
          <a:bodyPr>
            <a:noAutofit/>
          </a:bodyPr>
          <a:lstStyle/>
          <a:p>
            <a:pPr>
              <a:buNone/>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運行条件を揃えた比較から、3月・11月の違いを説明する</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計算上の整合を確認。手法の優位性・最適性は追加検証が必要</a:t>
            </a:r>
          </a:p>
        </p:txBody>
      </p:sp>
    </p:spTree>
    <p:extLst>
      <p:ext uri="{BB962C8B-B14F-4D97-AF65-F5344CB8AC3E}">
        <p14:creationId xmlns:p14="http://schemas.microsoft.com/office/powerpoint/2010/main" val="1064589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56176B5-0615-4CFF-AB03-D8FA5F35AA3B}"/>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研究の目的と今回確かめること</a:t>
            </a:r>
          </a:p>
        </p:txBody>
      </p:sp>
      <p:sp>
        <p:nvSpPr>
          <p:cNvPr id="2" name="正方形/長方形 1">
            <a:extLst>
              <a:ext uri="{FF2B5EF4-FFF2-40B4-BE49-F238E27FC236}">
                <a16:creationId xmlns:a16="http://schemas.microsoft.com/office/drawing/2014/main" id="{ED617C59-C32E-46BA-B93E-87BEB836B2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便の運行と、車両・電力の使い方を一緒に考える</a:t>
            </a:r>
          </a:p>
        </p:txBody>
      </p:sp>
      <p:sp>
        <p:nvSpPr>
          <p:cNvPr id="3" name="正方形/長方形 2">
            <a:extLst>
              <a:ext uri="{FF2B5EF4-FFF2-40B4-BE49-F238E27FC236}">
                <a16:creationId xmlns:a16="http://schemas.microsoft.com/office/drawing/2014/main" id="{6B9CF675-7682-489C-A67E-63312A07605F}"/>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今回の報告では、運行成立と費用差の内訳までを確認する</a:t>
            </a:r>
          </a:p>
        </p:txBody>
      </p:sp>
      <p:sp>
        <p:nvSpPr>
          <p:cNvPr id="5" name="正方形/長方形 4">
            <a:extLst>
              <a:ext uri="{FF2B5EF4-FFF2-40B4-BE49-F238E27FC236}">
                <a16:creationId xmlns:a16="http://schemas.microsoft.com/office/drawing/2014/main" id="{6DD0CAA7-7015-4A99-8D62-38F6234C1E1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919106A-694F-42EC-9428-1FF48DFD988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2/24</a:t>
            </a:r>
          </a:p>
        </p:txBody>
      </p:sp>
      <p:sp>
        <p:nvSpPr>
          <p:cNvPr id="7" name="正方形/長方形 6">
            <a:extLst>
              <a:ext uri="{FF2B5EF4-FFF2-40B4-BE49-F238E27FC236}">
                <a16:creationId xmlns:a16="http://schemas.microsoft.com/office/drawing/2014/main" id="{D842A6E5-48F5-4D51-9A9A-E47BA4DDB650}"/>
              </a:ext>
            </a:extLst>
          </p:cNvPr>
          <p:cNvSpPr>
            <a:spLocks noGrp="1"/>
          </p:cNvSpPr>
          <p:nvPr/>
        </p:nvSpPr>
        <p:spPr>
          <a:xfrm>
            <a:off x="704850" y="1781175"/>
            <a:ext cx="10477500" cy="419100"/>
          </a:xfrm>
          <a:prstGeom prst="rect">
            <a:avLst/>
          </a:prstGeom>
          <a:noFill/>
          <a:ln w="0">
            <a:noFill/>
          </a:ln>
        </p:spPr>
        <p:txBody>
          <a:bodyPr>
            <a:noAutofit/>
          </a:bodyPr>
          <a:lstStyle/>
          <a:p>
            <a:pPr>
              <a:defRPr sz="2100" b="1">
                <a:solidFill>
                  <a:srgbClr val="202B58"/>
                </a:solidFill>
                <a:latin typeface="Noto Sans JP"/>
                <a:ea typeface="Noto Sans JP"/>
                <a:cs typeface="Noto Sans JP"/>
              </a:defRPr>
            </a:pPr>
            <a:r>
              <a:rPr sz="2100" b="1" dirty="0" err="1">
                <a:solidFill>
                  <a:srgbClr val="202B58"/>
                </a:solidFill>
                <a:latin typeface="Noto Sans JP"/>
                <a:ea typeface="Noto Sans JP"/>
                <a:cs typeface="Noto Sans JP"/>
              </a:rPr>
              <a:t>研究の目的</a:t>
            </a:r>
            <a:endParaRPr sz="2100" b="1" dirty="0">
              <a:solidFill>
                <a:srgbClr val="202B58"/>
              </a:solidFill>
              <a:latin typeface="Noto Sans JP"/>
              <a:ea typeface="Noto Sans JP"/>
              <a:cs typeface="Noto Sans JP"/>
            </a:endParaRPr>
          </a:p>
        </p:txBody>
      </p:sp>
      <p:sp>
        <p:nvSpPr>
          <p:cNvPr id="8" name="正方形/長方形 7">
            <a:extLst>
              <a:ext uri="{FF2B5EF4-FFF2-40B4-BE49-F238E27FC236}">
                <a16:creationId xmlns:a16="http://schemas.microsoft.com/office/drawing/2014/main" id="{2D58FFCF-EB39-488F-A515-037B0421005F}"/>
              </a:ext>
            </a:extLst>
          </p:cNvPr>
          <p:cNvSpPr>
            <a:spLocks noGrp="1"/>
          </p:cNvSpPr>
          <p:nvPr/>
        </p:nvSpPr>
        <p:spPr>
          <a:xfrm>
            <a:off x="704850" y="231457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全便運行を守り、配車・充電・電源の使い方から費用を抑える。</a:t>
            </a:r>
          </a:p>
        </p:txBody>
      </p:sp>
      <p:sp>
        <p:nvSpPr>
          <p:cNvPr id="9" name="正方形/長方形 8">
            <a:extLst>
              <a:ext uri="{FF2B5EF4-FFF2-40B4-BE49-F238E27FC236}">
                <a16:creationId xmlns:a16="http://schemas.microsoft.com/office/drawing/2014/main" id="{0D612D1B-E96C-4974-9CF6-EDBA2DB41EAB}"/>
              </a:ext>
            </a:extLst>
          </p:cNvPr>
          <p:cNvSpPr>
            <a:spLocks noGrp="1"/>
          </p:cNvSpPr>
          <p:nvPr/>
        </p:nvSpPr>
        <p:spPr>
          <a:xfrm>
            <a:off x="704850" y="3095625"/>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今回の実験</a:t>
            </a:r>
          </a:p>
        </p:txBody>
      </p:sp>
      <p:sp>
        <p:nvSpPr>
          <p:cNvPr id="10" name="正方形/長方形 9">
            <a:extLst>
              <a:ext uri="{FF2B5EF4-FFF2-40B4-BE49-F238E27FC236}">
                <a16:creationId xmlns:a16="http://schemas.microsoft.com/office/drawing/2014/main" id="{1B5C278C-E67B-4E73-89FA-B11C0C1D8CE8}"/>
              </a:ext>
            </a:extLst>
          </p:cNvPr>
          <p:cNvSpPr>
            <a:spLocks noGrp="1"/>
          </p:cNvSpPr>
          <p:nvPr/>
        </p:nvSpPr>
        <p:spPr>
          <a:xfrm>
            <a:off x="704850" y="362902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各月から曜日構成が同じ1週を選び、12週の運用を計算する。</a:t>
            </a:r>
          </a:p>
        </p:txBody>
      </p:sp>
      <p:sp>
        <p:nvSpPr>
          <p:cNvPr id="11" name="正方形/長方形 10">
            <a:extLst>
              <a:ext uri="{FF2B5EF4-FFF2-40B4-BE49-F238E27FC236}">
                <a16:creationId xmlns:a16="http://schemas.microsoft.com/office/drawing/2014/main" id="{0A749472-573E-4732-BF32-FB68168D3007}"/>
              </a:ext>
            </a:extLst>
          </p:cNvPr>
          <p:cNvSpPr>
            <a:spLocks noGrp="1"/>
          </p:cNvSpPr>
          <p:nvPr/>
        </p:nvSpPr>
        <p:spPr>
          <a:xfrm>
            <a:off x="704850" y="4419600"/>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今回の問い</a:t>
            </a:r>
          </a:p>
        </p:txBody>
      </p:sp>
      <p:sp>
        <p:nvSpPr>
          <p:cNvPr id="12" name="正方形/長方形 11">
            <a:extLst>
              <a:ext uri="{FF2B5EF4-FFF2-40B4-BE49-F238E27FC236}">
                <a16:creationId xmlns:a16="http://schemas.microsoft.com/office/drawing/2014/main" id="{FF8C8764-52C6-4615-BCB3-C7453EC96A63}"/>
              </a:ext>
            </a:extLst>
          </p:cNvPr>
          <p:cNvSpPr>
            <a:spLocks noGrp="1"/>
          </p:cNvSpPr>
          <p:nvPr/>
        </p:nvSpPr>
        <p:spPr>
          <a:xfrm>
            <a:off x="704850" y="4953000"/>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週間購入電力量と受電ピークが、週間費用の差とどう関係するか。</a:t>
            </a:r>
          </a:p>
        </p:txBody>
      </p:sp>
    </p:spTree>
    <p:extLst>
      <p:ext uri="{BB962C8B-B14F-4D97-AF65-F5344CB8AC3E}">
        <p14:creationId xmlns:p14="http://schemas.microsoft.com/office/powerpoint/2010/main" val="2006782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DBC1159-FEFF-4F7B-B7A4-A259E17F6BA9}"/>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7C90C6E3-9DBA-4987-8344-C045429B13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弦巻営業所の渋21・渋22・渋23をまとめたシミュレーション</a:t>
            </a:r>
          </a:p>
        </p:txBody>
      </p:sp>
      <p:sp>
        <p:nvSpPr>
          <p:cNvPr id="3" name="正方形/長方形 2">
            <a:extLst>
              <a:ext uri="{FF2B5EF4-FFF2-40B4-BE49-F238E27FC236}">
                <a16:creationId xmlns:a16="http://schemas.microsoft.com/office/drawing/2014/main" id="{59386718-0CAE-4CCC-B0DE-7D334E87B942}"/>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電気バスの充電には、太陽光・蓄電池・系統からの電力を使う</a:t>
            </a:r>
          </a:p>
        </p:txBody>
      </p:sp>
      <p:sp>
        <p:nvSpPr>
          <p:cNvPr id="5" name="正方形/長方形 4">
            <a:extLst>
              <a:ext uri="{FF2B5EF4-FFF2-40B4-BE49-F238E27FC236}">
                <a16:creationId xmlns:a16="http://schemas.microsoft.com/office/drawing/2014/main" id="{495B7614-5BA8-435B-8F7B-DA8016786CE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CBD2CB3A-E745-4047-9E14-26D6D921453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3/24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214312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BEV／ICE</a:t>
                      </a:r>
                    </a:p>
                  </a:txBody>
                  <a:tcPr>
                    <a:solidFill>
                      <a:srgbClr val="F1F5F8"/>
                    </a:solidFill>
                  </a:tcPr>
                </a:tc>
                <a:tc>
                  <a:txBody>
                    <a:bodyPr/>
                    <a:lstStyle/>
                    <a:p>
                      <a:r>
                        <a:rPr sz="1725" b="0">
                          <a:solidFill>
                            <a:srgbClr val="202B58"/>
                          </a:solidFill>
                          <a:latin typeface="Noto Sans JP"/>
                          <a:ea typeface="Noto Sans JP"/>
                          <a:cs typeface="Noto Sans JP"/>
                        </a:rPr>
                        <a:t>電気バス／エンジンバス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バスへ直接供給、または蓄電池へ充電</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電力を貯め、別の時刻に放電</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系統からの受電</a:t>
                      </a:r>
                    </a:p>
                  </a:txBody>
                  <a:tcPr>
                    <a:solidFill>
                      <a:srgbClr val="FFFFFF"/>
                    </a:solidFill>
                  </a:tcPr>
                </a:tc>
                <a:tc>
                  <a:txBody>
                    <a:bodyPr/>
                    <a:lstStyle/>
                    <a:p>
                      <a:r>
                        <a:rPr sz="1725" b="0">
                          <a:solidFill>
                            <a:srgbClr val="202B58"/>
                          </a:solidFill>
                          <a:latin typeface="Noto Sans JP"/>
                          <a:ea typeface="Noto Sans JP"/>
                          <a:cs typeface="Noto Sans JP"/>
                        </a:rPr>
                        <a:t>外部の電力系統から受電</a:t>
                      </a:r>
                    </a:p>
                  </a:txBody>
                  <a:tcPr>
                    <a:solidFill>
                      <a:srgbClr val="FFFFFF"/>
                    </a:solidFill>
                  </a:tcPr>
                </a:tc>
                <a:tc>
                  <a:txBody>
                    <a:bodyPr/>
                    <a:lstStyle/>
                    <a:p>
                      <a:r>
                        <a:rPr sz="1725" b="0">
                          <a:solidFill>
                            <a:srgbClr val="202B58"/>
                          </a:solidFill>
                          <a:latin typeface="Noto Sans JP"/>
                          <a:ea typeface="Noto Sans JP"/>
                          <a:cs typeface="Noto Sans JP"/>
                        </a:rPr>
                        <a:t>充電に必要な電力を購入</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SOC</a:t>
                      </a:r>
                    </a:p>
                  </a:txBody>
                  <a:tcPr>
                    <a:solidFill>
                      <a:srgbClr val="F1F5F8"/>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1F5F8"/>
                    </a:solidFill>
                  </a:tcPr>
                </a:tc>
                <a:tc>
                  <a:txBody>
                    <a:bodyPr/>
                    <a:lstStyle/>
                    <a:p>
                      <a:r>
                        <a:rPr sz="1725" b="0">
                          <a:solidFill>
                            <a:srgbClr val="202B58"/>
                          </a:solidFill>
                          <a:latin typeface="Noto Sans JP"/>
                          <a:ea typeface="Noto Sans JP"/>
                          <a:cs typeface="Noto Sans JP"/>
                        </a:rPr>
                        <a:t>走行・充放電後も上下限を守る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84742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9A75943-4DE9-44AD-83F3-283FC850E8E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12週を公平に比較するための条件</a:t>
            </a:r>
          </a:p>
        </p:txBody>
      </p:sp>
      <p:sp>
        <p:nvSpPr>
          <p:cNvPr id="2" name="正方形/長方形 1">
            <a:extLst>
              <a:ext uri="{FF2B5EF4-FFF2-40B4-BE49-F238E27FC236}">
                <a16:creationId xmlns:a16="http://schemas.microsoft.com/office/drawing/2014/main" id="{62E08CFF-ED37-4BAB-A1C9-F64B1F99ED9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各月で、祝日を含まず月内に収まる最初の月曜〜日曜を選択</a:t>
            </a:r>
          </a:p>
        </p:txBody>
      </p:sp>
      <p:sp>
        <p:nvSpPr>
          <p:cNvPr id="3" name="正方形/長方形 2">
            <a:extLst>
              <a:ext uri="{FF2B5EF4-FFF2-40B4-BE49-F238E27FC236}">
                <a16:creationId xmlns:a16="http://schemas.microsoft.com/office/drawing/2014/main" id="{C804B01A-D1AD-4C57-AC92-D5EC93BBD3B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平日5日・土曜1日・日曜1日、全週1,704便を揃えた</a:t>
            </a:r>
          </a:p>
        </p:txBody>
      </p:sp>
      <p:sp>
        <p:nvSpPr>
          <p:cNvPr id="5" name="正方形/長方形 4">
            <a:extLst>
              <a:ext uri="{FF2B5EF4-FFF2-40B4-BE49-F238E27FC236}">
                <a16:creationId xmlns:a16="http://schemas.microsoft.com/office/drawing/2014/main" id="{F93F5E41-CCB7-49EB-83E5-2C7069573FF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E445F5B-F725-4A52-B697-FC32E714A08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4/24</a:t>
            </a:r>
          </a:p>
        </p:txBody>
      </p:sp>
      <p:graphicFrame>
        <p:nvGraphicFramePr>
          <p:cNvPr id="15" name="表 14"/>
          <p:cNvGraphicFramePr/>
          <p:nvPr/>
        </p:nvGraphicFramePr>
        <p:xfrm>
          <a:off x="571500" y="1695450"/>
          <a:ext cx="11049000" cy="3000375"/>
        </p:xfrm>
        <a:graphic>
          <a:graphicData uri="http://schemas.openxmlformats.org/drawingml/2006/table">
            <a:tbl>
              <a:tblPr/>
              <a:tblGrid>
                <a:gridCol w="55245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tblGrid>
              <a:tr h="600075">
                <a:tc>
                  <a:txBody>
                    <a:bodyPr/>
                    <a:lstStyle/>
                    <a:p>
                      <a:r>
                        <a:rPr sz="1800" b="1">
                          <a:solidFill>
                            <a:srgbClr val="FFFFFF"/>
                          </a:solidFill>
                          <a:latin typeface="Noto Sans JP"/>
                          <a:ea typeface="Noto Sans JP"/>
                          <a:cs typeface="Noto Sans JP"/>
                        </a:rPr>
                        <a:t>全月で揃えたもの</a:t>
                      </a:r>
                    </a:p>
                  </a:txBody>
                  <a:tcPr>
                    <a:solidFill>
                      <a:srgbClr val="202B58"/>
                    </a:solidFill>
                  </a:tcPr>
                </a:tc>
                <a:tc>
                  <a:txBody>
                    <a:bodyPr/>
                    <a:lstStyle/>
                    <a:p>
                      <a:r>
                        <a:rPr sz="1800" b="1">
                          <a:solidFill>
                            <a:srgbClr val="FFFFFF"/>
                          </a:solidFill>
                          <a:latin typeface="Noto Sans JP"/>
                          <a:ea typeface="Noto Sans JP"/>
                          <a:cs typeface="Noto Sans JP"/>
                        </a:rPr>
                        <a:t>週ごとに変わるもの</a:t>
                      </a:r>
                    </a:p>
                  </a:txBody>
                  <a:tcPr>
                    <a:solidFill>
                      <a:srgbClr val="202B58"/>
                    </a:solidFill>
                  </a:tcPr>
                </a:tc>
                <a:extLst>
                  <a:ext uri="{0D108BD9-81ED-4DB2-BD59-A6C34878D82A}">
                    <a16:rowId xmlns:a16="http://schemas.microsoft.com/office/drawing/2014/main" val="10000"/>
                  </a:ext>
                </a:extLst>
              </a:tr>
              <a:tr h="600075">
                <a:tc>
                  <a:txBody>
                    <a:bodyPr/>
                    <a:lstStyle/>
                    <a:p>
                      <a:r>
                        <a:rPr sz="1800" b="0">
                          <a:solidFill>
                            <a:srgbClr val="202B58"/>
                          </a:solidFill>
                          <a:latin typeface="Noto Sans JP"/>
                          <a:ea typeface="Noto Sans JP"/>
                          <a:cs typeface="Noto Sans JP"/>
                        </a:rPr>
                        <a:t>時刻表・曜日構成・便数</a:t>
                      </a:r>
                    </a:p>
                  </a:txBody>
                  <a:tcPr>
                    <a:solidFill>
                      <a:srgbClr val="F1F5F8"/>
                    </a:solidFill>
                  </a:tcPr>
                </a:tc>
                <a:tc>
                  <a:txBody>
                    <a:bodyPr/>
                    <a:lstStyle/>
                    <a:p>
                      <a:r>
                        <a:rPr sz="1800" b="0">
                          <a:solidFill>
                            <a:srgbClr val="202B58"/>
                          </a:solidFill>
                          <a:latin typeface="Noto Sans JP"/>
                          <a:ea typeface="Noto Sans JP"/>
                          <a:cs typeface="Noto Sans JP"/>
                        </a:rPr>
                        <a:t>日付ごとのPV履歴と予測入力</a:t>
                      </a:r>
                    </a:p>
                  </a:txBody>
                  <a:tcPr>
                    <a:solidFill>
                      <a:srgbClr val="F1F5F8"/>
                    </a:solidFill>
                  </a:tcPr>
                </a:tc>
                <a:extLst>
                  <a:ext uri="{0D108BD9-81ED-4DB2-BD59-A6C34878D82A}">
                    <a16:rowId xmlns:a16="http://schemas.microsoft.com/office/drawing/2014/main" val="10001"/>
                  </a:ext>
                </a:extLst>
              </a:tr>
              <a:tr h="600075">
                <a:tc>
                  <a:txBody>
                    <a:bodyPr/>
                    <a:lstStyle/>
                    <a:p>
                      <a:r>
                        <a:rPr sz="1800" b="0">
                          <a:solidFill>
                            <a:srgbClr val="202B58"/>
                          </a:solidFill>
                          <a:latin typeface="Noto Sans JP"/>
                          <a:ea typeface="Noto Sans JP"/>
                          <a:cs typeface="Noto Sans JP"/>
                        </a:rPr>
                        <a:t>入力車両と初期残量</a:t>
                      </a:r>
                    </a:p>
                  </a:txBody>
                  <a:tcPr>
                    <a:solidFill>
                      <a:srgbClr val="FFFFFF"/>
                    </a:solidFill>
                  </a:tcPr>
                </a:tc>
                <a:tc>
                  <a:txBody>
                    <a:bodyPr/>
                    <a:lstStyle/>
                    <a:p>
                      <a:r>
                        <a:rPr sz="1800" b="0">
                          <a:solidFill>
                            <a:srgbClr val="202B58"/>
                          </a:solidFill>
                          <a:latin typeface="Noto Sans JP"/>
                          <a:ea typeface="Noto Sans JP"/>
                          <a:cs typeface="Noto Sans JP"/>
                        </a:rPr>
                        <a:t>担当車両・充電時刻の計算結果</a:t>
                      </a:r>
                    </a:p>
                  </a:txBody>
                  <a:tcPr>
                    <a:solidFill>
                      <a:srgbClr val="FFFFFF"/>
                    </a:solidFill>
                  </a:tcPr>
                </a:tc>
                <a:extLst>
                  <a:ext uri="{0D108BD9-81ED-4DB2-BD59-A6C34878D82A}">
                    <a16:rowId xmlns:a16="http://schemas.microsoft.com/office/drawing/2014/main" val="10002"/>
                  </a:ext>
                </a:extLst>
              </a:tr>
              <a:tr h="600075">
                <a:tc>
                  <a:txBody>
                    <a:bodyPr/>
                    <a:lstStyle/>
                    <a:p>
                      <a:r>
                        <a:rPr sz="1800" b="0">
                          <a:solidFill>
                            <a:srgbClr val="202B58"/>
                          </a:solidFill>
                          <a:latin typeface="Noto Sans JP"/>
                          <a:ea typeface="Noto Sans JP"/>
                          <a:cs typeface="Noto Sans JP"/>
                        </a:rPr>
                        <a:t>充電器・PV設備・定置用蓄電池</a:t>
                      </a:r>
                    </a:p>
                  </a:txBody>
                  <a:tcPr>
                    <a:solidFill>
                      <a:srgbClr val="F1F5F8"/>
                    </a:solidFill>
                  </a:tcPr>
                </a:tc>
                <a:tc>
                  <a:txBody>
                    <a:bodyPr/>
                    <a:lstStyle/>
                    <a:p>
                      <a:r>
                        <a:rPr sz="1800" b="0">
                          <a:solidFill>
                            <a:srgbClr val="202B58"/>
                          </a:solidFill>
                          <a:latin typeface="Noto Sans JP"/>
                          <a:ea typeface="Noto Sans JP"/>
                          <a:cs typeface="Noto Sans JP"/>
                        </a:rPr>
                        <a:t>PV利用量・週間購入電力量・受電ピーク</a:t>
                      </a:r>
                    </a:p>
                  </a:txBody>
                  <a:tcPr>
                    <a:solidFill>
                      <a:srgbClr val="F1F5F8"/>
                    </a:solidFill>
                  </a:tcPr>
                </a:tc>
                <a:extLst>
                  <a:ext uri="{0D108BD9-81ED-4DB2-BD59-A6C34878D82A}">
                    <a16:rowId xmlns:a16="http://schemas.microsoft.com/office/drawing/2014/main" val="10003"/>
                  </a:ext>
                </a:extLst>
              </a:tr>
              <a:tr h="600075">
                <a:tc>
                  <a:txBody>
                    <a:bodyPr/>
                    <a:lstStyle/>
                    <a:p>
                      <a:r>
                        <a:rPr sz="1800" b="0">
                          <a:solidFill>
                            <a:srgbClr val="202B58"/>
                          </a:solidFill>
                          <a:latin typeface="Noto Sans JP"/>
                          <a:ea typeface="Noto Sans JP"/>
                          <a:cs typeface="Noto Sans JP"/>
                        </a:rPr>
                        <a:t>費用係数・探索時間・探索規則</a:t>
                      </a:r>
                    </a:p>
                  </a:txBody>
                  <a:tcPr>
                    <a:solidFill>
                      <a:srgbClr val="FFFFFF"/>
                    </a:solidFill>
                  </a:tcPr>
                </a:tc>
                <a:tc>
                  <a:txBody>
                    <a:bodyPr/>
                    <a:lstStyle/>
                    <a:p>
                      <a:r>
                        <a:rPr sz="1800" b="0">
                          <a:solidFill>
                            <a:srgbClr val="202B58"/>
                          </a:solidFill>
                          <a:latin typeface="Noto Sans JP"/>
                          <a:ea typeface="Noto Sans JP"/>
                          <a:cs typeface="Noto Sans JP"/>
                        </a:rPr>
                        <a:t>同じ制限時間内で得られた解の良さ</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2B49056-6577-451A-B8C8-BE4B1803673E}"/>
              </a:ext>
            </a:extLst>
          </p:cNvPr>
          <p:cNvSpPr>
            <a:spLocks noGrp="1"/>
          </p:cNvSpPr>
          <p:nvPr/>
        </p:nvSpPr>
        <p:spPr>
          <a:xfrm>
            <a:off x="685800" y="5029200"/>
            <a:ext cx="10763250" cy="42862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使用台数は結果：入力BEV35台・ICE25台を、そのまま全台使用するわけではない。</a:t>
            </a:r>
          </a:p>
        </p:txBody>
      </p:sp>
    </p:spTree>
    <p:extLst>
      <p:ext uri="{BB962C8B-B14F-4D97-AF65-F5344CB8AC3E}">
        <p14:creationId xmlns:p14="http://schemas.microsoft.com/office/powerpoint/2010/main" val="145145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143117-B063-439A-95B9-F0D63B39BBEA}"/>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計画と実行の手順</a:t>
            </a:r>
          </a:p>
        </p:txBody>
      </p:sp>
      <p:sp>
        <p:nvSpPr>
          <p:cNvPr id="2" name="正方形/長方形 1">
            <a:extLst>
              <a:ext uri="{FF2B5EF4-FFF2-40B4-BE49-F238E27FC236}">
                <a16:creationId xmlns:a16="http://schemas.microsoft.com/office/drawing/2014/main" id="{FE6B9D35-581B-48D8-A07C-F22CDDC3B20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配車を決めた後、充電計画を1時間ごとに更新する</a:t>
            </a:r>
          </a:p>
        </p:txBody>
      </p:sp>
      <p:sp>
        <p:nvSpPr>
          <p:cNvPr id="3" name="正方形/長方形 2">
            <a:extLst>
              <a:ext uri="{FF2B5EF4-FFF2-40B4-BE49-F238E27FC236}">
                <a16:creationId xmlns:a16="http://schemas.microsoft.com/office/drawing/2014/main" id="{06C41465-06D8-43AA-A4BD-BFC4D9D2D36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dirty="0">
                <a:solidFill>
                  <a:srgbClr val="159A8C"/>
                </a:solidFill>
                <a:latin typeface="Noto Sans JP"/>
                <a:ea typeface="Noto Sans JP"/>
                <a:cs typeface="Noto Sans JP"/>
              </a:rPr>
              <a:t>24時間先を見た計画から先頭1時間を採用し、168時間をつなぐ</a:t>
            </a:r>
          </a:p>
        </p:txBody>
      </p:sp>
      <p:sp>
        <p:nvSpPr>
          <p:cNvPr id="5" name="正方形/長方形 4">
            <a:extLst>
              <a:ext uri="{FF2B5EF4-FFF2-40B4-BE49-F238E27FC236}">
                <a16:creationId xmlns:a16="http://schemas.microsoft.com/office/drawing/2014/main" id="{F859E9A2-5687-4B10-BC44-D11E9768F04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94CBD11D-999C-4512-939A-B2D9C513571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5/24</a:t>
            </a:r>
          </a:p>
        </p:txBody>
      </p:sp>
      <p:graphicFrame>
        <p:nvGraphicFramePr>
          <p:cNvPr id="15" name="表 14"/>
          <p:cNvGraphicFramePr/>
          <p:nvPr/>
        </p:nvGraphicFramePr>
        <p:xfrm>
          <a:off x="571500" y="1695450"/>
          <a:ext cx="11049000" cy="3324225"/>
        </p:xfrm>
        <a:graphic>
          <a:graphicData uri="http://schemas.openxmlformats.org/drawingml/2006/table">
            <a:tbl>
              <a:tblPr/>
              <a:tblGrid>
                <a:gridCol w="2524125">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664845">
                <a:tc>
                  <a:txBody>
                    <a:bodyPr/>
                    <a:lstStyle/>
                    <a:p>
                      <a:r>
                        <a:rPr sz="1650" b="1">
                          <a:solidFill>
                            <a:srgbClr val="FFFFFF"/>
                          </a:solidFill>
                          <a:latin typeface="Noto Sans JP"/>
                          <a:ea typeface="Noto Sans JP"/>
                          <a:cs typeface="Noto Sans JP"/>
                        </a:rPr>
                        <a:t>段階</a:t>
                      </a:r>
                    </a:p>
                  </a:txBody>
                  <a:tcPr>
                    <a:solidFill>
                      <a:srgbClr val="202B58"/>
                    </a:solidFill>
                  </a:tcPr>
                </a:tc>
                <a:tc>
                  <a:txBody>
                    <a:bodyPr/>
                    <a:lstStyle/>
                    <a:p>
                      <a:r>
                        <a:rPr sz="1650" b="1">
                          <a:solidFill>
                            <a:srgbClr val="FFFFFF"/>
                          </a:solidFill>
                          <a:latin typeface="Noto Sans JP"/>
                          <a:ea typeface="Noto Sans JP"/>
                          <a:cs typeface="Noto Sans JP"/>
                        </a:rPr>
                        <a:t>行うこと</a:t>
                      </a:r>
                    </a:p>
                  </a:txBody>
                  <a:tcPr>
                    <a:solidFill>
                      <a:srgbClr val="202B58"/>
                    </a:solidFill>
                  </a:tcPr>
                </a:tc>
                <a:tc>
                  <a:txBody>
                    <a:bodyPr/>
                    <a:lstStyle/>
                    <a:p>
                      <a:r>
                        <a:rPr sz="1650" b="1">
                          <a:solidFill>
                            <a:srgbClr val="FFFFFF"/>
                          </a:solidFill>
                          <a:latin typeface="Noto Sans JP"/>
                          <a:ea typeface="Noto Sans JP"/>
                          <a:cs typeface="Noto Sans JP"/>
                        </a:rPr>
                        <a:t>使う情報</a:t>
                      </a:r>
                    </a:p>
                  </a:txBody>
                  <a:tcPr>
                    <a:solidFill>
                      <a:srgbClr val="202B58"/>
                    </a:solidFill>
                  </a:tcPr>
                </a:tc>
                <a:extLst>
                  <a:ext uri="{0D108BD9-81ED-4DB2-BD59-A6C34878D82A}">
                    <a16:rowId xmlns:a16="http://schemas.microsoft.com/office/drawing/2014/main" val="10000"/>
                  </a:ext>
                </a:extLst>
              </a:tr>
              <a:tr h="664845">
                <a:tc>
                  <a:txBody>
                    <a:bodyPr/>
                    <a:lstStyle/>
                    <a:p>
                      <a:r>
                        <a:rPr sz="1650" b="0">
                          <a:solidFill>
                            <a:srgbClr val="202B58"/>
                          </a:solidFill>
                          <a:latin typeface="Noto Sans JP"/>
                          <a:ea typeface="Noto Sans JP"/>
                          <a:cs typeface="Noto Sans JP"/>
                        </a:rPr>
                        <a:t>1　事前の配車</a:t>
                      </a:r>
                    </a:p>
                  </a:txBody>
                  <a:tcPr>
                    <a:solidFill>
                      <a:srgbClr val="F1F5F8"/>
                    </a:solidFill>
                  </a:tcPr>
                </a:tc>
                <a:tc>
                  <a:txBody>
                    <a:bodyPr/>
                    <a:lstStyle/>
                    <a:p>
                      <a:r>
                        <a:rPr sz="1650" b="0">
                          <a:solidFill>
                            <a:srgbClr val="202B58"/>
                          </a:solidFill>
                          <a:latin typeface="Noto Sans JP"/>
                          <a:ea typeface="Noto Sans JP"/>
                          <a:cs typeface="Noto Sans JP"/>
                        </a:rPr>
                        <a:t>各便の担当車両と接続を決める</a:t>
                      </a:r>
                    </a:p>
                  </a:txBody>
                  <a:tcPr>
                    <a:solidFill>
                      <a:srgbClr val="F1F5F8"/>
                    </a:solidFill>
                  </a:tcPr>
                </a:tc>
                <a:tc>
                  <a:txBody>
                    <a:bodyPr/>
                    <a:lstStyle/>
                    <a:p>
                      <a:r>
                        <a:rPr sz="1650" b="0">
                          <a:solidFill>
                            <a:srgbClr val="202B58"/>
                          </a:solidFill>
                          <a:latin typeface="Noto Sans JP"/>
                          <a:ea typeface="Noto Sans JP"/>
                          <a:cs typeface="Noto Sans JP"/>
                        </a:rPr>
                        <a:t>時刻表・車両・走行条件</a:t>
                      </a:r>
                    </a:p>
                  </a:txBody>
                  <a:tcPr>
                    <a:solidFill>
                      <a:srgbClr val="F1F5F8"/>
                    </a:solidFill>
                  </a:tcPr>
                </a:tc>
                <a:extLst>
                  <a:ext uri="{0D108BD9-81ED-4DB2-BD59-A6C34878D82A}">
                    <a16:rowId xmlns:a16="http://schemas.microsoft.com/office/drawing/2014/main" val="10001"/>
                  </a:ext>
                </a:extLst>
              </a:tr>
              <a:tr h="664845">
                <a:tc>
                  <a:txBody>
                    <a:bodyPr/>
                    <a:lstStyle/>
                    <a:p>
                      <a:r>
                        <a:rPr sz="1650" b="0">
                          <a:solidFill>
                            <a:srgbClr val="202B58"/>
                          </a:solidFill>
                          <a:latin typeface="Noto Sans JP"/>
                          <a:ea typeface="Noto Sans JP"/>
                          <a:cs typeface="Noto Sans JP"/>
                        </a:rPr>
                        <a:t>2　事前の充電</a:t>
                      </a:r>
                    </a:p>
                  </a:txBody>
                  <a:tcPr>
                    <a:solidFill>
                      <a:srgbClr val="FFFFFF"/>
                    </a:solidFill>
                  </a:tcPr>
                </a:tc>
                <a:tc>
                  <a:txBody>
                    <a:bodyPr/>
                    <a:lstStyle/>
                    <a:p>
                      <a:r>
                        <a:rPr sz="1650" b="0">
                          <a:solidFill>
                            <a:srgbClr val="202B58"/>
                          </a:solidFill>
                          <a:latin typeface="Noto Sans JP"/>
                          <a:ea typeface="Noto Sans JP"/>
                          <a:cs typeface="Noto Sans JP"/>
                        </a:rPr>
                        <a:t>週間の充電と電源利用を計画する</a:t>
                      </a:r>
                    </a:p>
                  </a:txBody>
                  <a:tcPr>
                    <a:solidFill>
                      <a:srgbClr val="FFFFFF"/>
                    </a:solidFill>
                  </a:tcPr>
                </a:tc>
                <a:tc>
                  <a:txBody>
                    <a:bodyPr/>
                    <a:lstStyle/>
                    <a:p>
                      <a:r>
                        <a:rPr sz="1650" b="0">
                          <a:solidFill>
                            <a:srgbClr val="202B58"/>
                          </a:solidFill>
                          <a:latin typeface="Noto Sans JP"/>
                          <a:ea typeface="Noto Sans JP"/>
                          <a:cs typeface="Noto Sans JP"/>
                        </a:rPr>
                        <a:t>配車・初期残量・PV予測</a:t>
                      </a:r>
                    </a:p>
                  </a:txBody>
                  <a:tcPr>
                    <a:solidFill>
                      <a:srgbClr val="FFFFFF"/>
                    </a:solidFill>
                  </a:tcPr>
                </a:tc>
                <a:extLst>
                  <a:ext uri="{0D108BD9-81ED-4DB2-BD59-A6C34878D82A}">
                    <a16:rowId xmlns:a16="http://schemas.microsoft.com/office/drawing/2014/main" val="10002"/>
                  </a:ext>
                </a:extLst>
              </a:tr>
              <a:tr h="664845">
                <a:tc>
                  <a:txBody>
                    <a:bodyPr/>
                    <a:lstStyle/>
                    <a:p>
                      <a:r>
                        <a:rPr sz="1650" b="0">
                          <a:solidFill>
                            <a:srgbClr val="202B58"/>
                          </a:solidFill>
                          <a:latin typeface="Noto Sans JP"/>
                          <a:ea typeface="Noto Sans JP"/>
                          <a:cs typeface="Noto Sans JP"/>
                        </a:rPr>
                        <a:t>3　毎時の更新</a:t>
                      </a:r>
                    </a:p>
                  </a:txBody>
                  <a:tcPr>
                    <a:solidFill>
                      <a:srgbClr val="F1F5F8"/>
                    </a:solidFill>
                  </a:tcPr>
                </a:tc>
                <a:tc>
                  <a:txBody>
                    <a:bodyPr/>
                    <a:lstStyle/>
                    <a:p>
                      <a:r>
                        <a:rPr sz="1650" b="0">
                          <a:solidFill>
                            <a:srgbClr val="202B58"/>
                          </a:solidFill>
                          <a:latin typeface="Noto Sans JP"/>
                          <a:ea typeface="Noto Sans JP"/>
                          <a:cs typeface="Noto Sans JP"/>
                        </a:rPr>
                        <a:t>先頭1時間を採用し、残量を引き継ぐ</a:t>
                      </a:r>
                    </a:p>
                  </a:txBody>
                  <a:tcPr>
                    <a:solidFill>
                      <a:srgbClr val="F1F5F8"/>
                    </a:solidFill>
                  </a:tcPr>
                </a:tc>
                <a:tc>
                  <a:txBody>
                    <a:bodyPr/>
                    <a:lstStyle/>
                    <a:p>
                      <a:r>
                        <a:rPr sz="1650" b="0">
                          <a:solidFill>
                            <a:srgbClr val="202B58"/>
                          </a:solidFill>
                          <a:latin typeface="Noto Sans JP"/>
                          <a:ea typeface="Noto Sans JP"/>
                          <a:cs typeface="Noto Sans JP"/>
                        </a:rPr>
                        <a:t>現在残量・PV予測・履歴推定PV</a:t>
                      </a:r>
                    </a:p>
                  </a:txBody>
                  <a:tcPr>
                    <a:solidFill>
                      <a:srgbClr val="F1F5F8"/>
                    </a:solidFill>
                  </a:tcPr>
                </a:tc>
                <a:extLst>
                  <a:ext uri="{0D108BD9-81ED-4DB2-BD59-A6C34878D82A}">
                    <a16:rowId xmlns:a16="http://schemas.microsoft.com/office/drawing/2014/main" val="10003"/>
                  </a:ext>
                </a:extLst>
              </a:tr>
              <a:tr h="664845">
                <a:tc>
                  <a:txBody>
                    <a:bodyPr/>
                    <a:lstStyle/>
                    <a:p>
                      <a:r>
                        <a:rPr sz="1650" b="0">
                          <a:solidFill>
                            <a:srgbClr val="202B58"/>
                          </a:solidFill>
                          <a:latin typeface="Noto Sans JP"/>
                          <a:ea typeface="Noto Sans JP"/>
                          <a:cs typeface="Noto Sans JP"/>
                        </a:rPr>
                        <a:t>4　実行値の検算</a:t>
                      </a:r>
                    </a:p>
                  </a:txBody>
                  <a:tcPr>
                    <a:solidFill>
                      <a:srgbClr val="FFFFFF"/>
                    </a:solidFill>
                  </a:tcPr>
                </a:tc>
                <a:tc>
                  <a:txBody>
                    <a:bodyPr/>
                    <a:lstStyle/>
                    <a:p>
                      <a:r>
                        <a:rPr sz="1650" b="0">
                          <a:solidFill>
                            <a:srgbClr val="202B58"/>
                          </a:solidFill>
                          <a:latin typeface="Noto Sans JP"/>
                          <a:ea typeface="Noto Sans JP"/>
                          <a:cs typeface="Noto Sans JP"/>
                        </a:rPr>
                        <a:t>全便・電池・電力収支・会計を照合する</a:t>
                      </a:r>
                    </a:p>
                  </a:txBody>
                  <a:tcPr>
                    <a:solidFill>
                      <a:srgbClr val="FFFFFF"/>
                    </a:solidFill>
                  </a:tcPr>
                </a:tc>
                <a:tc>
                  <a:txBody>
                    <a:bodyPr/>
                    <a:lstStyle/>
                    <a:p>
                      <a:r>
                        <a:rPr sz="1650" b="0">
                          <a:solidFill>
                            <a:srgbClr val="202B58"/>
                          </a:solidFill>
                          <a:latin typeface="Noto Sans JP"/>
                          <a:ea typeface="Noto Sans JP"/>
                          <a:cs typeface="Noto Sans JP"/>
                        </a:rPr>
                        <a:t>168時間の採用済み実行データ</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E3A1970E-6F2B-48A1-9C8B-2DF8504BC7DA}"/>
              </a:ext>
            </a:extLst>
          </p:cNvPr>
          <p:cNvSpPr>
            <a:spLocks noGrp="1"/>
          </p:cNvSpPr>
          <p:nvPr/>
        </p:nvSpPr>
        <p:spPr>
          <a:xfrm>
            <a:off x="685800" y="5172075"/>
            <a:ext cx="10668000" cy="36195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予測：2024年のデータから作成　／　評価：2025年の履歴推定PV</a:t>
            </a:r>
          </a:p>
        </p:txBody>
      </p:sp>
    </p:spTree>
    <p:extLst>
      <p:ext uri="{BB962C8B-B14F-4D97-AF65-F5344CB8AC3E}">
        <p14:creationId xmlns:p14="http://schemas.microsoft.com/office/powerpoint/2010/main" val="1882236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F643B75-4676-4DF5-91F3-038C02D2FAD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計算の完了と確認できた範囲</a:t>
            </a:r>
          </a:p>
        </p:txBody>
      </p:sp>
      <p:sp>
        <p:nvSpPr>
          <p:cNvPr id="2" name="正方形/長方形 1">
            <a:extLst>
              <a:ext uri="{FF2B5EF4-FFF2-40B4-BE49-F238E27FC236}">
                <a16:creationId xmlns:a16="http://schemas.microsoft.com/office/drawing/2014/main" id="{BD3A4F0C-AB2F-4DDF-A73B-E3AB7A9C029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12週すべてで、週間の運行・エネルギー・会計の整合を確認</a:t>
            </a:r>
          </a:p>
        </p:txBody>
      </p:sp>
      <p:sp>
        <p:nvSpPr>
          <p:cNvPr id="3" name="正方形/長方形 2">
            <a:extLst>
              <a:ext uri="{FF2B5EF4-FFF2-40B4-BE49-F238E27FC236}">
                <a16:creationId xmlns:a16="http://schemas.microsoft.com/office/drawing/2014/main" id="{9CC8331A-1C78-4C8B-ABEB-8D230D1658C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実行可能な計画を比較できる段階に到達。優位性の実証は次の課題</a:t>
            </a:r>
          </a:p>
        </p:txBody>
      </p:sp>
      <p:sp>
        <p:nvSpPr>
          <p:cNvPr id="5" name="正方形/長方形 4">
            <a:extLst>
              <a:ext uri="{FF2B5EF4-FFF2-40B4-BE49-F238E27FC236}">
                <a16:creationId xmlns:a16="http://schemas.microsoft.com/office/drawing/2014/main" id="{EA7FA399-8CA0-4516-BCF4-EFCC6A2D3B8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40B0DFF-C292-4C92-AC64-9AD7BA82A02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6/24</a:t>
            </a:r>
          </a:p>
        </p:txBody>
      </p:sp>
      <p:graphicFrame>
        <p:nvGraphicFramePr>
          <p:cNvPr id="15" name="表 14"/>
          <p:cNvGraphicFramePr/>
          <p:nvPr/>
        </p:nvGraphicFramePr>
        <p:xfrm>
          <a:off x="571500" y="1695450"/>
          <a:ext cx="11049000" cy="3133725"/>
        </p:xfrm>
        <a:graphic>
          <a:graphicData uri="http://schemas.openxmlformats.org/drawingml/2006/table">
            <a:tbl>
              <a:tblPr/>
              <a:tblGrid>
                <a:gridCol w="2476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6745">
                <a:tc>
                  <a:txBody>
                    <a:bodyPr/>
                    <a:lstStyle/>
                    <a:p>
                      <a:r>
                        <a:rPr sz="1650" b="1">
                          <a:solidFill>
                            <a:srgbClr val="FFFFFF"/>
                          </a:solidFill>
                          <a:latin typeface="Noto Sans JP"/>
                          <a:ea typeface="Noto Sans JP"/>
                          <a:cs typeface="Noto Sans JP"/>
                        </a:rPr>
                        <a:t>確認項目</a:t>
                      </a:r>
                    </a:p>
                  </a:txBody>
                  <a:tcPr>
                    <a:solidFill>
                      <a:srgbClr val="202B58"/>
                    </a:solidFill>
                  </a:tcPr>
                </a:tc>
                <a:tc>
                  <a:txBody>
                    <a:bodyPr/>
                    <a:lstStyle/>
                    <a:p>
                      <a:r>
                        <a:rPr sz="1650" b="1">
                          <a:solidFill>
                            <a:srgbClr val="FFFFFF"/>
                          </a:solidFill>
                          <a:latin typeface="Noto Sans JP"/>
                          <a:ea typeface="Noto Sans JP"/>
                          <a:cs typeface="Noto Sans JP"/>
                        </a:rPr>
                        <a:t>結果</a:t>
                      </a:r>
                    </a:p>
                  </a:txBody>
                  <a:tcPr>
                    <a:solidFill>
                      <a:srgbClr val="202B58"/>
                    </a:solidFill>
                  </a:tcPr>
                </a:tc>
                <a:tc>
                  <a:txBody>
                    <a:bodyPr/>
                    <a:lstStyle/>
                    <a:p>
                      <a:r>
                        <a:rPr sz="1650" b="1">
                          <a:solidFill>
                            <a:srgbClr val="FFFFFF"/>
                          </a:solidFill>
                          <a:latin typeface="Noto Sans JP"/>
                          <a:ea typeface="Noto Sans JP"/>
                          <a:cs typeface="Noto Sans JP"/>
                        </a:rPr>
                        <a:t>意味</a:t>
                      </a:r>
                    </a:p>
                  </a:txBody>
                  <a:tcPr>
                    <a:solidFill>
                      <a:srgbClr val="202B58"/>
                    </a:solidFill>
                  </a:tcPr>
                </a:tc>
                <a:extLst>
                  <a:ext uri="{0D108BD9-81ED-4DB2-BD59-A6C34878D82A}">
                    <a16:rowId xmlns:a16="http://schemas.microsoft.com/office/drawing/2014/main" val="10000"/>
                  </a:ext>
                </a:extLst>
              </a:tr>
              <a:tr h="626745">
                <a:tc>
                  <a:txBody>
                    <a:bodyPr/>
                    <a:lstStyle/>
                    <a:p>
                      <a:r>
                        <a:rPr sz="1650" b="0">
                          <a:solidFill>
                            <a:srgbClr val="202B58"/>
                          </a:solidFill>
                          <a:latin typeface="Noto Sans JP"/>
                          <a:ea typeface="Noto Sans JP"/>
                          <a:cs typeface="Noto Sans JP"/>
                        </a:rPr>
                        <a:t>週間計算</a:t>
                      </a:r>
                    </a:p>
                  </a:txBody>
                  <a:tcPr>
                    <a:solidFill>
                      <a:srgbClr val="F1F5F8"/>
                    </a:solidFill>
                  </a:tcPr>
                </a:tc>
                <a:tc>
                  <a:txBody>
                    <a:bodyPr/>
                    <a:lstStyle/>
                    <a:p>
                      <a:r>
                        <a:rPr sz="1650" b="0">
                          <a:solidFill>
                            <a:srgbClr val="202B58"/>
                          </a:solidFill>
                          <a:latin typeface="Noto Sans JP"/>
                          <a:ea typeface="Noto Sans JP"/>
                          <a:cs typeface="Noto Sans JP"/>
                        </a:rPr>
                        <a:t>12／12週、各168時間</a:t>
                      </a:r>
                    </a:p>
                  </a:txBody>
                  <a:tcPr>
                    <a:solidFill>
                      <a:srgbClr val="F1F5F8"/>
                    </a:solidFill>
                  </a:tcPr>
                </a:tc>
                <a:tc>
                  <a:txBody>
                    <a:bodyPr/>
                    <a:lstStyle/>
                    <a:p>
                      <a:r>
                        <a:rPr sz="1650" b="0">
                          <a:solidFill>
                            <a:srgbClr val="202B58"/>
                          </a:solidFill>
                          <a:latin typeface="Noto Sans JP"/>
                          <a:ea typeface="Noto Sans JP"/>
                          <a:cs typeface="Noto Sans JP"/>
                        </a:rPr>
                        <a:t>途中の成功週だけを抜き出していない</a:t>
                      </a:r>
                    </a:p>
                  </a:txBody>
                  <a:tcPr>
                    <a:solidFill>
                      <a:srgbClr val="F1F5F8"/>
                    </a:solidFill>
                  </a:tcPr>
                </a:tc>
                <a:extLst>
                  <a:ext uri="{0D108BD9-81ED-4DB2-BD59-A6C34878D82A}">
                    <a16:rowId xmlns:a16="http://schemas.microsoft.com/office/drawing/2014/main" val="10001"/>
                  </a:ext>
                </a:extLst>
              </a:tr>
              <a:tr h="626745">
                <a:tc>
                  <a:txBody>
                    <a:bodyPr/>
                    <a:lstStyle/>
                    <a:p>
                      <a:r>
                        <a:rPr sz="1650" b="0">
                          <a:solidFill>
                            <a:srgbClr val="202B58"/>
                          </a:solidFill>
                          <a:latin typeface="Noto Sans JP"/>
                          <a:ea typeface="Noto Sans JP"/>
                          <a:cs typeface="Noto Sans JP"/>
                        </a:rPr>
                        <a:t>運行・充電</a:t>
                      </a:r>
                    </a:p>
                  </a:txBody>
                  <a:tcPr>
                    <a:solidFill>
                      <a:srgbClr val="FFFFFF"/>
                    </a:solidFill>
                  </a:tcPr>
                </a:tc>
                <a:tc>
                  <a:txBody>
                    <a:bodyPr/>
                    <a:lstStyle/>
                    <a:p>
                      <a:r>
                        <a:rPr sz="1650" b="0">
                          <a:solidFill>
                            <a:srgbClr val="202B58"/>
                          </a:solidFill>
                          <a:latin typeface="Noto Sans JP"/>
                          <a:ea typeface="Noto Sans JP"/>
                          <a:cs typeface="Noto Sans JP"/>
                        </a:rPr>
                        <a:t>全週1,704便、物理違反0件</a:t>
                      </a:r>
                    </a:p>
                  </a:txBody>
                  <a:tcPr>
                    <a:solidFill>
                      <a:srgbClr val="FFFFFF"/>
                    </a:solidFill>
                  </a:tcPr>
                </a:tc>
                <a:tc>
                  <a:txBody>
                    <a:bodyPr/>
                    <a:lstStyle/>
                    <a:p>
                      <a:r>
                        <a:rPr sz="1650" b="0">
                          <a:solidFill>
                            <a:srgbClr val="202B58"/>
                          </a:solidFill>
                          <a:latin typeface="Noto Sans JP"/>
                          <a:ea typeface="Noto Sans JP"/>
                          <a:cs typeface="Noto Sans JP"/>
                        </a:rPr>
                        <a:t>時間接続・電池残量・設備制約を検算</a:t>
                      </a:r>
                    </a:p>
                  </a:txBody>
                  <a:tcPr>
                    <a:solidFill>
                      <a:srgbClr val="FFFFFF"/>
                    </a:solidFill>
                  </a:tcPr>
                </a:tc>
                <a:extLst>
                  <a:ext uri="{0D108BD9-81ED-4DB2-BD59-A6C34878D82A}">
                    <a16:rowId xmlns:a16="http://schemas.microsoft.com/office/drawing/2014/main" val="10002"/>
                  </a:ext>
                </a:extLst>
              </a:tr>
              <a:tr h="626745">
                <a:tc>
                  <a:txBody>
                    <a:bodyPr/>
                    <a:lstStyle/>
                    <a:p>
                      <a:r>
                        <a:rPr sz="1650" b="0">
                          <a:solidFill>
                            <a:srgbClr val="202B58"/>
                          </a:solidFill>
                          <a:latin typeface="Noto Sans JP"/>
                          <a:ea typeface="Noto Sans JP"/>
                          <a:cs typeface="Noto Sans JP"/>
                        </a:rPr>
                        <a:t>費用の照合</a:t>
                      </a:r>
                    </a:p>
                  </a:txBody>
                  <a:tcPr>
                    <a:solidFill>
                      <a:srgbClr val="F1F5F8"/>
                    </a:solidFill>
                  </a:tcPr>
                </a:tc>
                <a:tc>
                  <a:txBody>
                    <a:bodyPr/>
                    <a:lstStyle/>
                    <a:p>
                      <a:r>
                        <a:rPr sz="1650" b="0">
                          <a:solidFill>
                            <a:srgbClr val="202B58"/>
                          </a:solidFill>
                          <a:latin typeface="Noto Sans JP"/>
                          <a:ea typeface="Noto Sans JP"/>
                          <a:cs typeface="Noto Sans JP"/>
                        </a:rPr>
                        <a:t>週間会計と台帳の差 ≤ 10⁻⁶円</a:t>
                      </a:r>
                    </a:p>
                  </a:txBody>
                  <a:tcPr>
                    <a:solidFill>
                      <a:srgbClr val="F1F5F8"/>
                    </a:solidFill>
                  </a:tcPr>
                </a:tc>
                <a:tc>
                  <a:txBody>
                    <a:bodyPr/>
                    <a:lstStyle/>
                    <a:p>
                      <a:r>
                        <a:rPr sz="1650" b="0">
                          <a:solidFill>
                            <a:srgbClr val="202B58"/>
                          </a:solidFill>
                          <a:latin typeface="Noto Sans JP"/>
                          <a:ea typeface="Noto Sans JP"/>
                          <a:cs typeface="Noto Sans JP"/>
                        </a:rPr>
                        <a:t>報告費用を実行値に対応付けた</a:t>
                      </a:r>
                    </a:p>
                  </a:txBody>
                  <a:tcPr>
                    <a:solidFill>
                      <a:srgbClr val="F1F5F8"/>
                    </a:solidFill>
                  </a:tcPr>
                </a:tc>
                <a:extLst>
                  <a:ext uri="{0D108BD9-81ED-4DB2-BD59-A6C34878D82A}">
                    <a16:rowId xmlns:a16="http://schemas.microsoft.com/office/drawing/2014/main" val="10003"/>
                  </a:ext>
                </a:extLst>
              </a:tr>
              <a:tr h="626745">
                <a:tc>
                  <a:txBody>
                    <a:bodyPr/>
                    <a:lstStyle/>
                    <a:p>
                      <a:r>
                        <a:rPr sz="1650" b="0">
                          <a:solidFill>
                            <a:srgbClr val="202B58"/>
                          </a:solidFill>
                          <a:latin typeface="Noto Sans JP"/>
                          <a:ea typeface="Noto Sans JP"/>
                          <a:cs typeface="Noto Sans JP"/>
                        </a:rPr>
                        <a:t>未完了の評価</a:t>
                      </a:r>
                    </a:p>
                  </a:txBody>
                  <a:tcPr>
                    <a:solidFill>
                      <a:srgbClr val="FFFFFF"/>
                    </a:solidFill>
                  </a:tcPr>
                </a:tc>
                <a:tc>
                  <a:txBody>
                    <a:bodyPr/>
                    <a:lstStyle/>
                    <a:p>
                      <a:r>
                        <a:rPr sz="1650" b="0">
                          <a:solidFill>
                            <a:srgbClr val="202B58"/>
                          </a:solidFill>
                          <a:latin typeface="Noto Sans JP"/>
                          <a:ea typeface="Noto Sans JP"/>
                          <a:cs typeface="Noto Sans JP"/>
                        </a:rPr>
                        <a:t>最適性・同条件の対照比較</a:t>
                      </a:r>
                    </a:p>
                  </a:txBody>
                  <a:tcPr>
                    <a:solidFill>
                      <a:srgbClr val="FFFFFF"/>
                    </a:solidFill>
                  </a:tcPr>
                </a:tc>
                <a:tc>
                  <a:txBody>
                    <a:bodyPr/>
                    <a:lstStyle/>
                    <a:p>
                      <a:r>
                        <a:rPr sz="1650" b="0">
                          <a:solidFill>
                            <a:srgbClr val="202B58"/>
                          </a:solidFill>
                          <a:latin typeface="Noto Sans JP"/>
                          <a:ea typeface="Noto Sans JP"/>
                          <a:cs typeface="Noto Sans JP"/>
                        </a:rPr>
                        <a:t>現在は診断結果として報告する</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93E3A1EA-69DE-4F28-A53E-A2D938E67D42}"/>
              </a:ext>
            </a:extLst>
          </p:cNvPr>
          <p:cNvSpPr>
            <a:spLocks noGrp="1"/>
          </p:cNvSpPr>
          <p:nvPr/>
        </p:nvSpPr>
        <p:spPr>
          <a:xfrm>
            <a:off x="685800" y="5086350"/>
            <a:ext cx="10763250"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各週は同じ初期状態から開始。BESSの週末残量は初期値への復元を要求しない。</a:t>
            </a:r>
          </a:p>
        </p:txBody>
      </p:sp>
    </p:spTree>
    <p:extLst>
      <p:ext uri="{BB962C8B-B14F-4D97-AF65-F5344CB8AC3E}">
        <p14:creationId xmlns:p14="http://schemas.microsoft.com/office/powerpoint/2010/main" val="152552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AE051EF-FC04-4C22-AD10-F0E737392D51}"/>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受電電力と週間指標の定義</a:t>
            </a:r>
          </a:p>
        </p:txBody>
      </p:sp>
      <p:sp>
        <p:nvSpPr>
          <p:cNvPr id="2" name="正方形/長方形 1">
            <a:extLst>
              <a:ext uri="{FF2B5EF4-FFF2-40B4-BE49-F238E27FC236}">
                <a16:creationId xmlns:a16="http://schemas.microsoft.com/office/drawing/2014/main" id="{7F7D3C30-6A2A-42D7-A15F-B36AEC0592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受電電力は各15分の平均値。1週間は672区間（168時間）</a:t>
            </a:r>
          </a:p>
        </p:txBody>
      </p:sp>
      <p:sp>
        <p:nvSpPr>
          <p:cNvPr id="3" name="正方形/長方形 2">
            <a:extLst>
              <a:ext uri="{FF2B5EF4-FFF2-40B4-BE49-F238E27FC236}">
                <a16:creationId xmlns:a16="http://schemas.microsoft.com/office/drawing/2014/main" id="{7845325E-8E2F-4160-8AF8-E8619FC2FEE9}"/>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週間購入電力量が同じでも、短時間へ集中すると受電ピークは高くなる</a:t>
            </a:r>
          </a:p>
        </p:txBody>
      </p:sp>
      <p:sp>
        <p:nvSpPr>
          <p:cNvPr id="5" name="正方形/長方形 4">
            <a:extLst>
              <a:ext uri="{FF2B5EF4-FFF2-40B4-BE49-F238E27FC236}">
                <a16:creationId xmlns:a16="http://schemas.microsoft.com/office/drawing/2014/main" id="{47C746E7-600D-43AB-BCED-DB139CBC140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B087A8C-9552-4469-B3D9-0AB3A968D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7/24</a:t>
            </a:r>
          </a:p>
        </p:txBody>
      </p:sp>
      <p:sp>
        <p:nvSpPr>
          <p:cNvPr id="7" name="正方形/長方形 6">
            <a:extLst>
              <a:ext uri="{FF2B5EF4-FFF2-40B4-BE49-F238E27FC236}">
                <a16:creationId xmlns:a16="http://schemas.microsoft.com/office/drawing/2014/main" id="{1F718B88-2AEE-4B74-96CE-633774AC2D92}"/>
              </a:ext>
            </a:extLst>
          </p:cNvPr>
          <p:cNvSpPr>
            <a:spLocks noGrp="1"/>
          </p:cNvSpPr>
          <p:nvPr/>
        </p:nvSpPr>
        <p:spPr>
          <a:xfrm>
            <a:off x="685800" y="1752600"/>
            <a:ext cx="10668000" cy="4953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計算例：100 kW × 15分（0.25時間）＝ 25 kWh</a:t>
            </a:r>
          </a:p>
        </p:txBody>
      </p:sp>
      <p:graphicFrame>
        <p:nvGraphicFramePr>
          <p:cNvPr id="16" name="表 15"/>
          <p:cNvGraphicFramePr/>
          <p:nvPr/>
        </p:nvGraphicFramePr>
        <p:xfrm>
          <a:off x="571500" y="2505075"/>
          <a:ext cx="11049000" cy="2847976"/>
        </p:xfrm>
        <a:graphic>
          <a:graphicData uri="http://schemas.openxmlformats.org/drawingml/2006/table">
            <a:tbl>
              <a:tblPr/>
              <a:tblGrid>
                <a:gridCol w="33337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711994">
                <a:tc>
                  <a:txBody>
                    <a:bodyPr/>
                    <a:lstStyle/>
                    <a:p>
                      <a:r>
                        <a:rPr sz="1725" b="1">
                          <a:solidFill>
                            <a:srgbClr val="FFFFFF"/>
                          </a:solidFill>
                          <a:latin typeface="Noto Sans JP"/>
                          <a:ea typeface="Noto Sans JP"/>
                          <a:cs typeface="Noto Sans JP"/>
                        </a:rPr>
                        <a:t>指標</a:t>
                      </a:r>
                    </a:p>
                  </a:txBody>
                  <a:tcPr>
                    <a:solidFill>
                      <a:srgbClr val="202B58"/>
                    </a:solidFill>
                  </a:tcPr>
                </a:tc>
                <a:tc>
                  <a:txBody>
                    <a:bodyPr/>
                    <a:lstStyle/>
                    <a:p>
                      <a:r>
                        <a:rPr sz="1725" b="1">
                          <a:solidFill>
                            <a:srgbClr val="FFFFFF"/>
                          </a:solidFill>
                          <a:latin typeface="Noto Sans JP"/>
                          <a:ea typeface="Noto Sans JP"/>
                          <a:cs typeface="Noto Sans JP"/>
                        </a:rPr>
                        <a:t>計算の意味</a:t>
                      </a:r>
                    </a:p>
                  </a:txBody>
                  <a:tcPr>
                    <a:solidFill>
                      <a:srgbClr val="202B58"/>
                    </a:solidFill>
                  </a:tcPr>
                </a:tc>
                <a:tc>
                  <a:txBody>
                    <a:bodyPr/>
                    <a:lstStyle/>
                    <a:p>
                      <a:r>
                        <a:rPr sz="1725" b="1">
                          <a:solidFill>
                            <a:srgbClr val="FFFFFF"/>
                          </a:solidFill>
                          <a:latin typeface="Noto Sans JP"/>
                          <a:ea typeface="Noto Sans JP"/>
                          <a:cs typeface="Noto Sans JP"/>
                        </a:rPr>
                        <a:t>何が分かるか</a:t>
                      </a:r>
                    </a:p>
                  </a:txBody>
                  <a:tcPr>
                    <a:solidFill>
                      <a:srgbClr val="202B58"/>
                    </a:solidFill>
                  </a:tcPr>
                </a:tc>
                <a:extLst>
                  <a:ext uri="{0D108BD9-81ED-4DB2-BD59-A6C34878D82A}">
                    <a16:rowId xmlns:a16="http://schemas.microsoft.com/office/drawing/2014/main" val="10000"/>
                  </a:ext>
                </a:extLst>
              </a:tr>
              <a:tr h="711994">
                <a:tc>
                  <a:txBody>
                    <a:bodyPr/>
                    <a:lstStyle/>
                    <a:p>
                      <a:r>
                        <a:rPr sz="1725" b="0">
                          <a:solidFill>
                            <a:srgbClr val="202B58"/>
                          </a:solidFill>
                          <a:latin typeface="Noto Sans JP"/>
                          <a:ea typeface="Noto Sans JP"/>
                          <a:cs typeface="Noto Sans JP"/>
                        </a:rPr>
                        <a:t>週間購入電力量 [kWh]</a:t>
                      </a:r>
                    </a:p>
                  </a:txBody>
                  <a:tcPr>
                    <a:solidFill>
                      <a:srgbClr val="F1F5F8"/>
                    </a:solidFill>
                  </a:tcPr>
                </a:tc>
                <a:tc>
                  <a:txBody>
                    <a:bodyPr/>
                    <a:lstStyle/>
                    <a:p>
                      <a:r>
                        <a:rPr sz="1725" b="0">
                          <a:solidFill>
                            <a:srgbClr val="202B58"/>
                          </a:solidFill>
                          <a:latin typeface="Noto Sans JP"/>
                          <a:ea typeface="Noto Sans JP"/>
                          <a:cs typeface="Noto Sans JP"/>
                        </a:rPr>
                        <a:t>受電電力 × 0.25時間の週間合計</a:t>
                      </a:r>
                    </a:p>
                  </a:txBody>
                  <a:tcPr>
                    <a:solidFill>
                      <a:srgbClr val="F1F5F8"/>
                    </a:solidFill>
                  </a:tcPr>
                </a:tc>
                <a:tc>
                  <a:txBody>
                    <a:bodyPr/>
                    <a:lstStyle/>
                    <a:p>
                      <a:r>
                        <a:rPr sz="1725" b="0">
                          <a:solidFill>
                            <a:srgbClr val="202B58"/>
                          </a:solidFill>
                          <a:latin typeface="Noto Sans JP"/>
                          <a:ea typeface="Noto Sans JP"/>
                          <a:cs typeface="Noto Sans JP"/>
                        </a:rPr>
                        <a:t>1週間に購入した総量</a:t>
                      </a:r>
                    </a:p>
                  </a:txBody>
                  <a:tcPr>
                    <a:solidFill>
                      <a:srgbClr val="F1F5F8"/>
                    </a:solidFill>
                  </a:tcPr>
                </a:tc>
                <a:extLst>
                  <a:ext uri="{0D108BD9-81ED-4DB2-BD59-A6C34878D82A}">
                    <a16:rowId xmlns:a16="http://schemas.microsoft.com/office/drawing/2014/main" val="10001"/>
                  </a:ext>
                </a:extLst>
              </a:tr>
              <a:tr h="711994">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週間購入電力量 ÷ 168時間</a:t>
                      </a:r>
                    </a:p>
                  </a:txBody>
                  <a:tcPr>
                    <a:solidFill>
                      <a:srgbClr val="FFFFFF"/>
                    </a:solidFill>
                  </a:tcPr>
                </a:tc>
                <a:tc>
                  <a:txBody>
                    <a:bodyPr/>
                    <a:lstStyle/>
                    <a:p>
                      <a:r>
                        <a:rPr sz="1725" b="0">
                          <a:solidFill>
                            <a:srgbClr val="202B58"/>
                          </a:solidFill>
                          <a:latin typeface="Noto Sans JP"/>
                          <a:ea typeface="Noto Sans JP"/>
                          <a:cs typeface="Noto Sans JP"/>
                        </a:rPr>
                        <a:t>受電ゼロの時間も含めた平均</a:t>
                      </a:r>
                    </a:p>
                  </a:txBody>
                  <a:tcPr>
                    <a:solidFill>
                      <a:srgbClr val="FFFFFF"/>
                    </a:solidFill>
                  </a:tcPr>
                </a:tc>
                <a:extLst>
                  <a:ext uri="{0D108BD9-81ED-4DB2-BD59-A6C34878D82A}">
                    <a16:rowId xmlns:a16="http://schemas.microsoft.com/office/drawing/2014/main" val="10002"/>
                  </a:ext>
                </a:extLst>
              </a:tr>
              <a:tr h="711994">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672区間の受電電力の最大値</a:t>
                      </a:r>
                    </a:p>
                  </a:txBody>
                  <a:tcPr>
                    <a:solidFill>
                      <a:srgbClr val="F1F5F8"/>
                    </a:solidFill>
                  </a:tcPr>
                </a:tc>
                <a:tc>
                  <a:txBody>
                    <a:bodyPr/>
                    <a:lstStyle/>
                    <a:p>
                      <a:r>
                        <a:rPr sz="1725" b="0">
                          <a:solidFill>
                            <a:srgbClr val="202B58"/>
                          </a:solidFill>
                          <a:latin typeface="Noto Sans JP"/>
                          <a:ea typeface="Noto Sans JP"/>
                          <a:cs typeface="Noto Sans JP"/>
                        </a:rPr>
                        <a:t>1週間で最も高い受電電力</a:t>
                      </a:r>
                    </a:p>
                  </a:txBody>
                  <a:tcPr>
                    <a:solidFill>
                      <a:srgbClr val="F1F5F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24382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35CDB32-9E36-498C-878E-EE782DAEA37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12週のPV利用と週間購入電力量</a:t>
            </a:r>
          </a:p>
        </p:txBody>
      </p:sp>
      <p:sp>
        <p:nvSpPr>
          <p:cNvPr id="2" name="正方形/長方形 1">
            <a:extLst>
              <a:ext uri="{FF2B5EF4-FFF2-40B4-BE49-F238E27FC236}">
                <a16:creationId xmlns:a16="http://schemas.microsoft.com/office/drawing/2014/main" id="{36AD1AFE-EDE3-420B-BAFB-D85572A89F2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発電を増やすだけでなく、いつ利用できるかが運用上の課題になる</a:t>
            </a:r>
          </a:p>
        </p:txBody>
      </p:sp>
      <p:sp>
        <p:nvSpPr>
          <p:cNvPr id="3" name="正方形/長方形 2">
            <a:extLst>
              <a:ext uri="{FF2B5EF4-FFF2-40B4-BE49-F238E27FC236}">
                <a16:creationId xmlns:a16="http://schemas.microsoft.com/office/drawing/2014/main" id="{AD1BDF65-9738-4A29-8CD5-D00C32CFCF8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7月のPVは32.0 MWh。抑制44.1%、週間購入電力量は1.75 MWh</a:t>
            </a:r>
          </a:p>
        </p:txBody>
      </p:sp>
      <p:sp>
        <p:nvSpPr>
          <p:cNvPr id="4" name="正方形/長方形 3">
            <a:extLst>
              <a:ext uri="{FF2B5EF4-FFF2-40B4-BE49-F238E27FC236}">
                <a16:creationId xmlns:a16="http://schemas.microsoft.com/office/drawing/2014/main" id="{63B2B52A-A301-4678-8032-563F46BE02B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err="1">
                <a:solidFill>
                  <a:srgbClr val="7E4D36"/>
                </a:solidFill>
                <a:latin typeface="Noto Sans JP"/>
                <a:ea typeface="Noto Sans JP"/>
                <a:cs typeface="Noto Sans JP"/>
              </a:rPr>
              <a:t>左はPVの受け渡し先。BESS充電量の全量が同じ週にバスへ届いたとは限らない</a:t>
            </a:r>
            <a:r>
              <a:rPr sz="1275" b="0" dirty="0">
                <a:solidFill>
                  <a:srgbClr val="7E4D36"/>
                </a:solidFill>
                <a:latin typeface="Noto Sans JP"/>
                <a:ea typeface="Noto Sans JP"/>
                <a:cs typeface="Noto Sans JP"/>
              </a:rPr>
              <a:t>。</a:t>
            </a:r>
          </a:p>
        </p:txBody>
      </p:sp>
      <p:sp>
        <p:nvSpPr>
          <p:cNvPr id="5" name="正方形/長方形 4">
            <a:extLst>
              <a:ext uri="{FF2B5EF4-FFF2-40B4-BE49-F238E27FC236}">
                <a16:creationId xmlns:a16="http://schemas.microsoft.com/office/drawing/2014/main" id="{63C7D29A-32EA-4DCE-96E9-792E9E5276EF}"/>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B699019-84AF-4571-8E74-A778D7A7F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8/24</a:t>
            </a:r>
          </a:p>
        </p:txBody>
      </p:sp>
      <p:graphicFrame>
        <p:nvGraphicFramePr>
          <p:cNvPr id="15" name="Chart"/>
          <p:cNvGraphicFramePr/>
          <p:nvPr/>
        </p:nvGraphicFramePr>
        <p:xfrm>
          <a:off x="571500" y="1695450"/>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p:cNvGraphicFramePr/>
          <p:nvPr/>
        </p:nvGraphicFramePr>
        <p:xfrm>
          <a:off x="6238875" y="1695450"/>
          <a:ext cx="5381625" cy="3714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5172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24AD9F5-DE41-4EF7-B394-786222E3278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3月・11月の週間購入電力量と受電ピーク</a:t>
            </a:r>
          </a:p>
        </p:txBody>
      </p:sp>
      <p:sp>
        <p:nvSpPr>
          <p:cNvPr id="2" name="正方形/長方形 1">
            <a:extLst>
              <a:ext uri="{FF2B5EF4-FFF2-40B4-BE49-F238E27FC236}">
                <a16:creationId xmlns:a16="http://schemas.microsoft.com/office/drawing/2014/main" id="{6A8C9C2B-B98F-419D-A124-0FFCE29C66B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3月3〜9日と11月10〜16日／どちらも1,704便・206台日</a:t>
            </a:r>
          </a:p>
        </p:txBody>
      </p:sp>
      <p:sp>
        <p:nvSpPr>
          <p:cNvPr id="3" name="正方形/長方形 2">
            <a:extLst>
              <a:ext uri="{FF2B5EF4-FFF2-40B4-BE49-F238E27FC236}">
                <a16:creationId xmlns:a16="http://schemas.microsoft.com/office/drawing/2014/main" id="{419AFADC-4003-40B2-BE81-E33BDF8A1F47}"/>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受電ピークは3月849.4 kW、11月234.8 kW</a:t>
            </a:r>
          </a:p>
        </p:txBody>
      </p:sp>
      <p:sp>
        <p:nvSpPr>
          <p:cNvPr id="4" name="正方形/長方形 3">
            <a:extLst>
              <a:ext uri="{FF2B5EF4-FFF2-40B4-BE49-F238E27FC236}">
                <a16:creationId xmlns:a16="http://schemas.microsoft.com/office/drawing/2014/main" id="{45C1882A-D32B-43E4-BD87-04C852DFFBE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a:solidFill>
                  <a:srgbClr val="7E4D36"/>
                </a:solidFill>
                <a:latin typeface="Noto Sans JP"/>
                <a:ea typeface="Noto Sans JP"/>
                <a:cs typeface="Noto Sans JP"/>
              </a:rPr>
              <a:t>両週の配車は完全には一致しない。BEV担当便は3月1,562便、11月1,565便。</a:t>
            </a:r>
          </a:p>
        </p:txBody>
      </p:sp>
      <p:sp>
        <p:nvSpPr>
          <p:cNvPr id="5" name="正方形/長方形 4">
            <a:extLst>
              <a:ext uri="{FF2B5EF4-FFF2-40B4-BE49-F238E27FC236}">
                <a16:creationId xmlns:a16="http://schemas.microsoft.com/office/drawing/2014/main" id="{C55FE943-64EB-4B31-A927-386DD2618E9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8949B2A-81E3-4AA9-A255-9FF7219DB9B9}"/>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9/24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55245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比較指標</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PV発電量 [MWh／週]</a:t>
                      </a:r>
                    </a:p>
                  </a:txBody>
                  <a:tcPr>
                    <a:solidFill>
                      <a:srgbClr val="F1F5F8"/>
                    </a:solidFill>
                  </a:tcPr>
                </a:tc>
                <a:tc>
                  <a:txBody>
                    <a:bodyPr/>
                    <a:lstStyle/>
                    <a:p>
                      <a:r>
                        <a:rPr sz="1725" b="0">
                          <a:solidFill>
                            <a:srgbClr val="202B58"/>
                          </a:solidFill>
                          <a:latin typeface="Noto Sans JP"/>
                          <a:ea typeface="Noto Sans JP"/>
                          <a:cs typeface="Noto Sans JP"/>
                        </a:rPr>
                        <a:t>14.86</a:t>
                      </a:r>
                    </a:p>
                  </a:txBody>
                  <a:tcPr>
                    <a:solidFill>
                      <a:srgbClr val="F1F5F8"/>
                    </a:solidFill>
                  </a:tcPr>
                </a:tc>
                <a:tc>
                  <a:txBody>
                    <a:bodyPr/>
                    <a:lstStyle/>
                    <a:p>
                      <a:r>
                        <a:rPr sz="1725" b="0">
                          <a:solidFill>
                            <a:srgbClr val="202B58"/>
                          </a:solidFill>
                          <a:latin typeface="Noto Sans JP"/>
                          <a:ea typeface="Noto Sans JP"/>
                          <a:cs typeface="Noto Sans JP"/>
                        </a:rPr>
                        <a:t>15.85</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バス充電量 [MWh／週]</a:t>
                      </a:r>
                    </a:p>
                  </a:txBody>
                  <a:tcPr>
                    <a:solidFill>
                      <a:srgbClr val="FFFFFF"/>
                    </a:solidFill>
                  </a:tcPr>
                </a:tc>
                <a:tc>
                  <a:txBody>
                    <a:bodyPr/>
                    <a:lstStyle/>
                    <a:p>
                      <a:r>
                        <a:rPr sz="1725" b="0">
                          <a:solidFill>
                            <a:srgbClr val="202B58"/>
                          </a:solidFill>
                          <a:latin typeface="Noto Sans JP"/>
                          <a:ea typeface="Noto Sans JP"/>
                          <a:cs typeface="Noto Sans JP"/>
                        </a:rPr>
                        <a:t>19.90</a:t>
                      </a:r>
                    </a:p>
                  </a:txBody>
                  <a:tcPr>
                    <a:solidFill>
                      <a:srgbClr val="FFFFFF"/>
                    </a:solidFill>
                  </a:tcPr>
                </a:tc>
                <a:tc>
                  <a:txBody>
                    <a:bodyPr/>
                    <a:lstStyle/>
                    <a:p>
                      <a:r>
                        <a:rPr sz="1725"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週間購入電力量 [MWh／週]</a:t>
                      </a:r>
                    </a:p>
                  </a:txBody>
                  <a:tcPr>
                    <a:solidFill>
                      <a:srgbClr val="F1F5F8"/>
                    </a:solidFill>
                  </a:tcPr>
                </a:tc>
                <a:tc>
                  <a:txBody>
                    <a:bodyPr/>
                    <a:lstStyle/>
                    <a:p>
                      <a:r>
                        <a:rPr sz="1725" b="0">
                          <a:solidFill>
                            <a:srgbClr val="202B58"/>
                          </a:solidFill>
                          <a:latin typeface="Noto Sans JP"/>
                          <a:ea typeface="Noto Sans JP"/>
                          <a:cs typeface="Noto Sans JP"/>
                        </a:rPr>
                        <a:t>7.79</a:t>
                      </a:r>
                    </a:p>
                  </a:txBody>
                  <a:tcPr>
                    <a:solidFill>
                      <a:srgbClr val="F1F5F8"/>
                    </a:solidFill>
                  </a:tcPr>
                </a:tc>
                <a:tc>
                  <a:txBody>
                    <a:bodyPr/>
                    <a:lstStyle/>
                    <a:p>
                      <a:r>
                        <a:rPr sz="1725" b="0">
                          <a:solidFill>
                            <a:srgbClr val="202B58"/>
                          </a:solidFill>
                          <a:latin typeface="Noto Sans JP"/>
                          <a:ea typeface="Noto Sans JP"/>
                          <a:cs typeface="Noto Sans JP"/>
                        </a:rPr>
                        <a:t>7.30</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46.4</a:t>
                      </a:r>
                    </a:p>
                  </a:txBody>
                  <a:tcPr>
                    <a:solidFill>
                      <a:srgbClr val="FFFFFF"/>
                    </a:solidFill>
                  </a:tcPr>
                </a:tc>
                <a:tc>
                  <a:txBody>
                    <a:bodyPr/>
                    <a:lstStyle/>
                    <a:p>
                      <a:r>
                        <a:rPr sz="1725" b="0">
                          <a:solidFill>
                            <a:srgbClr val="202B58"/>
                          </a:solidFill>
                          <a:latin typeface="Noto Sans JP"/>
                          <a:ea typeface="Noto Sans JP"/>
                          <a:cs typeface="Noto Sans JP"/>
                        </a:rPr>
                        <a:t>43.5</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849.4</a:t>
                      </a:r>
                    </a:p>
                  </a:txBody>
                  <a:tcPr>
                    <a:solidFill>
                      <a:srgbClr val="F1F5F8"/>
                    </a:solidFill>
                  </a:tcPr>
                </a:tc>
                <a:tc>
                  <a:txBody>
                    <a:bodyPr/>
                    <a:lstStyle/>
                    <a:p>
                      <a:r>
                        <a:rPr sz="1725"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80616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97299A-E9E6-4517-BC18-E44948CBA095}"/>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11月の購入は7日すべてに分散</a:t>
            </a:r>
          </a:p>
        </p:txBody>
      </p:sp>
      <p:sp>
        <p:nvSpPr>
          <p:cNvPr id="2" name="正方形/長方形 1">
            <a:extLst>
              <a:ext uri="{FF2B5EF4-FFF2-40B4-BE49-F238E27FC236}">
                <a16:creationId xmlns:a16="http://schemas.microsoft.com/office/drawing/2014/main" id="{3586964E-4F5B-4664-A929-D6A5812954D6}"/>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最大の1日でも週間購入電力量の20.5%。一度の短い購入だけでは説明できない</a:t>
            </a:r>
          </a:p>
        </p:txBody>
      </p:sp>
      <p:sp>
        <p:nvSpPr>
          <p:cNvPr id="3" name="正方形/長方形 2">
            <a:extLst>
              <a:ext uri="{FF2B5EF4-FFF2-40B4-BE49-F238E27FC236}">
                <a16:creationId xmlns:a16="http://schemas.microsoft.com/office/drawing/2014/main" id="{EB2A7D84-C9E7-4E65-9514-80BFBA8564B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受電時間は11月50.75時間、3月51.75時間（受電電力 &gt; 1 kW）</a:t>
            </a:r>
          </a:p>
        </p:txBody>
      </p:sp>
      <p:sp>
        <p:nvSpPr>
          <p:cNvPr id="4" name="正方形/長方形 3">
            <a:extLst>
              <a:ext uri="{FF2B5EF4-FFF2-40B4-BE49-F238E27FC236}">
                <a16:creationId xmlns:a16="http://schemas.microsoft.com/office/drawing/2014/main" id="{B1E61ED4-8BA8-4A0A-9B27-42A94940C73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受電時間は受電電力が1 kWを超える15分区間の合計。連続時間とは異なる。</a:t>
            </a:r>
          </a:p>
        </p:txBody>
      </p:sp>
      <p:sp>
        <p:nvSpPr>
          <p:cNvPr id="5" name="正方形/長方形 4">
            <a:extLst>
              <a:ext uri="{FF2B5EF4-FFF2-40B4-BE49-F238E27FC236}">
                <a16:creationId xmlns:a16="http://schemas.microsoft.com/office/drawing/2014/main" id="{C2051E29-501A-41FE-A138-56DE2BC7F9D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33CD5CB-083A-4CBD-8FD3-55B2D76122C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10/24</a:t>
            </a:r>
          </a:p>
        </p:txBody>
      </p:sp>
      <p:graphicFrame>
        <p:nvGraphicFramePr>
          <p:cNvPr id="15" name="Chart"/>
          <p:cNvGraphicFramePr/>
          <p:nvPr/>
        </p:nvGraphicFramePr>
        <p:xfrm>
          <a:off x="571500" y="1695450"/>
          <a:ext cx="704850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 15"/>
          <p:cNvGraphicFramePr/>
          <p:nvPr/>
        </p:nvGraphicFramePr>
        <p:xfrm>
          <a:off x="7810500" y="2085975"/>
          <a:ext cx="3810000" cy="2981325"/>
        </p:xfrm>
        <a:graphic>
          <a:graphicData uri="http://schemas.openxmlformats.org/drawingml/2006/table">
            <a:tbl>
              <a:tblPr/>
              <a:tblGrid>
                <a:gridCol w="21431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96265">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596265">
                <a:tc>
                  <a:txBody>
                    <a:bodyPr/>
                    <a:lstStyle/>
                    <a:p>
                      <a:r>
                        <a:rPr sz="1650" b="0">
                          <a:solidFill>
                            <a:srgbClr val="202B58"/>
                          </a:solidFill>
                          <a:latin typeface="Noto Sans JP"/>
                          <a:ea typeface="Noto Sans JP"/>
                          <a:cs typeface="Noto Sans JP"/>
                        </a:rPr>
                        <a:t>購入がある日</a:t>
                      </a:r>
                    </a:p>
                  </a:txBody>
                  <a:tcPr>
                    <a:solidFill>
                      <a:srgbClr val="F1F5F8"/>
                    </a:solidFill>
                  </a:tcPr>
                </a:tc>
                <a:tc>
                  <a:txBody>
                    <a:bodyPr/>
                    <a:lstStyle/>
                    <a:p>
                      <a:r>
                        <a:rPr sz="1650" b="0">
                          <a:solidFill>
                            <a:srgbClr val="202B58"/>
                          </a:solidFill>
                          <a:latin typeface="Noto Sans JP"/>
                          <a:ea typeface="Noto Sans JP"/>
                          <a:cs typeface="Noto Sans JP"/>
                        </a:rPr>
                        <a:t>7／7日</a:t>
                      </a:r>
                    </a:p>
                  </a:txBody>
                  <a:tcPr>
                    <a:solidFill>
                      <a:srgbClr val="F1F5F8"/>
                    </a:solidFill>
                  </a:tcPr>
                </a:tc>
                <a:extLst>
                  <a:ext uri="{0D108BD9-81ED-4DB2-BD59-A6C34878D82A}">
                    <a16:rowId xmlns:a16="http://schemas.microsoft.com/office/drawing/2014/main" val="10001"/>
                  </a:ext>
                </a:extLst>
              </a:tr>
              <a:tr h="596265">
                <a:tc>
                  <a:txBody>
                    <a:bodyPr/>
                    <a:lstStyle/>
                    <a:p>
                      <a:r>
                        <a:rPr sz="1650" b="0">
                          <a:solidFill>
                            <a:srgbClr val="202B58"/>
                          </a:solidFill>
                          <a:latin typeface="Noto Sans JP"/>
                          <a:ea typeface="Noto Sans JP"/>
                          <a:cs typeface="Noto Sans JP"/>
                        </a:rPr>
                        <a:t>受電時間</a:t>
                      </a:r>
                    </a:p>
                  </a:txBody>
                  <a:tcPr>
                    <a:solidFill>
                      <a:srgbClr val="FFFFFF"/>
                    </a:solidFill>
                  </a:tcPr>
                </a:tc>
                <a:tc>
                  <a:txBody>
                    <a:bodyPr/>
                    <a:lstStyle/>
                    <a:p>
                      <a:r>
                        <a:rPr sz="1650" b="0">
                          <a:solidFill>
                            <a:srgbClr val="202B58"/>
                          </a:solidFill>
                          <a:latin typeface="Noto Sans JP"/>
                          <a:ea typeface="Noto Sans JP"/>
                          <a:cs typeface="Noto Sans JP"/>
                        </a:rPr>
                        <a:t>50.75時間</a:t>
                      </a:r>
                    </a:p>
                  </a:txBody>
                  <a:tcPr>
                    <a:solidFill>
                      <a:srgbClr val="FFFFFF"/>
                    </a:solidFill>
                  </a:tcPr>
                </a:tc>
                <a:extLst>
                  <a:ext uri="{0D108BD9-81ED-4DB2-BD59-A6C34878D82A}">
                    <a16:rowId xmlns:a16="http://schemas.microsoft.com/office/drawing/2014/main" val="10002"/>
                  </a:ext>
                </a:extLst>
              </a:tr>
              <a:tr h="596265">
                <a:tc>
                  <a:txBody>
                    <a:bodyPr/>
                    <a:lstStyle/>
                    <a:p>
                      <a:r>
                        <a:rPr sz="1650" b="0">
                          <a:solidFill>
                            <a:srgbClr val="202B58"/>
                          </a:solidFill>
                          <a:latin typeface="Noto Sans JP"/>
                          <a:ea typeface="Noto Sans JP"/>
                          <a:cs typeface="Noto Sans JP"/>
                        </a:rPr>
                        <a:t>最長連続受電時間</a:t>
                      </a:r>
                    </a:p>
                  </a:txBody>
                  <a:tcPr>
                    <a:solidFill>
                      <a:srgbClr val="F1F5F8"/>
                    </a:solidFill>
                  </a:tcPr>
                </a:tc>
                <a:tc>
                  <a:txBody>
                    <a:bodyPr/>
                    <a:lstStyle/>
                    <a:p>
                      <a:r>
                        <a:rPr sz="1650" b="0">
                          <a:solidFill>
                            <a:srgbClr val="202B58"/>
                          </a:solidFill>
                          <a:latin typeface="Noto Sans JP"/>
                          <a:ea typeface="Noto Sans JP"/>
                          <a:cs typeface="Noto Sans JP"/>
                        </a:rPr>
                        <a:t>9.75時間</a:t>
                      </a:r>
                    </a:p>
                  </a:txBody>
                  <a:tcPr>
                    <a:solidFill>
                      <a:srgbClr val="F1F5F8"/>
                    </a:solidFill>
                  </a:tcPr>
                </a:tc>
                <a:extLst>
                  <a:ext uri="{0D108BD9-81ED-4DB2-BD59-A6C34878D82A}">
                    <a16:rowId xmlns:a16="http://schemas.microsoft.com/office/drawing/2014/main" val="10003"/>
                  </a:ext>
                </a:extLst>
              </a:tr>
              <a:tr h="596265">
                <a:tc>
                  <a:txBody>
                    <a:bodyPr/>
                    <a:lstStyle/>
                    <a:p>
                      <a:r>
                        <a:rPr sz="1650" b="0">
                          <a:solidFill>
                            <a:srgbClr val="202B58"/>
                          </a:solidFill>
                          <a:latin typeface="Noto Sans JP"/>
                          <a:ea typeface="Noto Sans JP"/>
                          <a:cs typeface="Noto Sans JP"/>
                        </a:rPr>
                        <a:t>最大1日の割合</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0822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1F75674-E109-44E1-9A18-6070840401A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受電電力の週間推移</a:t>
            </a:r>
          </a:p>
        </p:txBody>
      </p:sp>
      <p:sp>
        <p:nvSpPr>
          <p:cNvPr id="2" name="正方形/長方形 1">
            <a:extLst>
              <a:ext uri="{FF2B5EF4-FFF2-40B4-BE49-F238E27FC236}">
                <a16:creationId xmlns:a16="http://schemas.microsoft.com/office/drawing/2014/main" id="{6B5B43F6-C973-4E04-A921-40F36FF006E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0時間は月曜0時、24時間は火曜0時。3月と11月を同じ軸で比較</a:t>
            </a:r>
          </a:p>
        </p:txBody>
      </p:sp>
      <p:sp>
        <p:nvSpPr>
          <p:cNvPr id="3" name="正方形/長方形 2">
            <a:extLst>
              <a:ext uri="{FF2B5EF4-FFF2-40B4-BE49-F238E27FC236}">
                <a16:creationId xmlns:a16="http://schemas.microsoft.com/office/drawing/2014/main" id="{D40AAC4F-D5C2-4334-A6DF-301E5BC7B56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受電ピークは3月849.4 kW、11月234.8 kW</a:t>
            </a:r>
          </a:p>
        </p:txBody>
      </p:sp>
      <p:sp>
        <p:nvSpPr>
          <p:cNvPr id="4" name="正方形/長方形 3">
            <a:extLst>
              <a:ext uri="{FF2B5EF4-FFF2-40B4-BE49-F238E27FC236}">
                <a16:creationId xmlns:a16="http://schemas.microsoft.com/office/drawing/2014/main" id="{D960FC62-A267-48C9-BA1A-45C164FC7573}"/>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赤線200 kWは、追加費用が発生するモデル上の基準。物理的な受電上限ではない。</a:t>
            </a:r>
          </a:p>
        </p:txBody>
      </p:sp>
      <p:sp>
        <p:nvSpPr>
          <p:cNvPr id="5" name="正方形/長方形 4">
            <a:extLst>
              <a:ext uri="{FF2B5EF4-FFF2-40B4-BE49-F238E27FC236}">
                <a16:creationId xmlns:a16="http://schemas.microsoft.com/office/drawing/2014/main" id="{DEB0819B-9AB5-45EA-ABE0-AC5335B0902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F658ED-3DAC-4DB4-BABA-B2CBB33793B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11/24</a:t>
            </a:r>
          </a:p>
        </p:txBody>
      </p:sp>
      <p:graphicFrame>
        <p:nvGraphicFramePr>
          <p:cNvPr id="14" name="Chart"/>
          <p:cNvGraphicFramePr/>
          <p:nvPr/>
        </p:nvGraphicFramePr>
        <p:xfrm>
          <a:off x="571500" y="1657350"/>
          <a:ext cx="11049000" cy="38385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03855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E0440360-2311-4F23-9BEF-D37F4898869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超過電力量と超過時間の比較</a:t>
            </a:r>
          </a:p>
        </p:txBody>
      </p:sp>
      <p:sp>
        <p:nvSpPr>
          <p:cNvPr id="2" name="正方形/長方形 1">
            <a:extLst>
              <a:ext uri="{FF2B5EF4-FFF2-40B4-BE49-F238E27FC236}">
                <a16:creationId xmlns:a16="http://schemas.microsoft.com/office/drawing/2014/main" id="{3AC33330-94F4-41D8-99F0-C90F842D0BAC}"/>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受電電力が200 kWを超えた部分の面積を超過電力量とする</a:t>
            </a:r>
          </a:p>
        </p:txBody>
      </p:sp>
      <p:sp>
        <p:nvSpPr>
          <p:cNvPr id="3" name="正方形/長方形 2">
            <a:extLst>
              <a:ext uri="{FF2B5EF4-FFF2-40B4-BE49-F238E27FC236}">
                <a16:creationId xmlns:a16="http://schemas.microsoft.com/office/drawing/2014/main" id="{BBD4B2CC-3F49-4F8A-A02B-2C4149BC85F4}"/>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3月540.5 kWh、11月92.0 kWh。超過時間だけでは費用は決まらない</a:t>
            </a:r>
          </a:p>
        </p:txBody>
      </p:sp>
      <p:sp>
        <p:nvSpPr>
          <p:cNvPr id="4" name="正方形/長方形 3">
            <a:extLst>
              <a:ext uri="{FF2B5EF4-FFF2-40B4-BE49-F238E27FC236}">
                <a16:creationId xmlns:a16="http://schemas.microsoft.com/office/drawing/2014/main" id="{81062243-0EB7-4C6D-8801-6B9551B6FD1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図の時間窓は異なる。表は週間合計。両図とも縦軸0〜900 kW。</a:t>
            </a:r>
          </a:p>
        </p:txBody>
      </p:sp>
      <p:sp>
        <p:nvSpPr>
          <p:cNvPr id="5" name="正方形/長方形 4">
            <a:extLst>
              <a:ext uri="{FF2B5EF4-FFF2-40B4-BE49-F238E27FC236}">
                <a16:creationId xmlns:a16="http://schemas.microsoft.com/office/drawing/2014/main" id="{59366346-FF2D-4173-8EE7-E74E146FFFB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9025F83-BEA5-4110-AE26-BC8D4993556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12/24</a:t>
            </a:r>
          </a:p>
        </p:txBody>
      </p:sp>
      <p:graphicFrame>
        <p:nvGraphicFramePr>
          <p:cNvPr id="16" name="Chart"/>
          <p:cNvGraphicFramePr/>
          <p:nvPr/>
        </p:nvGraphicFramePr>
        <p:xfrm>
          <a:off x="571500" y="1695450"/>
          <a:ext cx="5381625" cy="29146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p:cNvGraphicFramePr/>
          <p:nvPr/>
        </p:nvGraphicFramePr>
        <p:xfrm>
          <a:off x="6238875" y="1695450"/>
          <a:ext cx="5381625" cy="29146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表 17"/>
          <p:cNvGraphicFramePr/>
          <p:nvPr/>
        </p:nvGraphicFramePr>
        <p:xfrm>
          <a:off x="571500" y="4695825"/>
          <a:ext cx="11049000" cy="762000"/>
        </p:xfrm>
        <a:graphic>
          <a:graphicData uri="http://schemas.openxmlformats.org/drawingml/2006/table">
            <a:tbl>
              <a:tblPr/>
              <a:tblGrid>
                <a:gridCol w="3143250">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381000">
                <a:tc>
                  <a:txBody>
                    <a:bodyPr/>
                    <a:lstStyle/>
                    <a:p>
                      <a:r>
                        <a:rPr sz="1650" b="1">
                          <a:solidFill>
                            <a:srgbClr val="FFFFFF"/>
                          </a:solidFill>
                          <a:latin typeface="Noto Sans JP"/>
                          <a:ea typeface="Noto Sans JP"/>
                          <a:cs typeface="Noto Sans JP"/>
                        </a:rPr>
                        <a:t>週全体の値</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381000">
                <a:tc>
                  <a:txBody>
                    <a:bodyPr/>
                    <a:lstStyle/>
                    <a:p>
                      <a:r>
                        <a:rPr sz="1650" b="0">
                          <a:solidFill>
                            <a:srgbClr val="202B58"/>
                          </a:solidFill>
                          <a:latin typeface="Noto Sans JP"/>
                          <a:ea typeface="Noto Sans JP"/>
                          <a:cs typeface="Noto Sans JP"/>
                        </a:rPr>
                        <a:t>超過時間／超過電力量</a:t>
                      </a:r>
                    </a:p>
                  </a:txBody>
                  <a:tcPr>
                    <a:solidFill>
                      <a:srgbClr val="F1F5F8"/>
                    </a:solidFill>
                  </a:tcPr>
                </a:tc>
                <a:tc>
                  <a:txBody>
                    <a:bodyPr/>
                    <a:lstStyle/>
                    <a:p>
                      <a:r>
                        <a:rPr sz="1650" b="0">
                          <a:solidFill>
                            <a:srgbClr val="202B58"/>
                          </a:solidFill>
                          <a:latin typeface="Noto Sans JP"/>
                          <a:ea typeface="Noto Sans JP"/>
                          <a:cs typeface="Noto Sans JP"/>
                        </a:rPr>
                        <a:t>1.25 h ／ 540.5 kWh</a:t>
                      </a:r>
                    </a:p>
                  </a:txBody>
                  <a:tcPr>
                    <a:solidFill>
                      <a:srgbClr val="F1F5F8"/>
                    </a:solidFill>
                  </a:tcPr>
                </a:tc>
                <a:tc>
                  <a:txBody>
                    <a:bodyPr/>
                    <a:lstStyle/>
                    <a:p>
                      <a:r>
                        <a:rPr sz="1650" b="0">
                          <a:solidFill>
                            <a:srgbClr val="202B58"/>
                          </a:solidFill>
                          <a:latin typeface="Noto Sans JP"/>
                          <a:ea typeface="Noto Sans JP"/>
                          <a:cs typeface="Noto Sans JP"/>
                        </a:rPr>
                        <a:t>3.75 h ／ 92.0 kWh</a:t>
                      </a:r>
                    </a:p>
                  </a:txBody>
                  <a:tcPr>
                    <a:solidFill>
                      <a:srgbClr val="F1F5F8"/>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35495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FD2E94D-D23C-4785-BA34-FD68D9A3056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受電ピーク区間の電源と未解明点</a:t>
            </a:r>
          </a:p>
        </p:txBody>
      </p:sp>
      <p:sp>
        <p:nvSpPr>
          <p:cNvPr id="2" name="正方形/長方形 1">
            <a:extLst>
              <a:ext uri="{FF2B5EF4-FFF2-40B4-BE49-F238E27FC236}">
                <a16:creationId xmlns:a16="http://schemas.microsoft.com/office/drawing/2014/main" id="{6B92E899-DF44-4994-841B-6DE5C79C046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受電ピーク区間では、充電をすべて系統からの電力で賄っていた</a:t>
            </a:r>
          </a:p>
        </p:txBody>
      </p:sp>
      <p:sp>
        <p:nvSpPr>
          <p:cNvPr id="3" name="正方形/長方形 2">
            <a:extLst>
              <a:ext uri="{FF2B5EF4-FFF2-40B4-BE49-F238E27FC236}">
                <a16:creationId xmlns:a16="http://schemas.microsoft.com/office/drawing/2014/main" id="{99C0559E-C8FC-4C10-AB4C-DA60058111C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BESS残量は下限より多い。系統購入が不可避だったかは未確認</a:t>
            </a:r>
          </a:p>
        </p:txBody>
      </p:sp>
      <p:sp>
        <p:nvSpPr>
          <p:cNvPr id="4" name="正方形/長方形 3">
            <a:extLst>
              <a:ext uri="{FF2B5EF4-FFF2-40B4-BE49-F238E27FC236}">
                <a16:creationId xmlns:a16="http://schemas.microsoft.com/office/drawing/2014/main" id="{FD544B60-5FA4-4BA5-B7B8-B5CEE154C91B}"/>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残量だけで代替運用の実行可能性は判断できない。将来の運行・残量制約も要確認。</a:t>
            </a:r>
          </a:p>
        </p:txBody>
      </p:sp>
      <p:sp>
        <p:nvSpPr>
          <p:cNvPr id="5" name="正方形/長方形 4">
            <a:extLst>
              <a:ext uri="{FF2B5EF4-FFF2-40B4-BE49-F238E27FC236}">
                <a16:creationId xmlns:a16="http://schemas.microsoft.com/office/drawing/2014/main" id="{563887F2-61B6-46A0-91E6-BCFC032D948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1818EE4-6140-494E-89EE-448F4DFDF4E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13/24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30679">
                <a:tc>
                  <a:txBody>
                    <a:bodyPr/>
                    <a:lstStyle/>
                    <a:p>
                      <a:r>
                        <a:rPr sz="1650" b="1">
                          <a:solidFill>
                            <a:srgbClr val="FFFFFF"/>
                          </a:solidFill>
                          <a:latin typeface="Noto Sans JP"/>
                          <a:ea typeface="Noto Sans JP"/>
                          <a:cs typeface="Noto Sans JP"/>
                        </a:rPr>
                        <a:t>受電ピーク区間</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11月の一例</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時刻</a:t>
                      </a:r>
                    </a:p>
                  </a:txBody>
                  <a:tcPr>
                    <a:solidFill>
                      <a:srgbClr val="F1F5F8"/>
                    </a:solidFill>
                  </a:tcPr>
                </a:tc>
                <a:tc>
                  <a:txBody>
                    <a:bodyPr/>
                    <a:lstStyle/>
                    <a:p>
                      <a:r>
                        <a:rPr sz="1650" b="0">
                          <a:solidFill>
                            <a:srgbClr val="202B58"/>
                          </a:solidFill>
                          <a:latin typeface="Noto Sans JP"/>
                          <a:ea typeface="Noto Sans JP"/>
                          <a:cs typeface="Noto Sans JP"/>
                        </a:rPr>
                        <a:t>3/3 01:15〜01:30</a:t>
                      </a:r>
                    </a:p>
                  </a:txBody>
                  <a:tcPr>
                    <a:solidFill>
                      <a:srgbClr val="F1F5F8"/>
                    </a:solidFill>
                  </a:tcPr>
                </a:tc>
                <a:tc>
                  <a:txBody>
                    <a:bodyPr/>
                    <a:lstStyle/>
                    <a:p>
                      <a:r>
                        <a:rPr sz="1650" b="0">
                          <a:solidFill>
                            <a:srgbClr val="202B58"/>
                          </a:solidFill>
                          <a:latin typeface="Noto Sans JP"/>
                          <a:ea typeface="Noto Sans JP"/>
                          <a:cs typeface="Noto Sans JP"/>
                        </a:rPr>
                        <a:t>11/14 00:30〜00:45</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受電電力＝バス充電電力</a:t>
                      </a:r>
                    </a:p>
                  </a:txBody>
                  <a:tcPr>
                    <a:solidFill>
                      <a:srgbClr val="FFFFFF"/>
                    </a:solidFill>
                  </a:tcPr>
                </a:tc>
                <a:tc>
                  <a:txBody>
                    <a:bodyPr/>
                    <a:lstStyle/>
                    <a:p>
                      <a:r>
                        <a:rPr sz="1650" b="0">
                          <a:solidFill>
                            <a:srgbClr val="202B58"/>
                          </a:solidFill>
                          <a:latin typeface="Noto Sans JP"/>
                          <a:ea typeface="Noto Sans JP"/>
                          <a:cs typeface="Noto Sans JP"/>
                        </a:rPr>
                        <a:t>849.4 kW</a:t>
                      </a:r>
                    </a:p>
                  </a:txBody>
                  <a:tcPr>
                    <a:solidFill>
                      <a:srgbClr val="FFFFFF"/>
                    </a:solidFill>
                  </a:tcPr>
                </a:tc>
                <a:tc>
                  <a:txBody>
                    <a:bodyPr/>
                    <a:lstStyle/>
                    <a:p>
                      <a:r>
                        <a:rPr sz="1650" b="0">
                          <a:solidFill>
                            <a:srgbClr val="202B58"/>
                          </a:solidFill>
                          <a:latin typeface="Noto Sans JP"/>
                          <a:ea typeface="Noto Sans JP"/>
                          <a:cs typeface="Noto Sans JP"/>
                        </a:rPr>
                        <a:t>234.8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充電中のバス</a:t>
                      </a:r>
                    </a:p>
                  </a:txBody>
                  <a:tcPr>
                    <a:solidFill>
                      <a:srgbClr val="F1F5F8"/>
                    </a:solidFill>
                  </a:tcPr>
                </a:tc>
                <a:tc>
                  <a:txBody>
                    <a:bodyPr/>
                    <a:lstStyle/>
                    <a:p>
                      <a:r>
                        <a:rPr sz="1650" b="0">
                          <a:solidFill>
                            <a:srgbClr val="202B58"/>
                          </a:solidFill>
                          <a:latin typeface="Noto Sans JP"/>
                          <a:ea typeface="Noto Sans JP"/>
                          <a:cs typeface="Noto Sans JP"/>
                        </a:rPr>
                        <a:t>10台</a:t>
                      </a:r>
                    </a:p>
                  </a:txBody>
                  <a:tcPr>
                    <a:solidFill>
                      <a:srgbClr val="F1F5F8"/>
                    </a:solidFill>
                  </a:tcPr>
                </a:tc>
                <a:tc>
                  <a:txBody>
                    <a:bodyPr/>
                    <a:lstStyle/>
                    <a:p>
                      <a:r>
                        <a:rPr sz="1650" b="0">
                          <a:solidFill>
                            <a:srgbClr val="202B58"/>
                          </a:solidFill>
                          <a:latin typeface="Noto Sans JP"/>
                          <a:ea typeface="Noto Sans JP"/>
                          <a:cs typeface="Noto Sans JP"/>
                        </a:rPr>
                        <a:t>4台</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PV供給電力／BESS放電電力</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BESS残量（区間開始）</a:t>
                      </a:r>
                    </a:p>
                  </a:txBody>
                  <a:tcPr>
                    <a:solidFill>
                      <a:srgbClr val="F1F5F8"/>
                    </a:solidFill>
                  </a:tcPr>
                </a:tc>
                <a:tc>
                  <a:txBody>
                    <a:bodyPr/>
                    <a:lstStyle/>
                    <a:p>
                      <a:r>
                        <a:rPr sz="1650" b="0">
                          <a:solidFill>
                            <a:srgbClr val="202B58"/>
                          </a:solidFill>
                          <a:latin typeface="Noto Sans JP"/>
                          <a:ea typeface="Noto Sans JP"/>
                          <a:cs typeface="Noto Sans JP"/>
                        </a:rPr>
                        <a:t>3,000.0 kWh</a:t>
                      </a:r>
                    </a:p>
                  </a:txBody>
                  <a:tcPr>
                    <a:solidFill>
                      <a:srgbClr val="F1F5F8"/>
                    </a:solidFill>
                  </a:tcPr>
                </a:tc>
                <a:tc>
                  <a:txBody>
                    <a:bodyPr/>
                    <a:lstStyle/>
                    <a:p>
                      <a:r>
                        <a:rPr sz="1650" b="0">
                          <a:solidFill>
                            <a:srgbClr val="202B58"/>
                          </a:solidFill>
                          <a:latin typeface="Noto Sans JP"/>
                          <a:ea typeface="Noto Sans JP"/>
                          <a:cs typeface="Noto Sans JP"/>
                        </a:rPr>
                        <a:t>2,096.7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BESS下限</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75733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C79ED0-E562-445E-92FE-D054CAF18A2D}"/>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3月と11月の週間費用差は23.99万円</a:t>
            </a:r>
          </a:p>
        </p:txBody>
      </p:sp>
      <p:sp>
        <p:nvSpPr>
          <p:cNvPr id="2" name="正方形/長方形 1">
            <a:extLst>
              <a:ext uri="{FF2B5EF4-FFF2-40B4-BE49-F238E27FC236}">
                <a16:creationId xmlns:a16="http://schemas.microsoft.com/office/drawing/2014/main" id="{AC235083-3507-410B-A4DF-F19F19F98DA3}"/>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両週206台日で車両使用費は同額。表示値は丸め値</a:t>
            </a:r>
          </a:p>
        </p:txBody>
      </p:sp>
      <p:sp>
        <p:nvSpPr>
          <p:cNvPr id="3" name="正方形/長方形 2">
            <a:extLst>
              <a:ext uri="{FF2B5EF4-FFF2-40B4-BE49-F238E27FC236}">
                <a16:creationId xmlns:a16="http://schemas.microsoft.com/office/drawing/2014/main" id="{D494BC55-89D6-4AF9-9017-65F22505A87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差の22.42万円、93.5%が超過ペナルティの差に由来する</a:t>
            </a:r>
          </a:p>
        </p:txBody>
      </p:sp>
      <p:sp>
        <p:nvSpPr>
          <p:cNvPr id="4" name="正方形/長方形 3">
            <a:extLst>
              <a:ext uri="{FF2B5EF4-FFF2-40B4-BE49-F238E27FC236}">
                <a16:creationId xmlns:a16="http://schemas.microsoft.com/office/drawing/2014/main" id="{879D68DA-028B-47AC-8946-E15E45C91091}"/>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モデル内の週間費用。設備投資・電池劣化・運転士費等を含む実際の総支出ではない。</a:t>
            </a:r>
          </a:p>
        </p:txBody>
      </p:sp>
      <p:sp>
        <p:nvSpPr>
          <p:cNvPr id="5" name="正方形/長方形 4">
            <a:extLst>
              <a:ext uri="{FF2B5EF4-FFF2-40B4-BE49-F238E27FC236}">
                <a16:creationId xmlns:a16="http://schemas.microsoft.com/office/drawing/2014/main" id="{A560F8FB-0A8A-4470-A312-21A32694AEF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92B4BA-3970-4BA9-90EB-018A268B77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14/24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476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905125">
                  <a:extLst>
                    <a:ext uri="{9D8B030D-6E8A-4147-A177-3AD203B41FA5}">
                      <a16:colId xmlns:a16="http://schemas.microsoft.com/office/drawing/2014/main" val="20003"/>
                    </a:ext>
                  </a:extLst>
                </a:gridCol>
              </a:tblGrid>
              <a:tr h="530679">
                <a:tc>
                  <a:txBody>
                    <a:bodyPr/>
                    <a:lstStyle/>
                    <a:p>
                      <a:r>
                        <a:rPr sz="1725" b="1">
                          <a:solidFill>
                            <a:srgbClr val="FFFFFF"/>
                          </a:solidFill>
                          <a:latin typeface="Noto Sans JP"/>
                          <a:ea typeface="Noto Sans JP"/>
                          <a:cs typeface="Noto Sans JP"/>
                        </a:rPr>
                        <a:t>週間費用 [万円／週]</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tc>
                  <a:txBody>
                    <a:bodyPr/>
                    <a:lstStyle/>
                    <a:p>
                      <a:r>
                        <a:rPr sz="1725"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0679">
                <a:tc>
                  <a:txBody>
                    <a:bodyPr/>
                    <a:lstStyle/>
                    <a:p>
                      <a:r>
                        <a:rPr sz="1725" b="0">
                          <a:solidFill>
                            <a:srgbClr val="202B58"/>
                          </a:solidFill>
                          <a:latin typeface="Noto Sans JP"/>
                          <a:ea typeface="Noto Sans JP"/>
                          <a:cs typeface="Noto Sans JP"/>
                        </a:rPr>
                        <a:t>車両使用費</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0679">
                <a:tc>
                  <a:txBody>
                    <a:bodyPr/>
                    <a:lstStyle/>
                    <a:p>
                      <a:r>
                        <a:rPr sz="1725" b="0">
                          <a:solidFill>
                            <a:srgbClr val="202B58"/>
                          </a:solidFill>
                          <a:latin typeface="Noto Sans JP"/>
                          <a:ea typeface="Noto Sans JP"/>
                          <a:cs typeface="Noto Sans JP"/>
                        </a:rPr>
                        <a:t>購入電力費</a:t>
                      </a:r>
                    </a:p>
                  </a:txBody>
                  <a:tcPr>
                    <a:solidFill>
                      <a:srgbClr val="FFFFFF"/>
                    </a:solidFill>
                  </a:tcPr>
                </a:tc>
                <a:tc>
                  <a:txBody>
                    <a:bodyPr/>
                    <a:lstStyle/>
                    <a:p>
                      <a:r>
                        <a:rPr sz="1725" b="0">
                          <a:solidFill>
                            <a:srgbClr val="202B58"/>
                          </a:solidFill>
                          <a:latin typeface="Noto Sans JP"/>
                          <a:ea typeface="Noto Sans JP"/>
                          <a:cs typeface="Noto Sans JP"/>
                        </a:rPr>
                        <a:t>23.38</a:t>
                      </a:r>
                    </a:p>
                  </a:txBody>
                  <a:tcPr>
                    <a:solidFill>
                      <a:srgbClr val="FFFFFF"/>
                    </a:solidFill>
                  </a:tcPr>
                </a:tc>
                <a:tc>
                  <a:txBody>
                    <a:bodyPr/>
                    <a:lstStyle/>
                    <a:p>
                      <a:r>
                        <a:rPr sz="1725" b="0">
                          <a:solidFill>
                            <a:srgbClr val="202B58"/>
                          </a:solidFill>
                          <a:latin typeface="Noto Sans JP"/>
                          <a:ea typeface="Noto Sans JP"/>
                          <a:cs typeface="Noto Sans JP"/>
                        </a:rPr>
                        <a:t>21.91</a:t>
                      </a:r>
                    </a:p>
                  </a:txBody>
                  <a:tcPr>
                    <a:solidFill>
                      <a:srgbClr val="FFFFFF"/>
                    </a:solidFill>
                  </a:tcPr>
                </a:tc>
                <a:tc>
                  <a:txBody>
                    <a:bodyPr/>
                    <a:lstStyle/>
                    <a:p>
                      <a:r>
                        <a:rPr sz="1725" b="0">
                          <a:solidFill>
                            <a:srgbClr val="202B58"/>
                          </a:solidFill>
                          <a:latin typeface="Noto Sans JP"/>
                          <a:ea typeface="Noto Sans JP"/>
                          <a:cs typeface="Noto Sans JP"/>
                        </a:rPr>
                        <a:t>1.47</a:t>
                      </a:r>
                    </a:p>
                  </a:txBody>
                  <a:tcPr>
                    <a:solidFill>
                      <a:srgbClr val="FFFFFF"/>
                    </a:solidFill>
                  </a:tcPr>
                </a:tc>
                <a:extLst>
                  <a:ext uri="{0D108BD9-81ED-4DB2-BD59-A6C34878D82A}">
                    <a16:rowId xmlns:a16="http://schemas.microsoft.com/office/drawing/2014/main" val="10002"/>
                  </a:ext>
                </a:extLst>
              </a:tr>
              <a:tr h="530679">
                <a:tc>
                  <a:txBody>
                    <a:bodyPr/>
                    <a:lstStyle/>
                    <a:p>
                      <a:r>
                        <a:rPr sz="1725" b="0">
                          <a:solidFill>
                            <a:srgbClr val="202B58"/>
                          </a:solidFill>
                          <a:latin typeface="Noto Sans JP"/>
                          <a:ea typeface="Noto Sans JP"/>
                          <a:cs typeface="Noto Sans JP"/>
                        </a:rPr>
                        <a:t>燃料費</a:t>
                      </a:r>
                    </a:p>
                  </a:txBody>
                  <a:tcPr>
                    <a:solidFill>
                      <a:srgbClr val="F1F5F8"/>
                    </a:solidFill>
                  </a:tcPr>
                </a:tc>
                <a:tc>
                  <a:txBody>
                    <a:bodyPr/>
                    <a:lstStyle/>
                    <a:p>
                      <a:r>
                        <a:rPr sz="1725" b="0">
                          <a:solidFill>
                            <a:srgbClr val="202B58"/>
                          </a:solidFill>
                          <a:latin typeface="Noto Sans JP"/>
                          <a:ea typeface="Noto Sans JP"/>
                          <a:cs typeface="Noto Sans JP"/>
                        </a:rPr>
                        <a:t>3.60</a:t>
                      </a:r>
                    </a:p>
                  </a:txBody>
                  <a:tcPr>
                    <a:solidFill>
                      <a:srgbClr val="F1F5F8"/>
                    </a:solidFill>
                  </a:tcPr>
                </a:tc>
                <a:tc>
                  <a:txBody>
                    <a:bodyPr/>
                    <a:lstStyle/>
                    <a:p>
                      <a:r>
                        <a:rPr sz="1725" b="0">
                          <a:solidFill>
                            <a:srgbClr val="202B58"/>
                          </a:solidFill>
                          <a:latin typeface="Noto Sans JP"/>
                          <a:ea typeface="Noto Sans JP"/>
                          <a:cs typeface="Noto Sans JP"/>
                        </a:rPr>
                        <a:t>3.53</a:t>
                      </a:r>
                    </a:p>
                  </a:txBody>
                  <a:tcPr>
                    <a:solidFill>
                      <a:srgbClr val="F1F5F8"/>
                    </a:solidFill>
                  </a:tcPr>
                </a:tc>
                <a:tc>
                  <a:txBody>
                    <a:bodyPr/>
                    <a:lstStyle/>
                    <a:p>
                      <a:r>
                        <a:rPr sz="1725"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0679">
                <a:tc>
                  <a:txBody>
                    <a:bodyPr/>
                    <a:lstStyle/>
                    <a:p>
                      <a:r>
                        <a:rPr sz="1725" b="0">
                          <a:solidFill>
                            <a:srgbClr val="202B58"/>
                          </a:solidFill>
                          <a:latin typeface="Noto Sans JP"/>
                          <a:ea typeface="Noto Sans JP"/>
                          <a:cs typeface="Noto Sans JP"/>
                        </a:rPr>
                        <a:t>CO₂費用</a:t>
                      </a:r>
                    </a:p>
                  </a:txBody>
                  <a:tcPr>
                    <a:solidFill>
                      <a:srgbClr val="FFFFFF"/>
                    </a:solidFill>
                  </a:tcPr>
                </a:tc>
                <a:tc>
                  <a:txBody>
                    <a:bodyPr/>
                    <a:lstStyle/>
                    <a:p>
                      <a:r>
                        <a:rPr sz="1725" b="0">
                          <a:solidFill>
                            <a:srgbClr val="202B58"/>
                          </a:solidFill>
                          <a:latin typeface="Noto Sans JP"/>
                          <a:ea typeface="Noto Sans JP"/>
                          <a:cs typeface="Noto Sans JP"/>
                        </a:rPr>
                        <a:t>0.45</a:t>
                      </a:r>
                    </a:p>
                  </a:txBody>
                  <a:tcPr>
                    <a:solidFill>
                      <a:srgbClr val="FFFFFF"/>
                    </a:solidFill>
                  </a:tcPr>
                </a:tc>
                <a:tc>
                  <a:txBody>
                    <a:bodyPr/>
                    <a:lstStyle/>
                    <a:p>
                      <a:r>
                        <a:rPr sz="1725" b="0">
                          <a:solidFill>
                            <a:srgbClr val="202B58"/>
                          </a:solidFill>
                          <a:latin typeface="Noto Sans JP"/>
                          <a:ea typeface="Noto Sans JP"/>
                          <a:cs typeface="Noto Sans JP"/>
                        </a:rPr>
                        <a:t>0.42</a:t>
                      </a:r>
                    </a:p>
                  </a:txBody>
                  <a:tcPr>
                    <a:solidFill>
                      <a:srgbClr val="FFFFFF"/>
                    </a:solidFill>
                  </a:tcPr>
                </a:tc>
                <a:tc>
                  <a:txBody>
                    <a:bodyPr/>
                    <a:lstStyle/>
                    <a:p>
                      <a:r>
                        <a:rPr sz="1725" b="0">
                          <a:solidFill>
                            <a:srgbClr val="202B58"/>
                          </a:solidFill>
                          <a:latin typeface="Noto Sans JP"/>
                          <a:ea typeface="Noto Sans JP"/>
                          <a:cs typeface="Noto Sans JP"/>
                        </a:rPr>
                        <a:t>0.03</a:t>
                      </a:r>
                    </a:p>
                  </a:txBody>
                  <a:tcPr>
                    <a:solidFill>
                      <a:srgbClr val="FFFFFF"/>
                    </a:solidFill>
                  </a:tcPr>
                </a:tc>
                <a:extLst>
                  <a:ext uri="{0D108BD9-81ED-4DB2-BD59-A6C34878D82A}">
                    <a16:rowId xmlns:a16="http://schemas.microsoft.com/office/drawing/2014/main" val="10004"/>
                  </a:ext>
                </a:extLst>
              </a:tr>
              <a:tr h="530679">
                <a:tc>
                  <a:txBody>
                    <a:bodyPr/>
                    <a:lstStyle/>
                    <a:p>
                      <a:r>
                        <a:rPr sz="1725" b="0">
                          <a:solidFill>
                            <a:srgbClr val="202B58"/>
                          </a:solidFill>
                          <a:latin typeface="Noto Sans JP"/>
                          <a:ea typeface="Noto Sans JP"/>
                          <a:cs typeface="Noto Sans JP"/>
                        </a:rPr>
                        <a:t>超過ペナルティ</a:t>
                      </a:r>
                    </a:p>
                  </a:txBody>
                  <a:tcPr>
                    <a:solidFill>
                      <a:srgbClr val="F1F5F8"/>
                    </a:solidFill>
                  </a:tcPr>
                </a:tc>
                <a:tc>
                  <a:txBody>
                    <a:bodyPr/>
                    <a:lstStyle/>
                    <a:p>
                      <a:r>
                        <a:rPr sz="1725" b="0">
                          <a:solidFill>
                            <a:srgbClr val="202B58"/>
                          </a:solidFill>
                          <a:latin typeface="Noto Sans JP"/>
                          <a:ea typeface="Noto Sans JP"/>
                          <a:cs typeface="Noto Sans JP"/>
                        </a:rPr>
                        <a:t>27.03</a:t>
                      </a:r>
                    </a:p>
                  </a:txBody>
                  <a:tcPr>
                    <a:solidFill>
                      <a:srgbClr val="F1F5F8"/>
                    </a:solidFill>
                  </a:tcPr>
                </a:tc>
                <a:tc>
                  <a:txBody>
                    <a:bodyPr/>
                    <a:lstStyle/>
                    <a:p>
                      <a:r>
                        <a:rPr sz="1725" b="0">
                          <a:solidFill>
                            <a:srgbClr val="202B58"/>
                          </a:solidFill>
                          <a:latin typeface="Noto Sans JP"/>
                          <a:ea typeface="Noto Sans JP"/>
                          <a:cs typeface="Noto Sans JP"/>
                        </a:rPr>
                        <a:t>4.60</a:t>
                      </a:r>
                    </a:p>
                  </a:txBody>
                  <a:tcPr>
                    <a:solidFill>
                      <a:srgbClr val="F1F5F8"/>
                    </a:solidFill>
                  </a:tcPr>
                </a:tc>
                <a:tc>
                  <a:txBody>
                    <a:bodyPr/>
                    <a:lstStyle/>
                    <a:p>
                      <a:r>
                        <a:rPr sz="1725" b="0">
                          <a:solidFill>
                            <a:srgbClr val="202B58"/>
                          </a:solidFill>
                          <a:latin typeface="Noto Sans JP"/>
                          <a:ea typeface="Noto Sans JP"/>
                          <a:cs typeface="Noto Sans JP"/>
                        </a:rPr>
                        <a:t>22.42</a:t>
                      </a:r>
                    </a:p>
                  </a:txBody>
                  <a:tcPr>
                    <a:solidFill>
                      <a:srgbClr val="F1F5F8"/>
                    </a:solidFill>
                  </a:tcPr>
                </a:tc>
                <a:extLst>
                  <a:ext uri="{0D108BD9-81ED-4DB2-BD59-A6C34878D82A}">
                    <a16:rowId xmlns:a16="http://schemas.microsoft.com/office/drawing/2014/main" val="10005"/>
                  </a:ext>
                </a:extLst>
              </a:tr>
              <a:tr h="530679">
                <a:tc>
                  <a:txBody>
                    <a:bodyPr/>
                    <a:lstStyle/>
                    <a:p>
                      <a:r>
                        <a:rPr sz="1725" b="0">
                          <a:solidFill>
                            <a:srgbClr val="202B58"/>
                          </a:solidFill>
                          <a:latin typeface="Noto Sans JP"/>
                          <a:ea typeface="Noto Sans JP"/>
                          <a:cs typeface="Noto Sans JP"/>
                        </a:rPr>
                        <a:t>週間費用</a:t>
                      </a:r>
                    </a:p>
                  </a:txBody>
                  <a:tcPr>
                    <a:solidFill>
                      <a:srgbClr val="FFFFFF"/>
                    </a:solidFill>
                  </a:tcPr>
                </a:tc>
                <a:tc>
                  <a:txBody>
                    <a:bodyPr/>
                    <a:lstStyle/>
                    <a:p>
                      <a:r>
                        <a:rPr sz="1725" b="0">
                          <a:solidFill>
                            <a:srgbClr val="202B58"/>
                          </a:solidFill>
                          <a:latin typeface="Noto Sans JP"/>
                          <a:ea typeface="Noto Sans JP"/>
                          <a:cs typeface="Noto Sans JP"/>
                        </a:rPr>
                        <a:t>466.45</a:t>
                      </a:r>
                    </a:p>
                  </a:txBody>
                  <a:tcPr>
                    <a:solidFill>
                      <a:srgbClr val="FFFFFF"/>
                    </a:solidFill>
                  </a:tcPr>
                </a:tc>
                <a:tc>
                  <a:txBody>
                    <a:bodyPr/>
                    <a:lstStyle/>
                    <a:p>
                      <a:r>
                        <a:rPr sz="1725" b="0">
                          <a:solidFill>
                            <a:srgbClr val="202B58"/>
                          </a:solidFill>
                          <a:latin typeface="Noto Sans JP"/>
                          <a:ea typeface="Noto Sans JP"/>
                          <a:cs typeface="Noto Sans JP"/>
                        </a:rPr>
                        <a:t>442.46</a:t>
                      </a:r>
                    </a:p>
                  </a:txBody>
                  <a:tcPr>
                    <a:solidFill>
                      <a:srgbClr val="FFFFFF"/>
                    </a:solidFill>
                  </a:tcPr>
                </a:tc>
                <a:tc>
                  <a:txBody>
                    <a:bodyPr/>
                    <a:lstStyle/>
                    <a:p>
                      <a:r>
                        <a:rPr sz="1725" b="0">
                          <a:solidFill>
                            <a:srgbClr val="202B58"/>
                          </a:solidFill>
                          <a:latin typeface="Noto Sans JP"/>
                          <a:ea typeface="Noto Sans JP"/>
                          <a:cs typeface="Noto Sans JP"/>
                        </a:rPr>
                        <a:t>23.99</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8250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D357FC9-AAB8-426B-9176-0BB6D5C437B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超過ペナルティの定義と計算例</a:t>
            </a:r>
          </a:p>
        </p:txBody>
      </p:sp>
      <p:sp>
        <p:nvSpPr>
          <p:cNvPr id="2" name="正方形/長方形 1">
            <a:extLst>
              <a:ext uri="{FF2B5EF4-FFF2-40B4-BE49-F238E27FC236}">
                <a16:creationId xmlns:a16="http://schemas.microsoft.com/office/drawing/2014/main" id="{A9337768-CA9E-4CA9-90B1-FDA3B8F4D93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購入電力費は週間購入電力量×30円/kWh。超過ペナルティを別途加算</a:t>
            </a:r>
          </a:p>
        </p:txBody>
      </p:sp>
      <p:sp>
        <p:nvSpPr>
          <p:cNvPr id="3" name="正方形/長方形 2">
            <a:extLst>
              <a:ext uri="{FF2B5EF4-FFF2-40B4-BE49-F238E27FC236}">
                <a16:creationId xmlns:a16="http://schemas.microsoft.com/office/drawing/2014/main" id="{8A98ACBA-3558-4B62-9296-8CDEF137FB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3月の超過ペナルティは540.5 kWh × 500円/kWh ≒ 27.03万円</a:t>
            </a:r>
          </a:p>
        </p:txBody>
      </p:sp>
      <p:sp>
        <p:nvSpPr>
          <p:cNvPr id="4" name="正方形/長方形 3">
            <a:extLst>
              <a:ext uri="{FF2B5EF4-FFF2-40B4-BE49-F238E27FC236}">
                <a16:creationId xmlns:a16="http://schemas.microsoft.com/office/drawing/2014/main" id="{FCC136B1-DBE2-4AD9-B2F1-634472E613A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500円/kWhはモデル係数。実際の電力契約料金としての根拠は本資料では未確認。</a:t>
            </a:r>
          </a:p>
        </p:txBody>
      </p:sp>
      <p:sp>
        <p:nvSpPr>
          <p:cNvPr id="5" name="正方形/長方形 4">
            <a:extLst>
              <a:ext uri="{FF2B5EF4-FFF2-40B4-BE49-F238E27FC236}">
                <a16:creationId xmlns:a16="http://schemas.microsoft.com/office/drawing/2014/main" id="{467BD5C0-F98F-46F6-90B7-2114DFCD84B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E1E4F61-A7AD-49DB-9F0F-781157FE325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15/24</a:t>
            </a:r>
          </a:p>
        </p:txBody>
      </p:sp>
      <p:sp>
        <p:nvSpPr>
          <p:cNvPr id="7" name="正方形/長方形 6">
            <a:extLst>
              <a:ext uri="{FF2B5EF4-FFF2-40B4-BE49-F238E27FC236}">
                <a16:creationId xmlns:a16="http://schemas.microsoft.com/office/drawing/2014/main" id="{5778D564-939F-4CDA-9068-853E190F5FFF}"/>
              </a:ext>
            </a:extLst>
          </p:cNvPr>
          <p:cNvSpPr>
            <a:spLocks noGrp="1"/>
          </p:cNvSpPr>
          <p:nvPr/>
        </p:nvSpPr>
        <p:spPr>
          <a:xfrm>
            <a:off x="685800" y="1781175"/>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各15分の超過電力量 ＝ max（受電電力 − 200 kW, 0）× 0.25 h</a:t>
            </a:r>
          </a:p>
        </p:txBody>
      </p:sp>
      <p:sp>
        <p:nvSpPr>
          <p:cNvPr id="8" name="正方形/長方形 7">
            <a:extLst>
              <a:ext uri="{FF2B5EF4-FFF2-40B4-BE49-F238E27FC236}">
                <a16:creationId xmlns:a16="http://schemas.microsoft.com/office/drawing/2014/main" id="{98C84974-9B95-43F8-9736-CC1DDECC0C40}"/>
              </a:ext>
            </a:extLst>
          </p:cNvPr>
          <p:cNvSpPr>
            <a:spLocks noGrp="1"/>
          </p:cNvSpPr>
          <p:nvPr/>
        </p:nvSpPr>
        <p:spPr>
          <a:xfrm>
            <a:off x="685800" y="2362200"/>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超過ペナルティ ＝ 週間の超過電力量 × 500 円/kWh</a:t>
            </a:r>
          </a:p>
        </p:txBody>
      </p:sp>
      <p:sp>
        <p:nvSpPr>
          <p:cNvPr id="9" name="正方形/長方形 8">
            <a:extLst>
              <a:ext uri="{FF2B5EF4-FFF2-40B4-BE49-F238E27FC236}">
                <a16:creationId xmlns:a16="http://schemas.microsoft.com/office/drawing/2014/main" id="{EE737191-9110-406D-81FB-4F46F2D15177}"/>
              </a:ext>
            </a:extLst>
          </p:cNvPr>
          <p:cNvSpPr>
            <a:spLocks noGrp="1"/>
          </p:cNvSpPr>
          <p:nvPr/>
        </p:nvSpPr>
        <p:spPr>
          <a:xfrm>
            <a:off x="685800" y="3048000"/>
            <a:ext cx="10668000" cy="466725"/>
          </a:xfrm>
          <a:prstGeom prst="rect">
            <a:avLst/>
          </a:prstGeom>
          <a:noFill/>
          <a:ln w="0">
            <a:noFill/>
          </a:ln>
        </p:spPr>
        <p:txBody>
          <a:bodyPr>
            <a:noAutofit/>
          </a:bodyPr>
          <a:lstStyle/>
          <a:p>
            <a:pPr>
              <a:defRPr sz="1875" b="1">
                <a:solidFill>
                  <a:srgbClr val="316DB6"/>
                </a:solidFill>
                <a:latin typeface="Noto Sans JP"/>
                <a:ea typeface="Noto Sans JP"/>
                <a:cs typeface="Noto Sans JP"/>
              </a:defRPr>
            </a:pPr>
            <a:r>
              <a:rPr sz="1875" b="1">
                <a:solidFill>
                  <a:srgbClr val="316DB6"/>
                </a:solidFill>
                <a:latin typeface="Noto Sans JP"/>
                <a:ea typeface="Noto Sans JP"/>
                <a:cs typeface="Noto Sans JP"/>
              </a:rPr>
              <a:t>計算例：受電電力250 kWが15分続くと、超過ペナルティは6,250円</a:t>
            </a:r>
          </a:p>
        </p:txBody>
      </p:sp>
      <p:graphicFrame>
        <p:nvGraphicFramePr>
          <p:cNvPr id="20" name="表 19"/>
          <p:cNvGraphicFramePr/>
          <p:nvPr/>
        </p:nvGraphicFramePr>
        <p:xfrm>
          <a:off x="571500" y="3857625"/>
          <a:ext cx="11049000" cy="1562100"/>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20700">
                <a:tc>
                  <a:txBody>
                    <a:bodyPr/>
                    <a:lstStyle/>
                    <a:p>
                      <a:r>
                        <a:rPr sz="1725" b="1">
                          <a:solidFill>
                            <a:srgbClr val="FFFFFF"/>
                          </a:solidFill>
                          <a:latin typeface="Noto Sans JP"/>
                          <a:ea typeface="Noto Sans JP"/>
                          <a:cs typeface="Noto Sans JP"/>
                        </a:rPr>
                        <a:t>実験結果</a:t>
                      </a:r>
                    </a:p>
                  </a:txBody>
                  <a:tcPr>
                    <a:solidFill>
                      <a:srgbClr val="202B58"/>
                    </a:solidFill>
                  </a:tcPr>
                </a:tc>
                <a:tc>
                  <a:txBody>
                    <a:bodyPr/>
                    <a:lstStyle/>
                    <a:p>
                      <a:r>
                        <a:rPr sz="1725" b="1">
                          <a:solidFill>
                            <a:srgbClr val="FFFFFF"/>
                          </a:solidFill>
                          <a:latin typeface="Noto Sans JP"/>
                          <a:ea typeface="Noto Sans JP"/>
                          <a:cs typeface="Noto Sans JP"/>
                        </a:rPr>
                        <a:t>超過電力量</a:t>
                      </a:r>
                    </a:p>
                  </a:txBody>
                  <a:tcPr>
                    <a:solidFill>
                      <a:srgbClr val="202B58"/>
                    </a:solidFill>
                  </a:tcPr>
                </a:tc>
                <a:tc>
                  <a:txBody>
                    <a:bodyPr/>
                    <a:lstStyle/>
                    <a:p>
                      <a:r>
                        <a:rPr sz="1725" b="1">
                          <a:solidFill>
                            <a:srgbClr val="FFFFFF"/>
                          </a:solidFill>
                          <a:latin typeface="Noto Sans JP"/>
                          <a:ea typeface="Noto Sans JP"/>
                          <a:cs typeface="Noto Sans JP"/>
                        </a:rPr>
                        <a:t>超過ペナルティ</a:t>
                      </a:r>
                    </a:p>
                  </a:txBody>
                  <a:tcPr>
                    <a:solidFill>
                      <a:srgbClr val="202B58"/>
                    </a:solidFill>
                  </a:tcPr>
                </a:tc>
                <a:extLst>
                  <a:ext uri="{0D108BD9-81ED-4DB2-BD59-A6C34878D82A}">
                    <a16:rowId xmlns:a16="http://schemas.microsoft.com/office/drawing/2014/main" val="10000"/>
                  </a:ext>
                </a:extLst>
              </a:tr>
              <a:tr h="520700">
                <a:tc>
                  <a:txBody>
                    <a:bodyPr/>
                    <a:lstStyle/>
                    <a:p>
                      <a:r>
                        <a:rPr sz="1725" b="0">
                          <a:solidFill>
                            <a:srgbClr val="202B58"/>
                          </a:solidFill>
                          <a:latin typeface="Noto Sans JP"/>
                          <a:ea typeface="Noto Sans JP"/>
                          <a:cs typeface="Noto Sans JP"/>
                        </a:rPr>
                        <a:t>3月</a:t>
                      </a:r>
                    </a:p>
                  </a:txBody>
                  <a:tcPr>
                    <a:solidFill>
                      <a:srgbClr val="F1F5F8"/>
                    </a:solidFill>
                  </a:tcPr>
                </a:tc>
                <a:tc>
                  <a:txBody>
                    <a:bodyPr/>
                    <a:lstStyle/>
                    <a:p>
                      <a:r>
                        <a:rPr sz="1725" b="0">
                          <a:solidFill>
                            <a:srgbClr val="202B58"/>
                          </a:solidFill>
                          <a:latin typeface="Noto Sans JP"/>
                          <a:ea typeface="Noto Sans JP"/>
                          <a:cs typeface="Noto Sans JP"/>
                        </a:rPr>
                        <a:t>540.51 kWh</a:t>
                      </a:r>
                    </a:p>
                  </a:txBody>
                  <a:tcPr>
                    <a:solidFill>
                      <a:srgbClr val="F1F5F8"/>
                    </a:solidFill>
                  </a:tcPr>
                </a:tc>
                <a:tc>
                  <a:txBody>
                    <a:bodyPr/>
                    <a:lstStyle/>
                    <a:p>
                      <a:r>
                        <a:rPr sz="1725" b="0">
                          <a:solidFill>
                            <a:srgbClr val="202B58"/>
                          </a:solidFill>
                          <a:latin typeface="Noto Sans JP"/>
                          <a:ea typeface="Noto Sans JP"/>
                          <a:cs typeface="Noto Sans JP"/>
                        </a:rPr>
                        <a:t>270,256.72円</a:t>
                      </a:r>
                    </a:p>
                  </a:txBody>
                  <a:tcPr>
                    <a:solidFill>
                      <a:srgbClr val="F1F5F8"/>
                    </a:solidFill>
                  </a:tcPr>
                </a:tc>
                <a:extLst>
                  <a:ext uri="{0D108BD9-81ED-4DB2-BD59-A6C34878D82A}">
                    <a16:rowId xmlns:a16="http://schemas.microsoft.com/office/drawing/2014/main" val="10001"/>
                  </a:ext>
                </a:extLst>
              </a:tr>
              <a:tr h="520700">
                <a:tc>
                  <a:txBody>
                    <a:bodyPr/>
                    <a:lstStyle/>
                    <a:p>
                      <a:r>
                        <a:rPr sz="1725" b="0">
                          <a:solidFill>
                            <a:srgbClr val="202B58"/>
                          </a:solidFill>
                          <a:latin typeface="Noto Sans JP"/>
                          <a:ea typeface="Noto Sans JP"/>
                          <a:cs typeface="Noto Sans JP"/>
                        </a:rPr>
                        <a:t>11月</a:t>
                      </a:r>
                    </a:p>
                  </a:txBody>
                  <a:tcPr>
                    <a:solidFill>
                      <a:srgbClr val="FFFFFF"/>
                    </a:solidFill>
                  </a:tcPr>
                </a:tc>
                <a:tc>
                  <a:txBody>
                    <a:bodyPr/>
                    <a:lstStyle/>
                    <a:p>
                      <a:r>
                        <a:rPr sz="1725" b="0">
                          <a:solidFill>
                            <a:srgbClr val="202B58"/>
                          </a:solidFill>
                          <a:latin typeface="Noto Sans JP"/>
                          <a:ea typeface="Noto Sans JP"/>
                          <a:cs typeface="Noto Sans JP"/>
                        </a:rPr>
                        <a:t>92.04 kWh</a:t>
                      </a:r>
                    </a:p>
                  </a:txBody>
                  <a:tcPr>
                    <a:solidFill>
                      <a:srgbClr val="FFFFFF"/>
                    </a:solidFill>
                  </a:tcPr>
                </a:tc>
                <a:tc>
                  <a:txBody>
                    <a:bodyPr/>
                    <a:lstStyle/>
                    <a:p>
                      <a:r>
                        <a:rPr sz="1725" b="0">
                          <a:solidFill>
                            <a:srgbClr val="202B58"/>
                          </a:solidFill>
                          <a:latin typeface="Noto Sans JP"/>
                          <a:ea typeface="Noto Sans JP"/>
                          <a:cs typeface="Noto Sans JP"/>
                        </a:rPr>
                        <a:t>46,019.69円</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67663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05667BE5-9693-453D-B0DF-5000356E0336}"/>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費用差の大きさと、単価への依存</a:t>
            </a:r>
          </a:p>
        </p:txBody>
      </p:sp>
      <p:sp>
        <p:nvSpPr>
          <p:cNvPr id="2" name="正方形/長方形 1">
            <a:extLst>
              <a:ext uri="{FF2B5EF4-FFF2-40B4-BE49-F238E27FC236}">
                <a16:creationId xmlns:a16="http://schemas.microsoft.com/office/drawing/2014/main" id="{925FDA0A-6B75-4D3F-A12C-B518DFB30144}"/>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同じ実行済みの運用に対し、超過ペナルティ単価だけを置き換える算術比較</a:t>
            </a:r>
          </a:p>
        </p:txBody>
      </p:sp>
      <p:sp>
        <p:nvSpPr>
          <p:cNvPr id="3" name="正方形/長方形 2">
            <a:extLst>
              <a:ext uri="{FF2B5EF4-FFF2-40B4-BE49-F238E27FC236}">
                <a16:creationId xmlns:a16="http://schemas.microsoft.com/office/drawing/2014/main" id="{D3AC841D-4BAA-4AD6-BB4D-5EB07774694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差23.99万円は11月比5.42%。超過ペナルティ単価0円なら差は1.57万円</a:t>
            </a:r>
          </a:p>
        </p:txBody>
      </p:sp>
      <p:sp>
        <p:nvSpPr>
          <p:cNvPr id="4" name="正方形/長方形 3">
            <a:extLst>
              <a:ext uri="{FF2B5EF4-FFF2-40B4-BE49-F238E27FC236}">
                <a16:creationId xmlns:a16="http://schemas.microsoft.com/office/drawing/2014/main" id="{9C5751FA-5010-4654-B9C1-3B5B4401B30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再最適化は行っていない。料金変更時の運用結果や、実現可能な削減額ではない。</a:t>
            </a:r>
          </a:p>
        </p:txBody>
      </p:sp>
      <p:sp>
        <p:nvSpPr>
          <p:cNvPr id="5" name="正方形/長方形 4">
            <a:extLst>
              <a:ext uri="{FF2B5EF4-FFF2-40B4-BE49-F238E27FC236}">
                <a16:creationId xmlns:a16="http://schemas.microsoft.com/office/drawing/2014/main" id="{6966F475-D9AC-404C-A2F1-3B8202EA19A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5496DD45-18D9-418B-B9FD-149AD17F46F5}"/>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16/24</a:t>
            </a:r>
          </a:p>
        </p:txBody>
      </p:sp>
      <p:graphicFrame>
        <p:nvGraphicFramePr>
          <p:cNvPr id="18" name="Chart"/>
          <p:cNvGraphicFramePr/>
          <p:nvPr/>
        </p:nvGraphicFramePr>
        <p:xfrm>
          <a:off x="571500" y="1695450"/>
          <a:ext cx="6667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822825D9-B241-4D53-92F2-29D99AD2C098}"/>
              </a:ext>
            </a:extLst>
          </p:cNvPr>
          <p:cNvSpPr>
            <a:spLocks noGrp="1"/>
          </p:cNvSpPr>
          <p:nvPr/>
        </p:nvSpPr>
        <p:spPr>
          <a:xfrm>
            <a:off x="7734300" y="1933575"/>
            <a:ext cx="3810000" cy="428625"/>
          </a:xfrm>
          <a:prstGeom prst="rect">
            <a:avLst/>
          </a:prstGeom>
          <a:noFill/>
          <a:ln w="0">
            <a:noFill/>
          </a:ln>
        </p:spPr>
        <p:txBody>
          <a:bodyPr>
            <a:noAutofit/>
          </a:bodyPr>
          <a:lstStyle/>
          <a:p>
            <a:pPr>
              <a:defRPr sz="1800" b="1">
                <a:solidFill>
                  <a:srgbClr val="202B58"/>
                </a:solidFill>
                <a:latin typeface="Noto Sans JP"/>
                <a:ea typeface="Noto Sans JP"/>
                <a:cs typeface="Noto Sans JP"/>
              </a:defRPr>
            </a:pPr>
            <a:r>
              <a:rPr sz="1800" b="1">
                <a:solidFill>
                  <a:srgbClr val="202B58"/>
                </a:solidFill>
                <a:latin typeface="Noto Sans JP"/>
                <a:ea typeface="Noto Sans JP"/>
                <a:cs typeface="Noto Sans JP"/>
              </a:rPr>
              <a:t>今回の500円/kWhでは</a:t>
            </a:r>
          </a:p>
        </p:txBody>
      </p:sp>
      <p:sp>
        <p:nvSpPr>
          <p:cNvPr id="9" name="正方形/長方形 8">
            <a:extLst>
              <a:ext uri="{FF2B5EF4-FFF2-40B4-BE49-F238E27FC236}">
                <a16:creationId xmlns:a16="http://schemas.microsoft.com/office/drawing/2014/main" id="{10AB40E7-1D7B-4BD5-8682-FB76BDD51713}"/>
              </a:ext>
            </a:extLst>
          </p:cNvPr>
          <p:cNvSpPr>
            <a:spLocks noGrp="1"/>
          </p:cNvSpPr>
          <p:nvPr/>
        </p:nvSpPr>
        <p:spPr>
          <a:xfrm>
            <a:off x="7734300" y="2543175"/>
            <a:ext cx="3810000" cy="504825"/>
          </a:xfrm>
          <a:prstGeom prst="rect">
            <a:avLst/>
          </a:prstGeom>
          <a:noFill/>
          <a:ln w="0">
            <a:noFill/>
          </a:ln>
        </p:spPr>
        <p:txBody>
          <a:bodyPr>
            <a:noAutofit/>
          </a:bodyPr>
          <a:lstStyle/>
          <a:p>
            <a:pPr>
              <a:defRPr sz="2475" b="1">
                <a:solidFill>
                  <a:srgbClr val="316DB6"/>
                </a:solidFill>
                <a:latin typeface="Noto Sans JP"/>
                <a:ea typeface="Noto Sans JP"/>
                <a:cs typeface="Noto Sans JP"/>
              </a:defRPr>
            </a:pPr>
            <a:r>
              <a:rPr sz="2475" b="1">
                <a:solidFill>
                  <a:srgbClr val="316DB6"/>
                </a:solidFill>
                <a:latin typeface="Noto Sans JP"/>
                <a:ea typeface="Noto Sans JP"/>
                <a:cs typeface="Noto Sans JP"/>
              </a:rPr>
              <a:t>23.99万円／週</a:t>
            </a:r>
          </a:p>
        </p:txBody>
      </p:sp>
      <p:sp>
        <p:nvSpPr>
          <p:cNvPr id="10" name="正方形/長方形 9">
            <a:extLst>
              <a:ext uri="{FF2B5EF4-FFF2-40B4-BE49-F238E27FC236}">
                <a16:creationId xmlns:a16="http://schemas.microsoft.com/office/drawing/2014/main" id="{8F27B7DD-4DFF-4BC6-A1FF-435832ECA9D8}"/>
              </a:ext>
            </a:extLst>
          </p:cNvPr>
          <p:cNvSpPr>
            <a:spLocks noGrp="1"/>
          </p:cNvSpPr>
          <p:nvPr/>
        </p:nvSpPr>
        <p:spPr>
          <a:xfrm>
            <a:off x="7734300" y="3305175"/>
            <a:ext cx="3905250" cy="857250"/>
          </a:xfrm>
          <a:prstGeom prst="rect">
            <a:avLst/>
          </a:prstGeom>
          <a:noFill/>
          <a:ln w="0">
            <a:noFill/>
          </a:ln>
        </p:spPr>
        <p:txBody>
          <a:bodyPr>
            <a:noAutofit/>
          </a:body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11月の週間費用比　5.42%</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1便当たりの差　140.79円</a:t>
            </a:r>
          </a:p>
        </p:txBody>
      </p:sp>
      <p:sp>
        <p:nvSpPr>
          <p:cNvPr id="11" name="正方形/長方形 10">
            <a:extLst>
              <a:ext uri="{FF2B5EF4-FFF2-40B4-BE49-F238E27FC236}">
                <a16:creationId xmlns:a16="http://schemas.microsoft.com/office/drawing/2014/main" id="{22F94DBD-FEF7-4E06-963E-91F0AB0D0E8A}"/>
              </a:ext>
            </a:extLst>
          </p:cNvPr>
          <p:cNvSpPr>
            <a:spLocks noGrp="1"/>
          </p:cNvSpPr>
          <p:nvPr/>
        </p:nvSpPr>
        <p:spPr>
          <a:xfrm>
            <a:off x="7734300" y="4429125"/>
            <a:ext cx="3905250" cy="86677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比較対象の運用費用が未取得のため、</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手法の削減効果はまだ評価できない。</a:t>
            </a:r>
          </a:p>
        </p:txBody>
      </p:sp>
    </p:spTree>
    <p:extLst>
      <p:ext uri="{BB962C8B-B14F-4D97-AF65-F5344CB8AC3E}">
        <p14:creationId xmlns:p14="http://schemas.microsoft.com/office/powerpoint/2010/main" val="464549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FB5B3A0-118F-4184-A795-A08304CFD5C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季節別の傾向と運用上の示唆</a:t>
            </a:r>
          </a:p>
        </p:txBody>
      </p:sp>
      <p:sp>
        <p:nvSpPr>
          <p:cNvPr id="2" name="正方形/長方形 1">
            <a:extLst>
              <a:ext uri="{FF2B5EF4-FFF2-40B4-BE49-F238E27FC236}">
                <a16:creationId xmlns:a16="http://schemas.microsoft.com/office/drawing/2014/main" id="{AEA08873-A2E0-4A38-ABB9-1AEFEF4D2AB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各季節の選択3週を集計。電力量はkWh／週、費用は万円／週</a:t>
            </a:r>
          </a:p>
        </p:txBody>
      </p:sp>
      <p:sp>
        <p:nvSpPr>
          <p:cNvPr id="3" name="正方形/長方形 2">
            <a:extLst>
              <a:ext uri="{FF2B5EF4-FFF2-40B4-BE49-F238E27FC236}">
                <a16:creationId xmlns:a16="http://schemas.microsoft.com/office/drawing/2014/main" id="{0F91E33B-5BE5-47F1-AE61-A46C46FCFFD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夏は週間購入電力量が少なくPV抑制が多い。利用時刻の検証が必要</a:t>
            </a:r>
          </a:p>
        </p:txBody>
      </p:sp>
      <p:sp>
        <p:nvSpPr>
          <p:cNvPr id="4" name="正方形/長方形 3">
            <a:extLst>
              <a:ext uri="{FF2B5EF4-FFF2-40B4-BE49-F238E27FC236}">
                <a16:creationId xmlns:a16="http://schemas.microsoft.com/office/drawing/2014/main" id="{6DD7878A-DCA7-49A2-8A44-1B499E663ECD}"/>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各季節3週の記述値。月・季節全体の平均や、統計的に有意な季節効果ではない。</a:t>
            </a:r>
          </a:p>
        </p:txBody>
      </p:sp>
      <p:sp>
        <p:nvSpPr>
          <p:cNvPr id="5" name="正方形/長方形 4">
            <a:extLst>
              <a:ext uri="{FF2B5EF4-FFF2-40B4-BE49-F238E27FC236}">
                <a16:creationId xmlns:a16="http://schemas.microsoft.com/office/drawing/2014/main" id="{759FF579-D4E2-437C-A717-FA2DBFCFA92B}"/>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FB4299AB-9164-43C5-B1AB-ED1DE2800A67}"/>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17/24</a:t>
            </a:r>
          </a:p>
        </p:txBody>
      </p:sp>
      <p:graphicFrame>
        <p:nvGraphicFramePr>
          <p:cNvPr id="15" name="表 14"/>
          <p:cNvGraphicFramePr/>
          <p:nvPr/>
        </p:nvGraphicFramePr>
        <p:xfrm>
          <a:off x="571500" y="1695450"/>
          <a:ext cx="11049000" cy="2867025"/>
        </p:xfrm>
        <a:graphic>
          <a:graphicData uri="http://schemas.openxmlformats.org/drawingml/2006/table">
            <a:tbl>
              <a:tblPr/>
              <a:tblGrid>
                <a:gridCol w="10477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gridCol w="1809750">
                  <a:extLst>
                    <a:ext uri="{9D8B030D-6E8A-4147-A177-3AD203B41FA5}">
                      <a16:colId xmlns:a16="http://schemas.microsoft.com/office/drawing/2014/main" val="20004"/>
                    </a:ext>
                  </a:extLst>
                </a:gridCol>
              </a:tblGrid>
              <a:tr h="573405">
                <a:tc>
                  <a:txBody>
                    <a:bodyPr/>
                    <a:lstStyle/>
                    <a:p>
                      <a:r>
                        <a:rPr sz="1575" b="1">
                          <a:solidFill>
                            <a:srgbClr val="FFFFFF"/>
                          </a:solidFill>
                          <a:latin typeface="Noto Sans JP"/>
                          <a:ea typeface="Noto Sans JP"/>
                          <a:cs typeface="Noto Sans JP"/>
                        </a:rPr>
                        <a:t>季節</a:t>
                      </a:r>
                    </a:p>
                  </a:txBody>
                  <a:tcPr>
                    <a:solidFill>
                      <a:srgbClr val="202B58"/>
                    </a:solidFill>
                  </a:tcPr>
                </a:tc>
                <a:tc>
                  <a:txBody>
                    <a:bodyPr/>
                    <a:lstStyle/>
                    <a:p>
                      <a:r>
                        <a:rPr sz="1575" b="1">
                          <a:solidFill>
                            <a:srgbClr val="FFFFFF"/>
                          </a:solidFill>
                          <a:latin typeface="Noto Sans JP"/>
                          <a:ea typeface="Noto Sans JP"/>
                          <a:cs typeface="Noto Sans JP"/>
                        </a:rPr>
                        <a:t>週間購入電力量の平均</a:t>
                      </a:r>
                    </a:p>
                  </a:txBody>
                  <a:tcPr>
                    <a:solidFill>
                      <a:srgbClr val="202B58"/>
                    </a:solidFill>
                  </a:tcPr>
                </a:tc>
                <a:tc>
                  <a:txBody>
                    <a:bodyPr/>
                    <a:lstStyle/>
                    <a:p>
                      <a:r>
                        <a:rPr sz="1575" b="1">
                          <a:solidFill>
                            <a:srgbClr val="FFFFFF"/>
                          </a:solidFill>
                          <a:latin typeface="Noto Sans JP"/>
                          <a:ea typeface="Noto Sans JP"/>
                          <a:cs typeface="Noto Sans JP"/>
                        </a:rPr>
                        <a:t>週間購入電力量の範囲</a:t>
                      </a:r>
                    </a:p>
                  </a:txBody>
                  <a:tcPr>
                    <a:solidFill>
                      <a:srgbClr val="202B58"/>
                    </a:solidFill>
                  </a:tcPr>
                </a:tc>
                <a:tc>
                  <a:txBody>
                    <a:bodyPr/>
                    <a:lstStyle/>
                    <a:p>
                      <a:r>
                        <a:rPr sz="1575" b="1">
                          <a:solidFill>
                            <a:srgbClr val="FFFFFF"/>
                          </a:solidFill>
                          <a:latin typeface="Noto Sans JP"/>
                          <a:ea typeface="Noto Sans JP"/>
                          <a:cs typeface="Noto Sans JP"/>
                        </a:rPr>
                        <a:t>週間費用の平均</a:t>
                      </a:r>
                    </a:p>
                  </a:txBody>
                  <a:tcPr>
                    <a:solidFill>
                      <a:srgbClr val="202B58"/>
                    </a:solidFill>
                  </a:tcPr>
                </a:tc>
                <a:tc>
                  <a:txBody>
                    <a:bodyPr/>
                    <a:lstStyle/>
                    <a:p>
                      <a:r>
                        <a:rPr sz="1575" b="1">
                          <a:solidFill>
                            <a:srgbClr val="FFFFFF"/>
                          </a:solidFill>
                          <a:latin typeface="Noto Sans JP"/>
                          <a:ea typeface="Noto Sans JP"/>
                          <a:cs typeface="Noto Sans JP"/>
                        </a:rPr>
                        <a:t>PV抑制率</a:t>
                      </a:r>
                    </a:p>
                  </a:txBody>
                  <a:tcPr>
                    <a:solidFill>
                      <a:srgbClr val="202B58"/>
                    </a:solidFill>
                  </a:tcPr>
                </a:tc>
                <a:extLst>
                  <a:ext uri="{0D108BD9-81ED-4DB2-BD59-A6C34878D82A}">
                    <a16:rowId xmlns:a16="http://schemas.microsoft.com/office/drawing/2014/main" val="10000"/>
                  </a:ext>
                </a:extLst>
              </a:tr>
              <a:tr h="573405">
                <a:tc>
                  <a:txBody>
                    <a:bodyPr/>
                    <a:lstStyle/>
                    <a:p>
                      <a:r>
                        <a:rPr sz="1575" b="0">
                          <a:solidFill>
                            <a:srgbClr val="202B58"/>
                          </a:solidFill>
                          <a:latin typeface="Noto Sans JP"/>
                          <a:ea typeface="Noto Sans JP"/>
                          <a:cs typeface="Noto Sans JP"/>
                        </a:rPr>
                        <a:t>冬</a:t>
                      </a:r>
                    </a:p>
                  </a:txBody>
                  <a:tcPr>
                    <a:solidFill>
                      <a:srgbClr val="F1F5F8"/>
                    </a:solidFill>
                  </a:tcPr>
                </a:tc>
                <a:tc>
                  <a:txBody>
                    <a:bodyPr/>
                    <a:lstStyle/>
                    <a:p>
                      <a:r>
                        <a:rPr sz="1575" b="0">
                          <a:solidFill>
                            <a:srgbClr val="202B58"/>
                          </a:solidFill>
                          <a:latin typeface="Noto Sans JP"/>
                          <a:ea typeface="Noto Sans JP"/>
                          <a:cs typeface="Noto Sans JP"/>
                        </a:rPr>
                        <a:t>4,480</a:t>
                      </a:r>
                    </a:p>
                  </a:txBody>
                  <a:tcPr>
                    <a:solidFill>
                      <a:srgbClr val="F1F5F8"/>
                    </a:solidFill>
                  </a:tcPr>
                </a:tc>
                <a:tc>
                  <a:txBody>
                    <a:bodyPr/>
                    <a:lstStyle/>
                    <a:p>
                      <a:r>
                        <a:rPr sz="1575" b="0">
                          <a:solidFill>
                            <a:srgbClr val="202B58"/>
                          </a:solidFill>
                          <a:latin typeface="Noto Sans JP"/>
                          <a:ea typeface="Noto Sans JP"/>
                          <a:cs typeface="Noto Sans JP"/>
                        </a:rPr>
                        <a:t>2,124〜5,695</a:t>
                      </a:r>
                    </a:p>
                  </a:txBody>
                  <a:tcPr>
                    <a:solidFill>
                      <a:srgbClr val="F1F5F8"/>
                    </a:solidFill>
                  </a:tcPr>
                </a:tc>
                <a:tc>
                  <a:txBody>
                    <a:bodyPr/>
                    <a:lstStyle/>
                    <a:p>
                      <a:r>
                        <a:rPr sz="1575" b="0">
                          <a:solidFill>
                            <a:srgbClr val="202B58"/>
                          </a:solidFill>
                          <a:latin typeface="Noto Sans JP"/>
                          <a:ea typeface="Noto Sans JP"/>
                          <a:cs typeface="Noto Sans JP"/>
                        </a:rPr>
                        <a:t>432.7</a:t>
                      </a:r>
                    </a:p>
                  </a:txBody>
                  <a:tcPr>
                    <a:solidFill>
                      <a:srgbClr val="F1F5F8"/>
                    </a:solidFill>
                  </a:tcPr>
                </a:tc>
                <a:tc>
                  <a:txBody>
                    <a:bodyPr/>
                    <a:lstStyle/>
                    <a:p>
                      <a:r>
                        <a:rPr sz="1575" b="0">
                          <a:solidFill>
                            <a:srgbClr val="202B58"/>
                          </a:solidFill>
                          <a:latin typeface="Noto Sans JP"/>
                          <a:ea typeface="Noto Sans JP"/>
                          <a:cs typeface="Noto Sans JP"/>
                        </a:rPr>
                        <a:t>14.9%</a:t>
                      </a:r>
                    </a:p>
                  </a:txBody>
                  <a:tcPr>
                    <a:solidFill>
                      <a:srgbClr val="F1F5F8"/>
                    </a:solidFill>
                  </a:tcPr>
                </a:tc>
                <a:extLst>
                  <a:ext uri="{0D108BD9-81ED-4DB2-BD59-A6C34878D82A}">
                    <a16:rowId xmlns:a16="http://schemas.microsoft.com/office/drawing/2014/main" val="10001"/>
                  </a:ext>
                </a:extLst>
              </a:tr>
              <a:tr h="573405">
                <a:tc>
                  <a:txBody>
                    <a:bodyPr/>
                    <a:lstStyle/>
                    <a:p>
                      <a:r>
                        <a:rPr sz="1575" b="0">
                          <a:solidFill>
                            <a:srgbClr val="202B58"/>
                          </a:solidFill>
                          <a:latin typeface="Noto Sans JP"/>
                          <a:ea typeface="Noto Sans JP"/>
                          <a:cs typeface="Noto Sans JP"/>
                        </a:rPr>
                        <a:t>春</a:t>
                      </a:r>
                    </a:p>
                  </a:txBody>
                  <a:tcPr>
                    <a:solidFill>
                      <a:srgbClr val="FFFFFF"/>
                    </a:solidFill>
                  </a:tcPr>
                </a:tc>
                <a:tc>
                  <a:txBody>
                    <a:bodyPr/>
                    <a:lstStyle/>
                    <a:p>
                      <a:r>
                        <a:rPr sz="1575" b="0">
                          <a:solidFill>
                            <a:srgbClr val="202B58"/>
                          </a:solidFill>
                          <a:latin typeface="Noto Sans JP"/>
                          <a:ea typeface="Noto Sans JP"/>
                          <a:cs typeface="Noto Sans JP"/>
                        </a:rPr>
                        <a:t>4,828</a:t>
                      </a:r>
                    </a:p>
                  </a:txBody>
                  <a:tcPr>
                    <a:solidFill>
                      <a:srgbClr val="FFFFFF"/>
                    </a:solidFill>
                  </a:tcPr>
                </a:tc>
                <a:tc>
                  <a:txBody>
                    <a:bodyPr/>
                    <a:lstStyle/>
                    <a:p>
                      <a:r>
                        <a:rPr sz="1575" b="0">
                          <a:solidFill>
                            <a:srgbClr val="202B58"/>
                          </a:solidFill>
                          <a:latin typeface="Noto Sans JP"/>
                          <a:ea typeface="Noto Sans JP"/>
                          <a:cs typeface="Noto Sans JP"/>
                        </a:rPr>
                        <a:t>2,707〜7,794</a:t>
                      </a:r>
                    </a:p>
                  </a:txBody>
                  <a:tcPr>
                    <a:solidFill>
                      <a:srgbClr val="FFFFFF"/>
                    </a:solidFill>
                  </a:tcPr>
                </a:tc>
                <a:tc>
                  <a:txBody>
                    <a:bodyPr/>
                    <a:lstStyle/>
                    <a:p>
                      <a:r>
                        <a:rPr sz="1575" b="0">
                          <a:solidFill>
                            <a:srgbClr val="202B58"/>
                          </a:solidFill>
                          <a:latin typeface="Noto Sans JP"/>
                          <a:ea typeface="Noto Sans JP"/>
                          <a:cs typeface="Noto Sans JP"/>
                        </a:rPr>
                        <a:t>446.2</a:t>
                      </a:r>
                    </a:p>
                  </a:txBody>
                  <a:tcPr>
                    <a:solidFill>
                      <a:srgbClr val="FFFFFF"/>
                    </a:solidFill>
                  </a:tcPr>
                </a:tc>
                <a:tc>
                  <a:txBody>
                    <a:bodyPr/>
                    <a:lstStyle/>
                    <a:p>
                      <a:r>
                        <a:rPr sz="1575" b="0">
                          <a:solidFill>
                            <a:srgbClr val="202B58"/>
                          </a:solidFill>
                          <a:latin typeface="Noto Sans JP"/>
                          <a:ea typeface="Noto Sans JP"/>
                          <a:cs typeface="Noto Sans JP"/>
                        </a:rPr>
                        <a:t>35.9%</a:t>
                      </a:r>
                    </a:p>
                  </a:txBody>
                  <a:tcPr>
                    <a:solidFill>
                      <a:srgbClr val="FFFFFF"/>
                    </a:solidFill>
                  </a:tcPr>
                </a:tc>
                <a:extLst>
                  <a:ext uri="{0D108BD9-81ED-4DB2-BD59-A6C34878D82A}">
                    <a16:rowId xmlns:a16="http://schemas.microsoft.com/office/drawing/2014/main" val="10002"/>
                  </a:ext>
                </a:extLst>
              </a:tr>
              <a:tr h="573405">
                <a:tc>
                  <a:txBody>
                    <a:bodyPr/>
                    <a:lstStyle/>
                    <a:p>
                      <a:r>
                        <a:rPr sz="1575" b="0">
                          <a:solidFill>
                            <a:srgbClr val="202B58"/>
                          </a:solidFill>
                          <a:latin typeface="Noto Sans JP"/>
                          <a:ea typeface="Noto Sans JP"/>
                          <a:cs typeface="Noto Sans JP"/>
                        </a:rPr>
                        <a:t>夏</a:t>
                      </a:r>
                    </a:p>
                  </a:txBody>
                  <a:tcPr>
                    <a:solidFill>
                      <a:srgbClr val="F1F5F8"/>
                    </a:solidFill>
                  </a:tcPr>
                </a:tc>
                <a:tc>
                  <a:txBody>
                    <a:bodyPr/>
                    <a:lstStyle/>
                    <a:p>
                      <a:r>
                        <a:rPr sz="1575" b="0">
                          <a:solidFill>
                            <a:srgbClr val="202B58"/>
                          </a:solidFill>
                          <a:latin typeface="Noto Sans JP"/>
                          <a:ea typeface="Noto Sans JP"/>
                          <a:cs typeface="Noto Sans JP"/>
                        </a:rPr>
                        <a:t>2,425</a:t>
                      </a:r>
                    </a:p>
                  </a:txBody>
                  <a:tcPr>
                    <a:solidFill>
                      <a:srgbClr val="F1F5F8"/>
                    </a:solidFill>
                  </a:tcPr>
                </a:tc>
                <a:tc>
                  <a:txBody>
                    <a:bodyPr/>
                    <a:lstStyle/>
                    <a:p>
                      <a:r>
                        <a:rPr sz="1575" b="0">
                          <a:solidFill>
                            <a:srgbClr val="202B58"/>
                          </a:solidFill>
                          <a:latin typeface="Noto Sans JP"/>
                          <a:ea typeface="Noto Sans JP"/>
                          <a:cs typeface="Noto Sans JP"/>
                        </a:rPr>
                        <a:t>1,746〜2,805</a:t>
                      </a:r>
                    </a:p>
                  </a:txBody>
                  <a:tcPr>
                    <a:solidFill>
                      <a:srgbClr val="F1F5F8"/>
                    </a:solidFill>
                  </a:tcPr>
                </a:tc>
                <a:tc>
                  <a:txBody>
                    <a:bodyPr/>
                    <a:lstStyle/>
                    <a:p>
                      <a:r>
                        <a:rPr sz="1575" b="0">
                          <a:solidFill>
                            <a:srgbClr val="202B58"/>
                          </a:solidFill>
                          <a:latin typeface="Noto Sans JP"/>
                          <a:ea typeface="Noto Sans JP"/>
                          <a:cs typeface="Noto Sans JP"/>
                        </a:rPr>
                        <a:t>428.6</a:t>
                      </a:r>
                    </a:p>
                  </a:txBody>
                  <a:tcPr>
                    <a:solidFill>
                      <a:srgbClr val="F1F5F8"/>
                    </a:solidFill>
                  </a:tcPr>
                </a:tc>
                <a:tc>
                  <a:txBody>
                    <a:bodyPr/>
                    <a:lstStyle/>
                    <a:p>
                      <a:r>
                        <a:rPr sz="1575" b="0">
                          <a:solidFill>
                            <a:srgbClr val="202B58"/>
                          </a:solidFill>
                          <a:latin typeface="Noto Sans JP"/>
                          <a:ea typeface="Noto Sans JP"/>
                          <a:cs typeface="Noto Sans JP"/>
                        </a:rPr>
                        <a:t>45.3%</a:t>
                      </a:r>
                    </a:p>
                  </a:txBody>
                  <a:tcPr>
                    <a:solidFill>
                      <a:srgbClr val="F1F5F8"/>
                    </a:solidFill>
                  </a:tcPr>
                </a:tc>
                <a:extLst>
                  <a:ext uri="{0D108BD9-81ED-4DB2-BD59-A6C34878D82A}">
                    <a16:rowId xmlns:a16="http://schemas.microsoft.com/office/drawing/2014/main" val="10003"/>
                  </a:ext>
                </a:extLst>
              </a:tr>
              <a:tr h="573405">
                <a:tc>
                  <a:txBody>
                    <a:bodyPr/>
                    <a:lstStyle/>
                    <a:p>
                      <a:r>
                        <a:rPr sz="1575" b="0">
                          <a:solidFill>
                            <a:srgbClr val="202B58"/>
                          </a:solidFill>
                          <a:latin typeface="Noto Sans JP"/>
                          <a:ea typeface="Noto Sans JP"/>
                          <a:cs typeface="Noto Sans JP"/>
                        </a:rPr>
                        <a:t>秋</a:t>
                      </a:r>
                    </a:p>
                  </a:txBody>
                  <a:tcPr>
                    <a:solidFill>
                      <a:srgbClr val="FFFFFF"/>
                    </a:solidFill>
                  </a:tcPr>
                </a:tc>
                <a:tc>
                  <a:txBody>
                    <a:bodyPr/>
                    <a:lstStyle/>
                    <a:p>
                      <a:r>
                        <a:rPr sz="1575" b="0">
                          <a:solidFill>
                            <a:srgbClr val="202B58"/>
                          </a:solidFill>
                          <a:latin typeface="Noto Sans JP"/>
                          <a:ea typeface="Noto Sans JP"/>
                          <a:cs typeface="Noto Sans JP"/>
                        </a:rPr>
                        <a:t>5,072</a:t>
                      </a:r>
                    </a:p>
                  </a:txBody>
                  <a:tcPr>
                    <a:solidFill>
                      <a:srgbClr val="FFFFFF"/>
                    </a:solidFill>
                  </a:tcPr>
                </a:tc>
                <a:tc>
                  <a:txBody>
                    <a:bodyPr/>
                    <a:lstStyle/>
                    <a:p>
                      <a:r>
                        <a:rPr sz="1575" b="0">
                          <a:solidFill>
                            <a:srgbClr val="202B58"/>
                          </a:solidFill>
                          <a:latin typeface="Noto Sans JP"/>
                          <a:ea typeface="Noto Sans JP"/>
                          <a:cs typeface="Noto Sans JP"/>
                        </a:rPr>
                        <a:t>3,619〜7,302</a:t>
                      </a:r>
                    </a:p>
                  </a:txBody>
                  <a:tcPr>
                    <a:solidFill>
                      <a:srgbClr val="FFFFFF"/>
                    </a:solidFill>
                  </a:tcPr>
                </a:tc>
                <a:tc>
                  <a:txBody>
                    <a:bodyPr/>
                    <a:lstStyle/>
                    <a:p>
                      <a:r>
                        <a:rPr sz="1575" b="0">
                          <a:solidFill>
                            <a:srgbClr val="202B58"/>
                          </a:solidFill>
                          <a:latin typeface="Noto Sans JP"/>
                          <a:ea typeface="Noto Sans JP"/>
                          <a:cs typeface="Noto Sans JP"/>
                        </a:rPr>
                        <a:t>433.8</a:t>
                      </a:r>
                    </a:p>
                  </a:txBody>
                  <a:tcPr>
                    <a:solidFill>
                      <a:srgbClr val="FFFFFF"/>
                    </a:solidFill>
                  </a:tcPr>
                </a:tc>
                <a:tc>
                  <a:txBody>
                    <a:bodyPr/>
                    <a:lstStyle/>
                    <a:p>
                      <a:r>
                        <a:rPr sz="1575" b="0">
                          <a:solidFill>
                            <a:srgbClr val="202B58"/>
                          </a:solidFill>
                          <a:latin typeface="Noto Sans JP"/>
                          <a:ea typeface="Noto Sans JP"/>
                          <a:cs typeface="Noto Sans JP"/>
                        </a:rPr>
                        <a:t>29.7%</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F717F6DE-0A04-4012-AC10-F8807296B94B}"/>
              </a:ext>
            </a:extLst>
          </p:cNvPr>
          <p:cNvSpPr>
            <a:spLocks noGrp="1"/>
          </p:cNvSpPr>
          <p:nvPr/>
        </p:nvSpPr>
        <p:spPr>
          <a:xfrm>
            <a:off x="685800" y="4972050"/>
            <a:ext cx="10810875"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冬12・1・2月、春3〜5月、夏6〜8月、秋9〜11月。3月の選択週の日射量は月平均比 −35.2%。</a:t>
            </a:r>
          </a:p>
        </p:txBody>
      </p:sp>
    </p:spTree>
    <p:extLst>
      <p:ext uri="{BB962C8B-B14F-4D97-AF65-F5344CB8AC3E}">
        <p14:creationId xmlns:p14="http://schemas.microsoft.com/office/powerpoint/2010/main" val="145982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1167840-BE88-4AA7-ADB5-21F39CAC8A1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今回の回答と、次に確かめること</a:t>
            </a:r>
          </a:p>
        </p:txBody>
      </p:sp>
      <p:sp>
        <p:nvSpPr>
          <p:cNvPr id="2" name="正方形/長方形 1">
            <a:extLst>
              <a:ext uri="{FF2B5EF4-FFF2-40B4-BE49-F238E27FC236}">
                <a16:creationId xmlns:a16="http://schemas.microsoft.com/office/drawing/2014/main" id="{7C43D3AE-F6DC-47D2-B0FD-0E1C1E35D60E}"/>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費用差を理解するには、購入した総量と時間的な集中の両方を見る</a:t>
            </a:r>
          </a:p>
        </p:txBody>
      </p:sp>
      <p:sp>
        <p:nvSpPr>
          <p:cNvPr id="3" name="正方形/長方形 2">
            <a:extLst>
              <a:ext uri="{FF2B5EF4-FFF2-40B4-BE49-F238E27FC236}">
                <a16:creationId xmlns:a16="http://schemas.microsoft.com/office/drawing/2014/main" id="{8F3E5ECE-A87B-4E43-937A-2EEB0DCE111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同じ週の基準運用と比較し、避けられる超過ペナルティを測ることが次の課題</a:t>
            </a:r>
          </a:p>
        </p:txBody>
      </p:sp>
      <p:sp>
        <p:nvSpPr>
          <p:cNvPr id="4" name="正方形/長方形 3">
            <a:extLst>
              <a:ext uri="{FF2B5EF4-FFF2-40B4-BE49-F238E27FC236}">
                <a16:creationId xmlns:a16="http://schemas.microsoft.com/office/drawing/2014/main" id="{46DCC450-1074-4357-A3A9-E58517BB504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手法の優位性・季節の因果効果・統合全体最適性は未証明。次の実験は未実施。</a:t>
            </a:r>
          </a:p>
        </p:txBody>
      </p:sp>
      <p:sp>
        <p:nvSpPr>
          <p:cNvPr id="5" name="正方形/長方形 4">
            <a:extLst>
              <a:ext uri="{FF2B5EF4-FFF2-40B4-BE49-F238E27FC236}">
                <a16:creationId xmlns:a16="http://schemas.microsoft.com/office/drawing/2014/main" id="{FCAF0D15-940A-4651-B919-E82CD18D8DD8}"/>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025591C-0C83-42E3-828E-B2E762F9A5C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18/24</a:t>
            </a:r>
          </a:p>
        </p:txBody>
      </p:sp>
      <p:graphicFrame>
        <p:nvGraphicFramePr>
          <p:cNvPr id="15" name="表 14"/>
          <p:cNvGraphicFramePr/>
          <p:nvPr/>
        </p:nvGraphicFramePr>
        <p:xfrm>
          <a:off x="571500" y="1695450"/>
          <a:ext cx="11049000" cy="2686052"/>
        </p:xfrm>
        <a:graphic>
          <a:graphicData uri="http://schemas.openxmlformats.org/drawingml/2006/table">
            <a:tbl>
              <a:tblPr/>
              <a:tblGrid>
                <a:gridCol w="3762375">
                  <a:extLst>
                    <a:ext uri="{9D8B030D-6E8A-4147-A177-3AD203B41FA5}">
                      <a16:colId xmlns:a16="http://schemas.microsoft.com/office/drawing/2014/main" val="20000"/>
                    </a:ext>
                  </a:extLst>
                </a:gridCol>
                <a:gridCol w="7286625">
                  <a:extLst>
                    <a:ext uri="{9D8B030D-6E8A-4147-A177-3AD203B41FA5}">
                      <a16:colId xmlns:a16="http://schemas.microsoft.com/office/drawing/2014/main" val="20001"/>
                    </a:ext>
                  </a:extLst>
                </a:gridCol>
              </a:tblGrid>
              <a:tr h="671513">
                <a:tc>
                  <a:txBody>
                    <a:bodyPr/>
                    <a:lstStyle/>
                    <a:p>
                      <a:r>
                        <a:rPr sz="1725" b="1">
                          <a:solidFill>
                            <a:srgbClr val="FFFFFF"/>
                          </a:solidFill>
                          <a:latin typeface="Noto Sans JP"/>
                          <a:ea typeface="Noto Sans JP"/>
                          <a:cs typeface="Noto Sans JP"/>
                        </a:rPr>
                        <a:t>先生のご質問</a:t>
                      </a:r>
                    </a:p>
                  </a:txBody>
                  <a:tcPr>
                    <a:solidFill>
                      <a:srgbClr val="202B58"/>
                    </a:solidFill>
                  </a:tcPr>
                </a:tc>
                <a:tc>
                  <a:txBody>
                    <a:bodyPr/>
                    <a:lstStyle/>
                    <a:p>
                      <a:r>
                        <a:rPr sz="1725" b="1">
                          <a:solidFill>
                            <a:srgbClr val="FFFFFF"/>
                          </a:solidFill>
                          <a:latin typeface="Noto Sans JP"/>
                          <a:ea typeface="Noto Sans JP"/>
                          <a:cs typeface="Noto Sans JP"/>
                        </a:rPr>
                        <a:t>データに基づく回答</a:t>
                      </a:r>
                    </a:p>
                  </a:txBody>
                  <a:tcPr>
                    <a:solidFill>
                      <a:srgbClr val="202B58"/>
                    </a:solidFill>
                  </a:tcPr>
                </a:tc>
                <a:extLst>
                  <a:ext uri="{0D108BD9-81ED-4DB2-BD59-A6C34878D82A}">
                    <a16:rowId xmlns:a16="http://schemas.microsoft.com/office/drawing/2014/main" val="10000"/>
                  </a:ext>
                </a:extLst>
              </a:tr>
              <a:tr h="671513">
                <a:tc>
                  <a:txBody>
                    <a:bodyPr/>
                    <a:lstStyle/>
                    <a:p>
                      <a:r>
                        <a:rPr sz="1725" b="0">
                          <a:solidFill>
                            <a:srgbClr val="202B58"/>
                          </a:solidFill>
                          <a:latin typeface="Noto Sans JP"/>
                          <a:ea typeface="Noto Sans JP"/>
                          <a:cs typeface="Noto Sans JP"/>
                        </a:rPr>
                        <a:t>11月は一時的な不足か</a:t>
                      </a:r>
                    </a:p>
                  </a:txBody>
                  <a:tcPr>
                    <a:solidFill>
                      <a:srgbClr val="F1F5F8"/>
                    </a:solidFill>
                  </a:tcPr>
                </a:tc>
                <a:tc>
                  <a:txBody>
                    <a:bodyPr/>
                    <a:lstStyle/>
                    <a:p>
                      <a:r>
                        <a:rPr sz="1725" b="0">
                          <a:solidFill>
                            <a:srgbClr val="202B58"/>
                          </a:solidFill>
                          <a:latin typeface="Noto Sans JP"/>
                          <a:ea typeface="Noto Sans JP"/>
                          <a:cs typeface="Noto Sans JP"/>
                        </a:rPr>
                        <a:t>購入は7日すべて。200 kW超過分は一晩に集中</a:t>
                      </a:r>
                    </a:p>
                  </a:txBody>
                  <a:tcPr>
                    <a:solidFill>
                      <a:srgbClr val="F1F5F8"/>
                    </a:solidFill>
                  </a:tcPr>
                </a:tc>
                <a:extLst>
                  <a:ext uri="{0D108BD9-81ED-4DB2-BD59-A6C34878D82A}">
                    <a16:rowId xmlns:a16="http://schemas.microsoft.com/office/drawing/2014/main" val="10001"/>
                  </a:ext>
                </a:extLst>
              </a:tr>
              <a:tr h="671513">
                <a:tc>
                  <a:txBody>
                    <a:bodyPr/>
                    <a:lstStyle/>
                    <a:p>
                      <a:r>
                        <a:rPr sz="1725" b="0">
                          <a:solidFill>
                            <a:srgbClr val="202B58"/>
                          </a:solidFill>
                          <a:latin typeface="Noto Sans JP"/>
                          <a:ea typeface="Noto Sans JP"/>
                          <a:cs typeface="Noto Sans JP"/>
                        </a:rPr>
                        <a:t>週間費用差をどう判断するか</a:t>
                      </a:r>
                    </a:p>
                  </a:txBody>
                  <a:tcPr>
                    <a:solidFill>
                      <a:srgbClr val="FFFFFF"/>
                    </a:solidFill>
                  </a:tcPr>
                </a:tc>
                <a:tc>
                  <a:txBody>
                    <a:bodyPr/>
                    <a:lstStyle/>
                    <a:p>
                      <a:r>
                        <a:rPr sz="1725" b="0">
                          <a:solidFill>
                            <a:srgbClr val="202B58"/>
                          </a:solidFill>
                          <a:latin typeface="Noto Sans JP"/>
                          <a:ea typeface="Noto Sans JP"/>
                          <a:cs typeface="Noto Sans JP"/>
                        </a:rPr>
                        <a:t>23.99万円の93.5%は超過ペナルティの差。単価依存性が大きい</a:t>
                      </a:r>
                    </a:p>
                  </a:txBody>
                  <a:tcPr>
                    <a:solidFill>
                      <a:srgbClr val="FFFFFF"/>
                    </a:solidFill>
                  </a:tcPr>
                </a:tc>
                <a:extLst>
                  <a:ext uri="{0D108BD9-81ED-4DB2-BD59-A6C34878D82A}">
                    <a16:rowId xmlns:a16="http://schemas.microsoft.com/office/drawing/2014/main" val="10002"/>
                  </a:ext>
                </a:extLst>
              </a:tr>
              <a:tr h="671513">
                <a:tc>
                  <a:txBody>
                    <a:bodyPr/>
                    <a:lstStyle/>
                    <a:p>
                      <a:r>
                        <a:rPr sz="1725" b="0">
                          <a:solidFill>
                            <a:srgbClr val="202B58"/>
                          </a:solidFill>
                          <a:latin typeface="Noto Sans JP"/>
                          <a:ea typeface="Noto Sans JP"/>
                          <a:cs typeface="Noto Sans JP"/>
                        </a:rPr>
                        <a:t>今の結果から何が言えるか</a:t>
                      </a:r>
                    </a:p>
                  </a:txBody>
                  <a:tcPr>
                    <a:solidFill>
                      <a:srgbClr val="F1F5F8"/>
                    </a:solidFill>
                  </a:tcPr>
                </a:tc>
                <a:tc>
                  <a:txBody>
                    <a:bodyPr/>
                    <a:lstStyle/>
                    <a:p>
                      <a:r>
                        <a:rPr sz="1725" b="0">
                          <a:solidFill>
                            <a:srgbClr val="202B58"/>
                          </a:solidFill>
                          <a:latin typeface="Noto Sans JP"/>
                          <a:ea typeface="Noto Sans JP"/>
                          <a:cs typeface="Noto Sans JP"/>
                        </a:rPr>
                        <a:t>運行・会計の整合と差の内訳を確認。優位性は未検証</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49B0D341-435B-4722-9BFD-8E5D6329F1DA}"/>
              </a:ext>
            </a:extLst>
          </p:cNvPr>
          <p:cNvSpPr>
            <a:spLocks noGrp="1"/>
          </p:cNvSpPr>
          <p:nvPr/>
        </p:nvSpPr>
        <p:spPr>
          <a:xfrm>
            <a:off x="685800" y="4829175"/>
            <a:ext cx="10810875" cy="6286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次の検証では、入力・配車・初期残量・終端条件を揃え、超過を減らせるか確かめる。</a:t>
            </a:r>
          </a:p>
        </p:txBody>
      </p:sp>
    </p:spTree>
    <p:extLst>
      <p:ext uri="{BB962C8B-B14F-4D97-AF65-F5344CB8AC3E}">
        <p14:creationId xmlns:p14="http://schemas.microsoft.com/office/powerpoint/2010/main" val="684102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C3AA8F-A910-49FA-8662-3454E5E701D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補足：設備・電池の条件</a:t>
            </a:r>
          </a:p>
        </p:txBody>
      </p:sp>
      <p:sp>
        <p:nvSpPr>
          <p:cNvPr id="2" name="正方形/長方形 1">
            <a:extLst>
              <a:ext uri="{FF2B5EF4-FFF2-40B4-BE49-F238E27FC236}">
                <a16:creationId xmlns:a16="http://schemas.microsoft.com/office/drawing/2014/main" id="{CD1A62AD-C6EB-43C0-88E6-84EC978BFE3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車載電池と定置用蓄電池では、週末の条件が異なる</a:t>
            </a:r>
          </a:p>
        </p:txBody>
      </p:sp>
      <p:sp>
        <p:nvSpPr>
          <p:cNvPr id="3" name="正方形/長方形 2">
            <a:extLst>
              <a:ext uri="{FF2B5EF4-FFF2-40B4-BE49-F238E27FC236}">
                <a16:creationId xmlns:a16="http://schemas.microsoft.com/office/drawing/2014/main" id="{8D2CB4C8-2753-4048-B32E-0FD7BC5C151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BEVは週末に初期残量へ復元。BESSは最低残量を守る条件</a:t>
            </a:r>
          </a:p>
        </p:txBody>
      </p:sp>
      <p:sp>
        <p:nvSpPr>
          <p:cNvPr id="4" name="正方形/長方形 3">
            <a:extLst>
              <a:ext uri="{FF2B5EF4-FFF2-40B4-BE49-F238E27FC236}">
                <a16:creationId xmlns:a16="http://schemas.microsoft.com/office/drawing/2014/main" id="{C29A2F34-EB87-486E-9636-B181A806B0A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毎週同じ初期残量から開始するため、BESS在庫利用を年間の反復可能な節約としない。</a:t>
            </a:r>
          </a:p>
        </p:txBody>
      </p:sp>
      <p:sp>
        <p:nvSpPr>
          <p:cNvPr id="5" name="正方形/長方形 4">
            <a:extLst>
              <a:ext uri="{FF2B5EF4-FFF2-40B4-BE49-F238E27FC236}">
                <a16:creationId xmlns:a16="http://schemas.microsoft.com/office/drawing/2014/main" id="{8DBB2F81-6128-411C-A70B-20C72A9331B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2491F10-5DAF-4B73-8464-876B1AA71BA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19/24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6195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530679">
                <a:tc>
                  <a:txBody>
                    <a:bodyPr/>
                    <a:lstStyle/>
                    <a:p>
                      <a:r>
                        <a:rPr sz="1650" b="1">
                          <a:solidFill>
                            <a:srgbClr val="FFFFFF"/>
                          </a:solidFill>
                          <a:latin typeface="Noto Sans JP"/>
                          <a:ea typeface="Noto Sans JP"/>
                          <a:cs typeface="Noto Sans JP"/>
                        </a:rPr>
                        <a:t>設備・条件</a:t>
                      </a:r>
                    </a:p>
                  </a:txBody>
                  <a:tcPr>
                    <a:solidFill>
                      <a:srgbClr val="202B58"/>
                    </a:solidFill>
                  </a:tcPr>
                </a:tc>
                <a:tc>
                  <a:txBody>
                    <a:bodyPr/>
                    <a:lstStyle/>
                    <a:p>
                      <a:r>
                        <a:rPr sz="1650"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入力車両</a:t>
                      </a:r>
                    </a:p>
                  </a:txBody>
                  <a:tcPr>
                    <a:solidFill>
                      <a:srgbClr val="F1F5F8"/>
                    </a:solidFill>
                  </a:tcPr>
                </a:tc>
                <a:tc>
                  <a:txBody>
                    <a:bodyPr/>
                    <a:lstStyle/>
                    <a:p>
                      <a:r>
                        <a:rPr sz="1650" b="0">
                          <a:solidFill>
                            <a:srgbClr val="202B58"/>
                          </a:solidFill>
                          <a:latin typeface="Noto Sans JP"/>
                          <a:ea typeface="Noto Sans JP"/>
                          <a:cs typeface="Noto Sans JP"/>
                        </a:rPr>
                        <a:t>BEV35台・ICE25台</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BEV車載電池</a:t>
                      </a:r>
                    </a:p>
                  </a:txBody>
                  <a:tcPr>
                    <a:solidFill>
                      <a:srgbClr val="FFFFFF"/>
                    </a:solidFill>
                  </a:tcPr>
                </a:tc>
                <a:tc>
                  <a:txBody>
                    <a:bodyPr/>
                    <a:lstStyle/>
                    <a:p>
                      <a:r>
                        <a:rPr sz="1650" b="0">
                          <a:solidFill>
                            <a:srgbClr val="202B58"/>
                          </a:solidFill>
                          <a:latin typeface="Noto Sans JP"/>
                          <a:ea typeface="Noto Sans JP"/>
                          <a:cs typeface="Noto Sans JP"/>
                        </a:rPr>
                        <a:t>314 kWh、SOC20〜90%、最大充電90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充電器／PV</a:t>
                      </a:r>
                    </a:p>
                  </a:txBody>
                  <a:tcPr>
                    <a:solidFill>
                      <a:srgbClr val="F1F5F8"/>
                    </a:solidFill>
                  </a:tcPr>
                </a:tc>
                <a:tc>
                  <a:txBody>
                    <a:bodyPr/>
                    <a:lstStyle/>
                    <a:p>
                      <a:r>
                        <a:rPr sz="1650" b="0">
                          <a:solidFill>
                            <a:srgbClr val="202B58"/>
                          </a:solidFill>
                          <a:latin typeface="Noto Sans JP"/>
                          <a:ea typeface="Noto Sans JP"/>
                          <a:cs typeface="Noto Sans JP"/>
                        </a:rPr>
                        <a:t>90 kW × 10基／PV定格1,000 kW</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BESS容量／出力</a:t>
                      </a:r>
                    </a:p>
                  </a:txBody>
                  <a:tcPr>
                    <a:solidFill>
                      <a:srgbClr val="FFFFFF"/>
                    </a:solidFill>
                  </a:tcPr>
                </a:tc>
                <a:tc>
                  <a:txBody>
                    <a:bodyPr/>
                    <a:lstStyle/>
                    <a:p>
                      <a:r>
                        <a:rPr sz="1650" b="0">
                          <a:solidFill>
                            <a:srgbClr val="202B58"/>
                          </a:solidFill>
                          <a:latin typeface="Noto Sans JP"/>
                          <a:ea typeface="Noto Sans JP"/>
                          <a:cs typeface="Noto Sans JP"/>
                        </a:rPr>
                        <a:t>6,000 kWh／900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a:t>
                      </a:r>
                    </a:p>
                  </a:txBody>
                  <a:tcPr>
                    <a:solidFill>
                      <a:srgbClr val="F1F5F8"/>
                    </a:solidFill>
                  </a:tcPr>
                </a:tc>
                <a:tc>
                  <a:txBody>
                    <a:bodyPr/>
                    <a:lstStyle/>
                    <a:p>
                      <a:r>
                        <a:rPr sz="1650" b="0">
                          <a:solidFill>
                            <a:srgbClr val="202B58"/>
                          </a:solidFill>
                          <a:latin typeface="Noto Sans JP"/>
                          <a:ea typeface="Noto Sans JP"/>
                          <a:cs typeface="Noto Sans JP"/>
                        </a:rPr>
                        <a:t>初期3,000、下限1,200、上限4,800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3月・11月のBESS在庫差</a:t>
                      </a:r>
                    </a:p>
                  </a:txBody>
                  <a:tcPr>
                    <a:solidFill>
                      <a:srgbClr val="FFFFFF"/>
                    </a:solidFill>
                  </a:tcPr>
                </a:tc>
                <a:tc>
                  <a:txBody>
                    <a:bodyPr/>
                    <a:lstStyle/>
                    <a:p>
                      <a:r>
                        <a:rPr sz="1650" b="0">
                          <a:solidFill>
                            <a:srgbClr val="202B58"/>
                          </a:solidFill>
                          <a:latin typeface="Noto Sans JP"/>
                          <a:ea typeface="Noto Sans JP"/>
                          <a:cs typeface="Noto Sans JP"/>
                        </a:rPr>
                        <a:t>初期−終端＝1,800 kWh（両週）</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14872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B987224-3804-4ABB-A1D9-4EA39E93BDC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補足：月別の数値（1〜6月）</a:t>
            </a:r>
          </a:p>
        </p:txBody>
      </p:sp>
      <p:sp>
        <p:nvSpPr>
          <p:cNvPr id="2" name="正方形/長方形 1">
            <a:extLst>
              <a:ext uri="{FF2B5EF4-FFF2-40B4-BE49-F238E27FC236}">
                <a16:creationId xmlns:a16="http://schemas.microsoft.com/office/drawing/2014/main" id="{C6B3628D-5019-4986-83C7-2F714C0316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各月1週の結果。電力量の単位はkWh、費用の単位は万円</a:t>
            </a:r>
          </a:p>
        </p:txBody>
      </p:sp>
      <p:sp>
        <p:nvSpPr>
          <p:cNvPr id="3" name="正方形/長方形 2">
            <a:extLst>
              <a:ext uri="{FF2B5EF4-FFF2-40B4-BE49-F238E27FC236}">
                <a16:creationId xmlns:a16="http://schemas.microsoft.com/office/drawing/2014/main" id="{5E22CDF1-1E04-4011-A0A1-C9417B470E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210CD300-9E12-48F1-9EC4-80C0AA62EF9E}"/>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F8AE3652-AA48-4938-B5F0-3E138E67876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47F27D-22DA-4963-9A3A-710FA810C3E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20/24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週間費用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週間購入電力量</a:t>
                      </a:r>
                    </a:p>
                  </a:txBody>
                  <a:tcPr>
                    <a:solidFill>
                      <a:srgbClr val="202B58"/>
                    </a:solidFill>
                  </a:tcPr>
                </a:tc>
                <a:tc>
                  <a:txBody>
                    <a:bodyPr/>
                    <a:lstStyle/>
                    <a:p>
                      <a:r>
                        <a:rPr sz="1650" b="1">
                          <a:solidFill>
                            <a:srgbClr val="FFFFFF"/>
                          </a:solidFill>
                          <a:latin typeface="Noto Sans JP"/>
                          <a:ea typeface="Noto Sans JP"/>
                          <a:cs typeface="Noto Sans JP"/>
                        </a:rPr>
                        <a:t>受電ピーク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1月</a:t>
                      </a:r>
                    </a:p>
                  </a:txBody>
                  <a:tcPr>
                    <a:solidFill>
                      <a:srgbClr val="F1F5F8"/>
                    </a:solidFill>
                  </a:tcPr>
                </a:tc>
                <a:tc>
                  <a:txBody>
                    <a:bodyPr/>
                    <a:lstStyle/>
                    <a:p>
                      <a:r>
                        <a:rPr sz="1650" b="0">
                          <a:solidFill>
                            <a:srgbClr val="202B58"/>
                          </a:solidFill>
                          <a:latin typeface="Noto Sans JP"/>
                          <a:ea typeface="Noto Sans JP"/>
                          <a:cs typeface="Noto Sans JP"/>
                        </a:rPr>
                        <a:t>01-06</a:t>
                      </a:r>
                    </a:p>
                  </a:txBody>
                  <a:tcPr>
                    <a:solidFill>
                      <a:srgbClr val="F1F5F8"/>
                    </a:solidFill>
                  </a:tcPr>
                </a:tc>
                <a:tc>
                  <a:txBody>
                    <a:bodyPr/>
                    <a:lstStyle/>
                    <a:p>
                      <a:r>
                        <a:rPr sz="1650" b="0">
                          <a:solidFill>
                            <a:srgbClr val="202B58"/>
                          </a:solidFill>
                          <a:latin typeface="Noto Sans JP"/>
                          <a:ea typeface="Noto Sans JP"/>
                          <a:cs typeface="Noto Sans JP"/>
                        </a:rPr>
                        <a:t>431.63</a:t>
                      </a:r>
                    </a:p>
                  </a:txBody>
                  <a:tcPr>
                    <a:solidFill>
                      <a:srgbClr val="F1F5F8"/>
                    </a:solidFill>
                  </a:tcPr>
                </a:tc>
                <a:tc>
                  <a:txBody>
                    <a:bodyPr/>
                    <a:lstStyle/>
                    <a:p>
                      <a:r>
                        <a:rPr sz="1650" b="0">
                          <a:solidFill>
                            <a:srgbClr val="202B58"/>
                          </a:solidFill>
                          <a:latin typeface="Noto Sans JP"/>
                          <a:ea typeface="Noto Sans JP"/>
                          <a:cs typeface="Noto Sans JP"/>
                        </a:rPr>
                        <a:t>205</a:t>
                      </a:r>
                    </a:p>
                  </a:txBody>
                  <a:tcPr>
                    <a:solidFill>
                      <a:srgbClr val="F1F5F8"/>
                    </a:solidFill>
                  </a:tcPr>
                </a:tc>
                <a:tc>
                  <a:txBody>
                    <a:bodyPr/>
                    <a:lstStyle/>
                    <a:p>
                      <a:r>
                        <a:rPr sz="1650" b="0">
                          <a:solidFill>
                            <a:srgbClr val="202B58"/>
                          </a:solidFill>
                          <a:latin typeface="Noto Sans JP"/>
                          <a:ea typeface="Noto Sans JP"/>
                          <a:cs typeface="Noto Sans JP"/>
                        </a:rPr>
                        <a:t>5,621.7</a:t>
                      </a:r>
                    </a:p>
                  </a:txBody>
                  <a:tcPr>
                    <a:solidFill>
                      <a:srgbClr val="F1F5F8"/>
                    </a:solidFill>
                  </a:tcPr>
                </a:tc>
                <a:tc>
                  <a:txBody>
                    <a:bodyPr/>
                    <a:lstStyle/>
                    <a:p>
                      <a:r>
                        <a:rPr sz="1650" b="0">
                          <a:solidFill>
                            <a:srgbClr val="202B58"/>
                          </a:solidFill>
                          <a:latin typeface="Noto Sans JP"/>
                          <a:ea typeface="Noto Sans JP"/>
                          <a:cs typeface="Noto Sans JP"/>
                        </a:rPr>
                        <a:t>256.8</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2月</a:t>
                      </a:r>
                    </a:p>
                  </a:txBody>
                  <a:tcPr>
                    <a:solidFill>
                      <a:srgbClr val="FFFFFF"/>
                    </a:solidFill>
                  </a:tcPr>
                </a:tc>
                <a:tc>
                  <a:txBody>
                    <a:bodyPr/>
                    <a:lstStyle/>
                    <a:p>
                      <a:r>
                        <a:rPr sz="1650" b="0">
                          <a:solidFill>
                            <a:srgbClr val="202B58"/>
                          </a:solidFill>
                          <a:latin typeface="Noto Sans JP"/>
                          <a:ea typeface="Noto Sans JP"/>
                          <a:cs typeface="Noto Sans JP"/>
                        </a:rPr>
                        <a:t>02-03</a:t>
                      </a:r>
                    </a:p>
                  </a:txBody>
                  <a:tcPr>
                    <a:solidFill>
                      <a:srgbClr val="FFFFFF"/>
                    </a:solidFill>
                  </a:tcPr>
                </a:tc>
                <a:tc>
                  <a:txBody>
                    <a:bodyPr/>
                    <a:lstStyle/>
                    <a:p>
                      <a:r>
                        <a:rPr sz="1650" b="0">
                          <a:solidFill>
                            <a:srgbClr val="202B58"/>
                          </a:solidFill>
                          <a:latin typeface="Noto Sans JP"/>
                          <a:ea typeface="Noto Sans JP"/>
                          <a:cs typeface="Noto Sans JP"/>
                        </a:rPr>
                        <a:t>422.27</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2,123.5</a:t>
                      </a:r>
                    </a:p>
                  </a:txBody>
                  <a:tcPr>
                    <a:solidFill>
                      <a:srgbClr val="FFFFFF"/>
                    </a:solidFill>
                  </a:tcPr>
                </a:tc>
                <a:tc>
                  <a:txBody>
                    <a:bodyPr/>
                    <a:lstStyle/>
                    <a:p>
                      <a:r>
                        <a:rPr sz="1650"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3月</a:t>
                      </a:r>
                    </a:p>
                  </a:txBody>
                  <a:tcPr>
                    <a:solidFill>
                      <a:srgbClr val="F1F5F8"/>
                    </a:solidFill>
                  </a:tcPr>
                </a:tc>
                <a:tc>
                  <a:txBody>
                    <a:bodyPr/>
                    <a:lstStyle/>
                    <a:p>
                      <a:r>
                        <a:rPr sz="1650" b="0">
                          <a:solidFill>
                            <a:srgbClr val="202B58"/>
                          </a:solidFill>
                          <a:latin typeface="Noto Sans JP"/>
                          <a:ea typeface="Noto Sans JP"/>
                          <a:cs typeface="Noto Sans JP"/>
                        </a:rPr>
                        <a:t>03-03</a:t>
                      </a:r>
                    </a:p>
                  </a:txBody>
                  <a:tcPr>
                    <a:solidFill>
                      <a:srgbClr val="F1F5F8"/>
                    </a:solidFill>
                  </a:tcPr>
                </a:tc>
                <a:tc>
                  <a:txBody>
                    <a:bodyPr/>
                    <a:lstStyle/>
                    <a:p>
                      <a:r>
                        <a:rPr sz="1650" b="0">
                          <a:solidFill>
                            <a:srgbClr val="202B58"/>
                          </a:solidFill>
                          <a:latin typeface="Noto Sans JP"/>
                          <a:ea typeface="Noto Sans JP"/>
                          <a:cs typeface="Noto Sans JP"/>
                        </a:rPr>
                        <a:t>466.45</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7,794.1</a:t>
                      </a:r>
                    </a:p>
                  </a:txBody>
                  <a:tcPr>
                    <a:solidFill>
                      <a:srgbClr val="F1F5F8"/>
                    </a:solidFill>
                  </a:tcPr>
                </a:tc>
                <a:tc>
                  <a:txBody>
                    <a:bodyPr/>
                    <a:lstStyle/>
                    <a:p>
                      <a:r>
                        <a:rPr sz="1650" b="0">
                          <a:solidFill>
                            <a:srgbClr val="202B58"/>
                          </a:solidFill>
                          <a:latin typeface="Noto Sans JP"/>
                          <a:ea typeface="Noto Sans JP"/>
                          <a:cs typeface="Noto Sans JP"/>
                        </a:rPr>
                        <a:t>849.4</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4月</a:t>
                      </a:r>
                    </a:p>
                  </a:txBody>
                  <a:tcPr>
                    <a:solidFill>
                      <a:srgbClr val="FFFFFF"/>
                    </a:solidFill>
                  </a:tcPr>
                </a:tc>
                <a:tc>
                  <a:txBody>
                    <a:bodyPr/>
                    <a:lstStyle/>
                    <a:p>
                      <a:r>
                        <a:rPr sz="1650" b="0">
                          <a:solidFill>
                            <a:srgbClr val="202B58"/>
                          </a:solidFill>
                          <a:latin typeface="Noto Sans JP"/>
                          <a:ea typeface="Noto Sans JP"/>
                          <a:cs typeface="Noto Sans JP"/>
                        </a:rPr>
                        <a:t>04-07</a:t>
                      </a:r>
                    </a:p>
                  </a:txBody>
                  <a:tcPr>
                    <a:solidFill>
                      <a:srgbClr val="FFFFFF"/>
                    </a:solidFill>
                  </a:tcPr>
                </a:tc>
                <a:tc>
                  <a:txBody>
                    <a:bodyPr/>
                    <a:lstStyle/>
                    <a:p>
                      <a:r>
                        <a:rPr sz="1650" b="0">
                          <a:solidFill>
                            <a:srgbClr val="202B58"/>
                          </a:solidFill>
                          <a:latin typeface="Noto Sans JP"/>
                          <a:ea typeface="Noto Sans JP"/>
                          <a:cs typeface="Noto Sans JP"/>
                        </a:rPr>
                        <a:t>437.83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2,706.7</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5月</a:t>
                      </a:r>
                    </a:p>
                  </a:txBody>
                  <a:tcPr>
                    <a:solidFill>
                      <a:srgbClr val="F1F5F8"/>
                    </a:solidFill>
                  </a:tcPr>
                </a:tc>
                <a:tc>
                  <a:txBody>
                    <a:bodyPr/>
                    <a:lstStyle/>
                    <a:p>
                      <a:r>
                        <a:rPr sz="1650" b="0">
                          <a:solidFill>
                            <a:srgbClr val="202B58"/>
                          </a:solidFill>
                          <a:latin typeface="Noto Sans JP"/>
                          <a:ea typeface="Noto Sans JP"/>
                          <a:cs typeface="Noto Sans JP"/>
                        </a:rPr>
                        <a:t>05-12</a:t>
                      </a:r>
                    </a:p>
                  </a:txBody>
                  <a:tcPr>
                    <a:solidFill>
                      <a:srgbClr val="F1F5F8"/>
                    </a:solidFill>
                  </a:tcPr>
                </a:tc>
                <a:tc>
                  <a:txBody>
                    <a:bodyPr/>
                    <a:lstStyle/>
                    <a:p>
                      <a:r>
                        <a:rPr sz="1650" b="0">
                          <a:solidFill>
                            <a:srgbClr val="202B58"/>
                          </a:solidFill>
                          <a:latin typeface="Noto Sans JP"/>
                          <a:ea typeface="Noto Sans JP"/>
                          <a:cs typeface="Noto Sans JP"/>
                        </a:rPr>
                        <a:t>434.43</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3,981.9</a:t>
                      </a:r>
                    </a:p>
                  </a:txBody>
                  <a:tcPr>
                    <a:solidFill>
                      <a:srgbClr val="F1F5F8"/>
                    </a:solidFill>
                  </a:tcPr>
                </a:tc>
                <a:tc>
                  <a:txBody>
                    <a:bodyPr/>
                    <a:lstStyle/>
                    <a:p>
                      <a:r>
                        <a:rPr sz="1650" b="0">
                          <a:solidFill>
                            <a:srgbClr val="202B58"/>
                          </a:solidFill>
                          <a:latin typeface="Noto Sans JP"/>
                          <a:ea typeface="Noto Sans JP"/>
                          <a:cs typeface="Noto Sans JP"/>
                        </a:rPr>
                        <a:t>358.6</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6月</a:t>
                      </a:r>
                    </a:p>
                  </a:txBody>
                  <a:tcPr>
                    <a:solidFill>
                      <a:srgbClr val="FFFFFF"/>
                    </a:solidFill>
                  </a:tcPr>
                </a:tc>
                <a:tc>
                  <a:txBody>
                    <a:bodyPr/>
                    <a:lstStyle/>
                    <a:p>
                      <a:r>
                        <a:rPr sz="1650" b="0">
                          <a:solidFill>
                            <a:srgbClr val="202B58"/>
                          </a:solidFill>
                          <a:latin typeface="Noto Sans JP"/>
                          <a:ea typeface="Noto Sans JP"/>
                          <a:cs typeface="Noto Sans JP"/>
                        </a:rPr>
                        <a:t>06-02</a:t>
                      </a:r>
                    </a:p>
                  </a:txBody>
                  <a:tcPr>
                    <a:solidFill>
                      <a:srgbClr val="FFFFFF"/>
                    </a:solidFill>
                  </a:tcPr>
                </a:tc>
                <a:tc>
                  <a:txBody>
                    <a:bodyPr/>
                    <a:lstStyle/>
                    <a:p>
                      <a:r>
                        <a:rPr sz="1650" b="0">
                          <a:solidFill>
                            <a:srgbClr val="202B58"/>
                          </a:solidFill>
                          <a:latin typeface="Noto Sans JP"/>
                          <a:ea typeface="Noto Sans JP"/>
                          <a:cs typeface="Noto Sans JP"/>
                        </a:rPr>
                        <a:t>424.83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2,804.8</a:t>
                      </a:r>
                    </a:p>
                  </a:txBody>
                  <a:tcPr>
                    <a:solidFill>
                      <a:srgbClr val="FFFFFF"/>
                    </a:solidFill>
                  </a:tcPr>
                </a:tc>
                <a:tc>
                  <a:txBody>
                    <a:bodyPr/>
                    <a:lstStyle/>
                    <a:p>
                      <a:r>
                        <a:rPr sz="1650" b="0">
                          <a:solidFill>
                            <a:srgbClr val="202B58"/>
                          </a:solidFill>
                          <a:latin typeface="Noto Sans JP"/>
                          <a:ea typeface="Noto Sans JP"/>
                          <a:cs typeface="Noto Sans JP"/>
                        </a:rPr>
                        <a:t>244.1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6109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E23F3C6-0E52-4FC0-BEA3-B6331665D36F}"/>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補足：月別の数値（7〜12月）</a:t>
            </a:r>
          </a:p>
        </p:txBody>
      </p:sp>
      <p:sp>
        <p:nvSpPr>
          <p:cNvPr id="2" name="正方形/長方形 1">
            <a:extLst>
              <a:ext uri="{FF2B5EF4-FFF2-40B4-BE49-F238E27FC236}">
                <a16:creationId xmlns:a16="http://schemas.microsoft.com/office/drawing/2014/main" id="{AA00D815-B439-4262-8D07-8FD807A00E1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各月1週の結果。電力量の単位はkWh、費用の単位は万円</a:t>
            </a:r>
          </a:p>
        </p:txBody>
      </p:sp>
      <p:sp>
        <p:nvSpPr>
          <p:cNvPr id="3" name="正方形/長方形 2">
            <a:extLst>
              <a:ext uri="{FF2B5EF4-FFF2-40B4-BE49-F238E27FC236}">
                <a16:creationId xmlns:a16="http://schemas.microsoft.com/office/drawing/2014/main" id="{4D7F6E3B-C50D-4FD3-A5EB-04E8E9AA024C}"/>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7A059349-076F-4175-B593-CC14A11FE0E9}"/>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7B2B31FD-A63C-4395-BC9E-62D13D2A748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324F0B0-2943-46FC-88FD-5D6E597C8AE1}"/>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21/24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週間費用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週間購入電力量</a:t>
                      </a:r>
                    </a:p>
                  </a:txBody>
                  <a:tcPr>
                    <a:solidFill>
                      <a:srgbClr val="202B58"/>
                    </a:solidFill>
                  </a:tcPr>
                </a:tc>
                <a:tc>
                  <a:txBody>
                    <a:bodyPr/>
                    <a:lstStyle/>
                    <a:p>
                      <a:r>
                        <a:rPr sz="1650" b="1">
                          <a:solidFill>
                            <a:srgbClr val="FFFFFF"/>
                          </a:solidFill>
                          <a:latin typeface="Noto Sans JP"/>
                          <a:ea typeface="Noto Sans JP"/>
                          <a:cs typeface="Noto Sans JP"/>
                        </a:rPr>
                        <a:t>受電ピーク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7月</a:t>
                      </a:r>
                    </a:p>
                  </a:txBody>
                  <a:tcPr>
                    <a:solidFill>
                      <a:srgbClr val="F1F5F8"/>
                    </a:solidFill>
                  </a:tcPr>
                </a:tc>
                <a:tc>
                  <a:txBody>
                    <a:bodyPr/>
                    <a:lstStyle/>
                    <a:p>
                      <a:r>
                        <a:rPr sz="1650" b="0">
                          <a:solidFill>
                            <a:srgbClr val="202B58"/>
                          </a:solidFill>
                          <a:latin typeface="Noto Sans JP"/>
                          <a:ea typeface="Noto Sans JP"/>
                          <a:cs typeface="Noto Sans JP"/>
                        </a:rPr>
                        <a:t>07-07</a:t>
                      </a:r>
                    </a:p>
                  </a:txBody>
                  <a:tcPr>
                    <a:solidFill>
                      <a:srgbClr val="F1F5F8"/>
                    </a:solidFill>
                  </a:tcPr>
                </a:tc>
                <a:tc>
                  <a:txBody>
                    <a:bodyPr/>
                    <a:lstStyle/>
                    <a:p>
                      <a:r>
                        <a:rPr sz="1650" b="0">
                          <a:solidFill>
                            <a:srgbClr val="202B58"/>
                          </a:solidFill>
                          <a:latin typeface="Noto Sans JP"/>
                          <a:ea typeface="Noto Sans JP"/>
                          <a:cs typeface="Noto Sans JP"/>
                        </a:rPr>
                        <a:t>421.86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1,746.4</a:t>
                      </a:r>
                    </a:p>
                  </a:txBody>
                  <a:tcPr>
                    <a:solidFill>
                      <a:srgbClr val="F1F5F8"/>
                    </a:solidFill>
                  </a:tcPr>
                </a:tc>
                <a:tc>
                  <a:txBody>
                    <a:bodyPr/>
                    <a:lstStyle/>
                    <a:p>
                      <a:r>
                        <a:rPr sz="1650" b="0">
                          <a:solidFill>
                            <a:srgbClr val="202B58"/>
                          </a:solidFill>
                          <a:latin typeface="Noto Sans JP"/>
                          <a:ea typeface="Noto Sans JP"/>
                          <a:cs typeface="Noto Sans JP"/>
                        </a:rPr>
                        <a:t>227.0</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8月</a:t>
                      </a:r>
                    </a:p>
                  </a:txBody>
                  <a:tcPr>
                    <a:solidFill>
                      <a:srgbClr val="FFFFFF"/>
                    </a:solidFill>
                  </a:tcPr>
                </a:tc>
                <a:tc>
                  <a:txBody>
                    <a:bodyPr/>
                    <a:lstStyle/>
                    <a:p>
                      <a:r>
                        <a:rPr sz="1650" b="0">
                          <a:solidFill>
                            <a:srgbClr val="202B58"/>
                          </a:solidFill>
                          <a:latin typeface="Noto Sans JP"/>
                          <a:ea typeface="Noto Sans JP"/>
                          <a:cs typeface="Noto Sans JP"/>
                        </a:rPr>
                        <a:t>08-04</a:t>
                      </a:r>
                    </a:p>
                  </a:txBody>
                  <a:tcPr>
                    <a:solidFill>
                      <a:srgbClr val="FFFFFF"/>
                    </a:solidFill>
                  </a:tcPr>
                </a:tc>
                <a:tc>
                  <a:txBody>
                    <a:bodyPr/>
                    <a:lstStyle/>
                    <a:p>
                      <a:r>
                        <a:rPr sz="1650" b="0">
                          <a:solidFill>
                            <a:srgbClr val="202B58"/>
                          </a:solidFill>
                          <a:latin typeface="Noto Sans JP"/>
                          <a:ea typeface="Noto Sans JP"/>
                          <a:cs typeface="Noto Sans JP"/>
                        </a:rPr>
                        <a:t>439.18</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2,723.8</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9月</a:t>
                      </a:r>
                    </a:p>
                  </a:txBody>
                  <a:tcPr>
                    <a:solidFill>
                      <a:srgbClr val="F1F5F8"/>
                    </a:solidFill>
                  </a:tcPr>
                </a:tc>
                <a:tc>
                  <a:txBody>
                    <a:bodyPr/>
                    <a:lstStyle/>
                    <a:p>
                      <a:r>
                        <a:rPr sz="1650" b="0">
                          <a:solidFill>
                            <a:srgbClr val="202B58"/>
                          </a:solidFill>
                          <a:latin typeface="Noto Sans JP"/>
                          <a:ea typeface="Noto Sans JP"/>
                          <a:cs typeface="Noto Sans JP"/>
                        </a:rPr>
                        <a:t>09-01</a:t>
                      </a:r>
                    </a:p>
                  </a:txBody>
                  <a:tcPr>
                    <a:solidFill>
                      <a:srgbClr val="F1F5F8"/>
                    </a:solidFill>
                  </a:tcPr>
                </a:tc>
                <a:tc>
                  <a:txBody>
                    <a:bodyPr/>
                    <a:lstStyle/>
                    <a:p>
                      <a:r>
                        <a:rPr sz="1650" b="0">
                          <a:solidFill>
                            <a:srgbClr val="202B58"/>
                          </a:solidFill>
                          <a:latin typeface="Noto Sans JP"/>
                          <a:ea typeface="Noto Sans JP"/>
                          <a:cs typeface="Noto Sans JP"/>
                        </a:rPr>
                        <a:t>432.09</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3,619.5</a:t>
                      </a:r>
                    </a:p>
                  </a:txBody>
                  <a:tcPr>
                    <a:solidFill>
                      <a:srgbClr val="F1F5F8"/>
                    </a:solidFill>
                  </a:tcPr>
                </a:tc>
                <a:tc>
                  <a:txBody>
                    <a:bodyPr/>
                    <a:lstStyle/>
                    <a:p>
                      <a:r>
                        <a:rPr sz="1650" b="0">
                          <a:solidFill>
                            <a:srgbClr val="202B58"/>
                          </a:solidFill>
                          <a:latin typeface="Noto Sans JP"/>
                          <a:ea typeface="Noto Sans JP"/>
                          <a:cs typeface="Noto Sans JP"/>
                        </a:rPr>
                        <a:t>270.0</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10月</a:t>
                      </a:r>
                    </a:p>
                  </a:txBody>
                  <a:tcPr>
                    <a:solidFill>
                      <a:srgbClr val="FFFFFF"/>
                    </a:solidFill>
                  </a:tcPr>
                </a:tc>
                <a:tc>
                  <a:txBody>
                    <a:bodyPr/>
                    <a:lstStyle/>
                    <a:p>
                      <a:r>
                        <a:rPr sz="1650" b="0">
                          <a:solidFill>
                            <a:srgbClr val="202B58"/>
                          </a:solidFill>
                          <a:latin typeface="Noto Sans JP"/>
                          <a:ea typeface="Noto Sans JP"/>
                          <a:cs typeface="Noto Sans JP"/>
                        </a:rPr>
                        <a:t>10-06</a:t>
                      </a:r>
                    </a:p>
                  </a:txBody>
                  <a:tcPr>
                    <a:solidFill>
                      <a:srgbClr val="FFFFFF"/>
                    </a:solidFill>
                  </a:tcPr>
                </a:tc>
                <a:tc>
                  <a:txBody>
                    <a:bodyPr/>
                    <a:lstStyle/>
                    <a:p>
                      <a:r>
                        <a:rPr sz="1650" b="0">
                          <a:solidFill>
                            <a:srgbClr val="202B58"/>
                          </a:solidFill>
                          <a:latin typeface="Noto Sans JP"/>
                          <a:ea typeface="Noto Sans JP"/>
                          <a:cs typeface="Noto Sans JP"/>
                        </a:rPr>
                        <a:t>426.93</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tc>
                  <a:txBody>
                    <a:bodyPr/>
                    <a:lstStyle/>
                    <a:p>
                      <a:r>
                        <a:rPr sz="1650" b="0">
                          <a:solidFill>
                            <a:srgbClr val="202B58"/>
                          </a:solidFill>
                          <a:latin typeface="Noto Sans JP"/>
                          <a:ea typeface="Noto Sans JP"/>
                          <a:cs typeface="Noto Sans JP"/>
                        </a:rPr>
                        <a:t>4,294.1</a:t>
                      </a:r>
                    </a:p>
                  </a:txBody>
                  <a:tcPr>
                    <a:solidFill>
                      <a:srgbClr val="FFFFFF"/>
                    </a:solidFill>
                  </a:tcPr>
                </a:tc>
                <a:tc>
                  <a:txBody>
                    <a:bodyPr/>
                    <a:lstStyle/>
                    <a:p>
                      <a:r>
                        <a:rPr sz="1650" b="0">
                          <a:solidFill>
                            <a:srgbClr val="202B58"/>
                          </a:solidFill>
                          <a:latin typeface="Noto Sans JP"/>
                          <a:ea typeface="Noto Sans JP"/>
                          <a:cs typeface="Noto Sans JP"/>
                        </a:rPr>
                        <a:t>209.6</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11月</a:t>
                      </a:r>
                    </a:p>
                  </a:txBody>
                  <a:tcPr>
                    <a:solidFill>
                      <a:srgbClr val="F1F5F8"/>
                    </a:solidFill>
                  </a:tcPr>
                </a:tc>
                <a:tc>
                  <a:txBody>
                    <a:bodyPr/>
                    <a:lstStyle/>
                    <a:p>
                      <a:r>
                        <a:rPr sz="1650" b="0">
                          <a:solidFill>
                            <a:srgbClr val="202B58"/>
                          </a:solidFill>
                          <a:latin typeface="Noto Sans JP"/>
                          <a:ea typeface="Noto Sans JP"/>
                          <a:cs typeface="Noto Sans JP"/>
                        </a:rPr>
                        <a:t>11-10</a:t>
                      </a:r>
                    </a:p>
                  </a:txBody>
                  <a:tcPr>
                    <a:solidFill>
                      <a:srgbClr val="F1F5F8"/>
                    </a:solidFill>
                  </a:tcPr>
                </a:tc>
                <a:tc>
                  <a:txBody>
                    <a:bodyPr/>
                    <a:lstStyle/>
                    <a:p>
                      <a:r>
                        <a:rPr sz="1650" b="0">
                          <a:solidFill>
                            <a:srgbClr val="202B58"/>
                          </a:solidFill>
                          <a:latin typeface="Noto Sans JP"/>
                          <a:ea typeface="Noto Sans JP"/>
                          <a:cs typeface="Noto Sans JP"/>
                        </a:rPr>
                        <a:t>442.46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7,302.4</a:t>
                      </a:r>
                    </a:p>
                  </a:txBody>
                  <a:tcPr>
                    <a:solidFill>
                      <a:srgbClr val="F1F5F8"/>
                    </a:solidFill>
                  </a:tcPr>
                </a:tc>
                <a:tc>
                  <a:txBody>
                    <a:bodyPr/>
                    <a:lstStyle/>
                    <a:p>
                      <a:r>
                        <a:rPr sz="1650"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12月</a:t>
                      </a:r>
                    </a:p>
                  </a:txBody>
                  <a:tcPr>
                    <a:solidFill>
                      <a:srgbClr val="FFFFFF"/>
                    </a:solidFill>
                  </a:tcPr>
                </a:tc>
                <a:tc>
                  <a:txBody>
                    <a:bodyPr/>
                    <a:lstStyle/>
                    <a:p>
                      <a:r>
                        <a:rPr sz="1650" b="0">
                          <a:solidFill>
                            <a:srgbClr val="202B58"/>
                          </a:solidFill>
                          <a:latin typeface="Noto Sans JP"/>
                          <a:ea typeface="Noto Sans JP"/>
                          <a:cs typeface="Noto Sans JP"/>
                        </a:rPr>
                        <a:t>12-01</a:t>
                      </a:r>
                    </a:p>
                  </a:txBody>
                  <a:tcPr>
                    <a:solidFill>
                      <a:srgbClr val="FFFFFF"/>
                    </a:solidFill>
                  </a:tcPr>
                </a:tc>
                <a:tc>
                  <a:txBody>
                    <a:bodyPr/>
                    <a:lstStyle/>
                    <a:p>
                      <a:r>
                        <a:rPr sz="1650" b="0">
                          <a:solidFill>
                            <a:srgbClr val="202B58"/>
                          </a:solidFill>
                          <a:latin typeface="Noto Sans JP"/>
                          <a:ea typeface="Noto Sans JP"/>
                          <a:cs typeface="Noto Sans JP"/>
                        </a:rPr>
                        <a:t>444.22</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5,695.4</a:t>
                      </a:r>
                    </a:p>
                  </a:txBody>
                  <a:tcPr>
                    <a:solidFill>
                      <a:srgbClr val="FFFFFF"/>
                    </a:solidFill>
                  </a:tcPr>
                </a:tc>
                <a:tc>
                  <a:txBody>
                    <a:bodyPr/>
                    <a:lstStyle/>
                    <a:p>
                      <a:r>
                        <a:rPr sz="1650" b="0">
                          <a:solidFill>
                            <a:srgbClr val="202B58"/>
                          </a:solidFill>
                          <a:latin typeface="Noto Sans JP"/>
                          <a:ea typeface="Noto Sans JP"/>
                          <a:cs typeface="Noto Sans JP"/>
                        </a:rPr>
                        <a:t>263.7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39526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547C7B8-7538-4B0C-A8A0-2BCAC1F8BE3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補足：予測と評価データ、選択週の代表性</a:t>
            </a:r>
          </a:p>
        </p:txBody>
      </p:sp>
      <p:sp>
        <p:nvSpPr>
          <p:cNvPr id="2" name="正方形/長方形 1">
            <a:extLst>
              <a:ext uri="{FF2B5EF4-FFF2-40B4-BE49-F238E27FC236}">
                <a16:creationId xmlns:a16="http://schemas.microsoft.com/office/drawing/2014/main" id="{8F14D5E5-ABC1-4A70-A390-5431AB99F1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時刻表・予測の学習年・評価年を分けて扱う</a:t>
            </a:r>
          </a:p>
        </p:txBody>
      </p:sp>
      <p:sp>
        <p:nvSpPr>
          <p:cNvPr id="3" name="正方形/長方形 2">
            <a:extLst>
              <a:ext uri="{FF2B5EF4-FFF2-40B4-BE49-F238E27FC236}">
                <a16:creationId xmlns:a16="http://schemas.microsoft.com/office/drawing/2014/main" id="{843CBA97-722D-4310-AF95-1E56DA6FE35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3月の選択週は日射が少ない週。月全体の平均結果へ外挿しない</a:t>
            </a:r>
          </a:p>
        </p:txBody>
      </p:sp>
      <p:sp>
        <p:nvSpPr>
          <p:cNvPr id="4" name="正方形/長方形 3">
            <a:extLst>
              <a:ext uri="{FF2B5EF4-FFF2-40B4-BE49-F238E27FC236}">
                <a16:creationId xmlns:a16="http://schemas.microsoft.com/office/drawing/2014/main" id="{F5087132-29E7-41EC-B397-535EB39B2B9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日射比較は入力の事後確認であり、PV発電量・予測精度・費用の因果効果ではない。</a:t>
            </a:r>
          </a:p>
        </p:txBody>
      </p:sp>
      <p:sp>
        <p:nvSpPr>
          <p:cNvPr id="5" name="正方形/長方形 4">
            <a:extLst>
              <a:ext uri="{FF2B5EF4-FFF2-40B4-BE49-F238E27FC236}">
                <a16:creationId xmlns:a16="http://schemas.microsoft.com/office/drawing/2014/main" id="{3C30940D-065F-4B43-BDC7-0E615358297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227C254-5757-4DE9-A28A-1CC4C22BF8F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22/24</a:t>
            </a:r>
          </a:p>
        </p:txBody>
      </p:sp>
      <p:graphicFrame>
        <p:nvGraphicFramePr>
          <p:cNvPr id="15" name="表 14"/>
          <p:cNvGraphicFramePr/>
          <p:nvPr/>
        </p:nvGraphicFramePr>
        <p:xfrm>
          <a:off x="571500" y="1695450"/>
          <a:ext cx="11049000" cy="2400300"/>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480060">
                <a:tc>
                  <a:txBody>
                    <a:bodyPr/>
                    <a:lstStyle/>
                    <a:p>
                      <a:r>
                        <a:rPr sz="1650" b="1">
                          <a:solidFill>
                            <a:srgbClr val="FFFFFF"/>
                          </a:solidFill>
                          <a:latin typeface="Noto Sans JP"/>
                          <a:ea typeface="Noto Sans JP"/>
                          <a:cs typeface="Noto Sans JP"/>
                        </a:rPr>
                        <a:t>情報</a:t>
                      </a:r>
                    </a:p>
                  </a:txBody>
                  <a:tcPr>
                    <a:solidFill>
                      <a:srgbClr val="202B58"/>
                    </a:solidFill>
                  </a:tcPr>
                </a:tc>
                <a:tc>
                  <a:txBody>
                    <a:bodyPr/>
                    <a:lstStyle/>
                    <a:p>
                      <a:r>
                        <a:rPr sz="1650" b="1">
                          <a:solidFill>
                            <a:srgbClr val="FFFFFF"/>
                          </a:solidFill>
                          <a:latin typeface="Noto Sans JP"/>
                          <a:ea typeface="Noto Sans JP"/>
                          <a:cs typeface="Noto Sans JP"/>
                        </a:rPr>
                        <a:t>使用範囲</a:t>
                      </a:r>
                    </a:p>
                  </a:txBody>
                  <a:tcPr>
                    <a:solidFill>
                      <a:srgbClr val="202B58"/>
                    </a:solidFill>
                  </a:tcPr>
                </a:tc>
                <a:extLst>
                  <a:ext uri="{0D108BD9-81ED-4DB2-BD59-A6C34878D82A}">
                    <a16:rowId xmlns:a16="http://schemas.microsoft.com/office/drawing/2014/main" val="10000"/>
                  </a:ext>
                </a:extLst>
              </a:tr>
              <a:tr h="480060">
                <a:tc>
                  <a:txBody>
                    <a:bodyPr/>
                    <a:lstStyle/>
                    <a:p>
                      <a:r>
                        <a:rPr sz="1650" b="0">
                          <a:solidFill>
                            <a:srgbClr val="202B58"/>
                          </a:solidFill>
                          <a:latin typeface="Noto Sans JP"/>
                          <a:ea typeface="Noto Sans JP"/>
                          <a:cs typeface="Noto Sans JP"/>
                        </a:rPr>
                        <a:t>時刻表</a:t>
                      </a:r>
                    </a:p>
                  </a:txBody>
                  <a:tcPr>
                    <a:solidFill>
                      <a:srgbClr val="F1F5F8"/>
                    </a:solidFill>
                  </a:tcPr>
                </a:tc>
                <a:tc>
                  <a:txBody>
                    <a:bodyPr/>
                    <a:lstStyle/>
                    <a:p>
                      <a:r>
                        <a:rPr sz="1650" b="0">
                          <a:solidFill>
                            <a:srgbClr val="202B58"/>
                          </a:solidFill>
                          <a:latin typeface="Noto Sans JP"/>
                          <a:ea typeface="Noto Sans JP"/>
                          <a:cs typeface="Noto Sans JP"/>
                        </a:rPr>
                        <a:t>2026年の曜日別時刻表を2025年の日付に対応</a:t>
                      </a:r>
                    </a:p>
                  </a:txBody>
                  <a:tcPr>
                    <a:solidFill>
                      <a:srgbClr val="F1F5F8"/>
                    </a:solidFill>
                  </a:tcPr>
                </a:tc>
                <a:extLst>
                  <a:ext uri="{0D108BD9-81ED-4DB2-BD59-A6C34878D82A}">
                    <a16:rowId xmlns:a16="http://schemas.microsoft.com/office/drawing/2014/main" val="10001"/>
                  </a:ext>
                </a:extLst>
              </a:tr>
              <a:tr h="480060">
                <a:tc>
                  <a:txBody>
                    <a:bodyPr/>
                    <a:lstStyle/>
                    <a:p>
                      <a:r>
                        <a:rPr sz="1650" b="0">
                          <a:solidFill>
                            <a:srgbClr val="202B58"/>
                          </a:solidFill>
                          <a:latin typeface="Noto Sans JP"/>
                          <a:ea typeface="Noto Sans JP"/>
                          <a:cs typeface="Noto Sans JP"/>
                        </a:rPr>
                        <a:t>予測の学習</a:t>
                      </a:r>
                    </a:p>
                  </a:txBody>
                  <a:tcPr>
                    <a:solidFill>
                      <a:srgbClr val="FFFFFF"/>
                    </a:solidFill>
                  </a:tcPr>
                </a:tc>
                <a:tc>
                  <a:txBody>
                    <a:bodyPr/>
                    <a:lstStyle/>
                    <a:p>
                      <a:r>
                        <a:rPr sz="1650" b="0">
                          <a:solidFill>
                            <a:srgbClr val="202B58"/>
                          </a:solidFill>
                          <a:latin typeface="Noto Sans JP"/>
                          <a:ea typeface="Noto Sans JP"/>
                          <a:cs typeface="Noto Sans JP"/>
                        </a:rPr>
                        <a:t>2024年のみ（品質除外2日を除く364日）</a:t>
                      </a:r>
                    </a:p>
                  </a:txBody>
                  <a:tcPr>
                    <a:solidFill>
                      <a:srgbClr val="FFFFFF"/>
                    </a:solidFill>
                  </a:tcPr>
                </a:tc>
                <a:extLst>
                  <a:ext uri="{0D108BD9-81ED-4DB2-BD59-A6C34878D82A}">
                    <a16:rowId xmlns:a16="http://schemas.microsoft.com/office/drawing/2014/main" val="10002"/>
                  </a:ext>
                </a:extLst>
              </a:tr>
              <a:tr h="480060">
                <a:tc>
                  <a:txBody>
                    <a:bodyPr/>
                    <a:lstStyle/>
                    <a:p>
                      <a:r>
                        <a:rPr sz="1650" b="0">
                          <a:solidFill>
                            <a:srgbClr val="202B58"/>
                          </a:solidFill>
                          <a:latin typeface="Noto Sans JP"/>
                          <a:ea typeface="Noto Sans JP"/>
                          <a:cs typeface="Noto Sans JP"/>
                        </a:rPr>
                        <a:t>評価時のPV</a:t>
                      </a:r>
                    </a:p>
                  </a:txBody>
                  <a:tcPr>
                    <a:solidFill>
                      <a:srgbClr val="F1F5F8"/>
                    </a:solidFill>
                  </a:tcPr>
                </a:tc>
                <a:tc>
                  <a:txBody>
                    <a:bodyPr/>
                    <a:lstStyle/>
                    <a:p>
                      <a:r>
                        <a:rPr sz="1650" b="0">
                          <a:solidFill>
                            <a:srgbClr val="202B58"/>
                          </a:solidFill>
                          <a:latin typeface="Noto Sans JP"/>
                          <a:ea typeface="Noto Sans JP"/>
                          <a:cs typeface="Noto Sans JP"/>
                        </a:rPr>
                        <a:t>2025年のSolcast履歴推定に基づく</a:t>
                      </a:r>
                    </a:p>
                  </a:txBody>
                  <a:tcPr>
                    <a:solidFill>
                      <a:srgbClr val="F1F5F8"/>
                    </a:solidFill>
                  </a:tcPr>
                </a:tc>
                <a:extLst>
                  <a:ext uri="{0D108BD9-81ED-4DB2-BD59-A6C34878D82A}">
                    <a16:rowId xmlns:a16="http://schemas.microsoft.com/office/drawing/2014/main" val="10003"/>
                  </a:ext>
                </a:extLst>
              </a:tr>
              <a:tr h="480060">
                <a:tc>
                  <a:txBody>
                    <a:bodyPr/>
                    <a:lstStyle/>
                    <a:p>
                      <a:r>
                        <a:rPr sz="1650" b="0">
                          <a:solidFill>
                            <a:srgbClr val="202B58"/>
                          </a:solidFill>
                          <a:latin typeface="Noto Sans JP"/>
                          <a:ea typeface="Noto Sans JP"/>
                          <a:cs typeface="Noto Sans JP"/>
                        </a:rPr>
                        <a:t>需要</a:t>
                      </a:r>
                    </a:p>
                  </a:txBody>
                  <a:tcPr>
                    <a:solidFill>
                      <a:srgbClr val="FFFFFF"/>
                    </a:solidFill>
                  </a:tcPr>
                </a:tc>
                <a:tc>
                  <a:txBody>
                    <a:bodyPr/>
                    <a:lstStyle/>
                    <a:p>
                      <a:r>
                        <a:rPr sz="1650" b="0">
                          <a:solidFill>
                            <a:srgbClr val="202B58"/>
                          </a:solidFill>
                          <a:latin typeface="Noto Sans JP"/>
                          <a:ea typeface="Noto Sans JP"/>
                          <a:cs typeface="Noto Sans JP"/>
                        </a:rPr>
                        <a:t>固定電費・燃費。気温による空調負荷は未入力</a:t>
                      </a:r>
                    </a:p>
                  </a:txBody>
                  <a:tcPr>
                    <a:solidFill>
                      <a:srgbClr val="FFFFFF"/>
                    </a:solidFill>
                  </a:tcPr>
                </a:tc>
                <a:extLst>
                  <a:ext uri="{0D108BD9-81ED-4DB2-BD59-A6C34878D82A}">
                    <a16:rowId xmlns:a16="http://schemas.microsoft.com/office/drawing/2014/main" val="10004"/>
                  </a:ext>
                </a:extLst>
              </a:tr>
            </a:tbl>
          </a:graphicData>
        </a:graphic>
      </p:graphicFrame>
      <p:graphicFrame>
        <p:nvGraphicFramePr>
          <p:cNvPr id="16" name="表 15"/>
          <p:cNvGraphicFramePr/>
          <p:nvPr/>
        </p:nvGraphicFramePr>
        <p:xfrm>
          <a:off x="571500" y="4371975"/>
          <a:ext cx="11049000" cy="1114425"/>
        </p:xfrm>
        <a:graphic>
          <a:graphicData uri="http://schemas.openxmlformats.org/drawingml/2006/table">
            <a:tbl>
              <a:tblPr/>
              <a:tblGrid>
                <a:gridCol w="49530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71475">
                <a:tc>
                  <a:txBody>
                    <a:bodyPr/>
                    <a:lstStyle/>
                    <a:p>
                      <a:r>
                        <a:rPr sz="1575" b="1">
                          <a:solidFill>
                            <a:srgbClr val="FFFFFF"/>
                          </a:solidFill>
                          <a:latin typeface="Noto Sans JP"/>
                          <a:ea typeface="Noto Sans JP"/>
                          <a:cs typeface="Noto Sans JP"/>
                        </a:rPr>
                        <a:t>日平均日射量 [kWh/m²/日]</a:t>
                      </a:r>
                    </a:p>
                  </a:txBody>
                  <a:tcPr>
                    <a:solidFill>
                      <a:srgbClr val="202B58"/>
                    </a:solidFill>
                  </a:tcPr>
                </a:tc>
                <a:tc>
                  <a:txBody>
                    <a:bodyPr/>
                    <a:lstStyle/>
                    <a:p>
                      <a:r>
                        <a:rPr sz="1575" b="1">
                          <a:solidFill>
                            <a:srgbClr val="FFFFFF"/>
                          </a:solidFill>
                          <a:latin typeface="Noto Sans JP"/>
                          <a:ea typeface="Noto Sans JP"/>
                          <a:cs typeface="Noto Sans JP"/>
                        </a:rPr>
                        <a:t>選択週</a:t>
                      </a:r>
                    </a:p>
                  </a:txBody>
                  <a:tcPr>
                    <a:solidFill>
                      <a:srgbClr val="202B58"/>
                    </a:solidFill>
                  </a:tcPr>
                </a:tc>
                <a:tc>
                  <a:txBody>
                    <a:bodyPr/>
                    <a:lstStyle/>
                    <a:p>
                      <a:r>
                        <a:rPr sz="1575" b="1">
                          <a:solidFill>
                            <a:srgbClr val="FFFFFF"/>
                          </a:solidFill>
                          <a:latin typeface="Noto Sans JP"/>
                          <a:ea typeface="Noto Sans JP"/>
                          <a:cs typeface="Noto Sans JP"/>
                        </a:rPr>
                        <a:t>月全体</a:t>
                      </a:r>
                    </a:p>
                  </a:txBody>
                  <a:tcPr>
                    <a:solidFill>
                      <a:srgbClr val="202B58"/>
                    </a:solidFill>
                  </a:tcPr>
                </a:tc>
                <a:tc>
                  <a:txBody>
                    <a:bodyPr/>
                    <a:lstStyle/>
                    <a:p>
                      <a:r>
                        <a:rPr sz="1575" b="1">
                          <a:solidFill>
                            <a:srgbClr val="FFFFFF"/>
                          </a:solidFill>
                          <a:latin typeface="Noto Sans JP"/>
                          <a:ea typeface="Noto Sans JP"/>
                          <a:cs typeface="Noto Sans JP"/>
                        </a:rPr>
                        <a:t>差</a:t>
                      </a:r>
                    </a:p>
                  </a:txBody>
                  <a:tcPr>
                    <a:solidFill>
                      <a:srgbClr val="202B58"/>
                    </a:solidFill>
                  </a:tcPr>
                </a:tc>
                <a:extLst>
                  <a:ext uri="{0D108BD9-81ED-4DB2-BD59-A6C34878D82A}">
                    <a16:rowId xmlns:a16="http://schemas.microsoft.com/office/drawing/2014/main" val="10000"/>
                  </a:ext>
                </a:extLst>
              </a:tr>
              <a:tr h="371475">
                <a:tc>
                  <a:txBody>
                    <a:bodyPr/>
                    <a:lstStyle/>
                    <a:p>
                      <a:r>
                        <a:rPr sz="1575" b="0">
                          <a:solidFill>
                            <a:srgbClr val="202B58"/>
                          </a:solidFill>
                          <a:latin typeface="Noto Sans JP"/>
                          <a:ea typeface="Noto Sans JP"/>
                          <a:cs typeface="Noto Sans JP"/>
                        </a:rPr>
                        <a:t>3月</a:t>
                      </a:r>
                    </a:p>
                  </a:txBody>
                  <a:tcPr>
                    <a:solidFill>
                      <a:srgbClr val="F1F5F8"/>
                    </a:solidFill>
                  </a:tcPr>
                </a:tc>
                <a:tc>
                  <a:txBody>
                    <a:bodyPr/>
                    <a:lstStyle/>
                    <a:p>
                      <a:r>
                        <a:rPr sz="1575" b="0">
                          <a:solidFill>
                            <a:srgbClr val="202B58"/>
                          </a:solidFill>
                          <a:latin typeface="Noto Sans JP"/>
                          <a:ea typeface="Noto Sans JP"/>
                          <a:cs typeface="Noto Sans JP"/>
                        </a:rPr>
                        <a:t>2.497</a:t>
                      </a:r>
                    </a:p>
                  </a:txBody>
                  <a:tcPr>
                    <a:solidFill>
                      <a:srgbClr val="F1F5F8"/>
                    </a:solidFill>
                  </a:tcPr>
                </a:tc>
                <a:tc>
                  <a:txBody>
                    <a:bodyPr/>
                    <a:lstStyle/>
                    <a:p>
                      <a:r>
                        <a:rPr sz="1575" b="0">
                          <a:solidFill>
                            <a:srgbClr val="202B58"/>
                          </a:solidFill>
                          <a:latin typeface="Noto Sans JP"/>
                          <a:ea typeface="Noto Sans JP"/>
                          <a:cs typeface="Noto Sans JP"/>
                        </a:rPr>
                        <a:t>3.851</a:t>
                      </a:r>
                    </a:p>
                  </a:txBody>
                  <a:tcPr>
                    <a:solidFill>
                      <a:srgbClr val="F1F5F8"/>
                    </a:solidFill>
                  </a:tcPr>
                </a:tc>
                <a:tc>
                  <a:txBody>
                    <a:bodyPr/>
                    <a:lstStyle/>
                    <a:p>
                      <a:r>
                        <a:rPr sz="1575"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371475">
                <a:tc>
                  <a:txBody>
                    <a:bodyPr/>
                    <a:lstStyle/>
                    <a:p>
                      <a:r>
                        <a:rPr sz="1575" b="0">
                          <a:solidFill>
                            <a:srgbClr val="202B58"/>
                          </a:solidFill>
                          <a:latin typeface="Noto Sans JP"/>
                          <a:ea typeface="Noto Sans JP"/>
                          <a:cs typeface="Noto Sans JP"/>
                        </a:rPr>
                        <a:t>11月</a:t>
                      </a:r>
                    </a:p>
                  </a:txBody>
                  <a:tcPr>
                    <a:solidFill>
                      <a:srgbClr val="FFFFFF"/>
                    </a:solidFill>
                  </a:tcPr>
                </a:tc>
                <a:tc>
                  <a:txBody>
                    <a:bodyPr/>
                    <a:lstStyle/>
                    <a:p>
                      <a:r>
                        <a:rPr sz="1575" b="0">
                          <a:solidFill>
                            <a:srgbClr val="202B58"/>
                          </a:solidFill>
                          <a:latin typeface="Noto Sans JP"/>
                          <a:ea typeface="Noto Sans JP"/>
                          <a:cs typeface="Noto Sans JP"/>
                        </a:rPr>
                        <a:t>2.663</a:t>
                      </a:r>
                    </a:p>
                  </a:txBody>
                  <a:tcPr>
                    <a:solidFill>
                      <a:srgbClr val="FFFFFF"/>
                    </a:solidFill>
                  </a:tcPr>
                </a:tc>
                <a:tc>
                  <a:txBody>
                    <a:bodyPr/>
                    <a:lstStyle/>
                    <a:p>
                      <a:r>
                        <a:rPr sz="1575" b="0">
                          <a:solidFill>
                            <a:srgbClr val="202B58"/>
                          </a:solidFill>
                          <a:latin typeface="Noto Sans JP"/>
                          <a:ea typeface="Noto Sans JP"/>
                          <a:cs typeface="Noto Sans JP"/>
                        </a:rPr>
                        <a:t>2.723</a:t>
                      </a:r>
                    </a:p>
                  </a:txBody>
                  <a:tcPr>
                    <a:solidFill>
                      <a:srgbClr val="FFFFFF"/>
                    </a:solidFill>
                  </a:tcPr>
                </a:tc>
                <a:tc>
                  <a:txBody>
                    <a:bodyPr/>
                    <a:lstStyle/>
                    <a:p>
                      <a:r>
                        <a:rPr sz="1575"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57791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DD37CD-4D05-4C7C-A35B-02596BCA910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補足：優位性を判断するための比較設計案</a:t>
            </a:r>
          </a:p>
        </p:txBody>
      </p:sp>
      <p:sp>
        <p:nvSpPr>
          <p:cNvPr id="2" name="正方形/長方形 1">
            <a:extLst>
              <a:ext uri="{FF2B5EF4-FFF2-40B4-BE49-F238E27FC236}">
                <a16:creationId xmlns:a16="http://schemas.microsoft.com/office/drawing/2014/main" id="{59F21B86-3345-428F-B2D4-DD67BE39EB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比較対象を事前に定め、同じ条件の差として効果を測る</a:t>
            </a:r>
          </a:p>
        </p:txBody>
      </p:sp>
      <p:sp>
        <p:nvSpPr>
          <p:cNvPr id="3" name="正方形/長方形 2">
            <a:extLst>
              <a:ext uri="{FF2B5EF4-FFF2-40B4-BE49-F238E27FC236}">
                <a16:creationId xmlns:a16="http://schemas.microsoft.com/office/drawing/2014/main" id="{9CD43890-6663-467F-8543-956F59F8E55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まず充電部分の改善余地を調べ、その後に配車を含む手法比較へ進む</a:t>
            </a:r>
          </a:p>
        </p:txBody>
      </p:sp>
      <p:sp>
        <p:nvSpPr>
          <p:cNvPr id="4" name="正方形/長方形 3">
            <a:extLst>
              <a:ext uri="{FF2B5EF4-FFF2-40B4-BE49-F238E27FC236}">
                <a16:creationId xmlns:a16="http://schemas.microsoft.com/office/drawing/2014/main" id="{33A206EA-43C1-400E-868F-1CF9E643F36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設計案であり未実施。対照条件・制限時間・評価指標を事前に確定する。</a:t>
            </a:r>
          </a:p>
        </p:txBody>
      </p:sp>
      <p:sp>
        <p:nvSpPr>
          <p:cNvPr id="5" name="正方形/長方形 4">
            <a:extLst>
              <a:ext uri="{FF2B5EF4-FFF2-40B4-BE49-F238E27FC236}">
                <a16:creationId xmlns:a16="http://schemas.microsoft.com/office/drawing/2014/main" id="{016C1015-6971-4A42-81CF-4CF2E93CCC80}"/>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E02DED5-852C-43C7-8522-2723A5D87BCD}"/>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23/24</a:t>
            </a:r>
          </a:p>
        </p:txBody>
      </p:sp>
      <p:graphicFrame>
        <p:nvGraphicFramePr>
          <p:cNvPr id="15" name="表 14"/>
          <p:cNvGraphicFramePr/>
          <p:nvPr/>
        </p:nvGraphicFramePr>
        <p:xfrm>
          <a:off x="571500" y="1695450"/>
          <a:ext cx="11049000" cy="2847976"/>
        </p:xfrm>
        <a:graphic>
          <a:graphicData uri="http://schemas.openxmlformats.org/drawingml/2006/table">
            <a:tbl>
              <a:tblPr/>
              <a:tblGrid>
                <a:gridCol w="3619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711994">
                <a:tc>
                  <a:txBody>
                    <a:bodyPr/>
                    <a:lstStyle/>
                    <a:p>
                      <a:r>
                        <a:rPr sz="1575" b="1">
                          <a:solidFill>
                            <a:srgbClr val="FFFFFF"/>
                          </a:solidFill>
                          <a:latin typeface="Noto Sans JP"/>
                          <a:ea typeface="Noto Sans JP"/>
                          <a:cs typeface="Noto Sans JP"/>
                        </a:rPr>
                        <a:t>検証したい問い</a:t>
                      </a:r>
                    </a:p>
                  </a:txBody>
                  <a:tcPr>
                    <a:solidFill>
                      <a:srgbClr val="202B58"/>
                    </a:solidFill>
                  </a:tcPr>
                </a:tc>
                <a:tc>
                  <a:txBody>
                    <a:bodyPr/>
                    <a:lstStyle/>
                    <a:p>
                      <a:r>
                        <a:rPr sz="1575" b="1">
                          <a:solidFill>
                            <a:srgbClr val="FFFFFF"/>
                          </a:solidFill>
                          <a:latin typeface="Noto Sans JP"/>
                          <a:ea typeface="Noto Sans JP"/>
                          <a:cs typeface="Noto Sans JP"/>
                        </a:rPr>
                        <a:t>固定する条件</a:t>
                      </a:r>
                    </a:p>
                  </a:txBody>
                  <a:tcPr>
                    <a:solidFill>
                      <a:srgbClr val="202B58"/>
                    </a:solidFill>
                  </a:tcPr>
                </a:tc>
                <a:tc>
                  <a:txBody>
                    <a:bodyPr/>
                    <a:lstStyle/>
                    <a:p>
                      <a:r>
                        <a:rPr sz="1575" b="1">
                          <a:solidFill>
                            <a:srgbClr val="FFFFFF"/>
                          </a:solidFill>
                          <a:latin typeface="Noto Sans JP"/>
                          <a:ea typeface="Noto Sans JP"/>
                          <a:cs typeface="Noto Sans JP"/>
                        </a:rPr>
                        <a:t>比較・評価するもの</a:t>
                      </a:r>
                    </a:p>
                  </a:txBody>
                  <a:tcPr>
                    <a:solidFill>
                      <a:srgbClr val="202B58"/>
                    </a:solidFill>
                  </a:tcPr>
                </a:tc>
                <a:extLst>
                  <a:ext uri="{0D108BD9-81ED-4DB2-BD59-A6C34878D82A}">
                    <a16:rowId xmlns:a16="http://schemas.microsoft.com/office/drawing/2014/main" val="10000"/>
                  </a:ext>
                </a:extLst>
              </a:tr>
              <a:tr h="711994">
                <a:tc>
                  <a:txBody>
                    <a:bodyPr/>
                    <a:lstStyle/>
                    <a:p>
                      <a:r>
                        <a:rPr sz="1575" b="0">
                          <a:solidFill>
                            <a:srgbClr val="202B58"/>
                          </a:solidFill>
                          <a:latin typeface="Noto Sans JP"/>
                          <a:ea typeface="Noto Sans JP"/>
                          <a:cs typeface="Noto Sans JP"/>
                        </a:rPr>
                        <a:t>BESSを使い超過を減らせるか</a:t>
                      </a:r>
                    </a:p>
                  </a:txBody>
                  <a:tcPr>
                    <a:solidFill>
                      <a:srgbClr val="F1F5F8"/>
                    </a:solidFill>
                  </a:tcPr>
                </a:tc>
                <a:tc>
                  <a:txBody>
                    <a:bodyPr/>
                    <a:lstStyle/>
                    <a:p>
                      <a:r>
                        <a:rPr sz="1575" b="0">
                          <a:solidFill>
                            <a:srgbClr val="202B58"/>
                          </a:solidFill>
                          <a:latin typeface="Noto Sans JP"/>
                          <a:ea typeface="Noto Sans JP"/>
                          <a:cs typeface="Noto Sans JP"/>
                        </a:rPr>
                        <a:t>同一週・同一配車・残量・設備</a:t>
                      </a:r>
                    </a:p>
                  </a:txBody>
                  <a:tcPr>
                    <a:solidFill>
                      <a:srgbClr val="F1F5F8"/>
                    </a:solidFill>
                  </a:tcPr>
                </a:tc>
                <a:tc>
                  <a:txBody>
                    <a:bodyPr/>
                    <a:lstStyle/>
                    <a:p>
                      <a:r>
                        <a:rPr sz="1575" b="0">
                          <a:solidFill>
                            <a:srgbClr val="202B58"/>
                          </a:solidFill>
                          <a:latin typeface="Noto Sans JP"/>
                          <a:ea typeface="Noto Sans JP"/>
                          <a:cs typeface="Noto Sans JP"/>
                        </a:rPr>
                        <a:t>基準の充電規則と候補計画</a:t>
                      </a:r>
                    </a:p>
                  </a:txBody>
                  <a:tcPr>
                    <a:solidFill>
                      <a:srgbClr val="F1F5F8"/>
                    </a:solidFill>
                  </a:tcPr>
                </a:tc>
                <a:extLst>
                  <a:ext uri="{0D108BD9-81ED-4DB2-BD59-A6C34878D82A}">
                    <a16:rowId xmlns:a16="http://schemas.microsoft.com/office/drawing/2014/main" val="10001"/>
                  </a:ext>
                </a:extLst>
              </a:tr>
              <a:tr h="711994">
                <a:tc>
                  <a:txBody>
                    <a:bodyPr/>
                    <a:lstStyle/>
                    <a:p>
                      <a:r>
                        <a:rPr sz="1575" b="0">
                          <a:solidFill>
                            <a:srgbClr val="202B58"/>
                          </a:solidFill>
                          <a:latin typeface="Noto Sans JP"/>
                          <a:ea typeface="Noto Sans JP"/>
                          <a:cs typeface="Noto Sans JP"/>
                        </a:rPr>
                        <a:t>配車を含む手法は有用か</a:t>
                      </a:r>
                    </a:p>
                  </a:txBody>
                  <a:tcPr>
                    <a:solidFill>
                      <a:srgbClr val="FFFFFF"/>
                    </a:solidFill>
                  </a:tcPr>
                </a:tc>
                <a:tc>
                  <a:txBody>
                    <a:bodyPr/>
                    <a:lstStyle/>
                    <a:p>
                      <a:r>
                        <a:rPr sz="1575" b="0">
                          <a:solidFill>
                            <a:srgbClr val="202B58"/>
                          </a:solidFill>
                          <a:latin typeface="Noto Sans JP"/>
                          <a:ea typeface="Noto Sans JP"/>
                          <a:cs typeface="Noto Sans JP"/>
                        </a:rPr>
                        <a:t>同一入力・料金・計算予算</a:t>
                      </a:r>
                    </a:p>
                  </a:txBody>
                  <a:tcPr>
                    <a:solidFill>
                      <a:srgbClr val="FFFFFF"/>
                    </a:solidFill>
                  </a:tcPr>
                </a:tc>
                <a:tc>
                  <a:txBody>
                    <a:bodyPr/>
                    <a:lstStyle/>
                    <a:p>
                      <a:r>
                        <a:rPr sz="1575" b="0">
                          <a:solidFill>
                            <a:srgbClr val="202B58"/>
                          </a:solidFill>
                          <a:latin typeface="Noto Sans JP"/>
                          <a:ea typeface="Noto Sans JP"/>
                          <a:cs typeface="Noto Sans JP"/>
                        </a:rPr>
                        <a:t>基準手法との差額と成立率</a:t>
                      </a:r>
                    </a:p>
                  </a:txBody>
                  <a:tcPr>
                    <a:solidFill>
                      <a:srgbClr val="FFFFFF"/>
                    </a:solidFill>
                  </a:tcPr>
                </a:tc>
                <a:extLst>
                  <a:ext uri="{0D108BD9-81ED-4DB2-BD59-A6C34878D82A}">
                    <a16:rowId xmlns:a16="http://schemas.microsoft.com/office/drawing/2014/main" val="10002"/>
                  </a:ext>
                </a:extLst>
              </a:tr>
              <a:tr h="711994">
                <a:tc>
                  <a:txBody>
                    <a:bodyPr/>
                    <a:lstStyle/>
                    <a:p>
                      <a:r>
                        <a:rPr sz="1575" b="0">
                          <a:solidFill>
                            <a:srgbClr val="202B58"/>
                          </a:solidFill>
                          <a:latin typeface="Noto Sans JP"/>
                          <a:ea typeface="Noto Sans JP"/>
                          <a:cs typeface="Noto Sans JP"/>
                        </a:rPr>
                        <a:t>別の時期でも効果があるか</a:t>
                      </a:r>
                    </a:p>
                  </a:txBody>
                  <a:tcPr>
                    <a:solidFill>
                      <a:srgbClr val="F1F5F8"/>
                    </a:solidFill>
                  </a:tcPr>
                </a:tc>
                <a:tc>
                  <a:txBody>
                    <a:bodyPr/>
                    <a:lstStyle/>
                    <a:p>
                      <a:r>
                        <a:rPr sz="1575" b="0">
                          <a:solidFill>
                            <a:srgbClr val="202B58"/>
                          </a:solidFill>
                          <a:latin typeface="Noto Sans JP"/>
                          <a:ea typeface="Noto Sans JP"/>
                          <a:cs typeface="Noto Sans JP"/>
                        </a:rPr>
                        <a:t>週選択規則・評価指標</a:t>
                      </a:r>
                    </a:p>
                  </a:txBody>
                  <a:tcPr>
                    <a:solidFill>
                      <a:srgbClr val="F1F5F8"/>
                    </a:solidFill>
                  </a:tcPr>
                </a:tc>
                <a:tc>
                  <a:txBody>
                    <a:bodyPr/>
                    <a:lstStyle/>
                    <a:p>
                      <a:r>
                        <a:rPr sz="1575" b="0">
                          <a:solidFill>
                            <a:srgbClr val="202B58"/>
                          </a:solidFill>
                          <a:latin typeface="Noto Sans JP"/>
                          <a:ea typeface="Noto Sans JP"/>
                          <a:cs typeface="Noto Sans JP"/>
                        </a:rPr>
                        <a:t>複数週／年の差とばらつき</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7D307F82-6192-43E7-B181-948D46156956}"/>
              </a:ext>
            </a:extLst>
          </p:cNvPr>
          <p:cNvSpPr>
            <a:spLocks noGrp="1"/>
          </p:cNvSpPr>
          <p:nvPr/>
        </p:nvSpPr>
        <p:spPr>
          <a:xfrm>
            <a:off x="685800" y="4972050"/>
            <a:ext cx="10763250" cy="45720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共通の評価：全便運行、電池・設備制約、週間費用、受電ピーク、在庫差、計算時間</a:t>
            </a:r>
          </a:p>
        </p:txBody>
      </p:sp>
    </p:spTree>
    <p:extLst>
      <p:ext uri="{BB962C8B-B14F-4D97-AF65-F5344CB8AC3E}">
        <p14:creationId xmlns:p14="http://schemas.microsoft.com/office/powerpoint/2010/main" val="2143389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7F6E7D8-31DE-45C6-A5D4-FC67271BB7B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補足：研究上の位置付けと出典</a:t>
            </a:r>
          </a:p>
        </p:txBody>
      </p:sp>
      <p:sp>
        <p:nvSpPr>
          <p:cNvPr id="2" name="正方形/長方形 1">
            <a:extLst>
              <a:ext uri="{FF2B5EF4-FFF2-40B4-BE49-F238E27FC236}">
                <a16:creationId xmlns:a16="http://schemas.microsoft.com/office/drawing/2014/main" id="{DF53288A-FA0C-412A-B976-5E9CDBE7222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診断結果として報告し、採用に必要な確認を残さず記載</a:t>
            </a:r>
          </a:p>
        </p:txBody>
      </p:sp>
      <p:sp>
        <p:nvSpPr>
          <p:cNvPr id="3" name="正方形/長方形 2">
            <a:extLst>
              <a:ext uri="{FF2B5EF4-FFF2-40B4-BE49-F238E27FC236}">
                <a16:creationId xmlns:a16="http://schemas.microsoft.com/office/drawing/2014/main" id="{FF833D05-CC61-45D0-A0FA-FC7FD503D3B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結果の整合を確認したことと、研究成果として承認されたことを分ける</a:t>
            </a:r>
          </a:p>
        </p:txBody>
      </p:sp>
      <p:sp>
        <p:nvSpPr>
          <p:cNvPr id="4" name="正方形/長方形 3">
            <a:extLst>
              <a:ext uri="{FF2B5EF4-FFF2-40B4-BE49-F238E27FC236}">
                <a16:creationId xmlns:a16="http://schemas.microsoft.com/office/drawing/2014/main" id="{EACD53AF-398F-499D-B7B5-0224FC44A54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DIAGNOSTIC / NOT USED FOR RESEARCH CONCLUSIONS。研究採用はBLOCKED。</a:t>
            </a:r>
          </a:p>
        </p:txBody>
      </p:sp>
      <p:sp>
        <p:nvSpPr>
          <p:cNvPr id="5" name="正方形/長方形 4">
            <a:extLst>
              <a:ext uri="{FF2B5EF4-FFF2-40B4-BE49-F238E27FC236}">
                <a16:creationId xmlns:a16="http://schemas.microsoft.com/office/drawing/2014/main" id="{4F70FD5D-9121-41DE-8032-8A55FD55CA87}"/>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53150B-105B-4CC7-9C70-6A0D9462D23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24/24</a:t>
            </a:r>
          </a:p>
        </p:txBody>
      </p:sp>
      <p:graphicFrame>
        <p:nvGraphicFramePr>
          <p:cNvPr id="15" name="表 14"/>
          <p:cNvGraphicFramePr/>
          <p:nvPr/>
        </p:nvGraphicFramePr>
        <p:xfrm>
          <a:off x="571500" y="1695450"/>
          <a:ext cx="11049000" cy="2714625"/>
        </p:xfrm>
        <a:graphic>
          <a:graphicData uri="http://schemas.openxmlformats.org/drawingml/2006/table">
            <a:tbl>
              <a:tblPr/>
              <a:tblGrid>
                <a:gridCol w="35242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42925">
                <a:tc>
                  <a:txBody>
                    <a:bodyPr/>
                    <a:lstStyle/>
                    <a:p>
                      <a:r>
                        <a:rPr sz="1575" b="1">
                          <a:solidFill>
                            <a:srgbClr val="FFFFFF"/>
                          </a:solidFill>
                          <a:latin typeface="Noto Sans JP"/>
                          <a:ea typeface="Noto Sans JP"/>
                          <a:cs typeface="Noto Sans JP"/>
                        </a:rPr>
                        <a:t>採用に向けた未完了項目</a:t>
                      </a:r>
                    </a:p>
                  </a:txBody>
                  <a:tcPr>
                    <a:solidFill>
                      <a:srgbClr val="202B58"/>
                    </a:solidFill>
                  </a:tcPr>
                </a:tc>
                <a:tc>
                  <a:txBody>
                    <a:bodyPr/>
                    <a:lstStyle/>
                    <a:p>
                      <a:r>
                        <a:rPr sz="1575" b="1">
                          <a:solidFill>
                            <a:srgbClr val="FFFFFF"/>
                          </a:solidFill>
                          <a:latin typeface="Noto Sans JP"/>
                          <a:ea typeface="Noto Sans JP"/>
                          <a:cs typeface="Noto Sans JP"/>
                        </a:rPr>
                        <a:t>現在の位置付け</a:t>
                      </a:r>
                    </a:p>
                  </a:txBody>
                  <a:tcPr>
                    <a:solidFill>
                      <a:srgbClr val="202B58"/>
                    </a:solidFill>
                  </a:tcPr>
                </a:tc>
                <a:extLst>
                  <a:ext uri="{0D108BD9-81ED-4DB2-BD59-A6C34878D82A}">
                    <a16:rowId xmlns:a16="http://schemas.microsoft.com/office/drawing/2014/main" val="10000"/>
                  </a:ext>
                </a:extLst>
              </a:tr>
              <a:tr h="542925">
                <a:tc>
                  <a:txBody>
                    <a:bodyPr/>
                    <a:lstStyle/>
                    <a:p>
                      <a:r>
                        <a:rPr sz="1575" b="0">
                          <a:solidFill>
                            <a:srgbClr val="202B58"/>
                          </a:solidFill>
                          <a:latin typeface="Noto Sans JP"/>
                          <a:ea typeface="Noto Sans JP"/>
                          <a:cs typeface="Noto Sans JP"/>
                        </a:rPr>
                        <a:t>最適性</a:t>
                      </a:r>
                    </a:p>
                  </a:txBody>
                  <a:tcPr>
                    <a:solidFill>
                      <a:srgbClr val="F1F5F8"/>
                    </a:solidFill>
                  </a:tcPr>
                </a:tc>
                <a:tc>
                  <a:txBody>
                    <a:bodyPr/>
                    <a:lstStyle/>
                    <a:p>
                      <a:r>
                        <a:rPr sz="1575" b="0">
                          <a:solidFill>
                            <a:srgbClr val="202B58"/>
                          </a:solidFill>
                          <a:latin typeface="Noto Sans JP"/>
                          <a:ea typeface="Noto Sans JP"/>
                          <a:cs typeface="Noto Sans JP"/>
                        </a:rPr>
                        <a:t>配車gapは3月84.6%・11月85.2%、目標10%未達</a:t>
                      </a:r>
                    </a:p>
                  </a:txBody>
                  <a:tcPr>
                    <a:solidFill>
                      <a:srgbClr val="F1F5F8"/>
                    </a:solidFill>
                  </a:tcPr>
                </a:tc>
                <a:extLst>
                  <a:ext uri="{0D108BD9-81ED-4DB2-BD59-A6C34878D82A}">
                    <a16:rowId xmlns:a16="http://schemas.microsoft.com/office/drawing/2014/main" val="10001"/>
                  </a:ext>
                </a:extLst>
              </a:tr>
              <a:tr h="542925">
                <a:tc>
                  <a:txBody>
                    <a:bodyPr/>
                    <a:lstStyle/>
                    <a:p>
                      <a:r>
                        <a:rPr sz="1575" b="0">
                          <a:solidFill>
                            <a:srgbClr val="202B58"/>
                          </a:solidFill>
                          <a:latin typeface="Noto Sans JP"/>
                          <a:ea typeface="Noto Sans JP"/>
                          <a:cs typeface="Noto Sans JP"/>
                        </a:rPr>
                        <a:t>解法全体の保証</a:t>
                      </a:r>
                    </a:p>
                  </a:txBody>
                  <a:tcPr>
                    <a:solidFill>
                      <a:srgbClr val="FFFFFF"/>
                    </a:solidFill>
                  </a:tcPr>
                </a:tc>
                <a:tc>
                  <a:txBody>
                    <a:bodyPr/>
                    <a:lstStyle/>
                    <a:p>
                      <a:r>
                        <a:rPr sz="1575" b="0">
                          <a:solidFill>
                            <a:srgbClr val="202B58"/>
                          </a:solidFill>
                          <a:latin typeface="Noto Sans JP"/>
                          <a:ea typeface="Noto Sans JP"/>
                          <a:cs typeface="Noto Sans JP"/>
                        </a:rPr>
                        <a:t>配車と充電を統合した全体最適性は未証明</a:t>
                      </a:r>
                    </a:p>
                  </a:txBody>
                  <a:tcPr>
                    <a:solidFill>
                      <a:srgbClr val="FFFFFF"/>
                    </a:solidFill>
                  </a:tcPr>
                </a:tc>
                <a:extLst>
                  <a:ext uri="{0D108BD9-81ED-4DB2-BD59-A6C34878D82A}">
                    <a16:rowId xmlns:a16="http://schemas.microsoft.com/office/drawing/2014/main" val="10002"/>
                  </a:ext>
                </a:extLst>
              </a:tr>
              <a:tr h="542925">
                <a:tc>
                  <a:txBody>
                    <a:bodyPr/>
                    <a:lstStyle/>
                    <a:p>
                      <a:r>
                        <a:rPr sz="1575" b="0">
                          <a:solidFill>
                            <a:srgbClr val="202B58"/>
                          </a:solidFill>
                          <a:latin typeface="Noto Sans JP"/>
                          <a:ea typeface="Noto Sans JP"/>
                          <a:cs typeface="Noto Sans JP"/>
                        </a:rPr>
                        <a:t>入力・証拠の正式確認</a:t>
                      </a:r>
                    </a:p>
                  </a:txBody>
                  <a:tcPr>
                    <a:solidFill>
                      <a:srgbClr val="F1F5F8"/>
                    </a:solidFill>
                  </a:tcPr>
                </a:tc>
                <a:tc>
                  <a:txBody>
                    <a:bodyPr/>
                    <a:lstStyle/>
                    <a:p>
                      <a:r>
                        <a:rPr sz="1575" b="0">
                          <a:solidFill>
                            <a:srgbClr val="202B58"/>
                          </a:solidFill>
                          <a:latin typeface="Noto Sans JP"/>
                          <a:ea typeface="Noto Sans JP"/>
                          <a:cs typeface="Noto Sans JP"/>
                        </a:rPr>
                        <a:t>正式な車両来歴契約、過去資料2件の証拠整合が未解決</a:t>
                      </a:r>
                    </a:p>
                  </a:txBody>
                  <a:tcPr>
                    <a:solidFill>
                      <a:srgbClr val="F1F5F8"/>
                    </a:solidFill>
                  </a:tcPr>
                </a:tc>
                <a:extLst>
                  <a:ext uri="{0D108BD9-81ED-4DB2-BD59-A6C34878D82A}">
                    <a16:rowId xmlns:a16="http://schemas.microsoft.com/office/drawing/2014/main" val="10003"/>
                  </a:ext>
                </a:extLst>
              </a:tr>
              <a:tr h="542925">
                <a:tc>
                  <a:txBody>
                    <a:bodyPr/>
                    <a:lstStyle/>
                    <a:p>
                      <a:r>
                        <a:rPr sz="1575" b="0">
                          <a:solidFill>
                            <a:srgbClr val="202B58"/>
                          </a:solidFill>
                          <a:latin typeface="Noto Sans JP"/>
                          <a:ea typeface="Noto Sans JP"/>
                          <a:cs typeface="Noto Sans JP"/>
                        </a:rPr>
                        <a:t>一般化・比較評価</a:t>
                      </a:r>
                    </a:p>
                  </a:txBody>
                  <a:tcPr>
                    <a:solidFill>
                      <a:srgbClr val="FFFFFF"/>
                    </a:solidFill>
                  </a:tcPr>
                </a:tc>
                <a:tc>
                  <a:txBody>
                    <a:bodyPr/>
                    <a:lstStyle/>
                    <a:p>
                      <a:r>
                        <a:rPr sz="1575" b="0">
                          <a:solidFill>
                            <a:srgbClr val="202B58"/>
                          </a:solidFill>
                          <a:latin typeface="Noto Sans JP"/>
                          <a:ea typeface="Noto Sans JP"/>
                          <a:cs typeface="Noto Sans JP"/>
                        </a:rPr>
                        <a:t>代理距離・月1週・対照実験なし。独立承認は未取得</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1D0FB06-63C2-4FAA-8C75-C2686707614C}"/>
              </a:ext>
            </a:extLst>
          </p:cNvPr>
          <p:cNvSpPr>
            <a:spLocks noGrp="1"/>
          </p:cNvSpPr>
          <p:nvPr/>
        </p:nvSpPr>
        <p:spPr>
          <a:xfrm>
            <a:off x="609600" y="4676775"/>
            <a:ext cx="10858500" cy="771525"/>
          </a:xfrm>
          <a:prstGeom prst="rect">
            <a:avLst/>
          </a:prstGeom>
          <a:noFill/>
          <a:ln w="0">
            <a:noFill/>
          </a:ln>
        </p:spPr>
        <p:txBody>
          <a:bodyPr>
            <a:noAutofit/>
          </a:bodyPr>
          <a:lstStyle/>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主結果：SHIBU21_23_MONTHLY_PHASE_SEARCH_RESULTS_20260915.json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15分データ：outcome/2026-09-18_urabe_followup/analysis.json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各ページのノートと同梱の説明書に、出典・定義・想定問答を記載。</a:t>
            </a:r>
          </a:p>
        </p:txBody>
      </p:sp>
    </p:spTree>
    <p:extLst>
      <p:ext uri="{BB962C8B-B14F-4D97-AF65-F5344CB8AC3E}">
        <p14:creationId xmlns:p14="http://schemas.microsoft.com/office/powerpoint/2010/main" val="2142711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6134</Words>
  <Application>Microsoft Office PowerPoint</Application>
  <DocSecurity>0</DocSecurity>
  <PresentationFormat>ワイド画面</PresentationFormat>
  <Paragraphs>835</Paragraphs>
  <Slides>30</Slides>
  <Notes>30</Notes>
  <HiddenSlides>24</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30</vt:i4>
      </vt:variant>
    </vt:vector>
  </HeadingPairs>
  <TitlesOfParts>
    <vt:vector size="34" baseType="lpstr">
      <vt:lpstr>Noto Sans CJK JP</vt: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2</cp:revision>
  <dcterms:created xsi:type="dcterms:W3CDTF">2026-09-18T05:45:11Z</dcterms:created>
  <dcterms:modified xsi:type="dcterms:W3CDTF">2026-09-27T14:46:20Z</dcterms:modified>
</cp:coreProperties>
</file>