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2.xml" ContentType="application/vnd.openxmlformats-officedocument.drawingml.chart+xml"/>
  <Override PartName="/ppt/charts/chart3.xml" ContentType="application/vnd.openxmlformats-officedocument.drawingml.chart+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rts/chart4.xml" ContentType="application/vnd.openxmlformats-officedocument.drawingml.chart+xml"/>
  <Override PartName="/ppt/notesSlides/notesSlide17.xml" ContentType="application/vnd.openxmlformats-officedocument.presentationml.notesSlide+xml"/>
  <Override PartName="/ppt/charts/chart5.xml" ContentType="application/vnd.openxmlformats-officedocument.drawingml.chart+xml"/>
  <Override PartName="/ppt/notesSlides/notesSlide18.xml" ContentType="application/vnd.openxmlformats-officedocument.presentationml.notesSlide+xml"/>
  <Override PartName="/ppt/charts/chart6.xml" ContentType="application/vnd.openxmlformats-officedocument.drawingml.chart+xml"/>
  <Override PartName="/ppt/charts/chart7.xml" ContentType="application/vnd.openxmlformats-officedocument.drawingml.chart+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rts/chart8.xml" ContentType="application/vnd.openxmlformats-officedocument.drawingml.chart+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2"/>
  </p:notesMasterIdLst>
  <p:sldIdLst>
    <p:sldId id="280" r:id="rId2"/>
    <p:sldId id="281" r:id="rId3"/>
    <p:sldId id="282" r:id="rId4"/>
    <p:sldId id="283" r:id="rId5"/>
    <p:sldId id="284" r:id="rId6"/>
    <p:sldId id="285" r:id="rId7"/>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4" d="100"/>
          <a:sy n="104" d="100"/>
        </p:scale>
        <p:origin x="83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barChart>
        <c:barDir val="col"/>
        <c:grouping val="clustered"/>
        <c:varyColors val="0"/>
        <c:ser>
          <c:idx val="0"/>
          <c:order val="0"/>
          <c:tx>
            <c:v>購入電力量</c:v>
          </c:tx>
          <c:spPr>
            <a:solidFill>
              <a:srgbClr val="287CB2"/>
            </a:solidFill>
          </c:spPr>
          <c:invertIfNegative val="1"/>
          <c:cat>
            <c:strRef>
              <c:f>'Chart Data'!$A$2:$A$12</c:f>
              <c:strCache>
                <c:ptCount val="11"/>
                <c:pt idx="0">
                  <c:v>1月</c:v>
                </c:pt>
                <c:pt idx="1">
                  <c:v>2月</c:v>
                </c:pt>
                <c:pt idx="2">
                  <c:v>3月</c:v>
                </c:pt>
                <c:pt idx="3">
                  <c:v>4月</c:v>
                </c:pt>
                <c:pt idx="4">
                  <c:v>5月</c:v>
                </c:pt>
                <c:pt idx="5">
                  <c:v>6月</c:v>
                </c:pt>
                <c:pt idx="6">
                  <c:v>7月</c:v>
                </c:pt>
                <c:pt idx="7">
                  <c:v>8月</c:v>
                </c:pt>
                <c:pt idx="8">
                  <c:v>9月</c:v>
                </c:pt>
                <c:pt idx="9">
                  <c:v>10月</c:v>
                </c:pt>
                <c:pt idx="10">
                  <c:v>12月</c:v>
                </c:pt>
              </c:strCache>
            </c:strRef>
          </c:cat>
          <c:val>
            <c:numRef>
              <c:f>'Chart Data'!$B$2:$B$12</c:f>
              <c:numCache>
                <c:formatCode>0</c:formatCode>
                <c:ptCount val="11"/>
                <c:pt idx="0">
                  <c:v>6.596368</c:v>
                </c:pt>
                <c:pt idx="1">
                  <c:v>3.6882160000000002</c:v>
                </c:pt>
                <c:pt idx="2">
                  <c:v>10.178226</c:v>
                </c:pt>
                <c:pt idx="3">
                  <c:v>1.6325989999999999</c:v>
                </c:pt>
                <c:pt idx="4">
                  <c:v>3.5132500000000002</c:v>
                </c:pt>
                <c:pt idx="5">
                  <c:v>2.4293529999999999</c:v>
                </c:pt>
                <c:pt idx="6">
                  <c:v>0.87549299999999997</c:v>
                </c:pt>
                <c:pt idx="7">
                  <c:v>0.33728200000000003</c:v>
                </c:pt>
                <c:pt idx="8">
                  <c:v>3.8188870000000001</c:v>
                </c:pt>
                <c:pt idx="9">
                  <c:v>5.5498770000000004</c:v>
                </c:pt>
                <c:pt idx="10">
                  <c:v>6.961824</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9EDD-4A9A-B02C-7C0B9ED92112}"/>
            </c:ext>
          </c:extLst>
        </c:ser>
        <c:ser>
          <c:idx val="1"/>
          <c:order val="1"/>
          <c:tx>
            <c:v>PV供給可能量</c:v>
          </c:tx>
          <c:spPr>
            <a:solidFill>
              <a:srgbClr val="E4AD32"/>
            </a:solidFill>
          </c:spPr>
          <c:invertIfNegative val="1"/>
          <c:cat>
            <c:strRef>
              <c:f>'Chart Data'!$C$2:$C$12</c:f>
              <c:strCache>
                <c:ptCount val="11"/>
                <c:pt idx="0">
                  <c:v>1月</c:v>
                </c:pt>
                <c:pt idx="1">
                  <c:v>2月</c:v>
                </c:pt>
                <c:pt idx="2">
                  <c:v>3月</c:v>
                </c:pt>
                <c:pt idx="3">
                  <c:v>4月</c:v>
                </c:pt>
                <c:pt idx="4">
                  <c:v>5月</c:v>
                </c:pt>
                <c:pt idx="5">
                  <c:v>6月</c:v>
                </c:pt>
                <c:pt idx="6">
                  <c:v>7月</c:v>
                </c:pt>
                <c:pt idx="7">
                  <c:v>8月</c:v>
                </c:pt>
                <c:pt idx="8">
                  <c:v>9月</c:v>
                </c:pt>
                <c:pt idx="9">
                  <c:v>10月</c:v>
                </c:pt>
                <c:pt idx="10">
                  <c:v>12月</c:v>
                </c:pt>
              </c:strCache>
            </c:strRef>
          </c:cat>
          <c:val>
            <c:numRef>
              <c:f>'Chart Data'!$D$2:$D$12</c:f>
              <c:numCache>
                <c:formatCode>0</c:formatCode>
                <c:ptCount val="11"/>
                <c:pt idx="0">
                  <c:v>15.703537000000001</c:v>
                </c:pt>
                <c:pt idx="1">
                  <c:v>21.340737000000001</c:v>
                </c:pt>
                <c:pt idx="2">
                  <c:v>14.855874999999999</c:v>
                </c:pt>
                <c:pt idx="3">
                  <c:v>26.357437000000001</c:v>
                </c:pt>
                <c:pt idx="4">
                  <c:v>26.638574999999999</c:v>
                </c:pt>
                <c:pt idx="5">
                  <c:v>31.601513000000001</c:v>
                </c:pt>
                <c:pt idx="6">
                  <c:v>32.054986999999997</c:v>
                </c:pt>
                <c:pt idx="7">
                  <c:v>30.559411999999998</c:v>
                </c:pt>
                <c:pt idx="8">
                  <c:v>27.782250000000001</c:v>
                </c:pt>
                <c:pt idx="9">
                  <c:v>17.270724999999999</c:v>
                </c:pt>
                <c:pt idx="10">
                  <c:v>15.595587</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9EDD-4A9A-B02C-7C0B9ED92112}"/>
            </c:ext>
          </c:extLst>
        </c:ser>
        <c:dLbls>
          <c:showLegendKey val="0"/>
          <c:showVal val="0"/>
          <c:showCatName val="0"/>
          <c:showSerName val="0"/>
          <c:showPercent val="0"/>
          <c:showBubbleSize val="0"/>
        </c:dLbls>
        <c:gapWidth val="15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a:solidFill>
                  <a:srgbClr val="666666"/>
                </a:solidFill>
                <a:latin typeface="Noto Sans JP"/>
                <a:ea typeface="Noto Sans JP"/>
                <a:cs typeface="Noto Sans JP"/>
              </a:defRPr>
            </a:pPr>
            <a:endParaRPr lang="ja-JP"/>
          </a:p>
        </c:txPr>
        <c:crossAx val="48672768"/>
        <c:crosses val="autoZero"/>
        <c:auto val="1"/>
        <c:lblAlgn val="ctr"/>
        <c:lblOffset val="100"/>
        <c:noMultiLvlLbl val="1"/>
      </c:catAx>
      <c:valAx>
        <c:axId val="48672768"/>
        <c:scaling>
          <c:orientation val="minMax"/>
        </c:scaling>
        <c:delete val="0"/>
        <c:axPos val="l"/>
        <c:numFmt formatCode="0" sourceLinked="1"/>
        <c:majorTickMark val="none"/>
        <c:minorTickMark val="none"/>
        <c:tickLblPos val="nextTo"/>
        <c:spPr>
          <a:ln w="9525">
            <a:solidFill>
              <a:srgbClr val="D4D4D4"/>
            </a:solidFill>
            <a:prstDash val="solid"/>
          </a:ln>
        </c:spPr>
        <c:txPr>
          <a:bodyPr anchorCtr="1"/>
          <a:lstStyle/>
          <a:p>
            <a:pPr>
              <a:defRPr>
                <a:solidFill>
                  <a:srgbClr val="666666"/>
                </a:solidFill>
                <a:latin typeface="Noto Sans JP"/>
                <a:ea typeface="Noto Sans JP"/>
                <a:cs typeface="Noto Sans JP"/>
              </a:defRPr>
            </a:pPr>
            <a:endParaRPr lang="ja-JP"/>
          </a:p>
        </c:txPr>
        <c:crossAx val="48650112"/>
        <c:crosses val="autoZero"/>
        <c:crossBetween val="between"/>
      </c:valAx>
    </c:plotArea>
    <c:legend>
      <c:legendPos val="b"/>
      <c:overlay val="0"/>
      <c:txPr>
        <a:bodyPr anchorCtr="1"/>
        <a:lstStyle/>
        <a:p>
          <a:pPr>
            <a:defRPr>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title>
      <c:tx>
        <c:rich>
          <a:bodyPr/>
          <a:lstStyle/>
          <a:p>
            <a:r>
              <a:rPr lang="en-US" altLang="ja-JP" sz="1725" b="1">
                <a:solidFill>
                  <a:srgbClr val="202B58"/>
                </a:solidFill>
                <a:latin typeface="Noto Sans JP"/>
                <a:ea typeface="Noto Sans JP"/>
                <a:cs typeface="Noto Sans JP"/>
              </a:rPr>
              <a:t>PV</a:t>
            </a:r>
            <a:r>
              <a:rPr lang="ja-JP" altLang="en-US" sz="1725" b="1">
                <a:solidFill>
                  <a:srgbClr val="202B58"/>
                </a:solidFill>
                <a:latin typeface="Noto Sans JP"/>
                <a:ea typeface="Noto Sans JP"/>
                <a:cs typeface="Noto Sans JP"/>
              </a:rPr>
              <a:t>発電の行き先</a:t>
            </a:r>
          </a:p>
        </c:rich>
      </c:tx>
      <c:overlay val="0"/>
    </c:title>
    <c:autoTitleDeleted val="0"/>
    <c:plotArea>
      <c:layout/>
      <c:barChart>
        <c:barDir val="col"/>
        <c:grouping val="stacked"/>
        <c:varyColors val="0"/>
        <c:ser>
          <c:idx val="0"/>
          <c:order val="0"/>
          <c:tx>
            <c:v>バスへ直接</c:v>
          </c:tx>
          <c:spPr>
            <a:solidFill>
              <a:srgbClr val="159A8C"/>
            </a:solidFill>
            <a:ln w="0">
              <a:solidFill>
                <a:srgbClr val="159A8C"/>
              </a:solidFill>
            </a:ln>
          </c:spPr>
          <c:invertIfNegative val="1"/>
          <c:cat>
            <c:strRef>
              <c:f>'Chart Data'!$A$2:$A$13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'Chart Data'!$B$2:$B$13</c:f>
              <c:numCache>
                <c:formatCode>0</c:formatCode>
                <c:ptCount val="12"/>
                <c:pt idx="0">
                  <c:v>2.1010610000000001</c:v>
                </c:pt>
                <c:pt idx="1">
                  <c:v>1.892601</c:v>
                </c:pt>
                <c:pt idx="2">
                  <c:v>2.428499</c:v>
                </c:pt>
                <c:pt idx="3">
                  <c:v>1.2934909999999999</c:v>
                </c:pt>
                <c:pt idx="4">
                  <c:v>2.9059710000000001</c:v>
                </c:pt>
                <c:pt idx="5">
                  <c:v>3.0009809999999999</c:v>
                </c:pt>
                <c:pt idx="6">
                  <c:v>2.261012</c:v>
                </c:pt>
                <c:pt idx="7">
                  <c:v>2.1494930000000001</c:v>
                </c:pt>
                <c:pt idx="8">
                  <c:v>2.7684419999999998</c:v>
                </c:pt>
                <c:pt idx="9">
                  <c:v>2.6209370000000001</c:v>
                </c:pt>
                <c:pt idx="10">
                  <c:v>2.4314969999999998</c:v>
                </c:pt>
                <c:pt idx="11">
                  <c:v>2.1157910000000002</c:v>
                </c:pt>
              </c:numCache>
            </c:numRef>
          </c:val>
          <c:extLst>
            <c:ext xmlns:c14="http://schemas.microsoft.com/office/drawing/2007/8/2/chart" uri="{6F2FDCE9-48DA-4B69-8628-5D25D57E5C99}">
              <c14:invertSolidFillFmt>
                <c14:spPr xmlns:c14="http://schemas.microsoft.com/office/drawing/2007/8/2/chart">
                  <a:solidFill>
                    <a:srgbClr val="FFFFFF"/>
                  </a:solidFill>
                  <a:ln w="0">
                    <a:solidFill>
                      <a:srgbClr val="159A8C"/>
                    </a:solidFill>
                  </a:ln>
                </c14:spPr>
              </c14:invertSolidFillFmt>
            </c:ext>
            <c:ext xmlns:c16="http://schemas.microsoft.com/office/drawing/2014/chart" uri="{C3380CC4-5D6E-409C-BE32-E72D297353CC}">
              <c16:uniqueId val="{00000000-D7F3-4FE4-B28D-9620390B1364}"/>
            </c:ext>
          </c:extLst>
        </c:ser>
        <c:ser>
          <c:idx val="1"/>
          <c:order val="1"/>
          <c:tx>
            <c:v>BESSへ充電</c:v>
          </c:tx>
          <c:spPr>
            <a:solidFill>
              <a:srgbClr val="8BBDA8"/>
            </a:solidFill>
            <a:ln w="0">
              <a:solidFill>
                <a:srgbClr val="8BBDA8"/>
              </a:solidFill>
            </a:ln>
          </c:spPr>
          <c:invertIfNegative val="1"/>
          <c:cat>
            <c:strRef>
              <c:f>'Chart Data'!$C$2:$C$13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'Chart Data'!$D$2:$D$13</c:f>
              <c:numCache>
                <c:formatCode>0</c:formatCode>
                <c:ptCount val="12"/>
                <c:pt idx="0">
                  <c:v>11.559010000000001</c:v>
                </c:pt>
                <c:pt idx="1">
                  <c:v>15.702211999999999</c:v>
                </c:pt>
                <c:pt idx="2">
                  <c:v>8.8243329999999993</c:v>
                </c:pt>
                <c:pt idx="3">
                  <c:v>15.488135</c:v>
                </c:pt>
                <c:pt idx="4">
                  <c:v>12.5291</c:v>
                </c:pt>
                <c:pt idx="5">
                  <c:v>13.728068</c:v>
                </c:pt>
                <c:pt idx="6">
                  <c:v>15.635232999999999</c:v>
                </c:pt>
                <c:pt idx="7">
                  <c:v>14.715045</c:v>
                </c:pt>
                <c:pt idx="8">
                  <c:v>13.06038</c:v>
                </c:pt>
                <c:pt idx="9">
                  <c:v>12.453913</c:v>
                </c:pt>
                <c:pt idx="10">
                  <c:v>9.4824669999999998</c:v>
                </c:pt>
                <c:pt idx="11">
                  <c:v>11.403618</c:v>
                </c:pt>
              </c:numCache>
            </c:numRef>
          </c:val>
          <c:extLst>
            <c:ext xmlns:c14="http://schemas.microsoft.com/office/drawing/2007/8/2/chart" uri="{6F2FDCE9-48DA-4B69-8628-5D25D57E5C99}">
              <c14:invertSolidFillFmt>
                <c14:spPr xmlns:c14="http://schemas.microsoft.com/office/drawing/2007/8/2/chart">
                  <a:solidFill>
                    <a:srgbClr val="FFFFFF"/>
                  </a:solidFill>
                  <a:ln w="0">
                    <a:solidFill>
                      <a:srgbClr val="8BBDA8"/>
                    </a:solidFill>
                  </a:ln>
                </c14:spPr>
              </c14:invertSolidFillFmt>
            </c:ext>
            <c:ext xmlns:c16="http://schemas.microsoft.com/office/drawing/2014/chart" uri="{C3380CC4-5D6E-409C-BE32-E72D297353CC}">
              <c16:uniqueId val="{00000001-D7F3-4FE4-B28D-9620390B1364}"/>
            </c:ext>
          </c:extLst>
        </c:ser>
        <c:ser>
          <c:idx val="2"/>
          <c:order val="2"/>
          <c:tx>
            <c:v>抑制（未利用）</c:v>
          </c:tx>
          <c:spPr>
            <a:solidFill>
              <a:srgbClr val="C8CCD2"/>
            </a:solidFill>
            <a:ln w="0">
              <a:solidFill>
                <a:srgbClr val="C8CCD2"/>
              </a:solidFill>
            </a:ln>
          </c:spPr>
          <c:invertIfNegative val="1"/>
          <c:cat>
            <c:strRef>
              <c:f>'Chart Data'!$E$2:$E$13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'Chart Data'!$F$2:$F$13</c:f>
              <c:numCache>
                <c:formatCode>0</c:formatCode>
                <c:ptCount val="12"/>
                <c:pt idx="0">
                  <c:v>2.043466</c:v>
                </c:pt>
                <c:pt idx="1">
                  <c:v>3.745924</c:v>
                </c:pt>
                <c:pt idx="2">
                  <c:v>3.603043</c:v>
                </c:pt>
                <c:pt idx="3">
                  <c:v>9.5719860000000008</c:v>
                </c:pt>
                <c:pt idx="4">
                  <c:v>11.188841</c:v>
                </c:pt>
                <c:pt idx="5">
                  <c:v>14.844201999999999</c:v>
                </c:pt>
                <c:pt idx="6">
                  <c:v>14.130055</c:v>
                </c:pt>
                <c:pt idx="7">
                  <c:v>13.673199</c:v>
                </c:pt>
                <c:pt idx="8">
                  <c:v>11.949603</c:v>
                </c:pt>
                <c:pt idx="9">
                  <c:v>2.194175</c:v>
                </c:pt>
                <c:pt idx="10">
                  <c:v>3.9332240000000001</c:v>
                </c:pt>
                <c:pt idx="11">
                  <c:v>2.0761780000000001</c:v>
                </c:pt>
              </c:numCache>
            </c:numRef>
          </c:val>
          <c:extLst>
            <c:ext xmlns:c14="http://schemas.microsoft.com/office/drawing/2007/8/2/chart" uri="{6F2FDCE9-48DA-4B69-8628-5D25D57E5C99}">
              <c14:invertSolidFillFmt>
                <c14:spPr xmlns:c14="http://schemas.microsoft.com/office/drawing/2007/8/2/chart">
                  <a:solidFill>
                    <a:srgbClr val="FFFFFF"/>
                  </a:solidFill>
                  <a:ln w="0">
                    <a:solidFill>
                      <a:srgbClr val="C8CCD2"/>
                    </a:solidFill>
                  </a:ln>
                </c14:spPr>
              </c14:invertSolidFillFmt>
            </c:ext>
            <c:ext xmlns:c16="http://schemas.microsoft.com/office/drawing/2014/chart" uri="{C3380CC4-5D6E-409C-BE32-E72D297353CC}">
              <c16:uniqueId val="{00000002-D7F3-4FE4-B28D-9620390B1364}"/>
            </c:ext>
          </c:extLst>
        </c:ser>
        <c:dLbls>
          <c:showLegendKey val="0"/>
          <c:showVal val="0"/>
          <c:showCatName val="0"/>
          <c:showSerName val="0"/>
          <c:showPercent val="0"/>
          <c:showBubbleSize val="0"/>
        </c:dLbls>
        <c:gapWidth val="60"/>
        <c:overlap val="10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auto val="1"/>
        <c:lblAlgn val="ctr"/>
        <c:lblOffset val="100"/>
        <c:noMultiLvlLbl val="1"/>
      </c:catAx>
      <c:valAx>
        <c:axId val="48672768"/>
        <c:scaling>
          <c:orientation val="minMax"/>
          <c:max val="40"/>
          <c:min val="0"/>
        </c:scaling>
        <c:delete val="0"/>
        <c:axPos val="l"/>
        <c:majorGridlines>
          <c:spPr>
            <a:ln w="9525">
              <a:solidFill>
                <a:srgbClr val="DFE4EA"/>
              </a:solidFill>
            </a:ln>
          </c:spPr>
        </c:majorGridlines>
        <c:title>
          <c:tx>
            <c:rich>
              <a:bodyPr/>
              <a:lstStyle/>
              <a:p>
                <a:r>
                  <a:rPr lang="en-US">
                    <a:latin typeface="Noto Sans JP"/>
                    <a:ea typeface="Noto Sans JP"/>
                    <a:cs typeface="Noto Sans JP"/>
                  </a:rPr>
                  <a:t>MWh／</a:t>
                </a:r>
                <a:r>
                  <a:rPr lang="ja-JP" altLang="en-US">
                    <a:latin typeface="Noto Sans JP"/>
                    <a:ea typeface="Noto Sans JP"/>
                    <a:cs typeface="Noto Sans JP"/>
                  </a:rPr>
                  <a:t>選択週</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between"/>
      </c:valAx>
      <c:spPr>
        <a:solidFill>
          <a:srgbClr val="FFFFFF"/>
        </a:solidFill>
      </c:spPr>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spPr>
    <a:solidFill>
      <a:srgbClr val="FFFFFF"/>
    </a:solidFill>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title>
      <c:tx>
        <c:rich>
          <a:bodyPr/>
          <a:lstStyle/>
          <a:p>
            <a:r>
              <a:rPr lang="zh-TW" altLang="en-US" sz="1725" b="1">
                <a:solidFill>
                  <a:srgbClr val="202B58"/>
                </a:solidFill>
                <a:latin typeface="Noto Sans JP"/>
                <a:ea typeface="Noto Sans JP"/>
                <a:cs typeface="Noto Sans JP"/>
              </a:rPr>
              <a:t>週間購入電力量</a:t>
            </a:r>
          </a:p>
        </c:rich>
      </c:tx>
      <c:overlay val="0"/>
    </c:title>
    <c:autoTitleDeleted val="0"/>
    <c:plotArea>
      <c:layout/>
      <c:barChart>
        <c:barDir val="col"/>
        <c:grouping val="clustered"/>
        <c:varyColors val="0"/>
        <c:ser>
          <c:idx val="0"/>
          <c:order val="0"/>
          <c:tx>
            <c:v>週間購入電力量</c:v>
          </c:tx>
          <c:spPr>
            <a:solidFill>
              <a:srgbClr val="316DB6"/>
            </a:solidFill>
            <a:ln w="0">
              <a:solidFill>
                <a:srgbClr val="316DB6"/>
              </a:solidFill>
            </a:ln>
          </c:spPr>
          <c:invertIfNegative val="1"/>
          <c:cat>
            <c:strRef>
              <c:f>'Chart Data'!$A$2:$A$13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'Chart Data'!$B$2:$B$13</c:f>
              <c:numCache>
                <c:formatCode>0</c:formatCode>
                <c:ptCount val="12"/>
                <c:pt idx="0">
                  <c:v>5.6216749999999998</c:v>
                </c:pt>
                <c:pt idx="1">
                  <c:v>2.123523</c:v>
                </c:pt>
                <c:pt idx="2">
                  <c:v>7.7940560000000003</c:v>
                </c:pt>
                <c:pt idx="3">
                  <c:v>2.70669</c:v>
                </c:pt>
                <c:pt idx="4">
                  <c:v>3.9818889999999998</c:v>
                </c:pt>
                <c:pt idx="5">
                  <c:v>2.8048120000000001</c:v>
                </c:pt>
                <c:pt idx="6">
                  <c:v>1.74637</c:v>
                </c:pt>
                <c:pt idx="7">
                  <c:v>2.7238250000000002</c:v>
                </c:pt>
                <c:pt idx="8">
                  <c:v>3.619456</c:v>
                </c:pt>
                <c:pt idx="9">
                  <c:v>4.2941500000000001</c:v>
                </c:pt>
                <c:pt idx="10">
                  <c:v>7.3024019999999998</c:v>
                </c:pt>
                <c:pt idx="11">
                  <c:v>5.6954159999999998</c:v>
                </c:pt>
              </c:numCache>
            </c:numRef>
          </c:val>
          <c:extLst>
            <c:ext xmlns:c14="http://schemas.microsoft.com/office/drawing/2007/8/2/chart" uri="{6F2FDCE9-48DA-4B69-8628-5D25D57E5C99}">
              <c14:invertSolidFillFmt>
                <c14:spPr xmlns:c14="http://schemas.microsoft.com/office/drawing/2007/8/2/chart">
                  <a:solidFill>
                    <a:srgbClr val="FFFFFF"/>
                  </a:solidFill>
                  <a:ln w="0">
                    <a:solidFill>
                      <a:srgbClr val="316DB6"/>
                    </a:solidFill>
                  </a:ln>
                </c14:spPr>
              </c14:invertSolidFillFmt>
            </c:ext>
            <c:ext xmlns:c16="http://schemas.microsoft.com/office/drawing/2014/chart" uri="{C3380CC4-5D6E-409C-BE32-E72D297353CC}">
              <c16:uniqueId val="{00000000-383E-4BF0-B53A-B34046774309}"/>
            </c:ext>
          </c:extLst>
        </c:ser>
        <c:dLbls>
          <c:showLegendKey val="0"/>
          <c:showVal val="0"/>
          <c:showCatName val="0"/>
          <c:showSerName val="0"/>
          <c:showPercent val="0"/>
          <c:showBubbleSize val="0"/>
        </c:dLbls>
        <c:gapWidth val="6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auto val="1"/>
        <c:lblAlgn val="ctr"/>
        <c:lblOffset val="100"/>
        <c:noMultiLvlLbl val="1"/>
      </c:catAx>
      <c:valAx>
        <c:axId val="48672768"/>
        <c:scaling>
          <c:orientation val="minMax"/>
          <c:max val="9"/>
          <c:min val="0"/>
        </c:scaling>
        <c:delete val="0"/>
        <c:axPos val="l"/>
        <c:majorGridlines>
          <c:spPr>
            <a:ln w="9525">
              <a:solidFill>
                <a:srgbClr val="DFE4EA"/>
              </a:solidFill>
            </a:ln>
          </c:spPr>
        </c:majorGridlines>
        <c:title>
          <c:tx>
            <c:rich>
              <a:bodyPr/>
              <a:lstStyle/>
              <a:p>
                <a:r>
                  <a:rPr lang="en-US">
                    <a:latin typeface="Noto Sans JP"/>
                    <a:ea typeface="Noto Sans JP"/>
                    <a:cs typeface="Noto Sans JP"/>
                  </a:rPr>
                  <a:t>MWh／</a:t>
                </a:r>
                <a:r>
                  <a:rPr lang="ja-JP" altLang="en-US">
                    <a:latin typeface="Noto Sans JP"/>
                    <a:ea typeface="Noto Sans JP"/>
                    <a:cs typeface="Noto Sans JP"/>
                  </a:rPr>
                  <a:t>選択週</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between"/>
      </c:valAx>
      <c:spPr>
        <a:solidFill>
          <a:srgbClr val="FFFFFF"/>
        </a:solidFill>
      </c:spPr>
    </c:plotArea>
    <c:plotVisOnly val="1"/>
    <c:dispBlanksAs val="zero"/>
    <c:showDLblsOverMax val="1"/>
  </c:chart>
  <c:spPr>
    <a:solidFill>
      <a:srgbClr val="FFFFFF"/>
    </a:solidFill>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title>
      <c:tx>
        <c:rich>
          <a:bodyPr/>
          <a:lstStyle/>
          <a:p>
            <a:r>
              <a:rPr lang="ja-JP" altLang="en-US" sz="1725" b="1">
                <a:solidFill>
                  <a:srgbClr val="202B58"/>
                </a:solidFill>
                <a:latin typeface="Noto Sans JP"/>
                <a:ea typeface="Noto Sans JP"/>
                <a:cs typeface="Noto Sans JP"/>
              </a:rPr>
              <a:t>日別購入電力量</a:t>
            </a:r>
          </a:p>
        </c:rich>
      </c:tx>
      <c:overlay val="0"/>
    </c:title>
    <c:autoTitleDeleted val="0"/>
    <c:plotArea>
      <c:layout/>
      <c:barChart>
        <c:barDir val="col"/>
        <c:grouping val="clustered"/>
        <c:varyColors val="0"/>
        <c:ser>
          <c:idx val="0"/>
          <c:order val="0"/>
          <c:tx>
            <c:v>3月</c:v>
          </c:tx>
          <c:spPr>
            <a:solidFill>
              <a:srgbClr val="316DB6"/>
            </a:solidFill>
            <a:ln w="0">
              <a:solidFill>
                <a:srgbClr val="316DB6"/>
              </a:solidFill>
            </a:ln>
          </c:spPr>
          <c:invertIfNegative val="1"/>
          <c:cat>
            <c:strRef>
              <c:f>'Chart Data'!$A$2:$A$8</c:f>
              <c:strCache>
                <c:ptCount val="7"/>
                <c:pt idx="0">
                  <c:v>月</c:v>
                </c:pt>
                <c:pt idx="1">
                  <c:v>火</c:v>
                </c:pt>
                <c:pt idx="2">
                  <c:v>水</c:v>
                </c:pt>
                <c:pt idx="3">
                  <c:v>木</c:v>
                </c:pt>
                <c:pt idx="4">
                  <c:v>金</c:v>
                </c:pt>
                <c:pt idx="5">
                  <c:v>土</c:v>
                </c:pt>
                <c:pt idx="6">
                  <c:v>日</c:v>
                </c:pt>
              </c:strCache>
            </c:strRef>
          </c:cat>
          <c:val>
            <c:numRef>
              <c:f>'Chart Data'!$B$2:$B$8</c:f>
              <c:numCache>
                <c:formatCode>0</c:formatCode>
                <c:ptCount val="7"/>
                <c:pt idx="0">
                  <c:v>954.06707700000004</c:v>
                </c:pt>
                <c:pt idx="1">
                  <c:v>1313.9582270000001</c:v>
                </c:pt>
                <c:pt idx="2">
                  <c:v>1592.7003500000001</c:v>
                </c:pt>
                <c:pt idx="3">
                  <c:v>1666.6040869999999</c:v>
                </c:pt>
                <c:pt idx="4">
                  <c:v>1137.8023270000001</c:v>
                </c:pt>
                <c:pt idx="5">
                  <c:v>103.348445</c:v>
                </c:pt>
                <c:pt idx="6">
                  <c:v>1025.5759700000001</c:v>
                </c:pt>
              </c:numCache>
            </c:numRef>
          </c:val>
          <c:extLst>
            <c:ext xmlns:c14="http://schemas.microsoft.com/office/drawing/2007/8/2/chart" uri="{6F2FDCE9-48DA-4B69-8628-5D25D57E5C99}">
              <c14:invertSolidFillFmt>
                <c14:spPr xmlns:c14="http://schemas.microsoft.com/office/drawing/2007/8/2/chart">
                  <a:solidFill>
                    <a:srgbClr val="FFFFFF"/>
                  </a:solidFill>
                  <a:ln w="0">
                    <a:solidFill>
                      <a:srgbClr val="316DB6"/>
                    </a:solidFill>
                  </a:ln>
                </c14:spPr>
              </c14:invertSolidFillFmt>
            </c:ext>
            <c:ext xmlns:c16="http://schemas.microsoft.com/office/drawing/2014/chart" uri="{C3380CC4-5D6E-409C-BE32-E72D297353CC}">
              <c16:uniqueId val="{00000000-88EA-445F-A262-81C2F788C405}"/>
            </c:ext>
          </c:extLst>
        </c:ser>
        <c:ser>
          <c:idx val="1"/>
          <c:order val="1"/>
          <c:tx>
            <c:v>11月</c:v>
          </c:tx>
          <c:spPr>
            <a:solidFill>
              <a:srgbClr val="159A8C"/>
            </a:solidFill>
            <a:ln w="0">
              <a:solidFill>
                <a:srgbClr val="159A8C"/>
              </a:solidFill>
            </a:ln>
          </c:spPr>
          <c:invertIfNegative val="1"/>
          <c:cat>
            <c:strRef>
              <c:f>'Chart Data'!$C$2:$C$8</c:f>
              <c:strCache>
                <c:ptCount val="7"/>
                <c:pt idx="0">
                  <c:v>月</c:v>
                </c:pt>
                <c:pt idx="1">
                  <c:v>火</c:v>
                </c:pt>
                <c:pt idx="2">
                  <c:v>水</c:v>
                </c:pt>
                <c:pt idx="3">
                  <c:v>木</c:v>
                </c:pt>
                <c:pt idx="4">
                  <c:v>金</c:v>
                </c:pt>
                <c:pt idx="5">
                  <c:v>土</c:v>
                </c:pt>
                <c:pt idx="6">
                  <c:v>日</c:v>
                </c:pt>
              </c:strCache>
            </c:strRef>
          </c:cat>
          <c:val>
            <c:numRef>
              <c:f>'Chart Data'!$D$2:$D$8</c:f>
              <c:numCache>
                <c:formatCode>0</c:formatCode>
                <c:ptCount val="7"/>
                <c:pt idx="0">
                  <c:v>259.95864999999998</c:v>
                </c:pt>
                <c:pt idx="1">
                  <c:v>1007.844835</c:v>
                </c:pt>
                <c:pt idx="2">
                  <c:v>1224.5884370000001</c:v>
                </c:pt>
                <c:pt idx="3">
                  <c:v>1175.5506849999999</c:v>
                </c:pt>
                <c:pt idx="4">
                  <c:v>1387.3919920000001</c:v>
                </c:pt>
                <c:pt idx="5">
                  <c:v>752.44450800000004</c:v>
                </c:pt>
                <c:pt idx="6">
                  <c:v>1494.6230539999999</c:v>
                </c:pt>
              </c:numCache>
            </c:numRef>
          </c:val>
          <c:extLst>
            <c:ext xmlns:c14="http://schemas.microsoft.com/office/drawing/2007/8/2/chart" uri="{6F2FDCE9-48DA-4B69-8628-5D25D57E5C99}">
              <c14:invertSolidFillFmt>
                <c14:spPr xmlns:c14="http://schemas.microsoft.com/office/drawing/2007/8/2/chart">
                  <a:solidFill>
                    <a:srgbClr val="FFFFFF"/>
                  </a:solidFill>
                  <a:ln w="0">
                    <a:solidFill>
                      <a:srgbClr val="159A8C"/>
                    </a:solidFill>
                  </a:ln>
                </c14:spPr>
              </c14:invertSolidFillFmt>
            </c:ext>
            <c:ext xmlns:c16="http://schemas.microsoft.com/office/drawing/2014/chart" uri="{C3380CC4-5D6E-409C-BE32-E72D297353CC}">
              <c16:uniqueId val="{00000001-88EA-445F-A262-81C2F788C405}"/>
            </c:ext>
          </c:extLst>
        </c:ser>
        <c:dLbls>
          <c:showLegendKey val="0"/>
          <c:showVal val="0"/>
          <c:showCatName val="0"/>
          <c:showSerName val="0"/>
          <c:showPercent val="0"/>
          <c:showBubbleSize val="0"/>
        </c:dLbls>
        <c:gapWidth val="6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auto val="1"/>
        <c:lblAlgn val="ctr"/>
        <c:lblOffset val="100"/>
        <c:noMultiLvlLbl val="1"/>
      </c:catAx>
      <c:valAx>
        <c:axId val="48672768"/>
        <c:scaling>
          <c:orientation val="minMax"/>
          <c:max val="1800"/>
          <c:min val="0"/>
        </c:scaling>
        <c:delete val="0"/>
        <c:axPos val="l"/>
        <c:majorGridlines>
          <c:spPr>
            <a:ln w="9525">
              <a:solidFill>
                <a:srgbClr val="DFE4EA"/>
              </a:solidFill>
            </a:ln>
          </c:spPr>
        </c:majorGridlines>
        <c:title>
          <c:tx>
            <c:rich>
              <a:bodyPr/>
              <a:lstStyle/>
              <a:p>
                <a:r>
                  <a:rPr lang="en-US">
                    <a:latin typeface="Noto Sans JP"/>
                    <a:ea typeface="Noto Sans JP"/>
                    <a:cs typeface="Noto Sans JP"/>
                  </a:rPr>
                  <a:t>kWh／</a:t>
                </a:r>
                <a:r>
                  <a:rPr lang="ja-JP" altLang="en-US">
                    <a:latin typeface="Noto Sans JP"/>
                    <a:ea typeface="Noto Sans JP"/>
                    <a:cs typeface="Noto Sans JP"/>
                  </a:rPr>
                  <a:t>日</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between"/>
      </c:valAx>
      <c:spPr>
        <a:solidFill>
          <a:srgbClr val="FFFFFF"/>
        </a:solidFill>
      </c:spPr>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spPr>
    <a:solidFill>
      <a:srgbClr val="FFFFFF"/>
    </a:solidFill>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title>
      <c:tx>
        <c:rich>
          <a:bodyPr/>
          <a:lstStyle/>
          <a:p>
            <a:r>
              <a:rPr lang="ja-JP" altLang="en-US" sz="1650" b="1">
                <a:solidFill>
                  <a:srgbClr val="202B58"/>
                </a:solidFill>
                <a:latin typeface="Noto Sans JP"/>
                <a:ea typeface="Noto Sans JP"/>
                <a:cs typeface="Noto Sans JP"/>
              </a:rPr>
              <a:t>受電電力</a:t>
            </a:r>
          </a:p>
        </c:rich>
      </c:tx>
      <c:overlay val="0"/>
    </c:title>
    <c:autoTitleDeleted val="0"/>
    <c:plotArea>
      <c:layout/>
      <c:scatterChart>
        <c:scatterStyle val="lineMarker"/>
        <c:varyColors val="1"/>
        <c:ser>
          <c:idx val="0"/>
          <c:order val="0"/>
          <c:tx>
            <c:v>3月</c:v>
          </c:tx>
          <c:spPr>
            <a:ln w="19050">
              <a:solidFill>
                <a:srgbClr val="316DB6"/>
              </a:solidFill>
            </a:ln>
          </c:spPr>
          <c:marker>
            <c:symbol val="none"/>
          </c:marker>
          <c:xVal>
            <c:numRef>
              <c:f>'Chart Data'!$A$2:$A$1345</c:f>
              <c:numCache>
                <c:formatCode>General</c:formatCode>
                <c:ptCount val="1344"/>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numCache>
            </c:numRef>
          </c:xVal>
          <c:yVal>
            <c:numRef>
              <c:f>'Chart Data'!$B$2:$B$1345</c:f>
              <c:numCache>
                <c:formatCode>0</c:formatCode>
                <c:ptCount val="1344"/>
                <c:pt idx="0">
                  <c:v>0</c:v>
                </c:pt>
                <c:pt idx="1">
                  <c:v>0</c:v>
                </c:pt>
                <c:pt idx="2">
                  <c:v>0</c:v>
                </c:pt>
                <c:pt idx="3">
                  <c:v>0</c:v>
                </c:pt>
                <c:pt idx="4">
                  <c:v>0</c:v>
                </c:pt>
                <c:pt idx="5">
                  <c:v>0</c:v>
                </c:pt>
                <c:pt idx="6">
                  <c:v>0</c:v>
                </c:pt>
                <c:pt idx="7">
                  <c:v>0</c:v>
                </c:pt>
                <c:pt idx="8">
                  <c:v>522.565877</c:v>
                </c:pt>
                <c:pt idx="9">
                  <c:v>522.565877</c:v>
                </c:pt>
                <c:pt idx="10">
                  <c:v>849.44159999999999</c:v>
                </c:pt>
                <c:pt idx="11">
                  <c:v>849.44159999999999</c:v>
                </c:pt>
                <c:pt idx="12">
                  <c:v>780.63036699999998</c:v>
                </c:pt>
                <c:pt idx="13">
                  <c:v>780.63036699999998</c:v>
                </c:pt>
                <c:pt idx="14">
                  <c:v>806.47088799999995</c:v>
                </c:pt>
                <c:pt idx="15">
                  <c:v>806.47088799999995</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15.45</c:v>
                </c:pt>
                <c:pt idx="53">
                  <c:v>15.45</c:v>
                </c:pt>
                <c:pt idx="54">
                  <c:v>35.615000000000002</c:v>
                </c:pt>
                <c:pt idx="55">
                  <c:v>35.615000000000002</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19.218900000000001</c:v>
                </c:pt>
                <c:pt idx="123">
                  <c:v>19.218900000000001</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60</c:v>
                </c:pt>
                <c:pt idx="175">
                  <c:v>60</c:v>
                </c:pt>
                <c:pt idx="176">
                  <c:v>52.005868</c:v>
                </c:pt>
                <c:pt idx="177">
                  <c:v>52.005868</c:v>
                </c:pt>
                <c:pt idx="178">
                  <c:v>90.000100000000003</c:v>
                </c:pt>
                <c:pt idx="179">
                  <c:v>90.000100000000003</c:v>
                </c:pt>
                <c:pt idx="180">
                  <c:v>120.0003</c:v>
                </c:pt>
                <c:pt idx="181">
                  <c:v>120.0003</c:v>
                </c:pt>
                <c:pt idx="182">
                  <c:v>194.86930799999999</c:v>
                </c:pt>
                <c:pt idx="183">
                  <c:v>194.86930799999999</c:v>
                </c:pt>
                <c:pt idx="184">
                  <c:v>60</c:v>
                </c:pt>
                <c:pt idx="185">
                  <c:v>60</c:v>
                </c:pt>
                <c:pt idx="186">
                  <c:v>150</c:v>
                </c:pt>
                <c:pt idx="187">
                  <c:v>150</c:v>
                </c:pt>
                <c:pt idx="188">
                  <c:v>60</c:v>
                </c:pt>
                <c:pt idx="189">
                  <c:v>60</c:v>
                </c:pt>
                <c:pt idx="190">
                  <c:v>1E-4</c:v>
                </c:pt>
                <c:pt idx="191">
                  <c:v>1E-4</c:v>
                </c:pt>
                <c:pt idx="192">
                  <c:v>120</c:v>
                </c:pt>
                <c:pt idx="193">
                  <c:v>120</c:v>
                </c:pt>
                <c:pt idx="194">
                  <c:v>90</c:v>
                </c:pt>
                <c:pt idx="195">
                  <c:v>90</c:v>
                </c:pt>
                <c:pt idx="196">
                  <c:v>90</c:v>
                </c:pt>
                <c:pt idx="197">
                  <c:v>90</c:v>
                </c:pt>
                <c:pt idx="198">
                  <c:v>1E-4</c:v>
                </c:pt>
                <c:pt idx="199">
                  <c:v>1E-4</c:v>
                </c:pt>
                <c:pt idx="200">
                  <c:v>200</c:v>
                </c:pt>
                <c:pt idx="201">
                  <c:v>200</c:v>
                </c:pt>
                <c:pt idx="202">
                  <c:v>200</c:v>
                </c:pt>
                <c:pt idx="203">
                  <c:v>200</c:v>
                </c:pt>
                <c:pt idx="204">
                  <c:v>200</c:v>
                </c:pt>
                <c:pt idx="205">
                  <c:v>200</c:v>
                </c:pt>
                <c:pt idx="206">
                  <c:v>200</c:v>
                </c:pt>
                <c:pt idx="207">
                  <c:v>200</c:v>
                </c:pt>
                <c:pt idx="208">
                  <c:v>200</c:v>
                </c:pt>
                <c:pt idx="209">
                  <c:v>200</c:v>
                </c:pt>
                <c:pt idx="210">
                  <c:v>0</c:v>
                </c:pt>
                <c:pt idx="211">
                  <c:v>0</c:v>
                </c:pt>
                <c:pt idx="212">
                  <c:v>0</c:v>
                </c:pt>
                <c:pt idx="213">
                  <c:v>0</c:v>
                </c:pt>
                <c:pt idx="214">
                  <c:v>0</c:v>
                </c:pt>
                <c:pt idx="215">
                  <c:v>0</c:v>
                </c:pt>
                <c:pt idx="216">
                  <c:v>133.26263700000001</c:v>
                </c:pt>
                <c:pt idx="217">
                  <c:v>133.26263700000001</c:v>
                </c:pt>
                <c:pt idx="218">
                  <c:v>200</c:v>
                </c:pt>
                <c:pt idx="219">
                  <c:v>200</c:v>
                </c:pt>
                <c:pt idx="220">
                  <c:v>200</c:v>
                </c:pt>
                <c:pt idx="221">
                  <c:v>200</c:v>
                </c:pt>
                <c:pt idx="222">
                  <c:v>200</c:v>
                </c:pt>
                <c:pt idx="223">
                  <c:v>200</c:v>
                </c:pt>
                <c:pt idx="224">
                  <c:v>200</c:v>
                </c:pt>
                <c:pt idx="225">
                  <c:v>200</c:v>
                </c:pt>
                <c:pt idx="226">
                  <c:v>0</c:v>
                </c:pt>
                <c:pt idx="227">
                  <c:v>0</c:v>
                </c:pt>
                <c:pt idx="228">
                  <c:v>200</c:v>
                </c:pt>
                <c:pt idx="229">
                  <c:v>200</c:v>
                </c:pt>
                <c:pt idx="230">
                  <c:v>200</c:v>
                </c:pt>
                <c:pt idx="231">
                  <c:v>200</c:v>
                </c:pt>
                <c:pt idx="232">
                  <c:v>60</c:v>
                </c:pt>
                <c:pt idx="233">
                  <c:v>60</c:v>
                </c:pt>
                <c:pt idx="234">
                  <c:v>0</c:v>
                </c:pt>
                <c:pt idx="235">
                  <c:v>0</c:v>
                </c:pt>
                <c:pt idx="236">
                  <c:v>16.737262999999999</c:v>
                </c:pt>
                <c:pt idx="237">
                  <c:v>16.737262999999999</c:v>
                </c:pt>
                <c:pt idx="238">
                  <c:v>60</c:v>
                </c:pt>
                <c:pt idx="239">
                  <c:v>60</c:v>
                </c:pt>
                <c:pt idx="240">
                  <c:v>0</c:v>
                </c:pt>
                <c:pt idx="241">
                  <c:v>0</c:v>
                </c:pt>
                <c:pt idx="242">
                  <c:v>199.78</c:v>
                </c:pt>
                <c:pt idx="243">
                  <c:v>199.78</c:v>
                </c:pt>
                <c:pt idx="244">
                  <c:v>37.049999999999997</c:v>
                </c:pt>
                <c:pt idx="245">
                  <c:v>37.049999999999997</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0</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0</c:v>
                </c:pt>
                <c:pt idx="299">
                  <c:v>0</c:v>
                </c:pt>
                <c:pt idx="300">
                  <c:v>0</c:v>
                </c:pt>
                <c:pt idx="301">
                  <c:v>0</c:v>
                </c:pt>
                <c:pt idx="302">
                  <c:v>0</c:v>
                </c:pt>
                <c:pt idx="303">
                  <c:v>0</c:v>
                </c:pt>
                <c:pt idx="304">
                  <c:v>0</c:v>
                </c:pt>
                <c:pt idx="305">
                  <c:v>0</c:v>
                </c:pt>
                <c:pt idx="306">
                  <c:v>0</c:v>
                </c:pt>
                <c:pt idx="307">
                  <c:v>0</c:v>
                </c:pt>
                <c:pt idx="308">
                  <c:v>0</c:v>
                </c:pt>
                <c:pt idx="309">
                  <c:v>0</c:v>
                </c:pt>
                <c:pt idx="310">
                  <c:v>0</c:v>
                </c:pt>
                <c:pt idx="311">
                  <c:v>0</c:v>
                </c:pt>
                <c:pt idx="312">
                  <c:v>0</c:v>
                </c:pt>
                <c:pt idx="313">
                  <c:v>0</c:v>
                </c:pt>
                <c:pt idx="314">
                  <c:v>0</c:v>
                </c:pt>
                <c:pt idx="315">
                  <c:v>0</c:v>
                </c:pt>
                <c:pt idx="316">
                  <c:v>0</c:v>
                </c:pt>
                <c:pt idx="317">
                  <c:v>0</c:v>
                </c:pt>
                <c:pt idx="318">
                  <c:v>0</c:v>
                </c:pt>
                <c:pt idx="319">
                  <c:v>0</c:v>
                </c:pt>
                <c:pt idx="320">
                  <c:v>0</c:v>
                </c:pt>
                <c:pt idx="321">
                  <c:v>0</c:v>
                </c:pt>
                <c:pt idx="322">
                  <c:v>0</c:v>
                </c:pt>
                <c:pt idx="323">
                  <c:v>0</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60</c:v>
                </c:pt>
                <c:pt idx="349">
                  <c:v>60</c:v>
                </c:pt>
                <c:pt idx="350">
                  <c:v>90</c:v>
                </c:pt>
                <c:pt idx="351">
                  <c:v>90</c:v>
                </c:pt>
                <c:pt idx="352">
                  <c:v>90</c:v>
                </c:pt>
                <c:pt idx="353">
                  <c:v>90</c:v>
                </c:pt>
                <c:pt idx="354">
                  <c:v>90</c:v>
                </c:pt>
                <c:pt idx="355">
                  <c:v>90</c:v>
                </c:pt>
                <c:pt idx="356">
                  <c:v>90</c:v>
                </c:pt>
                <c:pt idx="357">
                  <c:v>90</c:v>
                </c:pt>
                <c:pt idx="358">
                  <c:v>150</c:v>
                </c:pt>
                <c:pt idx="359">
                  <c:v>150</c:v>
                </c:pt>
                <c:pt idx="360">
                  <c:v>90.000100000000003</c:v>
                </c:pt>
                <c:pt idx="361">
                  <c:v>90.000100000000003</c:v>
                </c:pt>
                <c:pt idx="362">
                  <c:v>90.000100000000003</c:v>
                </c:pt>
                <c:pt idx="363">
                  <c:v>90.000100000000003</c:v>
                </c:pt>
                <c:pt idx="364">
                  <c:v>109.00291</c:v>
                </c:pt>
                <c:pt idx="365">
                  <c:v>109.00291</c:v>
                </c:pt>
                <c:pt idx="366">
                  <c:v>180</c:v>
                </c:pt>
                <c:pt idx="367">
                  <c:v>180</c:v>
                </c:pt>
                <c:pt idx="368">
                  <c:v>180</c:v>
                </c:pt>
                <c:pt idx="369">
                  <c:v>180</c:v>
                </c:pt>
                <c:pt idx="370">
                  <c:v>200</c:v>
                </c:pt>
                <c:pt idx="371">
                  <c:v>200</c:v>
                </c:pt>
                <c:pt idx="372">
                  <c:v>180.0001</c:v>
                </c:pt>
                <c:pt idx="373">
                  <c:v>180.0001</c:v>
                </c:pt>
                <c:pt idx="374">
                  <c:v>200</c:v>
                </c:pt>
                <c:pt idx="375">
                  <c:v>200</c:v>
                </c:pt>
                <c:pt idx="376">
                  <c:v>200</c:v>
                </c:pt>
                <c:pt idx="377">
                  <c:v>200</c:v>
                </c:pt>
                <c:pt idx="378">
                  <c:v>150</c:v>
                </c:pt>
                <c:pt idx="379">
                  <c:v>150</c:v>
                </c:pt>
                <c:pt idx="380">
                  <c:v>39.999600000000001</c:v>
                </c:pt>
                <c:pt idx="381">
                  <c:v>39.999600000000001</c:v>
                </c:pt>
                <c:pt idx="382">
                  <c:v>60.000100000000003</c:v>
                </c:pt>
                <c:pt idx="383">
                  <c:v>60.000100000000003</c:v>
                </c:pt>
                <c:pt idx="384">
                  <c:v>200</c:v>
                </c:pt>
                <c:pt idx="385">
                  <c:v>200</c:v>
                </c:pt>
                <c:pt idx="386">
                  <c:v>200</c:v>
                </c:pt>
                <c:pt idx="387">
                  <c:v>200</c:v>
                </c:pt>
                <c:pt idx="388">
                  <c:v>186.60931600000001</c:v>
                </c:pt>
                <c:pt idx="389">
                  <c:v>186.60931600000001</c:v>
                </c:pt>
                <c:pt idx="390">
                  <c:v>120.0001</c:v>
                </c:pt>
                <c:pt idx="391">
                  <c:v>120.0001</c:v>
                </c:pt>
                <c:pt idx="392">
                  <c:v>36.959679000000001</c:v>
                </c:pt>
                <c:pt idx="393">
                  <c:v>36.959679000000001</c:v>
                </c:pt>
                <c:pt idx="394">
                  <c:v>200</c:v>
                </c:pt>
                <c:pt idx="395">
                  <c:v>200</c:v>
                </c:pt>
                <c:pt idx="396">
                  <c:v>190.241918</c:v>
                </c:pt>
                <c:pt idx="397">
                  <c:v>190.241918</c:v>
                </c:pt>
                <c:pt idx="398">
                  <c:v>120.0001</c:v>
                </c:pt>
                <c:pt idx="399">
                  <c:v>120.0001</c:v>
                </c:pt>
                <c:pt idx="400">
                  <c:v>200</c:v>
                </c:pt>
                <c:pt idx="401">
                  <c:v>200</c:v>
                </c:pt>
                <c:pt idx="402">
                  <c:v>60.000300000000003</c:v>
                </c:pt>
                <c:pt idx="403">
                  <c:v>60.000300000000003</c:v>
                </c:pt>
                <c:pt idx="404">
                  <c:v>131.973386</c:v>
                </c:pt>
                <c:pt idx="405">
                  <c:v>131.973386</c:v>
                </c:pt>
                <c:pt idx="406">
                  <c:v>200</c:v>
                </c:pt>
                <c:pt idx="407">
                  <c:v>200</c:v>
                </c:pt>
                <c:pt idx="408">
                  <c:v>200</c:v>
                </c:pt>
                <c:pt idx="409">
                  <c:v>200</c:v>
                </c:pt>
                <c:pt idx="410">
                  <c:v>200</c:v>
                </c:pt>
                <c:pt idx="411">
                  <c:v>200</c:v>
                </c:pt>
                <c:pt idx="412">
                  <c:v>200</c:v>
                </c:pt>
                <c:pt idx="413">
                  <c:v>200</c:v>
                </c:pt>
                <c:pt idx="414">
                  <c:v>200</c:v>
                </c:pt>
                <c:pt idx="415">
                  <c:v>200</c:v>
                </c:pt>
                <c:pt idx="416">
                  <c:v>200</c:v>
                </c:pt>
                <c:pt idx="417">
                  <c:v>200</c:v>
                </c:pt>
                <c:pt idx="418">
                  <c:v>200</c:v>
                </c:pt>
                <c:pt idx="419">
                  <c:v>200</c:v>
                </c:pt>
                <c:pt idx="420">
                  <c:v>200</c:v>
                </c:pt>
                <c:pt idx="421">
                  <c:v>200</c:v>
                </c:pt>
                <c:pt idx="422">
                  <c:v>200</c:v>
                </c:pt>
                <c:pt idx="423">
                  <c:v>200</c:v>
                </c:pt>
                <c:pt idx="424">
                  <c:v>72.844164000000006</c:v>
                </c:pt>
                <c:pt idx="425">
                  <c:v>72.844164000000006</c:v>
                </c:pt>
                <c:pt idx="426">
                  <c:v>0</c:v>
                </c:pt>
                <c:pt idx="427">
                  <c:v>0</c:v>
                </c:pt>
                <c:pt idx="428">
                  <c:v>200</c:v>
                </c:pt>
                <c:pt idx="429">
                  <c:v>200</c:v>
                </c:pt>
                <c:pt idx="430">
                  <c:v>200</c:v>
                </c:pt>
                <c:pt idx="431">
                  <c:v>200</c:v>
                </c:pt>
                <c:pt idx="432">
                  <c:v>47.148642000000002</c:v>
                </c:pt>
                <c:pt idx="433">
                  <c:v>47.148642000000002</c:v>
                </c:pt>
                <c:pt idx="434">
                  <c:v>178.3</c:v>
                </c:pt>
                <c:pt idx="435">
                  <c:v>178.3</c:v>
                </c:pt>
                <c:pt idx="436">
                  <c:v>31.418842000000001</c:v>
                </c:pt>
                <c:pt idx="437">
                  <c:v>31.418842000000001</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0</c:v>
                </c:pt>
                <c:pt idx="473">
                  <c:v>0</c:v>
                </c:pt>
                <c:pt idx="474">
                  <c:v>0</c:v>
                </c:pt>
                <c:pt idx="475">
                  <c:v>0</c:v>
                </c:pt>
                <c:pt idx="476">
                  <c:v>0</c:v>
                </c:pt>
                <c:pt idx="477">
                  <c:v>0</c:v>
                </c:pt>
                <c:pt idx="478">
                  <c:v>0</c:v>
                </c:pt>
                <c:pt idx="479">
                  <c:v>0</c:v>
                </c:pt>
                <c:pt idx="480">
                  <c:v>0</c:v>
                </c:pt>
                <c:pt idx="481">
                  <c:v>0</c:v>
                </c:pt>
                <c:pt idx="482">
                  <c:v>0</c:v>
                </c:pt>
                <c:pt idx="483">
                  <c:v>0</c:v>
                </c:pt>
                <c:pt idx="484">
                  <c:v>0</c:v>
                </c:pt>
                <c:pt idx="485">
                  <c:v>0</c:v>
                </c:pt>
                <c:pt idx="486">
                  <c:v>0</c:v>
                </c:pt>
                <c:pt idx="487">
                  <c:v>0</c:v>
                </c:pt>
                <c:pt idx="488">
                  <c:v>0</c:v>
                </c:pt>
                <c:pt idx="489">
                  <c:v>0</c:v>
                </c:pt>
                <c:pt idx="490">
                  <c:v>0</c:v>
                </c:pt>
                <c:pt idx="491">
                  <c:v>0</c:v>
                </c:pt>
                <c:pt idx="492">
                  <c:v>0</c:v>
                </c:pt>
                <c:pt idx="493">
                  <c:v>0</c:v>
                </c:pt>
                <c:pt idx="494">
                  <c:v>0</c:v>
                </c:pt>
                <c:pt idx="495">
                  <c:v>0</c:v>
                </c:pt>
                <c:pt idx="496">
                  <c:v>0</c:v>
                </c:pt>
                <c:pt idx="497">
                  <c:v>0</c:v>
                </c:pt>
                <c:pt idx="498">
                  <c:v>0</c:v>
                </c:pt>
                <c:pt idx="499">
                  <c:v>0</c:v>
                </c:pt>
                <c:pt idx="500">
                  <c:v>0</c:v>
                </c:pt>
                <c:pt idx="501">
                  <c:v>0</c:v>
                </c:pt>
                <c:pt idx="502">
                  <c:v>0</c:v>
                </c:pt>
                <c:pt idx="503">
                  <c:v>0</c:v>
                </c:pt>
                <c:pt idx="504">
                  <c:v>0</c:v>
                </c:pt>
                <c:pt idx="505">
                  <c:v>0</c:v>
                </c:pt>
                <c:pt idx="506">
                  <c:v>0</c:v>
                </c:pt>
                <c:pt idx="507">
                  <c:v>0</c:v>
                </c:pt>
                <c:pt idx="508">
                  <c:v>0</c:v>
                </c:pt>
                <c:pt idx="509">
                  <c:v>0</c:v>
                </c:pt>
                <c:pt idx="510">
                  <c:v>14.35</c:v>
                </c:pt>
                <c:pt idx="511">
                  <c:v>14.35</c:v>
                </c:pt>
                <c:pt idx="512">
                  <c:v>27.95</c:v>
                </c:pt>
                <c:pt idx="513">
                  <c:v>27.95</c:v>
                </c:pt>
                <c:pt idx="514">
                  <c:v>44.1</c:v>
                </c:pt>
                <c:pt idx="515">
                  <c:v>44.1</c:v>
                </c:pt>
                <c:pt idx="516">
                  <c:v>43.557000000000002</c:v>
                </c:pt>
                <c:pt idx="517">
                  <c:v>43.557000000000002</c:v>
                </c:pt>
                <c:pt idx="518">
                  <c:v>5.9838370000000003</c:v>
                </c:pt>
                <c:pt idx="519">
                  <c:v>5.9838370000000003</c:v>
                </c:pt>
                <c:pt idx="520">
                  <c:v>0</c:v>
                </c:pt>
                <c:pt idx="521">
                  <c:v>0</c:v>
                </c:pt>
                <c:pt idx="522">
                  <c:v>0</c:v>
                </c:pt>
                <c:pt idx="523">
                  <c:v>0</c:v>
                </c:pt>
                <c:pt idx="524">
                  <c:v>0</c:v>
                </c:pt>
                <c:pt idx="525">
                  <c:v>0</c:v>
                </c:pt>
                <c:pt idx="526">
                  <c:v>0</c:v>
                </c:pt>
                <c:pt idx="527">
                  <c:v>0</c:v>
                </c:pt>
                <c:pt idx="528">
                  <c:v>1E-4</c:v>
                </c:pt>
                <c:pt idx="529">
                  <c:v>1E-4</c:v>
                </c:pt>
                <c:pt idx="530">
                  <c:v>1E-4</c:v>
                </c:pt>
                <c:pt idx="531">
                  <c:v>1E-4</c:v>
                </c:pt>
                <c:pt idx="532">
                  <c:v>1E-4</c:v>
                </c:pt>
                <c:pt idx="533">
                  <c:v>1E-4</c:v>
                </c:pt>
                <c:pt idx="534">
                  <c:v>1E-4</c:v>
                </c:pt>
                <c:pt idx="535">
                  <c:v>1E-4</c:v>
                </c:pt>
                <c:pt idx="536">
                  <c:v>1E-4</c:v>
                </c:pt>
                <c:pt idx="537">
                  <c:v>1E-4</c:v>
                </c:pt>
                <c:pt idx="538">
                  <c:v>1E-4</c:v>
                </c:pt>
                <c:pt idx="539">
                  <c:v>1E-4</c:v>
                </c:pt>
                <c:pt idx="540">
                  <c:v>1E-4</c:v>
                </c:pt>
                <c:pt idx="541">
                  <c:v>1E-4</c:v>
                </c:pt>
                <c:pt idx="542">
                  <c:v>1E-4</c:v>
                </c:pt>
                <c:pt idx="543">
                  <c:v>1E-4</c:v>
                </c:pt>
                <c:pt idx="544">
                  <c:v>90</c:v>
                </c:pt>
                <c:pt idx="545">
                  <c:v>90</c:v>
                </c:pt>
                <c:pt idx="546">
                  <c:v>1E-4</c:v>
                </c:pt>
                <c:pt idx="547">
                  <c:v>1E-4</c:v>
                </c:pt>
                <c:pt idx="548">
                  <c:v>1E-4</c:v>
                </c:pt>
                <c:pt idx="549">
                  <c:v>1E-4</c:v>
                </c:pt>
                <c:pt idx="550">
                  <c:v>46.076092000000003</c:v>
                </c:pt>
                <c:pt idx="551">
                  <c:v>46.076092000000003</c:v>
                </c:pt>
                <c:pt idx="552">
                  <c:v>60</c:v>
                </c:pt>
                <c:pt idx="553">
                  <c:v>60</c:v>
                </c:pt>
                <c:pt idx="554">
                  <c:v>90.000100000000003</c:v>
                </c:pt>
                <c:pt idx="555">
                  <c:v>90.000100000000003</c:v>
                </c:pt>
                <c:pt idx="556">
                  <c:v>90.000100000000003</c:v>
                </c:pt>
                <c:pt idx="557">
                  <c:v>90.000100000000003</c:v>
                </c:pt>
                <c:pt idx="558">
                  <c:v>150.0001</c:v>
                </c:pt>
                <c:pt idx="559">
                  <c:v>150.0001</c:v>
                </c:pt>
                <c:pt idx="560">
                  <c:v>180</c:v>
                </c:pt>
                <c:pt idx="561">
                  <c:v>180</c:v>
                </c:pt>
                <c:pt idx="562">
                  <c:v>200</c:v>
                </c:pt>
                <c:pt idx="563">
                  <c:v>200</c:v>
                </c:pt>
                <c:pt idx="564">
                  <c:v>200</c:v>
                </c:pt>
                <c:pt idx="565">
                  <c:v>200</c:v>
                </c:pt>
                <c:pt idx="566">
                  <c:v>200</c:v>
                </c:pt>
                <c:pt idx="567">
                  <c:v>200</c:v>
                </c:pt>
                <c:pt idx="568">
                  <c:v>200</c:v>
                </c:pt>
                <c:pt idx="569">
                  <c:v>200</c:v>
                </c:pt>
                <c:pt idx="570">
                  <c:v>200</c:v>
                </c:pt>
                <c:pt idx="571">
                  <c:v>200</c:v>
                </c:pt>
                <c:pt idx="572">
                  <c:v>153.28672299999999</c:v>
                </c:pt>
                <c:pt idx="573">
                  <c:v>153.28672299999999</c:v>
                </c:pt>
                <c:pt idx="574">
                  <c:v>200</c:v>
                </c:pt>
                <c:pt idx="575">
                  <c:v>200</c:v>
                </c:pt>
                <c:pt idx="576">
                  <c:v>194.93030200000001</c:v>
                </c:pt>
                <c:pt idx="577">
                  <c:v>194.93030200000001</c:v>
                </c:pt>
                <c:pt idx="578">
                  <c:v>90.000100000000003</c:v>
                </c:pt>
                <c:pt idx="579">
                  <c:v>90.000100000000003</c:v>
                </c:pt>
                <c:pt idx="580">
                  <c:v>180.0001</c:v>
                </c:pt>
                <c:pt idx="581">
                  <c:v>180.0001</c:v>
                </c:pt>
                <c:pt idx="582">
                  <c:v>180.0001</c:v>
                </c:pt>
                <c:pt idx="583">
                  <c:v>180.0001</c:v>
                </c:pt>
                <c:pt idx="584">
                  <c:v>200</c:v>
                </c:pt>
                <c:pt idx="585">
                  <c:v>200</c:v>
                </c:pt>
                <c:pt idx="586">
                  <c:v>200</c:v>
                </c:pt>
                <c:pt idx="587">
                  <c:v>200</c:v>
                </c:pt>
                <c:pt idx="588">
                  <c:v>200</c:v>
                </c:pt>
                <c:pt idx="589">
                  <c:v>200</c:v>
                </c:pt>
                <c:pt idx="590">
                  <c:v>200</c:v>
                </c:pt>
                <c:pt idx="591">
                  <c:v>200</c:v>
                </c:pt>
                <c:pt idx="592">
                  <c:v>199.65171900000001</c:v>
                </c:pt>
                <c:pt idx="593">
                  <c:v>199.65171900000001</c:v>
                </c:pt>
                <c:pt idx="594">
                  <c:v>192.75019</c:v>
                </c:pt>
                <c:pt idx="595">
                  <c:v>192.75019</c:v>
                </c:pt>
                <c:pt idx="596">
                  <c:v>200</c:v>
                </c:pt>
                <c:pt idx="597">
                  <c:v>200</c:v>
                </c:pt>
                <c:pt idx="598">
                  <c:v>200</c:v>
                </c:pt>
                <c:pt idx="599">
                  <c:v>200</c:v>
                </c:pt>
                <c:pt idx="600">
                  <c:v>200</c:v>
                </c:pt>
                <c:pt idx="601">
                  <c:v>200</c:v>
                </c:pt>
                <c:pt idx="602">
                  <c:v>200</c:v>
                </c:pt>
                <c:pt idx="603">
                  <c:v>200</c:v>
                </c:pt>
                <c:pt idx="604">
                  <c:v>200</c:v>
                </c:pt>
                <c:pt idx="605">
                  <c:v>200</c:v>
                </c:pt>
                <c:pt idx="606">
                  <c:v>200</c:v>
                </c:pt>
                <c:pt idx="607">
                  <c:v>200</c:v>
                </c:pt>
                <c:pt idx="608">
                  <c:v>200</c:v>
                </c:pt>
                <c:pt idx="609">
                  <c:v>200</c:v>
                </c:pt>
                <c:pt idx="610">
                  <c:v>200</c:v>
                </c:pt>
                <c:pt idx="611">
                  <c:v>200</c:v>
                </c:pt>
                <c:pt idx="612">
                  <c:v>200</c:v>
                </c:pt>
                <c:pt idx="613">
                  <c:v>200</c:v>
                </c:pt>
                <c:pt idx="614">
                  <c:v>200</c:v>
                </c:pt>
                <c:pt idx="615">
                  <c:v>200</c:v>
                </c:pt>
                <c:pt idx="616">
                  <c:v>200</c:v>
                </c:pt>
                <c:pt idx="617">
                  <c:v>200</c:v>
                </c:pt>
                <c:pt idx="618">
                  <c:v>0</c:v>
                </c:pt>
                <c:pt idx="619">
                  <c:v>0</c:v>
                </c:pt>
                <c:pt idx="620">
                  <c:v>200</c:v>
                </c:pt>
                <c:pt idx="621">
                  <c:v>200</c:v>
                </c:pt>
                <c:pt idx="622">
                  <c:v>200</c:v>
                </c:pt>
                <c:pt idx="623">
                  <c:v>200</c:v>
                </c:pt>
                <c:pt idx="624">
                  <c:v>157.39528999999999</c:v>
                </c:pt>
                <c:pt idx="625">
                  <c:v>157.39528999999999</c:v>
                </c:pt>
                <c:pt idx="626">
                  <c:v>202.94499999999999</c:v>
                </c:pt>
                <c:pt idx="627">
                  <c:v>202.94499999999999</c:v>
                </c:pt>
                <c:pt idx="628">
                  <c:v>41.002547</c:v>
                </c:pt>
                <c:pt idx="629">
                  <c:v>41.002547</c:v>
                </c:pt>
                <c:pt idx="630">
                  <c:v>32.170999999999999</c:v>
                </c:pt>
                <c:pt idx="631">
                  <c:v>32.170999999999999</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0</c:v>
                </c:pt>
                <c:pt idx="665">
                  <c:v>0</c:v>
                </c:pt>
                <c:pt idx="666">
                  <c:v>0</c:v>
                </c:pt>
                <c:pt idx="667">
                  <c:v>0</c:v>
                </c:pt>
                <c:pt idx="668">
                  <c:v>0</c:v>
                </c:pt>
                <c:pt idx="669">
                  <c:v>0</c:v>
                </c:pt>
                <c:pt idx="670">
                  <c:v>0</c:v>
                </c:pt>
                <c:pt idx="671">
                  <c:v>0</c:v>
                </c:pt>
                <c:pt idx="672">
                  <c:v>0</c:v>
                </c:pt>
                <c:pt idx="673">
                  <c:v>0</c:v>
                </c:pt>
                <c:pt idx="674">
                  <c:v>0</c:v>
                </c:pt>
                <c:pt idx="675">
                  <c:v>0</c:v>
                </c:pt>
                <c:pt idx="676">
                  <c:v>0</c:v>
                </c:pt>
                <c:pt idx="677">
                  <c:v>0</c:v>
                </c:pt>
                <c:pt idx="678">
                  <c:v>0</c:v>
                </c:pt>
                <c:pt idx="679">
                  <c:v>0</c:v>
                </c:pt>
                <c:pt idx="680">
                  <c:v>0</c:v>
                </c:pt>
                <c:pt idx="681">
                  <c:v>0</c:v>
                </c:pt>
                <c:pt idx="682">
                  <c:v>0</c:v>
                </c:pt>
                <c:pt idx="683">
                  <c:v>0</c:v>
                </c:pt>
                <c:pt idx="684">
                  <c:v>0</c:v>
                </c:pt>
                <c:pt idx="685">
                  <c:v>0</c:v>
                </c:pt>
                <c:pt idx="686">
                  <c:v>0</c:v>
                </c:pt>
                <c:pt idx="687">
                  <c:v>0</c:v>
                </c:pt>
                <c:pt idx="688">
                  <c:v>0</c:v>
                </c:pt>
                <c:pt idx="689">
                  <c:v>0</c:v>
                </c:pt>
                <c:pt idx="690">
                  <c:v>0</c:v>
                </c:pt>
                <c:pt idx="691">
                  <c:v>0</c:v>
                </c:pt>
                <c:pt idx="692">
                  <c:v>0</c:v>
                </c:pt>
                <c:pt idx="693">
                  <c:v>0</c:v>
                </c:pt>
                <c:pt idx="694">
                  <c:v>0</c:v>
                </c:pt>
                <c:pt idx="695">
                  <c:v>0</c:v>
                </c:pt>
                <c:pt idx="696">
                  <c:v>0</c:v>
                </c:pt>
                <c:pt idx="697">
                  <c:v>0</c:v>
                </c:pt>
                <c:pt idx="698">
                  <c:v>0</c:v>
                </c:pt>
                <c:pt idx="699">
                  <c:v>0</c:v>
                </c:pt>
                <c:pt idx="700">
                  <c:v>1.6</c:v>
                </c:pt>
                <c:pt idx="701">
                  <c:v>1.6</c:v>
                </c:pt>
                <c:pt idx="702">
                  <c:v>22.85</c:v>
                </c:pt>
                <c:pt idx="703">
                  <c:v>22.85</c:v>
                </c:pt>
                <c:pt idx="704">
                  <c:v>35.393999999999998</c:v>
                </c:pt>
                <c:pt idx="705">
                  <c:v>35.393999999999998</c:v>
                </c:pt>
                <c:pt idx="706">
                  <c:v>51.75</c:v>
                </c:pt>
                <c:pt idx="707">
                  <c:v>51.75</c:v>
                </c:pt>
                <c:pt idx="708">
                  <c:v>54.515999999999998</c:v>
                </c:pt>
                <c:pt idx="709">
                  <c:v>54.515999999999998</c:v>
                </c:pt>
                <c:pt idx="710">
                  <c:v>40.222000000000001</c:v>
                </c:pt>
                <c:pt idx="711">
                  <c:v>40.222000000000001</c:v>
                </c:pt>
                <c:pt idx="712">
                  <c:v>14.782</c:v>
                </c:pt>
                <c:pt idx="713">
                  <c:v>14.782</c:v>
                </c:pt>
                <c:pt idx="714">
                  <c:v>4.4560000000000004</c:v>
                </c:pt>
                <c:pt idx="715">
                  <c:v>4.4560000000000004</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60</c:v>
                </c:pt>
                <c:pt idx="745">
                  <c:v>60</c:v>
                </c:pt>
                <c:pt idx="746">
                  <c:v>60</c:v>
                </c:pt>
                <c:pt idx="747">
                  <c:v>60</c:v>
                </c:pt>
                <c:pt idx="748">
                  <c:v>0</c:v>
                </c:pt>
                <c:pt idx="749">
                  <c:v>0</c:v>
                </c:pt>
                <c:pt idx="750">
                  <c:v>60</c:v>
                </c:pt>
                <c:pt idx="751">
                  <c:v>60</c:v>
                </c:pt>
                <c:pt idx="752">
                  <c:v>150</c:v>
                </c:pt>
                <c:pt idx="753">
                  <c:v>150</c:v>
                </c:pt>
                <c:pt idx="754">
                  <c:v>150</c:v>
                </c:pt>
                <c:pt idx="755">
                  <c:v>150</c:v>
                </c:pt>
                <c:pt idx="756">
                  <c:v>90</c:v>
                </c:pt>
                <c:pt idx="757">
                  <c:v>90</c:v>
                </c:pt>
                <c:pt idx="758">
                  <c:v>200</c:v>
                </c:pt>
                <c:pt idx="759">
                  <c:v>200</c:v>
                </c:pt>
                <c:pt idx="760">
                  <c:v>200</c:v>
                </c:pt>
                <c:pt idx="761">
                  <c:v>200</c:v>
                </c:pt>
                <c:pt idx="762">
                  <c:v>200</c:v>
                </c:pt>
                <c:pt idx="763">
                  <c:v>200</c:v>
                </c:pt>
                <c:pt idx="764">
                  <c:v>200</c:v>
                </c:pt>
                <c:pt idx="765">
                  <c:v>200</c:v>
                </c:pt>
                <c:pt idx="766">
                  <c:v>200</c:v>
                </c:pt>
                <c:pt idx="767">
                  <c:v>200</c:v>
                </c:pt>
                <c:pt idx="768">
                  <c:v>150</c:v>
                </c:pt>
                <c:pt idx="769">
                  <c:v>150</c:v>
                </c:pt>
                <c:pt idx="770">
                  <c:v>111.50858100000001</c:v>
                </c:pt>
                <c:pt idx="771">
                  <c:v>111.50858100000001</c:v>
                </c:pt>
                <c:pt idx="772">
                  <c:v>180.0001</c:v>
                </c:pt>
                <c:pt idx="773">
                  <c:v>180.0001</c:v>
                </c:pt>
                <c:pt idx="774">
                  <c:v>200</c:v>
                </c:pt>
                <c:pt idx="775">
                  <c:v>200</c:v>
                </c:pt>
                <c:pt idx="776">
                  <c:v>200</c:v>
                </c:pt>
                <c:pt idx="777">
                  <c:v>200</c:v>
                </c:pt>
                <c:pt idx="778">
                  <c:v>200</c:v>
                </c:pt>
                <c:pt idx="779">
                  <c:v>200</c:v>
                </c:pt>
                <c:pt idx="780">
                  <c:v>200</c:v>
                </c:pt>
                <c:pt idx="781">
                  <c:v>200</c:v>
                </c:pt>
                <c:pt idx="782">
                  <c:v>200</c:v>
                </c:pt>
                <c:pt idx="783">
                  <c:v>200</c:v>
                </c:pt>
                <c:pt idx="784">
                  <c:v>200</c:v>
                </c:pt>
                <c:pt idx="785">
                  <c:v>200</c:v>
                </c:pt>
                <c:pt idx="786">
                  <c:v>168.570718</c:v>
                </c:pt>
                <c:pt idx="787">
                  <c:v>168.570718</c:v>
                </c:pt>
                <c:pt idx="788">
                  <c:v>180.0001</c:v>
                </c:pt>
                <c:pt idx="789">
                  <c:v>180.0001</c:v>
                </c:pt>
                <c:pt idx="790">
                  <c:v>180.0001</c:v>
                </c:pt>
                <c:pt idx="791">
                  <c:v>180.0001</c:v>
                </c:pt>
                <c:pt idx="792">
                  <c:v>200</c:v>
                </c:pt>
                <c:pt idx="793">
                  <c:v>200</c:v>
                </c:pt>
                <c:pt idx="794">
                  <c:v>200</c:v>
                </c:pt>
                <c:pt idx="795">
                  <c:v>200</c:v>
                </c:pt>
                <c:pt idx="796">
                  <c:v>168.697305</c:v>
                </c:pt>
                <c:pt idx="797">
                  <c:v>168.697305</c:v>
                </c:pt>
                <c:pt idx="798">
                  <c:v>134.51307199999999</c:v>
                </c:pt>
                <c:pt idx="799">
                  <c:v>134.51307199999999</c:v>
                </c:pt>
                <c:pt idx="800">
                  <c:v>200</c:v>
                </c:pt>
                <c:pt idx="801">
                  <c:v>200</c:v>
                </c:pt>
                <c:pt idx="802">
                  <c:v>0</c:v>
                </c:pt>
                <c:pt idx="803">
                  <c:v>0</c:v>
                </c:pt>
                <c:pt idx="804">
                  <c:v>200</c:v>
                </c:pt>
                <c:pt idx="805">
                  <c:v>200</c:v>
                </c:pt>
                <c:pt idx="806">
                  <c:v>200</c:v>
                </c:pt>
                <c:pt idx="807">
                  <c:v>200</c:v>
                </c:pt>
                <c:pt idx="808">
                  <c:v>84.644332000000006</c:v>
                </c:pt>
                <c:pt idx="809">
                  <c:v>84.644332000000006</c:v>
                </c:pt>
                <c:pt idx="810">
                  <c:v>200</c:v>
                </c:pt>
                <c:pt idx="811">
                  <c:v>200</c:v>
                </c:pt>
                <c:pt idx="812">
                  <c:v>200</c:v>
                </c:pt>
                <c:pt idx="813">
                  <c:v>200</c:v>
                </c:pt>
                <c:pt idx="814">
                  <c:v>200</c:v>
                </c:pt>
                <c:pt idx="815">
                  <c:v>200</c:v>
                </c:pt>
                <c:pt idx="816">
                  <c:v>200</c:v>
                </c:pt>
                <c:pt idx="817">
                  <c:v>200</c:v>
                </c:pt>
                <c:pt idx="818">
                  <c:v>193.27500000000001</c:v>
                </c:pt>
                <c:pt idx="819">
                  <c:v>193.27500000000001</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c:v>
                </c:pt>
                <c:pt idx="840">
                  <c:v>0</c:v>
                </c:pt>
                <c:pt idx="841">
                  <c:v>0</c:v>
                </c:pt>
                <c:pt idx="842">
                  <c:v>0</c:v>
                </c:pt>
                <c:pt idx="843">
                  <c:v>0</c:v>
                </c:pt>
                <c:pt idx="844">
                  <c:v>0</c:v>
                </c:pt>
                <c:pt idx="845">
                  <c:v>0</c:v>
                </c:pt>
                <c:pt idx="846">
                  <c:v>0</c:v>
                </c:pt>
                <c:pt idx="847">
                  <c:v>0</c:v>
                </c:pt>
                <c:pt idx="848">
                  <c:v>0</c:v>
                </c:pt>
                <c:pt idx="849">
                  <c:v>0</c:v>
                </c:pt>
                <c:pt idx="850">
                  <c:v>0</c:v>
                </c:pt>
                <c:pt idx="851">
                  <c:v>0</c:v>
                </c:pt>
                <c:pt idx="852">
                  <c:v>0</c:v>
                </c:pt>
                <c:pt idx="853">
                  <c:v>0</c:v>
                </c:pt>
                <c:pt idx="854">
                  <c:v>0</c:v>
                </c:pt>
                <c:pt idx="855">
                  <c:v>0</c:v>
                </c:pt>
                <c:pt idx="856">
                  <c:v>0</c:v>
                </c:pt>
                <c:pt idx="857">
                  <c:v>0</c:v>
                </c:pt>
                <c:pt idx="858">
                  <c:v>0</c:v>
                </c:pt>
                <c:pt idx="859">
                  <c:v>0</c:v>
                </c:pt>
                <c:pt idx="860">
                  <c:v>0</c:v>
                </c:pt>
                <c:pt idx="861">
                  <c:v>0</c:v>
                </c:pt>
                <c:pt idx="862">
                  <c:v>0</c:v>
                </c:pt>
                <c:pt idx="863">
                  <c:v>0</c:v>
                </c:pt>
                <c:pt idx="864">
                  <c:v>0</c:v>
                </c:pt>
                <c:pt idx="865">
                  <c:v>0</c:v>
                </c:pt>
                <c:pt idx="866">
                  <c:v>0</c:v>
                </c:pt>
                <c:pt idx="867">
                  <c:v>0</c:v>
                </c:pt>
                <c:pt idx="868">
                  <c:v>0</c:v>
                </c:pt>
                <c:pt idx="869">
                  <c:v>0</c:v>
                </c:pt>
                <c:pt idx="870">
                  <c:v>0</c:v>
                </c:pt>
                <c:pt idx="871">
                  <c:v>0</c:v>
                </c:pt>
                <c:pt idx="872">
                  <c:v>0</c:v>
                </c:pt>
                <c:pt idx="873">
                  <c:v>0</c:v>
                </c:pt>
                <c:pt idx="874">
                  <c:v>0</c:v>
                </c:pt>
                <c:pt idx="875">
                  <c:v>0</c:v>
                </c:pt>
                <c:pt idx="876">
                  <c:v>0</c:v>
                </c:pt>
                <c:pt idx="877">
                  <c:v>0</c:v>
                </c:pt>
                <c:pt idx="878">
                  <c:v>0</c:v>
                </c:pt>
                <c:pt idx="879">
                  <c:v>0</c:v>
                </c:pt>
                <c:pt idx="880">
                  <c:v>0</c:v>
                </c:pt>
                <c:pt idx="881">
                  <c:v>0</c:v>
                </c:pt>
                <c:pt idx="882">
                  <c:v>0</c:v>
                </c:pt>
                <c:pt idx="883">
                  <c:v>0</c:v>
                </c:pt>
                <c:pt idx="884">
                  <c:v>0</c:v>
                </c:pt>
                <c:pt idx="885">
                  <c:v>0</c:v>
                </c:pt>
                <c:pt idx="886">
                  <c:v>0</c:v>
                </c:pt>
                <c:pt idx="887">
                  <c:v>0</c:v>
                </c:pt>
                <c:pt idx="888">
                  <c:v>0</c:v>
                </c:pt>
                <c:pt idx="889">
                  <c:v>0</c:v>
                </c:pt>
                <c:pt idx="890">
                  <c:v>0</c:v>
                </c:pt>
                <c:pt idx="891">
                  <c:v>0</c:v>
                </c:pt>
                <c:pt idx="892">
                  <c:v>0</c:v>
                </c:pt>
                <c:pt idx="893">
                  <c:v>0</c:v>
                </c:pt>
                <c:pt idx="894">
                  <c:v>0</c:v>
                </c:pt>
                <c:pt idx="895">
                  <c:v>0</c:v>
                </c:pt>
                <c:pt idx="896">
                  <c:v>0</c:v>
                </c:pt>
                <c:pt idx="897">
                  <c:v>0</c:v>
                </c:pt>
                <c:pt idx="898">
                  <c:v>0</c:v>
                </c:pt>
                <c:pt idx="899">
                  <c:v>0</c:v>
                </c:pt>
                <c:pt idx="900">
                  <c:v>0</c:v>
                </c:pt>
                <c:pt idx="901">
                  <c:v>0</c:v>
                </c:pt>
                <c:pt idx="902">
                  <c:v>0</c:v>
                </c:pt>
                <c:pt idx="903">
                  <c:v>0</c:v>
                </c:pt>
                <c:pt idx="904">
                  <c:v>0</c:v>
                </c:pt>
                <c:pt idx="905">
                  <c:v>0</c:v>
                </c:pt>
                <c:pt idx="906">
                  <c:v>0</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0</c:v>
                </c:pt>
                <c:pt idx="972">
                  <c:v>0</c:v>
                </c:pt>
                <c:pt idx="973">
                  <c:v>0</c:v>
                </c:pt>
                <c:pt idx="974">
                  <c:v>0</c:v>
                </c:pt>
                <c:pt idx="975">
                  <c:v>0</c:v>
                </c:pt>
                <c:pt idx="976">
                  <c:v>0</c:v>
                </c:pt>
                <c:pt idx="977">
                  <c:v>0</c:v>
                </c:pt>
                <c:pt idx="978">
                  <c:v>0</c:v>
                </c:pt>
                <c:pt idx="979">
                  <c:v>0</c:v>
                </c:pt>
                <c:pt idx="980">
                  <c:v>0</c:v>
                </c:pt>
                <c:pt idx="981">
                  <c:v>0</c:v>
                </c:pt>
                <c:pt idx="982">
                  <c:v>0</c:v>
                </c:pt>
                <c:pt idx="983">
                  <c:v>0</c:v>
                </c:pt>
                <c:pt idx="984">
                  <c:v>0</c:v>
                </c:pt>
                <c:pt idx="985">
                  <c:v>0</c:v>
                </c:pt>
                <c:pt idx="986">
                  <c:v>0</c:v>
                </c:pt>
                <c:pt idx="987">
                  <c:v>0</c:v>
                </c:pt>
                <c:pt idx="988">
                  <c:v>0</c:v>
                </c:pt>
                <c:pt idx="989">
                  <c:v>0</c:v>
                </c:pt>
                <c:pt idx="990">
                  <c:v>0</c:v>
                </c:pt>
                <c:pt idx="991">
                  <c:v>0</c:v>
                </c:pt>
                <c:pt idx="992">
                  <c:v>0</c:v>
                </c:pt>
                <c:pt idx="993">
                  <c:v>0</c:v>
                </c:pt>
                <c:pt idx="994">
                  <c:v>0</c:v>
                </c:pt>
                <c:pt idx="995">
                  <c:v>0</c:v>
                </c:pt>
                <c:pt idx="996">
                  <c:v>0</c:v>
                </c:pt>
                <c:pt idx="997">
                  <c:v>0</c:v>
                </c:pt>
                <c:pt idx="998">
                  <c:v>0</c:v>
                </c:pt>
                <c:pt idx="999">
                  <c:v>0</c:v>
                </c:pt>
                <c:pt idx="1000">
                  <c:v>0</c:v>
                </c:pt>
                <c:pt idx="1001">
                  <c:v>0</c:v>
                </c:pt>
                <c:pt idx="1002">
                  <c:v>0</c:v>
                </c:pt>
                <c:pt idx="1003">
                  <c:v>0</c:v>
                </c:pt>
                <c:pt idx="1004">
                  <c:v>0</c:v>
                </c:pt>
                <c:pt idx="1005">
                  <c:v>0</c:v>
                </c:pt>
                <c:pt idx="1006">
                  <c:v>0</c:v>
                </c:pt>
                <c:pt idx="1007">
                  <c:v>0</c:v>
                </c:pt>
                <c:pt idx="1008">
                  <c:v>0</c:v>
                </c:pt>
                <c:pt idx="1009">
                  <c:v>0</c:v>
                </c:pt>
                <c:pt idx="1010">
                  <c:v>0</c:v>
                </c:pt>
                <c:pt idx="1011">
                  <c:v>0</c:v>
                </c:pt>
                <c:pt idx="1012">
                  <c:v>13.827999999999999</c:v>
                </c:pt>
                <c:pt idx="1013">
                  <c:v>13.827999999999999</c:v>
                </c:pt>
                <c:pt idx="1014">
                  <c:v>38.512</c:v>
                </c:pt>
                <c:pt idx="1015">
                  <c:v>38.512</c:v>
                </c:pt>
                <c:pt idx="1016">
                  <c:v>26</c:v>
                </c:pt>
                <c:pt idx="1017">
                  <c:v>26</c:v>
                </c:pt>
                <c:pt idx="1018">
                  <c:v>48.013157999999997</c:v>
                </c:pt>
                <c:pt idx="1019">
                  <c:v>48.013157999999997</c:v>
                </c:pt>
                <c:pt idx="1020">
                  <c:v>16.899999999999999</c:v>
                </c:pt>
                <c:pt idx="1021">
                  <c:v>16.899999999999999</c:v>
                </c:pt>
                <c:pt idx="1022">
                  <c:v>0</c:v>
                </c:pt>
                <c:pt idx="1023">
                  <c:v>0</c:v>
                </c:pt>
                <c:pt idx="1024">
                  <c:v>0</c:v>
                </c:pt>
                <c:pt idx="1025">
                  <c:v>0</c:v>
                </c:pt>
                <c:pt idx="1026">
                  <c:v>37.200000000000003</c:v>
                </c:pt>
                <c:pt idx="1027">
                  <c:v>37.200000000000003</c:v>
                </c:pt>
                <c:pt idx="1028">
                  <c:v>23.6</c:v>
                </c:pt>
                <c:pt idx="1029">
                  <c:v>23.6</c:v>
                </c:pt>
                <c:pt idx="1030">
                  <c:v>0</c:v>
                </c:pt>
                <c:pt idx="1031">
                  <c:v>0</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60</c:v>
                </c:pt>
                <c:pt idx="1129">
                  <c:v>60</c:v>
                </c:pt>
                <c:pt idx="1130">
                  <c:v>90</c:v>
                </c:pt>
                <c:pt idx="1131">
                  <c:v>90</c:v>
                </c:pt>
                <c:pt idx="1132">
                  <c:v>59.340622000000003</c:v>
                </c:pt>
                <c:pt idx="1133">
                  <c:v>59.340622000000003</c:v>
                </c:pt>
                <c:pt idx="1134">
                  <c:v>0</c:v>
                </c:pt>
                <c:pt idx="1135">
                  <c:v>0</c:v>
                </c:pt>
                <c:pt idx="1136">
                  <c:v>0</c:v>
                </c:pt>
                <c:pt idx="1137">
                  <c:v>0</c:v>
                </c:pt>
                <c:pt idx="1138">
                  <c:v>0</c:v>
                </c:pt>
                <c:pt idx="1139">
                  <c:v>0</c:v>
                </c:pt>
                <c:pt idx="1140">
                  <c:v>0</c:v>
                </c:pt>
                <c:pt idx="1141">
                  <c:v>0</c:v>
                </c:pt>
                <c:pt idx="1142">
                  <c:v>0</c:v>
                </c:pt>
                <c:pt idx="1143">
                  <c:v>0</c:v>
                </c:pt>
                <c:pt idx="1144">
                  <c:v>0</c:v>
                </c:pt>
                <c:pt idx="1145">
                  <c:v>0</c:v>
                </c:pt>
                <c:pt idx="1146">
                  <c:v>0</c:v>
                </c:pt>
                <c:pt idx="1147">
                  <c:v>0</c:v>
                </c:pt>
                <c:pt idx="1148">
                  <c:v>0</c:v>
                </c:pt>
                <c:pt idx="1149">
                  <c:v>0</c:v>
                </c:pt>
                <c:pt idx="1150">
                  <c:v>0</c:v>
                </c:pt>
                <c:pt idx="1151">
                  <c:v>0</c:v>
                </c:pt>
                <c:pt idx="1152">
                  <c:v>60.000300000000003</c:v>
                </c:pt>
                <c:pt idx="1153">
                  <c:v>60.000300000000003</c:v>
                </c:pt>
                <c:pt idx="1154">
                  <c:v>180.00020000000001</c:v>
                </c:pt>
                <c:pt idx="1155">
                  <c:v>180.00020000000001</c:v>
                </c:pt>
                <c:pt idx="1156">
                  <c:v>200</c:v>
                </c:pt>
                <c:pt idx="1157">
                  <c:v>200</c:v>
                </c:pt>
                <c:pt idx="1158">
                  <c:v>2.9999999999999997E-4</c:v>
                </c:pt>
                <c:pt idx="1159">
                  <c:v>2.9999999999999997E-4</c:v>
                </c:pt>
                <c:pt idx="1160">
                  <c:v>90.000200000000007</c:v>
                </c:pt>
                <c:pt idx="1161">
                  <c:v>90.000200000000007</c:v>
                </c:pt>
                <c:pt idx="1162">
                  <c:v>200</c:v>
                </c:pt>
                <c:pt idx="1163">
                  <c:v>200</c:v>
                </c:pt>
                <c:pt idx="1164">
                  <c:v>1E-4</c:v>
                </c:pt>
                <c:pt idx="1165">
                  <c:v>1E-4</c:v>
                </c:pt>
                <c:pt idx="1166">
                  <c:v>128.92160000000001</c:v>
                </c:pt>
                <c:pt idx="1167">
                  <c:v>128.92160000000001</c:v>
                </c:pt>
                <c:pt idx="1168">
                  <c:v>90</c:v>
                </c:pt>
                <c:pt idx="1169">
                  <c:v>90</c:v>
                </c:pt>
                <c:pt idx="1170">
                  <c:v>180.00020000000001</c:v>
                </c:pt>
                <c:pt idx="1171">
                  <c:v>180.00020000000001</c:v>
                </c:pt>
                <c:pt idx="1172">
                  <c:v>150.00020000000001</c:v>
                </c:pt>
                <c:pt idx="1173">
                  <c:v>150.00020000000001</c:v>
                </c:pt>
                <c:pt idx="1174">
                  <c:v>200</c:v>
                </c:pt>
                <c:pt idx="1175">
                  <c:v>200</c:v>
                </c:pt>
                <c:pt idx="1176">
                  <c:v>200</c:v>
                </c:pt>
                <c:pt idx="1177">
                  <c:v>200</c:v>
                </c:pt>
                <c:pt idx="1178">
                  <c:v>200</c:v>
                </c:pt>
                <c:pt idx="1179">
                  <c:v>200</c:v>
                </c:pt>
                <c:pt idx="1180">
                  <c:v>200</c:v>
                </c:pt>
                <c:pt idx="1181">
                  <c:v>200</c:v>
                </c:pt>
                <c:pt idx="1182">
                  <c:v>0</c:v>
                </c:pt>
                <c:pt idx="1183">
                  <c:v>0</c:v>
                </c:pt>
                <c:pt idx="1184">
                  <c:v>200</c:v>
                </c:pt>
                <c:pt idx="1185">
                  <c:v>200</c:v>
                </c:pt>
                <c:pt idx="1186">
                  <c:v>60</c:v>
                </c:pt>
                <c:pt idx="1187">
                  <c:v>60</c:v>
                </c:pt>
                <c:pt idx="1188">
                  <c:v>0</c:v>
                </c:pt>
                <c:pt idx="1189">
                  <c:v>0</c:v>
                </c:pt>
                <c:pt idx="1190">
                  <c:v>200</c:v>
                </c:pt>
                <c:pt idx="1191">
                  <c:v>200</c:v>
                </c:pt>
                <c:pt idx="1192">
                  <c:v>200</c:v>
                </c:pt>
                <c:pt idx="1193">
                  <c:v>200</c:v>
                </c:pt>
                <c:pt idx="1194">
                  <c:v>200</c:v>
                </c:pt>
                <c:pt idx="1195">
                  <c:v>200</c:v>
                </c:pt>
                <c:pt idx="1196">
                  <c:v>200</c:v>
                </c:pt>
                <c:pt idx="1197">
                  <c:v>200</c:v>
                </c:pt>
                <c:pt idx="1198">
                  <c:v>200</c:v>
                </c:pt>
                <c:pt idx="1199">
                  <c:v>200</c:v>
                </c:pt>
                <c:pt idx="1200">
                  <c:v>0</c:v>
                </c:pt>
                <c:pt idx="1201">
                  <c:v>0</c:v>
                </c:pt>
                <c:pt idx="1202">
                  <c:v>197.23699999999999</c:v>
                </c:pt>
                <c:pt idx="1203">
                  <c:v>197.23699999999999</c:v>
                </c:pt>
                <c:pt idx="1204">
                  <c:v>197.30799999999999</c:v>
                </c:pt>
                <c:pt idx="1205">
                  <c:v>197.30799999999999</c:v>
                </c:pt>
                <c:pt idx="1206">
                  <c:v>57.728734000000003</c:v>
                </c:pt>
                <c:pt idx="1207">
                  <c:v>57.728734000000003</c:v>
                </c:pt>
                <c:pt idx="1208">
                  <c:v>3.117</c:v>
                </c:pt>
                <c:pt idx="1209">
                  <c:v>3.117</c:v>
                </c:pt>
                <c:pt idx="1210">
                  <c:v>0</c:v>
                </c:pt>
                <c:pt idx="1211">
                  <c:v>0</c:v>
                </c:pt>
                <c:pt idx="1212">
                  <c:v>0</c:v>
                </c:pt>
                <c:pt idx="1213">
                  <c:v>0</c:v>
                </c:pt>
                <c:pt idx="1214">
                  <c:v>0</c:v>
                </c:pt>
                <c:pt idx="1215">
                  <c:v>0</c:v>
                </c:pt>
                <c:pt idx="1216">
                  <c:v>0</c:v>
                </c:pt>
                <c:pt idx="1217">
                  <c:v>0</c:v>
                </c:pt>
                <c:pt idx="1218">
                  <c:v>0</c:v>
                </c:pt>
                <c:pt idx="1219">
                  <c:v>0</c:v>
                </c:pt>
                <c:pt idx="1220">
                  <c:v>0</c:v>
                </c:pt>
                <c:pt idx="1221">
                  <c:v>0</c:v>
                </c:pt>
                <c:pt idx="1222">
                  <c:v>0</c:v>
                </c:pt>
                <c:pt idx="1223">
                  <c:v>0</c:v>
                </c:pt>
                <c:pt idx="1224">
                  <c:v>0</c:v>
                </c:pt>
                <c:pt idx="1225">
                  <c:v>0</c:v>
                </c:pt>
                <c:pt idx="1226">
                  <c:v>0</c:v>
                </c:pt>
                <c:pt idx="1227">
                  <c:v>0</c:v>
                </c:pt>
                <c:pt idx="1228">
                  <c:v>0</c:v>
                </c:pt>
                <c:pt idx="1229">
                  <c:v>0</c:v>
                </c:pt>
                <c:pt idx="1230">
                  <c:v>0</c:v>
                </c:pt>
                <c:pt idx="1231">
                  <c:v>0</c:v>
                </c:pt>
                <c:pt idx="1232">
                  <c:v>0</c:v>
                </c:pt>
                <c:pt idx="1233">
                  <c:v>0</c:v>
                </c:pt>
                <c:pt idx="1234">
                  <c:v>0</c:v>
                </c:pt>
                <c:pt idx="1235">
                  <c:v>0</c:v>
                </c:pt>
                <c:pt idx="1236">
                  <c:v>0</c:v>
                </c:pt>
                <c:pt idx="1237">
                  <c:v>0</c:v>
                </c:pt>
                <c:pt idx="1238">
                  <c:v>0</c:v>
                </c:pt>
                <c:pt idx="1239">
                  <c:v>0</c:v>
                </c:pt>
                <c:pt idx="1240">
                  <c:v>0</c:v>
                </c:pt>
                <c:pt idx="1241">
                  <c:v>0</c:v>
                </c:pt>
                <c:pt idx="1242">
                  <c:v>0</c:v>
                </c:pt>
                <c:pt idx="1243">
                  <c:v>0</c:v>
                </c:pt>
                <c:pt idx="1244">
                  <c:v>0</c:v>
                </c:pt>
                <c:pt idx="1245">
                  <c:v>0</c:v>
                </c:pt>
                <c:pt idx="1246">
                  <c:v>0</c:v>
                </c:pt>
                <c:pt idx="1247">
                  <c:v>0</c:v>
                </c:pt>
                <c:pt idx="1248">
                  <c:v>0</c:v>
                </c:pt>
                <c:pt idx="1249">
                  <c:v>0</c:v>
                </c:pt>
                <c:pt idx="1250">
                  <c:v>0</c:v>
                </c:pt>
                <c:pt idx="1251">
                  <c:v>0</c:v>
                </c:pt>
                <c:pt idx="1252">
                  <c:v>0</c:v>
                </c:pt>
                <c:pt idx="1253">
                  <c:v>0</c:v>
                </c:pt>
                <c:pt idx="1254">
                  <c:v>0</c:v>
                </c:pt>
                <c:pt idx="1255">
                  <c:v>0</c:v>
                </c:pt>
                <c:pt idx="1256">
                  <c:v>0</c:v>
                </c:pt>
                <c:pt idx="1257">
                  <c:v>0</c:v>
                </c:pt>
                <c:pt idx="1258">
                  <c:v>0</c:v>
                </c:pt>
                <c:pt idx="1259">
                  <c:v>0</c:v>
                </c:pt>
                <c:pt idx="1260">
                  <c:v>0</c:v>
                </c:pt>
                <c:pt idx="1261">
                  <c:v>0</c:v>
                </c:pt>
                <c:pt idx="1262">
                  <c:v>0</c:v>
                </c:pt>
                <c:pt idx="1263">
                  <c:v>0</c:v>
                </c:pt>
                <c:pt idx="1264">
                  <c:v>0</c:v>
                </c:pt>
                <c:pt idx="1265">
                  <c:v>0</c:v>
                </c:pt>
                <c:pt idx="1266">
                  <c:v>0</c:v>
                </c:pt>
                <c:pt idx="1267">
                  <c:v>0</c:v>
                </c:pt>
                <c:pt idx="1268">
                  <c:v>0</c:v>
                </c:pt>
                <c:pt idx="1269">
                  <c:v>0</c:v>
                </c:pt>
                <c:pt idx="1270">
                  <c:v>0</c:v>
                </c:pt>
                <c:pt idx="1271">
                  <c:v>0</c:v>
                </c:pt>
                <c:pt idx="1272">
                  <c:v>0</c:v>
                </c:pt>
                <c:pt idx="1273">
                  <c:v>0</c:v>
                </c:pt>
                <c:pt idx="1274">
                  <c:v>0</c:v>
                </c:pt>
                <c:pt idx="1275">
                  <c:v>0</c:v>
                </c:pt>
                <c:pt idx="1276">
                  <c:v>0</c:v>
                </c:pt>
                <c:pt idx="1277">
                  <c:v>0</c:v>
                </c:pt>
                <c:pt idx="1278">
                  <c:v>0</c:v>
                </c:pt>
                <c:pt idx="1279">
                  <c:v>0</c:v>
                </c:pt>
                <c:pt idx="1280">
                  <c:v>0</c:v>
                </c:pt>
                <c:pt idx="1281">
                  <c:v>0</c:v>
                </c:pt>
                <c:pt idx="1282">
                  <c:v>0</c:v>
                </c:pt>
                <c:pt idx="1283">
                  <c:v>0</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101.415296</c:v>
                </c:pt>
                <c:pt idx="1309">
                  <c:v>101.415296</c:v>
                </c:pt>
                <c:pt idx="1310">
                  <c:v>0</c:v>
                </c:pt>
                <c:pt idx="1311">
                  <c:v>0</c:v>
                </c:pt>
                <c:pt idx="1312">
                  <c:v>1E-4</c:v>
                </c:pt>
                <c:pt idx="1313">
                  <c:v>1E-4</c:v>
                </c:pt>
                <c:pt idx="1314">
                  <c:v>48.418466000000002</c:v>
                </c:pt>
                <c:pt idx="1315">
                  <c:v>48.418466000000002</c:v>
                </c:pt>
                <c:pt idx="1316">
                  <c:v>98.156084000000007</c:v>
                </c:pt>
                <c:pt idx="1317">
                  <c:v>98.156084000000007</c:v>
                </c:pt>
                <c:pt idx="1318">
                  <c:v>60.000100000000003</c:v>
                </c:pt>
                <c:pt idx="1319">
                  <c:v>60.000100000000003</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numCache>
            </c:numRef>
          </c:yVal>
          <c:smooth val="0"/>
          <c:extLst>
            <c:ext xmlns:c16="http://schemas.microsoft.com/office/drawing/2014/chart" uri="{C3380CC4-5D6E-409C-BE32-E72D297353CC}">
              <c16:uniqueId val="{00000000-C6DD-42B7-AABB-992809F7D90C}"/>
            </c:ext>
          </c:extLst>
        </c:ser>
        <c:ser>
          <c:idx val="1"/>
          <c:order val="1"/>
          <c:tx>
            <c:v>11月</c:v>
          </c:tx>
          <c:spPr>
            <a:ln w="19050">
              <a:solidFill>
                <a:srgbClr val="159A8C"/>
              </a:solidFill>
            </a:ln>
          </c:spPr>
          <c:marker>
            <c:symbol val="none"/>
          </c:marker>
          <c:xVal>
            <c:numRef>
              <c:f>'Chart Data'!$C$2:$C$1345</c:f>
              <c:numCache>
                <c:formatCode>General</c:formatCode>
                <c:ptCount val="1344"/>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numCache>
            </c:numRef>
          </c:xVal>
          <c:yVal>
            <c:numRef>
              <c:f>'Chart Data'!$D$2:$D$1345</c:f>
              <c:numCache>
                <c:formatCode>0</c:formatCode>
                <c:ptCount val="1344"/>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98.178884999999994</c:v>
                </c:pt>
                <c:pt idx="33">
                  <c:v>98.178884999999994</c:v>
                </c:pt>
                <c:pt idx="34">
                  <c:v>0</c:v>
                </c:pt>
                <c:pt idx="35">
                  <c:v>0</c:v>
                </c:pt>
                <c:pt idx="36">
                  <c:v>0</c:v>
                </c:pt>
                <c:pt idx="37">
                  <c:v>0</c:v>
                </c:pt>
                <c:pt idx="38">
                  <c:v>0</c:v>
                </c:pt>
                <c:pt idx="39">
                  <c:v>0</c:v>
                </c:pt>
                <c:pt idx="40">
                  <c:v>0</c:v>
                </c:pt>
                <c:pt idx="41">
                  <c:v>0</c:v>
                </c:pt>
                <c:pt idx="42">
                  <c:v>0</c:v>
                </c:pt>
                <c:pt idx="43">
                  <c:v>0</c:v>
                </c:pt>
                <c:pt idx="44">
                  <c:v>98.178884999999994</c:v>
                </c:pt>
                <c:pt idx="45">
                  <c:v>98.178884999999994</c:v>
                </c:pt>
                <c:pt idx="46">
                  <c:v>98.178884999999994</c:v>
                </c:pt>
                <c:pt idx="47">
                  <c:v>98.178884999999994</c:v>
                </c:pt>
                <c:pt idx="48">
                  <c:v>0</c:v>
                </c:pt>
                <c:pt idx="49">
                  <c:v>0</c:v>
                </c:pt>
                <c:pt idx="50">
                  <c:v>0</c:v>
                </c:pt>
                <c:pt idx="51">
                  <c:v>0</c:v>
                </c:pt>
                <c:pt idx="52">
                  <c:v>7.8849999999999998</c:v>
                </c:pt>
                <c:pt idx="53">
                  <c:v>7.8849999999999998</c:v>
                </c:pt>
                <c:pt idx="54">
                  <c:v>13.91</c:v>
                </c:pt>
                <c:pt idx="55">
                  <c:v>13.91</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60</c:v>
                </c:pt>
                <c:pt idx="175">
                  <c:v>60</c:v>
                </c:pt>
                <c:pt idx="176">
                  <c:v>0</c:v>
                </c:pt>
                <c:pt idx="177">
                  <c:v>0</c:v>
                </c:pt>
                <c:pt idx="178">
                  <c:v>82.608421000000007</c:v>
                </c:pt>
                <c:pt idx="179">
                  <c:v>82.608421000000007</c:v>
                </c:pt>
                <c:pt idx="180">
                  <c:v>98.178884999999994</c:v>
                </c:pt>
                <c:pt idx="181">
                  <c:v>98.178884999999994</c:v>
                </c:pt>
                <c:pt idx="182">
                  <c:v>98.178884999999994</c:v>
                </c:pt>
                <c:pt idx="183">
                  <c:v>98.178884999999994</c:v>
                </c:pt>
                <c:pt idx="184">
                  <c:v>90.000100000000003</c:v>
                </c:pt>
                <c:pt idx="185">
                  <c:v>90.000100000000003</c:v>
                </c:pt>
                <c:pt idx="186">
                  <c:v>98.178884999999994</c:v>
                </c:pt>
                <c:pt idx="187">
                  <c:v>98.178884999999994</c:v>
                </c:pt>
                <c:pt idx="188">
                  <c:v>98.178884999999994</c:v>
                </c:pt>
                <c:pt idx="189">
                  <c:v>98.178884999999994</c:v>
                </c:pt>
                <c:pt idx="190">
                  <c:v>98.178884999999994</c:v>
                </c:pt>
                <c:pt idx="191">
                  <c:v>98.178884999999994</c:v>
                </c:pt>
                <c:pt idx="192">
                  <c:v>98.178884999999994</c:v>
                </c:pt>
                <c:pt idx="193">
                  <c:v>98.178884999999994</c:v>
                </c:pt>
                <c:pt idx="194">
                  <c:v>98.178884999999994</c:v>
                </c:pt>
                <c:pt idx="195">
                  <c:v>98.178884999999994</c:v>
                </c:pt>
                <c:pt idx="196">
                  <c:v>98.178884999999994</c:v>
                </c:pt>
                <c:pt idx="197">
                  <c:v>98.178884999999994</c:v>
                </c:pt>
                <c:pt idx="198">
                  <c:v>0</c:v>
                </c:pt>
                <c:pt idx="199">
                  <c:v>0</c:v>
                </c:pt>
                <c:pt idx="200">
                  <c:v>0</c:v>
                </c:pt>
                <c:pt idx="201">
                  <c:v>0</c:v>
                </c:pt>
                <c:pt idx="202">
                  <c:v>0</c:v>
                </c:pt>
                <c:pt idx="203">
                  <c:v>0</c:v>
                </c:pt>
                <c:pt idx="204">
                  <c:v>119.9999</c:v>
                </c:pt>
                <c:pt idx="205">
                  <c:v>119.9999</c:v>
                </c:pt>
                <c:pt idx="206">
                  <c:v>0</c:v>
                </c:pt>
                <c:pt idx="207">
                  <c:v>0</c:v>
                </c:pt>
                <c:pt idx="208">
                  <c:v>180.0001</c:v>
                </c:pt>
                <c:pt idx="209">
                  <c:v>180.0001</c:v>
                </c:pt>
                <c:pt idx="210">
                  <c:v>150</c:v>
                </c:pt>
                <c:pt idx="211">
                  <c:v>150</c:v>
                </c:pt>
                <c:pt idx="212">
                  <c:v>90</c:v>
                </c:pt>
                <c:pt idx="213">
                  <c:v>90</c:v>
                </c:pt>
                <c:pt idx="214">
                  <c:v>0</c:v>
                </c:pt>
                <c:pt idx="215">
                  <c:v>0</c:v>
                </c:pt>
                <c:pt idx="216">
                  <c:v>183.91354899999999</c:v>
                </c:pt>
                <c:pt idx="217">
                  <c:v>183.91354899999999</c:v>
                </c:pt>
                <c:pt idx="218">
                  <c:v>183.91354899999999</c:v>
                </c:pt>
                <c:pt idx="219">
                  <c:v>183.91354899999999</c:v>
                </c:pt>
                <c:pt idx="220">
                  <c:v>0</c:v>
                </c:pt>
                <c:pt idx="221">
                  <c:v>0</c:v>
                </c:pt>
                <c:pt idx="222">
                  <c:v>183.91354899999999</c:v>
                </c:pt>
                <c:pt idx="223">
                  <c:v>183.91354899999999</c:v>
                </c:pt>
                <c:pt idx="224">
                  <c:v>183.91354899999999</c:v>
                </c:pt>
                <c:pt idx="225">
                  <c:v>183.91354899999999</c:v>
                </c:pt>
                <c:pt idx="226">
                  <c:v>0</c:v>
                </c:pt>
                <c:pt idx="227">
                  <c:v>0</c:v>
                </c:pt>
                <c:pt idx="228">
                  <c:v>0</c:v>
                </c:pt>
                <c:pt idx="229">
                  <c:v>0</c:v>
                </c:pt>
                <c:pt idx="230">
                  <c:v>183.91354899999999</c:v>
                </c:pt>
                <c:pt idx="231">
                  <c:v>183.91354899999999</c:v>
                </c:pt>
                <c:pt idx="232">
                  <c:v>187.12770499999999</c:v>
                </c:pt>
                <c:pt idx="233">
                  <c:v>187.12770499999999</c:v>
                </c:pt>
                <c:pt idx="234">
                  <c:v>0</c:v>
                </c:pt>
                <c:pt idx="235">
                  <c:v>0</c:v>
                </c:pt>
                <c:pt idx="236">
                  <c:v>187.12770499999999</c:v>
                </c:pt>
                <c:pt idx="237">
                  <c:v>187.12770499999999</c:v>
                </c:pt>
                <c:pt idx="238">
                  <c:v>187.12770499999999</c:v>
                </c:pt>
                <c:pt idx="239">
                  <c:v>187.12770499999999</c:v>
                </c:pt>
                <c:pt idx="240">
                  <c:v>200</c:v>
                </c:pt>
                <c:pt idx="241">
                  <c:v>200</c:v>
                </c:pt>
                <c:pt idx="242">
                  <c:v>197.029</c:v>
                </c:pt>
                <c:pt idx="243">
                  <c:v>197.029</c:v>
                </c:pt>
                <c:pt idx="244">
                  <c:v>47.25</c:v>
                </c:pt>
                <c:pt idx="245">
                  <c:v>47.25</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0</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0</c:v>
                </c:pt>
                <c:pt idx="299">
                  <c:v>0</c:v>
                </c:pt>
                <c:pt idx="300">
                  <c:v>0</c:v>
                </c:pt>
                <c:pt idx="301">
                  <c:v>0</c:v>
                </c:pt>
                <c:pt idx="302">
                  <c:v>0</c:v>
                </c:pt>
                <c:pt idx="303">
                  <c:v>0</c:v>
                </c:pt>
                <c:pt idx="304">
                  <c:v>0</c:v>
                </c:pt>
                <c:pt idx="305">
                  <c:v>0</c:v>
                </c:pt>
                <c:pt idx="306">
                  <c:v>0</c:v>
                </c:pt>
                <c:pt idx="307">
                  <c:v>0</c:v>
                </c:pt>
                <c:pt idx="308">
                  <c:v>0</c:v>
                </c:pt>
                <c:pt idx="309">
                  <c:v>0</c:v>
                </c:pt>
                <c:pt idx="310">
                  <c:v>0</c:v>
                </c:pt>
                <c:pt idx="311">
                  <c:v>0</c:v>
                </c:pt>
                <c:pt idx="312">
                  <c:v>0</c:v>
                </c:pt>
                <c:pt idx="313">
                  <c:v>0</c:v>
                </c:pt>
                <c:pt idx="314">
                  <c:v>0</c:v>
                </c:pt>
                <c:pt idx="315">
                  <c:v>0</c:v>
                </c:pt>
                <c:pt idx="316">
                  <c:v>0</c:v>
                </c:pt>
                <c:pt idx="317">
                  <c:v>0</c:v>
                </c:pt>
                <c:pt idx="318">
                  <c:v>0</c:v>
                </c:pt>
                <c:pt idx="319">
                  <c:v>0</c:v>
                </c:pt>
                <c:pt idx="320">
                  <c:v>0</c:v>
                </c:pt>
                <c:pt idx="321">
                  <c:v>0</c:v>
                </c:pt>
                <c:pt idx="322">
                  <c:v>0</c:v>
                </c:pt>
                <c:pt idx="323">
                  <c:v>0</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60</c:v>
                </c:pt>
                <c:pt idx="347">
                  <c:v>60</c:v>
                </c:pt>
                <c:pt idx="348">
                  <c:v>60</c:v>
                </c:pt>
                <c:pt idx="349">
                  <c:v>60</c:v>
                </c:pt>
                <c:pt idx="350">
                  <c:v>0</c:v>
                </c:pt>
                <c:pt idx="351">
                  <c:v>0</c:v>
                </c:pt>
                <c:pt idx="352">
                  <c:v>60</c:v>
                </c:pt>
                <c:pt idx="353">
                  <c:v>60</c:v>
                </c:pt>
                <c:pt idx="354">
                  <c:v>60</c:v>
                </c:pt>
                <c:pt idx="355">
                  <c:v>60</c:v>
                </c:pt>
                <c:pt idx="356">
                  <c:v>0</c:v>
                </c:pt>
                <c:pt idx="357">
                  <c:v>0</c:v>
                </c:pt>
                <c:pt idx="358">
                  <c:v>0</c:v>
                </c:pt>
                <c:pt idx="359">
                  <c:v>0</c:v>
                </c:pt>
                <c:pt idx="360">
                  <c:v>1E-4</c:v>
                </c:pt>
                <c:pt idx="361">
                  <c:v>1E-4</c:v>
                </c:pt>
                <c:pt idx="362">
                  <c:v>1E-4</c:v>
                </c:pt>
                <c:pt idx="363">
                  <c:v>1E-4</c:v>
                </c:pt>
                <c:pt idx="364">
                  <c:v>1E-4</c:v>
                </c:pt>
                <c:pt idx="365">
                  <c:v>1E-4</c:v>
                </c:pt>
                <c:pt idx="366">
                  <c:v>31.61242</c:v>
                </c:pt>
                <c:pt idx="367">
                  <c:v>31.61242</c:v>
                </c:pt>
                <c:pt idx="368">
                  <c:v>200</c:v>
                </c:pt>
                <c:pt idx="369">
                  <c:v>200</c:v>
                </c:pt>
                <c:pt idx="370">
                  <c:v>200</c:v>
                </c:pt>
                <c:pt idx="371">
                  <c:v>200</c:v>
                </c:pt>
                <c:pt idx="372">
                  <c:v>180</c:v>
                </c:pt>
                <c:pt idx="373">
                  <c:v>180</c:v>
                </c:pt>
                <c:pt idx="374">
                  <c:v>0</c:v>
                </c:pt>
                <c:pt idx="375">
                  <c:v>0</c:v>
                </c:pt>
                <c:pt idx="376">
                  <c:v>150</c:v>
                </c:pt>
                <c:pt idx="377">
                  <c:v>150</c:v>
                </c:pt>
                <c:pt idx="378">
                  <c:v>0</c:v>
                </c:pt>
                <c:pt idx="379">
                  <c:v>0</c:v>
                </c:pt>
                <c:pt idx="380">
                  <c:v>120.0001</c:v>
                </c:pt>
                <c:pt idx="381">
                  <c:v>120.0001</c:v>
                </c:pt>
                <c:pt idx="382">
                  <c:v>150</c:v>
                </c:pt>
                <c:pt idx="383">
                  <c:v>150</c:v>
                </c:pt>
                <c:pt idx="384">
                  <c:v>0</c:v>
                </c:pt>
                <c:pt idx="385">
                  <c:v>0</c:v>
                </c:pt>
                <c:pt idx="386">
                  <c:v>200</c:v>
                </c:pt>
                <c:pt idx="387">
                  <c:v>200</c:v>
                </c:pt>
                <c:pt idx="388">
                  <c:v>200</c:v>
                </c:pt>
                <c:pt idx="389">
                  <c:v>200</c:v>
                </c:pt>
                <c:pt idx="390">
                  <c:v>200</c:v>
                </c:pt>
                <c:pt idx="391">
                  <c:v>200</c:v>
                </c:pt>
                <c:pt idx="392">
                  <c:v>0</c:v>
                </c:pt>
                <c:pt idx="393">
                  <c:v>0</c:v>
                </c:pt>
                <c:pt idx="394">
                  <c:v>200</c:v>
                </c:pt>
                <c:pt idx="395">
                  <c:v>200</c:v>
                </c:pt>
                <c:pt idx="396">
                  <c:v>0</c:v>
                </c:pt>
                <c:pt idx="397">
                  <c:v>0</c:v>
                </c:pt>
                <c:pt idx="398">
                  <c:v>180</c:v>
                </c:pt>
                <c:pt idx="399">
                  <c:v>180</c:v>
                </c:pt>
                <c:pt idx="400">
                  <c:v>200</c:v>
                </c:pt>
                <c:pt idx="401">
                  <c:v>200</c:v>
                </c:pt>
                <c:pt idx="402">
                  <c:v>200</c:v>
                </c:pt>
                <c:pt idx="403">
                  <c:v>200</c:v>
                </c:pt>
                <c:pt idx="404">
                  <c:v>200</c:v>
                </c:pt>
                <c:pt idx="405">
                  <c:v>200</c:v>
                </c:pt>
                <c:pt idx="406">
                  <c:v>200</c:v>
                </c:pt>
                <c:pt idx="407">
                  <c:v>200</c:v>
                </c:pt>
                <c:pt idx="408">
                  <c:v>120.0001</c:v>
                </c:pt>
                <c:pt idx="409">
                  <c:v>120.0001</c:v>
                </c:pt>
                <c:pt idx="410">
                  <c:v>163.08470700000001</c:v>
                </c:pt>
                <c:pt idx="411">
                  <c:v>163.08470700000001</c:v>
                </c:pt>
                <c:pt idx="412">
                  <c:v>174.15554599999999</c:v>
                </c:pt>
                <c:pt idx="413">
                  <c:v>174.15554599999999</c:v>
                </c:pt>
                <c:pt idx="414">
                  <c:v>200</c:v>
                </c:pt>
                <c:pt idx="415">
                  <c:v>200</c:v>
                </c:pt>
                <c:pt idx="416">
                  <c:v>190.29781</c:v>
                </c:pt>
                <c:pt idx="417">
                  <c:v>190.29781</c:v>
                </c:pt>
                <c:pt idx="418">
                  <c:v>200</c:v>
                </c:pt>
                <c:pt idx="419">
                  <c:v>200</c:v>
                </c:pt>
                <c:pt idx="420">
                  <c:v>180</c:v>
                </c:pt>
                <c:pt idx="421">
                  <c:v>180</c:v>
                </c:pt>
                <c:pt idx="422">
                  <c:v>200</c:v>
                </c:pt>
                <c:pt idx="423">
                  <c:v>200</c:v>
                </c:pt>
                <c:pt idx="424">
                  <c:v>0</c:v>
                </c:pt>
                <c:pt idx="425">
                  <c:v>0</c:v>
                </c:pt>
                <c:pt idx="426">
                  <c:v>200</c:v>
                </c:pt>
                <c:pt idx="427">
                  <c:v>200</c:v>
                </c:pt>
                <c:pt idx="428">
                  <c:v>0</c:v>
                </c:pt>
                <c:pt idx="429">
                  <c:v>0</c:v>
                </c:pt>
                <c:pt idx="430">
                  <c:v>200</c:v>
                </c:pt>
                <c:pt idx="431">
                  <c:v>200</c:v>
                </c:pt>
                <c:pt idx="432">
                  <c:v>200</c:v>
                </c:pt>
                <c:pt idx="433">
                  <c:v>200</c:v>
                </c:pt>
                <c:pt idx="434">
                  <c:v>193.375</c:v>
                </c:pt>
                <c:pt idx="435">
                  <c:v>193.375</c:v>
                </c:pt>
                <c:pt idx="436">
                  <c:v>24.3</c:v>
                </c:pt>
                <c:pt idx="437">
                  <c:v>24.3</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0</c:v>
                </c:pt>
                <c:pt idx="473">
                  <c:v>0</c:v>
                </c:pt>
                <c:pt idx="474">
                  <c:v>0</c:v>
                </c:pt>
                <c:pt idx="475">
                  <c:v>0</c:v>
                </c:pt>
                <c:pt idx="476">
                  <c:v>0</c:v>
                </c:pt>
                <c:pt idx="477">
                  <c:v>0</c:v>
                </c:pt>
                <c:pt idx="478">
                  <c:v>0</c:v>
                </c:pt>
                <c:pt idx="479">
                  <c:v>0</c:v>
                </c:pt>
                <c:pt idx="480">
                  <c:v>0</c:v>
                </c:pt>
                <c:pt idx="481">
                  <c:v>0</c:v>
                </c:pt>
                <c:pt idx="482">
                  <c:v>0</c:v>
                </c:pt>
                <c:pt idx="483">
                  <c:v>0</c:v>
                </c:pt>
                <c:pt idx="484">
                  <c:v>0</c:v>
                </c:pt>
                <c:pt idx="485">
                  <c:v>0</c:v>
                </c:pt>
                <c:pt idx="486">
                  <c:v>0</c:v>
                </c:pt>
                <c:pt idx="487">
                  <c:v>0</c:v>
                </c:pt>
                <c:pt idx="488">
                  <c:v>0</c:v>
                </c:pt>
                <c:pt idx="489">
                  <c:v>0</c:v>
                </c:pt>
                <c:pt idx="490">
                  <c:v>0</c:v>
                </c:pt>
                <c:pt idx="491">
                  <c:v>0</c:v>
                </c:pt>
                <c:pt idx="492">
                  <c:v>0</c:v>
                </c:pt>
                <c:pt idx="493">
                  <c:v>0</c:v>
                </c:pt>
                <c:pt idx="494">
                  <c:v>0</c:v>
                </c:pt>
                <c:pt idx="495">
                  <c:v>0</c:v>
                </c:pt>
                <c:pt idx="496">
                  <c:v>0</c:v>
                </c:pt>
                <c:pt idx="497">
                  <c:v>0</c:v>
                </c:pt>
                <c:pt idx="498">
                  <c:v>0</c:v>
                </c:pt>
                <c:pt idx="499">
                  <c:v>0</c:v>
                </c:pt>
                <c:pt idx="500">
                  <c:v>0</c:v>
                </c:pt>
                <c:pt idx="501">
                  <c:v>0</c:v>
                </c:pt>
                <c:pt idx="502">
                  <c:v>0</c:v>
                </c:pt>
                <c:pt idx="503">
                  <c:v>0</c:v>
                </c:pt>
                <c:pt idx="504">
                  <c:v>0</c:v>
                </c:pt>
                <c:pt idx="505">
                  <c:v>0</c:v>
                </c:pt>
                <c:pt idx="506">
                  <c:v>0</c:v>
                </c:pt>
                <c:pt idx="507">
                  <c:v>0</c:v>
                </c:pt>
                <c:pt idx="508">
                  <c:v>0</c:v>
                </c:pt>
                <c:pt idx="509">
                  <c:v>0</c:v>
                </c:pt>
                <c:pt idx="510">
                  <c:v>0</c:v>
                </c:pt>
                <c:pt idx="511">
                  <c:v>0</c:v>
                </c:pt>
                <c:pt idx="512">
                  <c:v>0</c:v>
                </c:pt>
                <c:pt idx="513">
                  <c:v>0</c:v>
                </c:pt>
                <c:pt idx="514">
                  <c:v>0</c:v>
                </c:pt>
                <c:pt idx="515">
                  <c:v>0</c:v>
                </c:pt>
                <c:pt idx="516">
                  <c:v>0</c:v>
                </c:pt>
                <c:pt idx="517">
                  <c:v>0</c:v>
                </c:pt>
                <c:pt idx="518">
                  <c:v>0</c:v>
                </c:pt>
                <c:pt idx="519">
                  <c:v>0</c:v>
                </c:pt>
                <c:pt idx="520">
                  <c:v>53.488737</c:v>
                </c:pt>
                <c:pt idx="521">
                  <c:v>53.488737</c:v>
                </c:pt>
                <c:pt idx="522">
                  <c:v>16.388389</c:v>
                </c:pt>
                <c:pt idx="523">
                  <c:v>16.388389</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60</c:v>
                </c:pt>
                <c:pt idx="547">
                  <c:v>60</c:v>
                </c:pt>
                <c:pt idx="548">
                  <c:v>90</c:v>
                </c:pt>
                <c:pt idx="549">
                  <c:v>90</c:v>
                </c:pt>
                <c:pt idx="550">
                  <c:v>73.263357999999997</c:v>
                </c:pt>
                <c:pt idx="551">
                  <c:v>73.263357999999997</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1E-4</c:v>
                </c:pt>
                <c:pt idx="567">
                  <c:v>1E-4</c:v>
                </c:pt>
                <c:pt idx="568">
                  <c:v>200</c:v>
                </c:pt>
                <c:pt idx="569">
                  <c:v>200</c:v>
                </c:pt>
                <c:pt idx="570">
                  <c:v>200</c:v>
                </c:pt>
                <c:pt idx="571">
                  <c:v>200</c:v>
                </c:pt>
                <c:pt idx="572">
                  <c:v>60</c:v>
                </c:pt>
                <c:pt idx="573">
                  <c:v>60</c:v>
                </c:pt>
                <c:pt idx="574">
                  <c:v>120</c:v>
                </c:pt>
                <c:pt idx="575">
                  <c:v>120</c:v>
                </c:pt>
                <c:pt idx="576">
                  <c:v>200</c:v>
                </c:pt>
                <c:pt idx="577">
                  <c:v>200</c:v>
                </c:pt>
                <c:pt idx="578">
                  <c:v>0</c:v>
                </c:pt>
                <c:pt idx="579">
                  <c:v>0</c:v>
                </c:pt>
                <c:pt idx="580">
                  <c:v>0</c:v>
                </c:pt>
                <c:pt idx="581">
                  <c:v>0</c:v>
                </c:pt>
                <c:pt idx="582">
                  <c:v>0</c:v>
                </c:pt>
                <c:pt idx="583">
                  <c:v>0</c:v>
                </c:pt>
                <c:pt idx="584">
                  <c:v>68.491619</c:v>
                </c:pt>
                <c:pt idx="585">
                  <c:v>68.491619</c:v>
                </c:pt>
                <c:pt idx="586">
                  <c:v>0</c:v>
                </c:pt>
                <c:pt idx="587">
                  <c:v>0</c:v>
                </c:pt>
                <c:pt idx="588">
                  <c:v>1E-4</c:v>
                </c:pt>
                <c:pt idx="589">
                  <c:v>1E-4</c:v>
                </c:pt>
                <c:pt idx="590">
                  <c:v>1E-4</c:v>
                </c:pt>
                <c:pt idx="591">
                  <c:v>1E-4</c:v>
                </c:pt>
                <c:pt idx="592">
                  <c:v>0</c:v>
                </c:pt>
                <c:pt idx="593">
                  <c:v>0</c:v>
                </c:pt>
                <c:pt idx="594">
                  <c:v>200</c:v>
                </c:pt>
                <c:pt idx="595">
                  <c:v>200</c:v>
                </c:pt>
                <c:pt idx="596">
                  <c:v>200</c:v>
                </c:pt>
                <c:pt idx="597">
                  <c:v>200</c:v>
                </c:pt>
                <c:pt idx="598">
                  <c:v>0</c:v>
                </c:pt>
                <c:pt idx="599">
                  <c:v>0</c:v>
                </c:pt>
                <c:pt idx="600">
                  <c:v>200</c:v>
                </c:pt>
                <c:pt idx="601">
                  <c:v>200</c:v>
                </c:pt>
                <c:pt idx="602">
                  <c:v>200</c:v>
                </c:pt>
                <c:pt idx="603">
                  <c:v>200</c:v>
                </c:pt>
                <c:pt idx="604">
                  <c:v>200</c:v>
                </c:pt>
                <c:pt idx="605">
                  <c:v>200</c:v>
                </c:pt>
                <c:pt idx="606">
                  <c:v>8.8337070000000004</c:v>
                </c:pt>
                <c:pt idx="607">
                  <c:v>8.8337070000000004</c:v>
                </c:pt>
                <c:pt idx="608">
                  <c:v>200</c:v>
                </c:pt>
                <c:pt idx="609">
                  <c:v>200</c:v>
                </c:pt>
                <c:pt idx="610">
                  <c:v>200</c:v>
                </c:pt>
                <c:pt idx="611">
                  <c:v>200</c:v>
                </c:pt>
                <c:pt idx="612">
                  <c:v>200</c:v>
                </c:pt>
                <c:pt idx="613">
                  <c:v>200</c:v>
                </c:pt>
                <c:pt idx="614">
                  <c:v>0</c:v>
                </c:pt>
                <c:pt idx="615">
                  <c:v>0</c:v>
                </c:pt>
                <c:pt idx="616">
                  <c:v>200</c:v>
                </c:pt>
                <c:pt idx="617">
                  <c:v>200</c:v>
                </c:pt>
                <c:pt idx="618">
                  <c:v>112.864861</c:v>
                </c:pt>
                <c:pt idx="619">
                  <c:v>112.864861</c:v>
                </c:pt>
                <c:pt idx="620">
                  <c:v>200</c:v>
                </c:pt>
                <c:pt idx="621">
                  <c:v>200</c:v>
                </c:pt>
                <c:pt idx="622">
                  <c:v>200</c:v>
                </c:pt>
                <c:pt idx="623">
                  <c:v>200</c:v>
                </c:pt>
                <c:pt idx="624">
                  <c:v>200</c:v>
                </c:pt>
                <c:pt idx="625">
                  <c:v>200</c:v>
                </c:pt>
                <c:pt idx="626">
                  <c:v>4.5999999999999999E-2</c:v>
                </c:pt>
                <c:pt idx="627">
                  <c:v>4.5999999999999999E-2</c:v>
                </c:pt>
                <c:pt idx="628">
                  <c:v>4.3008439999999997</c:v>
                </c:pt>
                <c:pt idx="629">
                  <c:v>4.3008439999999997</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0</c:v>
                </c:pt>
                <c:pt idx="665">
                  <c:v>0</c:v>
                </c:pt>
                <c:pt idx="666">
                  <c:v>0</c:v>
                </c:pt>
                <c:pt idx="667">
                  <c:v>0</c:v>
                </c:pt>
                <c:pt idx="668">
                  <c:v>0</c:v>
                </c:pt>
                <c:pt idx="669">
                  <c:v>0</c:v>
                </c:pt>
                <c:pt idx="670">
                  <c:v>0</c:v>
                </c:pt>
                <c:pt idx="671">
                  <c:v>0</c:v>
                </c:pt>
                <c:pt idx="672">
                  <c:v>0</c:v>
                </c:pt>
                <c:pt idx="673">
                  <c:v>0</c:v>
                </c:pt>
                <c:pt idx="674">
                  <c:v>0</c:v>
                </c:pt>
                <c:pt idx="675">
                  <c:v>0</c:v>
                </c:pt>
                <c:pt idx="676">
                  <c:v>0</c:v>
                </c:pt>
                <c:pt idx="677">
                  <c:v>0</c:v>
                </c:pt>
                <c:pt idx="678">
                  <c:v>0</c:v>
                </c:pt>
                <c:pt idx="679">
                  <c:v>0</c:v>
                </c:pt>
                <c:pt idx="680">
                  <c:v>0</c:v>
                </c:pt>
                <c:pt idx="681">
                  <c:v>0</c:v>
                </c:pt>
                <c:pt idx="682">
                  <c:v>0</c:v>
                </c:pt>
                <c:pt idx="683">
                  <c:v>0</c:v>
                </c:pt>
                <c:pt idx="684">
                  <c:v>0</c:v>
                </c:pt>
                <c:pt idx="685">
                  <c:v>0</c:v>
                </c:pt>
                <c:pt idx="686">
                  <c:v>0</c:v>
                </c:pt>
                <c:pt idx="687">
                  <c:v>0</c:v>
                </c:pt>
                <c:pt idx="688">
                  <c:v>0</c:v>
                </c:pt>
                <c:pt idx="689">
                  <c:v>0</c:v>
                </c:pt>
                <c:pt idx="690">
                  <c:v>0</c:v>
                </c:pt>
                <c:pt idx="691">
                  <c:v>0</c:v>
                </c:pt>
                <c:pt idx="692">
                  <c:v>0</c:v>
                </c:pt>
                <c:pt idx="693">
                  <c:v>0</c:v>
                </c:pt>
                <c:pt idx="694">
                  <c:v>0</c:v>
                </c:pt>
                <c:pt idx="695">
                  <c:v>0</c:v>
                </c:pt>
                <c:pt idx="696">
                  <c:v>0</c:v>
                </c:pt>
                <c:pt idx="697">
                  <c:v>0</c:v>
                </c:pt>
                <c:pt idx="698">
                  <c:v>0</c:v>
                </c:pt>
                <c:pt idx="699">
                  <c:v>0</c:v>
                </c:pt>
                <c:pt idx="700">
                  <c:v>0</c:v>
                </c:pt>
                <c:pt idx="701">
                  <c:v>0</c:v>
                </c:pt>
                <c:pt idx="702">
                  <c:v>0</c:v>
                </c:pt>
                <c:pt idx="703">
                  <c:v>0</c:v>
                </c:pt>
                <c:pt idx="704">
                  <c:v>0</c:v>
                </c:pt>
                <c:pt idx="705">
                  <c:v>0</c:v>
                </c:pt>
                <c:pt idx="706">
                  <c:v>0</c:v>
                </c:pt>
                <c:pt idx="707">
                  <c:v>0</c:v>
                </c:pt>
                <c:pt idx="708">
                  <c:v>20.5059</c:v>
                </c:pt>
                <c:pt idx="709">
                  <c:v>20.5059</c:v>
                </c:pt>
                <c:pt idx="710">
                  <c:v>0</c:v>
                </c:pt>
                <c:pt idx="711">
                  <c:v>0</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60</c:v>
                </c:pt>
                <c:pt idx="745">
                  <c:v>60</c:v>
                </c:pt>
                <c:pt idx="746">
                  <c:v>90</c:v>
                </c:pt>
                <c:pt idx="747">
                  <c:v>90</c:v>
                </c:pt>
                <c:pt idx="748">
                  <c:v>90</c:v>
                </c:pt>
                <c:pt idx="749">
                  <c:v>90</c:v>
                </c:pt>
                <c:pt idx="750">
                  <c:v>90</c:v>
                </c:pt>
                <c:pt idx="751">
                  <c:v>90</c:v>
                </c:pt>
                <c:pt idx="752">
                  <c:v>90</c:v>
                </c:pt>
                <c:pt idx="753">
                  <c:v>90</c:v>
                </c:pt>
                <c:pt idx="754">
                  <c:v>180</c:v>
                </c:pt>
                <c:pt idx="755">
                  <c:v>180</c:v>
                </c:pt>
                <c:pt idx="756">
                  <c:v>200</c:v>
                </c:pt>
                <c:pt idx="757">
                  <c:v>200</c:v>
                </c:pt>
                <c:pt idx="758">
                  <c:v>210</c:v>
                </c:pt>
                <c:pt idx="759">
                  <c:v>210</c:v>
                </c:pt>
                <c:pt idx="760">
                  <c:v>210.0001</c:v>
                </c:pt>
                <c:pt idx="761">
                  <c:v>210.0001</c:v>
                </c:pt>
                <c:pt idx="762">
                  <c:v>234.781274</c:v>
                </c:pt>
                <c:pt idx="763">
                  <c:v>234.781274</c:v>
                </c:pt>
                <c:pt idx="764">
                  <c:v>222.37823599999999</c:v>
                </c:pt>
                <c:pt idx="765">
                  <c:v>222.37823599999999</c:v>
                </c:pt>
                <c:pt idx="766">
                  <c:v>210</c:v>
                </c:pt>
                <c:pt idx="767">
                  <c:v>210</c:v>
                </c:pt>
                <c:pt idx="768">
                  <c:v>200</c:v>
                </c:pt>
                <c:pt idx="769">
                  <c:v>200</c:v>
                </c:pt>
                <c:pt idx="770">
                  <c:v>200</c:v>
                </c:pt>
                <c:pt idx="771">
                  <c:v>200</c:v>
                </c:pt>
                <c:pt idx="772">
                  <c:v>234.781274</c:v>
                </c:pt>
                <c:pt idx="773">
                  <c:v>234.781274</c:v>
                </c:pt>
                <c:pt idx="774">
                  <c:v>210.0001</c:v>
                </c:pt>
                <c:pt idx="775">
                  <c:v>210.0001</c:v>
                </c:pt>
                <c:pt idx="776">
                  <c:v>200</c:v>
                </c:pt>
                <c:pt idx="777">
                  <c:v>200</c:v>
                </c:pt>
                <c:pt idx="778">
                  <c:v>230.90538000000001</c:v>
                </c:pt>
                <c:pt idx="779">
                  <c:v>230.90538000000001</c:v>
                </c:pt>
                <c:pt idx="780">
                  <c:v>233.85704699999999</c:v>
                </c:pt>
                <c:pt idx="781">
                  <c:v>233.85704699999999</c:v>
                </c:pt>
                <c:pt idx="782">
                  <c:v>200</c:v>
                </c:pt>
                <c:pt idx="783">
                  <c:v>200</c:v>
                </c:pt>
                <c:pt idx="784">
                  <c:v>200</c:v>
                </c:pt>
                <c:pt idx="785">
                  <c:v>200</c:v>
                </c:pt>
                <c:pt idx="786">
                  <c:v>200</c:v>
                </c:pt>
                <c:pt idx="787">
                  <c:v>200</c:v>
                </c:pt>
                <c:pt idx="788">
                  <c:v>234.781274</c:v>
                </c:pt>
                <c:pt idx="789">
                  <c:v>234.781274</c:v>
                </c:pt>
                <c:pt idx="790">
                  <c:v>230.912826</c:v>
                </c:pt>
                <c:pt idx="791">
                  <c:v>230.912826</c:v>
                </c:pt>
                <c:pt idx="792">
                  <c:v>200</c:v>
                </c:pt>
                <c:pt idx="793">
                  <c:v>200</c:v>
                </c:pt>
                <c:pt idx="794">
                  <c:v>234.781274</c:v>
                </c:pt>
                <c:pt idx="795">
                  <c:v>234.781274</c:v>
                </c:pt>
                <c:pt idx="796">
                  <c:v>234.781274</c:v>
                </c:pt>
                <c:pt idx="797">
                  <c:v>234.781274</c:v>
                </c:pt>
                <c:pt idx="798">
                  <c:v>234.781274</c:v>
                </c:pt>
                <c:pt idx="799">
                  <c:v>234.781274</c:v>
                </c:pt>
                <c:pt idx="800">
                  <c:v>200</c:v>
                </c:pt>
                <c:pt idx="801">
                  <c:v>200</c:v>
                </c:pt>
                <c:pt idx="802">
                  <c:v>200</c:v>
                </c:pt>
                <c:pt idx="803">
                  <c:v>200</c:v>
                </c:pt>
                <c:pt idx="804">
                  <c:v>200</c:v>
                </c:pt>
                <c:pt idx="805">
                  <c:v>200</c:v>
                </c:pt>
                <c:pt idx="806">
                  <c:v>200</c:v>
                </c:pt>
                <c:pt idx="807">
                  <c:v>200</c:v>
                </c:pt>
                <c:pt idx="808">
                  <c:v>200</c:v>
                </c:pt>
                <c:pt idx="809">
                  <c:v>200</c:v>
                </c:pt>
                <c:pt idx="810">
                  <c:v>200</c:v>
                </c:pt>
                <c:pt idx="811">
                  <c:v>200</c:v>
                </c:pt>
                <c:pt idx="812">
                  <c:v>200</c:v>
                </c:pt>
                <c:pt idx="813">
                  <c:v>200</c:v>
                </c:pt>
                <c:pt idx="814">
                  <c:v>200</c:v>
                </c:pt>
                <c:pt idx="815">
                  <c:v>200</c:v>
                </c:pt>
                <c:pt idx="816">
                  <c:v>201.41615899999999</c:v>
                </c:pt>
                <c:pt idx="817">
                  <c:v>201.41615899999999</c:v>
                </c:pt>
                <c:pt idx="818">
                  <c:v>197.45500000000001</c:v>
                </c:pt>
                <c:pt idx="819">
                  <c:v>197.45500000000001</c:v>
                </c:pt>
                <c:pt idx="820">
                  <c:v>37.9</c:v>
                </c:pt>
                <c:pt idx="821">
                  <c:v>37.9</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c:v>
                </c:pt>
                <c:pt idx="840">
                  <c:v>0</c:v>
                </c:pt>
                <c:pt idx="841">
                  <c:v>0</c:v>
                </c:pt>
                <c:pt idx="842">
                  <c:v>0</c:v>
                </c:pt>
                <c:pt idx="843">
                  <c:v>0</c:v>
                </c:pt>
                <c:pt idx="844">
                  <c:v>0</c:v>
                </c:pt>
                <c:pt idx="845">
                  <c:v>0</c:v>
                </c:pt>
                <c:pt idx="846">
                  <c:v>0</c:v>
                </c:pt>
                <c:pt idx="847">
                  <c:v>0</c:v>
                </c:pt>
                <c:pt idx="848">
                  <c:v>0</c:v>
                </c:pt>
                <c:pt idx="849">
                  <c:v>0</c:v>
                </c:pt>
                <c:pt idx="850">
                  <c:v>0</c:v>
                </c:pt>
                <c:pt idx="851">
                  <c:v>0</c:v>
                </c:pt>
                <c:pt idx="852">
                  <c:v>0</c:v>
                </c:pt>
                <c:pt idx="853">
                  <c:v>0</c:v>
                </c:pt>
                <c:pt idx="854">
                  <c:v>0</c:v>
                </c:pt>
                <c:pt idx="855">
                  <c:v>0</c:v>
                </c:pt>
                <c:pt idx="856">
                  <c:v>0</c:v>
                </c:pt>
                <c:pt idx="857">
                  <c:v>0</c:v>
                </c:pt>
                <c:pt idx="858">
                  <c:v>0</c:v>
                </c:pt>
                <c:pt idx="859">
                  <c:v>0</c:v>
                </c:pt>
                <c:pt idx="860">
                  <c:v>0</c:v>
                </c:pt>
                <c:pt idx="861">
                  <c:v>0</c:v>
                </c:pt>
                <c:pt idx="862">
                  <c:v>0</c:v>
                </c:pt>
                <c:pt idx="863">
                  <c:v>0</c:v>
                </c:pt>
                <c:pt idx="864">
                  <c:v>0</c:v>
                </c:pt>
                <c:pt idx="865">
                  <c:v>0</c:v>
                </c:pt>
                <c:pt idx="866">
                  <c:v>0</c:v>
                </c:pt>
                <c:pt idx="867">
                  <c:v>0</c:v>
                </c:pt>
                <c:pt idx="868">
                  <c:v>0</c:v>
                </c:pt>
                <c:pt idx="869">
                  <c:v>0</c:v>
                </c:pt>
                <c:pt idx="870">
                  <c:v>0</c:v>
                </c:pt>
                <c:pt idx="871">
                  <c:v>0</c:v>
                </c:pt>
                <c:pt idx="872">
                  <c:v>0</c:v>
                </c:pt>
                <c:pt idx="873">
                  <c:v>0</c:v>
                </c:pt>
                <c:pt idx="874">
                  <c:v>0</c:v>
                </c:pt>
                <c:pt idx="875">
                  <c:v>0</c:v>
                </c:pt>
                <c:pt idx="876">
                  <c:v>0</c:v>
                </c:pt>
                <c:pt idx="877">
                  <c:v>0</c:v>
                </c:pt>
                <c:pt idx="878">
                  <c:v>0</c:v>
                </c:pt>
                <c:pt idx="879">
                  <c:v>0</c:v>
                </c:pt>
                <c:pt idx="880">
                  <c:v>0</c:v>
                </c:pt>
                <c:pt idx="881">
                  <c:v>0</c:v>
                </c:pt>
                <c:pt idx="882">
                  <c:v>0</c:v>
                </c:pt>
                <c:pt idx="883">
                  <c:v>0</c:v>
                </c:pt>
                <c:pt idx="884">
                  <c:v>0</c:v>
                </c:pt>
                <c:pt idx="885">
                  <c:v>0</c:v>
                </c:pt>
                <c:pt idx="886">
                  <c:v>0</c:v>
                </c:pt>
                <c:pt idx="887">
                  <c:v>0</c:v>
                </c:pt>
                <c:pt idx="888">
                  <c:v>0</c:v>
                </c:pt>
                <c:pt idx="889">
                  <c:v>0</c:v>
                </c:pt>
                <c:pt idx="890">
                  <c:v>0</c:v>
                </c:pt>
                <c:pt idx="891">
                  <c:v>0</c:v>
                </c:pt>
                <c:pt idx="892">
                  <c:v>0</c:v>
                </c:pt>
                <c:pt idx="893">
                  <c:v>0</c:v>
                </c:pt>
                <c:pt idx="894">
                  <c:v>0</c:v>
                </c:pt>
                <c:pt idx="895">
                  <c:v>0</c:v>
                </c:pt>
                <c:pt idx="896">
                  <c:v>2.8</c:v>
                </c:pt>
                <c:pt idx="897">
                  <c:v>2.8</c:v>
                </c:pt>
                <c:pt idx="898">
                  <c:v>0</c:v>
                </c:pt>
                <c:pt idx="899">
                  <c:v>0</c:v>
                </c:pt>
                <c:pt idx="900">
                  <c:v>0</c:v>
                </c:pt>
                <c:pt idx="901">
                  <c:v>0</c:v>
                </c:pt>
                <c:pt idx="902">
                  <c:v>0</c:v>
                </c:pt>
                <c:pt idx="903">
                  <c:v>0</c:v>
                </c:pt>
                <c:pt idx="904">
                  <c:v>0</c:v>
                </c:pt>
                <c:pt idx="905">
                  <c:v>0</c:v>
                </c:pt>
                <c:pt idx="906">
                  <c:v>0</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30.414784999999998</c:v>
                </c:pt>
                <c:pt idx="953">
                  <c:v>30.414784999999998</c:v>
                </c:pt>
                <c:pt idx="954">
                  <c:v>0</c:v>
                </c:pt>
                <c:pt idx="955">
                  <c:v>0</c:v>
                </c:pt>
                <c:pt idx="956">
                  <c:v>1E-4</c:v>
                </c:pt>
                <c:pt idx="957">
                  <c:v>1E-4</c:v>
                </c:pt>
                <c:pt idx="958">
                  <c:v>2.0000000000000001E-4</c:v>
                </c:pt>
                <c:pt idx="959">
                  <c:v>2.0000000000000001E-4</c:v>
                </c:pt>
                <c:pt idx="960">
                  <c:v>0</c:v>
                </c:pt>
                <c:pt idx="961">
                  <c:v>0</c:v>
                </c:pt>
                <c:pt idx="962">
                  <c:v>0</c:v>
                </c:pt>
                <c:pt idx="963">
                  <c:v>0</c:v>
                </c:pt>
                <c:pt idx="964">
                  <c:v>0</c:v>
                </c:pt>
                <c:pt idx="965">
                  <c:v>0</c:v>
                </c:pt>
                <c:pt idx="966">
                  <c:v>0</c:v>
                </c:pt>
                <c:pt idx="967">
                  <c:v>0</c:v>
                </c:pt>
                <c:pt idx="968">
                  <c:v>200</c:v>
                </c:pt>
                <c:pt idx="969">
                  <c:v>200</c:v>
                </c:pt>
                <c:pt idx="970">
                  <c:v>0</c:v>
                </c:pt>
                <c:pt idx="971">
                  <c:v>0</c:v>
                </c:pt>
                <c:pt idx="972">
                  <c:v>0</c:v>
                </c:pt>
                <c:pt idx="973">
                  <c:v>0</c:v>
                </c:pt>
                <c:pt idx="974">
                  <c:v>0</c:v>
                </c:pt>
                <c:pt idx="975">
                  <c:v>0</c:v>
                </c:pt>
                <c:pt idx="976">
                  <c:v>104.671358</c:v>
                </c:pt>
                <c:pt idx="977">
                  <c:v>104.671358</c:v>
                </c:pt>
                <c:pt idx="978">
                  <c:v>180.0001</c:v>
                </c:pt>
                <c:pt idx="979">
                  <c:v>180.0001</c:v>
                </c:pt>
                <c:pt idx="980">
                  <c:v>0</c:v>
                </c:pt>
                <c:pt idx="981">
                  <c:v>0</c:v>
                </c:pt>
                <c:pt idx="982">
                  <c:v>120.00020000000001</c:v>
                </c:pt>
                <c:pt idx="983">
                  <c:v>120.00020000000001</c:v>
                </c:pt>
                <c:pt idx="984">
                  <c:v>200</c:v>
                </c:pt>
                <c:pt idx="985">
                  <c:v>200</c:v>
                </c:pt>
                <c:pt idx="986">
                  <c:v>150</c:v>
                </c:pt>
                <c:pt idx="987">
                  <c:v>150</c:v>
                </c:pt>
                <c:pt idx="988">
                  <c:v>90</c:v>
                </c:pt>
                <c:pt idx="989">
                  <c:v>90</c:v>
                </c:pt>
                <c:pt idx="990">
                  <c:v>60</c:v>
                </c:pt>
                <c:pt idx="991">
                  <c:v>60</c:v>
                </c:pt>
                <c:pt idx="992">
                  <c:v>120</c:v>
                </c:pt>
                <c:pt idx="993">
                  <c:v>120</c:v>
                </c:pt>
                <c:pt idx="994">
                  <c:v>200</c:v>
                </c:pt>
                <c:pt idx="995">
                  <c:v>200</c:v>
                </c:pt>
                <c:pt idx="996">
                  <c:v>200</c:v>
                </c:pt>
                <c:pt idx="997">
                  <c:v>200</c:v>
                </c:pt>
                <c:pt idx="998">
                  <c:v>200</c:v>
                </c:pt>
                <c:pt idx="999">
                  <c:v>200</c:v>
                </c:pt>
                <c:pt idx="1000">
                  <c:v>200</c:v>
                </c:pt>
                <c:pt idx="1001">
                  <c:v>200</c:v>
                </c:pt>
                <c:pt idx="1002">
                  <c:v>200</c:v>
                </c:pt>
                <c:pt idx="1003">
                  <c:v>200</c:v>
                </c:pt>
                <c:pt idx="1004">
                  <c:v>200</c:v>
                </c:pt>
                <c:pt idx="1005">
                  <c:v>200</c:v>
                </c:pt>
                <c:pt idx="1006">
                  <c:v>200</c:v>
                </c:pt>
                <c:pt idx="1007">
                  <c:v>200</c:v>
                </c:pt>
                <c:pt idx="1008">
                  <c:v>0</c:v>
                </c:pt>
                <c:pt idx="1009">
                  <c:v>0</c:v>
                </c:pt>
                <c:pt idx="1010">
                  <c:v>0</c:v>
                </c:pt>
                <c:pt idx="1011">
                  <c:v>0</c:v>
                </c:pt>
                <c:pt idx="1012">
                  <c:v>0</c:v>
                </c:pt>
                <c:pt idx="1013">
                  <c:v>0</c:v>
                </c:pt>
                <c:pt idx="1014">
                  <c:v>13.939</c:v>
                </c:pt>
                <c:pt idx="1015">
                  <c:v>13.939</c:v>
                </c:pt>
                <c:pt idx="1016">
                  <c:v>167.13442499999999</c:v>
                </c:pt>
                <c:pt idx="1017">
                  <c:v>167.13442499999999</c:v>
                </c:pt>
                <c:pt idx="1018">
                  <c:v>49.233747000000001</c:v>
                </c:pt>
                <c:pt idx="1019">
                  <c:v>49.233747000000001</c:v>
                </c:pt>
                <c:pt idx="1020">
                  <c:v>6.7</c:v>
                </c:pt>
                <c:pt idx="1021">
                  <c:v>6.7</c:v>
                </c:pt>
                <c:pt idx="1022">
                  <c:v>0</c:v>
                </c:pt>
                <c:pt idx="1023">
                  <c:v>0</c:v>
                </c:pt>
                <c:pt idx="1024">
                  <c:v>0</c:v>
                </c:pt>
                <c:pt idx="1025">
                  <c:v>0</c:v>
                </c:pt>
                <c:pt idx="1026">
                  <c:v>0</c:v>
                </c:pt>
                <c:pt idx="1027">
                  <c:v>0</c:v>
                </c:pt>
                <c:pt idx="1028">
                  <c:v>0</c:v>
                </c:pt>
                <c:pt idx="1029">
                  <c:v>0</c:v>
                </c:pt>
                <c:pt idx="1030">
                  <c:v>0</c:v>
                </c:pt>
                <c:pt idx="1031">
                  <c:v>0</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3.7196750000000001</c:v>
                </c:pt>
                <c:pt idx="1129">
                  <c:v>3.7196750000000001</c:v>
                </c:pt>
                <c:pt idx="1130">
                  <c:v>54.379227</c:v>
                </c:pt>
                <c:pt idx="1131">
                  <c:v>54.379227</c:v>
                </c:pt>
                <c:pt idx="1132">
                  <c:v>0</c:v>
                </c:pt>
                <c:pt idx="1133">
                  <c:v>0</c:v>
                </c:pt>
                <c:pt idx="1134">
                  <c:v>0</c:v>
                </c:pt>
                <c:pt idx="1135">
                  <c:v>0</c:v>
                </c:pt>
                <c:pt idx="1136">
                  <c:v>1E-4</c:v>
                </c:pt>
                <c:pt idx="1137">
                  <c:v>1E-4</c:v>
                </c:pt>
                <c:pt idx="1138">
                  <c:v>1E-4</c:v>
                </c:pt>
                <c:pt idx="1139">
                  <c:v>1E-4</c:v>
                </c:pt>
                <c:pt idx="1140">
                  <c:v>1E-4</c:v>
                </c:pt>
                <c:pt idx="1141">
                  <c:v>1E-4</c:v>
                </c:pt>
                <c:pt idx="1142">
                  <c:v>90</c:v>
                </c:pt>
                <c:pt idx="1143">
                  <c:v>90</c:v>
                </c:pt>
                <c:pt idx="1144">
                  <c:v>0</c:v>
                </c:pt>
                <c:pt idx="1145">
                  <c:v>0</c:v>
                </c:pt>
                <c:pt idx="1146">
                  <c:v>0</c:v>
                </c:pt>
                <c:pt idx="1147">
                  <c:v>0</c:v>
                </c:pt>
                <c:pt idx="1148">
                  <c:v>0</c:v>
                </c:pt>
                <c:pt idx="1149">
                  <c:v>0</c:v>
                </c:pt>
                <c:pt idx="1150">
                  <c:v>0</c:v>
                </c:pt>
                <c:pt idx="1151">
                  <c:v>0</c:v>
                </c:pt>
                <c:pt idx="1152">
                  <c:v>150</c:v>
                </c:pt>
                <c:pt idx="1153">
                  <c:v>150</c:v>
                </c:pt>
                <c:pt idx="1154">
                  <c:v>60</c:v>
                </c:pt>
                <c:pt idx="1155">
                  <c:v>60</c:v>
                </c:pt>
                <c:pt idx="1156">
                  <c:v>0</c:v>
                </c:pt>
                <c:pt idx="1157">
                  <c:v>0</c:v>
                </c:pt>
                <c:pt idx="1158">
                  <c:v>0</c:v>
                </c:pt>
                <c:pt idx="1159">
                  <c:v>0</c:v>
                </c:pt>
                <c:pt idx="1160">
                  <c:v>90.000200000000007</c:v>
                </c:pt>
                <c:pt idx="1161">
                  <c:v>90.000200000000007</c:v>
                </c:pt>
                <c:pt idx="1162">
                  <c:v>90.000100000000003</c:v>
                </c:pt>
                <c:pt idx="1163">
                  <c:v>90.000100000000003</c:v>
                </c:pt>
                <c:pt idx="1164">
                  <c:v>75.863547999999994</c:v>
                </c:pt>
                <c:pt idx="1165">
                  <c:v>75.863547999999994</c:v>
                </c:pt>
                <c:pt idx="1166">
                  <c:v>163.26253700000001</c:v>
                </c:pt>
                <c:pt idx="1167">
                  <c:v>163.26253700000001</c:v>
                </c:pt>
                <c:pt idx="1168">
                  <c:v>120</c:v>
                </c:pt>
                <c:pt idx="1169">
                  <c:v>120</c:v>
                </c:pt>
                <c:pt idx="1170">
                  <c:v>150</c:v>
                </c:pt>
                <c:pt idx="1171">
                  <c:v>150</c:v>
                </c:pt>
                <c:pt idx="1172">
                  <c:v>163.26253700000001</c:v>
                </c:pt>
                <c:pt idx="1173">
                  <c:v>163.26253700000001</c:v>
                </c:pt>
                <c:pt idx="1174">
                  <c:v>0</c:v>
                </c:pt>
                <c:pt idx="1175">
                  <c:v>0</c:v>
                </c:pt>
                <c:pt idx="1176">
                  <c:v>0</c:v>
                </c:pt>
                <c:pt idx="1177">
                  <c:v>0</c:v>
                </c:pt>
                <c:pt idx="1178">
                  <c:v>165.39392100000001</c:v>
                </c:pt>
                <c:pt idx="1179">
                  <c:v>165.39392100000001</c:v>
                </c:pt>
                <c:pt idx="1180">
                  <c:v>0</c:v>
                </c:pt>
                <c:pt idx="1181">
                  <c:v>0</c:v>
                </c:pt>
                <c:pt idx="1182">
                  <c:v>200</c:v>
                </c:pt>
                <c:pt idx="1183">
                  <c:v>200</c:v>
                </c:pt>
                <c:pt idx="1184">
                  <c:v>0</c:v>
                </c:pt>
                <c:pt idx="1185">
                  <c:v>0</c:v>
                </c:pt>
                <c:pt idx="1186">
                  <c:v>200</c:v>
                </c:pt>
                <c:pt idx="1187">
                  <c:v>200</c:v>
                </c:pt>
                <c:pt idx="1188">
                  <c:v>0</c:v>
                </c:pt>
                <c:pt idx="1189">
                  <c:v>0</c:v>
                </c:pt>
                <c:pt idx="1190">
                  <c:v>0</c:v>
                </c:pt>
                <c:pt idx="1191">
                  <c:v>0</c:v>
                </c:pt>
                <c:pt idx="1192">
                  <c:v>200</c:v>
                </c:pt>
                <c:pt idx="1193">
                  <c:v>200</c:v>
                </c:pt>
                <c:pt idx="1194">
                  <c:v>200</c:v>
                </c:pt>
                <c:pt idx="1195">
                  <c:v>200</c:v>
                </c:pt>
                <c:pt idx="1196">
                  <c:v>100.784722</c:v>
                </c:pt>
                <c:pt idx="1197">
                  <c:v>100.784722</c:v>
                </c:pt>
                <c:pt idx="1198">
                  <c:v>200</c:v>
                </c:pt>
                <c:pt idx="1199">
                  <c:v>200</c:v>
                </c:pt>
                <c:pt idx="1200">
                  <c:v>182.05279899999999</c:v>
                </c:pt>
                <c:pt idx="1201">
                  <c:v>182.05279899999999</c:v>
                </c:pt>
                <c:pt idx="1202">
                  <c:v>197.45</c:v>
                </c:pt>
                <c:pt idx="1203">
                  <c:v>197.45</c:v>
                </c:pt>
                <c:pt idx="1204">
                  <c:v>188.667</c:v>
                </c:pt>
                <c:pt idx="1205">
                  <c:v>188.667</c:v>
                </c:pt>
                <c:pt idx="1206">
                  <c:v>129.8501</c:v>
                </c:pt>
                <c:pt idx="1207">
                  <c:v>129.8501</c:v>
                </c:pt>
                <c:pt idx="1208">
                  <c:v>96.700100000000006</c:v>
                </c:pt>
                <c:pt idx="1209">
                  <c:v>96.700100000000006</c:v>
                </c:pt>
                <c:pt idx="1210">
                  <c:v>0</c:v>
                </c:pt>
                <c:pt idx="1211">
                  <c:v>0</c:v>
                </c:pt>
                <c:pt idx="1212">
                  <c:v>0</c:v>
                </c:pt>
                <c:pt idx="1213">
                  <c:v>0</c:v>
                </c:pt>
                <c:pt idx="1214">
                  <c:v>0</c:v>
                </c:pt>
                <c:pt idx="1215">
                  <c:v>0</c:v>
                </c:pt>
                <c:pt idx="1216">
                  <c:v>0</c:v>
                </c:pt>
                <c:pt idx="1217">
                  <c:v>0</c:v>
                </c:pt>
                <c:pt idx="1218">
                  <c:v>0</c:v>
                </c:pt>
                <c:pt idx="1219">
                  <c:v>0</c:v>
                </c:pt>
                <c:pt idx="1220">
                  <c:v>0</c:v>
                </c:pt>
                <c:pt idx="1221">
                  <c:v>0</c:v>
                </c:pt>
                <c:pt idx="1222">
                  <c:v>0</c:v>
                </c:pt>
                <c:pt idx="1223">
                  <c:v>0</c:v>
                </c:pt>
                <c:pt idx="1224">
                  <c:v>0</c:v>
                </c:pt>
                <c:pt idx="1225">
                  <c:v>0</c:v>
                </c:pt>
                <c:pt idx="1226">
                  <c:v>0</c:v>
                </c:pt>
                <c:pt idx="1227">
                  <c:v>0</c:v>
                </c:pt>
                <c:pt idx="1228">
                  <c:v>0</c:v>
                </c:pt>
                <c:pt idx="1229">
                  <c:v>0</c:v>
                </c:pt>
                <c:pt idx="1230">
                  <c:v>0</c:v>
                </c:pt>
                <c:pt idx="1231">
                  <c:v>0</c:v>
                </c:pt>
                <c:pt idx="1232">
                  <c:v>0</c:v>
                </c:pt>
                <c:pt idx="1233">
                  <c:v>0</c:v>
                </c:pt>
                <c:pt idx="1234">
                  <c:v>0</c:v>
                </c:pt>
                <c:pt idx="1235">
                  <c:v>0</c:v>
                </c:pt>
                <c:pt idx="1236">
                  <c:v>0</c:v>
                </c:pt>
                <c:pt idx="1237">
                  <c:v>0</c:v>
                </c:pt>
                <c:pt idx="1238">
                  <c:v>0</c:v>
                </c:pt>
                <c:pt idx="1239">
                  <c:v>0</c:v>
                </c:pt>
                <c:pt idx="1240">
                  <c:v>0</c:v>
                </c:pt>
                <c:pt idx="1241">
                  <c:v>0</c:v>
                </c:pt>
                <c:pt idx="1242">
                  <c:v>0</c:v>
                </c:pt>
                <c:pt idx="1243">
                  <c:v>0</c:v>
                </c:pt>
                <c:pt idx="1244">
                  <c:v>35.057000000000002</c:v>
                </c:pt>
                <c:pt idx="1245">
                  <c:v>35.057000000000002</c:v>
                </c:pt>
                <c:pt idx="1246">
                  <c:v>74.965999999999994</c:v>
                </c:pt>
                <c:pt idx="1247">
                  <c:v>74.965999999999994</c:v>
                </c:pt>
                <c:pt idx="1248">
                  <c:v>75.587999999999994</c:v>
                </c:pt>
                <c:pt idx="1249">
                  <c:v>75.587999999999994</c:v>
                </c:pt>
                <c:pt idx="1250">
                  <c:v>0</c:v>
                </c:pt>
                <c:pt idx="1251">
                  <c:v>0</c:v>
                </c:pt>
                <c:pt idx="1252">
                  <c:v>0</c:v>
                </c:pt>
                <c:pt idx="1253">
                  <c:v>0</c:v>
                </c:pt>
                <c:pt idx="1254">
                  <c:v>21.393999999999998</c:v>
                </c:pt>
                <c:pt idx="1255">
                  <c:v>21.393999999999998</c:v>
                </c:pt>
                <c:pt idx="1256">
                  <c:v>17.842336</c:v>
                </c:pt>
                <c:pt idx="1257">
                  <c:v>17.842336</c:v>
                </c:pt>
                <c:pt idx="1258">
                  <c:v>17.907</c:v>
                </c:pt>
                <c:pt idx="1259">
                  <c:v>17.907</c:v>
                </c:pt>
                <c:pt idx="1260">
                  <c:v>39.530999999999999</c:v>
                </c:pt>
                <c:pt idx="1261">
                  <c:v>39.530999999999999</c:v>
                </c:pt>
                <c:pt idx="1262">
                  <c:v>41.002761999999997</c:v>
                </c:pt>
                <c:pt idx="1263">
                  <c:v>41.002761999999997</c:v>
                </c:pt>
                <c:pt idx="1264">
                  <c:v>8.3629999999999995</c:v>
                </c:pt>
                <c:pt idx="1265">
                  <c:v>8.3629999999999995</c:v>
                </c:pt>
                <c:pt idx="1266">
                  <c:v>0</c:v>
                </c:pt>
                <c:pt idx="1267">
                  <c:v>0</c:v>
                </c:pt>
                <c:pt idx="1268">
                  <c:v>0</c:v>
                </c:pt>
                <c:pt idx="1269">
                  <c:v>0</c:v>
                </c:pt>
                <c:pt idx="1270">
                  <c:v>0</c:v>
                </c:pt>
                <c:pt idx="1271">
                  <c:v>0</c:v>
                </c:pt>
                <c:pt idx="1272">
                  <c:v>0</c:v>
                </c:pt>
                <c:pt idx="1273">
                  <c:v>0</c:v>
                </c:pt>
                <c:pt idx="1274">
                  <c:v>0</c:v>
                </c:pt>
                <c:pt idx="1275">
                  <c:v>0</c:v>
                </c:pt>
                <c:pt idx="1276">
                  <c:v>0</c:v>
                </c:pt>
                <c:pt idx="1277">
                  <c:v>0</c:v>
                </c:pt>
                <c:pt idx="1278">
                  <c:v>6.4192169999999997</c:v>
                </c:pt>
                <c:pt idx="1279">
                  <c:v>6.4192169999999997</c:v>
                </c:pt>
                <c:pt idx="1280">
                  <c:v>0</c:v>
                </c:pt>
                <c:pt idx="1281">
                  <c:v>0</c:v>
                </c:pt>
                <c:pt idx="1282">
                  <c:v>0</c:v>
                </c:pt>
                <c:pt idx="1283">
                  <c:v>0</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1E-4</c:v>
                </c:pt>
                <c:pt idx="1309">
                  <c:v>1E-4</c:v>
                </c:pt>
                <c:pt idx="1310">
                  <c:v>60</c:v>
                </c:pt>
                <c:pt idx="1311">
                  <c:v>60</c:v>
                </c:pt>
                <c:pt idx="1312">
                  <c:v>60</c:v>
                </c:pt>
                <c:pt idx="1313">
                  <c:v>60</c:v>
                </c:pt>
                <c:pt idx="1314">
                  <c:v>47.134036999999999</c:v>
                </c:pt>
                <c:pt idx="1315">
                  <c:v>47.134036999999999</c:v>
                </c:pt>
                <c:pt idx="1316">
                  <c:v>60.000100000000003</c:v>
                </c:pt>
                <c:pt idx="1317">
                  <c:v>60.000100000000003</c:v>
                </c:pt>
                <c:pt idx="1318">
                  <c:v>90</c:v>
                </c:pt>
                <c:pt idx="1319">
                  <c:v>90</c:v>
                </c:pt>
                <c:pt idx="1320">
                  <c:v>90</c:v>
                </c:pt>
                <c:pt idx="1321">
                  <c:v>90</c:v>
                </c:pt>
                <c:pt idx="1322">
                  <c:v>150</c:v>
                </c:pt>
                <c:pt idx="1323">
                  <c:v>150</c:v>
                </c:pt>
                <c:pt idx="1324">
                  <c:v>200</c:v>
                </c:pt>
                <c:pt idx="1325">
                  <c:v>200</c:v>
                </c:pt>
                <c:pt idx="1326">
                  <c:v>200</c:v>
                </c:pt>
                <c:pt idx="1327">
                  <c:v>200</c:v>
                </c:pt>
                <c:pt idx="1328">
                  <c:v>160.0001</c:v>
                </c:pt>
                <c:pt idx="1329">
                  <c:v>160.0001</c:v>
                </c:pt>
                <c:pt idx="1330">
                  <c:v>200</c:v>
                </c:pt>
                <c:pt idx="1331">
                  <c:v>200</c:v>
                </c:pt>
                <c:pt idx="1332">
                  <c:v>200</c:v>
                </c:pt>
                <c:pt idx="1333">
                  <c:v>200</c:v>
                </c:pt>
                <c:pt idx="1334">
                  <c:v>200</c:v>
                </c:pt>
                <c:pt idx="1335">
                  <c:v>200</c:v>
                </c:pt>
                <c:pt idx="1336">
                  <c:v>200</c:v>
                </c:pt>
                <c:pt idx="1337">
                  <c:v>200</c:v>
                </c:pt>
                <c:pt idx="1338">
                  <c:v>200</c:v>
                </c:pt>
                <c:pt idx="1339">
                  <c:v>200</c:v>
                </c:pt>
                <c:pt idx="1340">
                  <c:v>200</c:v>
                </c:pt>
                <c:pt idx="1341">
                  <c:v>200</c:v>
                </c:pt>
                <c:pt idx="1342">
                  <c:v>200</c:v>
                </c:pt>
                <c:pt idx="1343">
                  <c:v>200</c:v>
                </c:pt>
              </c:numCache>
            </c:numRef>
          </c:yVal>
          <c:smooth val="0"/>
          <c:extLst>
            <c:ext xmlns:c16="http://schemas.microsoft.com/office/drawing/2014/chart" uri="{C3380CC4-5D6E-409C-BE32-E72D297353CC}">
              <c16:uniqueId val="{00000001-C6DD-42B7-AABB-992809F7D90C}"/>
            </c:ext>
          </c:extLst>
        </c:ser>
        <c:ser>
          <c:idx val="2"/>
          <c:order val="2"/>
          <c:tx>
            <c:v>超過判定値 200 kW</c:v>
          </c:tx>
          <c:spPr>
            <a:ln w="9525">
              <a:solidFill>
                <a:srgbClr val="BA4F50"/>
              </a:solidFill>
            </a:ln>
          </c:spPr>
          <c:marker>
            <c:symbol val="none"/>
          </c:marker>
          <c:xVal>
            <c:numRef>
              <c:f>'Chart Data'!$E$2:$E$3</c:f>
              <c:numCache>
                <c:formatCode>General</c:formatCode>
                <c:ptCount val="2"/>
                <c:pt idx="0">
                  <c:v>0</c:v>
                </c:pt>
                <c:pt idx="1">
                  <c:v>168</c:v>
                </c:pt>
              </c:numCache>
            </c:numRef>
          </c:xVal>
          <c:yVal>
            <c:numRef>
              <c:f>'Chart Data'!$F$2:$F$3</c:f>
              <c:numCache>
                <c:formatCode>0</c:formatCode>
                <c:ptCount val="2"/>
                <c:pt idx="0">
                  <c:v>200</c:v>
                </c:pt>
                <c:pt idx="1">
                  <c:v>200</c:v>
                </c:pt>
              </c:numCache>
            </c:numRef>
          </c:yVal>
          <c:smooth val="0"/>
          <c:extLst>
            <c:ext xmlns:c16="http://schemas.microsoft.com/office/drawing/2014/chart" uri="{C3380CC4-5D6E-409C-BE32-E72D297353CC}">
              <c16:uniqueId val="{00000002-C6DD-42B7-AABB-992809F7D90C}"/>
            </c:ext>
          </c:extLst>
        </c:ser>
        <c:dLbls>
          <c:showLegendKey val="0"/>
          <c:showVal val="0"/>
          <c:showCatName val="0"/>
          <c:showSerName val="0"/>
          <c:showPercent val="0"/>
          <c:showBubbleSize val="0"/>
        </c:dLbls>
        <c:axId val="48650112"/>
        <c:axId val="48672768"/>
      </c:scatterChart>
      <c:valAx>
        <c:axId val="48672768"/>
        <c:scaling>
          <c:orientation val="minMax"/>
          <c:max val="900"/>
          <c:min val="0"/>
        </c:scaling>
        <c:delete val="0"/>
        <c:axPos val="l"/>
        <c:majorGridlines>
          <c:spPr>
            <a:ln w="9525">
              <a:solidFill>
                <a:srgbClr val="DFE4EA"/>
              </a:solidFill>
            </a:ln>
          </c:spPr>
        </c:majorGridlines>
        <c:title>
          <c:tx>
            <c:rich>
              <a:bodyPr/>
              <a:lstStyle/>
              <a:p>
                <a:r>
                  <a:rPr lang="en-US">
                    <a:latin typeface="Noto Sans JP"/>
                    <a:ea typeface="Noto Sans JP"/>
                    <a:cs typeface="Noto Sans JP"/>
                  </a:rPr>
                  <a:t>kW</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JP"/>
                <a:ea typeface="Noto Sans JP"/>
                <a:cs typeface="Noto Sans JP"/>
              </a:defRPr>
            </a:pPr>
            <a:endParaRPr lang="ja-JP"/>
          </a:p>
        </c:txPr>
        <c:crossAx val="48650112"/>
        <c:crosses val="autoZero"/>
        <c:crossBetween val="midCat"/>
      </c:valAx>
      <c:valAx>
        <c:axId val="48650112"/>
        <c:scaling>
          <c:orientation val="minMax"/>
          <c:max val="168"/>
          <c:min val="0"/>
        </c:scaling>
        <c:delete val="0"/>
        <c:axPos val="b"/>
        <c:title>
          <c:tx>
            <c:rich>
              <a:bodyPr/>
              <a:lstStyle/>
              <a:p>
                <a:r>
                  <a:rPr lang="ja-JP" altLang="en-US">
                    <a:latin typeface="Noto Sans JP"/>
                    <a:ea typeface="Noto Sans JP"/>
                    <a:cs typeface="Noto Sans JP"/>
                  </a:rPr>
                  <a:t>週開始からの時間 </a:t>
                </a:r>
                <a:r>
                  <a:rPr lang="en-US" altLang="ja-JP">
                    <a:latin typeface="Noto Sans JP"/>
                    <a:ea typeface="Noto Sans JP"/>
                    <a:cs typeface="Noto Sans JP"/>
                  </a:rPr>
                  <a:t>[</a:t>
                </a:r>
                <a:r>
                  <a:rPr lang="en-US">
                    <a:latin typeface="Noto Sans JP"/>
                    <a:ea typeface="Noto Sans JP"/>
                    <a:cs typeface="Noto Sans JP"/>
                  </a:rPr>
                  <a:t>h]</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JP"/>
                <a:ea typeface="Noto Sans JP"/>
                <a:cs typeface="Noto Sans JP"/>
              </a:defRPr>
            </a:pPr>
            <a:endParaRPr lang="ja-JP"/>
          </a:p>
        </c:txPr>
        <c:crossAx val="48672768"/>
        <c:crosses val="autoZero"/>
        <c:crossBetween val="midCat"/>
        <c:majorUnit val="24"/>
      </c:valAx>
      <c:spPr>
        <a:solidFill>
          <a:srgbClr val="FFFFFF"/>
        </a:solidFill>
      </c:spPr>
    </c:plotArea>
    <c:legend>
      <c:legendPos val="b"/>
      <c:overlay val="0"/>
      <c:txPr>
        <a:bodyPr anchorCtr="1"/>
        <a:lstStyle/>
        <a:p>
          <a:pPr>
            <a:defRPr sz="1275">
              <a:latin typeface="Noto Sans JP"/>
              <a:ea typeface="Noto Sans JP"/>
              <a:cs typeface="Noto Sans JP"/>
            </a:defRPr>
          </a:pPr>
          <a:endParaRPr lang="ja-JP"/>
        </a:p>
      </c:txPr>
    </c:legend>
    <c:plotVisOnly val="1"/>
    <c:dispBlanksAs val="zero"/>
    <c:showDLblsOverMax val="1"/>
  </c:chart>
  <c:spPr>
    <a:solidFill>
      <a:srgbClr val="FFFFFF"/>
    </a:solidFill>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title>
      <c:tx>
        <c:rich>
          <a:bodyPr/>
          <a:lstStyle/>
          <a:p>
            <a:r>
              <a:rPr lang="en-US" altLang="ja-JP" sz="1650" b="1">
                <a:solidFill>
                  <a:srgbClr val="202B58"/>
                </a:solidFill>
                <a:latin typeface="Noto Sans JP"/>
                <a:ea typeface="Noto Sans JP"/>
                <a:cs typeface="Noto Sans JP"/>
              </a:rPr>
              <a:t>3/3 00:00</a:t>
            </a:r>
            <a:r>
              <a:rPr lang="ja-JP" altLang="en-US" sz="1650" b="1">
                <a:solidFill>
                  <a:srgbClr val="202B58"/>
                </a:solidFill>
                <a:latin typeface="Noto Sans JP"/>
                <a:ea typeface="Noto Sans JP"/>
                <a:cs typeface="Noto Sans JP"/>
              </a:rPr>
              <a:t>から</a:t>
            </a:r>
            <a:r>
              <a:rPr lang="en-US" altLang="ja-JP" sz="1650" b="1">
                <a:solidFill>
                  <a:srgbClr val="202B58"/>
                </a:solidFill>
                <a:latin typeface="Noto Sans JP"/>
                <a:ea typeface="Noto Sans JP"/>
                <a:cs typeface="Noto Sans JP"/>
              </a:rPr>
              <a:t>6</a:t>
            </a:r>
            <a:r>
              <a:rPr lang="ja-JP" altLang="en-US" sz="1650" b="1">
                <a:solidFill>
                  <a:srgbClr val="202B58"/>
                </a:solidFill>
                <a:latin typeface="Noto Sans JP"/>
                <a:ea typeface="Noto Sans JP"/>
                <a:cs typeface="Noto Sans JP"/>
              </a:rPr>
              <a:t>時間</a:t>
            </a:r>
          </a:p>
        </c:rich>
      </c:tx>
      <c:overlay val="0"/>
    </c:title>
    <c:autoTitleDeleted val="0"/>
    <c:plotArea>
      <c:layout/>
      <c:scatterChart>
        <c:scatterStyle val="lineMarker"/>
        <c:varyColors val="1"/>
        <c:ser>
          <c:idx val="0"/>
          <c:order val="0"/>
          <c:tx>
            <c:v>受電電力</c:v>
          </c:tx>
          <c:spPr>
            <a:ln w="19050">
              <a:solidFill>
                <a:srgbClr val="316DB6"/>
              </a:solidFill>
            </a:ln>
          </c:spPr>
          <c:marker>
            <c:symbol val="none"/>
          </c:marker>
          <c:xVal>
            <c:numRef>
              <c:f>'Chart Data'!$A$2:$A$49</c:f>
              <c:numCache>
                <c:formatCode>General</c:formatCode>
                <c:ptCount val="48"/>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numCache>
            </c:numRef>
          </c:xVal>
          <c:yVal>
            <c:numRef>
              <c:f>'Chart Data'!$B$2:$B$49</c:f>
              <c:numCache>
                <c:formatCode>0</c:formatCode>
                <c:ptCount val="48"/>
                <c:pt idx="0">
                  <c:v>0</c:v>
                </c:pt>
                <c:pt idx="1">
                  <c:v>0</c:v>
                </c:pt>
                <c:pt idx="2">
                  <c:v>0</c:v>
                </c:pt>
                <c:pt idx="3">
                  <c:v>0</c:v>
                </c:pt>
                <c:pt idx="4">
                  <c:v>0</c:v>
                </c:pt>
                <c:pt idx="5">
                  <c:v>0</c:v>
                </c:pt>
                <c:pt idx="6">
                  <c:v>0</c:v>
                </c:pt>
                <c:pt idx="7">
                  <c:v>0</c:v>
                </c:pt>
                <c:pt idx="8">
                  <c:v>522.565877</c:v>
                </c:pt>
                <c:pt idx="9">
                  <c:v>522.565877</c:v>
                </c:pt>
                <c:pt idx="10">
                  <c:v>849.44159999999999</c:v>
                </c:pt>
                <c:pt idx="11">
                  <c:v>849.44159999999999</c:v>
                </c:pt>
                <c:pt idx="12">
                  <c:v>780.63036699999998</c:v>
                </c:pt>
                <c:pt idx="13">
                  <c:v>780.63036699999998</c:v>
                </c:pt>
                <c:pt idx="14">
                  <c:v>806.47088799999995</c:v>
                </c:pt>
                <c:pt idx="15">
                  <c:v>806.47088799999995</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numCache>
            </c:numRef>
          </c:yVal>
          <c:smooth val="0"/>
          <c:extLst>
            <c:ext xmlns:c16="http://schemas.microsoft.com/office/drawing/2014/chart" uri="{C3380CC4-5D6E-409C-BE32-E72D297353CC}">
              <c16:uniqueId val="{00000000-40CC-4266-BB57-DD63422850C5}"/>
            </c:ext>
          </c:extLst>
        </c:ser>
        <c:ser>
          <c:idx val="1"/>
          <c:order val="1"/>
          <c:tx>
            <c:v>超過判定値 200 kW</c:v>
          </c:tx>
          <c:spPr>
            <a:ln w="9525">
              <a:solidFill>
                <a:srgbClr val="BA4F50"/>
              </a:solidFill>
            </a:ln>
          </c:spPr>
          <c:marker>
            <c:symbol val="none"/>
          </c:marker>
          <c:xVal>
            <c:numRef>
              <c:f>'Chart Data'!$C$2:$C$3</c:f>
              <c:numCache>
                <c:formatCode>General</c:formatCode>
                <c:ptCount val="2"/>
                <c:pt idx="0">
                  <c:v>0</c:v>
                </c:pt>
                <c:pt idx="1">
                  <c:v>6</c:v>
                </c:pt>
              </c:numCache>
            </c:numRef>
          </c:xVal>
          <c:yVal>
            <c:numRef>
              <c:f>'Chart Data'!$D$2:$D$3</c:f>
              <c:numCache>
                <c:formatCode>0</c:formatCode>
                <c:ptCount val="2"/>
                <c:pt idx="0">
                  <c:v>200</c:v>
                </c:pt>
                <c:pt idx="1">
                  <c:v>200</c:v>
                </c:pt>
              </c:numCache>
            </c:numRef>
          </c:yVal>
          <c:smooth val="0"/>
          <c:extLst>
            <c:ext xmlns:c16="http://schemas.microsoft.com/office/drawing/2014/chart" uri="{C3380CC4-5D6E-409C-BE32-E72D297353CC}">
              <c16:uniqueId val="{00000001-40CC-4266-BB57-DD63422850C5}"/>
            </c:ext>
          </c:extLst>
        </c:ser>
        <c:dLbls>
          <c:showLegendKey val="0"/>
          <c:showVal val="0"/>
          <c:showCatName val="0"/>
          <c:showSerName val="0"/>
          <c:showPercent val="0"/>
          <c:showBubbleSize val="0"/>
        </c:dLbls>
        <c:axId val="48650112"/>
        <c:axId val="48672768"/>
      </c:scatterChart>
      <c:valAx>
        <c:axId val="48672768"/>
        <c:scaling>
          <c:orientation val="minMax"/>
          <c:max val="900"/>
          <c:min val="0"/>
        </c:scaling>
        <c:delete val="0"/>
        <c:axPos val="l"/>
        <c:majorGridlines>
          <c:spPr>
            <a:ln w="9525">
              <a:solidFill>
                <a:srgbClr val="DFE4EA"/>
              </a:solidFill>
            </a:ln>
          </c:spPr>
        </c:majorGridlines>
        <c:title>
          <c:tx>
            <c:rich>
              <a:bodyPr/>
              <a:lstStyle/>
              <a:p>
                <a:r>
                  <a:rPr lang="en-US">
                    <a:latin typeface="Noto Sans JP"/>
                    <a:ea typeface="Noto Sans JP"/>
                    <a:cs typeface="Noto Sans JP"/>
                  </a:rPr>
                  <a:t>kW</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JP"/>
                <a:ea typeface="Noto Sans JP"/>
                <a:cs typeface="Noto Sans JP"/>
              </a:defRPr>
            </a:pPr>
            <a:endParaRPr lang="ja-JP"/>
          </a:p>
        </c:txPr>
        <c:crossAx val="48650112"/>
        <c:crosses val="autoZero"/>
        <c:crossBetween val="midCat"/>
      </c:valAx>
      <c:valAx>
        <c:axId val="48650112"/>
        <c:scaling>
          <c:orientation val="minMax"/>
          <c:max val="6"/>
          <c:min val="0"/>
        </c:scaling>
        <c:delete val="0"/>
        <c:axPos val="b"/>
        <c:title>
          <c:tx>
            <c:rich>
              <a:bodyPr/>
              <a:lstStyle/>
              <a:p>
                <a:r>
                  <a:rPr lang="en-US" altLang="ja-JP">
                    <a:latin typeface="Noto Sans JP"/>
                    <a:ea typeface="Noto Sans JP"/>
                    <a:cs typeface="Noto Sans JP"/>
                  </a:rPr>
                  <a:t>3/3 00:00</a:t>
                </a:r>
                <a:r>
                  <a:rPr lang="ja-JP" altLang="en-US">
                    <a:latin typeface="Noto Sans JP"/>
                    <a:ea typeface="Noto Sans JP"/>
                    <a:cs typeface="Noto Sans JP"/>
                  </a:rPr>
                  <a:t>から </a:t>
                </a:r>
                <a:r>
                  <a:rPr lang="en-US" altLang="ja-JP">
                    <a:latin typeface="Noto Sans JP"/>
                    <a:ea typeface="Noto Sans JP"/>
                    <a:cs typeface="Noto Sans JP"/>
                  </a:rPr>
                  <a:t>[</a:t>
                </a:r>
                <a:r>
                  <a:rPr lang="en-US">
                    <a:latin typeface="Noto Sans JP"/>
                    <a:ea typeface="Noto Sans JP"/>
                    <a:cs typeface="Noto Sans JP"/>
                  </a:rPr>
                  <a:t>h]</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JP"/>
                <a:ea typeface="Noto Sans JP"/>
                <a:cs typeface="Noto Sans JP"/>
              </a:defRPr>
            </a:pPr>
            <a:endParaRPr lang="ja-JP"/>
          </a:p>
        </c:txPr>
        <c:crossAx val="48672768"/>
        <c:crosses val="autoZero"/>
        <c:crossBetween val="midCat"/>
        <c:majorUnit val="1"/>
      </c:valAx>
      <c:spPr>
        <a:solidFill>
          <a:srgbClr val="FFFFFF"/>
        </a:solidFill>
      </c:spPr>
    </c:plotArea>
    <c:plotVisOnly val="1"/>
    <c:dispBlanksAs val="zero"/>
    <c:showDLblsOverMax val="1"/>
  </c:chart>
  <c:spPr>
    <a:solidFill>
      <a:srgbClr val="FFFFFF"/>
    </a:solidFill>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title>
      <c:tx>
        <c:rich>
          <a:bodyPr/>
          <a:lstStyle/>
          <a:p>
            <a:r>
              <a:rPr lang="en-US" altLang="ja-JP" sz="1650" b="1">
                <a:solidFill>
                  <a:srgbClr val="202B58"/>
                </a:solidFill>
                <a:latin typeface="Noto Sans JP"/>
                <a:ea typeface="Noto Sans JP"/>
                <a:cs typeface="Noto Sans JP"/>
              </a:rPr>
              <a:t>11/13 21:00</a:t>
            </a:r>
            <a:r>
              <a:rPr lang="ja-JP" altLang="en-US" sz="1650" b="1">
                <a:solidFill>
                  <a:srgbClr val="202B58"/>
                </a:solidFill>
                <a:latin typeface="Noto Sans JP"/>
                <a:ea typeface="Noto Sans JP"/>
                <a:cs typeface="Noto Sans JP"/>
              </a:rPr>
              <a:t>から</a:t>
            </a:r>
            <a:r>
              <a:rPr lang="en-US" altLang="ja-JP" sz="1650" b="1">
                <a:solidFill>
                  <a:srgbClr val="202B58"/>
                </a:solidFill>
                <a:latin typeface="Noto Sans JP"/>
                <a:ea typeface="Noto Sans JP"/>
                <a:cs typeface="Noto Sans JP"/>
              </a:rPr>
              <a:t>10</a:t>
            </a:r>
            <a:r>
              <a:rPr lang="ja-JP" altLang="en-US" sz="1650" b="1">
                <a:solidFill>
                  <a:srgbClr val="202B58"/>
                </a:solidFill>
                <a:latin typeface="Noto Sans JP"/>
                <a:ea typeface="Noto Sans JP"/>
                <a:cs typeface="Noto Sans JP"/>
              </a:rPr>
              <a:t>時間</a:t>
            </a:r>
          </a:p>
        </c:rich>
      </c:tx>
      <c:overlay val="0"/>
    </c:title>
    <c:autoTitleDeleted val="0"/>
    <c:plotArea>
      <c:layout/>
      <c:scatterChart>
        <c:scatterStyle val="lineMarker"/>
        <c:varyColors val="1"/>
        <c:ser>
          <c:idx val="0"/>
          <c:order val="0"/>
          <c:tx>
            <c:v>受電電力</c:v>
          </c:tx>
          <c:spPr>
            <a:ln w="19050">
              <a:solidFill>
                <a:srgbClr val="159A8C"/>
              </a:solidFill>
            </a:ln>
          </c:spPr>
          <c:marker>
            <c:symbol val="none"/>
          </c:marker>
          <c:xVal>
            <c:numRef>
              <c:f>'Chart Data'!$A$2:$A$81</c:f>
              <c:numCache>
                <c:formatCode>General</c:formatCode>
                <c:ptCount val="80"/>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numCache>
            </c:numRef>
          </c:xVal>
          <c:yVal>
            <c:numRef>
              <c:f>'Chart Data'!$B$2:$B$81</c:f>
              <c:numCache>
                <c:formatCode>0</c:formatCode>
                <c:ptCount val="80"/>
                <c:pt idx="0">
                  <c:v>60</c:v>
                </c:pt>
                <c:pt idx="1">
                  <c:v>60</c:v>
                </c:pt>
                <c:pt idx="2">
                  <c:v>90</c:v>
                </c:pt>
                <c:pt idx="3">
                  <c:v>90</c:v>
                </c:pt>
                <c:pt idx="4">
                  <c:v>90</c:v>
                </c:pt>
                <c:pt idx="5">
                  <c:v>90</c:v>
                </c:pt>
                <c:pt idx="6">
                  <c:v>90</c:v>
                </c:pt>
                <c:pt idx="7">
                  <c:v>90</c:v>
                </c:pt>
                <c:pt idx="8">
                  <c:v>90</c:v>
                </c:pt>
                <c:pt idx="9">
                  <c:v>90</c:v>
                </c:pt>
                <c:pt idx="10">
                  <c:v>180</c:v>
                </c:pt>
                <c:pt idx="11">
                  <c:v>180</c:v>
                </c:pt>
                <c:pt idx="12">
                  <c:v>200</c:v>
                </c:pt>
                <c:pt idx="13">
                  <c:v>200</c:v>
                </c:pt>
                <c:pt idx="14">
                  <c:v>210</c:v>
                </c:pt>
                <c:pt idx="15">
                  <c:v>210</c:v>
                </c:pt>
                <c:pt idx="16">
                  <c:v>210.0001</c:v>
                </c:pt>
                <c:pt idx="17">
                  <c:v>210.0001</c:v>
                </c:pt>
                <c:pt idx="18">
                  <c:v>234.781274</c:v>
                </c:pt>
                <c:pt idx="19">
                  <c:v>234.781274</c:v>
                </c:pt>
                <c:pt idx="20">
                  <c:v>222.37823599999999</c:v>
                </c:pt>
                <c:pt idx="21">
                  <c:v>222.37823599999999</c:v>
                </c:pt>
                <c:pt idx="22">
                  <c:v>210</c:v>
                </c:pt>
                <c:pt idx="23">
                  <c:v>210</c:v>
                </c:pt>
                <c:pt idx="24">
                  <c:v>200</c:v>
                </c:pt>
                <c:pt idx="25">
                  <c:v>200</c:v>
                </c:pt>
                <c:pt idx="26">
                  <c:v>200</c:v>
                </c:pt>
                <c:pt idx="27">
                  <c:v>200</c:v>
                </c:pt>
                <c:pt idx="28">
                  <c:v>234.781274</c:v>
                </c:pt>
                <c:pt idx="29">
                  <c:v>234.781274</c:v>
                </c:pt>
                <c:pt idx="30">
                  <c:v>210.0001</c:v>
                </c:pt>
                <c:pt idx="31">
                  <c:v>210.0001</c:v>
                </c:pt>
                <c:pt idx="32">
                  <c:v>200</c:v>
                </c:pt>
                <c:pt idx="33">
                  <c:v>200</c:v>
                </c:pt>
                <c:pt idx="34">
                  <c:v>230.90538000000001</c:v>
                </c:pt>
                <c:pt idx="35">
                  <c:v>230.90538000000001</c:v>
                </c:pt>
                <c:pt idx="36">
                  <c:v>233.85704699999999</c:v>
                </c:pt>
                <c:pt idx="37">
                  <c:v>233.85704699999999</c:v>
                </c:pt>
                <c:pt idx="38">
                  <c:v>200</c:v>
                </c:pt>
                <c:pt idx="39">
                  <c:v>200</c:v>
                </c:pt>
                <c:pt idx="40">
                  <c:v>200</c:v>
                </c:pt>
                <c:pt idx="41">
                  <c:v>200</c:v>
                </c:pt>
                <c:pt idx="42">
                  <c:v>200</c:v>
                </c:pt>
                <c:pt idx="43">
                  <c:v>200</c:v>
                </c:pt>
                <c:pt idx="44">
                  <c:v>234.781274</c:v>
                </c:pt>
                <c:pt idx="45">
                  <c:v>234.781274</c:v>
                </c:pt>
                <c:pt idx="46">
                  <c:v>230.912826</c:v>
                </c:pt>
                <c:pt idx="47">
                  <c:v>230.912826</c:v>
                </c:pt>
                <c:pt idx="48">
                  <c:v>200</c:v>
                </c:pt>
                <c:pt idx="49">
                  <c:v>200</c:v>
                </c:pt>
                <c:pt idx="50">
                  <c:v>234.781274</c:v>
                </c:pt>
                <c:pt idx="51">
                  <c:v>234.781274</c:v>
                </c:pt>
                <c:pt idx="52">
                  <c:v>234.781274</c:v>
                </c:pt>
                <c:pt idx="53">
                  <c:v>234.781274</c:v>
                </c:pt>
                <c:pt idx="54">
                  <c:v>234.781274</c:v>
                </c:pt>
                <c:pt idx="55">
                  <c:v>234.781274</c:v>
                </c:pt>
                <c:pt idx="56">
                  <c:v>200</c:v>
                </c:pt>
                <c:pt idx="57">
                  <c:v>200</c:v>
                </c:pt>
                <c:pt idx="58">
                  <c:v>200</c:v>
                </c:pt>
                <c:pt idx="59">
                  <c:v>200</c:v>
                </c:pt>
                <c:pt idx="60">
                  <c:v>200</c:v>
                </c:pt>
                <c:pt idx="61">
                  <c:v>200</c:v>
                </c:pt>
                <c:pt idx="62">
                  <c:v>200</c:v>
                </c:pt>
                <c:pt idx="63">
                  <c:v>200</c:v>
                </c:pt>
                <c:pt idx="64">
                  <c:v>200</c:v>
                </c:pt>
                <c:pt idx="65">
                  <c:v>200</c:v>
                </c:pt>
                <c:pt idx="66">
                  <c:v>200</c:v>
                </c:pt>
                <c:pt idx="67">
                  <c:v>200</c:v>
                </c:pt>
                <c:pt idx="68">
                  <c:v>200</c:v>
                </c:pt>
                <c:pt idx="69">
                  <c:v>200</c:v>
                </c:pt>
                <c:pt idx="70">
                  <c:v>200</c:v>
                </c:pt>
                <c:pt idx="71">
                  <c:v>200</c:v>
                </c:pt>
                <c:pt idx="72">
                  <c:v>201.41615899999999</c:v>
                </c:pt>
                <c:pt idx="73">
                  <c:v>201.41615899999999</c:v>
                </c:pt>
                <c:pt idx="74">
                  <c:v>197.45500000000001</c:v>
                </c:pt>
                <c:pt idx="75">
                  <c:v>197.45500000000001</c:v>
                </c:pt>
                <c:pt idx="76">
                  <c:v>37.9</c:v>
                </c:pt>
                <c:pt idx="77">
                  <c:v>37.9</c:v>
                </c:pt>
                <c:pt idx="78">
                  <c:v>0</c:v>
                </c:pt>
                <c:pt idx="79">
                  <c:v>0</c:v>
                </c:pt>
              </c:numCache>
            </c:numRef>
          </c:yVal>
          <c:smooth val="0"/>
          <c:extLst>
            <c:ext xmlns:c16="http://schemas.microsoft.com/office/drawing/2014/chart" uri="{C3380CC4-5D6E-409C-BE32-E72D297353CC}">
              <c16:uniqueId val="{00000000-15AA-4CC2-9EE6-D303D8A671B4}"/>
            </c:ext>
          </c:extLst>
        </c:ser>
        <c:ser>
          <c:idx val="1"/>
          <c:order val="1"/>
          <c:tx>
            <c:v>超過判定値 200 kW</c:v>
          </c:tx>
          <c:spPr>
            <a:ln w="9525">
              <a:solidFill>
                <a:srgbClr val="BA4F50"/>
              </a:solidFill>
            </a:ln>
          </c:spPr>
          <c:marker>
            <c:symbol val="none"/>
          </c:marker>
          <c:xVal>
            <c:numRef>
              <c:f>'Chart Data'!$C$2:$C$3</c:f>
              <c:numCache>
                <c:formatCode>General</c:formatCode>
                <c:ptCount val="2"/>
                <c:pt idx="0">
                  <c:v>0</c:v>
                </c:pt>
                <c:pt idx="1">
                  <c:v>10</c:v>
                </c:pt>
              </c:numCache>
            </c:numRef>
          </c:xVal>
          <c:yVal>
            <c:numRef>
              <c:f>'Chart Data'!$D$2:$D$3</c:f>
              <c:numCache>
                <c:formatCode>0</c:formatCode>
                <c:ptCount val="2"/>
                <c:pt idx="0">
                  <c:v>200</c:v>
                </c:pt>
                <c:pt idx="1">
                  <c:v>200</c:v>
                </c:pt>
              </c:numCache>
            </c:numRef>
          </c:yVal>
          <c:smooth val="0"/>
          <c:extLst>
            <c:ext xmlns:c16="http://schemas.microsoft.com/office/drawing/2014/chart" uri="{C3380CC4-5D6E-409C-BE32-E72D297353CC}">
              <c16:uniqueId val="{00000001-15AA-4CC2-9EE6-D303D8A671B4}"/>
            </c:ext>
          </c:extLst>
        </c:ser>
        <c:dLbls>
          <c:showLegendKey val="0"/>
          <c:showVal val="0"/>
          <c:showCatName val="0"/>
          <c:showSerName val="0"/>
          <c:showPercent val="0"/>
          <c:showBubbleSize val="0"/>
        </c:dLbls>
        <c:axId val="48650112"/>
        <c:axId val="48672768"/>
      </c:scatterChart>
      <c:valAx>
        <c:axId val="48672768"/>
        <c:scaling>
          <c:orientation val="minMax"/>
          <c:max val="900"/>
          <c:min val="0"/>
        </c:scaling>
        <c:delete val="0"/>
        <c:axPos val="l"/>
        <c:majorGridlines>
          <c:spPr>
            <a:ln w="9525">
              <a:solidFill>
                <a:srgbClr val="DFE4EA"/>
              </a:solidFill>
            </a:ln>
          </c:spPr>
        </c:majorGridlines>
        <c:title>
          <c:tx>
            <c:rich>
              <a:bodyPr/>
              <a:lstStyle/>
              <a:p>
                <a:r>
                  <a:rPr lang="en-US">
                    <a:latin typeface="Noto Sans JP"/>
                    <a:ea typeface="Noto Sans JP"/>
                    <a:cs typeface="Noto Sans JP"/>
                  </a:rPr>
                  <a:t>kW</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JP"/>
                <a:ea typeface="Noto Sans JP"/>
                <a:cs typeface="Noto Sans JP"/>
              </a:defRPr>
            </a:pPr>
            <a:endParaRPr lang="ja-JP"/>
          </a:p>
        </c:txPr>
        <c:crossAx val="48650112"/>
        <c:crosses val="autoZero"/>
        <c:crossBetween val="midCat"/>
      </c:valAx>
      <c:valAx>
        <c:axId val="48650112"/>
        <c:scaling>
          <c:orientation val="minMax"/>
          <c:max val="10"/>
          <c:min val="0"/>
        </c:scaling>
        <c:delete val="0"/>
        <c:axPos val="b"/>
        <c:title>
          <c:tx>
            <c:rich>
              <a:bodyPr/>
              <a:lstStyle/>
              <a:p>
                <a:r>
                  <a:rPr lang="en-US" altLang="ja-JP">
                    <a:latin typeface="Noto Sans JP"/>
                    <a:ea typeface="Noto Sans JP"/>
                    <a:cs typeface="Noto Sans JP"/>
                  </a:rPr>
                  <a:t>11/13 21:00</a:t>
                </a:r>
                <a:r>
                  <a:rPr lang="ja-JP" altLang="en-US">
                    <a:latin typeface="Noto Sans JP"/>
                    <a:ea typeface="Noto Sans JP"/>
                    <a:cs typeface="Noto Sans JP"/>
                  </a:rPr>
                  <a:t>から </a:t>
                </a:r>
                <a:r>
                  <a:rPr lang="en-US" altLang="ja-JP">
                    <a:latin typeface="Noto Sans JP"/>
                    <a:ea typeface="Noto Sans JP"/>
                    <a:cs typeface="Noto Sans JP"/>
                  </a:rPr>
                  <a:t>[</a:t>
                </a:r>
                <a:r>
                  <a:rPr lang="en-US">
                    <a:latin typeface="Noto Sans JP"/>
                    <a:ea typeface="Noto Sans JP"/>
                    <a:cs typeface="Noto Sans JP"/>
                  </a:rPr>
                  <a:t>h]</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JP"/>
                <a:ea typeface="Noto Sans JP"/>
                <a:cs typeface="Noto Sans JP"/>
              </a:defRPr>
            </a:pPr>
            <a:endParaRPr lang="ja-JP"/>
          </a:p>
        </c:txPr>
        <c:crossAx val="48672768"/>
        <c:crosses val="autoZero"/>
        <c:crossBetween val="midCat"/>
        <c:majorUnit val="2"/>
      </c:valAx>
      <c:spPr>
        <a:solidFill>
          <a:srgbClr val="FFFFFF"/>
        </a:solidFill>
      </c:spPr>
    </c:plotArea>
    <c:plotVisOnly val="1"/>
    <c:dispBlanksAs val="zero"/>
    <c:showDLblsOverMax val="1"/>
  </c:chart>
  <c:spPr>
    <a:solidFill>
      <a:srgbClr val="FFFFFF"/>
    </a:solidFill>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title>
      <c:tx>
        <c:rich>
          <a:bodyPr/>
          <a:lstStyle/>
          <a:p>
            <a:r>
              <a:rPr lang="zh-TW" altLang="en-US" sz="1725" b="1">
                <a:solidFill>
                  <a:srgbClr val="202B58"/>
                </a:solidFill>
                <a:latin typeface="Noto Sans JP"/>
                <a:ea typeface="Noto Sans JP"/>
                <a:cs typeface="Noto Sans JP"/>
              </a:rPr>
              <a:t>費用差（</a:t>
            </a:r>
            <a:r>
              <a:rPr lang="en-US" altLang="zh-TW" sz="1725" b="1">
                <a:solidFill>
                  <a:srgbClr val="202B58"/>
                </a:solidFill>
                <a:latin typeface="Noto Sans JP"/>
                <a:ea typeface="Noto Sans JP"/>
                <a:cs typeface="Noto Sans JP"/>
              </a:rPr>
              <a:t>3</a:t>
            </a:r>
            <a:r>
              <a:rPr lang="zh-TW" altLang="en-US" sz="1725" b="1">
                <a:solidFill>
                  <a:srgbClr val="202B58"/>
                </a:solidFill>
                <a:latin typeface="Noto Sans JP"/>
                <a:ea typeface="Noto Sans JP"/>
                <a:cs typeface="Noto Sans JP"/>
              </a:rPr>
              <a:t>月−</a:t>
            </a:r>
            <a:r>
              <a:rPr lang="en-US" altLang="zh-TW" sz="1725" b="1">
                <a:solidFill>
                  <a:srgbClr val="202B58"/>
                </a:solidFill>
                <a:latin typeface="Noto Sans JP"/>
                <a:ea typeface="Noto Sans JP"/>
                <a:cs typeface="Noto Sans JP"/>
              </a:rPr>
              <a:t>11</a:t>
            </a:r>
            <a:r>
              <a:rPr lang="zh-TW" altLang="en-US" sz="1725" b="1">
                <a:solidFill>
                  <a:srgbClr val="202B58"/>
                </a:solidFill>
                <a:latin typeface="Noto Sans JP"/>
                <a:ea typeface="Noto Sans JP"/>
                <a:cs typeface="Noto Sans JP"/>
              </a:rPr>
              <a:t>月）</a:t>
            </a:r>
          </a:p>
        </c:rich>
      </c:tx>
      <c:overlay val="0"/>
    </c:title>
    <c:autoTitleDeleted val="0"/>
    <c:plotArea>
      <c:layout/>
      <c:barChart>
        <c:barDir val="col"/>
        <c:grouping val="clustered"/>
        <c:varyColors val="0"/>
        <c:ser>
          <c:idx val="0"/>
          <c:order val="0"/>
          <c:tx>
            <c:v>差額</c:v>
          </c:tx>
          <c:spPr>
            <a:solidFill>
              <a:srgbClr val="316DB6"/>
            </a:solidFill>
            <a:ln w="0">
              <a:solidFill>
                <a:srgbClr val="316DB6"/>
              </a:solidFill>
            </a:ln>
          </c:spPr>
          <c:invertIfNegative val="1"/>
          <c:dLbls>
            <c:numFmt formatCode="0.00" sourceLinked="0"/>
            <c:spPr>
              <a:noFill/>
              <a:ln>
                <a:noFill/>
              </a:ln>
              <a:effectLst/>
            </c:spPr>
            <c:txPr>
              <a:bodyPr anchorCtr="1"/>
              <a:lstStyle/>
              <a:p>
                <a:pPr>
                  <a:defRPr sz="1200">
                    <a:latin typeface="Noto Sans JP"/>
                    <a:ea typeface="Noto Sans JP"/>
                    <a:cs typeface="Noto Sans JP"/>
                  </a:defRPr>
                </a:pPr>
                <a:endParaRPr lang="ja-JP"/>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Data'!$A$2:$A$4</c:f>
              <c:strCache>
                <c:ptCount val="3"/>
                <c:pt idx="0">
                  <c:v>0円/kWh</c:v>
                </c:pt>
                <c:pt idx="1">
                  <c:v>100円/kWh</c:v>
                </c:pt>
                <c:pt idx="2">
                  <c:v>500円/kWh</c:v>
                </c:pt>
              </c:strCache>
            </c:strRef>
          </c:cat>
          <c:val>
            <c:numRef>
              <c:f>'Chart Data'!$B$2:$B$4</c:f>
              <c:numCache>
                <c:formatCode>0</c:formatCode>
                <c:ptCount val="3"/>
                <c:pt idx="0">
                  <c:v>1.5663499999999999</c:v>
                </c:pt>
                <c:pt idx="1">
                  <c:v>6.0510910000000004</c:v>
                </c:pt>
                <c:pt idx="2">
                  <c:v>23.990053</c:v>
                </c:pt>
              </c:numCache>
            </c:numRef>
          </c:val>
          <c:extLst>
            <c:ext xmlns:c14="http://schemas.microsoft.com/office/drawing/2007/8/2/chart" uri="{6F2FDCE9-48DA-4B69-8628-5D25D57E5C99}">
              <c14:invertSolidFillFmt>
                <c14:spPr xmlns:c14="http://schemas.microsoft.com/office/drawing/2007/8/2/chart">
                  <a:solidFill>
                    <a:srgbClr val="FFFFFF"/>
                  </a:solidFill>
                  <a:ln w="0">
                    <a:solidFill>
                      <a:srgbClr val="316DB6"/>
                    </a:solidFill>
                  </a:ln>
                </c14:spPr>
              </c14:invertSolidFillFmt>
            </c:ext>
            <c:ext xmlns:c16="http://schemas.microsoft.com/office/drawing/2014/chart" uri="{C3380CC4-5D6E-409C-BE32-E72D297353CC}">
              <c16:uniqueId val="{00000000-E7B9-436B-AF5A-759BF69A4EC3}"/>
            </c:ext>
          </c:extLst>
        </c:ser>
        <c:dLbls>
          <c:dLblPos val="outEnd"/>
          <c:showLegendKey val="0"/>
          <c:showVal val="1"/>
          <c:showCatName val="0"/>
          <c:showSerName val="0"/>
          <c:showPercent val="0"/>
          <c:showBubbleSize val="0"/>
        </c:dLbls>
        <c:gapWidth val="6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auto val="1"/>
        <c:lblAlgn val="ctr"/>
        <c:lblOffset val="100"/>
        <c:noMultiLvlLbl val="1"/>
      </c:catAx>
      <c:valAx>
        <c:axId val="48672768"/>
        <c:scaling>
          <c:orientation val="minMax"/>
          <c:max val="28"/>
          <c:min val="0"/>
        </c:scaling>
        <c:delete val="0"/>
        <c:axPos val="l"/>
        <c:majorGridlines>
          <c:spPr>
            <a:ln w="9525">
              <a:solidFill>
                <a:srgbClr val="DFE4EA"/>
              </a:solidFill>
            </a:ln>
          </c:spPr>
        </c:majorGridlines>
        <c:title>
          <c:tx>
            <c:rich>
              <a:bodyPr/>
              <a:lstStyle/>
              <a:p>
                <a:r>
                  <a:rPr lang="ja-JP" altLang="en-US">
                    <a:latin typeface="Noto Sans JP"/>
                    <a:ea typeface="Noto Sans JP"/>
                    <a:cs typeface="Noto Sans JP"/>
                  </a:rPr>
                  <a:t>万円／週</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between"/>
      </c:valAx>
      <c:spPr>
        <a:solidFill>
          <a:srgbClr val="FFFFFF"/>
        </a:solidFill>
      </c:spPr>
    </c:plotArea>
    <c:plotVisOnly val="1"/>
    <c:dispBlanksAs val="zero"/>
    <c:showDLblsOverMax val="1"/>
  </c:chart>
  <c:spPr>
    <a:solidFill>
      <a:srgbClr val="FFFFFF"/>
    </a:solidFill>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出典：C:\master-course\output\executed_soc_20260926\monthly_report\revisions\9e55ca12f1cb04bb30354333ff5f95c513227d04ec1c651281c0678d85cd1a44/comparison.json</a:t>
            </a:r>
          </a:p>
          <a:p>
            <a:r>
              <a:t>SHA256 4d9423a50f8f4286b9afaf31d00d21928ea5283baa4c47c74b4e20c57066c78d</a:t>
            </a:r>
          </a:p>
          <a:p>
            <a:r>
              <a:t>計算固定版 f524eca2552a4386bd033a15bbe046c14dc09281</a:t>
            </a:r>
          </a:p>
          <a:p>
            <a:r>
              <a:t>グラフはMWh小数6桁に表示用丸め。原値は同梱comparison.json。</a:t>
            </a:r>
          </a:p>
          <a:p>
            <a:r>
              <a:t>元の実行会計と物理検証を照合した週だけ収録。図表復旧と原FAILEDは別記録。</a:t>
            </a:r>
          </a:p>
          <a:p>
            <a:r>
              <a:t>仮・正式用 ／ 渋21・22・23 ／ 2025年の各月から連続7日間</a:t>
            </a:r>
          </a:p>
          <a:p>
            <a:r>
              <a:t>各日の日付別ダイヤ・PVを使用し、車両と蓄電池の状態を引き継ぐ</a:t>
            </a:r>
          </a:p>
          <a:p>
            <a:r>
              <a:t>現版 f524eca2 の途中報告。以降の旧24枚は履歴として非表示で保管。</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4999790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出典：C:\master-course\output\executed_soc_20260926\monthly_report\revisions\9e55ca12f1cb04bb30354333ff5f95c513227d04ec1c651281c0678d85cd1a44/comparison.json</a:t>
            </a:r>
          </a:p>
          <a:p>
            <a:r>
              <a:t>SHA256 4d9423a50f8f4286b9afaf31d00d21928ea5283baa4c47c74b4e20c57066c78d</a:t>
            </a:r>
          </a:p>
          <a:p>
            <a:r>
              <a:t>計算固定版 f524eca2552a4386bd033a15bbe046c14dc09281</a:t>
            </a:r>
          </a:p>
          <a:p>
            <a:r>
              <a:t>グラフはMWh小数6桁に表示用丸め。原値は同梱comparison.json。</a:t>
            </a:r>
          </a:p>
          <a:p>
            <a:r>
              <a:t>元の実行会計と物理検証を照合した週だけ収録。図表復旧と原FAILEDは別記録。</a:t>
            </a:r>
          </a:p>
          <a:p>
            <a:r>
              <a:t>単位：万円。営業7日間と最終翌朝までの実行会計を集計</a:t>
            </a:r>
          </a:p>
          <a:p>
            <a:r>
              <a:t>車両日費と、買電・燃料・契約超過モデル費を分けて読む</a:t>
            </a:r>
          </a:p>
          <a:p>
            <a:r>
              <a:t>燃料は消費在庫の評価を含む。超過モデル費は実契約の請求額ではない。設備投資費は未計上。</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3185423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出典：C:\master-course\output\executed_soc_20260926\monthly_report\revisions\9e55ca12f1cb04bb30354333ff5f95c513227d04ec1c651281c0678d85cd1a44/comparison.json</a:t>
            </a:r>
          </a:p>
          <a:p>
            <a:r>
              <a:t>SHA256 4d9423a50f8f4286b9afaf31d00d21928ea5283baa4c47c74b4e20c57066c78d</a:t>
            </a:r>
          </a:p>
          <a:p>
            <a:r>
              <a:t>計算固定版 f524eca2552a4386bd033a15bbe046c14dc09281</a:t>
            </a:r>
          </a:p>
          <a:p>
            <a:r>
              <a:t>グラフはMWh小数6桁に表示用丸め。原値は同梱comparison.json。</a:t>
            </a:r>
          </a:p>
          <a:p>
            <a:r>
              <a:t>元の実行会計と物理検証を照合した週だけ収録。図表復旧と原FAILEDは別記録。</a:t>
            </a:r>
          </a:p>
          <a:p>
            <a:r>
              <a:t>単位：万円。営業7日間と最終翌朝までの実行会計を集計</a:t>
            </a:r>
          </a:p>
          <a:p>
            <a:r>
              <a:t>車両日費と、買電・燃料・契約超過モデル費を分けて読む</a:t>
            </a:r>
          </a:p>
          <a:p>
            <a:r>
              <a:t>燃料は消費在庫の評価を含む。超過モデル費は実契約の請求額ではない。設備投資費は未計上。</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9673879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出典：C:\master-course\output\executed_soc_20260926\monthly_report\revisions\9e55ca12f1cb04bb30354333ff5f95c513227d04ec1c651281c0678d85cd1a44/comparison.json</a:t>
            </a:r>
          </a:p>
          <a:p>
            <a:r>
              <a:t>SHA256 4d9423a50f8f4286b9afaf31d00d21928ea5283baa4c47c74b4e20c57066c78d</a:t>
            </a:r>
          </a:p>
          <a:p>
            <a:r>
              <a:t>計算固定版 f524eca2552a4386bd033a15bbe046c14dc09281</a:t>
            </a:r>
          </a:p>
          <a:p>
            <a:r>
              <a:t>グラフはMWh小数6桁に表示用丸め。原値は同梱comparison.json。</a:t>
            </a:r>
          </a:p>
          <a:p>
            <a:r>
              <a:t>元の実行会計と物理検証を照合した週だけ収録。図表復旧と原FAILEDは別記録。</a:t>
            </a:r>
          </a:p>
          <a:p>
            <a:r>
              <a:t>単位：MWh。収録済みの各月1週を比較（営業7日間＋最終翌朝）</a:t>
            </a:r>
          </a:p>
          <a:p>
            <a:r>
              <a:t>月平均・年間合計ではなく、それぞれの代表週の結果を示す</a:t>
            </a:r>
          </a:p>
          <a:p>
            <a:r>
              <a:t>電費・燃費は一定。PVだけの因果効果や、冷暖房負荷を含む季節差とは解釈しない。</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449985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出典：C:\master-course\output\executed_soc_20260926\monthly_report\revisions\9e55ca12f1cb04bb30354333ff5f95c513227d04ec1c651281c0678d85cd1a44/comparison.json</a:t>
            </a:r>
          </a:p>
          <a:p>
            <a:r>
              <a:t>SHA256 4d9423a50f8f4286b9afaf31d00d21928ea5283baa4c47c74b4e20c57066c78d</a:t>
            </a:r>
          </a:p>
          <a:p>
            <a:r>
              <a:t>計算固定版 f524eca2552a4386bd033a15bbe046c14dc09281</a:t>
            </a:r>
          </a:p>
          <a:p>
            <a:r>
              <a:t>グラフはMWh小数6桁に表示用丸め。原値は同梱comparison.json。</a:t>
            </a:r>
          </a:p>
          <a:p>
            <a:r>
              <a:t>元の実行会計と物理検証を照合した週だけ収録。図表復旧と原FAILEDは別記録。</a:t>
            </a:r>
          </a:p>
          <a:p>
            <a:r>
              <a:t>収録11週の最高額 3月と最低額 8月の差。最適費用の順位ではない</a:t>
            </a:r>
          </a:p>
          <a:p>
            <a:r>
              <a:t>週次費用差は 194.81万円。費目と入力条件を併せて解釈する</a:t>
            </a:r>
          </a:p>
          <a:p>
            <a:r>
              <a:t>差は観測した計画間の記述値。PVの効果・手法の削減効果・年間節約額を直接示さない。</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4083135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出典：C:\master-course\output\executed_soc_20260926\monthly_report\revisions\9e55ca12f1cb04bb30354333ff5f95c513227d04ec1c651281c0678d85cd1a44/comparison.json</a:t>
            </a:r>
          </a:p>
          <a:p>
            <a:r>
              <a:t>SHA256 4d9423a50f8f4286b9afaf31d00d21928ea5283baa4c47c74b4e20c57066c78d</a:t>
            </a:r>
          </a:p>
          <a:p>
            <a:r>
              <a:t>計算固定版 f524eca2552a4386bd033a15bbe046c14dc09281</a:t>
            </a:r>
          </a:p>
          <a:p>
            <a:r>
              <a:t>グラフはMWh小数6桁に表示用丸め。原値は同梱comparison.json。</a:t>
            </a:r>
          </a:p>
          <a:p>
            <a:r>
              <a:t>元の実行会計と物理検証を照合した週だけ収録。図表復旧と原FAILEDは別記録。</a:t>
            </a:r>
          </a:p>
          <a:p>
            <a:r>
              <a:t>週次運行・経済性・月別の違いを、原本に対応する数値で説明する</a:t>
            </a:r>
          </a:p>
          <a:p>
            <a:r>
              <a:t>図表の注意と、運行・会計の不整合を区別して結果を積み上げる</a:t>
            </a:r>
          </a:p>
          <a:p>
            <a:r>
              <a:t>DIAGNOSTIC / NOT USED FOR RESEARCH CONCLUSIONS。独立した正式研究採用承認は別途必要。</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9825905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研究の目的は、全便の運行を守りながら、電気バスとエンジンバスの担当、電気バスの充電、太陽光と蓄電池の利用を計画することです。今回は各月1週間、合計12週間を計算しました。前半でモデルと比較条件を説明し、後半で先生からご指摘いただいた3月と11月の違いを、時刻別の受電電力と費用の内訳から説明します。実バスの運行実験ではなく、保存した入力に基づくシミュレーションです。</a:t>
            </a:r>
          </a:p>
          <a:p>
            <a:endParaRPr/>
          </a:p>
          <a:p>
            <a:r>
              <a:t>出典：C:/master-course/docs/notes/SHIBU21_23_MONTHLY_PHASE_SEARCH_RESULTS_20260915.json。固定ソースSHA 7c7c2334040d54722d2f1c354634269d35f8d1de。費用原本は各週の rolling_hourly_chain/executed_day_accounting.json、電力時系列は executed_plan.json、物理検証は physical_validation.json。再集計と全原本SHA：C:/master-course/outcome/2026-09-18_urabe_followup/analysis.json。表示値のみ丸める。診断比較であり研究採用はBLOCKED、NOT USED FOR RESEARCH CONCLUSIONS。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説明：目的は、便を欠かさず運行しながら費用を抑える配車・充電計画です。今回確かめたのは、同じ曜日構成の12週を計算できるか、受電電力や費用が週によってどう違うかです。同じ週に対する基準運用との比較はまだありません。</a:t>
            </a:r>
          </a:p>
          <a:p>
            <a:r>
              <a:t>次のつながり：何を計画し、どの入力を使うのかを説明します。</a:t>
            </a:r>
          </a:p>
          <a:p>
            <a:r>
              <a:t>想定質問「削減効果が出たのか」：週同士の費用差は確認しましたが、提案手法による削減効果としてはまだ示していません。</a:t>
            </a:r>
          </a:p>
          <a:p>
            <a:endParaRPr/>
          </a:p>
          <a:p>
            <a:r>
              <a:t>出典：C:/master-course/docs/notes/SHIBU21_23_MONTHLY_PHASE_SEARCH_RESULTS_20260915.json。固定ソースSHA 7c7c2334040d54722d2f1c354634269d35f8d1de。費用原本は各週の rolling_hourly_chain/executed_day_accounting.json、電力時系列は executed_plan.json、物理検証は physical_validation.json。再集計と全原本SHA：C:/master-course/outcome/2026-09-18_urabe_followup/analysis.json。表示値のみ丸める。診断比較であり研究採用はBLOCKED、NOT USED FOR RESEARCH CONCLUSIONS。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説明：BEVは電気バス、ICEはエンジンバスです。BESSは車載電池とは別の、営業所に置く蓄電池です。PVは太陽光発電で、電気バスへ直接使うか蓄電池へ貯めます。系統から受電した電力量が購入電力量です。余ったPVのうち使わずに抑えた量を抑制量と呼びます。</a:t>
            </a:r>
          </a:p>
          <a:p>
            <a:r>
              <a:t>次のつながり：これらの車両と設備のどの条件を全月で揃えたかを示します。</a:t>
            </a:r>
          </a:p>
          <a:p>
            <a:r>
              <a:t>想定質問「蓄電池のSOCはバスか」：この資料でBESS残量と書く箇所は定置用です。車載電池のSOCは別の制約で確認しています。</a:t>
            </a:r>
          </a:p>
          <a:p>
            <a:endParaRPr/>
          </a:p>
          <a:p>
            <a:r>
              <a:t>出典：C:/master-course/docs/notes/SHIBU21_23_MONTHLY_PHASE_SEARCH_RESULTS_20260915.json。固定ソースSHA 7c7c2334040d54722d2f1c354634269d35f8d1de。費用原本は各週の rolling_hourly_chain/executed_day_accounting.json、電力時系列は executed_plan.json、物理検証は physical_validation.json。再集計と全原本SHA：C:/master-course/outcome/2026-09-18_urabe_followup/analysis.json。表示値のみ丸める。診断比較であり研究採用はBLOCKED、NOT USED FOR RESEARCH CONCLUSIONS。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説明：週はPV量や費用を見て選び直していません。各月の最初の、祝日を含まない月内完結の7日間という規則です。入力車両は60台で、BEV35台、ICE25台。すべてを必ず使用する条件ではなく、使用台数や担当便は求解結果です。</a:t>
            </a:r>
          </a:p>
          <a:p>
            <a:r>
              <a:t>次のつながり：同じ設備とルールの下で、どの順番で計画を求めるかを説明します。</a:t>
            </a:r>
          </a:p>
          <a:p>
            <a:r>
              <a:t>想定質問「公平ならPVだけの効果か」：配車や予測誤差も週ごとに変わるため、PV単独の因果比較にはなりません。</a:t>
            </a:r>
          </a:p>
          <a:p>
            <a:endParaRPr/>
          </a:p>
          <a:p>
            <a:r>
              <a:t>出典：C:/master-course/docs/notes/SHIBU21_23_MONTHLY_PHASE_SEARCH_RESULTS_20260915.json。固定ソースSHA 7c7c2334040d54722d2f1c354634269d35f8d1de。費用原本は各週の rolling_hourly_chain/executed_day_accounting.json、電力時系列は executed_plan.json、物理検証は physical_validation.json。再集計と全原本SHA：C:/master-course/outcome/2026-09-18_urabe_followup/analysis.json。表示値のみ丸める。診断比較であり研究採用はBLOCKED、NOT USED FOR RESEARCH CONCLUSIONS。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説明：前日計画ではまず便を担当する車両を決め、その配車に対する充電計画を計算します。毎時の更新では配車を固定し、その時点の残量と予測から最大24時間先を計画し、先頭1時間分を実行として採用します。計算の予測入力は2024年だけから作った季節別の統計的な予測です。実行時には2025年の履歴推定PVを適用します。予測と将来の履歴値は分けています。</a:t>
            </a:r>
          </a:p>
          <a:p>
            <a:r>
              <a:t>次のつながり：この手順で12週がどこまで成立したかを示します。</a:t>
            </a:r>
          </a:p>
          <a:p>
            <a:r>
              <a:t>想定質問「未来の実績を見て最適化したのか」：計画と実行用のPVを分離し、2025年履歴を予測学習へ混ぜていません。</a:t>
            </a:r>
          </a:p>
          <a:p>
            <a:endParaRPr/>
          </a:p>
          <a:p>
            <a:r>
              <a:t>出典：C:/master-course/docs/notes/SHIBU21_23_MONTHLY_PHASE_SEARCH_RESULTS_20260915.json。固定ソースSHA 7c7c2334040d54722d2f1c354634269d35f8d1de。費用原本は各週の rolling_hourly_chain/executed_day_accounting.json、電力時系列は executed_plan.json、物理検証は physical_validation.json。再集計と全原本SHA：C:/master-course/outcome/2026-09-18_urabe_followup/analysis.json。表示値のみ丸める。診断比較であり研究採用はBLOCKED、NOT USED FOR RESEARCH CONCLUSIONS。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説明：全12週で168時間の更新と672個の15分区間が完了しました。未担当便やSOC、充電器などの違反は0件です。週間費用と台帳も丸め前で照合しています。ただし、最適性の目標には未到達です。3月と11月の配車段階gapは84.6%と85.2%で、目標10%を満たしません。またBESSは週末に初期残量へ戻す条件ではなく、在庫利用を含みます。</a:t>
            </a:r>
          </a:p>
          <a:p>
            <a:r>
              <a:t>次のつながり：まず電力の量と大きさの意味を整理してから結果を読みます。</a:t>
            </a:r>
          </a:p>
          <a:p>
            <a:r>
              <a:t>想定質問「検証通過なら研究として完成か」：計算の成立、費用の整合、最適性、手法の優位性、研究承認は別の判定です。</a:t>
            </a:r>
          </a:p>
          <a:p>
            <a:endParaRPr/>
          </a:p>
          <a:p>
            <a:r>
              <a:t>出典：C:/master-course/docs/notes/SHIBU21_23_MONTHLY_PHASE_SEARCH_RESULTS_20260915.json。固定ソースSHA 7c7c2334040d54722d2f1c354634269d35f8d1de。費用原本は各週の rolling_hourly_chain/executed_day_accounting.json、電力時系列は executed_plan.json、物理検証は physical_validation.json。再集計と全原本SHA：C:/master-course/outcome/2026-09-18_urabe_followup/analysis.json。表示値のみ丸める。診断比較であり研究採用はBLOCKED、NOT USED FOR RESEARCH CONCLUSIONS。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説明：受電電力は系統から購入する電力の各15分平均値P(t)です。1週間は168時間、672区間です。受電ピークはこの672個のP(t)の最大値で、単位はkWです。週間購入電力量はP(t)に0.25時間を掛けて672区間を合計した値、週間平均受電電力は週間購入電力量を168時間で割った値です。100 kWが15分続く場合の電力量は25 kWhです。この例は指標説明用です。瞬時最大電力はこの時間解像度からは分かりません。</a:t>
            </a:r>
          </a:p>
          <a:p>
            <a:r>
              <a:t>次のつながり：この区別を使って、まず12週の購入電力量、その後3月と11月の受電ピーク差を見ます。</a:t>
            </a:r>
          </a:p>
          <a:p>
            <a:r>
              <a:t>想定質問「平均受電が少ないのになぜ購入電力量が多いか」：週間平均は購入電力量を168時間で割った量なので同じ順位になります。前回右図が表していたのは最大値です。</a:t>
            </a:r>
          </a:p>
          <a:p>
            <a:endParaRPr/>
          </a:p>
          <a:p>
            <a:r>
              <a:t>出典：C:/master-course/docs/notes/SHIBU21_23_MONTHLY_PHASE_SEARCH_RESULTS_20260915.json。固定ソースSHA 7c7c2334040d54722d2f1c354634269d35f8d1de。費用原本は各週の rolling_hourly_chain/executed_day_accounting.json、電力時系列は executed_plan.json、物理検証は physical_validation.json。再集計と全原本SHA：C:/master-course/outcome/2026-09-18_urabe_followup/analysis.json。表示値のみ丸める。診断比較であり研究採用はBLOCKED、NOT USED FOR RESEARCH CONCLUSIONS。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説明：左図はPV発電をバスへの直接供給、BESS充電、抑制に分けています。右図は外部から購入した量です。7月は発電が最多、購入電力量が最少ですが、発電の44.1%を抑制しています。3月と11月は購入電力量が多い週です。発電の総量だけでは、充電する時刻や抑制の発生を説明し切れません。</a:t>
            </a:r>
          </a:p>
          <a:p>
            <a:r>
              <a:t>次のつながり：購入電力量が近い3月と11月を取り上げ、受電ピークの違いを説明します。</a:t>
            </a:r>
          </a:p>
          <a:p>
            <a:r>
              <a:t>想定質問「BESSを増やせば解決するか」：抑制の原因を容量不足に特定していないため、設備容量の結論には同条件の追加比較が必要です。</a:t>
            </a:r>
          </a:p>
          <a:p>
            <a:endParaRPr/>
          </a:p>
          <a:p>
            <a:r>
              <a:t>出典：C:/master-course/docs/notes/SHIBU21_23_MONTHLY_PHASE_SEARCH_RESULTS_20260915.json。固定ソースSHA 7c7c2334040d54722d2f1c354634269d35f8d1de。費用原本は各週の rolling_hourly_chain/executed_day_accounting.json、電力時系列は executed_plan.json、物理検証は physical_validation.json。再集計と全原本SHA：C:/master-course/outcome/2026-09-18_urabe_followup/analysis.json。表示値のみ丸める。診断比較であり研究採用はBLOCKED、NOT USED FOR RESEARCH CONCLUSIONS。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説明：充電量は両週約20 MWhで近い値です。系統からの購入電力量は3月7.79 MWh、11月7.30 MWh、週間平均受電電力は46.4 kWと43.5 kWです。一方、受電ピークは849.4 kWと234.8 kWで大きく異なります。ここから、購入電力量の違いよりも時間的な集中に注目します。台日とは日ごとの使用台数を足した値です。</a:t>
            </a:r>
          </a:p>
          <a:p>
            <a:r>
              <a:t>次のつながり：11月の購入が一時的かどうか、日別に分解します。</a:t>
            </a:r>
          </a:p>
          <a:p>
            <a:r>
              <a:t>想定質問「11月はPVが少ないからか」：3月14.86 MWh、11月15.85 MWhで、11月の発電総量はむしろやや多い結果です。時刻別の関係が必要です。</a:t>
            </a:r>
          </a:p>
          <a:p>
            <a:endParaRPr/>
          </a:p>
          <a:p>
            <a:r>
              <a:t>出典：C:/master-course/docs/notes/SHIBU21_23_MONTHLY_PHASE_SEARCH_RESULTS_20260915.json。固定ソースSHA 7c7c2334040d54722d2f1c354634269d35f8d1de。費用原本は各週の rolling_hourly_chain/executed_day_accounting.json、電力時系列は executed_plan.json、物理検証は physical_validation.json。再集計と全原本SHA：C:/master-course/outcome/2026-09-18_urabe_followup/analysis.json。表示値のみ丸める。診断比較であり研究採用はBLOCKED、NOT USED FOR RESEARCH CONCLUSIONS。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説明：日別に購入電力量を積算すると、11月は7日すべてで購入しています。購入が1 kWを超える区間を足すと50.75時間で、3月の51.75時間と近い値です。最大の1日でも全体の20.5%です。したがって週間購入電力量の全体を一度の短い不足だけでは説明できません。</a:t>
            </a:r>
          </a:p>
          <a:p>
            <a:r>
              <a:t>次のつながり：同じ受電時間でも3月の受電ピークが高くなる様子を、15分時系列で確認します。</a:t>
            </a:r>
          </a:p>
          <a:p>
            <a:r>
              <a:t>想定質問「小さい受電を数えて時間が増えていないか」：1 kWを超える区間と定義し、微小な計算残差を除いています。閾値を変えた際の定義の差は補足資料に保持しています。</a:t>
            </a:r>
          </a:p>
          <a:p>
            <a:endParaRPr/>
          </a:p>
          <a:p>
            <a:r>
              <a:t>出典：C:/master-course/docs/notes/SHIBU21_23_MONTHLY_PHASE_SEARCH_RESULTS_20260915.json。固定ソースSHA 7c7c2334040d54722d2f1c354634269d35f8d1de。費用原本は各週の rolling_hourly_chain/executed_day_accounting.json、電力時系列は executed_plan.json、物理検証は physical_validation.json。再集計と全原本SHA：C:/master-course/outcome/2026-09-18_urabe_followup/analysis.json。表示値のみ丸める。診断比較であり研究採用はBLOCKED、NOT USED FOR RESEARCH CONCLUSIONS。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説明：線は各15分の平均値を階段状に表示し、時間平均で受電ピークをならしていません。3月は初日未明に大きな受電ピークが見えます。一方11月は200 kW前後に購入が分散しています。赤線は超えてはいけない物理制約ではなく、超過に追加の費用を与える基準です。</a:t>
            </a:r>
          </a:p>
          <a:p>
            <a:r>
              <a:t>次のつながり：赤線より上の部分を拡大すると、費用につながる超過の大きさが分かります。</a:t>
            </a:r>
          </a:p>
          <a:p>
            <a:r>
              <a:t>想定質問「実際の瞬時最大電力か」：各15分の平均値の最大であり、それより短い瞬時最大電力はこの時間解像度からは分かりません。</a:t>
            </a:r>
          </a:p>
          <a:p>
            <a:endParaRPr/>
          </a:p>
          <a:p>
            <a:r>
              <a:t>出典：C:/master-course/docs/notes/SHIBU21_23_MONTHLY_PHASE_SEARCH_RESULTS_20260915.json。固定ソースSHA 7c7c2334040d54722d2f1c354634269d35f8d1de。費用原本は各週の rolling_hourly_chain/executed_day_accounting.json、電力時系列は executed_plan.json、物理検証は physical_validation.json。再集計と全原本SHA：C:/master-course/outcome/2026-09-18_urabe_followup/analysis.json。表示値のみ丸める。診断比較であり研究採用はBLOCKED、NOT USED FOR RESEARCH CONCLUSIONS。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説明：3月の200 kW超過は計1.25時間で、超過電力量の99.86%が初日1時から2時に集中しています。11月の超過は計3.75時間分ですが、超過の高さは小さく、すべて11月13日夜から14日朝にあります。11月の超過が一晩に集中することと、購入全体が一時的であることを分けて説明します。</a:t>
            </a:r>
          </a:p>
          <a:p>
            <a:r>
              <a:t>次のつながり：なぜ系統購入になったのか、受電ピーク区間の電源を確認します。</a:t>
            </a:r>
          </a:p>
          <a:p>
            <a:r>
              <a:t>想定質問「11月の超過の方が長いのに安いのか」：超過電力と時間の積、すなわち超過電力量が小さいためです。</a:t>
            </a:r>
          </a:p>
          <a:p>
            <a:endParaRPr/>
          </a:p>
          <a:p>
            <a:r>
              <a:t>出典：C:/master-course/docs/notes/SHIBU21_23_MONTHLY_PHASE_SEARCH_RESULTS_20260915.json。固定ソースSHA 7c7c2334040d54722d2f1c354634269d35f8d1de。費用原本は各週の rolling_hourly_chain/executed_day_accounting.json、電力時系列は executed_plan.json、物理検証は physical_validation.json。再集計と全原本SHA：C:/master-course/outcome/2026-09-18_urabe_followup/analysis.json。表示値のみ丸める。診断比較であり研究採用はBLOCKED、NOT USED FOR RESEARCH CONCLUSIONS。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説明：受電ピーク区間ではPV供給もBESS放電も0です。BESS残量は3月3000 kWh、11月2096.7 kWhで下限を上回っていました。よって単に蓄電池が空だったとは説明できません。ただし、後の運行を守りながら別の放電計画を実行できるかはまだ比較していません。計算上は系統購入で需要を満たしており、未担当便やSOC不足は0件です。</a:t>
            </a:r>
          </a:p>
          <a:p>
            <a:r>
              <a:t>次のつながり：この電力の違いが週間費用へどれだけ寄与したかを分解します。</a:t>
            </a:r>
          </a:p>
          <a:p>
            <a:r>
              <a:t>想定質問「最適化が間違っているのか」：実行可能性の検査は通過していますが、最適性や改善余地は未確定です。この場で原因を断定しません。</a:t>
            </a:r>
          </a:p>
          <a:p>
            <a:endParaRPr/>
          </a:p>
          <a:p>
            <a:r>
              <a:t>出典：C:/master-course/docs/notes/SHIBU21_23_MONTHLY_PHASE_SEARCH_RESULTS_20260915.json。固定ソースSHA 7c7c2334040d54722d2f1c354634269d35f8d1de。費用原本は各週の rolling_hourly_chain/executed_day_accounting.json、電力時系列は executed_plan.json、物理検証は physical_validation.json。再集計と全原本SHA：C:/master-course/outcome/2026-09-18_urabe_followup/analysis.json。表示値のみ丸める。診断比較であり研究採用はBLOCKED、NOT USED FOR RESEARCH CONCLUSIONS。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説明：費用は実行済み週間会計から取得しました。車両使用費は1台を1日使うごとに2万円というモデル値で、両週412万円です。週間費用の差23.99万円のうち22.42万円が超過ペナルティです。通常の電力費の差は1.47万円で、残りは燃料とCO2です。</a:t>
            </a:r>
          </a:p>
          <a:p>
            <a:r>
              <a:t>次のつながり：この差を支配する超過ペナルティの式と単価を明示します。</a:t>
            </a:r>
          </a:p>
          <a:p>
            <a:r>
              <a:t>想定質問「車両費の根拠は」：今回の共通入力係数です。実運用の原価としての妥当性を、この実験で検証したわけではありません。燃料費も現金購入だけでなく初期燃料在庫の消費評価を含みます。</a:t>
            </a:r>
          </a:p>
          <a:p>
            <a:endParaRPr/>
          </a:p>
          <a:p>
            <a:r>
              <a:t>出典：C:/master-course/docs/notes/SHIBU21_23_MONTHLY_PHASE_SEARCH_RESULTS_20260915.json。固定ソースSHA 7c7c2334040d54722d2f1c354634269d35f8d1de。費用原本は各週の rolling_hourly_chain/executed_day_accounting.json、電力時系列は executed_plan.json、物理検証は physical_validation.json。再集計と全原本SHA：C:/master-course/outcome/2026-09-18_urabe_followup/analysis.json。表示値のみ丸める。診断比較であり研究採用はBLOCKED、NOT USED FOR RESEARCH CONCLUSIONS。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説明：200 kWを超えた電力だけに時間を掛け、超過電力量を求めます。たとえば250 kWを15分購入すると、超過は50 kW×0.25時間で12.5 kWh、追加費用は6250円です。このほか購入全量には30円/kWhの通常費用が掛かります。実験では超過を許すルールであり、超過そのものは物理違反ではありません。一般の月間デマンド料金としては扱いません。</a:t>
            </a:r>
          </a:p>
          <a:p>
            <a:r>
              <a:t>次のつながり：単価によって費用差の見え方が変わるため、その依存性も示します。</a:t>
            </a:r>
          </a:p>
          <a:p>
            <a:r>
              <a:t>想定質問「なぜ500円なのか」：採用された共通モデル係数であることは確認していますが、実契約に基づく妥当性は未確認です。仮定として明示し、係数依存性を併記します。</a:t>
            </a:r>
          </a:p>
          <a:p>
            <a:endParaRPr/>
          </a:p>
          <a:p>
            <a:r>
              <a:t>出典：C:/master-course/docs/notes/SHIBU21_23_MONTHLY_PHASE_SEARCH_RESULTS_20260915.json。固定ソースSHA 7c7c2334040d54722d2f1c354634269d35f8d1de。費用原本は各週の rolling_hourly_chain/executed_day_accounting.json、電力時系列は executed_plan.json、物理検証は physical_validation.json。再集計と全原本SHA：C:/master-course/outcome/2026-09-18_urabe_followup/analysis.json。表示値のみ丸める。診断比較であり研究採用はBLOCKED、NOT USED FOR RESEARCH CONCLUSIONS。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説明：23.99万円は11月の週間費用に対して5.42%、1便当たり140.79円です。これが実務上大きいかは、実際の原価と比較運用を確認して判断する必要があります。また同じ配車・電力を固定して超過ペナルティ単価だけを0円、100円、500円とすると差は1.57、6.05、23.99万円です。差額が費用係数へ強く依存しています。</a:t>
            </a:r>
          </a:p>
          <a:p>
            <a:r>
              <a:t>次のつながり：3月と11月だけでなく、季節ごとの傾向として何が読めるかを整理します。</a:t>
            </a:r>
          </a:p>
          <a:p>
            <a:r>
              <a:t>想定質問「500円をやめれば節約できるか」：この図は同じ運用を違う単価で評価しただけです。単価を変えて再最適化した結果でも、実際に契約を変更できるという意味でもありません。</a:t>
            </a:r>
          </a:p>
          <a:p>
            <a:endParaRPr/>
          </a:p>
          <a:p>
            <a:r>
              <a:t>出典：C:/master-course/docs/notes/SHIBU21_23_MONTHLY_PHASE_SEARCH_RESULTS_20260915.json。固定ソースSHA 7c7c2334040d54722d2f1c354634269d35f8d1de。費用原本は各週の rolling_hourly_chain/executed_day_accounting.json、電力時系列は executed_plan.json、物理検証は physical_validation.json。再集計と全原本SHA：C:/master-course/outcome/2026-09-18_urabe_followup/analysis.json。表示値のみ丸める。診断比較であり研究採用はBLOCKED、NOT USED FOR RESEARCH CONCLUSIONS。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説明：選択3週の平均購入電力量は夏が2425 kWh、秋が5072 kWhです。夏のPV抑制率は45.3%で、利用できる時間との対応が次の検討点になります。春の平均費用が高い点には3月の大きな超過ペナルティが影響します。ただし選択した3月の週の日射量は月平均より35.2%少なく、典型的な3月とは限りません。冷暖房による季節需要の変化も未入力です。</a:t>
            </a:r>
          </a:p>
          <a:p>
            <a:r>
              <a:t>次のつながり：以上を先生のご質問への回答と次の検証へまとめます。</a:t>
            </a:r>
          </a:p>
          <a:p>
            <a:r>
              <a:t>想定質問「夏が有利と一般化できるか」：この設備・固定電費・選択週の範囲ではその傾向ですが、年間や別の週へは未検証です。</a:t>
            </a:r>
          </a:p>
          <a:p>
            <a:endParaRPr/>
          </a:p>
          <a:p>
            <a:r>
              <a:t>出典：C:/master-course/docs/notes/SHIBU21_23_MONTHLY_PHASE_SEARCH_RESULTS_20260915.json。固定ソースSHA 7c7c2334040d54722d2f1c354634269d35f8d1de。費用原本は各週の rolling_hourly_chain/executed_day_accounting.json、電力時系列は executed_plan.json、物理検証は physical_validation.json。再集計と全原本SHA：C:/master-course/outcome/2026-09-18_urabe_followup/analysis.json。表示値のみ丸める。診断比較であり研究採用はBLOCKED、NOT USED FOR RESEARCH CONCLUSIONS。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説明：先生への回答は三点です。11月の購入全体は7日間に分散していますが、200 kW超過は一晩に集中しました。週間費用差23.99万円の93.5%はモデルの超過ペナルティで説明できます。その一方で、BESSを含む代替運用で超過を避けられるかや手法の優位性は未確定です。次は同じ入力と残量条件を固定した基準運用との比較を行う設計が必要です。</a:t>
            </a:r>
          </a:p>
          <a:p>
            <a:r>
              <a:t>想定質問「今回の前進は何か」：全12週の運行・充電・会計を一貫して検算でき、費用差の主要因と未解明点を数値で切り分けられたことです。</a:t>
            </a:r>
          </a:p>
          <a:p>
            <a:r>
              <a:t>締め：費用係数の位置付けと、基準運用をどう定めるかについてご意見をいただきたいと考えています。</a:t>
            </a:r>
          </a:p>
          <a:p>
            <a:endParaRPr/>
          </a:p>
          <a:p>
            <a:r>
              <a:t>出典：C:/master-course/docs/notes/SHIBU21_23_MONTHLY_PHASE_SEARCH_RESULTS_20260915.json。固定ソースSHA 7c7c2334040d54722d2f1c354634269d35f8d1de。費用原本は各週の rolling_hourly_chain/executed_day_accounting.json、電力時系列は executed_plan.json、物理検証は physical_validation.json。再集計と全原本SHA：C:/master-course/outcome/2026-09-18_urabe_followup/analysis.json。表示値のみ丸める。診断比較であり研究採用はBLOCKED、NOT USED FOR RESEARCH CONCLUSIONS。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説明：BEVは314 kWh、SOC20〜90%、最大充電90 kWです。10基の充電器を共有します。定置用蓄電池は6000 kWh、初期3000 kWh、下限1200 kWh、上限4800 kWhです。3月・11月の終端は1200 kWhで、初期から1800 kWh減っています。毎週リセットするため、この残量を年間52回無料に利用できるわけではありません。V2Gは使っていません。</a:t>
            </a:r>
          </a:p>
          <a:p>
            <a:r>
              <a:t>想定質問「同じ初期残量なら完全に公平か」：出発条件は揃っていますが、終端在庫や得られた配車・探索の質は別に確認が必要です。</a:t>
            </a:r>
          </a:p>
          <a:p>
            <a:endParaRPr/>
          </a:p>
          <a:p>
            <a:r>
              <a:t>出典：C:/master-course/docs/notes/SHIBU21_23_MONTHLY_PHASE_SEARCH_RESULTS_20260915.json。固定ソースSHA 7c7c2334040d54722d2f1c354634269d35f8d1de。費用原本は各週の rolling_hourly_chain/executed_day_accounting.json、電力時系列は executed_plan.json、物理検証は physical_validation.json。再集計と全原本SHA：C:/master-course/outcome/2026-09-18_urabe_followup/analysis.json。表示値のみ丸める。診断比較であり研究採用はBLOCKED、NOT USED FOR RESEARCH CONCLUSIONS。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説明：月別の数値を確認するための表です。入力60台と、週内で実際に使ったユニーク車両数と、使用車両日数を区別します。1月と10月は205台日で、その他は206台日です。単価は同じでも車両使用費に2万円の違いが生じます。3月と11月は同じ206台日なので、その費用差は車両使用費の差ではありません。</a:t>
            </a:r>
          </a:p>
          <a:p>
            <a:endParaRPr/>
          </a:p>
          <a:p>
            <a:r>
              <a:t>出典：C:/master-course/docs/notes/SHIBU21_23_MONTHLY_PHASE_SEARCH_RESULTS_20260915.json。固定ソースSHA 7c7c2334040d54722d2f1c354634269d35f8d1de。費用原本は各週の rolling_hourly_chain/executed_day_accounting.json、電力時系列は executed_plan.json、物理検証は physical_validation.json。再集計と全原本SHA：C:/master-course/outcome/2026-09-18_urabe_followup/analysis.json。表示値のみ丸める。診断比較であり研究採用はBLOCKED、NOT USED FOR RESEARCH CONCLUSIONS。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説明：月別の数値を確認するための表です。入力60台と、週内で実際に使ったユニーク車両数と、使用車両日数を区別します。1月と10月は205台日で、その他は206台日です。単価は同じでも車両使用費に2万円の違いが生じます。3月と11月は同じ206台日なので、その費用差は車両使用費の差ではありません。</a:t>
            </a:r>
          </a:p>
          <a:p>
            <a:endParaRPr/>
          </a:p>
          <a:p>
            <a:r>
              <a:t>出典：C:/master-course/docs/notes/SHIBU21_23_MONTHLY_PHASE_SEARCH_RESULTS_20260915.json。固定ソースSHA 7c7c2334040d54722d2f1c354634269d35f8d1de。費用原本は各週の rolling_hourly_chain/executed_day_accounting.json、電力時系列は executed_plan.json、物理検証は physical_validation.json。再集計と全原本SHA：C:/master-course/outcome/2026-09-18_urabe_followup/analysis.json。表示値のみ丸める。診断比較であり研究採用はBLOCKED、NOT USED FOR RESEARCH CONCLUSIONS。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説明：時刻表は2026年原本を曜日に対応させ、評価日は2025年、予測学習は2024年です。予測は季節別の統計的な代理モデルで、Solcastの予測製品の技能評価ではありません。選択週の日平均日射量は3月が月全体より35.2%少なく、11月が2.2%少ない結果でした。日射量は地表面の資源量であり、設備からの発電量とは単位も異なります。</a:t>
            </a:r>
          </a:p>
          <a:p>
            <a:r>
              <a:t>想定質問「都合のよい週を選んだか」：週選択の暦規則は固定し、日射の代表性は選択後に調べたものです。</a:t>
            </a:r>
          </a:p>
          <a:p>
            <a:r>
              <a:t>追加出典：C:/master-course/docs/notes/SHIBU21_23_MONTHLY_IRRADIANCE_CONTEXT_20260914.json。これは旧SHAで作成した入力の記述資料であり、旧版の最適化費用を混ぜていません。</a:t>
            </a:r>
          </a:p>
          <a:p>
            <a:endParaRPr/>
          </a:p>
          <a:p>
            <a:r>
              <a:t>出典：C:/master-course/docs/notes/SHIBU21_23_MONTHLY_PHASE_SEARCH_RESULTS_20260915.json。固定ソースSHA 7c7c2334040d54722d2f1c354634269d35f8d1de。費用原本は各週の rolling_hourly_chain/executed_day_accounting.json、電力時系列は executed_plan.json、物理検証は physical_validation.json。再集計と全原本SHA：C:/master-course/outcome/2026-09-18_urabe_followup/analysis.json。表示値のみ丸める。診断比較であり研究採用はBLOCKED、NOT USED FOR RESEARCH CONCLUSIONS。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説明：今回の受電ピーク原因を調べる段階では同じ配車を固定し、PV、車両、料金、初期残量、終端条件と設備を揃えて充電計画を比較します。基準の充電規則は事前に定め、両案が運行・物理条件を満たした場合にだけ費用を比較します。配車も含む手法全体の比較は別段階です。独立した複数週や年、乱数条件を設計し、平均だけでなく差のばらつき、計算時間、実行可能性、最適性指標を確認します。</a:t>
            </a:r>
          </a:p>
          <a:p>
            <a:r>
              <a:t>想定質問「今の3月と11月の差で代用できないか」：入力も配車も異なるため、手法だけの差として解釈できません。</a:t>
            </a:r>
          </a:p>
          <a:p>
            <a:endParaRPr/>
          </a:p>
          <a:p>
            <a:r>
              <a:t>出典：C:/master-course/docs/notes/SHIBU21_23_MONTHLY_PHASE_SEARCH_RESULTS_20260915.json。固定ソースSHA 7c7c2334040d54722d2f1c354634269d35f8d1de。費用原本は各週の rolling_hourly_chain/executed_day_accounting.json、電力時系列は executed_plan.json、物理検証は physical_validation.json。再集計と全原本SHA：C:/master-course/outcome/2026-09-18_urabe_followup/analysis.json。表示値のみ丸める。診断比較であり研究採用はBLOCKED、NOT USED FOR RESEARCH CONCLUSIONS。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説明：残る研究ゲートは、配車段階gapの事前目標未達、二段階解法の統合最適性、車両入力の正式な来歴契約、過去資料2件の証拠整合です。独立した研究承認も未取得です。営業便距離は地理的な代理値で実道路距離ではありません。現在の数値を隠すのではなく、こうした条件下で得た実行可能な計画の診断として報告します。</a:t>
            </a:r>
          </a:p>
          <a:p>
            <a:r>
              <a:t>出典：主結果と季節集計はSHIBU21_23_MONTHLY_PHASE_SEARCH_RESULTS_20260915.json。電力詳細はoutcome/2026-09-18_urabe_followup/analysis.json。日射の代表性はSHIBU21_23_MONTHLY_IRRADIANCE_CONTEXT_20260914.json。期間・設備設定は凍結worktreeのconfig/shibu21_23_monthly_2025_20260914.jsonと各Prepared原本。</a:t>
            </a:r>
          </a:p>
          <a:p>
            <a:endParaRPr/>
          </a:p>
          <a:p>
            <a:r>
              <a:t>出典：C:/master-course/docs/notes/SHIBU21_23_MONTHLY_PHASE_SEARCH_RESULTS_20260915.json。固定ソースSHA 7c7c2334040d54722d2f1c354634269d35f8d1de。費用原本は各週の rolling_hourly_chain/executed_day_accounting.json、電力時系列は executed_plan.json、物理検証は physical_validation.json。再集計と全原本SHA：C:/master-course/outcome/2026-09-18_urabe_followup/analysis.json。表示値のみ丸める。診断比較であり研究採用はBLOCKED、NOT USED FOR RESEARCH CONCLUSIONS。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79122062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a:spcBef>
          <a:spcPct val="0"/>
        </a:spcBef>
        <a:buNone/>
        <a:defRPr sz="4400" kern="1200">
          <a:solidFill>
            <a:schemeClr val="tx1"/>
          </a:solidFill>
          <a:latin typeface="+mj-lt"/>
          <a:ea typeface="+mj-lt"/>
          <a:cs typeface="+mj-lt"/>
        </a:defRPr>
      </a:lvl1pPr>
    </p:titleStyle>
    <p:bodyStyle>
      <a:lvl1pPr marL="342900" indent="-342900" algn="l" defTabSz="914400">
        <a:spcBef>
          <a:spcPct val="20000"/>
        </a:spcBef>
        <a:buFont typeface="Arial"/>
        <a:buChar char="•"/>
        <a:defRPr sz="3200" kern="1200">
          <a:solidFill>
            <a:schemeClr val="tx1"/>
          </a:solidFill>
          <a:latin typeface="+mn-lt"/>
          <a:ea typeface="+mn-lt"/>
          <a:cs typeface="+mn-lt"/>
        </a:defRPr>
      </a:lvl1pPr>
      <a:lvl2pPr marL="742950" indent="-285750" algn="l" defTabSz="914400">
        <a:spcBef>
          <a:spcPct val="20000"/>
        </a:spcBef>
        <a:buFont typeface="Arial"/>
        <a:buChar char="–"/>
        <a:defRPr sz="2800" kern="1200">
          <a:solidFill>
            <a:schemeClr val="tx1"/>
          </a:solidFill>
          <a:latin typeface="+mn-lt"/>
          <a:ea typeface="+mn-lt"/>
          <a:cs typeface="+mn-lt"/>
        </a:defRPr>
      </a:lvl2pPr>
      <a:lvl3pPr marL="1143000" indent="-228600" algn="l" defTabSz="914400">
        <a:spcBef>
          <a:spcPct val="20000"/>
        </a:spcBef>
        <a:buFont typeface="Arial"/>
        <a:buChar char="•"/>
        <a:defRPr sz="2400" kern="1200">
          <a:solidFill>
            <a:schemeClr val="tx1"/>
          </a:solidFill>
          <a:latin typeface="+mn-lt"/>
          <a:ea typeface="+mn-lt"/>
          <a:cs typeface="+mn-lt"/>
        </a:defRPr>
      </a:lvl3pPr>
      <a:lvl4pPr marL="1600200" indent="-228600" algn="l" defTabSz="914400">
        <a:spcBef>
          <a:spcPct val="20000"/>
        </a:spcBef>
        <a:buFont typeface="Arial"/>
        <a:buChar char="–"/>
        <a:defRPr sz="2000" kern="1200">
          <a:solidFill>
            <a:schemeClr val="tx1"/>
          </a:solidFill>
          <a:latin typeface="+mn-lt"/>
          <a:ea typeface="+mn-lt"/>
          <a:cs typeface="+mn-lt"/>
        </a:defRPr>
      </a:lvl4pPr>
      <a:lvl5pPr marL="2057400" indent="-228600" algn="l" defTabSz="914400">
        <a:spcBef>
          <a:spcPct val="20000"/>
        </a:spcBef>
        <a:buFont typeface="Arial"/>
        <a:buChar char="»"/>
        <a:defRPr sz="2000" kern="1200">
          <a:solidFill>
            <a:schemeClr val="tx1"/>
          </a:solidFill>
          <a:latin typeface="+mn-lt"/>
          <a:ea typeface="+mn-lt"/>
          <a:cs typeface="+mn-lt"/>
        </a:defRPr>
      </a:lvl5pPr>
      <a:lvl6pPr marL="2514600" indent="-228600" algn="l" defTabSz="914400">
        <a:spcBef>
          <a:spcPct val="20000"/>
        </a:spcBef>
        <a:buFont typeface="Arial"/>
        <a:buChar char="•"/>
        <a:defRPr sz="2000" kern="1200">
          <a:solidFill>
            <a:schemeClr val="tx1"/>
          </a:solidFill>
          <a:latin typeface="+mn-lt"/>
          <a:ea typeface="+mn-lt"/>
          <a:cs typeface="+mn-lt"/>
        </a:defRPr>
      </a:lvl6pPr>
      <a:lvl7pPr marL="2971800" indent="-228600" algn="l" defTabSz="914400">
        <a:spcBef>
          <a:spcPct val="20000"/>
        </a:spcBef>
        <a:buFont typeface="Arial"/>
        <a:buChar char="•"/>
        <a:defRPr sz="2000" kern="1200">
          <a:solidFill>
            <a:schemeClr val="tx1"/>
          </a:solidFill>
          <a:latin typeface="+mn-lt"/>
          <a:ea typeface="+mn-lt"/>
          <a:cs typeface="+mn-lt"/>
        </a:defRPr>
      </a:lvl7pPr>
      <a:lvl8pPr marL="3429000" indent="-228600" algn="l" defTabSz="914400">
        <a:spcBef>
          <a:spcPct val="20000"/>
        </a:spcBef>
        <a:buFont typeface="Arial"/>
        <a:buChar char="•"/>
        <a:defRPr sz="2000" kern="1200">
          <a:solidFill>
            <a:schemeClr val="tx1"/>
          </a:solidFill>
          <a:latin typeface="+mn-lt"/>
          <a:ea typeface="+mn-lt"/>
          <a:cs typeface="+mn-lt"/>
        </a:defRPr>
      </a:lvl8pPr>
      <a:lvl9pPr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chart" Target="../charts/char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chart" Target="../charts/char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91EFDCA5-4087-40ED-BBA4-054B4DB74513}"/>
              </a:ext>
            </a:extLst>
          </p:cNvPr>
          <p:cNvSpPr>
            <a:spLocks noGrp="1"/>
          </p:cNvSpPr>
          <p:nvPr/>
        </p:nvSpPr>
        <p:spPr>
          <a:xfrm>
            <a:off x="514350" y="238125"/>
            <a:ext cx="11144250" cy="628650"/>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9月進捗：月別代表週 11／12週を検算</a:t>
            </a:r>
          </a:p>
        </p:txBody>
      </p:sp>
      <p:sp>
        <p:nvSpPr>
          <p:cNvPr id="2" name="正方形/長方形 1">
            <a:extLst>
              <a:ext uri="{FF2B5EF4-FFF2-40B4-BE49-F238E27FC236}">
                <a16:creationId xmlns:a16="http://schemas.microsoft.com/office/drawing/2014/main" id="{273C6DEB-75F8-42EB-A885-E36AB41C0A05}"/>
              </a:ext>
            </a:extLst>
          </p:cNvPr>
          <p:cNvSpPr>
            <a:spLocks noGrp="1"/>
          </p:cNvSpPr>
          <p:nvPr/>
        </p:nvSpPr>
        <p:spPr>
          <a:xfrm>
            <a:off x="666750" y="1009650"/>
            <a:ext cx="10906125" cy="60960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仮・正式用 ／ 渋21・22・23 ／ 2025年の各月から連続7日間</a:t>
            </a:r>
          </a:p>
        </p:txBody>
      </p:sp>
      <p:sp>
        <p:nvSpPr>
          <p:cNvPr id="3" name="正方形/長方形 2">
            <a:extLst>
              <a:ext uri="{FF2B5EF4-FFF2-40B4-BE49-F238E27FC236}">
                <a16:creationId xmlns:a16="http://schemas.microsoft.com/office/drawing/2014/main" id="{37442532-1DCC-4D81-8118-5356CB436AE6}"/>
              </a:ext>
            </a:extLst>
          </p:cNvPr>
          <p:cNvSpPr>
            <a:spLocks noGrp="1"/>
          </p:cNvSpPr>
          <p:nvPr/>
        </p:nvSpPr>
        <p:spPr>
          <a:xfrm>
            <a:off x="666750" y="5667375"/>
            <a:ext cx="10906125" cy="514350"/>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各日の日付別ダイヤ・PVを使用し、車両と蓄電池の状態を引き継ぐ</a:t>
            </a:r>
          </a:p>
        </p:txBody>
      </p:sp>
      <p:sp>
        <p:nvSpPr>
          <p:cNvPr id="4" name="正方形/長方形 3">
            <a:extLst>
              <a:ext uri="{FF2B5EF4-FFF2-40B4-BE49-F238E27FC236}">
                <a16:creationId xmlns:a16="http://schemas.microsoft.com/office/drawing/2014/main" id="{CCA0511D-E846-4A36-892C-62972DAC657C}"/>
              </a:ext>
            </a:extLst>
          </p:cNvPr>
          <p:cNvSpPr>
            <a:spLocks noGrp="1"/>
          </p:cNvSpPr>
          <p:nvPr/>
        </p:nvSpPr>
        <p:spPr>
          <a:xfrm>
            <a:off x="666750" y="6276975"/>
            <a:ext cx="10906125" cy="36195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現版 f524eca2 の途中報告。以降の旧24枚は履歴として非表示で保管。</a:t>
            </a:r>
          </a:p>
        </p:txBody>
      </p:sp>
      <p:graphicFrame>
        <p:nvGraphicFramePr>
          <p:cNvPr id="10" name="表 9"/>
          <p:cNvGraphicFramePr/>
          <p:nvPr/>
        </p:nvGraphicFramePr>
        <p:xfrm>
          <a:off x="571500" y="1752600"/>
          <a:ext cx="11049000" cy="3733800"/>
        </p:xfrm>
        <a:graphic>
          <a:graphicData uri="http://schemas.openxmlformats.org/drawingml/2006/table">
            <a:tbl>
              <a:tblPr/>
              <a:tblGrid>
                <a:gridCol w="2762250">
                  <a:extLst>
                    <a:ext uri="{9D8B030D-6E8A-4147-A177-3AD203B41FA5}">
                      <a16:colId xmlns:a16="http://schemas.microsoft.com/office/drawing/2014/main" val="20000"/>
                    </a:ext>
                  </a:extLst>
                </a:gridCol>
                <a:gridCol w="8286750">
                  <a:extLst>
                    <a:ext uri="{9D8B030D-6E8A-4147-A177-3AD203B41FA5}">
                      <a16:colId xmlns:a16="http://schemas.microsoft.com/office/drawing/2014/main" val="20001"/>
                    </a:ext>
                  </a:extLst>
                </a:gridCol>
              </a:tblGrid>
              <a:tr h="622300">
                <a:tc>
                  <a:txBody>
                    <a:bodyPr/>
                    <a:lstStyle/>
                    <a:p>
                      <a:r>
                        <a:rPr sz="1725" b="1">
                          <a:solidFill>
                            <a:srgbClr val="FFFFFF"/>
                          </a:solidFill>
                          <a:latin typeface="Noto Sans JP"/>
                          <a:ea typeface="Noto Sans JP"/>
                          <a:cs typeface="Noto Sans JP"/>
                        </a:rPr>
                        <a:t>確認項目</a:t>
                      </a:r>
                    </a:p>
                  </a:txBody>
                  <a:tcPr>
                    <a:solidFill>
                      <a:srgbClr val="202B58"/>
                    </a:solidFill>
                  </a:tcPr>
                </a:tc>
                <a:tc>
                  <a:txBody>
                    <a:bodyPr/>
                    <a:lstStyle/>
                    <a:p>
                      <a:r>
                        <a:rPr sz="1725" b="1">
                          <a:solidFill>
                            <a:srgbClr val="FFFFFF"/>
                          </a:solidFill>
                          <a:latin typeface="Noto Sans JP"/>
                          <a:ea typeface="Noto Sans JP"/>
                          <a:cs typeface="Noto Sans JP"/>
                        </a:rPr>
                        <a:t>現在の結果</a:t>
                      </a:r>
                    </a:p>
                  </a:txBody>
                  <a:tcPr>
                    <a:solidFill>
                      <a:srgbClr val="202B58"/>
                    </a:solidFill>
                  </a:tcPr>
                </a:tc>
                <a:extLst>
                  <a:ext uri="{0D108BD9-81ED-4DB2-BD59-A6C34878D82A}">
                    <a16:rowId xmlns:a16="http://schemas.microsoft.com/office/drawing/2014/main" val="10000"/>
                  </a:ext>
                </a:extLst>
              </a:tr>
              <a:tr h="622300">
                <a:tc>
                  <a:txBody>
                    <a:bodyPr/>
                    <a:lstStyle/>
                    <a:p>
                      <a:r>
                        <a:rPr sz="1725" b="0">
                          <a:solidFill>
                            <a:srgbClr val="202B58"/>
                          </a:solidFill>
                          <a:latin typeface="Noto Sans JP"/>
                          <a:ea typeface="Noto Sans JP"/>
                          <a:cs typeface="Noto Sans JP"/>
                        </a:rPr>
                        <a:t>収録した代表週</a:t>
                      </a:r>
                    </a:p>
                  </a:txBody>
                  <a:tcPr>
                    <a:solidFill>
                      <a:srgbClr val="F1F5F8"/>
                    </a:solidFill>
                  </a:tcPr>
                </a:tc>
                <a:tc>
                  <a:txBody>
                    <a:bodyPr/>
                    <a:lstStyle/>
                    <a:p>
                      <a:r>
                        <a:rPr sz="1725" b="0">
                          <a:solidFill>
                            <a:srgbClr val="202B58"/>
                          </a:solidFill>
                          <a:latin typeface="Noto Sans JP"/>
                          <a:ea typeface="Noto Sans JP"/>
                          <a:cs typeface="Noto Sans JP"/>
                        </a:rPr>
                        <a:t>1月、2月、3月、4月、5月、6月、7月、8月、9月、10月、12月</a:t>
                      </a:r>
                    </a:p>
                  </a:txBody>
                  <a:tcPr>
                    <a:solidFill>
                      <a:srgbClr val="F1F5F8"/>
                    </a:solidFill>
                  </a:tcPr>
                </a:tc>
                <a:extLst>
                  <a:ext uri="{0D108BD9-81ED-4DB2-BD59-A6C34878D82A}">
                    <a16:rowId xmlns:a16="http://schemas.microsoft.com/office/drawing/2014/main" val="10001"/>
                  </a:ext>
                </a:extLst>
              </a:tr>
              <a:tr h="622300">
                <a:tc>
                  <a:txBody>
                    <a:bodyPr/>
                    <a:lstStyle/>
                    <a:p>
                      <a:r>
                        <a:rPr sz="1725" b="0">
                          <a:solidFill>
                            <a:srgbClr val="202B58"/>
                          </a:solidFill>
                          <a:latin typeface="Noto Sans JP"/>
                          <a:ea typeface="Noto Sans JP"/>
                          <a:cs typeface="Noto Sans JP"/>
                        </a:rPr>
                        <a:t>残る対象</a:t>
                      </a:r>
                    </a:p>
                  </a:txBody>
                  <a:tcPr>
                    <a:solidFill>
                      <a:srgbClr val="FFFFFF"/>
                    </a:solidFill>
                  </a:tcPr>
                </a:tc>
                <a:tc>
                  <a:txBody>
                    <a:bodyPr/>
                    <a:lstStyle/>
                    <a:p>
                      <a:r>
                        <a:rPr sz="1725" b="0">
                          <a:solidFill>
                            <a:srgbClr val="202B58"/>
                          </a:solidFill>
                          <a:latin typeface="Noto Sans JP"/>
                          <a:ea typeface="Noto Sans JP"/>
                          <a:cs typeface="Noto Sans JP"/>
                        </a:rPr>
                        <a:t>11月：回収・検算後に追加</a:t>
                      </a:r>
                    </a:p>
                  </a:txBody>
                  <a:tcPr>
                    <a:solidFill>
                      <a:srgbClr val="FFFFFF"/>
                    </a:solidFill>
                  </a:tcPr>
                </a:tc>
                <a:extLst>
                  <a:ext uri="{0D108BD9-81ED-4DB2-BD59-A6C34878D82A}">
                    <a16:rowId xmlns:a16="http://schemas.microsoft.com/office/drawing/2014/main" val="10002"/>
                  </a:ext>
                </a:extLst>
              </a:tr>
              <a:tr h="622300">
                <a:tc>
                  <a:txBody>
                    <a:bodyPr/>
                    <a:lstStyle/>
                    <a:p>
                      <a:r>
                        <a:rPr sz="1725" b="0">
                          <a:solidFill>
                            <a:srgbClr val="202B58"/>
                          </a:solidFill>
                          <a:latin typeface="Noto Sans JP"/>
                          <a:ea typeface="Noto Sans JP"/>
                          <a:cs typeface="Noto Sans JP"/>
                        </a:rPr>
                        <a:t>運行と評価期間</a:t>
                      </a:r>
                    </a:p>
                  </a:txBody>
                  <a:tcPr>
                    <a:solidFill>
                      <a:srgbClr val="F1F5F8"/>
                    </a:solidFill>
                  </a:tcPr>
                </a:tc>
                <a:tc>
                  <a:txBody>
                    <a:bodyPr/>
                    <a:lstStyle/>
                    <a:p>
                      <a:r>
                        <a:rPr sz="1725" b="0">
                          <a:solidFill>
                            <a:srgbClr val="202B58"/>
                          </a:solidFill>
                          <a:latin typeface="Noto Sans JP"/>
                          <a:ea typeface="Noto Sans JP"/>
                          <a:cs typeface="Noto Sans JP"/>
                        </a:rPr>
                        <a:t>1週1,704便。営業7日間＋最終翌朝の充電・受電・費用</a:t>
                      </a:r>
                    </a:p>
                  </a:txBody>
                  <a:tcPr>
                    <a:solidFill>
                      <a:srgbClr val="F1F5F8"/>
                    </a:solidFill>
                  </a:tcPr>
                </a:tc>
                <a:extLst>
                  <a:ext uri="{0D108BD9-81ED-4DB2-BD59-A6C34878D82A}">
                    <a16:rowId xmlns:a16="http://schemas.microsoft.com/office/drawing/2014/main" val="10003"/>
                  </a:ext>
                </a:extLst>
              </a:tr>
              <a:tr h="622300">
                <a:tc>
                  <a:txBody>
                    <a:bodyPr/>
                    <a:lstStyle/>
                    <a:p>
                      <a:r>
                        <a:rPr sz="1725" b="0">
                          <a:solidFill>
                            <a:srgbClr val="202B58"/>
                          </a:solidFill>
                          <a:latin typeface="Noto Sans JP"/>
                          <a:ea typeface="Noto Sans JP"/>
                          <a:cs typeface="Noto Sans JP"/>
                        </a:rPr>
                        <a:t>図表の注意</a:t>
                      </a:r>
                    </a:p>
                  </a:txBody>
                  <a:tcPr>
                    <a:solidFill>
                      <a:srgbClr val="FFFFFF"/>
                    </a:solidFill>
                  </a:tcPr>
                </a:tc>
                <a:tc>
                  <a:txBody>
                    <a:bodyPr/>
                    <a:lstStyle/>
                    <a:p>
                      <a:r>
                        <a:rPr sz="1725" b="0">
                          <a:solidFill>
                            <a:srgbClr val="202B58"/>
                          </a:solidFill>
                          <a:latin typeface="Noto Sans JP"/>
                          <a:ea typeface="Noto Sans JP"/>
                          <a:cs typeface="Noto Sans JP"/>
                        </a:rPr>
                        <a:t>1月・12月のCO₂係数表示を原本から復旧。求解は再実行なし</a:t>
                      </a:r>
                    </a:p>
                  </a:txBody>
                  <a:tcPr>
                    <a:solidFill>
                      <a:srgbClr val="FFFFFF"/>
                    </a:solidFill>
                  </a:tcPr>
                </a:tc>
                <a:extLst>
                  <a:ext uri="{0D108BD9-81ED-4DB2-BD59-A6C34878D82A}">
                    <a16:rowId xmlns:a16="http://schemas.microsoft.com/office/drawing/2014/main" val="10004"/>
                  </a:ext>
                </a:extLst>
              </a:tr>
              <a:tr h="622300">
                <a:tc>
                  <a:txBody>
                    <a:bodyPr/>
                    <a:lstStyle/>
                    <a:p>
                      <a:r>
                        <a:rPr sz="1725" b="0">
                          <a:solidFill>
                            <a:srgbClr val="202B58"/>
                          </a:solidFill>
                          <a:latin typeface="Noto Sans JP"/>
                          <a:ea typeface="Noto Sans JP"/>
                          <a:cs typeface="Noto Sans JP"/>
                        </a:rPr>
                        <a:t>結果の位置付け</a:t>
                      </a:r>
                    </a:p>
                  </a:txBody>
                  <a:tcPr>
                    <a:solidFill>
                      <a:srgbClr val="F1F5F8"/>
                    </a:solidFill>
                  </a:tcPr>
                </a:tc>
                <a:tc>
                  <a:txBody>
                    <a:bodyPr/>
                    <a:lstStyle/>
                    <a:p>
                      <a:r>
                        <a:rPr sz="1725" b="0">
                          <a:solidFill>
                            <a:srgbClr val="202B58"/>
                          </a:solidFill>
                          <a:latin typeface="Noto Sans JP"/>
                          <a:ea typeface="Noto Sans JP"/>
                          <a:cs typeface="Noto Sans JP"/>
                        </a:rPr>
                        <a:t>検算済みの条件付き週次評価。統合最適性・正式研究採用は未証明</a:t>
                      </a:r>
                    </a:p>
                  </a:txBody>
                  <a:tcPr>
                    <a:solidFill>
                      <a:srgbClr val="F1F5F8"/>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9448914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CC28CAC9-813C-462D-905B-D03EB840183D}"/>
              </a:ext>
            </a:extLst>
          </p:cNvPr>
          <p:cNvSpPr>
            <a:spLocks noGrp="1"/>
          </p:cNvSpPr>
          <p:nvPr/>
        </p:nvSpPr>
        <p:spPr>
          <a:xfrm>
            <a:off x="514350" y="238125"/>
            <a:ext cx="11144250" cy="628650"/>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月別の週次費用（1〜6月）</a:t>
            </a:r>
          </a:p>
        </p:txBody>
      </p:sp>
      <p:sp>
        <p:nvSpPr>
          <p:cNvPr id="2" name="正方形/長方形 1">
            <a:extLst>
              <a:ext uri="{FF2B5EF4-FFF2-40B4-BE49-F238E27FC236}">
                <a16:creationId xmlns:a16="http://schemas.microsoft.com/office/drawing/2014/main" id="{543437CE-4CF0-44CF-BD68-1ED0C8CA1895}"/>
              </a:ext>
            </a:extLst>
          </p:cNvPr>
          <p:cNvSpPr>
            <a:spLocks noGrp="1"/>
          </p:cNvSpPr>
          <p:nvPr/>
        </p:nvSpPr>
        <p:spPr>
          <a:xfrm>
            <a:off x="666750" y="1009650"/>
            <a:ext cx="10906125" cy="60960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単位：万円。営業7日間と最終翌朝までの実行会計を集計</a:t>
            </a:r>
          </a:p>
        </p:txBody>
      </p:sp>
      <p:sp>
        <p:nvSpPr>
          <p:cNvPr id="3" name="正方形/長方形 2">
            <a:extLst>
              <a:ext uri="{FF2B5EF4-FFF2-40B4-BE49-F238E27FC236}">
                <a16:creationId xmlns:a16="http://schemas.microsoft.com/office/drawing/2014/main" id="{E54B74B0-3E5D-4FF7-9735-C5859C421945}"/>
              </a:ext>
            </a:extLst>
          </p:cNvPr>
          <p:cNvSpPr>
            <a:spLocks noGrp="1"/>
          </p:cNvSpPr>
          <p:nvPr/>
        </p:nvSpPr>
        <p:spPr>
          <a:xfrm>
            <a:off x="666750" y="5667375"/>
            <a:ext cx="10906125" cy="514350"/>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車両日費と、買電・燃料・契約超過モデル費を分けて読む</a:t>
            </a:r>
          </a:p>
        </p:txBody>
      </p:sp>
      <p:sp>
        <p:nvSpPr>
          <p:cNvPr id="4" name="正方形/長方形 3">
            <a:extLst>
              <a:ext uri="{FF2B5EF4-FFF2-40B4-BE49-F238E27FC236}">
                <a16:creationId xmlns:a16="http://schemas.microsoft.com/office/drawing/2014/main" id="{599CE1A2-37B6-4EA6-AF88-57627F3CF906}"/>
              </a:ext>
            </a:extLst>
          </p:cNvPr>
          <p:cNvSpPr>
            <a:spLocks noGrp="1"/>
          </p:cNvSpPr>
          <p:nvPr/>
        </p:nvSpPr>
        <p:spPr>
          <a:xfrm>
            <a:off x="666750" y="6276975"/>
            <a:ext cx="10906125" cy="36195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燃料は消費在庫の評価を含む。超過モデル費は実契約の請求額ではない。設備投資費は未計上。</a:t>
            </a:r>
          </a:p>
        </p:txBody>
      </p:sp>
      <p:graphicFrame>
        <p:nvGraphicFramePr>
          <p:cNvPr id="10" name="表 9"/>
          <p:cNvGraphicFramePr/>
          <p:nvPr/>
        </p:nvGraphicFramePr>
        <p:xfrm>
          <a:off x="571500" y="1752600"/>
          <a:ext cx="11049000" cy="3638550"/>
        </p:xfrm>
        <a:graphic>
          <a:graphicData uri="http://schemas.openxmlformats.org/drawingml/2006/table">
            <a:tbl>
              <a:tblPr/>
              <a:tblGrid>
                <a:gridCol w="1752600">
                  <a:extLst>
                    <a:ext uri="{9D8B030D-6E8A-4147-A177-3AD203B41FA5}">
                      <a16:colId xmlns:a16="http://schemas.microsoft.com/office/drawing/2014/main" val="20000"/>
                    </a:ext>
                  </a:extLst>
                </a:gridCol>
                <a:gridCol w="1485900">
                  <a:extLst>
                    <a:ext uri="{9D8B030D-6E8A-4147-A177-3AD203B41FA5}">
                      <a16:colId xmlns:a16="http://schemas.microsoft.com/office/drawing/2014/main" val="20001"/>
                    </a:ext>
                  </a:extLst>
                </a:gridCol>
                <a:gridCol w="1562100">
                  <a:extLst>
                    <a:ext uri="{9D8B030D-6E8A-4147-A177-3AD203B41FA5}">
                      <a16:colId xmlns:a16="http://schemas.microsoft.com/office/drawing/2014/main" val="20002"/>
                    </a:ext>
                  </a:extLst>
                </a:gridCol>
                <a:gridCol w="1409700">
                  <a:extLst>
                    <a:ext uri="{9D8B030D-6E8A-4147-A177-3AD203B41FA5}">
                      <a16:colId xmlns:a16="http://schemas.microsoft.com/office/drawing/2014/main" val="20003"/>
                    </a:ext>
                  </a:extLst>
                </a:gridCol>
                <a:gridCol w="1409700">
                  <a:extLst>
                    <a:ext uri="{9D8B030D-6E8A-4147-A177-3AD203B41FA5}">
                      <a16:colId xmlns:a16="http://schemas.microsoft.com/office/drawing/2014/main" val="20004"/>
                    </a:ext>
                  </a:extLst>
                </a:gridCol>
                <a:gridCol w="1924050">
                  <a:extLst>
                    <a:ext uri="{9D8B030D-6E8A-4147-A177-3AD203B41FA5}">
                      <a16:colId xmlns:a16="http://schemas.microsoft.com/office/drawing/2014/main" val="20005"/>
                    </a:ext>
                  </a:extLst>
                </a:gridCol>
                <a:gridCol w="1504950">
                  <a:extLst>
                    <a:ext uri="{9D8B030D-6E8A-4147-A177-3AD203B41FA5}">
                      <a16:colId xmlns:a16="http://schemas.microsoft.com/office/drawing/2014/main" val="20006"/>
                    </a:ext>
                  </a:extLst>
                </a:gridCol>
              </a:tblGrid>
              <a:tr h="519793">
                <a:tc>
                  <a:txBody>
                    <a:bodyPr/>
                    <a:lstStyle/>
                    <a:p>
                      <a:r>
                        <a:rPr sz="1725" b="1">
                          <a:solidFill>
                            <a:srgbClr val="FFFFFF"/>
                          </a:solidFill>
                          <a:latin typeface="Noto Sans JP"/>
                          <a:ea typeface="Noto Sans JP"/>
                          <a:cs typeface="Noto Sans JP"/>
                        </a:rPr>
                        <a:t>月／週開始</a:t>
                      </a:r>
                    </a:p>
                  </a:txBody>
                  <a:tcPr>
                    <a:solidFill>
                      <a:srgbClr val="202B58"/>
                    </a:solidFill>
                  </a:tcPr>
                </a:tc>
                <a:tc>
                  <a:txBody>
                    <a:bodyPr/>
                    <a:lstStyle/>
                    <a:p>
                      <a:r>
                        <a:rPr sz="1725" b="1">
                          <a:solidFill>
                            <a:srgbClr val="FFFFFF"/>
                          </a:solidFill>
                          <a:latin typeface="Noto Sans JP"/>
                          <a:ea typeface="Noto Sans JP"/>
                          <a:cs typeface="Noto Sans JP"/>
                        </a:rPr>
                        <a:t>総費用</a:t>
                      </a:r>
                    </a:p>
                  </a:txBody>
                  <a:tcPr>
                    <a:solidFill>
                      <a:srgbClr val="202B58"/>
                    </a:solidFill>
                  </a:tcPr>
                </a:tc>
                <a:tc>
                  <a:txBody>
                    <a:bodyPr/>
                    <a:lstStyle/>
                    <a:p>
                      <a:r>
                        <a:rPr sz="1725" b="1">
                          <a:solidFill>
                            <a:srgbClr val="FFFFFF"/>
                          </a:solidFill>
                          <a:latin typeface="Noto Sans JP"/>
                          <a:ea typeface="Noto Sans JP"/>
                          <a:cs typeface="Noto Sans JP"/>
                        </a:rPr>
                        <a:t>車両日費</a:t>
                      </a:r>
                    </a:p>
                  </a:txBody>
                  <a:tcPr>
                    <a:solidFill>
                      <a:srgbClr val="202B58"/>
                    </a:solidFill>
                  </a:tcPr>
                </a:tc>
                <a:tc>
                  <a:txBody>
                    <a:bodyPr/>
                    <a:lstStyle/>
                    <a:p>
                      <a:r>
                        <a:rPr sz="1725" b="1">
                          <a:solidFill>
                            <a:srgbClr val="FFFFFF"/>
                          </a:solidFill>
                          <a:latin typeface="Noto Sans JP"/>
                          <a:ea typeface="Noto Sans JP"/>
                          <a:cs typeface="Noto Sans JP"/>
                        </a:rPr>
                        <a:t>買電費</a:t>
                      </a:r>
                    </a:p>
                  </a:txBody>
                  <a:tcPr>
                    <a:solidFill>
                      <a:srgbClr val="202B58"/>
                    </a:solidFill>
                  </a:tcPr>
                </a:tc>
                <a:tc>
                  <a:txBody>
                    <a:bodyPr/>
                    <a:lstStyle/>
                    <a:p>
                      <a:r>
                        <a:rPr sz="1725" b="1">
                          <a:solidFill>
                            <a:srgbClr val="FFFFFF"/>
                          </a:solidFill>
                          <a:latin typeface="Noto Sans JP"/>
                          <a:ea typeface="Noto Sans JP"/>
                          <a:cs typeface="Noto Sans JP"/>
                        </a:rPr>
                        <a:t>燃料費</a:t>
                      </a:r>
                    </a:p>
                  </a:txBody>
                  <a:tcPr>
                    <a:solidFill>
                      <a:srgbClr val="202B58"/>
                    </a:solidFill>
                  </a:tcPr>
                </a:tc>
                <a:tc>
                  <a:txBody>
                    <a:bodyPr/>
                    <a:lstStyle/>
                    <a:p>
                      <a:r>
                        <a:rPr sz="1725" b="1">
                          <a:solidFill>
                            <a:srgbClr val="FFFFFF"/>
                          </a:solidFill>
                          <a:latin typeface="Noto Sans JP"/>
                          <a:ea typeface="Noto Sans JP"/>
                          <a:cs typeface="Noto Sans JP"/>
                        </a:rPr>
                        <a:t>超過モデル費</a:t>
                      </a:r>
                    </a:p>
                  </a:txBody>
                  <a:tcPr>
                    <a:solidFill>
                      <a:srgbClr val="202B58"/>
                    </a:solidFill>
                  </a:tcPr>
                </a:tc>
                <a:tc>
                  <a:txBody>
                    <a:bodyPr/>
                    <a:lstStyle/>
                    <a:p>
                      <a:r>
                        <a:rPr sz="1725" b="1">
                          <a:solidFill>
                            <a:srgbClr val="FFFFFF"/>
                          </a:solidFill>
                          <a:latin typeface="Noto Sans JP"/>
                          <a:ea typeface="Noto Sans JP"/>
                          <a:cs typeface="Noto Sans JP"/>
                        </a:rPr>
                        <a:t>CO₂費</a:t>
                      </a:r>
                    </a:p>
                  </a:txBody>
                  <a:tcPr>
                    <a:solidFill>
                      <a:srgbClr val="202B58"/>
                    </a:solidFill>
                  </a:tcPr>
                </a:tc>
                <a:extLst>
                  <a:ext uri="{0D108BD9-81ED-4DB2-BD59-A6C34878D82A}">
                    <a16:rowId xmlns:a16="http://schemas.microsoft.com/office/drawing/2014/main" val="10000"/>
                  </a:ext>
                </a:extLst>
              </a:tr>
              <a:tr h="519793">
                <a:tc>
                  <a:txBody>
                    <a:bodyPr/>
                    <a:lstStyle/>
                    <a:p>
                      <a:r>
                        <a:rPr sz="1725" b="0">
                          <a:solidFill>
                            <a:srgbClr val="202B58"/>
                          </a:solidFill>
                          <a:latin typeface="Noto Sans JP"/>
                          <a:ea typeface="Noto Sans JP"/>
                          <a:cs typeface="Noto Sans JP"/>
                        </a:rPr>
                        <a:t>1月 01-06</a:t>
                      </a:r>
                    </a:p>
                  </a:txBody>
                  <a:tcPr>
                    <a:solidFill>
                      <a:srgbClr val="F1F5F8"/>
                    </a:solidFill>
                  </a:tcPr>
                </a:tc>
                <a:tc>
                  <a:txBody>
                    <a:bodyPr/>
                    <a:lstStyle/>
                    <a:p>
                      <a:r>
                        <a:rPr sz="1725" b="0">
                          <a:solidFill>
                            <a:srgbClr val="202B58"/>
                          </a:solidFill>
                          <a:latin typeface="Noto Sans JP"/>
                          <a:ea typeface="Noto Sans JP"/>
                          <a:cs typeface="Noto Sans JP"/>
                        </a:rPr>
                        <a:t>486.05</a:t>
                      </a:r>
                    </a:p>
                  </a:txBody>
                  <a:tcPr>
                    <a:solidFill>
                      <a:srgbClr val="F1F5F8"/>
                    </a:solidFill>
                  </a:tcPr>
                </a:tc>
                <a:tc>
                  <a:txBody>
                    <a:bodyPr/>
                    <a:lstStyle/>
                    <a:p>
                      <a:r>
                        <a:rPr sz="1725" b="0">
                          <a:solidFill>
                            <a:srgbClr val="202B58"/>
                          </a:solidFill>
                          <a:latin typeface="Noto Sans JP"/>
                          <a:ea typeface="Noto Sans JP"/>
                          <a:cs typeface="Noto Sans JP"/>
                        </a:rPr>
                        <a:t>410.00</a:t>
                      </a:r>
                    </a:p>
                  </a:txBody>
                  <a:tcPr>
                    <a:solidFill>
                      <a:srgbClr val="F1F5F8"/>
                    </a:solidFill>
                  </a:tcPr>
                </a:tc>
                <a:tc>
                  <a:txBody>
                    <a:bodyPr/>
                    <a:lstStyle/>
                    <a:p>
                      <a:r>
                        <a:rPr sz="1725" b="0">
                          <a:solidFill>
                            <a:srgbClr val="202B58"/>
                          </a:solidFill>
                          <a:latin typeface="Noto Sans JP"/>
                          <a:ea typeface="Noto Sans JP"/>
                          <a:cs typeface="Noto Sans JP"/>
                        </a:rPr>
                        <a:t>19.79</a:t>
                      </a:r>
                    </a:p>
                  </a:txBody>
                  <a:tcPr>
                    <a:solidFill>
                      <a:srgbClr val="F1F5F8"/>
                    </a:solidFill>
                  </a:tcPr>
                </a:tc>
                <a:tc>
                  <a:txBody>
                    <a:bodyPr/>
                    <a:lstStyle/>
                    <a:p>
                      <a:r>
                        <a:rPr sz="1725" b="0">
                          <a:solidFill>
                            <a:srgbClr val="202B58"/>
                          </a:solidFill>
                          <a:latin typeface="Noto Sans JP"/>
                          <a:ea typeface="Noto Sans JP"/>
                          <a:cs typeface="Noto Sans JP"/>
                        </a:rPr>
                        <a:t>3.63</a:t>
                      </a:r>
                    </a:p>
                  </a:txBody>
                  <a:tcPr>
                    <a:solidFill>
                      <a:srgbClr val="F1F5F8"/>
                    </a:solidFill>
                  </a:tcPr>
                </a:tc>
                <a:tc>
                  <a:txBody>
                    <a:bodyPr/>
                    <a:lstStyle/>
                    <a:p>
                      <a:r>
                        <a:rPr sz="1725" b="0">
                          <a:solidFill>
                            <a:srgbClr val="202B58"/>
                          </a:solidFill>
                          <a:latin typeface="Noto Sans JP"/>
                          <a:ea typeface="Noto Sans JP"/>
                          <a:cs typeface="Noto Sans JP"/>
                        </a:rPr>
                        <a:t>52.23</a:t>
                      </a:r>
                    </a:p>
                  </a:txBody>
                  <a:tcPr>
                    <a:solidFill>
                      <a:srgbClr val="F1F5F8"/>
                    </a:solidFill>
                  </a:tcPr>
                </a:tc>
                <a:tc>
                  <a:txBody>
                    <a:bodyPr/>
                    <a:lstStyle/>
                    <a:p>
                      <a:r>
                        <a:rPr sz="1725" b="0">
                          <a:solidFill>
                            <a:srgbClr val="202B58"/>
                          </a:solidFill>
                          <a:latin typeface="Noto Sans JP"/>
                          <a:ea typeface="Noto Sans JP"/>
                          <a:cs typeface="Noto Sans JP"/>
                        </a:rPr>
                        <a:t>0.39</a:t>
                      </a:r>
                    </a:p>
                  </a:txBody>
                  <a:tcPr>
                    <a:solidFill>
                      <a:srgbClr val="F1F5F8"/>
                    </a:solidFill>
                  </a:tcPr>
                </a:tc>
                <a:extLst>
                  <a:ext uri="{0D108BD9-81ED-4DB2-BD59-A6C34878D82A}">
                    <a16:rowId xmlns:a16="http://schemas.microsoft.com/office/drawing/2014/main" val="10001"/>
                  </a:ext>
                </a:extLst>
              </a:tr>
              <a:tr h="519793">
                <a:tc>
                  <a:txBody>
                    <a:bodyPr/>
                    <a:lstStyle/>
                    <a:p>
                      <a:r>
                        <a:rPr sz="1725" b="0">
                          <a:solidFill>
                            <a:srgbClr val="202B58"/>
                          </a:solidFill>
                          <a:latin typeface="Noto Sans JP"/>
                          <a:ea typeface="Noto Sans JP"/>
                          <a:cs typeface="Noto Sans JP"/>
                        </a:rPr>
                        <a:t>2月 02-03</a:t>
                      </a:r>
                    </a:p>
                  </a:txBody>
                  <a:tcPr>
                    <a:solidFill>
                      <a:srgbClr val="FFFFFF"/>
                    </a:solidFill>
                  </a:tcPr>
                </a:tc>
                <a:tc>
                  <a:txBody>
                    <a:bodyPr/>
                    <a:lstStyle/>
                    <a:p>
                      <a:r>
                        <a:rPr sz="1725" b="0">
                          <a:solidFill>
                            <a:srgbClr val="202B58"/>
                          </a:solidFill>
                          <a:latin typeface="Noto Sans JP"/>
                          <a:ea typeface="Noto Sans JP"/>
                          <a:cs typeface="Noto Sans JP"/>
                        </a:rPr>
                        <a:t>477.64</a:t>
                      </a:r>
                    </a:p>
                  </a:txBody>
                  <a:tcPr>
                    <a:solidFill>
                      <a:srgbClr val="FFFFFF"/>
                    </a:solidFill>
                  </a:tcPr>
                </a:tc>
                <a:tc>
                  <a:txBody>
                    <a:bodyPr/>
                    <a:lstStyle/>
                    <a:p>
                      <a:r>
                        <a:rPr sz="1725" b="0">
                          <a:solidFill>
                            <a:srgbClr val="202B58"/>
                          </a:solidFill>
                          <a:latin typeface="Noto Sans JP"/>
                          <a:ea typeface="Noto Sans JP"/>
                          <a:cs typeface="Noto Sans JP"/>
                        </a:rPr>
                        <a:t>412.00</a:t>
                      </a:r>
                    </a:p>
                  </a:txBody>
                  <a:tcPr>
                    <a:solidFill>
                      <a:srgbClr val="FFFFFF"/>
                    </a:solidFill>
                  </a:tcPr>
                </a:tc>
                <a:tc>
                  <a:txBody>
                    <a:bodyPr/>
                    <a:lstStyle/>
                    <a:p>
                      <a:r>
                        <a:rPr sz="1725" b="0">
                          <a:solidFill>
                            <a:srgbClr val="202B58"/>
                          </a:solidFill>
                          <a:latin typeface="Noto Sans JP"/>
                          <a:ea typeface="Noto Sans JP"/>
                          <a:cs typeface="Noto Sans JP"/>
                        </a:rPr>
                        <a:t>11.06</a:t>
                      </a:r>
                    </a:p>
                  </a:txBody>
                  <a:tcPr>
                    <a:solidFill>
                      <a:srgbClr val="FFFFFF"/>
                    </a:solidFill>
                  </a:tcPr>
                </a:tc>
                <a:tc>
                  <a:txBody>
                    <a:bodyPr/>
                    <a:lstStyle/>
                    <a:p>
                      <a:r>
                        <a:rPr sz="1725" b="0">
                          <a:solidFill>
                            <a:srgbClr val="202B58"/>
                          </a:solidFill>
                          <a:latin typeface="Noto Sans JP"/>
                          <a:ea typeface="Noto Sans JP"/>
                          <a:cs typeface="Noto Sans JP"/>
                        </a:rPr>
                        <a:t>3.74</a:t>
                      </a:r>
                    </a:p>
                  </a:txBody>
                  <a:tcPr>
                    <a:solidFill>
                      <a:srgbClr val="FFFFFF"/>
                    </a:solidFill>
                  </a:tcPr>
                </a:tc>
                <a:tc>
                  <a:txBody>
                    <a:bodyPr/>
                    <a:lstStyle/>
                    <a:p>
                      <a:r>
                        <a:rPr sz="1725" b="0">
                          <a:solidFill>
                            <a:srgbClr val="202B58"/>
                          </a:solidFill>
                          <a:latin typeface="Noto Sans JP"/>
                          <a:ea typeface="Noto Sans JP"/>
                          <a:cs typeface="Noto Sans JP"/>
                        </a:rPr>
                        <a:t>50.59</a:t>
                      </a:r>
                    </a:p>
                  </a:txBody>
                  <a:tcPr>
                    <a:solidFill>
                      <a:srgbClr val="FFFFFF"/>
                    </a:solidFill>
                  </a:tcPr>
                </a:tc>
                <a:tc>
                  <a:txBody>
                    <a:bodyPr/>
                    <a:lstStyle/>
                    <a:p>
                      <a:r>
                        <a:rPr sz="1725" b="0">
                          <a:solidFill>
                            <a:srgbClr val="202B58"/>
                          </a:solidFill>
                          <a:latin typeface="Noto Sans JP"/>
                          <a:ea typeface="Noto Sans JP"/>
                          <a:cs typeface="Noto Sans JP"/>
                        </a:rPr>
                        <a:t>0.25</a:t>
                      </a:r>
                    </a:p>
                  </a:txBody>
                  <a:tcPr>
                    <a:solidFill>
                      <a:srgbClr val="FFFFFF"/>
                    </a:solidFill>
                  </a:tcPr>
                </a:tc>
                <a:extLst>
                  <a:ext uri="{0D108BD9-81ED-4DB2-BD59-A6C34878D82A}">
                    <a16:rowId xmlns:a16="http://schemas.microsoft.com/office/drawing/2014/main" val="10002"/>
                  </a:ext>
                </a:extLst>
              </a:tr>
              <a:tr h="519793">
                <a:tc>
                  <a:txBody>
                    <a:bodyPr/>
                    <a:lstStyle/>
                    <a:p>
                      <a:r>
                        <a:rPr sz="1725" b="0">
                          <a:solidFill>
                            <a:srgbClr val="202B58"/>
                          </a:solidFill>
                          <a:latin typeface="Noto Sans JP"/>
                          <a:ea typeface="Noto Sans JP"/>
                          <a:cs typeface="Noto Sans JP"/>
                        </a:rPr>
                        <a:t>3月 03-03</a:t>
                      </a:r>
                    </a:p>
                  </a:txBody>
                  <a:tcPr>
                    <a:solidFill>
                      <a:srgbClr val="F1F5F8"/>
                    </a:solidFill>
                  </a:tcPr>
                </a:tc>
                <a:tc>
                  <a:txBody>
                    <a:bodyPr/>
                    <a:lstStyle/>
                    <a:p>
                      <a:r>
                        <a:rPr sz="1725" b="0">
                          <a:solidFill>
                            <a:srgbClr val="202B58"/>
                          </a:solidFill>
                          <a:latin typeface="Noto Sans JP"/>
                          <a:ea typeface="Noto Sans JP"/>
                          <a:cs typeface="Noto Sans JP"/>
                        </a:rPr>
                        <a:t>612.65</a:t>
                      </a:r>
                    </a:p>
                  </a:txBody>
                  <a:tcPr>
                    <a:solidFill>
                      <a:srgbClr val="F1F5F8"/>
                    </a:solidFill>
                  </a:tcPr>
                </a:tc>
                <a:tc>
                  <a:txBody>
                    <a:bodyPr/>
                    <a:lstStyle/>
                    <a:p>
                      <a:r>
                        <a:rPr sz="1725" b="0">
                          <a:solidFill>
                            <a:srgbClr val="202B58"/>
                          </a:solidFill>
                          <a:latin typeface="Noto Sans JP"/>
                          <a:ea typeface="Noto Sans JP"/>
                          <a:cs typeface="Noto Sans JP"/>
                        </a:rPr>
                        <a:t>412.00</a:t>
                      </a:r>
                    </a:p>
                  </a:txBody>
                  <a:tcPr>
                    <a:solidFill>
                      <a:srgbClr val="F1F5F8"/>
                    </a:solidFill>
                  </a:tcPr>
                </a:tc>
                <a:tc>
                  <a:txBody>
                    <a:bodyPr/>
                    <a:lstStyle/>
                    <a:p>
                      <a:r>
                        <a:rPr sz="1725" b="0">
                          <a:solidFill>
                            <a:srgbClr val="202B58"/>
                          </a:solidFill>
                          <a:latin typeface="Noto Sans JP"/>
                          <a:ea typeface="Noto Sans JP"/>
                          <a:cs typeface="Noto Sans JP"/>
                        </a:rPr>
                        <a:t>30.53</a:t>
                      </a:r>
                    </a:p>
                  </a:txBody>
                  <a:tcPr>
                    <a:solidFill>
                      <a:srgbClr val="F1F5F8"/>
                    </a:solidFill>
                  </a:tcPr>
                </a:tc>
                <a:tc>
                  <a:txBody>
                    <a:bodyPr/>
                    <a:lstStyle/>
                    <a:p>
                      <a:r>
                        <a:rPr sz="1725" b="0">
                          <a:solidFill>
                            <a:srgbClr val="202B58"/>
                          </a:solidFill>
                          <a:latin typeface="Noto Sans JP"/>
                          <a:ea typeface="Noto Sans JP"/>
                          <a:cs typeface="Noto Sans JP"/>
                        </a:rPr>
                        <a:t>3.60</a:t>
                      </a:r>
                    </a:p>
                  </a:txBody>
                  <a:tcPr>
                    <a:solidFill>
                      <a:srgbClr val="F1F5F8"/>
                    </a:solidFill>
                  </a:tcPr>
                </a:tc>
                <a:tc>
                  <a:txBody>
                    <a:bodyPr/>
                    <a:lstStyle/>
                    <a:p>
                      <a:r>
                        <a:rPr sz="1725" b="0">
                          <a:solidFill>
                            <a:srgbClr val="202B58"/>
                          </a:solidFill>
                          <a:latin typeface="Noto Sans JP"/>
                          <a:ea typeface="Noto Sans JP"/>
                          <a:cs typeface="Noto Sans JP"/>
                        </a:rPr>
                        <a:t>165.95</a:t>
                      </a:r>
                    </a:p>
                  </a:txBody>
                  <a:tcPr>
                    <a:solidFill>
                      <a:srgbClr val="F1F5F8"/>
                    </a:solidFill>
                  </a:tcPr>
                </a:tc>
                <a:tc>
                  <a:txBody>
                    <a:bodyPr/>
                    <a:lstStyle/>
                    <a:p>
                      <a:r>
                        <a:rPr sz="1725" b="0">
                          <a:solidFill>
                            <a:srgbClr val="202B58"/>
                          </a:solidFill>
                          <a:latin typeface="Noto Sans JP"/>
                          <a:ea typeface="Noto Sans JP"/>
                          <a:cs typeface="Noto Sans JP"/>
                        </a:rPr>
                        <a:t>0.57</a:t>
                      </a:r>
                    </a:p>
                  </a:txBody>
                  <a:tcPr>
                    <a:solidFill>
                      <a:srgbClr val="F1F5F8"/>
                    </a:solidFill>
                  </a:tcPr>
                </a:tc>
                <a:extLst>
                  <a:ext uri="{0D108BD9-81ED-4DB2-BD59-A6C34878D82A}">
                    <a16:rowId xmlns:a16="http://schemas.microsoft.com/office/drawing/2014/main" val="10003"/>
                  </a:ext>
                </a:extLst>
              </a:tr>
              <a:tr h="519793">
                <a:tc>
                  <a:txBody>
                    <a:bodyPr/>
                    <a:lstStyle/>
                    <a:p>
                      <a:r>
                        <a:rPr sz="1725" b="0">
                          <a:solidFill>
                            <a:srgbClr val="202B58"/>
                          </a:solidFill>
                          <a:latin typeface="Noto Sans JP"/>
                          <a:ea typeface="Noto Sans JP"/>
                          <a:cs typeface="Noto Sans JP"/>
                        </a:rPr>
                        <a:t>4月 04-07</a:t>
                      </a:r>
                    </a:p>
                  </a:txBody>
                  <a:tcPr>
                    <a:solidFill>
                      <a:srgbClr val="FFFFFF"/>
                    </a:solidFill>
                  </a:tcPr>
                </a:tc>
                <a:tc>
                  <a:txBody>
                    <a:bodyPr/>
                    <a:lstStyle/>
                    <a:p>
                      <a:r>
                        <a:rPr sz="1725" b="0">
                          <a:solidFill>
                            <a:srgbClr val="202B58"/>
                          </a:solidFill>
                          <a:latin typeface="Noto Sans JP"/>
                          <a:ea typeface="Noto Sans JP"/>
                          <a:cs typeface="Noto Sans JP"/>
                        </a:rPr>
                        <a:t>423.51</a:t>
                      </a:r>
                    </a:p>
                  </a:txBody>
                  <a:tcPr>
                    <a:solidFill>
                      <a:srgbClr val="FFFFFF"/>
                    </a:solidFill>
                  </a:tcPr>
                </a:tc>
                <a:tc>
                  <a:txBody>
                    <a:bodyPr/>
                    <a:lstStyle/>
                    <a:p>
                      <a:r>
                        <a:rPr sz="1725" b="0">
                          <a:solidFill>
                            <a:srgbClr val="202B58"/>
                          </a:solidFill>
                          <a:latin typeface="Noto Sans JP"/>
                          <a:ea typeface="Noto Sans JP"/>
                          <a:cs typeface="Noto Sans JP"/>
                        </a:rPr>
                        <a:t>412.00</a:t>
                      </a:r>
                    </a:p>
                  </a:txBody>
                  <a:tcPr>
                    <a:solidFill>
                      <a:srgbClr val="FFFFFF"/>
                    </a:solidFill>
                  </a:tcPr>
                </a:tc>
                <a:tc>
                  <a:txBody>
                    <a:bodyPr/>
                    <a:lstStyle/>
                    <a:p>
                      <a:r>
                        <a:rPr sz="1725" b="0">
                          <a:solidFill>
                            <a:srgbClr val="202B58"/>
                          </a:solidFill>
                          <a:latin typeface="Noto Sans JP"/>
                          <a:ea typeface="Noto Sans JP"/>
                          <a:cs typeface="Noto Sans JP"/>
                        </a:rPr>
                        <a:t>4.90</a:t>
                      </a:r>
                    </a:p>
                  </a:txBody>
                  <a:tcPr>
                    <a:solidFill>
                      <a:srgbClr val="FFFFFF"/>
                    </a:solidFill>
                  </a:tcPr>
                </a:tc>
                <a:tc>
                  <a:txBody>
                    <a:bodyPr/>
                    <a:lstStyle/>
                    <a:p>
                      <a:r>
                        <a:rPr sz="1725" b="0">
                          <a:solidFill>
                            <a:srgbClr val="202B58"/>
                          </a:solidFill>
                          <a:latin typeface="Noto Sans JP"/>
                          <a:ea typeface="Noto Sans JP"/>
                          <a:cs typeface="Noto Sans JP"/>
                        </a:rPr>
                        <a:t>4.22</a:t>
                      </a:r>
                    </a:p>
                  </a:txBody>
                  <a:tcPr>
                    <a:solidFill>
                      <a:srgbClr val="FFFFFF"/>
                    </a:solidFill>
                  </a:tcPr>
                </a:tc>
                <a:tc>
                  <a:txBody>
                    <a:bodyPr/>
                    <a:lstStyle/>
                    <a:p>
                      <a:r>
                        <a:rPr sz="1725" b="0">
                          <a:solidFill>
                            <a:srgbClr val="202B58"/>
                          </a:solidFill>
                          <a:latin typeface="Noto Sans JP"/>
                          <a:ea typeface="Noto Sans JP"/>
                          <a:cs typeface="Noto Sans JP"/>
                        </a:rPr>
                        <a:t>2.23</a:t>
                      </a:r>
                    </a:p>
                  </a:txBody>
                  <a:tcPr>
                    <a:solidFill>
                      <a:srgbClr val="FFFFFF"/>
                    </a:solidFill>
                  </a:tcPr>
                </a:tc>
                <a:tc>
                  <a:txBody>
                    <a:bodyPr/>
                    <a:lstStyle/>
                    <a:p>
                      <a:r>
                        <a:rPr sz="1725" b="0">
                          <a:solidFill>
                            <a:srgbClr val="202B58"/>
                          </a:solidFill>
                          <a:latin typeface="Noto Sans JP"/>
                          <a:ea typeface="Noto Sans JP"/>
                          <a:cs typeface="Noto Sans JP"/>
                        </a:rPr>
                        <a:t>0.15</a:t>
                      </a:r>
                    </a:p>
                  </a:txBody>
                  <a:tcPr>
                    <a:solidFill>
                      <a:srgbClr val="FFFFFF"/>
                    </a:solidFill>
                  </a:tcPr>
                </a:tc>
                <a:extLst>
                  <a:ext uri="{0D108BD9-81ED-4DB2-BD59-A6C34878D82A}">
                    <a16:rowId xmlns:a16="http://schemas.microsoft.com/office/drawing/2014/main" val="10004"/>
                  </a:ext>
                </a:extLst>
              </a:tr>
              <a:tr h="519793">
                <a:tc>
                  <a:txBody>
                    <a:bodyPr/>
                    <a:lstStyle/>
                    <a:p>
                      <a:r>
                        <a:rPr sz="1725" b="0">
                          <a:solidFill>
                            <a:srgbClr val="202B58"/>
                          </a:solidFill>
                          <a:latin typeface="Noto Sans JP"/>
                          <a:ea typeface="Noto Sans JP"/>
                          <a:cs typeface="Noto Sans JP"/>
                        </a:rPr>
                        <a:t>5月 05-12</a:t>
                      </a:r>
                    </a:p>
                  </a:txBody>
                  <a:tcPr>
                    <a:solidFill>
                      <a:srgbClr val="F1F5F8"/>
                    </a:solidFill>
                  </a:tcPr>
                </a:tc>
                <a:tc>
                  <a:txBody>
                    <a:bodyPr/>
                    <a:lstStyle/>
                    <a:p>
                      <a:r>
                        <a:rPr sz="1725" b="0">
                          <a:solidFill>
                            <a:srgbClr val="202B58"/>
                          </a:solidFill>
                          <a:latin typeface="Noto Sans JP"/>
                          <a:ea typeface="Noto Sans JP"/>
                          <a:cs typeface="Noto Sans JP"/>
                        </a:rPr>
                        <a:t>481.15</a:t>
                      </a:r>
                    </a:p>
                  </a:txBody>
                  <a:tcPr>
                    <a:solidFill>
                      <a:srgbClr val="F1F5F8"/>
                    </a:solidFill>
                  </a:tcPr>
                </a:tc>
                <a:tc>
                  <a:txBody>
                    <a:bodyPr/>
                    <a:lstStyle/>
                    <a:p>
                      <a:r>
                        <a:rPr sz="1725" b="0">
                          <a:solidFill>
                            <a:srgbClr val="202B58"/>
                          </a:solidFill>
                          <a:latin typeface="Noto Sans JP"/>
                          <a:ea typeface="Noto Sans JP"/>
                          <a:cs typeface="Noto Sans JP"/>
                        </a:rPr>
                        <a:t>412.00</a:t>
                      </a:r>
                    </a:p>
                  </a:txBody>
                  <a:tcPr>
                    <a:solidFill>
                      <a:srgbClr val="F1F5F8"/>
                    </a:solidFill>
                  </a:tcPr>
                </a:tc>
                <a:tc>
                  <a:txBody>
                    <a:bodyPr/>
                    <a:lstStyle/>
                    <a:p>
                      <a:r>
                        <a:rPr sz="1725" b="0">
                          <a:solidFill>
                            <a:srgbClr val="202B58"/>
                          </a:solidFill>
                          <a:latin typeface="Noto Sans JP"/>
                          <a:ea typeface="Noto Sans JP"/>
                          <a:cs typeface="Noto Sans JP"/>
                        </a:rPr>
                        <a:t>10.54</a:t>
                      </a:r>
                    </a:p>
                  </a:txBody>
                  <a:tcPr>
                    <a:solidFill>
                      <a:srgbClr val="F1F5F8"/>
                    </a:solidFill>
                  </a:tcPr>
                </a:tc>
                <a:tc>
                  <a:txBody>
                    <a:bodyPr/>
                    <a:lstStyle/>
                    <a:p>
                      <a:r>
                        <a:rPr sz="1725" b="0">
                          <a:solidFill>
                            <a:srgbClr val="202B58"/>
                          </a:solidFill>
                          <a:latin typeface="Noto Sans JP"/>
                          <a:ea typeface="Noto Sans JP"/>
                          <a:cs typeface="Noto Sans JP"/>
                        </a:rPr>
                        <a:t>3.65</a:t>
                      </a:r>
                    </a:p>
                  </a:txBody>
                  <a:tcPr>
                    <a:solidFill>
                      <a:srgbClr val="F1F5F8"/>
                    </a:solidFill>
                  </a:tcPr>
                </a:tc>
                <a:tc>
                  <a:txBody>
                    <a:bodyPr/>
                    <a:lstStyle/>
                    <a:p>
                      <a:r>
                        <a:rPr sz="1725" b="0">
                          <a:solidFill>
                            <a:srgbClr val="202B58"/>
                          </a:solidFill>
                          <a:latin typeface="Noto Sans JP"/>
                          <a:ea typeface="Noto Sans JP"/>
                          <a:cs typeface="Noto Sans JP"/>
                        </a:rPr>
                        <a:t>54.72</a:t>
                      </a:r>
                    </a:p>
                  </a:txBody>
                  <a:tcPr>
                    <a:solidFill>
                      <a:srgbClr val="F1F5F8"/>
                    </a:solidFill>
                  </a:tcPr>
                </a:tc>
                <a:tc>
                  <a:txBody>
                    <a:bodyPr/>
                    <a:lstStyle/>
                    <a:p>
                      <a:r>
                        <a:rPr sz="1725" b="0">
                          <a:solidFill>
                            <a:srgbClr val="202B58"/>
                          </a:solidFill>
                          <a:latin typeface="Noto Sans JP"/>
                          <a:ea typeface="Noto Sans JP"/>
                          <a:cs typeface="Noto Sans JP"/>
                        </a:rPr>
                        <a:t>0.24</a:t>
                      </a:r>
                    </a:p>
                  </a:txBody>
                  <a:tcPr>
                    <a:solidFill>
                      <a:srgbClr val="F1F5F8"/>
                    </a:solidFill>
                  </a:tcPr>
                </a:tc>
                <a:extLst>
                  <a:ext uri="{0D108BD9-81ED-4DB2-BD59-A6C34878D82A}">
                    <a16:rowId xmlns:a16="http://schemas.microsoft.com/office/drawing/2014/main" val="10005"/>
                  </a:ext>
                </a:extLst>
              </a:tr>
              <a:tr h="519793">
                <a:tc>
                  <a:txBody>
                    <a:bodyPr/>
                    <a:lstStyle/>
                    <a:p>
                      <a:r>
                        <a:rPr sz="1725" b="0">
                          <a:solidFill>
                            <a:srgbClr val="202B58"/>
                          </a:solidFill>
                          <a:latin typeface="Noto Sans JP"/>
                          <a:ea typeface="Noto Sans JP"/>
                          <a:cs typeface="Noto Sans JP"/>
                        </a:rPr>
                        <a:t>6月 06-02</a:t>
                      </a:r>
                    </a:p>
                  </a:txBody>
                  <a:tcPr>
                    <a:solidFill>
                      <a:srgbClr val="FFFFFF"/>
                    </a:solidFill>
                  </a:tcPr>
                </a:tc>
                <a:tc>
                  <a:txBody>
                    <a:bodyPr/>
                    <a:lstStyle/>
                    <a:p>
                      <a:r>
                        <a:rPr sz="1725" b="0">
                          <a:solidFill>
                            <a:srgbClr val="202B58"/>
                          </a:solidFill>
                          <a:latin typeface="Noto Sans JP"/>
                          <a:ea typeface="Noto Sans JP"/>
                          <a:cs typeface="Noto Sans JP"/>
                        </a:rPr>
                        <a:t>457.76</a:t>
                      </a:r>
                    </a:p>
                  </a:txBody>
                  <a:tcPr>
                    <a:solidFill>
                      <a:srgbClr val="FFFFFF"/>
                    </a:solidFill>
                  </a:tcPr>
                </a:tc>
                <a:tc>
                  <a:txBody>
                    <a:bodyPr/>
                    <a:lstStyle/>
                    <a:p>
                      <a:r>
                        <a:rPr sz="1725" b="0">
                          <a:solidFill>
                            <a:srgbClr val="202B58"/>
                          </a:solidFill>
                          <a:latin typeface="Noto Sans JP"/>
                          <a:ea typeface="Noto Sans JP"/>
                          <a:cs typeface="Noto Sans JP"/>
                        </a:rPr>
                        <a:t>412.00</a:t>
                      </a:r>
                    </a:p>
                  </a:txBody>
                  <a:tcPr>
                    <a:solidFill>
                      <a:srgbClr val="FFFFFF"/>
                    </a:solidFill>
                  </a:tcPr>
                </a:tc>
                <a:tc>
                  <a:txBody>
                    <a:bodyPr/>
                    <a:lstStyle/>
                    <a:p>
                      <a:r>
                        <a:rPr sz="1725" b="0">
                          <a:solidFill>
                            <a:srgbClr val="202B58"/>
                          </a:solidFill>
                          <a:latin typeface="Noto Sans JP"/>
                          <a:ea typeface="Noto Sans JP"/>
                          <a:cs typeface="Noto Sans JP"/>
                        </a:rPr>
                        <a:t>7.29</a:t>
                      </a:r>
                    </a:p>
                  </a:txBody>
                  <a:tcPr>
                    <a:solidFill>
                      <a:srgbClr val="FFFFFF"/>
                    </a:solidFill>
                  </a:tcPr>
                </a:tc>
                <a:tc>
                  <a:txBody>
                    <a:bodyPr/>
                    <a:lstStyle/>
                    <a:p>
                      <a:r>
                        <a:rPr sz="1725" b="0">
                          <a:solidFill>
                            <a:srgbClr val="202B58"/>
                          </a:solidFill>
                          <a:latin typeface="Noto Sans JP"/>
                          <a:ea typeface="Noto Sans JP"/>
                          <a:cs typeface="Noto Sans JP"/>
                        </a:rPr>
                        <a:t>3.65</a:t>
                      </a:r>
                    </a:p>
                  </a:txBody>
                  <a:tcPr>
                    <a:solidFill>
                      <a:srgbClr val="FFFFFF"/>
                    </a:solidFill>
                  </a:tcPr>
                </a:tc>
                <a:tc>
                  <a:txBody>
                    <a:bodyPr/>
                    <a:lstStyle/>
                    <a:p>
                      <a:r>
                        <a:rPr sz="1725" b="0">
                          <a:solidFill>
                            <a:srgbClr val="202B58"/>
                          </a:solidFill>
                          <a:latin typeface="Noto Sans JP"/>
                          <a:ea typeface="Noto Sans JP"/>
                          <a:cs typeface="Noto Sans JP"/>
                        </a:rPr>
                        <a:t>34.64</a:t>
                      </a:r>
                    </a:p>
                  </a:txBody>
                  <a:tcPr>
                    <a:solidFill>
                      <a:srgbClr val="FFFFFF"/>
                    </a:solidFill>
                  </a:tcPr>
                </a:tc>
                <a:tc>
                  <a:txBody>
                    <a:bodyPr/>
                    <a:lstStyle/>
                    <a:p>
                      <a:r>
                        <a:rPr sz="1725" b="0">
                          <a:solidFill>
                            <a:srgbClr val="202B58"/>
                          </a:solidFill>
                          <a:latin typeface="Noto Sans JP"/>
                          <a:ea typeface="Noto Sans JP"/>
                          <a:cs typeface="Noto Sans JP"/>
                        </a:rPr>
                        <a:t>0.18</a:t>
                      </a:r>
                    </a:p>
                  </a:txBody>
                  <a:tcPr>
                    <a:solidFill>
                      <a:srgbClr val="FFFFFF"/>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8124437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CA6EF23B-C831-4563-AD97-0998CB88EAA7}"/>
              </a:ext>
            </a:extLst>
          </p:cNvPr>
          <p:cNvSpPr>
            <a:spLocks noGrp="1"/>
          </p:cNvSpPr>
          <p:nvPr/>
        </p:nvSpPr>
        <p:spPr>
          <a:xfrm>
            <a:off x="514350" y="238125"/>
            <a:ext cx="11144250" cy="628650"/>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月別の週次費用（7〜12月）</a:t>
            </a:r>
          </a:p>
        </p:txBody>
      </p:sp>
      <p:sp>
        <p:nvSpPr>
          <p:cNvPr id="2" name="正方形/長方形 1">
            <a:extLst>
              <a:ext uri="{FF2B5EF4-FFF2-40B4-BE49-F238E27FC236}">
                <a16:creationId xmlns:a16="http://schemas.microsoft.com/office/drawing/2014/main" id="{59BD579A-48F6-4F2D-B584-418919F3A581}"/>
              </a:ext>
            </a:extLst>
          </p:cNvPr>
          <p:cNvSpPr>
            <a:spLocks noGrp="1"/>
          </p:cNvSpPr>
          <p:nvPr/>
        </p:nvSpPr>
        <p:spPr>
          <a:xfrm>
            <a:off x="666750" y="1009650"/>
            <a:ext cx="10906125" cy="60960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単位：万円。営業7日間と最終翌朝までの実行会計を集計</a:t>
            </a:r>
          </a:p>
        </p:txBody>
      </p:sp>
      <p:sp>
        <p:nvSpPr>
          <p:cNvPr id="3" name="正方形/長方形 2">
            <a:extLst>
              <a:ext uri="{FF2B5EF4-FFF2-40B4-BE49-F238E27FC236}">
                <a16:creationId xmlns:a16="http://schemas.microsoft.com/office/drawing/2014/main" id="{9B95789D-DD4F-4AD6-8445-3A42D10E6CF9}"/>
              </a:ext>
            </a:extLst>
          </p:cNvPr>
          <p:cNvSpPr>
            <a:spLocks noGrp="1"/>
          </p:cNvSpPr>
          <p:nvPr/>
        </p:nvSpPr>
        <p:spPr>
          <a:xfrm>
            <a:off x="666750" y="5667375"/>
            <a:ext cx="10906125" cy="514350"/>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車両日費と、買電・燃料・契約超過モデル費を分けて読む</a:t>
            </a:r>
          </a:p>
        </p:txBody>
      </p:sp>
      <p:sp>
        <p:nvSpPr>
          <p:cNvPr id="4" name="正方形/長方形 3">
            <a:extLst>
              <a:ext uri="{FF2B5EF4-FFF2-40B4-BE49-F238E27FC236}">
                <a16:creationId xmlns:a16="http://schemas.microsoft.com/office/drawing/2014/main" id="{7012F569-98DB-408D-B45F-918AE6F6245D}"/>
              </a:ext>
            </a:extLst>
          </p:cNvPr>
          <p:cNvSpPr>
            <a:spLocks noGrp="1"/>
          </p:cNvSpPr>
          <p:nvPr/>
        </p:nvSpPr>
        <p:spPr>
          <a:xfrm>
            <a:off x="666750" y="6276975"/>
            <a:ext cx="10906125" cy="36195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燃料は消費在庫の評価を含む。超過モデル費は実契約の請求額ではない。設備投資費は未計上。</a:t>
            </a:r>
          </a:p>
        </p:txBody>
      </p:sp>
      <p:graphicFrame>
        <p:nvGraphicFramePr>
          <p:cNvPr id="10" name="表 9"/>
          <p:cNvGraphicFramePr/>
          <p:nvPr/>
        </p:nvGraphicFramePr>
        <p:xfrm>
          <a:off x="571500" y="1752600"/>
          <a:ext cx="11049000" cy="3638550"/>
        </p:xfrm>
        <a:graphic>
          <a:graphicData uri="http://schemas.openxmlformats.org/drawingml/2006/table">
            <a:tbl>
              <a:tblPr/>
              <a:tblGrid>
                <a:gridCol w="1752600">
                  <a:extLst>
                    <a:ext uri="{9D8B030D-6E8A-4147-A177-3AD203B41FA5}">
                      <a16:colId xmlns:a16="http://schemas.microsoft.com/office/drawing/2014/main" val="20000"/>
                    </a:ext>
                  </a:extLst>
                </a:gridCol>
                <a:gridCol w="1485900">
                  <a:extLst>
                    <a:ext uri="{9D8B030D-6E8A-4147-A177-3AD203B41FA5}">
                      <a16:colId xmlns:a16="http://schemas.microsoft.com/office/drawing/2014/main" val="20001"/>
                    </a:ext>
                  </a:extLst>
                </a:gridCol>
                <a:gridCol w="1562100">
                  <a:extLst>
                    <a:ext uri="{9D8B030D-6E8A-4147-A177-3AD203B41FA5}">
                      <a16:colId xmlns:a16="http://schemas.microsoft.com/office/drawing/2014/main" val="20002"/>
                    </a:ext>
                  </a:extLst>
                </a:gridCol>
                <a:gridCol w="1409700">
                  <a:extLst>
                    <a:ext uri="{9D8B030D-6E8A-4147-A177-3AD203B41FA5}">
                      <a16:colId xmlns:a16="http://schemas.microsoft.com/office/drawing/2014/main" val="20003"/>
                    </a:ext>
                  </a:extLst>
                </a:gridCol>
                <a:gridCol w="1409700">
                  <a:extLst>
                    <a:ext uri="{9D8B030D-6E8A-4147-A177-3AD203B41FA5}">
                      <a16:colId xmlns:a16="http://schemas.microsoft.com/office/drawing/2014/main" val="20004"/>
                    </a:ext>
                  </a:extLst>
                </a:gridCol>
                <a:gridCol w="1924050">
                  <a:extLst>
                    <a:ext uri="{9D8B030D-6E8A-4147-A177-3AD203B41FA5}">
                      <a16:colId xmlns:a16="http://schemas.microsoft.com/office/drawing/2014/main" val="20005"/>
                    </a:ext>
                  </a:extLst>
                </a:gridCol>
                <a:gridCol w="1504950">
                  <a:extLst>
                    <a:ext uri="{9D8B030D-6E8A-4147-A177-3AD203B41FA5}">
                      <a16:colId xmlns:a16="http://schemas.microsoft.com/office/drawing/2014/main" val="20006"/>
                    </a:ext>
                  </a:extLst>
                </a:gridCol>
              </a:tblGrid>
              <a:tr h="519793">
                <a:tc>
                  <a:txBody>
                    <a:bodyPr/>
                    <a:lstStyle/>
                    <a:p>
                      <a:r>
                        <a:rPr sz="1725" b="1">
                          <a:solidFill>
                            <a:srgbClr val="FFFFFF"/>
                          </a:solidFill>
                          <a:latin typeface="Noto Sans JP"/>
                          <a:ea typeface="Noto Sans JP"/>
                          <a:cs typeface="Noto Sans JP"/>
                        </a:rPr>
                        <a:t>月／週開始</a:t>
                      </a:r>
                    </a:p>
                  </a:txBody>
                  <a:tcPr>
                    <a:solidFill>
                      <a:srgbClr val="202B58"/>
                    </a:solidFill>
                  </a:tcPr>
                </a:tc>
                <a:tc>
                  <a:txBody>
                    <a:bodyPr/>
                    <a:lstStyle/>
                    <a:p>
                      <a:r>
                        <a:rPr sz="1725" b="1">
                          <a:solidFill>
                            <a:srgbClr val="FFFFFF"/>
                          </a:solidFill>
                          <a:latin typeface="Noto Sans JP"/>
                          <a:ea typeface="Noto Sans JP"/>
                          <a:cs typeface="Noto Sans JP"/>
                        </a:rPr>
                        <a:t>総費用</a:t>
                      </a:r>
                    </a:p>
                  </a:txBody>
                  <a:tcPr>
                    <a:solidFill>
                      <a:srgbClr val="202B58"/>
                    </a:solidFill>
                  </a:tcPr>
                </a:tc>
                <a:tc>
                  <a:txBody>
                    <a:bodyPr/>
                    <a:lstStyle/>
                    <a:p>
                      <a:r>
                        <a:rPr sz="1725" b="1">
                          <a:solidFill>
                            <a:srgbClr val="FFFFFF"/>
                          </a:solidFill>
                          <a:latin typeface="Noto Sans JP"/>
                          <a:ea typeface="Noto Sans JP"/>
                          <a:cs typeface="Noto Sans JP"/>
                        </a:rPr>
                        <a:t>車両日費</a:t>
                      </a:r>
                    </a:p>
                  </a:txBody>
                  <a:tcPr>
                    <a:solidFill>
                      <a:srgbClr val="202B58"/>
                    </a:solidFill>
                  </a:tcPr>
                </a:tc>
                <a:tc>
                  <a:txBody>
                    <a:bodyPr/>
                    <a:lstStyle/>
                    <a:p>
                      <a:r>
                        <a:rPr sz="1725" b="1">
                          <a:solidFill>
                            <a:srgbClr val="FFFFFF"/>
                          </a:solidFill>
                          <a:latin typeface="Noto Sans JP"/>
                          <a:ea typeface="Noto Sans JP"/>
                          <a:cs typeface="Noto Sans JP"/>
                        </a:rPr>
                        <a:t>買電費</a:t>
                      </a:r>
                    </a:p>
                  </a:txBody>
                  <a:tcPr>
                    <a:solidFill>
                      <a:srgbClr val="202B58"/>
                    </a:solidFill>
                  </a:tcPr>
                </a:tc>
                <a:tc>
                  <a:txBody>
                    <a:bodyPr/>
                    <a:lstStyle/>
                    <a:p>
                      <a:r>
                        <a:rPr sz="1725" b="1">
                          <a:solidFill>
                            <a:srgbClr val="FFFFFF"/>
                          </a:solidFill>
                          <a:latin typeface="Noto Sans JP"/>
                          <a:ea typeface="Noto Sans JP"/>
                          <a:cs typeface="Noto Sans JP"/>
                        </a:rPr>
                        <a:t>燃料費</a:t>
                      </a:r>
                    </a:p>
                  </a:txBody>
                  <a:tcPr>
                    <a:solidFill>
                      <a:srgbClr val="202B58"/>
                    </a:solidFill>
                  </a:tcPr>
                </a:tc>
                <a:tc>
                  <a:txBody>
                    <a:bodyPr/>
                    <a:lstStyle/>
                    <a:p>
                      <a:r>
                        <a:rPr sz="1725" b="1">
                          <a:solidFill>
                            <a:srgbClr val="FFFFFF"/>
                          </a:solidFill>
                          <a:latin typeface="Noto Sans JP"/>
                          <a:ea typeface="Noto Sans JP"/>
                          <a:cs typeface="Noto Sans JP"/>
                        </a:rPr>
                        <a:t>超過モデル費</a:t>
                      </a:r>
                    </a:p>
                  </a:txBody>
                  <a:tcPr>
                    <a:solidFill>
                      <a:srgbClr val="202B58"/>
                    </a:solidFill>
                  </a:tcPr>
                </a:tc>
                <a:tc>
                  <a:txBody>
                    <a:bodyPr/>
                    <a:lstStyle/>
                    <a:p>
                      <a:r>
                        <a:rPr sz="1725" b="1">
                          <a:solidFill>
                            <a:srgbClr val="FFFFFF"/>
                          </a:solidFill>
                          <a:latin typeface="Noto Sans JP"/>
                          <a:ea typeface="Noto Sans JP"/>
                          <a:cs typeface="Noto Sans JP"/>
                        </a:rPr>
                        <a:t>CO₂費</a:t>
                      </a:r>
                    </a:p>
                  </a:txBody>
                  <a:tcPr>
                    <a:solidFill>
                      <a:srgbClr val="202B58"/>
                    </a:solidFill>
                  </a:tcPr>
                </a:tc>
                <a:extLst>
                  <a:ext uri="{0D108BD9-81ED-4DB2-BD59-A6C34878D82A}">
                    <a16:rowId xmlns:a16="http://schemas.microsoft.com/office/drawing/2014/main" val="10000"/>
                  </a:ext>
                </a:extLst>
              </a:tr>
              <a:tr h="519793">
                <a:tc>
                  <a:txBody>
                    <a:bodyPr/>
                    <a:lstStyle/>
                    <a:p>
                      <a:r>
                        <a:rPr sz="1725" b="0">
                          <a:solidFill>
                            <a:srgbClr val="202B58"/>
                          </a:solidFill>
                          <a:latin typeface="Noto Sans JP"/>
                          <a:ea typeface="Noto Sans JP"/>
                          <a:cs typeface="Noto Sans JP"/>
                        </a:rPr>
                        <a:t>7月 07-07</a:t>
                      </a:r>
                    </a:p>
                  </a:txBody>
                  <a:tcPr>
                    <a:solidFill>
                      <a:srgbClr val="F1F5F8"/>
                    </a:solidFill>
                  </a:tcPr>
                </a:tc>
                <a:tc>
                  <a:txBody>
                    <a:bodyPr/>
                    <a:lstStyle/>
                    <a:p>
                      <a:r>
                        <a:rPr sz="1725" b="0">
                          <a:solidFill>
                            <a:srgbClr val="202B58"/>
                          </a:solidFill>
                          <a:latin typeface="Noto Sans JP"/>
                          <a:ea typeface="Noto Sans JP"/>
                          <a:cs typeface="Noto Sans JP"/>
                        </a:rPr>
                        <a:t>418.59</a:t>
                      </a:r>
                    </a:p>
                  </a:txBody>
                  <a:tcPr>
                    <a:solidFill>
                      <a:srgbClr val="F1F5F8"/>
                    </a:solidFill>
                  </a:tcPr>
                </a:tc>
                <a:tc>
                  <a:txBody>
                    <a:bodyPr/>
                    <a:lstStyle/>
                    <a:p>
                      <a:r>
                        <a:rPr sz="1725" b="0">
                          <a:solidFill>
                            <a:srgbClr val="202B58"/>
                          </a:solidFill>
                          <a:latin typeface="Noto Sans JP"/>
                          <a:ea typeface="Noto Sans JP"/>
                          <a:cs typeface="Noto Sans JP"/>
                        </a:rPr>
                        <a:t>412.00</a:t>
                      </a:r>
                    </a:p>
                  </a:txBody>
                  <a:tcPr>
                    <a:solidFill>
                      <a:srgbClr val="F1F5F8"/>
                    </a:solidFill>
                  </a:tcPr>
                </a:tc>
                <a:tc>
                  <a:txBody>
                    <a:bodyPr/>
                    <a:lstStyle/>
                    <a:p>
                      <a:r>
                        <a:rPr sz="1725" b="0">
                          <a:solidFill>
                            <a:srgbClr val="202B58"/>
                          </a:solidFill>
                          <a:latin typeface="Noto Sans JP"/>
                          <a:ea typeface="Noto Sans JP"/>
                          <a:cs typeface="Noto Sans JP"/>
                        </a:rPr>
                        <a:t>2.63</a:t>
                      </a:r>
                    </a:p>
                  </a:txBody>
                  <a:tcPr>
                    <a:solidFill>
                      <a:srgbClr val="F1F5F8"/>
                    </a:solidFill>
                  </a:tcPr>
                </a:tc>
                <a:tc>
                  <a:txBody>
                    <a:bodyPr/>
                    <a:lstStyle/>
                    <a:p>
                      <a:r>
                        <a:rPr sz="1725" b="0">
                          <a:solidFill>
                            <a:srgbClr val="202B58"/>
                          </a:solidFill>
                          <a:latin typeface="Noto Sans JP"/>
                          <a:ea typeface="Noto Sans JP"/>
                          <a:cs typeface="Noto Sans JP"/>
                        </a:rPr>
                        <a:t>3.85</a:t>
                      </a:r>
                    </a:p>
                  </a:txBody>
                  <a:tcPr>
                    <a:solidFill>
                      <a:srgbClr val="F1F5F8"/>
                    </a:solidFill>
                  </a:tcPr>
                </a:tc>
                <a:tc>
                  <a:txBody>
                    <a:bodyPr/>
                    <a:lstStyle/>
                    <a:p>
                      <a:r>
                        <a:rPr sz="1725" b="0">
                          <a:solidFill>
                            <a:srgbClr val="202B58"/>
                          </a:solidFill>
                          <a:latin typeface="Noto Sans JP"/>
                          <a:ea typeface="Noto Sans JP"/>
                          <a:cs typeface="Noto Sans JP"/>
                        </a:rPr>
                        <a:t>0.00</a:t>
                      </a:r>
                    </a:p>
                  </a:txBody>
                  <a:tcPr>
                    <a:solidFill>
                      <a:srgbClr val="F1F5F8"/>
                    </a:solidFill>
                  </a:tcPr>
                </a:tc>
                <a:tc>
                  <a:txBody>
                    <a:bodyPr/>
                    <a:lstStyle/>
                    <a:p>
                      <a:r>
                        <a:rPr sz="1725" b="0">
                          <a:solidFill>
                            <a:srgbClr val="202B58"/>
                          </a:solidFill>
                          <a:latin typeface="Noto Sans JP"/>
                          <a:ea typeface="Noto Sans JP"/>
                          <a:cs typeface="Noto Sans JP"/>
                        </a:rPr>
                        <a:t>0.11</a:t>
                      </a:r>
                    </a:p>
                  </a:txBody>
                  <a:tcPr>
                    <a:solidFill>
                      <a:srgbClr val="F1F5F8"/>
                    </a:solidFill>
                  </a:tcPr>
                </a:tc>
                <a:extLst>
                  <a:ext uri="{0D108BD9-81ED-4DB2-BD59-A6C34878D82A}">
                    <a16:rowId xmlns:a16="http://schemas.microsoft.com/office/drawing/2014/main" val="10001"/>
                  </a:ext>
                </a:extLst>
              </a:tr>
              <a:tr h="519793">
                <a:tc>
                  <a:txBody>
                    <a:bodyPr/>
                    <a:lstStyle/>
                    <a:p>
                      <a:r>
                        <a:rPr sz="1725" b="0">
                          <a:solidFill>
                            <a:srgbClr val="202B58"/>
                          </a:solidFill>
                          <a:latin typeface="Noto Sans JP"/>
                          <a:ea typeface="Noto Sans JP"/>
                          <a:cs typeface="Noto Sans JP"/>
                        </a:rPr>
                        <a:t>8月 08-04</a:t>
                      </a:r>
                    </a:p>
                  </a:txBody>
                  <a:tcPr>
                    <a:solidFill>
                      <a:srgbClr val="FFFFFF"/>
                    </a:solidFill>
                  </a:tcPr>
                </a:tc>
                <a:tc>
                  <a:txBody>
                    <a:bodyPr/>
                    <a:lstStyle/>
                    <a:p>
                      <a:r>
                        <a:rPr sz="1725" b="0">
                          <a:solidFill>
                            <a:srgbClr val="202B58"/>
                          </a:solidFill>
                          <a:latin typeface="Noto Sans JP"/>
                          <a:ea typeface="Noto Sans JP"/>
                          <a:cs typeface="Noto Sans JP"/>
                        </a:rPr>
                        <a:t>417.85</a:t>
                      </a:r>
                    </a:p>
                  </a:txBody>
                  <a:tcPr>
                    <a:solidFill>
                      <a:srgbClr val="FFFFFF"/>
                    </a:solidFill>
                  </a:tcPr>
                </a:tc>
                <a:tc>
                  <a:txBody>
                    <a:bodyPr/>
                    <a:lstStyle/>
                    <a:p>
                      <a:r>
                        <a:rPr sz="1725" b="0">
                          <a:solidFill>
                            <a:srgbClr val="202B58"/>
                          </a:solidFill>
                          <a:latin typeface="Noto Sans JP"/>
                          <a:ea typeface="Noto Sans JP"/>
                          <a:cs typeface="Noto Sans JP"/>
                        </a:rPr>
                        <a:t>412.00</a:t>
                      </a:r>
                    </a:p>
                  </a:txBody>
                  <a:tcPr>
                    <a:solidFill>
                      <a:srgbClr val="FFFFFF"/>
                    </a:solidFill>
                  </a:tcPr>
                </a:tc>
                <a:tc>
                  <a:txBody>
                    <a:bodyPr/>
                    <a:lstStyle/>
                    <a:p>
                      <a:r>
                        <a:rPr sz="1725" b="0">
                          <a:solidFill>
                            <a:srgbClr val="202B58"/>
                          </a:solidFill>
                          <a:latin typeface="Noto Sans JP"/>
                          <a:ea typeface="Noto Sans JP"/>
                          <a:cs typeface="Noto Sans JP"/>
                        </a:rPr>
                        <a:t>1.01</a:t>
                      </a:r>
                    </a:p>
                  </a:txBody>
                  <a:tcPr>
                    <a:solidFill>
                      <a:srgbClr val="FFFFFF"/>
                    </a:solidFill>
                  </a:tcPr>
                </a:tc>
                <a:tc>
                  <a:txBody>
                    <a:bodyPr/>
                    <a:lstStyle/>
                    <a:p>
                      <a:r>
                        <a:rPr sz="1725" b="0">
                          <a:solidFill>
                            <a:srgbClr val="202B58"/>
                          </a:solidFill>
                          <a:latin typeface="Noto Sans JP"/>
                          <a:ea typeface="Noto Sans JP"/>
                          <a:cs typeface="Noto Sans JP"/>
                        </a:rPr>
                        <a:t>3.68</a:t>
                      </a:r>
                    </a:p>
                  </a:txBody>
                  <a:tcPr>
                    <a:solidFill>
                      <a:srgbClr val="FFFFFF"/>
                    </a:solidFill>
                  </a:tcPr>
                </a:tc>
                <a:tc>
                  <a:txBody>
                    <a:bodyPr/>
                    <a:lstStyle/>
                    <a:p>
                      <a:r>
                        <a:rPr sz="1725" b="0">
                          <a:solidFill>
                            <a:srgbClr val="202B58"/>
                          </a:solidFill>
                          <a:latin typeface="Noto Sans JP"/>
                          <a:ea typeface="Noto Sans JP"/>
                          <a:cs typeface="Noto Sans JP"/>
                        </a:rPr>
                        <a:t>1.07</a:t>
                      </a:r>
                    </a:p>
                  </a:txBody>
                  <a:tcPr>
                    <a:solidFill>
                      <a:srgbClr val="FFFFFF"/>
                    </a:solidFill>
                  </a:tcPr>
                </a:tc>
                <a:tc>
                  <a:txBody>
                    <a:bodyPr/>
                    <a:lstStyle/>
                    <a:p>
                      <a:r>
                        <a:rPr sz="1725" b="0">
                          <a:solidFill>
                            <a:srgbClr val="202B58"/>
                          </a:solidFill>
                          <a:latin typeface="Noto Sans JP"/>
                          <a:ea typeface="Noto Sans JP"/>
                          <a:cs typeface="Noto Sans JP"/>
                        </a:rPr>
                        <a:t>0.08</a:t>
                      </a:r>
                    </a:p>
                  </a:txBody>
                  <a:tcPr>
                    <a:solidFill>
                      <a:srgbClr val="FFFFFF"/>
                    </a:solidFill>
                  </a:tcPr>
                </a:tc>
                <a:extLst>
                  <a:ext uri="{0D108BD9-81ED-4DB2-BD59-A6C34878D82A}">
                    <a16:rowId xmlns:a16="http://schemas.microsoft.com/office/drawing/2014/main" val="10002"/>
                  </a:ext>
                </a:extLst>
              </a:tr>
              <a:tr h="519793">
                <a:tc>
                  <a:txBody>
                    <a:bodyPr/>
                    <a:lstStyle/>
                    <a:p>
                      <a:r>
                        <a:rPr sz="1725" b="0">
                          <a:solidFill>
                            <a:srgbClr val="202B58"/>
                          </a:solidFill>
                          <a:latin typeface="Noto Sans JP"/>
                          <a:ea typeface="Noto Sans JP"/>
                          <a:cs typeface="Noto Sans JP"/>
                        </a:rPr>
                        <a:t>9月 09-01</a:t>
                      </a:r>
                    </a:p>
                  </a:txBody>
                  <a:tcPr>
                    <a:solidFill>
                      <a:srgbClr val="F1F5F8"/>
                    </a:solidFill>
                  </a:tcPr>
                </a:tc>
                <a:tc>
                  <a:txBody>
                    <a:bodyPr/>
                    <a:lstStyle/>
                    <a:p>
                      <a:r>
                        <a:rPr sz="1725" b="0">
                          <a:solidFill>
                            <a:srgbClr val="202B58"/>
                          </a:solidFill>
                          <a:latin typeface="Noto Sans JP"/>
                          <a:ea typeface="Noto Sans JP"/>
                          <a:cs typeface="Noto Sans JP"/>
                        </a:rPr>
                        <a:t>496.62</a:t>
                      </a:r>
                    </a:p>
                  </a:txBody>
                  <a:tcPr>
                    <a:solidFill>
                      <a:srgbClr val="F1F5F8"/>
                    </a:solidFill>
                  </a:tcPr>
                </a:tc>
                <a:tc>
                  <a:txBody>
                    <a:bodyPr/>
                    <a:lstStyle/>
                    <a:p>
                      <a:r>
                        <a:rPr sz="1725" b="0">
                          <a:solidFill>
                            <a:srgbClr val="202B58"/>
                          </a:solidFill>
                          <a:latin typeface="Noto Sans JP"/>
                          <a:ea typeface="Noto Sans JP"/>
                          <a:cs typeface="Noto Sans JP"/>
                        </a:rPr>
                        <a:t>412.00</a:t>
                      </a:r>
                    </a:p>
                  </a:txBody>
                  <a:tcPr>
                    <a:solidFill>
                      <a:srgbClr val="F1F5F8"/>
                    </a:solidFill>
                  </a:tcPr>
                </a:tc>
                <a:tc>
                  <a:txBody>
                    <a:bodyPr/>
                    <a:lstStyle/>
                    <a:p>
                      <a:r>
                        <a:rPr sz="1725" b="0">
                          <a:solidFill>
                            <a:srgbClr val="202B58"/>
                          </a:solidFill>
                          <a:latin typeface="Noto Sans JP"/>
                          <a:ea typeface="Noto Sans JP"/>
                          <a:cs typeface="Noto Sans JP"/>
                        </a:rPr>
                        <a:t>11.46</a:t>
                      </a:r>
                    </a:p>
                  </a:txBody>
                  <a:tcPr>
                    <a:solidFill>
                      <a:srgbClr val="F1F5F8"/>
                    </a:solidFill>
                  </a:tcPr>
                </a:tc>
                <a:tc>
                  <a:txBody>
                    <a:bodyPr/>
                    <a:lstStyle/>
                    <a:p>
                      <a:r>
                        <a:rPr sz="1725" b="0">
                          <a:solidFill>
                            <a:srgbClr val="202B58"/>
                          </a:solidFill>
                          <a:latin typeface="Noto Sans JP"/>
                          <a:ea typeface="Noto Sans JP"/>
                          <a:cs typeface="Noto Sans JP"/>
                        </a:rPr>
                        <a:t>3.78</a:t>
                      </a:r>
                    </a:p>
                  </a:txBody>
                  <a:tcPr>
                    <a:solidFill>
                      <a:srgbClr val="F1F5F8"/>
                    </a:solidFill>
                  </a:tcPr>
                </a:tc>
                <a:tc>
                  <a:txBody>
                    <a:bodyPr/>
                    <a:lstStyle/>
                    <a:p>
                      <a:r>
                        <a:rPr sz="1725" b="0">
                          <a:solidFill>
                            <a:srgbClr val="202B58"/>
                          </a:solidFill>
                          <a:latin typeface="Noto Sans JP"/>
                          <a:ea typeface="Noto Sans JP"/>
                          <a:cs typeface="Noto Sans JP"/>
                        </a:rPr>
                        <a:t>69.13</a:t>
                      </a:r>
                    </a:p>
                  </a:txBody>
                  <a:tcPr>
                    <a:solidFill>
                      <a:srgbClr val="F1F5F8"/>
                    </a:solidFill>
                  </a:tcPr>
                </a:tc>
                <a:tc>
                  <a:txBody>
                    <a:bodyPr/>
                    <a:lstStyle/>
                    <a:p>
                      <a:r>
                        <a:rPr sz="1725" b="0">
                          <a:solidFill>
                            <a:srgbClr val="202B58"/>
                          </a:solidFill>
                          <a:latin typeface="Noto Sans JP"/>
                          <a:ea typeface="Noto Sans JP"/>
                          <a:cs typeface="Noto Sans JP"/>
                        </a:rPr>
                        <a:t>0.26</a:t>
                      </a:r>
                    </a:p>
                  </a:txBody>
                  <a:tcPr>
                    <a:solidFill>
                      <a:srgbClr val="F1F5F8"/>
                    </a:solidFill>
                  </a:tcPr>
                </a:tc>
                <a:extLst>
                  <a:ext uri="{0D108BD9-81ED-4DB2-BD59-A6C34878D82A}">
                    <a16:rowId xmlns:a16="http://schemas.microsoft.com/office/drawing/2014/main" val="10003"/>
                  </a:ext>
                </a:extLst>
              </a:tr>
              <a:tr h="519793">
                <a:tc>
                  <a:txBody>
                    <a:bodyPr/>
                    <a:lstStyle/>
                    <a:p>
                      <a:r>
                        <a:rPr sz="1725" b="0">
                          <a:solidFill>
                            <a:srgbClr val="202B58"/>
                          </a:solidFill>
                          <a:latin typeface="Noto Sans JP"/>
                          <a:ea typeface="Noto Sans JP"/>
                          <a:cs typeface="Noto Sans JP"/>
                        </a:rPr>
                        <a:t>10月 10-06</a:t>
                      </a:r>
                    </a:p>
                  </a:txBody>
                  <a:tcPr>
                    <a:solidFill>
                      <a:srgbClr val="FFFFFF"/>
                    </a:solidFill>
                  </a:tcPr>
                </a:tc>
                <a:tc>
                  <a:txBody>
                    <a:bodyPr/>
                    <a:lstStyle/>
                    <a:p>
                      <a:r>
                        <a:rPr sz="1725" b="0">
                          <a:solidFill>
                            <a:srgbClr val="202B58"/>
                          </a:solidFill>
                          <a:latin typeface="Noto Sans JP"/>
                          <a:ea typeface="Noto Sans JP"/>
                          <a:cs typeface="Noto Sans JP"/>
                        </a:rPr>
                        <a:t>466.35</a:t>
                      </a:r>
                    </a:p>
                  </a:txBody>
                  <a:tcPr>
                    <a:solidFill>
                      <a:srgbClr val="FFFFFF"/>
                    </a:solidFill>
                  </a:tcPr>
                </a:tc>
                <a:tc>
                  <a:txBody>
                    <a:bodyPr/>
                    <a:lstStyle/>
                    <a:p>
                      <a:r>
                        <a:rPr sz="1725" b="0">
                          <a:solidFill>
                            <a:srgbClr val="202B58"/>
                          </a:solidFill>
                          <a:latin typeface="Noto Sans JP"/>
                          <a:ea typeface="Noto Sans JP"/>
                          <a:cs typeface="Noto Sans JP"/>
                        </a:rPr>
                        <a:t>410.00</a:t>
                      </a:r>
                    </a:p>
                  </a:txBody>
                  <a:tcPr>
                    <a:solidFill>
                      <a:srgbClr val="FFFFFF"/>
                    </a:solidFill>
                  </a:tcPr>
                </a:tc>
                <a:tc>
                  <a:txBody>
                    <a:bodyPr/>
                    <a:lstStyle/>
                    <a:p>
                      <a:r>
                        <a:rPr sz="1725" b="0">
                          <a:solidFill>
                            <a:srgbClr val="202B58"/>
                          </a:solidFill>
                          <a:latin typeface="Noto Sans JP"/>
                          <a:ea typeface="Noto Sans JP"/>
                          <a:cs typeface="Noto Sans JP"/>
                        </a:rPr>
                        <a:t>16.65</a:t>
                      </a:r>
                    </a:p>
                  </a:txBody>
                  <a:tcPr>
                    <a:solidFill>
                      <a:srgbClr val="FFFFFF"/>
                    </a:solidFill>
                  </a:tcPr>
                </a:tc>
                <a:tc>
                  <a:txBody>
                    <a:bodyPr/>
                    <a:lstStyle/>
                    <a:p>
                      <a:r>
                        <a:rPr sz="1725" b="0">
                          <a:solidFill>
                            <a:srgbClr val="202B58"/>
                          </a:solidFill>
                          <a:latin typeface="Noto Sans JP"/>
                          <a:ea typeface="Noto Sans JP"/>
                          <a:cs typeface="Noto Sans JP"/>
                        </a:rPr>
                        <a:t>3.63</a:t>
                      </a:r>
                    </a:p>
                  </a:txBody>
                  <a:tcPr>
                    <a:solidFill>
                      <a:srgbClr val="FFFFFF"/>
                    </a:solidFill>
                  </a:tcPr>
                </a:tc>
                <a:tc>
                  <a:txBody>
                    <a:bodyPr/>
                    <a:lstStyle/>
                    <a:p>
                      <a:r>
                        <a:rPr sz="1725" b="0">
                          <a:solidFill>
                            <a:srgbClr val="202B58"/>
                          </a:solidFill>
                          <a:latin typeface="Noto Sans JP"/>
                          <a:ea typeface="Noto Sans JP"/>
                          <a:cs typeface="Noto Sans JP"/>
                        </a:rPr>
                        <a:t>35.73</a:t>
                      </a:r>
                    </a:p>
                  </a:txBody>
                  <a:tcPr>
                    <a:solidFill>
                      <a:srgbClr val="FFFFFF"/>
                    </a:solidFill>
                  </a:tcPr>
                </a:tc>
                <a:tc>
                  <a:txBody>
                    <a:bodyPr/>
                    <a:lstStyle/>
                    <a:p>
                      <a:r>
                        <a:rPr sz="1725" b="0">
                          <a:solidFill>
                            <a:srgbClr val="202B58"/>
                          </a:solidFill>
                          <a:latin typeface="Noto Sans JP"/>
                          <a:ea typeface="Noto Sans JP"/>
                          <a:cs typeface="Noto Sans JP"/>
                        </a:rPr>
                        <a:t>0.34</a:t>
                      </a:r>
                    </a:p>
                  </a:txBody>
                  <a:tcPr>
                    <a:solidFill>
                      <a:srgbClr val="FFFFFF"/>
                    </a:solidFill>
                  </a:tcPr>
                </a:tc>
                <a:extLst>
                  <a:ext uri="{0D108BD9-81ED-4DB2-BD59-A6C34878D82A}">
                    <a16:rowId xmlns:a16="http://schemas.microsoft.com/office/drawing/2014/main" val="10004"/>
                  </a:ext>
                </a:extLst>
              </a:tr>
              <a:tr h="519793">
                <a:tc>
                  <a:txBody>
                    <a:bodyPr/>
                    <a:lstStyle/>
                    <a:p>
                      <a:r>
                        <a:rPr sz="1725" b="0">
                          <a:solidFill>
                            <a:srgbClr val="202B58"/>
                          </a:solidFill>
                          <a:latin typeface="Noto Sans JP"/>
                          <a:ea typeface="Noto Sans JP"/>
                          <a:cs typeface="Noto Sans JP"/>
                        </a:rPr>
                        <a:t>11月</a:t>
                      </a:r>
                    </a:p>
                  </a:txBody>
                  <a:tcPr>
                    <a:solidFill>
                      <a:srgbClr val="F1F5F8"/>
                    </a:solidFill>
                  </a:tcPr>
                </a:tc>
                <a:tc>
                  <a:txBody>
                    <a:bodyPr/>
                    <a:lstStyle/>
                    <a:p>
                      <a:r>
                        <a:rPr sz="1725" b="0">
                          <a:solidFill>
                            <a:srgbClr val="202B58"/>
                          </a:solidFill>
                          <a:latin typeface="Noto Sans JP"/>
                          <a:ea typeface="Noto Sans JP"/>
                          <a:cs typeface="Noto Sans JP"/>
                        </a:rPr>
                        <a:t>未収録</a:t>
                      </a:r>
                    </a:p>
                  </a:txBody>
                  <a:tcPr>
                    <a:solidFill>
                      <a:srgbClr val="F1F5F8"/>
                    </a:solidFill>
                  </a:tcPr>
                </a:tc>
                <a:tc>
                  <a:txBody>
                    <a:bodyPr/>
                    <a:lstStyle/>
                    <a:p>
                      <a:r>
                        <a:rPr sz="1725" b="0">
                          <a:solidFill>
                            <a:srgbClr val="202B58"/>
                          </a:solidFill>
                          <a:latin typeface="Noto Sans JP"/>
                          <a:ea typeface="Noto Sans JP"/>
                          <a:cs typeface="Noto Sans JP"/>
                        </a:rPr>
                        <a:t>—</a:t>
                      </a:r>
                    </a:p>
                  </a:txBody>
                  <a:tcPr>
                    <a:solidFill>
                      <a:srgbClr val="F1F5F8"/>
                    </a:solidFill>
                  </a:tcPr>
                </a:tc>
                <a:tc>
                  <a:txBody>
                    <a:bodyPr/>
                    <a:lstStyle/>
                    <a:p>
                      <a:r>
                        <a:rPr sz="1725" b="0">
                          <a:solidFill>
                            <a:srgbClr val="202B58"/>
                          </a:solidFill>
                          <a:latin typeface="Noto Sans JP"/>
                          <a:ea typeface="Noto Sans JP"/>
                          <a:cs typeface="Noto Sans JP"/>
                        </a:rPr>
                        <a:t>—</a:t>
                      </a:r>
                    </a:p>
                  </a:txBody>
                  <a:tcPr>
                    <a:solidFill>
                      <a:srgbClr val="F1F5F8"/>
                    </a:solidFill>
                  </a:tcPr>
                </a:tc>
                <a:tc>
                  <a:txBody>
                    <a:bodyPr/>
                    <a:lstStyle/>
                    <a:p>
                      <a:r>
                        <a:rPr sz="1725" b="0">
                          <a:solidFill>
                            <a:srgbClr val="202B58"/>
                          </a:solidFill>
                          <a:latin typeface="Noto Sans JP"/>
                          <a:ea typeface="Noto Sans JP"/>
                          <a:cs typeface="Noto Sans JP"/>
                        </a:rPr>
                        <a:t>—</a:t>
                      </a:r>
                    </a:p>
                  </a:txBody>
                  <a:tcPr>
                    <a:solidFill>
                      <a:srgbClr val="F1F5F8"/>
                    </a:solidFill>
                  </a:tcPr>
                </a:tc>
                <a:tc>
                  <a:txBody>
                    <a:bodyPr/>
                    <a:lstStyle/>
                    <a:p>
                      <a:r>
                        <a:rPr sz="1725" b="0">
                          <a:solidFill>
                            <a:srgbClr val="202B58"/>
                          </a:solidFill>
                          <a:latin typeface="Noto Sans JP"/>
                          <a:ea typeface="Noto Sans JP"/>
                          <a:cs typeface="Noto Sans JP"/>
                        </a:rPr>
                        <a:t>—</a:t>
                      </a:r>
                    </a:p>
                  </a:txBody>
                  <a:tcPr>
                    <a:solidFill>
                      <a:srgbClr val="F1F5F8"/>
                    </a:solidFill>
                  </a:tcPr>
                </a:tc>
                <a:tc>
                  <a:txBody>
                    <a:bodyPr/>
                    <a:lstStyle/>
                    <a:p>
                      <a:r>
                        <a:rPr sz="1725" b="0">
                          <a:solidFill>
                            <a:srgbClr val="202B58"/>
                          </a:solidFill>
                          <a:latin typeface="Noto Sans JP"/>
                          <a:ea typeface="Noto Sans JP"/>
                          <a:cs typeface="Noto Sans JP"/>
                        </a:rPr>
                        <a:t>—</a:t>
                      </a:r>
                    </a:p>
                  </a:txBody>
                  <a:tcPr>
                    <a:solidFill>
                      <a:srgbClr val="F1F5F8"/>
                    </a:solidFill>
                  </a:tcPr>
                </a:tc>
                <a:extLst>
                  <a:ext uri="{0D108BD9-81ED-4DB2-BD59-A6C34878D82A}">
                    <a16:rowId xmlns:a16="http://schemas.microsoft.com/office/drawing/2014/main" val="10005"/>
                  </a:ext>
                </a:extLst>
              </a:tr>
              <a:tr h="519793">
                <a:tc>
                  <a:txBody>
                    <a:bodyPr/>
                    <a:lstStyle/>
                    <a:p>
                      <a:r>
                        <a:rPr sz="1725" b="0">
                          <a:solidFill>
                            <a:srgbClr val="202B58"/>
                          </a:solidFill>
                          <a:latin typeface="Noto Sans JP"/>
                          <a:ea typeface="Noto Sans JP"/>
                          <a:cs typeface="Noto Sans JP"/>
                        </a:rPr>
                        <a:t>12月 12-01</a:t>
                      </a:r>
                    </a:p>
                  </a:txBody>
                  <a:tcPr>
                    <a:solidFill>
                      <a:srgbClr val="FFFFFF"/>
                    </a:solidFill>
                  </a:tcPr>
                </a:tc>
                <a:tc>
                  <a:txBody>
                    <a:bodyPr/>
                    <a:lstStyle/>
                    <a:p>
                      <a:r>
                        <a:rPr sz="1725" b="0">
                          <a:solidFill>
                            <a:srgbClr val="202B58"/>
                          </a:solidFill>
                          <a:latin typeface="Noto Sans JP"/>
                          <a:ea typeface="Noto Sans JP"/>
                          <a:cs typeface="Noto Sans JP"/>
                        </a:rPr>
                        <a:t>499.26</a:t>
                      </a:r>
                    </a:p>
                  </a:txBody>
                  <a:tcPr>
                    <a:solidFill>
                      <a:srgbClr val="FFFFFF"/>
                    </a:solidFill>
                  </a:tcPr>
                </a:tc>
                <a:tc>
                  <a:txBody>
                    <a:bodyPr/>
                    <a:lstStyle/>
                    <a:p>
                      <a:r>
                        <a:rPr sz="1725" b="0">
                          <a:solidFill>
                            <a:srgbClr val="202B58"/>
                          </a:solidFill>
                          <a:latin typeface="Noto Sans JP"/>
                          <a:ea typeface="Noto Sans JP"/>
                          <a:cs typeface="Noto Sans JP"/>
                        </a:rPr>
                        <a:t>412.00</a:t>
                      </a:r>
                    </a:p>
                  </a:txBody>
                  <a:tcPr>
                    <a:solidFill>
                      <a:srgbClr val="FFFFFF"/>
                    </a:solidFill>
                  </a:tcPr>
                </a:tc>
                <a:tc>
                  <a:txBody>
                    <a:bodyPr/>
                    <a:lstStyle/>
                    <a:p>
                      <a:r>
                        <a:rPr sz="1725" b="0">
                          <a:solidFill>
                            <a:srgbClr val="202B58"/>
                          </a:solidFill>
                          <a:latin typeface="Noto Sans JP"/>
                          <a:ea typeface="Noto Sans JP"/>
                          <a:cs typeface="Noto Sans JP"/>
                        </a:rPr>
                        <a:t>20.89</a:t>
                      </a:r>
                    </a:p>
                  </a:txBody>
                  <a:tcPr>
                    <a:solidFill>
                      <a:srgbClr val="FFFFFF"/>
                    </a:solidFill>
                  </a:tcPr>
                </a:tc>
                <a:tc>
                  <a:txBody>
                    <a:bodyPr/>
                    <a:lstStyle/>
                    <a:p>
                      <a:r>
                        <a:rPr sz="1725" b="0">
                          <a:solidFill>
                            <a:srgbClr val="202B58"/>
                          </a:solidFill>
                          <a:latin typeface="Noto Sans JP"/>
                          <a:ea typeface="Noto Sans JP"/>
                          <a:cs typeface="Noto Sans JP"/>
                        </a:rPr>
                        <a:t>3.84</a:t>
                      </a:r>
                    </a:p>
                  </a:txBody>
                  <a:tcPr>
                    <a:solidFill>
                      <a:srgbClr val="FFFFFF"/>
                    </a:solidFill>
                  </a:tcPr>
                </a:tc>
                <a:tc>
                  <a:txBody>
                    <a:bodyPr/>
                    <a:lstStyle/>
                    <a:p>
                      <a:r>
                        <a:rPr sz="1725" b="0">
                          <a:solidFill>
                            <a:srgbClr val="202B58"/>
                          </a:solidFill>
                          <a:latin typeface="Noto Sans JP"/>
                          <a:ea typeface="Noto Sans JP"/>
                          <a:cs typeface="Noto Sans JP"/>
                        </a:rPr>
                        <a:t>62.12</a:t>
                      </a:r>
                    </a:p>
                  </a:txBody>
                  <a:tcPr>
                    <a:solidFill>
                      <a:srgbClr val="FFFFFF"/>
                    </a:solidFill>
                  </a:tcPr>
                </a:tc>
                <a:tc>
                  <a:txBody>
                    <a:bodyPr/>
                    <a:lstStyle/>
                    <a:p>
                      <a:r>
                        <a:rPr sz="1725" b="0">
                          <a:solidFill>
                            <a:srgbClr val="202B58"/>
                          </a:solidFill>
                          <a:latin typeface="Noto Sans JP"/>
                          <a:ea typeface="Noto Sans JP"/>
                          <a:cs typeface="Noto Sans JP"/>
                        </a:rPr>
                        <a:t>0.41</a:t>
                      </a:r>
                    </a:p>
                  </a:txBody>
                  <a:tcPr>
                    <a:solidFill>
                      <a:srgbClr val="FFFFFF"/>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4572287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C557FDB1-48D3-4F22-A86A-4C7253D46AC3}"/>
              </a:ext>
            </a:extLst>
          </p:cNvPr>
          <p:cNvSpPr>
            <a:spLocks noGrp="1"/>
          </p:cNvSpPr>
          <p:nvPr/>
        </p:nvSpPr>
        <p:spPr>
          <a:xfrm>
            <a:off x="514350" y="238125"/>
            <a:ext cx="11144250" cy="628650"/>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代表週の購入電力量とPV供給可能量</a:t>
            </a:r>
          </a:p>
        </p:txBody>
      </p:sp>
      <p:sp>
        <p:nvSpPr>
          <p:cNvPr id="2" name="正方形/長方形 1">
            <a:extLst>
              <a:ext uri="{FF2B5EF4-FFF2-40B4-BE49-F238E27FC236}">
                <a16:creationId xmlns:a16="http://schemas.microsoft.com/office/drawing/2014/main" id="{22C77536-6E5A-401D-A252-100E673FEC8F}"/>
              </a:ext>
            </a:extLst>
          </p:cNvPr>
          <p:cNvSpPr>
            <a:spLocks noGrp="1"/>
          </p:cNvSpPr>
          <p:nvPr/>
        </p:nvSpPr>
        <p:spPr>
          <a:xfrm>
            <a:off x="666750" y="1009650"/>
            <a:ext cx="10906125" cy="60960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単位：MWh。収録済みの各月1週を比較（営業7日間＋最終翌朝）</a:t>
            </a:r>
          </a:p>
        </p:txBody>
      </p:sp>
      <p:sp>
        <p:nvSpPr>
          <p:cNvPr id="3" name="正方形/長方形 2">
            <a:extLst>
              <a:ext uri="{FF2B5EF4-FFF2-40B4-BE49-F238E27FC236}">
                <a16:creationId xmlns:a16="http://schemas.microsoft.com/office/drawing/2014/main" id="{8A8F88E8-5FE0-497C-B4F6-A2855CEB48C7}"/>
              </a:ext>
            </a:extLst>
          </p:cNvPr>
          <p:cNvSpPr>
            <a:spLocks noGrp="1"/>
          </p:cNvSpPr>
          <p:nvPr/>
        </p:nvSpPr>
        <p:spPr>
          <a:xfrm>
            <a:off x="666750" y="5667375"/>
            <a:ext cx="10906125" cy="514350"/>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月平均・年間合計ではなく、それぞれの代表週の結果を示す</a:t>
            </a:r>
          </a:p>
        </p:txBody>
      </p:sp>
      <p:sp>
        <p:nvSpPr>
          <p:cNvPr id="4" name="正方形/長方形 3">
            <a:extLst>
              <a:ext uri="{FF2B5EF4-FFF2-40B4-BE49-F238E27FC236}">
                <a16:creationId xmlns:a16="http://schemas.microsoft.com/office/drawing/2014/main" id="{60E1B878-5892-4317-B53F-72C1A7E3BB44}"/>
              </a:ext>
            </a:extLst>
          </p:cNvPr>
          <p:cNvSpPr>
            <a:spLocks noGrp="1"/>
          </p:cNvSpPr>
          <p:nvPr/>
        </p:nvSpPr>
        <p:spPr>
          <a:xfrm>
            <a:off x="666750" y="6276975"/>
            <a:ext cx="10906125" cy="36195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電費・燃費は一定。PVだけの因果効果や、冷暖房負荷を含む季節差とは解釈しない。</a:t>
            </a:r>
          </a:p>
        </p:txBody>
      </p:sp>
      <p:graphicFrame>
        <p:nvGraphicFramePr>
          <p:cNvPr id="10" name="Chart"/>
          <p:cNvGraphicFramePr/>
          <p:nvPr/>
        </p:nvGraphicFramePr>
        <p:xfrm>
          <a:off x="666750" y="1752600"/>
          <a:ext cx="10763250" cy="371475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9462347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8CA6F3B1-1D32-4E5D-AB14-B15B8E299643}"/>
              </a:ext>
            </a:extLst>
          </p:cNvPr>
          <p:cNvSpPr>
            <a:spLocks noGrp="1"/>
          </p:cNvSpPr>
          <p:nvPr/>
        </p:nvSpPr>
        <p:spPr>
          <a:xfrm>
            <a:off x="514350" y="238125"/>
            <a:ext cx="11144250" cy="628650"/>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費用差の内訳</a:t>
            </a:r>
          </a:p>
        </p:txBody>
      </p:sp>
      <p:sp>
        <p:nvSpPr>
          <p:cNvPr id="2" name="正方形/長方形 1">
            <a:extLst>
              <a:ext uri="{FF2B5EF4-FFF2-40B4-BE49-F238E27FC236}">
                <a16:creationId xmlns:a16="http://schemas.microsoft.com/office/drawing/2014/main" id="{C694ADB8-1A0E-4EC3-A29E-27D0526074F1}"/>
              </a:ext>
            </a:extLst>
          </p:cNvPr>
          <p:cNvSpPr>
            <a:spLocks noGrp="1"/>
          </p:cNvSpPr>
          <p:nvPr/>
        </p:nvSpPr>
        <p:spPr>
          <a:xfrm>
            <a:off x="666750" y="1009650"/>
            <a:ext cx="10906125" cy="60960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収録11週の最高額 3月と最低額 8月の差。最適費用の順位ではない</a:t>
            </a:r>
          </a:p>
        </p:txBody>
      </p:sp>
      <p:sp>
        <p:nvSpPr>
          <p:cNvPr id="3" name="正方形/長方形 2">
            <a:extLst>
              <a:ext uri="{FF2B5EF4-FFF2-40B4-BE49-F238E27FC236}">
                <a16:creationId xmlns:a16="http://schemas.microsoft.com/office/drawing/2014/main" id="{BDA7F5D9-681A-4C1E-8862-45D3D4B8F8FF}"/>
              </a:ext>
            </a:extLst>
          </p:cNvPr>
          <p:cNvSpPr>
            <a:spLocks noGrp="1"/>
          </p:cNvSpPr>
          <p:nvPr/>
        </p:nvSpPr>
        <p:spPr>
          <a:xfrm>
            <a:off x="666750" y="5667375"/>
            <a:ext cx="10906125" cy="514350"/>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週次費用差は 194.81万円。費目と入力条件を併せて解釈する</a:t>
            </a:r>
          </a:p>
        </p:txBody>
      </p:sp>
      <p:sp>
        <p:nvSpPr>
          <p:cNvPr id="4" name="正方形/長方形 3">
            <a:extLst>
              <a:ext uri="{FF2B5EF4-FFF2-40B4-BE49-F238E27FC236}">
                <a16:creationId xmlns:a16="http://schemas.microsoft.com/office/drawing/2014/main" id="{D55FAE9C-A1C4-4294-BB5D-5B3458DB20EA}"/>
              </a:ext>
            </a:extLst>
          </p:cNvPr>
          <p:cNvSpPr>
            <a:spLocks noGrp="1"/>
          </p:cNvSpPr>
          <p:nvPr/>
        </p:nvSpPr>
        <p:spPr>
          <a:xfrm>
            <a:off x="666750" y="6276975"/>
            <a:ext cx="10906125" cy="36195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差は観測した計画間の記述値。PVの効果・手法の削減効果・年間節約額を直接示さない。</a:t>
            </a:r>
          </a:p>
        </p:txBody>
      </p:sp>
      <p:graphicFrame>
        <p:nvGraphicFramePr>
          <p:cNvPr id="10" name="表 9"/>
          <p:cNvGraphicFramePr/>
          <p:nvPr/>
        </p:nvGraphicFramePr>
        <p:xfrm>
          <a:off x="571500" y="1752600"/>
          <a:ext cx="11049000" cy="3638550"/>
        </p:xfrm>
        <a:graphic>
          <a:graphicData uri="http://schemas.openxmlformats.org/drawingml/2006/table">
            <a:tbl>
              <a:tblPr/>
              <a:tblGrid>
                <a:gridCol w="647700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tblGrid>
              <a:tr h="606425">
                <a:tc>
                  <a:txBody>
                    <a:bodyPr/>
                    <a:lstStyle/>
                    <a:p>
                      <a:r>
                        <a:rPr sz="1875" b="1">
                          <a:solidFill>
                            <a:srgbClr val="FFFFFF"/>
                          </a:solidFill>
                          <a:latin typeface="Noto Sans JP"/>
                          <a:ea typeface="Noto Sans JP"/>
                          <a:cs typeface="Noto Sans JP"/>
                        </a:rPr>
                        <a:t>費目</a:t>
                      </a:r>
                    </a:p>
                  </a:txBody>
                  <a:tcPr>
                    <a:solidFill>
                      <a:srgbClr val="202B58"/>
                    </a:solidFill>
                  </a:tcPr>
                </a:tc>
                <a:tc>
                  <a:txBody>
                    <a:bodyPr/>
                    <a:lstStyle/>
                    <a:p>
                      <a:r>
                        <a:rPr sz="1875" b="1">
                          <a:solidFill>
                            <a:srgbClr val="FFFFFF"/>
                          </a:solidFill>
                          <a:latin typeface="Noto Sans JP"/>
                          <a:ea typeface="Noto Sans JP"/>
                          <a:cs typeface="Noto Sans JP"/>
                        </a:rPr>
                        <a:t>3月 − 8月 [万円]</a:t>
                      </a:r>
                    </a:p>
                  </a:txBody>
                  <a:tcPr>
                    <a:solidFill>
                      <a:srgbClr val="202B58"/>
                    </a:solidFill>
                  </a:tcPr>
                </a:tc>
                <a:extLst>
                  <a:ext uri="{0D108BD9-81ED-4DB2-BD59-A6C34878D82A}">
                    <a16:rowId xmlns:a16="http://schemas.microsoft.com/office/drawing/2014/main" val="10000"/>
                  </a:ext>
                </a:extLst>
              </a:tr>
              <a:tr h="606425">
                <a:tc>
                  <a:txBody>
                    <a:bodyPr/>
                    <a:lstStyle/>
                    <a:p>
                      <a:r>
                        <a:rPr sz="1875" b="0">
                          <a:solidFill>
                            <a:srgbClr val="202B58"/>
                          </a:solidFill>
                          <a:latin typeface="Noto Sans JP"/>
                          <a:ea typeface="Noto Sans JP"/>
                          <a:cs typeface="Noto Sans JP"/>
                        </a:rPr>
                        <a:t>車両日費</a:t>
                      </a:r>
                    </a:p>
                  </a:txBody>
                  <a:tcPr>
                    <a:solidFill>
                      <a:srgbClr val="F1F5F8"/>
                    </a:solidFill>
                  </a:tcPr>
                </a:tc>
                <a:tc>
                  <a:txBody>
                    <a:bodyPr/>
                    <a:lstStyle/>
                    <a:p>
                      <a:r>
                        <a:rPr sz="1875" b="0">
                          <a:solidFill>
                            <a:srgbClr val="202B58"/>
                          </a:solidFill>
                          <a:latin typeface="Noto Sans JP"/>
                          <a:ea typeface="Noto Sans JP"/>
                          <a:cs typeface="Noto Sans JP"/>
                        </a:rPr>
                        <a:t>0.00</a:t>
                      </a:r>
                    </a:p>
                  </a:txBody>
                  <a:tcPr>
                    <a:solidFill>
                      <a:srgbClr val="F1F5F8"/>
                    </a:solidFill>
                  </a:tcPr>
                </a:tc>
                <a:extLst>
                  <a:ext uri="{0D108BD9-81ED-4DB2-BD59-A6C34878D82A}">
                    <a16:rowId xmlns:a16="http://schemas.microsoft.com/office/drawing/2014/main" val="10001"/>
                  </a:ext>
                </a:extLst>
              </a:tr>
              <a:tr h="606425">
                <a:tc>
                  <a:txBody>
                    <a:bodyPr/>
                    <a:lstStyle/>
                    <a:p>
                      <a:r>
                        <a:rPr sz="1875" b="0">
                          <a:solidFill>
                            <a:srgbClr val="202B58"/>
                          </a:solidFill>
                          <a:latin typeface="Noto Sans JP"/>
                          <a:ea typeface="Noto Sans JP"/>
                          <a:cs typeface="Noto Sans JP"/>
                        </a:rPr>
                        <a:t>買電費</a:t>
                      </a:r>
                    </a:p>
                  </a:txBody>
                  <a:tcPr>
                    <a:solidFill>
                      <a:srgbClr val="FFFFFF"/>
                    </a:solidFill>
                  </a:tcPr>
                </a:tc>
                <a:tc>
                  <a:txBody>
                    <a:bodyPr/>
                    <a:lstStyle/>
                    <a:p>
                      <a:r>
                        <a:rPr sz="1875" b="0">
                          <a:solidFill>
                            <a:srgbClr val="202B58"/>
                          </a:solidFill>
                          <a:latin typeface="Noto Sans JP"/>
                          <a:ea typeface="Noto Sans JP"/>
                          <a:cs typeface="Noto Sans JP"/>
                        </a:rPr>
                        <a:t>29.52</a:t>
                      </a:r>
                    </a:p>
                  </a:txBody>
                  <a:tcPr>
                    <a:solidFill>
                      <a:srgbClr val="FFFFFF"/>
                    </a:solidFill>
                  </a:tcPr>
                </a:tc>
                <a:extLst>
                  <a:ext uri="{0D108BD9-81ED-4DB2-BD59-A6C34878D82A}">
                    <a16:rowId xmlns:a16="http://schemas.microsoft.com/office/drawing/2014/main" val="10002"/>
                  </a:ext>
                </a:extLst>
              </a:tr>
              <a:tr h="606425">
                <a:tc>
                  <a:txBody>
                    <a:bodyPr/>
                    <a:lstStyle/>
                    <a:p>
                      <a:r>
                        <a:rPr sz="1875" b="0">
                          <a:solidFill>
                            <a:srgbClr val="202B58"/>
                          </a:solidFill>
                          <a:latin typeface="Noto Sans JP"/>
                          <a:ea typeface="Noto Sans JP"/>
                          <a:cs typeface="Noto Sans JP"/>
                        </a:rPr>
                        <a:t>燃料費（消費在庫の評価含む）</a:t>
                      </a:r>
                    </a:p>
                  </a:txBody>
                  <a:tcPr>
                    <a:solidFill>
                      <a:srgbClr val="F1F5F8"/>
                    </a:solidFill>
                  </a:tcPr>
                </a:tc>
                <a:tc>
                  <a:txBody>
                    <a:bodyPr/>
                    <a:lstStyle/>
                    <a:p>
                      <a:r>
                        <a:rPr sz="1875" b="0">
                          <a:solidFill>
                            <a:srgbClr val="202B58"/>
                          </a:solidFill>
                          <a:latin typeface="Noto Sans JP"/>
                          <a:ea typeface="Noto Sans JP"/>
                          <a:cs typeface="Noto Sans JP"/>
                        </a:rPr>
                        <a:t>-0.09</a:t>
                      </a:r>
                    </a:p>
                  </a:txBody>
                  <a:tcPr>
                    <a:solidFill>
                      <a:srgbClr val="F1F5F8"/>
                    </a:solidFill>
                  </a:tcPr>
                </a:tc>
                <a:extLst>
                  <a:ext uri="{0D108BD9-81ED-4DB2-BD59-A6C34878D82A}">
                    <a16:rowId xmlns:a16="http://schemas.microsoft.com/office/drawing/2014/main" val="10003"/>
                  </a:ext>
                </a:extLst>
              </a:tr>
              <a:tr h="606425">
                <a:tc>
                  <a:txBody>
                    <a:bodyPr/>
                    <a:lstStyle/>
                    <a:p>
                      <a:r>
                        <a:rPr sz="1875" b="0">
                          <a:solidFill>
                            <a:srgbClr val="202B58"/>
                          </a:solidFill>
                          <a:latin typeface="Noto Sans JP"/>
                          <a:ea typeface="Noto Sans JP"/>
                          <a:cs typeface="Noto Sans JP"/>
                        </a:rPr>
                        <a:t>契約超過モデル費</a:t>
                      </a:r>
                    </a:p>
                  </a:txBody>
                  <a:tcPr>
                    <a:solidFill>
                      <a:srgbClr val="FFFFFF"/>
                    </a:solidFill>
                  </a:tcPr>
                </a:tc>
                <a:tc>
                  <a:txBody>
                    <a:bodyPr/>
                    <a:lstStyle/>
                    <a:p>
                      <a:r>
                        <a:rPr sz="1875" b="0">
                          <a:solidFill>
                            <a:srgbClr val="202B58"/>
                          </a:solidFill>
                          <a:latin typeface="Noto Sans JP"/>
                          <a:ea typeface="Noto Sans JP"/>
                          <a:cs typeface="Noto Sans JP"/>
                        </a:rPr>
                        <a:t>164.88</a:t>
                      </a:r>
                    </a:p>
                  </a:txBody>
                  <a:tcPr>
                    <a:solidFill>
                      <a:srgbClr val="FFFFFF"/>
                    </a:solidFill>
                  </a:tcPr>
                </a:tc>
                <a:extLst>
                  <a:ext uri="{0D108BD9-81ED-4DB2-BD59-A6C34878D82A}">
                    <a16:rowId xmlns:a16="http://schemas.microsoft.com/office/drawing/2014/main" val="10004"/>
                  </a:ext>
                </a:extLst>
              </a:tr>
              <a:tr h="606425">
                <a:tc>
                  <a:txBody>
                    <a:bodyPr/>
                    <a:lstStyle/>
                    <a:p>
                      <a:r>
                        <a:rPr sz="1875" b="0">
                          <a:solidFill>
                            <a:srgbClr val="202B58"/>
                          </a:solidFill>
                          <a:latin typeface="Noto Sans JP"/>
                          <a:ea typeface="Noto Sans JP"/>
                          <a:cs typeface="Noto Sans JP"/>
                        </a:rPr>
                        <a:t>CO₂費</a:t>
                      </a:r>
                    </a:p>
                  </a:txBody>
                  <a:tcPr>
                    <a:solidFill>
                      <a:srgbClr val="F1F5F8"/>
                    </a:solidFill>
                  </a:tcPr>
                </a:tc>
                <a:tc>
                  <a:txBody>
                    <a:bodyPr/>
                    <a:lstStyle/>
                    <a:p>
                      <a:r>
                        <a:rPr sz="1875" b="0">
                          <a:solidFill>
                            <a:srgbClr val="202B58"/>
                          </a:solidFill>
                          <a:latin typeface="Noto Sans JP"/>
                          <a:ea typeface="Noto Sans JP"/>
                          <a:cs typeface="Noto Sans JP"/>
                        </a:rPr>
                        <a:t>0.49</a:t>
                      </a:r>
                    </a:p>
                  </a:txBody>
                  <a:tcPr>
                    <a:solidFill>
                      <a:srgbClr val="F1F5F8"/>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5626118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252DA5A3-0551-4CB5-8EA0-41BF9584436F}"/>
              </a:ext>
            </a:extLst>
          </p:cNvPr>
          <p:cNvSpPr>
            <a:spLocks noGrp="1"/>
          </p:cNvSpPr>
          <p:nvPr/>
        </p:nvSpPr>
        <p:spPr>
          <a:xfrm>
            <a:off x="514350" y="238125"/>
            <a:ext cx="11144250" cy="628650"/>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確認できたことと残る範囲</a:t>
            </a:r>
          </a:p>
        </p:txBody>
      </p:sp>
      <p:sp>
        <p:nvSpPr>
          <p:cNvPr id="2" name="正方形/長方形 1">
            <a:extLst>
              <a:ext uri="{FF2B5EF4-FFF2-40B4-BE49-F238E27FC236}">
                <a16:creationId xmlns:a16="http://schemas.microsoft.com/office/drawing/2014/main" id="{FE0BC8F2-951C-45B8-99C8-31ED407B7ADD}"/>
              </a:ext>
            </a:extLst>
          </p:cNvPr>
          <p:cNvSpPr>
            <a:spLocks noGrp="1"/>
          </p:cNvSpPr>
          <p:nvPr/>
        </p:nvSpPr>
        <p:spPr>
          <a:xfrm>
            <a:off x="666750" y="1009650"/>
            <a:ext cx="10906125" cy="60960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週次運行・経済性・月別の違いを、原本に対応する数値で説明する</a:t>
            </a:r>
          </a:p>
        </p:txBody>
      </p:sp>
      <p:sp>
        <p:nvSpPr>
          <p:cNvPr id="3" name="正方形/長方形 2">
            <a:extLst>
              <a:ext uri="{FF2B5EF4-FFF2-40B4-BE49-F238E27FC236}">
                <a16:creationId xmlns:a16="http://schemas.microsoft.com/office/drawing/2014/main" id="{50C4201A-286E-4A19-B434-C578EA9C6510}"/>
              </a:ext>
            </a:extLst>
          </p:cNvPr>
          <p:cNvSpPr>
            <a:spLocks noGrp="1"/>
          </p:cNvSpPr>
          <p:nvPr/>
        </p:nvSpPr>
        <p:spPr>
          <a:xfrm>
            <a:off x="666750" y="5667375"/>
            <a:ext cx="10906125" cy="514350"/>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図表の注意と、運行・会計の不整合を区別して結果を積み上げる</a:t>
            </a:r>
          </a:p>
        </p:txBody>
      </p:sp>
      <p:sp>
        <p:nvSpPr>
          <p:cNvPr id="4" name="正方形/長方形 3">
            <a:extLst>
              <a:ext uri="{FF2B5EF4-FFF2-40B4-BE49-F238E27FC236}">
                <a16:creationId xmlns:a16="http://schemas.microsoft.com/office/drawing/2014/main" id="{99D35252-6F0A-4585-8A8B-03E8D94EB2BA}"/>
              </a:ext>
            </a:extLst>
          </p:cNvPr>
          <p:cNvSpPr>
            <a:spLocks noGrp="1"/>
          </p:cNvSpPr>
          <p:nvPr/>
        </p:nvSpPr>
        <p:spPr>
          <a:xfrm>
            <a:off x="666750" y="6276975"/>
            <a:ext cx="10906125" cy="36195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DIAGNOSTIC / NOT USED FOR RESEARCH CONCLUSIONS。独立した正式研究採用承認は別途必要。</a:t>
            </a:r>
          </a:p>
        </p:txBody>
      </p:sp>
      <p:graphicFrame>
        <p:nvGraphicFramePr>
          <p:cNvPr id="10" name="表 9"/>
          <p:cNvGraphicFramePr/>
          <p:nvPr/>
        </p:nvGraphicFramePr>
        <p:xfrm>
          <a:off x="571500" y="1752600"/>
          <a:ext cx="11049000" cy="3638550"/>
        </p:xfrm>
        <a:graphic>
          <a:graphicData uri="http://schemas.openxmlformats.org/drawingml/2006/table">
            <a:tbl>
              <a:tblPr/>
              <a:tblGrid>
                <a:gridCol w="2619375">
                  <a:extLst>
                    <a:ext uri="{9D8B030D-6E8A-4147-A177-3AD203B41FA5}">
                      <a16:colId xmlns:a16="http://schemas.microsoft.com/office/drawing/2014/main" val="20000"/>
                    </a:ext>
                  </a:extLst>
                </a:gridCol>
                <a:gridCol w="8429625">
                  <a:extLst>
                    <a:ext uri="{9D8B030D-6E8A-4147-A177-3AD203B41FA5}">
                      <a16:colId xmlns:a16="http://schemas.microsoft.com/office/drawing/2014/main" val="20001"/>
                    </a:ext>
                  </a:extLst>
                </a:gridCol>
              </a:tblGrid>
              <a:tr h="606425">
                <a:tc>
                  <a:txBody>
                    <a:bodyPr/>
                    <a:lstStyle/>
                    <a:p>
                      <a:r>
                        <a:rPr sz="1725" b="1">
                          <a:solidFill>
                            <a:srgbClr val="FFFFFF"/>
                          </a:solidFill>
                          <a:latin typeface="Noto Sans JP"/>
                          <a:ea typeface="Noto Sans JP"/>
                          <a:cs typeface="Noto Sans JP"/>
                        </a:rPr>
                        <a:t>論点</a:t>
                      </a:r>
                    </a:p>
                  </a:txBody>
                  <a:tcPr>
                    <a:solidFill>
                      <a:srgbClr val="202B58"/>
                    </a:solidFill>
                  </a:tcPr>
                </a:tc>
                <a:tc>
                  <a:txBody>
                    <a:bodyPr/>
                    <a:lstStyle/>
                    <a:p>
                      <a:r>
                        <a:rPr sz="1725" b="1">
                          <a:solidFill>
                            <a:srgbClr val="FFFFFF"/>
                          </a:solidFill>
                          <a:latin typeface="Noto Sans JP"/>
                          <a:ea typeface="Noto Sans JP"/>
                          <a:cs typeface="Noto Sans JP"/>
                        </a:rPr>
                        <a:t>結果・解釈の範囲</a:t>
                      </a:r>
                    </a:p>
                  </a:txBody>
                  <a:tcPr>
                    <a:solidFill>
                      <a:srgbClr val="202B58"/>
                    </a:solidFill>
                  </a:tcPr>
                </a:tc>
                <a:extLst>
                  <a:ext uri="{0D108BD9-81ED-4DB2-BD59-A6C34878D82A}">
                    <a16:rowId xmlns:a16="http://schemas.microsoft.com/office/drawing/2014/main" val="10000"/>
                  </a:ext>
                </a:extLst>
              </a:tr>
              <a:tr h="606425">
                <a:tc>
                  <a:txBody>
                    <a:bodyPr/>
                    <a:lstStyle/>
                    <a:p>
                      <a:r>
                        <a:rPr sz="1725" b="0">
                          <a:solidFill>
                            <a:srgbClr val="202B58"/>
                          </a:solidFill>
                          <a:latin typeface="Noto Sans JP"/>
                          <a:ea typeface="Noto Sans JP"/>
                          <a:cs typeface="Noto Sans JP"/>
                        </a:rPr>
                        <a:t>連続7日間</a:t>
                      </a:r>
                    </a:p>
                  </a:txBody>
                  <a:tcPr>
                    <a:solidFill>
                      <a:srgbClr val="F1F5F8"/>
                    </a:solidFill>
                  </a:tcPr>
                </a:tc>
                <a:tc>
                  <a:txBody>
                    <a:bodyPr/>
                    <a:lstStyle/>
                    <a:p>
                      <a:r>
                        <a:rPr sz="1725" b="0">
                          <a:solidFill>
                            <a:srgbClr val="202B58"/>
                          </a:solidFill>
                          <a:latin typeface="Noto Sans JP"/>
                          <a:ea typeface="Noto Sans JP"/>
                          <a:cs typeface="Noto Sans JP"/>
                        </a:rPr>
                        <a:t>11週で全便・SOC・電力収支・会計を確認。11月は未収録。</a:t>
                      </a:r>
                    </a:p>
                  </a:txBody>
                  <a:tcPr>
                    <a:solidFill>
                      <a:srgbClr val="F1F5F8"/>
                    </a:solidFill>
                  </a:tcPr>
                </a:tc>
                <a:extLst>
                  <a:ext uri="{0D108BD9-81ED-4DB2-BD59-A6C34878D82A}">
                    <a16:rowId xmlns:a16="http://schemas.microsoft.com/office/drawing/2014/main" val="10001"/>
                  </a:ext>
                </a:extLst>
              </a:tr>
              <a:tr h="606425">
                <a:tc>
                  <a:txBody>
                    <a:bodyPr/>
                    <a:lstStyle/>
                    <a:p>
                      <a:r>
                        <a:rPr sz="1725" b="0">
                          <a:solidFill>
                            <a:srgbClr val="202B58"/>
                          </a:solidFill>
                          <a:latin typeface="Noto Sans JP"/>
                          <a:ea typeface="Noto Sans JP"/>
                          <a:cs typeface="Noto Sans JP"/>
                        </a:rPr>
                        <a:t>週間費用</a:t>
                      </a:r>
                    </a:p>
                  </a:txBody>
                  <a:tcPr>
                    <a:solidFill>
                      <a:srgbClr val="FFFFFF"/>
                    </a:solidFill>
                  </a:tcPr>
                </a:tc>
                <a:tc>
                  <a:txBody>
                    <a:bodyPr/>
                    <a:lstStyle/>
                    <a:p>
                      <a:r>
                        <a:rPr sz="1725" b="0">
                          <a:solidFill>
                            <a:srgbClr val="202B58"/>
                          </a:solidFill>
                          <a:latin typeface="Noto Sans JP"/>
                          <a:ea typeface="Noto Sans JP"/>
                          <a:cs typeface="Noto Sans JP"/>
                        </a:rPr>
                        <a:t>417.85〜612.65万円。設備投資の採算は評価外。</a:t>
                      </a:r>
                    </a:p>
                  </a:txBody>
                  <a:tcPr>
                    <a:solidFill>
                      <a:srgbClr val="FFFFFF"/>
                    </a:solidFill>
                  </a:tcPr>
                </a:tc>
                <a:extLst>
                  <a:ext uri="{0D108BD9-81ED-4DB2-BD59-A6C34878D82A}">
                    <a16:rowId xmlns:a16="http://schemas.microsoft.com/office/drawing/2014/main" val="10002"/>
                  </a:ext>
                </a:extLst>
              </a:tr>
              <a:tr h="606425">
                <a:tc>
                  <a:txBody>
                    <a:bodyPr/>
                    <a:lstStyle/>
                    <a:p>
                      <a:r>
                        <a:rPr sz="1725" b="0">
                          <a:solidFill>
                            <a:srgbClr val="202B58"/>
                          </a:solidFill>
                          <a:latin typeface="Noto Sans JP"/>
                          <a:ea typeface="Noto Sans JP"/>
                          <a:cs typeface="Noto Sans JP"/>
                        </a:rPr>
                        <a:t>BESSの在庫</a:t>
                      </a:r>
                    </a:p>
                  </a:txBody>
                  <a:tcPr>
                    <a:solidFill>
                      <a:srgbClr val="F1F5F8"/>
                    </a:solidFill>
                  </a:tcPr>
                </a:tc>
                <a:tc>
                  <a:txBody>
                    <a:bodyPr/>
                    <a:lstStyle/>
                    <a:p>
                      <a:r>
                        <a:rPr sz="1725" b="0">
                          <a:solidFill>
                            <a:srgbClr val="202B58"/>
                          </a:solidFill>
                          <a:latin typeface="Noto Sans JP"/>
                          <a:ea typeface="Noto Sans JP"/>
                          <a:cs typeface="Noto Sans JP"/>
                        </a:rPr>
                        <a:t>12月：3,000 → 1,539.42 kWh。初期在庫利用を含む。</a:t>
                      </a:r>
                    </a:p>
                  </a:txBody>
                  <a:tcPr>
                    <a:solidFill>
                      <a:srgbClr val="F1F5F8"/>
                    </a:solidFill>
                  </a:tcPr>
                </a:tc>
                <a:extLst>
                  <a:ext uri="{0D108BD9-81ED-4DB2-BD59-A6C34878D82A}">
                    <a16:rowId xmlns:a16="http://schemas.microsoft.com/office/drawing/2014/main" val="10003"/>
                  </a:ext>
                </a:extLst>
              </a:tr>
              <a:tr h="606425">
                <a:tc>
                  <a:txBody>
                    <a:bodyPr/>
                    <a:lstStyle/>
                    <a:p>
                      <a:r>
                        <a:rPr sz="1725" b="0">
                          <a:solidFill>
                            <a:srgbClr val="202B58"/>
                          </a:solidFill>
                          <a:latin typeface="Noto Sans JP"/>
                          <a:ea typeface="Noto Sans JP"/>
                          <a:cs typeface="Noto Sans JP"/>
                        </a:rPr>
                        <a:t>季節の説明</a:t>
                      </a:r>
                    </a:p>
                  </a:txBody>
                  <a:tcPr>
                    <a:solidFill>
                      <a:srgbClr val="FFFFFF"/>
                    </a:solidFill>
                  </a:tcPr>
                </a:tc>
                <a:tc>
                  <a:txBody>
                    <a:bodyPr/>
                    <a:lstStyle/>
                    <a:p>
                      <a:r>
                        <a:rPr sz="1725" b="0">
                          <a:solidFill>
                            <a:srgbClr val="202B58"/>
                          </a:solidFill>
                          <a:latin typeface="Noto Sans JP"/>
                          <a:ea typeface="Noto Sans JP"/>
                          <a:cs typeface="Noto Sans JP"/>
                        </a:rPr>
                        <a:t>電費一定・各月1週の条件差。空調負荷・季節全体の平均は未評価。</a:t>
                      </a:r>
                    </a:p>
                  </a:txBody>
                  <a:tcPr>
                    <a:solidFill>
                      <a:srgbClr val="FFFFFF"/>
                    </a:solidFill>
                  </a:tcPr>
                </a:tc>
                <a:extLst>
                  <a:ext uri="{0D108BD9-81ED-4DB2-BD59-A6C34878D82A}">
                    <a16:rowId xmlns:a16="http://schemas.microsoft.com/office/drawing/2014/main" val="10004"/>
                  </a:ext>
                </a:extLst>
              </a:tr>
              <a:tr h="606425">
                <a:tc>
                  <a:txBody>
                    <a:bodyPr/>
                    <a:lstStyle/>
                    <a:p>
                      <a:r>
                        <a:rPr sz="1725" b="0">
                          <a:solidFill>
                            <a:srgbClr val="202B58"/>
                          </a:solidFill>
                          <a:latin typeface="Noto Sans JP"/>
                          <a:ea typeface="Noto Sans JP"/>
                          <a:cs typeface="Noto Sans JP"/>
                        </a:rPr>
                        <a:t>次の更新</a:t>
                      </a:r>
                    </a:p>
                  </a:txBody>
                  <a:tcPr>
                    <a:solidFill>
                      <a:srgbClr val="F1F5F8"/>
                    </a:solidFill>
                  </a:tcPr>
                </a:tc>
                <a:tc>
                  <a:txBody>
                    <a:bodyPr/>
                    <a:lstStyle/>
                    <a:p>
                      <a:r>
                        <a:rPr sz="1725" b="0">
                          <a:solidFill>
                            <a:srgbClr val="202B58"/>
                          </a:solidFill>
                          <a:latin typeface="Noto Sans JP"/>
                          <a:ea typeface="Noto Sans JP"/>
                          <a:cs typeface="Noto Sans JP"/>
                        </a:rPr>
                        <a:t>11月の原本回収・検算後に同じ表を更新。旧版成功週は混ぜない。</a:t>
                      </a:r>
                    </a:p>
                  </a:txBody>
                  <a:tcPr>
                    <a:solidFill>
                      <a:srgbClr val="F1F5F8"/>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8519324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E7F947BF-05E9-4B46-ABAF-397CB3F72438}"/>
              </a:ext>
            </a:extLst>
          </p:cNvPr>
          <p:cNvSpPr>
            <a:spLocks noGrp="1"/>
          </p:cNvSpPr>
          <p:nvPr/>
        </p:nvSpPr>
        <p:spPr>
          <a:xfrm>
            <a:off x="0" y="0"/>
            <a:ext cx="12191695" cy="320040"/>
          </a:xfrm>
          <a:prstGeom prst="rect">
            <a:avLst/>
          </a:prstGeom>
          <a:solidFill>
            <a:srgbClr val="1F2A5A"/>
          </a:solidFill>
          <a:ln w="12700">
            <a:solidFill>
              <a:srgbClr val="1F2A5A"/>
            </a:solidFill>
            <a:prstDash val="solid"/>
          </a:ln>
        </p:spPr>
        <p:txBody>
          <a:bodyPr/>
          <a:lstStyle/>
          <a:p>
            <a:endParaRPr/>
          </a:p>
        </p:txBody>
      </p:sp>
      <p:sp>
        <p:nvSpPr>
          <p:cNvPr id="3" name="Shape 1">
            <a:extLst>
              <a:ext uri="{FF2B5EF4-FFF2-40B4-BE49-F238E27FC236}">
                <a16:creationId xmlns:a16="http://schemas.microsoft.com/office/drawing/2014/main" id="{0B185A98-C200-4DE7-B8BD-318DEDF1B845}"/>
              </a:ext>
            </a:extLst>
          </p:cNvPr>
          <p:cNvSpPr>
            <a:spLocks noGrp="1"/>
          </p:cNvSpPr>
          <p:nvPr/>
        </p:nvSpPr>
        <p:spPr>
          <a:xfrm>
            <a:off x="594360" y="1051560"/>
            <a:ext cx="10972800" cy="1298448"/>
          </a:xfrm>
          <a:prstGeom prst="roundRect">
            <a:avLst/>
          </a:prstGeom>
          <a:solidFill>
            <a:srgbClr val="1F2A5A"/>
          </a:solidFill>
          <a:ln w="12700">
            <a:solidFill>
              <a:srgbClr val="1F2A5A"/>
            </a:solidFill>
            <a:prstDash val="solid"/>
          </a:ln>
        </p:spPr>
        <p:txBody>
          <a:bodyPr/>
          <a:lstStyle/>
          <a:p>
            <a:endParaRPr/>
          </a:p>
        </p:txBody>
      </p:sp>
      <p:sp>
        <p:nvSpPr>
          <p:cNvPr id="4" name="Text 2">
            <a:extLst>
              <a:ext uri="{FF2B5EF4-FFF2-40B4-BE49-F238E27FC236}">
                <a16:creationId xmlns:a16="http://schemas.microsoft.com/office/drawing/2014/main" id="{1B72CB76-D951-46FB-94A0-79DC7EA0FF34}"/>
              </a:ext>
            </a:extLst>
          </p:cNvPr>
          <p:cNvSpPr>
            <a:spLocks noGrp="1"/>
          </p:cNvSpPr>
          <p:nvPr/>
        </p:nvSpPr>
        <p:spPr>
          <a:xfrm>
            <a:off x="960120" y="1344168"/>
            <a:ext cx="10241280" cy="658368"/>
          </a:xfrm>
          <a:prstGeom prst="rect">
            <a:avLst/>
          </a:prstGeom>
          <a:noFill/>
        </p:spPr>
        <p:txBody>
          <a:bodyPr wrap="square" lIns="0" tIns="0" rIns="0" bIns="0" anchor="ctr"/>
          <a:lstStyle/>
          <a:p>
            <a:pPr marL="0" indent="0" algn="ctr">
              <a:buNone/>
              <a:defRPr>
                <a:latin typeface="Noto Sans JP"/>
                <a:ea typeface="Noto Sans JP"/>
                <a:cs typeface="Noto Sans JP"/>
              </a:defRPr>
            </a:pPr>
            <a:r>
              <a:rPr sz="3400" b="1">
                <a:solidFill>
                  <a:srgbClr val="FFFFFF"/>
                </a:solidFill>
                <a:latin typeface="Noto Sans JP"/>
                <a:ea typeface="Noto Sans JP"/>
                <a:cs typeface="Noto Sans JP"/>
              </a:rPr>
              <a:t>修士論文研究　9月進捗報告</a:t>
            </a:r>
            <a:endParaRPr sz="3400"/>
          </a:p>
        </p:txBody>
      </p:sp>
      <p:sp>
        <p:nvSpPr>
          <p:cNvPr id="5" name="Text 3">
            <a:extLst>
              <a:ext uri="{FF2B5EF4-FFF2-40B4-BE49-F238E27FC236}">
                <a16:creationId xmlns:a16="http://schemas.microsoft.com/office/drawing/2014/main" id="{E09DD3D2-2374-4F6A-B395-16FAE8CB90A4}"/>
              </a:ext>
            </a:extLst>
          </p:cNvPr>
          <p:cNvSpPr>
            <a:spLocks noGrp="1"/>
          </p:cNvSpPr>
          <p:nvPr/>
        </p:nvSpPr>
        <p:spPr>
          <a:xfrm>
            <a:off x="1143000" y="2679192"/>
            <a:ext cx="9921240" cy="658368"/>
          </a:xfrm>
          <a:prstGeom prst="rect">
            <a:avLst/>
          </a:prstGeom>
          <a:noFill/>
        </p:spPr>
        <p:txBody>
          <a:bodyPr wrap="square" lIns="0" tIns="0" rIns="0" bIns="0" anchor="ctr"/>
          <a:lstStyle/>
          <a:p>
            <a:pPr marL="0" indent="0" algn="ctr">
              <a:buNone/>
              <a:defRPr>
                <a:latin typeface="Noto Sans JP"/>
                <a:ea typeface="Noto Sans JP"/>
                <a:cs typeface="Noto Sans JP"/>
              </a:defRPr>
            </a:pPr>
            <a:r>
              <a:rPr sz="2200" b="1">
                <a:solidFill>
                  <a:srgbClr val="172033"/>
                </a:solidFill>
                <a:latin typeface="Noto Sans JP"/>
                <a:ea typeface="Noto Sans JP"/>
                <a:cs typeface="Noto Sans JP"/>
              </a:rPr>
              <a:t>PV余剰電力を考慮した BEV／エンジンバス混成運用の配車・充電計画</a:t>
            </a:r>
            <a:endParaRPr sz="2200"/>
          </a:p>
        </p:txBody>
      </p:sp>
      <p:sp>
        <p:nvSpPr>
          <p:cNvPr id="6" name="Text 4">
            <a:extLst>
              <a:ext uri="{FF2B5EF4-FFF2-40B4-BE49-F238E27FC236}">
                <a16:creationId xmlns:a16="http://schemas.microsoft.com/office/drawing/2014/main" id="{2BC3DD9E-8941-4DB2-9F1C-A62DA5014D2C}"/>
              </a:ext>
            </a:extLst>
          </p:cNvPr>
          <p:cNvSpPr>
            <a:spLocks noGrp="1"/>
          </p:cNvSpPr>
          <p:nvPr/>
        </p:nvSpPr>
        <p:spPr>
          <a:xfrm>
            <a:off x="1920240" y="3419856"/>
            <a:ext cx="8366760" cy="365760"/>
          </a:xfrm>
          <a:prstGeom prst="rect">
            <a:avLst/>
          </a:prstGeom>
          <a:noFill/>
        </p:spPr>
        <p:txBody>
          <a:bodyPr wrap="square" lIns="0" tIns="0" rIns="0" bIns="0" anchor="ctr"/>
          <a:lstStyle/>
          <a:p>
            <a:pPr marL="0" indent="0" algn="ctr">
              <a:buNone/>
              <a:defRPr>
                <a:latin typeface="Noto Sans JP"/>
                <a:ea typeface="Noto Sans JP"/>
                <a:cs typeface="Noto Sans JP"/>
              </a:defRPr>
            </a:pPr>
            <a:r>
              <a:rPr sz="1600">
                <a:solidFill>
                  <a:srgbClr val="687386"/>
                </a:solidFill>
                <a:latin typeface="Noto Sans JP"/>
                <a:ea typeface="Noto Sans JP"/>
                <a:cs typeface="Noto Sans JP"/>
              </a:rPr>
              <a:t>月別12週のシミュレーションと、受電電力・費用の違い</a:t>
            </a:r>
            <a:endParaRPr sz="1600"/>
          </a:p>
        </p:txBody>
      </p:sp>
      <p:pic>
        <p:nvPicPr>
          <p:cNvPr id="27" name="Image 0"/>
          <p:cNvPicPr>
            <a:picLocks noChangeAspect="1"/>
          </p:cNvPicPr>
          <p:nvPr/>
        </p:nvPicPr>
        <p:blipFill>
          <a:blip r:embed="rId3"/>
          <a:srcRect/>
          <a:stretch>
            <a:fillRect/>
          </a:stretch>
        </p:blipFill>
        <p:spPr>
          <a:xfrm>
            <a:off x="3154680" y="4187952"/>
            <a:ext cx="658368" cy="658368"/>
          </a:xfrm>
          <a:prstGeom prst="rect">
            <a:avLst/>
          </a:prstGeom>
        </p:spPr>
      </p:pic>
      <p:pic>
        <p:nvPicPr>
          <p:cNvPr id="28" name="Image 1"/>
          <p:cNvPicPr>
            <a:picLocks noChangeAspect="1"/>
          </p:cNvPicPr>
          <p:nvPr/>
        </p:nvPicPr>
        <p:blipFill>
          <a:blip r:embed="rId4"/>
          <a:srcRect t="2314" b="2314"/>
          <a:stretch>
            <a:fillRect/>
          </a:stretch>
        </p:blipFill>
        <p:spPr>
          <a:xfrm>
            <a:off x="4709160" y="4133088"/>
            <a:ext cx="841248" cy="713232"/>
          </a:xfrm>
          <a:prstGeom prst="rect">
            <a:avLst/>
          </a:prstGeom>
        </p:spPr>
      </p:pic>
      <p:pic>
        <p:nvPicPr>
          <p:cNvPr id="29" name="Image 2"/>
          <p:cNvPicPr>
            <a:picLocks noChangeAspect="1"/>
          </p:cNvPicPr>
          <p:nvPr/>
        </p:nvPicPr>
        <p:blipFill>
          <a:blip r:embed="rId5"/>
          <a:srcRect t="3357" b="3357"/>
          <a:stretch>
            <a:fillRect/>
          </a:stretch>
        </p:blipFill>
        <p:spPr>
          <a:xfrm>
            <a:off x="6473952" y="4206240"/>
            <a:ext cx="749808" cy="621792"/>
          </a:xfrm>
          <a:prstGeom prst="rect">
            <a:avLst/>
          </a:prstGeom>
        </p:spPr>
      </p:pic>
      <p:sp>
        <p:nvSpPr>
          <p:cNvPr id="10" name="Shape 5">
            <a:extLst>
              <a:ext uri="{FF2B5EF4-FFF2-40B4-BE49-F238E27FC236}">
                <a16:creationId xmlns:a16="http://schemas.microsoft.com/office/drawing/2014/main" id="{0C3764EE-FB6A-4592-9518-D2CD62CDB4F1}"/>
              </a:ext>
            </a:extLst>
          </p:cNvPr>
          <p:cNvSpPr>
            <a:spLocks noGrp="1"/>
          </p:cNvSpPr>
          <p:nvPr/>
        </p:nvSpPr>
        <p:spPr>
          <a:xfrm>
            <a:off x="3794760" y="4526280"/>
            <a:ext cx="822960" cy="0"/>
          </a:xfrm>
          <a:prstGeom prst="line">
            <a:avLst/>
          </a:prstGeom>
          <a:noFill/>
          <a:ln w="25400">
            <a:solidFill>
              <a:srgbClr val="A5AFBD"/>
            </a:solidFill>
            <a:prstDash val="solid"/>
          </a:ln>
        </p:spPr>
        <p:txBody>
          <a:bodyPr/>
          <a:lstStyle/>
          <a:p>
            <a:endParaRPr/>
          </a:p>
        </p:txBody>
      </p:sp>
      <p:sp>
        <p:nvSpPr>
          <p:cNvPr id="11" name="Shape 6">
            <a:extLst>
              <a:ext uri="{FF2B5EF4-FFF2-40B4-BE49-F238E27FC236}">
                <a16:creationId xmlns:a16="http://schemas.microsoft.com/office/drawing/2014/main" id="{3C9284E0-B9C9-4314-9E87-3B035B107DD8}"/>
              </a:ext>
            </a:extLst>
          </p:cNvPr>
          <p:cNvSpPr>
            <a:spLocks noGrp="1"/>
          </p:cNvSpPr>
          <p:nvPr/>
        </p:nvSpPr>
        <p:spPr>
          <a:xfrm>
            <a:off x="5559552" y="4526280"/>
            <a:ext cx="868680" cy="0"/>
          </a:xfrm>
          <a:prstGeom prst="line">
            <a:avLst/>
          </a:prstGeom>
          <a:noFill/>
          <a:ln w="25400">
            <a:solidFill>
              <a:srgbClr val="A5AFBD"/>
            </a:solidFill>
            <a:prstDash val="solid"/>
          </a:ln>
        </p:spPr>
        <p:txBody>
          <a:bodyPr/>
          <a:lstStyle/>
          <a:p>
            <a:endParaRPr/>
          </a:p>
        </p:txBody>
      </p:sp>
      <p:sp>
        <p:nvSpPr>
          <p:cNvPr id="12" name="Text 7">
            <a:extLst>
              <a:ext uri="{FF2B5EF4-FFF2-40B4-BE49-F238E27FC236}">
                <a16:creationId xmlns:a16="http://schemas.microsoft.com/office/drawing/2014/main" id="{8AD67280-D8CA-43CB-A947-F2084CC4C3E9}"/>
              </a:ext>
            </a:extLst>
          </p:cNvPr>
          <p:cNvSpPr>
            <a:spLocks noGrp="1"/>
          </p:cNvSpPr>
          <p:nvPr/>
        </p:nvSpPr>
        <p:spPr>
          <a:xfrm>
            <a:off x="1965960" y="5879592"/>
            <a:ext cx="8275320" cy="310896"/>
          </a:xfrm>
          <a:prstGeom prst="rect">
            <a:avLst/>
          </a:prstGeom>
          <a:noFill/>
        </p:spPr>
        <p:txBody>
          <a:bodyPr wrap="square" lIns="0" tIns="0" rIns="0" bIns="0" anchor="ctr"/>
          <a:lstStyle/>
          <a:p>
            <a:pPr marL="0" indent="0" algn="ctr">
              <a:buNone/>
              <a:defRPr>
                <a:latin typeface="Noto Sans JP"/>
                <a:ea typeface="Noto Sans JP"/>
                <a:cs typeface="Noto Sans JP"/>
              </a:defRPr>
            </a:pPr>
            <a:r>
              <a:rPr sz="1350">
                <a:solidFill>
                  <a:srgbClr val="687386"/>
                </a:solidFill>
                <a:latin typeface="Noto Sans JP"/>
                <a:ea typeface="Noto Sans JP"/>
                <a:cs typeface="Noto Sans JP"/>
              </a:rPr>
              <a:t>2026年9月18日　電力システム研究室　劉 承洋</a:t>
            </a:r>
            <a:endParaRPr sz="1350"/>
          </a:p>
        </p:txBody>
      </p:sp>
      <p:sp>
        <p:nvSpPr>
          <p:cNvPr id="13" name="Text 8">
            <a:extLst>
              <a:ext uri="{FF2B5EF4-FFF2-40B4-BE49-F238E27FC236}">
                <a16:creationId xmlns:a16="http://schemas.microsoft.com/office/drawing/2014/main" id="{629D9C1E-A471-4334-8B0B-7A56674E348B}"/>
              </a:ext>
            </a:extLst>
          </p:cNvPr>
          <p:cNvSpPr>
            <a:spLocks noGrp="1"/>
          </p:cNvSpPr>
          <p:nvPr/>
        </p:nvSpPr>
        <p:spPr>
          <a:xfrm>
            <a:off x="11064240" y="6510528"/>
            <a:ext cx="685800" cy="182880"/>
          </a:xfrm>
          <a:prstGeom prst="rect">
            <a:avLst/>
          </a:prstGeom>
          <a:noFill/>
        </p:spPr>
        <p:txBody>
          <a:bodyPr wrap="square" lIns="0" tIns="0" rIns="0" bIns="0" anchor="ctr"/>
          <a:lstStyle/>
          <a:p>
            <a:pPr marL="0" indent="0" algn="r">
              <a:buNone/>
              <a:defRPr>
                <a:latin typeface="Noto Sans JP"/>
                <a:ea typeface="Noto Sans JP"/>
                <a:cs typeface="Noto Sans JP"/>
              </a:defRPr>
            </a:pPr>
            <a:r>
              <a:rPr sz="850">
                <a:solidFill>
                  <a:srgbClr val="687386"/>
                </a:solidFill>
                <a:latin typeface="Noto Sans JP"/>
                <a:ea typeface="Noto Sans JP"/>
                <a:cs typeface="Noto Sans JP"/>
              </a:rPr>
              <a:t>1/24</a:t>
            </a:r>
            <a:endParaRPr sz="850"/>
          </a:p>
        </p:txBody>
      </p:sp>
      <p:sp>
        <p:nvSpPr>
          <p:cNvPr id="17" name="正方形/長方形 16">
            <a:extLst>
              <a:ext uri="{FF2B5EF4-FFF2-40B4-BE49-F238E27FC236}">
                <a16:creationId xmlns:a16="http://schemas.microsoft.com/office/drawing/2014/main" id="{3705F59F-D147-417E-B9A0-7925331D4ABB}"/>
              </a:ext>
            </a:extLst>
          </p:cNvPr>
          <p:cNvSpPr>
            <a:spLocks noGrp="1"/>
          </p:cNvSpPr>
          <p:nvPr/>
        </p:nvSpPr>
        <p:spPr>
          <a:xfrm>
            <a:off x="666750" y="5238750"/>
            <a:ext cx="10858500" cy="428625"/>
          </a:xfrm>
          <a:prstGeom prst="rect">
            <a:avLst/>
          </a:prstGeom>
          <a:noFill/>
          <a:ln w="0">
            <a:noFill/>
          </a:ln>
        </p:spPr>
        <p:txBody>
          <a:bodyPr>
            <a:noAutofit/>
          </a:bodyPr>
          <a:lstStyle/>
          <a:p>
            <a:pPr>
              <a:buNone/>
              <a:defRPr sz="1725" b="1">
                <a:solidFill>
                  <a:srgbClr val="159A8C"/>
                </a:solidFill>
                <a:latin typeface="Noto Sans JP"/>
                <a:ea typeface="Noto Sans JP"/>
                <a:cs typeface="Noto Sans JP"/>
              </a:defRPr>
            </a:pPr>
            <a:r>
              <a:rPr sz="1725" b="1">
                <a:solidFill>
                  <a:srgbClr val="159A8C"/>
                </a:solidFill>
                <a:latin typeface="Noto Sans JP"/>
                <a:ea typeface="Noto Sans JP"/>
                <a:cs typeface="Noto Sans JP"/>
              </a:rPr>
              <a:t>運行条件を揃えた比較から、3月・11月の違いを説明する</a:t>
            </a:r>
          </a:p>
        </p:txBody>
      </p:sp>
      <p:sp>
        <p:nvSpPr>
          <p:cNvPr id="18" name="正方形/長方形 17">
            <a:extLst>
              <a:ext uri="{FF2B5EF4-FFF2-40B4-BE49-F238E27FC236}">
                <a16:creationId xmlns:a16="http://schemas.microsoft.com/office/drawing/2014/main" id="{A42EBFBC-C08E-4622-A822-5E19D922486D}"/>
              </a:ext>
            </a:extLst>
          </p:cNvPr>
          <p:cNvSpPr>
            <a:spLocks noGrp="1"/>
          </p:cNvSpPr>
          <p:nvPr/>
        </p:nvSpPr>
        <p:spPr>
          <a:xfrm>
            <a:off x="571500" y="6667500"/>
            <a:ext cx="11049000" cy="171450"/>
          </a:xfrm>
          <a:prstGeom prst="rect">
            <a:avLst/>
          </a:prstGeom>
          <a:noFill/>
          <a:ln w="0">
            <a:noFill/>
          </a:ln>
        </p:spPr>
        <p:txBody>
          <a:bodyPr>
            <a:noAutofit/>
          </a:bodyPr>
          <a:lstStyle/>
          <a:p>
            <a:pPr>
              <a:buNone/>
              <a:defRPr sz="1050" b="0">
                <a:solidFill>
                  <a:srgbClr val="BA4F50"/>
                </a:solidFill>
                <a:latin typeface="Noto Sans JP"/>
                <a:ea typeface="Noto Sans JP"/>
                <a:cs typeface="Noto Sans JP"/>
              </a:defRPr>
            </a:pPr>
            <a:r>
              <a:rPr sz="1050" b="0">
                <a:solidFill>
                  <a:srgbClr val="BA4F50"/>
                </a:solidFill>
                <a:latin typeface="Noto Sans JP"/>
                <a:ea typeface="Noto Sans JP"/>
                <a:cs typeface="Noto Sans JP"/>
              </a:rPr>
              <a:t>診断結果 ／ 計算上の整合を確認。手法の優位性・最適性は追加検証が必要</a:t>
            </a:r>
          </a:p>
        </p:txBody>
      </p:sp>
    </p:spTree>
    <p:extLst>
      <p:ext uri="{BB962C8B-B14F-4D97-AF65-F5344CB8AC3E}">
        <p14:creationId xmlns:p14="http://schemas.microsoft.com/office/powerpoint/2010/main" val="10645890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13" name="正方形/長方形 12">
            <a:extLst>
              <a:ext uri="{FF2B5EF4-FFF2-40B4-BE49-F238E27FC236}">
                <a16:creationId xmlns:a16="http://schemas.microsoft.com/office/drawing/2014/main" id="{856176B5-0615-4CFF-AB03-D8FA5F35AA3B}"/>
              </a:ext>
            </a:extLst>
          </p:cNvPr>
          <p:cNvSpPr>
            <a:spLocks noGrp="1"/>
          </p:cNvSpPr>
          <p:nvPr/>
        </p:nvSpPr>
        <p:spPr>
          <a:xfrm>
            <a:off x="419100" y="228600"/>
            <a:ext cx="11353800" cy="609600"/>
          </a:xfrm>
          <a:prstGeom prst="rect">
            <a:avLst/>
          </a:prstGeom>
          <a:noFill/>
          <a:ln w="0">
            <a:noFill/>
          </a:ln>
        </p:spPr>
        <p:txBody>
          <a:bodyPr>
            <a:noAutofit/>
          </a:bodyPr>
          <a:lstStyle/>
          <a:p>
            <a:pPr>
              <a:defRPr sz="2625" b="1">
                <a:solidFill>
                  <a:srgbClr val="202B58"/>
                </a:solidFill>
                <a:latin typeface="Noto Sans JP"/>
                <a:ea typeface="Noto Sans JP"/>
                <a:cs typeface="Noto Sans JP"/>
              </a:defRPr>
            </a:pPr>
            <a:r>
              <a:rPr sz="2625" b="1">
                <a:solidFill>
                  <a:srgbClr val="202B58"/>
                </a:solidFill>
                <a:latin typeface="Noto Sans JP"/>
                <a:ea typeface="Noto Sans JP"/>
                <a:cs typeface="Noto Sans JP"/>
              </a:rPr>
              <a:t>研究の目的と今回確かめること</a:t>
            </a:r>
          </a:p>
        </p:txBody>
      </p:sp>
      <p:sp>
        <p:nvSpPr>
          <p:cNvPr id="2" name="正方形/長方形 1">
            <a:extLst>
              <a:ext uri="{FF2B5EF4-FFF2-40B4-BE49-F238E27FC236}">
                <a16:creationId xmlns:a16="http://schemas.microsoft.com/office/drawing/2014/main" id="{ED617C59-C32E-46BA-B93E-87BEB836B28A}"/>
              </a:ext>
            </a:extLst>
          </p:cNvPr>
          <p:cNvSpPr>
            <a:spLocks noGrp="1"/>
          </p:cNvSpPr>
          <p:nvPr/>
        </p:nvSpPr>
        <p:spPr>
          <a:xfrm>
            <a:off x="571500" y="981075"/>
            <a:ext cx="11049000" cy="590550"/>
          </a:xfrm>
          <a:prstGeom prst="rect">
            <a:avLst/>
          </a:prstGeom>
          <a:noFill/>
          <a:ln w="0">
            <a:noFill/>
          </a:ln>
        </p:spPr>
        <p:txBody>
          <a:bodyPr>
            <a:noAutofit/>
          </a:bodyPr>
          <a:lstStyle/>
          <a:p>
            <a:pPr>
              <a:defRPr sz="1725" b="0">
                <a:solidFill>
                  <a:srgbClr val="59687B"/>
                </a:solidFill>
                <a:latin typeface="Noto Sans JP"/>
                <a:ea typeface="Noto Sans JP"/>
                <a:cs typeface="Noto Sans JP"/>
              </a:defRPr>
            </a:pPr>
            <a:r>
              <a:rPr sz="1725" b="0">
                <a:solidFill>
                  <a:srgbClr val="59687B"/>
                </a:solidFill>
                <a:latin typeface="Noto Sans JP"/>
                <a:ea typeface="Noto Sans JP"/>
                <a:cs typeface="Noto Sans JP"/>
              </a:rPr>
              <a:t>便の運行と、車両・電力の使い方を一緒に考える</a:t>
            </a:r>
          </a:p>
        </p:txBody>
      </p:sp>
      <p:sp>
        <p:nvSpPr>
          <p:cNvPr id="3" name="正方形/長方形 2">
            <a:extLst>
              <a:ext uri="{FF2B5EF4-FFF2-40B4-BE49-F238E27FC236}">
                <a16:creationId xmlns:a16="http://schemas.microsoft.com/office/drawing/2014/main" id="{6B9CF675-7682-489C-A67E-63312A07605F}"/>
              </a:ext>
            </a:extLst>
          </p:cNvPr>
          <p:cNvSpPr>
            <a:spLocks noGrp="1"/>
          </p:cNvSpPr>
          <p:nvPr/>
        </p:nvSpPr>
        <p:spPr>
          <a:xfrm>
            <a:off x="571500" y="5638800"/>
            <a:ext cx="11049000" cy="56197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今回の報告では、運行成立と費用差の内訳までを確認する</a:t>
            </a:r>
          </a:p>
        </p:txBody>
      </p:sp>
      <p:sp>
        <p:nvSpPr>
          <p:cNvPr id="5" name="正方形/長方形 4">
            <a:extLst>
              <a:ext uri="{FF2B5EF4-FFF2-40B4-BE49-F238E27FC236}">
                <a16:creationId xmlns:a16="http://schemas.microsoft.com/office/drawing/2014/main" id="{6DD0CAA7-7015-4A99-8D62-38F6234C1E14}"/>
              </a:ext>
            </a:extLst>
          </p:cNvPr>
          <p:cNvSpPr>
            <a:spLocks noGrp="1"/>
          </p:cNvSpPr>
          <p:nvPr/>
        </p:nvSpPr>
        <p:spPr>
          <a:xfrm>
            <a:off x="419100" y="6638925"/>
            <a:ext cx="10096500" cy="180975"/>
          </a:xfrm>
          <a:prstGeom prst="rect">
            <a:avLst/>
          </a:prstGeom>
          <a:noFill/>
          <a:ln w="0">
            <a:noFill/>
          </a:ln>
        </p:spPr>
        <p:txBody>
          <a:bodyPr>
            <a:noAutofit/>
          </a:bodyPr>
          <a:lstStyle/>
          <a:p>
            <a:pPr>
              <a:defRPr sz="900" b="0">
                <a:solidFill>
                  <a:srgbClr val="59687B"/>
                </a:solidFill>
                <a:latin typeface="Noto Sans JP"/>
                <a:ea typeface="Noto Sans JP"/>
                <a:cs typeface="Noto Sans JP"/>
              </a:defRPr>
            </a:pPr>
            <a:r>
              <a:rPr sz="900" b="0">
                <a:solidFill>
                  <a:srgbClr val="59687B"/>
                </a:solidFill>
                <a:latin typeface="Noto Sans JP"/>
                <a:ea typeface="Noto Sans JP"/>
                <a:cs typeface="Noto Sans JP"/>
              </a:rPr>
              <a:t>修士研究　2026年9月18日　／　月別12週のシミュレーション（診断結果）</a:t>
            </a:r>
          </a:p>
        </p:txBody>
      </p:sp>
      <p:sp>
        <p:nvSpPr>
          <p:cNvPr id="6" name="正方形/長方形 5">
            <a:extLst>
              <a:ext uri="{FF2B5EF4-FFF2-40B4-BE49-F238E27FC236}">
                <a16:creationId xmlns:a16="http://schemas.microsoft.com/office/drawing/2014/main" id="{3919106A-694F-42EC-9428-1FF48DFD9886}"/>
              </a:ext>
            </a:extLst>
          </p:cNvPr>
          <p:cNvSpPr>
            <a:spLocks noGrp="1"/>
          </p:cNvSpPr>
          <p:nvPr/>
        </p:nvSpPr>
        <p:spPr>
          <a:xfrm>
            <a:off x="11144250" y="6610350"/>
            <a:ext cx="628650" cy="228600"/>
          </a:xfrm>
          <a:prstGeom prst="rect">
            <a:avLst/>
          </a:prstGeom>
          <a:noFill/>
          <a:ln w="0">
            <a:noFill/>
          </a:ln>
        </p:spPr>
        <p:txBody>
          <a:bodyPr>
            <a:noAutofit/>
          </a:bodyPr>
          <a:lstStyle/>
          <a:p>
            <a:pPr>
              <a:defRPr sz="1050" b="0">
                <a:solidFill>
                  <a:srgbClr val="59687B"/>
                </a:solidFill>
                <a:latin typeface="Noto Sans JP"/>
                <a:ea typeface="Noto Sans JP"/>
                <a:cs typeface="Noto Sans JP"/>
              </a:defRPr>
            </a:pPr>
            <a:r>
              <a:rPr sz="1050" b="0">
                <a:solidFill>
                  <a:srgbClr val="59687B"/>
                </a:solidFill>
                <a:latin typeface="Noto Sans JP"/>
                <a:ea typeface="Noto Sans JP"/>
                <a:cs typeface="Noto Sans JP"/>
              </a:rPr>
              <a:t>2/24</a:t>
            </a:r>
          </a:p>
        </p:txBody>
      </p:sp>
      <p:sp>
        <p:nvSpPr>
          <p:cNvPr id="7" name="正方形/長方形 6">
            <a:extLst>
              <a:ext uri="{FF2B5EF4-FFF2-40B4-BE49-F238E27FC236}">
                <a16:creationId xmlns:a16="http://schemas.microsoft.com/office/drawing/2014/main" id="{D842A6E5-48F5-4D51-9A9A-E47BA4DDB650}"/>
              </a:ext>
            </a:extLst>
          </p:cNvPr>
          <p:cNvSpPr>
            <a:spLocks noGrp="1"/>
          </p:cNvSpPr>
          <p:nvPr/>
        </p:nvSpPr>
        <p:spPr>
          <a:xfrm>
            <a:off x="704850" y="1781175"/>
            <a:ext cx="10477500" cy="419100"/>
          </a:xfrm>
          <a:prstGeom prst="rect">
            <a:avLst/>
          </a:prstGeom>
          <a:noFill/>
          <a:ln w="0">
            <a:noFill/>
          </a:ln>
        </p:spPr>
        <p:txBody>
          <a:bodyPr>
            <a:noAutofit/>
          </a:bodyPr>
          <a:lstStyle/>
          <a:p>
            <a:pPr>
              <a:defRPr sz="2100" b="1">
                <a:solidFill>
                  <a:srgbClr val="202B58"/>
                </a:solidFill>
                <a:latin typeface="Noto Sans JP"/>
                <a:ea typeface="Noto Sans JP"/>
                <a:cs typeface="Noto Sans JP"/>
              </a:defRPr>
            </a:pPr>
            <a:r>
              <a:rPr sz="2100" b="1" dirty="0" err="1">
                <a:solidFill>
                  <a:srgbClr val="202B58"/>
                </a:solidFill>
                <a:latin typeface="Noto Sans JP"/>
                <a:ea typeface="Noto Sans JP"/>
                <a:cs typeface="Noto Sans JP"/>
              </a:rPr>
              <a:t>研究の目的</a:t>
            </a:r>
            <a:endParaRPr sz="2100" b="1" dirty="0">
              <a:solidFill>
                <a:srgbClr val="202B58"/>
              </a:solidFill>
              <a:latin typeface="Noto Sans JP"/>
              <a:ea typeface="Noto Sans JP"/>
              <a:cs typeface="Noto Sans JP"/>
            </a:endParaRPr>
          </a:p>
        </p:txBody>
      </p:sp>
      <p:sp>
        <p:nvSpPr>
          <p:cNvPr id="8" name="正方形/長方形 7">
            <a:extLst>
              <a:ext uri="{FF2B5EF4-FFF2-40B4-BE49-F238E27FC236}">
                <a16:creationId xmlns:a16="http://schemas.microsoft.com/office/drawing/2014/main" id="{2D58FFCF-EB39-488F-A515-037B0421005F}"/>
              </a:ext>
            </a:extLst>
          </p:cNvPr>
          <p:cNvSpPr>
            <a:spLocks noGrp="1"/>
          </p:cNvSpPr>
          <p:nvPr/>
        </p:nvSpPr>
        <p:spPr>
          <a:xfrm>
            <a:off x="704850" y="2314575"/>
            <a:ext cx="10668000" cy="476250"/>
          </a:xfrm>
          <a:prstGeom prst="rect">
            <a:avLst/>
          </a:prstGeom>
          <a:noFill/>
          <a:ln w="0">
            <a:noFill/>
          </a:ln>
        </p:spPr>
        <p:txBody>
          <a:bodyPr>
            <a:noAutofit/>
          </a:bodyPr>
          <a:lstStyle/>
          <a:p>
            <a:pPr>
              <a:defRPr sz="1950" b="0">
                <a:solidFill>
                  <a:srgbClr val="202B58"/>
                </a:solidFill>
                <a:latin typeface="Noto Sans JP"/>
                <a:ea typeface="Noto Sans JP"/>
                <a:cs typeface="Noto Sans JP"/>
              </a:defRPr>
            </a:pPr>
            <a:r>
              <a:rPr sz="1950" b="0">
                <a:solidFill>
                  <a:srgbClr val="202B58"/>
                </a:solidFill>
                <a:latin typeface="Noto Sans JP"/>
                <a:ea typeface="Noto Sans JP"/>
                <a:cs typeface="Noto Sans JP"/>
              </a:rPr>
              <a:t>全便運行を守り、配車・充電・電源の使い方から費用を抑える。</a:t>
            </a:r>
          </a:p>
        </p:txBody>
      </p:sp>
      <p:sp>
        <p:nvSpPr>
          <p:cNvPr id="9" name="正方形/長方形 8">
            <a:extLst>
              <a:ext uri="{FF2B5EF4-FFF2-40B4-BE49-F238E27FC236}">
                <a16:creationId xmlns:a16="http://schemas.microsoft.com/office/drawing/2014/main" id="{0D612D1B-E96C-4974-9CF6-EDBA2DB41EAB}"/>
              </a:ext>
            </a:extLst>
          </p:cNvPr>
          <p:cNvSpPr>
            <a:spLocks noGrp="1"/>
          </p:cNvSpPr>
          <p:nvPr/>
        </p:nvSpPr>
        <p:spPr>
          <a:xfrm>
            <a:off x="704850" y="3095625"/>
            <a:ext cx="10477500" cy="419100"/>
          </a:xfrm>
          <a:prstGeom prst="rect">
            <a:avLst/>
          </a:prstGeom>
          <a:noFill/>
          <a:ln w="0">
            <a:noFill/>
          </a:ln>
        </p:spPr>
        <p:txBody>
          <a:bodyPr>
            <a:noAutofit/>
          </a:bodyPr>
          <a:lstStyle/>
          <a:p>
            <a:pPr>
              <a:defRPr sz="2100" b="1">
                <a:solidFill>
                  <a:srgbClr val="316DB6"/>
                </a:solidFill>
                <a:latin typeface="Noto Sans JP"/>
                <a:ea typeface="Noto Sans JP"/>
                <a:cs typeface="Noto Sans JP"/>
              </a:defRPr>
            </a:pPr>
            <a:r>
              <a:rPr sz="2100" b="1">
                <a:solidFill>
                  <a:srgbClr val="316DB6"/>
                </a:solidFill>
                <a:latin typeface="Noto Sans JP"/>
                <a:ea typeface="Noto Sans JP"/>
                <a:cs typeface="Noto Sans JP"/>
              </a:rPr>
              <a:t>今回の実験</a:t>
            </a:r>
          </a:p>
        </p:txBody>
      </p:sp>
      <p:sp>
        <p:nvSpPr>
          <p:cNvPr id="10" name="正方形/長方形 9">
            <a:extLst>
              <a:ext uri="{FF2B5EF4-FFF2-40B4-BE49-F238E27FC236}">
                <a16:creationId xmlns:a16="http://schemas.microsoft.com/office/drawing/2014/main" id="{1B5C278C-E67B-4E73-89FA-B11C0C1D8CE8}"/>
              </a:ext>
            </a:extLst>
          </p:cNvPr>
          <p:cNvSpPr>
            <a:spLocks noGrp="1"/>
          </p:cNvSpPr>
          <p:nvPr/>
        </p:nvSpPr>
        <p:spPr>
          <a:xfrm>
            <a:off x="704850" y="3629025"/>
            <a:ext cx="10668000" cy="476250"/>
          </a:xfrm>
          <a:prstGeom prst="rect">
            <a:avLst/>
          </a:prstGeom>
          <a:noFill/>
          <a:ln w="0">
            <a:noFill/>
          </a:ln>
        </p:spPr>
        <p:txBody>
          <a:bodyPr>
            <a:noAutofit/>
          </a:bodyPr>
          <a:lstStyle/>
          <a:p>
            <a:pPr>
              <a:defRPr sz="1950" b="0">
                <a:solidFill>
                  <a:srgbClr val="202B58"/>
                </a:solidFill>
                <a:latin typeface="Noto Sans JP"/>
                <a:ea typeface="Noto Sans JP"/>
                <a:cs typeface="Noto Sans JP"/>
              </a:defRPr>
            </a:pPr>
            <a:r>
              <a:rPr sz="1950" b="0">
                <a:solidFill>
                  <a:srgbClr val="202B58"/>
                </a:solidFill>
                <a:latin typeface="Noto Sans JP"/>
                <a:ea typeface="Noto Sans JP"/>
                <a:cs typeface="Noto Sans JP"/>
              </a:rPr>
              <a:t>各月から曜日構成が同じ1週を選び、12週の運用を計算する。</a:t>
            </a:r>
          </a:p>
        </p:txBody>
      </p:sp>
      <p:sp>
        <p:nvSpPr>
          <p:cNvPr id="11" name="正方形/長方形 10">
            <a:extLst>
              <a:ext uri="{FF2B5EF4-FFF2-40B4-BE49-F238E27FC236}">
                <a16:creationId xmlns:a16="http://schemas.microsoft.com/office/drawing/2014/main" id="{0A749472-573E-4732-BF32-FB68168D3007}"/>
              </a:ext>
            </a:extLst>
          </p:cNvPr>
          <p:cNvSpPr>
            <a:spLocks noGrp="1"/>
          </p:cNvSpPr>
          <p:nvPr/>
        </p:nvSpPr>
        <p:spPr>
          <a:xfrm>
            <a:off x="704850" y="4419600"/>
            <a:ext cx="10477500" cy="419100"/>
          </a:xfrm>
          <a:prstGeom prst="rect">
            <a:avLst/>
          </a:prstGeom>
          <a:noFill/>
          <a:ln w="0">
            <a:noFill/>
          </a:ln>
        </p:spPr>
        <p:txBody>
          <a:bodyPr>
            <a:noAutofit/>
          </a:bodyPr>
          <a:lstStyle/>
          <a:p>
            <a:pPr>
              <a:defRPr sz="2100" b="1">
                <a:solidFill>
                  <a:srgbClr val="316DB6"/>
                </a:solidFill>
                <a:latin typeface="Noto Sans JP"/>
                <a:ea typeface="Noto Sans JP"/>
                <a:cs typeface="Noto Sans JP"/>
              </a:defRPr>
            </a:pPr>
            <a:r>
              <a:rPr sz="2100" b="1">
                <a:solidFill>
                  <a:srgbClr val="316DB6"/>
                </a:solidFill>
                <a:latin typeface="Noto Sans JP"/>
                <a:ea typeface="Noto Sans JP"/>
                <a:cs typeface="Noto Sans JP"/>
              </a:rPr>
              <a:t>今回の問い</a:t>
            </a:r>
          </a:p>
        </p:txBody>
      </p:sp>
      <p:sp>
        <p:nvSpPr>
          <p:cNvPr id="12" name="正方形/長方形 11">
            <a:extLst>
              <a:ext uri="{FF2B5EF4-FFF2-40B4-BE49-F238E27FC236}">
                <a16:creationId xmlns:a16="http://schemas.microsoft.com/office/drawing/2014/main" id="{FF8C8764-52C6-4615-BCB3-C7453EC96A63}"/>
              </a:ext>
            </a:extLst>
          </p:cNvPr>
          <p:cNvSpPr>
            <a:spLocks noGrp="1"/>
          </p:cNvSpPr>
          <p:nvPr/>
        </p:nvSpPr>
        <p:spPr>
          <a:xfrm>
            <a:off x="704850" y="4953000"/>
            <a:ext cx="10668000" cy="476250"/>
          </a:xfrm>
          <a:prstGeom prst="rect">
            <a:avLst/>
          </a:prstGeom>
          <a:noFill/>
          <a:ln w="0">
            <a:noFill/>
          </a:ln>
        </p:spPr>
        <p:txBody>
          <a:bodyPr>
            <a:noAutofit/>
          </a:bodyPr>
          <a:lstStyle/>
          <a:p>
            <a:pPr>
              <a:defRPr sz="1950" b="0">
                <a:solidFill>
                  <a:srgbClr val="202B58"/>
                </a:solidFill>
                <a:latin typeface="Noto Sans JP"/>
                <a:ea typeface="Noto Sans JP"/>
                <a:cs typeface="Noto Sans JP"/>
              </a:defRPr>
            </a:pPr>
            <a:r>
              <a:rPr sz="1950" b="0">
                <a:solidFill>
                  <a:srgbClr val="202B58"/>
                </a:solidFill>
                <a:latin typeface="Noto Sans JP"/>
                <a:ea typeface="Noto Sans JP"/>
                <a:cs typeface="Noto Sans JP"/>
              </a:rPr>
              <a:t>週間購入電力量と受電ピークが、週間費用の差とどう関係するか。</a:t>
            </a:r>
          </a:p>
        </p:txBody>
      </p:sp>
    </p:spTree>
    <p:extLst>
      <p:ext uri="{BB962C8B-B14F-4D97-AF65-F5344CB8AC3E}">
        <p14:creationId xmlns:p14="http://schemas.microsoft.com/office/powerpoint/2010/main" val="20067820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BDBC1159-FEFF-4F7B-B7A4-A259E17F6BA9}"/>
              </a:ext>
            </a:extLst>
          </p:cNvPr>
          <p:cNvSpPr>
            <a:spLocks noGrp="1"/>
          </p:cNvSpPr>
          <p:nvPr/>
        </p:nvSpPr>
        <p:spPr>
          <a:xfrm>
            <a:off x="419100" y="228600"/>
            <a:ext cx="11353800" cy="609600"/>
          </a:xfrm>
          <a:prstGeom prst="rect">
            <a:avLst/>
          </a:prstGeom>
          <a:noFill/>
          <a:ln w="0">
            <a:noFill/>
          </a:ln>
        </p:spPr>
        <p:txBody>
          <a:bodyPr>
            <a:noAutofit/>
          </a:bodyPr>
          <a:lstStyle/>
          <a:p>
            <a:pPr>
              <a:defRPr sz="2625" b="1">
                <a:solidFill>
                  <a:srgbClr val="202B58"/>
                </a:solidFill>
                <a:latin typeface="Noto Sans JP"/>
                <a:ea typeface="Noto Sans JP"/>
                <a:cs typeface="Noto Sans JP"/>
              </a:defRPr>
            </a:pPr>
            <a:r>
              <a:rPr sz="2625" b="1">
                <a:solidFill>
                  <a:srgbClr val="202B58"/>
                </a:solidFill>
                <a:latin typeface="Noto Sans JP"/>
                <a:ea typeface="Noto Sans JP"/>
                <a:cs typeface="Noto Sans JP"/>
              </a:rPr>
              <a:t>対象システムと用語</a:t>
            </a:r>
          </a:p>
        </p:txBody>
      </p:sp>
      <p:sp>
        <p:nvSpPr>
          <p:cNvPr id="2" name="正方形/長方形 1">
            <a:extLst>
              <a:ext uri="{FF2B5EF4-FFF2-40B4-BE49-F238E27FC236}">
                <a16:creationId xmlns:a16="http://schemas.microsoft.com/office/drawing/2014/main" id="{7C90C6E3-9DBA-4987-8344-C045429B138A}"/>
              </a:ext>
            </a:extLst>
          </p:cNvPr>
          <p:cNvSpPr>
            <a:spLocks noGrp="1"/>
          </p:cNvSpPr>
          <p:nvPr/>
        </p:nvSpPr>
        <p:spPr>
          <a:xfrm>
            <a:off x="571500" y="981075"/>
            <a:ext cx="11049000" cy="590550"/>
          </a:xfrm>
          <a:prstGeom prst="rect">
            <a:avLst/>
          </a:prstGeom>
          <a:noFill/>
          <a:ln w="0">
            <a:noFill/>
          </a:ln>
        </p:spPr>
        <p:txBody>
          <a:bodyPr>
            <a:noAutofit/>
          </a:bodyPr>
          <a:lstStyle/>
          <a:p>
            <a:pPr>
              <a:defRPr sz="1725" b="0">
                <a:solidFill>
                  <a:srgbClr val="59687B"/>
                </a:solidFill>
                <a:latin typeface="Noto Sans JP"/>
                <a:ea typeface="Noto Sans JP"/>
                <a:cs typeface="Noto Sans JP"/>
              </a:defRPr>
            </a:pPr>
            <a:r>
              <a:rPr sz="1725" b="0">
                <a:solidFill>
                  <a:srgbClr val="59687B"/>
                </a:solidFill>
                <a:latin typeface="Noto Sans JP"/>
                <a:ea typeface="Noto Sans JP"/>
                <a:cs typeface="Noto Sans JP"/>
              </a:rPr>
              <a:t>弦巻営業所の渋21・渋22・渋23をまとめたシミュレーション</a:t>
            </a:r>
          </a:p>
        </p:txBody>
      </p:sp>
      <p:sp>
        <p:nvSpPr>
          <p:cNvPr id="3" name="正方形/長方形 2">
            <a:extLst>
              <a:ext uri="{FF2B5EF4-FFF2-40B4-BE49-F238E27FC236}">
                <a16:creationId xmlns:a16="http://schemas.microsoft.com/office/drawing/2014/main" id="{59386718-0CAE-4CCC-B0DE-7D334E87B942}"/>
              </a:ext>
            </a:extLst>
          </p:cNvPr>
          <p:cNvSpPr>
            <a:spLocks noGrp="1"/>
          </p:cNvSpPr>
          <p:nvPr/>
        </p:nvSpPr>
        <p:spPr>
          <a:xfrm>
            <a:off x="571500" y="5638800"/>
            <a:ext cx="11049000" cy="56197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電気バスの充電には、太陽光・蓄電池・系統からの電力を使う</a:t>
            </a:r>
          </a:p>
        </p:txBody>
      </p:sp>
      <p:sp>
        <p:nvSpPr>
          <p:cNvPr id="5" name="正方形/長方形 4">
            <a:extLst>
              <a:ext uri="{FF2B5EF4-FFF2-40B4-BE49-F238E27FC236}">
                <a16:creationId xmlns:a16="http://schemas.microsoft.com/office/drawing/2014/main" id="{495B7614-5BA8-435B-8F7B-DA8016786CE9}"/>
              </a:ext>
            </a:extLst>
          </p:cNvPr>
          <p:cNvSpPr>
            <a:spLocks noGrp="1"/>
          </p:cNvSpPr>
          <p:nvPr/>
        </p:nvSpPr>
        <p:spPr>
          <a:xfrm>
            <a:off x="419100" y="6638925"/>
            <a:ext cx="10096500" cy="180975"/>
          </a:xfrm>
          <a:prstGeom prst="rect">
            <a:avLst/>
          </a:prstGeom>
          <a:noFill/>
          <a:ln w="0">
            <a:noFill/>
          </a:ln>
        </p:spPr>
        <p:txBody>
          <a:bodyPr>
            <a:noAutofit/>
          </a:bodyPr>
          <a:lstStyle/>
          <a:p>
            <a:pPr>
              <a:defRPr sz="900" b="0">
                <a:solidFill>
                  <a:srgbClr val="59687B"/>
                </a:solidFill>
                <a:latin typeface="Noto Sans JP"/>
                <a:ea typeface="Noto Sans JP"/>
                <a:cs typeface="Noto Sans JP"/>
              </a:defRPr>
            </a:pPr>
            <a:r>
              <a:rPr sz="900" b="0">
                <a:solidFill>
                  <a:srgbClr val="59687B"/>
                </a:solidFill>
                <a:latin typeface="Noto Sans JP"/>
                <a:ea typeface="Noto Sans JP"/>
                <a:cs typeface="Noto Sans JP"/>
              </a:rPr>
              <a:t>修士研究　2026年9月18日　／　月別12週のシミュレーション（診断結果）</a:t>
            </a:r>
          </a:p>
        </p:txBody>
      </p:sp>
      <p:sp>
        <p:nvSpPr>
          <p:cNvPr id="6" name="正方形/長方形 5">
            <a:extLst>
              <a:ext uri="{FF2B5EF4-FFF2-40B4-BE49-F238E27FC236}">
                <a16:creationId xmlns:a16="http://schemas.microsoft.com/office/drawing/2014/main" id="{CBD2CB3A-E745-4047-9E14-26D6D921453C}"/>
              </a:ext>
            </a:extLst>
          </p:cNvPr>
          <p:cNvSpPr>
            <a:spLocks noGrp="1"/>
          </p:cNvSpPr>
          <p:nvPr/>
        </p:nvSpPr>
        <p:spPr>
          <a:xfrm>
            <a:off x="11144250" y="6610350"/>
            <a:ext cx="628650" cy="228600"/>
          </a:xfrm>
          <a:prstGeom prst="rect">
            <a:avLst/>
          </a:prstGeom>
          <a:noFill/>
          <a:ln w="0">
            <a:noFill/>
          </a:ln>
        </p:spPr>
        <p:txBody>
          <a:bodyPr>
            <a:noAutofit/>
          </a:bodyPr>
          <a:lstStyle/>
          <a:p>
            <a:pPr>
              <a:defRPr sz="1050" b="0">
                <a:solidFill>
                  <a:srgbClr val="59687B"/>
                </a:solidFill>
                <a:latin typeface="Noto Sans JP"/>
                <a:ea typeface="Noto Sans JP"/>
                <a:cs typeface="Noto Sans JP"/>
              </a:defRPr>
            </a:pPr>
            <a:r>
              <a:rPr sz="1050" b="0">
                <a:solidFill>
                  <a:srgbClr val="59687B"/>
                </a:solidFill>
                <a:latin typeface="Noto Sans JP"/>
                <a:ea typeface="Noto Sans JP"/>
                <a:cs typeface="Noto Sans JP"/>
              </a:rPr>
              <a:t>3/24</a:t>
            </a:r>
          </a:p>
        </p:txBody>
      </p:sp>
      <p:graphicFrame>
        <p:nvGraphicFramePr>
          <p:cNvPr id="14" name="表 13"/>
          <p:cNvGraphicFramePr/>
          <p:nvPr/>
        </p:nvGraphicFramePr>
        <p:xfrm>
          <a:off x="571500" y="1695450"/>
          <a:ext cx="11049000" cy="3714750"/>
        </p:xfrm>
        <a:graphic>
          <a:graphicData uri="http://schemas.openxmlformats.org/drawingml/2006/table">
            <a:tbl>
              <a:tblPr/>
              <a:tblGrid>
                <a:gridCol w="2143125">
                  <a:extLst>
                    <a:ext uri="{9D8B030D-6E8A-4147-A177-3AD203B41FA5}">
                      <a16:colId xmlns:a16="http://schemas.microsoft.com/office/drawing/2014/main" val="20000"/>
                    </a:ext>
                  </a:extLst>
                </a:gridCol>
                <a:gridCol w="4000500">
                  <a:extLst>
                    <a:ext uri="{9D8B030D-6E8A-4147-A177-3AD203B41FA5}">
                      <a16:colId xmlns:a16="http://schemas.microsoft.com/office/drawing/2014/main" val="20001"/>
                    </a:ext>
                  </a:extLst>
                </a:gridCol>
                <a:gridCol w="4905375">
                  <a:extLst>
                    <a:ext uri="{9D8B030D-6E8A-4147-A177-3AD203B41FA5}">
                      <a16:colId xmlns:a16="http://schemas.microsoft.com/office/drawing/2014/main" val="20002"/>
                    </a:ext>
                  </a:extLst>
                </a:gridCol>
              </a:tblGrid>
              <a:tr h="619125">
                <a:tc>
                  <a:txBody>
                    <a:bodyPr/>
                    <a:lstStyle/>
                    <a:p>
                      <a:r>
                        <a:rPr sz="1725" b="1">
                          <a:solidFill>
                            <a:srgbClr val="FFFFFF"/>
                          </a:solidFill>
                          <a:latin typeface="Noto Sans JP"/>
                          <a:ea typeface="Noto Sans JP"/>
                          <a:cs typeface="Noto Sans JP"/>
                        </a:rPr>
                        <a:t>名称</a:t>
                      </a:r>
                    </a:p>
                  </a:txBody>
                  <a:tcPr>
                    <a:solidFill>
                      <a:srgbClr val="202B58"/>
                    </a:solidFill>
                  </a:tcPr>
                </a:tc>
                <a:tc>
                  <a:txBody>
                    <a:bodyPr/>
                    <a:lstStyle/>
                    <a:p>
                      <a:r>
                        <a:rPr sz="1725" b="1">
                          <a:solidFill>
                            <a:srgbClr val="FFFFFF"/>
                          </a:solidFill>
                          <a:latin typeface="Noto Sans JP"/>
                          <a:ea typeface="Noto Sans JP"/>
                          <a:cs typeface="Noto Sans JP"/>
                        </a:rPr>
                        <a:t>意味</a:t>
                      </a:r>
                    </a:p>
                  </a:txBody>
                  <a:tcPr>
                    <a:solidFill>
                      <a:srgbClr val="202B58"/>
                    </a:solidFill>
                  </a:tcPr>
                </a:tc>
                <a:tc>
                  <a:txBody>
                    <a:bodyPr/>
                    <a:lstStyle/>
                    <a:p>
                      <a:r>
                        <a:rPr sz="1725" b="1">
                          <a:solidFill>
                            <a:srgbClr val="FFFFFF"/>
                          </a:solidFill>
                          <a:latin typeface="Noto Sans JP"/>
                          <a:ea typeface="Noto Sans JP"/>
                          <a:cs typeface="Noto Sans JP"/>
                        </a:rPr>
                        <a:t>今回の役割</a:t>
                      </a:r>
                    </a:p>
                  </a:txBody>
                  <a:tcPr>
                    <a:solidFill>
                      <a:srgbClr val="202B58"/>
                    </a:solidFill>
                  </a:tcPr>
                </a:tc>
                <a:extLst>
                  <a:ext uri="{0D108BD9-81ED-4DB2-BD59-A6C34878D82A}">
                    <a16:rowId xmlns:a16="http://schemas.microsoft.com/office/drawing/2014/main" val="10000"/>
                  </a:ext>
                </a:extLst>
              </a:tr>
              <a:tr h="619125">
                <a:tc>
                  <a:txBody>
                    <a:bodyPr/>
                    <a:lstStyle/>
                    <a:p>
                      <a:r>
                        <a:rPr sz="1725" b="0">
                          <a:solidFill>
                            <a:srgbClr val="202B58"/>
                          </a:solidFill>
                          <a:latin typeface="Noto Sans JP"/>
                          <a:ea typeface="Noto Sans JP"/>
                          <a:cs typeface="Noto Sans JP"/>
                        </a:rPr>
                        <a:t>BEV／ICE</a:t>
                      </a:r>
                    </a:p>
                  </a:txBody>
                  <a:tcPr>
                    <a:solidFill>
                      <a:srgbClr val="F1F5F8"/>
                    </a:solidFill>
                  </a:tcPr>
                </a:tc>
                <a:tc>
                  <a:txBody>
                    <a:bodyPr/>
                    <a:lstStyle/>
                    <a:p>
                      <a:r>
                        <a:rPr sz="1725" b="0">
                          <a:solidFill>
                            <a:srgbClr val="202B58"/>
                          </a:solidFill>
                          <a:latin typeface="Noto Sans JP"/>
                          <a:ea typeface="Noto Sans JP"/>
                          <a:cs typeface="Noto Sans JP"/>
                        </a:rPr>
                        <a:t>電気バス／エンジンバス</a:t>
                      </a:r>
                    </a:p>
                  </a:txBody>
                  <a:tcPr>
                    <a:solidFill>
                      <a:srgbClr val="F1F5F8"/>
                    </a:solidFill>
                  </a:tcPr>
                </a:tc>
                <a:tc>
                  <a:txBody>
                    <a:bodyPr/>
                    <a:lstStyle/>
                    <a:p>
                      <a:r>
                        <a:rPr sz="1725" b="0">
                          <a:solidFill>
                            <a:srgbClr val="202B58"/>
                          </a:solidFill>
                          <a:latin typeface="Noto Sans JP"/>
                          <a:ea typeface="Noto Sans JP"/>
                          <a:cs typeface="Noto Sans JP"/>
                        </a:rPr>
                        <a:t>各便を担当する車両</a:t>
                      </a:r>
                    </a:p>
                  </a:txBody>
                  <a:tcPr>
                    <a:solidFill>
                      <a:srgbClr val="F1F5F8"/>
                    </a:solidFill>
                  </a:tcPr>
                </a:tc>
                <a:extLst>
                  <a:ext uri="{0D108BD9-81ED-4DB2-BD59-A6C34878D82A}">
                    <a16:rowId xmlns:a16="http://schemas.microsoft.com/office/drawing/2014/main" val="10001"/>
                  </a:ext>
                </a:extLst>
              </a:tr>
              <a:tr h="619125">
                <a:tc>
                  <a:txBody>
                    <a:bodyPr/>
                    <a:lstStyle/>
                    <a:p>
                      <a:r>
                        <a:rPr sz="1725" b="0">
                          <a:solidFill>
                            <a:srgbClr val="202B58"/>
                          </a:solidFill>
                          <a:latin typeface="Noto Sans JP"/>
                          <a:ea typeface="Noto Sans JP"/>
                          <a:cs typeface="Noto Sans JP"/>
                        </a:rPr>
                        <a:t>PV</a:t>
                      </a:r>
                    </a:p>
                  </a:txBody>
                  <a:tcPr>
                    <a:solidFill>
                      <a:srgbClr val="FFFFFF"/>
                    </a:solidFill>
                  </a:tcPr>
                </a:tc>
                <a:tc>
                  <a:txBody>
                    <a:bodyPr/>
                    <a:lstStyle/>
                    <a:p>
                      <a:r>
                        <a:rPr sz="1725" b="0">
                          <a:solidFill>
                            <a:srgbClr val="202B58"/>
                          </a:solidFill>
                          <a:latin typeface="Noto Sans JP"/>
                          <a:ea typeface="Noto Sans JP"/>
                          <a:cs typeface="Noto Sans JP"/>
                        </a:rPr>
                        <a:t>太陽光発電</a:t>
                      </a:r>
                    </a:p>
                  </a:txBody>
                  <a:tcPr>
                    <a:solidFill>
                      <a:srgbClr val="FFFFFF"/>
                    </a:solidFill>
                  </a:tcPr>
                </a:tc>
                <a:tc>
                  <a:txBody>
                    <a:bodyPr/>
                    <a:lstStyle/>
                    <a:p>
                      <a:r>
                        <a:rPr sz="1725" b="0">
                          <a:solidFill>
                            <a:srgbClr val="202B58"/>
                          </a:solidFill>
                          <a:latin typeface="Noto Sans JP"/>
                          <a:ea typeface="Noto Sans JP"/>
                          <a:cs typeface="Noto Sans JP"/>
                        </a:rPr>
                        <a:t>バスへ直接供給、または蓄電池へ充電</a:t>
                      </a:r>
                    </a:p>
                  </a:txBody>
                  <a:tcPr>
                    <a:solidFill>
                      <a:srgbClr val="FFFFFF"/>
                    </a:solidFill>
                  </a:tcPr>
                </a:tc>
                <a:extLst>
                  <a:ext uri="{0D108BD9-81ED-4DB2-BD59-A6C34878D82A}">
                    <a16:rowId xmlns:a16="http://schemas.microsoft.com/office/drawing/2014/main" val="10002"/>
                  </a:ext>
                </a:extLst>
              </a:tr>
              <a:tr h="619125">
                <a:tc>
                  <a:txBody>
                    <a:bodyPr/>
                    <a:lstStyle/>
                    <a:p>
                      <a:r>
                        <a:rPr sz="1725" b="0">
                          <a:solidFill>
                            <a:srgbClr val="202B58"/>
                          </a:solidFill>
                          <a:latin typeface="Noto Sans JP"/>
                          <a:ea typeface="Noto Sans JP"/>
                          <a:cs typeface="Noto Sans JP"/>
                        </a:rPr>
                        <a:t>BESS</a:t>
                      </a:r>
                    </a:p>
                  </a:txBody>
                  <a:tcPr>
                    <a:solidFill>
                      <a:srgbClr val="F1F5F8"/>
                    </a:solidFill>
                  </a:tcPr>
                </a:tc>
                <a:tc>
                  <a:txBody>
                    <a:bodyPr/>
                    <a:lstStyle/>
                    <a:p>
                      <a:r>
                        <a:rPr sz="1725" b="0">
                          <a:solidFill>
                            <a:srgbClr val="202B58"/>
                          </a:solidFill>
                          <a:latin typeface="Noto Sans JP"/>
                          <a:ea typeface="Noto Sans JP"/>
                          <a:cs typeface="Noto Sans JP"/>
                        </a:rPr>
                        <a:t>営業所の定置用蓄電池</a:t>
                      </a:r>
                    </a:p>
                  </a:txBody>
                  <a:tcPr>
                    <a:solidFill>
                      <a:srgbClr val="F1F5F8"/>
                    </a:solidFill>
                  </a:tcPr>
                </a:tc>
                <a:tc>
                  <a:txBody>
                    <a:bodyPr/>
                    <a:lstStyle/>
                    <a:p>
                      <a:r>
                        <a:rPr sz="1725" b="0">
                          <a:solidFill>
                            <a:srgbClr val="202B58"/>
                          </a:solidFill>
                          <a:latin typeface="Noto Sans JP"/>
                          <a:ea typeface="Noto Sans JP"/>
                          <a:cs typeface="Noto Sans JP"/>
                        </a:rPr>
                        <a:t>電力を貯め、別の時刻に放電</a:t>
                      </a:r>
                    </a:p>
                  </a:txBody>
                  <a:tcPr>
                    <a:solidFill>
                      <a:srgbClr val="F1F5F8"/>
                    </a:solidFill>
                  </a:tcPr>
                </a:tc>
                <a:extLst>
                  <a:ext uri="{0D108BD9-81ED-4DB2-BD59-A6C34878D82A}">
                    <a16:rowId xmlns:a16="http://schemas.microsoft.com/office/drawing/2014/main" val="10003"/>
                  </a:ext>
                </a:extLst>
              </a:tr>
              <a:tr h="619125">
                <a:tc>
                  <a:txBody>
                    <a:bodyPr/>
                    <a:lstStyle/>
                    <a:p>
                      <a:r>
                        <a:rPr sz="1725" b="0">
                          <a:solidFill>
                            <a:srgbClr val="202B58"/>
                          </a:solidFill>
                          <a:latin typeface="Noto Sans JP"/>
                          <a:ea typeface="Noto Sans JP"/>
                          <a:cs typeface="Noto Sans JP"/>
                        </a:rPr>
                        <a:t>系統からの受電</a:t>
                      </a:r>
                    </a:p>
                  </a:txBody>
                  <a:tcPr>
                    <a:solidFill>
                      <a:srgbClr val="FFFFFF"/>
                    </a:solidFill>
                  </a:tcPr>
                </a:tc>
                <a:tc>
                  <a:txBody>
                    <a:bodyPr/>
                    <a:lstStyle/>
                    <a:p>
                      <a:r>
                        <a:rPr sz="1725" b="0">
                          <a:solidFill>
                            <a:srgbClr val="202B58"/>
                          </a:solidFill>
                          <a:latin typeface="Noto Sans JP"/>
                          <a:ea typeface="Noto Sans JP"/>
                          <a:cs typeface="Noto Sans JP"/>
                        </a:rPr>
                        <a:t>外部の電力系統から受電</a:t>
                      </a:r>
                    </a:p>
                  </a:txBody>
                  <a:tcPr>
                    <a:solidFill>
                      <a:srgbClr val="FFFFFF"/>
                    </a:solidFill>
                  </a:tcPr>
                </a:tc>
                <a:tc>
                  <a:txBody>
                    <a:bodyPr/>
                    <a:lstStyle/>
                    <a:p>
                      <a:r>
                        <a:rPr sz="1725" b="0">
                          <a:solidFill>
                            <a:srgbClr val="202B58"/>
                          </a:solidFill>
                          <a:latin typeface="Noto Sans JP"/>
                          <a:ea typeface="Noto Sans JP"/>
                          <a:cs typeface="Noto Sans JP"/>
                        </a:rPr>
                        <a:t>充電に必要な電力を購入</a:t>
                      </a:r>
                    </a:p>
                  </a:txBody>
                  <a:tcPr>
                    <a:solidFill>
                      <a:srgbClr val="FFFFFF"/>
                    </a:solidFill>
                  </a:tcPr>
                </a:tc>
                <a:extLst>
                  <a:ext uri="{0D108BD9-81ED-4DB2-BD59-A6C34878D82A}">
                    <a16:rowId xmlns:a16="http://schemas.microsoft.com/office/drawing/2014/main" val="10004"/>
                  </a:ext>
                </a:extLst>
              </a:tr>
              <a:tr h="619125">
                <a:tc>
                  <a:txBody>
                    <a:bodyPr/>
                    <a:lstStyle/>
                    <a:p>
                      <a:r>
                        <a:rPr sz="1725" b="0">
                          <a:solidFill>
                            <a:srgbClr val="202B58"/>
                          </a:solidFill>
                          <a:latin typeface="Noto Sans JP"/>
                          <a:ea typeface="Noto Sans JP"/>
                          <a:cs typeface="Noto Sans JP"/>
                        </a:rPr>
                        <a:t>SOC</a:t>
                      </a:r>
                    </a:p>
                  </a:txBody>
                  <a:tcPr>
                    <a:solidFill>
                      <a:srgbClr val="F1F5F8"/>
                    </a:solidFill>
                  </a:tcPr>
                </a:tc>
                <a:tc>
                  <a:txBody>
                    <a:bodyPr/>
                    <a:lstStyle/>
                    <a:p>
                      <a:r>
                        <a:rPr sz="1725" b="0">
                          <a:solidFill>
                            <a:srgbClr val="202B58"/>
                          </a:solidFill>
                          <a:latin typeface="Noto Sans JP"/>
                          <a:ea typeface="Noto Sans JP"/>
                          <a:cs typeface="Noto Sans JP"/>
                        </a:rPr>
                        <a:t>電池容量に対する残量の割合</a:t>
                      </a:r>
                    </a:p>
                  </a:txBody>
                  <a:tcPr>
                    <a:solidFill>
                      <a:srgbClr val="F1F5F8"/>
                    </a:solidFill>
                  </a:tcPr>
                </a:tc>
                <a:tc>
                  <a:txBody>
                    <a:bodyPr/>
                    <a:lstStyle/>
                    <a:p>
                      <a:r>
                        <a:rPr sz="1725" b="0">
                          <a:solidFill>
                            <a:srgbClr val="202B58"/>
                          </a:solidFill>
                          <a:latin typeface="Noto Sans JP"/>
                          <a:ea typeface="Noto Sans JP"/>
                          <a:cs typeface="Noto Sans JP"/>
                        </a:rPr>
                        <a:t>走行・充放電後も上下限を守る</a:t>
                      </a:r>
                    </a:p>
                  </a:txBody>
                  <a:tcPr>
                    <a:solidFill>
                      <a:srgbClr val="F1F5F8"/>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8847423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89A75943-4DE9-44AD-83F3-283FC850E8E8}"/>
              </a:ext>
            </a:extLst>
          </p:cNvPr>
          <p:cNvSpPr>
            <a:spLocks noGrp="1"/>
          </p:cNvSpPr>
          <p:nvPr/>
        </p:nvSpPr>
        <p:spPr>
          <a:xfrm>
            <a:off x="419100" y="228600"/>
            <a:ext cx="11353800" cy="609600"/>
          </a:xfrm>
          <a:prstGeom prst="rect">
            <a:avLst/>
          </a:prstGeom>
          <a:noFill/>
          <a:ln w="0">
            <a:noFill/>
          </a:ln>
        </p:spPr>
        <p:txBody>
          <a:bodyPr>
            <a:noAutofit/>
          </a:bodyPr>
          <a:lstStyle/>
          <a:p>
            <a:pPr>
              <a:defRPr sz="2625" b="1">
                <a:solidFill>
                  <a:srgbClr val="202B58"/>
                </a:solidFill>
                <a:latin typeface="Noto Sans JP"/>
                <a:ea typeface="Noto Sans JP"/>
                <a:cs typeface="Noto Sans JP"/>
              </a:defRPr>
            </a:pPr>
            <a:r>
              <a:rPr sz="2625" b="1">
                <a:solidFill>
                  <a:srgbClr val="202B58"/>
                </a:solidFill>
                <a:latin typeface="Noto Sans JP"/>
                <a:ea typeface="Noto Sans JP"/>
                <a:cs typeface="Noto Sans JP"/>
              </a:rPr>
              <a:t>12週を公平に比較するための条件</a:t>
            </a:r>
          </a:p>
        </p:txBody>
      </p:sp>
      <p:sp>
        <p:nvSpPr>
          <p:cNvPr id="2" name="正方形/長方形 1">
            <a:extLst>
              <a:ext uri="{FF2B5EF4-FFF2-40B4-BE49-F238E27FC236}">
                <a16:creationId xmlns:a16="http://schemas.microsoft.com/office/drawing/2014/main" id="{62E08CFF-ED37-4BAB-A1C9-F64B1F99ED9D}"/>
              </a:ext>
            </a:extLst>
          </p:cNvPr>
          <p:cNvSpPr>
            <a:spLocks noGrp="1"/>
          </p:cNvSpPr>
          <p:nvPr/>
        </p:nvSpPr>
        <p:spPr>
          <a:xfrm>
            <a:off x="571500" y="981075"/>
            <a:ext cx="11049000" cy="590550"/>
          </a:xfrm>
          <a:prstGeom prst="rect">
            <a:avLst/>
          </a:prstGeom>
          <a:noFill/>
          <a:ln w="0">
            <a:noFill/>
          </a:ln>
        </p:spPr>
        <p:txBody>
          <a:bodyPr>
            <a:noAutofit/>
          </a:bodyPr>
          <a:lstStyle/>
          <a:p>
            <a:pPr>
              <a:defRPr sz="1725" b="0">
                <a:solidFill>
                  <a:srgbClr val="59687B"/>
                </a:solidFill>
                <a:latin typeface="Noto Sans JP"/>
                <a:ea typeface="Noto Sans JP"/>
                <a:cs typeface="Noto Sans JP"/>
              </a:defRPr>
            </a:pPr>
            <a:r>
              <a:rPr sz="1725" b="0">
                <a:solidFill>
                  <a:srgbClr val="59687B"/>
                </a:solidFill>
                <a:latin typeface="Noto Sans JP"/>
                <a:ea typeface="Noto Sans JP"/>
                <a:cs typeface="Noto Sans JP"/>
              </a:rPr>
              <a:t>各月で、祝日を含まず月内に収まる最初の月曜〜日曜を選択</a:t>
            </a:r>
          </a:p>
        </p:txBody>
      </p:sp>
      <p:sp>
        <p:nvSpPr>
          <p:cNvPr id="3" name="正方形/長方形 2">
            <a:extLst>
              <a:ext uri="{FF2B5EF4-FFF2-40B4-BE49-F238E27FC236}">
                <a16:creationId xmlns:a16="http://schemas.microsoft.com/office/drawing/2014/main" id="{C804B01A-D1AD-4C57-AC92-D5EC93BBD3B6}"/>
              </a:ext>
            </a:extLst>
          </p:cNvPr>
          <p:cNvSpPr>
            <a:spLocks noGrp="1"/>
          </p:cNvSpPr>
          <p:nvPr/>
        </p:nvSpPr>
        <p:spPr>
          <a:xfrm>
            <a:off x="571500" y="5638800"/>
            <a:ext cx="11049000" cy="56197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平日5日・土曜1日・日曜1日、全週1,704便を揃えた</a:t>
            </a:r>
          </a:p>
        </p:txBody>
      </p:sp>
      <p:sp>
        <p:nvSpPr>
          <p:cNvPr id="5" name="正方形/長方形 4">
            <a:extLst>
              <a:ext uri="{FF2B5EF4-FFF2-40B4-BE49-F238E27FC236}">
                <a16:creationId xmlns:a16="http://schemas.microsoft.com/office/drawing/2014/main" id="{F93F5E41-CCB7-49EB-83E5-2C7069573FF1}"/>
              </a:ext>
            </a:extLst>
          </p:cNvPr>
          <p:cNvSpPr>
            <a:spLocks noGrp="1"/>
          </p:cNvSpPr>
          <p:nvPr/>
        </p:nvSpPr>
        <p:spPr>
          <a:xfrm>
            <a:off x="419100" y="6638925"/>
            <a:ext cx="10096500" cy="180975"/>
          </a:xfrm>
          <a:prstGeom prst="rect">
            <a:avLst/>
          </a:prstGeom>
          <a:noFill/>
          <a:ln w="0">
            <a:noFill/>
          </a:ln>
        </p:spPr>
        <p:txBody>
          <a:bodyPr>
            <a:noAutofit/>
          </a:bodyPr>
          <a:lstStyle/>
          <a:p>
            <a:pPr>
              <a:defRPr sz="900" b="0">
                <a:solidFill>
                  <a:srgbClr val="59687B"/>
                </a:solidFill>
                <a:latin typeface="Noto Sans JP"/>
                <a:ea typeface="Noto Sans JP"/>
                <a:cs typeface="Noto Sans JP"/>
              </a:defRPr>
            </a:pPr>
            <a:r>
              <a:rPr sz="900" b="0">
                <a:solidFill>
                  <a:srgbClr val="59687B"/>
                </a:solidFill>
                <a:latin typeface="Noto Sans JP"/>
                <a:ea typeface="Noto Sans JP"/>
                <a:cs typeface="Noto Sans JP"/>
              </a:rPr>
              <a:t>修士研究　2026年9月18日　／　月別12週のシミュレーション（診断結果）</a:t>
            </a:r>
          </a:p>
        </p:txBody>
      </p:sp>
      <p:sp>
        <p:nvSpPr>
          <p:cNvPr id="6" name="正方形/長方形 5">
            <a:extLst>
              <a:ext uri="{FF2B5EF4-FFF2-40B4-BE49-F238E27FC236}">
                <a16:creationId xmlns:a16="http://schemas.microsoft.com/office/drawing/2014/main" id="{DE445F5B-F725-4A52-B697-FC32E714A082}"/>
              </a:ext>
            </a:extLst>
          </p:cNvPr>
          <p:cNvSpPr>
            <a:spLocks noGrp="1"/>
          </p:cNvSpPr>
          <p:nvPr/>
        </p:nvSpPr>
        <p:spPr>
          <a:xfrm>
            <a:off x="11144250" y="6610350"/>
            <a:ext cx="628650" cy="228600"/>
          </a:xfrm>
          <a:prstGeom prst="rect">
            <a:avLst/>
          </a:prstGeom>
          <a:noFill/>
          <a:ln w="0">
            <a:noFill/>
          </a:ln>
        </p:spPr>
        <p:txBody>
          <a:bodyPr>
            <a:noAutofit/>
          </a:bodyPr>
          <a:lstStyle/>
          <a:p>
            <a:pPr>
              <a:defRPr sz="1050" b="0">
                <a:solidFill>
                  <a:srgbClr val="59687B"/>
                </a:solidFill>
                <a:latin typeface="Noto Sans JP"/>
                <a:ea typeface="Noto Sans JP"/>
                <a:cs typeface="Noto Sans JP"/>
              </a:defRPr>
            </a:pPr>
            <a:r>
              <a:rPr sz="1050" b="0">
                <a:solidFill>
                  <a:srgbClr val="59687B"/>
                </a:solidFill>
                <a:latin typeface="Noto Sans JP"/>
                <a:ea typeface="Noto Sans JP"/>
                <a:cs typeface="Noto Sans JP"/>
              </a:rPr>
              <a:t>4/24</a:t>
            </a:r>
          </a:p>
        </p:txBody>
      </p:sp>
      <p:graphicFrame>
        <p:nvGraphicFramePr>
          <p:cNvPr id="15" name="表 14"/>
          <p:cNvGraphicFramePr/>
          <p:nvPr/>
        </p:nvGraphicFramePr>
        <p:xfrm>
          <a:off x="571500" y="1695450"/>
          <a:ext cx="11049000" cy="3000375"/>
        </p:xfrm>
        <a:graphic>
          <a:graphicData uri="http://schemas.openxmlformats.org/drawingml/2006/table">
            <a:tbl>
              <a:tblPr/>
              <a:tblGrid>
                <a:gridCol w="5524500">
                  <a:extLst>
                    <a:ext uri="{9D8B030D-6E8A-4147-A177-3AD203B41FA5}">
                      <a16:colId xmlns:a16="http://schemas.microsoft.com/office/drawing/2014/main" val="20000"/>
                    </a:ext>
                  </a:extLst>
                </a:gridCol>
                <a:gridCol w="5524500">
                  <a:extLst>
                    <a:ext uri="{9D8B030D-6E8A-4147-A177-3AD203B41FA5}">
                      <a16:colId xmlns:a16="http://schemas.microsoft.com/office/drawing/2014/main" val="20001"/>
                    </a:ext>
                  </a:extLst>
                </a:gridCol>
              </a:tblGrid>
              <a:tr h="600075">
                <a:tc>
                  <a:txBody>
                    <a:bodyPr/>
                    <a:lstStyle/>
                    <a:p>
                      <a:r>
                        <a:rPr sz="1800" b="1">
                          <a:solidFill>
                            <a:srgbClr val="FFFFFF"/>
                          </a:solidFill>
                          <a:latin typeface="Noto Sans JP"/>
                          <a:ea typeface="Noto Sans JP"/>
                          <a:cs typeface="Noto Sans JP"/>
                        </a:rPr>
                        <a:t>全月で揃えたもの</a:t>
                      </a:r>
                    </a:p>
                  </a:txBody>
                  <a:tcPr>
                    <a:solidFill>
                      <a:srgbClr val="202B58"/>
                    </a:solidFill>
                  </a:tcPr>
                </a:tc>
                <a:tc>
                  <a:txBody>
                    <a:bodyPr/>
                    <a:lstStyle/>
                    <a:p>
                      <a:r>
                        <a:rPr sz="1800" b="1">
                          <a:solidFill>
                            <a:srgbClr val="FFFFFF"/>
                          </a:solidFill>
                          <a:latin typeface="Noto Sans JP"/>
                          <a:ea typeface="Noto Sans JP"/>
                          <a:cs typeface="Noto Sans JP"/>
                        </a:rPr>
                        <a:t>週ごとに変わるもの</a:t>
                      </a:r>
                    </a:p>
                  </a:txBody>
                  <a:tcPr>
                    <a:solidFill>
                      <a:srgbClr val="202B58"/>
                    </a:solidFill>
                  </a:tcPr>
                </a:tc>
                <a:extLst>
                  <a:ext uri="{0D108BD9-81ED-4DB2-BD59-A6C34878D82A}">
                    <a16:rowId xmlns:a16="http://schemas.microsoft.com/office/drawing/2014/main" val="10000"/>
                  </a:ext>
                </a:extLst>
              </a:tr>
              <a:tr h="600075">
                <a:tc>
                  <a:txBody>
                    <a:bodyPr/>
                    <a:lstStyle/>
                    <a:p>
                      <a:r>
                        <a:rPr sz="1800" b="0">
                          <a:solidFill>
                            <a:srgbClr val="202B58"/>
                          </a:solidFill>
                          <a:latin typeface="Noto Sans JP"/>
                          <a:ea typeface="Noto Sans JP"/>
                          <a:cs typeface="Noto Sans JP"/>
                        </a:rPr>
                        <a:t>時刻表・曜日構成・便数</a:t>
                      </a:r>
                    </a:p>
                  </a:txBody>
                  <a:tcPr>
                    <a:solidFill>
                      <a:srgbClr val="F1F5F8"/>
                    </a:solidFill>
                  </a:tcPr>
                </a:tc>
                <a:tc>
                  <a:txBody>
                    <a:bodyPr/>
                    <a:lstStyle/>
                    <a:p>
                      <a:r>
                        <a:rPr sz="1800" b="0">
                          <a:solidFill>
                            <a:srgbClr val="202B58"/>
                          </a:solidFill>
                          <a:latin typeface="Noto Sans JP"/>
                          <a:ea typeface="Noto Sans JP"/>
                          <a:cs typeface="Noto Sans JP"/>
                        </a:rPr>
                        <a:t>日付ごとのPV履歴と予測入力</a:t>
                      </a:r>
                    </a:p>
                  </a:txBody>
                  <a:tcPr>
                    <a:solidFill>
                      <a:srgbClr val="F1F5F8"/>
                    </a:solidFill>
                  </a:tcPr>
                </a:tc>
                <a:extLst>
                  <a:ext uri="{0D108BD9-81ED-4DB2-BD59-A6C34878D82A}">
                    <a16:rowId xmlns:a16="http://schemas.microsoft.com/office/drawing/2014/main" val="10001"/>
                  </a:ext>
                </a:extLst>
              </a:tr>
              <a:tr h="600075">
                <a:tc>
                  <a:txBody>
                    <a:bodyPr/>
                    <a:lstStyle/>
                    <a:p>
                      <a:r>
                        <a:rPr sz="1800" b="0">
                          <a:solidFill>
                            <a:srgbClr val="202B58"/>
                          </a:solidFill>
                          <a:latin typeface="Noto Sans JP"/>
                          <a:ea typeface="Noto Sans JP"/>
                          <a:cs typeface="Noto Sans JP"/>
                        </a:rPr>
                        <a:t>入力車両と初期残量</a:t>
                      </a:r>
                    </a:p>
                  </a:txBody>
                  <a:tcPr>
                    <a:solidFill>
                      <a:srgbClr val="FFFFFF"/>
                    </a:solidFill>
                  </a:tcPr>
                </a:tc>
                <a:tc>
                  <a:txBody>
                    <a:bodyPr/>
                    <a:lstStyle/>
                    <a:p>
                      <a:r>
                        <a:rPr sz="1800" b="0">
                          <a:solidFill>
                            <a:srgbClr val="202B58"/>
                          </a:solidFill>
                          <a:latin typeface="Noto Sans JP"/>
                          <a:ea typeface="Noto Sans JP"/>
                          <a:cs typeface="Noto Sans JP"/>
                        </a:rPr>
                        <a:t>担当車両・充電時刻の計算結果</a:t>
                      </a:r>
                    </a:p>
                  </a:txBody>
                  <a:tcPr>
                    <a:solidFill>
                      <a:srgbClr val="FFFFFF"/>
                    </a:solidFill>
                  </a:tcPr>
                </a:tc>
                <a:extLst>
                  <a:ext uri="{0D108BD9-81ED-4DB2-BD59-A6C34878D82A}">
                    <a16:rowId xmlns:a16="http://schemas.microsoft.com/office/drawing/2014/main" val="10002"/>
                  </a:ext>
                </a:extLst>
              </a:tr>
              <a:tr h="600075">
                <a:tc>
                  <a:txBody>
                    <a:bodyPr/>
                    <a:lstStyle/>
                    <a:p>
                      <a:r>
                        <a:rPr sz="1800" b="0">
                          <a:solidFill>
                            <a:srgbClr val="202B58"/>
                          </a:solidFill>
                          <a:latin typeface="Noto Sans JP"/>
                          <a:ea typeface="Noto Sans JP"/>
                          <a:cs typeface="Noto Sans JP"/>
                        </a:rPr>
                        <a:t>充電器・PV設備・定置用蓄電池</a:t>
                      </a:r>
                    </a:p>
                  </a:txBody>
                  <a:tcPr>
                    <a:solidFill>
                      <a:srgbClr val="F1F5F8"/>
                    </a:solidFill>
                  </a:tcPr>
                </a:tc>
                <a:tc>
                  <a:txBody>
                    <a:bodyPr/>
                    <a:lstStyle/>
                    <a:p>
                      <a:r>
                        <a:rPr sz="1800" b="0">
                          <a:solidFill>
                            <a:srgbClr val="202B58"/>
                          </a:solidFill>
                          <a:latin typeface="Noto Sans JP"/>
                          <a:ea typeface="Noto Sans JP"/>
                          <a:cs typeface="Noto Sans JP"/>
                        </a:rPr>
                        <a:t>PV利用量・週間購入電力量・受電ピーク</a:t>
                      </a:r>
                    </a:p>
                  </a:txBody>
                  <a:tcPr>
                    <a:solidFill>
                      <a:srgbClr val="F1F5F8"/>
                    </a:solidFill>
                  </a:tcPr>
                </a:tc>
                <a:extLst>
                  <a:ext uri="{0D108BD9-81ED-4DB2-BD59-A6C34878D82A}">
                    <a16:rowId xmlns:a16="http://schemas.microsoft.com/office/drawing/2014/main" val="10003"/>
                  </a:ext>
                </a:extLst>
              </a:tr>
              <a:tr h="600075">
                <a:tc>
                  <a:txBody>
                    <a:bodyPr/>
                    <a:lstStyle/>
                    <a:p>
                      <a:r>
                        <a:rPr sz="1800" b="0">
                          <a:solidFill>
                            <a:srgbClr val="202B58"/>
                          </a:solidFill>
                          <a:latin typeface="Noto Sans JP"/>
                          <a:ea typeface="Noto Sans JP"/>
                          <a:cs typeface="Noto Sans JP"/>
                        </a:rPr>
                        <a:t>費用係数・探索時間・探索規則</a:t>
                      </a:r>
                    </a:p>
                  </a:txBody>
                  <a:tcPr>
                    <a:solidFill>
                      <a:srgbClr val="FFFFFF"/>
                    </a:solidFill>
                  </a:tcPr>
                </a:tc>
                <a:tc>
                  <a:txBody>
                    <a:bodyPr/>
                    <a:lstStyle/>
                    <a:p>
                      <a:r>
                        <a:rPr sz="1800" b="0">
                          <a:solidFill>
                            <a:srgbClr val="202B58"/>
                          </a:solidFill>
                          <a:latin typeface="Noto Sans JP"/>
                          <a:ea typeface="Noto Sans JP"/>
                          <a:cs typeface="Noto Sans JP"/>
                        </a:rPr>
                        <a:t>同じ制限時間内で得られた解の良さ</a:t>
                      </a:r>
                    </a:p>
                  </a:txBody>
                  <a:tcPr>
                    <a:solidFill>
                      <a:srgbClr val="FFFFFF"/>
                    </a:solidFill>
                  </a:tcPr>
                </a:tc>
                <a:extLst>
                  <a:ext uri="{0D108BD9-81ED-4DB2-BD59-A6C34878D82A}">
                    <a16:rowId xmlns:a16="http://schemas.microsoft.com/office/drawing/2014/main" val="10004"/>
                  </a:ext>
                </a:extLst>
              </a:tr>
            </a:tbl>
          </a:graphicData>
        </a:graphic>
      </p:graphicFrame>
      <p:sp>
        <p:nvSpPr>
          <p:cNvPr id="8" name="正方形/長方形 7">
            <a:extLst>
              <a:ext uri="{FF2B5EF4-FFF2-40B4-BE49-F238E27FC236}">
                <a16:creationId xmlns:a16="http://schemas.microsoft.com/office/drawing/2014/main" id="{12B49056-6577-451A-B8C8-BE4B1803673E}"/>
              </a:ext>
            </a:extLst>
          </p:cNvPr>
          <p:cNvSpPr>
            <a:spLocks noGrp="1"/>
          </p:cNvSpPr>
          <p:nvPr/>
        </p:nvSpPr>
        <p:spPr>
          <a:xfrm>
            <a:off x="685800" y="5029200"/>
            <a:ext cx="10763250" cy="428625"/>
          </a:xfrm>
          <a:prstGeom prst="rect">
            <a:avLst/>
          </a:prstGeom>
          <a:noFill/>
          <a:ln w="0">
            <a:noFill/>
          </a:ln>
        </p:spPr>
        <p:txBody>
          <a:bodyPr>
            <a:noAutofit/>
          </a:bodyPr>
          <a:lstStyle/>
          <a:p>
            <a:pPr>
              <a:defRPr sz="1650" b="0">
                <a:solidFill>
                  <a:srgbClr val="59687B"/>
                </a:solidFill>
                <a:latin typeface="Noto Sans JP"/>
                <a:ea typeface="Noto Sans JP"/>
                <a:cs typeface="Noto Sans JP"/>
              </a:defRPr>
            </a:pPr>
            <a:r>
              <a:rPr sz="1650" b="0">
                <a:solidFill>
                  <a:srgbClr val="59687B"/>
                </a:solidFill>
                <a:latin typeface="Noto Sans JP"/>
                <a:ea typeface="Noto Sans JP"/>
                <a:cs typeface="Noto Sans JP"/>
              </a:rPr>
              <a:t>使用台数は結果：入力BEV35台・ICE25台を、そのまま全台使用するわけではない。</a:t>
            </a:r>
          </a:p>
        </p:txBody>
      </p:sp>
    </p:spTree>
    <p:extLst>
      <p:ext uri="{BB962C8B-B14F-4D97-AF65-F5344CB8AC3E}">
        <p14:creationId xmlns:p14="http://schemas.microsoft.com/office/powerpoint/2010/main" val="14514564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3B143117-B063-439A-95B9-F0D63B39BBEA}"/>
              </a:ext>
            </a:extLst>
          </p:cNvPr>
          <p:cNvSpPr>
            <a:spLocks noGrp="1"/>
          </p:cNvSpPr>
          <p:nvPr/>
        </p:nvSpPr>
        <p:spPr>
          <a:xfrm>
            <a:off x="419100" y="228600"/>
            <a:ext cx="11353800" cy="609600"/>
          </a:xfrm>
          <a:prstGeom prst="rect">
            <a:avLst/>
          </a:prstGeom>
          <a:noFill/>
          <a:ln w="0">
            <a:noFill/>
          </a:ln>
        </p:spPr>
        <p:txBody>
          <a:bodyPr>
            <a:noAutofit/>
          </a:bodyPr>
          <a:lstStyle/>
          <a:p>
            <a:pPr>
              <a:defRPr sz="2625" b="1">
                <a:solidFill>
                  <a:srgbClr val="202B58"/>
                </a:solidFill>
                <a:latin typeface="Noto Sans JP"/>
                <a:ea typeface="Noto Sans JP"/>
                <a:cs typeface="Noto Sans JP"/>
              </a:defRPr>
            </a:pPr>
            <a:r>
              <a:rPr sz="2625" b="1">
                <a:solidFill>
                  <a:srgbClr val="202B58"/>
                </a:solidFill>
                <a:latin typeface="Noto Sans JP"/>
                <a:ea typeface="Noto Sans JP"/>
                <a:cs typeface="Noto Sans JP"/>
              </a:rPr>
              <a:t>計画と実行の手順</a:t>
            </a:r>
          </a:p>
        </p:txBody>
      </p:sp>
      <p:sp>
        <p:nvSpPr>
          <p:cNvPr id="2" name="正方形/長方形 1">
            <a:extLst>
              <a:ext uri="{FF2B5EF4-FFF2-40B4-BE49-F238E27FC236}">
                <a16:creationId xmlns:a16="http://schemas.microsoft.com/office/drawing/2014/main" id="{FE6B9D35-581B-48D8-A07C-F22CDDC3B201}"/>
              </a:ext>
            </a:extLst>
          </p:cNvPr>
          <p:cNvSpPr>
            <a:spLocks noGrp="1"/>
          </p:cNvSpPr>
          <p:nvPr/>
        </p:nvSpPr>
        <p:spPr>
          <a:xfrm>
            <a:off x="571500" y="981075"/>
            <a:ext cx="11049000" cy="590550"/>
          </a:xfrm>
          <a:prstGeom prst="rect">
            <a:avLst/>
          </a:prstGeom>
          <a:noFill/>
          <a:ln w="0">
            <a:noFill/>
          </a:ln>
        </p:spPr>
        <p:txBody>
          <a:bodyPr>
            <a:noAutofit/>
          </a:bodyPr>
          <a:lstStyle/>
          <a:p>
            <a:pPr>
              <a:defRPr sz="1725" b="0">
                <a:solidFill>
                  <a:srgbClr val="59687B"/>
                </a:solidFill>
                <a:latin typeface="Noto Sans JP"/>
                <a:ea typeface="Noto Sans JP"/>
                <a:cs typeface="Noto Sans JP"/>
              </a:defRPr>
            </a:pPr>
            <a:r>
              <a:rPr sz="1725" b="0">
                <a:solidFill>
                  <a:srgbClr val="59687B"/>
                </a:solidFill>
                <a:latin typeface="Noto Sans JP"/>
                <a:ea typeface="Noto Sans JP"/>
                <a:cs typeface="Noto Sans JP"/>
              </a:rPr>
              <a:t>配車を決めた後、充電計画を1時間ごとに更新する</a:t>
            </a:r>
          </a:p>
        </p:txBody>
      </p:sp>
      <p:sp>
        <p:nvSpPr>
          <p:cNvPr id="3" name="正方形/長方形 2">
            <a:extLst>
              <a:ext uri="{FF2B5EF4-FFF2-40B4-BE49-F238E27FC236}">
                <a16:creationId xmlns:a16="http://schemas.microsoft.com/office/drawing/2014/main" id="{06C41465-06D8-43AA-A4BD-BFC4D9D2D366}"/>
              </a:ext>
            </a:extLst>
          </p:cNvPr>
          <p:cNvSpPr>
            <a:spLocks noGrp="1"/>
          </p:cNvSpPr>
          <p:nvPr/>
        </p:nvSpPr>
        <p:spPr>
          <a:xfrm>
            <a:off x="571500" y="5638800"/>
            <a:ext cx="11049000" cy="56197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dirty="0">
                <a:solidFill>
                  <a:srgbClr val="159A8C"/>
                </a:solidFill>
                <a:latin typeface="Noto Sans JP"/>
                <a:ea typeface="Noto Sans JP"/>
                <a:cs typeface="Noto Sans JP"/>
              </a:rPr>
              <a:t>24時間先を見た計画から先頭1時間を採用し、168時間をつなぐ</a:t>
            </a:r>
          </a:p>
        </p:txBody>
      </p:sp>
      <p:sp>
        <p:nvSpPr>
          <p:cNvPr id="5" name="正方形/長方形 4">
            <a:extLst>
              <a:ext uri="{FF2B5EF4-FFF2-40B4-BE49-F238E27FC236}">
                <a16:creationId xmlns:a16="http://schemas.microsoft.com/office/drawing/2014/main" id="{F859E9A2-5687-4B10-BC44-D11E9768F04A}"/>
              </a:ext>
            </a:extLst>
          </p:cNvPr>
          <p:cNvSpPr>
            <a:spLocks noGrp="1"/>
          </p:cNvSpPr>
          <p:nvPr/>
        </p:nvSpPr>
        <p:spPr>
          <a:xfrm>
            <a:off x="419100" y="6638925"/>
            <a:ext cx="10096500" cy="180975"/>
          </a:xfrm>
          <a:prstGeom prst="rect">
            <a:avLst/>
          </a:prstGeom>
          <a:noFill/>
          <a:ln w="0">
            <a:noFill/>
          </a:ln>
        </p:spPr>
        <p:txBody>
          <a:bodyPr>
            <a:noAutofit/>
          </a:bodyPr>
          <a:lstStyle/>
          <a:p>
            <a:pPr>
              <a:defRPr sz="900" b="0">
                <a:solidFill>
                  <a:srgbClr val="59687B"/>
                </a:solidFill>
                <a:latin typeface="Noto Sans JP"/>
                <a:ea typeface="Noto Sans JP"/>
                <a:cs typeface="Noto Sans JP"/>
              </a:defRPr>
            </a:pPr>
            <a:r>
              <a:rPr sz="900" b="0">
                <a:solidFill>
                  <a:srgbClr val="59687B"/>
                </a:solidFill>
                <a:latin typeface="Noto Sans JP"/>
                <a:ea typeface="Noto Sans JP"/>
                <a:cs typeface="Noto Sans JP"/>
              </a:rPr>
              <a:t>修士研究　2026年9月18日　／　月別12週のシミュレーション（診断結果）</a:t>
            </a:r>
          </a:p>
        </p:txBody>
      </p:sp>
      <p:sp>
        <p:nvSpPr>
          <p:cNvPr id="6" name="正方形/長方形 5">
            <a:extLst>
              <a:ext uri="{FF2B5EF4-FFF2-40B4-BE49-F238E27FC236}">
                <a16:creationId xmlns:a16="http://schemas.microsoft.com/office/drawing/2014/main" id="{94CBD11D-999C-4512-939A-B2D9C5135714}"/>
              </a:ext>
            </a:extLst>
          </p:cNvPr>
          <p:cNvSpPr>
            <a:spLocks noGrp="1"/>
          </p:cNvSpPr>
          <p:nvPr/>
        </p:nvSpPr>
        <p:spPr>
          <a:xfrm>
            <a:off x="11144250" y="6610350"/>
            <a:ext cx="628650" cy="228600"/>
          </a:xfrm>
          <a:prstGeom prst="rect">
            <a:avLst/>
          </a:prstGeom>
          <a:noFill/>
          <a:ln w="0">
            <a:noFill/>
          </a:ln>
        </p:spPr>
        <p:txBody>
          <a:bodyPr>
            <a:noAutofit/>
          </a:bodyPr>
          <a:lstStyle/>
          <a:p>
            <a:pPr>
              <a:defRPr sz="1050" b="0">
                <a:solidFill>
                  <a:srgbClr val="59687B"/>
                </a:solidFill>
                <a:latin typeface="Noto Sans JP"/>
                <a:ea typeface="Noto Sans JP"/>
                <a:cs typeface="Noto Sans JP"/>
              </a:defRPr>
            </a:pPr>
            <a:r>
              <a:rPr sz="1050" b="0">
                <a:solidFill>
                  <a:srgbClr val="59687B"/>
                </a:solidFill>
                <a:latin typeface="Noto Sans JP"/>
                <a:ea typeface="Noto Sans JP"/>
                <a:cs typeface="Noto Sans JP"/>
              </a:rPr>
              <a:t>5/24</a:t>
            </a:r>
          </a:p>
        </p:txBody>
      </p:sp>
      <p:graphicFrame>
        <p:nvGraphicFramePr>
          <p:cNvPr id="15" name="表 14"/>
          <p:cNvGraphicFramePr/>
          <p:nvPr/>
        </p:nvGraphicFramePr>
        <p:xfrm>
          <a:off x="571500" y="1695450"/>
          <a:ext cx="11049000" cy="3324225"/>
        </p:xfrm>
        <a:graphic>
          <a:graphicData uri="http://schemas.openxmlformats.org/drawingml/2006/table">
            <a:tbl>
              <a:tblPr/>
              <a:tblGrid>
                <a:gridCol w="2524125">
                  <a:extLst>
                    <a:ext uri="{9D8B030D-6E8A-4147-A177-3AD203B41FA5}">
                      <a16:colId xmlns:a16="http://schemas.microsoft.com/office/drawing/2014/main" val="20000"/>
                    </a:ext>
                  </a:extLst>
                </a:gridCol>
                <a:gridCol w="4762500">
                  <a:extLst>
                    <a:ext uri="{9D8B030D-6E8A-4147-A177-3AD203B41FA5}">
                      <a16:colId xmlns:a16="http://schemas.microsoft.com/office/drawing/2014/main" val="20001"/>
                    </a:ext>
                  </a:extLst>
                </a:gridCol>
                <a:gridCol w="3762375">
                  <a:extLst>
                    <a:ext uri="{9D8B030D-6E8A-4147-A177-3AD203B41FA5}">
                      <a16:colId xmlns:a16="http://schemas.microsoft.com/office/drawing/2014/main" val="20002"/>
                    </a:ext>
                  </a:extLst>
                </a:gridCol>
              </a:tblGrid>
              <a:tr h="664845">
                <a:tc>
                  <a:txBody>
                    <a:bodyPr/>
                    <a:lstStyle/>
                    <a:p>
                      <a:r>
                        <a:rPr sz="1650" b="1">
                          <a:solidFill>
                            <a:srgbClr val="FFFFFF"/>
                          </a:solidFill>
                          <a:latin typeface="Noto Sans JP"/>
                          <a:ea typeface="Noto Sans JP"/>
                          <a:cs typeface="Noto Sans JP"/>
                        </a:rPr>
                        <a:t>段階</a:t>
                      </a:r>
                    </a:p>
                  </a:txBody>
                  <a:tcPr>
                    <a:solidFill>
                      <a:srgbClr val="202B58"/>
                    </a:solidFill>
                  </a:tcPr>
                </a:tc>
                <a:tc>
                  <a:txBody>
                    <a:bodyPr/>
                    <a:lstStyle/>
                    <a:p>
                      <a:r>
                        <a:rPr sz="1650" b="1">
                          <a:solidFill>
                            <a:srgbClr val="FFFFFF"/>
                          </a:solidFill>
                          <a:latin typeface="Noto Sans JP"/>
                          <a:ea typeface="Noto Sans JP"/>
                          <a:cs typeface="Noto Sans JP"/>
                        </a:rPr>
                        <a:t>行うこと</a:t>
                      </a:r>
                    </a:p>
                  </a:txBody>
                  <a:tcPr>
                    <a:solidFill>
                      <a:srgbClr val="202B58"/>
                    </a:solidFill>
                  </a:tcPr>
                </a:tc>
                <a:tc>
                  <a:txBody>
                    <a:bodyPr/>
                    <a:lstStyle/>
                    <a:p>
                      <a:r>
                        <a:rPr sz="1650" b="1">
                          <a:solidFill>
                            <a:srgbClr val="FFFFFF"/>
                          </a:solidFill>
                          <a:latin typeface="Noto Sans JP"/>
                          <a:ea typeface="Noto Sans JP"/>
                          <a:cs typeface="Noto Sans JP"/>
                        </a:rPr>
                        <a:t>使う情報</a:t>
                      </a:r>
                    </a:p>
                  </a:txBody>
                  <a:tcPr>
                    <a:solidFill>
                      <a:srgbClr val="202B58"/>
                    </a:solidFill>
                  </a:tcPr>
                </a:tc>
                <a:extLst>
                  <a:ext uri="{0D108BD9-81ED-4DB2-BD59-A6C34878D82A}">
                    <a16:rowId xmlns:a16="http://schemas.microsoft.com/office/drawing/2014/main" val="10000"/>
                  </a:ext>
                </a:extLst>
              </a:tr>
              <a:tr h="664845">
                <a:tc>
                  <a:txBody>
                    <a:bodyPr/>
                    <a:lstStyle/>
                    <a:p>
                      <a:r>
                        <a:rPr sz="1650" b="0">
                          <a:solidFill>
                            <a:srgbClr val="202B58"/>
                          </a:solidFill>
                          <a:latin typeface="Noto Sans JP"/>
                          <a:ea typeface="Noto Sans JP"/>
                          <a:cs typeface="Noto Sans JP"/>
                        </a:rPr>
                        <a:t>1　事前の配車</a:t>
                      </a:r>
                    </a:p>
                  </a:txBody>
                  <a:tcPr>
                    <a:solidFill>
                      <a:srgbClr val="F1F5F8"/>
                    </a:solidFill>
                  </a:tcPr>
                </a:tc>
                <a:tc>
                  <a:txBody>
                    <a:bodyPr/>
                    <a:lstStyle/>
                    <a:p>
                      <a:r>
                        <a:rPr sz="1650" b="0">
                          <a:solidFill>
                            <a:srgbClr val="202B58"/>
                          </a:solidFill>
                          <a:latin typeface="Noto Sans JP"/>
                          <a:ea typeface="Noto Sans JP"/>
                          <a:cs typeface="Noto Sans JP"/>
                        </a:rPr>
                        <a:t>各便の担当車両と接続を決める</a:t>
                      </a:r>
                    </a:p>
                  </a:txBody>
                  <a:tcPr>
                    <a:solidFill>
                      <a:srgbClr val="F1F5F8"/>
                    </a:solidFill>
                  </a:tcPr>
                </a:tc>
                <a:tc>
                  <a:txBody>
                    <a:bodyPr/>
                    <a:lstStyle/>
                    <a:p>
                      <a:r>
                        <a:rPr sz="1650" b="0">
                          <a:solidFill>
                            <a:srgbClr val="202B58"/>
                          </a:solidFill>
                          <a:latin typeface="Noto Sans JP"/>
                          <a:ea typeface="Noto Sans JP"/>
                          <a:cs typeface="Noto Sans JP"/>
                        </a:rPr>
                        <a:t>時刻表・車両・走行条件</a:t>
                      </a:r>
                    </a:p>
                  </a:txBody>
                  <a:tcPr>
                    <a:solidFill>
                      <a:srgbClr val="F1F5F8"/>
                    </a:solidFill>
                  </a:tcPr>
                </a:tc>
                <a:extLst>
                  <a:ext uri="{0D108BD9-81ED-4DB2-BD59-A6C34878D82A}">
                    <a16:rowId xmlns:a16="http://schemas.microsoft.com/office/drawing/2014/main" val="10001"/>
                  </a:ext>
                </a:extLst>
              </a:tr>
              <a:tr h="664845">
                <a:tc>
                  <a:txBody>
                    <a:bodyPr/>
                    <a:lstStyle/>
                    <a:p>
                      <a:r>
                        <a:rPr sz="1650" b="0">
                          <a:solidFill>
                            <a:srgbClr val="202B58"/>
                          </a:solidFill>
                          <a:latin typeface="Noto Sans JP"/>
                          <a:ea typeface="Noto Sans JP"/>
                          <a:cs typeface="Noto Sans JP"/>
                        </a:rPr>
                        <a:t>2　事前の充電</a:t>
                      </a:r>
                    </a:p>
                  </a:txBody>
                  <a:tcPr>
                    <a:solidFill>
                      <a:srgbClr val="FFFFFF"/>
                    </a:solidFill>
                  </a:tcPr>
                </a:tc>
                <a:tc>
                  <a:txBody>
                    <a:bodyPr/>
                    <a:lstStyle/>
                    <a:p>
                      <a:r>
                        <a:rPr sz="1650" b="0">
                          <a:solidFill>
                            <a:srgbClr val="202B58"/>
                          </a:solidFill>
                          <a:latin typeface="Noto Sans JP"/>
                          <a:ea typeface="Noto Sans JP"/>
                          <a:cs typeface="Noto Sans JP"/>
                        </a:rPr>
                        <a:t>週間の充電と電源利用を計画する</a:t>
                      </a:r>
                    </a:p>
                  </a:txBody>
                  <a:tcPr>
                    <a:solidFill>
                      <a:srgbClr val="FFFFFF"/>
                    </a:solidFill>
                  </a:tcPr>
                </a:tc>
                <a:tc>
                  <a:txBody>
                    <a:bodyPr/>
                    <a:lstStyle/>
                    <a:p>
                      <a:r>
                        <a:rPr sz="1650" b="0">
                          <a:solidFill>
                            <a:srgbClr val="202B58"/>
                          </a:solidFill>
                          <a:latin typeface="Noto Sans JP"/>
                          <a:ea typeface="Noto Sans JP"/>
                          <a:cs typeface="Noto Sans JP"/>
                        </a:rPr>
                        <a:t>配車・初期残量・PV予測</a:t>
                      </a:r>
                    </a:p>
                  </a:txBody>
                  <a:tcPr>
                    <a:solidFill>
                      <a:srgbClr val="FFFFFF"/>
                    </a:solidFill>
                  </a:tcPr>
                </a:tc>
                <a:extLst>
                  <a:ext uri="{0D108BD9-81ED-4DB2-BD59-A6C34878D82A}">
                    <a16:rowId xmlns:a16="http://schemas.microsoft.com/office/drawing/2014/main" val="10002"/>
                  </a:ext>
                </a:extLst>
              </a:tr>
              <a:tr h="664845">
                <a:tc>
                  <a:txBody>
                    <a:bodyPr/>
                    <a:lstStyle/>
                    <a:p>
                      <a:r>
                        <a:rPr sz="1650" b="0">
                          <a:solidFill>
                            <a:srgbClr val="202B58"/>
                          </a:solidFill>
                          <a:latin typeface="Noto Sans JP"/>
                          <a:ea typeface="Noto Sans JP"/>
                          <a:cs typeface="Noto Sans JP"/>
                        </a:rPr>
                        <a:t>3　毎時の更新</a:t>
                      </a:r>
                    </a:p>
                  </a:txBody>
                  <a:tcPr>
                    <a:solidFill>
                      <a:srgbClr val="F1F5F8"/>
                    </a:solidFill>
                  </a:tcPr>
                </a:tc>
                <a:tc>
                  <a:txBody>
                    <a:bodyPr/>
                    <a:lstStyle/>
                    <a:p>
                      <a:r>
                        <a:rPr sz="1650" b="0">
                          <a:solidFill>
                            <a:srgbClr val="202B58"/>
                          </a:solidFill>
                          <a:latin typeface="Noto Sans JP"/>
                          <a:ea typeface="Noto Sans JP"/>
                          <a:cs typeface="Noto Sans JP"/>
                        </a:rPr>
                        <a:t>先頭1時間を採用し、残量を引き継ぐ</a:t>
                      </a:r>
                    </a:p>
                  </a:txBody>
                  <a:tcPr>
                    <a:solidFill>
                      <a:srgbClr val="F1F5F8"/>
                    </a:solidFill>
                  </a:tcPr>
                </a:tc>
                <a:tc>
                  <a:txBody>
                    <a:bodyPr/>
                    <a:lstStyle/>
                    <a:p>
                      <a:r>
                        <a:rPr sz="1650" b="0">
                          <a:solidFill>
                            <a:srgbClr val="202B58"/>
                          </a:solidFill>
                          <a:latin typeface="Noto Sans JP"/>
                          <a:ea typeface="Noto Sans JP"/>
                          <a:cs typeface="Noto Sans JP"/>
                        </a:rPr>
                        <a:t>現在残量・PV予測・履歴推定PV</a:t>
                      </a:r>
                    </a:p>
                  </a:txBody>
                  <a:tcPr>
                    <a:solidFill>
                      <a:srgbClr val="F1F5F8"/>
                    </a:solidFill>
                  </a:tcPr>
                </a:tc>
                <a:extLst>
                  <a:ext uri="{0D108BD9-81ED-4DB2-BD59-A6C34878D82A}">
                    <a16:rowId xmlns:a16="http://schemas.microsoft.com/office/drawing/2014/main" val="10003"/>
                  </a:ext>
                </a:extLst>
              </a:tr>
              <a:tr h="664845">
                <a:tc>
                  <a:txBody>
                    <a:bodyPr/>
                    <a:lstStyle/>
                    <a:p>
                      <a:r>
                        <a:rPr sz="1650" b="0">
                          <a:solidFill>
                            <a:srgbClr val="202B58"/>
                          </a:solidFill>
                          <a:latin typeface="Noto Sans JP"/>
                          <a:ea typeface="Noto Sans JP"/>
                          <a:cs typeface="Noto Sans JP"/>
                        </a:rPr>
                        <a:t>4　実行値の検算</a:t>
                      </a:r>
                    </a:p>
                  </a:txBody>
                  <a:tcPr>
                    <a:solidFill>
                      <a:srgbClr val="FFFFFF"/>
                    </a:solidFill>
                  </a:tcPr>
                </a:tc>
                <a:tc>
                  <a:txBody>
                    <a:bodyPr/>
                    <a:lstStyle/>
                    <a:p>
                      <a:r>
                        <a:rPr sz="1650" b="0">
                          <a:solidFill>
                            <a:srgbClr val="202B58"/>
                          </a:solidFill>
                          <a:latin typeface="Noto Sans JP"/>
                          <a:ea typeface="Noto Sans JP"/>
                          <a:cs typeface="Noto Sans JP"/>
                        </a:rPr>
                        <a:t>全便・電池・電力収支・会計を照合する</a:t>
                      </a:r>
                    </a:p>
                  </a:txBody>
                  <a:tcPr>
                    <a:solidFill>
                      <a:srgbClr val="FFFFFF"/>
                    </a:solidFill>
                  </a:tcPr>
                </a:tc>
                <a:tc>
                  <a:txBody>
                    <a:bodyPr/>
                    <a:lstStyle/>
                    <a:p>
                      <a:r>
                        <a:rPr sz="1650" b="0">
                          <a:solidFill>
                            <a:srgbClr val="202B58"/>
                          </a:solidFill>
                          <a:latin typeface="Noto Sans JP"/>
                          <a:ea typeface="Noto Sans JP"/>
                          <a:cs typeface="Noto Sans JP"/>
                        </a:rPr>
                        <a:t>168時間の採用済み実行データ</a:t>
                      </a:r>
                    </a:p>
                  </a:txBody>
                  <a:tcPr>
                    <a:solidFill>
                      <a:srgbClr val="FFFFFF"/>
                    </a:solidFill>
                  </a:tcPr>
                </a:tc>
                <a:extLst>
                  <a:ext uri="{0D108BD9-81ED-4DB2-BD59-A6C34878D82A}">
                    <a16:rowId xmlns:a16="http://schemas.microsoft.com/office/drawing/2014/main" val="10004"/>
                  </a:ext>
                </a:extLst>
              </a:tr>
            </a:tbl>
          </a:graphicData>
        </a:graphic>
      </p:graphicFrame>
      <p:sp>
        <p:nvSpPr>
          <p:cNvPr id="8" name="正方形/長方形 7">
            <a:extLst>
              <a:ext uri="{FF2B5EF4-FFF2-40B4-BE49-F238E27FC236}">
                <a16:creationId xmlns:a16="http://schemas.microsoft.com/office/drawing/2014/main" id="{E3A1970E-6F2B-48A1-9C8B-2DF8504BC7DA}"/>
              </a:ext>
            </a:extLst>
          </p:cNvPr>
          <p:cNvSpPr>
            <a:spLocks noGrp="1"/>
          </p:cNvSpPr>
          <p:nvPr/>
        </p:nvSpPr>
        <p:spPr>
          <a:xfrm>
            <a:off x="685800" y="5172075"/>
            <a:ext cx="10668000" cy="361950"/>
          </a:xfrm>
          <a:prstGeom prst="rect">
            <a:avLst/>
          </a:prstGeom>
          <a:noFill/>
          <a:ln w="0">
            <a:noFill/>
          </a:ln>
        </p:spPr>
        <p:txBody>
          <a:bodyPr>
            <a:noAutofit/>
          </a:bodyPr>
          <a:lstStyle/>
          <a:p>
            <a:pPr>
              <a:defRPr sz="1650" b="0">
                <a:solidFill>
                  <a:srgbClr val="59687B"/>
                </a:solidFill>
                <a:latin typeface="Noto Sans JP"/>
                <a:ea typeface="Noto Sans JP"/>
                <a:cs typeface="Noto Sans JP"/>
              </a:defRPr>
            </a:pPr>
            <a:r>
              <a:rPr sz="1650" b="0">
                <a:solidFill>
                  <a:srgbClr val="59687B"/>
                </a:solidFill>
                <a:latin typeface="Noto Sans JP"/>
                <a:ea typeface="Noto Sans JP"/>
                <a:cs typeface="Noto Sans JP"/>
              </a:rPr>
              <a:t>予測：2024年のデータから作成　／　評価：2025年の履歴推定PV</a:t>
            </a:r>
          </a:p>
        </p:txBody>
      </p:sp>
    </p:spTree>
    <p:extLst>
      <p:ext uri="{BB962C8B-B14F-4D97-AF65-F5344CB8AC3E}">
        <p14:creationId xmlns:p14="http://schemas.microsoft.com/office/powerpoint/2010/main" val="18822368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FF643B75-4676-4DF5-91F3-038C02D2FADC}"/>
              </a:ext>
            </a:extLst>
          </p:cNvPr>
          <p:cNvSpPr>
            <a:spLocks noGrp="1"/>
          </p:cNvSpPr>
          <p:nvPr/>
        </p:nvSpPr>
        <p:spPr>
          <a:xfrm>
            <a:off x="419100" y="228600"/>
            <a:ext cx="11353800" cy="609600"/>
          </a:xfrm>
          <a:prstGeom prst="rect">
            <a:avLst/>
          </a:prstGeom>
          <a:noFill/>
          <a:ln w="0">
            <a:noFill/>
          </a:ln>
        </p:spPr>
        <p:txBody>
          <a:bodyPr>
            <a:noAutofit/>
          </a:bodyPr>
          <a:lstStyle/>
          <a:p>
            <a:pPr>
              <a:defRPr sz="2625" b="1">
                <a:solidFill>
                  <a:srgbClr val="202B58"/>
                </a:solidFill>
                <a:latin typeface="Noto Sans JP"/>
                <a:ea typeface="Noto Sans JP"/>
                <a:cs typeface="Noto Sans JP"/>
              </a:defRPr>
            </a:pPr>
            <a:r>
              <a:rPr sz="2625" b="1">
                <a:solidFill>
                  <a:srgbClr val="202B58"/>
                </a:solidFill>
                <a:latin typeface="Noto Sans JP"/>
                <a:ea typeface="Noto Sans JP"/>
                <a:cs typeface="Noto Sans JP"/>
              </a:rPr>
              <a:t>計算の完了と確認できた範囲</a:t>
            </a:r>
          </a:p>
        </p:txBody>
      </p:sp>
      <p:sp>
        <p:nvSpPr>
          <p:cNvPr id="2" name="正方形/長方形 1">
            <a:extLst>
              <a:ext uri="{FF2B5EF4-FFF2-40B4-BE49-F238E27FC236}">
                <a16:creationId xmlns:a16="http://schemas.microsoft.com/office/drawing/2014/main" id="{BD3A4F0C-AB2F-4DDF-A73B-E3AB7A9C0291}"/>
              </a:ext>
            </a:extLst>
          </p:cNvPr>
          <p:cNvSpPr>
            <a:spLocks noGrp="1"/>
          </p:cNvSpPr>
          <p:nvPr/>
        </p:nvSpPr>
        <p:spPr>
          <a:xfrm>
            <a:off x="571500" y="981075"/>
            <a:ext cx="11049000" cy="590550"/>
          </a:xfrm>
          <a:prstGeom prst="rect">
            <a:avLst/>
          </a:prstGeom>
          <a:noFill/>
          <a:ln w="0">
            <a:noFill/>
          </a:ln>
        </p:spPr>
        <p:txBody>
          <a:bodyPr>
            <a:noAutofit/>
          </a:bodyPr>
          <a:lstStyle/>
          <a:p>
            <a:pPr>
              <a:defRPr sz="1725" b="0">
                <a:solidFill>
                  <a:srgbClr val="59687B"/>
                </a:solidFill>
                <a:latin typeface="Noto Sans JP"/>
                <a:ea typeface="Noto Sans JP"/>
                <a:cs typeface="Noto Sans JP"/>
              </a:defRPr>
            </a:pPr>
            <a:r>
              <a:rPr sz="1725" b="0">
                <a:solidFill>
                  <a:srgbClr val="59687B"/>
                </a:solidFill>
                <a:latin typeface="Noto Sans JP"/>
                <a:ea typeface="Noto Sans JP"/>
                <a:cs typeface="Noto Sans JP"/>
              </a:rPr>
              <a:t>12週すべてで、週間の運行・エネルギー・会計の整合を確認</a:t>
            </a:r>
          </a:p>
        </p:txBody>
      </p:sp>
      <p:sp>
        <p:nvSpPr>
          <p:cNvPr id="3" name="正方形/長方形 2">
            <a:extLst>
              <a:ext uri="{FF2B5EF4-FFF2-40B4-BE49-F238E27FC236}">
                <a16:creationId xmlns:a16="http://schemas.microsoft.com/office/drawing/2014/main" id="{9CC8331A-1C78-4C8B-ABEB-8D230D1658C0}"/>
              </a:ext>
            </a:extLst>
          </p:cNvPr>
          <p:cNvSpPr>
            <a:spLocks noGrp="1"/>
          </p:cNvSpPr>
          <p:nvPr/>
        </p:nvSpPr>
        <p:spPr>
          <a:xfrm>
            <a:off x="571500" y="5638800"/>
            <a:ext cx="11049000" cy="56197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実行可能な計画を比較できる段階に到達。優位性の実証は次の課題</a:t>
            </a:r>
          </a:p>
        </p:txBody>
      </p:sp>
      <p:sp>
        <p:nvSpPr>
          <p:cNvPr id="5" name="正方形/長方形 4">
            <a:extLst>
              <a:ext uri="{FF2B5EF4-FFF2-40B4-BE49-F238E27FC236}">
                <a16:creationId xmlns:a16="http://schemas.microsoft.com/office/drawing/2014/main" id="{EA7FA399-8CA0-4516-BCF4-EFCC6A2D3B8E}"/>
              </a:ext>
            </a:extLst>
          </p:cNvPr>
          <p:cNvSpPr>
            <a:spLocks noGrp="1"/>
          </p:cNvSpPr>
          <p:nvPr/>
        </p:nvSpPr>
        <p:spPr>
          <a:xfrm>
            <a:off x="419100" y="6638925"/>
            <a:ext cx="10096500" cy="180975"/>
          </a:xfrm>
          <a:prstGeom prst="rect">
            <a:avLst/>
          </a:prstGeom>
          <a:noFill/>
          <a:ln w="0">
            <a:noFill/>
          </a:ln>
        </p:spPr>
        <p:txBody>
          <a:bodyPr>
            <a:noAutofit/>
          </a:bodyPr>
          <a:lstStyle/>
          <a:p>
            <a:pPr>
              <a:defRPr sz="900" b="0">
                <a:solidFill>
                  <a:srgbClr val="59687B"/>
                </a:solidFill>
                <a:latin typeface="Noto Sans JP"/>
                <a:ea typeface="Noto Sans JP"/>
                <a:cs typeface="Noto Sans JP"/>
              </a:defRPr>
            </a:pPr>
            <a:r>
              <a:rPr sz="900" b="0">
                <a:solidFill>
                  <a:srgbClr val="59687B"/>
                </a:solidFill>
                <a:latin typeface="Noto Sans JP"/>
                <a:ea typeface="Noto Sans JP"/>
                <a:cs typeface="Noto Sans JP"/>
              </a:rPr>
              <a:t>修士研究　2026年9月18日　／　月別12週のシミュレーション（診断結果）</a:t>
            </a:r>
          </a:p>
        </p:txBody>
      </p:sp>
      <p:sp>
        <p:nvSpPr>
          <p:cNvPr id="6" name="正方形/長方形 5">
            <a:extLst>
              <a:ext uri="{FF2B5EF4-FFF2-40B4-BE49-F238E27FC236}">
                <a16:creationId xmlns:a16="http://schemas.microsoft.com/office/drawing/2014/main" id="{840B0DFF-C292-4C92-AC64-9AD7BA82A028}"/>
              </a:ext>
            </a:extLst>
          </p:cNvPr>
          <p:cNvSpPr>
            <a:spLocks noGrp="1"/>
          </p:cNvSpPr>
          <p:nvPr/>
        </p:nvSpPr>
        <p:spPr>
          <a:xfrm>
            <a:off x="11144250" y="6610350"/>
            <a:ext cx="628650" cy="228600"/>
          </a:xfrm>
          <a:prstGeom prst="rect">
            <a:avLst/>
          </a:prstGeom>
          <a:noFill/>
          <a:ln w="0">
            <a:noFill/>
          </a:ln>
        </p:spPr>
        <p:txBody>
          <a:bodyPr>
            <a:noAutofit/>
          </a:bodyPr>
          <a:lstStyle/>
          <a:p>
            <a:pPr>
              <a:defRPr sz="1050" b="0">
                <a:solidFill>
                  <a:srgbClr val="59687B"/>
                </a:solidFill>
                <a:latin typeface="Noto Sans JP"/>
                <a:ea typeface="Noto Sans JP"/>
                <a:cs typeface="Noto Sans JP"/>
              </a:defRPr>
            </a:pPr>
            <a:r>
              <a:rPr sz="1050" b="0">
                <a:solidFill>
                  <a:srgbClr val="59687B"/>
                </a:solidFill>
                <a:latin typeface="Noto Sans JP"/>
                <a:ea typeface="Noto Sans JP"/>
                <a:cs typeface="Noto Sans JP"/>
              </a:rPr>
              <a:t>6/24</a:t>
            </a:r>
          </a:p>
        </p:txBody>
      </p:sp>
      <p:graphicFrame>
        <p:nvGraphicFramePr>
          <p:cNvPr id="15" name="表 14"/>
          <p:cNvGraphicFramePr/>
          <p:nvPr/>
        </p:nvGraphicFramePr>
        <p:xfrm>
          <a:off x="571500" y="1695450"/>
          <a:ext cx="11049000" cy="3133725"/>
        </p:xfrm>
        <a:graphic>
          <a:graphicData uri="http://schemas.openxmlformats.org/drawingml/2006/table">
            <a:tbl>
              <a:tblPr/>
              <a:tblGrid>
                <a:gridCol w="2476500">
                  <a:extLst>
                    <a:ext uri="{9D8B030D-6E8A-4147-A177-3AD203B41FA5}">
                      <a16:colId xmlns:a16="http://schemas.microsoft.com/office/drawing/2014/main" val="20000"/>
                    </a:ext>
                  </a:extLst>
                </a:gridCol>
                <a:gridCol w="4000500">
                  <a:extLst>
                    <a:ext uri="{9D8B030D-6E8A-4147-A177-3AD203B41FA5}">
                      <a16:colId xmlns:a16="http://schemas.microsoft.com/office/drawing/2014/main" val="20001"/>
                    </a:ext>
                  </a:extLst>
                </a:gridCol>
                <a:gridCol w="4572000">
                  <a:extLst>
                    <a:ext uri="{9D8B030D-6E8A-4147-A177-3AD203B41FA5}">
                      <a16:colId xmlns:a16="http://schemas.microsoft.com/office/drawing/2014/main" val="20002"/>
                    </a:ext>
                  </a:extLst>
                </a:gridCol>
              </a:tblGrid>
              <a:tr h="626745">
                <a:tc>
                  <a:txBody>
                    <a:bodyPr/>
                    <a:lstStyle/>
                    <a:p>
                      <a:r>
                        <a:rPr sz="1650" b="1">
                          <a:solidFill>
                            <a:srgbClr val="FFFFFF"/>
                          </a:solidFill>
                          <a:latin typeface="Noto Sans JP"/>
                          <a:ea typeface="Noto Sans JP"/>
                          <a:cs typeface="Noto Sans JP"/>
                        </a:rPr>
                        <a:t>確認項目</a:t>
                      </a:r>
                    </a:p>
                  </a:txBody>
                  <a:tcPr>
                    <a:solidFill>
                      <a:srgbClr val="202B58"/>
                    </a:solidFill>
                  </a:tcPr>
                </a:tc>
                <a:tc>
                  <a:txBody>
                    <a:bodyPr/>
                    <a:lstStyle/>
                    <a:p>
                      <a:r>
                        <a:rPr sz="1650" b="1">
                          <a:solidFill>
                            <a:srgbClr val="FFFFFF"/>
                          </a:solidFill>
                          <a:latin typeface="Noto Sans JP"/>
                          <a:ea typeface="Noto Sans JP"/>
                          <a:cs typeface="Noto Sans JP"/>
                        </a:rPr>
                        <a:t>結果</a:t>
                      </a:r>
                    </a:p>
                  </a:txBody>
                  <a:tcPr>
                    <a:solidFill>
                      <a:srgbClr val="202B58"/>
                    </a:solidFill>
                  </a:tcPr>
                </a:tc>
                <a:tc>
                  <a:txBody>
                    <a:bodyPr/>
                    <a:lstStyle/>
                    <a:p>
                      <a:r>
                        <a:rPr sz="1650" b="1">
                          <a:solidFill>
                            <a:srgbClr val="FFFFFF"/>
                          </a:solidFill>
                          <a:latin typeface="Noto Sans JP"/>
                          <a:ea typeface="Noto Sans JP"/>
                          <a:cs typeface="Noto Sans JP"/>
                        </a:rPr>
                        <a:t>意味</a:t>
                      </a:r>
                    </a:p>
                  </a:txBody>
                  <a:tcPr>
                    <a:solidFill>
                      <a:srgbClr val="202B58"/>
                    </a:solidFill>
                  </a:tcPr>
                </a:tc>
                <a:extLst>
                  <a:ext uri="{0D108BD9-81ED-4DB2-BD59-A6C34878D82A}">
                    <a16:rowId xmlns:a16="http://schemas.microsoft.com/office/drawing/2014/main" val="10000"/>
                  </a:ext>
                </a:extLst>
              </a:tr>
              <a:tr h="626745">
                <a:tc>
                  <a:txBody>
                    <a:bodyPr/>
                    <a:lstStyle/>
                    <a:p>
                      <a:r>
                        <a:rPr sz="1650" b="0">
                          <a:solidFill>
                            <a:srgbClr val="202B58"/>
                          </a:solidFill>
                          <a:latin typeface="Noto Sans JP"/>
                          <a:ea typeface="Noto Sans JP"/>
                          <a:cs typeface="Noto Sans JP"/>
                        </a:rPr>
                        <a:t>週間計算</a:t>
                      </a:r>
                    </a:p>
                  </a:txBody>
                  <a:tcPr>
                    <a:solidFill>
                      <a:srgbClr val="F1F5F8"/>
                    </a:solidFill>
                  </a:tcPr>
                </a:tc>
                <a:tc>
                  <a:txBody>
                    <a:bodyPr/>
                    <a:lstStyle/>
                    <a:p>
                      <a:r>
                        <a:rPr sz="1650" b="0">
                          <a:solidFill>
                            <a:srgbClr val="202B58"/>
                          </a:solidFill>
                          <a:latin typeface="Noto Sans JP"/>
                          <a:ea typeface="Noto Sans JP"/>
                          <a:cs typeface="Noto Sans JP"/>
                        </a:rPr>
                        <a:t>12／12週、各168時間</a:t>
                      </a:r>
                    </a:p>
                  </a:txBody>
                  <a:tcPr>
                    <a:solidFill>
                      <a:srgbClr val="F1F5F8"/>
                    </a:solidFill>
                  </a:tcPr>
                </a:tc>
                <a:tc>
                  <a:txBody>
                    <a:bodyPr/>
                    <a:lstStyle/>
                    <a:p>
                      <a:r>
                        <a:rPr sz="1650" b="0">
                          <a:solidFill>
                            <a:srgbClr val="202B58"/>
                          </a:solidFill>
                          <a:latin typeface="Noto Sans JP"/>
                          <a:ea typeface="Noto Sans JP"/>
                          <a:cs typeface="Noto Sans JP"/>
                        </a:rPr>
                        <a:t>途中の成功週だけを抜き出していない</a:t>
                      </a:r>
                    </a:p>
                  </a:txBody>
                  <a:tcPr>
                    <a:solidFill>
                      <a:srgbClr val="F1F5F8"/>
                    </a:solidFill>
                  </a:tcPr>
                </a:tc>
                <a:extLst>
                  <a:ext uri="{0D108BD9-81ED-4DB2-BD59-A6C34878D82A}">
                    <a16:rowId xmlns:a16="http://schemas.microsoft.com/office/drawing/2014/main" val="10001"/>
                  </a:ext>
                </a:extLst>
              </a:tr>
              <a:tr h="626745">
                <a:tc>
                  <a:txBody>
                    <a:bodyPr/>
                    <a:lstStyle/>
                    <a:p>
                      <a:r>
                        <a:rPr sz="1650" b="0">
                          <a:solidFill>
                            <a:srgbClr val="202B58"/>
                          </a:solidFill>
                          <a:latin typeface="Noto Sans JP"/>
                          <a:ea typeface="Noto Sans JP"/>
                          <a:cs typeface="Noto Sans JP"/>
                        </a:rPr>
                        <a:t>運行・充電</a:t>
                      </a:r>
                    </a:p>
                  </a:txBody>
                  <a:tcPr>
                    <a:solidFill>
                      <a:srgbClr val="FFFFFF"/>
                    </a:solidFill>
                  </a:tcPr>
                </a:tc>
                <a:tc>
                  <a:txBody>
                    <a:bodyPr/>
                    <a:lstStyle/>
                    <a:p>
                      <a:r>
                        <a:rPr sz="1650" b="0">
                          <a:solidFill>
                            <a:srgbClr val="202B58"/>
                          </a:solidFill>
                          <a:latin typeface="Noto Sans JP"/>
                          <a:ea typeface="Noto Sans JP"/>
                          <a:cs typeface="Noto Sans JP"/>
                        </a:rPr>
                        <a:t>全週1,704便、物理違反0件</a:t>
                      </a:r>
                    </a:p>
                  </a:txBody>
                  <a:tcPr>
                    <a:solidFill>
                      <a:srgbClr val="FFFFFF"/>
                    </a:solidFill>
                  </a:tcPr>
                </a:tc>
                <a:tc>
                  <a:txBody>
                    <a:bodyPr/>
                    <a:lstStyle/>
                    <a:p>
                      <a:r>
                        <a:rPr sz="1650" b="0">
                          <a:solidFill>
                            <a:srgbClr val="202B58"/>
                          </a:solidFill>
                          <a:latin typeface="Noto Sans JP"/>
                          <a:ea typeface="Noto Sans JP"/>
                          <a:cs typeface="Noto Sans JP"/>
                        </a:rPr>
                        <a:t>時間接続・電池残量・設備制約を検算</a:t>
                      </a:r>
                    </a:p>
                  </a:txBody>
                  <a:tcPr>
                    <a:solidFill>
                      <a:srgbClr val="FFFFFF"/>
                    </a:solidFill>
                  </a:tcPr>
                </a:tc>
                <a:extLst>
                  <a:ext uri="{0D108BD9-81ED-4DB2-BD59-A6C34878D82A}">
                    <a16:rowId xmlns:a16="http://schemas.microsoft.com/office/drawing/2014/main" val="10002"/>
                  </a:ext>
                </a:extLst>
              </a:tr>
              <a:tr h="626745">
                <a:tc>
                  <a:txBody>
                    <a:bodyPr/>
                    <a:lstStyle/>
                    <a:p>
                      <a:r>
                        <a:rPr sz="1650" b="0">
                          <a:solidFill>
                            <a:srgbClr val="202B58"/>
                          </a:solidFill>
                          <a:latin typeface="Noto Sans JP"/>
                          <a:ea typeface="Noto Sans JP"/>
                          <a:cs typeface="Noto Sans JP"/>
                        </a:rPr>
                        <a:t>費用の照合</a:t>
                      </a:r>
                    </a:p>
                  </a:txBody>
                  <a:tcPr>
                    <a:solidFill>
                      <a:srgbClr val="F1F5F8"/>
                    </a:solidFill>
                  </a:tcPr>
                </a:tc>
                <a:tc>
                  <a:txBody>
                    <a:bodyPr/>
                    <a:lstStyle/>
                    <a:p>
                      <a:r>
                        <a:rPr sz="1650" b="0">
                          <a:solidFill>
                            <a:srgbClr val="202B58"/>
                          </a:solidFill>
                          <a:latin typeface="Noto Sans JP"/>
                          <a:ea typeface="Noto Sans JP"/>
                          <a:cs typeface="Noto Sans JP"/>
                        </a:rPr>
                        <a:t>週間会計と台帳の差 ≤ 10⁻⁶円</a:t>
                      </a:r>
                    </a:p>
                  </a:txBody>
                  <a:tcPr>
                    <a:solidFill>
                      <a:srgbClr val="F1F5F8"/>
                    </a:solidFill>
                  </a:tcPr>
                </a:tc>
                <a:tc>
                  <a:txBody>
                    <a:bodyPr/>
                    <a:lstStyle/>
                    <a:p>
                      <a:r>
                        <a:rPr sz="1650" b="0">
                          <a:solidFill>
                            <a:srgbClr val="202B58"/>
                          </a:solidFill>
                          <a:latin typeface="Noto Sans JP"/>
                          <a:ea typeface="Noto Sans JP"/>
                          <a:cs typeface="Noto Sans JP"/>
                        </a:rPr>
                        <a:t>報告費用を実行値に対応付けた</a:t>
                      </a:r>
                    </a:p>
                  </a:txBody>
                  <a:tcPr>
                    <a:solidFill>
                      <a:srgbClr val="F1F5F8"/>
                    </a:solidFill>
                  </a:tcPr>
                </a:tc>
                <a:extLst>
                  <a:ext uri="{0D108BD9-81ED-4DB2-BD59-A6C34878D82A}">
                    <a16:rowId xmlns:a16="http://schemas.microsoft.com/office/drawing/2014/main" val="10003"/>
                  </a:ext>
                </a:extLst>
              </a:tr>
              <a:tr h="626745">
                <a:tc>
                  <a:txBody>
                    <a:bodyPr/>
                    <a:lstStyle/>
                    <a:p>
                      <a:r>
                        <a:rPr sz="1650" b="0">
                          <a:solidFill>
                            <a:srgbClr val="202B58"/>
                          </a:solidFill>
                          <a:latin typeface="Noto Sans JP"/>
                          <a:ea typeface="Noto Sans JP"/>
                          <a:cs typeface="Noto Sans JP"/>
                        </a:rPr>
                        <a:t>未完了の評価</a:t>
                      </a:r>
                    </a:p>
                  </a:txBody>
                  <a:tcPr>
                    <a:solidFill>
                      <a:srgbClr val="FFFFFF"/>
                    </a:solidFill>
                  </a:tcPr>
                </a:tc>
                <a:tc>
                  <a:txBody>
                    <a:bodyPr/>
                    <a:lstStyle/>
                    <a:p>
                      <a:r>
                        <a:rPr sz="1650" b="0">
                          <a:solidFill>
                            <a:srgbClr val="202B58"/>
                          </a:solidFill>
                          <a:latin typeface="Noto Sans JP"/>
                          <a:ea typeface="Noto Sans JP"/>
                          <a:cs typeface="Noto Sans JP"/>
                        </a:rPr>
                        <a:t>最適性・同条件の対照比較</a:t>
                      </a:r>
                    </a:p>
                  </a:txBody>
                  <a:tcPr>
                    <a:solidFill>
                      <a:srgbClr val="FFFFFF"/>
                    </a:solidFill>
                  </a:tcPr>
                </a:tc>
                <a:tc>
                  <a:txBody>
                    <a:bodyPr/>
                    <a:lstStyle/>
                    <a:p>
                      <a:r>
                        <a:rPr sz="1650" b="0">
                          <a:solidFill>
                            <a:srgbClr val="202B58"/>
                          </a:solidFill>
                          <a:latin typeface="Noto Sans JP"/>
                          <a:ea typeface="Noto Sans JP"/>
                          <a:cs typeface="Noto Sans JP"/>
                        </a:rPr>
                        <a:t>現在は診断結果として報告する</a:t>
                      </a:r>
                    </a:p>
                  </a:txBody>
                  <a:tcPr>
                    <a:solidFill>
                      <a:srgbClr val="FFFFFF"/>
                    </a:solidFill>
                  </a:tcPr>
                </a:tc>
                <a:extLst>
                  <a:ext uri="{0D108BD9-81ED-4DB2-BD59-A6C34878D82A}">
                    <a16:rowId xmlns:a16="http://schemas.microsoft.com/office/drawing/2014/main" val="10004"/>
                  </a:ext>
                </a:extLst>
              </a:tr>
            </a:tbl>
          </a:graphicData>
        </a:graphic>
      </p:graphicFrame>
      <p:sp>
        <p:nvSpPr>
          <p:cNvPr id="8" name="正方形/長方形 7">
            <a:extLst>
              <a:ext uri="{FF2B5EF4-FFF2-40B4-BE49-F238E27FC236}">
                <a16:creationId xmlns:a16="http://schemas.microsoft.com/office/drawing/2014/main" id="{93E3A1EA-69DE-4F28-A53E-A2D938E67D42}"/>
              </a:ext>
            </a:extLst>
          </p:cNvPr>
          <p:cNvSpPr>
            <a:spLocks noGrp="1"/>
          </p:cNvSpPr>
          <p:nvPr/>
        </p:nvSpPr>
        <p:spPr>
          <a:xfrm>
            <a:off x="685800" y="5086350"/>
            <a:ext cx="10763250" cy="466725"/>
          </a:xfrm>
          <a:prstGeom prst="rect">
            <a:avLst/>
          </a:prstGeom>
          <a:noFill/>
          <a:ln w="0">
            <a:noFill/>
          </a:ln>
        </p:spPr>
        <p:txBody>
          <a:bodyPr>
            <a:noAutofit/>
          </a:bodyPr>
          <a:lstStyle/>
          <a:p>
            <a:pPr>
              <a:defRPr sz="1575" b="0">
                <a:solidFill>
                  <a:srgbClr val="59687B"/>
                </a:solidFill>
                <a:latin typeface="Noto Sans JP"/>
                <a:ea typeface="Noto Sans JP"/>
                <a:cs typeface="Noto Sans JP"/>
              </a:defRPr>
            </a:pPr>
            <a:r>
              <a:rPr sz="1575" b="0">
                <a:solidFill>
                  <a:srgbClr val="59687B"/>
                </a:solidFill>
                <a:latin typeface="Noto Sans JP"/>
                <a:ea typeface="Noto Sans JP"/>
                <a:cs typeface="Noto Sans JP"/>
              </a:rPr>
              <a:t>各週は同じ初期状態から開始。BESSの週末残量は初期値への復元を要求しない。</a:t>
            </a:r>
          </a:p>
        </p:txBody>
      </p:sp>
    </p:spTree>
    <p:extLst>
      <p:ext uri="{BB962C8B-B14F-4D97-AF65-F5344CB8AC3E}">
        <p14:creationId xmlns:p14="http://schemas.microsoft.com/office/powerpoint/2010/main" val="1525520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6AE051EF-FC04-4C22-AD10-F0E737392D51}"/>
              </a:ext>
            </a:extLst>
          </p:cNvPr>
          <p:cNvSpPr>
            <a:spLocks noGrp="1"/>
          </p:cNvSpPr>
          <p:nvPr/>
        </p:nvSpPr>
        <p:spPr>
          <a:xfrm>
            <a:off x="419100" y="228600"/>
            <a:ext cx="11353800" cy="609600"/>
          </a:xfrm>
          <a:prstGeom prst="rect">
            <a:avLst/>
          </a:prstGeom>
          <a:noFill/>
          <a:ln w="0">
            <a:noFill/>
          </a:ln>
        </p:spPr>
        <p:txBody>
          <a:bodyPr>
            <a:noAutofit/>
          </a:bodyPr>
          <a:lstStyle/>
          <a:p>
            <a:pPr>
              <a:defRPr sz="2625" b="1">
                <a:solidFill>
                  <a:srgbClr val="202B58"/>
                </a:solidFill>
                <a:latin typeface="Noto Sans JP"/>
                <a:ea typeface="Noto Sans JP"/>
                <a:cs typeface="Noto Sans JP"/>
              </a:defRPr>
            </a:pPr>
            <a:r>
              <a:rPr sz="2625" b="1">
                <a:solidFill>
                  <a:srgbClr val="202B58"/>
                </a:solidFill>
                <a:latin typeface="Noto Sans JP"/>
                <a:ea typeface="Noto Sans JP"/>
                <a:cs typeface="Noto Sans JP"/>
              </a:rPr>
              <a:t>受電電力と週間指標の定義</a:t>
            </a:r>
          </a:p>
        </p:txBody>
      </p:sp>
      <p:sp>
        <p:nvSpPr>
          <p:cNvPr id="2" name="正方形/長方形 1">
            <a:extLst>
              <a:ext uri="{FF2B5EF4-FFF2-40B4-BE49-F238E27FC236}">
                <a16:creationId xmlns:a16="http://schemas.microsoft.com/office/drawing/2014/main" id="{7F7D3C30-6A2A-42D7-A15F-B36AEC059299}"/>
              </a:ext>
            </a:extLst>
          </p:cNvPr>
          <p:cNvSpPr>
            <a:spLocks noGrp="1"/>
          </p:cNvSpPr>
          <p:nvPr/>
        </p:nvSpPr>
        <p:spPr>
          <a:xfrm>
            <a:off x="571500" y="981075"/>
            <a:ext cx="11049000" cy="590550"/>
          </a:xfrm>
          <a:prstGeom prst="rect">
            <a:avLst/>
          </a:prstGeom>
          <a:noFill/>
          <a:ln w="0">
            <a:noFill/>
          </a:ln>
        </p:spPr>
        <p:txBody>
          <a:bodyPr>
            <a:noAutofit/>
          </a:bodyPr>
          <a:lstStyle/>
          <a:p>
            <a:pPr>
              <a:defRPr sz="1725" b="0">
                <a:solidFill>
                  <a:srgbClr val="59687B"/>
                </a:solidFill>
                <a:latin typeface="Noto Sans JP"/>
                <a:ea typeface="Noto Sans JP"/>
                <a:cs typeface="Noto Sans JP"/>
              </a:defRPr>
            </a:pPr>
            <a:r>
              <a:rPr sz="1725" b="0">
                <a:solidFill>
                  <a:srgbClr val="59687B"/>
                </a:solidFill>
                <a:latin typeface="Noto Sans JP"/>
                <a:ea typeface="Noto Sans JP"/>
                <a:cs typeface="Noto Sans JP"/>
              </a:rPr>
              <a:t>受電電力は各15分の平均値。1週間は672区間（168時間）</a:t>
            </a:r>
          </a:p>
        </p:txBody>
      </p:sp>
      <p:sp>
        <p:nvSpPr>
          <p:cNvPr id="3" name="正方形/長方形 2">
            <a:extLst>
              <a:ext uri="{FF2B5EF4-FFF2-40B4-BE49-F238E27FC236}">
                <a16:creationId xmlns:a16="http://schemas.microsoft.com/office/drawing/2014/main" id="{7845325E-8E2F-4160-8AF8-E8619FC2FEE9}"/>
              </a:ext>
            </a:extLst>
          </p:cNvPr>
          <p:cNvSpPr>
            <a:spLocks noGrp="1"/>
          </p:cNvSpPr>
          <p:nvPr/>
        </p:nvSpPr>
        <p:spPr>
          <a:xfrm>
            <a:off x="571500" y="5638800"/>
            <a:ext cx="11049000" cy="56197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週間購入電力量が同じでも、短時間へ集中すると受電ピークは高くなる</a:t>
            </a:r>
          </a:p>
        </p:txBody>
      </p:sp>
      <p:sp>
        <p:nvSpPr>
          <p:cNvPr id="5" name="正方形/長方形 4">
            <a:extLst>
              <a:ext uri="{FF2B5EF4-FFF2-40B4-BE49-F238E27FC236}">
                <a16:creationId xmlns:a16="http://schemas.microsoft.com/office/drawing/2014/main" id="{47C746E7-600D-43AB-BCED-DB139CBC140E}"/>
              </a:ext>
            </a:extLst>
          </p:cNvPr>
          <p:cNvSpPr>
            <a:spLocks noGrp="1"/>
          </p:cNvSpPr>
          <p:nvPr/>
        </p:nvSpPr>
        <p:spPr>
          <a:xfrm>
            <a:off x="419100" y="6638925"/>
            <a:ext cx="10096500" cy="180975"/>
          </a:xfrm>
          <a:prstGeom prst="rect">
            <a:avLst/>
          </a:prstGeom>
          <a:noFill/>
          <a:ln w="0">
            <a:noFill/>
          </a:ln>
        </p:spPr>
        <p:txBody>
          <a:bodyPr>
            <a:noAutofit/>
          </a:bodyPr>
          <a:lstStyle/>
          <a:p>
            <a:pPr>
              <a:defRPr sz="900" b="0">
                <a:solidFill>
                  <a:srgbClr val="59687B"/>
                </a:solidFill>
                <a:latin typeface="Noto Sans JP"/>
                <a:ea typeface="Noto Sans JP"/>
                <a:cs typeface="Noto Sans JP"/>
              </a:defRPr>
            </a:pPr>
            <a:r>
              <a:rPr sz="900" b="0">
                <a:solidFill>
                  <a:srgbClr val="59687B"/>
                </a:solidFill>
                <a:latin typeface="Noto Sans JP"/>
                <a:ea typeface="Noto Sans JP"/>
                <a:cs typeface="Noto Sans JP"/>
              </a:rPr>
              <a:t>修士研究　2026年9月18日　／　月別12週のシミュレーション（診断結果）</a:t>
            </a:r>
          </a:p>
        </p:txBody>
      </p:sp>
      <p:sp>
        <p:nvSpPr>
          <p:cNvPr id="6" name="正方形/長方形 5">
            <a:extLst>
              <a:ext uri="{FF2B5EF4-FFF2-40B4-BE49-F238E27FC236}">
                <a16:creationId xmlns:a16="http://schemas.microsoft.com/office/drawing/2014/main" id="{7B087A8C-9552-4469-B3D9-0AB3A968D10C}"/>
              </a:ext>
            </a:extLst>
          </p:cNvPr>
          <p:cNvSpPr>
            <a:spLocks noGrp="1"/>
          </p:cNvSpPr>
          <p:nvPr/>
        </p:nvSpPr>
        <p:spPr>
          <a:xfrm>
            <a:off x="11144250" y="6610350"/>
            <a:ext cx="628650" cy="228600"/>
          </a:xfrm>
          <a:prstGeom prst="rect">
            <a:avLst/>
          </a:prstGeom>
          <a:noFill/>
          <a:ln w="0">
            <a:noFill/>
          </a:ln>
        </p:spPr>
        <p:txBody>
          <a:bodyPr>
            <a:noAutofit/>
          </a:bodyPr>
          <a:lstStyle/>
          <a:p>
            <a:pPr>
              <a:defRPr sz="1050" b="0">
                <a:solidFill>
                  <a:srgbClr val="59687B"/>
                </a:solidFill>
                <a:latin typeface="Noto Sans JP"/>
                <a:ea typeface="Noto Sans JP"/>
                <a:cs typeface="Noto Sans JP"/>
              </a:defRPr>
            </a:pPr>
            <a:r>
              <a:rPr sz="1050" b="0">
                <a:solidFill>
                  <a:srgbClr val="59687B"/>
                </a:solidFill>
                <a:latin typeface="Noto Sans JP"/>
                <a:ea typeface="Noto Sans JP"/>
                <a:cs typeface="Noto Sans JP"/>
              </a:rPr>
              <a:t>7/24</a:t>
            </a:r>
          </a:p>
        </p:txBody>
      </p:sp>
      <p:sp>
        <p:nvSpPr>
          <p:cNvPr id="7" name="正方形/長方形 6">
            <a:extLst>
              <a:ext uri="{FF2B5EF4-FFF2-40B4-BE49-F238E27FC236}">
                <a16:creationId xmlns:a16="http://schemas.microsoft.com/office/drawing/2014/main" id="{1F718B88-2AEE-4B74-96CE-633774AC2D92}"/>
              </a:ext>
            </a:extLst>
          </p:cNvPr>
          <p:cNvSpPr>
            <a:spLocks noGrp="1"/>
          </p:cNvSpPr>
          <p:nvPr/>
        </p:nvSpPr>
        <p:spPr>
          <a:xfrm>
            <a:off x="685800" y="1752600"/>
            <a:ext cx="10668000" cy="495300"/>
          </a:xfrm>
          <a:prstGeom prst="rect">
            <a:avLst/>
          </a:prstGeom>
          <a:noFill/>
          <a:ln w="0">
            <a:noFill/>
          </a:ln>
        </p:spPr>
        <p:txBody>
          <a:bodyPr>
            <a:noAutofit/>
          </a:bodyPr>
          <a:lstStyle/>
          <a:p>
            <a:pPr>
              <a:defRPr sz="2100" b="1">
                <a:solidFill>
                  <a:srgbClr val="316DB6"/>
                </a:solidFill>
                <a:latin typeface="Noto Sans JP"/>
                <a:ea typeface="Noto Sans JP"/>
                <a:cs typeface="Noto Sans JP"/>
              </a:defRPr>
            </a:pPr>
            <a:r>
              <a:rPr sz="2100" b="1">
                <a:solidFill>
                  <a:srgbClr val="316DB6"/>
                </a:solidFill>
                <a:latin typeface="Noto Sans JP"/>
                <a:ea typeface="Noto Sans JP"/>
                <a:cs typeface="Noto Sans JP"/>
              </a:rPr>
              <a:t>計算例：100 kW × 15分（0.25時間）＝ 25 kWh</a:t>
            </a:r>
          </a:p>
        </p:txBody>
      </p:sp>
      <p:graphicFrame>
        <p:nvGraphicFramePr>
          <p:cNvPr id="16" name="表 15"/>
          <p:cNvGraphicFramePr/>
          <p:nvPr/>
        </p:nvGraphicFramePr>
        <p:xfrm>
          <a:off x="571500" y="2505075"/>
          <a:ext cx="11049000" cy="2847976"/>
        </p:xfrm>
        <a:graphic>
          <a:graphicData uri="http://schemas.openxmlformats.org/drawingml/2006/table">
            <a:tbl>
              <a:tblPr/>
              <a:tblGrid>
                <a:gridCol w="3333750">
                  <a:extLst>
                    <a:ext uri="{9D8B030D-6E8A-4147-A177-3AD203B41FA5}">
                      <a16:colId xmlns:a16="http://schemas.microsoft.com/office/drawing/2014/main" val="20000"/>
                    </a:ext>
                  </a:extLst>
                </a:gridCol>
                <a:gridCol w="4381500">
                  <a:extLst>
                    <a:ext uri="{9D8B030D-6E8A-4147-A177-3AD203B41FA5}">
                      <a16:colId xmlns:a16="http://schemas.microsoft.com/office/drawing/2014/main" val="20001"/>
                    </a:ext>
                  </a:extLst>
                </a:gridCol>
                <a:gridCol w="3333750">
                  <a:extLst>
                    <a:ext uri="{9D8B030D-6E8A-4147-A177-3AD203B41FA5}">
                      <a16:colId xmlns:a16="http://schemas.microsoft.com/office/drawing/2014/main" val="20002"/>
                    </a:ext>
                  </a:extLst>
                </a:gridCol>
              </a:tblGrid>
              <a:tr h="711994">
                <a:tc>
                  <a:txBody>
                    <a:bodyPr/>
                    <a:lstStyle/>
                    <a:p>
                      <a:r>
                        <a:rPr sz="1725" b="1">
                          <a:solidFill>
                            <a:srgbClr val="FFFFFF"/>
                          </a:solidFill>
                          <a:latin typeface="Noto Sans JP"/>
                          <a:ea typeface="Noto Sans JP"/>
                          <a:cs typeface="Noto Sans JP"/>
                        </a:rPr>
                        <a:t>指標</a:t>
                      </a:r>
                    </a:p>
                  </a:txBody>
                  <a:tcPr>
                    <a:solidFill>
                      <a:srgbClr val="202B58"/>
                    </a:solidFill>
                  </a:tcPr>
                </a:tc>
                <a:tc>
                  <a:txBody>
                    <a:bodyPr/>
                    <a:lstStyle/>
                    <a:p>
                      <a:r>
                        <a:rPr sz="1725" b="1">
                          <a:solidFill>
                            <a:srgbClr val="FFFFFF"/>
                          </a:solidFill>
                          <a:latin typeface="Noto Sans JP"/>
                          <a:ea typeface="Noto Sans JP"/>
                          <a:cs typeface="Noto Sans JP"/>
                        </a:rPr>
                        <a:t>計算の意味</a:t>
                      </a:r>
                    </a:p>
                  </a:txBody>
                  <a:tcPr>
                    <a:solidFill>
                      <a:srgbClr val="202B58"/>
                    </a:solidFill>
                  </a:tcPr>
                </a:tc>
                <a:tc>
                  <a:txBody>
                    <a:bodyPr/>
                    <a:lstStyle/>
                    <a:p>
                      <a:r>
                        <a:rPr sz="1725" b="1">
                          <a:solidFill>
                            <a:srgbClr val="FFFFFF"/>
                          </a:solidFill>
                          <a:latin typeface="Noto Sans JP"/>
                          <a:ea typeface="Noto Sans JP"/>
                          <a:cs typeface="Noto Sans JP"/>
                        </a:rPr>
                        <a:t>何が分かるか</a:t>
                      </a:r>
                    </a:p>
                  </a:txBody>
                  <a:tcPr>
                    <a:solidFill>
                      <a:srgbClr val="202B58"/>
                    </a:solidFill>
                  </a:tcPr>
                </a:tc>
                <a:extLst>
                  <a:ext uri="{0D108BD9-81ED-4DB2-BD59-A6C34878D82A}">
                    <a16:rowId xmlns:a16="http://schemas.microsoft.com/office/drawing/2014/main" val="10000"/>
                  </a:ext>
                </a:extLst>
              </a:tr>
              <a:tr h="711994">
                <a:tc>
                  <a:txBody>
                    <a:bodyPr/>
                    <a:lstStyle/>
                    <a:p>
                      <a:r>
                        <a:rPr sz="1725" b="0">
                          <a:solidFill>
                            <a:srgbClr val="202B58"/>
                          </a:solidFill>
                          <a:latin typeface="Noto Sans JP"/>
                          <a:ea typeface="Noto Sans JP"/>
                          <a:cs typeface="Noto Sans JP"/>
                        </a:rPr>
                        <a:t>週間購入電力量 [kWh]</a:t>
                      </a:r>
                    </a:p>
                  </a:txBody>
                  <a:tcPr>
                    <a:solidFill>
                      <a:srgbClr val="F1F5F8"/>
                    </a:solidFill>
                  </a:tcPr>
                </a:tc>
                <a:tc>
                  <a:txBody>
                    <a:bodyPr/>
                    <a:lstStyle/>
                    <a:p>
                      <a:r>
                        <a:rPr sz="1725" b="0">
                          <a:solidFill>
                            <a:srgbClr val="202B58"/>
                          </a:solidFill>
                          <a:latin typeface="Noto Sans JP"/>
                          <a:ea typeface="Noto Sans JP"/>
                          <a:cs typeface="Noto Sans JP"/>
                        </a:rPr>
                        <a:t>受電電力 × 0.25時間の週間合計</a:t>
                      </a:r>
                    </a:p>
                  </a:txBody>
                  <a:tcPr>
                    <a:solidFill>
                      <a:srgbClr val="F1F5F8"/>
                    </a:solidFill>
                  </a:tcPr>
                </a:tc>
                <a:tc>
                  <a:txBody>
                    <a:bodyPr/>
                    <a:lstStyle/>
                    <a:p>
                      <a:r>
                        <a:rPr sz="1725" b="0">
                          <a:solidFill>
                            <a:srgbClr val="202B58"/>
                          </a:solidFill>
                          <a:latin typeface="Noto Sans JP"/>
                          <a:ea typeface="Noto Sans JP"/>
                          <a:cs typeface="Noto Sans JP"/>
                        </a:rPr>
                        <a:t>1週間に購入した総量</a:t>
                      </a:r>
                    </a:p>
                  </a:txBody>
                  <a:tcPr>
                    <a:solidFill>
                      <a:srgbClr val="F1F5F8"/>
                    </a:solidFill>
                  </a:tcPr>
                </a:tc>
                <a:extLst>
                  <a:ext uri="{0D108BD9-81ED-4DB2-BD59-A6C34878D82A}">
                    <a16:rowId xmlns:a16="http://schemas.microsoft.com/office/drawing/2014/main" val="10001"/>
                  </a:ext>
                </a:extLst>
              </a:tr>
              <a:tr h="711994">
                <a:tc>
                  <a:txBody>
                    <a:bodyPr/>
                    <a:lstStyle/>
                    <a:p>
                      <a:r>
                        <a:rPr sz="1725" b="0">
                          <a:solidFill>
                            <a:srgbClr val="202B58"/>
                          </a:solidFill>
                          <a:latin typeface="Noto Sans JP"/>
                          <a:ea typeface="Noto Sans JP"/>
                          <a:cs typeface="Noto Sans JP"/>
                        </a:rPr>
                        <a:t>週間平均受電電力 [kW]</a:t>
                      </a:r>
                    </a:p>
                  </a:txBody>
                  <a:tcPr>
                    <a:solidFill>
                      <a:srgbClr val="FFFFFF"/>
                    </a:solidFill>
                  </a:tcPr>
                </a:tc>
                <a:tc>
                  <a:txBody>
                    <a:bodyPr/>
                    <a:lstStyle/>
                    <a:p>
                      <a:r>
                        <a:rPr sz="1725" b="0">
                          <a:solidFill>
                            <a:srgbClr val="202B58"/>
                          </a:solidFill>
                          <a:latin typeface="Noto Sans JP"/>
                          <a:ea typeface="Noto Sans JP"/>
                          <a:cs typeface="Noto Sans JP"/>
                        </a:rPr>
                        <a:t>週間購入電力量 ÷ 168時間</a:t>
                      </a:r>
                    </a:p>
                  </a:txBody>
                  <a:tcPr>
                    <a:solidFill>
                      <a:srgbClr val="FFFFFF"/>
                    </a:solidFill>
                  </a:tcPr>
                </a:tc>
                <a:tc>
                  <a:txBody>
                    <a:bodyPr/>
                    <a:lstStyle/>
                    <a:p>
                      <a:r>
                        <a:rPr sz="1725" b="0">
                          <a:solidFill>
                            <a:srgbClr val="202B58"/>
                          </a:solidFill>
                          <a:latin typeface="Noto Sans JP"/>
                          <a:ea typeface="Noto Sans JP"/>
                          <a:cs typeface="Noto Sans JP"/>
                        </a:rPr>
                        <a:t>受電ゼロの時間も含めた平均</a:t>
                      </a:r>
                    </a:p>
                  </a:txBody>
                  <a:tcPr>
                    <a:solidFill>
                      <a:srgbClr val="FFFFFF"/>
                    </a:solidFill>
                  </a:tcPr>
                </a:tc>
                <a:extLst>
                  <a:ext uri="{0D108BD9-81ED-4DB2-BD59-A6C34878D82A}">
                    <a16:rowId xmlns:a16="http://schemas.microsoft.com/office/drawing/2014/main" val="10002"/>
                  </a:ext>
                </a:extLst>
              </a:tr>
              <a:tr h="711994">
                <a:tc>
                  <a:txBody>
                    <a:bodyPr/>
                    <a:lstStyle/>
                    <a:p>
                      <a:r>
                        <a:rPr sz="1725" b="0">
                          <a:solidFill>
                            <a:srgbClr val="202B58"/>
                          </a:solidFill>
                          <a:latin typeface="Noto Sans JP"/>
                          <a:ea typeface="Noto Sans JP"/>
                          <a:cs typeface="Noto Sans JP"/>
                        </a:rPr>
                        <a:t>受電ピーク [kW]</a:t>
                      </a:r>
                    </a:p>
                  </a:txBody>
                  <a:tcPr>
                    <a:solidFill>
                      <a:srgbClr val="F1F5F8"/>
                    </a:solidFill>
                  </a:tcPr>
                </a:tc>
                <a:tc>
                  <a:txBody>
                    <a:bodyPr/>
                    <a:lstStyle/>
                    <a:p>
                      <a:r>
                        <a:rPr sz="1725" b="0">
                          <a:solidFill>
                            <a:srgbClr val="202B58"/>
                          </a:solidFill>
                          <a:latin typeface="Noto Sans JP"/>
                          <a:ea typeface="Noto Sans JP"/>
                          <a:cs typeface="Noto Sans JP"/>
                        </a:rPr>
                        <a:t>672区間の受電電力の最大値</a:t>
                      </a:r>
                    </a:p>
                  </a:txBody>
                  <a:tcPr>
                    <a:solidFill>
                      <a:srgbClr val="F1F5F8"/>
                    </a:solidFill>
                  </a:tcPr>
                </a:tc>
                <a:tc>
                  <a:txBody>
                    <a:bodyPr/>
                    <a:lstStyle/>
                    <a:p>
                      <a:r>
                        <a:rPr sz="1725" b="0">
                          <a:solidFill>
                            <a:srgbClr val="202B58"/>
                          </a:solidFill>
                          <a:latin typeface="Noto Sans JP"/>
                          <a:ea typeface="Noto Sans JP"/>
                          <a:cs typeface="Noto Sans JP"/>
                        </a:rPr>
                        <a:t>1週間で最も高い受電電力</a:t>
                      </a:r>
                    </a:p>
                  </a:txBody>
                  <a:tcPr>
                    <a:solidFill>
                      <a:srgbClr val="F1F5F8"/>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3243825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D35CDB32-9E36-498C-878E-EE782DAEA372}"/>
              </a:ext>
            </a:extLst>
          </p:cNvPr>
          <p:cNvSpPr>
            <a:spLocks noGrp="1"/>
          </p:cNvSpPr>
          <p:nvPr/>
        </p:nvSpPr>
        <p:spPr>
          <a:xfrm>
            <a:off x="419100" y="228600"/>
            <a:ext cx="11353800" cy="609600"/>
          </a:xfrm>
          <a:prstGeom prst="rect">
            <a:avLst/>
          </a:prstGeom>
          <a:noFill/>
          <a:ln w="0">
            <a:noFill/>
          </a:ln>
        </p:spPr>
        <p:txBody>
          <a:bodyPr>
            <a:noAutofit/>
          </a:bodyPr>
          <a:lstStyle/>
          <a:p>
            <a:pPr>
              <a:defRPr sz="2625" b="1">
                <a:solidFill>
                  <a:srgbClr val="202B58"/>
                </a:solidFill>
                <a:latin typeface="Noto Sans JP"/>
                <a:ea typeface="Noto Sans JP"/>
                <a:cs typeface="Noto Sans JP"/>
              </a:defRPr>
            </a:pPr>
            <a:r>
              <a:rPr sz="2625" b="1">
                <a:solidFill>
                  <a:srgbClr val="202B58"/>
                </a:solidFill>
                <a:latin typeface="Noto Sans JP"/>
                <a:ea typeface="Noto Sans JP"/>
                <a:cs typeface="Noto Sans JP"/>
              </a:rPr>
              <a:t>12週のPV利用と週間購入電力量</a:t>
            </a:r>
          </a:p>
        </p:txBody>
      </p:sp>
      <p:sp>
        <p:nvSpPr>
          <p:cNvPr id="2" name="正方形/長方形 1">
            <a:extLst>
              <a:ext uri="{FF2B5EF4-FFF2-40B4-BE49-F238E27FC236}">
                <a16:creationId xmlns:a16="http://schemas.microsoft.com/office/drawing/2014/main" id="{36AD1AFE-EDE3-420B-BAFB-D85572A89F28}"/>
              </a:ext>
            </a:extLst>
          </p:cNvPr>
          <p:cNvSpPr>
            <a:spLocks noGrp="1"/>
          </p:cNvSpPr>
          <p:nvPr/>
        </p:nvSpPr>
        <p:spPr>
          <a:xfrm>
            <a:off x="571500" y="981075"/>
            <a:ext cx="11049000" cy="590550"/>
          </a:xfrm>
          <a:prstGeom prst="rect">
            <a:avLst/>
          </a:prstGeom>
          <a:noFill/>
          <a:ln w="0">
            <a:noFill/>
          </a:ln>
        </p:spPr>
        <p:txBody>
          <a:bodyPr>
            <a:noAutofit/>
          </a:bodyPr>
          <a:lstStyle/>
          <a:p>
            <a:pPr>
              <a:defRPr sz="1725" b="0">
                <a:solidFill>
                  <a:srgbClr val="59687B"/>
                </a:solidFill>
                <a:latin typeface="Noto Sans JP"/>
                <a:ea typeface="Noto Sans JP"/>
                <a:cs typeface="Noto Sans JP"/>
              </a:defRPr>
            </a:pPr>
            <a:r>
              <a:rPr sz="1725" b="0">
                <a:solidFill>
                  <a:srgbClr val="59687B"/>
                </a:solidFill>
                <a:latin typeface="Noto Sans JP"/>
                <a:ea typeface="Noto Sans JP"/>
                <a:cs typeface="Noto Sans JP"/>
              </a:rPr>
              <a:t>発電を増やすだけでなく、いつ利用できるかが運用上の課題になる</a:t>
            </a:r>
          </a:p>
        </p:txBody>
      </p:sp>
      <p:sp>
        <p:nvSpPr>
          <p:cNvPr id="3" name="正方形/長方形 2">
            <a:extLst>
              <a:ext uri="{FF2B5EF4-FFF2-40B4-BE49-F238E27FC236}">
                <a16:creationId xmlns:a16="http://schemas.microsoft.com/office/drawing/2014/main" id="{AD1BDF65-9738-4A29-8CD5-D00C32CFCF81}"/>
              </a:ext>
            </a:extLst>
          </p:cNvPr>
          <p:cNvSpPr>
            <a:spLocks noGrp="1"/>
          </p:cNvSpPr>
          <p:nvPr/>
        </p:nvSpPr>
        <p:spPr>
          <a:xfrm>
            <a:off x="571500" y="5638800"/>
            <a:ext cx="11049000" cy="56197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7月のPVは32.0 MWh。抑制44.1%、週間購入電力量は1.75 MWh</a:t>
            </a:r>
          </a:p>
        </p:txBody>
      </p:sp>
      <p:sp>
        <p:nvSpPr>
          <p:cNvPr id="4" name="正方形/長方形 3">
            <a:extLst>
              <a:ext uri="{FF2B5EF4-FFF2-40B4-BE49-F238E27FC236}">
                <a16:creationId xmlns:a16="http://schemas.microsoft.com/office/drawing/2014/main" id="{63B2B52A-A301-4678-8032-563F46BE02B4}"/>
              </a:ext>
            </a:extLst>
          </p:cNvPr>
          <p:cNvSpPr>
            <a:spLocks noGrp="1"/>
          </p:cNvSpPr>
          <p:nvPr/>
        </p:nvSpPr>
        <p:spPr>
          <a:xfrm>
            <a:off x="571500" y="6248400"/>
            <a:ext cx="11049000" cy="314325"/>
          </a:xfrm>
          <a:prstGeom prst="rect">
            <a:avLst/>
          </a:prstGeom>
          <a:noFill/>
          <a:ln w="0">
            <a:noFill/>
          </a:ln>
        </p:spPr>
        <p:txBody>
          <a:bodyPr>
            <a:noAutofit/>
          </a:bodyPr>
          <a:lstStyle/>
          <a:p>
            <a:pPr>
              <a:defRPr sz="1275" b="0">
                <a:solidFill>
                  <a:srgbClr val="7E4D36"/>
                </a:solidFill>
                <a:latin typeface="Noto Sans JP"/>
                <a:ea typeface="Noto Sans JP"/>
                <a:cs typeface="Noto Sans JP"/>
              </a:defRPr>
            </a:pPr>
            <a:r>
              <a:rPr sz="1275" b="0" dirty="0" err="1">
                <a:solidFill>
                  <a:srgbClr val="7E4D36"/>
                </a:solidFill>
                <a:latin typeface="Noto Sans JP"/>
                <a:ea typeface="Noto Sans JP"/>
                <a:cs typeface="Noto Sans JP"/>
              </a:rPr>
              <a:t>左はPVの受け渡し先。BESS充電量の全量が同じ週にバスへ届いたとは限らない</a:t>
            </a:r>
            <a:r>
              <a:rPr sz="1275" b="0" dirty="0">
                <a:solidFill>
                  <a:srgbClr val="7E4D36"/>
                </a:solidFill>
                <a:latin typeface="Noto Sans JP"/>
                <a:ea typeface="Noto Sans JP"/>
                <a:cs typeface="Noto Sans JP"/>
              </a:rPr>
              <a:t>。</a:t>
            </a:r>
          </a:p>
        </p:txBody>
      </p:sp>
      <p:sp>
        <p:nvSpPr>
          <p:cNvPr id="5" name="正方形/長方形 4">
            <a:extLst>
              <a:ext uri="{FF2B5EF4-FFF2-40B4-BE49-F238E27FC236}">
                <a16:creationId xmlns:a16="http://schemas.microsoft.com/office/drawing/2014/main" id="{63C7D29A-32EA-4DCE-96E9-792E9E5276EF}"/>
              </a:ext>
            </a:extLst>
          </p:cNvPr>
          <p:cNvSpPr>
            <a:spLocks noGrp="1"/>
          </p:cNvSpPr>
          <p:nvPr/>
        </p:nvSpPr>
        <p:spPr>
          <a:xfrm>
            <a:off x="419100" y="6638925"/>
            <a:ext cx="10096500" cy="180975"/>
          </a:xfrm>
          <a:prstGeom prst="rect">
            <a:avLst/>
          </a:prstGeom>
          <a:noFill/>
          <a:ln w="0">
            <a:noFill/>
          </a:ln>
        </p:spPr>
        <p:txBody>
          <a:bodyPr>
            <a:noAutofit/>
          </a:bodyPr>
          <a:lstStyle/>
          <a:p>
            <a:pPr>
              <a:defRPr sz="900" b="0">
                <a:solidFill>
                  <a:srgbClr val="59687B"/>
                </a:solidFill>
                <a:latin typeface="Noto Sans JP"/>
                <a:ea typeface="Noto Sans JP"/>
                <a:cs typeface="Noto Sans JP"/>
              </a:defRPr>
            </a:pPr>
            <a:r>
              <a:rPr sz="900" b="0">
                <a:solidFill>
                  <a:srgbClr val="59687B"/>
                </a:solidFill>
                <a:latin typeface="Noto Sans JP"/>
                <a:ea typeface="Noto Sans JP"/>
                <a:cs typeface="Noto Sans JP"/>
              </a:rPr>
              <a:t>修士研究　2026年9月18日　／　月別12週のシミュレーション（診断結果）</a:t>
            </a:r>
          </a:p>
        </p:txBody>
      </p:sp>
      <p:sp>
        <p:nvSpPr>
          <p:cNvPr id="6" name="正方形/長方形 5">
            <a:extLst>
              <a:ext uri="{FF2B5EF4-FFF2-40B4-BE49-F238E27FC236}">
                <a16:creationId xmlns:a16="http://schemas.microsoft.com/office/drawing/2014/main" id="{DB699019-84AF-4571-8E74-A778D7A7F10C}"/>
              </a:ext>
            </a:extLst>
          </p:cNvPr>
          <p:cNvSpPr>
            <a:spLocks noGrp="1"/>
          </p:cNvSpPr>
          <p:nvPr/>
        </p:nvSpPr>
        <p:spPr>
          <a:xfrm>
            <a:off x="11144250" y="6610350"/>
            <a:ext cx="628650" cy="228600"/>
          </a:xfrm>
          <a:prstGeom prst="rect">
            <a:avLst/>
          </a:prstGeom>
          <a:noFill/>
          <a:ln w="0">
            <a:noFill/>
          </a:ln>
        </p:spPr>
        <p:txBody>
          <a:bodyPr>
            <a:noAutofit/>
          </a:bodyPr>
          <a:lstStyle/>
          <a:p>
            <a:pPr>
              <a:defRPr sz="1050" b="0">
                <a:solidFill>
                  <a:srgbClr val="59687B"/>
                </a:solidFill>
                <a:latin typeface="Noto Sans JP"/>
                <a:ea typeface="Noto Sans JP"/>
                <a:cs typeface="Noto Sans JP"/>
              </a:defRPr>
            </a:pPr>
            <a:r>
              <a:rPr sz="1050" b="0">
                <a:solidFill>
                  <a:srgbClr val="59687B"/>
                </a:solidFill>
                <a:latin typeface="Noto Sans JP"/>
                <a:ea typeface="Noto Sans JP"/>
                <a:cs typeface="Noto Sans JP"/>
              </a:rPr>
              <a:t>8/24</a:t>
            </a:r>
          </a:p>
        </p:txBody>
      </p:sp>
      <p:graphicFrame>
        <p:nvGraphicFramePr>
          <p:cNvPr id="15" name="Chart"/>
          <p:cNvGraphicFramePr/>
          <p:nvPr/>
        </p:nvGraphicFramePr>
        <p:xfrm>
          <a:off x="571500" y="1695450"/>
          <a:ext cx="5429250" cy="371475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6" name="Chart"/>
          <p:cNvGraphicFramePr/>
          <p:nvPr/>
        </p:nvGraphicFramePr>
        <p:xfrm>
          <a:off x="6238875" y="1695450"/>
          <a:ext cx="5381625" cy="371475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6551722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C24AD9F5-DE41-4EF7-B394-786222E32787}"/>
              </a:ext>
            </a:extLst>
          </p:cNvPr>
          <p:cNvSpPr>
            <a:spLocks noGrp="1"/>
          </p:cNvSpPr>
          <p:nvPr/>
        </p:nvSpPr>
        <p:spPr>
          <a:xfrm>
            <a:off x="419100" y="228600"/>
            <a:ext cx="11353800" cy="609600"/>
          </a:xfrm>
          <a:prstGeom prst="rect">
            <a:avLst/>
          </a:prstGeom>
          <a:noFill/>
          <a:ln w="0">
            <a:noFill/>
          </a:ln>
        </p:spPr>
        <p:txBody>
          <a:bodyPr>
            <a:noAutofit/>
          </a:bodyPr>
          <a:lstStyle/>
          <a:p>
            <a:pPr>
              <a:defRPr sz="2625" b="1">
                <a:solidFill>
                  <a:srgbClr val="202B58"/>
                </a:solidFill>
                <a:latin typeface="Noto Sans JP"/>
                <a:ea typeface="Noto Sans JP"/>
                <a:cs typeface="Noto Sans JP"/>
              </a:defRPr>
            </a:pPr>
            <a:r>
              <a:rPr sz="2625" b="1">
                <a:solidFill>
                  <a:srgbClr val="202B58"/>
                </a:solidFill>
                <a:latin typeface="Noto Sans JP"/>
                <a:ea typeface="Noto Sans JP"/>
                <a:cs typeface="Noto Sans JP"/>
              </a:rPr>
              <a:t>3月・11月の週間購入電力量と受電ピーク</a:t>
            </a:r>
          </a:p>
        </p:txBody>
      </p:sp>
      <p:sp>
        <p:nvSpPr>
          <p:cNvPr id="2" name="正方形/長方形 1">
            <a:extLst>
              <a:ext uri="{FF2B5EF4-FFF2-40B4-BE49-F238E27FC236}">
                <a16:creationId xmlns:a16="http://schemas.microsoft.com/office/drawing/2014/main" id="{6A8C9C2B-B98F-419D-A124-0FFCE29C66B5}"/>
              </a:ext>
            </a:extLst>
          </p:cNvPr>
          <p:cNvSpPr>
            <a:spLocks noGrp="1"/>
          </p:cNvSpPr>
          <p:nvPr/>
        </p:nvSpPr>
        <p:spPr>
          <a:xfrm>
            <a:off x="571500" y="981075"/>
            <a:ext cx="11049000" cy="590550"/>
          </a:xfrm>
          <a:prstGeom prst="rect">
            <a:avLst/>
          </a:prstGeom>
          <a:noFill/>
          <a:ln w="0">
            <a:noFill/>
          </a:ln>
        </p:spPr>
        <p:txBody>
          <a:bodyPr>
            <a:noAutofit/>
          </a:bodyPr>
          <a:lstStyle/>
          <a:p>
            <a:pPr>
              <a:defRPr sz="1725" b="0">
                <a:solidFill>
                  <a:srgbClr val="59687B"/>
                </a:solidFill>
                <a:latin typeface="Noto Sans JP"/>
                <a:ea typeface="Noto Sans JP"/>
                <a:cs typeface="Noto Sans JP"/>
              </a:defRPr>
            </a:pPr>
            <a:r>
              <a:rPr sz="1725" b="0">
                <a:solidFill>
                  <a:srgbClr val="59687B"/>
                </a:solidFill>
                <a:latin typeface="Noto Sans JP"/>
                <a:ea typeface="Noto Sans JP"/>
                <a:cs typeface="Noto Sans JP"/>
              </a:rPr>
              <a:t>3月3〜9日と11月10〜16日／どちらも1,704便・206台日</a:t>
            </a:r>
          </a:p>
        </p:txBody>
      </p:sp>
      <p:sp>
        <p:nvSpPr>
          <p:cNvPr id="3" name="正方形/長方形 2">
            <a:extLst>
              <a:ext uri="{FF2B5EF4-FFF2-40B4-BE49-F238E27FC236}">
                <a16:creationId xmlns:a16="http://schemas.microsoft.com/office/drawing/2014/main" id="{419AFADC-4003-40B2-BE81-E33BDF8A1F47}"/>
              </a:ext>
            </a:extLst>
          </p:cNvPr>
          <p:cNvSpPr>
            <a:spLocks noGrp="1"/>
          </p:cNvSpPr>
          <p:nvPr/>
        </p:nvSpPr>
        <p:spPr>
          <a:xfrm>
            <a:off x="571500" y="5638800"/>
            <a:ext cx="11049000" cy="56197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受電ピークは3月849.4 kW、11月234.8 kW</a:t>
            </a:r>
          </a:p>
        </p:txBody>
      </p:sp>
      <p:sp>
        <p:nvSpPr>
          <p:cNvPr id="4" name="正方形/長方形 3">
            <a:extLst>
              <a:ext uri="{FF2B5EF4-FFF2-40B4-BE49-F238E27FC236}">
                <a16:creationId xmlns:a16="http://schemas.microsoft.com/office/drawing/2014/main" id="{45C1882A-D32B-43E4-BD87-04C852DFFBEC}"/>
              </a:ext>
            </a:extLst>
          </p:cNvPr>
          <p:cNvSpPr>
            <a:spLocks noGrp="1"/>
          </p:cNvSpPr>
          <p:nvPr/>
        </p:nvSpPr>
        <p:spPr>
          <a:xfrm>
            <a:off x="571500" y="6248400"/>
            <a:ext cx="11049000" cy="314325"/>
          </a:xfrm>
          <a:prstGeom prst="rect">
            <a:avLst/>
          </a:prstGeom>
          <a:noFill/>
          <a:ln w="0">
            <a:noFill/>
          </a:ln>
        </p:spPr>
        <p:txBody>
          <a:bodyPr>
            <a:noAutofit/>
          </a:bodyPr>
          <a:lstStyle/>
          <a:p>
            <a:pPr>
              <a:defRPr sz="1275" b="0">
                <a:solidFill>
                  <a:srgbClr val="7E4D36"/>
                </a:solidFill>
                <a:latin typeface="Noto Sans JP"/>
                <a:ea typeface="Noto Sans JP"/>
                <a:cs typeface="Noto Sans JP"/>
              </a:defRPr>
            </a:pPr>
            <a:r>
              <a:rPr sz="1275" b="0" dirty="0">
                <a:solidFill>
                  <a:srgbClr val="7E4D36"/>
                </a:solidFill>
                <a:latin typeface="Noto Sans JP"/>
                <a:ea typeface="Noto Sans JP"/>
                <a:cs typeface="Noto Sans JP"/>
              </a:rPr>
              <a:t>両週の配車は完全には一致しない。BEV担当便は3月1,562便、11月1,565便。</a:t>
            </a:r>
          </a:p>
        </p:txBody>
      </p:sp>
      <p:sp>
        <p:nvSpPr>
          <p:cNvPr id="5" name="正方形/長方形 4">
            <a:extLst>
              <a:ext uri="{FF2B5EF4-FFF2-40B4-BE49-F238E27FC236}">
                <a16:creationId xmlns:a16="http://schemas.microsoft.com/office/drawing/2014/main" id="{C55FE943-64EB-4B31-A927-386DD2618E95}"/>
              </a:ext>
            </a:extLst>
          </p:cNvPr>
          <p:cNvSpPr>
            <a:spLocks noGrp="1"/>
          </p:cNvSpPr>
          <p:nvPr/>
        </p:nvSpPr>
        <p:spPr>
          <a:xfrm>
            <a:off x="419100" y="6638925"/>
            <a:ext cx="10096500" cy="180975"/>
          </a:xfrm>
          <a:prstGeom prst="rect">
            <a:avLst/>
          </a:prstGeom>
          <a:noFill/>
          <a:ln w="0">
            <a:noFill/>
          </a:ln>
        </p:spPr>
        <p:txBody>
          <a:bodyPr>
            <a:noAutofit/>
          </a:bodyPr>
          <a:lstStyle/>
          <a:p>
            <a:pPr>
              <a:defRPr sz="900" b="0">
                <a:solidFill>
                  <a:srgbClr val="59687B"/>
                </a:solidFill>
                <a:latin typeface="Noto Sans JP"/>
                <a:ea typeface="Noto Sans JP"/>
                <a:cs typeface="Noto Sans JP"/>
              </a:defRPr>
            </a:pPr>
            <a:r>
              <a:rPr sz="900" b="0">
                <a:solidFill>
                  <a:srgbClr val="59687B"/>
                </a:solidFill>
                <a:latin typeface="Noto Sans JP"/>
                <a:ea typeface="Noto Sans JP"/>
                <a:cs typeface="Noto Sans JP"/>
              </a:rPr>
              <a:t>修士研究　2026年9月18日　／　月別12週のシミュレーション（診断結果）</a:t>
            </a:r>
          </a:p>
        </p:txBody>
      </p:sp>
      <p:sp>
        <p:nvSpPr>
          <p:cNvPr id="6" name="正方形/長方形 5">
            <a:extLst>
              <a:ext uri="{FF2B5EF4-FFF2-40B4-BE49-F238E27FC236}">
                <a16:creationId xmlns:a16="http://schemas.microsoft.com/office/drawing/2014/main" id="{18949B2A-81E3-4AA9-A255-9FF7219DB9B9}"/>
              </a:ext>
            </a:extLst>
          </p:cNvPr>
          <p:cNvSpPr>
            <a:spLocks noGrp="1"/>
          </p:cNvSpPr>
          <p:nvPr/>
        </p:nvSpPr>
        <p:spPr>
          <a:xfrm>
            <a:off x="11144250" y="6610350"/>
            <a:ext cx="628650" cy="228600"/>
          </a:xfrm>
          <a:prstGeom prst="rect">
            <a:avLst/>
          </a:prstGeom>
          <a:noFill/>
          <a:ln w="0">
            <a:noFill/>
          </a:ln>
        </p:spPr>
        <p:txBody>
          <a:bodyPr>
            <a:noAutofit/>
          </a:bodyPr>
          <a:lstStyle/>
          <a:p>
            <a:pPr>
              <a:defRPr sz="1050" b="0">
                <a:solidFill>
                  <a:srgbClr val="59687B"/>
                </a:solidFill>
                <a:latin typeface="Noto Sans JP"/>
                <a:ea typeface="Noto Sans JP"/>
                <a:cs typeface="Noto Sans JP"/>
              </a:defRPr>
            </a:pPr>
            <a:r>
              <a:rPr sz="1050" b="0">
                <a:solidFill>
                  <a:srgbClr val="59687B"/>
                </a:solidFill>
                <a:latin typeface="Noto Sans JP"/>
                <a:ea typeface="Noto Sans JP"/>
                <a:cs typeface="Noto Sans JP"/>
              </a:rPr>
              <a:t>9/24</a:t>
            </a:r>
          </a:p>
        </p:txBody>
      </p:sp>
      <p:graphicFrame>
        <p:nvGraphicFramePr>
          <p:cNvPr id="14" name="表 13"/>
          <p:cNvGraphicFramePr/>
          <p:nvPr/>
        </p:nvGraphicFramePr>
        <p:xfrm>
          <a:off x="571500" y="1695450"/>
          <a:ext cx="11049000" cy="3714750"/>
        </p:xfrm>
        <a:graphic>
          <a:graphicData uri="http://schemas.openxmlformats.org/drawingml/2006/table">
            <a:tbl>
              <a:tblPr/>
              <a:tblGrid>
                <a:gridCol w="5524500">
                  <a:extLst>
                    <a:ext uri="{9D8B030D-6E8A-4147-A177-3AD203B41FA5}">
                      <a16:colId xmlns:a16="http://schemas.microsoft.com/office/drawing/2014/main" val="20000"/>
                    </a:ext>
                  </a:extLst>
                </a:gridCol>
                <a:gridCol w="2762250">
                  <a:extLst>
                    <a:ext uri="{9D8B030D-6E8A-4147-A177-3AD203B41FA5}">
                      <a16:colId xmlns:a16="http://schemas.microsoft.com/office/drawing/2014/main" val="20001"/>
                    </a:ext>
                  </a:extLst>
                </a:gridCol>
                <a:gridCol w="2762250">
                  <a:extLst>
                    <a:ext uri="{9D8B030D-6E8A-4147-A177-3AD203B41FA5}">
                      <a16:colId xmlns:a16="http://schemas.microsoft.com/office/drawing/2014/main" val="20002"/>
                    </a:ext>
                  </a:extLst>
                </a:gridCol>
              </a:tblGrid>
              <a:tr h="619125">
                <a:tc>
                  <a:txBody>
                    <a:bodyPr/>
                    <a:lstStyle/>
                    <a:p>
                      <a:r>
                        <a:rPr sz="1725" b="1">
                          <a:solidFill>
                            <a:srgbClr val="FFFFFF"/>
                          </a:solidFill>
                          <a:latin typeface="Noto Sans JP"/>
                          <a:ea typeface="Noto Sans JP"/>
                          <a:cs typeface="Noto Sans JP"/>
                        </a:rPr>
                        <a:t>比較指標</a:t>
                      </a:r>
                    </a:p>
                  </a:txBody>
                  <a:tcPr>
                    <a:solidFill>
                      <a:srgbClr val="202B58"/>
                    </a:solidFill>
                  </a:tcPr>
                </a:tc>
                <a:tc>
                  <a:txBody>
                    <a:bodyPr/>
                    <a:lstStyle/>
                    <a:p>
                      <a:r>
                        <a:rPr sz="1725" b="1">
                          <a:solidFill>
                            <a:srgbClr val="FFFFFF"/>
                          </a:solidFill>
                          <a:latin typeface="Noto Sans JP"/>
                          <a:ea typeface="Noto Sans JP"/>
                          <a:cs typeface="Noto Sans JP"/>
                        </a:rPr>
                        <a:t>3月</a:t>
                      </a:r>
                    </a:p>
                  </a:txBody>
                  <a:tcPr>
                    <a:solidFill>
                      <a:srgbClr val="202B58"/>
                    </a:solidFill>
                  </a:tcPr>
                </a:tc>
                <a:tc>
                  <a:txBody>
                    <a:bodyPr/>
                    <a:lstStyle/>
                    <a:p>
                      <a:r>
                        <a:rPr sz="1725" b="1">
                          <a:solidFill>
                            <a:srgbClr val="FFFFFF"/>
                          </a:solidFill>
                          <a:latin typeface="Noto Sans JP"/>
                          <a:ea typeface="Noto Sans JP"/>
                          <a:cs typeface="Noto Sans JP"/>
                        </a:rPr>
                        <a:t>11月</a:t>
                      </a:r>
                    </a:p>
                  </a:txBody>
                  <a:tcPr>
                    <a:solidFill>
                      <a:srgbClr val="202B58"/>
                    </a:solidFill>
                  </a:tcPr>
                </a:tc>
                <a:extLst>
                  <a:ext uri="{0D108BD9-81ED-4DB2-BD59-A6C34878D82A}">
                    <a16:rowId xmlns:a16="http://schemas.microsoft.com/office/drawing/2014/main" val="10000"/>
                  </a:ext>
                </a:extLst>
              </a:tr>
              <a:tr h="619125">
                <a:tc>
                  <a:txBody>
                    <a:bodyPr/>
                    <a:lstStyle/>
                    <a:p>
                      <a:r>
                        <a:rPr sz="1725" b="0">
                          <a:solidFill>
                            <a:srgbClr val="202B58"/>
                          </a:solidFill>
                          <a:latin typeface="Noto Sans JP"/>
                          <a:ea typeface="Noto Sans JP"/>
                          <a:cs typeface="Noto Sans JP"/>
                        </a:rPr>
                        <a:t>PV発電量 [MWh／週]</a:t>
                      </a:r>
                    </a:p>
                  </a:txBody>
                  <a:tcPr>
                    <a:solidFill>
                      <a:srgbClr val="F1F5F8"/>
                    </a:solidFill>
                  </a:tcPr>
                </a:tc>
                <a:tc>
                  <a:txBody>
                    <a:bodyPr/>
                    <a:lstStyle/>
                    <a:p>
                      <a:r>
                        <a:rPr sz="1725" b="0">
                          <a:solidFill>
                            <a:srgbClr val="202B58"/>
                          </a:solidFill>
                          <a:latin typeface="Noto Sans JP"/>
                          <a:ea typeface="Noto Sans JP"/>
                          <a:cs typeface="Noto Sans JP"/>
                        </a:rPr>
                        <a:t>14.86</a:t>
                      </a:r>
                    </a:p>
                  </a:txBody>
                  <a:tcPr>
                    <a:solidFill>
                      <a:srgbClr val="F1F5F8"/>
                    </a:solidFill>
                  </a:tcPr>
                </a:tc>
                <a:tc>
                  <a:txBody>
                    <a:bodyPr/>
                    <a:lstStyle/>
                    <a:p>
                      <a:r>
                        <a:rPr sz="1725" b="0">
                          <a:solidFill>
                            <a:srgbClr val="202B58"/>
                          </a:solidFill>
                          <a:latin typeface="Noto Sans JP"/>
                          <a:ea typeface="Noto Sans JP"/>
                          <a:cs typeface="Noto Sans JP"/>
                        </a:rPr>
                        <a:t>15.85</a:t>
                      </a:r>
                    </a:p>
                  </a:txBody>
                  <a:tcPr>
                    <a:solidFill>
                      <a:srgbClr val="F1F5F8"/>
                    </a:solidFill>
                  </a:tcPr>
                </a:tc>
                <a:extLst>
                  <a:ext uri="{0D108BD9-81ED-4DB2-BD59-A6C34878D82A}">
                    <a16:rowId xmlns:a16="http://schemas.microsoft.com/office/drawing/2014/main" val="10001"/>
                  </a:ext>
                </a:extLst>
              </a:tr>
              <a:tr h="619125">
                <a:tc>
                  <a:txBody>
                    <a:bodyPr/>
                    <a:lstStyle/>
                    <a:p>
                      <a:r>
                        <a:rPr sz="1725" b="0">
                          <a:solidFill>
                            <a:srgbClr val="202B58"/>
                          </a:solidFill>
                          <a:latin typeface="Noto Sans JP"/>
                          <a:ea typeface="Noto Sans JP"/>
                          <a:cs typeface="Noto Sans JP"/>
                        </a:rPr>
                        <a:t>バス充電量 [MWh／週]</a:t>
                      </a:r>
                    </a:p>
                  </a:txBody>
                  <a:tcPr>
                    <a:solidFill>
                      <a:srgbClr val="FFFFFF"/>
                    </a:solidFill>
                  </a:tcPr>
                </a:tc>
                <a:tc>
                  <a:txBody>
                    <a:bodyPr/>
                    <a:lstStyle/>
                    <a:p>
                      <a:r>
                        <a:rPr sz="1725" b="0">
                          <a:solidFill>
                            <a:srgbClr val="202B58"/>
                          </a:solidFill>
                          <a:latin typeface="Noto Sans JP"/>
                          <a:ea typeface="Noto Sans JP"/>
                          <a:cs typeface="Noto Sans JP"/>
                        </a:rPr>
                        <a:t>19.90</a:t>
                      </a:r>
                    </a:p>
                  </a:txBody>
                  <a:tcPr>
                    <a:solidFill>
                      <a:srgbClr val="FFFFFF"/>
                    </a:solidFill>
                  </a:tcPr>
                </a:tc>
                <a:tc>
                  <a:txBody>
                    <a:bodyPr/>
                    <a:lstStyle/>
                    <a:p>
                      <a:r>
                        <a:rPr sz="1725" b="0">
                          <a:solidFill>
                            <a:srgbClr val="202B58"/>
                          </a:solidFill>
                          <a:latin typeface="Noto Sans JP"/>
                          <a:ea typeface="Noto Sans JP"/>
                          <a:cs typeface="Noto Sans JP"/>
                        </a:rPr>
                        <a:t>20.00</a:t>
                      </a:r>
                    </a:p>
                  </a:txBody>
                  <a:tcPr>
                    <a:solidFill>
                      <a:srgbClr val="FFFFFF"/>
                    </a:solidFill>
                  </a:tcPr>
                </a:tc>
                <a:extLst>
                  <a:ext uri="{0D108BD9-81ED-4DB2-BD59-A6C34878D82A}">
                    <a16:rowId xmlns:a16="http://schemas.microsoft.com/office/drawing/2014/main" val="10002"/>
                  </a:ext>
                </a:extLst>
              </a:tr>
              <a:tr h="619125">
                <a:tc>
                  <a:txBody>
                    <a:bodyPr/>
                    <a:lstStyle/>
                    <a:p>
                      <a:r>
                        <a:rPr sz="1725" b="0">
                          <a:solidFill>
                            <a:srgbClr val="202B58"/>
                          </a:solidFill>
                          <a:latin typeface="Noto Sans JP"/>
                          <a:ea typeface="Noto Sans JP"/>
                          <a:cs typeface="Noto Sans JP"/>
                        </a:rPr>
                        <a:t>週間購入電力量 [MWh／週]</a:t>
                      </a:r>
                    </a:p>
                  </a:txBody>
                  <a:tcPr>
                    <a:solidFill>
                      <a:srgbClr val="F1F5F8"/>
                    </a:solidFill>
                  </a:tcPr>
                </a:tc>
                <a:tc>
                  <a:txBody>
                    <a:bodyPr/>
                    <a:lstStyle/>
                    <a:p>
                      <a:r>
                        <a:rPr sz="1725" b="0">
                          <a:solidFill>
                            <a:srgbClr val="202B58"/>
                          </a:solidFill>
                          <a:latin typeface="Noto Sans JP"/>
                          <a:ea typeface="Noto Sans JP"/>
                          <a:cs typeface="Noto Sans JP"/>
                        </a:rPr>
                        <a:t>7.79</a:t>
                      </a:r>
                    </a:p>
                  </a:txBody>
                  <a:tcPr>
                    <a:solidFill>
                      <a:srgbClr val="F1F5F8"/>
                    </a:solidFill>
                  </a:tcPr>
                </a:tc>
                <a:tc>
                  <a:txBody>
                    <a:bodyPr/>
                    <a:lstStyle/>
                    <a:p>
                      <a:r>
                        <a:rPr sz="1725" b="0">
                          <a:solidFill>
                            <a:srgbClr val="202B58"/>
                          </a:solidFill>
                          <a:latin typeface="Noto Sans JP"/>
                          <a:ea typeface="Noto Sans JP"/>
                          <a:cs typeface="Noto Sans JP"/>
                        </a:rPr>
                        <a:t>7.30</a:t>
                      </a:r>
                    </a:p>
                  </a:txBody>
                  <a:tcPr>
                    <a:solidFill>
                      <a:srgbClr val="F1F5F8"/>
                    </a:solidFill>
                  </a:tcPr>
                </a:tc>
                <a:extLst>
                  <a:ext uri="{0D108BD9-81ED-4DB2-BD59-A6C34878D82A}">
                    <a16:rowId xmlns:a16="http://schemas.microsoft.com/office/drawing/2014/main" val="10003"/>
                  </a:ext>
                </a:extLst>
              </a:tr>
              <a:tr h="619125">
                <a:tc>
                  <a:txBody>
                    <a:bodyPr/>
                    <a:lstStyle/>
                    <a:p>
                      <a:r>
                        <a:rPr sz="1725" b="0">
                          <a:solidFill>
                            <a:srgbClr val="202B58"/>
                          </a:solidFill>
                          <a:latin typeface="Noto Sans JP"/>
                          <a:ea typeface="Noto Sans JP"/>
                          <a:cs typeface="Noto Sans JP"/>
                        </a:rPr>
                        <a:t>週間平均受電電力 [kW]</a:t>
                      </a:r>
                    </a:p>
                  </a:txBody>
                  <a:tcPr>
                    <a:solidFill>
                      <a:srgbClr val="FFFFFF"/>
                    </a:solidFill>
                  </a:tcPr>
                </a:tc>
                <a:tc>
                  <a:txBody>
                    <a:bodyPr/>
                    <a:lstStyle/>
                    <a:p>
                      <a:r>
                        <a:rPr sz="1725" b="0">
                          <a:solidFill>
                            <a:srgbClr val="202B58"/>
                          </a:solidFill>
                          <a:latin typeface="Noto Sans JP"/>
                          <a:ea typeface="Noto Sans JP"/>
                          <a:cs typeface="Noto Sans JP"/>
                        </a:rPr>
                        <a:t>46.4</a:t>
                      </a:r>
                    </a:p>
                  </a:txBody>
                  <a:tcPr>
                    <a:solidFill>
                      <a:srgbClr val="FFFFFF"/>
                    </a:solidFill>
                  </a:tcPr>
                </a:tc>
                <a:tc>
                  <a:txBody>
                    <a:bodyPr/>
                    <a:lstStyle/>
                    <a:p>
                      <a:r>
                        <a:rPr sz="1725" b="0">
                          <a:solidFill>
                            <a:srgbClr val="202B58"/>
                          </a:solidFill>
                          <a:latin typeface="Noto Sans JP"/>
                          <a:ea typeface="Noto Sans JP"/>
                          <a:cs typeface="Noto Sans JP"/>
                        </a:rPr>
                        <a:t>43.5</a:t>
                      </a:r>
                    </a:p>
                  </a:txBody>
                  <a:tcPr>
                    <a:solidFill>
                      <a:srgbClr val="FFFFFF"/>
                    </a:solidFill>
                  </a:tcPr>
                </a:tc>
                <a:extLst>
                  <a:ext uri="{0D108BD9-81ED-4DB2-BD59-A6C34878D82A}">
                    <a16:rowId xmlns:a16="http://schemas.microsoft.com/office/drawing/2014/main" val="10004"/>
                  </a:ext>
                </a:extLst>
              </a:tr>
              <a:tr h="619125">
                <a:tc>
                  <a:txBody>
                    <a:bodyPr/>
                    <a:lstStyle/>
                    <a:p>
                      <a:r>
                        <a:rPr sz="1725" b="0">
                          <a:solidFill>
                            <a:srgbClr val="202B58"/>
                          </a:solidFill>
                          <a:latin typeface="Noto Sans JP"/>
                          <a:ea typeface="Noto Sans JP"/>
                          <a:cs typeface="Noto Sans JP"/>
                        </a:rPr>
                        <a:t>受電ピーク [kW]</a:t>
                      </a:r>
                    </a:p>
                  </a:txBody>
                  <a:tcPr>
                    <a:solidFill>
                      <a:srgbClr val="F1F5F8"/>
                    </a:solidFill>
                  </a:tcPr>
                </a:tc>
                <a:tc>
                  <a:txBody>
                    <a:bodyPr/>
                    <a:lstStyle/>
                    <a:p>
                      <a:r>
                        <a:rPr sz="1725" b="0">
                          <a:solidFill>
                            <a:srgbClr val="202B58"/>
                          </a:solidFill>
                          <a:latin typeface="Noto Sans JP"/>
                          <a:ea typeface="Noto Sans JP"/>
                          <a:cs typeface="Noto Sans JP"/>
                        </a:rPr>
                        <a:t>849.4</a:t>
                      </a:r>
                    </a:p>
                  </a:txBody>
                  <a:tcPr>
                    <a:solidFill>
                      <a:srgbClr val="F1F5F8"/>
                    </a:solidFill>
                  </a:tcPr>
                </a:tc>
                <a:tc>
                  <a:txBody>
                    <a:bodyPr/>
                    <a:lstStyle/>
                    <a:p>
                      <a:r>
                        <a:rPr sz="1725" b="0">
                          <a:solidFill>
                            <a:srgbClr val="202B58"/>
                          </a:solidFill>
                          <a:latin typeface="Noto Sans JP"/>
                          <a:ea typeface="Noto Sans JP"/>
                          <a:cs typeface="Noto Sans JP"/>
                        </a:rPr>
                        <a:t>234.8</a:t>
                      </a:r>
                    </a:p>
                  </a:txBody>
                  <a:tcPr>
                    <a:solidFill>
                      <a:srgbClr val="F1F5F8"/>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1806165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3B97299A-E9E6-4517-BC18-E44948CBA095}"/>
              </a:ext>
            </a:extLst>
          </p:cNvPr>
          <p:cNvSpPr>
            <a:spLocks noGrp="1"/>
          </p:cNvSpPr>
          <p:nvPr/>
        </p:nvSpPr>
        <p:spPr>
          <a:xfrm>
            <a:off x="419100" y="228600"/>
            <a:ext cx="11353800" cy="609600"/>
          </a:xfrm>
          <a:prstGeom prst="rect">
            <a:avLst/>
          </a:prstGeom>
          <a:noFill/>
          <a:ln w="0">
            <a:noFill/>
          </a:ln>
        </p:spPr>
        <p:txBody>
          <a:bodyPr>
            <a:noAutofit/>
          </a:bodyPr>
          <a:lstStyle/>
          <a:p>
            <a:pPr>
              <a:defRPr sz="2625" b="1">
                <a:solidFill>
                  <a:srgbClr val="202B58"/>
                </a:solidFill>
                <a:latin typeface="Noto Sans JP"/>
                <a:ea typeface="Noto Sans JP"/>
                <a:cs typeface="Noto Sans JP"/>
              </a:defRPr>
            </a:pPr>
            <a:r>
              <a:rPr sz="2625" b="1">
                <a:solidFill>
                  <a:srgbClr val="202B58"/>
                </a:solidFill>
                <a:latin typeface="Noto Sans JP"/>
                <a:ea typeface="Noto Sans JP"/>
                <a:cs typeface="Noto Sans JP"/>
              </a:rPr>
              <a:t>11月の購入は7日すべてに分散</a:t>
            </a:r>
          </a:p>
        </p:txBody>
      </p:sp>
      <p:sp>
        <p:nvSpPr>
          <p:cNvPr id="2" name="正方形/長方形 1">
            <a:extLst>
              <a:ext uri="{FF2B5EF4-FFF2-40B4-BE49-F238E27FC236}">
                <a16:creationId xmlns:a16="http://schemas.microsoft.com/office/drawing/2014/main" id="{3586964E-4F5B-4664-A929-D6A5812954D6}"/>
              </a:ext>
            </a:extLst>
          </p:cNvPr>
          <p:cNvSpPr>
            <a:spLocks noGrp="1"/>
          </p:cNvSpPr>
          <p:nvPr/>
        </p:nvSpPr>
        <p:spPr>
          <a:xfrm>
            <a:off x="571500" y="981075"/>
            <a:ext cx="11049000" cy="590550"/>
          </a:xfrm>
          <a:prstGeom prst="rect">
            <a:avLst/>
          </a:prstGeom>
          <a:noFill/>
          <a:ln w="0">
            <a:noFill/>
          </a:ln>
        </p:spPr>
        <p:txBody>
          <a:bodyPr>
            <a:noAutofit/>
          </a:bodyPr>
          <a:lstStyle/>
          <a:p>
            <a:pPr>
              <a:defRPr sz="1725" b="0">
                <a:solidFill>
                  <a:srgbClr val="59687B"/>
                </a:solidFill>
                <a:latin typeface="Noto Sans JP"/>
                <a:ea typeface="Noto Sans JP"/>
                <a:cs typeface="Noto Sans JP"/>
              </a:defRPr>
            </a:pPr>
            <a:r>
              <a:rPr sz="1725" b="0">
                <a:solidFill>
                  <a:srgbClr val="59687B"/>
                </a:solidFill>
                <a:latin typeface="Noto Sans JP"/>
                <a:ea typeface="Noto Sans JP"/>
                <a:cs typeface="Noto Sans JP"/>
              </a:rPr>
              <a:t>最大の1日でも週間購入電力量の20.5%。一度の短い購入だけでは説明できない</a:t>
            </a:r>
          </a:p>
        </p:txBody>
      </p:sp>
      <p:sp>
        <p:nvSpPr>
          <p:cNvPr id="3" name="正方形/長方形 2">
            <a:extLst>
              <a:ext uri="{FF2B5EF4-FFF2-40B4-BE49-F238E27FC236}">
                <a16:creationId xmlns:a16="http://schemas.microsoft.com/office/drawing/2014/main" id="{EB2A7D84-C9E7-4E65-9514-80BFBA8564B3}"/>
              </a:ext>
            </a:extLst>
          </p:cNvPr>
          <p:cNvSpPr>
            <a:spLocks noGrp="1"/>
          </p:cNvSpPr>
          <p:nvPr/>
        </p:nvSpPr>
        <p:spPr>
          <a:xfrm>
            <a:off x="571500" y="5638800"/>
            <a:ext cx="11049000" cy="56197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受電時間は11月50.75時間、3月51.75時間（受電電力 &gt; 1 kW）</a:t>
            </a:r>
          </a:p>
        </p:txBody>
      </p:sp>
      <p:sp>
        <p:nvSpPr>
          <p:cNvPr id="4" name="正方形/長方形 3">
            <a:extLst>
              <a:ext uri="{FF2B5EF4-FFF2-40B4-BE49-F238E27FC236}">
                <a16:creationId xmlns:a16="http://schemas.microsoft.com/office/drawing/2014/main" id="{B1E61ED4-8BA8-4A0A-9B27-42A94940C73A}"/>
              </a:ext>
            </a:extLst>
          </p:cNvPr>
          <p:cNvSpPr>
            <a:spLocks noGrp="1"/>
          </p:cNvSpPr>
          <p:nvPr/>
        </p:nvSpPr>
        <p:spPr>
          <a:xfrm>
            <a:off x="571500" y="6248400"/>
            <a:ext cx="11049000" cy="314325"/>
          </a:xfrm>
          <a:prstGeom prst="rect">
            <a:avLst/>
          </a:prstGeom>
          <a:noFill/>
          <a:ln w="0">
            <a:noFill/>
          </a:ln>
        </p:spPr>
        <p:txBody>
          <a:bodyPr>
            <a:noAutofit/>
          </a:bodyPr>
          <a:lstStyle/>
          <a:p>
            <a:pPr>
              <a:defRPr sz="1275" b="0">
                <a:solidFill>
                  <a:srgbClr val="7E4D36"/>
                </a:solidFill>
                <a:latin typeface="Noto Sans JP"/>
                <a:ea typeface="Noto Sans JP"/>
                <a:cs typeface="Noto Sans JP"/>
              </a:defRPr>
            </a:pPr>
            <a:r>
              <a:rPr sz="1275" b="0">
                <a:solidFill>
                  <a:srgbClr val="7E4D36"/>
                </a:solidFill>
                <a:latin typeface="Noto Sans JP"/>
                <a:ea typeface="Noto Sans JP"/>
                <a:cs typeface="Noto Sans JP"/>
              </a:rPr>
              <a:t>受電時間は受電電力が1 kWを超える15分区間の合計。連続時間とは異なる。</a:t>
            </a:r>
          </a:p>
        </p:txBody>
      </p:sp>
      <p:sp>
        <p:nvSpPr>
          <p:cNvPr id="5" name="正方形/長方形 4">
            <a:extLst>
              <a:ext uri="{FF2B5EF4-FFF2-40B4-BE49-F238E27FC236}">
                <a16:creationId xmlns:a16="http://schemas.microsoft.com/office/drawing/2014/main" id="{C2051E29-501A-41FE-A138-56DE2BC7F9DD}"/>
              </a:ext>
            </a:extLst>
          </p:cNvPr>
          <p:cNvSpPr>
            <a:spLocks noGrp="1"/>
          </p:cNvSpPr>
          <p:nvPr/>
        </p:nvSpPr>
        <p:spPr>
          <a:xfrm>
            <a:off x="419100" y="6638925"/>
            <a:ext cx="10096500" cy="180975"/>
          </a:xfrm>
          <a:prstGeom prst="rect">
            <a:avLst/>
          </a:prstGeom>
          <a:noFill/>
          <a:ln w="0">
            <a:noFill/>
          </a:ln>
        </p:spPr>
        <p:txBody>
          <a:bodyPr>
            <a:noAutofit/>
          </a:bodyPr>
          <a:lstStyle/>
          <a:p>
            <a:pPr>
              <a:defRPr sz="900" b="0">
                <a:solidFill>
                  <a:srgbClr val="59687B"/>
                </a:solidFill>
                <a:latin typeface="Noto Sans JP"/>
                <a:ea typeface="Noto Sans JP"/>
                <a:cs typeface="Noto Sans JP"/>
              </a:defRPr>
            </a:pPr>
            <a:r>
              <a:rPr sz="900" b="0">
                <a:solidFill>
                  <a:srgbClr val="59687B"/>
                </a:solidFill>
                <a:latin typeface="Noto Sans JP"/>
                <a:ea typeface="Noto Sans JP"/>
                <a:cs typeface="Noto Sans JP"/>
              </a:rPr>
              <a:t>修士研究　2026年9月18日　／　月別12週のシミュレーション（診断結果）</a:t>
            </a:r>
          </a:p>
        </p:txBody>
      </p:sp>
      <p:sp>
        <p:nvSpPr>
          <p:cNvPr id="6" name="正方形/長方形 5">
            <a:extLst>
              <a:ext uri="{FF2B5EF4-FFF2-40B4-BE49-F238E27FC236}">
                <a16:creationId xmlns:a16="http://schemas.microsoft.com/office/drawing/2014/main" id="{133CD5CB-083A-4CBD-8FD3-55B2D76122C2}"/>
              </a:ext>
            </a:extLst>
          </p:cNvPr>
          <p:cNvSpPr>
            <a:spLocks noGrp="1"/>
          </p:cNvSpPr>
          <p:nvPr/>
        </p:nvSpPr>
        <p:spPr>
          <a:xfrm>
            <a:off x="11144250" y="6610350"/>
            <a:ext cx="628650" cy="228600"/>
          </a:xfrm>
          <a:prstGeom prst="rect">
            <a:avLst/>
          </a:prstGeom>
          <a:noFill/>
          <a:ln w="0">
            <a:noFill/>
          </a:ln>
        </p:spPr>
        <p:txBody>
          <a:bodyPr>
            <a:noAutofit/>
          </a:bodyPr>
          <a:lstStyle/>
          <a:p>
            <a:pPr>
              <a:defRPr sz="1050" b="0">
                <a:solidFill>
                  <a:srgbClr val="59687B"/>
                </a:solidFill>
                <a:latin typeface="Noto Sans JP"/>
                <a:ea typeface="Noto Sans JP"/>
                <a:cs typeface="Noto Sans JP"/>
              </a:defRPr>
            </a:pPr>
            <a:r>
              <a:rPr sz="1050" b="0">
                <a:solidFill>
                  <a:srgbClr val="59687B"/>
                </a:solidFill>
                <a:latin typeface="Noto Sans JP"/>
                <a:ea typeface="Noto Sans JP"/>
                <a:cs typeface="Noto Sans JP"/>
              </a:rPr>
              <a:t>10/24</a:t>
            </a:r>
          </a:p>
        </p:txBody>
      </p:sp>
      <p:graphicFrame>
        <p:nvGraphicFramePr>
          <p:cNvPr id="15" name="Chart"/>
          <p:cNvGraphicFramePr/>
          <p:nvPr/>
        </p:nvGraphicFramePr>
        <p:xfrm>
          <a:off x="571500" y="1695450"/>
          <a:ext cx="7048500" cy="371475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6" name="表 15"/>
          <p:cNvGraphicFramePr/>
          <p:nvPr/>
        </p:nvGraphicFramePr>
        <p:xfrm>
          <a:off x="7810500" y="2085975"/>
          <a:ext cx="3810000" cy="2981325"/>
        </p:xfrm>
        <a:graphic>
          <a:graphicData uri="http://schemas.openxmlformats.org/drawingml/2006/table">
            <a:tbl>
              <a:tblPr/>
              <a:tblGrid>
                <a:gridCol w="2143125">
                  <a:extLst>
                    <a:ext uri="{9D8B030D-6E8A-4147-A177-3AD203B41FA5}">
                      <a16:colId xmlns:a16="http://schemas.microsoft.com/office/drawing/2014/main" val="20000"/>
                    </a:ext>
                  </a:extLst>
                </a:gridCol>
                <a:gridCol w="1666875">
                  <a:extLst>
                    <a:ext uri="{9D8B030D-6E8A-4147-A177-3AD203B41FA5}">
                      <a16:colId xmlns:a16="http://schemas.microsoft.com/office/drawing/2014/main" val="20001"/>
                    </a:ext>
                  </a:extLst>
                </a:gridCol>
              </a:tblGrid>
              <a:tr h="596265">
                <a:tc>
                  <a:txBody>
                    <a:bodyPr/>
                    <a:lstStyle/>
                    <a:p>
                      <a:r>
                        <a:rPr sz="1650" b="1">
                          <a:solidFill>
                            <a:srgbClr val="FFFFFF"/>
                          </a:solidFill>
                          <a:latin typeface="Noto Sans JP"/>
                          <a:ea typeface="Noto Sans JP"/>
                          <a:cs typeface="Noto Sans JP"/>
                        </a:rPr>
                        <a:t>指標</a:t>
                      </a:r>
                    </a:p>
                  </a:txBody>
                  <a:tcPr>
                    <a:solidFill>
                      <a:srgbClr val="202B58"/>
                    </a:solidFill>
                  </a:tcPr>
                </a:tc>
                <a:tc>
                  <a:txBody>
                    <a:bodyPr/>
                    <a:lstStyle/>
                    <a:p>
                      <a:r>
                        <a:rPr sz="1650" b="1">
                          <a:solidFill>
                            <a:srgbClr val="FFFFFF"/>
                          </a:solidFill>
                          <a:latin typeface="Noto Sans JP"/>
                          <a:ea typeface="Noto Sans JP"/>
                          <a:cs typeface="Noto Sans JP"/>
                        </a:rPr>
                        <a:t>11月</a:t>
                      </a:r>
                    </a:p>
                  </a:txBody>
                  <a:tcPr>
                    <a:solidFill>
                      <a:srgbClr val="202B58"/>
                    </a:solidFill>
                  </a:tcPr>
                </a:tc>
                <a:extLst>
                  <a:ext uri="{0D108BD9-81ED-4DB2-BD59-A6C34878D82A}">
                    <a16:rowId xmlns:a16="http://schemas.microsoft.com/office/drawing/2014/main" val="10000"/>
                  </a:ext>
                </a:extLst>
              </a:tr>
              <a:tr h="596265">
                <a:tc>
                  <a:txBody>
                    <a:bodyPr/>
                    <a:lstStyle/>
                    <a:p>
                      <a:r>
                        <a:rPr sz="1650" b="0">
                          <a:solidFill>
                            <a:srgbClr val="202B58"/>
                          </a:solidFill>
                          <a:latin typeface="Noto Sans JP"/>
                          <a:ea typeface="Noto Sans JP"/>
                          <a:cs typeface="Noto Sans JP"/>
                        </a:rPr>
                        <a:t>購入がある日</a:t>
                      </a:r>
                    </a:p>
                  </a:txBody>
                  <a:tcPr>
                    <a:solidFill>
                      <a:srgbClr val="F1F5F8"/>
                    </a:solidFill>
                  </a:tcPr>
                </a:tc>
                <a:tc>
                  <a:txBody>
                    <a:bodyPr/>
                    <a:lstStyle/>
                    <a:p>
                      <a:r>
                        <a:rPr sz="1650" b="0">
                          <a:solidFill>
                            <a:srgbClr val="202B58"/>
                          </a:solidFill>
                          <a:latin typeface="Noto Sans JP"/>
                          <a:ea typeface="Noto Sans JP"/>
                          <a:cs typeface="Noto Sans JP"/>
                        </a:rPr>
                        <a:t>7／7日</a:t>
                      </a:r>
                    </a:p>
                  </a:txBody>
                  <a:tcPr>
                    <a:solidFill>
                      <a:srgbClr val="F1F5F8"/>
                    </a:solidFill>
                  </a:tcPr>
                </a:tc>
                <a:extLst>
                  <a:ext uri="{0D108BD9-81ED-4DB2-BD59-A6C34878D82A}">
                    <a16:rowId xmlns:a16="http://schemas.microsoft.com/office/drawing/2014/main" val="10001"/>
                  </a:ext>
                </a:extLst>
              </a:tr>
              <a:tr h="596265">
                <a:tc>
                  <a:txBody>
                    <a:bodyPr/>
                    <a:lstStyle/>
                    <a:p>
                      <a:r>
                        <a:rPr sz="1650" b="0">
                          <a:solidFill>
                            <a:srgbClr val="202B58"/>
                          </a:solidFill>
                          <a:latin typeface="Noto Sans JP"/>
                          <a:ea typeface="Noto Sans JP"/>
                          <a:cs typeface="Noto Sans JP"/>
                        </a:rPr>
                        <a:t>受電時間</a:t>
                      </a:r>
                    </a:p>
                  </a:txBody>
                  <a:tcPr>
                    <a:solidFill>
                      <a:srgbClr val="FFFFFF"/>
                    </a:solidFill>
                  </a:tcPr>
                </a:tc>
                <a:tc>
                  <a:txBody>
                    <a:bodyPr/>
                    <a:lstStyle/>
                    <a:p>
                      <a:r>
                        <a:rPr sz="1650" b="0">
                          <a:solidFill>
                            <a:srgbClr val="202B58"/>
                          </a:solidFill>
                          <a:latin typeface="Noto Sans JP"/>
                          <a:ea typeface="Noto Sans JP"/>
                          <a:cs typeface="Noto Sans JP"/>
                        </a:rPr>
                        <a:t>50.75時間</a:t>
                      </a:r>
                    </a:p>
                  </a:txBody>
                  <a:tcPr>
                    <a:solidFill>
                      <a:srgbClr val="FFFFFF"/>
                    </a:solidFill>
                  </a:tcPr>
                </a:tc>
                <a:extLst>
                  <a:ext uri="{0D108BD9-81ED-4DB2-BD59-A6C34878D82A}">
                    <a16:rowId xmlns:a16="http://schemas.microsoft.com/office/drawing/2014/main" val="10002"/>
                  </a:ext>
                </a:extLst>
              </a:tr>
              <a:tr h="596265">
                <a:tc>
                  <a:txBody>
                    <a:bodyPr/>
                    <a:lstStyle/>
                    <a:p>
                      <a:r>
                        <a:rPr sz="1650" b="0">
                          <a:solidFill>
                            <a:srgbClr val="202B58"/>
                          </a:solidFill>
                          <a:latin typeface="Noto Sans JP"/>
                          <a:ea typeface="Noto Sans JP"/>
                          <a:cs typeface="Noto Sans JP"/>
                        </a:rPr>
                        <a:t>最長連続受電時間</a:t>
                      </a:r>
                    </a:p>
                  </a:txBody>
                  <a:tcPr>
                    <a:solidFill>
                      <a:srgbClr val="F1F5F8"/>
                    </a:solidFill>
                  </a:tcPr>
                </a:tc>
                <a:tc>
                  <a:txBody>
                    <a:bodyPr/>
                    <a:lstStyle/>
                    <a:p>
                      <a:r>
                        <a:rPr sz="1650" b="0">
                          <a:solidFill>
                            <a:srgbClr val="202B58"/>
                          </a:solidFill>
                          <a:latin typeface="Noto Sans JP"/>
                          <a:ea typeface="Noto Sans JP"/>
                          <a:cs typeface="Noto Sans JP"/>
                        </a:rPr>
                        <a:t>9.75時間</a:t>
                      </a:r>
                    </a:p>
                  </a:txBody>
                  <a:tcPr>
                    <a:solidFill>
                      <a:srgbClr val="F1F5F8"/>
                    </a:solidFill>
                  </a:tcPr>
                </a:tc>
                <a:extLst>
                  <a:ext uri="{0D108BD9-81ED-4DB2-BD59-A6C34878D82A}">
                    <a16:rowId xmlns:a16="http://schemas.microsoft.com/office/drawing/2014/main" val="10003"/>
                  </a:ext>
                </a:extLst>
              </a:tr>
              <a:tr h="596265">
                <a:tc>
                  <a:txBody>
                    <a:bodyPr/>
                    <a:lstStyle/>
                    <a:p>
                      <a:r>
                        <a:rPr sz="1650" b="0">
                          <a:solidFill>
                            <a:srgbClr val="202B58"/>
                          </a:solidFill>
                          <a:latin typeface="Noto Sans JP"/>
                          <a:ea typeface="Noto Sans JP"/>
                          <a:cs typeface="Noto Sans JP"/>
                        </a:rPr>
                        <a:t>最大1日の割合</a:t>
                      </a:r>
                    </a:p>
                  </a:txBody>
                  <a:tcPr>
                    <a:solidFill>
                      <a:srgbClr val="FFFFFF"/>
                    </a:solidFill>
                  </a:tcPr>
                </a:tc>
                <a:tc>
                  <a:txBody>
                    <a:bodyPr/>
                    <a:lstStyle/>
                    <a:p>
                      <a:r>
                        <a:rPr sz="1650" b="0">
                          <a:solidFill>
                            <a:srgbClr val="202B58"/>
                          </a:solidFill>
                          <a:latin typeface="Noto Sans JP"/>
                          <a:ea typeface="Noto Sans JP"/>
                          <a:cs typeface="Noto Sans JP"/>
                        </a:rPr>
                        <a:t>20.5%</a:t>
                      </a:r>
                    </a:p>
                  </a:txBody>
                  <a:tcPr>
                    <a:solidFill>
                      <a:srgbClr val="FFFFFF"/>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3708222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51F75674-E109-44E1-9A18-6070840401A0}"/>
              </a:ext>
            </a:extLst>
          </p:cNvPr>
          <p:cNvSpPr>
            <a:spLocks noGrp="1"/>
          </p:cNvSpPr>
          <p:nvPr/>
        </p:nvSpPr>
        <p:spPr>
          <a:xfrm>
            <a:off x="419100" y="228600"/>
            <a:ext cx="11353800" cy="609600"/>
          </a:xfrm>
          <a:prstGeom prst="rect">
            <a:avLst/>
          </a:prstGeom>
          <a:noFill/>
          <a:ln w="0">
            <a:noFill/>
          </a:ln>
        </p:spPr>
        <p:txBody>
          <a:bodyPr>
            <a:noAutofit/>
          </a:bodyPr>
          <a:lstStyle/>
          <a:p>
            <a:pPr>
              <a:defRPr sz="2625" b="1">
                <a:solidFill>
                  <a:srgbClr val="202B58"/>
                </a:solidFill>
                <a:latin typeface="Noto Sans JP"/>
                <a:ea typeface="Noto Sans JP"/>
                <a:cs typeface="Noto Sans JP"/>
              </a:defRPr>
            </a:pPr>
            <a:r>
              <a:rPr sz="2625" b="1">
                <a:solidFill>
                  <a:srgbClr val="202B58"/>
                </a:solidFill>
                <a:latin typeface="Noto Sans JP"/>
                <a:ea typeface="Noto Sans JP"/>
                <a:cs typeface="Noto Sans JP"/>
              </a:rPr>
              <a:t>受電電力の週間推移</a:t>
            </a:r>
          </a:p>
        </p:txBody>
      </p:sp>
      <p:sp>
        <p:nvSpPr>
          <p:cNvPr id="2" name="正方形/長方形 1">
            <a:extLst>
              <a:ext uri="{FF2B5EF4-FFF2-40B4-BE49-F238E27FC236}">
                <a16:creationId xmlns:a16="http://schemas.microsoft.com/office/drawing/2014/main" id="{6B5B43F6-C973-4E04-A921-40F36FF006E2}"/>
              </a:ext>
            </a:extLst>
          </p:cNvPr>
          <p:cNvSpPr>
            <a:spLocks noGrp="1"/>
          </p:cNvSpPr>
          <p:nvPr/>
        </p:nvSpPr>
        <p:spPr>
          <a:xfrm>
            <a:off x="571500" y="981075"/>
            <a:ext cx="11049000" cy="590550"/>
          </a:xfrm>
          <a:prstGeom prst="rect">
            <a:avLst/>
          </a:prstGeom>
          <a:noFill/>
          <a:ln w="0">
            <a:noFill/>
          </a:ln>
        </p:spPr>
        <p:txBody>
          <a:bodyPr>
            <a:noAutofit/>
          </a:bodyPr>
          <a:lstStyle/>
          <a:p>
            <a:pPr>
              <a:defRPr sz="1725" b="0">
                <a:solidFill>
                  <a:srgbClr val="59687B"/>
                </a:solidFill>
                <a:latin typeface="Noto Sans JP"/>
                <a:ea typeface="Noto Sans JP"/>
                <a:cs typeface="Noto Sans JP"/>
              </a:defRPr>
            </a:pPr>
            <a:r>
              <a:rPr sz="1725" b="0">
                <a:solidFill>
                  <a:srgbClr val="59687B"/>
                </a:solidFill>
                <a:latin typeface="Noto Sans JP"/>
                <a:ea typeface="Noto Sans JP"/>
                <a:cs typeface="Noto Sans JP"/>
              </a:rPr>
              <a:t>0時間は月曜0時、24時間は火曜0時。3月と11月を同じ軸で比較</a:t>
            </a:r>
          </a:p>
        </p:txBody>
      </p:sp>
      <p:sp>
        <p:nvSpPr>
          <p:cNvPr id="3" name="正方形/長方形 2">
            <a:extLst>
              <a:ext uri="{FF2B5EF4-FFF2-40B4-BE49-F238E27FC236}">
                <a16:creationId xmlns:a16="http://schemas.microsoft.com/office/drawing/2014/main" id="{D40AAC4F-D5C2-4334-A6DF-301E5BC7B565}"/>
              </a:ext>
            </a:extLst>
          </p:cNvPr>
          <p:cNvSpPr>
            <a:spLocks noGrp="1"/>
          </p:cNvSpPr>
          <p:nvPr/>
        </p:nvSpPr>
        <p:spPr>
          <a:xfrm>
            <a:off x="571500" y="5638800"/>
            <a:ext cx="11049000" cy="56197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受電ピークは3月849.4 kW、11月234.8 kW</a:t>
            </a:r>
          </a:p>
        </p:txBody>
      </p:sp>
      <p:sp>
        <p:nvSpPr>
          <p:cNvPr id="4" name="正方形/長方形 3">
            <a:extLst>
              <a:ext uri="{FF2B5EF4-FFF2-40B4-BE49-F238E27FC236}">
                <a16:creationId xmlns:a16="http://schemas.microsoft.com/office/drawing/2014/main" id="{D960FC62-A267-48C9-BA1A-45C164FC7573}"/>
              </a:ext>
            </a:extLst>
          </p:cNvPr>
          <p:cNvSpPr>
            <a:spLocks noGrp="1"/>
          </p:cNvSpPr>
          <p:nvPr/>
        </p:nvSpPr>
        <p:spPr>
          <a:xfrm>
            <a:off x="571500" y="6248400"/>
            <a:ext cx="11049000" cy="314325"/>
          </a:xfrm>
          <a:prstGeom prst="rect">
            <a:avLst/>
          </a:prstGeom>
          <a:noFill/>
          <a:ln w="0">
            <a:noFill/>
          </a:ln>
        </p:spPr>
        <p:txBody>
          <a:bodyPr>
            <a:noAutofit/>
          </a:bodyPr>
          <a:lstStyle/>
          <a:p>
            <a:pPr>
              <a:defRPr sz="1275" b="0">
                <a:solidFill>
                  <a:srgbClr val="7E4D36"/>
                </a:solidFill>
                <a:latin typeface="Noto Sans JP"/>
                <a:ea typeface="Noto Sans JP"/>
                <a:cs typeface="Noto Sans JP"/>
              </a:defRPr>
            </a:pPr>
            <a:r>
              <a:rPr sz="1275" b="0">
                <a:solidFill>
                  <a:srgbClr val="7E4D36"/>
                </a:solidFill>
                <a:latin typeface="Noto Sans JP"/>
                <a:ea typeface="Noto Sans JP"/>
                <a:cs typeface="Noto Sans JP"/>
              </a:rPr>
              <a:t>赤線200 kWは、追加費用が発生するモデル上の基準。物理的な受電上限ではない。</a:t>
            </a:r>
          </a:p>
        </p:txBody>
      </p:sp>
      <p:sp>
        <p:nvSpPr>
          <p:cNvPr id="5" name="正方形/長方形 4">
            <a:extLst>
              <a:ext uri="{FF2B5EF4-FFF2-40B4-BE49-F238E27FC236}">
                <a16:creationId xmlns:a16="http://schemas.microsoft.com/office/drawing/2014/main" id="{DEB0819B-9AB5-45EA-ABE0-AC5335B09021}"/>
              </a:ext>
            </a:extLst>
          </p:cNvPr>
          <p:cNvSpPr>
            <a:spLocks noGrp="1"/>
          </p:cNvSpPr>
          <p:nvPr/>
        </p:nvSpPr>
        <p:spPr>
          <a:xfrm>
            <a:off x="419100" y="6638925"/>
            <a:ext cx="10096500" cy="180975"/>
          </a:xfrm>
          <a:prstGeom prst="rect">
            <a:avLst/>
          </a:prstGeom>
          <a:noFill/>
          <a:ln w="0">
            <a:noFill/>
          </a:ln>
        </p:spPr>
        <p:txBody>
          <a:bodyPr>
            <a:noAutofit/>
          </a:bodyPr>
          <a:lstStyle/>
          <a:p>
            <a:pPr>
              <a:defRPr sz="900" b="0">
                <a:solidFill>
                  <a:srgbClr val="59687B"/>
                </a:solidFill>
                <a:latin typeface="Noto Sans JP"/>
                <a:ea typeface="Noto Sans JP"/>
                <a:cs typeface="Noto Sans JP"/>
              </a:defRPr>
            </a:pPr>
            <a:r>
              <a:rPr sz="900" b="0">
                <a:solidFill>
                  <a:srgbClr val="59687B"/>
                </a:solidFill>
                <a:latin typeface="Noto Sans JP"/>
                <a:ea typeface="Noto Sans JP"/>
                <a:cs typeface="Noto Sans JP"/>
              </a:rPr>
              <a:t>修士研究　2026年9月18日　／　月別12週のシミュレーション（診断結果）</a:t>
            </a:r>
          </a:p>
        </p:txBody>
      </p:sp>
      <p:sp>
        <p:nvSpPr>
          <p:cNvPr id="6" name="正方形/長方形 5">
            <a:extLst>
              <a:ext uri="{FF2B5EF4-FFF2-40B4-BE49-F238E27FC236}">
                <a16:creationId xmlns:a16="http://schemas.microsoft.com/office/drawing/2014/main" id="{8AF658ED-3DAC-4DB4-BABA-B2CBB33793B2}"/>
              </a:ext>
            </a:extLst>
          </p:cNvPr>
          <p:cNvSpPr>
            <a:spLocks noGrp="1"/>
          </p:cNvSpPr>
          <p:nvPr/>
        </p:nvSpPr>
        <p:spPr>
          <a:xfrm>
            <a:off x="11144250" y="6610350"/>
            <a:ext cx="628650" cy="228600"/>
          </a:xfrm>
          <a:prstGeom prst="rect">
            <a:avLst/>
          </a:prstGeom>
          <a:noFill/>
          <a:ln w="0">
            <a:noFill/>
          </a:ln>
        </p:spPr>
        <p:txBody>
          <a:bodyPr>
            <a:noAutofit/>
          </a:bodyPr>
          <a:lstStyle/>
          <a:p>
            <a:pPr>
              <a:defRPr sz="1050" b="0">
                <a:solidFill>
                  <a:srgbClr val="59687B"/>
                </a:solidFill>
                <a:latin typeface="Noto Sans JP"/>
                <a:ea typeface="Noto Sans JP"/>
                <a:cs typeface="Noto Sans JP"/>
              </a:defRPr>
            </a:pPr>
            <a:r>
              <a:rPr sz="1050" b="0">
                <a:solidFill>
                  <a:srgbClr val="59687B"/>
                </a:solidFill>
                <a:latin typeface="Noto Sans JP"/>
                <a:ea typeface="Noto Sans JP"/>
                <a:cs typeface="Noto Sans JP"/>
              </a:rPr>
              <a:t>11/24</a:t>
            </a:r>
          </a:p>
        </p:txBody>
      </p:sp>
      <p:graphicFrame>
        <p:nvGraphicFramePr>
          <p:cNvPr id="14" name="Chart"/>
          <p:cNvGraphicFramePr/>
          <p:nvPr/>
        </p:nvGraphicFramePr>
        <p:xfrm>
          <a:off x="571500" y="1657350"/>
          <a:ext cx="11049000" cy="3838575"/>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6038555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10" name="正方形/長方形 9">
            <a:extLst>
              <a:ext uri="{FF2B5EF4-FFF2-40B4-BE49-F238E27FC236}">
                <a16:creationId xmlns:a16="http://schemas.microsoft.com/office/drawing/2014/main" id="{E0440360-2311-4F23-9BEF-D37F48988692}"/>
              </a:ext>
            </a:extLst>
          </p:cNvPr>
          <p:cNvSpPr>
            <a:spLocks noGrp="1"/>
          </p:cNvSpPr>
          <p:nvPr/>
        </p:nvSpPr>
        <p:spPr>
          <a:xfrm>
            <a:off x="419100" y="228600"/>
            <a:ext cx="11353800" cy="609600"/>
          </a:xfrm>
          <a:prstGeom prst="rect">
            <a:avLst/>
          </a:prstGeom>
          <a:noFill/>
          <a:ln w="0">
            <a:noFill/>
          </a:ln>
        </p:spPr>
        <p:txBody>
          <a:bodyPr>
            <a:noAutofit/>
          </a:bodyPr>
          <a:lstStyle/>
          <a:p>
            <a:pPr>
              <a:defRPr sz="2625" b="1">
                <a:solidFill>
                  <a:srgbClr val="202B58"/>
                </a:solidFill>
                <a:latin typeface="Noto Sans JP"/>
                <a:ea typeface="Noto Sans JP"/>
                <a:cs typeface="Noto Sans JP"/>
              </a:defRPr>
            </a:pPr>
            <a:r>
              <a:rPr sz="2625" b="1">
                <a:solidFill>
                  <a:srgbClr val="202B58"/>
                </a:solidFill>
                <a:latin typeface="Noto Sans JP"/>
                <a:ea typeface="Noto Sans JP"/>
                <a:cs typeface="Noto Sans JP"/>
              </a:rPr>
              <a:t>超過電力量と超過時間の比較</a:t>
            </a:r>
          </a:p>
        </p:txBody>
      </p:sp>
      <p:sp>
        <p:nvSpPr>
          <p:cNvPr id="2" name="正方形/長方形 1">
            <a:extLst>
              <a:ext uri="{FF2B5EF4-FFF2-40B4-BE49-F238E27FC236}">
                <a16:creationId xmlns:a16="http://schemas.microsoft.com/office/drawing/2014/main" id="{3AC33330-94F4-41D8-99F0-C90F842D0BAC}"/>
              </a:ext>
            </a:extLst>
          </p:cNvPr>
          <p:cNvSpPr>
            <a:spLocks noGrp="1"/>
          </p:cNvSpPr>
          <p:nvPr/>
        </p:nvSpPr>
        <p:spPr>
          <a:xfrm>
            <a:off x="571500" y="981075"/>
            <a:ext cx="11049000" cy="590550"/>
          </a:xfrm>
          <a:prstGeom prst="rect">
            <a:avLst/>
          </a:prstGeom>
          <a:noFill/>
          <a:ln w="0">
            <a:noFill/>
          </a:ln>
        </p:spPr>
        <p:txBody>
          <a:bodyPr>
            <a:noAutofit/>
          </a:bodyPr>
          <a:lstStyle/>
          <a:p>
            <a:pPr>
              <a:defRPr sz="1725" b="0">
                <a:solidFill>
                  <a:srgbClr val="59687B"/>
                </a:solidFill>
                <a:latin typeface="Noto Sans JP"/>
                <a:ea typeface="Noto Sans JP"/>
                <a:cs typeface="Noto Sans JP"/>
              </a:defRPr>
            </a:pPr>
            <a:r>
              <a:rPr sz="1725" b="0">
                <a:solidFill>
                  <a:srgbClr val="59687B"/>
                </a:solidFill>
                <a:latin typeface="Noto Sans JP"/>
                <a:ea typeface="Noto Sans JP"/>
                <a:cs typeface="Noto Sans JP"/>
              </a:rPr>
              <a:t>受電電力が200 kWを超えた部分の面積を超過電力量とする</a:t>
            </a:r>
          </a:p>
        </p:txBody>
      </p:sp>
      <p:sp>
        <p:nvSpPr>
          <p:cNvPr id="3" name="正方形/長方形 2">
            <a:extLst>
              <a:ext uri="{FF2B5EF4-FFF2-40B4-BE49-F238E27FC236}">
                <a16:creationId xmlns:a16="http://schemas.microsoft.com/office/drawing/2014/main" id="{BBD4B2CC-3F49-4F8A-A02B-2C4149BC85F4}"/>
              </a:ext>
            </a:extLst>
          </p:cNvPr>
          <p:cNvSpPr>
            <a:spLocks noGrp="1"/>
          </p:cNvSpPr>
          <p:nvPr/>
        </p:nvSpPr>
        <p:spPr>
          <a:xfrm>
            <a:off x="571500" y="5638800"/>
            <a:ext cx="11049000" cy="56197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3月540.5 kWh、11月92.0 kWh。超過時間だけでは費用は決まらない</a:t>
            </a:r>
          </a:p>
        </p:txBody>
      </p:sp>
      <p:sp>
        <p:nvSpPr>
          <p:cNvPr id="4" name="正方形/長方形 3">
            <a:extLst>
              <a:ext uri="{FF2B5EF4-FFF2-40B4-BE49-F238E27FC236}">
                <a16:creationId xmlns:a16="http://schemas.microsoft.com/office/drawing/2014/main" id="{81062243-0EB7-4C6D-8801-6B9551B6FD14}"/>
              </a:ext>
            </a:extLst>
          </p:cNvPr>
          <p:cNvSpPr>
            <a:spLocks noGrp="1"/>
          </p:cNvSpPr>
          <p:nvPr/>
        </p:nvSpPr>
        <p:spPr>
          <a:xfrm>
            <a:off x="571500" y="6248400"/>
            <a:ext cx="11049000" cy="314325"/>
          </a:xfrm>
          <a:prstGeom prst="rect">
            <a:avLst/>
          </a:prstGeom>
          <a:noFill/>
          <a:ln w="0">
            <a:noFill/>
          </a:ln>
        </p:spPr>
        <p:txBody>
          <a:bodyPr>
            <a:noAutofit/>
          </a:bodyPr>
          <a:lstStyle/>
          <a:p>
            <a:pPr>
              <a:defRPr sz="1275" b="0">
                <a:solidFill>
                  <a:srgbClr val="7E4D36"/>
                </a:solidFill>
                <a:latin typeface="Noto Sans JP"/>
                <a:ea typeface="Noto Sans JP"/>
                <a:cs typeface="Noto Sans JP"/>
              </a:defRPr>
            </a:pPr>
            <a:r>
              <a:rPr sz="1275" b="0">
                <a:solidFill>
                  <a:srgbClr val="7E4D36"/>
                </a:solidFill>
                <a:latin typeface="Noto Sans JP"/>
                <a:ea typeface="Noto Sans JP"/>
                <a:cs typeface="Noto Sans JP"/>
              </a:rPr>
              <a:t>図の時間窓は異なる。表は週間合計。両図とも縦軸0〜900 kW。</a:t>
            </a:r>
          </a:p>
        </p:txBody>
      </p:sp>
      <p:sp>
        <p:nvSpPr>
          <p:cNvPr id="5" name="正方形/長方形 4">
            <a:extLst>
              <a:ext uri="{FF2B5EF4-FFF2-40B4-BE49-F238E27FC236}">
                <a16:creationId xmlns:a16="http://schemas.microsoft.com/office/drawing/2014/main" id="{59366346-FF2D-4173-8EE7-E74E146FFFBD}"/>
              </a:ext>
            </a:extLst>
          </p:cNvPr>
          <p:cNvSpPr>
            <a:spLocks noGrp="1"/>
          </p:cNvSpPr>
          <p:nvPr/>
        </p:nvSpPr>
        <p:spPr>
          <a:xfrm>
            <a:off x="419100" y="6638925"/>
            <a:ext cx="10096500" cy="180975"/>
          </a:xfrm>
          <a:prstGeom prst="rect">
            <a:avLst/>
          </a:prstGeom>
          <a:noFill/>
          <a:ln w="0">
            <a:noFill/>
          </a:ln>
        </p:spPr>
        <p:txBody>
          <a:bodyPr>
            <a:noAutofit/>
          </a:bodyPr>
          <a:lstStyle/>
          <a:p>
            <a:pPr>
              <a:defRPr sz="900" b="0">
                <a:solidFill>
                  <a:srgbClr val="59687B"/>
                </a:solidFill>
                <a:latin typeface="Noto Sans JP"/>
                <a:ea typeface="Noto Sans JP"/>
                <a:cs typeface="Noto Sans JP"/>
              </a:defRPr>
            </a:pPr>
            <a:r>
              <a:rPr sz="900" b="0">
                <a:solidFill>
                  <a:srgbClr val="59687B"/>
                </a:solidFill>
                <a:latin typeface="Noto Sans JP"/>
                <a:ea typeface="Noto Sans JP"/>
                <a:cs typeface="Noto Sans JP"/>
              </a:rPr>
              <a:t>修士研究　2026年9月18日　／　月別12週のシミュレーション（診断結果）</a:t>
            </a:r>
          </a:p>
        </p:txBody>
      </p:sp>
      <p:sp>
        <p:nvSpPr>
          <p:cNvPr id="6" name="正方形/長方形 5">
            <a:extLst>
              <a:ext uri="{FF2B5EF4-FFF2-40B4-BE49-F238E27FC236}">
                <a16:creationId xmlns:a16="http://schemas.microsoft.com/office/drawing/2014/main" id="{D9025F83-BEA5-4110-AE26-BC8D4993556E}"/>
              </a:ext>
            </a:extLst>
          </p:cNvPr>
          <p:cNvSpPr>
            <a:spLocks noGrp="1"/>
          </p:cNvSpPr>
          <p:nvPr/>
        </p:nvSpPr>
        <p:spPr>
          <a:xfrm>
            <a:off x="11144250" y="6610350"/>
            <a:ext cx="628650" cy="228600"/>
          </a:xfrm>
          <a:prstGeom prst="rect">
            <a:avLst/>
          </a:prstGeom>
          <a:noFill/>
          <a:ln w="0">
            <a:noFill/>
          </a:ln>
        </p:spPr>
        <p:txBody>
          <a:bodyPr>
            <a:noAutofit/>
          </a:bodyPr>
          <a:lstStyle/>
          <a:p>
            <a:pPr>
              <a:defRPr sz="1050" b="0">
                <a:solidFill>
                  <a:srgbClr val="59687B"/>
                </a:solidFill>
                <a:latin typeface="Noto Sans JP"/>
                <a:ea typeface="Noto Sans JP"/>
                <a:cs typeface="Noto Sans JP"/>
              </a:defRPr>
            </a:pPr>
            <a:r>
              <a:rPr sz="1050" b="0">
                <a:solidFill>
                  <a:srgbClr val="59687B"/>
                </a:solidFill>
                <a:latin typeface="Noto Sans JP"/>
                <a:ea typeface="Noto Sans JP"/>
                <a:cs typeface="Noto Sans JP"/>
              </a:rPr>
              <a:t>12/24</a:t>
            </a:r>
          </a:p>
        </p:txBody>
      </p:sp>
      <p:graphicFrame>
        <p:nvGraphicFramePr>
          <p:cNvPr id="16" name="Chart"/>
          <p:cNvGraphicFramePr/>
          <p:nvPr/>
        </p:nvGraphicFramePr>
        <p:xfrm>
          <a:off x="571500" y="1695450"/>
          <a:ext cx="5381625" cy="291465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7" name="Chart"/>
          <p:cNvGraphicFramePr/>
          <p:nvPr/>
        </p:nvGraphicFramePr>
        <p:xfrm>
          <a:off x="6238875" y="1695450"/>
          <a:ext cx="5381625" cy="291465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8" name="表 17"/>
          <p:cNvGraphicFramePr/>
          <p:nvPr/>
        </p:nvGraphicFramePr>
        <p:xfrm>
          <a:off x="571500" y="4695825"/>
          <a:ext cx="11049000" cy="762000"/>
        </p:xfrm>
        <a:graphic>
          <a:graphicData uri="http://schemas.openxmlformats.org/drawingml/2006/table">
            <a:tbl>
              <a:tblPr/>
              <a:tblGrid>
                <a:gridCol w="3143250">
                  <a:extLst>
                    <a:ext uri="{9D8B030D-6E8A-4147-A177-3AD203B41FA5}">
                      <a16:colId xmlns:a16="http://schemas.microsoft.com/office/drawing/2014/main" val="20000"/>
                    </a:ext>
                  </a:extLst>
                </a:gridCol>
                <a:gridCol w="3952875">
                  <a:extLst>
                    <a:ext uri="{9D8B030D-6E8A-4147-A177-3AD203B41FA5}">
                      <a16:colId xmlns:a16="http://schemas.microsoft.com/office/drawing/2014/main" val="20001"/>
                    </a:ext>
                  </a:extLst>
                </a:gridCol>
                <a:gridCol w="3952875">
                  <a:extLst>
                    <a:ext uri="{9D8B030D-6E8A-4147-A177-3AD203B41FA5}">
                      <a16:colId xmlns:a16="http://schemas.microsoft.com/office/drawing/2014/main" val="20002"/>
                    </a:ext>
                  </a:extLst>
                </a:gridCol>
              </a:tblGrid>
              <a:tr h="381000">
                <a:tc>
                  <a:txBody>
                    <a:bodyPr/>
                    <a:lstStyle/>
                    <a:p>
                      <a:r>
                        <a:rPr sz="1650" b="1">
                          <a:solidFill>
                            <a:srgbClr val="FFFFFF"/>
                          </a:solidFill>
                          <a:latin typeface="Noto Sans JP"/>
                          <a:ea typeface="Noto Sans JP"/>
                          <a:cs typeface="Noto Sans JP"/>
                        </a:rPr>
                        <a:t>週全体の値</a:t>
                      </a:r>
                    </a:p>
                  </a:txBody>
                  <a:tcPr>
                    <a:solidFill>
                      <a:srgbClr val="202B58"/>
                    </a:solidFill>
                  </a:tcPr>
                </a:tc>
                <a:tc>
                  <a:txBody>
                    <a:bodyPr/>
                    <a:lstStyle/>
                    <a:p>
                      <a:r>
                        <a:rPr sz="1650" b="1">
                          <a:solidFill>
                            <a:srgbClr val="FFFFFF"/>
                          </a:solidFill>
                          <a:latin typeface="Noto Sans JP"/>
                          <a:ea typeface="Noto Sans JP"/>
                          <a:cs typeface="Noto Sans JP"/>
                        </a:rPr>
                        <a:t>3月</a:t>
                      </a:r>
                    </a:p>
                  </a:txBody>
                  <a:tcPr>
                    <a:solidFill>
                      <a:srgbClr val="202B58"/>
                    </a:solidFill>
                  </a:tcPr>
                </a:tc>
                <a:tc>
                  <a:txBody>
                    <a:bodyPr/>
                    <a:lstStyle/>
                    <a:p>
                      <a:r>
                        <a:rPr sz="1650" b="1">
                          <a:solidFill>
                            <a:srgbClr val="FFFFFF"/>
                          </a:solidFill>
                          <a:latin typeface="Noto Sans JP"/>
                          <a:ea typeface="Noto Sans JP"/>
                          <a:cs typeface="Noto Sans JP"/>
                        </a:rPr>
                        <a:t>11月</a:t>
                      </a:r>
                    </a:p>
                  </a:txBody>
                  <a:tcPr>
                    <a:solidFill>
                      <a:srgbClr val="202B58"/>
                    </a:solidFill>
                  </a:tcPr>
                </a:tc>
                <a:extLst>
                  <a:ext uri="{0D108BD9-81ED-4DB2-BD59-A6C34878D82A}">
                    <a16:rowId xmlns:a16="http://schemas.microsoft.com/office/drawing/2014/main" val="10000"/>
                  </a:ext>
                </a:extLst>
              </a:tr>
              <a:tr h="381000">
                <a:tc>
                  <a:txBody>
                    <a:bodyPr/>
                    <a:lstStyle/>
                    <a:p>
                      <a:r>
                        <a:rPr sz="1650" b="0">
                          <a:solidFill>
                            <a:srgbClr val="202B58"/>
                          </a:solidFill>
                          <a:latin typeface="Noto Sans JP"/>
                          <a:ea typeface="Noto Sans JP"/>
                          <a:cs typeface="Noto Sans JP"/>
                        </a:rPr>
                        <a:t>超過時間／超過電力量</a:t>
                      </a:r>
                    </a:p>
                  </a:txBody>
                  <a:tcPr>
                    <a:solidFill>
                      <a:srgbClr val="F1F5F8"/>
                    </a:solidFill>
                  </a:tcPr>
                </a:tc>
                <a:tc>
                  <a:txBody>
                    <a:bodyPr/>
                    <a:lstStyle/>
                    <a:p>
                      <a:r>
                        <a:rPr sz="1650" b="0">
                          <a:solidFill>
                            <a:srgbClr val="202B58"/>
                          </a:solidFill>
                          <a:latin typeface="Noto Sans JP"/>
                          <a:ea typeface="Noto Sans JP"/>
                          <a:cs typeface="Noto Sans JP"/>
                        </a:rPr>
                        <a:t>1.25 h ／ 540.5 kWh</a:t>
                      </a:r>
                    </a:p>
                  </a:txBody>
                  <a:tcPr>
                    <a:solidFill>
                      <a:srgbClr val="F1F5F8"/>
                    </a:solidFill>
                  </a:tcPr>
                </a:tc>
                <a:tc>
                  <a:txBody>
                    <a:bodyPr/>
                    <a:lstStyle/>
                    <a:p>
                      <a:r>
                        <a:rPr sz="1650" b="0">
                          <a:solidFill>
                            <a:srgbClr val="202B58"/>
                          </a:solidFill>
                          <a:latin typeface="Noto Sans JP"/>
                          <a:ea typeface="Noto Sans JP"/>
                          <a:cs typeface="Noto Sans JP"/>
                        </a:rPr>
                        <a:t>3.75 h ／ 92.0 kWh</a:t>
                      </a:r>
                    </a:p>
                  </a:txBody>
                  <a:tcPr>
                    <a:solidFill>
                      <a:srgbClr val="F1F5F8"/>
                    </a:solid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10354955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8FD2E94D-D23C-4785-BA34-FD68D9A3056C}"/>
              </a:ext>
            </a:extLst>
          </p:cNvPr>
          <p:cNvSpPr>
            <a:spLocks noGrp="1"/>
          </p:cNvSpPr>
          <p:nvPr/>
        </p:nvSpPr>
        <p:spPr>
          <a:xfrm>
            <a:off x="419100" y="228600"/>
            <a:ext cx="11353800" cy="609600"/>
          </a:xfrm>
          <a:prstGeom prst="rect">
            <a:avLst/>
          </a:prstGeom>
          <a:noFill/>
          <a:ln w="0">
            <a:noFill/>
          </a:ln>
        </p:spPr>
        <p:txBody>
          <a:bodyPr>
            <a:noAutofit/>
          </a:bodyPr>
          <a:lstStyle/>
          <a:p>
            <a:pPr>
              <a:defRPr sz="2625" b="1">
                <a:solidFill>
                  <a:srgbClr val="202B58"/>
                </a:solidFill>
                <a:latin typeface="Noto Sans JP"/>
                <a:ea typeface="Noto Sans JP"/>
                <a:cs typeface="Noto Sans JP"/>
              </a:defRPr>
            </a:pPr>
            <a:r>
              <a:rPr sz="2625" b="1">
                <a:solidFill>
                  <a:srgbClr val="202B58"/>
                </a:solidFill>
                <a:latin typeface="Noto Sans JP"/>
                <a:ea typeface="Noto Sans JP"/>
                <a:cs typeface="Noto Sans JP"/>
              </a:rPr>
              <a:t>受電ピーク区間の電源と未解明点</a:t>
            </a:r>
          </a:p>
        </p:txBody>
      </p:sp>
      <p:sp>
        <p:nvSpPr>
          <p:cNvPr id="2" name="正方形/長方形 1">
            <a:extLst>
              <a:ext uri="{FF2B5EF4-FFF2-40B4-BE49-F238E27FC236}">
                <a16:creationId xmlns:a16="http://schemas.microsoft.com/office/drawing/2014/main" id="{6B92E899-DF44-4994-841B-6DE5C79C046A}"/>
              </a:ext>
            </a:extLst>
          </p:cNvPr>
          <p:cNvSpPr>
            <a:spLocks noGrp="1"/>
          </p:cNvSpPr>
          <p:nvPr/>
        </p:nvSpPr>
        <p:spPr>
          <a:xfrm>
            <a:off x="571500" y="981075"/>
            <a:ext cx="11049000" cy="590550"/>
          </a:xfrm>
          <a:prstGeom prst="rect">
            <a:avLst/>
          </a:prstGeom>
          <a:noFill/>
          <a:ln w="0">
            <a:noFill/>
          </a:ln>
        </p:spPr>
        <p:txBody>
          <a:bodyPr>
            <a:noAutofit/>
          </a:bodyPr>
          <a:lstStyle/>
          <a:p>
            <a:pPr>
              <a:defRPr sz="1725" b="0">
                <a:solidFill>
                  <a:srgbClr val="59687B"/>
                </a:solidFill>
                <a:latin typeface="Noto Sans JP"/>
                <a:ea typeface="Noto Sans JP"/>
                <a:cs typeface="Noto Sans JP"/>
              </a:defRPr>
            </a:pPr>
            <a:r>
              <a:rPr sz="1725" b="0">
                <a:solidFill>
                  <a:srgbClr val="59687B"/>
                </a:solidFill>
                <a:latin typeface="Noto Sans JP"/>
                <a:ea typeface="Noto Sans JP"/>
                <a:cs typeface="Noto Sans JP"/>
              </a:rPr>
              <a:t>受電ピーク区間では、充電をすべて系統からの電力で賄っていた</a:t>
            </a:r>
          </a:p>
        </p:txBody>
      </p:sp>
      <p:sp>
        <p:nvSpPr>
          <p:cNvPr id="3" name="正方形/長方形 2">
            <a:extLst>
              <a:ext uri="{FF2B5EF4-FFF2-40B4-BE49-F238E27FC236}">
                <a16:creationId xmlns:a16="http://schemas.microsoft.com/office/drawing/2014/main" id="{99C0559E-C8FC-4C10-AB4C-DA60058111C3}"/>
              </a:ext>
            </a:extLst>
          </p:cNvPr>
          <p:cNvSpPr>
            <a:spLocks noGrp="1"/>
          </p:cNvSpPr>
          <p:nvPr/>
        </p:nvSpPr>
        <p:spPr>
          <a:xfrm>
            <a:off x="571500" y="5638800"/>
            <a:ext cx="11049000" cy="56197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BESS残量は下限より多い。系統購入が不可避だったかは未確認</a:t>
            </a:r>
          </a:p>
        </p:txBody>
      </p:sp>
      <p:sp>
        <p:nvSpPr>
          <p:cNvPr id="4" name="正方形/長方形 3">
            <a:extLst>
              <a:ext uri="{FF2B5EF4-FFF2-40B4-BE49-F238E27FC236}">
                <a16:creationId xmlns:a16="http://schemas.microsoft.com/office/drawing/2014/main" id="{FD544B60-5FA4-4BA5-B7B8-B5CEE154C91B}"/>
              </a:ext>
            </a:extLst>
          </p:cNvPr>
          <p:cNvSpPr>
            <a:spLocks noGrp="1"/>
          </p:cNvSpPr>
          <p:nvPr/>
        </p:nvSpPr>
        <p:spPr>
          <a:xfrm>
            <a:off x="571500" y="6248400"/>
            <a:ext cx="11049000" cy="314325"/>
          </a:xfrm>
          <a:prstGeom prst="rect">
            <a:avLst/>
          </a:prstGeom>
          <a:noFill/>
          <a:ln w="0">
            <a:noFill/>
          </a:ln>
        </p:spPr>
        <p:txBody>
          <a:bodyPr>
            <a:noAutofit/>
          </a:bodyPr>
          <a:lstStyle/>
          <a:p>
            <a:pPr>
              <a:defRPr sz="1275" b="0">
                <a:solidFill>
                  <a:srgbClr val="7E4D36"/>
                </a:solidFill>
                <a:latin typeface="Noto Sans JP"/>
                <a:ea typeface="Noto Sans JP"/>
                <a:cs typeface="Noto Sans JP"/>
              </a:defRPr>
            </a:pPr>
            <a:r>
              <a:rPr sz="1275" b="0">
                <a:solidFill>
                  <a:srgbClr val="7E4D36"/>
                </a:solidFill>
                <a:latin typeface="Noto Sans JP"/>
                <a:ea typeface="Noto Sans JP"/>
                <a:cs typeface="Noto Sans JP"/>
              </a:rPr>
              <a:t>残量だけで代替運用の実行可能性は判断できない。将来の運行・残量制約も要確認。</a:t>
            </a:r>
          </a:p>
        </p:txBody>
      </p:sp>
      <p:sp>
        <p:nvSpPr>
          <p:cNvPr id="5" name="正方形/長方形 4">
            <a:extLst>
              <a:ext uri="{FF2B5EF4-FFF2-40B4-BE49-F238E27FC236}">
                <a16:creationId xmlns:a16="http://schemas.microsoft.com/office/drawing/2014/main" id="{563887F2-61B6-46A0-91E6-BCFC032D9485}"/>
              </a:ext>
            </a:extLst>
          </p:cNvPr>
          <p:cNvSpPr>
            <a:spLocks noGrp="1"/>
          </p:cNvSpPr>
          <p:nvPr/>
        </p:nvSpPr>
        <p:spPr>
          <a:xfrm>
            <a:off x="419100" y="6638925"/>
            <a:ext cx="10096500" cy="180975"/>
          </a:xfrm>
          <a:prstGeom prst="rect">
            <a:avLst/>
          </a:prstGeom>
          <a:noFill/>
          <a:ln w="0">
            <a:noFill/>
          </a:ln>
        </p:spPr>
        <p:txBody>
          <a:bodyPr>
            <a:noAutofit/>
          </a:bodyPr>
          <a:lstStyle/>
          <a:p>
            <a:pPr>
              <a:defRPr sz="900" b="0">
                <a:solidFill>
                  <a:srgbClr val="59687B"/>
                </a:solidFill>
                <a:latin typeface="Noto Sans JP"/>
                <a:ea typeface="Noto Sans JP"/>
                <a:cs typeface="Noto Sans JP"/>
              </a:defRPr>
            </a:pPr>
            <a:r>
              <a:rPr sz="900" b="0">
                <a:solidFill>
                  <a:srgbClr val="59687B"/>
                </a:solidFill>
                <a:latin typeface="Noto Sans JP"/>
                <a:ea typeface="Noto Sans JP"/>
                <a:cs typeface="Noto Sans JP"/>
              </a:rPr>
              <a:t>修士研究　2026年9月18日　／　月別12週のシミュレーション（診断結果）</a:t>
            </a:r>
          </a:p>
        </p:txBody>
      </p:sp>
      <p:sp>
        <p:nvSpPr>
          <p:cNvPr id="6" name="正方形/長方形 5">
            <a:extLst>
              <a:ext uri="{FF2B5EF4-FFF2-40B4-BE49-F238E27FC236}">
                <a16:creationId xmlns:a16="http://schemas.microsoft.com/office/drawing/2014/main" id="{61818EE4-6140-494E-89EE-448F4DFDF4EE}"/>
              </a:ext>
            </a:extLst>
          </p:cNvPr>
          <p:cNvSpPr>
            <a:spLocks noGrp="1"/>
          </p:cNvSpPr>
          <p:nvPr/>
        </p:nvSpPr>
        <p:spPr>
          <a:xfrm>
            <a:off x="11144250" y="6610350"/>
            <a:ext cx="628650" cy="228600"/>
          </a:xfrm>
          <a:prstGeom prst="rect">
            <a:avLst/>
          </a:prstGeom>
          <a:noFill/>
          <a:ln w="0">
            <a:noFill/>
          </a:ln>
        </p:spPr>
        <p:txBody>
          <a:bodyPr>
            <a:noAutofit/>
          </a:bodyPr>
          <a:lstStyle/>
          <a:p>
            <a:pPr>
              <a:defRPr sz="1050" b="0">
                <a:solidFill>
                  <a:srgbClr val="59687B"/>
                </a:solidFill>
                <a:latin typeface="Noto Sans JP"/>
                <a:ea typeface="Noto Sans JP"/>
                <a:cs typeface="Noto Sans JP"/>
              </a:defRPr>
            </a:pPr>
            <a:r>
              <a:rPr sz="1050" b="0">
                <a:solidFill>
                  <a:srgbClr val="59687B"/>
                </a:solidFill>
                <a:latin typeface="Noto Sans JP"/>
                <a:ea typeface="Noto Sans JP"/>
                <a:cs typeface="Noto Sans JP"/>
              </a:rPr>
              <a:t>13/24</a:t>
            </a:r>
          </a:p>
        </p:txBody>
      </p:sp>
      <p:graphicFrame>
        <p:nvGraphicFramePr>
          <p:cNvPr id="14" name="表 13"/>
          <p:cNvGraphicFramePr/>
          <p:nvPr/>
        </p:nvGraphicFramePr>
        <p:xfrm>
          <a:off x="571500" y="1695450"/>
          <a:ext cx="11049000" cy="3714753"/>
        </p:xfrm>
        <a:graphic>
          <a:graphicData uri="http://schemas.openxmlformats.org/drawingml/2006/table">
            <a:tbl>
              <a:tblPr/>
              <a:tblGrid>
                <a:gridCol w="3810000">
                  <a:extLst>
                    <a:ext uri="{9D8B030D-6E8A-4147-A177-3AD203B41FA5}">
                      <a16:colId xmlns:a16="http://schemas.microsoft.com/office/drawing/2014/main" val="20000"/>
                    </a:ext>
                  </a:extLst>
                </a:gridCol>
                <a:gridCol w="3619500">
                  <a:extLst>
                    <a:ext uri="{9D8B030D-6E8A-4147-A177-3AD203B41FA5}">
                      <a16:colId xmlns:a16="http://schemas.microsoft.com/office/drawing/2014/main" val="20001"/>
                    </a:ext>
                  </a:extLst>
                </a:gridCol>
                <a:gridCol w="3619500">
                  <a:extLst>
                    <a:ext uri="{9D8B030D-6E8A-4147-A177-3AD203B41FA5}">
                      <a16:colId xmlns:a16="http://schemas.microsoft.com/office/drawing/2014/main" val="20002"/>
                    </a:ext>
                  </a:extLst>
                </a:gridCol>
              </a:tblGrid>
              <a:tr h="530679">
                <a:tc>
                  <a:txBody>
                    <a:bodyPr/>
                    <a:lstStyle/>
                    <a:p>
                      <a:r>
                        <a:rPr sz="1650" b="1">
                          <a:solidFill>
                            <a:srgbClr val="FFFFFF"/>
                          </a:solidFill>
                          <a:latin typeface="Noto Sans JP"/>
                          <a:ea typeface="Noto Sans JP"/>
                          <a:cs typeface="Noto Sans JP"/>
                        </a:rPr>
                        <a:t>受電ピーク区間</a:t>
                      </a:r>
                    </a:p>
                  </a:txBody>
                  <a:tcPr>
                    <a:solidFill>
                      <a:srgbClr val="202B58"/>
                    </a:solidFill>
                  </a:tcPr>
                </a:tc>
                <a:tc>
                  <a:txBody>
                    <a:bodyPr/>
                    <a:lstStyle/>
                    <a:p>
                      <a:r>
                        <a:rPr sz="1650" b="1">
                          <a:solidFill>
                            <a:srgbClr val="FFFFFF"/>
                          </a:solidFill>
                          <a:latin typeface="Noto Sans JP"/>
                          <a:ea typeface="Noto Sans JP"/>
                          <a:cs typeface="Noto Sans JP"/>
                        </a:rPr>
                        <a:t>3月</a:t>
                      </a:r>
                    </a:p>
                  </a:txBody>
                  <a:tcPr>
                    <a:solidFill>
                      <a:srgbClr val="202B58"/>
                    </a:solidFill>
                  </a:tcPr>
                </a:tc>
                <a:tc>
                  <a:txBody>
                    <a:bodyPr/>
                    <a:lstStyle/>
                    <a:p>
                      <a:r>
                        <a:rPr sz="1650" b="1">
                          <a:solidFill>
                            <a:srgbClr val="FFFFFF"/>
                          </a:solidFill>
                          <a:latin typeface="Noto Sans JP"/>
                          <a:ea typeface="Noto Sans JP"/>
                          <a:cs typeface="Noto Sans JP"/>
                        </a:rPr>
                        <a:t>11月の一例</a:t>
                      </a:r>
                    </a:p>
                  </a:txBody>
                  <a:tcPr>
                    <a:solidFill>
                      <a:srgbClr val="202B58"/>
                    </a:solidFill>
                  </a:tcPr>
                </a:tc>
                <a:extLst>
                  <a:ext uri="{0D108BD9-81ED-4DB2-BD59-A6C34878D82A}">
                    <a16:rowId xmlns:a16="http://schemas.microsoft.com/office/drawing/2014/main" val="10000"/>
                  </a:ext>
                </a:extLst>
              </a:tr>
              <a:tr h="530679">
                <a:tc>
                  <a:txBody>
                    <a:bodyPr/>
                    <a:lstStyle/>
                    <a:p>
                      <a:r>
                        <a:rPr sz="1650" b="0">
                          <a:solidFill>
                            <a:srgbClr val="202B58"/>
                          </a:solidFill>
                          <a:latin typeface="Noto Sans JP"/>
                          <a:ea typeface="Noto Sans JP"/>
                          <a:cs typeface="Noto Sans JP"/>
                        </a:rPr>
                        <a:t>時刻</a:t>
                      </a:r>
                    </a:p>
                  </a:txBody>
                  <a:tcPr>
                    <a:solidFill>
                      <a:srgbClr val="F1F5F8"/>
                    </a:solidFill>
                  </a:tcPr>
                </a:tc>
                <a:tc>
                  <a:txBody>
                    <a:bodyPr/>
                    <a:lstStyle/>
                    <a:p>
                      <a:r>
                        <a:rPr sz="1650" b="0">
                          <a:solidFill>
                            <a:srgbClr val="202B58"/>
                          </a:solidFill>
                          <a:latin typeface="Noto Sans JP"/>
                          <a:ea typeface="Noto Sans JP"/>
                          <a:cs typeface="Noto Sans JP"/>
                        </a:rPr>
                        <a:t>3/3 01:15〜01:30</a:t>
                      </a:r>
                    </a:p>
                  </a:txBody>
                  <a:tcPr>
                    <a:solidFill>
                      <a:srgbClr val="F1F5F8"/>
                    </a:solidFill>
                  </a:tcPr>
                </a:tc>
                <a:tc>
                  <a:txBody>
                    <a:bodyPr/>
                    <a:lstStyle/>
                    <a:p>
                      <a:r>
                        <a:rPr sz="1650" b="0">
                          <a:solidFill>
                            <a:srgbClr val="202B58"/>
                          </a:solidFill>
                          <a:latin typeface="Noto Sans JP"/>
                          <a:ea typeface="Noto Sans JP"/>
                          <a:cs typeface="Noto Sans JP"/>
                        </a:rPr>
                        <a:t>11/14 00:30〜00:45</a:t>
                      </a:r>
                    </a:p>
                  </a:txBody>
                  <a:tcPr>
                    <a:solidFill>
                      <a:srgbClr val="F1F5F8"/>
                    </a:solidFill>
                  </a:tcPr>
                </a:tc>
                <a:extLst>
                  <a:ext uri="{0D108BD9-81ED-4DB2-BD59-A6C34878D82A}">
                    <a16:rowId xmlns:a16="http://schemas.microsoft.com/office/drawing/2014/main" val="10001"/>
                  </a:ext>
                </a:extLst>
              </a:tr>
              <a:tr h="530679">
                <a:tc>
                  <a:txBody>
                    <a:bodyPr/>
                    <a:lstStyle/>
                    <a:p>
                      <a:r>
                        <a:rPr sz="1650" b="0">
                          <a:solidFill>
                            <a:srgbClr val="202B58"/>
                          </a:solidFill>
                          <a:latin typeface="Noto Sans JP"/>
                          <a:ea typeface="Noto Sans JP"/>
                          <a:cs typeface="Noto Sans JP"/>
                        </a:rPr>
                        <a:t>受電電力＝バス充電電力</a:t>
                      </a:r>
                    </a:p>
                  </a:txBody>
                  <a:tcPr>
                    <a:solidFill>
                      <a:srgbClr val="FFFFFF"/>
                    </a:solidFill>
                  </a:tcPr>
                </a:tc>
                <a:tc>
                  <a:txBody>
                    <a:bodyPr/>
                    <a:lstStyle/>
                    <a:p>
                      <a:r>
                        <a:rPr sz="1650" b="0">
                          <a:solidFill>
                            <a:srgbClr val="202B58"/>
                          </a:solidFill>
                          <a:latin typeface="Noto Sans JP"/>
                          <a:ea typeface="Noto Sans JP"/>
                          <a:cs typeface="Noto Sans JP"/>
                        </a:rPr>
                        <a:t>849.4 kW</a:t>
                      </a:r>
                    </a:p>
                  </a:txBody>
                  <a:tcPr>
                    <a:solidFill>
                      <a:srgbClr val="FFFFFF"/>
                    </a:solidFill>
                  </a:tcPr>
                </a:tc>
                <a:tc>
                  <a:txBody>
                    <a:bodyPr/>
                    <a:lstStyle/>
                    <a:p>
                      <a:r>
                        <a:rPr sz="1650" b="0">
                          <a:solidFill>
                            <a:srgbClr val="202B58"/>
                          </a:solidFill>
                          <a:latin typeface="Noto Sans JP"/>
                          <a:ea typeface="Noto Sans JP"/>
                          <a:cs typeface="Noto Sans JP"/>
                        </a:rPr>
                        <a:t>234.8 kW</a:t>
                      </a:r>
                    </a:p>
                  </a:txBody>
                  <a:tcPr>
                    <a:solidFill>
                      <a:srgbClr val="FFFFFF"/>
                    </a:solidFill>
                  </a:tcPr>
                </a:tc>
                <a:extLst>
                  <a:ext uri="{0D108BD9-81ED-4DB2-BD59-A6C34878D82A}">
                    <a16:rowId xmlns:a16="http://schemas.microsoft.com/office/drawing/2014/main" val="10002"/>
                  </a:ext>
                </a:extLst>
              </a:tr>
              <a:tr h="530679">
                <a:tc>
                  <a:txBody>
                    <a:bodyPr/>
                    <a:lstStyle/>
                    <a:p>
                      <a:r>
                        <a:rPr sz="1650" b="0">
                          <a:solidFill>
                            <a:srgbClr val="202B58"/>
                          </a:solidFill>
                          <a:latin typeface="Noto Sans JP"/>
                          <a:ea typeface="Noto Sans JP"/>
                          <a:cs typeface="Noto Sans JP"/>
                        </a:rPr>
                        <a:t>充電中のバス</a:t>
                      </a:r>
                    </a:p>
                  </a:txBody>
                  <a:tcPr>
                    <a:solidFill>
                      <a:srgbClr val="F1F5F8"/>
                    </a:solidFill>
                  </a:tcPr>
                </a:tc>
                <a:tc>
                  <a:txBody>
                    <a:bodyPr/>
                    <a:lstStyle/>
                    <a:p>
                      <a:r>
                        <a:rPr sz="1650" b="0">
                          <a:solidFill>
                            <a:srgbClr val="202B58"/>
                          </a:solidFill>
                          <a:latin typeface="Noto Sans JP"/>
                          <a:ea typeface="Noto Sans JP"/>
                          <a:cs typeface="Noto Sans JP"/>
                        </a:rPr>
                        <a:t>10台</a:t>
                      </a:r>
                    </a:p>
                  </a:txBody>
                  <a:tcPr>
                    <a:solidFill>
                      <a:srgbClr val="F1F5F8"/>
                    </a:solidFill>
                  </a:tcPr>
                </a:tc>
                <a:tc>
                  <a:txBody>
                    <a:bodyPr/>
                    <a:lstStyle/>
                    <a:p>
                      <a:r>
                        <a:rPr sz="1650" b="0">
                          <a:solidFill>
                            <a:srgbClr val="202B58"/>
                          </a:solidFill>
                          <a:latin typeface="Noto Sans JP"/>
                          <a:ea typeface="Noto Sans JP"/>
                          <a:cs typeface="Noto Sans JP"/>
                        </a:rPr>
                        <a:t>4台</a:t>
                      </a:r>
                    </a:p>
                  </a:txBody>
                  <a:tcPr>
                    <a:solidFill>
                      <a:srgbClr val="F1F5F8"/>
                    </a:solidFill>
                  </a:tcPr>
                </a:tc>
                <a:extLst>
                  <a:ext uri="{0D108BD9-81ED-4DB2-BD59-A6C34878D82A}">
                    <a16:rowId xmlns:a16="http://schemas.microsoft.com/office/drawing/2014/main" val="10003"/>
                  </a:ext>
                </a:extLst>
              </a:tr>
              <a:tr h="530679">
                <a:tc>
                  <a:txBody>
                    <a:bodyPr/>
                    <a:lstStyle/>
                    <a:p>
                      <a:r>
                        <a:rPr sz="1650" b="0">
                          <a:solidFill>
                            <a:srgbClr val="202B58"/>
                          </a:solidFill>
                          <a:latin typeface="Noto Sans JP"/>
                          <a:ea typeface="Noto Sans JP"/>
                          <a:cs typeface="Noto Sans JP"/>
                        </a:rPr>
                        <a:t>PV供給電力／BESS放電電力</a:t>
                      </a:r>
                    </a:p>
                  </a:txBody>
                  <a:tcPr>
                    <a:solidFill>
                      <a:srgbClr val="FFFFFF"/>
                    </a:solidFill>
                  </a:tcPr>
                </a:tc>
                <a:tc>
                  <a:txBody>
                    <a:bodyPr/>
                    <a:lstStyle/>
                    <a:p>
                      <a:r>
                        <a:rPr sz="1650" b="0">
                          <a:solidFill>
                            <a:srgbClr val="202B58"/>
                          </a:solidFill>
                          <a:latin typeface="Noto Sans JP"/>
                          <a:ea typeface="Noto Sans JP"/>
                          <a:cs typeface="Noto Sans JP"/>
                        </a:rPr>
                        <a:t>0 ／ 0 kW</a:t>
                      </a:r>
                    </a:p>
                  </a:txBody>
                  <a:tcPr>
                    <a:solidFill>
                      <a:srgbClr val="FFFFFF"/>
                    </a:solidFill>
                  </a:tcPr>
                </a:tc>
                <a:tc>
                  <a:txBody>
                    <a:bodyPr/>
                    <a:lstStyle/>
                    <a:p>
                      <a:r>
                        <a:rPr sz="1650" b="0">
                          <a:solidFill>
                            <a:srgbClr val="202B58"/>
                          </a:solidFill>
                          <a:latin typeface="Noto Sans JP"/>
                          <a:ea typeface="Noto Sans JP"/>
                          <a:cs typeface="Noto Sans JP"/>
                        </a:rPr>
                        <a:t>0 ／ 0 kW</a:t>
                      </a:r>
                    </a:p>
                  </a:txBody>
                  <a:tcPr>
                    <a:solidFill>
                      <a:srgbClr val="FFFFFF"/>
                    </a:solidFill>
                  </a:tcPr>
                </a:tc>
                <a:extLst>
                  <a:ext uri="{0D108BD9-81ED-4DB2-BD59-A6C34878D82A}">
                    <a16:rowId xmlns:a16="http://schemas.microsoft.com/office/drawing/2014/main" val="10004"/>
                  </a:ext>
                </a:extLst>
              </a:tr>
              <a:tr h="530679">
                <a:tc>
                  <a:txBody>
                    <a:bodyPr/>
                    <a:lstStyle/>
                    <a:p>
                      <a:r>
                        <a:rPr sz="1650" b="0">
                          <a:solidFill>
                            <a:srgbClr val="202B58"/>
                          </a:solidFill>
                          <a:latin typeface="Noto Sans JP"/>
                          <a:ea typeface="Noto Sans JP"/>
                          <a:cs typeface="Noto Sans JP"/>
                        </a:rPr>
                        <a:t>BESS残量（区間開始）</a:t>
                      </a:r>
                    </a:p>
                  </a:txBody>
                  <a:tcPr>
                    <a:solidFill>
                      <a:srgbClr val="F1F5F8"/>
                    </a:solidFill>
                  </a:tcPr>
                </a:tc>
                <a:tc>
                  <a:txBody>
                    <a:bodyPr/>
                    <a:lstStyle/>
                    <a:p>
                      <a:r>
                        <a:rPr sz="1650" b="0">
                          <a:solidFill>
                            <a:srgbClr val="202B58"/>
                          </a:solidFill>
                          <a:latin typeface="Noto Sans JP"/>
                          <a:ea typeface="Noto Sans JP"/>
                          <a:cs typeface="Noto Sans JP"/>
                        </a:rPr>
                        <a:t>3,000.0 kWh</a:t>
                      </a:r>
                    </a:p>
                  </a:txBody>
                  <a:tcPr>
                    <a:solidFill>
                      <a:srgbClr val="F1F5F8"/>
                    </a:solidFill>
                  </a:tcPr>
                </a:tc>
                <a:tc>
                  <a:txBody>
                    <a:bodyPr/>
                    <a:lstStyle/>
                    <a:p>
                      <a:r>
                        <a:rPr sz="1650" b="0">
                          <a:solidFill>
                            <a:srgbClr val="202B58"/>
                          </a:solidFill>
                          <a:latin typeface="Noto Sans JP"/>
                          <a:ea typeface="Noto Sans JP"/>
                          <a:cs typeface="Noto Sans JP"/>
                        </a:rPr>
                        <a:t>2,096.7 kWh</a:t>
                      </a:r>
                    </a:p>
                  </a:txBody>
                  <a:tcPr>
                    <a:solidFill>
                      <a:srgbClr val="F1F5F8"/>
                    </a:solidFill>
                  </a:tcPr>
                </a:tc>
                <a:extLst>
                  <a:ext uri="{0D108BD9-81ED-4DB2-BD59-A6C34878D82A}">
                    <a16:rowId xmlns:a16="http://schemas.microsoft.com/office/drawing/2014/main" val="10005"/>
                  </a:ext>
                </a:extLst>
              </a:tr>
              <a:tr h="530679">
                <a:tc>
                  <a:txBody>
                    <a:bodyPr/>
                    <a:lstStyle/>
                    <a:p>
                      <a:r>
                        <a:rPr sz="1650" b="0">
                          <a:solidFill>
                            <a:srgbClr val="202B58"/>
                          </a:solidFill>
                          <a:latin typeface="Noto Sans JP"/>
                          <a:ea typeface="Noto Sans JP"/>
                          <a:cs typeface="Noto Sans JP"/>
                        </a:rPr>
                        <a:t>BESS下限</a:t>
                      </a:r>
                    </a:p>
                  </a:txBody>
                  <a:tcPr>
                    <a:solidFill>
                      <a:srgbClr val="FFFFFF"/>
                    </a:solidFill>
                  </a:tcPr>
                </a:tc>
                <a:tc>
                  <a:txBody>
                    <a:bodyPr/>
                    <a:lstStyle/>
                    <a:p>
                      <a:r>
                        <a:rPr sz="1650" b="0">
                          <a:solidFill>
                            <a:srgbClr val="202B58"/>
                          </a:solidFill>
                          <a:latin typeface="Noto Sans JP"/>
                          <a:ea typeface="Noto Sans JP"/>
                          <a:cs typeface="Noto Sans JP"/>
                        </a:rPr>
                        <a:t>1,200.0 kWh</a:t>
                      </a:r>
                    </a:p>
                  </a:txBody>
                  <a:tcPr>
                    <a:solidFill>
                      <a:srgbClr val="FFFFFF"/>
                    </a:solidFill>
                  </a:tcPr>
                </a:tc>
                <a:tc>
                  <a:txBody>
                    <a:bodyPr/>
                    <a:lstStyle/>
                    <a:p>
                      <a:r>
                        <a:rPr sz="1650" b="0">
                          <a:solidFill>
                            <a:srgbClr val="202B58"/>
                          </a:solidFill>
                          <a:latin typeface="Noto Sans JP"/>
                          <a:ea typeface="Noto Sans JP"/>
                          <a:cs typeface="Noto Sans JP"/>
                        </a:rPr>
                        <a:t>1,200.0 kWh</a:t>
                      </a:r>
                    </a:p>
                  </a:txBody>
                  <a:tcPr>
                    <a:solidFill>
                      <a:srgbClr val="FFFFFF"/>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6757332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FFC79ED0-E562-445E-92FE-D054CAF18A2D}"/>
              </a:ext>
            </a:extLst>
          </p:cNvPr>
          <p:cNvSpPr>
            <a:spLocks noGrp="1"/>
          </p:cNvSpPr>
          <p:nvPr/>
        </p:nvSpPr>
        <p:spPr>
          <a:xfrm>
            <a:off x="419100" y="228600"/>
            <a:ext cx="11353800" cy="609600"/>
          </a:xfrm>
          <a:prstGeom prst="rect">
            <a:avLst/>
          </a:prstGeom>
          <a:noFill/>
          <a:ln w="0">
            <a:noFill/>
          </a:ln>
        </p:spPr>
        <p:txBody>
          <a:bodyPr>
            <a:noAutofit/>
          </a:bodyPr>
          <a:lstStyle/>
          <a:p>
            <a:pPr>
              <a:defRPr sz="2625" b="1">
                <a:solidFill>
                  <a:srgbClr val="202B58"/>
                </a:solidFill>
                <a:latin typeface="Noto Sans JP"/>
                <a:ea typeface="Noto Sans JP"/>
                <a:cs typeface="Noto Sans JP"/>
              </a:defRPr>
            </a:pPr>
            <a:r>
              <a:rPr sz="2625" b="1">
                <a:solidFill>
                  <a:srgbClr val="202B58"/>
                </a:solidFill>
                <a:latin typeface="Noto Sans JP"/>
                <a:ea typeface="Noto Sans JP"/>
                <a:cs typeface="Noto Sans JP"/>
              </a:rPr>
              <a:t>3月と11月の週間費用差は23.99万円</a:t>
            </a:r>
          </a:p>
        </p:txBody>
      </p:sp>
      <p:sp>
        <p:nvSpPr>
          <p:cNvPr id="2" name="正方形/長方形 1">
            <a:extLst>
              <a:ext uri="{FF2B5EF4-FFF2-40B4-BE49-F238E27FC236}">
                <a16:creationId xmlns:a16="http://schemas.microsoft.com/office/drawing/2014/main" id="{AC235083-3507-410B-A4DF-F19F19F98DA3}"/>
              </a:ext>
            </a:extLst>
          </p:cNvPr>
          <p:cNvSpPr>
            <a:spLocks noGrp="1"/>
          </p:cNvSpPr>
          <p:nvPr/>
        </p:nvSpPr>
        <p:spPr>
          <a:xfrm>
            <a:off x="571500" y="981075"/>
            <a:ext cx="11049000" cy="590550"/>
          </a:xfrm>
          <a:prstGeom prst="rect">
            <a:avLst/>
          </a:prstGeom>
          <a:noFill/>
          <a:ln w="0">
            <a:noFill/>
          </a:ln>
        </p:spPr>
        <p:txBody>
          <a:bodyPr>
            <a:noAutofit/>
          </a:bodyPr>
          <a:lstStyle/>
          <a:p>
            <a:pPr>
              <a:defRPr sz="1725" b="0">
                <a:solidFill>
                  <a:srgbClr val="59687B"/>
                </a:solidFill>
                <a:latin typeface="Noto Sans JP"/>
                <a:ea typeface="Noto Sans JP"/>
                <a:cs typeface="Noto Sans JP"/>
              </a:defRPr>
            </a:pPr>
            <a:r>
              <a:rPr sz="1725" b="0">
                <a:solidFill>
                  <a:srgbClr val="59687B"/>
                </a:solidFill>
                <a:latin typeface="Noto Sans JP"/>
                <a:ea typeface="Noto Sans JP"/>
                <a:cs typeface="Noto Sans JP"/>
              </a:rPr>
              <a:t>両週206台日で車両使用費は同額。表示値は丸め値</a:t>
            </a:r>
          </a:p>
        </p:txBody>
      </p:sp>
      <p:sp>
        <p:nvSpPr>
          <p:cNvPr id="3" name="正方形/長方形 2">
            <a:extLst>
              <a:ext uri="{FF2B5EF4-FFF2-40B4-BE49-F238E27FC236}">
                <a16:creationId xmlns:a16="http://schemas.microsoft.com/office/drawing/2014/main" id="{D494BC55-89D6-4AF9-9017-65F22505A87A}"/>
              </a:ext>
            </a:extLst>
          </p:cNvPr>
          <p:cNvSpPr>
            <a:spLocks noGrp="1"/>
          </p:cNvSpPr>
          <p:nvPr/>
        </p:nvSpPr>
        <p:spPr>
          <a:xfrm>
            <a:off x="571500" y="5638800"/>
            <a:ext cx="11049000" cy="56197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差の22.42万円、93.5%が超過ペナルティの差に由来する</a:t>
            </a:r>
          </a:p>
        </p:txBody>
      </p:sp>
      <p:sp>
        <p:nvSpPr>
          <p:cNvPr id="4" name="正方形/長方形 3">
            <a:extLst>
              <a:ext uri="{FF2B5EF4-FFF2-40B4-BE49-F238E27FC236}">
                <a16:creationId xmlns:a16="http://schemas.microsoft.com/office/drawing/2014/main" id="{879D68DA-028B-47AC-8946-E15E45C91091}"/>
              </a:ext>
            </a:extLst>
          </p:cNvPr>
          <p:cNvSpPr>
            <a:spLocks noGrp="1"/>
          </p:cNvSpPr>
          <p:nvPr/>
        </p:nvSpPr>
        <p:spPr>
          <a:xfrm>
            <a:off x="571500" y="6248400"/>
            <a:ext cx="11049000" cy="314325"/>
          </a:xfrm>
          <a:prstGeom prst="rect">
            <a:avLst/>
          </a:prstGeom>
          <a:noFill/>
          <a:ln w="0">
            <a:noFill/>
          </a:ln>
        </p:spPr>
        <p:txBody>
          <a:bodyPr>
            <a:noAutofit/>
          </a:bodyPr>
          <a:lstStyle/>
          <a:p>
            <a:pPr>
              <a:defRPr sz="1275" b="0">
                <a:solidFill>
                  <a:srgbClr val="7E4D36"/>
                </a:solidFill>
                <a:latin typeface="Noto Sans JP"/>
                <a:ea typeface="Noto Sans JP"/>
                <a:cs typeface="Noto Sans JP"/>
              </a:defRPr>
            </a:pPr>
            <a:r>
              <a:rPr sz="1275" b="0">
                <a:solidFill>
                  <a:srgbClr val="7E4D36"/>
                </a:solidFill>
                <a:latin typeface="Noto Sans JP"/>
                <a:ea typeface="Noto Sans JP"/>
                <a:cs typeface="Noto Sans JP"/>
              </a:rPr>
              <a:t>モデル内の週間費用。設備投資・電池劣化・運転士費等を含む実際の総支出ではない。</a:t>
            </a:r>
          </a:p>
        </p:txBody>
      </p:sp>
      <p:sp>
        <p:nvSpPr>
          <p:cNvPr id="5" name="正方形/長方形 4">
            <a:extLst>
              <a:ext uri="{FF2B5EF4-FFF2-40B4-BE49-F238E27FC236}">
                <a16:creationId xmlns:a16="http://schemas.microsoft.com/office/drawing/2014/main" id="{A560F8FB-0A8A-4470-A312-21A32694AEF4}"/>
              </a:ext>
            </a:extLst>
          </p:cNvPr>
          <p:cNvSpPr>
            <a:spLocks noGrp="1"/>
          </p:cNvSpPr>
          <p:nvPr/>
        </p:nvSpPr>
        <p:spPr>
          <a:xfrm>
            <a:off x="419100" y="6638925"/>
            <a:ext cx="10096500" cy="180975"/>
          </a:xfrm>
          <a:prstGeom prst="rect">
            <a:avLst/>
          </a:prstGeom>
          <a:noFill/>
          <a:ln w="0">
            <a:noFill/>
          </a:ln>
        </p:spPr>
        <p:txBody>
          <a:bodyPr>
            <a:noAutofit/>
          </a:bodyPr>
          <a:lstStyle/>
          <a:p>
            <a:pPr>
              <a:defRPr sz="900" b="0">
                <a:solidFill>
                  <a:srgbClr val="59687B"/>
                </a:solidFill>
                <a:latin typeface="Noto Sans JP"/>
                <a:ea typeface="Noto Sans JP"/>
                <a:cs typeface="Noto Sans JP"/>
              </a:defRPr>
            </a:pPr>
            <a:r>
              <a:rPr sz="900" b="0">
                <a:solidFill>
                  <a:srgbClr val="59687B"/>
                </a:solidFill>
                <a:latin typeface="Noto Sans JP"/>
                <a:ea typeface="Noto Sans JP"/>
                <a:cs typeface="Noto Sans JP"/>
              </a:rPr>
              <a:t>修士研究　2026年9月18日　／　月別12週のシミュレーション（診断結果）</a:t>
            </a:r>
          </a:p>
        </p:txBody>
      </p:sp>
      <p:sp>
        <p:nvSpPr>
          <p:cNvPr id="6" name="正方形/長方形 5">
            <a:extLst>
              <a:ext uri="{FF2B5EF4-FFF2-40B4-BE49-F238E27FC236}">
                <a16:creationId xmlns:a16="http://schemas.microsoft.com/office/drawing/2014/main" id="{2892B4BA-3970-4BA9-90EB-018A268B770C}"/>
              </a:ext>
            </a:extLst>
          </p:cNvPr>
          <p:cNvSpPr>
            <a:spLocks noGrp="1"/>
          </p:cNvSpPr>
          <p:nvPr/>
        </p:nvSpPr>
        <p:spPr>
          <a:xfrm>
            <a:off x="11144250" y="6610350"/>
            <a:ext cx="628650" cy="228600"/>
          </a:xfrm>
          <a:prstGeom prst="rect">
            <a:avLst/>
          </a:prstGeom>
          <a:noFill/>
          <a:ln w="0">
            <a:noFill/>
          </a:ln>
        </p:spPr>
        <p:txBody>
          <a:bodyPr>
            <a:noAutofit/>
          </a:bodyPr>
          <a:lstStyle/>
          <a:p>
            <a:pPr>
              <a:defRPr sz="1050" b="0">
                <a:solidFill>
                  <a:srgbClr val="59687B"/>
                </a:solidFill>
                <a:latin typeface="Noto Sans JP"/>
                <a:ea typeface="Noto Sans JP"/>
                <a:cs typeface="Noto Sans JP"/>
              </a:defRPr>
            </a:pPr>
            <a:r>
              <a:rPr sz="1050" b="0">
                <a:solidFill>
                  <a:srgbClr val="59687B"/>
                </a:solidFill>
                <a:latin typeface="Noto Sans JP"/>
                <a:ea typeface="Noto Sans JP"/>
                <a:cs typeface="Noto Sans JP"/>
              </a:rPr>
              <a:t>14/24</a:t>
            </a:r>
          </a:p>
        </p:txBody>
      </p:sp>
      <p:graphicFrame>
        <p:nvGraphicFramePr>
          <p:cNvPr id="14" name="表 13"/>
          <p:cNvGraphicFramePr/>
          <p:nvPr/>
        </p:nvGraphicFramePr>
        <p:xfrm>
          <a:off x="571500" y="1695450"/>
          <a:ext cx="11049000" cy="3714753"/>
        </p:xfrm>
        <a:graphic>
          <a:graphicData uri="http://schemas.openxmlformats.org/drawingml/2006/table">
            <a:tbl>
              <a:tblPr/>
              <a:tblGrid>
                <a:gridCol w="3476625">
                  <a:extLst>
                    <a:ext uri="{9D8B030D-6E8A-4147-A177-3AD203B41FA5}">
                      <a16:colId xmlns:a16="http://schemas.microsoft.com/office/drawing/2014/main" val="20000"/>
                    </a:ext>
                  </a:extLst>
                </a:gridCol>
                <a:gridCol w="2333625">
                  <a:extLst>
                    <a:ext uri="{9D8B030D-6E8A-4147-A177-3AD203B41FA5}">
                      <a16:colId xmlns:a16="http://schemas.microsoft.com/office/drawing/2014/main" val="20001"/>
                    </a:ext>
                  </a:extLst>
                </a:gridCol>
                <a:gridCol w="2333625">
                  <a:extLst>
                    <a:ext uri="{9D8B030D-6E8A-4147-A177-3AD203B41FA5}">
                      <a16:colId xmlns:a16="http://schemas.microsoft.com/office/drawing/2014/main" val="20002"/>
                    </a:ext>
                  </a:extLst>
                </a:gridCol>
                <a:gridCol w="2905125">
                  <a:extLst>
                    <a:ext uri="{9D8B030D-6E8A-4147-A177-3AD203B41FA5}">
                      <a16:colId xmlns:a16="http://schemas.microsoft.com/office/drawing/2014/main" val="20003"/>
                    </a:ext>
                  </a:extLst>
                </a:gridCol>
              </a:tblGrid>
              <a:tr h="530679">
                <a:tc>
                  <a:txBody>
                    <a:bodyPr/>
                    <a:lstStyle/>
                    <a:p>
                      <a:r>
                        <a:rPr sz="1725" b="1">
                          <a:solidFill>
                            <a:srgbClr val="FFFFFF"/>
                          </a:solidFill>
                          <a:latin typeface="Noto Sans JP"/>
                          <a:ea typeface="Noto Sans JP"/>
                          <a:cs typeface="Noto Sans JP"/>
                        </a:rPr>
                        <a:t>週間費用 [万円／週]</a:t>
                      </a:r>
                    </a:p>
                  </a:txBody>
                  <a:tcPr>
                    <a:solidFill>
                      <a:srgbClr val="202B58"/>
                    </a:solidFill>
                  </a:tcPr>
                </a:tc>
                <a:tc>
                  <a:txBody>
                    <a:bodyPr/>
                    <a:lstStyle/>
                    <a:p>
                      <a:r>
                        <a:rPr sz="1725" b="1">
                          <a:solidFill>
                            <a:srgbClr val="FFFFFF"/>
                          </a:solidFill>
                          <a:latin typeface="Noto Sans JP"/>
                          <a:ea typeface="Noto Sans JP"/>
                          <a:cs typeface="Noto Sans JP"/>
                        </a:rPr>
                        <a:t>3月</a:t>
                      </a:r>
                    </a:p>
                  </a:txBody>
                  <a:tcPr>
                    <a:solidFill>
                      <a:srgbClr val="202B58"/>
                    </a:solidFill>
                  </a:tcPr>
                </a:tc>
                <a:tc>
                  <a:txBody>
                    <a:bodyPr/>
                    <a:lstStyle/>
                    <a:p>
                      <a:r>
                        <a:rPr sz="1725" b="1">
                          <a:solidFill>
                            <a:srgbClr val="FFFFFF"/>
                          </a:solidFill>
                          <a:latin typeface="Noto Sans JP"/>
                          <a:ea typeface="Noto Sans JP"/>
                          <a:cs typeface="Noto Sans JP"/>
                        </a:rPr>
                        <a:t>11月</a:t>
                      </a:r>
                    </a:p>
                  </a:txBody>
                  <a:tcPr>
                    <a:solidFill>
                      <a:srgbClr val="202B58"/>
                    </a:solidFill>
                  </a:tcPr>
                </a:tc>
                <a:tc>
                  <a:txBody>
                    <a:bodyPr/>
                    <a:lstStyle/>
                    <a:p>
                      <a:r>
                        <a:rPr sz="1725" b="1">
                          <a:solidFill>
                            <a:srgbClr val="FFFFFF"/>
                          </a:solidFill>
                          <a:latin typeface="Noto Sans JP"/>
                          <a:ea typeface="Noto Sans JP"/>
                          <a:cs typeface="Noto Sans JP"/>
                        </a:rPr>
                        <a:t>差（3月−11月）</a:t>
                      </a:r>
                    </a:p>
                  </a:txBody>
                  <a:tcPr>
                    <a:solidFill>
                      <a:srgbClr val="202B58"/>
                    </a:solidFill>
                  </a:tcPr>
                </a:tc>
                <a:extLst>
                  <a:ext uri="{0D108BD9-81ED-4DB2-BD59-A6C34878D82A}">
                    <a16:rowId xmlns:a16="http://schemas.microsoft.com/office/drawing/2014/main" val="10000"/>
                  </a:ext>
                </a:extLst>
              </a:tr>
              <a:tr h="530679">
                <a:tc>
                  <a:txBody>
                    <a:bodyPr/>
                    <a:lstStyle/>
                    <a:p>
                      <a:r>
                        <a:rPr sz="1725" b="0">
                          <a:solidFill>
                            <a:srgbClr val="202B58"/>
                          </a:solidFill>
                          <a:latin typeface="Noto Sans JP"/>
                          <a:ea typeface="Noto Sans JP"/>
                          <a:cs typeface="Noto Sans JP"/>
                        </a:rPr>
                        <a:t>車両使用費</a:t>
                      </a:r>
                    </a:p>
                  </a:txBody>
                  <a:tcPr>
                    <a:solidFill>
                      <a:srgbClr val="F1F5F8"/>
                    </a:solidFill>
                  </a:tcPr>
                </a:tc>
                <a:tc>
                  <a:txBody>
                    <a:bodyPr/>
                    <a:lstStyle/>
                    <a:p>
                      <a:r>
                        <a:rPr sz="1725" b="0">
                          <a:solidFill>
                            <a:srgbClr val="202B58"/>
                          </a:solidFill>
                          <a:latin typeface="Noto Sans JP"/>
                          <a:ea typeface="Noto Sans JP"/>
                          <a:cs typeface="Noto Sans JP"/>
                        </a:rPr>
                        <a:t>412.00</a:t>
                      </a:r>
                    </a:p>
                  </a:txBody>
                  <a:tcPr>
                    <a:solidFill>
                      <a:srgbClr val="F1F5F8"/>
                    </a:solidFill>
                  </a:tcPr>
                </a:tc>
                <a:tc>
                  <a:txBody>
                    <a:bodyPr/>
                    <a:lstStyle/>
                    <a:p>
                      <a:r>
                        <a:rPr sz="1725" b="0">
                          <a:solidFill>
                            <a:srgbClr val="202B58"/>
                          </a:solidFill>
                          <a:latin typeface="Noto Sans JP"/>
                          <a:ea typeface="Noto Sans JP"/>
                          <a:cs typeface="Noto Sans JP"/>
                        </a:rPr>
                        <a:t>412.00</a:t>
                      </a:r>
                    </a:p>
                  </a:txBody>
                  <a:tcPr>
                    <a:solidFill>
                      <a:srgbClr val="F1F5F8"/>
                    </a:solidFill>
                  </a:tcPr>
                </a:tc>
                <a:tc>
                  <a:txBody>
                    <a:bodyPr/>
                    <a:lstStyle/>
                    <a:p>
                      <a:r>
                        <a:rPr sz="1725" b="0">
                          <a:solidFill>
                            <a:srgbClr val="202B58"/>
                          </a:solidFill>
                          <a:latin typeface="Noto Sans JP"/>
                          <a:ea typeface="Noto Sans JP"/>
                          <a:cs typeface="Noto Sans JP"/>
                        </a:rPr>
                        <a:t>0.00</a:t>
                      </a:r>
                    </a:p>
                  </a:txBody>
                  <a:tcPr>
                    <a:solidFill>
                      <a:srgbClr val="F1F5F8"/>
                    </a:solidFill>
                  </a:tcPr>
                </a:tc>
                <a:extLst>
                  <a:ext uri="{0D108BD9-81ED-4DB2-BD59-A6C34878D82A}">
                    <a16:rowId xmlns:a16="http://schemas.microsoft.com/office/drawing/2014/main" val="10001"/>
                  </a:ext>
                </a:extLst>
              </a:tr>
              <a:tr h="530679">
                <a:tc>
                  <a:txBody>
                    <a:bodyPr/>
                    <a:lstStyle/>
                    <a:p>
                      <a:r>
                        <a:rPr sz="1725" b="0">
                          <a:solidFill>
                            <a:srgbClr val="202B58"/>
                          </a:solidFill>
                          <a:latin typeface="Noto Sans JP"/>
                          <a:ea typeface="Noto Sans JP"/>
                          <a:cs typeface="Noto Sans JP"/>
                        </a:rPr>
                        <a:t>購入電力費</a:t>
                      </a:r>
                    </a:p>
                  </a:txBody>
                  <a:tcPr>
                    <a:solidFill>
                      <a:srgbClr val="FFFFFF"/>
                    </a:solidFill>
                  </a:tcPr>
                </a:tc>
                <a:tc>
                  <a:txBody>
                    <a:bodyPr/>
                    <a:lstStyle/>
                    <a:p>
                      <a:r>
                        <a:rPr sz="1725" b="0">
                          <a:solidFill>
                            <a:srgbClr val="202B58"/>
                          </a:solidFill>
                          <a:latin typeface="Noto Sans JP"/>
                          <a:ea typeface="Noto Sans JP"/>
                          <a:cs typeface="Noto Sans JP"/>
                        </a:rPr>
                        <a:t>23.38</a:t>
                      </a:r>
                    </a:p>
                  </a:txBody>
                  <a:tcPr>
                    <a:solidFill>
                      <a:srgbClr val="FFFFFF"/>
                    </a:solidFill>
                  </a:tcPr>
                </a:tc>
                <a:tc>
                  <a:txBody>
                    <a:bodyPr/>
                    <a:lstStyle/>
                    <a:p>
                      <a:r>
                        <a:rPr sz="1725" b="0">
                          <a:solidFill>
                            <a:srgbClr val="202B58"/>
                          </a:solidFill>
                          <a:latin typeface="Noto Sans JP"/>
                          <a:ea typeface="Noto Sans JP"/>
                          <a:cs typeface="Noto Sans JP"/>
                        </a:rPr>
                        <a:t>21.91</a:t>
                      </a:r>
                    </a:p>
                  </a:txBody>
                  <a:tcPr>
                    <a:solidFill>
                      <a:srgbClr val="FFFFFF"/>
                    </a:solidFill>
                  </a:tcPr>
                </a:tc>
                <a:tc>
                  <a:txBody>
                    <a:bodyPr/>
                    <a:lstStyle/>
                    <a:p>
                      <a:r>
                        <a:rPr sz="1725" b="0">
                          <a:solidFill>
                            <a:srgbClr val="202B58"/>
                          </a:solidFill>
                          <a:latin typeface="Noto Sans JP"/>
                          <a:ea typeface="Noto Sans JP"/>
                          <a:cs typeface="Noto Sans JP"/>
                        </a:rPr>
                        <a:t>1.47</a:t>
                      </a:r>
                    </a:p>
                  </a:txBody>
                  <a:tcPr>
                    <a:solidFill>
                      <a:srgbClr val="FFFFFF"/>
                    </a:solidFill>
                  </a:tcPr>
                </a:tc>
                <a:extLst>
                  <a:ext uri="{0D108BD9-81ED-4DB2-BD59-A6C34878D82A}">
                    <a16:rowId xmlns:a16="http://schemas.microsoft.com/office/drawing/2014/main" val="10002"/>
                  </a:ext>
                </a:extLst>
              </a:tr>
              <a:tr h="530679">
                <a:tc>
                  <a:txBody>
                    <a:bodyPr/>
                    <a:lstStyle/>
                    <a:p>
                      <a:r>
                        <a:rPr sz="1725" b="0">
                          <a:solidFill>
                            <a:srgbClr val="202B58"/>
                          </a:solidFill>
                          <a:latin typeface="Noto Sans JP"/>
                          <a:ea typeface="Noto Sans JP"/>
                          <a:cs typeface="Noto Sans JP"/>
                        </a:rPr>
                        <a:t>燃料費</a:t>
                      </a:r>
                    </a:p>
                  </a:txBody>
                  <a:tcPr>
                    <a:solidFill>
                      <a:srgbClr val="F1F5F8"/>
                    </a:solidFill>
                  </a:tcPr>
                </a:tc>
                <a:tc>
                  <a:txBody>
                    <a:bodyPr/>
                    <a:lstStyle/>
                    <a:p>
                      <a:r>
                        <a:rPr sz="1725" b="0">
                          <a:solidFill>
                            <a:srgbClr val="202B58"/>
                          </a:solidFill>
                          <a:latin typeface="Noto Sans JP"/>
                          <a:ea typeface="Noto Sans JP"/>
                          <a:cs typeface="Noto Sans JP"/>
                        </a:rPr>
                        <a:t>3.60</a:t>
                      </a:r>
                    </a:p>
                  </a:txBody>
                  <a:tcPr>
                    <a:solidFill>
                      <a:srgbClr val="F1F5F8"/>
                    </a:solidFill>
                  </a:tcPr>
                </a:tc>
                <a:tc>
                  <a:txBody>
                    <a:bodyPr/>
                    <a:lstStyle/>
                    <a:p>
                      <a:r>
                        <a:rPr sz="1725" b="0">
                          <a:solidFill>
                            <a:srgbClr val="202B58"/>
                          </a:solidFill>
                          <a:latin typeface="Noto Sans JP"/>
                          <a:ea typeface="Noto Sans JP"/>
                          <a:cs typeface="Noto Sans JP"/>
                        </a:rPr>
                        <a:t>3.53</a:t>
                      </a:r>
                    </a:p>
                  </a:txBody>
                  <a:tcPr>
                    <a:solidFill>
                      <a:srgbClr val="F1F5F8"/>
                    </a:solidFill>
                  </a:tcPr>
                </a:tc>
                <a:tc>
                  <a:txBody>
                    <a:bodyPr/>
                    <a:lstStyle/>
                    <a:p>
                      <a:r>
                        <a:rPr sz="1725" b="0">
                          <a:solidFill>
                            <a:srgbClr val="202B58"/>
                          </a:solidFill>
                          <a:latin typeface="Noto Sans JP"/>
                          <a:ea typeface="Noto Sans JP"/>
                          <a:cs typeface="Noto Sans JP"/>
                        </a:rPr>
                        <a:t>0.07</a:t>
                      </a:r>
                    </a:p>
                  </a:txBody>
                  <a:tcPr>
                    <a:solidFill>
                      <a:srgbClr val="F1F5F8"/>
                    </a:solidFill>
                  </a:tcPr>
                </a:tc>
                <a:extLst>
                  <a:ext uri="{0D108BD9-81ED-4DB2-BD59-A6C34878D82A}">
                    <a16:rowId xmlns:a16="http://schemas.microsoft.com/office/drawing/2014/main" val="10003"/>
                  </a:ext>
                </a:extLst>
              </a:tr>
              <a:tr h="530679">
                <a:tc>
                  <a:txBody>
                    <a:bodyPr/>
                    <a:lstStyle/>
                    <a:p>
                      <a:r>
                        <a:rPr sz="1725" b="0">
                          <a:solidFill>
                            <a:srgbClr val="202B58"/>
                          </a:solidFill>
                          <a:latin typeface="Noto Sans JP"/>
                          <a:ea typeface="Noto Sans JP"/>
                          <a:cs typeface="Noto Sans JP"/>
                        </a:rPr>
                        <a:t>CO₂費用</a:t>
                      </a:r>
                    </a:p>
                  </a:txBody>
                  <a:tcPr>
                    <a:solidFill>
                      <a:srgbClr val="FFFFFF"/>
                    </a:solidFill>
                  </a:tcPr>
                </a:tc>
                <a:tc>
                  <a:txBody>
                    <a:bodyPr/>
                    <a:lstStyle/>
                    <a:p>
                      <a:r>
                        <a:rPr sz="1725" b="0">
                          <a:solidFill>
                            <a:srgbClr val="202B58"/>
                          </a:solidFill>
                          <a:latin typeface="Noto Sans JP"/>
                          <a:ea typeface="Noto Sans JP"/>
                          <a:cs typeface="Noto Sans JP"/>
                        </a:rPr>
                        <a:t>0.45</a:t>
                      </a:r>
                    </a:p>
                  </a:txBody>
                  <a:tcPr>
                    <a:solidFill>
                      <a:srgbClr val="FFFFFF"/>
                    </a:solidFill>
                  </a:tcPr>
                </a:tc>
                <a:tc>
                  <a:txBody>
                    <a:bodyPr/>
                    <a:lstStyle/>
                    <a:p>
                      <a:r>
                        <a:rPr sz="1725" b="0">
                          <a:solidFill>
                            <a:srgbClr val="202B58"/>
                          </a:solidFill>
                          <a:latin typeface="Noto Sans JP"/>
                          <a:ea typeface="Noto Sans JP"/>
                          <a:cs typeface="Noto Sans JP"/>
                        </a:rPr>
                        <a:t>0.42</a:t>
                      </a:r>
                    </a:p>
                  </a:txBody>
                  <a:tcPr>
                    <a:solidFill>
                      <a:srgbClr val="FFFFFF"/>
                    </a:solidFill>
                  </a:tcPr>
                </a:tc>
                <a:tc>
                  <a:txBody>
                    <a:bodyPr/>
                    <a:lstStyle/>
                    <a:p>
                      <a:r>
                        <a:rPr sz="1725" b="0">
                          <a:solidFill>
                            <a:srgbClr val="202B58"/>
                          </a:solidFill>
                          <a:latin typeface="Noto Sans JP"/>
                          <a:ea typeface="Noto Sans JP"/>
                          <a:cs typeface="Noto Sans JP"/>
                        </a:rPr>
                        <a:t>0.03</a:t>
                      </a:r>
                    </a:p>
                  </a:txBody>
                  <a:tcPr>
                    <a:solidFill>
                      <a:srgbClr val="FFFFFF"/>
                    </a:solidFill>
                  </a:tcPr>
                </a:tc>
                <a:extLst>
                  <a:ext uri="{0D108BD9-81ED-4DB2-BD59-A6C34878D82A}">
                    <a16:rowId xmlns:a16="http://schemas.microsoft.com/office/drawing/2014/main" val="10004"/>
                  </a:ext>
                </a:extLst>
              </a:tr>
              <a:tr h="530679">
                <a:tc>
                  <a:txBody>
                    <a:bodyPr/>
                    <a:lstStyle/>
                    <a:p>
                      <a:r>
                        <a:rPr sz="1725" b="0">
                          <a:solidFill>
                            <a:srgbClr val="202B58"/>
                          </a:solidFill>
                          <a:latin typeface="Noto Sans JP"/>
                          <a:ea typeface="Noto Sans JP"/>
                          <a:cs typeface="Noto Sans JP"/>
                        </a:rPr>
                        <a:t>超過ペナルティ</a:t>
                      </a:r>
                    </a:p>
                  </a:txBody>
                  <a:tcPr>
                    <a:solidFill>
                      <a:srgbClr val="F1F5F8"/>
                    </a:solidFill>
                  </a:tcPr>
                </a:tc>
                <a:tc>
                  <a:txBody>
                    <a:bodyPr/>
                    <a:lstStyle/>
                    <a:p>
                      <a:r>
                        <a:rPr sz="1725" b="0">
                          <a:solidFill>
                            <a:srgbClr val="202B58"/>
                          </a:solidFill>
                          <a:latin typeface="Noto Sans JP"/>
                          <a:ea typeface="Noto Sans JP"/>
                          <a:cs typeface="Noto Sans JP"/>
                        </a:rPr>
                        <a:t>27.03</a:t>
                      </a:r>
                    </a:p>
                  </a:txBody>
                  <a:tcPr>
                    <a:solidFill>
                      <a:srgbClr val="F1F5F8"/>
                    </a:solidFill>
                  </a:tcPr>
                </a:tc>
                <a:tc>
                  <a:txBody>
                    <a:bodyPr/>
                    <a:lstStyle/>
                    <a:p>
                      <a:r>
                        <a:rPr sz="1725" b="0">
                          <a:solidFill>
                            <a:srgbClr val="202B58"/>
                          </a:solidFill>
                          <a:latin typeface="Noto Sans JP"/>
                          <a:ea typeface="Noto Sans JP"/>
                          <a:cs typeface="Noto Sans JP"/>
                        </a:rPr>
                        <a:t>4.60</a:t>
                      </a:r>
                    </a:p>
                  </a:txBody>
                  <a:tcPr>
                    <a:solidFill>
                      <a:srgbClr val="F1F5F8"/>
                    </a:solidFill>
                  </a:tcPr>
                </a:tc>
                <a:tc>
                  <a:txBody>
                    <a:bodyPr/>
                    <a:lstStyle/>
                    <a:p>
                      <a:r>
                        <a:rPr sz="1725" b="0">
                          <a:solidFill>
                            <a:srgbClr val="202B58"/>
                          </a:solidFill>
                          <a:latin typeface="Noto Sans JP"/>
                          <a:ea typeface="Noto Sans JP"/>
                          <a:cs typeface="Noto Sans JP"/>
                        </a:rPr>
                        <a:t>22.42</a:t>
                      </a:r>
                    </a:p>
                  </a:txBody>
                  <a:tcPr>
                    <a:solidFill>
                      <a:srgbClr val="F1F5F8"/>
                    </a:solidFill>
                  </a:tcPr>
                </a:tc>
                <a:extLst>
                  <a:ext uri="{0D108BD9-81ED-4DB2-BD59-A6C34878D82A}">
                    <a16:rowId xmlns:a16="http://schemas.microsoft.com/office/drawing/2014/main" val="10005"/>
                  </a:ext>
                </a:extLst>
              </a:tr>
              <a:tr h="530679">
                <a:tc>
                  <a:txBody>
                    <a:bodyPr/>
                    <a:lstStyle/>
                    <a:p>
                      <a:r>
                        <a:rPr sz="1725" b="0">
                          <a:solidFill>
                            <a:srgbClr val="202B58"/>
                          </a:solidFill>
                          <a:latin typeface="Noto Sans JP"/>
                          <a:ea typeface="Noto Sans JP"/>
                          <a:cs typeface="Noto Sans JP"/>
                        </a:rPr>
                        <a:t>週間費用</a:t>
                      </a:r>
                    </a:p>
                  </a:txBody>
                  <a:tcPr>
                    <a:solidFill>
                      <a:srgbClr val="FFFFFF"/>
                    </a:solidFill>
                  </a:tcPr>
                </a:tc>
                <a:tc>
                  <a:txBody>
                    <a:bodyPr/>
                    <a:lstStyle/>
                    <a:p>
                      <a:r>
                        <a:rPr sz="1725" b="0">
                          <a:solidFill>
                            <a:srgbClr val="202B58"/>
                          </a:solidFill>
                          <a:latin typeface="Noto Sans JP"/>
                          <a:ea typeface="Noto Sans JP"/>
                          <a:cs typeface="Noto Sans JP"/>
                        </a:rPr>
                        <a:t>466.45</a:t>
                      </a:r>
                    </a:p>
                  </a:txBody>
                  <a:tcPr>
                    <a:solidFill>
                      <a:srgbClr val="FFFFFF"/>
                    </a:solidFill>
                  </a:tcPr>
                </a:tc>
                <a:tc>
                  <a:txBody>
                    <a:bodyPr/>
                    <a:lstStyle/>
                    <a:p>
                      <a:r>
                        <a:rPr sz="1725" b="0">
                          <a:solidFill>
                            <a:srgbClr val="202B58"/>
                          </a:solidFill>
                          <a:latin typeface="Noto Sans JP"/>
                          <a:ea typeface="Noto Sans JP"/>
                          <a:cs typeface="Noto Sans JP"/>
                        </a:rPr>
                        <a:t>442.46</a:t>
                      </a:r>
                    </a:p>
                  </a:txBody>
                  <a:tcPr>
                    <a:solidFill>
                      <a:srgbClr val="FFFFFF"/>
                    </a:solidFill>
                  </a:tcPr>
                </a:tc>
                <a:tc>
                  <a:txBody>
                    <a:bodyPr/>
                    <a:lstStyle/>
                    <a:p>
                      <a:r>
                        <a:rPr sz="1725" b="0">
                          <a:solidFill>
                            <a:srgbClr val="202B58"/>
                          </a:solidFill>
                          <a:latin typeface="Noto Sans JP"/>
                          <a:ea typeface="Noto Sans JP"/>
                          <a:cs typeface="Noto Sans JP"/>
                        </a:rPr>
                        <a:t>23.99</a:t>
                      </a:r>
                    </a:p>
                  </a:txBody>
                  <a:tcPr>
                    <a:solidFill>
                      <a:srgbClr val="FFFFFF"/>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2882509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11" name="正方形/長方形 10">
            <a:extLst>
              <a:ext uri="{FF2B5EF4-FFF2-40B4-BE49-F238E27FC236}">
                <a16:creationId xmlns:a16="http://schemas.microsoft.com/office/drawing/2014/main" id="{CD357FC9-AAB8-426B-9176-0BB6D5C437B3}"/>
              </a:ext>
            </a:extLst>
          </p:cNvPr>
          <p:cNvSpPr>
            <a:spLocks noGrp="1"/>
          </p:cNvSpPr>
          <p:nvPr/>
        </p:nvSpPr>
        <p:spPr>
          <a:xfrm>
            <a:off x="419100" y="228600"/>
            <a:ext cx="11353800" cy="609600"/>
          </a:xfrm>
          <a:prstGeom prst="rect">
            <a:avLst/>
          </a:prstGeom>
          <a:noFill/>
          <a:ln w="0">
            <a:noFill/>
          </a:ln>
        </p:spPr>
        <p:txBody>
          <a:bodyPr>
            <a:noAutofit/>
          </a:bodyPr>
          <a:lstStyle/>
          <a:p>
            <a:pPr>
              <a:defRPr sz="2625" b="1">
                <a:solidFill>
                  <a:srgbClr val="202B58"/>
                </a:solidFill>
                <a:latin typeface="Noto Sans JP"/>
                <a:ea typeface="Noto Sans JP"/>
                <a:cs typeface="Noto Sans JP"/>
              </a:defRPr>
            </a:pPr>
            <a:r>
              <a:rPr sz="2625" b="1">
                <a:solidFill>
                  <a:srgbClr val="202B58"/>
                </a:solidFill>
                <a:latin typeface="Noto Sans JP"/>
                <a:ea typeface="Noto Sans JP"/>
                <a:cs typeface="Noto Sans JP"/>
              </a:rPr>
              <a:t>超過ペナルティの定義と計算例</a:t>
            </a:r>
          </a:p>
        </p:txBody>
      </p:sp>
      <p:sp>
        <p:nvSpPr>
          <p:cNvPr id="2" name="正方形/長方形 1">
            <a:extLst>
              <a:ext uri="{FF2B5EF4-FFF2-40B4-BE49-F238E27FC236}">
                <a16:creationId xmlns:a16="http://schemas.microsoft.com/office/drawing/2014/main" id="{A9337768-CA9E-4CA9-90B1-FDA3B8F4D938}"/>
              </a:ext>
            </a:extLst>
          </p:cNvPr>
          <p:cNvSpPr>
            <a:spLocks noGrp="1"/>
          </p:cNvSpPr>
          <p:nvPr/>
        </p:nvSpPr>
        <p:spPr>
          <a:xfrm>
            <a:off x="571500" y="981075"/>
            <a:ext cx="11049000" cy="590550"/>
          </a:xfrm>
          <a:prstGeom prst="rect">
            <a:avLst/>
          </a:prstGeom>
          <a:noFill/>
          <a:ln w="0">
            <a:noFill/>
          </a:ln>
        </p:spPr>
        <p:txBody>
          <a:bodyPr>
            <a:noAutofit/>
          </a:bodyPr>
          <a:lstStyle/>
          <a:p>
            <a:pPr>
              <a:defRPr sz="1725" b="0">
                <a:solidFill>
                  <a:srgbClr val="59687B"/>
                </a:solidFill>
                <a:latin typeface="Noto Sans JP"/>
                <a:ea typeface="Noto Sans JP"/>
                <a:cs typeface="Noto Sans JP"/>
              </a:defRPr>
            </a:pPr>
            <a:r>
              <a:rPr sz="1725" b="0">
                <a:solidFill>
                  <a:srgbClr val="59687B"/>
                </a:solidFill>
                <a:latin typeface="Noto Sans JP"/>
                <a:ea typeface="Noto Sans JP"/>
                <a:cs typeface="Noto Sans JP"/>
              </a:rPr>
              <a:t>購入電力費は週間購入電力量×30円/kWh。超過ペナルティを別途加算</a:t>
            </a:r>
          </a:p>
        </p:txBody>
      </p:sp>
      <p:sp>
        <p:nvSpPr>
          <p:cNvPr id="3" name="正方形/長方形 2">
            <a:extLst>
              <a:ext uri="{FF2B5EF4-FFF2-40B4-BE49-F238E27FC236}">
                <a16:creationId xmlns:a16="http://schemas.microsoft.com/office/drawing/2014/main" id="{8A98ACBA-3558-4B62-9296-8CDEF137FBAE}"/>
              </a:ext>
            </a:extLst>
          </p:cNvPr>
          <p:cNvSpPr>
            <a:spLocks noGrp="1"/>
          </p:cNvSpPr>
          <p:nvPr/>
        </p:nvSpPr>
        <p:spPr>
          <a:xfrm>
            <a:off x="571500" y="5638800"/>
            <a:ext cx="11049000" cy="56197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3月の超過ペナルティは540.5 kWh × 500円/kWh ≒ 27.03万円</a:t>
            </a:r>
          </a:p>
        </p:txBody>
      </p:sp>
      <p:sp>
        <p:nvSpPr>
          <p:cNvPr id="4" name="正方形/長方形 3">
            <a:extLst>
              <a:ext uri="{FF2B5EF4-FFF2-40B4-BE49-F238E27FC236}">
                <a16:creationId xmlns:a16="http://schemas.microsoft.com/office/drawing/2014/main" id="{FCC136B1-DBE2-4AD9-B2F1-634472E613AC}"/>
              </a:ext>
            </a:extLst>
          </p:cNvPr>
          <p:cNvSpPr>
            <a:spLocks noGrp="1"/>
          </p:cNvSpPr>
          <p:nvPr/>
        </p:nvSpPr>
        <p:spPr>
          <a:xfrm>
            <a:off x="571500" y="6248400"/>
            <a:ext cx="11049000" cy="314325"/>
          </a:xfrm>
          <a:prstGeom prst="rect">
            <a:avLst/>
          </a:prstGeom>
          <a:noFill/>
          <a:ln w="0">
            <a:noFill/>
          </a:ln>
        </p:spPr>
        <p:txBody>
          <a:bodyPr>
            <a:noAutofit/>
          </a:bodyPr>
          <a:lstStyle/>
          <a:p>
            <a:pPr>
              <a:defRPr sz="1275" b="0">
                <a:solidFill>
                  <a:srgbClr val="7E4D36"/>
                </a:solidFill>
                <a:latin typeface="Noto Sans JP"/>
                <a:ea typeface="Noto Sans JP"/>
                <a:cs typeface="Noto Sans JP"/>
              </a:defRPr>
            </a:pPr>
            <a:r>
              <a:rPr sz="1275" b="0">
                <a:solidFill>
                  <a:srgbClr val="7E4D36"/>
                </a:solidFill>
                <a:latin typeface="Noto Sans JP"/>
                <a:ea typeface="Noto Sans JP"/>
                <a:cs typeface="Noto Sans JP"/>
              </a:rPr>
              <a:t>500円/kWhはモデル係数。実際の電力契約料金としての根拠は本資料では未確認。</a:t>
            </a:r>
          </a:p>
        </p:txBody>
      </p:sp>
      <p:sp>
        <p:nvSpPr>
          <p:cNvPr id="5" name="正方形/長方形 4">
            <a:extLst>
              <a:ext uri="{FF2B5EF4-FFF2-40B4-BE49-F238E27FC236}">
                <a16:creationId xmlns:a16="http://schemas.microsoft.com/office/drawing/2014/main" id="{467BD5C0-F98F-46F6-90B7-2114DFCD84B9}"/>
              </a:ext>
            </a:extLst>
          </p:cNvPr>
          <p:cNvSpPr>
            <a:spLocks noGrp="1"/>
          </p:cNvSpPr>
          <p:nvPr/>
        </p:nvSpPr>
        <p:spPr>
          <a:xfrm>
            <a:off x="419100" y="6638925"/>
            <a:ext cx="10096500" cy="180975"/>
          </a:xfrm>
          <a:prstGeom prst="rect">
            <a:avLst/>
          </a:prstGeom>
          <a:noFill/>
          <a:ln w="0">
            <a:noFill/>
          </a:ln>
        </p:spPr>
        <p:txBody>
          <a:bodyPr>
            <a:noAutofit/>
          </a:bodyPr>
          <a:lstStyle/>
          <a:p>
            <a:pPr>
              <a:defRPr sz="900" b="0">
                <a:solidFill>
                  <a:srgbClr val="59687B"/>
                </a:solidFill>
                <a:latin typeface="Noto Sans JP"/>
                <a:ea typeface="Noto Sans JP"/>
                <a:cs typeface="Noto Sans JP"/>
              </a:defRPr>
            </a:pPr>
            <a:r>
              <a:rPr sz="900" b="0">
                <a:solidFill>
                  <a:srgbClr val="59687B"/>
                </a:solidFill>
                <a:latin typeface="Noto Sans JP"/>
                <a:ea typeface="Noto Sans JP"/>
                <a:cs typeface="Noto Sans JP"/>
              </a:rPr>
              <a:t>修士研究　2026年9月18日　／　月別12週のシミュレーション（診断結果）</a:t>
            </a:r>
          </a:p>
        </p:txBody>
      </p:sp>
      <p:sp>
        <p:nvSpPr>
          <p:cNvPr id="6" name="正方形/長方形 5">
            <a:extLst>
              <a:ext uri="{FF2B5EF4-FFF2-40B4-BE49-F238E27FC236}">
                <a16:creationId xmlns:a16="http://schemas.microsoft.com/office/drawing/2014/main" id="{8E1E4F61-A7AD-49DB-9F0F-781157FE3258}"/>
              </a:ext>
            </a:extLst>
          </p:cNvPr>
          <p:cNvSpPr>
            <a:spLocks noGrp="1"/>
          </p:cNvSpPr>
          <p:nvPr/>
        </p:nvSpPr>
        <p:spPr>
          <a:xfrm>
            <a:off x="11144250" y="6610350"/>
            <a:ext cx="628650" cy="228600"/>
          </a:xfrm>
          <a:prstGeom prst="rect">
            <a:avLst/>
          </a:prstGeom>
          <a:noFill/>
          <a:ln w="0">
            <a:noFill/>
          </a:ln>
        </p:spPr>
        <p:txBody>
          <a:bodyPr>
            <a:noAutofit/>
          </a:bodyPr>
          <a:lstStyle/>
          <a:p>
            <a:pPr>
              <a:defRPr sz="1050" b="0">
                <a:solidFill>
                  <a:srgbClr val="59687B"/>
                </a:solidFill>
                <a:latin typeface="Noto Sans JP"/>
                <a:ea typeface="Noto Sans JP"/>
                <a:cs typeface="Noto Sans JP"/>
              </a:defRPr>
            </a:pPr>
            <a:r>
              <a:rPr sz="1050" b="0">
                <a:solidFill>
                  <a:srgbClr val="59687B"/>
                </a:solidFill>
                <a:latin typeface="Noto Sans JP"/>
                <a:ea typeface="Noto Sans JP"/>
                <a:cs typeface="Noto Sans JP"/>
              </a:rPr>
              <a:t>15/24</a:t>
            </a:r>
          </a:p>
        </p:txBody>
      </p:sp>
      <p:sp>
        <p:nvSpPr>
          <p:cNvPr id="7" name="正方形/長方形 6">
            <a:extLst>
              <a:ext uri="{FF2B5EF4-FFF2-40B4-BE49-F238E27FC236}">
                <a16:creationId xmlns:a16="http://schemas.microsoft.com/office/drawing/2014/main" id="{5778D564-939F-4CDA-9068-853E190F5FFF}"/>
              </a:ext>
            </a:extLst>
          </p:cNvPr>
          <p:cNvSpPr>
            <a:spLocks noGrp="1"/>
          </p:cNvSpPr>
          <p:nvPr/>
        </p:nvSpPr>
        <p:spPr>
          <a:xfrm>
            <a:off x="685800" y="1781175"/>
            <a:ext cx="10668000" cy="447675"/>
          </a:xfrm>
          <a:prstGeom prst="rect">
            <a:avLst/>
          </a:prstGeom>
          <a:noFill/>
          <a:ln w="0">
            <a:noFill/>
          </a:ln>
        </p:spPr>
        <p:txBody>
          <a:bodyPr>
            <a:noAutofit/>
          </a:bodyPr>
          <a:lstStyle/>
          <a:p>
            <a:pPr>
              <a:defRPr sz="1875" b="1">
                <a:solidFill>
                  <a:srgbClr val="202B58"/>
                </a:solidFill>
                <a:latin typeface="Noto Sans JP"/>
                <a:ea typeface="Noto Sans JP"/>
                <a:cs typeface="Noto Sans JP"/>
              </a:defRPr>
            </a:pPr>
            <a:r>
              <a:rPr sz="1875" b="1">
                <a:solidFill>
                  <a:srgbClr val="202B58"/>
                </a:solidFill>
                <a:latin typeface="Noto Sans JP"/>
                <a:ea typeface="Noto Sans JP"/>
                <a:cs typeface="Noto Sans JP"/>
              </a:rPr>
              <a:t>各15分の超過電力量 ＝ max（受電電力 − 200 kW, 0）× 0.25 h</a:t>
            </a:r>
          </a:p>
        </p:txBody>
      </p:sp>
      <p:sp>
        <p:nvSpPr>
          <p:cNvPr id="8" name="正方形/長方形 7">
            <a:extLst>
              <a:ext uri="{FF2B5EF4-FFF2-40B4-BE49-F238E27FC236}">
                <a16:creationId xmlns:a16="http://schemas.microsoft.com/office/drawing/2014/main" id="{98C84974-9B95-43F8-9736-CC1DDECC0C40}"/>
              </a:ext>
            </a:extLst>
          </p:cNvPr>
          <p:cNvSpPr>
            <a:spLocks noGrp="1"/>
          </p:cNvSpPr>
          <p:nvPr/>
        </p:nvSpPr>
        <p:spPr>
          <a:xfrm>
            <a:off x="685800" y="2362200"/>
            <a:ext cx="10668000" cy="447675"/>
          </a:xfrm>
          <a:prstGeom prst="rect">
            <a:avLst/>
          </a:prstGeom>
          <a:noFill/>
          <a:ln w="0">
            <a:noFill/>
          </a:ln>
        </p:spPr>
        <p:txBody>
          <a:bodyPr>
            <a:noAutofit/>
          </a:bodyPr>
          <a:lstStyle/>
          <a:p>
            <a:pPr>
              <a:defRPr sz="1875" b="1">
                <a:solidFill>
                  <a:srgbClr val="202B58"/>
                </a:solidFill>
                <a:latin typeface="Noto Sans JP"/>
                <a:ea typeface="Noto Sans JP"/>
                <a:cs typeface="Noto Sans JP"/>
              </a:defRPr>
            </a:pPr>
            <a:r>
              <a:rPr sz="1875" b="1">
                <a:solidFill>
                  <a:srgbClr val="202B58"/>
                </a:solidFill>
                <a:latin typeface="Noto Sans JP"/>
                <a:ea typeface="Noto Sans JP"/>
                <a:cs typeface="Noto Sans JP"/>
              </a:rPr>
              <a:t>超過ペナルティ ＝ 週間の超過電力量 × 500 円/kWh</a:t>
            </a:r>
          </a:p>
        </p:txBody>
      </p:sp>
      <p:sp>
        <p:nvSpPr>
          <p:cNvPr id="9" name="正方形/長方形 8">
            <a:extLst>
              <a:ext uri="{FF2B5EF4-FFF2-40B4-BE49-F238E27FC236}">
                <a16:creationId xmlns:a16="http://schemas.microsoft.com/office/drawing/2014/main" id="{EE737191-9110-406D-81FB-4F46F2D15177}"/>
              </a:ext>
            </a:extLst>
          </p:cNvPr>
          <p:cNvSpPr>
            <a:spLocks noGrp="1"/>
          </p:cNvSpPr>
          <p:nvPr/>
        </p:nvSpPr>
        <p:spPr>
          <a:xfrm>
            <a:off x="685800" y="3048000"/>
            <a:ext cx="10668000" cy="466725"/>
          </a:xfrm>
          <a:prstGeom prst="rect">
            <a:avLst/>
          </a:prstGeom>
          <a:noFill/>
          <a:ln w="0">
            <a:noFill/>
          </a:ln>
        </p:spPr>
        <p:txBody>
          <a:bodyPr>
            <a:noAutofit/>
          </a:bodyPr>
          <a:lstStyle/>
          <a:p>
            <a:pPr>
              <a:defRPr sz="1875" b="1">
                <a:solidFill>
                  <a:srgbClr val="316DB6"/>
                </a:solidFill>
                <a:latin typeface="Noto Sans JP"/>
                <a:ea typeface="Noto Sans JP"/>
                <a:cs typeface="Noto Sans JP"/>
              </a:defRPr>
            </a:pPr>
            <a:r>
              <a:rPr sz="1875" b="1">
                <a:solidFill>
                  <a:srgbClr val="316DB6"/>
                </a:solidFill>
                <a:latin typeface="Noto Sans JP"/>
                <a:ea typeface="Noto Sans JP"/>
                <a:cs typeface="Noto Sans JP"/>
              </a:rPr>
              <a:t>計算例：受電電力250 kWが15分続くと、超過ペナルティは6,250円</a:t>
            </a:r>
          </a:p>
        </p:txBody>
      </p:sp>
      <p:graphicFrame>
        <p:nvGraphicFramePr>
          <p:cNvPr id="20" name="表 19"/>
          <p:cNvGraphicFramePr/>
          <p:nvPr/>
        </p:nvGraphicFramePr>
        <p:xfrm>
          <a:off x="571500" y="3857625"/>
          <a:ext cx="11049000" cy="1562100"/>
        </p:xfrm>
        <a:graphic>
          <a:graphicData uri="http://schemas.openxmlformats.org/drawingml/2006/table">
            <a:tbl>
              <a:tblPr/>
              <a:tblGrid>
                <a:gridCol w="3810000">
                  <a:extLst>
                    <a:ext uri="{9D8B030D-6E8A-4147-A177-3AD203B41FA5}">
                      <a16:colId xmlns:a16="http://schemas.microsoft.com/office/drawing/2014/main" val="20000"/>
                    </a:ext>
                  </a:extLst>
                </a:gridCol>
                <a:gridCol w="3619500">
                  <a:extLst>
                    <a:ext uri="{9D8B030D-6E8A-4147-A177-3AD203B41FA5}">
                      <a16:colId xmlns:a16="http://schemas.microsoft.com/office/drawing/2014/main" val="20001"/>
                    </a:ext>
                  </a:extLst>
                </a:gridCol>
                <a:gridCol w="3619500">
                  <a:extLst>
                    <a:ext uri="{9D8B030D-6E8A-4147-A177-3AD203B41FA5}">
                      <a16:colId xmlns:a16="http://schemas.microsoft.com/office/drawing/2014/main" val="20002"/>
                    </a:ext>
                  </a:extLst>
                </a:gridCol>
              </a:tblGrid>
              <a:tr h="520700">
                <a:tc>
                  <a:txBody>
                    <a:bodyPr/>
                    <a:lstStyle/>
                    <a:p>
                      <a:r>
                        <a:rPr sz="1725" b="1">
                          <a:solidFill>
                            <a:srgbClr val="FFFFFF"/>
                          </a:solidFill>
                          <a:latin typeface="Noto Sans JP"/>
                          <a:ea typeface="Noto Sans JP"/>
                          <a:cs typeface="Noto Sans JP"/>
                        </a:rPr>
                        <a:t>実験結果</a:t>
                      </a:r>
                    </a:p>
                  </a:txBody>
                  <a:tcPr>
                    <a:solidFill>
                      <a:srgbClr val="202B58"/>
                    </a:solidFill>
                  </a:tcPr>
                </a:tc>
                <a:tc>
                  <a:txBody>
                    <a:bodyPr/>
                    <a:lstStyle/>
                    <a:p>
                      <a:r>
                        <a:rPr sz="1725" b="1">
                          <a:solidFill>
                            <a:srgbClr val="FFFFFF"/>
                          </a:solidFill>
                          <a:latin typeface="Noto Sans JP"/>
                          <a:ea typeface="Noto Sans JP"/>
                          <a:cs typeface="Noto Sans JP"/>
                        </a:rPr>
                        <a:t>超過電力量</a:t>
                      </a:r>
                    </a:p>
                  </a:txBody>
                  <a:tcPr>
                    <a:solidFill>
                      <a:srgbClr val="202B58"/>
                    </a:solidFill>
                  </a:tcPr>
                </a:tc>
                <a:tc>
                  <a:txBody>
                    <a:bodyPr/>
                    <a:lstStyle/>
                    <a:p>
                      <a:r>
                        <a:rPr sz="1725" b="1">
                          <a:solidFill>
                            <a:srgbClr val="FFFFFF"/>
                          </a:solidFill>
                          <a:latin typeface="Noto Sans JP"/>
                          <a:ea typeface="Noto Sans JP"/>
                          <a:cs typeface="Noto Sans JP"/>
                        </a:rPr>
                        <a:t>超過ペナルティ</a:t>
                      </a:r>
                    </a:p>
                  </a:txBody>
                  <a:tcPr>
                    <a:solidFill>
                      <a:srgbClr val="202B58"/>
                    </a:solidFill>
                  </a:tcPr>
                </a:tc>
                <a:extLst>
                  <a:ext uri="{0D108BD9-81ED-4DB2-BD59-A6C34878D82A}">
                    <a16:rowId xmlns:a16="http://schemas.microsoft.com/office/drawing/2014/main" val="10000"/>
                  </a:ext>
                </a:extLst>
              </a:tr>
              <a:tr h="520700">
                <a:tc>
                  <a:txBody>
                    <a:bodyPr/>
                    <a:lstStyle/>
                    <a:p>
                      <a:r>
                        <a:rPr sz="1725" b="0">
                          <a:solidFill>
                            <a:srgbClr val="202B58"/>
                          </a:solidFill>
                          <a:latin typeface="Noto Sans JP"/>
                          <a:ea typeface="Noto Sans JP"/>
                          <a:cs typeface="Noto Sans JP"/>
                        </a:rPr>
                        <a:t>3月</a:t>
                      </a:r>
                    </a:p>
                  </a:txBody>
                  <a:tcPr>
                    <a:solidFill>
                      <a:srgbClr val="F1F5F8"/>
                    </a:solidFill>
                  </a:tcPr>
                </a:tc>
                <a:tc>
                  <a:txBody>
                    <a:bodyPr/>
                    <a:lstStyle/>
                    <a:p>
                      <a:r>
                        <a:rPr sz="1725" b="0">
                          <a:solidFill>
                            <a:srgbClr val="202B58"/>
                          </a:solidFill>
                          <a:latin typeface="Noto Sans JP"/>
                          <a:ea typeface="Noto Sans JP"/>
                          <a:cs typeface="Noto Sans JP"/>
                        </a:rPr>
                        <a:t>540.51 kWh</a:t>
                      </a:r>
                    </a:p>
                  </a:txBody>
                  <a:tcPr>
                    <a:solidFill>
                      <a:srgbClr val="F1F5F8"/>
                    </a:solidFill>
                  </a:tcPr>
                </a:tc>
                <a:tc>
                  <a:txBody>
                    <a:bodyPr/>
                    <a:lstStyle/>
                    <a:p>
                      <a:r>
                        <a:rPr sz="1725" b="0">
                          <a:solidFill>
                            <a:srgbClr val="202B58"/>
                          </a:solidFill>
                          <a:latin typeface="Noto Sans JP"/>
                          <a:ea typeface="Noto Sans JP"/>
                          <a:cs typeface="Noto Sans JP"/>
                        </a:rPr>
                        <a:t>270,256.72円</a:t>
                      </a:r>
                    </a:p>
                  </a:txBody>
                  <a:tcPr>
                    <a:solidFill>
                      <a:srgbClr val="F1F5F8"/>
                    </a:solidFill>
                  </a:tcPr>
                </a:tc>
                <a:extLst>
                  <a:ext uri="{0D108BD9-81ED-4DB2-BD59-A6C34878D82A}">
                    <a16:rowId xmlns:a16="http://schemas.microsoft.com/office/drawing/2014/main" val="10001"/>
                  </a:ext>
                </a:extLst>
              </a:tr>
              <a:tr h="520700">
                <a:tc>
                  <a:txBody>
                    <a:bodyPr/>
                    <a:lstStyle/>
                    <a:p>
                      <a:r>
                        <a:rPr sz="1725" b="0">
                          <a:solidFill>
                            <a:srgbClr val="202B58"/>
                          </a:solidFill>
                          <a:latin typeface="Noto Sans JP"/>
                          <a:ea typeface="Noto Sans JP"/>
                          <a:cs typeface="Noto Sans JP"/>
                        </a:rPr>
                        <a:t>11月</a:t>
                      </a:r>
                    </a:p>
                  </a:txBody>
                  <a:tcPr>
                    <a:solidFill>
                      <a:srgbClr val="FFFFFF"/>
                    </a:solidFill>
                  </a:tcPr>
                </a:tc>
                <a:tc>
                  <a:txBody>
                    <a:bodyPr/>
                    <a:lstStyle/>
                    <a:p>
                      <a:r>
                        <a:rPr sz="1725" b="0">
                          <a:solidFill>
                            <a:srgbClr val="202B58"/>
                          </a:solidFill>
                          <a:latin typeface="Noto Sans JP"/>
                          <a:ea typeface="Noto Sans JP"/>
                          <a:cs typeface="Noto Sans JP"/>
                        </a:rPr>
                        <a:t>92.04 kWh</a:t>
                      </a:r>
                    </a:p>
                  </a:txBody>
                  <a:tcPr>
                    <a:solidFill>
                      <a:srgbClr val="FFFFFF"/>
                    </a:solidFill>
                  </a:tcPr>
                </a:tc>
                <a:tc>
                  <a:txBody>
                    <a:bodyPr/>
                    <a:lstStyle/>
                    <a:p>
                      <a:r>
                        <a:rPr sz="1725" b="0">
                          <a:solidFill>
                            <a:srgbClr val="202B58"/>
                          </a:solidFill>
                          <a:latin typeface="Noto Sans JP"/>
                          <a:ea typeface="Noto Sans JP"/>
                          <a:cs typeface="Noto Sans JP"/>
                        </a:rPr>
                        <a:t>46,019.69円</a:t>
                      </a:r>
                    </a:p>
                  </a:txBody>
                  <a:tcPr>
                    <a:solidFill>
                      <a:srgbClr val="FFFFFF"/>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7676637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12" name="正方形/長方形 11">
            <a:extLst>
              <a:ext uri="{FF2B5EF4-FFF2-40B4-BE49-F238E27FC236}">
                <a16:creationId xmlns:a16="http://schemas.microsoft.com/office/drawing/2014/main" id="{05667BE5-9693-453D-B0DF-5000356E0336}"/>
              </a:ext>
            </a:extLst>
          </p:cNvPr>
          <p:cNvSpPr>
            <a:spLocks noGrp="1"/>
          </p:cNvSpPr>
          <p:nvPr/>
        </p:nvSpPr>
        <p:spPr>
          <a:xfrm>
            <a:off x="419100" y="228600"/>
            <a:ext cx="11353800" cy="609600"/>
          </a:xfrm>
          <a:prstGeom prst="rect">
            <a:avLst/>
          </a:prstGeom>
          <a:noFill/>
          <a:ln w="0">
            <a:noFill/>
          </a:ln>
        </p:spPr>
        <p:txBody>
          <a:bodyPr>
            <a:noAutofit/>
          </a:bodyPr>
          <a:lstStyle/>
          <a:p>
            <a:pPr>
              <a:defRPr sz="2625" b="1">
                <a:solidFill>
                  <a:srgbClr val="202B58"/>
                </a:solidFill>
                <a:latin typeface="Noto Sans JP"/>
                <a:ea typeface="Noto Sans JP"/>
                <a:cs typeface="Noto Sans JP"/>
              </a:defRPr>
            </a:pPr>
            <a:r>
              <a:rPr sz="2625" b="1">
                <a:solidFill>
                  <a:srgbClr val="202B58"/>
                </a:solidFill>
                <a:latin typeface="Noto Sans JP"/>
                <a:ea typeface="Noto Sans JP"/>
                <a:cs typeface="Noto Sans JP"/>
              </a:rPr>
              <a:t>費用差の大きさと、単価への依存</a:t>
            </a:r>
          </a:p>
        </p:txBody>
      </p:sp>
      <p:sp>
        <p:nvSpPr>
          <p:cNvPr id="2" name="正方形/長方形 1">
            <a:extLst>
              <a:ext uri="{FF2B5EF4-FFF2-40B4-BE49-F238E27FC236}">
                <a16:creationId xmlns:a16="http://schemas.microsoft.com/office/drawing/2014/main" id="{925FDA0A-6B75-4D3F-A12C-B518DFB30144}"/>
              </a:ext>
            </a:extLst>
          </p:cNvPr>
          <p:cNvSpPr>
            <a:spLocks noGrp="1"/>
          </p:cNvSpPr>
          <p:nvPr/>
        </p:nvSpPr>
        <p:spPr>
          <a:xfrm>
            <a:off x="571500" y="981075"/>
            <a:ext cx="11049000" cy="590550"/>
          </a:xfrm>
          <a:prstGeom prst="rect">
            <a:avLst/>
          </a:prstGeom>
          <a:noFill/>
          <a:ln w="0">
            <a:noFill/>
          </a:ln>
        </p:spPr>
        <p:txBody>
          <a:bodyPr>
            <a:noAutofit/>
          </a:bodyPr>
          <a:lstStyle/>
          <a:p>
            <a:pPr>
              <a:defRPr sz="1725" b="0">
                <a:solidFill>
                  <a:srgbClr val="59687B"/>
                </a:solidFill>
                <a:latin typeface="Noto Sans JP"/>
                <a:ea typeface="Noto Sans JP"/>
                <a:cs typeface="Noto Sans JP"/>
              </a:defRPr>
            </a:pPr>
            <a:r>
              <a:rPr sz="1725" b="0">
                <a:solidFill>
                  <a:srgbClr val="59687B"/>
                </a:solidFill>
                <a:latin typeface="Noto Sans JP"/>
                <a:ea typeface="Noto Sans JP"/>
                <a:cs typeface="Noto Sans JP"/>
              </a:rPr>
              <a:t>同じ実行済みの運用に対し、超過ペナルティ単価だけを置き換える算術比較</a:t>
            </a:r>
          </a:p>
        </p:txBody>
      </p:sp>
      <p:sp>
        <p:nvSpPr>
          <p:cNvPr id="3" name="正方形/長方形 2">
            <a:extLst>
              <a:ext uri="{FF2B5EF4-FFF2-40B4-BE49-F238E27FC236}">
                <a16:creationId xmlns:a16="http://schemas.microsoft.com/office/drawing/2014/main" id="{D3AC841D-4BAA-4AD6-BB4D-5EB07774694A}"/>
              </a:ext>
            </a:extLst>
          </p:cNvPr>
          <p:cNvSpPr>
            <a:spLocks noGrp="1"/>
          </p:cNvSpPr>
          <p:nvPr/>
        </p:nvSpPr>
        <p:spPr>
          <a:xfrm>
            <a:off x="571500" y="5638800"/>
            <a:ext cx="11049000" cy="56197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差23.99万円は11月比5.42%。超過ペナルティ単価0円なら差は1.57万円</a:t>
            </a:r>
          </a:p>
        </p:txBody>
      </p:sp>
      <p:sp>
        <p:nvSpPr>
          <p:cNvPr id="4" name="正方形/長方形 3">
            <a:extLst>
              <a:ext uri="{FF2B5EF4-FFF2-40B4-BE49-F238E27FC236}">
                <a16:creationId xmlns:a16="http://schemas.microsoft.com/office/drawing/2014/main" id="{9C5751FA-5010-4654-B9C1-3B5B4401B30C}"/>
              </a:ext>
            </a:extLst>
          </p:cNvPr>
          <p:cNvSpPr>
            <a:spLocks noGrp="1"/>
          </p:cNvSpPr>
          <p:nvPr/>
        </p:nvSpPr>
        <p:spPr>
          <a:xfrm>
            <a:off x="571500" y="6248400"/>
            <a:ext cx="11049000" cy="314325"/>
          </a:xfrm>
          <a:prstGeom prst="rect">
            <a:avLst/>
          </a:prstGeom>
          <a:noFill/>
          <a:ln w="0">
            <a:noFill/>
          </a:ln>
        </p:spPr>
        <p:txBody>
          <a:bodyPr>
            <a:noAutofit/>
          </a:bodyPr>
          <a:lstStyle/>
          <a:p>
            <a:pPr>
              <a:defRPr sz="1275" b="0">
                <a:solidFill>
                  <a:srgbClr val="7E4D36"/>
                </a:solidFill>
                <a:latin typeface="Noto Sans JP"/>
                <a:ea typeface="Noto Sans JP"/>
                <a:cs typeface="Noto Sans JP"/>
              </a:defRPr>
            </a:pPr>
            <a:r>
              <a:rPr sz="1275" b="0">
                <a:solidFill>
                  <a:srgbClr val="7E4D36"/>
                </a:solidFill>
                <a:latin typeface="Noto Sans JP"/>
                <a:ea typeface="Noto Sans JP"/>
                <a:cs typeface="Noto Sans JP"/>
              </a:rPr>
              <a:t>再最適化は行っていない。料金変更時の運用結果や、実現可能な削減額ではない。</a:t>
            </a:r>
          </a:p>
        </p:txBody>
      </p:sp>
      <p:sp>
        <p:nvSpPr>
          <p:cNvPr id="5" name="正方形/長方形 4">
            <a:extLst>
              <a:ext uri="{FF2B5EF4-FFF2-40B4-BE49-F238E27FC236}">
                <a16:creationId xmlns:a16="http://schemas.microsoft.com/office/drawing/2014/main" id="{6966F475-D9AC-404C-A2F1-3B8202EA19AA}"/>
              </a:ext>
            </a:extLst>
          </p:cNvPr>
          <p:cNvSpPr>
            <a:spLocks noGrp="1"/>
          </p:cNvSpPr>
          <p:nvPr/>
        </p:nvSpPr>
        <p:spPr>
          <a:xfrm>
            <a:off x="419100" y="6638925"/>
            <a:ext cx="10096500" cy="180975"/>
          </a:xfrm>
          <a:prstGeom prst="rect">
            <a:avLst/>
          </a:prstGeom>
          <a:noFill/>
          <a:ln w="0">
            <a:noFill/>
          </a:ln>
        </p:spPr>
        <p:txBody>
          <a:bodyPr>
            <a:noAutofit/>
          </a:bodyPr>
          <a:lstStyle/>
          <a:p>
            <a:pPr>
              <a:defRPr sz="900" b="0">
                <a:solidFill>
                  <a:srgbClr val="59687B"/>
                </a:solidFill>
                <a:latin typeface="Noto Sans JP"/>
                <a:ea typeface="Noto Sans JP"/>
                <a:cs typeface="Noto Sans JP"/>
              </a:defRPr>
            </a:pPr>
            <a:r>
              <a:rPr sz="900" b="0">
                <a:solidFill>
                  <a:srgbClr val="59687B"/>
                </a:solidFill>
                <a:latin typeface="Noto Sans JP"/>
                <a:ea typeface="Noto Sans JP"/>
                <a:cs typeface="Noto Sans JP"/>
              </a:rPr>
              <a:t>修士研究　2026年9月18日　／　月別12週のシミュレーション（診断結果）</a:t>
            </a:r>
          </a:p>
        </p:txBody>
      </p:sp>
      <p:sp>
        <p:nvSpPr>
          <p:cNvPr id="6" name="正方形/長方形 5">
            <a:extLst>
              <a:ext uri="{FF2B5EF4-FFF2-40B4-BE49-F238E27FC236}">
                <a16:creationId xmlns:a16="http://schemas.microsoft.com/office/drawing/2014/main" id="{5496DD45-18D9-418B-B9FD-149AD17F46F5}"/>
              </a:ext>
            </a:extLst>
          </p:cNvPr>
          <p:cNvSpPr>
            <a:spLocks noGrp="1"/>
          </p:cNvSpPr>
          <p:nvPr/>
        </p:nvSpPr>
        <p:spPr>
          <a:xfrm>
            <a:off x="11144250" y="6610350"/>
            <a:ext cx="628650" cy="228600"/>
          </a:xfrm>
          <a:prstGeom prst="rect">
            <a:avLst/>
          </a:prstGeom>
          <a:noFill/>
          <a:ln w="0">
            <a:noFill/>
          </a:ln>
        </p:spPr>
        <p:txBody>
          <a:bodyPr>
            <a:noAutofit/>
          </a:bodyPr>
          <a:lstStyle/>
          <a:p>
            <a:pPr>
              <a:defRPr sz="1050" b="0">
                <a:solidFill>
                  <a:srgbClr val="59687B"/>
                </a:solidFill>
                <a:latin typeface="Noto Sans JP"/>
                <a:ea typeface="Noto Sans JP"/>
                <a:cs typeface="Noto Sans JP"/>
              </a:defRPr>
            </a:pPr>
            <a:r>
              <a:rPr sz="1050" b="0">
                <a:solidFill>
                  <a:srgbClr val="59687B"/>
                </a:solidFill>
                <a:latin typeface="Noto Sans JP"/>
                <a:ea typeface="Noto Sans JP"/>
                <a:cs typeface="Noto Sans JP"/>
              </a:rPr>
              <a:t>16/24</a:t>
            </a:r>
          </a:p>
        </p:txBody>
      </p:sp>
      <p:graphicFrame>
        <p:nvGraphicFramePr>
          <p:cNvPr id="18" name="Chart"/>
          <p:cNvGraphicFramePr/>
          <p:nvPr/>
        </p:nvGraphicFramePr>
        <p:xfrm>
          <a:off x="571500" y="1695450"/>
          <a:ext cx="6667500" cy="3714750"/>
        </p:xfrm>
        <a:graphic>
          <a:graphicData uri="http://schemas.openxmlformats.org/drawingml/2006/chart">
            <c:chart xmlns:c="http://schemas.openxmlformats.org/drawingml/2006/chart" xmlns:r="http://schemas.openxmlformats.org/officeDocument/2006/relationships" r:id="rId3"/>
          </a:graphicData>
        </a:graphic>
      </p:graphicFrame>
      <p:sp>
        <p:nvSpPr>
          <p:cNvPr id="8" name="正方形/長方形 7">
            <a:extLst>
              <a:ext uri="{FF2B5EF4-FFF2-40B4-BE49-F238E27FC236}">
                <a16:creationId xmlns:a16="http://schemas.microsoft.com/office/drawing/2014/main" id="{822825D9-B241-4D53-92F2-29D99AD2C098}"/>
              </a:ext>
            </a:extLst>
          </p:cNvPr>
          <p:cNvSpPr>
            <a:spLocks noGrp="1"/>
          </p:cNvSpPr>
          <p:nvPr/>
        </p:nvSpPr>
        <p:spPr>
          <a:xfrm>
            <a:off x="7734300" y="1933575"/>
            <a:ext cx="3810000" cy="428625"/>
          </a:xfrm>
          <a:prstGeom prst="rect">
            <a:avLst/>
          </a:prstGeom>
          <a:noFill/>
          <a:ln w="0">
            <a:noFill/>
          </a:ln>
        </p:spPr>
        <p:txBody>
          <a:bodyPr>
            <a:noAutofit/>
          </a:bodyPr>
          <a:lstStyle/>
          <a:p>
            <a:pPr>
              <a:defRPr sz="1800" b="1">
                <a:solidFill>
                  <a:srgbClr val="202B58"/>
                </a:solidFill>
                <a:latin typeface="Noto Sans JP"/>
                <a:ea typeface="Noto Sans JP"/>
                <a:cs typeface="Noto Sans JP"/>
              </a:defRPr>
            </a:pPr>
            <a:r>
              <a:rPr sz="1800" b="1">
                <a:solidFill>
                  <a:srgbClr val="202B58"/>
                </a:solidFill>
                <a:latin typeface="Noto Sans JP"/>
                <a:ea typeface="Noto Sans JP"/>
                <a:cs typeface="Noto Sans JP"/>
              </a:rPr>
              <a:t>今回の500円/kWhでは</a:t>
            </a:r>
          </a:p>
        </p:txBody>
      </p:sp>
      <p:sp>
        <p:nvSpPr>
          <p:cNvPr id="9" name="正方形/長方形 8">
            <a:extLst>
              <a:ext uri="{FF2B5EF4-FFF2-40B4-BE49-F238E27FC236}">
                <a16:creationId xmlns:a16="http://schemas.microsoft.com/office/drawing/2014/main" id="{10AB40E7-1D7B-4BD5-8682-FB76BDD51713}"/>
              </a:ext>
            </a:extLst>
          </p:cNvPr>
          <p:cNvSpPr>
            <a:spLocks noGrp="1"/>
          </p:cNvSpPr>
          <p:nvPr/>
        </p:nvSpPr>
        <p:spPr>
          <a:xfrm>
            <a:off x="7734300" y="2543175"/>
            <a:ext cx="3810000" cy="504825"/>
          </a:xfrm>
          <a:prstGeom prst="rect">
            <a:avLst/>
          </a:prstGeom>
          <a:noFill/>
          <a:ln w="0">
            <a:noFill/>
          </a:ln>
        </p:spPr>
        <p:txBody>
          <a:bodyPr>
            <a:noAutofit/>
          </a:bodyPr>
          <a:lstStyle/>
          <a:p>
            <a:pPr>
              <a:defRPr sz="2475" b="1">
                <a:solidFill>
                  <a:srgbClr val="316DB6"/>
                </a:solidFill>
                <a:latin typeface="Noto Sans JP"/>
                <a:ea typeface="Noto Sans JP"/>
                <a:cs typeface="Noto Sans JP"/>
              </a:defRPr>
            </a:pPr>
            <a:r>
              <a:rPr sz="2475" b="1">
                <a:solidFill>
                  <a:srgbClr val="316DB6"/>
                </a:solidFill>
                <a:latin typeface="Noto Sans JP"/>
                <a:ea typeface="Noto Sans JP"/>
                <a:cs typeface="Noto Sans JP"/>
              </a:rPr>
              <a:t>23.99万円／週</a:t>
            </a:r>
          </a:p>
        </p:txBody>
      </p:sp>
      <p:sp>
        <p:nvSpPr>
          <p:cNvPr id="10" name="正方形/長方形 9">
            <a:extLst>
              <a:ext uri="{FF2B5EF4-FFF2-40B4-BE49-F238E27FC236}">
                <a16:creationId xmlns:a16="http://schemas.microsoft.com/office/drawing/2014/main" id="{8F27B7DD-4DFF-4BC6-A1FF-435832ECA9D8}"/>
              </a:ext>
            </a:extLst>
          </p:cNvPr>
          <p:cNvSpPr>
            <a:spLocks noGrp="1"/>
          </p:cNvSpPr>
          <p:nvPr/>
        </p:nvSpPr>
        <p:spPr>
          <a:xfrm>
            <a:off x="7734300" y="3305175"/>
            <a:ext cx="3905250" cy="857250"/>
          </a:xfrm>
          <a:prstGeom prst="rect">
            <a:avLst/>
          </a:prstGeom>
          <a:noFill/>
          <a:ln w="0">
            <a:noFill/>
          </a:ln>
        </p:spPr>
        <p:txBody>
          <a:bodyPr>
            <a:noAutofit/>
          </a:bodyPr>
          <a:lstStyle/>
          <a:p>
            <a:pPr>
              <a:defRPr sz="1725" b="0">
                <a:solidFill>
                  <a:srgbClr val="202B58"/>
                </a:solidFill>
                <a:latin typeface="Noto Sans JP"/>
                <a:ea typeface="Noto Sans JP"/>
                <a:cs typeface="Noto Sans JP"/>
              </a:defRPr>
            </a:pPr>
            <a:r>
              <a:rPr sz="1725" b="0">
                <a:solidFill>
                  <a:srgbClr val="202B58"/>
                </a:solidFill>
                <a:latin typeface="Noto Sans JP"/>
                <a:ea typeface="Noto Sans JP"/>
                <a:cs typeface="Noto Sans JP"/>
              </a:rPr>
              <a:t>11月の週間費用比　5.42%</a:t>
            </a:r>
          </a:p>
          <a:p>
            <a:pPr>
              <a:defRPr sz="1725" b="0">
                <a:solidFill>
                  <a:srgbClr val="202B58"/>
                </a:solidFill>
                <a:latin typeface="Noto Sans JP"/>
                <a:ea typeface="Noto Sans JP"/>
                <a:cs typeface="Noto Sans JP"/>
              </a:defRPr>
            </a:pPr>
            <a:r>
              <a:rPr sz="1725" b="0">
                <a:solidFill>
                  <a:srgbClr val="202B58"/>
                </a:solidFill>
                <a:latin typeface="Noto Sans JP"/>
                <a:ea typeface="Noto Sans JP"/>
                <a:cs typeface="Noto Sans JP"/>
              </a:rPr>
              <a:t>1便当たりの差　140.79円</a:t>
            </a:r>
          </a:p>
        </p:txBody>
      </p:sp>
      <p:sp>
        <p:nvSpPr>
          <p:cNvPr id="11" name="正方形/長方形 10">
            <a:extLst>
              <a:ext uri="{FF2B5EF4-FFF2-40B4-BE49-F238E27FC236}">
                <a16:creationId xmlns:a16="http://schemas.microsoft.com/office/drawing/2014/main" id="{22F94DBD-FEF7-4E06-963E-91F0AB0D0E8A}"/>
              </a:ext>
            </a:extLst>
          </p:cNvPr>
          <p:cNvSpPr>
            <a:spLocks noGrp="1"/>
          </p:cNvSpPr>
          <p:nvPr/>
        </p:nvSpPr>
        <p:spPr>
          <a:xfrm>
            <a:off x="7734300" y="4429125"/>
            <a:ext cx="3905250" cy="866775"/>
          </a:xfrm>
          <a:prstGeom prst="rect">
            <a:avLst/>
          </a:prstGeom>
          <a:noFill/>
          <a:ln w="0">
            <a:noFill/>
          </a:ln>
        </p:spPr>
        <p:txBody>
          <a:bodyPr>
            <a:noAutofit/>
          </a:bodyPr>
          <a:lstStyle/>
          <a:p>
            <a:pPr>
              <a:defRPr sz="1650" b="0">
                <a:solidFill>
                  <a:srgbClr val="59687B"/>
                </a:solidFill>
                <a:latin typeface="Noto Sans JP"/>
                <a:ea typeface="Noto Sans JP"/>
                <a:cs typeface="Noto Sans JP"/>
              </a:defRPr>
            </a:pPr>
            <a:r>
              <a:rPr sz="1650" b="0">
                <a:solidFill>
                  <a:srgbClr val="59687B"/>
                </a:solidFill>
                <a:latin typeface="Noto Sans JP"/>
                <a:ea typeface="Noto Sans JP"/>
                <a:cs typeface="Noto Sans JP"/>
              </a:rPr>
              <a:t>比較対象の運用費用が未取得のため、</a:t>
            </a:r>
          </a:p>
          <a:p>
            <a:pPr>
              <a:defRPr sz="1650" b="0">
                <a:solidFill>
                  <a:srgbClr val="59687B"/>
                </a:solidFill>
                <a:latin typeface="Noto Sans JP"/>
                <a:ea typeface="Noto Sans JP"/>
                <a:cs typeface="Noto Sans JP"/>
              </a:defRPr>
            </a:pPr>
            <a:r>
              <a:rPr sz="1650" b="0">
                <a:solidFill>
                  <a:srgbClr val="59687B"/>
                </a:solidFill>
                <a:latin typeface="Noto Sans JP"/>
                <a:ea typeface="Noto Sans JP"/>
                <a:cs typeface="Noto Sans JP"/>
              </a:rPr>
              <a:t>手法の削減効果はまだ評価できない。</a:t>
            </a:r>
          </a:p>
        </p:txBody>
      </p:sp>
    </p:spTree>
    <p:extLst>
      <p:ext uri="{BB962C8B-B14F-4D97-AF65-F5344CB8AC3E}">
        <p14:creationId xmlns:p14="http://schemas.microsoft.com/office/powerpoint/2010/main" val="4645497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8FB5B3A0-118F-4184-A795-A08304CFD5C0}"/>
              </a:ext>
            </a:extLst>
          </p:cNvPr>
          <p:cNvSpPr>
            <a:spLocks noGrp="1"/>
          </p:cNvSpPr>
          <p:nvPr/>
        </p:nvSpPr>
        <p:spPr>
          <a:xfrm>
            <a:off x="419100" y="228600"/>
            <a:ext cx="11353800" cy="609600"/>
          </a:xfrm>
          <a:prstGeom prst="rect">
            <a:avLst/>
          </a:prstGeom>
          <a:noFill/>
          <a:ln w="0">
            <a:noFill/>
          </a:ln>
        </p:spPr>
        <p:txBody>
          <a:bodyPr>
            <a:noAutofit/>
          </a:bodyPr>
          <a:lstStyle/>
          <a:p>
            <a:pPr>
              <a:defRPr sz="2625" b="1">
                <a:solidFill>
                  <a:srgbClr val="202B58"/>
                </a:solidFill>
                <a:latin typeface="Noto Sans JP"/>
                <a:ea typeface="Noto Sans JP"/>
                <a:cs typeface="Noto Sans JP"/>
              </a:defRPr>
            </a:pPr>
            <a:r>
              <a:rPr sz="2625" b="1">
                <a:solidFill>
                  <a:srgbClr val="202B58"/>
                </a:solidFill>
                <a:latin typeface="Noto Sans JP"/>
                <a:ea typeface="Noto Sans JP"/>
                <a:cs typeface="Noto Sans JP"/>
              </a:rPr>
              <a:t>季節別の傾向と運用上の示唆</a:t>
            </a:r>
          </a:p>
        </p:txBody>
      </p:sp>
      <p:sp>
        <p:nvSpPr>
          <p:cNvPr id="2" name="正方形/長方形 1">
            <a:extLst>
              <a:ext uri="{FF2B5EF4-FFF2-40B4-BE49-F238E27FC236}">
                <a16:creationId xmlns:a16="http://schemas.microsoft.com/office/drawing/2014/main" id="{AEA08873-A2E0-4A38-ABB9-1AEFEF4D2ABD}"/>
              </a:ext>
            </a:extLst>
          </p:cNvPr>
          <p:cNvSpPr>
            <a:spLocks noGrp="1"/>
          </p:cNvSpPr>
          <p:nvPr/>
        </p:nvSpPr>
        <p:spPr>
          <a:xfrm>
            <a:off x="571500" y="981075"/>
            <a:ext cx="11049000" cy="590550"/>
          </a:xfrm>
          <a:prstGeom prst="rect">
            <a:avLst/>
          </a:prstGeom>
          <a:noFill/>
          <a:ln w="0">
            <a:noFill/>
          </a:ln>
        </p:spPr>
        <p:txBody>
          <a:bodyPr>
            <a:noAutofit/>
          </a:bodyPr>
          <a:lstStyle/>
          <a:p>
            <a:pPr>
              <a:defRPr sz="1725" b="0">
                <a:solidFill>
                  <a:srgbClr val="59687B"/>
                </a:solidFill>
                <a:latin typeface="Noto Sans JP"/>
                <a:ea typeface="Noto Sans JP"/>
                <a:cs typeface="Noto Sans JP"/>
              </a:defRPr>
            </a:pPr>
            <a:r>
              <a:rPr sz="1725" b="0">
                <a:solidFill>
                  <a:srgbClr val="59687B"/>
                </a:solidFill>
                <a:latin typeface="Noto Sans JP"/>
                <a:ea typeface="Noto Sans JP"/>
                <a:cs typeface="Noto Sans JP"/>
              </a:rPr>
              <a:t>各季節の選択3週を集計。電力量はkWh／週、費用は万円／週</a:t>
            </a:r>
          </a:p>
        </p:txBody>
      </p:sp>
      <p:sp>
        <p:nvSpPr>
          <p:cNvPr id="3" name="正方形/長方形 2">
            <a:extLst>
              <a:ext uri="{FF2B5EF4-FFF2-40B4-BE49-F238E27FC236}">
                <a16:creationId xmlns:a16="http://schemas.microsoft.com/office/drawing/2014/main" id="{0F91E33B-5BE5-47F1-AE61-A46C46FCFFDE}"/>
              </a:ext>
            </a:extLst>
          </p:cNvPr>
          <p:cNvSpPr>
            <a:spLocks noGrp="1"/>
          </p:cNvSpPr>
          <p:nvPr/>
        </p:nvSpPr>
        <p:spPr>
          <a:xfrm>
            <a:off x="571500" y="5638800"/>
            <a:ext cx="11049000" cy="56197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夏は週間購入電力量が少なくPV抑制が多い。利用時刻の検証が必要</a:t>
            </a:r>
          </a:p>
        </p:txBody>
      </p:sp>
      <p:sp>
        <p:nvSpPr>
          <p:cNvPr id="4" name="正方形/長方形 3">
            <a:extLst>
              <a:ext uri="{FF2B5EF4-FFF2-40B4-BE49-F238E27FC236}">
                <a16:creationId xmlns:a16="http://schemas.microsoft.com/office/drawing/2014/main" id="{6DD7878A-DCA7-49A2-8A44-1B499E663ECD}"/>
              </a:ext>
            </a:extLst>
          </p:cNvPr>
          <p:cNvSpPr>
            <a:spLocks noGrp="1"/>
          </p:cNvSpPr>
          <p:nvPr/>
        </p:nvSpPr>
        <p:spPr>
          <a:xfrm>
            <a:off x="571500" y="6248400"/>
            <a:ext cx="11049000" cy="314325"/>
          </a:xfrm>
          <a:prstGeom prst="rect">
            <a:avLst/>
          </a:prstGeom>
          <a:noFill/>
          <a:ln w="0">
            <a:noFill/>
          </a:ln>
        </p:spPr>
        <p:txBody>
          <a:bodyPr>
            <a:noAutofit/>
          </a:bodyPr>
          <a:lstStyle/>
          <a:p>
            <a:pPr>
              <a:defRPr sz="1275" b="0">
                <a:solidFill>
                  <a:srgbClr val="7E4D36"/>
                </a:solidFill>
                <a:latin typeface="Noto Sans JP"/>
                <a:ea typeface="Noto Sans JP"/>
                <a:cs typeface="Noto Sans JP"/>
              </a:defRPr>
            </a:pPr>
            <a:r>
              <a:rPr sz="1275" b="0">
                <a:solidFill>
                  <a:srgbClr val="7E4D36"/>
                </a:solidFill>
                <a:latin typeface="Noto Sans JP"/>
                <a:ea typeface="Noto Sans JP"/>
                <a:cs typeface="Noto Sans JP"/>
              </a:rPr>
              <a:t>各季節3週の記述値。月・季節全体の平均や、統計的に有意な季節効果ではない。</a:t>
            </a:r>
          </a:p>
        </p:txBody>
      </p:sp>
      <p:sp>
        <p:nvSpPr>
          <p:cNvPr id="5" name="正方形/長方形 4">
            <a:extLst>
              <a:ext uri="{FF2B5EF4-FFF2-40B4-BE49-F238E27FC236}">
                <a16:creationId xmlns:a16="http://schemas.microsoft.com/office/drawing/2014/main" id="{759FF579-D4E2-437C-A717-FA2DBFCFA92B}"/>
              </a:ext>
            </a:extLst>
          </p:cNvPr>
          <p:cNvSpPr>
            <a:spLocks noGrp="1"/>
          </p:cNvSpPr>
          <p:nvPr/>
        </p:nvSpPr>
        <p:spPr>
          <a:xfrm>
            <a:off x="419100" y="6638925"/>
            <a:ext cx="10096500" cy="180975"/>
          </a:xfrm>
          <a:prstGeom prst="rect">
            <a:avLst/>
          </a:prstGeom>
          <a:noFill/>
          <a:ln w="0">
            <a:noFill/>
          </a:ln>
        </p:spPr>
        <p:txBody>
          <a:bodyPr>
            <a:noAutofit/>
          </a:bodyPr>
          <a:lstStyle/>
          <a:p>
            <a:pPr>
              <a:defRPr sz="900" b="0">
                <a:solidFill>
                  <a:srgbClr val="59687B"/>
                </a:solidFill>
                <a:latin typeface="Noto Sans JP"/>
                <a:ea typeface="Noto Sans JP"/>
                <a:cs typeface="Noto Sans JP"/>
              </a:defRPr>
            </a:pPr>
            <a:r>
              <a:rPr sz="900" b="0">
                <a:solidFill>
                  <a:srgbClr val="59687B"/>
                </a:solidFill>
                <a:latin typeface="Noto Sans JP"/>
                <a:ea typeface="Noto Sans JP"/>
                <a:cs typeface="Noto Sans JP"/>
              </a:rPr>
              <a:t>修士研究　2026年9月18日　／　月別12週のシミュレーション（診断結果）</a:t>
            </a:r>
          </a:p>
        </p:txBody>
      </p:sp>
      <p:sp>
        <p:nvSpPr>
          <p:cNvPr id="6" name="正方形/長方形 5">
            <a:extLst>
              <a:ext uri="{FF2B5EF4-FFF2-40B4-BE49-F238E27FC236}">
                <a16:creationId xmlns:a16="http://schemas.microsoft.com/office/drawing/2014/main" id="{FB4299AB-9164-43C5-B1AB-ED1DE2800A67}"/>
              </a:ext>
            </a:extLst>
          </p:cNvPr>
          <p:cNvSpPr>
            <a:spLocks noGrp="1"/>
          </p:cNvSpPr>
          <p:nvPr/>
        </p:nvSpPr>
        <p:spPr>
          <a:xfrm>
            <a:off x="11144250" y="6610350"/>
            <a:ext cx="628650" cy="228600"/>
          </a:xfrm>
          <a:prstGeom prst="rect">
            <a:avLst/>
          </a:prstGeom>
          <a:noFill/>
          <a:ln w="0">
            <a:noFill/>
          </a:ln>
        </p:spPr>
        <p:txBody>
          <a:bodyPr>
            <a:noAutofit/>
          </a:bodyPr>
          <a:lstStyle/>
          <a:p>
            <a:pPr>
              <a:defRPr sz="1050" b="0">
                <a:solidFill>
                  <a:srgbClr val="59687B"/>
                </a:solidFill>
                <a:latin typeface="Noto Sans JP"/>
                <a:ea typeface="Noto Sans JP"/>
                <a:cs typeface="Noto Sans JP"/>
              </a:defRPr>
            </a:pPr>
            <a:r>
              <a:rPr sz="1050" b="0">
                <a:solidFill>
                  <a:srgbClr val="59687B"/>
                </a:solidFill>
                <a:latin typeface="Noto Sans JP"/>
                <a:ea typeface="Noto Sans JP"/>
                <a:cs typeface="Noto Sans JP"/>
              </a:rPr>
              <a:t>17/24</a:t>
            </a:r>
          </a:p>
        </p:txBody>
      </p:sp>
      <p:graphicFrame>
        <p:nvGraphicFramePr>
          <p:cNvPr id="15" name="表 14"/>
          <p:cNvGraphicFramePr/>
          <p:nvPr/>
        </p:nvGraphicFramePr>
        <p:xfrm>
          <a:off x="571500" y="1695450"/>
          <a:ext cx="11049000" cy="2867025"/>
        </p:xfrm>
        <a:graphic>
          <a:graphicData uri="http://schemas.openxmlformats.org/drawingml/2006/table">
            <a:tbl>
              <a:tblPr/>
              <a:tblGrid>
                <a:gridCol w="1047750">
                  <a:extLst>
                    <a:ext uri="{9D8B030D-6E8A-4147-A177-3AD203B41FA5}">
                      <a16:colId xmlns:a16="http://schemas.microsoft.com/office/drawing/2014/main" val="20000"/>
                    </a:ext>
                  </a:extLst>
                </a:gridCol>
                <a:gridCol w="2667000">
                  <a:extLst>
                    <a:ext uri="{9D8B030D-6E8A-4147-A177-3AD203B41FA5}">
                      <a16:colId xmlns:a16="http://schemas.microsoft.com/office/drawing/2014/main" val="20001"/>
                    </a:ext>
                  </a:extLst>
                </a:gridCol>
                <a:gridCol w="2667000">
                  <a:extLst>
                    <a:ext uri="{9D8B030D-6E8A-4147-A177-3AD203B41FA5}">
                      <a16:colId xmlns:a16="http://schemas.microsoft.com/office/drawing/2014/main" val="20002"/>
                    </a:ext>
                  </a:extLst>
                </a:gridCol>
                <a:gridCol w="2857500">
                  <a:extLst>
                    <a:ext uri="{9D8B030D-6E8A-4147-A177-3AD203B41FA5}">
                      <a16:colId xmlns:a16="http://schemas.microsoft.com/office/drawing/2014/main" val="20003"/>
                    </a:ext>
                  </a:extLst>
                </a:gridCol>
                <a:gridCol w="1809750">
                  <a:extLst>
                    <a:ext uri="{9D8B030D-6E8A-4147-A177-3AD203B41FA5}">
                      <a16:colId xmlns:a16="http://schemas.microsoft.com/office/drawing/2014/main" val="20004"/>
                    </a:ext>
                  </a:extLst>
                </a:gridCol>
              </a:tblGrid>
              <a:tr h="573405">
                <a:tc>
                  <a:txBody>
                    <a:bodyPr/>
                    <a:lstStyle/>
                    <a:p>
                      <a:r>
                        <a:rPr sz="1575" b="1">
                          <a:solidFill>
                            <a:srgbClr val="FFFFFF"/>
                          </a:solidFill>
                          <a:latin typeface="Noto Sans JP"/>
                          <a:ea typeface="Noto Sans JP"/>
                          <a:cs typeface="Noto Sans JP"/>
                        </a:rPr>
                        <a:t>季節</a:t>
                      </a:r>
                    </a:p>
                  </a:txBody>
                  <a:tcPr>
                    <a:solidFill>
                      <a:srgbClr val="202B58"/>
                    </a:solidFill>
                  </a:tcPr>
                </a:tc>
                <a:tc>
                  <a:txBody>
                    <a:bodyPr/>
                    <a:lstStyle/>
                    <a:p>
                      <a:r>
                        <a:rPr sz="1575" b="1">
                          <a:solidFill>
                            <a:srgbClr val="FFFFFF"/>
                          </a:solidFill>
                          <a:latin typeface="Noto Sans JP"/>
                          <a:ea typeface="Noto Sans JP"/>
                          <a:cs typeface="Noto Sans JP"/>
                        </a:rPr>
                        <a:t>週間購入電力量の平均</a:t>
                      </a:r>
                    </a:p>
                  </a:txBody>
                  <a:tcPr>
                    <a:solidFill>
                      <a:srgbClr val="202B58"/>
                    </a:solidFill>
                  </a:tcPr>
                </a:tc>
                <a:tc>
                  <a:txBody>
                    <a:bodyPr/>
                    <a:lstStyle/>
                    <a:p>
                      <a:r>
                        <a:rPr sz="1575" b="1">
                          <a:solidFill>
                            <a:srgbClr val="FFFFFF"/>
                          </a:solidFill>
                          <a:latin typeface="Noto Sans JP"/>
                          <a:ea typeface="Noto Sans JP"/>
                          <a:cs typeface="Noto Sans JP"/>
                        </a:rPr>
                        <a:t>週間購入電力量の範囲</a:t>
                      </a:r>
                    </a:p>
                  </a:txBody>
                  <a:tcPr>
                    <a:solidFill>
                      <a:srgbClr val="202B58"/>
                    </a:solidFill>
                  </a:tcPr>
                </a:tc>
                <a:tc>
                  <a:txBody>
                    <a:bodyPr/>
                    <a:lstStyle/>
                    <a:p>
                      <a:r>
                        <a:rPr sz="1575" b="1">
                          <a:solidFill>
                            <a:srgbClr val="FFFFFF"/>
                          </a:solidFill>
                          <a:latin typeface="Noto Sans JP"/>
                          <a:ea typeface="Noto Sans JP"/>
                          <a:cs typeface="Noto Sans JP"/>
                        </a:rPr>
                        <a:t>週間費用の平均</a:t>
                      </a:r>
                    </a:p>
                  </a:txBody>
                  <a:tcPr>
                    <a:solidFill>
                      <a:srgbClr val="202B58"/>
                    </a:solidFill>
                  </a:tcPr>
                </a:tc>
                <a:tc>
                  <a:txBody>
                    <a:bodyPr/>
                    <a:lstStyle/>
                    <a:p>
                      <a:r>
                        <a:rPr sz="1575" b="1">
                          <a:solidFill>
                            <a:srgbClr val="FFFFFF"/>
                          </a:solidFill>
                          <a:latin typeface="Noto Sans JP"/>
                          <a:ea typeface="Noto Sans JP"/>
                          <a:cs typeface="Noto Sans JP"/>
                        </a:rPr>
                        <a:t>PV抑制率</a:t>
                      </a:r>
                    </a:p>
                  </a:txBody>
                  <a:tcPr>
                    <a:solidFill>
                      <a:srgbClr val="202B58"/>
                    </a:solidFill>
                  </a:tcPr>
                </a:tc>
                <a:extLst>
                  <a:ext uri="{0D108BD9-81ED-4DB2-BD59-A6C34878D82A}">
                    <a16:rowId xmlns:a16="http://schemas.microsoft.com/office/drawing/2014/main" val="10000"/>
                  </a:ext>
                </a:extLst>
              </a:tr>
              <a:tr h="573405">
                <a:tc>
                  <a:txBody>
                    <a:bodyPr/>
                    <a:lstStyle/>
                    <a:p>
                      <a:r>
                        <a:rPr sz="1575" b="0">
                          <a:solidFill>
                            <a:srgbClr val="202B58"/>
                          </a:solidFill>
                          <a:latin typeface="Noto Sans JP"/>
                          <a:ea typeface="Noto Sans JP"/>
                          <a:cs typeface="Noto Sans JP"/>
                        </a:rPr>
                        <a:t>冬</a:t>
                      </a:r>
                    </a:p>
                  </a:txBody>
                  <a:tcPr>
                    <a:solidFill>
                      <a:srgbClr val="F1F5F8"/>
                    </a:solidFill>
                  </a:tcPr>
                </a:tc>
                <a:tc>
                  <a:txBody>
                    <a:bodyPr/>
                    <a:lstStyle/>
                    <a:p>
                      <a:r>
                        <a:rPr sz="1575" b="0">
                          <a:solidFill>
                            <a:srgbClr val="202B58"/>
                          </a:solidFill>
                          <a:latin typeface="Noto Sans JP"/>
                          <a:ea typeface="Noto Sans JP"/>
                          <a:cs typeface="Noto Sans JP"/>
                        </a:rPr>
                        <a:t>4,480</a:t>
                      </a:r>
                    </a:p>
                  </a:txBody>
                  <a:tcPr>
                    <a:solidFill>
                      <a:srgbClr val="F1F5F8"/>
                    </a:solidFill>
                  </a:tcPr>
                </a:tc>
                <a:tc>
                  <a:txBody>
                    <a:bodyPr/>
                    <a:lstStyle/>
                    <a:p>
                      <a:r>
                        <a:rPr sz="1575" b="0">
                          <a:solidFill>
                            <a:srgbClr val="202B58"/>
                          </a:solidFill>
                          <a:latin typeface="Noto Sans JP"/>
                          <a:ea typeface="Noto Sans JP"/>
                          <a:cs typeface="Noto Sans JP"/>
                        </a:rPr>
                        <a:t>2,124〜5,695</a:t>
                      </a:r>
                    </a:p>
                  </a:txBody>
                  <a:tcPr>
                    <a:solidFill>
                      <a:srgbClr val="F1F5F8"/>
                    </a:solidFill>
                  </a:tcPr>
                </a:tc>
                <a:tc>
                  <a:txBody>
                    <a:bodyPr/>
                    <a:lstStyle/>
                    <a:p>
                      <a:r>
                        <a:rPr sz="1575" b="0">
                          <a:solidFill>
                            <a:srgbClr val="202B58"/>
                          </a:solidFill>
                          <a:latin typeface="Noto Sans JP"/>
                          <a:ea typeface="Noto Sans JP"/>
                          <a:cs typeface="Noto Sans JP"/>
                        </a:rPr>
                        <a:t>432.7</a:t>
                      </a:r>
                    </a:p>
                  </a:txBody>
                  <a:tcPr>
                    <a:solidFill>
                      <a:srgbClr val="F1F5F8"/>
                    </a:solidFill>
                  </a:tcPr>
                </a:tc>
                <a:tc>
                  <a:txBody>
                    <a:bodyPr/>
                    <a:lstStyle/>
                    <a:p>
                      <a:r>
                        <a:rPr sz="1575" b="0">
                          <a:solidFill>
                            <a:srgbClr val="202B58"/>
                          </a:solidFill>
                          <a:latin typeface="Noto Sans JP"/>
                          <a:ea typeface="Noto Sans JP"/>
                          <a:cs typeface="Noto Sans JP"/>
                        </a:rPr>
                        <a:t>14.9%</a:t>
                      </a:r>
                    </a:p>
                  </a:txBody>
                  <a:tcPr>
                    <a:solidFill>
                      <a:srgbClr val="F1F5F8"/>
                    </a:solidFill>
                  </a:tcPr>
                </a:tc>
                <a:extLst>
                  <a:ext uri="{0D108BD9-81ED-4DB2-BD59-A6C34878D82A}">
                    <a16:rowId xmlns:a16="http://schemas.microsoft.com/office/drawing/2014/main" val="10001"/>
                  </a:ext>
                </a:extLst>
              </a:tr>
              <a:tr h="573405">
                <a:tc>
                  <a:txBody>
                    <a:bodyPr/>
                    <a:lstStyle/>
                    <a:p>
                      <a:r>
                        <a:rPr sz="1575" b="0">
                          <a:solidFill>
                            <a:srgbClr val="202B58"/>
                          </a:solidFill>
                          <a:latin typeface="Noto Sans JP"/>
                          <a:ea typeface="Noto Sans JP"/>
                          <a:cs typeface="Noto Sans JP"/>
                        </a:rPr>
                        <a:t>春</a:t>
                      </a:r>
                    </a:p>
                  </a:txBody>
                  <a:tcPr>
                    <a:solidFill>
                      <a:srgbClr val="FFFFFF"/>
                    </a:solidFill>
                  </a:tcPr>
                </a:tc>
                <a:tc>
                  <a:txBody>
                    <a:bodyPr/>
                    <a:lstStyle/>
                    <a:p>
                      <a:r>
                        <a:rPr sz="1575" b="0">
                          <a:solidFill>
                            <a:srgbClr val="202B58"/>
                          </a:solidFill>
                          <a:latin typeface="Noto Sans JP"/>
                          <a:ea typeface="Noto Sans JP"/>
                          <a:cs typeface="Noto Sans JP"/>
                        </a:rPr>
                        <a:t>4,828</a:t>
                      </a:r>
                    </a:p>
                  </a:txBody>
                  <a:tcPr>
                    <a:solidFill>
                      <a:srgbClr val="FFFFFF"/>
                    </a:solidFill>
                  </a:tcPr>
                </a:tc>
                <a:tc>
                  <a:txBody>
                    <a:bodyPr/>
                    <a:lstStyle/>
                    <a:p>
                      <a:r>
                        <a:rPr sz="1575" b="0">
                          <a:solidFill>
                            <a:srgbClr val="202B58"/>
                          </a:solidFill>
                          <a:latin typeface="Noto Sans JP"/>
                          <a:ea typeface="Noto Sans JP"/>
                          <a:cs typeface="Noto Sans JP"/>
                        </a:rPr>
                        <a:t>2,707〜7,794</a:t>
                      </a:r>
                    </a:p>
                  </a:txBody>
                  <a:tcPr>
                    <a:solidFill>
                      <a:srgbClr val="FFFFFF"/>
                    </a:solidFill>
                  </a:tcPr>
                </a:tc>
                <a:tc>
                  <a:txBody>
                    <a:bodyPr/>
                    <a:lstStyle/>
                    <a:p>
                      <a:r>
                        <a:rPr sz="1575" b="0">
                          <a:solidFill>
                            <a:srgbClr val="202B58"/>
                          </a:solidFill>
                          <a:latin typeface="Noto Sans JP"/>
                          <a:ea typeface="Noto Sans JP"/>
                          <a:cs typeface="Noto Sans JP"/>
                        </a:rPr>
                        <a:t>446.2</a:t>
                      </a:r>
                    </a:p>
                  </a:txBody>
                  <a:tcPr>
                    <a:solidFill>
                      <a:srgbClr val="FFFFFF"/>
                    </a:solidFill>
                  </a:tcPr>
                </a:tc>
                <a:tc>
                  <a:txBody>
                    <a:bodyPr/>
                    <a:lstStyle/>
                    <a:p>
                      <a:r>
                        <a:rPr sz="1575" b="0">
                          <a:solidFill>
                            <a:srgbClr val="202B58"/>
                          </a:solidFill>
                          <a:latin typeface="Noto Sans JP"/>
                          <a:ea typeface="Noto Sans JP"/>
                          <a:cs typeface="Noto Sans JP"/>
                        </a:rPr>
                        <a:t>35.9%</a:t>
                      </a:r>
                    </a:p>
                  </a:txBody>
                  <a:tcPr>
                    <a:solidFill>
                      <a:srgbClr val="FFFFFF"/>
                    </a:solidFill>
                  </a:tcPr>
                </a:tc>
                <a:extLst>
                  <a:ext uri="{0D108BD9-81ED-4DB2-BD59-A6C34878D82A}">
                    <a16:rowId xmlns:a16="http://schemas.microsoft.com/office/drawing/2014/main" val="10002"/>
                  </a:ext>
                </a:extLst>
              </a:tr>
              <a:tr h="573405">
                <a:tc>
                  <a:txBody>
                    <a:bodyPr/>
                    <a:lstStyle/>
                    <a:p>
                      <a:r>
                        <a:rPr sz="1575" b="0">
                          <a:solidFill>
                            <a:srgbClr val="202B58"/>
                          </a:solidFill>
                          <a:latin typeface="Noto Sans JP"/>
                          <a:ea typeface="Noto Sans JP"/>
                          <a:cs typeface="Noto Sans JP"/>
                        </a:rPr>
                        <a:t>夏</a:t>
                      </a:r>
                    </a:p>
                  </a:txBody>
                  <a:tcPr>
                    <a:solidFill>
                      <a:srgbClr val="F1F5F8"/>
                    </a:solidFill>
                  </a:tcPr>
                </a:tc>
                <a:tc>
                  <a:txBody>
                    <a:bodyPr/>
                    <a:lstStyle/>
                    <a:p>
                      <a:r>
                        <a:rPr sz="1575" b="0">
                          <a:solidFill>
                            <a:srgbClr val="202B58"/>
                          </a:solidFill>
                          <a:latin typeface="Noto Sans JP"/>
                          <a:ea typeface="Noto Sans JP"/>
                          <a:cs typeface="Noto Sans JP"/>
                        </a:rPr>
                        <a:t>2,425</a:t>
                      </a:r>
                    </a:p>
                  </a:txBody>
                  <a:tcPr>
                    <a:solidFill>
                      <a:srgbClr val="F1F5F8"/>
                    </a:solidFill>
                  </a:tcPr>
                </a:tc>
                <a:tc>
                  <a:txBody>
                    <a:bodyPr/>
                    <a:lstStyle/>
                    <a:p>
                      <a:r>
                        <a:rPr sz="1575" b="0">
                          <a:solidFill>
                            <a:srgbClr val="202B58"/>
                          </a:solidFill>
                          <a:latin typeface="Noto Sans JP"/>
                          <a:ea typeface="Noto Sans JP"/>
                          <a:cs typeface="Noto Sans JP"/>
                        </a:rPr>
                        <a:t>1,746〜2,805</a:t>
                      </a:r>
                    </a:p>
                  </a:txBody>
                  <a:tcPr>
                    <a:solidFill>
                      <a:srgbClr val="F1F5F8"/>
                    </a:solidFill>
                  </a:tcPr>
                </a:tc>
                <a:tc>
                  <a:txBody>
                    <a:bodyPr/>
                    <a:lstStyle/>
                    <a:p>
                      <a:r>
                        <a:rPr sz="1575" b="0">
                          <a:solidFill>
                            <a:srgbClr val="202B58"/>
                          </a:solidFill>
                          <a:latin typeface="Noto Sans JP"/>
                          <a:ea typeface="Noto Sans JP"/>
                          <a:cs typeface="Noto Sans JP"/>
                        </a:rPr>
                        <a:t>428.6</a:t>
                      </a:r>
                    </a:p>
                  </a:txBody>
                  <a:tcPr>
                    <a:solidFill>
                      <a:srgbClr val="F1F5F8"/>
                    </a:solidFill>
                  </a:tcPr>
                </a:tc>
                <a:tc>
                  <a:txBody>
                    <a:bodyPr/>
                    <a:lstStyle/>
                    <a:p>
                      <a:r>
                        <a:rPr sz="1575" b="0">
                          <a:solidFill>
                            <a:srgbClr val="202B58"/>
                          </a:solidFill>
                          <a:latin typeface="Noto Sans JP"/>
                          <a:ea typeface="Noto Sans JP"/>
                          <a:cs typeface="Noto Sans JP"/>
                        </a:rPr>
                        <a:t>45.3%</a:t>
                      </a:r>
                    </a:p>
                  </a:txBody>
                  <a:tcPr>
                    <a:solidFill>
                      <a:srgbClr val="F1F5F8"/>
                    </a:solidFill>
                  </a:tcPr>
                </a:tc>
                <a:extLst>
                  <a:ext uri="{0D108BD9-81ED-4DB2-BD59-A6C34878D82A}">
                    <a16:rowId xmlns:a16="http://schemas.microsoft.com/office/drawing/2014/main" val="10003"/>
                  </a:ext>
                </a:extLst>
              </a:tr>
              <a:tr h="573405">
                <a:tc>
                  <a:txBody>
                    <a:bodyPr/>
                    <a:lstStyle/>
                    <a:p>
                      <a:r>
                        <a:rPr sz="1575" b="0">
                          <a:solidFill>
                            <a:srgbClr val="202B58"/>
                          </a:solidFill>
                          <a:latin typeface="Noto Sans JP"/>
                          <a:ea typeface="Noto Sans JP"/>
                          <a:cs typeface="Noto Sans JP"/>
                        </a:rPr>
                        <a:t>秋</a:t>
                      </a:r>
                    </a:p>
                  </a:txBody>
                  <a:tcPr>
                    <a:solidFill>
                      <a:srgbClr val="FFFFFF"/>
                    </a:solidFill>
                  </a:tcPr>
                </a:tc>
                <a:tc>
                  <a:txBody>
                    <a:bodyPr/>
                    <a:lstStyle/>
                    <a:p>
                      <a:r>
                        <a:rPr sz="1575" b="0">
                          <a:solidFill>
                            <a:srgbClr val="202B58"/>
                          </a:solidFill>
                          <a:latin typeface="Noto Sans JP"/>
                          <a:ea typeface="Noto Sans JP"/>
                          <a:cs typeface="Noto Sans JP"/>
                        </a:rPr>
                        <a:t>5,072</a:t>
                      </a:r>
                    </a:p>
                  </a:txBody>
                  <a:tcPr>
                    <a:solidFill>
                      <a:srgbClr val="FFFFFF"/>
                    </a:solidFill>
                  </a:tcPr>
                </a:tc>
                <a:tc>
                  <a:txBody>
                    <a:bodyPr/>
                    <a:lstStyle/>
                    <a:p>
                      <a:r>
                        <a:rPr sz="1575" b="0">
                          <a:solidFill>
                            <a:srgbClr val="202B58"/>
                          </a:solidFill>
                          <a:latin typeface="Noto Sans JP"/>
                          <a:ea typeface="Noto Sans JP"/>
                          <a:cs typeface="Noto Sans JP"/>
                        </a:rPr>
                        <a:t>3,619〜7,302</a:t>
                      </a:r>
                    </a:p>
                  </a:txBody>
                  <a:tcPr>
                    <a:solidFill>
                      <a:srgbClr val="FFFFFF"/>
                    </a:solidFill>
                  </a:tcPr>
                </a:tc>
                <a:tc>
                  <a:txBody>
                    <a:bodyPr/>
                    <a:lstStyle/>
                    <a:p>
                      <a:r>
                        <a:rPr sz="1575" b="0">
                          <a:solidFill>
                            <a:srgbClr val="202B58"/>
                          </a:solidFill>
                          <a:latin typeface="Noto Sans JP"/>
                          <a:ea typeface="Noto Sans JP"/>
                          <a:cs typeface="Noto Sans JP"/>
                        </a:rPr>
                        <a:t>433.8</a:t>
                      </a:r>
                    </a:p>
                  </a:txBody>
                  <a:tcPr>
                    <a:solidFill>
                      <a:srgbClr val="FFFFFF"/>
                    </a:solidFill>
                  </a:tcPr>
                </a:tc>
                <a:tc>
                  <a:txBody>
                    <a:bodyPr/>
                    <a:lstStyle/>
                    <a:p>
                      <a:r>
                        <a:rPr sz="1575" b="0">
                          <a:solidFill>
                            <a:srgbClr val="202B58"/>
                          </a:solidFill>
                          <a:latin typeface="Noto Sans JP"/>
                          <a:ea typeface="Noto Sans JP"/>
                          <a:cs typeface="Noto Sans JP"/>
                        </a:rPr>
                        <a:t>29.7%</a:t>
                      </a:r>
                    </a:p>
                  </a:txBody>
                  <a:tcPr>
                    <a:solidFill>
                      <a:srgbClr val="FFFFFF"/>
                    </a:solidFill>
                  </a:tcPr>
                </a:tc>
                <a:extLst>
                  <a:ext uri="{0D108BD9-81ED-4DB2-BD59-A6C34878D82A}">
                    <a16:rowId xmlns:a16="http://schemas.microsoft.com/office/drawing/2014/main" val="10004"/>
                  </a:ext>
                </a:extLst>
              </a:tr>
            </a:tbl>
          </a:graphicData>
        </a:graphic>
      </p:graphicFrame>
      <p:sp>
        <p:nvSpPr>
          <p:cNvPr id="8" name="正方形/長方形 7">
            <a:extLst>
              <a:ext uri="{FF2B5EF4-FFF2-40B4-BE49-F238E27FC236}">
                <a16:creationId xmlns:a16="http://schemas.microsoft.com/office/drawing/2014/main" id="{F717F6DE-0A04-4012-AC10-F8807296B94B}"/>
              </a:ext>
            </a:extLst>
          </p:cNvPr>
          <p:cNvSpPr>
            <a:spLocks noGrp="1"/>
          </p:cNvSpPr>
          <p:nvPr/>
        </p:nvSpPr>
        <p:spPr>
          <a:xfrm>
            <a:off x="685800" y="4972050"/>
            <a:ext cx="10810875" cy="466725"/>
          </a:xfrm>
          <a:prstGeom prst="rect">
            <a:avLst/>
          </a:prstGeom>
          <a:noFill/>
          <a:ln w="0">
            <a:noFill/>
          </a:ln>
        </p:spPr>
        <p:txBody>
          <a:bodyPr>
            <a:noAutofit/>
          </a:bodyPr>
          <a:lstStyle/>
          <a:p>
            <a:pPr>
              <a:defRPr sz="1575" b="0">
                <a:solidFill>
                  <a:srgbClr val="59687B"/>
                </a:solidFill>
                <a:latin typeface="Noto Sans JP"/>
                <a:ea typeface="Noto Sans JP"/>
                <a:cs typeface="Noto Sans JP"/>
              </a:defRPr>
            </a:pPr>
            <a:r>
              <a:rPr sz="1575" b="0">
                <a:solidFill>
                  <a:srgbClr val="59687B"/>
                </a:solidFill>
                <a:latin typeface="Noto Sans JP"/>
                <a:ea typeface="Noto Sans JP"/>
                <a:cs typeface="Noto Sans JP"/>
              </a:rPr>
              <a:t>冬12・1・2月、春3〜5月、夏6〜8月、秋9〜11月。3月の選択週の日射量は月平均比 −35.2%。</a:t>
            </a:r>
          </a:p>
        </p:txBody>
      </p:sp>
    </p:spTree>
    <p:extLst>
      <p:ext uri="{BB962C8B-B14F-4D97-AF65-F5344CB8AC3E}">
        <p14:creationId xmlns:p14="http://schemas.microsoft.com/office/powerpoint/2010/main" val="14598291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01167840-BE88-4AA7-ADB5-21F39CAC8A18}"/>
              </a:ext>
            </a:extLst>
          </p:cNvPr>
          <p:cNvSpPr>
            <a:spLocks noGrp="1"/>
          </p:cNvSpPr>
          <p:nvPr/>
        </p:nvSpPr>
        <p:spPr>
          <a:xfrm>
            <a:off x="419100" y="228600"/>
            <a:ext cx="11353800" cy="609600"/>
          </a:xfrm>
          <a:prstGeom prst="rect">
            <a:avLst/>
          </a:prstGeom>
          <a:noFill/>
          <a:ln w="0">
            <a:noFill/>
          </a:ln>
        </p:spPr>
        <p:txBody>
          <a:bodyPr>
            <a:noAutofit/>
          </a:bodyPr>
          <a:lstStyle/>
          <a:p>
            <a:pPr>
              <a:defRPr sz="2625" b="1">
                <a:solidFill>
                  <a:srgbClr val="202B58"/>
                </a:solidFill>
                <a:latin typeface="Noto Sans JP"/>
                <a:ea typeface="Noto Sans JP"/>
                <a:cs typeface="Noto Sans JP"/>
              </a:defRPr>
            </a:pPr>
            <a:r>
              <a:rPr sz="2625" b="1">
                <a:solidFill>
                  <a:srgbClr val="202B58"/>
                </a:solidFill>
                <a:latin typeface="Noto Sans JP"/>
                <a:ea typeface="Noto Sans JP"/>
                <a:cs typeface="Noto Sans JP"/>
              </a:rPr>
              <a:t>今回の回答と、次に確かめること</a:t>
            </a:r>
          </a:p>
        </p:txBody>
      </p:sp>
      <p:sp>
        <p:nvSpPr>
          <p:cNvPr id="2" name="正方形/長方形 1">
            <a:extLst>
              <a:ext uri="{FF2B5EF4-FFF2-40B4-BE49-F238E27FC236}">
                <a16:creationId xmlns:a16="http://schemas.microsoft.com/office/drawing/2014/main" id="{7C43D3AE-F6DC-47D2-B0FD-0E1C1E35D60E}"/>
              </a:ext>
            </a:extLst>
          </p:cNvPr>
          <p:cNvSpPr>
            <a:spLocks noGrp="1"/>
          </p:cNvSpPr>
          <p:nvPr/>
        </p:nvSpPr>
        <p:spPr>
          <a:xfrm>
            <a:off x="571500" y="981075"/>
            <a:ext cx="11049000" cy="590550"/>
          </a:xfrm>
          <a:prstGeom prst="rect">
            <a:avLst/>
          </a:prstGeom>
          <a:noFill/>
          <a:ln w="0">
            <a:noFill/>
          </a:ln>
        </p:spPr>
        <p:txBody>
          <a:bodyPr>
            <a:noAutofit/>
          </a:bodyPr>
          <a:lstStyle/>
          <a:p>
            <a:pPr>
              <a:defRPr sz="1725" b="0">
                <a:solidFill>
                  <a:srgbClr val="59687B"/>
                </a:solidFill>
                <a:latin typeface="Noto Sans JP"/>
                <a:ea typeface="Noto Sans JP"/>
                <a:cs typeface="Noto Sans JP"/>
              </a:defRPr>
            </a:pPr>
            <a:r>
              <a:rPr sz="1725" b="0">
                <a:solidFill>
                  <a:srgbClr val="59687B"/>
                </a:solidFill>
                <a:latin typeface="Noto Sans JP"/>
                <a:ea typeface="Noto Sans JP"/>
                <a:cs typeface="Noto Sans JP"/>
              </a:rPr>
              <a:t>費用差を理解するには、購入した総量と時間的な集中の両方を見る</a:t>
            </a:r>
          </a:p>
        </p:txBody>
      </p:sp>
      <p:sp>
        <p:nvSpPr>
          <p:cNvPr id="3" name="正方形/長方形 2">
            <a:extLst>
              <a:ext uri="{FF2B5EF4-FFF2-40B4-BE49-F238E27FC236}">
                <a16:creationId xmlns:a16="http://schemas.microsoft.com/office/drawing/2014/main" id="{8F3E5ECE-A87B-4E43-937A-2EEB0DCE1111}"/>
              </a:ext>
            </a:extLst>
          </p:cNvPr>
          <p:cNvSpPr>
            <a:spLocks noGrp="1"/>
          </p:cNvSpPr>
          <p:nvPr/>
        </p:nvSpPr>
        <p:spPr>
          <a:xfrm>
            <a:off x="571500" y="5638800"/>
            <a:ext cx="11049000" cy="56197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同じ週の基準運用と比較し、避けられる超過ペナルティを測ることが次の課題</a:t>
            </a:r>
          </a:p>
        </p:txBody>
      </p:sp>
      <p:sp>
        <p:nvSpPr>
          <p:cNvPr id="4" name="正方形/長方形 3">
            <a:extLst>
              <a:ext uri="{FF2B5EF4-FFF2-40B4-BE49-F238E27FC236}">
                <a16:creationId xmlns:a16="http://schemas.microsoft.com/office/drawing/2014/main" id="{46DCC450-1074-4357-A3A9-E58517BB5045}"/>
              </a:ext>
            </a:extLst>
          </p:cNvPr>
          <p:cNvSpPr>
            <a:spLocks noGrp="1"/>
          </p:cNvSpPr>
          <p:nvPr/>
        </p:nvSpPr>
        <p:spPr>
          <a:xfrm>
            <a:off x="571500" y="6248400"/>
            <a:ext cx="11049000" cy="314325"/>
          </a:xfrm>
          <a:prstGeom prst="rect">
            <a:avLst/>
          </a:prstGeom>
          <a:noFill/>
          <a:ln w="0">
            <a:noFill/>
          </a:ln>
        </p:spPr>
        <p:txBody>
          <a:bodyPr>
            <a:noAutofit/>
          </a:bodyPr>
          <a:lstStyle/>
          <a:p>
            <a:pPr>
              <a:defRPr sz="1275" b="0">
                <a:solidFill>
                  <a:srgbClr val="7E4D36"/>
                </a:solidFill>
                <a:latin typeface="Noto Sans JP"/>
                <a:ea typeface="Noto Sans JP"/>
                <a:cs typeface="Noto Sans JP"/>
              </a:defRPr>
            </a:pPr>
            <a:r>
              <a:rPr sz="1275" b="0">
                <a:solidFill>
                  <a:srgbClr val="7E4D36"/>
                </a:solidFill>
                <a:latin typeface="Noto Sans JP"/>
                <a:ea typeface="Noto Sans JP"/>
                <a:cs typeface="Noto Sans JP"/>
              </a:rPr>
              <a:t>手法の優位性・季節の因果効果・統合全体最適性は未証明。次の実験は未実施。</a:t>
            </a:r>
          </a:p>
        </p:txBody>
      </p:sp>
      <p:sp>
        <p:nvSpPr>
          <p:cNvPr id="5" name="正方形/長方形 4">
            <a:extLst>
              <a:ext uri="{FF2B5EF4-FFF2-40B4-BE49-F238E27FC236}">
                <a16:creationId xmlns:a16="http://schemas.microsoft.com/office/drawing/2014/main" id="{FCAF0D15-940A-4651-B919-E82CD18D8DD8}"/>
              </a:ext>
            </a:extLst>
          </p:cNvPr>
          <p:cNvSpPr>
            <a:spLocks noGrp="1"/>
          </p:cNvSpPr>
          <p:nvPr/>
        </p:nvSpPr>
        <p:spPr>
          <a:xfrm>
            <a:off x="419100" y="6638925"/>
            <a:ext cx="10096500" cy="180975"/>
          </a:xfrm>
          <a:prstGeom prst="rect">
            <a:avLst/>
          </a:prstGeom>
          <a:noFill/>
          <a:ln w="0">
            <a:noFill/>
          </a:ln>
        </p:spPr>
        <p:txBody>
          <a:bodyPr>
            <a:noAutofit/>
          </a:bodyPr>
          <a:lstStyle/>
          <a:p>
            <a:pPr>
              <a:defRPr sz="900" b="0">
                <a:solidFill>
                  <a:srgbClr val="59687B"/>
                </a:solidFill>
                <a:latin typeface="Noto Sans JP"/>
                <a:ea typeface="Noto Sans JP"/>
                <a:cs typeface="Noto Sans JP"/>
              </a:defRPr>
            </a:pPr>
            <a:r>
              <a:rPr sz="900" b="0">
                <a:solidFill>
                  <a:srgbClr val="59687B"/>
                </a:solidFill>
                <a:latin typeface="Noto Sans JP"/>
                <a:ea typeface="Noto Sans JP"/>
                <a:cs typeface="Noto Sans JP"/>
              </a:rPr>
              <a:t>修士研究　2026年9月18日　／　月別12週のシミュレーション（診断結果）</a:t>
            </a:r>
          </a:p>
        </p:txBody>
      </p:sp>
      <p:sp>
        <p:nvSpPr>
          <p:cNvPr id="6" name="正方形/長方形 5">
            <a:extLst>
              <a:ext uri="{FF2B5EF4-FFF2-40B4-BE49-F238E27FC236}">
                <a16:creationId xmlns:a16="http://schemas.microsoft.com/office/drawing/2014/main" id="{6025591C-0C83-42E3-828E-B2E762F9A5C6}"/>
              </a:ext>
            </a:extLst>
          </p:cNvPr>
          <p:cNvSpPr>
            <a:spLocks noGrp="1"/>
          </p:cNvSpPr>
          <p:nvPr/>
        </p:nvSpPr>
        <p:spPr>
          <a:xfrm>
            <a:off x="11144250" y="6610350"/>
            <a:ext cx="628650" cy="228600"/>
          </a:xfrm>
          <a:prstGeom prst="rect">
            <a:avLst/>
          </a:prstGeom>
          <a:noFill/>
          <a:ln w="0">
            <a:noFill/>
          </a:ln>
        </p:spPr>
        <p:txBody>
          <a:bodyPr>
            <a:noAutofit/>
          </a:bodyPr>
          <a:lstStyle/>
          <a:p>
            <a:pPr>
              <a:defRPr sz="1050" b="0">
                <a:solidFill>
                  <a:srgbClr val="59687B"/>
                </a:solidFill>
                <a:latin typeface="Noto Sans JP"/>
                <a:ea typeface="Noto Sans JP"/>
                <a:cs typeface="Noto Sans JP"/>
              </a:defRPr>
            </a:pPr>
            <a:r>
              <a:rPr sz="1050" b="0">
                <a:solidFill>
                  <a:srgbClr val="59687B"/>
                </a:solidFill>
                <a:latin typeface="Noto Sans JP"/>
                <a:ea typeface="Noto Sans JP"/>
                <a:cs typeface="Noto Sans JP"/>
              </a:rPr>
              <a:t>18/24</a:t>
            </a:r>
          </a:p>
        </p:txBody>
      </p:sp>
      <p:graphicFrame>
        <p:nvGraphicFramePr>
          <p:cNvPr id="15" name="表 14"/>
          <p:cNvGraphicFramePr/>
          <p:nvPr/>
        </p:nvGraphicFramePr>
        <p:xfrm>
          <a:off x="571500" y="1695450"/>
          <a:ext cx="11049000" cy="2686052"/>
        </p:xfrm>
        <a:graphic>
          <a:graphicData uri="http://schemas.openxmlformats.org/drawingml/2006/table">
            <a:tbl>
              <a:tblPr/>
              <a:tblGrid>
                <a:gridCol w="3762375">
                  <a:extLst>
                    <a:ext uri="{9D8B030D-6E8A-4147-A177-3AD203B41FA5}">
                      <a16:colId xmlns:a16="http://schemas.microsoft.com/office/drawing/2014/main" val="20000"/>
                    </a:ext>
                  </a:extLst>
                </a:gridCol>
                <a:gridCol w="7286625">
                  <a:extLst>
                    <a:ext uri="{9D8B030D-6E8A-4147-A177-3AD203B41FA5}">
                      <a16:colId xmlns:a16="http://schemas.microsoft.com/office/drawing/2014/main" val="20001"/>
                    </a:ext>
                  </a:extLst>
                </a:gridCol>
              </a:tblGrid>
              <a:tr h="671513">
                <a:tc>
                  <a:txBody>
                    <a:bodyPr/>
                    <a:lstStyle/>
                    <a:p>
                      <a:r>
                        <a:rPr sz="1725" b="1">
                          <a:solidFill>
                            <a:srgbClr val="FFFFFF"/>
                          </a:solidFill>
                          <a:latin typeface="Noto Sans JP"/>
                          <a:ea typeface="Noto Sans JP"/>
                          <a:cs typeface="Noto Sans JP"/>
                        </a:rPr>
                        <a:t>先生のご質問</a:t>
                      </a:r>
                    </a:p>
                  </a:txBody>
                  <a:tcPr>
                    <a:solidFill>
                      <a:srgbClr val="202B58"/>
                    </a:solidFill>
                  </a:tcPr>
                </a:tc>
                <a:tc>
                  <a:txBody>
                    <a:bodyPr/>
                    <a:lstStyle/>
                    <a:p>
                      <a:r>
                        <a:rPr sz="1725" b="1">
                          <a:solidFill>
                            <a:srgbClr val="FFFFFF"/>
                          </a:solidFill>
                          <a:latin typeface="Noto Sans JP"/>
                          <a:ea typeface="Noto Sans JP"/>
                          <a:cs typeface="Noto Sans JP"/>
                        </a:rPr>
                        <a:t>データに基づく回答</a:t>
                      </a:r>
                    </a:p>
                  </a:txBody>
                  <a:tcPr>
                    <a:solidFill>
                      <a:srgbClr val="202B58"/>
                    </a:solidFill>
                  </a:tcPr>
                </a:tc>
                <a:extLst>
                  <a:ext uri="{0D108BD9-81ED-4DB2-BD59-A6C34878D82A}">
                    <a16:rowId xmlns:a16="http://schemas.microsoft.com/office/drawing/2014/main" val="10000"/>
                  </a:ext>
                </a:extLst>
              </a:tr>
              <a:tr h="671513">
                <a:tc>
                  <a:txBody>
                    <a:bodyPr/>
                    <a:lstStyle/>
                    <a:p>
                      <a:r>
                        <a:rPr sz="1725" b="0">
                          <a:solidFill>
                            <a:srgbClr val="202B58"/>
                          </a:solidFill>
                          <a:latin typeface="Noto Sans JP"/>
                          <a:ea typeface="Noto Sans JP"/>
                          <a:cs typeface="Noto Sans JP"/>
                        </a:rPr>
                        <a:t>11月は一時的な不足か</a:t>
                      </a:r>
                    </a:p>
                  </a:txBody>
                  <a:tcPr>
                    <a:solidFill>
                      <a:srgbClr val="F1F5F8"/>
                    </a:solidFill>
                  </a:tcPr>
                </a:tc>
                <a:tc>
                  <a:txBody>
                    <a:bodyPr/>
                    <a:lstStyle/>
                    <a:p>
                      <a:r>
                        <a:rPr sz="1725" b="0">
                          <a:solidFill>
                            <a:srgbClr val="202B58"/>
                          </a:solidFill>
                          <a:latin typeface="Noto Sans JP"/>
                          <a:ea typeface="Noto Sans JP"/>
                          <a:cs typeface="Noto Sans JP"/>
                        </a:rPr>
                        <a:t>購入は7日すべて。200 kW超過分は一晩に集中</a:t>
                      </a:r>
                    </a:p>
                  </a:txBody>
                  <a:tcPr>
                    <a:solidFill>
                      <a:srgbClr val="F1F5F8"/>
                    </a:solidFill>
                  </a:tcPr>
                </a:tc>
                <a:extLst>
                  <a:ext uri="{0D108BD9-81ED-4DB2-BD59-A6C34878D82A}">
                    <a16:rowId xmlns:a16="http://schemas.microsoft.com/office/drawing/2014/main" val="10001"/>
                  </a:ext>
                </a:extLst>
              </a:tr>
              <a:tr h="671513">
                <a:tc>
                  <a:txBody>
                    <a:bodyPr/>
                    <a:lstStyle/>
                    <a:p>
                      <a:r>
                        <a:rPr sz="1725" b="0">
                          <a:solidFill>
                            <a:srgbClr val="202B58"/>
                          </a:solidFill>
                          <a:latin typeface="Noto Sans JP"/>
                          <a:ea typeface="Noto Sans JP"/>
                          <a:cs typeface="Noto Sans JP"/>
                        </a:rPr>
                        <a:t>週間費用差をどう判断するか</a:t>
                      </a:r>
                    </a:p>
                  </a:txBody>
                  <a:tcPr>
                    <a:solidFill>
                      <a:srgbClr val="FFFFFF"/>
                    </a:solidFill>
                  </a:tcPr>
                </a:tc>
                <a:tc>
                  <a:txBody>
                    <a:bodyPr/>
                    <a:lstStyle/>
                    <a:p>
                      <a:r>
                        <a:rPr sz="1725" b="0">
                          <a:solidFill>
                            <a:srgbClr val="202B58"/>
                          </a:solidFill>
                          <a:latin typeface="Noto Sans JP"/>
                          <a:ea typeface="Noto Sans JP"/>
                          <a:cs typeface="Noto Sans JP"/>
                        </a:rPr>
                        <a:t>23.99万円の93.5%は超過ペナルティの差。単価依存性が大きい</a:t>
                      </a:r>
                    </a:p>
                  </a:txBody>
                  <a:tcPr>
                    <a:solidFill>
                      <a:srgbClr val="FFFFFF"/>
                    </a:solidFill>
                  </a:tcPr>
                </a:tc>
                <a:extLst>
                  <a:ext uri="{0D108BD9-81ED-4DB2-BD59-A6C34878D82A}">
                    <a16:rowId xmlns:a16="http://schemas.microsoft.com/office/drawing/2014/main" val="10002"/>
                  </a:ext>
                </a:extLst>
              </a:tr>
              <a:tr h="671513">
                <a:tc>
                  <a:txBody>
                    <a:bodyPr/>
                    <a:lstStyle/>
                    <a:p>
                      <a:r>
                        <a:rPr sz="1725" b="0">
                          <a:solidFill>
                            <a:srgbClr val="202B58"/>
                          </a:solidFill>
                          <a:latin typeface="Noto Sans JP"/>
                          <a:ea typeface="Noto Sans JP"/>
                          <a:cs typeface="Noto Sans JP"/>
                        </a:rPr>
                        <a:t>今の結果から何が言えるか</a:t>
                      </a:r>
                    </a:p>
                  </a:txBody>
                  <a:tcPr>
                    <a:solidFill>
                      <a:srgbClr val="F1F5F8"/>
                    </a:solidFill>
                  </a:tcPr>
                </a:tc>
                <a:tc>
                  <a:txBody>
                    <a:bodyPr/>
                    <a:lstStyle/>
                    <a:p>
                      <a:r>
                        <a:rPr sz="1725" b="0">
                          <a:solidFill>
                            <a:srgbClr val="202B58"/>
                          </a:solidFill>
                          <a:latin typeface="Noto Sans JP"/>
                          <a:ea typeface="Noto Sans JP"/>
                          <a:cs typeface="Noto Sans JP"/>
                        </a:rPr>
                        <a:t>運行・会計の整合と差の内訳を確認。優位性は未検証</a:t>
                      </a:r>
                    </a:p>
                  </a:txBody>
                  <a:tcPr>
                    <a:solidFill>
                      <a:srgbClr val="F1F5F8"/>
                    </a:solidFill>
                  </a:tcPr>
                </a:tc>
                <a:extLst>
                  <a:ext uri="{0D108BD9-81ED-4DB2-BD59-A6C34878D82A}">
                    <a16:rowId xmlns:a16="http://schemas.microsoft.com/office/drawing/2014/main" val="10003"/>
                  </a:ext>
                </a:extLst>
              </a:tr>
            </a:tbl>
          </a:graphicData>
        </a:graphic>
      </p:graphicFrame>
      <p:sp>
        <p:nvSpPr>
          <p:cNvPr id="8" name="正方形/長方形 7">
            <a:extLst>
              <a:ext uri="{FF2B5EF4-FFF2-40B4-BE49-F238E27FC236}">
                <a16:creationId xmlns:a16="http://schemas.microsoft.com/office/drawing/2014/main" id="{49B0D341-435B-4722-9BFD-8E5D6329F1DA}"/>
              </a:ext>
            </a:extLst>
          </p:cNvPr>
          <p:cNvSpPr>
            <a:spLocks noGrp="1"/>
          </p:cNvSpPr>
          <p:nvPr/>
        </p:nvSpPr>
        <p:spPr>
          <a:xfrm>
            <a:off x="685800" y="4829175"/>
            <a:ext cx="10810875" cy="628650"/>
          </a:xfrm>
          <a:prstGeom prst="rect">
            <a:avLst/>
          </a:prstGeom>
          <a:noFill/>
          <a:ln w="0">
            <a:noFill/>
          </a:ln>
        </p:spPr>
        <p:txBody>
          <a:bodyPr>
            <a:noAutofit/>
          </a:bodyPr>
          <a:lstStyle/>
          <a:p>
            <a:pPr>
              <a:defRPr sz="1725" b="0">
                <a:solidFill>
                  <a:srgbClr val="59687B"/>
                </a:solidFill>
                <a:latin typeface="Noto Sans JP"/>
                <a:ea typeface="Noto Sans JP"/>
                <a:cs typeface="Noto Sans JP"/>
              </a:defRPr>
            </a:pPr>
            <a:r>
              <a:rPr sz="1725" b="0">
                <a:solidFill>
                  <a:srgbClr val="59687B"/>
                </a:solidFill>
                <a:latin typeface="Noto Sans JP"/>
                <a:ea typeface="Noto Sans JP"/>
                <a:cs typeface="Noto Sans JP"/>
              </a:rPr>
              <a:t>次の検証では、入力・配車・初期残量・終端条件を揃え、超過を減らせるか確かめる。</a:t>
            </a:r>
          </a:p>
        </p:txBody>
      </p:sp>
    </p:spTree>
    <p:extLst>
      <p:ext uri="{BB962C8B-B14F-4D97-AF65-F5344CB8AC3E}">
        <p14:creationId xmlns:p14="http://schemas.microsoft.com/office/powerpoint/2010/main" val="6841027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73C3AA8F-A910-49FA-8662-3454E5E701D7}"/>
              </a:ext>
            </a:extLst>
          </p:cNvPr>
          <p:cNvSpPr>
            <a:spLocks noGrp="1"/>
          </p:cNvSpPr>
          <p:nvPr/>
        </p:nvSpPr>
        <p:spPr>
          <a:xfrm>
            <a:off x="419100" y="228600"/>
            <a:ext cx="11353800" cy="609600"/>
          </a:xfrm>
          <a:prstGeom prst="rect">
            <a:avLst/>
          </a:prstGeom>
          <a:noFill/>
          <a:ln w="0">
            <a:noFill/>
          </a:ln>
        </p:spPr>
        <p:txBody>
          <a:bodyPr>
            <a:noAutofit/>
          </a:bodyPr>
          <a:lstStyle/>
          <a:p>
            <a:pPr>
              <a:defRPr sz="2625" b="1">
                <a:solidFill>
                  <a:srgbClr val="202B58"/>
                </a:solidFill>
                <a:latin typeface="Noto Sans JP"/>
                <a:ea typeface="Noto Sans JP"/>
                <a:cs typeface="Noto Sans JP"/>
              </a:defRPr>
            </a:pPr>
            <a:r>
              <a:rPr sz="2625" b="1">
                <a:solidFill>
                  <a:srgbClr val="202B58"/>
                </a:solidFill>
                <a:latin typeface="Noto Sans JP"/>
                <a:ea typeface="Noto Sans JP"/>
                <a:cs typeface="Noto Sans JP"/>
              </a:rPr>
              <a:t>補足：設備・電池の条件</a:t>
            </a:r>
          </a:p>
        </p:txBody>
      </p:sp>
      <p:sp>
        <p:nvSpPr>
          <p:cNvPr id="2" name="正方形/長方形 1">
            <a:extLst>
              <a:ext uri="{FF2B5EF4-FFF2-40B4-BE49-F238E27FC236}">
                <a16:creationId xmlns:a16="http://schemas.microsoft.com/office/drawing/2014/main" id="{CD1A62AD-C6EB-43C0-88E6-84EC978BFE32}"/>
              </a:ext>
            </a:extLst>
          </p:cNvPr>
          <p:cNvSpPr>
            <a:spLocks noGrp="1"/>
          </p:cNvSpPr>
          <p:nvPr/>
        </p:nvSpPr>
        <p:spPr>
          <a:xfrm>
            <a:off x="571500" y="981075"/>
            <a:ext cx="11049000" cy="590550"/>
          </a:xfrm>
          <a:prstGeom prst="rect">
            <a:avLst/>
          </a:prstGeom>
          <a:noFill/>
          <a:ln w="0">
            <a:noFill/>
          </a:ln>
        </p:spPr>
        <p:txBody>
          <a:bodyPr>
            <a:noAutofit/>
          </a:bodyPr>
          <a:lstStyle/>
          <a:p>
            <a:pPr>
              <a:defRPr sz="1725" b="0">
                <a:solidFill>
                  <a:srgbClr val="59687B"/>
                </a:solidFill>
                <a:latin typeface="Noto Sans JP"/>
                <a:ea typeface="Noto Sans JP"/>
                <a:cs typeface="Noto Sans JP"/>
              </a:defRPr>
            </a:pPr>
            <a:r>
              <a:rPr sz="1725" b="0">
                <a:solidFill>
                  <a:srgbClr val="59687B"/>
                </a:solidFill>
                <a:latin typeface="Noto Sans JP"/>
                <a:ea typeface="Noto Sans JP"/>
                <a:cs typeface="Noto Sans JP"/>
              </a:rPr>
              <a:t>車載電池と定置用蓄電池では、週末の条件が異なる</a:t>
            </a:r>
          </a:p>
        </p:txBody>
      </p:sp>
      <p:sp>
        <p:nvSpPr>
          <p:cNvPr id="3" name="正方形/長方形 2">
            <a:extLst>
              <a:ext uri="{FF2B5EF4-FFF2-40B4-BE49-F238E27FC236}">
                <a16:creationId xmlns:a16="http://schemas.microsoft.com/office/drawing/2014/main" id="{8D2CB4C8-2753-4048-B32E-0FD7BC5C1516}"/>
              </a:ext>
            </a:extLst>
          </p:cNvPr>
          <p:cNvSpPr>
            <a:spLocks noGrp="1"/>
          </p:cNvSpPr>
          <p:nvPr/>
        </p:nvSpPr>
        <p:spPr>
          <a:xfrm>
            <a:off x="571500" y="5638800"/>
            <a:ext cx="11049000" cy="56197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BEVは週末に初期残量へ復元。BESSは最低残量を守る条件</a:t>
            </a:r>
          </a:p>
        </p:txBody>
      </p:sp>
      <p:sp>
        <p:nvSpPr>
          <p:cNvPr id="4" name="正方形/長方形 3">
            <a:extLst>
              <a:ext uri="{FF2B5EF4-FFF2-40B4-BE49-F238E27FC236}">
                <a16:creationId xmlns:a16="http://schemas.microsoft.com/office/drawing/2014/main" id="{C29A2F34-EB87-486E-9636-B181A806B0AA}"/>
              </a:ext>
            </a:extLst>
          </p:cNvPr>
          <p:cNvSpPr>
            <a:spLocks noGrp="1"/>
          </p:cNvSpPr>
          <p:nvPr/>
        </p:nvSpPr>
        <p:spPr>
          <a:xfrm>
            <a:off x="571500" y="6248400"/>
            <a:ext cx="11049000" cy="314325"/>
          </a:xfrm>
          <a:prstGeom prst="rect">
            <a:avLst/>
          </a:prstGeom>
          <a:noFill/>
          <a:ln w="0">
            <a:noFill/>
          </a:ln>
        </p:spPr>
        <p:txBody>
          <a:bodyPr>
            <a:noAutofit/>
          </a:bodyPr>
          <a:lstStyle/>
          <a:p>
            <a:pPr>
              <a:defRPr sz="1275" b="0">
                <a:solidFill>
                  <a:srgbClr val="7E4D36"/>
                </a:solidFill>
                <a:latin typeface="Noto Sans JP"/>
                <a:ea typeface="Noto Sans JP"/>
                <a:cs typeface="Noto Sans JP"/>
              </a:defRPr>
            </a:pPr>
            <a:r>
              <a:rPr sz="1275" b="0">
                <a:solidFill>
                  <a:srgbClr val="7E4D36"/>
                </a:solidFill>
                <a:latin typeface="Noto Sans JP"/>
                <a:ea typeface="Noto Sans JP"/>
                <a:cs typeface="Noto Sans JP"/>
              </a:rPr>
              <a:t>毎週同じ初期残量から開始するため、BESS在庫利用を年間の反復可能な節約としない。</a:t>
            </a:r>
          </a:p>
        </p:txBody>
      </p:sp>
      <p:sp>
        <p:nvSpPr>
          <p:cNvPr id="5" name="正方形/長方形 4">
            <a:extLst>
              <a:ext uri="{FF2B5EF4-FFF2-40B4-BE49-F238E27FC236}">
                <a16:creationId xmlns:a16="http://schemas.microsoft.com/office/drawing/2014/main" id="{8DBB2F81-6128-411C-A70B-20C72A9331B6}"/>
              </a:ext>
            </a:extLst>
          </p:cNvPr>
          <p:cNvSpPr>
            <a:spLocks noGrp="1"/>
          </p:cNvSpPr>
          <p:nvPr/>
        </p:nvSpPr>
        <p:spPr>
          <a:xfrm>
            <a:off x="419100" y="6638925"/>
            <a:ext cx="10096500" cy="180975"/>
          </a:xfrm>
          <a:prstGeom prst="rect">
            <a:avLst/>
          </a:prstGeom>
          <a:noFill/>
          <a:ln w="0">
            <a:noFill/>
          </a:ln>
        </p:spPr>
        <p:txBody>
          <a:bodyPr>
            <a:noAutofit/>
          </a:bodyPr>
          <a:lstStyle/>
          <a:p>
            <a:pPr>
              <a:defRPr sz="900" b="0">
                <a:solidFill>
                  <a:srgbClr val="59687B"/>
                </a:solidFill>
                <a:latin typeface="Noto Sans JP"/>
                <a:ea typeface="Noto Sans JP"/>
                <a:cs typeface="Noto Sans JP"/>
              </a:defRPr>
            </a:pPr>
            <a:r>
              <a:rPr sz="900" b="0">
                <a:solidFill>
                  <a:srgbClr val="59687B"/>
                </a:solidFill>
                <a:latin typeface="Noto Sans JP"/>
                <a:ea typeface="Noto Sans JP"/>
                <a:cs typeface="Noto Sans JP"/>
              </a:rPr>
              <a:t>修士研究　2026年9月18日　／　月別12週のシミュレーション（診断結果）</a:t>
            </a:r>
          </a:p>
        </p:txBody>
      </p:sp>
      <p:sp>
        <p:nvSpPr>
          <p:cNvPr id="6" name="正方形/長方形 5">
            <a:extLst>
              <a:ext uri="{FF2B5EF4-FFF2-40B4-BE49-F238E27FC236}">
                <a16:creationId xmlns:a16="http://schemas.microsoft.com/office/drawing/2014/main" id="{72491F10-5DAF-4B73-8464-876B1AA71BAC}"/>
              </a:ext>
            </a:extLst>
          </p:cNvPr>
          <p:cNvSpPr>
            <a:spLocks noGrp="1"/>
          </p:cNvSpPr>
          <p:nvPr/>
        </p:nvSpPr>
        <p:spPr>
          <a:xfrm>
            <a:off x="11144250" y="6610350"/>
            <a:ext cx="628650" cy="228600"/>
          </a:xfrm>
          <a:prstGeom prst="rect">
            <a:avLst/>
          </a:prstGeom>
          <a:noFill/>
          <a:ln w="0">
            <a:noFill/>
          </a:ln>
        </p:spPr>
        <p:txBody>
          <a:bodyPr>
            <a:noAutofit/>
          </a:bodyPr>
          <a:lstStyle/>
          <a:p>
            <a:pPr>
              <a:defRPr sz="1050" b="0">
                <a:solidFill>
                  <a:srgbClr val="59687B"/>
                </a:solidFill>
                <a:latin typeface="Noto Sans JP"/>
                <a:ea typeface="Noto Sans JP"/>
                <a:cs typeface="Noto Sans JP"/>
              </a:defRPr>
            </a:pPr>
            <a:r>
              <a:rPr sz="1050" b="0">
                <a:solidFill>
                  <a:srgbClr val="59687B"/>
                </a:solidFill>
                <a:latin typeface="Noto Sans JP"/>
                <a:ea typeface="Noto Sans JP"/>
                <a:cs typeface="Noto Sans JP"/>
              </a:rPr>
              <a:t>19/24</a:t>
            </a:r>
          </a:p>
        </p:txBody>
      </p:sp>
      <p:graphicFrame>
        <p:nvGraphicFramePr>
          <p:cNvPr id="14" name="表 13"/>
          <p:cNvGraphicFramePr/>
          <p:nvPr/>
        </p:nvGraphicFramePr>
        <p:xfrm>
          <a:off x="571500" y="1695450"/>
          <a:ext cx="11049000" cy="3714753"/>
        </p:xfrm>
        <a:graphic>
          <a:graphicData uri="http://schemas.openxmlformats.org/drawingml/2006/table">
            <a:tbl>
              <a:tblPr/>
              <a:tblGrid>
                <a:gridCol w="3619500">
                  <a:extLst>
                    <a:ext uri="{9D8B030D-6E8A-4147-A177-3AD203B41FA5}">
                      <a16:colId xmlns:a16="http://schemas.microsoft.com/office/drawing/2014/main" val="20000"/>
                    </a:ext>
                  </a:extLst>
                </a:gridCol>
                <a:gridCol w="7429500">
                  <a:extLst>
                    <a:ext uri="{9D8B030D-6E8A-4147-A177-3AD203B41FA5}">
                      <a16:colId xmlns:a16="http://schemas.microsoft.com/office/drawing/2014/main" val="20001"/>
                    </a:ext>
                  </a:extLst>
                </a:gridCol>
              </a:tblGrid>
              <a:tr h="530679">
                <a:tc>
                  <a:txBody>
                    <a:bodyPr/>
                    <a:lstStyle/>
                    <a:p>
                      <a:r>
                        <a:rPr sz="1650" b="1">
                          <a:solidFill>
                            <a:srgbClr val="FFFFFF"/>
                          </a:solidFill>
                          <a:latin typeface="Noto Sans JP"/>
                          <a:ea typeface="Noto Sans JP"/>
                          <a:cs typeface="Noto Sans JP"/>
                        </a:rPr>
                        <a:t>設備・条件</a:t>
                      </a:r>
                    </a:p>
                  </a:txBody>
                  <a:tcPr>
                    <a:solidFill>
                      <a:srgbClr val="202B58"/>
                    </a:solidFill>
                  </a:tcPr>
                </a:tc>
                <a:tc>
                  <a:txBody>
                    <a:bodyPr/>
                    <a:lstStyle/>
                    <a:p>
                      <a:r>
                        <a:rPr sz="1650" b="1">
                          <a:solidFill>
                            <a:srgbClr val="FFFFFF"/>
                          </a:solidFill>
                          <a:latin typeface="Noto Sans JP"/>
                          <a:ea typeface="Noto Sans JP"/>
                          <a:cs typeface="Noto Sans JP"/>
                        </a:rPr>
                        <a:t>設定</a:t>
                      </a:r>
                    </a:p>
                  </a:txBody>
                  <a:tcPr>
                    <a:solidFill>
                      <a:srgbClr val="202B58"/>
                    </a:solidFill>
                  </a:tcPr>
                </a:tc>
                <a:extLst>
                  <a:ext uri="{0D108BD9-81ED-4DB2-BD59-A6C34878D82A}">
                    <a16:rowId xmlns:a16="http://schemas.microsoft.com/office/drawing/2014/main" val="10000"/>
                  </a:ext>
                </a:extLst>
              </a:tr>
              <a:tr h="530679">
                <a:tc>
                  <a:txBody>
                    <a:bodyPr/>
                    <a:lstStyle/>
                    <a:p>
                      <a:r>
                        <a:rPr sz="1650" b="0">
                          <a:solidFill>
                            <a:srgbClr val="202B58"/>
                          </a:solidFill>
                          <a:latin typeface="Noto Sans JP"/>
                          <a:ea typeface="Noto Sans JP"/>
                          <a:cs typeface="Noto Sans JP"/>
                        </a:rPr>
                        <a:t>入力車両</a:t>
                      </a:r>
                    </a:p>
                  </a:txBody>
                  <a:tcPr>
                    <a:solidFill>
                      <a:srgbClr val="F1F5F8"/>
                    </a:solidFill>
                  </a:tcPr>
                </a:tc>
                <a:tc>
                  <a:txBody>
                    <a:bodyPr/>
                    <a:lstStyle/>
                    <a:p>
                      <a:r>
                        <a:rPr sz="1650" b="0">
                          <a:solidFill>
                            <a:srgbClr val="202B58"/>
                          </a:solidFill>
                          <a:latin typeface="Noto Sans JP"/>
                          <a:ea typeface="Noto Sans JP"/>
                          <a:cs typeface="Noto Sans JP"/>
                        </a:rPr>
                        <a:t>BEV35台・ICE25台</a:t>
                      </a:r>
                    </a:p>
                  </a:txBody>
                  <a:tcPr>
                    <a:solidFill>
                      <a:srgbClr val="F1F5F8"/>
                    </a:solidFill>
                  </a:tcPr>
                </a:tc>
                <a:extLst>
                  <a:ext uri="{0D108BD9-81ED-4DB2-BD59-A6C34878D82A}">
                    <a16:rowId xmlns:a16="http://schemas.microsoft.com/office/drawing/2014/main" val="10001"/>
                  </a:ext>
                </a:extLst>
              </a:tr>
              <a:tr h="530679">
                <a:tc>
                  <a:txBody>
                    <a:bodyPr/>
                    <a:lstStyle/>
                    <a:p>
                      <a:r>
                        <a:rPr sz="1650" b="0">
                          <a:solidFill>
                            <a:srgbClr val="202B58"/>
                          </a:solidFill>
                          <a:latin typeface="Noto Sans JP"/>
                          <a:ea typeface="Noto Sans JP"/>
                          <a:cs typeface="Noto Sans JP"/>
                        </a:rPr>
                        <a:t>BEV車載電池</a:t>
                      </a:r>
                    </a:p>
                  </a:txBody>
                  <a:tcPr>
                    <a:solidFill>
                      <a:srgbClr val="FFFFFF"/>
                    </a:solidFill>
                  </a:tcPr>
                </a:tc>
                <a:tc>
                  <a:txBody>
                    <a:bodyPr/>
                    <a:lstStyle/>
                    <a:p>
                      <a:r>
                        <a:rPr sz="1650" b="0">
                          <a:solidFill>
                            <a:srgbClr val="202B58"/>
                          </a:solidFill>
                          <a:latin typeface="Noto Sans JP"/>
                          <a:ea typeface="Noto Sans JP"/>
                          <a:cs typeface="Noto Sans JP"/>
                        </a:rPr>
                        <a:t>314 kWh、SOC20〜90%、最大充電90 kW</a:t>
                      </a:r>
                    </a:p>
                  </a:txBody>
                  <a:tcPr>
                    <a:solidFill>
                      <a:srgbClr val="FFFFFF"/>
                    </a:solidFill>
                  </a:tcPr>
                </a:tc>
                <a:extLst>
                  <a:ext uri="{0D108BD9-81ED-4DB2-BD59-A6C34878D82A}">
                    <a16:rowId xmlns:a16="http://schemas.microsoft.com/office/drawing/2014/main" val="10002"/>
                  </a:ext>
                </a:extLst>
              </a:tr>
              <a:tr h="530679">
                <a:tc>
                  <a:txBody>
                    <a:bodyPr/>
                    <a:lstStyle/>
                    <a:p>
                      <a:r>
                        <a:rPr sz="1650" b="0">
                          <a:solidFill>
                            <a:srgbClr val="202B58"/>
                          </a:solidFill>
                          <a:latin typeface="Noto Sans JP"/>
                          <a:ea typeface="Noto Sans JP"/>
                          <a:cs typeface="Noto Sans JP"/>
                        </a:rPr>
                        <a:t>充電器／PV</a:t>
                      </a:r>
                    </a:p>
                  </a:txBody>
                  <a:tcPr>
                    <a:solidFill>
                      <a:srgbClr val="F1F5F8"/>
                    </a:solidFill>
                  </a:tcPr>
                </a:tc>
                <a:tc>
                  <a:txBody>
                    <a:bodyPr/>
                    <a:lstStyle/>
                    <a:p>
                      <a:r>
                        <a:rPr sz="1650" b="0">
                          <a:solidFill>
                            <a:srgbClr val="202B58"/>
                          </a:solidFill>
                          <a:latin typeface="Noto Sans JP"/>
                          <a:ea typeface="Noto Sans JP"/>
                          <a:cs typeface="Noto Sans JP"/>
                        </a:rPr>
                        <a:t>90 kW × 10基／PV定格1,000 kW</a:t>
                      </a:r>
                    </a:p>
                  </a:txBody>
                  <a:tcPr>
                    <a:solidFill>
                      <a:srgbClr val="F1F5F8"/>
                    </a:solidFill>
                  </a:tcPr>
                </a:tc>
                <a:extLst>
                  <a:ext uri="{0D108BD9-81ED-4DB2-BD59-A6C34878D82A}">
                    <a16:rowId xmlns:a16="http://schemas.microsoft.com/office/drawing/2014/main" val="10003"/>
                  </a:ext>
                </a:extLst>
              </a:tr>
              <a:tr h="530679">
                <a:tc>
                  <a:txBody>
                    <a:bodyPr/>
                    <a:lstStyle/>
                    <a:p>
                      <a:r>
                        <a:rPr sz="1650" b="0">
                          <a:solidFill>
                            <a:srgbClr val="202B58"/>
                          </a:solidFill>
                          <a:latin typeface="Noto Sans JP"/>
                          <a:ea typeface="Noto Sans JP"/>
                          <a:cs typeface="Noto Sans JP"/>
                        </a:rPr>
                        <a:t>BESS容量／出力</a:t>
                      </a:r>
                    </a:p>
                  </a:txBody>
                  <a:tcPr>
                    <a:solidFill>
                      <a:srgbClr val="FFFFFF"/>
                    </a:solidFill>
                  </a:tcPr>
                </a:tc>
                <a:tc>
                  <a:txBody>
                    <a:bodyPr/>
                    <a:lstStyle/>
                    <a:p>
                      <a:r>
                        <a:rPr sz="1650" b="0">
                          <a:solidFill>
                            <a:srgbClr val="202B58"/>
                          </a:solidFill>
                          <a:latin typeface="Noto Sans JP"/>
                          <a:ea typeface="Noto Sans JP"/>
                          <a:cs typeface="Noto Sans JP"/>
                        </a:rPr>
                        <a:t>6,000 kWh／900 kW</a:t>
                      </a:r>
                    </a:p>
                  </a:txBody>
                  <a:tcPr>
                    <a:solidFill>
                      <a:srgbClr val="FFFFFF"/>
                    </a:solidFill>
                  </a:tcPr>
                </a:tc>
                <a:extLst>
                  <a:ext uri="{0D108BD9-81ED-4DB2-BD59-A6C34878D82A}">
                    <a16:rowId xmlns:a16="http://schemas.microsoft.com/office/drawing/2014/main" val="10004"/>
                  </a:ext>
                </a:extLst>
              </a:tr>
              <a:tr h="530679">
                <a:tc>
                  <a:txBody>
                    <a:bodyPr/>
                    <a:lstStyle/>
                    <a:p>
                      <a:r>
                        <a:rPr sz="1650" b="0">
                          <a:solidFill>
                            <a:srgbClr val="202B58"/>
                          </a:solidFill>
                          <a:latin typeface="Noto Sans JP"/>
                          <a:ea typeface="Noto Sans JP"/>
                          <a:cs typeface="Noto Sans JP"/>
                        </a:rPr>
                        <a:t>BESS残量</a:t>
                      </a:r>
                    </a:p>
                  </a:txBody>
                  <a:tcPr>
                    <a:solidFill>
                      <a:srgbClr val="F1F5F8"/>
                    </a:solidFill>
                  </a:tcPr>
                </a:tc>
                <a:tc>
                  <a:txBody>
                    <a:bodyPr/>
                    <a:lstStyle/>
                    <a:p>
                      <a:r>
                        <a:rPr sz="1650" b="0">
                          <a:solidFill>
                            <a:srgbClr val="202B58"/>
                          </a:solidFill>
                          <a:latin typeface="Noto Sans JP"/>
                          <a:ea typeface="Noto Sans JP"/>
                          <a:cs typeface="Noto Sans JP"/>
                        </a:rPr>
                        <a:t>初期3,000、下限1,200、上限4,800 kWh</a:t>
                      </a:r>
                    </a:p>
                  </a:txBody>
                  <a:tcPr>
                    <a:solidFill>
                      <a:srgbClr val="F1F5F8"/>
                    </a:solidFill>
                  </a:tcPr>
                </a:tc>
                <a:extLst>
                  <a:ext uri="{0D108BD9-81ED-4DB2-BD59-A6C34878D82A}">
                    <a16:rowId xmlns:a16="http://schemas.microsoft.com/office/drawing/2014/main" val="10005"/>
                  </a:ext>
                </a:extLst>
              </a:tr>
              <a:tr h="530679">
                <a:tc>
                  <a:txBody>
                    <a:bodyPr/>
                    <a:lstStyle/>
                    <a:p>
                      <a:r>
                        <a:rPr sz="1650" b="0">
                          <a:solidFill>
                            <a:srgbClr val="202B58"/>
                          </a:solidFill>
                          <a:latin typeface="Noto Sans JP"/>
                          <a:ea typeface="Noto Sans JP"/>
                          <a:cs typeface="Noto Sans JP"/>
                        </a:rPr>
                        <a:t>3月・11月のBESS在庫差</a:t>
                      </a:r>
                    </a:p>
                  </a:txBody>
                  <a:tcPr>
                    <a:solidFill>
                      <a:srgbClr val="FFFFFF"/>
                    </a:solidFill>
                  </a:tcPr>
                </a:tc>
                <a:tc>
                  <a:txBody>
                    <a:bodyPr/>
                    <a:lstStyle/>
                    <a:p>
                      <a:r>
                        <a:rPr sz="1650" b="0">
                          <a:solidFill>
                            <a:srgbClr val="202B58"/>
                          </a:solidFill>
                          <a:latin typeface="Noto Sans JP"/>
                          <a:ea typeface="Noto Sans JP"/>
                          <a:cs typeface="Noto Sans JP"/>
                        </a:rPr>
                        <a:t>初期−終端＝1,800 kWh（両週）</a:t>
                      </a:r>
                    </a:p>
                  </a:txBody>
                  <a:tcPr>
                    <a:solidFill>
                      <a:srgbClr val="FFFFFF"/>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91487210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DB987224-3804-4ABB-A1D9-4EA39E93BDC8}"/>
              </a:ext>
            </a:extLst>
          </p:cNvPr>
          <p:cNvSpPr>
            <a:spLocks noGrp="1"/>
          </p:cNvSpPr>
          <p:nvPr/>
        </p:nvSpPr>
        <p:spPr>
          <a:xfrm>
            <a:off x="419100" y="228600"/>
            <a:ext cx="11353800" cy="609600"/>
          </a:xfrm>
          <a:prstGeom prst="rect">
            <a:avLst/>
          </a:prstGeom>
          <a:noFill/>
          <a:ln w="0">
            <a:noFill/>
          </a:ln>
        </p:spPr>
        <p:txBody>
          <a:bodyPr>
            <a:noAutofit/>
          </a:bodyPr>
          <a:lstStyle/>
          <a:p>
            <a:pPr>
              <a:defRPr sz="2625" b="1">
                <a:solidFill>
                  <a:srgbClr val="202B58"/>
                </a:solidFill>
                <a:latin typeface="Noto Sans JP"/>
                <a:ea typeface="Noto Sans JP"/>
                <a:cs typeface="Noto Sans JP"/>
              </a:defRPr>
            </a:pPr>
            <a:r>
              <a:rPr sz="2625" b="1">
                <a:solidFill>
                  <a:srgbClr val="202B58"/>
                </a:solidFill>
                <a:latin typeface="Noto Sans JP"/>
                <a:ea typeface="Noto Sans JP"/>
                <a:cs typeface="Noto Sans JP"/>
              </a:rPr>
              <a:t>補足：月別の数値（1〜6月）</a:t>
            </a:r>
          </a:p>
        </p:txBody>
      </p:sp>
      <p:sp>
        <p:nvSpPr>
          <p:cNvPr id="2" name="正方形/長方形 1">
            <a:extLst>
              <a:ext uri="{FF2B5EF4-FFF2-40B4-BE49-F238E27FC236}">
                <a16:creationId xmlns:a16="http://schemas.microsoft.com/office/drawing/2014/main" id="{C6B3628D-5019-4986-83C7-2F714C0316B2}"/>
              </a:ext>
            </a:extLst>
          </p:cNvPr>
          <p:cNvSpPr>
            <a:spLocks noGrp="1"/>
          </p:cNvSpPr>
          <p:nvPr/>
        </p:nvSpPr>
        <p:spPr>
          <a:xfrm>
            <a:off x="571500" y="981075"/>
            <a:ext cx="11049000" cy="590550"/>
          </a:xfrm>
          <a:prstGeom prst="rect">
            <a:avLst/>
          </a:prstGeom>
          <a:noFill/>
          <a:ln w="0">
            <a:noFill/>
          </a:ln>
        </p:spPr>
        <p:txBody>
          <a:bodyPr>
            <a:noAutofit/>
          </a:bodyPr>
          <a:lstStyle/>
          <a:p>
            <a:pPr>
              <a:defRPr sz="1725" b="0">
                <a:solidFill>
                  <a:srgbClr val="59687B"/>
                </a:solidFill>
                <a:latin typeface="Noto Sans JP"/>
                <a:ea typeface="Noto Sans JP"/>
                <a:cs typeface="Noto Sans JP"/>
              </a:defRPr>
            </a:pPr>
            <a:r>
              <a:rPr sz="1725" b="0">
                <a:solidFill>
                  <a:srgbClr val="59687B"/>
                </a:solidFill>
                <a:latin typeface="Noto Sans JP"/>
                <a:ea typeface="Noto Sans JP"/>
                <a:cs typeface="Noto Sans JP"/>
              </a:rPr>
              <a:t>各月1週の結果。電力量の単位はkWh、費用の単位は万円</a:t>
            </a:r>
          </a:p>
        </p:txBody>
      </p:sp>
      <p:sp>
        <p:nvSpPr>
          <p:cNvPr id="3" name="正方形/長方形 2">
            <a:extLst>
              <a:ext uri="{FF2B5EF4-FFF2-40B4-BE49-F238E27FC236}">
                <a16:creationId xmlns:a16="http://schemas.microsoft.com/office/drawing/2014/main" id="{5E22CDF1-1E04-4011-A0A1-C9417B470EAE}"/>
              </a:ext>
            </a:extLst>
          </p:cNvPr>
          <p:cNvSpPr>
            <a:spLocks noGrp="1"/>
          </p:cNvSpPr>
          <p:nvPr/>
        </p:nvSpPr>
        <p:spPr>
          <a:xfrm>
            <a:off x="571500" y="5638800"/>
            <a:ext cx="11049000" cy="56197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台日は各日の使用台数の合計。1台を2日使用すると2台日</a:t>
            </a:r>
          </a:p>
        </p:txBody>
      </p:sp>
      <p:sp>
        <p:nvSpPr>
          <p:cNvPr id="4" name="正方形/長方形 3">
            <a:extLst>
              <a:ext uri="{FF2B5EF4-FFF2-40B4-BE49-F238E27FC236}">
                <a16:creationId xmlns:a16="http://schemas.microsoft.com/office/drawing/2014/main" id="{210CD300-9E12-48F1-9EC4-80C0AA62EF9E}"/>
              </a:ext>
            </a:extLst>
          </p:cNvPr>
          <p:cNvSpPr>
            <a:spLocks noGrp="1"/>
          </p:cNvSpPr>
          <p:nvPr/>
        </p:nvSpPr>
        <p:spPr>
          <a:xfrm>
            <a:off x="571500" y="6248400"/>
            <a:ext cx="11049000" cy="314325"/>
          </a:xfrm>
          <a:prstGeom prst="rect">
            <a:avLst/>
          </a:prstGeom>
          <a:noFill/>
          <a:ln w="0">
            <a:noFill/>
          </a:ln>
        </p:spPr>
        <p:txBody>
          <a:bodyPr>
            <a:noAutofit/>
          </a:bodyPr>
          <a:lstStyle/>
          <a:p>
            <a:pPr>
              <a:defRPr sz="1275" b="0">
                <a:solidFill>
                  <a:srgbClr val="7E4D36"/>
                </a:solidFill>
                <a:latin typeface="Noto Sans JP"/>
                <a:ea typeface="Noto Sans JP"/>
                <a:cs typeface="Noto Sans JP"/>
              </a:defRPr>
            </a:pPr>
            <a:r>
              <a:rPr sz="1275" b="0">
                <a:solidFill>
                  <a:srgbClr val="7E4D36"/>
                </a:solidFill>
                <a:latin typeface="Noto Sans JP"/>
                <a:ea typeface="Noto Sans JP"/>
                <a:cs typeface="Noto Sans JP"/>
              </a:rPr>
              <a:t>表示は丸め値。月平均・年間合計ではない。全12週の原値は同じ固定版から取得。</a:t>
            </a:r>
          </a:p>
        </p:txBody>
      </p:sp>
      <p:sp>
        <p:nvSpPr>
          <p:cNvPr id="5" name="正方形/長方形 4">
            <a:extLst>
              <a:ext uri="{FF2B5EF4-FFF2-40B4-BE49-F238E27FC236}">
                <a16:creationId xmlns:a16="http://schemas.microsoft.com/office/drawing/2014/main" id="{F8AE3652-AA48-4938-B5F0-3E138E678769}"/>
              </a:ext>
            </a:extLst>
          </p:cNvPr>
          <p:cNvSpPr>
            <a:spLocks noGrp="1"/>
          </p:cNvSpPr>
          <p:nvPr/>
        </p:nvSpPr>
        <p:spPr>
          <a:xfrm>
            <a:off x="419100" y="6638925"/>
            <a:ext cx="10096500" cy="180975"/>
          </a:xfrm>
          <a:prstGeom prst="rect">
            <a:avLst/>
          </a:prstGeom>
          <a:noFill/>
          <a:ln w="0">
            <a:noFill/>
          </a:ln>
        </p:spPr>
        <p:txBody>
          <a:bodyPr>
            <a:noAutofit/>
          </a:bodyPr>
          <a:lstStyle/>
          <a:p>
            <a:pPr>
              <a:defRPr sz="900" b="0">
                <a:solidFill>
                  <a:srgbClr val="59687B"/>
                </a:solidFill>
                <a:latin typeface="Noto Sans JP"/>
                <a:ea typeface="Noto Sans JP"/>
                <a:cs typeface="Noto Sans JP"/>
              </a:defRPr>
            </a:pPr>
            <a:r>
              <a:rPr sz="900" b="0">
                <a:solidFill>
                  <a:srgbClr val="59687B"/>
                </a:solidFill>
                <a:latin typeface="Noto Sans JP"/>
                <a:ea typeface="Noto Sans JP"/>
                <a:cs typeface="Noto Sans JP"/>
              </a:rPr>
              <a:t>修士研究　2026年9月18日　／　月別12週のシミュレーション（診断結果）</a:t>
            </a:r>
          </a:p>
        </p:txBody>
      </p:sp>
      <p:sp>
        <p:nvSpPr>
          <p:cNvPr id="6" name="正方形/長方形 5">
            <a:extLst>
              <a:ext uri="{FF2B5EF4-FFF2-40B4-BE49-F238E27FC236}">
                <a16:creationId xmlns:a16="http://schemas.microsoft.com/office/drawing/2014/main" id="{8A47F27D-22DA-4963-9A3A-710FA810C3EB}"/>
              </a:ext>
            </a:extLst>
          </p:cNvPr>
          <p:cNvSpPr>
            <a:spLocks noGrp="1"/>
          </p:cNvSpPr>
          <p:nvPr/>
        </p:nvSpPr>
        <p:spPr>
          <a:xfrm>
            <a:off x="11144250" y="6610350"/>
            <a:ext cx="628650" cy="228600"/>
          </a:xfrm>
          <a:prstGeom prst="rect">
            <a:avLst/>
          </a:prstGeom>
          <a:noFill/>
          <a:ln w="0">
            <a:noFill/>
          </a:ln>
        </p:spPr>
        <p:txBody>
          <a:bodyPr>
            <a:noAutofit/>
          </a:bodyPr>
          <a:lstStyle/>
          <a:p>
            <a:pPr>
              <a:defRPr sz="1050" b="0">
                <a:solidFill>
                  <a:srgbClr val="59687B"/>
                </a:solidFill>
                <a:latin typeface="Noto Sans JP"/>
                <a:ea typeface="Noto Sans JP"/>
                <a:cs typeface="Noto Sans JP"/>
              </a:defRPr>
            </a:pPr>
            <a:r>
              <a:rPr sz="1050" b="0">
                <a:solidFill>
                  <a:srgbClr val="59687B"/>
                </a:solidFill>
                <a:latin typeface="Noto Sans JP"/>
                <a:ea typeface="Noto Sans JP"/>
                <a:cs typeface="Noto Sans JP"/>
              </a:rPr>
              <a:t>20/24</a:t>
            </a:r>
          </a:p>
        </p:txBody>
      </p:sp>
      <p:graphicFrame>
        <p:nvGraphicFramePr>
          <p:cNvPr id="14" name="表 13"/>
          <p:cNvGraphicFramePr/>
          <p:nvPr/>
        </p:nvGraphicFramePr>
        <p:xfrm>
          <a:off x="571500" y="1695450"/>
          <a:ext cx="11049000" cy="3714753"/>
        </p:xfrm>
        <a:graphic>
          <a:graphicData uri="http://schemas.openxmlformats.org/drawingml/2006/table">
            <a:tbl>
              <a:tblPr/>
              <a:tblGrid>
                <a:gridCol w="952500">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gridCol w="2143125">
                  <a:extLst>
                    <a:ext uri="{9D8B030D-6E8A-4147-A177-3AD203B41FA5}">
                      <a16:colId xmlns:a16="http://schemas.microsoft.com/office/drawing/2014/main" val="20002"/>
                    </a:ext>
                  </a:extLst>
                </a:gridCol>
                <a:gridCol w="1857375">
                  <a:extLst>
                    <a:ext uri="{9D8B030D-6E8A-4147-A177-3AD203B41FA5}">
                      <a16:colId xmlns:a16="http://schemas.microsoft.com/office/drawing/2014/main" val="20003"/>
                    </a:ext>
                  </a:extLst>
                </a:gridCol>
                <a:gridCol w="2286000">
                  <a:extLst>
                    <a:ext uri="{9D8B030D-6E8A-4147-A177-3AD203B41FA5}">
                      <a16:colId xmlns:a16="http://schemas.microsoft.com/office/drawing/2014/main" val="20004"/>
                    </a:ext>
                  </a:extLst>
                </a:gridCol>
                <a:gridCol w="2286000">
                  <a:extLst>
                    <a:ext uri="{9D8B030D-6E8A-4147-A177-3AD203B41FA5}">
                      <a16:colId xmlns:a16="http://schemas.microsoft.com/office/drawing/2014/main" val="20005"/>
                    </a:ext>
                  </a:extLst>
                </a:gridCol>
              </a:tblGrid>
              <a:tr h="530679">
                <a:tc>
                  <a:txBody>
                    <a:bodyPr/>
                    <a:lstStyle/>
                    <a:p>
                      <a:r>
                        <a:rPr sz="1650" b="1">
                          <a:solidFill>
                            <a:srgbClr val="FFFFFF"/>
                          </a:solidFill>
                          <a:latin typeface="Noto Sans JP"/>
                          <a:ea typeface="Noto Sans JP"/>
                          <a:cs typeface="Noto Sans JP"/>
                        </a:rPr>
                        <a:t>月</a:t>
                      </a:r>
                    </a:p>
                  </a:txBody>
                  <a:tcPr>
                    <a:solidFill>
                      <a:srgbClr val="202B58"/>
                    </a:solidFill>
                  </a:tcPr>
                </a:tc>
                <a:tc>
                  <a:txBody>
                    <a:bodyPr/>
                    <a:lstStyle/>
                    <a:p>
                      <a:r>
                        <a:rPr sz="1650" b="1">
                          <a:solidFill>
                            <a:srgbClr val="FFFFFF"/>
                          </a:solidFill>
                          <a:latin typeface="Noto Sans JP"/>
                          <a:ea typeface="Noto Sans JP"/>
                          <a:cs typeface="Noto Sans JP"/>
                        </a:rPr>
                        <a:t>週開始</a:t>
                      </a:r>
                    </a:p>
                  </a:txBody>
                  <a:tcPr>
                    <a:solidFill>
                      <a:srgbClr val="202B58"/>
                    </a:solidFill>
                  </a:tcPr>
                </a:tc>
                <a:tc>
                  <a:txBody>
                    <a:bodyPr/>
                    <a:lstStyle/>
                    <a:p>
                      <a:r>
                        <a:rPr sz="1650" b="1">
                          <a:solidFill>
                            <a:srgbClr val="FFFFFF"/>
                          </a:solidFill>
                          <a:latin typeface="Noto Sans JP"/>
                          <a:ea typeface="Noto Sans JP"/>
                          <a:cs typeface="Noto Sans JP"/>
                        </a:rPr>
                        <a:t>週間費用 [万円]</a:t>
                      </a:r>
                    </a:p>
                  </a:txBody>
                  <a:tcPr>
                    <a:solidFill>
                      <a:srgbClr val="202B58"/>
                    </a:solidFill>
                  </a:tcPr>
                </a:tc>
                <a:tc>
                  <a:txBody>
                    <a:bodyPr/>
                    <a:lstStyle/>
                    <a:p>
                      <a:r>
                        <a:rPr sz="1650" b="1">
                          <a:solidFill>
                            <a:srgbClr val="FFFFFF"/>
                          </a:solidFill>
                          <a:latin typeface="Noto Sans JP"/>
                          <a:ea typeface="Noto Sans JP"/>
                          <a:cs typeface="Noto Sans JP"/>
                        </a:rPr>
                        <a:t>使用 [台日]</a:t>
                      </a:r>
                    </a:p>
                  </a:txBody>
                  <a:tcPr>
                    <a:solidFill>
                      <a:srgbClr val="202B58"/>
                    </a:solidFill>
                  </a:tcPr>
                </a:tc>
                <a:tc>
                  <a:txBody>
                    <a:bodyPr/>
                    <a:lstStyle/>
                    <a:p>
                      <a:r>
                        <a:rPr sz="1650" b="1">
                          <a:solidFill>
                            <a:srgbClr val="FFFFFF"/>
                          </a:solidFill>
                          <a:latin typeface="Noto Sans JP"/>
                          <a:ea typeface="Noto Sans JP"/>
                          <a:cs typeface="Noto Sans JP"/>
                        </a:rPr>
                        <a:t>週間購入電力量</a:t>
                      </a:r>
                    </a:p>
                  </a:txBody>
                  <a:tcPr>
                    <a:solidFill>
                      <a:srgbClr val="202B58"/>
                    </a:solidFill>
                  </a:tcPr>
                </a:tc>
                <a:tc>
                  <a:txBody>
                    <a:bodyPr/>
                    <a:lstStyle/>
                    <a:p>
                      <a:r>
                        <a:rPr sz="1650" b="1">
                          <a:solidFill>
                            <a:srgbClr val="FFFFFF"/>
                          </a:solidFill>
                          <a:latin typeface="Noto Sans JP"/>
                          <a:ea typeface="Noto Sans JP"/>
                          <a:cs typeface="Noto Sans JP"/>
                        </a:rPr>
                        <a:t>受電ピーク [kW]</a:t>
                      </a:r>
                    </a:p>
                  </a:txBody>
                  <a:tcPr>
                    <a:solidFill>
                      <a:srgbClr val="202B58"/>
                    </a:solidFill>
                  </a:tcPr>
                </a:tc>
                <a:extLst>
                  <a:ext uri="{0D108BD9-81ED-4DB2-BD59-A6C34878D82A}">
                    <a16:rowId xmlns:a16="http://schemas.microsoft.com/office/drawing/2014/main" val="10000"/>
                  </a:ext>
                </a:extLst>
              </a:tr>
              <a:tr h="530679">
                <a:tc>
                  <a:txBody>
                    <a:bodyPr/>
                    <a:lstStyle/>
                    <a:p>
                      <a:r>
                        <a:rPr sz="1650" b="0">
                          <a:solidFill>
                            <a:srgbClr val="202B58"/>
                          </a:solidFill>
                          <a:latin typeface="Noto Sans JP"/>
                          <a:ea typeface="Noto Sans JP"/>
                          <a:cs typeface="Noto Sans JP"/>
                        </a:rPr>
                        <a:t>1月</a:t>
                      </a:r>
                    </a:p>
                  </a:txBody>
                  <a:tcPr>
                    <a:solidFill>
                      <a:srgbClr val="F1F5F8"/>
                    </a:solidFill>
                  </a:tcPr>
                </a:tc>
                <a:tc>
                  <a:txBody>
                    <a:bodyPr/>
                    <a:lstStyle/>
                    <a:p>
                      <a:r>
                        <a:rPr sz="1650" b="0">
                          <a:solidFill>
                            <a:srgbClr val="202B58"/>
                          </a:solidFill>
                          <a:latin typeface="Noto Sans JP"/>
                          <a:ea typeface="Noto Sans JP"/>
                          <a:cs typeface="Noto Sans JP"/>
                        </a:rPr>
                        <a:t>01-06</a:t>
                      </a:r>
                    </a:p>
                  </a:txBody>
                  <a:tcPr>
                    <a:solidFill>
                      <a:srgbClr val="F1F5F8"/>
                    </a:solidFill>
                  </a:tcPr>
                </a:tc>
                <a:tc>
                  <a:txBody>
                    <a:bodyPr/>
                    <a:lstStyle/>
                    <a:p>
                      <a:r>
                        <a:rPr sz="1650" b="0">
                          <a:solidFill>
                            <a:srgbClr val="202B58"/>
                          </a:solidFill>
                          <a:latin typeface="Noto Sans JP"/>
                          <a:ea typeface="Noto Sans JP"/>
                          <a:cs typeface="Noto Sans JP"/>
                        </a:rPr>
                        <a:t>431.63</a:t>
                      </a:r>
                    </a:p>
                  </a:txBody>
                  <a:tcPr>
                    <a:solidFill>
                      <a:srgbClr val="F1F5F8"/>
                    </a:solidFill>
                  </a:tcPr>
                </a:tc>
                <a:tc>
                  <a:txBody>
                    <a:bodyPr/>
                    <a:lstStyle/>
                    <a:p>
                      <a:r>
                        <a:rPr sz="1650" b="0">
                          <a:solidFill>
                            <a:srgbClr val="202B58"/>
                          </a:solidFill>
                          <a:latin typeface="Noto Sans JP"/>
                          <a:ea typeface="Noto Sans JP"/>
                          <a:cs typeface="Noto Sans JP"/>
                        </a:rPr>
                        <a:t>205</a:t>
                      </a:r>
                    </a:p>
                  </a:txBody>
                  <a:tcPr>
                    <a:solidFill>
                      <a:srgbClr val="F1F5F8"/>
                    </a:solidFill>
                  </a:tcPr>
                </a:tc>
                <a:tc>
                  <a:txBody>
                    <a:bodyPr/>
                    <a:lstStyle/>
                    <a:p>
                      <a:r>
                        <a:rPr sz="1650" b="0">
                          <a:solidFill>
                            <a:srgbClr val="202B58"/>
                          </a:solidFill>
                          <a:latin typeface="Noto Sans JP"/>
                          <a:ea typeface="Noto Sans JP"/>
                          <a:cs typeface="Noto Sans JP"/>
                        </a:rPr>
                        <a:t>5,621.7</a:t>
                      </a:r>
                    </a:p>
                  </a:txBody>
                  <a:tcPr>
                    <a:solidFill>
                      <a:srgbClr val="F1F5F8"/>
                    </a:solidFill>
                  </a:tcPr>
                </a:tc>
                <a:tc>
                  <a:txBody>
                    <a:bodyPr/>
                    <a:lstStyle/>
                    <a:p>
                      <a:r>
                        <a:rPr sz="1650" b="0">
                          <a:solidFill>
                            <a:srgbClr val="202B58"/>
                          </a:solidFill>
                          <a:latin typeface="Noto Sans JP"/>
                          <a:ea typeface="Noto Sans JP"/>
                          <a:cs typeface="Noto Sans JP"/>
                        </a:rPr>
                        <a:t>256.8</a:t>
                      </a:r>
                    </a:p>
                  </a:txBody>
                  <a:tcPr>
                    <a:solidFill>
                      <a:srgbClr val="F1F5F8"/>
                    </a:solidFill>
                  </a:tcPr>
                </a:tc>
                <a:extLst>
                  <a:ext uri="{0D108BD9-81ED-4DB2-BD59-A6C34878D82A}">
                    <a16:rowId xmlns:a16="http://schemas.microsoft.com/office/drawing/2014/main" val="10001"/>
                  </a:ext>
                </a:extLst>
              </a:tr>
              <a:tr h="530679">
                <a:tc>
                  <a:txBody>
                    <a:bodyPr/>
                    <a:lstStyle/>
                    <a:p>
                      <a:r>
                        <a:rPr sz="1650" b="0">
                          <a:solidFill>
                            <a:srgbClr val="202B58"/>
                          </a:solidFill>
                          <a:latin typeface="Noto Sans JP"/>
                          <a:ea typeface="Noto Sans JP"/>
                          <a:cs typeface="Noto Sans JP"/>
                        </a:rPr>
                        <a:t>2月</a:t>
                      </a:r>
                    </a:p>
                  </a:txBody>
                  <a:tcPr>
                    <a:solidFill>
                      <a:srgbClr val="FFFFFF"/>
                    </a:solidFill>
                  </a:tcPr>
                </a:tc>
                <a:tc>
                  <a:txBody>
                    <a:bodyPr/>
                    <a:lstStyle/>
                    <a:p>
                      <a:r>
                        <a:rPr sz="1650" b="0">
                          <a:solidFill>
                            <a:srgbClr val="202B58"/>
                          </a:solidFill>
                          <a:latin typeface="Noto Sans JP"/>
                          <a:ea typeface="Noto Sans JP"/>
                          <a:cs typeface="Noto Sans JP"/>
                        </a:rPr>
                        <a:t>02-03</a:t>
                      </a:r>
                    </a:p>
                  </a:txBody>
                  <a:tcPr>
                    <a:solidFill>
                      <a:srgbClr val="FFFFFF"/>
                    </a:solidFill>
                  </a:tcPr>
                </a:tc>
                <a:tc>
                  <a:txBody>
                    <a:bodyPr/>
                    <a:lstStyle/>
                    <a:p>
                      <a:r>
                        <a:rPr sz="1650" b="0">
                          <a:solidFill>
                            <a:srgbClr val="202B58"/>
                          </a:solidFill>
                          <a:latin typeface="Noto Sans JP"/>
                          <a:ea typeface="Noto Sans JP"/>
                          <a:cs typeface="Noto Sans JP"/>
                        </a:rPr>
                        <a:t>422.27</a:t>
                      </a:r>
                    </a:p>
                  </a:txBody>
                  <a:tcPr>
                    <a:solidFill>
                      <a:srgbClr val="FFFFFF"/>
                    </a:solidFill>
                  </a:tcPr>
                </a:tc>
                <a:tc>
                  <a:txBody>
                    <a:bodyPr/>
                    <a:lstStyle/>
                    <a:p>
                      <a:r>
                        <a:rPr sz="1650" b="0">
                          <a:solidFill>
                            <a:srgbClr val="202B58"/>
                          </a:solidFill>
                          <a:latin typeface="Noto Sans JP"/>
                          <a:ea typeface="Noto Sans JP"/>
                          <a:cs typeface="Noto Sans JP"/>
                        </a:rPr>
                        <a:t>206</a:t>
                      </a:r>
                    </a:p>
                  </a:txBody>
                  <a:tcPr>
                    <a:solidFill>
                      <a:srgbClr val="FFFFFF"/>
                    </a:solidFill>
                  </a:tcPr>
                </a:tc>
                <a:tc>
                  <a:txBody>
                    <a:bodyPr/>
                    <a:lstStyle/>
                    <a:p>
                      <a:r>
                        <a:rPr sz="1650" b="0">
                          <a:solidFill>
                            <a:srgbClr val="202B58"/>
                          </a:solidFill>
                          <a:latin typeface="Noto Sans JP"/>
                          <a:ea typeface="Noto Sans JP"/>
                          <a:cs typeface="Noto Sans JP"/>
                        </a:rPr>
                        <a:t>2,123.5</a:t>
                      </a:r>
                    </a:p>
                  </a:txBody>
                  <a:tcPr>
                    <a:solidFill>
                      <a:srgbClr val="FFFFFF"/>
                    </a:solidFill>
                  </a:tcPr>
                </a:tc>
                <a:tc>
                  <a:txBody>
                    <a:bodyPr/>
                    <a:lstStyle/>
                    <a:p>
                      <a:r>
                        <a:rPr sz="1650" b="0">
                          <a:solidFill>
                            <a:srgbClr val="202B58"/>
                          </a:solidFill>
                          <a:latin typeface="Noto Sans JP"/>
                          <a:ea typeface="Noto Sans JP"/>
                          <a:cs typeface="Noto Sans JP"/>
                        </a:rPr>
                        <a:t>200.0</a:t>
                      </a:r>
                    </a:p>
                  </a:txBody>
                  <a:tcPr>
                    <a:solidFill>
                      <a:srgbClr val="FFFFFF"/>
                    </a:solidFill>
                  </a:tcPr>
                </a:tc>
                <a:extLst>
                  <a:ext uri="{0D108BD9-81ED-4DB2-BD59-A6C34878D82A}">
                    <a16:rowId xmlns:a16="http://schemas.microsoft.com/office/drawing/2014/main" val="10002"/>
                  </a:ext>
                </a:extLst>
              </a:tr>
              <a:tr h="530679">
                <a:tc>
                  <a:txBody>
                    <a:bodyPr/>
                    <a:lstStyle/>
                    <a:p>
                      <a:r>
                        <a:rPr sz="1650" b="0">
                          <a:solidFill>
                            <a:srgbClr val="202B58"/>
                          </a:solidFill>
                          <a:latin typeface="Noto Sans JP"/>
                          <a:ea typeface="Noto Sans JP"/>
                          <a:cs typeface="Noto Sans JP"/>
                        </a:rPr>
                        <a:t>3月</a:t>
                      </a:r>
                    </a:p>
                  </a:txBody>
                  <a:tcPr>
                    <a:solidFill>
                      <a:srgbClr val="F1F5F8"/>
                    </a:solidFill>
                  </a:tcPr>
                </a:tc>
                <a:tc>
                  <a:txBody>
                    <a:bodyPr/>
                    <a:lstStyle/>
                    <a:p>
                      <a:r>
                        <a:rPr sz="1650" b="0">
                          <a:solidFill>
                            <a:srgbClr val="202B58"/>
                          </a:solidFill>
                          <a:latin typeface="Noto Sans JP"/>
                          <a:ea typeface="Noto Sans JP"/>
                          <a:cs typeface="Noto Sans JP"/>
                        </a:rPr>
                        <a:t>03-03</a:t>
                      </a:r>
                    </a:p>
                  </a:txBody>
                  <a:tcPr>
                    <a:solidFill>
                      <a:srgbClr val="F1F5F8"/>
                    </a:solidFill>
                  </a:tcPr>
                </a:tc>
                <a:tc>
                  <a:txBody>
                    <a:bodyPr/>
                    <a:lstStyle/>
                    <a:p>
                      <a:r>
                        <a:rPr sz="1650" b="0">
                          <a:solidFill>
                            <a:srgbClr val="202B58"/>
                          </a:solidFill>
                          <a:latin typeface="Noto Sans JP"/>
                          <a:ea typeface="Noto Sans JP"/>
                          <a:cs typeface="Noto Sans JP"/>
                        </a:rPr>
                        <a:t>466.45</a:t>
                      </a:r>
                    </a:p>
                  </a:txBody>
                  <a:tcPr>
                    <a:solidFill>
                      <a:srgbClr val="F1F5F8"/>
                    </a:solidFill>
                  </a:tcPr>
                </a:tc>
                <a:tc>
                  <a:txBody>
                    <a:bodyPr/>
                    <a:lstStyle/>
                    <a:p>
                      <a:r>
                        <a:rPr sz="1650" b="0">
                          <a:solidFill>
                            <a:srgbClr val="202B58"/>
                          </a:solidFill>
                          <a:latin typeface="Noto Sans JP"/>
                          <a:ea typeface="Noto Sans JP"/>
                          <a:cs typeface="Noto Sans JP"/>
                        </a:rPr>
                        <a:t>206</a:t>
                      </a:r>
                    </a:p>
                  </a:txBody>
                  <a:tcPr>
                    <a:solidFill>
                      <a:srgbClr val="F1F5F8"/>
                    </a:solidFill>
                  </a:tcPr>
                </a:tc>
                <a:tc>
                  <a:txBody>
                    <a:bodyPr/>
                    <a:lstStyle/>
                    <a:p>
                      <a:r>
                        <a:rPr sz="1650" b="0">
                          <a:solidFill>
                            <a:srgbClr val="202B58"/>
                          </a:solidFill>
                          <a:latin typeface="Noto Sans JP"/>
                          <a:ea typeface="Noto Sans JP"/>
                          <a:cs typeface="Noto Sans JP"/>
                        </a:rPr>
                        <a:t>7,794.1</a:t>
                      </a:r>
                    </a:p>
                  </a:txBody>
                  <a:tcPr>
                    <a:solidFill>
                      <a:srgbClr val="F1F5F8"/>
                    </a:solidFill>
                  </a:tcPr>
                </a:tc>
                <a:tc>
                  <a:txBody>
                    <a:bodyPr/>
                    <a:lstStyle/>
                    <a:p>
                      <a:r>
                        <a:rPr sz="1650" b="0">
                          <a:solidFill>
                            <a:srgbClr val="202B58"/>
                          </a:solidFill>
                          <a:latin typeface="Noto Sans JP"/>
                          <a:ea typeface="Noto Sans JP"/>
                          <a:cs typeface="Noto Sans JP"/>
                        </a:rPr>
                        <a:t>849.4</a:t>
                      </a:r>
                    </a:p>
                  </a:txBody>
                  <a:tcPr>
                    <a:solidFill>
                      <a:srgbClr val="F1F5F8"/>
                    </a:solidFill>
                  </a:tcPr>
                </a:tc>
                <a:extLst>
                  <a:ext uri="{0D108BD9-81ED-4DB2-BD59-A6C34878D82A}">
                    <a16:rowId xmlns:a16="http://schemas.microsoft.com/office/drawing/2014/main" val="10003"/>
                  </a:ext>
                </a:extLst>
              </a:tr>
              <a:tr h="530679">
                <a:tc>
                  <a:txBody>
                    <a:bodyPr/>
                    <a:lstStyle/>
                    <a:p>
                      <a:r>
                        <a:rPr sz="1650" b="0">
                          <a:solidFill>
                            <a:srgbClr val="202B58"/>
                          </a:solidFill>
                          <a:latin typeface="Noto Sans JP"/>
                          <a:ea typeface="Noto Sans JP"/>
                          <a:cs typeface="Noto Sans JP"/>
                        </a:rPr>
                        <a:t>4月</a:t>
                      </a:r>
                    </a:p>
                  </a:txBody>
                  <a:tcPr>
                    <a:solidFill>
                      <a:srgbClr val="FFFFFF"/>
                    </a:solidFill>
                  </a:tcPr>
                </a:tc>
                <a:tc>
                  <a:txBody>
                    <a:bodyPr/>
                    <a:lstStyle/>
                    <a:p>
                      <a:r>
                        <a:rPr sz="1650" b="0">
                          <a:solidFill>
                            <a:srgbClr val="202B58"/>
                          </a:solidFill>
                          <a:latin typeface="Noto Sans JP"/>
                          <a:ea typeface="Noto Sans JP"/>
                          <a:cs typeface="Noto Sans JP"/>
                        </a:rPr>
                        <a:t>04-07</a:t>
                      </a:r>
                    </a:p>
                  </a:txBody>
                  <a:tcPr>
                    <a:solidFill>
                      <a:srgbClr val="FFFFFF"/>
                    </a:solidFill>
                  </a:tcPr>
                </a:tc>
                <a:tc>
                  <a:txBody>
                    <a:bodyPr/>
                    <a:lstStyle/>
                    <a:p>
                      <a:r>
                        <a:rPr sz="1650" b="0">
                          <a:solidFill>
                            <a:srgbClr val="202B58"/>
                          </a:solidFill>
                          <a:latin typeface="Noto Sans JP"/>
                          <a:ea typeface="Noto Sans JP"/>
                          <a:cs typeface="Noto Sans JP"/>
                        </a:rPr>
                        <a:t>437.83</a:t>
                      </a:r>
                    </a:p>
                  </a:txBody>
                  <a:tcPr>
                    <a:solidFill>
                      <a:srgbClr val="FFFFFF"/>
                    </a:solidFill>
                  </a:tcPr>
                </a:tc>
                <a:tc>
                  <a:txBody>
                    <a:bodyPr/>
                    <a:lstStyle/>
                    <a:p>
                      <a:r>
                        <a:rPr sz="1650" b="0">
                          <a:solidFill>
                            <a:srgbClr val="202B58"/>
                          </a:solidFill>
                          <a:latin typeface="Noto Sans JP"/>
                          <a:ea typeface="Noto Sans JP"/>
                          <a:cs typeface="Noto Sans JP"/>
                        </a:rPr>
                        <a:t>206</a:t>
                      </a:r>
                    </a:p>
                  </a:txBody>
                  <a:tcPr>
                    <a:solidFill>
                      <a:srgbClr val="FFFFFF"/>
                    </a:solidFill>
                  </a:tcPr>
                </a:tc>
                <a:tc>
                  <a:txBody>
                    <a:bodyPr/>
                    <a:lstStyle/>
                    <a:p>
                      <a:r>
                        <a:rPr sz="1650" b="0">
                          <a:solidFill>
                            <a:srgbClr val="202B58"/>
                          </a:solidFill>
                          <a:latin typeface="Noto Sans JP"/>
                          <a:ea typeface="Noto Sans JP"/>
                          <a:cs typeface="Noto Sans JP"/>
                        </a:rPr>
                        <a:t>2,706.7</a:t>
                      </a:r>
                    </a:p>
                  </a:txBody>
                  <a:tcPr>
                    <a:solidFill>
                      <a:srgbClr val="FFFFFF"/>
                    </a:solidFill>
                  </a:tcPr>
                </a:tc>
                <a:tc>
                  <a:txBody>
                    <a:bodyPr/>
                    <a:lstStyle/>
                    <a:p>
                      <a:r>
                        <a:rPr sz="1650" b="0">
                          <a:solidFill>
                            <a:srgbClr val="202B58"/>
                          </a:solidFill>
                          <a:latin typeface="Noto Sans JP"/>
                          <a:ea typeface="Noto Sans JP"/>
                          <a:cs typeface="Noto Sans JP"/>
                        </a:rPr>
                        <a:t>420.0</a:t>
                      </a:r>
                    </a:p>
                  </a:txBody>
                  <a:tcPr>
                    <a:solidFill>
                      <a:srgbClr val="FFFFFF"/>
                    </a:solidFill>
                  </a:tcPr>
                </a:tc>
                <a:extLst>
                  <a:ext uri="{0D108BD9-81ED-4DB2-BD59-A6C34878D82A}">
                    <a16:rowId xmlns:a16="http://schemas.microsoft.com/office/drawing/2014/main" val="10004"/>
                  </a:ext>
                </a:extLst>
              </a:tr>
              <a:tr h="530679">
                <a:tc>
                  <a:txBody>
                    <a:bodyPr/>
                    <a:lstStyle/>
                    <a:p>
                      <a:r>
                        <a:rPr sz="1650" b="0">
                          <a:solidFill>
                            <a:srgbClr val="202B58"/>
                          </a:solidFill>
                          <a:latin typeface="Noto Sans JP"/>
                          <a:ea typeface="Noto Sans JP"/>
                          <a:cs typeface="Noto Sans JP"/>
                        </a:rPr>
                        <a:t>5月</a:t>
                      </a:r>
                    </a:p>
                  </a:txBody>
                  <a:tcPr>
                    <a:solidFill>
                      <a:srgbClr val="F1F5F8"/>
                    </a:solidFill>
                  </a:tcPr>
                </a:tc>
                <a:tc>
                  <a:txBody>
                    <a:bodyPr/>
                    <a:lstStyle/>
                    <a:p>
                      <a:r>
                        <a:rPr sz="1650" b="0">
                          <a:solidFill>
                            <a:srgbClr val="202B58"/>
                          </a:solidFill>
                          <a:latin typeface="Noto Sans JP"/>
                          <a:ea typeface="Noto Sans JP"/>
                          <a:cs typeface="Noto Sans JP"/>
                        </a:rPr>
                        <a:t>05-12</a:t>
                      </a:r>
                    </a:p>
                  </a:txBody>
                  <a:tcPr>
                    <a:solidFill>
                      <a:srgbClr val="F1F5F8"/>
                    </a:solidFill>
                  </a:tcPr>
                </a:tc>
                <a:tc>
                  <a:txBody>
                    <a:bodyPr/>
                    <a:lstStyle/>
                    <a:p>
                      <a:r>
                        <a:rPr sz="1650" b="0">
                          <a:solidFill>
                            <a:srgbClr val="202B58"/>
                          </a:solidFill>
                          <a:latin typeface="Noto Sans JP"/>
                          <a:ea typeface="Noto Sans JP"/>
                          <a:cs typeface="Noto Sans JP"/>
                        </a:rPr>
                        <a:t>434.43</a:t>
                      </a:r>
                    </a:p>
                  </a:txBody>
                  <a:tcPr>
                    <a:solidFill>
                      <a:srgbClr val="F1F5F8"/>
                    </a:solidFill>
                  </a:tcPr>
                </a:tc>
                <a:tc>
                  <a:txBody>
                    <a:bodyPr/>
                    <a:lstStyle/>
                    <a:p>
                      <a:r>
                        <a:rPr sz="1650" b="0">
                          <a:solidFill>
                            <a:srgbClr val="202B58"/>
                          </a:solidFill>
                          <a:latin typeface="Noto Sans JP"/>
                          <a:ea typeface="Noto Sans JP"/>
                          <a:cs typeface="Noto Sans JP"/>
                        </a:rPr>
                        <a:t>206</a:t>
                      </a:r>
                    </a:p>
                  </a:txBody>
                  <a:tcPr>
                    <a:solidFill>
                      <a:srgbClr val="F1F5F8"/>
                    </a:solidFill>
                  </a:tcPr>
                </a:tc>
                <a:tc>
                  <a:txBody>
                    <a:bodyPr/>
                    <a:lstStyle/>
                    <a:p>
                      <a:r>
                        <a:rPr sz="1650" b="0">
                          <a:solidFill>
                            <a:srgbClr val="202B58"/>
                          </a:solidFill>
                          <a:latin typeface="Noto Sans JP"/>
                          <a:ea typeface="Noto Sans JP"/>
                          <a:cs typeface="Noto Sans JP"/>
                        </a:rPr>
                        <a:t>3,981.9</a:t>
                      </a:r>
                    </a:p>
                  </a:txBody>
                  <a:tcPr>
                    <a:solidFill>
                      <a:srgbClr val="F1F5F8"/>
                    </a:solidFill>
                  </a:tcPr>
                </a:tc>
                <a:tc>
                  <a:txBody>
                    <a:bodyPr/>
                    <a:lstStyle/>
                    <a:p>
                      <a:r>
                        <a:rPr sz="1650" b="0">
                          <a:solidFill>
                            <a:srgbClr val="202B58"/>
                          </a:solidFill>
                          <a:latin typeface="Noto Sans JP"/>
                          <a:ea typeface="Noto Sans JP"/>
                          <a:cs typeface="Noto Sans JP"/>
                        </a:rPr>
                        <a:t>358.6</a:t>
                      </a:r>
                    </a:p>
                  </a:txBody>
                  <a:tcPr>
                    <a:solidFill>
                      <a:srgbClr val="F1F5F8"/>
                    </a:solidFill>
                  </a:tcPr>
                </a:tc>
                <a:extLst>
                  <a:ext uri="{0D108BD9-81ED-4DB2-BD59-A6C34878D82A}">
                    <a16:rowId xmlns:a16="http://schemas.microsoft.com/office/drawing/2014/main" val="10005"/>
                  </a:ext>
                </a:extLst>
              </a:tr>
              <a:tr h="530679">
                <a:tc>
                  <a:txBody>
                    <a:bodyPr/>
                    <a:lstStyle/>
                    <a:p>
                      <a:r>
                        <a:rPr sz="1650" b="0">
                          <a:solidFill>
                            <a:srgbClr val="202B58"/>
                          </a:solidFill>
                          <a:latin typeface="Noto Sans JP"/>
                          <a:ea typeface="Noto Sans JP"/>
                          <a:cs typeface="Noto Sans JP"/>
                        </a:rPr>
                        <a:t>6月</a:t>
                      </a:r>
                    </a:p>
                  </a:txBody>
                  <a:tcPr>
                    <a:solidFill>
                      <a:srgbClr val="FFFFFF"/>
                    </a:solidFill>
                  </a:tcPr>
                </a:tc>
                <a:tc>
                  <a:txBody>
                    <a:bodyPr/>
                    <a:lstStyle/>
                    <a:p>
                      <a:r>
                        <a:rPr sz="1650" b="0">
                          <a:solidFill>
                            <a:srgbClr val="202B58"/>
                          </a:solidFill>
                          <a:latin typeface="Noto Sans JP"/>
                          <a:ea typeface="Noto Sans JP"/>
                          <a:cs typeface="Noto Sans JP"/>
                        </a:rPr>
                        <a:t>06-02</a:t>
                      </a:r>
                    </a:p>
                  </a:txBody>
                  <a:tcPr>
                    <a:solidFill>
                      <a:srgbClr val="FFFFFF"/>
                    </a:solidFill>
                  </a:tcPr>
                </a:tc>
                <a:tc>
                  <a:txBody>
                    <a:bodyPr/>
                    <a:lstStyle/>
                    <a:p>
                      <a:r>
                        <a:rPr sz="1650" b="0">
                          <a:solidFill>
                            <a:srgbClr val="202B58"/>
                          </a:solidFill>
                          <a:latin typeface="Noto Sans JP"/>
                          <a:ea typeface="Noto Sans JP"/>
                          <a:cs typeface="Noto Sans JP"/>
                        </a:rPr>
                        <a:t>424.83</a:t>
                      </a:r>
                    </a:p>
                  </a:txBody>
                  <a:tcPr>
                    <a:solidFill>
                      <a:srgbClr val="FFFFFF"/>
                    </a:solidFill>
                  </a:tcPr>
                </a:tc>
                <a:tc>
                  <a:txBody>
                    <a:bodyPr/>
                    <a:lstStyle/>
                    <a:p>
                      <a:r>
                        <a:rPr sz="1650" b="0">
                          <a:solidFill>
                            <a:srgbClr val="202B58"/>
                          </a:solidFill>
                          <a:latin typeface="Noto Sans JP"/>
                          <a:ea typeface="Noto Sans JP"/>
                          <a:cs typeface="Noto Sans JP"/>
                        </a:rPr>
                        <a:t>206</a:t>
                      </a:r>
                    </a:p>
                  </a:txBody>
                  <a:tcPr>
                    <a:solidFill>
                      <a:srgbClr val="FFFFFF"/>
                    </a:solidFill>
                  </a:tcPr>
                </a:tc>
                <a:tc>
                  <a:txBody>
                    <a:bodyPr/>
                    <a:lstStyle/>
                    <a:p>
                      <a:r>
                        <a:rPr sz="1650" b="0">
                          <a:solidFill>
                            <a:srgbClr val="202B58"/>
                          </a:solidFill>
                          <a:latin typeface="Noto Sans JP"/>
                          <a:ea typeface="Noto Sans JP"/>
                          <a:cs typeface="Noto Sans JP"/>
                        </a:rPr>
                        <a:t>2,804.8</a:t>
                      </a:r>
                    </a:p>
                  </a:txBody>
                  <a:tcPr>
                    <a:solidFill>
                      <a:srgbClr val="FFFFFF"/>
                    </a:solidFill>
                  </a:tcPr>
                </a:tc>
                <a:tc>
                  <a:txBody>
                    <a:bodyPr/>
                    <a:lstStyle/>
                    <a:p>
                      <a:r>
                        <a:rPr sz="1650" b="0">
                          <a:solidFill>
                            <a:srgbClr val="202B58"/>
                          </a:solidFill>
                          <a:latin typeface="Noto Sans JP"/>
                          <a:ea typeface="Noto Sans JP"/>
                          <a:cs typeface="Noto Sans JP"/>
                        </a:rPr>
                        <a:t>244.1</a:t>
                      </a:r>
                    </a:p>
                  </a:txBody>
                  <a:tcPr>
                    <a:solidFill>
                      <a:srgbClr val="FFFFFF"/>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3610907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AE23F3C6-0E52-4FC0-BEA3-B6331665D36F}"/>
              </a:ext>
            </a:extLst>
          </p:cNvPr>
          <p:cNvSpPr>
            <a:spLocks noGrp="1"/>
          </p:cNvSpPr>
          <p:nvPr/>
        </p:nvSpPr>
        <p:spPr>
          <a:xfrm>
            <a:off x="419100" y="228600"/>
            <a:ext cx="11353800" cy="609600"/>
          </a:xfrm>
          <a:prstGeom prst="rect">
            <a:avLst/>
          </a:prstGeom>
          <a:noFill/>
          <a:ln w="0">
            <a:noFill/>
          </a:ln>
        </p:spPr>
        <p:txBody>
          <a:bodyPr>
            <a:noAutofit/>
          </a:bodyPr>
          <a:lstStyle/>
          <a:p>
            <a:pPr>
              <a:defRPr sz="2625" b="1">
                <a:solidFill>
                  <a:srgbClr val="202B58"/>
                </a:solidFill>
                <a:latin typeface="Noto Sans JP"/>
                <a:ea typeface="Noto Sans JP"/>
                <a:cs typeface="Noto Sans JP"/>
              </a:defRPr>
            </a:pPr>
            <a:r>
              <a:rPr sz="2625" b="1">
                <a:solidFill>
                  <a:srgbClr val="202B58"/>
                </a:solidFill>
                <a:latin typeface="Noto Sans JP"/>
                <a:ea typeface="Noto Sans JP"/>
                <a:cs typeface="Noto Sans JP"/>
              </a:rPr>
              <a:t>補足：月別の数値（7〜12月）</a:t>
            </a:r>
          </a:p>
        </p:txBody>
      </p:sp>
      <p:sp>
        <p:nvSpPr>
          <p:cNvPr id="2" name="正方形/長方形 1">
            <a:extLst>
              <a:ext uri="{FF2B5EF4-FFF2-40B4-BE49-F238E27FC236}">
                <a16:creationId xmlns:a16="http://schemas.microsoft.com/office/drawing/2014/main" id="{AA00D815-B439-4262-8D07-8FD807A00E15}"/>
              </a:ext>
            </a:extLst>
          </p:cNvPr>
          <p:cNvSpPr>
            <a:spLocks noGrp="1"/>
          </p:cNvSpPr>
          <p:nvPr/>
        </p:nvSpPr>
        <p:spPr>
          <a:xfrm>
            <a:off x="571500" y="981075"/>
            <a:ext cx="11049000" cy="590550"/>
          </a:xfrm>
          <a:prstGeom prst="rect">
            <a:avLst/>
          </a:prstGeom>
          <a:noFill/>
          <a:ln w="0">
            <a:noFill/>
          </a:ln>
        </p:spPr>
        <p:txBody>
          <a:bodyPr>
            <a:noAutofit/>
          </a:bodyPr>
          <a:lstStyle/>
          <a:p>
            <a:pPr>
              <a:defRPr sz="1725" b="0">
                <a:solidFill>
                  <a:srgbClr val="59687B"/>
                </a:solidFill>
                <a:latin typeface="Noto Sans JP"/>
                <a:ea typeface="Noto Sans JP"/>
                <a:cs typeface="Noto Sans JP"/>
              </a:defRPr>
            </a:pPr>
            <a:r>
              <a:rPr sz="1725" b="0">
                <a:solidFill>
                  <a:srgbClr val="59687B"/>
                </a:solidFill>
                <a:latin typeface="Noto Sans JP"/>
                <a:ea typeface="Noto Sans JP"/>
                <a:cs typeface="Noto Sans JP"/>
              </a:rPr>
              <a:t>各月1週の結果。電力量の単位はkWh、費用の単位は万円</a:t>
            </a:r>
          </a:p>
        </p:txBody>
      </p:sp>
      <p:sp>
        <p:nvSpPr>
          <p:cNvPr id="3" name="正方形/長方形 2">
            <a:extLst>
              <a:ext uri="{FF2B5EF4-FFF2-40B4-BE49-F238E27FC236}">
                <a16:creationId xmlns:a16="http://schemas.microsoft.com/office/drawing/2014/main" id="{4D7F6E3B-C50D-4FD3-A5EB-04E8E9AA024C}"/>
              </a:ext>
            </a:extLst>
          </p:cNvPr>
          <p:cNvSpPr>
            <a:spLocks noGrp="1"/>
          </p:cNvSpPr>
          <p:nvPr/>
        </p:nvSpPr>
        <p:spPr>
          <a:xfrm>
            <a:off x="571500" y="5638800"/>
            <a:ext cx="11049000" cy="56197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台日は各日の使用台数の合計。1台を2日使用すると2台日</a:t>
            </a:r>
          </a:p>
        </p:txBody>
      </p:sp>
      <p:sp>
        <p:nvSpPr>
          <p:cNvPr id="4" name="正方形/長方形 3">
            <a:extLst>
              <a:ext uri="{FF2B5EF4-FFF2-40B4-BE49-F238E27FC236}">
                <a16:creationId xmlns:a16="http://schemas.microsoft.com/office/drawing/2014/main" id="{7A059349-076F-4175-B593-CC14A11FE0E9}"/>
              </a:ext>
            </a:extLst>
          </p:cNvPr>
          <p:cNvSpPr>
            <a:spLocks noGrp="1"/>
          </p:cNvSpPr>
          <p:nvPr/>
        </p:nvSpPr>
        <p:spPr>
          <a:xfrm>
            <a:off x="571500" y="6248400"/>
            <a:ext cx="11049000" cy="314325"/>
          </a:xfrm>
          <a:prstGeom prst="rect">
            <a:avLst/>
          </a:prstGeom>
          <a:noFill/>
          <a:ln w="0">
            <a:noFill/>
          </a:ln>
        </p:spPr>
        <p:txBody>
          <a:bodyPr>
            <a:noAutofit/>
          </a:bodyPr>
          <a:lstStyle/>
          <a:p>
            <a:pPr>
              <a:defRPr sz="1275" b="0">
                <a:solidFill>
                  <a:srgbClr val="7E4D36"/>
                </a:solidFill>
                <a:latin typeface="Noto Sans JP"/>
                <a:ea typeface="Noto Sans JP"/>
                <a:cs typeface="Noto Sans JP"/>
              </a:defRPr>
            </a:pPr>
            <a:r>
              <a:rPr sz="1275" b="0">
                <a:solidFill>
                  <a:srgbClr val="7E4D36"/>
                </a:solidFill>
                <a:latin typeface="Noto Sans JP"/>
                <a:ea typeface="Noto Sans JP"/>
                <a:cs typeface="Noto Sans JP"/>
              </a:rPr>
              <a:t>表示は丸め値。月平均・年間合計ではない。全12週の原値は同じ固定版から取得。</a:t>
            </a:r>
          </a:p>
        </p:txBody>
      </p:sp>
      <p:sp>
        <p:nvSpPr>
          <p:cNvPr id="5" name="正方形/長方形 4">
            <a:extLst>
              <a:ext uri="{FF2B5EF4-FFF2-40B4-BE49-F238E27FC236}">
                <a16:creationId xmlns:a16="http://schemas.microsoft.com/office/drawing/2014/main" id="{7B2B31FD-A63C-4395-BC9E-62D13D2A7486}"/>
              </a:ext>
            </a:extLst>
          </p:cNvPr>
          <p:cNvSpPr>
            <a:spLocks noGrp="1"/>
          </p:cNvSpPr>
          <p:nvPr/>
        </p:nvSpPr>
        <p:spPr>
          <a:xfrm>
            <a:off x="419100" y="6638925"/>
            <a:ext cx="10096500" cy="180975"/>
          </a:xfrm>
          <a:prstGeom prst="rect">
            <a:avLst/>
          </a:prstGeom>
          <a:noFill/>
          <a:ln w="0">
            <a:noFill/>
          </a:ln>
        </p:spPr>
        <p:txBody>
          <a:bodyPr>
            <a:noAutofit/>
          </a:bodyPr>
          <a:lstStyle/>
          <a:p>
            <a:pPr>
              <a:defRPr sz="900" b="0">
                <a:solidFill>
                  <a:srgbClr val="59687B"/>
                </a:solidFill>
                <a:latin typeface="Noto Sans JP"/>
                <a:ea typeface="Noto Sans JP"/>
                <a:cs typeface="Noto Sans JP"/>
              </a:defRPr>
            </a:pPr>
            <a:r>
              <a:rPr sz="900" b="0">
                <a:solidFill>
                  <a:srgbClr val="59687B"/>
                </a:solidFill>
                <a:latin typeface="Noto Sans JP"/>
                <a:ea typeface="Noto Sans JP"/>
                <a:cs typeface="Noto Sans JP"/>
              </a:rPr>
              <a:t>修士研究　2026年9月18日　／　月別12週のシミュレーション（診断結果）</a:t>
            </a:r>
          </a:p>
        </p:txBody>
      </p:sp>
      <p:sp>
        <p:nvSpPr>
          <p:cNvPr id="6" name="正方形/長方形 5">
            <a:extLst>
              <a:ext uri="{FF2B5EF4-FFF2-40B4-BE49-F238E27FC236}">
                <a16:creationId xmlns:a16="http://schemas.microsoft.com/office/drawing/2014/main" id="{D324F0B0-2943-46FC-88FD-5D6E597C8AE1}"/>
              </a:ext>
            </a:extLst>
          </p:cNvPr>
          <p:cNvSpPr>
            <a:spLocks noGrp="1"/>
          </p:cNvSpPr>
          <p:nvPr/>
        </p:nvSpPr>
        <p:spPr>
          <a:xfrm>
            <a:off x="11144250" y="6610350"/>
            <a:ext cx="628650" cy="228600"/>
          </a:xfrm>
          <a:prstGeom prst="rect">
            <a:avLst/>
          </a:prstGeom>
          <a:noFill/>
          <a:ln w="0">
            <a:noFill/>
          </a:ln>
        </p:spPr>
        <p:txBody>
          <a:bodyPr>
            <a:noAutofit/>
          </a:bodyPr>
          <a:lstStyle/>
          <a:p>
            <a:pPr>
              <a:defRPr sz="1050" b="0">
                <a:solidFill>
                  <a:srgbClr val="59687B"/>
                </a:solidFill>
                <a:latin typeface="Noto Sans JP"/>
                <a:ea typeface="Noto Sans JP"/>
                <a:cs typeface="Noto Sans JP"/>
              </a:defRPr>
            </a:pPr>
            <a:r>
              <a:rPr sz="1050" b="0">
                <a:solidFill>
                  <a:srgbClr val="59687B"/>
                </a:solidFill>
                <a:latin typeface="Noto Sans JP"/>
                <a:ea typeface="Noto Sans JP"/>
                <a:cs typeface="Noto Sans JP"/>
              </a:rPr>
              <a:t>21/24</a:t>
            </a:r>
          </a:p>
        </p:txBody>
      </p:sp>
      <p:graphicFrame>
        <p:nvGraphicFramePr>
          <p:cNvPr id="14" name="表 13"/>
          <p:cNvGraphicFramePr/>
          <p:nvPr/>
        </p:nvGraphicFramePr>
        <p:xfrm>
          <a:off x="571500" y="1695450"/>
          <a:ext cx="11049000" cy="3714753"/>
        </p:xfrm>
        <a:graphic>
          <a:graphicData uri="http://schemas.openxmlformats.org/drawingml/2006/table">
            <a:tbl>
              <a:tblPr/>
              <a:tblGrid>
                <a:gridCol w="952500">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gridCol w="2143125">
                  <a:extLst>
                    <a:ext uri="{9D8B030D-6E8A-4147-A177-3AD203B41FA5}">
                      <a16:colId xmlns:a16="http://schemas.microsoft.com/office/drawing/2014/main" val="20002"/>
                    </a:ext>
                  </a:extLst>
                </a:gridCol>
                <a:gridCol w="1857375">
                  <a:extLst>
                    <a:ext uri="{9D8B030D-6E8A-4147-A177-3AD203B41FA5}">
                      <a16:colId xmlns:a16="http://schemas.microsoft.com/office/drawing/2014/main" val="20003"/>
                    </a:ext>
                  </a:extLst>
                </a:gridCol>
                <a:gridCol w="2286000">
                  <a:extLst>
                    <a:ext uri="{9D8B030D-6E8A-4147-A177-3AD203B41FA5}">
                      <a16:colId xmlns:a16="http://schemas.microsoft.com/office/drawing/2014/main" val="20004"/>
                    </a:ext>
                  </a:extLst>
                </a:gridCol>
                <a:gridCol w="2286000">
                  <a:extLst>
                    <a:ext uri="{9D8B030D-6E8A-4147-A177-3AD203B41FA5}">
                      <a16:colId xmlns:a16="http://schemas.microsoft.com/office/drawing/2014/main" val="20005"/>
                    </a:ext>
                  </a:extLst>
                </a:gridCol>
              </a:tblGrid>
              <a:tr h="530679">
                <a:tc>
                  <a:txBody>
                    <a:bodyPr/>
                    <a:lstStyle/>
                    <a:p>
                      <a:r>
                        <a:rPr sz="1650" b="1">
                          <a:solidFill>
                            <a:srgbClr val="FFFFFF"/>
                          </a:solidFill>
                          <a:latin typeface="Noto Sans JP"/>
                          <a:ea typeface="Noto Sans JP"/>
                          <a:cs typeface="Noto Sans JP"/>
                        </a:rPr>
                        <a:t>月</a:t>
                      </a:r>
                    </a:p>
                  </a:txBody>
                  <a:tcPr>
                    <a:solidFill>
                      <a:srgbClr val="202B58"/>
                    </a:solidFill>
                  </a:tcPr>
                </a:tc>
                <a:tc>
                  <a:txBody>
                    <a:bodyPr/>
                    <a:lstStyle/>
                    <a:p>
                      <a:r>
                        <a:rPr sz="1650" b="1">
                          <a:solidFill>
                            <a:srgbClr val="FFFFFF"/>
                          </a:solidFill>
                          <a:latin typeface="Noto Sans JP"/>
                          <a:ea typeface="Noto Sans JP"/>
                          <a:cs typeface="Noto Sans JP"/>
                        </a:rPr>
                        <a:t>週開始</a:t>
                      </a:r>
                    </a:p>
                  </a:txBody>
                  <a:tcPr>
                    <a:solidFill>
                      <a:srgbClr val="202B58"/>
                    </a:solidFill>
                  </a:tcPr>
                </a:tc>
                <a:tc>
                  <a:txBody>
                    <a:bodyPr/>
                    <a:lstStyle/>
                    <a:p>
                      <a:r>
                        <a:rPr sz="1650" b="1">
                          <a:solidFill>
                            <a:srgbClr val="FFFFFF"/>
                          </a:solidFill>
                          <a:latin typeface="Noto Sans JP"/>
                          <a:ea typeface="Noto Sans JP"/>
                          <a:cs typeface="Noto Sans JP"/>
                        </a:rPr>
                        <a:t>週間費用 [万円]</a:t>
                      </a:r>
                    </a:p>
                  </a:txBody>
                  <a:tcPr>
                    <a:solidFill>
                      <a:srgbClr val="202B58"/>
                    </a:solidFill>
                  </a:tcPr>
                </a:tc>
                <a:tc>
                  <a:txBody>
                    <a:bodyPr/>
                    <a:lstStyle/>
                    <a:p>
                      <a:r>
                        <a:rPr sz="1650" b="1">
                          <a:solidFill>
                            <a:srgbClr val="FFFFFF"/>
                          </a:solidFill>
                          <a:latin typeface="Noto Sans JP"/>
                          <a:ea typeface="Noto Sans JP"/>
                          <a:cs typeface="Noto Sans JP"/>
                        </a:rPr>
                        <a:t>使用 [台日]</a:t>
                      </a:r>
                    </a:p>
                  </a:txBody>
                  <a:tcPr>
                    <a:solidFill>
                      <a:srgbClr val="202B58"/>
                    </a:solidFill>
                  </a:tcPr>
                </a:tc>
                <a:tc>
                  <a:txBody>
                    <a:bodyPr/>
                    <a:lstStyle/>
                    <a:p>
                      <a:r>
                        <a:rPr sz="1650" b="1">
                          <a:solidFill>
                            <a:srgbClr val="FFFFFF"/>
                          </a:solidFill>
                          <a:latin typeface="Noto Sans JP"/>
                          <a:ea typeface="Noto Sans JP"/>
                          <a:cs typeface="Noto Sans JP"/>
                        </a:rPr>
                        <a:t>週間購入電力量</a:t>
                      </a:r>
                    </a:p>
                  </a:txBody>
                  <a:tcPr>
                    <a:solidFill>
                      <a:srgbClr val="202B58"/>
                    </a:solidFill>
                  </a:tcPr>
                </a:tc>
                <a:tc>
                  <a:txBody>
                    <a:bodyPr/>
                    <a:lstStyle/>
                    <a:p>
                      <a:r>
                        <a:rPr sz="1650" b="1">
                          <a:solidFill>
                            <a:srgbClr val="FFFFFF"/>
                          </a:solidFill>
                          <a:latin typeface="Noto Sans JP"/>
                          <a:ea typeface="Noto Sans JP"/>
                          <a:cs typeface="Noto Sans JP"/>
                        </a:rPr>
                        <a:t>受電ピーク [kW]</a:t>
                      </a:r>
                    </a:p>
                  </a:txBody>
                  <a:tcPr>
                    <a:solidFill>
                      <a:srgbClr val="202B58"/>
                    </a:solidFill>
                  </a:tcPr>
                </a:tc>
                <a:extLst>
                  <a:ext uri="{0D108BD9-81ED-4DB2-BD59-A6C34878D82A}">
                    <a16:rowId xmlns:a16="http://schemas.microsoft.com/office/drawing/2014/main" val="10000"/>
                  </a:ext>
                </a:extLst>
              </a:tr>
              <a:tr h="530679">
                <a:tc>
                  <a:txBody>
                    <a:bodyPr/>
                    <a:lstStyle/>
                    <a:p>
                      <a:r>
                        <a:rPr sz="1650" b="0">
                          <a:solidFill>
                            <a:srgbClr val="202B58"/>
                          </a:solidFill>
                          <a:latin typeface="Noto Sans JP"/>
                          <a:ea typeface="Noto Sans JP"/>
                          <a:cs typeface="Noto Sans JP"/>
                        </a:rPr>
                        <a:t>7月</a:t>
                      </a:r>
                    </a:p>
                  </a:txBody>
                  <a:tcPr>
                    <a:solidFill>
                      <a:srgbClr val="F1F5F8"/>
                    </a:solidFill>
                  </a:tcPr>
                </a:tc>
                <a:tc>
                  <a:txBody>
                    <a:bodyPr/>
                    <a:lstStyle/>
                    <a:p>
                      <a:r>
                        <a:rPr sz="1650" b="0">
                          <a:solidFill>
                            <a:srgbClr val="202B58"/>
                          </a:solidFill>
                          <a:latin typeface="Noto Sans JP"/>
                          <a:ea typeface="Noto Sans JP"/>
                          <a:cs typeface="Noto Sans JP"/>
                        </a:rPr>
                        <a:t>07-07</a:t>
                      </a:r>
                    </a:p>
                  </a:txBody>
                  <a:tcPr>
                    <a:solidFill>
                      <a:srgbClr val="F1F5F8"/>
                    </a:solidFill>
                  </a:tcPr>
                </a:tc>
                <a:tc>
                  <a:txBody>
                    <a:bodyPr/>
                    <a:lstStyle/>
                    <a:p>
                      <a:r>
                        <a:rPr sz="1650" b="0">
                          <a:solidFill>
                            <a:srgbClr val="202B58"/>
                          </a:solidFill>
                          <a:latin typeface="Noto Sans JP"/>
                          <a:ea typeface="Noto Sans JP"/>
                          <a:cs typeface="Noto Sans JP"/>
                        </a:rPr>
                        <a:t>421.86</a:t>
                      </a:r>
                    </a:p>
                  </a:txBody>
                  <a:tcPr>
                    <a:solidFill>
                      <a:srgbClr val="F1F5F8"/>
                    </a:solidFill>
                  </a:tcPr>
                </a:tc>
                <a:tc>
                  <a:txBody>
                    <a:bodyPr/>
                    <a:lstStyle/>
                    <a:p>
                      <a:r>
                        <a:rPr sz="1650" b="0">
                          <a:solidFill>
                            <a:srgbClr val="202B58"/>
                          </a:solidFill>
                          <a:latin typeface="Noto Sans JP"/>
                          <a:ea typeface="Noto Sans JP"/>
                          <a:cs typeface="Noto Sans JP"/>
                        </a:rPr>
                        <a:t>206</a:t>
                      </a:r>
                    </a:p>
                  </a:txBody>
                  <a:tcPr>
                    <a:solidFill>
                      <a:srgbClr val="F1F5F8"/>
                    </a:solidFill>
                  </a:tcPr>
                </a:tc>
                <a:tc>
                  <a:txBody>
                    <a:bodyPr/>
                    <a:lstStyle/>
                    <a:p>
                      <a:r>
                        <a:rPr sz="1650" b="0">
                          <a:solidFill>
                            <a:srgbClr val="202B58"/>
                          </a:solidFill>
                          <a:latin typeface="Noto Sans JP"/>
                          <a:ea typeface="Noto Sans JP"/>
                          <a:cs typeface="Noto Sans JP"/>
                        </a:rPr>
                        <a:t>1,746.4</a:t>
                      </a:r>
                    </a:p>
                  </a:txBody>
                  <a:tcPr>
                    <a:solidFill>
                      <a:srgbClr val="F1F5F8"/>
                    </a:solidFill>
                  </a:tcPr>
                </a:tc>
                <a:tc>
                  <a:txBody>
                    <a:bodyPr/>
                    <a:lstStyle/>
                    <a:p>
                      <a:r>
                        <a:rPr sz="1650" b="0">
                          <a:solidFill>
                            <a:srgbClr val="202B58"/>
                          </a:solidFill>
                          <a:latin typeface="Noto Sans JP"/>
                          <a:ea typeface="Noto Sans JP"/>
                          <a:cs typeface="Noto Sans JP"/>
                        </a:rPr>
                        <a:t>227.0</a:t>
                      </a:r>
                    </a:p>
                  </a:txBody>
                  <a:tcPr>
                    <a:solidFill>
                      <a:srgbClr val="F1F5F8"/>
                    </a:solidFill>
                  </a:tcPr>
                </a:tc>
                <a:extLst>
                  <a:ext uri="{0D108BD9-81ED-4DB2-BD59-A6C34878D82A}">
                    <a16:rowId xmlns:a16="http://schemas.microsoft.com/office/drawing/2014/main" val="10001"/>
                  </a:ext>
                </a:extLst>
              </a:tr>
              <a:tr h="530679">
                <a:tc>
                  <a:txBody>
                    <a:bodyPr/>
                    <a:lstStyle/>
                    <a:p>
                      <a:r>
                        <a:rPr sz="1650" b="0">
                          <a:solidFill>
                            <a:srgbClr val="202B58"/>
                          </a:solidFill>
                          <a:latin typeface="Noto Sans JP"/>
                          <a:ea typeface="Noto Sans JP"/>
                          <a:cs typeface="Noto Sans JP"/>
                        </a:rPr>
                        <a:t>8月</a:t>
                      </a:r>
                    </a:p>
                  </a:txBody>
                  <a:tcPr>
                    <a:solidFill>
                      <a:srgbClr val="FFFFFF"/>
                    </a:solidFill>
                  </a:tcPr>
                </a:tc>
                <a:tc>
                  <a:txBody>
                    <a:bodyPr/>
                    <a:lstStyle/>
                    <a:p>
                      <a:r>
                        <a:rPr sz="1650" b="0">
                          <a:solidFill>
                            <a:srgbClr val="202B58"/>
                          </a:solidFill>
                          <a:latin typeface="Noto Sans JP"/>
                          <a:ea typeface="Noto Sans JP"/>
                          <a:cs typeface="Noto Sans JP"/>
                        </a:rPr>
                        <a:t>08-04</a:t>
                      </a:r>
                    </a:p>
                  </a:txBody>
                  <a:tcPr>
                    <a:solidFill>
                      <a:srgbClr val="FFFFFF"/>
                    </a:solidFill>
                  </a:tcPr>
                </a:tc>
                <a:tc>
                  <a:txBody>
                    <a:bodyPr/>
                    <a:lstStyle/>
                    <a:p>
                      <a:r>
                        <a:rPr sz="1650" b="0">
                          <a:solidFill>
                            <a:srgbClr val="202B58"/>
                          </a:solidFill>
                          <a:latin typeface="Noto Sans JP"/>
                          <a:ea typeface="Noto Sans JP"/>
                          <a:cs typeface="Noto Sans JP"/>
                        </a:rPr>
                        <a:t>439.18</a:t>
                      </a:r>
                    </a:p>
                  </a:txBody>
                  <a:tcPr>
                    <a:solidFill>
                      <a:srgbClr val="FFFFFF"/>
                    </a:solidFill>
                  </a:tcPr>
                </a:tc>
                <a:tc>
                  <a:txBody>
                    <a:bodyPr/>
                    <a:lstStyle/>
                    <a:p>
                      <a:r>
                        <a:rPr sz="1650" b="0">
                          <a:solidFill>
                            <a:srgbClr val="202B58"/>
                          </a:solidFill>
                          <a:latin typeface="Noto Sans JP"/>
                          <a:ea typeface="Noto Sans JP"/>
                          <a:cs typeface="Noto Sans JP"/>
                        </a:rPr>
                        <a:t>206</a:t>
                      </a:r>
                    </a:p>
                  </a:txBody>
                  <a:tcPr>
                    <a:solidFill>
                      <a:srgbClr val="FFFFFF"/>
                    </a:solidFill>
                  </a:tcPr>
                </a:tc>
                <a:tc>
                  <a:txBody>
                    <a:bodyPr/>
                    <a:lstStyle/>
                    <a:p>
                      <a:r>
                        <a:rPr sz="1650" b="0">
                          <a:solidFill>
                            <a:srgbClr val="202B58"/>
                          </a:solidFill>
                          <a:latin typeface="Noto Sans JP"/>
                          <a:ea typeface="Noto Sans JP"/>
                          <a:cs typeface="Noto Sans JP"/>
                        </a:rPr>
                        <a:t>2,723.8</a:t>
                      </a:r>
                    </a:p>
                  </a:txBody>
                  <a:tcPr>
                    <a:solidFill>
                      <a:srgbClr val="FFFFFF"/>
                    </a:solidFill>
                  </a:tcPr>
                </a:tc>
                <a:tc>
                  <a:txBody>
                    <a:bodyPr/>
                    <a:lstStyle/>
                    <a:p>
                      <a:r>
                        <a:rPr sz="1650" b="0">
                          <a:solidFill>
                            <a:srgbClr val="202B58"/>
                          </a:solidFill>
                          <a:latin typeface="Noto Sans JP"/>
                          <a:ea typeface="Noto Sans JP"/>
                          <a:cs typeface="Noto Sans JP"/>
                        </a:rPr>
                        <a:t>420.0</a:t>
                      </a:r>
                    </a:p>
                  </a:txBody>
                  <a:tcPr>
                    <a:solidFill>
                      <a:srgbClr val="FFFFFF"/>
                    </a:solidFill>
                  </a:tcPr>
                </a:tc>
                <a:extLst>
                  <a:ext uri="{0D108BD9-81ED-4DB2-BD59-A6C34878D82A}">
                    <a16:rowId xmlns:a16="http://schemas.microsoft.com/office/drawing/2014/main" val="10002"/>
                  </a:ext>
                </a:extLst>
              </a:tr>
              <a:tr h="530679">
                <a:tc>
                  <a:txBody>
                    <a:bodyPr/>
                    <a:lstStyle/>
                    <a:p>
                      <a:r>
                        <a:rPr sz="1650" b="0">
                          <a:solidFill>
                            <a:srgbClr val="202B58"/>
                          </a:solidFill>
                          <a:latin typeface="Noto Sans JP"/>
                          <a:ea typeface="Noto Sans JP"/>
                          <a:cs typeface="Noto Sans JP"/>
                        </a:rPr>
                        <a:t>9月</a:t>
                      </a:r>
                    </a:p>
                  </a:txBody>
                  <a:tcPr>
                    <a:solidFill>
                      <a:srgbClr val="F1F5F8"/>
                    </a:solidFill>
                  </a:tcPr>
                </a:tc>
                <a:tc>
                  <a:txBody>
                    <a:bodyPr/>
                    <a:lstStyle/>
                    <a:p>
                      <a:r>
                        <a:rPr sz="1650" b="0">
                          <a:solidFill>
                            <a:srgbClr val="202B58"/>
                          </a:solidFill>
                          <a:latin typeface="Noto Sans JP"/>
                          <a:ea typeface="Noto Sans JP"/>
                          <a:cs typeface="Noto Sans JP"/>
                        </a:rPr>
                        <a:t>09-01</a:t>
                      </a:r>
                    </a:p>
                  </a:txBody>
                  <a:tcPr>
                    <a:solidFill>
                      <a:srgbClr val="F1F5F8"/>
                    </a:solidFill>
                  </a:tcPr>
                </a:tc>
                <a:tc>
                  <a:txBody>
                    <a:bodyPr/>
                    <a:lstStyle/>
                    <a:p>
                      <a:r>
                        <a:rPr sz="1650" b="0">
                          <a:solidFill>
                            <a:srgbClr val="202B58"/>
                          </a:solidFill>
                          <a:latin typeface="Noto Sans JP"/>
                          <a:ea typeface="Noto Sans JP"/>
                          <a:cs typeface="Noto Sans JP"/>
                        </a:rPr>
                        <a:t>432.09</a:t>
                      </a:r>
                    </a:p>
                  </a:txBody>
                  <a:tcPr>
                    <a:solidFill>
                      <a:srgbClr val="F1F5F8"/>
                    </a:solidFill>
                  </a:tcPr>
                </a:tc>
                <a:tc>
                  <a:txBody>
                    <a:bodyPr/>
                    <a:lstStyle/>
                    <a:p>
                      <a:r>
                        <a:rPr sz="1650" b="0">
                          <a:solidFill>
                            <a:srgbClr val="202B58"/>
                          </a:solidFill>
                          <a:latin typeface="Noto Sans JP"/>
                          <a:ea typeface="Noto Sans JP"/>
                          <a:cs typeface="Noto Sans JP"/>
                        </a:rPr>
                        <a:t>206</a:t>
                      </a:r>
                    </a:p>
                  </a:txBody>
                  <a:tcPr>
                    <a:solidFill>
                      <a:srgbClr val="F1F5F8"/>
                    </a:solidFill>
                  </a:tcPr>
                </a:tc>
                <a:tc>
                  <a:txBody>
                    <a:bodyPr/>
                    <a:lstStyle/>
                    <a:p>
                      <a:r>
                        <a:rPr sz="1650" b="0">
                          <a:solidFill>
                            <a:srgbClr val="202B58"/>
                          </a:solidFill>
                          <a:latin typeface="Noto Sans JP"/>
                          <a:ea typeface="Noto Sans JP"/>
                          <a:cs typeface="Noto Sans JP"/>
                        </a:rPr>
                        <a:t>3,619.5</a:t>
                      </a:r>
                    </a:p>
                  </a:txBody>
                  <a:tcPr>
                    <a:solidFill>
                      <a:srgbClr val="F1F5F8"/>
                    </a:solidFill>
                  </a:tcPr>
                </a:tc>
                <a:tc>
                  <a:txBody>
                    <a:bodyPr/>
                    <a:lstStyle/>
                    <a:p>
                      <a:r>
                        <a:rPr sz="1650" b="0">
                          <a:solidFill>
                            <a:srgbClr val="202B58"/>
                          </a:solidFill>
                          <a:latin typeface="Noto Sans JP"/>
                          <a:ea typeface="Noto Sans JP"/>
                          <a:cs typeface="Noto Sans JP"/>
                        </a:rPr>
                        <a:t>270.0</a:t>
                      </a:r>
                    </a:p>
                  </a:txBody>
                  <a:tcPr>
                    <a:solidFill>
                      <a:srgbClr val="F1F5F8"/>
                    </a:solidFill>
                  </a:tcPr>
                </a:tc>
                <a:extLst>
                  <a:ext uri="{0D108BD9-81ED-4DB2-BD59-A6C34878D82A}">
                    <a16:rowId xmlns:a16="http://schemas.microsoft.com/office/drawing/2014/main" val="10003"/>
                  </a:ext>
                </a:extLst>
              </a:tr>
              <a:tr h="530679">
                <a:tc>
                  <a:txBody>
                    <a:bodyPr/>
                    <a:lstStyle/>
                    <a:p>
                      <a:r>
                        <a:rPr sz="1650" b="0">
                          <a:solidFill>
                            <a:srgbClr val="202B58"/>
                          </a:solidFill>
                          <a:latin typeface="Noto Sans JP"/>
                          <a:ea typeface="Noto Sans JP"/>
                          <a:cs typeface="Noto Sans JP"/>
                        </a:rPr>
                        <a:t>10月</a:t>
                      </a:r>
                    </a:p>
                  </a:txBody>
                  <a:tcPr>
                    <a:solidFill>
                      <a:srgbClr val="FFFFFF"/>
                    </a:solidFill>
                  </a:tcPr>
                </a:tc>
                <a:tc>
                  <a:txBody>
                    <a:bodyPr/>
                    <a:lstStyle/>
                    <a:p>
                      <a:r>
                        <a:rPr sz="1650" b="0">
                          <a:solidFill>
                            <a:srgbClr val="202B58"/>
                          </a:solidFill>
                          <a:latin typeface="Noto Sans JP"/>
                          <a:ea typeface="Noto Sans JP"/>
                          <a:cs typeface="Noto Sans JP"/>
                        </a:rPr>
                        <a:t>10-06</a:t>
                      </a:r>
                    </a:p>
                  </a:txBody>
                  <a:tcPr>
                    <a:solidFill>
                      <a:srgbClr val="FFFFFF"/>
                    </a:solidFill>
                  </a:tcPr>
                </a:tc>
                <a:tc>
                  <a:txBody>
                    <a:bodyPr/>
                    <a:lstStyle/>
                    <a:p>
                      <a:r>
                        <a:rPr sz="1650" b="0">
                          <a:solidFill>
                            <a:srgbClr val="202B58"/>
                          </a:solidFill>
                          <a:latin typeface="Noto Sans JP"/>
                          <a:ea typeface="Noto Sans JP"/>
                          <a:cs typeface="Noto Sans JP"/>
                        </a:rPr>
                        <a:t>426.93</a:t>
                      </a:r>
                    </a:p>
                  </a:txBody>
                  <a:tcPr>
                    <a:solidFill>
                      <a:srgbClr val="FFFFFF"/>
                    </a:solidFill>
                  </a:tcPr>
                </a:tc>
                <a:tc>
                  <a:txBody>
                    <a:bodyPr/>
                    <a:lstStyle/>
                    <a:p>
                      <a:r>
                        <a:rPr sz="1650" b="0">
                          <a:solidFill>
                            <a:srgbClr val="202B58"/>
                          </a:solidFill>
                          <a:latin typeface="Noto Sans JP"/>
                          <a:ea typeface="Noto Sans JP"/>
                          <a:cs typeface="Noto Sans JP"/>
                        </a:rPr>
                        <a:t>205</a:t>
                      </a:r>
                    </a:p>
                  </a:txBody>
                  <a:tcPr>
                    <a:solidFill>
                      <a:srgbClr val="FFFFFF"/>
                    </a:solidFill>
                  </a:tcPr>
                </a:tc>
                <a:tc>
                  <a:txBody>
                    <a:bodyPr/>
                    <a:lstStyle/>
                    <a:p>
                      <a:r>
                        <a:rPr sz="1650" b="0">
                          <a:solidFill>
                            <a:srgbClr val="202B58"/>
                          </a:solidFill>
                          <a:latin typeface="Noto Sans JP"/>
                          <a:ea typeface="Noto Sans JP"/>
                          <a:cs typeface="Noto Sans JP"/>
                        </a:rPr>
                        <a:t>4,294.1</a:t>
                      </a:r>
                    </a:p>
                  </a:txBody>
                  <a:tcPr>
                    <a:solidFill>
                      <a:srgbClr val="FFFFFF"/>
                    </a:solidFill>
                  </a:tcPr>
                </a:tc>
                <a:tc>
                  <a:txBody>
                    <a:bodyPr/>
                    <a:lstStyle/>
                    <a:p>
                      <a:r>
                        <a:rPr sz="1650" b="0">
                          <a:solidFill>
                            <a:srgbClr val="202B58"/>
                          </a:solidFill>
                          <a:latin typeface="Noto Sans JP"/>
                          <a:ea typeface="Noto Sans JP"/>
                          <a:cs typeface="Noto Sans JP"/>
                        </a:rPr>
                        <a:t>209.6</a:t>
                      </a:r>
                    </a:p>
                  </a:txBody>
                  <a:tcPr>
                    <a:solidFill>
                      <a:srgbClr val="FFFFFF"/>
                    </a:solidFill>
                  </a:tcPr>
                </a:tc>
                <a:extLst>
                  <a:ext uri="{0D108BD9-81ED-4DB2-BD59-A6C34878D82A}">
                    <a16:rowId xmlns:a16="http://schemas.microsoft.com/office/drawing/2014/main" val="10004"/>
                  </a:ext>
                </a:extLst>
              </a:tr>
              <a:tr h="530679">
                <a:tc>
                  <a:txBody>
                    <a:bodyPr/>
                    <a:lstStyle/>
                    <a:p>
                      <a:r>
                        <a:rPr sz="1650" b="0">
                          <a:solidFill>
                            <a:srgbClr val="202B58"/>
                          </a:solidFill>
                          <a:latin typeface="Noto Sans JP"/>
                          <a:ea typeface="Noto Sans JP"/>
                          <a:cs typeface="Noto Sans JP"/>
                        </a:rPr>
                        <a:t>11月</a:t>
                      </a:r>
                    </a:p>
                  </a:txBody>
                  <a:tcPr>
                    <a:solidFill>
                      <a:srgbClr val="F1F5F8"/>
                    </a:solidFill>
                  </a:tcPr>
                </a:tc>
                <a:tc>
                  <a:txBody>
                    <a:bodyPr/>
                    <a:lstStyle/>
                    <a:p>
                      <a:r>
                        <a:rPr sz="1650" b="0">
                          <a:solidFill>
                            <a:srgbClr val="202B58"/>
                          </a:solidFill>
                          <a:latin typeface="Noto Sans JP"/>
                          <a:ea typeface="Noto Sans JP"/>
                          <a:cs typeface="Noto Sans JP"/>
                        </a:rPr>
                        <a:t>11-10</a:t>
                      </a:r>
                    </a:p>
                  </a:txBody>
                  <a:tcPr>
                    <a:solidFill>
                      <a:srgbClr val="F1F5F8"/>
                    </a:solidFill>
                  </a:tcPr>
                </a:tc>
                <a:tc>
                  <a:txBody>
                    <a:bodyPr/>
                    <a:lstStyle/>
                    <a:p>
                      <a:r>
                        <a:rPr sz="1650" b="0">
                          <a:solidFill>
                            <a:srgbClr val="202B58"/>
                          </a:solidFill>
                          <a:latin typeface="Noto Sans JP"/>
                          <a:ea typeface="Noto Sans JP"/>
                          <a:cs typeface="Noto Sans JP"/>
                        </a:rPr>
                        <a:t>442.46</a:t>
                      </a:r>
                    </a:p>
                  </a:txBody>
                  <a:tcPr>
                    <a:solidFill>
                      <a:srgbClr val="F1F5F8"/>
                    </a:solidFill>
                  </a:tcPr>
                </a:tc>
                <a:tc>
                  <a:txBody>
                    <a:bodyPr/>
                    <a:lstStyle/>
                    <a:p>
                      <a:r>
                        <a:rPr sz="1650" b="0">
                          <a:solidFill>
                            <a:srgbClr val="202B58"/>
                          </a:solidFill>
                          <a:latin typeface="Noto Sans JP"/>
                          <a:ea typeface="Noto Sans JP"/>
                          <a:cs typeface="Noto Sans JP"/>
                        </a:rPr>
                        <a:t>206</a:t>
                      </a:r>
                    </a:p>
                  </a:txBody>
                  <a:tcPr>
                    <a:solidFill>
                      <a:srgbClr val="F1F5F8"/>
                    </a:solidFill>
                  </a:tcPr>
                </a:tc>
                <a:tc>
                  <a:txBody>
                    <a:bodyPr/>
                    <a:lstStyle/>
                    <a:p>
                      <a:r>
                        <a:rPr sz="1650" b="0">
                          <a:solidFill>
                            <a:srgbClr val="202B58"/>
                          </a:solidFill>
                          <a:latin typeface="Noto Sans JP"/>
                          <a:ea typeface="Noto Sans JP"/>
                          <a:cs typeface="Noto Sans JP"/>
                        </a:rPr>
                        <a:t>7,302.4</a:t>
                      </a:r>
                    </a:p>
                  </a:txBody>
                  <a:tcPr>
                    <a:solidFill>
                      <a:srgbClr val="F1F5F8"/>
                    </a:solidFill>
                  </a:tcPr>
                </a:tc>
                <a:tc>
                  <a:txBody>
                    <a:bodyPr/>
                    <a:lstStyle/>
                    <a:p>
                      <a:r>
                        <a:rPr sz="1650" b="0">
                          <a:solidFill>
                            <a:srgbClr val="202B58"/>
                          </a:solidFill>
                          <a:latin typeface="Noto Sans JP"/>
                          <a:ea typeface="Noto Sans JP"/>
                          <a:cs typeface="Noto Sans JP"/>
                        </a:rPr>
                        <a:t>234.8</a:t>
                      </a:r>
                    </a:p>
                  </a:txBody>
                  <a:tcPr>
                    <a:solidFill>
                      <a:srgbClr val="F1F5F8"/>
                    </a:solidFill>
                  </a:tcPr>
                </a:tc>
                <a:extLst>
                  <a:ext uri="{0D108BD9-81ED-4DB2-BD59-A6C34878D82A}">
                    <a16:rowId xmlns:a16="http://schemas.microsoft.com/office/drawing/2014/main" val="10005"/>
                  </a:ext>
                </a:extLst>
              </a:tr>
              <a:tr h="530679">
                <a:tc>
                  <a:txBody>
                    <a:bodyPr/>
                    <a:lstStyle/>
                    <a:p>
                      <a:r>
                        <a:rPr sz="1650" b="0">
                          <a:solidFill>
                            <a:srgbClr val="202B58"/>
                          </a:solidFill>
                          <a:latin typeface="Noto Sans JP"/>
                          <a:ea typeface="Noto Sans JP"/>
                          <a:cs typeface="Noto Sans JP"/>
                        </a:rPr>
                        <a:t>12月</a:t>
                      </a:r>
                    </a:p>
                  </a:txBody>
                  <a:tcPr>
                    <a:solidFill>
                      <a:srgbClr val="FFFFFF"/>
                    </a:solidFill>
                  </a:tcPr>
                </a:tc>
                <a:tc>
                  <a:txBody>
                    <a:bodyPr/>
                    <a:lstStyle/>
                    <a:p>
                      <a:r>
                        <a:rPr sz="1650" b="0">
                          <a:solidFill>
                            <a:srgbClr val="202B58"/>
                          </a:solidFill>
                          <a:latin typeface="Noto Sans JP"/>
                          <a:ea typeface="Noto Sans JP"/>
                          <a:cs typeface="Noto Sans JP"/>
                        </a:rPr>
                        <a:t>12-01</a:t>
                      </a:r>
                    </a:p>
                  </a:txBody>
                  <a:tcPr>
                    <a:solidFill>
                      <a:srgbClr val="FFFFFF"/>
                    </a:solidFill>
                  </a:tcPr>
                </a:tc>
                <a:tc>
                  <a:txBody>
                    <a:bodyPr/>
                    <a:lstStyle/>
                    <a:p>
                      <a:r>
                        <a:rPr sz="1650" b="0">
                          <a:solidFill>
                            <a:srgbClr val="202B58"/>
                          </a:solidFill>
                          <a:latin typeface="Noto Sans JP"/>
                          <a:ea typeface="Noto Sans JP"/>
                          <a:cs typeface="Noto Sans JP"/>
                        </a:rPr>
                        <a:t>444.22</a:t>
                      </a:r>
                    </a:p>
                  </a:txBody>
                  <a:tcPr>
                    <a:solidFill>
                      <a:srgbClr val="FFFFFF"/>
                    </a:solidFill>
                  </a:tcPr>
                </a:tc>
                <a:tc>
                  <a:txBody>
                    <a:bodyPr/>
                    <a:lstStyle/>
                    <a:p>
                      <a:r>
                        <a:rPr sz="1650" b="0">
                          <a:solidFill>
                            <a:srgbClr val="202B58"/>
                          </a:solidFill>
                          <a:latin typeface="Noto Sans JP"/>
                          <a:ea typeface="Noto Sans JP"/>
                          <a:cs typeface="Noto Sans JP"/>
                        </a:rPr>
                        <a:t>206</a:t>
                      </a:r>
                    </a:p>
                  </a:txBody>
                  <a:tcPr>
                    <a:solidFill>
                      <a:srgbClr val="FFFFFF"/>
                    </a:solidFill>
                  </a:tcPr>
                </a:tc>
                <a:tc>
                  <a:txBody>
                    <a:bodyPr/>
                    <a:lstStyle/>
                    <a:p>
                      <a:r>
                        <a:rPr sz="1650" b="0">
                          <a:solidFill>
                            <a:srgbClr val="202B58"/>
                          </a:solidFill>
                          <a:latin typeface="Noto Sans JP"/>
                          <a:ea typeface="Noto Sans JP"/>
                          <a:cs typeface="Noto Sans JP"/>
                        </a:rPr>
                        <a:t>5,695.4</a:t>
                      </a:r>
                    </a:p>
                  </a:txBody>
                  <a:tcPr>
                    <a:solidFill>
                      <a:srgbClr val="FFFFFF"/>
                    </a:solidFill>
                  </a:tcPr>
                </a:tc>
                <a:tc>
                  <a:txBody>
                    <a:bodyPr/>
                    <a:lstStyle/>
                    <a:p>
                      <a:r>
                        <a:rPr sz="1650" b="0">
                          <a:solidFill>
                            <a:srgbClr val="202B58"/>
                          </a:solidFill>
                          <a:latin typeface="Noto Sans JP"/>
                          <a:ea typeface="Noto Sans JP"/>
                          <a:cs typeface="Noto Sans JP"/>
                        </a:rPr>
                        <a:t>263.7</a:t>
                      </a:r>
                    </a:p>
                  </a:txBody>
                  <a:tcPr>
                    <a:solidFill>
                      <a:srgbClr val="FFFFFF"/>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63952678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6547C7B8-7538-4B0C-A8A0-2BCAC1F8BE33}"/>
              </a:ext>
            </a:extLst>
          </p:cNvPr>
          <p:cNvSpPr>
            <a:spLocks noGrp="1"/>
          </p:cNvSpPr>
          <p:nvPr/>
        </p:nvSpPr>
        <p:spPr>
          <a:xfrm>
            <a:off x="419100" y="228600"/>
            <a:ext cx="11353800" cy="609600"/>
          </a:xfrm>
          <a:prstGeom prst="rect">
            <a:avLst/>
          </a:prstGeom>
          <a:noFill/>
          <a:ln w="0">
            <a:noFill/>
          </a:ln>
        </p:spPr>
        <p:txBody>
          <a:bodyPr>
            <a:noAutofit/>
          </a:bodyPr>
          <a:lstStyle/>
          <a:p>
            <a:pPr>
              <a:defRPr sz="2625" b="1">
                <a:solidFill>
                  <a:srgbClr val="202B58"/>
                </a:solidFill>
                <a:latin typeface="Noto Sans JP"/>
                <a:ea typeface="Noto Sans JP"/>
                <a:cs typeface="Noto Sans JP"/>
              </a:defRPr>
            </a:pPr>
            <a:r>
              <a:rPr sz="2625" b="1">
                <a:solidFill>
                  <a:srgbClr val="202B58"/>
                </a:solidFill>
                <a:latin typeface="Noto Sans JP"/>
                <a:ea typeface="Noto Sans JP"/>
                <a:cs typeface="Noto Sans JP"/>
              </a:rPr>
              <a:t>補足：予測と評価データ、選択週の代表性</a:t>
            </a:r>
          </a:p>
        </p:txBody>
      </p:sp>
      <p:sp>
        <p:nvSpPr>
          <p:cNvPr id="2" name="正方形/長方形 1">
            <a:extLst>
              <a:ext uri="{FF2B5EF4-FFF2-40B4-BE49-F238E27FC236}">
                <a16:creationId xmlns:a16="http://schemas.microsoft.com/office/drawing/2014/main" id="{8F14D5E5-ABC1-4A70-A390-5431AB99F1B2}"/>
              </a:ext>
            </a:extLst>
          </p:cNvPr>
          <p:cNvSpPr>
            <a:spLocks noGrp="1"/>
          </p:cNvSpPr>
          <p:nvPr/>
        </p:nvSpPr>
        <p:spPr>
          <a:xfrm>
            <a:off x="571500" y="981075"/>
            <a:ext cx="11049000" cy="590550"/>
          </a:xfrm>
          <a:prstGeom prst="rect">
            <a:avLst/>
          </a:prstGeom>
          <a:noFill/>
          <a:ln w="0">
            <a:noFill/>
          </a:ln>
        </p:spPr>
        <p:txBody>
          <a:bodyPr>
            <a:noAutofit/>
          </a:bodyPr>
          <a:lstStyle/>
          <a:p>
            <a:pPr>
              <a:defRPr sz="1725" b="0">
                <a:solidFill>
                  <a:srgbClr val="59687B"/>
                </a:solidFill>
                <a:latin typeface="Noto Sans JP"/>
                <a:ea typeface="Noto Sans JP"/>
                <a:cs typeface="Noto Sans JP"/>
              </a:defRPr>
            </a:pPr>
            <a:r>
              <a:rPr sz="1725" b="0">
                <a:solidFill>
                  <a:srgbClr val="59687B"/>
                </a:solidFill>
                <a:latin typeface="Noto Sans JP"/>
                <a:ea typeface="Noto Sans JP"/>
                <a:cs typeface="Noto Sans JP"/>
              </a:rPr>
              <a:t>時刻表・予測の学習年・評価年を分けて扱う</a:t>
            </a:r>
          </a:p>
        </p:txBody>
      </p:sp>
      <p:sp>
        <p:nvSpPr>
          <p:cNvPr id="3" name="正方形/長方形 2">
            <a:extLst>
              <a:ext uri="{FF2B5EF4-FFF2-40B4-BE49-F238E27FC236}">
                <a16:creationId xmlns:a16="http://schemas.microsoft.com/office/drawing/2014/main" id="{843CBA97-722D-4310-AF95-1E56DA6FE355}"/>
              </a:ext>
            </a:extLst>
          </p:cNvPr>
          <p:cNvSpPr>
            <a:spLocks noGrp="1"/>
          </p:cNvSpPr>
          <p:nvPr/>
        </p:nvSpPr>
        <p:spPr>
          <a:xfrm>
            <a:off x="571500" y="5638800"/>
            <a:ext cx="11049000" cy="56197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3月の選択週は日射が少ない週。月全体の平均結果へ外挿しない</a:t>
            </a:r>
          </a:p>
        </p:txBody>
      </p:sp>
      <p:sp>
        <p:nvSpPr>
          <p:cNvPr id="4" name="正方形/長方形 3">
            <a:extLst>
              <a:ext uri="{FF2B5EF4-FFF2-40B4-BE49-F238E27FC236}">
                <a16:creationId xmlns:a16="http://schemas.microsoft.com/office/drawing/2014/main" id="{F5087132-29E7-41EC-B397-535EB39B2B95}"/>
              </a:ext>
            </a:extLst>
          </p:cNvPr>
          <p:cNvSpPr>
            <a:spLocks noGrp="1"/>
          </p:cNvSpPr>
          <p:nvPr/>
        </p:nvSpPr>
        <p:spPr>
          <a:xfrm>
            <a:off x="571500" y="6248400"/>
            <a:ext cx="11049000" cy="314325"/>
          </a:xfrm>
          <a:prstGeom prst="rect">
            <a:avLst/>
          </a:prstGeom>
          <a:noFill/>
          <a:ln w="0">
            <a:noFill/>
          </a:ln>
        </p:spPr>
        <p:txBody>
          <a:bodyPr>
            <a:noAutofit/>
          </a:bodyPr>
          <a:lstStyle/>
          <a:p>
            <a:pPr>
              <a:defRPr sz="1275" b="0">
                <a:solidFill>
                  <a:srgbClr val="7E4D36"/>
                </a:solidFill>
                <a:latin typeface="Noto Sans JP"/>
                <a:ea typeface="Noto Sans JP"/>
                <a:cs typeface="Noto Sans JP"/>
              </a:defRPr>
            </a:pPr>
            <a:r>
              <a:rPr sz="1275" b="0">
                <a:solidFill>
                  <a:srgbClr val="7E4D36"/>
                </a:solidFill>
                <a:latin typeface="Noto Sans JP"/>
                <a:ea typeface="Noto Sans JP"/>
                <a:cs typeface="Noto Sans JP"/>
              </a:rPr>
              <a:t>日射比較は入力の事後確認であり、PV発電量・予測精度・費用の因果効果ではない。</a:t>
            </a:r>
          </a:p>
        </p:txBody>
      </p:sp>
      <p:sp>
        <p:nvSpPr>
          <p:cNvPr id="5" name="正方形/長方形 4">
            <a:extLst>
              <a:ext uri="{FF2B5EF4-FFF2-40B4-BE49-F238E27FC236}">
                <a16:creationId xmlns:a16="http://schemas.microsoft.com/office/drawing/2014/main" id="{3C30940D-065F-4B43-BDC7-0E615358297E}"/>
              </a:ext>
            </a:extLst>
          </p:cNvPr>
          <p:cNvSpPr>
            <a:spLocks noGrp="1"/>
          </p:cNvSpPr>
          <p:nvPr/>
        </p:nvSpPr>
        <p:spPr>
          <a:xfrm>
            <a:off x="419100" y="6638925"/>
            <a:ext cx="10096500" cy="180975"/>
          </a:xfrm>
          <a:prstGeom prst="rect">
            <a:avLst/>
          </a:prstGeom>
          <a:noFill/>
          <a:ln w="0">
            <a:noFill/>
          </a:ln>
        </p:spPr>
        <p:txBody>
          <a:bodyPr>
            <a:noAutofit/>
          </a:bodyPr>
          <a:lstStyle/>
          <a:p>
            <a:pPr>
              <a:defRPr sz="900" b="0">
                <a:solidFill>
                  <a:srgbClr val="59687B"/>
                </a:solidFill>
                <a:latin typeface="Noto Sans JP"/>
                <a:ea typeface="Noto Sans JP"/>
                <a:cs typeface="Noto Sans JP"/>
              </a:defRPr>
            </a:pPr>
            <a:r>
              <a:rPr sz="900" b="0">
                <a:solidFill>
                  <a:srgbClr val="59687B"/>
                </a:solidFill>
                <a:latin typeface="Noto Sans JP"/>
                <a:ea typeface="Noto Sans JP"/>
                <a:cs typeface="Noto Sans JP"/>
              </a:rPr>
              <a:t>修士研究　2026年9月18日　／　月別12週のシミュレーション（診断結果）</a:t>
            </a:r>
          </a:p>
        </p:txBody>
      </p:sp>
      <p:sp>
        <p:nvSpPr>
          <p:cNvPr id="6" name="正方形/長方形 5">
            <a:extLst>
              <a:ext uri="{FF2B5EF4-FFF2-40B4-BE49-F238E27FC236}">
                <a16:creationId xmlns:a16="http://schemas.microsoft.com/office/drawing/2014/main" id="{3227C254-5757-4DE9-A28A-1CC4C22BF8F4}"/>
              </a:ext>
            </a:extLst>
          </p:cNvPr>
          <p:cNvSpPr>
            <a:spLocks noGrp="1"/>
          </p:cNvSpPr>
          <p:nvPr/>
        </p:nvSpPr>
        <p:spPr>
          <a:xfrm>
            <a:off x="11144250" y="6610350"/>
            <a:ext cx="628650" cy="228600"/>
          </a:xfrm>
          <a:prstGeom prst="rect">
            <a:avLst/>
          </a:prstGeom>
          <a:noFill/>
          <a:ln w="0">
            <a:noFill/>
          </a:ln>
        </p:spPr>
        <p:txBody>
          <a:bodyPr>
            <a:noAutofit/>
          </a:bodyPr>
          <a:lstStyle/>
          <a:p>
            <a:pPr>
              <a:defRPr sz="1050" b="0">
                <a:solidFill>
                  <a:srgbClr val="59687B"/>
                </a:solidFill>
                <a:latin typeface="Noto Sans JP"/>
                <a:ea typeface="Noto Sans JP"/>
                <a:cs typeface="Noto Sans JP"/>
              </a:defRPr>
            </a:pPr>
            <a:r>
              <a:rPr sz="1050" b="0">
                <a:solidFill>
                  <a:srgbClr val="59687B"/>
                </a:solidFill>
                <a:latin typeface="Noto Sans JP"/>
                <a:ea typeface="Noto Sans JP"/>
                <a:cs typeface="Noto Sans JP"/>
              </a:rPr>
              <a:t>22/24</a:t>
            </a:r>
          </a:p>
        </p:txBody>
      </p:sp>
      <p:graphicFrame>
        <p:nvGraphicFramePr>
          <p:cNvPr id="15" name="表 14"/>
          <p:cNvGraphicFramePr/>
          <p:nvPr/>
        </p:nvGraphicFramePr>
        <p:xfrm>
          <a:off x="571500" y="1695450"/>
          <a:ext cx="11049000" cy="2400300"/>
        </p:xfrm>
        <a:graphic>
          <a:graphicData uri="http://schemas.openxmlformats.org/drawingml/2006/table">
            <a:tbl>
              <a:tblPr/>
              <a:tblGrid>
                <a:gridCol w="3238500">
                  <a:extLst>
                    <a:ext uri="{9D8B030D-6E8A-4147-A177-3AD203B41FA5}">
                      <a16:colId xmlns:a16="http://schemas.microsoft.com/office/drawing/2014/main" val="20000"/>
                    </a:ext>
                  </a:extLst>
                </a:gridCol>
                <a:gridCol w="7810500">
                  <a:extLst>
                    <a:ext uri="{9D8B030D-6E8A-4147-A177-3AD203B41FA5}">
                      <a16:colId xmlns:a16="http://schemas.microsoft.com/office/drawing/2014/main" val="20001"/>
                    </a:ext>
                  </a:extLst>
                </a:gridCol>
              </a:tblGrid>
              <a:tr h="480060">
                <a:tc>
                  <a:txBody>
                    <a:bodyPr/>
                    <a:lstStyle/>
                    <a:p>
                      <a:r>
                        <a:rPr sz="1650" b="1">
                          <a:solidFill>
                            <a:srgbClr val="FFFFFF"/>
                          </a:solidFill>
                          <a:latin typeface="Noto Sans JP"/>
                          <a:ea typeface="Noto Sans JP"/>
                          <a:cs typeface="Noto Sans JP"/>
                        </a:rPr>
                        <a:t>情報</a:t>
                      </a:r>
                    </a:p>
                  </a:txBody>
                  <a:tcPr>
                    <a:solidFill>
                      <a:srgbClr val="202B58"/>
                    </a:solidFill>
                  </a:tcPr>
                </a:tc>
                <a:tc>
                  <a:txBody>
                    <a:bodyPr/>
                    <a:lstStyle/>
                    <a:p>
                      <a:r>
                        <a:rPr sz="1650" b="1">
                          <a:solidFill>
                            <a:srgbClr val="FFFFFF"/>
                          </a:solidFill>
                          <a:latin typeface="Noto Sans JP"/>
                          <a:ea typeface="Noto Sans JP"/>
                          <a:cs typeface="Noto Sans JP"/>
                        </a:rPr>
                        <a:t>使用範囲</a:t>
                      </a:r>
                    </a:p>
                  </a:txBody>
                  <a:tcPr>
                    <a:solidFill>
                      <a:srgbClr val="202B58"/>
                    </a:solidFill>
                  </a:tcPr>
                </a:tc>
                <a:extLst>
                  <a:ext uri="{0D108BD9-81ED-4DB2-BD59-A6C34878D82A}">
                    <a16:rowId xmlns:a16="http://schemas.microsoft.com/office/drawing/2014/main" val="10000"/>
                  </a:ext>
                </a:extLst>
              </a:tr>
              <a:tr h="480060">
                <a:tc>
                  <a:txBody>
                    <a:bodyPr/>
                    <a:lstStyle/>
                    <a:p>
                      <a:r>
                        <a:rPr sz="1650" b="0">
                          <a:solidFill>
                            <a:srgbClr val="202B58"/>
                          </a:solidFill>
                          <a:latin typeface="Noto Sans JP"/>
                          <a:ea typeface="Noto Sans JP"/>
                          <a:cs typeface="Noto Sans JP"/>
                        </a:rPr>
                        <a:t>時刻表</a:t>
                      </a:r>
                    </a:p>
                  </a:txBody>
                  <a:tcPr>
                    <a:solidFill>
                      <a:srgbClr val="F1F5F8"/>
                    </a:solidFill>
                  </a:tcPr>
                </a:tc>
                <a:tc>
                  <a:txBody>
                    <a:bodyPr/>
                    <a:lstStyle/>
                    <a:p>
                      <a:r>
                        <a:rPr sz="1650" b="0">
                          <a:solidFill>
                            <a:srgbClr val="202B58"/>
                          </a:solidFill>
                          <a:latin typeface="Noto Sans JP"/>
                          <a:ea typeface="Noto Sans JP"/>
                          <a:cs typeface="Noto Sans JP"/>
                        </a:rPr>
                        <a:t>2026年の曜日別時刻表を2025年の日付に対応</a:t>
                      </a:r>
                    </a:p>
                  </a:txBody>
                  <a:tcPr>
                    <a:solidFill>
                      <a:srgbClr val="F1F5F8"/>
                    </a:solidFill>
                  </a:tcPr>
                </a:tc>
                <a:extLst>
                  <a:ext uri="{0D108BD9-81ED-4DB2-BD59-A6C34878D82A}">
                    <a16:rowId xmlns:a16="http://schemas.microsoft.com/office/drawing/2014/main" val="10001"/>
                  </a:ext>
                </a:extLst>
              </a:tr>
              <a:tr h="480060">
                <a:tc>
                  <a:txBody>
                    <a:bodyPr/>
                    <a:lstStyle/>
                    <a:p>
                      <a:r>
                        <a:rPr sz="1650" b="0">
                          <a:solidFill>
                            <a:srgbClr val="202B58"/>
                          </a:solidFill>
                          <a:latin typeface="Noto Sans JP"/>
                          <a:ea typeface="Noto Sans JP"/>
                          <a:cs typeface="Noto Sans JP"/>
                        </a:rPr>
                        <a:t>予測の学習</a:t>
                      </a:r>
                    </a:p>
                  </a:txBody>
                  <a:tcPr>
                    <a:solidFill>
                      <a:srgbClr val="FFFFFF"/>
                    </a:solidFill>
                  </a:tcPr>
                </a:tc>
                <a:tc>
                  <a:txBody>
                    <a:bodyPr/>
                    <a:lstStyle/>
                    <a:p>
                      <a:r>
                        <a:rPr sz="1650" b="0">
                          <a:solidFill>
                            <a:srgbClr val="202B58"/>
                          </a:solidFill>
                          <a:latin typeface="Noto Sans JP"/>
                          <a:ea typeface="Noto Sans JP"/>
                          <a:cs typeface="Noto Sans JP"/>
                        </a:rPr>
                        <a:t>2024年のみ（品質除外2日を除く364日）</a:t>
                      </a:r>
                    </a:p>
                  </a:txBody>
                  <a:tcPr>
                    <a:solidFill>
                      <a:srgbClr val="FFFFFF"/>
                    </a:solidFill>
                  </a:tcPr>
                </a:tc>
                <a:extLst>
                  <a:ext uri="{0D108BD9-81ED-4DB2-BD59-A6C34878D82A}">
                    <a16:rowId xmlns:a16="http://schemas.microsoft.com/office/drawing/2014/main" val="10002"/>
                  </a:ext>
                </a:extLst>
              </a:tr>
              <a:tr h="480060">
                <a:tc>
                  <a:txBody>
                    <a:bodyPr/>
                    <a:lstStyle/>
                    <a:p>
                      <a:r>
                        <a:rPr sz="1650" b="0">
                          <a:solidFill>
                            <a:srgbClr val="202B58"/>
                          </a:solidFill>
                          <a:latin typeface="Noto Sans JP"/>
                          <a:ea typeface="Noto Sans JP"/>
                          <a:cs typeface="Noto Sans JP"/>
                        </a:rPr>
                        <a:t>評価時のPV</a:t>
                      </a:r>
                    </a:p>
                  </a:txBody>
                  <a:tcPr>
                    <a:solidFill>
                      <a:srgbClr val="F1F5F8"/>
                    </a:solidFill>
                  </a:tcPr>
                </a:tc>
                <a:tc>
                  <a:txBody>
                    <a:bodyPr/>
                    <a:lstStyle/>
                    <a:p>
                      <a:r>
                        <a:rPr sz="1650" b="0">
                          <a:solidFill>
                            <a:srgbClr val="202B58"/>
                          </a:solidFill>
                          <a:latin typeface="Noto Sans JP"/>
                          <a:ea typeface="Noto Sans JP"/>
                          <a:cs typeface="Noto Sans JP"/>
                        </a:rPr>
                        <a:t>2025年のSolcast履歴推定に基づく</a:t>
                      </a:r>
                    </a:p>
                  </a:txBody>
                  <a:tcPr>
                    <a:solidFill>
                      <a:srgbClr val="F1F5F8"/>
                    </a:solidFill>
                  </a:tcPr>
                </a:tc>
                <a:extLst>
                  <a:ext uri="{0D108BD9-81ED-4DB2-BD59-A6C34878D82A}">
                    <a16:rowId xmlns:a16="http://schemas.microsoft.com/office/drawing/2014/main" val="10003"/>
                  </a:ext>
                </a:extLst>
              </a:tr>
              <a:tr h="480060">
                <a:tc>
                  <a:txBody>
                    <a:bodyPr/>
                    <a:lstStyle/>
                    <a:p>
                      <a:r>
                        <a:rPr sz="1650" b="0">
                          <a:solidFill>
                            <a:srgbClr val="202B58"/>
                          </a:solidFill>
                          <a:latin typeface="Noto Sans JP"/>
                          <a:ea typeface="Noto Sans JP"/>
                          <a:cs typeface="Noto Sans JP"/>
                        </a:rPr>
                        <a:t>需要</a:t>
                      </a:r>
                    </a:p>
                  </a:txBody>
                  <a:tcPr>
                    <a:solidFill>
                      <a:srgbClr val="FFFFFF"/>
                    </a:solidFill>
                  </a:tcPr>
                </a:tc>
                <a:tc>
                  <a:txBody>
                    <a:bodyPr/>
                    <a:lstStyle/>
                    <a:p>
                      <a:r>
                        <a:rPr sz="1650" b="0">
                          <a:solidFill>
                            <a:srgbClr val="202B58"/>
                          </a:solidFill>
                          <a:latin typeface="Noto Sans JP"/>
                          <a:ea typeface="Noto Sans JP"/>
                          <a:cs typeface="Noto Sans JP"/>
                        </a:rPr>
                        <a:t>固定電費・燃費。気温による空調負荷は未入力</a:t>
                      </a:r>
                    </a:p>
                  </a:txBody>
                  <a:tcPr>
                    <a:solidFill>
                      <a:srgbClr val="FFFFFF"/>
                    </a:solidFill>
                  </a:tcPr>
                </a:tc>
                <a:extLst>
                  <a:ext uri="{0D108BD9-81ED-4DB2-BD59-A6C34878D82A}">
                    <a16:rowId xmlns:a16="http://schemas.microsoft.com/office/drawing/2014/main" val="10004"/>
                  </a:ext>
                </a:extLst>
              </a:tr>
            </a:tbl>
          </a:graphicData>
        </a:graphic>
      </p:graphicFrame>
      <p:graphicFrame>
        <p:nvGraphicFramePr>
          <p:cNvPr id="16" name="表 15"/>
          <p:cNvGraphicFramePr/>
          <p:nvPr/>
        </p:nvGraphicFramePr>
        <p:xfrm>
          <a:off x="571500" y="4371975"/>
          <a:ext cx="11049000" cy="1114425"/>
        </p:xfrm>
        <a:graphic>
          <a:graphicData uri="http://schemas.openxmlformats.org/drawingml/2006/table">
            <a:tbl>
              <a:tblPr/>
              <a:tblGrid>
                <a:gridCol w="4953000">
                  <a:extLst>
                    <a:ext uri="{9D8B030D-6E8A-4147-A177-3AD203B41FA5}">
                      <a16:colId xmlns:a16="http://schemas.microsoft.com/office/drawing/2014/main" val="20000"/>
                    </a:ext>
                  </a:extLst>
                </a:gridCol>
                <a:gridCol w="2143125">
                  <a:extLst>
                    <a:ext uri="{9D8B030D-6E8A-4147-A177-3AD203B41FA5}">
                      <a16:colId xmlns:a16="http://schemas.microsoft.com/office/drawing/2014/main" val="20001"/>
                    </a:ext>
                  </a:extLst>
                </a:gridCol>
                <a:gridCol w="2143125">
                  <a:extLst>
                    <a:ext uri="{9D8B030D-6E8A-4147-A177-3AD203B41FA5}">
                      <a16:colId xmlns:a16="http://schemas.microsoft.com/office/drawing/2014/main" val="20002"/>
                    </a:ext>
                  </a:extLst>
                </a:gridCol>
                <a:gridCol w="1809750">
                  <a:extLst>
                    <a:ext uri="{9D8B030D-6E8A-4147-A177-3AD203B41FA5}">
                      <a16:colId xmlns:a16="http://schemas.microsoft.com/office/drawing/2014/main" val="20003"/>
                    </a:ext>
                  </a:extLst>
                </a:gridCol>
              </a:tblGrid>
              <a:tr h="371475">
                <a:tc>
                  <a:txBody>
                    <a:bodyPr/>
                    <a:lstStyle/>
                    <a:p>
                      <a:r>
                        <a:rPr sz="1575" b="1">
                          <a:solidFill>
                            <a:srgbClr val="FFFFFF"/>
                          </a:solidFill>
                          <a:latin typeface="Noto Sans JP"/>
                          <a:ea typeface="Noto Sans JP"/>
                          <a:cs typeface="Noto Sans JP"/>
                        </a:rPr>
                        <a:t>日平均日射量 [kWh/m²/日]</a:t>
                      </a:r>
                    </a:p>
                  </a:txBody>
                  <a:tcPr>
                    <a:solidFill>
                      <a:srgbClr val="202B58"/>
                    </a:solidFill>
                  </a:tcPr>
                </a:tc>
                <a:tc>
                  <a:txBody>
                    <a:bodyPr/>
                    <a:lstStyle/>
                    <a:p>
                      <a:r>
                        <a:rPr sz="1575" b="1">
                          <a:solidFill>
                            <a:srgbClr val="FFFFFF"/>
                          </a:solidFill>
                          <a:latin typeface="Noto Sans JP"/>
                          <a:ea typeface="Noto Sans JP"/>
                          <a:cs typeface="Noto Sans JP"/>
                        </a:rPr>
                        <a:t>選択週</a:t>
                      </a:r>
                    </a:p>
                  </a:txBody>
                  <a:tcPr>
                    <a:solidFill>
                      <a:srgbClr val="202B58"/>
                    </a:solidFill>
                  </a:tcPr>
                </a:tc>
                <a:tc>
                  <a:txBody>
                    <a:bodyPr/>
                    <a:lstStyle/>
                    <a:p>
                      <a:r>
                        <a:rPr sz="1575" b="1">
                          <a:solidFill>
                            <a:srgbClr val="FFFFFF"/>
                          </a:solidFill>
                          <a:latin typeface="Noto Sans JP"/>
                          <a:ea typeface="Noto Sans JP"/>
                          <a:cs typeface="Noto Sans JP"/>
                        </a:rPr>
                        <a:t>月全体</a:t>
                      </a:r>
                    </a:p>
                  </a:txBody>
                  <a:tcPr>
                    <a:solidFill>
                      <a:srgbClr val="202B58"/>
                    </a:solidFill>
                  </a:tcPr>
                </a:tc>
                <a:tc>
                  <a:txBody>
                    <a:bodyPr/>
                    <a:lstStyle/>
                    <a:p>
                      <a:r>
                        <a:rPr sz="1575" b="1">
                          <a:solidFill>
                            <a:srgbClr val="FFFFFF"/>
                          </a:solidFill>
                          <a:latin typeface="Noto Sans JP"/>
                          <a:ea typeface="Noto Sans JP"/>
                          <a:cs typeface="Noto Sans JP"/>
                        </a:rPr>
                        <a:t>差</a:t>
                      </a:r>
                    </a:p>
                  </a:txBody>
                  <a:tcPr>
                    <a:solidFill>
                      <a:srgbClr val="202B58"/>
                    </a:solidFill>
                  </a:tcPr>
                </a:tc>
                <a:extLst>
                  <a:ext uri="{0D108BD9-81ED-4DB2-BD59-A6C34878D82A}">
                    <a16:rowId xmlns:a16="http://schemas.microsoft.com/office/drawing/2014/main" val="10000"/>
                  </a:ext>
                </a:extLst>
              </a:tr>
              <a:tr h="371475">
                <a:tc>
                  <a:txBody>
                    <a:bodyPr/>
                    <a:lstStyle/>
                    <a:p>
                      <a:r>
                        <a:rPr sz="1575" b="0">
                          <a:solidFill>
                            <a:srgbClr val="202B58"/>
                          </a:solidFill>
                          <a:latin typeface="Noto Sans JP"/>
                          <a:ea typeface="Noto Sans JP"/>
                          <a:cs typeface="Noto Sans JP"/>
                        </a:rPr>
                        <a:t>3月</a:t>
                      </a:r>
                    </a:p>
                  </a:txBody>
                  <a:tcPr>
                    <a:solidFill>
                      <a:srgbClr val="F1F5F8"/>
                    </a:solidFill>
                  </a:tcPr>
                </a:tc>
                <a:tc>
                  <a:txBody>
                    <a:bodyPr/>
                    <a:lstStyle/>
                    <a:p>
                      <a:r>
                        <a:rPr sz="1575" b="0">
                          <a:solidFill>
                            <a:srgbClr val="202B58"/>
                          </a:solidFill>
                          <a:latin typeface="Noto Sans JP"/>
                          <a:ea typeface="Noto Sans JP"/>
                          <a:cs typeface="Noto Sans JP"/>
                        </a:rPr>
                        <a:t>2.497</a:t>
                      </a:r>
                    </a:p>
                  </a:txBody>
                  <a:tcPr>
                    <a:solidFill>
                      <a:srgbClr val="F1F5F8"/>
                    </a:solidFill>
                  </a:tcPr>
                </a:tc>
                <a:tc>
                  <a:txBody>
                    <a:bodyPr/>
                    <a:lstStyle/>
                    <a:p>
                      <a:r>
                        <a:rPr sz="1575" b="0">
                          <a:solidFill>
                            <a:srgbClr val="202B58"/>
                          </a:solidFill>
                          <a:latin typeface="Noto Sans JP"/>
                          <a:ea typeface="Noto Sans JP"/>
                          <a:cs typeface="Noto Sans JP"/>
                        </a:rPr>
                        <a:t>3.851</a:t>
                      </a:r>
                    </a:p>
                  </a:txBody>
                  <a:tcPr>
                    <a:solidFill>
                      <a:srgbClr val="F1F5F8"/>
                    </a:solidFill>
                  </a:tcPr>
                </a:tc>
                <a:tc>
                  <a:txBody>
                    <a:bodyPr/>
                    <a:lstStyle/>
                    <a:p>
                      <a:r>
                        <a:rPr sz="1575" b="0">
                          <a:solidFill>
                            <a:srgbClr val="202B58"/>
                          </a:solidFill>
                          <a:latin typeface="Noto Sans JP"/>
                          <a:ea typeface="Noto Sans JP"/>
                          <a:cs typeface="Noto Sans JP"/>
                        </a:rPr>
                        <a:t>-35.2%</a:t>
                      </a:r>
                    </a:p>
                  </a:txBody>
                  <a:tcPr>
                    <a:solidFill>
                      <a:srgbClr val="F1F5F8"/>
                    </a:solidFill>
                  </a:tcPr>
                </a:tc>
                <a:extLst>
                  <a:ext uri="{0D108BD9-81ED-4DB2-BD59-A6C34878D82A}">
                    <a16:rowId xmlns:a16="http://schemas.microsoft.com/office/drawing/2014/main" val="10001"/>
                  </a:ext>
                </a:extLst>
              </a:tr>
              <a:tr h="371475">
                <a:tc>
                  <a:txBody>
                    <a:bodyPr/>
                    <a:lstStyle/>
                    <a:p>
                      <a:r>
                        <a:rPr sz="1575" b="0">
                          <a:solidFill>
                            <a:srgbClr val="202B58"/>
                          </a:solidFill>
                          <a:latin typeface="Noto Sans JP"/>
                          <a:ea typeface="Noto Sans JP"/>
                          <a:cs typeface="Noto Sans JP"/>
                        </a:rPr>
                        <a:t>11月</a:t>
                      </a:r>
                    </a:p>
                  </a:txBody>
                  <a:tcPr>
                    <a:solidFill>
                      <a:srgbClr val="FFFFFF"/>
                    </a:solidFill>
                  </a:tcPr>
                </a:tc>
                <a:tc>
                  <a:txBody>
                    <a:bodyPr/>
                    <a:lstStyle/>
                    <a:p>
                      <a:r>
                        <a:rPr sz="1575" b="0">
                          <a:solidFill>
                            <a:srgbClr val="202B58"/>
                          </a:solidFill>
                          <a:latin typeface="Noto Sans JP"/>
                          <a:ea typeface="Noto Sans JP"/>
                          <a:cs typeface="Noto Sans JP"/>
                        </a:rPr>
                        <a:t>2.663</a:t>
                      </a:r>
                    </a:p>
                  </a:txBody>
                  <a:tcPr>
                    <a:solidFill>
                      <a:srgbClr val="FFFFFF"/>
                    </a:solidFill>
                  </a:tcPr>
                </a:tc>
                <a:tc>
                  <a:txBody>
                    <a:bodyPr/>
                    <a:lstStyle/>
                    <a:p>
                      <a:r>
                        <a:rPr sz="1575" b="0">
                          <a:solidFill>
                            <a:srgbClr val="202B58"/>
                          </a:solidFill>
                          <a:latin typeface="Noto Sans JP"/>
                          <a:ea typeface="Noto Sans JP"/>
                          <a:cs typeface="Noto Sans JP"/>
                        </a:rPr>
                        <a:t>2.723</a:t>
                      </a:r>
                    </a:p>
                  </a:txBody>
                  <a:tcPr>
                    <a:solidFill>
                      <a:srgbClr val="FFFFFF"/>
                    </a:solidFill>
                  </a:tcPr>
                </a:tc>
                <a:tc>
                  <a:txBody>
                    <a:bodyPr/>
                    <a:lstStyle/>
                    <a:p>
                      <a:r>
                        <a:rPr sz="1575" b="0">
                          <a:solidFill>
                            <a:srgbClr val="202B58"/>
                          </a:solidFill>
                          <a:latin typeface="Noto Sans JP"/>
                          <a:ea typeface="Noto Sans JP"/>
                          <a:cs typeface="Noto Sans JP"/>
                        </a:rPr>
                        <a:t>-2.2%</a:t>
                      </a:r>
                    </a:p>
                  </a:txBody>
                  <a:tcPr>
                    <a:solidFill>
                      <a:srgbClr val="FFFFFF"/>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95779138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9BDD37CD-4D05-4C7C-A35B-02596BCA910C}"/>
              </a:ext>
            </a:extLst>
          </p:cNvPr>
          <p:cNvSpPr>
            <a:spLocks noGrp="1"/>
          </p:cNvSpPr>
          <p:nvPr/>
        </p:nvSpPr>
        <p:spPr>
          <a:xfrm>
            <a:off x="419100" y="228600"/>
            <a:ext cx="11353800" cy="609600"/>
          </a:xfrm>
          <a:prstGeom prst="rect">
            <a:avLst/>
          </a:prstGeom>
          <a:noFill/>
          <a:ln w="0">
            <a:noFill/>
          </a:ln>
        </p:spPr>
        <p:txBody>
          <a:bodyPr>
            <a:noAutofit/>
          </a:bodyPr>
          <a:lstStyle/>
          <a:p>
            <a:pPr>
              <a:defRPr sz="2625" b="1">
                <a:solidFill>
                  <a:srgbClr val="202B58"/>
                </a:solidFill>
                <a:latin typeface="Noto Sans JP"/>
                <a:ea typeface="Noto Sans JP"/>
                <a:cs typeface="Noto Sans JP"/>
              </a:defRPr>
            </a:pPr>
            <a:r>
              <a:rPr sz="2625" b="1">
                <a:solidFill>
                  <a:srgbClr val="202B58"/>
                </a:solidFill>
                <a:latin typeface="Noto Sans JP"/>
                <a:ea typeface="Noto Sans JP"/>
                <a:cs typeface="Noto Sans JP"/>
              </a:rPr>
              <a:t>補足：優位性を判断するための比較設計案</a:t>
            </a:r>
          </a:p>
        </p:txBody>
      </p:sp>
      <p:sp>
        <p:nvSpPr>
          <p:cNvPr id="2" name="正方形/長方形 1">
            <a:extLst>
              <a:ext uri="{FF2B5EF4-FFF2-40B4-BE49-F238E27FC236}">
                <a16:creationId xmlns:a16="http://schemas.microsoft.com/office/drawing/2014/main" id="{59F21B86-3345-428F-B2D4-DD67BE39EB99}"/>
              </a:ext>
            </a:extLst>
          </p:cNvPr>
          <p:cNvSpPr>
            <a:spLocks noGrp="1"/>
          </p:cNvSpPr>
          <p:nvPr/>
        </p:nvSpPr>
        <p:spPr>
          <a:xfrm>
            <a:off x="571500" y="981075"/>
            <a:ext cx="11049000" cy="590550"/>
          </a:xfrm>
          <a:prstGeom prst="rect">
            <a:avLst/>
          </a:prstGeom>
          <a:noFill/>
          <a:ln w="0">
            <a:noFill/>
          </a:ln>
        </p:spPr>
        <p:txBody>
          <a:bodyPr>
            <a:noAutofit/>
          </a:bodyPr>
          <a:lstStyle/>
          <a:p>
            <a:pPr>
              <a:defRPr sz="1725" b="0">
                <a:solidFill>
                  <a:srgbClr val="59687B"/>
                </a:solidFill>
                <a:latin typeface="Noto Sans JP"/>
                <a:ea typeface="Noto Sans JP"/>
                <a:cs typeface="Noto Sans JP"/>
              </a:defRPr>
            </a:pPr>
            <a:r>
              <a:rPr sz="1725" b="0">
                <a:solidFill>
                  <a:srgbClr val="59687B"/>
                </a:solidFill>
                <a:latin typeface="Noto Sans JP"/>
                <a:ea typeface="Noto Sans JP"/>
                <a:cs typeface="Noto Sans JP"/>
              </a:rPr>
              <a:t>比較対象を事前に定め、同じ条件の差として効果を測る</a:t>
            </a:r>
          </a:p>
        </p:txBody>
      </p:sp>
      <p:sp>
        <p:nvSpPr>
          <p:cNvPr id="3" name="正方形/長方形 2">
            <a:extLst>
              <a:ext uri="{FF2B5EF4-FFF2-40B4-BE49-F238E27FC236}">
                <a16:creationId xmlns:a16="http://schemas.microsoft.com/office/drawing/2014/main" id="{9CD43890-6663-467F-8543-956F59F8E551}"/>
              </a:ext>
            </a:extLst>
          </p:cNvPr>
          <p:cNvSpPr>
            <a:spLocks noGrp="1"/>
          </p:cNvSpPr>
          <p:nvPr/>
        </p:nvSpPr>
        <p:spPr>
          <a:xfrm>
            <a:off x="571500" y="5638800"/>
            <a:ext cx="11049000" cy="56197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まず充電部分の改善余地を調べ、その後に配車を含む手法比較へ進む</a:t>
            </a:r>
          </a:p>
        </p:txBody>
      </p:sp>
      <p:sp>
        <p:nvSpPr>
          <p:cNvPr id="4" name="正方形/長方形 3">
            <a:extLst>
              <a:ext uri="{FF2B5EF4-FFF2-40B4-BE49-F238E27FC236}">
                <a16:creationId xmlns:a16="http://schemas.microsoft.com/office/drawing/2014/main" id="{33A206EA-43C1-400E-868F-1CF9E643F36C}"/>
              </a:ext>
            </a:extLst>
          </p:cNvPr>
          <p:cNvSpPr>
            <a:spLocks noGrp="1"/>
          </p:cNvSpPr>
          <p:nvPr/>
        </p:nvSpPr>
        <p:spPr>
          <a:xfrm>
            <a:off x="571500" y="6248400"/>
            <a:ext cx="11049000" cy="314325"/>
          </a:xfrm>
          <a:prstGeom prst="rect">
            <a:avLst/>
          </a:prstGeom>
          <a:noFill/>
          <a:ln w="0">
            <a:noFill/>
          </a:ln>
        </p:spPr>
        <p:txBody>
          <a:bodyPr>
            <a:noAutofit/>
          </a:bodyPr>
          <a:lstStyle/>
          <a:p>
            <a:pPr>
              <a:defRPr sz="1275" b="0">
                <a:solidFill>
                  <a:srgbClr val="7E4D36"/>
                </a:solidFill>
                <a:latin typeface="Noto Sans JP"/>
                <a:ea typeface="Noto Sans JP"/>
                <a:cs typeface="Noto Sans JP"/>
              </a:defRPr>
            </a:pPr>
            <a:r>
              <a:rPr sz="1275" b="0">
                <a:solidFill>
                  <a:srgbClr val="7E4D36"/>
                </a:solidFill>
                <a:latin typeface="Noto Sans JP"/>
                <a:ea typeface="Noto Sans JP"/>
                <a:cs typeface="Noto Sans JP"/>
              </a:rPr>
              <a:t>設計案であり未実施。対照条件・制限時間・評価指標を事前に確定する。</a:t>
            </a:r>
          </a:p>
        </p:txBody>
      </p:sp>
      <p:sp>
        <p:nvSpPr>
          <p:cNvPr id="5" name="正方形/長方形 4">
            <a:extLst>
              <a:ext uri="{FF2B5EF4-FFF2-40B4-BE49-F238E27FC236}">
                <a16:creationId xmlns:a16="http://schemas.microsoft.com/office/drawing/2014/main" id="{016C1015-6971-4A42-81CF-4CF2E93CCC80}"/>
              </a:ext>
            </a:extLst>
          </p:cNvPr>
          <p:cNvSpPr>
            <a:spLocks noGrp="1"/>
          </p:cNvSpPr>
          <p:nvPr/>
        </p:nvSpPr>
        <p:spPr>
          <a:xfrm>
            <a:off x="419100" y="6638925"/>
            <a:ext cx="10096500" cy="180975"/>
          </a:xfrm>
          <a:prstGeom prst="rect">
            <a:avLst/>
          </a:prstGeom>
          <a:noFill/>
          <a:ln w="0">
            <a:noFill/>
          </a:ln>
        </p:spPr>
        <p:txBody>
          <a:bodyPr>
            <a:noAutofit/>
          </a:bodyPr>
          <a:lstStyle/>
          <a:p>
            <a:pPr>
              <a:defRPr sz="900" b="0">
                <a:solidFill>
                  <a:srgbClr val="59687B"/>
                </a:solidFill>
                <a:latin typeface="Noto Sans JP"/>
                <a:ea typeface="Noto Sans JP"/>
                <a:cs typeface="Noto Sans JP"/>
              </a:defRPr>
            </a:pPr>
            <a:r>
              <a:rPr sz="900" b="0">
                <a:solidFill>
                  <a:srgbClr val="59687B"/>
                </a:solidFill>
                <a:latin typeface="Noto Sans JP"/>
                <a:ea typeface="Noto Sans JP"/>
                <a:cs typeface="Noto Sans JP"/>
              </a:rPr>
              <a:t>修士研究　2026年9月18日　／　月別12週のシミュレーション（診断結果）</a:t>
            </a:r>
          </a:p>
        </p:txBody>
      </p:sp>
      <p:sp>
        <p:nvSpPr>
          <p:cNvPr id="6" name="正方形/長方形 5">
            <a:extLst>
              <a:ext uri="{FF2B5EF4-FFF2-40B4-BE49-F238E27FC236}">
                <a16:creationId xmlns:a16="http://schemas.microsoft.com/office/drawing/2014/main" id="{7E02DED5-852C-43C7-8522-2723A5D87BCD}"/>
              </a:ext>
            </a:extLst>
          </p:cNvPr>
          <p:cNvSpPr>
            <a:spLocks noGrp="1"/>
          </p:cNvSpPr>
          <p:nvPr/>
        </p:nvSpPr>
        <p:spPr>
          <a:xfrm>
            <a:off x="11144250" y="6610350"/>
            <a:ext cx="628650" cy="228600"/>
          </a:xfrm>
          <a:prstGeom prst="rect">
            <a:avLst/>
          </a:prstGeom>
          <a:noFill/>
          <a:ln w="0">
            <a:noFill/>
          </a:ln>
        </p:spPr>
        <p:txBody>
          <a:bodyPr>
            <a:noAutofit/>
          </a:bodyPr>
          <a:lstStyle/>
          <a:p>
            <a:pPr>
              <a:defRPr sz="1050" b="0">
                <a:solidFill>
                  <a:srgbClr val="59687B"/>
                </a:solidFill>
                <a:latin typeface="Noto Sans JP"/>
                <a:ea typeface="Noto Sans JP"/>
                <a:cs typeface="Noto Sans JP"/>
              </a:defRPr>
            </a:pPr>
            <a:r>
              <a:rPr sz="1050" b="0">
                <a:solidFill>
                  <a:srgbClr val="59687B"/>
                </a:solidFill>
                <a:latin typeface="Noto Sans JP"/>
                <a:ea typeface="Noto Sans JP"/>
                <a:cs typeface="Noto Sans JP"/>
              </a:rPr>
              <a:t>23/24</a:t>
            </a:r>
          </a:p>
        </p:txBody>
      </p:sp>
      <p:graphicFrame>
        <p:nvGraphicFramePr>
          <p:cNvPr id="15" name="表 14"/>
          <p:cNvGraphicFramePr/>
          <p:nvPr/>
        </p:nvGraphicFramePr>
        <p:xfrm>
          <a:off x="571500" y="1695450"/>
          <a:ext cx="11049000" cy="2847976"/>
        </p:xfrm>
        <a:graphic>
          <a:graphicData uri="http://schemas.openxmlformats.org/drawingml/2006/table">
            <a:tbl>
              <a:tblPr/>
              <a:tblGrid>
                <a:gridCol w="3619500">
                  <a:extLst>
                    <a:ext uri="{9D8B030D-6E8A-4147-A177-3AD203B41FA5}">
                      <a16:colId xmlns:a16="http://schemas.microsoft.com/office/drawing/2014/main" val="20000"/>
                    </a:ext>
                  </a:extLst>
                </a:gridCol>
                <a:gridCol w="3714750">
                  <a:extLst>
                    <a:ext uri="{9D8B030D-6E8A-4147-A177-3AD203B41FA5}">
                      <a16:colId xmlns:a16="http://schemas.microsoft.com/office/drawing/2014/main" val="20001"/>
                    </a:ext>
                  </a:extLst>
                </a:gridCol>
                <a:gridCol w="3714750">
                  <a:extLst>
                    <a:ext uri="{9D8B030D-6E8A-4147-A177-3AD203B41FA5}">
                      <a16:colId xmlns:a16="http://schemas.microsoft.com/office/drawing/2014/main" val="20002"/>
                    </a:ext>
                  </a:extLst>
                </a:gridCol>
              </a:tblGrid>
              <a:tr h="711994">
                <a:tc>
                  <a:txBody>
                    <a:bodyPr/>
                    <a:lstStyle/>
                    <a:p>
                      <a:r>
                        <a:rPr sz="1575" b="1">
                          <a:solidFill>
                            <a:srgbClr val="FFFFFF"/>
                          </a:solidFill>
                          <a:latin typeface="Noto Sans JP"/>
                          <a:ea typeface="Noto Sans JP"/>
                          <a:cs typeface="Noto Sans JP"/>
                        </a:rPr>
                        <a:t>検証したい問い</a:t>
                      </a:r>
                    </a:p>
                  </a:txBody>
                  <a:tcPr>
                    <a:solidFill>
                      <a:srgbClr val="202B58"/>
                    </a:solidFill>
                  </a:tcPr>
                </a:tc>
                <a:tc>
                  <a:txBody>
                    <a:bodyPr/>
                    <a:lstStyle/>
                    <a:p>
                      <a:r>
                        <a:rPr sz="1575" b="1">
                          <a:solidFill>
                            <a:srgbClr val="FFFFFF"/>
                          </a:solidFill>
                          <a:latin typeface="Noto Sans JP"/>
                          <a:ea typeface="Noto Sans JP"/>
                          <a:cs typeface="Noto Sans JP"/>
                        </a:rPr>
                        <a:t>固定する条件</a:t>
                      </a:r>
                    </a:p>
                  </a:txBody>
                  <a:tcPr>
                    <a:solidFill>
                      <a:srgbClr val="202B58"/>
                    </a:solidFill>
                  </a:tcPr>
                </a:tc>
                <a:tc>
                  <a:txBody>
                    <a:bodyPr/>
                    <a:lstStyle/>
                    <a:p>
                      <a:r>
                        <a:rPr sz="1575" b="1">
                          <a:solidFill>
                            <a:srgbClr val="FFFFFF"/>
                          </a:solidFill>
                          <a:latin typeface="Noto Sans JP"/>
                          <a:ea typeface="Noto Sans JP"/>
                          <a:cs typeface="Noto Sans JP"/>
                        </a:rPr>
                        <a:t>比較・評価するもの</a:t>
                      </a:r>
                    </a:p>
                  </a:txBody>
                  <a:tcPr>
                    <a:solidFill>
                      <a:srgbClr val="202B58"/>
                    </a:solidFill>
                  </a:tcPr>
                </a:tc>
                <a:extLst>
                  <a:ext uri="{0D108BD9-81ED-4DB2-BD59-A6C34878D82A}">
                    <a16:rowId xmlns:a16="http://schemas.microsoft.com/office/drawing/2014/main" val="10000"/>
                  </a:ext>
                </a:extLst>
              </a:tr>
              <a:tr h="711994">
                <a:tc>
                  <a:txBody>
                    <a:bodyPr/>
                    <a:lstStyle/>
                    <a:p>
                      <a:r>
                        <a:rPr sz="1575" b="0">
                          <a:solidFill>
                            <a:srgbClr val="202B58"/>
                          </a:solidFill>
                          <a:latin typeface="Noto Sans JP"/>
                          <a:ea typeface="Noto Sans JP"/>
                          <a:cs typeface="Noto Sans JP"/>
                        </a:rPr>
                        <a:t>BESSを使い超過を減らせるか</a:t>
                      </a:r>
                    </a:p>
                  </a:txBody>
                  <a:tcPr>
                    <a:solidFill>
                      <a:srgbClr val="F1F5F8"/>
                    </a:solidFill>
                  </a:tcPr>
                </a:tc>
                <a:tc>
                  <a:txBody>
                    <a:bodyPr/>
                    <a:lstStyle/>
                    <a:p>
                      <a:r>
                        <a:rPr sz="1575" b="0">
                          <a:solidFill>
                            <a:srgbClr val="202B58"/>
                          </a:solidFill>
                          <a:latin typeface="Noto Sans JP"/>
                          <a:ea typeface="Noto Sans JP"/>
                          <a:cs typeface="Noto Sans JP"/>
                        </a:rPr>
                        <a:t>同一週・同一配車・残量・設備</a:t>
                      </a:r>
                    </a:p>
                  </a:txBody>
                  <a:tcPr>
                    <a:solidFill>
                      <a:srgbClr val="F1F5F8"/>
                    </a:solidFill>
                  </a:tcPr>
                </a:tc>
                <a:tc>
                  <a:txBody>
                    <a:bodyPr/>
                    <a:lstStyle/>
                    <a:p>
                      <a:r>
                        <a:rPr sz="1575" b="0">
                          <a:solidFill>
                            <a:srgbClr val="202B58"/>
                          </a:solidFill>
                          <a:latin typeface="Noto Sans JP"/>
                          <a:ea typeface="Noto Sans JP"/>
                          <a:cs typeface="Noto Sans JP"/>
                        </a:rPr>
                        <a:t>基準の充電規則と候補計画</a:t>
                      </a:r>
                    </a:p>
                  </a:txBody>
                  <a:tcPr>
                    <a:solidFill>
                      <a:srgbClr val="F1F5F8"/>
                    </a:solidFill>
                  </a:tcPr>
                </a:tc>
                <a:extLst>
                  <a:ext uri="{0D108BD9-81ED-4DB2-BD59-A6C34878D82A}">
                    <a16:rowId xmlns:a16="http://schemas.microsoft.com/office/drawing/2014/main" val="10001"/>
                  </a:ext>
                </a:extLst>
              </a:tr>
              <a:tr h="711994">
                <a:tc>
                  <a:txBody>
                    <a:bodyPr/>
                    <a:lstStyle/>
                    <a:p>
                      <a:r>
                        <a:rPr sz="1575" b="0">
                          <a:solidFill>
                            <a:srgbClr val="202B58"/>
                          </a:solidFill>
                          <a:latin typeface="Noto Sans JP"/>
                          <a:ea typeface="Noto Sans JP"/>
                          <a:cs typeface="Noto Sans JP"/>
                        </a:rPr>
                        <a:t>配車を含む手法は有用か</a:t>
                      </a:r>
                    </a:p>
                  </a:txBody>
                  <a:tcPr>
                    <a:solidFill>
                      <a:srgbClr val="FFFFFF"/>
                    </a:solidFill>
                  </a:tcPr>
                </a:tc>
                <a:tc>
                  <a:txBody>
                    <a:bodyPr/>
                    <a:lstStyle/>
                    <a:p>
                      <a:r>
                        <a:rPr sz="1575" b="0">
                          <a:solidFill>
                            <a:srgbClr val="202B58"/>
                          </a:solidFill>
                          <a:latin typeface="Noto Sans JP"/>
                          <a:ea typeface="Noto Sans JP"/>
                          <a:cs typeface="Noto Sans JP"/>
                        </a:rPr>
                        <a:t>同一入力・料金・計算予算</a:t>
                      </a:r>
                    </a:p>
                  </a:txBody>
                  <a:tcPr>
                    <a:solidFill>
                      <a:srgbClr val="FFFFFF"/>
                    </a:solidFill>
                  </a:tcPr>
                </a:tc>
                <a:tc>
                  <a:txBody>
                    <a:bodyPr/>
                    <a:lstStyle/>
                    <a:p>
                      <a:r>
                        <a:rPr sz="1575" b="0">
                          <a:solidFill>
                            <a:srgbClr val="202B58"/>
                          </a:solidFill>
                          <a:latin typeface="Noto Sans JP"/>
                          <a:ea typeface="Noto Sans JP"/>
                          <a:cs typeface="Noto Sans JP"/>
                        </a:rPr>
                        <a:t>基準手法との差額と成立率</a:t>
                      </a:r>
                    </a:p>
                  </a:txBody>
                  <a:tcPr>
                    <a:solidFill>
                      <a:srgbClr val="FFFFFF"/>
                    </a:solidFill>
                  </a:tcPr>
                </a:tc>
                <a:extLst>
                  <a:ext uri="{0D108BD9-81ED-4DB2-BD59-A6C34878D82A}">
                    <a16:rowId xmlns:a16="http://schemas.microsoft.com/office/drawing/2014/main" val="10002"/>
                  </a:ext>
                </a:extLst>
              </a:tr>
              <a:tr h="711994">
                <a:tc>
                  <a:txBody>
                    <a:bodyPr/>
                    <a:lstStyle/>
                    <a:p>
                      <a:r>
                        <a:rPr sz="1575" b="0">
                          <a:solidFill>
                            <a:srgbClr val="202B58"/>
                          </a:solidFill>
                          <a:latin typeface="Noto Sans JP"/>
                          <a:ea typeface="Noto Sans JP"/>
                          <a:cs typeface="Noto Sans JP"/>
                        </a:rPr>
                        <a:t>別の時期でも効果があるか</a:t>
                      </a:r>
                    </a:p>
                  </a:txBody>
                  <a:tcPr>
                    <a:solidFill>
                      <a:srgbClr val="F1F5F8"/>
                    </a:solidFill>
                  </a:tcPr>
                </a:tc>
                <a:tc>
                  <a:txBody>
                    <a:bodyPr/>
                    <a:lstStyle/>
                    <a:p>
                      <a:r>
                        <a:rPr sz="1575" b="0">
                          <a:solidFill>
                            <a:srgbClr val="202B58"/>
                          </a:solidFill>
                          <a:latin typeface="Noto Sans JP"/>
                          <a:ea typeface="Noto Sans JP"/>
                          <a:cs typeface="Noto Sans JP"/>
                        </a:rPr>
                        <a:t>週選択規則・評価指標</a:t>
                      </a:r>
                    </a:p>
                  </a:txBody>
                  <a:tcPr>
                    <a:solidFill>
                      <a:srgbClr val="F1F5F8"/>
                    </a:solidFill>
                  </a:tcPr>
                </a:tc>
                <a:tc>
                  <a:txBody>
                    <a:bodyPr/>
                    <a:lstStyle/>
                    <a:p>
                      <a:r>
                        <a:rPr sz="1575" b="0">
                          <a:solidFill>
                            <a:srgbClr val="202B58"/>
                          </a:solidFill>
                          <a:latin typeface="Noto Sans JP"/>
                          <a:ea typeface="Noto Sans JP"/>
                          <a:cs typeface="Noto Sans JP"/>
                        </a:rPr>
                        <a:t>複数週／年の差とばらつき</a:t>
                      </a:r>
                    </a:p>
                  </a:txBody>
                  <a:tcPr>
                    <a:solidFill>
                      <a:srgbClr val="F1F5F8"/>
                    </a:solidFill>
                  </a:tcPr>
                </a:tc>
                <a:extLst>
                  <a:ext uri="{0D108BD9-81ED-4DB2-BD59-A6C34878D82A}">
                    <a16:rowId xmlns:a16="http://schemas.microsoft.com/office/drawing/2014/main" val="10003"/>
                  </a:ext>
                </a:extLst>
              </a:tr>
            </a:tbl>
          </a:graphicData>
        </a:graphic>
      </p:graphicFrame>
      <p:sp>
        <p:nvSpPr>
          <p:cNvPr id="8" name="正方形/長方形 7">
            <a:extLst>
              <a:ext uri="{FF2B5EF4-FFF2-40B4-BE49-F238E27FC236}">
                <a16:creationId xmlns:a16="http://schemas.microsoft.com/office/drawing/2014/main" id="{7D307F82-6192-43E7-B181-948D46156956}"/>
              </a:ext>
            </a:extLst>
          </p:cNvPr>
          <p:cNvSpPr>
            <a:spLocks noGrp="1"/>
          </p:cNvSpPr>
          <p:nvPr/>
        </p:nvSpPr>
        <p:spPr>
          <a:xfrm>
            <a:off x="685800" y="4972050"/>
            <a:ext cx="10763250" cy="457200"/>
          </a:xfrm>
          <a:prstGeom prst="rect">
            <a:avLst/>
          </a:prstGeom>
          <a:noFill/>
          <a:ln w="0">
            <a:noFill/>
          </a:ln>
        </p:spPr>
        <p:txBody>
          <a:bodyPr>
            <a:noAutofit/>
          </a:bodyPr>
          <a:lstStyle/>
          <a:p>
            <a:pPr>
              <a:defRPr sz="1650" b="0">
                <a:solidFill>
                  <a:srgbClr val="59687B"/>
                </a:solidFill>
                <a:latin typeface="Noto Sans JP"/>
                <a:ea typeface="Noto Sans JP"/>
                <a:cs typeface="Noto Sans JP"/>
              </a:defRPr>
            </a:pPr>
            <a:r>
              <a:rPr sz="1650" b="0">
                <a:solidFill>
                  <a:srgbClr val="59687B"/>
                </a:solidFill>
                <a:latin typeface="Noto Sans JP"/>
                <a:ea typeface="Noto Sans JP"/>
                <a:cs typeface="Noto Sans JP"/>
              </a:rPr>
              <a:t>共通の評価：全便運行、電池・設備制約、週間費用、受電ピーク、在庫差、計算時間</a:t>
            </a:r>
          </a:p>
        </p:txBody>
      </p:sp>
    </p:spTree>
    <p:extLst>
      <p:ext uri="{BB962C8B-B14F-4D97-AF65-F5344CB8AC3E}">
        <p14:creationId xmlns:p14="http://schemas.microsoft.com/office/powerpoint/2010/main" val="214338951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E7F6E7D8-31DE-45C6-A5D4-FC67271BB7BC}"/>
              </a:ext>
            </a:extLst>
          </p:cNvPr>
          <p:cNvSpPr>
            <a:spLocks noGrp="1"/>
          </p:cNvSpPr>
          <p:nvPr/>
        </p:nvSpPr>
        <p:spPr>
          <a:xfrm>
            <a:off x="419100" y="228600"/>
            <a:ext cx="11353800" cy="609600"/>
          </a:xfrm>
          <a:prstGeom prst="rect">
            <a:avLst/>
          </a:prstGeom>
          <a:noFill/>
          <a:ln w="0">
            <a:noFill/>
          </a:ln>
        </p:spPr>
        <p:txBody>
          <a:bodyPr>
            <a:noAutofit/>
          </a:bodyPr>
          <a:lstStyle/>
          <a:p>
            <a:pPr>
              <a:defRPr sz="2625" b="1">
                <a:solidFill>
                  <a:srgbClr val="202B58"/>
                </a:solidFill>
                <a:latin typeface="Noto Sans JP"/>
                <a:ea typeface="Noto Sans JP"/>
                <a:cs typeface="Noto Sans JP"/>
              </a:defRPr>
            </a:pPr>
            <a:r>
              <a:rPr sz="2625" b="1">
                <a:solidFill>
                  <a:srgbClr val="202B58"/>
                </a:solidFill>
                <a:latin typeface="Noto Sans JP"/>
                <a:ea typeface="Noto Sans JP"/>
                <a:cs typeface="Noto Sans JP"/>
              </a:rPr>
              <a:t>補足：研究上の位置付けと出典</a:t>
            </a:r>
          </a:p>
        </p:txBody>
      </p:sp>
      <p:sp>
        <p:nvSpPr>
          <p:cNvPr id="2" name="正方形/長方形 1">
            <a:extLst>
              <a:ext uri="{FF2B5EF4-FFF2-40B4-BE49-F238E27FC236}">
                <a16:creationId xmlns:a16="http://schemas.microsoft.com/office/drawing/2014/main" id="{DF53288A-FA0C-412A-B976-5E9CDBE7222A}"/>
              </a:ext>
            </a:extLst>
          </p:cNvPr>
          <p:cNvSpPr>
            <a:spLocks noGrp="1"/>
          </p:cNvSpPr>
          <p:nvPr/>
        </p:nvSpPr>
        <p:spPr>
          <a:xfrm>
            <a:off x="571500" y="981075"/>
            <a:ext cx="11049000" cy="590550"/>
          </a:xfrm>
          <a:prstGeom prst="rect">
            <a:avLst/>
          </a:prstGeom>
          <a:noFill/>
          <a:ln w="0">
            <a:noFill/>
          </a:ln>
        </p:spPr>
        <p:txBody>
          <a:bodyPr>
            <a:noAutofit/>
          </a:bodyPr>
          <a:lstStyle/>
          <a:p>
            <a:pPr>
              <a:defRPr sz="1725" b="0">
                <a:solidFill>
                  <a:srgbClr val="59687B"/>
                </a:solidFill>
                <a:latin typeface="Noto Sans JP"/>
                <a:ea typeface="Noto Sans JP"/>
                <a:cs typeface="Noto Sans JP"/>
              </a:defRPr>
            </a:pPr>
            <a:r>
              <a:rPr sz="1725" b="0">
                <a:solidFill>
                  <a:srgbClr val="59687B"/>
                </a:solidFill>
                <a:latin typeface="Noto Sans JP"/>
                <a:ea typeface="Noto Sans JP"/>
                <a:cs typeface="Noto Sans JP"/>
              </a:rPr>
              <a:t>診断結果として報告し、採用に必要な確認を残さず記載</a:t>
            </a:r>
          </a:p>
        </p:txBody>
      </p:sp>
      <p:sp>
        <p:nvSpPr>
          <p:cNvPr id="3" name="正方形/長方形 2">
            <a:extLst>
              <a:ext uri="{FF2B5EF4-FFF2-40B4-BE49-F238E27FC236}">
                <a16:creationId xmlns:a16="http://schemas.microsoft.com/office/drawing/2014/main" id="{FF833D05-CC61-45D0-A0FA-FC7FD503D3B0}"/>
              </a:ext>
            </a:extLst>
          </p:cNvPr>
          <p:cNvSpPr>
            <a:spLocks noGrp="1"/>
          </p:cNvSpPr>
          <p:nvPr/>
        </p:nvSpPr>
        <p:spPr>
          <a:xfrm>
            <a:off x="571500" y="5638800"/>
            <a:ext cx="11049000" cy="56197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結果の整合を確認したことと、研究成果として承認されたことを分ける</a:t>
            </a:r>
          </a:p>
        </p:txBody>
      </p:sp>
      <p:sp>
        <p:nvSpPr>
          <p:cNvPr id="4" name="正方形/長方形 3">
            <a:extLst>
              <a:ext uri="{FF2B5EF4-FFF2-40B4-BE49-F238E27FC236}">
                <a16:creationId xmlns:a16="http://schemas.microsoft.com/office/drawing/2014/main" id="{EACD53AF-398F-499D-B7B5-0224FC44A54C}"/>
              </a:ext>
            </a:extLst>
          </p:cNvPr>
          <p:cNvSpPr>
            <a:spLocks noGrp="1"/>
          </p:cNvSpPr>
          <p:nvPr/>
        </p:nvSpPr>
        <p:spPr>
          <a:xfrm>
            <a:off x="571500" y="6248400"/>
            <a:ext cx="11049000" cy="314325"/>
          </a:xfrm>
          <a:prstGeom prst="rect">
            <a:avLst/>
          </a:prstGeom>
          <a:noFill/>
          <a:ln w="0">
            <a:noFill/>
          </a:ln>
        </p:spPr>
        <p:txBody>
          <a:bodyPr>
            <a:noAutofit/>
          </a:bodyPr>
          <a:lstStyle/>
          <a:p>
            <a:pPr>
              <a:defRPr sz="1275" b="0">
                <a:solidFill>
                  <a:srgbClr val="7E4D36"/>
                </a:solidFill>
                <a:latin typeface="Noto Sans JP"/>
                <a:ea typeface="Noto Sans JP"/>
                <a:cs typeface="Noto Sans JP"/>
              </a:defRPr>
            </a:pPr>
            <a:r>
              <a:rPr sz="1275" b="0">
                <a:solidFill>
                  <a:srgbClr val="7E4D36"/>
                </a:solidFill>
                <a:latin typeface="Noto Sans JP"/>
                <a:ea typeface="Noto Sans JP"/>
                <a:cs typeface="Noto Sans JP"/>
              </a:rPr>
              <a:t>DIAGNOSTIC / NOT USED FOR RESEARCH CONCLUSIONS。研究採用はBLOCKED。</a:t>
            </a:r>
          </a:p>
        </p:txBody>
      </p:sp>
      <p:sp>
        <p:nvSpPr>
          <p:cNvPr id="5" name="正方形/長方形 4">
            <a:extLst>
              <a:ext uri="{FF2B5EF4-FFF2-40B4-BE49-F238E27FC236}">
                <a16:creationId xmlns:a16="http://schemas.microsoft.com/office/drawing/2014/main" id="{4F70FD5D-9121-41DE-8032-8A55FD55CA87}"/>
              </a:ext>
            </a:extLst>
          </p:cNvPr>
          <p:cNvSpPr>
            <a:spLocks noGrp="1"/>
          </p:cNvSpPr>
          <p:nvPr/>
        </p:nvSpPr>
        <p:spPr>
          <a:xfrm>
            <a:off x="419100" y="6638925"/>
            <a:ext cx="10096500" cy="180975"/>
          </a:xfrm>
          <a:prstGeom prst="rect">
            <a:avLst/>
          </a:prstGeom>
          <a:noFill/>
          <a:ln w="0">
            <a:noFill/>
          </a:ln>
        </p:spPr>
        <p:txBody>
          <a:bodyPr>
            <a:noAutofit/>
          </a:bodyPr>
          <a:lstStyle/>
          <a:p>
            <a:pPr>
              <a:defRPr sz="900" b="0">
                <a:solidFill>
                  <a:srgbClr val="59687B"/>
                </a:solidFill>
                <a:latin typeface="Noto Sans JP"/>
                <a:ea typeface="Noto Sans JP"/>
                <a:cs typeface="Noto Sans JP"/>
              </a:defRPr>
            </a:pPr>
            <a:r>
              <a:rPr sz="900" b="0">
                <a:solidFill>
                  <a:srgbClr val="59687B"/>
                </a:solidFill>
                <a:latin typeface="Noto Sans JP"/>
                <a:ea typeface="Noto Sans JP"/>
                <a:cs typeface="Noto Sans JP"/>
              </a:rPr>
              <a:t>修士研究　2026年9月18日　／　月別12週のシミュレーション（診断結果）</a:t>
            </a:r>
          </a:p>
        </p:txBody>
      </p:sp>
      <p:sp>
        <p:nvSpPr>
          <p:cNvPr id="6" name="正方形/長方形 5">
            <a:extLst>
              <a:ext uri="{FF2B5EF4-FFF2-40B4-BE49-F238E27FC236}">
                <a16:creationId xmlns:a16="http://schemas.microsoft.com/office/drawing/2014/main" id="{2853150B-105B-4CC7-9C70-6A0D9462D23B}"/>
              </a:ext>
            </a:extLst>
          </p:cNvPr>
          <p:cNvSpPr>
            <a:spLocks noGrp="1"/>
          </p:cNvSpPr>
          <p:nvPr/>
        </p:nvSpPr>
        <p:spPr>
          <a:xfrm>
            <a:off x="11144250" y="6610350"/>
            <a:ext cx="628650" cy="228600"/>
          </a:xfrm>
          <a:prstGeom prst="rect">
            <a:avLst/>
          </a:prstGeom>
          <a:noFill/>
          <a:ln w="0">
            <a:noFill/>
          </a:ln>
        </p:spPr>
        <p:txBody>
          <a:bodyPr>
            <a:noAutofit/>
          </a:bodyPr>
          <a:lstStyle/>
          <a:p>
            <a:pPr>
              <a:defRPr sz="1050" b="0">
                <a:solidFill>
                  <a:srgbClr val="59687B"/>
                </a:solidFill>
                <a:latin typeface="Noto Sans JP"/>
                <a:ea typeface="Noto Sans JP"/>
                <a:cs typeface="Noto Sans JP"/>
              </a:defRPr>
            </a:pPr>
            <a:r>
              <a:rPr sz="1050" b="0">
                <a:solidFill>
                  <a:srgbClr val="59687B"/>
                </a:solidFill>
                <a:latin typeface="Noto Sans JP"/>
                <a:ea typeface="Noto Sans JP"/>
                <a:cs typeface="Noto Sans JP"/>
              </a:rPr>
              <a:t>24/24</a:t>
            </a:r>
          </a:p>
        </p:txBody>
      </p:sp>
      <p:graphicFrame>
        <p:nvGraphicFramePr>
          <p:cNvPr id="15" name="表 14"/>
          <p:cNvGraphicFramePr/>
          <p:nvPr/>
        </p:nvGraphicFramePr>
        <p:xfrm>
          <a:off x="571500" y="1695450"/>
          <a:ext cx="11049000" cy="2714625"/>
        </p:xfrm>
        <a:graphic>
          <a:graphicData uri="http://schemas.openxmlformats.org/drawingml/2006/table">
            <a:tbl>
              <a:tblPr/>
              <a:tblGrid>
                <a:gridCol w="3524250">
                  <a:extLst>
                    <a:ext uri="{9D8B030D-6E8A-4147-A177-3AD203B41FA5}">
                      <a16:colId xmlns:a16="http://schemas.microsoft.com/office/drawing/2014/main" val="20000"/>
                    </a:ext>
                  </a:extLst>
                </a:gridCol>
                <a:gridCol w="7524750">
                  <a:extLst>
                    <a:ext uri="{9D8B030D-6E8A-4147-A177-3AD203B41FA5}">
                      <a16:colId xmlns:a16="http://schemas.microsoft.com/office/drawing/2014/main" val="20001"/>
                    </a:ext>
                  </a:extLst>
                </a:gridCol>
              </a:tblGrid>
              <a:tr h="542925">
                <a:tc>
                  <a:txBody>
                    <a:bodyPr/>
                    <a:lstStyle/>
                    <a:p>
                      <a:r>
                        <a:rPr sz="1575" b="1">
                          <a:solidFill>
                            <a:srgbClr val="FFFFFF"/>
                          </a:solidFill>
                          <a:latin typeface="Noto Sans JP"/>
                          <a:ea typeface="Noto Sans JP"/>
                          <a:cs typeface="Noto Sans JP"/>
                        </a:rPr>
                        <a:t>採用に向けた未完了項目</a:t>
                      </a:r>
                    </a:p>
                  </a:txBody>
                  <a:tcPr>
                    <a:solidFill>
                      <a:srgbClr val="202B58"/>
                    </a:solidFill>
                  </a:tcPr>
                </a:tc>
                <a:tc>
                  <a:txBody>
                    <a:bodyPr/>
                    <a:lstStyle/>
                    <a:p>
                      <a:r>
                        <a:rPr sz="1575" b="1">
                          <a:solidFill>
                            <a:srgbClr val="FFFFFF"/>
                          </a:solidFill>
                          <a:latin typeface="Noto Sans JP"/>
                          <a:ea typeface="Noto Sans JP"/>
                          <a:cs typeface="Noto Sans JP"/>
                        </a:rPr>
                        <a:t>現在の位置付け</a:t>
                      </a:r>
                    </a:p>
                  </a:txBody>
                  <a:tcPr>
                    <a:solidFill>
                      <a:srgbClr val="202B58"/>
                    </a:solidFill>
                  </a:tcPr>
                </a:tc>
                <a:extLst>
                  <a:ext uri="{0D108BD9-81ED-4DB2-BD59-A6C34878D82A}">
                    <a16:rowId xmlns:a16="http://schemas.microsoft.com/office/drawing/2014/main" val="10000"/>
                  </a:ext>
                </a:extLst>
              </a:tr>
              <a:tr h="542925">
                <a:tc>
                  <a:txBody>
                    <a:bodyPr/>
                    <a:lstStyle/>
                    <a:p>
                      <a:r>
                        <a:rPr sz="1575" b="0">
                          <a:solidFill>
                            <a:srgbClr val="202B58"/>
                          </a:solidFill>
                          <a:latin typeface="Noto Sans JP"/>
                          <a:ea typeface="Noto Sans JP"/>
                          <a:cs typeface="Noto Sans JP"/>
                        </a:rPr>
                        <a:t>最適性</a:t>
                      </a:r>
                    </a:p>
                  </a:txBody>
                  <a:tcPr>
                    <a:solidFill>
                      <a:srgbClr val="F1F5F8"/>
                    </a:solidFill>
                  </a:tcPr>
                </a:tc>
                <a:tc>
                  <a:txBody>
                    <a:bodyPr/>
                    <a:lstStyle/>
                    <a:p>
                      <a:r>
                        <a:rPr sz="1575" b="0">
                          <a:solidFill>
                            <a:srgbClr val="202B58"/>
                          </a:solidFill>
                          <a:latin typeface="Noto Sans JP"/>
                          <a:ea typeface="Noto Sans JP"/>
                          <a:cs typeface="Noto Sans JP"/>
                        </a:rPr>
                        <a:t>配車gapは3月84.6%・11月85.2%、目標10%未達</a:t>
                      </a:r>
                    </a:p>
                  </a:txBody>
                  <a:tcPr>
                    <a:solidFill>
                      <a:srgbClr val="F1F5F8"/>
                    </a:solidFill>
                  </a:tcPr>
                </a:tc>
                <a:extLst>
                  <a:ext uri="{0D108BD9-81ED-4DB2-BD59-A6C34878D82A}">
                    <a16:rowId xmlns:a16="http://schemas.microsoft.com/office/drawing/2014/main" val="10001"/>
                  </a:ext>
                </a:extLst>
              </a:tr>
              <a:tr h="542925">
                <a:tc>
                  <a:txBody>
                    <a:bodyPr/>
                    <a:lstStyle/>
                    <a:p>
                      <a:r>
                        <a:rPr sz="1575" b="0">
                          <a:solidFill>
                            <a:srgbClr val="202B58"/>
                          </a:solidFill>
                          <a:latin typeface="Noto Sans JP"/>
                          <a:ea typeface="Noto Sans JP"/>
                          <a:cs typeface="Noto Sans JP"/>
                        </a:rPr>
                        <a:t>解法全体の保証</a:t>
                      </a:r>
                    </a:p>
                  </a:txBody>
                  <a:tcPr>
                    <a:solidFill>
                      <a:srgbClr val="FFFFFF"/>
                    </a:solidFill>
                  </a:tcPr>
                </a:tc>
                <a:tc>
                  <a:txBody>
                    <a:bodyPr/>
                    <a:lstStyle/>
                    <a:p>
                      <a:r>
                        <a:rPr sz="1575" b="0">
                          <a:solidFill>
                            <a:srgbClr val="202B58"/>
                          </a:solidFill>
                          <a:latin typeface="Noto Sans JP"/>
                          <a:ea typeface="Noto Sans JP"/>
                          <a:cs typeface="Noto Sans JP"/>
                        </a:rPr>
                        <a:t>配車と充電を統合した全体最適性は未証明</a:t>
                      </a:r>
                    </a:p>
                  </a:txBody>
                  <a:tcPr>
                    <a:solidFill>
                      <a:srgbClr val="FFFFFF"/>
                    </a:solidFill>
                  </a:tcPr>
                </a:tc>
                <a:extLst>
                  <a:ext uri="{0D108BD9-81ED-4DB2-BD59-A6C34878D82A}">
                    <a16:rowId xmlns:a16="http://schemas.microsoft.com/office/drawing/2014/main" val="10002"/>
                  </a:ext>
                </a:extLst>
              </a:tr>
              <a:tr h="542925">
                <a:tc>
                  <a:txBody>
                    <a:bodyPr/>
                    <a:lstStyle/>
                    <a:p>
                      <a:r>
                        <a:rPr sz="1575" b="0">
                          <a:solidFill>
                            <a:srgbClr val="202B58"/>
                          </a:solidFill>
                          <a:latin typeface="Noto Sans JP"/>
                          <a:ea typeface="Noto Sans JP"/>
                          <a:cs typeface="Noto Sans JP"/>
                        </a:rPr>
                        <a:t>入力・証拠の正式確認</a:t>
                      </a:r>
                    </a:p>
                  </a:txBody>
                  <a:tcPr>
                    <a:solidFill>
                      <a:srgbClr val="F1F5F8"/>
                    </a:solidFill>
                  </a:tcPr>
                </a:tc>
                <a:tc>
                  <a:txBody>
                    <a:bodyPr/>
                    <a:lstStyle/>
                    <a:p>
                      <a:r>
                        <a:rPr sz="1575" b="0">
                          <a:solidFill>
                            <a:srgbClr val="202B58"/>
                          </a:solidFill>
                          <a:latin typeface="Noto Sans JP"/>
                          <a:ea typeface="Noto Sans JP"/>
                          <a:cs typeface="Noto Sans JP"/>
                        </a:rPr>
                        <a:t>正式な車両来歴契約、過去資料2件の証拠整合が未解決</a:t>
                      </a:r>
                    </a:p>
                  </a:txBody>
                  <a:tcPr>
                    <a:solidFill>
                      <a:srgbClr val="F1F5F8"/>
                    </a:solidFill>
                  </a:tcPr>
                </a:tc>
                <a:extLst>
                  <a:ext uri="{0D108BD9-81ED-4DB2-BD59-A6C34878D82A}">
                    <a16:rowId xmlns:a16="http://schemas.microsoft.com/office/drawing/2014/main" val="10003"/>
                  </a:ext>
                </a:extLst>
              </a:tr>
              <a:tr h="542925">
                <a:tc>
                  <a:txBody>
                    <a:bodyPr/>
                    <a:lstStyle/>
                    <a:p>
                      <a:r>
                        <a:rPr sz="1575" b="0">
                          <a:solidFill>
                            <a:srgbClr val="202B58"/>
                          </a:solidFill>
                          <a:latin typeface="Noto Sans JP"/>
                          <a:ea typeface="Noto Sans JP"/>
                          <a:cs typeface="Noto Sans JP"/>
                        </a:rPr>
                        <a:t>一般化・比較評価</a:t>
                      </a:r>
                    </a:p>
                  </a:txBody>
                  <a:tcPr>
                    <a:solidFill>
                      <a:srgbClr val="FFFFFF"/>
                    </a:solidFill>
                  </a:tcPr>
                </a:tc>
                <a:tc>
                  <a:txBody>
                    <a:bodyPr/>
                    <a:lstStyle/>
                    <a:p>
                      <a:r>
                        <a:rPr sz="1575" b="0">
                          <a:solidFill>
                            <a:srgbClr val="202B58"/>
                          </a:solidFill>
                          <a:latin typeface="Noto Sans JP"/>
                          <a:ea typeface="Noto Sans JP"/>
                          <a:cs typeface="Noto Sans JP"/>
                        </a:rPr>
                        <a:t>代理距離・月1週・対照実験なし。独立承認は未取得</a:t>
                      </a:r>
                    </a:p>
                  </a:txBody>
                  <a:tcPr>
                    <a:solidFill>
                      <a:srgbClr val="FFFFFF"/>
                    </a:solidFill>
                  </a:tcPr>
                </a:tc>
                <a:extLst>
                  <a:ext uri="{0D108BD9-81ED-4DB2-BD59-A6C34878D82A}">
                    <a16:rowId xmlns:a16="http://schemas.microsoft.com/office/drawing/2014/main" val="10004"/>
                  </a:ext>
                </a:extLst>
              </a:tr>
            </a:tbl>
          </a:graphicData>
        </a:graphic>
      </p:graphicFrame>
      <p:sp>
        <p:nvSpPr>
          <p:cNvPr id="8" name="正方形/長方形 7">
            <a:extLst>
              <a:ext uri="{FF2B5EF4-FFF2-40B4-BE49-F238E27FC236}">
                <a16:creationId xmlns:a16="http://schemas.microsoft.com/office/drawing/2014/main" id="{11D0FB06-63C2-4FAA-8C75-C2686707614C}"/>
              </a:ext>
            </a:extLst>
          </p:cNvPr>
          <p:cNvSpPr>
            <a:spLocks noGrp="1"/>
          </p:cNvSpPr>
          <p:nvPr/>
        </p:nvSpPr>
        <p:spPr>
          <a:xfrm>
            <a:off x="609600" y="4676775"/>
            <a:ext cx="10858500" cy="771525"/>
          </a:xfrm>
          <a:prstGeom prst="rect">
            <a:avLst/>
          </a:prstGeom>
          <a:noFill/>
          <a:ln w="0">
            <a:noFill/>
          </a:ln>
        </p:spPr>
        <p:txBody>
          <a:bodyPr>
            <a:noAutofit/>
          </a:bodyPr>
          <a:lstStyle/>
          <a:p>
            <a:pPr>
              <a:defRPr sz="1350" b="0">
                <a:solidFill>
                  <a:srgbClr val="59687B"/>
                </a:solidFill>
                <a:latin typeface="Noto Sans JP"/>
                <a:ea typeface="Noto Sans JP"/>
                <a:cs typeface="Noto Sans JP"/>
              </a:defRPr>
            </a:pPr>
            <a:r>
              <a:rPr sz="1350" b="0">
                <a:solidFill>
                  <a:srgbClr val="59687B"/>
                </a:solidFill>
                <a:latin typeface="Noto Sans JP"/>
                <a:ea typeface="Noto Sans JP"/>
                <a:cs typeface="Noto Sans JP"/>
              </a:rPr>
              <a:t>主結果：SHIBU21_23_MONTHLY_PHASE_SEARCH_RESULTS_20260915.json</a:t>
            </a:r>
          </a:p>
          <a:p>
            <a:pPr>
              <a:defRPr sz="1350" b="0">
                <a:solidFill>
                  <a:srgbClr val="59687B"/>
                </a:solidFill>
                <a:latin typeface="Noto Sans JP"/>
                <a:ea typeface="Noto Sans JP"/>
                <a:cs typeface="Noto Sans JP"/>
              </a:defRPr>
            </a:pPr>
            <a:r>
              <a:rPr sz="1350" b="0">
                <a:solidFill>
                  <a:srgbClr val="59687B"/>
                </a:solidFill>
                <a:latin typeface="Noto Sans JP"/>
                <a:ea typeface="Noto Sans JP"/>
                <a:cs typeface="Noto Sans JP"/>
              </a:rPr>
              <a:t>15分データ：outcome/2026-09-18_urabe_followup/analysis.json</a:t>
            </a:r>
          </a:p>
          <a:p>
            <a:pPr>
              <a:defRPr sz="1350" b="0">
                <a:solidFill>
                  <a:srgbClr val="59687B"/>
                </a:solidFill>
                <a:latin typeface="Noto Sans JP"/>
                <a:ea typeface="Noto Sans JP"/>
                <a:cs typeface="Noto Sans JP"/>
              </a:defRPr>
            </a:pPr>
            <a:r>
              <a:rPr sz="1350" b="0">
                <a:solidFill>
                  <a:srgbClr val="59687B"/>
                </a:solidFill>
                <a:latin typeface="Noto Sans JP"/>
                <a:ea typeface="Noto Sans JP"/>
                <a:cs typeface="Noto Sans JP"/>
              </a:rPr>
              <a:t>各ページのノートと同梱の説明書に、出典・定義・想定問答を記載。</a:t>
            </a:r>
          </a:p>
        </p:txBody>
      </p:sp>
    </p:spTree>
    <p:extLst>
      <p:ext uri="{BB962C8B-B14F-4D97-AF65-F5344CB8AC3E}">
        <p14:creationId xmlns:p14="http://schemas.microsoft.com/office/powerpoint/2010/main" val="214271166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oto Sans CJK JP"/>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CJK JP"/>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oto Sans CJK JP"/>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CJK JP"/>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6125</Words>
  <Application>Microsoft Office PowerPoint</Application>
  <DocSecurity>0</DocSecurity>
  <PresentationFormat>ワイド画面</PresentationFormat>
  <Paragraphs>835</Paragraphs>
  <Slides>30</Slides>
  <Notes>30</Notes>
  <HiddenSlides>24</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30</vt:i4>
      </vt:variant>
    </vt:vector>
  </HeadingPairs>
  <TitlesOfParts>
    <vt:vector size="34" baseType="lpstr">
      <vt:lpstr>Noto Sans CJK JP</vt:lpstr>
      <vt:lpstr>Noto Sans JP</vt:lpstr>
      <vt:lpstr>Arial</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刘 承洋_LIU Chengyang(東京都市大学_Tokyo City University)</cp:lastModifiedBy>
  <cp:revision>2</cp:revision>
  <dcterms:created xsi:type="dcterms:W3CDTF">2026-09-18T05:45:11Z</dcterms:created>
  <dcterms:modified xsi:type="dcterms:W3CDTF">2026-09-27T11:31:13Z</dcterms:modified>
</cp:coreProperties>
</file>