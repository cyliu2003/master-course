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81a351f56d4d93" /><Relationship Type="http://schemas.openxmlformats.org/officeDocument/2006/relationships/extended-properties" Target="/docProps/app.xml" Id="Ra623638068b6463b" /><Relationship Type="http://schemas.openxmlformats.org/officeDocument/2006/relationships/officeDocument" Target="/ppt/presentation.xml" Id="R6a8348b0f8264317" /></Relationships>
</file>

<file path=ppt/presentation.xml><?xml version="1.0" encoding="utf-8"?>
<p:presentation xmlns:p="http://schemas.openxmlformats.org/presentationml/2006/main">
  <p:sldMasterIdLst>
    <p:sldMasterId xmlns:r="http://schemas.openxmlformats.org/officeDocument/2006/relationships" id="2147483648" r:id="Rd0e182aadde44f29"/>
  </p:sldMasterIdLst>
  <p:notesMasterIdLst>
    <p:notesMasterId xmlns:r="http://schemas.openxmlformats.org/officeDocument/2006/relationships" r:id="R876a14101e914f81"/>
  </p:notesMasterIdLst>
  <p:sldIdLst>
    <p:sldId xmlns:r="http://schemas.openxmlformats.org/officeDocument/2006/relationships" id="256" r:id="Rfccdb50b553f46e3"/>
    <p:sldId xmlns:r="http://schemas.openxmlformats.org/officeDocument/2006/relationships" id="257" r:id="Rb5e472703f714748"/>
    <p:sldId xmlns:r="http://schemas.openxmlformats.org/officeDocument/2006/relationships" id="258" r:id="Rf5ee9497fa1a4b8c"/>
    <p:sldId xmlns:r="http://schemas.openxmlformats.org/officeDocument/2006/relationships" id="259" r:id="R294f6cd510a24883"/>
    <p:sldId xmlns:r="http://schemas.openxmlformats.org/officeDocument/2006/relationships" id="260" r:id="Rb49aaf72870041a1"/>
    <p:sldId xmlns:r="http://schemas.openxmlformats.org/officeDocument/2006/relationships" id="261" r:id="R8f04ac91121742d9"/>
    <p:sldId xmlns:r="http://schemas.openxmlformats.org/officeDocument/2006/relationships" id="262" r:id="Rd7abcfbeaf294603"/>
    <p:sldId xmlns:r="http://schemas.openxmlformats.org/officeDocument/2006/relationships" id="263" r:id="R6cb46ffa96864b8f"/>
    <p:sldId xmlns:r="http://schemas.openxmlformats.org/officeDocument/2006/relationships" id="264" r:id="Rb7cc9e0f407b4afb"/>
    <p:sldId xmlns:r="http://schemas.openxmlformats.org/officeDocument/2006/relationships" id="265" r:id="R519b66c2567f4680"/>
    <p:sldId xmlns:r="http://schemas.openxmlformats.org/officeDocument/2006/relationships" id="266" r:id="Re7dc537b6bc74331"/>
    <p:sldId xmlns:r="http://schemas.openxmlformats.org/officeDocument/2006/relationships" id="267" r:id="R552b91d71c014000"/>
    <p:sldId xmlns:r="http://schemas.openxmlformats.org/officeDocument/2006/relationships" id="268" r:id="Rd72758380ee64806"/>
    <p:sldId xmlns:r="http://schemas.openxmlformats.org/officeDocument/2006/relationships" id="269" r:id="R1a0e0c0fb3034142"/>
    <p:sldId xmlns:r="http://schemas.openxmlformats.org/officeDocument/2006/relationships" id="270" r:id="R701ffe88c4304a8b"/>
    <p:sldId xmlns:r="http://schemas.openxmlformats.org/officeDocument/2006/relationships" id="271" r:id="R4e4a8ea0c12f47a7"/>
    <p:sldId xmlns:r="http://schemas.openxmlformats.org/officeDocument/2006/relationships" id="272" r:id="R698c1b32b3604779"/>
    <p:sldId xmlns:r="http://schemas.openxmlformats.org/officeDocument/2006/relationships" id="273" r:id="Ra7b021a238564d21"/>
    <p:sldId xmlns:r="http://schemas.openxmlformats.org/officeDocument/2006/relationships" id="274" r:id="Ra336e366402f4e97"/>
    <p:sldId xmlns:r="http://schemas.openxmlformats.org/officeDocument/2006/relationships" id="275" r:id="Rf67eb03d8ce7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c9729755dae4c5b" /><Relationship Type="http://schemas.openxmlformats.org/officeDocument/2006/relationships/slideMaster" Target="/ppt/slideMasters/slideMaster1.xml" Id="Rd0e182aadde44f29" /><Relationship Type="http://schemas.openxmlformats.org/officeDocument/2006/relationships/notesMaster" Target="/ppt/notesMasters/notesMaster1.xml" Id="R876a14101e914f81" /><Relationship Type="http://schemas.openxmlformats.org/officeDocument/2006/relationships/presProps" Target="/ppt/presProps.xml" Id="Re031faa0e4064c17" /><Relationship Type="http://schemas.openxmlformats.org/officeDocument/2006/relationships/viewProps" Target="/ppt/viewProps.xml" Id="Rf05c2c2e32a04be9" /><Relationship Type="http://schemas.openxmlformats.org/officeDocument/2006/relationships/tableStyles" Target="/ppt/tableStyles.xml" Id="R293b0e6b481c41e7" /><Relationship Type="http://schemas.openxmlformats.org/officeDocument/2006/relationships/slide" Target="/ppt/slides/slide1.xml" Id="Rfccdb50b553f46e3" /><Relationship Type="http://schemas.openxmlformats.org/officeDocument/2006/relationships/slide" Target="/ppt/slides/slide2.xml" Id="Rb5e472703f714748" /><Relationship Type="http://schemas.openxmlformats.org/officeDocument/2006/relationships/slide" Target="/ppt/slides/slide3.xml" Id="Rf5ee9497fa1a4b8c" /><Relationship Type="http://schemas.openxmlformats.org/officeDocument/2006/relationships/slide" Target="/ppt/slides/slide4.xml" Id="R294f6cd510a24883" /><Relationship Type="http://schemas.openxmlformats.org/officeDocument/2006/relationships/slide" Target="/ppt/slides/slide5.xml" Id="Rb49aaf72870041a1" /><Relationship Type="http://schemas.openxmlformats.org/officeDocument/2006/relationships/slide" Target="/ppt/slides/slide6.xml" Id="R8f04ac91121742d9" /><Relationship Type="http://schemas.openxmlformats.org/officeDocument/2006/relationships/slide" Target="/ppt/slides/slide7.xml" Id="Rd7abcfbeaf294603" /><Relationship Type="http://schemas.openxmlformats.org/officeDocument/2006/relationships/slide" Target="/ppt/slides/slide8.xml" Id="R6cb46ffa96864b8f" /><Relationship Type="http://schemas.openxmlformats.org/officeDocument/2006/relationships/slide" Target="/ppt/slides/slide9.xml" Id="Rb7cc9e0f407b4afb" /><Relationship Type="http://schemas.openxmlformats.org/officeDocument/2006/relationships/slide" Target="/ppt/slides/slide10.xml" Id="R519b66c2567f4680" /><Relationship Type="http://schemas.openxmlformats.org/officeDocument/2006/relationships/slide" Target="/ppt/slides/slide11.xml" Id="Re7dc537b6bc74331" /><Relationship Type="http://schemas.openxmlformats.org/officeDocument/2006/relationships/slide" Target="/ppt/slides/slide12.xml" Id="R552b91d71c014000" /><Relationship Type="http://schemas.openxmlformats.org/officeDocument/2006/relationships/slide" Target="/ppt/slides/slide13.xml" Id="Rd72758380ee64806" /><Relationship Type="http://schemas.openxmlformats.org/officeDocument/2006/relationships/slide" Target="/ppt/slides/slide14.xml" Id="R1a0e0c0fb3034142" /><Relationship Type="http://schemas.openxmlformats.org/officeDocument/2006/relationships/slide" Target="/ppt/slides/slide15.xml" Id="R701ffe88c4304a8b" /><Relationship Type="http://schemas.openxmlformats.org/officeDocument/2006/relationships/slide" Target="/ppt/slides/slide16.xml" Id="R4e4a8ea0c12f47a7" /><Relationship Type="http://schemas.openxmlformats.org/officeDocument/2006/relationships/slide" Target="/ppt/slides/slide17.xml" Id="R698c1b32b3604779" /><Relationship Type="http://schemas.openxmlformats.org/officeDocument/2006/relationships/slide" Target="/ppt/slides/slide18.xml" Id="Ra7b021a238564d21" /><Relationship Type="http://schemas.openxmlformats.org/officeDocument/2006/relationships/slide" Target="/ppt/slides/slide19.xml" Id="Ra336e366402f4e97" /><Relationship Type="http://schemas.openxmlformats.org/officeDocument/2006/relationships/slide" Target="/ppt/slides/slide20.xml" Id="Rf67eb03d8ce7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6d19acfdf547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e22e0a001045cb" /><Relationship Type="http://schemas.openxmlformats.org/officeDocument/2006/relationships/notesMaster" Target="/ppt/notesMasters/notesMaster1.xml" Id="R1376b8c1691e4e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e68db95674453f" /><Relationship Type="http://schemas.openxmlformats.org/officeDocument/2006/relationships/notesMaster" Target="/ppt/notesMasters/notesMaster1.xml" Id="R68411e4a5d554b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0f10205b4643e8" /><Relationship Type="http://schemas.openxmlformats.org/officeDocument/2006/relationships/notesMaster" Target="/ppt/notesMasters/notesMaster1.xml" Id="Rea761eaea26a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fe1b8447b7410f" /><Relationship Type="http://schemas.openxmlformats.org/officeDocument/2006/relationships/notesMaster" Target="/ppt/notesMasters/notesMaster1.xml" Id="Rdaa5b78c31004e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f2d70321b7439e" /><Relationship Type="http://schemas.openxmlformats.org/officeDocument/2006/relationships/notesMaster" Target="/ppt/notesMasters/notesMaster1.xml" Id="Rff24c060fc9b44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43e6b4be5e477f" /><Relationship Type="http://schemas.openxmlformats.org/officeDocument/2006/relationships/notesMaster" Target="/ppt/notesMasters/notesMaster1.xml" Id="R73106e5ef62e46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621341a270452d" /><Relationship Type="http://schemas.openxmlformats.org/officeDocument/2006/relationships/notesMaster" Target="/ppt/notesMasters/notesMaster1.xml" Id="R471e4efa912b4c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4022b89ed94e7d" /><Relationship Type="http://schemas.openxmlformats.org/officeDocument/2006/relationships/notesMaster" Target="/ppt/notesMasters/notesMaster1.xml" Id="R58bcfafe6aba40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81507a55a548ff" /><Relationship Type="http://schemas.openxmlformats.org/officeDocument/2006/relationships/notesMaster" Target="/ppt/notesMasters/notesMaster1.xml" Id="R0f71b88e8d4546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0a1bd3af794965" /><Relationship Type="http://schemas.openxmlformats.org/officeDocument/2006/relationships/notesMaster" Target="/ppt/notesMasters/notesMaster1.xml" Id="R860b3ff57eaf49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d58d6209d94692" /><Relationship Type="http://schemas.openxmlformats.org/officeDocument/2006/relationships/notesMaster" Target="/ppt/notesMasters/notesMaster1.xml" Id="R12b59542b9b940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fb3fd34b8843c9" /><Relationship Type="http://schemas.openxmlformats.org/officeDocument/2006/relationships/notesMaster" Target="/ppt/notesMasters/notesMaster1.xml" Id="R768dd59c62e44f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2ab771748e434a" /><Relationship Type="http://schemas.openxmlformats.org/officeDocument/2006/relationships/notesMaster" Target="/ppt/notesMasters/notesMaster1.xml" Id="R25101480dac94e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2e8a2ff1bb4b35" /><Relationship Type="http://schemas.openxmlformats.org/officeDocument/2006/relationships/notesMaster" Target="/ppt/notesMasters/notesMaster1.xml" Id="R0b482e37351943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e59d846d3e4abc" /><Relationship Type="http://schemas.openxmlformats.org/officeDocument/2006/relationships/notesMaster" Target="/ppt/notesMasters/notesMaster1.xml" Id="R9159d81dbc194f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6b27debe9642a2" /><Relationship Type="http://schemas.openxmlformats.org/officeDocument/2006/relationships/notesMaster" Target="/ppt/notesMasters/notesMaster1.xml" Id="Ra614d3ed249043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1d37fb1d0e468c" /><Relationship Type="http://schemas.openxmlformats.org/officeDocument/2006/relationships/notesMaster" Target="/ppt/notesMasters/notesMaster1.xml" Id="R7937f7695e834e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f24af63e54476f" /><Relationship Type="http://schemas.openxmlformats.org/officeDocument/2006/relationships/notesMaster" Target="/ppt/notesMasters/notesMaster1.xml" Id="R7e3edb4f127c4d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4d9947211143f8" /><Relationship Type="http://schemas.openxmlformats.org/officeDocument/2006/relationships/notesMaster" Target="/ppt/notesMasters/notesMaster1.xml" Id="R22554c635c0649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fb8be8db2a4231" /><Relationship Type="http://schemas.openxmlformats.org/officeDocument/2006/relationships/notesMaster" Target="/ppt/notesMasters/notesMaster1.xml" Id="Rad8696504b5d4b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月16日のご指摘を受け、購入電力量と受電ピークの意味、3月と11月の時間分布、費用差の判断材料の順に説明します。今回の数値は前回と同じ固定版12週を再集計したもので、新しい最適化実験は行ってい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は、全便運行を守りながら、PVと蓄電池を使う混成バスの配車・充電計画を考えることです。先生のご質問を受け、まず3月と11月で購入量が多い理由を時間分布から確かめます。次に費用差の内訳を示し、どの条件なら効果を判断できるかを整理し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月の最初の、祝日を含まない月内完結の月曜から日曜を選んでいます。PVや費用を見て週を選び直していません。3月と11月の使用車両日数はいずれも206台日、使用車両はBEV26台とICE6台です。ただしBEV担当便数は1562便と1565便で配車は同一ではありません。各168時間、672区間の物理・会計検証を通過してい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前回の右図における15分平均は、各15分区間での平均を意味し、その最大値を表示していました。1週間の平均とは異なります。今回、週平均も購入電力量を168時間で割って計算しました。3月46.4 kW、11月43.5 kWと近い値です。一方、最大値は849.4 kWと234.8 kWで約3.6倍異なります。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12週の中で3月と11月はいずれも購入量が多い週ですが、ピークは大きく異なります。購入量の高さとピークの高さは別の性質なので、時系列へ進みます。夏の購入量は少ない傾向ですが、今回の固定電費には空調などの気温影響が含まれておらず、一般的な季節効果には拡張でき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横軸は月曜0時からの経過時間で、24時間ごとが日境界です。全672区間を省略せず表示しています。3月の高いピークは初日の未明にあり、11月は235 kW程度までに収まります。ただし11月も複数日にわたり200 kW付近で購入しているため、週間の積算電力量は大きくなります。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日ごとの実行電力を積算すると11月は7日すべてで購入しています。1 kW超の購入時間は合計50.75時間で、最長の連続区間は11月13日21時から14日6時45分までの9.75時間、1850.9 kWhです。また大きい方から4つの15分区間を足しても週間購入量の3.2%です。これは購入電力全体の話で、契約基準を超えた時間は次ページで別に見ます。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3月の200 kW超過は週内で1.25時間あり、超過電力量の99.86%が初日1時から2時の1時間に集中します。残りは3月6日6時15分の1区間です。11月の超過は3.75時間分、15区間で、すべて11月13日夜から14日朝です。図はそれぞれ異なる長さの窓なので、時間軸を明示しています。超過が短いというだけでは費用は判断でき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ピーク時は両週ともPV発電がなく、バス充電は系統のみで賄っています。BESS残量は3月3000 kWh、11月2096.7 kWhで下限1200 kWhを上回っていますが、放電していません。この事実だけで蓄電池の不足とは説明できません。一方、将来の制約を保ったまま放電できる別計画が存在するかも未検証です。11月の最大値は複数区間で同水準なので、表は一例で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P10では総費用の差だけでは判断材料が足りませんでした。今回は同じ項目に分け、差額まで示します。車両使用費は両週412万円で同じです。23万9900.53円の差のうち22万4237.03円が契約基準超過のペナルティ差で、93.47%を占めます。燃料やCO2の費用も異なりますが寄与は小さい結果で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超過ペナルティは各区間の max(受電電力−200,0) に0.25時間と500円/kWhを掛けた合計です。3月は超過時間が短くても超過電力が大きく、超過電力量540.5 kWhで27.03万円になります。11月は92.0 kWh、4.60万円です。この係数を現実の契約や目的に照らして採用する妥当性は、別途説明する必要があります。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務的に差が大きいかを考えるため、総額だけでなく同じ便数当たりの費用を示します。総費用の差は11月比5.42%、1便当たり140.79円です。車両使用費を除くと3月54.45万円、11月30.46万円ですが、使用費を除いた値を総費用と混同しないようラベルを明記します。実際に得られる削減額を知るには同じ週の比較運用が必要で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円/kWhという仮定が差額を大きくしていることを示すため、実行電力を一切変えずに0円、100円、500円で計算し直しました。差額はそれぞれ1.566万円、6.051万円、23.990万円です。最適化をやり直せば充電時刻や購入量も変わり得るため、この図は料金感度の説明用であり、政策変更や改善計画の評価ではあり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結果は物理的に実行可能な計画の診断比較です。費用差そのものと料金設定への依存は確認できます。しかし季節、PV、配車や探索結果も異なるため、差額を手法の効果とできません。統計的な判断には複数週や年を含む比較設計が必要です。日別会計には週費用を配分した項目があり、7日分を独立な標本として検定することも適切ではありません。Stage 1 gapは3月84.6%、11月85.2%で、10%目標に未達です。これは総費用の誤差率ではありません。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先生への回答をまとめます。11月の購入は7日すべてに分散し、1 kW超の合計は50.75時間でした。一方で200 kWを超える小幅な購入は一晩に集中します。3月は初日の大幅な超過が費用差の大部分を生みました。ただしなぜその充電になったか、別計画で減らせるかは今回未検証です。まず同じ入力と配車を固定した充電比較で超過低減可能性を調べ、その後、配車も含めた基準手法との公平な比較や複数週評価へ進めるのが妥当で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日別の購入電力量、PV発電量、契約基準を超えた電力量を比較するための表です。3月初日はPVが547.2 kWhと小さいですが、ピーク発生は未明であり、その日のPV総量だけで因果説明はできません。11月の契約超過は木曜と金曜に計92.0 kWhで、他の日も系統購入は発生しています。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月別結果を参照できるよう残した表です。費用は確定週間会計、購入電力量とピークは実行時系列から得ています。今の問題設定には気温依存の空調需要がなく、各月の季節名だけで需要変化を説明することはでき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月別結果を参照できるよう残した表です。費用は確定週間会計、購入電力量とピークは実行時系列から得ています。今の問題設定には気温依存の空調需要がなく、各月の季節名だけで需要変化を説明することはできません。</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前日充電と毎時更新でMethodが異なりますが、この段階別の規則は全月同じです。集計では1 kWを超える受電時間を購入時間と呼び、超過時間には1e-6 kWの数値許容差を用いています。超過費用を検算するときは丸めず、原データから積算しています。PV予測は2024年を学習に使ったclimatologyで、対象週は2025年です。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営業便距離は座標由来の代理距離で、2026年時刻表を2025年の日付へ対応させています。またBESSは週末に初期残量へ戻す条件ではなく、3月と11月はいずれも1800 kWhの在庫減少があります。各週は初期状態をリセットしており、1年間の連続運用とは異なります。各原本のSHAと集計方法はanalysis.jsonおよび同梱の説明文に記載しています。前回PPTXは残し、本資料を別版として作成しています。</a:t>
            </a:r>
          </a:p>
          <a:p xmlns:a="http://schemas.openxmlformats.org/drawingml/2006/main">
            <a:r>
              <a:t/>
            </a:r>
          </a:p>
          <a:p xmlns:a="http://schemas.openxmlformats.org/drawingml/2006/main">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58153a898f4c5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467704bba24a31" /><Relationship Type="http://schemas.openxmlformats.org/officeDocument/2006/relationships/slideLayout" Target="/ppt/slideLayouts/slideLayout1.xml" Id="Rcb7f28712a3f4b4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7f28712a3f4b4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2a752d8748449d" /><Relationship Type="http://schemas.openxmlformats.org/officeDocument/2006/relationships/image" Target="/ppt/media/image.png" Id="R3d4a42c241e5401e" /><Relationship Type="http://schemas.openxmlformats.org/officeDocument/2006/relationships/image" Target="/ppt/media/image2.png" Id="R815eeedb1c894a2a" /><Relationship Type="http://schemas.openxmlformats.org/officeDocument/2006/relationships/image" Target="/ppt/media/image3.png" Id="R9caabe4d95a74a0f" /><Relationship Type="http://schemas.openxmlformats.org/officeDocument/2006/relationships/notesSlide" Target="/ppt/notesSlides/notesSlide1.xml" Id="R1737dc8ab8604c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cdaf0c18824ad6" /><Relationship Type="http://schemas.openxmlformats.org/officeDocument/2006/relationships/notesSlide" Target="/ppt/notesSlides/notesSlide2.xml" Id="R73af8d0fcd994e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9a8d29ae004cdd" /><Relationship Type="http://schemas.openxmlformats.org/officeDocument/2006/relationships/notesSlide" Target="/ppt/notesSlides/notesSlide3.xml" Id="R7f3b1499a74c4d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2f55ab615746ed" /><Relationship Type="http://schemas.openxmlformats.org/officeDocument/2006/relationships/notesSlide" Target="/ppt/notesSlides/notesSlide4.xml" Id="R3565644f4b8949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09cd0382b14599" /><Relationship Type="http://schemas.openxmlformats.org/officeDocument/2006/relationships/chart" Target="/ppt/slides/charts/chart1.xml" Id="R1c6c8aa10a494564" /><Relationship Type="http://schemas.openxmlformats.org/officeDocument/2006/relationships/chart" Target="/ppt/slides/charts/chart2.xml" Id="R85b91e7965104cb6" /><Relationship Type="http://schemas.openxmlformats.org/officeDocument/2006/relationships/notesSlide" Target="/ppt/notesSlides/notesSlide5.xml" Id="R5c9a0dbc6a6740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5038bf656b4eeb" /><Relationship Type="http://schemas.openxmlformats.org/officeDocument/2006/relationships/chart" Target="/ppt/slides/charts/chart3.xml" Id="Rfabbb56f926144f5" /><Relationship Type="http://schemas.openxmlformats.org/officeDocument/2006/relationships/notesSlide" Target="/ppt/notesSlides/notesSlide6.xml" Id="R758040b5d1fc4e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ff495b4b2d47a4" /><Relationship Type="http://schemas.openxmlformats.org/officeDocument/2006/relationships/chart" Target="/ppt/slides/charts/chart4.xml" Id="R1c5b79575dfd4717" /><Relationship Type="http://schemas.openxmlformats.org/officeDocument/2006/relationships/notesSlide" Target="/ppt/notesSlides/notesSlide7.xml" Id="Rfe23c84a826047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2fc51182de4bc0" /><Relationship Type="http://schemas.openxmlformats.org/officeDocument/2006/relationships/chart" Target="/ppt/slides/charts/chart5.xml" Id="R6675462cf32b46b9" /><Relationship Type="http://schemas.openxmlformats.org/officeDocument/2006/relationships/chart" Target="/ppt/slides/charts/chart6.xml" Id="R9e393434e00f4c5a" /><Relationship Type="http://schemas.openxmlformats.org/officeDocument/2006/relationships/notesSlide" Target="/ppt/notesSlides/notesSlide8.xml" Id="R40c5b06f67824c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a414330bcd4132" /><Relationship Type="http://schemas.openxmlformats.org/officeDocument/2006/relationships/notesSlide" Target="/ppt/notesSlides/notesSlide9.xml" Id="R36824102b8594a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b7cab4196b4fd3" /><Relationship Type="http://schemas.openxmlformats.org/officeDocument/2006/relationships/notesSlide" Target="/ppt/notesSlides/notesSlide10.xml" Id="Rd3e96842db1641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37190728a546e5" /><Relationship Type="http://schemas.openxmlformats.org/officeDocument/2006/relationships/notesSlide" Target="/ppt/notesSlides/notesSlide11.xml" Id="Rc03af102978e42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9857a9b78394d44" /><Relationship Type="http://schemas.openxmlformats.org/officeDocument/2006/relationships/notesSlide" Target="/ppt/notesSlides/notesSlide12.xml" Id="R8539a110faac47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20ffc3b9214dd6" /><Relationship Type="http://schemas.openxmlformats.org/officeDocument/2006/relationships/chart" Target="/ppt/slides/charts/chart7.xml" Id="Re6f1d39dbb8b4a07" /><Relationship Type="http://schemas.openxmlformats.org/officeDocument/2006/relationships/notesSlide" Target="/ppt/notesSlides/notesSlide13.xml" Id="R1ac84fabc2e245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87f81e8c8243fb" /><Relationship Type="http://schemas.openxmlformats.org/officeDocument/2006/relationships/notesSlide" Target="/ppt/notesSlides/notesSlide14.xml" Id="R669a9b14cbc34e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78ae9b179bf4f45" /><Relationship Type="http://schemas.openxmlformats.org/officeDocument/2006/relationships/notesSlide" Target="/ppt/notesSlides/notesSlide15.xml" Id="Rc3625c0f309b43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cfffe7ba2242e6" /><Relationship Type="http://schemas.openxmlformats.org/officeDocument/2006/relationships/notesSlide" Target="/ppt/notesSlides/notesSlide16.xml" Id="R882bbf9471494f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9b72d920fad4b69" /><Relationship Type="http://schemas.openxmlformats.org/officeDocument/2006/relationships/notesSlide" Target="/ppt/notesSlides/notesSlide17.xml" Id="R30b4a276d90944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6e6c475640b44d5" /><Relationship Type="http://schemas.openxmlformats.org/officeDocument/2006/relationships/notesSlide" Target="/ppt/notesSlides/notesSlide18.xml" Id="Rf878a91e741149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c9ff389246427f" /><Relationship Type="http://schemas.openxmlformats.org/officeDocument/2006/relationships/notesSlide" Target="/ppt/notesSlides/notesSlide19.xml" Id="Rc8765776da6f4a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649066ecfc844cc" /><Relationship Type="http://schemas.openxmlformats.org/officeDocument/2006/relationships/notesSlide" Target="/ppt/notesSlides/notesSlide20.xml" Id="R8add1a60a3914e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週間購入電力量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購入電力量</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5.621675</c:v>
                </c:pt>
                <c:pt idx="1">
                  <c:v>2.123523</c:v>
                </c:pt>
                <c:pt idx="2">
                  <c:v>7.794056</c:v>
                </c:pt>
                <c:pt idx="3">
                  <c:v>2.70669</c:v>
                </c:pt>
                <c:pt idx="4">
                  <c:v>3.981889</c:v>
                </c:pt>
                <c:pt idx="5">
                  <c:v>2.804812</c:v>
                </c:pt>
                <c:pt idx="6">
                  <c:v>1.74637</c:v>
                </c:pt>
                <c:pt idx="7">
                  <c:v>2.723825</c:v>
                </c:pt>
                <c:pt idx="8">
                  <c:v>3.619456</c:v>
                </c:pt>
                <c:pt idx="9">
                  <c:v>4.29415</c:v>
                </c:pt>
                <c:pt idx="10">
                  <c:v>7.302402</c:v>
                </c:pt>
                <c:pt idx="11">
                  <c:v>5.695416</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9"/>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MWh／選択週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最大15分平均受電電力</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受電ピーク</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256.786</c:v>
                </c:pt>
                <c:pt idx="1">
                  <c:v>200</c:v>
                </c:pt>
                <c:pt idx="2">
                  <c:v>849.4416</c:v>
                </c:pt>
                <c:pt idx="3">
                  <c:v>420.0001</c:v>
                </c:pt>
                <c:pt idx="4">
                  <c:v>358.573</c:v>
                </c:pt>
                <c:pt idx="5">
                  <c:v>244.106036</c:v>
                </c:pt>
                <c:pt idx="6">
                  <c:v>227.008</c:v>
                </c:pt>
                <c:pt idx="7">
                  <c:v>419.9999</c:v>
                </c:pt>
                <c:pt idx="8">
                  <c:v>270</c:v>
                </c:pt>
                <c:pt idx="9">
                  <c:v>209.643</c:v>
                </c:pt>
                <c:pt idx="10">
                  <c:v>234.781274</c:v>
                </c:pt>
                <c:pt idx="11">
                  <c:v>263.706838</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202B58"/>
                </a:solidFill>
                <a:latin typeface="Noto Sans JP"/>
                <a:ea typeface="Noto Sans JP"/>
                <a:cs typeface="Noto Sans JP"/>
              </a:rPr>
              <a:t>3月・11月の週間受電</a:t>
            </a:r>
          </a:p>
        </c:rich>
      </c:tx>
      <c:overlay val="0"/>
      <c:txPr>
        <a:bodyPr xmlns:a="http://schemas.openxmlformats.org/drawingml/2006/main" anchorCtr="1"/>
        <a:lstStyle xmlns:a="http://schemas.openxmlformats.org/drawingml/2006/main"/>
        <a:p xmlns:a="http://schemas.openxmlformats.org/drawingml/2006/main">
          <a:pPr>
            <a:defRPr sz="1650" b="1">
              <a:solidFill>
                <a:srgbClr val="202B58"/>
              </a:solidFill>
              <a:latin typeface="Noto Sans JP"/>
              <a:ea typeface="Noto Sans JP"/>
              <a:cs typeface="Noto Sans JP"/>
            </a:defRPr>
          </a:pPr>
        </a:p>
      </c:txPr>
    </c:title>
    <c:plotArea>
      <c:scatterChart>
        <c:scatterStyle val="line"/>
        <c:ser>
          <c:idx val="0"/>
          <c:order val="0"/>
          <c:tx>
            <c:v>3月3〜9日</c:v>
          </c:tx>
          <c:spPr>
            <a:ln xmlns:a="http://schemas.openxmlformats.org/drawingml/2006/main" w="19050">
              <a:solidFill>
                <a:srgbClr val="316DB6"/>
              </a:solidFill>
            </a:ln>
          </c:spPr>
          <c:marker>
            <c:symbol val="none"/>
          </c:marker>
          <c:xVal>
            <c:numRef>
              <c:f>'Chart Data'!$A$2:$A$1345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Data'!$B$2:$B$1345</c:f>
              <c:numCache>
                <c:formatCode>0</c:formatCode>
                <c:ptCount val="1344"/>
                <c:pt idx="0">
                  <c:v>0</c:v>
                </c:pt>
                <c:pt idx="1">
                  <c:v>0</c:v>
                </c:pt>
                <c:pt idx="2">
                  <c:v>0</c:v>
                </c:pt>
                <c:pt idx="3">
                  <c:v>0</c:v>
                </c:pt>
                <c:pt idx="4">
                  <c:v>0</c:v>
                </c:pt>
                <c:pt idx="5">
                  <c:v>0</c:v>
                </c:pt>
                <c:pt idx="6">
                  <c:v>0</c:v>
                </c:pt>
                <c:pt idx="7">
                  <c:v>0</c:v>
                </c:pt>
                <c:pt idx="8">
                  <c:v>522.565877</c:v>
                </c:pt>
                <c:pt idx="9">
                  <c:v>522.565877</c:v>
                </c:pt>
                <c:pt idx="10">
                  <c:v>849.4416</c:v>
                </c:pt>
                <c:pt idx="11">
                  <c:v>849.4416</c:v>
                </c:pt>
                <c:pt idx="12">
                  <c:v>780.630367</c:v>
                </c:pt>
                <c:pt idx="13">
                  <c:v>780.630367</c:v>
                </c:pt>
                <c:pt idx="14">
                  <c:v>806.470888</c:v>
                </c:pt>
                <c:pt idx="15">
                  <c:v>806.470888</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c:v>
                </c:pt>
                <c:pt idx="55">
                  <c:v>35.615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c:v>
                </c:pt>
                <c:pt idx="123">
                  <c:v>19.2189</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c:v>
                </c:pt>
                <c:pt idx="179">
                  <c:v>90.0001</c:v>
                </c:pt>
                <c:pt idx="180">
                  <c:v>120.0003</c:v>
                </c:pt>
                <c:pt idx="181">
                  <c:v>120.0003</c:v>
                </c:pt>
                <c:pt idx="182">
                  <c:v>194.869308</c:v>
                </c:pt>
                <c:pt idx="183">
                  <c:v>194.869308</c:v>
                </c:pt>
                <c:pt idx="184">
                  <c:v>60</c:v>
                </c:pt>
                <c:pt idx="185">
                  <c:v>60</c:v>
                </c:pt>
                <c:pt idx="186">
                  <c:v>150</c:v>
                </c:pt>
                <c:pt idx="187">
                  <c:v>150</c:v>
                </c:pt>
                <c:pt idx="188">
                  <c:v>60</c:v>
                </c:pt>
                <c:pt idx="189">
                  <c:v>60</c:v>
                </c:pt>
                <c:pt idx="190">
                  <c:v>0.0001</c:v>
                </c:pt>
                <c:pt idx="191">
                  <c:v>0.0001</c:v>
                </c:pt>
                <c:pt idx="192">
                  <c:v>120</c:v>
                </c:pt>
                <c:pt idx="193">
                  <c:v>120</c:v>
                </c:pt>
                <c:pt idx="194">
                  <c:v>90</c:v>
                </c:pt>
                <c:pt idx="195">
                  <c:v>90</c:v>
                </c:pt>
                <c:pt idx="196">
                  <c:v>90</c:v>
                </c:pt>
                <c:pt idx="197">
                  <c:v>90</c:v>
                </c:pt>
                <c:pt idx="198">
                  <c:v>0.0001</c:v>
                </c:pt>
                <c:pt idx="199">
                  <c:v>0.0001</c:v>
                </c:pt>
                <c:pt idx="200">
                  <c:v>200</c:v>
                </c:pt>
                <c:pt idx="201">
                  <c:v>200</c:v>
                </c:pt>
                <c:pt idx="202">
                  <c:v>200</c:v>
                </c:pt>
                <c:pt idx="203">
                  <c:v>200</c:v>
                </c:pt>
                <c:pt idx="204">
                  <c:v>200</c:v>
                </c:pt>
                <c:pt idx="205">
                  <c:v>200</c:v>
                </c:pt>
                <c:pt idx="206">
                  <c:v>200</c:v>
                </c:pt>
                <c:pt idx="207">
                  <c:v>200</c:v>
                </c:pt>
                <c:pt idx="208">
                  <c:v>200</c:v>
                </c:pt>
                <c:pt idx="209">
                  <c:v>200</c:v>
                </c:pt>
                <c:pt idx="210">
                  <c:v>0</c:v>
                </c:pt>
                <c:pt idx="211">
                  <c:v>0</c:v>
                </c:pt>
                <c:pt idx="212">
                  <c:v>0</c:v>
                </c:pt>
                <c:pt idx="213">
                  <c:v>0</c:v>
                </c:pt>
                <c:pt idx="214">
                  <c:v>0</c:v>
                </c:pt>
                <c:pt idx="215">
                  <c:v>0</c:v>
                </c:pt>
                <c:pt idx="216">
                  <c:v>133.262637</c:v>
                </c:pt>
                <c:pt idx="217">
                  <c:v>133.262637</c:v>
                </c:pt>
                <c:pt idx="218">
                  <c:v>200</c:v>
                </c:pt>
                <c:pt idx="219">
                  <c:v>200</c:v>
                </c:pt>
                <c:pt idx="220">
                  <c:v>200</c:v>
                </c:pt>
                <c:pt idx="221">
                  <c:v>200</c:v>
                </c:pt>
                <c:pt idx="222">
                  <c:v>200</c:v>
                </c:pt>
                <c:pt idx="223">
                  <c:v>200</c:v>
                </c:pt>
                <c:pt idx="224">
                  <c:v>200</c:v>
                </c:pt>
                <c:pt idx="225">
                  <c:v>200</c:v>
                </c:pt>
                <c:pt idx="226">
                  <c:v>0</c:v>
                </c:pt>
                <c:pt idx="227">
                  <c:v>0</c:v>
                </c:pt>
                <c:pt idx="228">
                  <c:v>200</c:v>
                </c:pt>
                <c:pt idx="229">
                  <c:v>200</c:v>
                </c:pt>
                <c:pt idx="230">
                  <c:v>200</c:v>
                </c:pt>
                <c:pt idx="231">
                  <c:v>200</c:v>
                </c:pt>
                <c:pt idx="232">
                  <c:v>60</c:v>
                </c:pt>
                <c:pt idx="233">
                  <c:v>60</c:v>
                </c:pt>
                <c:pt idx="234">
                  <c:v>0</c:v>
                </c:pt>
                <c:pt idx="235">
                  <c:v>0</c:v>
                </c:pt>
                <c:pt idx="236">
                  <c:v>16.737263</c:v>
                </c:pt>
                <c:pt idx="237">
                  <c:v>16.737263</c:v>
                </c:pt>
                <c:pt idx="238">
                  <c:v>60</c:v>
                </c:pt>
                <c:pt idx="239">
                  <c:v>60</c:v>
                </c:pt>
                <c:pt idx="240">
                  <c:v>0</c:v>
                </c:pt>
                <c:pt idx="241">
                  <c:v>0</c:v>
                </c:pt>
                <c:pt idx="242">
                  <c:v>199.78</c:v>
                </c:pt>
                <c:pt idx="243">
                  <c:v>199.78</c:v>
                </c:pt>
                <c:pt idx="244">
                  <c:v>37.05</c:v>
                </c:pt>
                <c:pt idx="245">
                  <c:v>37.05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60</c:v>
                </c:pt>
                <c:pt idx="349">
                  <c:v>60</c:v>
                </c:pt>
                <c:pt idx="350">
                  <c:v>90</c:v>
                </c:pt>
                <c:pt idx="351">
                  <c:v>90</c:v>
                </c:pt>
                <c:pt idx="352">
                  <c:v>90</c:v>
                </c:pt>
                <c:pt idx="353">
                  <c:v>90</c:v>
                </c:pt>
                <c:pt idx="354">
                  <c:v>90</c:v>
                </c:pt>
                <c:pt idx="355">
                  <c:v>90</c:v>
                </c:pt>
                <c:pt idx="356">
                  <c:v>90</c:v>
                </c:pt>
                <c:pt idx="357">
                  <c:v>90</c:v>
                </c:pt>
                <c:pt idx="358">
                  <c:v>150</c:v>
                </c:pt>
                <c:pt idx="359">
                  <c:v>150</c:v>
                </c:pt>
                <c:pt idx="360">
                  <c:v>90.0001</c:v>
                </c:pt>
                <c:pt idx="361">
                  <c:v>90.0001</c:v>
                </c:pt>
                <c:pt idx="362">
                  <c:v>90.0001</c:v>
                </c:pt>
                <c:pt idx="363">
                  <c:v>90.0001</c:v>
                </c:pt>
                <c:pt idx="364">
                  <c:v>109.00291</c:v>
                </c:pt>
                <c:pt idx="365">
                  <c:v>109.00291</c:v>
                </c:pt>
                <c:pt idx="366">
                  <c:v>180</c:v>
                </c:pt>
                <c:pt idx="367">
                  <c:v>180</c:v>
                </c:pt>
                <c:pt idx="368">
                  <c:v>180</c:v>
                </c:pt>
                <c:pt idx="369">
                  <c:v>180</c:v>
                </c:pt>
                <c:pt idx="370">
                  <c:v>200</c:v>
                </c:pt>
                <c:pt idx="371">
                  <c:v>200</c:v>
                </c:pt>
                <c:pt idx="372">
                  <c:v>180.0001</c:v>
                </c:pt>
                <c:pt idx="373">
                  <c:v>180.0001</c:v>
                </c:pt>
                <c:pt idx="374">
                  <c:v>200</c:v>
                </c:pt>
                <c:pt idx="375">
                  <c:v>200</c:v>
                </c:pt>
                <c:pt idx="376">
                  <c:v>200</c:v>
                </c:pt>
                <c:pt idx="377">
                  <c:v>200</c:v>
                </c:pt>
                <c:pt idx="378">
                  <c:v>150</c:v>
                </c:pt>
                <c:pt idx="379">
                  <c:v>150</c:v>
                </c:pt>
                <c:pt idx="380">
                  <c:v>39.9996</c:v>
                </c:pt>
                <c:pt idx="381">
                  <c:v>39.9996</c:v>
                </c:pt>
                <c:pt idx="382">
                  <c:v>60.0001</c:v>
                </c:pt>
                <c:pt idx="383">
                  <c:v>60.0001</c:v>
                </c:pt>
                <c:pt idx="384">
                  <c:v>200</c:v>
                </c:pt>
                <c:pt idx="385">
                  <c:v>200</c:v>
                </c:pt>
                <c:pt idx="386">
                  <c:v>200</c:v>
                </c:pt>
                <c:pt idx="387">
                  <c:v>200</c:v>
                </c:pt>
                <c:pt idx="388">
                  <c:v>186.609316</c:v>
                </c:pt>
                <c:pt idx="389">
                  <c:v>186.609316</c:v>
                </c:pt>
                <c:pt idx="390">
                  <c:v>120.0001</c:v>
                </c:pt>
                <c:pt idx="391">
                  <c:v>120.0001</c:v>
                </c:pt>
                <c:pt idx="392">
                  <c:v>36.959679</c:v>
                </c:pt>
                <c:pt idx="393">
                  <c:v>36.959679</c:v>
                </c:pt>
                <c:pt idx="394">
                  <c:v>200</c:v>
                </c:pt>
                <c:pt idx="395">
                  <c:v>200</c:v>
                </c:pt>
                <c:pt idx="396">
                  <c:v>190.241918</c:v>
                </c:pt>
                <c:pt idx="397">
                  <c:v>190.241918</c:v>
                </c:pt>
                <c:pt idx="398">
                  <c:v>120.0001</c:v>
                </c:pt>
                <c:pt idx="399">
                  <c:v>120.0001</c:v>
                </c:pt>
                <c:pt idx="400">
                  <c:v>200</c:v>
                </c:pt>
                <c:pt idx="401">
                  <c:v>200</c:v>
                </c:pt>
                <c:pt idx="402">
                  <c:v>60.0003</c:v>
                </c:pt>
                <c:pt idx="403">
                  <c:v>60.0003</c:v>
                </c:pt>
                <c:pt idx="404">
                  <c:v>131.973386</c:v>
                </c:pt>
                <c:pt idx="405">
                  <c:v>131.973386</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72.844164</c:v>
                </c:pt>
                <c:pt idx="425">
                  <c:v>72.844164</c:v>
                </c:pt>
                <c:pt idx="426">
                  <c:v>0</c:v>
                </c:pt>
                <c:pt idx="427">
                  <c:v>0</c:v>
                </c:pt>
                <c:pt idx="428">
                  <c:v>200</c:v>
                </c:pt>
                <c:pt idx="429">
                  <c:v>200</c:v>
                </c:pt>
                <c:pt idx="430">
                  <c:v>200</c:v>
                </c:pt>
                <c:pt idx="431">
                  <c:v>200</c:v>
                </c:pt>
                <c:pt idx="432">
                  <c:v>47.148642</c:v>
                </c:pt>
                <c:pt idx="433">
                  <c:v>47.148642</c:v>
                </c:pt>
                <c:pt idx="434">
                  <c:v>178.3</c:v>
                </c:pt>
                <c:pt idx="435">
                  <c:v>178.3</c:v>
                </c:pt>
                <c:pt idx="436">
                  <c:v>31.418842</c:v>
                </c:pt>
                <c:pt idx="437">
                  <c:v>31.418842</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14.35</c:v>
                </c:pt>
                <c:pt idx="511">
                  <c:v>14.35</c:v>
                </c:pt>
                <c:pt idx="512">
                  <c:v>27.95</c:v>
                </c:pt>
                <c:pt idx="513">
                  <c:v>27.95</c:v>
                </c:pt>
                <c:pt idx="514">
                  <c:v>44.1</c:v>
                </c:pt>
                <c:pt idx="515">
                  <c:v>44.1</c:v>
                </c:pt>
                <c:pt idx="516">
                  <c:v>43.557</c:v>
                </c:pt>
                <c:pt idx="517">
                  <c:v>43.557</c:v>
                </c:pt>
                <c:pt idx="518">
                  <c:v>5.983837</c:v>
                </c:pt>
                <c:pt idx="519">
                  <c:v>5.983837</c:v>
                </c:pt>
                <c:pt idx="520">
                  <c:v>0</c:v>
                </c:pt>
                <c:pt idx="521">
                  <c:v>0</c:v>
                </c:pt>
                <c:pt idx="522">
                  <c:v>0</c:v>
                </c:pt>
                <c:pt idx="523">
                  <c:v>0</c:v>
                </c:pt>
                <c:pt idx="524">
                  <c:v>0</c:v>
                </c:pt>
                <c:pt idx="525">
                  <c:v>0</c:v>
                </c:pt>
                <c:pt idx="526">
                  <c:v>0</c:v>
                </c:pt>
                <c:pt idx="527">
                  <c:v>0</c:v>
                </c:pt>
                <c:pt idx="528">
                  <c:v>0.0001</c:v>
                </c:pt>
                <c:pt idx="529">
                  <c:v>0.0001</c:v>
                </c:pt>
                <c:pt idx="530">
                  <c:v>0.0001</c:v>
                </c:pt>
                <c:pt idx="531">
                  <c:v>0.0001</c:v>
                </c:pt>
                <c:pt idx="532">
                  <c:v>0.0001</c:v>
                </c:pt>
                <c:pt idx="533">
                  <c:v>0.0001</c:v>
                </c:pt>
                <c:pt idx="534">
                  <c:v>0.0001</c:v>
                </c:pt>
                <c:pt idx="535">
                  <c:v>0.0001</c:v>
                </c:pt>
                <c:pt idx="536">
                  <c:v>0.0001</c:v>
                </c:pt>
                <c:pt idx="537">
                  <c:v>0.0001</c:v>
                </c:pt>
                <c:pt idx="538">
                  <c:v>0.0001</c:v>
                </c:pt>
                <c:pt idx="539">
                  <c:v>0.0001</c:v>
                </c:pt>
                <c:pt idx="540">
                  <c:v>0.0001</c:v>
                </c:pt>
                <c:pt idx="541">
                  <c:v>0.0001</c:v>
                </c:pt>
                <c:pt idx="542">
                  <c:v>0.0001</c:v>
                </c:pt>
                <c:pt idx="543">
                  <c:v>0.0001</c:v>
                </c:pt>
                <c:pt idx="544">
                  <c:v>90</c:v>
                </c:pt>
                <c:pt idx="545">
                  <c:v>90</c:v>
                </c:pt>
                <c:pt idx="546">
                  <c:v>0.0001</c:v>
                </c:pt>
                <c:pt idx="547">
                  <c:v>0.0001</c:v>
                </c:pt>
                <c:pt idx="548">
                  <c:v>0.0001</c:v>
                </c:pt>
                <c:pt idx="549">
                  <c:v>0.0001</c:v>
                </c:pt>
                <c:pt idx="550">
                  <c:v>46.076092</c:v>
                </c:pt>
                <c:pt idx="551">
                  <c:v>46.076092</c:v>
                </c:pt>
                <c:pt idx="552">
                  <c:v>60</c:v>
                </c:pt>
                <c:pt idx="553">
                  <c:v>60</c:v>
                </c:pt>
                <c:pt idx="554">
                  <c:v>90.0001</c:v>
                </c:pt>
                <c:pt idx="555">
                  <c:v>90.0001</c:v>
                </c:pt>
                <c:pt idx="556">
                  <c:v>90.0001</c:v>
                </c:pt>
                <c:pt idx="557">
                  <c:v>90.0001</c:v>
                </c:pt>
                <c:pt idx="558">
                  <c:v>150.0001</c:v>
                </c:pt>
                <c:pt idx="559">
                  <c:v>150.0001</c:v>
                </c:pt>
                <c:pt idx="560">
                  <c:v>180</c:v>
                </c:pt>
                <c:pt idx="561">
                  <c:v>180</c:v>
                </c:pt>
                <c:pt idx="562">
                  <c:v>200</c:v>
                </c:pt>
                <c:pt idx="563">
                  <c:v>200</c:v>
                </c:pt>
                <c:pt idx="564">
                  <c:v>200</c:v>
                </c:pt>
                <c:pt idx="565">
                  <c:v>200</c:v>
                </c:pt>
                <c:pt idx="566">
                  <c:v>200</c:v>
                </c:pt>
                <c:pt idx="567">
                  <c:v>200</c:v>
                </c:pt>
                <c:pt idx="568">
                  <c:v>200</c:v>
                </c:pt>
                <c:pt idx="569">
                  <c:v>200</c:v>
                </c:pt>
                <c:pt idx="570">
                  <c:v>200</c:v>
                </c:pt>
                <c:pt idx="571">
                  <c:v>200</c:v>
                </c:pt>
                <c:pt idx="572">
                  <c:v>153.286723</c:v>
                </c:pt>
                <c:pt idx="573">
                  <c:v>153.286723</c:v>
                </c:pt>
                <c:pt idx="574">
                  <c:v>200</c:v>
                </c:pt>
                <c:pt idx="575">
                  <c:v>200</c:v>
                </c:pt>
                <c:pt idx="576">
                  <c:v>194.930302</c:v>
                </c:pt>
                <c:pt idx="577">
                  <c:v>194.930302</c:v>
                </c:pt>
                <c:pt idx="578">
                  <c:v>90.0001</c:v>
                </c:pt>
                <c:pt idx="579">
                  <c:v>90.0001</c:v>
                </c:pt>
                <c:pt idx="580">
                  <c:v>180.0001</c:v>
                </c:pt>
                <c:pt idx="581">
                  <c:v>180.0001</c:v>
                </c:pt>
                <c:pt idx="582">
                  <c:v>180.0001</c:v>
                </c:pt>
                <c:pt idx="583">
                  <c:v>180.0001</c:v>
                </c:pt>
                <c:pt idx="584">
                  <c:v>200</c:v>
                </c:pt>
                <c:pt idx="585">
                  <c:v>200</c:v>
                </c:pt>
                <c:pt idx="586">
                  <c:v>200</c:v>
                </c:pt>
                <c:pt idx="587">
                  <c:v>200</c:v>
                </c:pt>
                <c:pt idx="588">
                  <c:v>200</c:v>
                </c:pt>
                <c:pt idx="589">
                  <c:v>200</c:v>
                </c:pt>
                <c:pt idx="590">
                  <c:v>200</c:v>
                </c:pt>
                <c:pt idx="591">
                  <c:v>200</c:v>
                </c:pt>
                <c:pt idx="592">
                  <c:v>199.651719</c:v>
                </c:pt>
                <c:pt idx="593">
                  <c:v>199.651719</c:v>
                </c:pt>
                <c:pt idx="594">
                  <c:v>192.75019</c:v>
                </c:pt>
                <c:pt idx="595">
                  <c:v>192.75019</c:v>
                </c:pt>
                <c:pt idx="596">
                  <c:v>200</c:v>
                </c:pt>
                <c:pt idx="597">
                  <c:v>200</c:v>
                </c:pt>
                <c:pt idx="598">
                  <c:v>200</c:v>
                </c:pt>
                <c:pt idx="599">
                  <c:v>200</c:v>
                </c:pt>
                <c:pt idx="600">
                  <c:v>200</c:v>
                </c:pt>
                <c:pt idx="601">
                  <c:v>200</c:v>
                </c:pt>
                <c:pt idx="602">
                  <c:v>200</c:v>
                </c:pt>
                <c:pt idx="603">
                  <c:v>200</c:v>
                </c:pt>
                <c:pt idx="604">
                  <c:v>200</c:v>
                </c:pt>
                <c:pt idx="605">
                  <c:v>200</c:v>
                </c:pt>
                <c:pt idx="606">
                  <c:v>200</c:v>
                </c:pt>
                <c:pt idx="607">
                  <c:v>200</c:v>
                </c:pt>
                <c:pt idx="608">
                  <c:v>200</c:v>
                </c:pt>
                <c:pt idx="609">
                  <c:v>200</c:v>
                </c:pt>
                <c:pt idx="610">
                  <c:v>200</c:v>
                </c:pt>
                <c:pt idx="611">
                  <c:v>200</c:v>
                </c:pt>
                <c:pt idx="612">
                  <c:v>200</c:v>
                </c:pt>
                <c:pt idx="613">
                  <c:v>200</c:v>
                </c:pt>
                <c:pt idx="614">
                  <c:v>200</c:v>
                </c:pt>
                <c:pt idx="615">
                  <c:v>200</c:v>
                </c:pt>
                <c:pt idx="616">
                  <c:v>200</c:v>
                </c:pt>
                <c:pt idx="617">
                  <c:v>200</c:v>
                </c:pt>
                <c:pt idx="618">
                  <c:v>0</c:v>
                </c:pt>
                <c:pt idx="619">
                  <c:v>0</c:v>
                </c:pt>
                <c:pt idx="620">
                  <c:v>200</c:v>
                </c:pt>
                <c:pt idx="621">
                  <c:v>200</c:v>
                </c:pt>
                <c:pt idx="622">
                  <c:v>200</c:v>
                </c:pt>
                <c:pt idx="623">
                  <c:v>200</c:v>
                </c:pt>
                <c:pt idx="624">
                  <c:v>157.39529</c:v>
                </c:pt>
                <c:pt idx="625">
                  <c:v>157.39529</c:v>
                </c:pt>
                <c:pt idx="626">
                  <c:v>202.945</c:v>
                </c:pt>
                <c:pt idx="627">
                  <c:v>202.945</c:v>
                </c:pt>
                <c:pt idx="628">
                  <c:v>41.002547</c:v>
                </c:pt>
                <c:pt idx="629">
                  <c:v>41.002547</c:v>
                </c:pt>
                <c:pt idx="630">
                  <c:v>32.171</c:v>
                </c:pt>
                <c:pt idx="631">
                  <c:v>32.171</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1.6</c:v>
                </c:pt>
                <c:pt idx="701">
                  <c:v>1.6</c:v>
                </c:pt>
                <c:pt idx="702">
                  <c:v>22.85</c:v>
                </c:pt>
                <c:pt idx="703">
                  <c:v>22.85</c:v>
                </c:pt>
                <c:pt idx="704">
                  <c:v>35.394</c:v>
                </c:pt>
                <c:pt idx="705">
                  <c:v>35.394</c:v>
                </c:pt>
                <c:pt idx="706">
                  <c:v>51.75</c:v>
                </c:pt>
                <c:pt idx="707">
                  <c:v>51.75</c:v>
                </c:pt>
                <c:pt idx="708">
                  <c:v>54.516</c:v>
                </c:pt>
                <c:pt idx="709">
                  <c:v>54.516</c:v>
                </c:pt>
                <c:pt idx="710">
                  <c:v>40.222</c:v>
                </c:pt>
                <c:pt idx="711">
                  <c:v>40.222</c:v>
                </c:pt>
                <c:pt idx="712">
                  <c:v>14.782</c:v>
                </c:pt>
                <c:pt idx="713">
                  <c:v>14.782</c:v>
                </c:pt>
                <c:pt idx="714">
                  <c:v>4.456</c:v>
                </c:pt>
                <c:pt idx="715">
                  <c:v>4.456</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60</c:v>
                </c:pt>
                <c:pt idx="747">
                  <c:v>60</c:v>
                </c:pt>
                <c:pt idx="748">
                  <c:v>0</c:v>
                </c:pt>
                <c:pt idx="749">
                  <c:v>0</c:v>
                </c:pt>
                <c:pt idx="750">
                  <c:v>60</c:v>
                </c:pt>
                <c:pt idx="751">
                  <c:v>60</c:v>
                </c:pt>
                <c:pt idx="752">
                  <c:v>150</c:v>
                </c:pt>
                <c:pt idx="753">
                  <c:v>150</c:v>
                </c:pt>
                <c:pt idx="754">
                  <c:v>150</c:v>
                </c:pt>
                <c:pt idx="755">
                  <c:v>150</c:v>
                </c:pt>
                <c:pt idx="756">
                  <c:v>90</c:v>
                </c:pt>
                <c:pt idx="757">
                  <c:v>90</c:v>
                </c:pt>
                <c:pt idx="758">
                  <c:v>200</c:v>
                </c:pt>
                <c:pt idx="759">
                  <c:v>200</c:v>
                </c:pt>
                <c:pt idx="760">
                  <c:v>200</c:v>
                </c:pt>
                <c:pt idx="761">
                  <c:v>200</c:v>
                </c:pt>
                <c:pt idx="762">
                  <c:v>200</c:v>
                </c:pt>
                <c:pt idx="763">
                  <c:v>200</c:v>
                </c:pt>
                <c:pt idx="764">
                  <c:v>200</c:v>
                </c:pt>
                <c:pt idx="765">
                  <c:v>200</c:v>
                </c:pt>
                <c:pt idx="766">
                  <c:v>200</c:v>
                </c:pt>
                <c:pt idx="767">
                  <c:v>200</c:v>
                </c:pt>
                <c:pt idx="768">
                  <c:v>150</c:v>
                </c:pt>
                <c:pt idx="769">
                  <c:v>150</c:v>
                </c:pt>
                <c:pt idx="770">
                  <c:v>111.508581</c:v>
                </c:pt>
                <c:pt idx="771">
                  <c:v>111.508581</c:v>
                </c:pt>
                <c:pt idx="772">
                  <c:v>180.0001</c:v>
                </c:pt>
                <c:pt idx="773">
                  <c:v>180.0001</c:v>
                </c:pt>
                <c:pt idx="774">
                  <c:v>200</c:v>
                </c:pt>
                <c:pt idx="775">
                  <c:v>200</c:v>
                </c:pt>
                <c:pt idx="776">
                  <c:v>200</c:v>
                </c:pt>
                <c:pt idx="777">
                  <c:v>200</c:v>
                </c:pt>
                <c:pt idx="778">
                  <c:v>200</c:v>
                </c:pt>
                <c:pt idx="779">
                  <c:v>200</c:v>
                </c:pt>
                <c:pt idx="780">
                  <c:v>200</c:v>
                </c:pt>
                <c:pt idx="781">
                  <c:v>200</c:v>
                </c:pt>
                <c:pt idx="782">
                  <c:v>200</c:v>
                </c:pt>
                <c:pt idx="783">
                  <c:v>200</c:v>
                </c:pt>
                <c:pt idx="784">
                  <c:v>200</c:v>
                </c:pt>
                <c:pt idx="785">
                  <c:v>200</c:v>
                </c:pt>
                <c:pt idx="786">
                  <c:v>168.570718</c:v>
                </c:pt>
                <c:pt idx="787">
                  <c:v>168.570718</c:v>
                </c:pt>
                <c:pt idx="788">
                  <c:v>180.0001</c:v>
                </c:pt>
                <c:pt idx="789">
                  <c:v>180.0001</c:v>
                </c:pt>
                <c:pt idx="790">
                  <c:v>180.0001</c:v>
                </c:pt>
                <c:pt idx="791">
                  <c:v>180.0001</c:v>
                </c:pt>
                <c:pt idx="792">
                  <c:v>200</c:v>
                </c:pt>
                <c:pt idx="793">
                  <c:v>200</c:v>
                </c:pt>
                <c:pt idx="794">
                  <c:v>200</c:v>
                </c:pt>
                <c:pt idx="795">
                  <c:v>200</c:v>
                </c:pt>
                <c:pt idx="796">
                  <c:v>168.697305</c:v>
                </c:pt>
                <c:pt idx="797">
                  <c:v>168.697305</c:v>
                </c:pt>
                <c:pt idx="798">
                  <c:v>134.513072</c:v>
                </c:pt>
                <c:pt idx="799">
                  <c:v>134.513072</c:v>
                </c:pt>
                <c:pt idx="800">
                  <c:v>200</c:v>
                </c:pt>
                <c:pt idx="801">
                  <c:v>200</c:v>
                </c:pt>
                <c:pt idx="802">
                  <c:v>0</c:v>
                </c:pt>
                <c:pt idx="803">
                  <c:v>0</c:v>
                </c:pt>
                <c:pt idx="804">
                  <c:v>200</c:v>
                </c:pt>
                <c:pt idx="805">
                  <c:v>200</c:v>
                </c:pt>
                <c:pt idx="806">
                  <c:v>200</c:v>
                </c:pt>
                <c:pt idx="807">
                  <c:v>200</c:v>
                </c:pt>
                <c:pt idx="808">
                  <c:v>84.644332</c:v>
                </c:pt>
                <c:pt idx="809">
                  <c:v>84.644332</c:v>
                </c:pt>
                <c:pt idx="810">
                  <c:v>200</c:v>
                </c:pt>
                <c:pt idx="811">
                  <c:v>200</c:v>
                </c:pt>
                <c:pt idx="812">
                  <c:v>200</c:v>
                </c:pt>
                <c:pt idx="813">
                  <c:v>200</c:v>
                </c:pt>
                <c:pt idx="814">
                  <c:v>200</c:v>
                </c:pt>
                <c:pt idx="815">
                  <c:v>200</c:v>
                </c:pt>
                <c:pt idx="816">
                  <c:v>200</c:v>
                </c:pt>
                <c:pt idx="817">
                  <c:v>200</c:v>
                </c:pt>
                <c:pt idx="818">
                  <c:v>193.275</c:v>
                </c:pt>
                <c:pt idx="819">
                  <c:v>193.275</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13.828</c:v>
                </c:pt>
                <c:pt idx="1013">
                  <c:v>13.828</c:v>
                </c:pt>
                <c:pt idx="1014">
                  <c:v>38.512</c:v>
                </c:pt>
                <c:pt idx="1015">
                  <c:v>38.512</c:v>
                </c:pt>
                <c:pt idx="1016">
                  <c:v>26</c:v>
                </c:pt>
                <c:pt idx="1017">
                  <c:v>26</c:v>
                </c:pt>
                <c:pt idx="1018">
                  <c:v>48.013158</c:v>
                </c:pt>
                <c:pt idx="1019">
                  <c:v>48.013158</c:v>
                </c:pt>
                <c:pt idx="1020">
                  <c:v>16.9</c:v>
                </c:pt>
                <c:pt idx="1021">
                  <c:v>16.9</c:v>
                </c:pt>
                <c:pt idx="1022">
                  <c:v>0</c:v>
                </c:pt>
                <c:pt idx="1023">
                  <c:v>0</c:v>
                </c:pt>
                <c:pt idx="1024">
                  <c:v>0</c:v>
                </c:pt>
                <c:pt idx="1025">
                  <c:v>0</c:v>
                </c:pt>
                <c:pt idx="1026">
                  <c:v>37.2</c:v>
                </c:pt>
                <c:pt idx="1027">
                  <c:v>37.2</c:v>
                </c:pt>
                <c:pt idx="1028">
                  <c:v>23.6</c:v>
                </c:pt>
                <c:pt idx="1029">
                  <c:v>23.6</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60</c:v>
                </c:pt>
                <c:pt idx="1129">
                  <c:v>60</c:v>
                </c:pt>
                <c:pt idx="1130">
                  <c:v>90</c:v>
                </c:pt>
                <c:pt idx="1131">
                  <c:v>90</c:v>
                </c:pt>
                <c:pt idx="1132">
                  <c:v>59.340622</c:v>
                </c:pt>
                <c:pt idx="1133">
                  <c:v>59.340622</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60.0003</c:v>
                </c:pt>
                <c:pt idx="1153">
                  <c:v>60.0003</c:v>
                </c:pt>
                <c:pt idx="1154">
                  <c:v>180.0002</c:v>
                </c:pt>
                <c:pt idx="1155">
                  <c:v>180.0002</c:v>
                </c:pt>
                <c:pt idx="1156">
                  <c:v>200</c:v>
                </c:pt>
                <c:pt idx="1157">
                  <c:v>200</c:v>
                </c:pt>
                <c:pt idx="1158">
                  <c:v>0.0003</c:v>
                </c:pt>
                <c:pt idx="1159">
                  <c:v>0.0003</c:v>
                </c:pt>
                <c:pt idx="1160">
                  <c:v>90.0002</c:v>
                </c:pt>
                <c:pt idx="1161">
                  <c:v>90.0002</c:v>
                </c:pt>
                <c:pt idx="1162">
                  <c:v>200</c:v>
                </c:pt>
                <c:pt idx="1163">
                  <c:v>200</c:v>
                </c:pt>
                <c:pt idx="1164">
                  <c:v>0.0001</c:v>
                </c:pt>
                <c:pt idx="1165">
                  <c:v>0.0001</c:v>
                </c:pt>
                <c:pt idx="1166">
                  <c:v>128.9216</c:v>
                </c:pt>
                <c:pt idx="1167">
                  <c:v>128.9216</c:v>
                </c:pt>
                <c:pt idx="1168">
                  <c:v>90</c:v>
                </c:pt>
                <c:pt idx="1169">
                  <c:v>90</c:v>
                </c:pt>
                <c:pt idx="1170">
                  <c:v>180.0002</c:v>
                </c:pt>
                <c:pt idx="1171">
                  <c:v>180.0002</c:v>
                </c:pt>
                <c:pt idx="1172">
                  <c:v>150.0002</c:v>
                </c:pt>
                <c:pt idx="1173">
                  <c:v>150.0002</c:v>
                </c:pt>
                <c:pt idx="1174">
                  <c:v>200</c:v>
                </c:pt>
                <c:pt idx="1175">
                  <c:v>200</c:v>
                </c:pt>
                <c:pt idx="1176">
                  <c:v>200</c:v>
                </c:pt>
                <c:pt idx="1177">
                  <c:v>200</c:v>
                </c:pt>
                <c:pt idx="1178">
                  <c:v>200</c:v>
                </c:pt>
                <c:pt idx="1179">
                  <c:v>200</c:v>
                </c:pt>
                <c:pt idx="1180">
                  <c:v>200</c:v>
                </c:pt>
                <c:pt idx="1181">
                  <c:v>200</c:v>
                </c:pt>
                <c:pt idx="1182">
                  <c:v>0</c:v>
                </c:pt>
                <c:pt idx="1183">
                  <c:v>0</c:v>
                </c:pt>
                <c:pt idx="1184">
                  <c:v>200</c:v>
                </c:pt>
                <c:pt idx="1185">
                  <c:v>200</c:v>
                </c:pt>
                <c:pt idx="1186">
                  <c:v>60</c:v>
                </c:pt>
                <c:pt idx="1187">
                  <c:v>60</c:v>
                </c:pt>
                <c:pt idx="1188">
                  <c:v>0</c:v>
                </c:pt>
                <c:pt idx="1189">
                  <c:v>0</c:v>
                </c:pt>
                <c:pt idx="1190">
                  <c:v>200</c:v>
                </c:pt>
                <c:pt idx="1191">
                  <c:v>200</c:v>
                </c:pt>
                <c:pt idx="1192">
                  <c:v>200</c:v>
                </c:pt>
                <c:pt idx="1193">
                  <c:v>200</c:v>
                </c:pt>
                <c:pt idx="1194">
                  <c:v>200</c:v>
                </c:pt>
                <c:pt idx="1195">
                  <c:v>200</c:v>
                </c:pt>
                <c:pt idx="1196">
                  <c:v>200</c:v>
                </c:pt>
                <c:pt idx="1197">
                  <c:v>200</c:v>
                </c:pt>
                <c:pt idx="1198">
                  <c:v>200</c:v>
                </c:pt>
                <c:pt idx="1199">
                  <c:v>200</c:v>
                </c:pt>
                <c:pt idx="1200">
                  <c:v>0</c:v>
                </c:pt>
                <c:pt idx="1201">
                  <c:v>0</c:v>
                </c:pt>
                <c:pt idx="1202">
                  <c:v>197.237</c:v>
                </c:pt>
                <c:pt idx="1203">
                  <c:v>197.237</c:v>
                </c:pt>
                <c:pt idx="1204">
                  <c:v>197.308</c:v>
                </c:pt>
                <c:pt idx="1205">
                  <c:v>197.308</c:v>
                </c:pt>
                <c:pt idx="1206">
                  <c:v>57.728734</c:v>
                </c:pt>
                <c:pt idx="1207">
                  <c:v>57.728734</c:v>
                </c:pt>
                <c:pt idx="1208">
                  <c:v>3.117</c:v>
                </c:pt>
                <c:pt idx="1209">
                  <c:v>3.117</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101.415296</c:v>
                </c:pt>
                <c:pt idx="1309">
                  <c:v>101.415296</c:v>
                </c:pt>
                <c:pt idx="1310">
                  <c:v>0</c:v>
                </c:pt>
                <c:pt idx="1311">
                  <c:v>0</c:v>
                </c:pt>
                <c:pt idx="1312">
                  <c:v>0.0001</c:v>
                </c:pt>
                <c:pt idx="1313">
                  <c:v>0.0001</c:v>
                </c:pt>
                <c:pt idx="1314">
                  <c:v>48.418466</c:v>
                </c:pt>
                <c:pt idx="1315">
                  <c:v>48.418466</c:v>
                </c:pt>
                <c:pt idx="1316">
                  <c:v>98.156084</c:v>
                </c:pt>
                <c:pt idx="1317">
                  <c:v>98.156084</c:v>
                </c:pt>
                <c:pt idx="1318">
                  <c:v>60.0001</c:v>
                </c:pt>
                <c:pt idx="1319">
                  <c:v>60.0001</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numCache>
            </c:numRef>
          </c:yVal>
          <c:smooth val="0"/>
        </c:ser>
        <c:ser>
          <c:idx val="1"/>
          <c:order val="1"/>
          <c:tx>
            <c:v>11月10〜16日</c:v>
          </c:tx>
          <c:spPr>
            <a:ln xmlns:a="http://schemas.openxmlformats.org/drawingml/2006/main" w="19050">
              <a:solidFill>
                <a:srgbClr val="159A8C"/>
              </a:solidFill>
            </a:ln>
          </c:spPr>
          <c:marker>
            <c:symbol val="none"/>
          </c:marker>
          <c:xVal>
            <c:numRef>
              <c:f>'Chart Data'!$C$2:$C$1345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Data'!$D$2:$D$1345</c:f>
              <c:numCache>
                <c:formatCode>0</c:formatCode>
                <c:ptCount val="13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98.178885</c:v>
                </c:pt>
                <c:pt idx="33">
                  <c:v>98.178885</c:v>
                </c:pt>
                <c:pt idx="34">
                  <c:v>0</c:v>
                </c:pt>
                <c:pt idx="35">
                  <c:v>0</c:v>
                </c:pt>
                <c:pt idx="36">
                  <c:v>0</c:v>
                </c:pt>
                <c:pt idx="37">
                  <c:v>0</c:v>
                </c:pt>
                <c:pt idx="38">
                  <c:v>0</c:v>
                </c:pt>
                <c:pt idx="39">
                  <c:v>0</c:v>
                </c:pt>
                <c:pt idx="40">
                  <c:v>0</c:v>
                </c:pt>
                <c:pt idx="41">
                  <c:v>0</c:v>
                </c:pt>
                <c:pt idx="42">
                  <c:v>0</c:v>
                </c:pt>
                <c:pt idx="43">
                  <c:v>0</c:v>
                </c:pt>
                <c:pt idx="44">
                  <c:v>98.178885</c:v>
                </c:pt>
                <c:pt idx="45">
                  <c:v>98.178885</c:v>
                </c:pt>
                <c:pt idx="46">
                  <c:v>98.178885</c:v>
                </c:pt>
                <c:pt idx="47">
                  <c:v>98.178885</c:v>
                </c:pt>
                <c:pt idx="48">
                  <c:v>0</c:v>
                </c:pt>
                <c:pt idx="49">
                  <c:v>0</c:v>
                </c:pt>
                <c:pt idx="50">
                  <c:v>0</c:v>
                </c:pt>
                <c:pt idx="51">
                  <c:v>0</c:v>
                </c:pt>
                <c:pt idx="52">
                  <c:v>7.885</c:v>
                </c:pt>
                <c:pt idx="53">
                  <c:v>7.885</c:v>
                </c:pt>
                <c:pt idx="54">
                  <c:v>13.91</c:v>
                </c:pt>
                <c:pt idx="55">
                  <c:v>13.91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0</c:v>
                </c:pt>
                <c:pt idx="177">
                  <c:v>0</c:v>
                </c:pt>
                <c:pt idx="178">
                  <c:v>82.608421</c:v>
                </c:pt>
                <c:pt idx="179">
                  <c:v>82.608421</c:v>
                </c:pt>
                <c:pt idx="180">
                  <c:v>98.178885</c:v>
                </c:pt>
                <c:pt idx="181">
                  <c:v>98.178885</c:v>
                </c:pt>
                <c:pt idx="182">
                  <c:v>98.178885</c:v>
                </c:pt>
                <c:pt idx="183">
                  <c:v>98.178885</c:v>
                </c:pt>
                <c:pt idx="184">
                  <c:v>90.0001</c:v>
                </c:pt>
                <c:pt idx="185">
                  <c:v>90.0001</c:v>
                </c:pt>
                <c:pt idx="186">
                  <c:v>98.178885</c:v>
                </c:pt>
                <c:pt idx="187">
                  <c:v>98.178885</c:v>
                </c:pt>
                <c:pt idx="188">
                  <c:v>98.178885</c:v>
                </c:pt>
                <c:pt idx="189">
                  <c:v>98.178885</c:v>
                </c:pt>
                <c:pt idx="190">
                  <c:v>98.178885</c:v>
                </c:pt>
                <c:pt idx="191">
                  <c:v>98.178885</c:v>
                </c:pt>
                <c:pt idx="192">
                  <c:v>98.178885</c:v>
                </c:pt>
                <c:pt idx="193">
                  <c:v>98.178885</c:v>
                </c:pt>
                <c:pt idx="194">
                  <c:v>98.178885</c:v>
                </c:pt>
                <c:pt idx="195">
                  <c:v>98.178885</c:v>
                </c:pt>
                <c:pt idx="196">
                  <c:v>98.178885</c:v>
                </c:pt>
                <c:pt idx="197">
                  <c:v>98.178885</c:v>
                </c:pt>
                <c:pt idx="198">
                  <c:v>0</c:v>
                </c:pt>
                <c:pt idx="199">
                  <c:v>0</c:v>
                </c:pt>
                <c:pt idx="200">
                  <c:v>0</c:v>
                </c:pt>
                <c:pt idx="201">
                  <c:v>0</c:v>
                </c:pt>
                <c:pt idx="202">
                  <c:v>0</c:v>
                </c:pt>
                <c:pt idx="203">
                  <c:v>0</c:v>
                </c:pt>
                <c:pt idx="204">
                  <c:v>119.9999</c:v>
                </c:pt>
                <c:pt idx="205">
                  <c:v>119.9999</c:v>
                </c:pt>
                <c:pt idx="206">
                  <c:v>0</c:v>
                </c:pt>
                <c:pt idx="207">
                  <c:v>0</c:v>
                </c:pt>
                <c:pt idx="208">
                  <c:v>180.0001</c:v>
                </c:pt>
                <c:pt idx="209">
                  <c:v>180.0001</c:v>
                </c:pt>
                <c:pt idx="210">
                  <c:v>150</c:v>
                </c:pt>
                <c:pt idx="211">
                  <c:v>150</c:v>
                </c:pt>
                <c:pt idx="212">
                  <c:v>90</c:v>
                </c:pt>
                <c:pt idx="213">
                  <c:v>90</c:v>
                </c:pt>
                <c:pt idx="214">
                  <c:v>0</c:v>
                </c:pt>
                <c:pt idx="215">
                  <c:v>0</c:v>
                </c:pt>
                <c:pt idx="216">
                  <c:v>183.913549</c:v>
                </c:pt>
                <c:pt idx="217">
                  <c:v>183.913549</c:v>
                </c:pt>
                <c:pt idx="218">
                  <c:v>183.913549</c:v>
                </c:pt>
                <c:pt idx="219">
                  <c:v>183.913549</c:v>
                </c:pt>
                <c:pt idx="220">
                  <c:v>0</c:v>
                </c:pt>
                <c:pt idx="221">
                  <c:v>0</c:v>
                </c:pt>
                <c:pt idx="222">
                  <c:v>183.913549</c:v>
                </c:pt>
                <c:pt idx="223">
                  <c:v>183.913549</c:v>
                </c:pt>
                <c:pt idx="224">
                  <c:v>183.913549</c:v>
                </c:pt>
                <c:pt idx="225">
                  <c:v>183.913549</c:v>
                </c:pt>
                <c:pt idx="226">
                  <c:v>0</c:v>
                </c:pt>
                <c:pt idx="227">
                  <c:v>0</c:v>
                </c:pt>
                <c:pt idx="228">
                  <c:v>0</c:v>
                </c:pt>
                <c:pt idx="229">
                  <c:v>0</c:v>
                </c:pt>
                <c:pt idx="230">
                  <c:v>183.913549</c:v>
                </c:pt>
                <c:pt idx="231">
                  <c:v>183.913549</c:v>
                </c:pt>
                <c:pt idx="232">
                  <c:v>187.127705</c:v>
                </c:pt>
                <c:pt idx="233">
                  <c:v>187.127705</c:v>
                </c:pt>
                <c:pt idx="234">
                  <c:v>0</c:v>
                </c:pt>
                <c:pt idx="235">
                  <c:v>0</c:v>
                </c:pt>
                <c:pt idx="236">
                  <c:v>187.127705</c:v>
                </c:pt>
                <c:pt idx="237">
                  <c:v>187.127705</c:v>
                </c:pt>
                <c:pt idx="238">
                  <c:v>187.127705</c:v>
                </c:pt>
                <c:pt idx="239">
                  <c:v>187.127705</c:v>
                </c:pt>
                <c:pt idx="240">
                  <c:v>200</c:v>
                </c:pt>
                <c:pt idx="241">
                  <c:v>200</c:v>
                </c:pt>
                <c:pt idx="242">
                  <c:v>197.029</c:v>
                </c:pt>
                <c:pt idx="243">
                  <c:v>197.029</c:v>
                </c:pt>
                <c:pt idx="244">
                  <c:v>47.25</c:v>
                </c:pt>
                <c:pt idx="245">
                  <c:v>47.25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60</c:v>
                </c:pt>
                <c:pt idx="347">
                  <c:v>60</c:v>
                </c:pt>
                <c:pt idx="348">
                  <c:v>60</c:v>
                </c:pt>
                <c:pt idx="349">
                  <c:v>60</c:v>
                </c:pt>
                <c:pt idx="350">
                  <c:v>0</c:v>
                </c:pt>
                <c:pt idx="351">
                  <c:v>0</c:v>
                </c:pt>
                <c:pt idx="352">
                  <c:v>60</c:v>
                </c:pt>
                <c:pt idx="353">
                  <c:v>60</c:v>
                </c:pt>
                <c:pt idx="354">
                  <c:v>60</c:v>
                </c:pt>
                <c:pt idx="355">
                  <c:v>60</c:v>
                </c:pt>
                <c:pt idx="356">
                  <c:v>0</c:v>
                </c:pt>
                <c:pt idx="357">
                  <c:v>0</c:v>
                </c:pt>
                <c:pt idx="358">
                  <c:v>0</c:v>
                </c:pt>
                <c:pt idx="359">
                  <c:v>0</c:v>
                </c:pt>
                <c:pt idx="360">
                  <c:v>0.0001</c:v>
                </c:pt>
                <c:pt idx="361">
                  <c:v>0.0001</c:v>
                </c:pt>
                <c:pt idx="362">
                  <c:v>0.0001</c:v>
                </c:pt>
                <c:pt idx="363">
                  <c:v>0.0001</c:v>
                </c:pt>
                <c:pt idx="364">
                  <c:v>0.0001</c:v>
                </c:pt>
                <c:pt idx="365">
                  <c:v>0.0001</c:v>
                </c:pt>
                <c:pt idx="366">
                  <c:v>31.61242</c:v>
                </c:pt>
                <c:pt idx="367">
                  <c:v>31.61242</c:v>
                </c:pt>
                <c:pt idx="368">
                  <c:v>200</c:v>
                </c:pt>
                <c:pt idx="369">
                  <c:v>200</c:v>
                </c:pt>
                <c:pt idx="370">
                  <c:v>200</c:v>
                </c:pt>
                <c:pt idx="371">
                  <c:v>200</c:v>
                </c:pt>
                <c:pt idx="372">
                  <c:v>180</c:v>
                </c:pt>
                <c:pt idx="373">
                  <c:v>180</c:v>
                </c:pt>
                <c:pt idx="374">
                  <c:v>0</c:v>
                </c:pt>
                <c:pt idx="375">
                  <c:v>0</c:v>
                </c:pt>
                <c:pt idx="376">
                  <c:v>150</c:v>
                </c:pt>
                <c:pt idx="377">
                  <c:v>150</c:v>
                </c:pt>
                <c:pt idx="378">
                  <c:v>0</c:v>
                </c:pt>
                <c:pt idx="379">
                  <c:v>0</c:v>
                </c:pt>
                <c:pt idx="380">
                  <c:v>120.0001</c:v>
                </c:pt>
                <c:pt idx="381">
                  <c:v>120.0001</c:v>
                </c:pt>
                <c:pt idx="382">
                  <c:v>150</c:v>
                </c:pt>
                <c:pt idx="383">
                  <c:v>150</c:v>
                </c:pt>
                <c:pt idx="384">
                  <c:v>0</c:v>
                </c:pt>
                <c:pt idx="385">
                  <c:v>0</c:v>
                </c:pt>
                <c:pt idx="386">
                  <c:v>200</c:v>
                </c:pt>
                <c:pt idx="387">
                  <c:v>200</c:v>
                </c:pt>
                <c:pt idx="388">
                  <c:v>200</c:v>
                </c:pt>
                <c:pt idx="389">
                  <c:v>200</c:v>
                </c:pt>
                <c:pt idx="390">
                  <c:v>200</c:v>
                </c:pt>
                <c:pt idx="391">
                  <c:v>200</c:v>
                </c:pt>
                <c:pt idx="392">
                  <c:v>0</c:v>
                </c:pt>
                <c:pt idx="393">
                  <c:v>0</c:v>
                </c:pt>
                <c:pt idx="394">
                  <c:v>200</c:v>
                </c:pt>
                <c:pt idx="395">
                  <c:v>200</c:v>
                </c:pt>
                <c:pt idx="396">
                  <c:v>0</c:v>
                </c:pt>
                <c:pt idx="397">
                  <c:v>0</c:v>
                </c:pt>
                <c:pt idx="398">
                  <c:v>180</c:v>
                </c:pt>
                <c:pt idx="399">
                  <c:v>180</c:v>
                </c:pt>
                <c:pt idx="400">
                  <c:v>200</c:v>
                </c:pt>
                <c:pt idx="401">
                  <c:v>200</c:v>
                </c:pt>
                <c:pt idx="402">
                  <c:v>200</c:v>
                </c:pt>
                <c:pt idx="403">
                  <c:v>200</c:v>
                </c:pt>
                <c:pt idx="404">
                  <c:v>200</c:v>
                </c:pt>
                <c:pt idx="405">
                  <c:v>200</c:v>
                </c:pt>
                <c:pt idx="406">
                  <c:v>200</c:v>
                </c:pt>
                <c:pt idx="407">
                  <c:v>200</c:v>
                </c:pt>
                <c:pt idx="408">
                  <c:v>120.0001</c:v>
                </c:pt>
                <c:pt idx="409">
                  <c:v>120.0001</c:v>
                </c:pt>
                <c:pt idx="410">
                  <c:v>163.084707</c:v>
                </c:pt>
                <c:pt idx="411">
                  <c:v>163.084707</c:v>
                </c:pt>
                <c:pt idx="412">
                  <c:v>174.155546</c:v>
                </c:pt>
                <c:pt idx="413">
                  <c:v>174.155546</c:v>
                </c:pt>
                <c:pt idx="414">
                  <c:v>200</c:v>
                </c:pt>
                <c:pt idx="415">
                  <c:v>200</c:v>
                </c:pt>
                <c:pt idx="416">
                  <c:v>190.29781</c:v>
                </c:pt>
                <c:pt idx="417">
                  <c:v>190.29781</c:v>
                </c:pt>
                <c:pt idx="418">
                  <c:v>200</c:v>
                </c:pt>
                <c:pt idx="419">
                  <c:v>200</c:v>
                </c:pt>
                <c:pt idx="420">
                  <c:v>180</c:v>
                </c:pt>
                <c:pt idx="421">
                  <c:v>180</c:v>
                </c:pt>
                <c:pt idx="422">
                  <c:v>200</c:v>
                </c:pt>
                <c:pt idx="423">
                  <c:v>200</c:v>
                </c:pt>
                <c:pt idx="424">
                  <c:v>0</c:v>
                </c:pt>
                <c:pt idx="425">
                  <c:v>0</c:v>
                </c:pt>
                <c:pt idx="426">
                  <c:v>200</c:v>
                </c:pt>
                <c:pt idx="427">
                  <c:v>200</c:v>
                </c:pt>
                <c:pt idx="428">
                  <c:v>0</c:v>
                </c:pt>
                <c:pt idx="429">
                  <c:v>0</c:v>
                </c:pt>
                <c:pt idx="430">
                  <c:v>200</c:v>
                </c:pt>
                <c:pt idx="431">
                  <c:v>200</c:v>
                </c:pt>
                <c:pt idx="432">
                  <c:v>200</c:v>
                </c:pt>
                <c:pt idx="433">
                  <c:v>200</c:v>
                </c:pt>
                <c:pt idx="434">
                  <c:v>193.375</c:v>
                </c:pt>
                <c:pt idx="435">
                  <c:v>193.375</c:v>
                </c:pt>
                <c:pt idx="436">
                  <c:v>24.3</c:v>
                </c:pt>
                <c:pt idx="437">
                  <c:v>24.3</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53.488737</c:v>
                </c:pt>
                <c:pt idx="521">
                  <c:v>53.488737</c:v>
                </c:pt>
                <c:pt idx="522">
                  <c:v>16.388389</c:v>
                </c:pt>
                <c:pt idx="523">
                  <c:v>16.388389</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90</c:v>
                </c:pt>
                <c:pt idx="549">
                  <c:v>90</c:v>
                </c:pt>
                <c:pt idx="550">
                  <c:v>73.263358</c:v>
                </c:pt>
                <c:pt idx="551">
                  <c:v>73.263358</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0.0001</c:v>
                </c:pt>
                <c:pt idx="567">
                  <c:v>0.0001</c:v>
                </c:pt>
                <c:pt idx="568">
                  <c:v>200</c:v>
                </c:pt>
                <c:pt idx="569">
                  <c:v>200</c:v>
                </c:pt>
                <c:pt idx="570">
                  <c:v>200</c:v>
                </c:pt>
                <c:pt idx="571">
                  <c:v>200</c:v>
                </c:pt>
                <c:pt idx="572">
                  <c:v>60</c:v>
                </c:pt>
                <c:pt idx="573">
                  <c:v>60</c:v>
                </c:pt>
                <c:pt idx="574">
                  <c:v>120</c:v>
                </c:pt>
                <c:pt idx="575">
                  <c:v>120</c:v>
                </c:pt>
                <c:pt idx="576">
                  <c:v>200</c:v>
                </c:pt>
                <c:pt idx="577">
                  <c:v>200</c:v>
                </c:pt>
                <c:pt idx="578">
                  <c:v>0</c:v>
                </c:pt>
                <c:pt idx="579">
                  <c:v>0</c:v>
                </c:pt>
                <c:pt idx="580">
                  <c:v>0</c:v>
                </c:pt>
                <c:pt idx="581">
                  <c:v>0</c:v>
                </c:pt>
                <c:pt idx="582">
                  <c:v>0</c:v>
                </c:pt>
                <c:pt idx="583">
                  <c:v>0</c:v>
                </c:pt>
                <c:pt idx="584">
                  <c:v>68.491619</c:v>
                </c:pt>
                <c:pt idx="585">
                  <c:v>68.491619</c:v>
                </c:pt>
                <c:pt idx="586">
                  <c:v>0</c:v>
                </c:pt>
                <c:pt idx="587">
                  <c:v>0</c:v>
                </c:pt>
                <c:pt idx="588">
                  <c:v>0.0001</c:v>
                </c:pt>
                <c:pt idx="589">
                  <c:v>0.0001</c:v>
                </c:pt>
                <c:pt idx="590">
                  <c:v>0.0001</c:v>
                </c:pt>
                <c:pt idx="591">
                  <c:v>0.0001</c:v>
                </c:pt>
                <c:pt idx="592">
                  <c:v>0</c:v>
                </c:pt>
                <c:pt idx="593">
                  <c:v>0</c:v>
                </c:pt>
                <c:pt idx="594">
                  <c:v>200</c:v>
                </c:pt>
                <c:pt idx="595">
                  <c:v>200</c:v>
                </c:pt>
                <c:pt idx="596">
                  <c:v>200</c:v>
                </c:pt>
                <c:pt idx="597">
                  <c:v>200</c:v>
                </c:pt>
                <c:pt idx="598">
                  <c:v>0</c:v>
                </c:pt>
                <c:pt idx="599">
                  <c:v>0</c:v>
                </c:pt>
                <c:pt idx="600">
                  <c:v>200</c:v>
                </c:pt>
                <c:pt idx="601">
                  <c:v>200</c:v>
                </c:pt>
                <c:pt idx="602">
                  <c:v>200</c:v>
                </c:pt>
                <c:pt idx="603">
                  <c:v>200</c:v>
                </c:pt>
                <c:pt idx="604">
                  <c:v>200</c:v>
                </c:pt>
                <c:pt idx="605">
                  <c:v>200</c:v>
                </c:pt>
                <c:pt idx="606">
                  <c:v>8.833707</c:v>
                </c:pt>
                <c:pt idx="607">
                  <c:v>8.833707</c:v>
                </c:pt>
                <c:pt idx="608">
                  <c:v>200</c:v>
                </c:pt>
                <c:pt idx="609">
                  <c:v>200</c:v>
                </c:pt>
                <c:pt idx="610">
                  <c:v>200</c:v>
                </c:pt>
                <c:pt idx="611">
                  <c:v>200</c:v>
                </c:pt>
                <c:pt idx="612">
                  <c:v>200</c:v>
                </c:pt>
                <c:pt idx="613">
                  <c:v>200</c:v>
                </c:pt>
                <c:pt idx="614">
                  <c:v>0</c:v>
                </c:pt>
                <c:pt idx="615">
                  <c:v>0</c:v>
                </c:pt>
                <c:pt idx="616">
                  <c:v>200</c:v>
                </c:pt>
                <c:pt idx="617">
                  <c:v>200</c:v>
                </c:pt>
                <c:pt idx="618">
                  <c:v>112.864861</c:v>
                </c:pt>
                <c:pt idx="619">
                  <c:v>112.864861</c:v>
                </c:pt>
                <c:pt idx="620">
                  <c:v>200</c:v>
                </c:pt>
                <c:pt idx="621">
                  <c:v>200</c:v>
                </c:pt>
                <c:pt idx="622">
                  <c:v>200</c:v>
                </c:pt>
                <c:pt idx="623">
                  <c:v>200</c:v>
                </c:pt>
                <c:pt idx="624">
                  <c:v>200</c:v>
                </c:pt>
                <c:pt idx="625">
                  <c:v>200</c:v>
                </c:pt>
                <c:pt idx="626">
                  <c:v>0.046</c:v>
                </c:pt>
                <c:pt idx="627">
                  <c:v>0.046</c:v>
                </c:pt>
                <c:pt idx="628">
                  <c:v>4.300844</c:v>
                </c:pt>
                <c:pt idx="629">
                  <c:v>4.300844</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20.5059</c:v>
                </c:pt>
                <c:pt idx="709">
                  <c:v>20.5059</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90</c:v>
                </c:pt>
                <c:pt idx="751">
                  <c:v>90</c:v>
                </c:pt>
                <c:pt idx="752">
                  <c:v>90</c:v>
                </c:pt>
                <c:pt idx="753">
                  <c:v>90</c:v>
                </c:pt>
                <c:pt idx="754">
                  <c:v>180</c:v>
                </c:pt>
                <c:pt idx="755">
                  <c:v>180</c:v>
                </c:pt>
                <c:pt idx="756">
                  <c:v>200</c:v>
                </c:pt>
                <c:pt idx="757">
                  <c:v>200</c:v>
                </c:pt>
                <c:pt idx="758">
                  <c:v>210</c:v>
                </c:pt>
                <c:pt idx="759">
                  <c:v>210</c:v>
                </c:pt>
                <c:pt idx="760">
                  <c:v>210.0001</c:v>
                </c:pt>
                <c:pt idx="761">
                  <c:v>210.0001</c:v>
                </c:pt>
                <c:pt idx="762">
                  <c:v>234.781274</c:v>
                </c:pt>
                <c:pt idx="763">
                  <c:v>234.781274</c:v>
                </c:pt>
                <c:pt idx="764">
                  <c:v>222.378236</c:v>
                </c:pt>
                <c:pt idx="765">
                  <c:v>222.378236</c:v>
                </c:pt>
                <c:pt idx="766">
                  <c:v>210</c:v>
                </c:pt>
                <c:pt idx="767">
                  <c:v>210</c:v>
                </c:pt>
                <c:pt idx="768">
                  <c:v>200</c:v>
                </c:pt>
                <c:pt idx="769">
                  <c:v>200</c:v>
                </c:pt>
                <c:pt idx="770">
                  <c:v>200</c:v>
                </c:pt>
                <c:pt idx="771">
                  <c:v>200</c:v>
                </c:pt>
                <c:pt idx="772">
                  <c:v>234.781274</c:v>
                </c:pt>
                <c:pt idx="773">
                  <c:v>234.781274</c:v>
                </c:pt>
                <c:pt idx="774">
                  <c:v>210.0001</c:v>
                </c:pt>
                <c:pt idx="775">
                  <c:v>210.0001</c:v>
                </c:pt>
                <c:pt idx="776">
                  <c:v>200</c:v>
                </c:pt>
                <c:pt idx="777">
                  <c:v>200</c:v>
                </c:pt>
                <c:pt idx="778">
                  <c:v>230.90538</c:v>
                </c:pt>
                <c:pt idx="779">
                  <c:v>230.90538</c:v>
                </c:pt>
                <c:pt idx="780">
                  <c:v>233.857047</c:v>
                </c:pt>
                <c:pt idx="781">
                  <c:v>233.857047</c:v>
                </c:pt>
                <c:pt idx="782">
                  <c:v>200</c:v>
                </c:pt>
                <c:pt idx="783">
                  <c:v>200</c:v>
                </c:pt>
                <c:pt idx="784">
                  <c:v>200</c:v>
                </c:pt>
                <c:pt idx="785">
                  <c:v>200</c:v>
                </c:pt>
                <c:pt idx="786">
                  <c:v>200</c:v>
                </c:pt>
                <c:pt idx="787">
                  <c:v>200</c:v>
                </c:pt>
                <c:pt idx="788">
                  <c:v>234.781274</c:v>
                </c:pt>
                <c:pt idx="789">
                  <c:v>234.781274</c:v>
                </c:pt>
                <c:pt idx="790">
                  <c:v>230.912826</c:v>
                </c:pt>
                <c:pt idx="791">
                  <c:v>230.912826</c:v>
                </c:pt>
                <c:pt idx="792">
                  <c:v>200</c:v>
                </c:pt>
                <c:pt idx="793">
                  <c:v>200</c:v>
                </c:pt>
                <c:pt idx="794">
                  <c:v>234.781274</c:v>
                </c:pt>
                <c:pt idx="795">
                  <c:v>234.781274</c:v>
                </c:pt>
                <c:pt idx="796">
                  <c:v>234.781274</c:v>
                </c:pt>
                <c:pt idx="797">
                  <c:v>234.781274</c:v>
                </c:pt>
                <c:pt idx="798">
                  <c:v>234.781274</c:v>
                </c:pt>
                <c:pt idx="799">
                  <c:v>234.781274</c:v>
                </c:pt>
                <c:pt idx="800">
                  <c:v>200</c:v>
                </c:pt>
                <c:pt idx="801">
                  <c:v>200</c:v>
                </c:pt>
                <c:pt idx="802">
                  <c:v>200</c:v>
                </c:pt>
                <c:pt idx="803">
                  <c:v>200</c:v>
                </c:pt>
                <c:pt idx="804">
                  <c:v>200</c:v>
                </c:pt>
                <c:pt idx="805">
                  <c:v>200</c:v>
                </c:pt>
                <c:pt idx="806">
                  <c:v>200</c:v>
                </c:pt>
                <c:pt idx="807">
                  <c:v>200</c:v>
                </c:pt>
                <c:pt idx="808">
                  <c:v>200</c:v>
                </c:pt>
                <c:pt idx="809">
                  <c:v>200</c:v>
                </c:pt>
                <c:pt idx="810">
                  <c:v>200</c:v>
                </c:pt>
                <c:pt idx="811">
                  <c:v>200</c:v>
                </c:pt>
                <c:pt idx="812">
                  <c:v>200</c:v>
                </c:pt>
                <c:pt idx="813">
                  <c:v>200</c:v>
                </c:pt>
                <c:pt idx="814">
                  <c:v>200</c:v>
                </c:pt>
                <c:pt idx="815">
                  <c:v>200</c:v>
                </c:pt>
                <c:pt idx="816">
                  <c:v>201.416159</c:v>
                </c:pt>
                <c:pt idx="817">
                  <c:v>201.416159</c:v>
                </c:pt>
                <c:pt idx="818">
                  <c:v>197.455</c:v>
                </c:pt>
                <c:pt idx="819">
                  <c:v>197.455</c:v>
                </c:pt>
                <c:pt idx="820">
                  <c:v>37.9</c:v>
                </c:pt>
                <c:pt idx="821">
                  <c:v>37.9</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2.8</c:v>
                </c:pt>
                <c:pt idx="897">
                  <c:v>2.8</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30.414785</c:v>
                </c:pt>
                <c:pt idx="953">
                  <c:v>30.414785</c:v>
                </c:pt>
                <c:pt idx="954">
                  <c:v>0</c:v>
                </c:pt>
                <c:pt idx="955">
                  <c:v>0</c:v>
                </c:pt>
                <c:pt idx="956">
                  <c:v>0.0001</c:v>
                </c:pt>
                <c:pt idx="957">
                  <c:v>0.0001</c:v>
                </c:pt>
                <c:pt idx="958">
                  <c:v>0.0002</c:v>
                </c:pt>
                <c:pt idx="959">
                  <c:v>0.0002</c:v>
                </c:pt>
                <c:pt idx="960">
                  <c:v>0</c:v>
                </c:pt>
                <c:pt idx="961">
                  <c:v>0</c:v>
                </c:pt>
                <c:pt idx="962">
                  <c:v>0</c:v>
                </c:pt>
                <c:pt idx="963">
                  <c:v>0</c:v>
                </c:pt>
                <c:pt idx="964">
                  <c:v>0</c:v>
                </c:pt>
                <c:pt idx="965">
                  <c:v>0</c:v>
                </c:pt>
                <c:pt idx="966">
                  <c:v>0</c:v>
                </c:pt>
                <c:pt idx="967">
                  <c:v>0</c:v>
                </c:pt>
                <c:pt idx="968">
                  <c:v>200</c:v>
                </c:pt>
                <c:pt idx="969">
                  <c:v>200</c:v>
                </c:pt>
                <c:pt idx="970">
                  <c:v>0</c:v>
                </c:pt>
                <c:pt idx="971">
                  <c:v>0</c:v>
                </c:pt>
                <c:pt idx="972">
                  <c:v>0</c:v>
                </c:pt>
                <c:pt idx="973">
                  <c:v>0</c:v>
                </c:pt>
                <c:pt idx="974">
                  <c:v>0</c:v>
                </c:pt>
                <c:pt idx="975">
                  <c:v>0</c:v>
                </c:pt>
                <c:pt idx="976">
                  <c:v>104.671358</c:v>
                </c:pt>
                <c:pt idx="977">
                  <c:v>104.671358</c:v>
                </c:pt>
                <c:pt idx="978">
                  <c:v>180.0001</c:v>
                </c:pt>
                <c:pt idx="979">
                  <c:v>180.0001</c:v>
                </c:pt>
                <c:pt idx="980">
                  <c:v>0</c:v>
                </c:pt>
                <c:pt idx="981">
                  <c:v>0</c:v>
                </c:pt>
                <c:pt idx="982">
                  <c:v>120.0002</c:v>
                </c:pt>
                <c:pt idx="983">
                  <c:v>120.0002</c:v>
                </c:pt>
                <c:pt idx="984">
                  <c:v>200</c:v>
                </c:pt>
                <c:pt idx="985">
                  <c:v>200</c:v>
                </c:pt>
                <c:pt idx="986">
                  <c:v>150</c:v>
                </c:pt>
                <c:pt idx="987">
                  <c:v>150</c:v>
                </c:pt>
                <c:pt idx="988">
                  <c:v>90</c:v>
                </c:pt>
                <c:pt idx="989">
                  <c:v>90</c:v>
                </c:pt>
                <c:pt idx="990">
                  <c:v>60</c:v>
                </c:pt>
                <c:pt idx="991">
                  <c:v>60</c:v>
                </c:pt>
                <c:pt idx="992">
                  <c:v>120</c:v>
                </c:pt>
                <c:pt idx="993">
                  <c:v>120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200</c:v>
                </c:pt>
                <c:pt idx="1007">
                  <c:v>200</c:v>
                </c:pt>
                <c:pt idx="1008">
                  <c:v>0</c:v>
                </c:pt>
                <c:pt idx="1009">
                  <c:v>0</c:v>
                </c:pt>
                <c:pt idx="1010">
                  <c:v>0</c:v>
                </c:pt>
                <c:pt idx="1011">
                  <c:v>0</c:v>
                </c:pt>
                <c:pt idx="1012">
                  <c:v>0</c:v>
                </c:pt>
                <c:pt idx="1013">
                  <c:v>0</c:v>
                </c:pt>
                <c:pt idx="1014">
                  <c:v>13.939</c:v>
                </c:pt>
                <c:pt idx="1015">
                  <c:v>13.939</c:v>
                </c:pt>
                <c:pt idx="1016">
                  <c:v>167.134425</c:v>
                </c:pt>
                <c:pt idx="1017">
                  <c:v>167.134425</c:v>
                </c:pt>
                <c:pt idx="1018">
                  <c:v>49.233747</c:v>
                </c:pt>
                <c:pt idx="1019">
                  <c:v>49.233747</c:v>
                </c:pt>
                <c:pt idx="1020">
                  <c:v>6.7</c:v>
                </c:pt>
                <c:pt idx="1021">
                  <c:v>6.7</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3.719675</c:v>
                </c:pt>
                <c:pt idx="1129">
                  <c:v>3.719675</c:v>
                </c:pt>
                <c:pt idx="1130">
                  <c:v>54.379227</c:v>
                </c:pt>
                <c:pt idx="1131">
                  <c:v>54.379227</c:v>
                </c:pt>
                <c:pt idx="1132">
                  <c:v>0</c:v>
                </c:pt>
                <c:pt idx="1133">
                  <c:v>0</c:v>
                </c:pt>
                <c:pt idx="1134">
                  <c:v>0</c:v>
                </c:pt>
                <c:pt idx="1135">
                  <c:v>0</c:v>
                </c:pt>
                <c:pt idx="1136">
                  <c:v>0.0001</c:v>
                </c:pt>
                <c:pt idx="1137">
                  <c:v>0.0001</c:v>
                </c:pt>
                <c:pt idx="1138">
                  <c:v>0.0001</c:v>
                </c:pt>
                <c:pt idx="1139">
                  <c:v>0.0001</c:v>
                </c:pt>
                <c:pt idx="1140">
                  <c:v>0.0001</c:v>
                </c:pt>
                <c:pt idx="1141">
                  <c:v>0.0001</c:v>
                </c:pt>
                <c:pt idx="1142">
                  <c:v>90</c:v>
                </c:pt>
                <c:pt idx="1143">
                  <c:v>90</c:v>
                </c:pt>
                <c:pt idx="1144">
                  <c:v>0</c:v>
                </c:pt>
                <c:pt idx="1145">
                  <c:v>0</c:v>
                </c:pt>
                <c:pt idx="1146">
                  <c:v>0</c:v>
                </c:pt>
                <c:pt idx="1147">
                  <c:v>0</c:v>
                </c:pt>
                <c:pt idx="1148">
                  <c:v>0</c:v>
                </c:pt>
                <c:pt idx="1149">
                  <c:v>0</c:v>
                </c:pt>
                <c:pt idx="1150">
                  <c:v>0</c:v>
                </c:pt>
                <c:pt idx="1151">
                  <c:v>0</c:v>
                </c:pt>
                <c:pt idx="1152">
                  <c:v>150</c:v>
                </c:pt>
                <c:pt idx="1153">
                  <c:v>150</c:v>
                </c:pt>
                <c:pt idx="1154">
                  <c:v>60</c:v>
                </c:pt>
                <c:pt idx="1155">
                  <c:v>60</c:v>
                </c:pt>
                <c:pt idx="1156">
                  <c:v>0</c:v>
                </c:pt>
                <c:pt idx="1157">
                  <c:v>0</c:v>
                </c:pt>
                <c:pt idx="1158">
                  <c:v>0</c:v>
                </c:pt>
                <c:pt idx="1159">
                  <c:v>0</c:v>
                </c:pt>
                <c:pt idx="1160">
                  <c:v>90.0002</c:v>
                </c:pt>
                <c:pt idx="1161">
                  <c:v>90.0002</c:v>
                </c:pt>
                <c:pt idx="1162">
                  <c:v>90.0001</c:v>
                </c:pt>
                <c:pt idx="1163">
                  <c:v>90.0001</c:v>
                </c:pt>
                <c:pt idx="1164">
                  <c:v>75.863548</c:v>
                </c:pt>
                <c:pt idx="1165">
                  <c:v>75.863548</c:v>
                </c:pt>
                <c:pt idx="1166">
                  <c:v>163.262537</c:v>
                </c:pt>
                <c:pt idx="1167">
                  <c:v>163.262537</c:v>
                </c:pt>
                <c:pt idx="1168">
                  <c:v>120</c:v>
                </c:pt>
                <c:pt idx="1169">
                  <c:v>120</c:v>
                </c:pt>
                <c:pt idx="1170">
                  <c:v>150</c:v>
                </c:pt>
                <c:pt idx="1171">
                  <c:v>150</c:v>
                </c:pt>
                <c:pt idx="1172">
                  <c:v>163.262537</c:v>
                </c:pt>
                <c:pt idx="1173">
                  <c:v>163.262537</c:v>
                </c:pt>
                <c:pt idx="1174">
                  <c:v>0</c:v>
                </c:pt>
                <c:pt idx="1175">
                  <c:v>0</c:v>
                </c:pt>
                <c:pt idx="1176">
                  <c:v>0</c:v>
                </c:pt>
                <c:pt idx="1177">
                  <c:v>0</c:v>
                </c:pt>
                <c:pt idx="1178">
                  <c:v>165.393921</c:v>
                </c:pt>
                <c:pt idx="1179">
                  <c:v>165.393921</c:v>
                </c:pt>
                <c:pt idx="1180">
                  <c:v>0</c:v>
                </c:pt>
                <c:pt idx="1181">
                  <c:v>0</c:v>
                </c:pt>
                <c:pt idx="1182">
                  <c:v>200</c:v>
                </c:pt>
                <c:pt idx="1183">
                  <c:v>200</c:v>
                </c:pt>
                <c:pt idx="1184">
                  <c:v>0</c:v>
                </c:pt>
                <c:pt idx="1185">
                  <c:v>0</c:v>
                </c:pt>
                <c:pt idx="1186">
                  <c:v>200</c:v>
                </c:pt>
                <c:pt idx="1187">
                  <c:v>200</c:v>
                </c:pt>
                <c:pt idx="1188">
                  <c:v>0</c:v>
                </c:pt>
                <c:pt idx="1189">
                  <c:v>0</c:v>
                </c:pt>
                <c:pt idx="1190">
                  <c:v>0</c:v>
                </c:pt>
                <c:pt idx="1191">
                  <c:v>0</c:v>
                </c:pt>
                <c:pt idx="1192">
                  <c:v>200</c:v>
                </c:pt>
                <c:pt idx="1193">
                  <c:v>200</c:v>
                </c:pt>
                <c:pt idx="1194">
                  <c:v>200</c:v>
                </c:pt>
                <c:pt idx="1195">
                  <c:v>200</c:v>
                </c:pt>
                <c:pt idx="1196">
                  <c:v>100.784722</c:v>
                </c:pt>
                <c:pt idx="1197">
                  <c:v>100.784722</c:v>
                </c:pt>
                <c:pt idx="1198">
                  <c:v>200</c:v>
                </c:pt>
                <c:pt idx="1199">
                  <c:v>200</c:v>
                </c:pt>
                <c:pt idx="1200">
                  <c:v>182.052799</c:v>
                </c:pt>
                <c:pt idx="1201">
                  <c:v>182.052799</c:v>
                </c:pt>
                <c:pt idx="1202">
                  <c:v>197.45</c:v>
                </c:pt>
                <c:pt idx="1203">
                  <c:v>197.45</c:v>
                </c:pt>
                <c:pt idx="1204">
                  <c:v>188.667</c:v>
                </c:pt>
                <c:pt idx="1205">
                  <c:v>188.667</c:v>
                </c:pt>
                <c:pt idx="1206">
                  <c:v>129.8501</c:v>
                </c:pt>
                <c:pt idx="1207">
                  <c:v>129.8501</c:v>
                </c:pt>
                <c:pt idx="1208">
                  <c:v>96.7001</c:v>
                </c:pt>
                <c:pt idx="1209">
                  <c:v>96.7001</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35.057</c:v>
                </c:pt>
                <c:pt idx="1245">
                  <c:v>35.057</c:v>
                </c:pt>
                <c:pt idx="1246">
                  <c:v>74.966</c:v>
                </c:pt>
                <c:pt idx="1247">
                  <c:v>74.966</c:v>
                </c:pt>
                <c:pt idx="1248">
                  <c:v>75.588</c:v>
                </c:pt>
                <c:pt idx="1249">
                  <c:v>75.588</c:v>
                </c:pt>
                <c:pt idx="1250">
                  <c:v>0</c:v>
                </c:pt>
                <c:pt idx="1251">
                  <c:v>0</c:v>
                </c:pt>
                <c:pt idx="1252">
                  <c:v>0</c:v>
                </c:pt>
                <c:pt idx="1253">
                  <c:v>0</c:v>
                </c:pt>
                <c:pt idx="1254">
                  <c:v>21.394</c:v>
                </c:pt>
                <c:pt idx="1255">
                  <c:v>21.394</c:v>
                </c:pt>
                <c:pt idx="1256">
                  <c:v>17.842336</c:v>
                </c:pt>
                <c:pt idx="1257">
                  <c:v>17.842336</c:v>
                </c:pt>
                <c:pt idx="1258">
                  <c:v>17.907</c:v>
                </c:pt>
                <c:pt idx="1259">
                  <c:v>17.907</c:v>
                </c:pt>
                <c:pt idx="1260">
                  <c:v>39.531</c:v>
                </c:pt>
                <c:pt idx="1261">
                  <c:v>39.531</c:v>
                </c:pt>
                <c:pt idx="1262">
                  <c:v>41.002762</c:v>
                </c:pt>
                <c:pt idx="1263">
                  <c:v>41.002762</c:v>
                </c:pt>
                <c:pt idx="1264">
                  <c:v>8.363</c:v>
                </c:pt>
                <c:pt idx="1265">
                  <c:v>8.363</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6.419217</c:v>
                </c:pt>
                <c:pt idx="1279">
                  <c:v>6.419217</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0.0001</c:v>
                </c:pt>
                <c:pt idx="1309">
                  <c:v>0.0001</c:v>
                </c:pt>
                <c:pt idx="1310">
                  <c:v>60</c:v>
                </c:pt>
                <c:pt idx="1311">
                  <c:v>60</c:v>
                </c:pt>
                <c:pt idx="1312">
                  <c:v>60</c:v>
                </c:pt>
                <c:pt idx="1313">
                  <c:v>60</c:v>
                </c:pt>
                <c:pt idx="1314">
                  <c:v>47.134037</c:v>
                </c:pt>
                <c:pt idx="1315">
                  <c:v>47.134037</c:v>
                </c:pt>
                <c:pt idx="1316">
                  <c:v>60.0001</c:v>
                </c:pt>
                <c:pt idx="1317">
                  <c:v>60.0001</c:v>
                </c:pt>
                <c:pt idx="1318">
                  <c:v>90</c:v>
                </c:pt>
                <c:pt idx="1319">
                  <c:v>90</c:v>
                </c:pt>
                <c:pt idx="1320">
                  <c:v>90</c:v>
                </c:pt>
                <c:pt idx="1321">
                  <c:v>90</c:v>
                </c:pt>
                <c:pt idx="1322">
                  <c:v>150</c:v>
                </c:pt>
                <c:pt idx="1323">
                  <c:v>150</c:v>
                </c:pt>
                <c:pt idx="1324">
                  <c:v>200</c:v>
                </c:pt>
                <c:pt idx="1325">
                  <c:v>200</c:v>
                </c:pt>
                <c:pt idx="1326">
                  <c:v>200</c:v>
                </c:pt>
                <c:pt idx="1327">
                  <c:v>200</c:v>
                </c:pt>
                <c:pt idx="1328">
                  <c:v>160.0001</c:v>
                </c:pt>
                <c:pt idx="1329">
                  <c:v>160.0001</c:v>
                </c:pt>
                <c:pt idx="1330">
                  <c:v>200</c:v>
                </c:pt>
                <c:pt idx="1331">
                  <c:v>200</c:v>
                </c:pt>
                <c:pt idx="1332">
                  <c:v>200</c:v>
                </c:pt>
                <c:pt idx="1333">
                  <c:v>200</c:v>
                </c:pt>
                <c:pt idx="1334">
                  <c:v>200</c:v>
                </c:pt>
                <c:pt idx="1335">
                  <c:v>200</c:v>
                </c:pt>
                <c:pt idx="1336">
                  <c:v>200</c:v>
                </c:pt>
                <c:pt idx="1337">
                  <c:v>200</c:v>
                </c:pt>
                <c:pt idx="1338">
                  <c:v>200</c:v>
                </c:pt>
                <c:pt idx="1339">
                  <c:v>200</c:v>
                </c:pt>
                <c:pt idx="1340">
                  <c:v>200</c:v>
                </c:pt>
                <c:pt idx="1341">
                  <c:v>200</c:v>
                </c:pt>
                <c:pt idx="1342">
                  <c:v>200</c:v>
                </c:pt>
                <c:pt idx="1343">
                  <c:v>200</c:v>
                </c:pt>
              </c:numCache>
            </c:numRef>
          </c:yVal>
          <c:smooth val="0"/>
        </c:ser>
        <c:ser>
          <c:idx val="2"/>
          <c:order val="2"/>
          <c:tx>
            <c:v>契約基準200 kW</c:v>
          </c:tx>
          <c:spPr>
            <a:ln xmlns:a="http://schemas.openxmlformats.org/drawingml/2006/main" w="9525">
              <a:solidFill>
                <a:srgbClr val="BA4F50"/>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200</c:v>
                </c:pt>
                <c:pt idx="1">
                  <c:v>200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168"/>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週開始からの時間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2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曜日別の購入電力量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3月</c:v>
          </c:tx>
          <c:spPr>
            <a:solidFill xmlns:a="http://schemas.openxmlformats.org/drawingml/2006/main">
              <a:srgbClr val="316DB6"/>
            </a:solidFill>
            <a:ln xmlns:a="http://schemas.openxmlformats.org/drawingml/2006/main" w="0">
              <a:solidFill>
                <a:srgbClr val="316DB6"/>
              </a:solidFill>
            </a:ln>
          </c:spPr>
          <c:cat>
            <c:strRef>
              <c:f>'Chart Data'!$A$2:$A$8</c:f>
              <c:strCache>
                <c:ptCount val="7"/>
                <c:pt idx="0">
                  <c:v>月</c:v>
                </c:pt>
                <c:pt idx="1">
                  <c:v>火</c:v>
                </c:pt>
                <c:pt idx="2">
                  <c:v>水</c:v>
                </c:pt>
                <c:pt idx="3">
                  <c:v>木</c:v>
                </c:pt>
                <c:pt idx="4">
                  <c:v>金</c:v>
                </c:pt>
                <c:pt idx="5">
                  <c:v>土</c:v>
                </c:pt>
                <c:pt idx="6">
                  <c:v>日</c:v>
                </c:pt>
              </c:strCache>
            </c:strRef>
          </c:cat>
          <c:val>
            <c:numRef>
              <c:f>'Chart Data'!$B$2:$B$8</c:f>
              <c:numCache>
                <c:formatCode>0</c:formatCode>
                <c:ptCount val="7"/>
                <c:pt idx="0">
                  <c:v>954.067077</c:v>
                </c:pt>
                <c:pt idx="1">
                  <c:v>1313.958227</c:v>
                </c:pt>
                <c:pt idx="2">
                  <c:v>1592.70035</c:v>
                </c:pt>
                <c:pt idx="3">
                  <c:v>1666.604087</c:v>
                </c:pt>
                <c:pt idx="4">
                  <c:v>1137.802327</c:v>
                </c:pt>
                <c:pt idx="5">
                  <c:v>103.348445</c:v>
                </c:pt>
                <c:pt idx="6">
                  <c:v>1025.57597</c:v>
                </c:pt>
              </c:numCache>
            </c:numRef>
          </c:val>
        </c:ser>
        <c:ser>
          <c:idx val="1"/>
          <c:order val="1"/>
          <c:tx>
            <c:v>11月</c:v>
          </c:tx>
          <c:spPr>
            <a:solidFill xmlns:a="http://schemas.openxmlformats.org/drawingml/2006/main">
              <a:srgbClr val="159A8C"/>
            </a:solidFill>
            <a:ln xmlns:a="http://schemas.openxmlformats.org/drawingml/2006/main" w="0">
              <a:solidFill>
                <a:srgbClr val="159A8C"/>
              </a:solidFill>
            </a:ln>
          </c:spPr>
          <c:cat>
            <c:strRef>
              <c:f>'Chart Data'!$C$2:$C$8</c:f>
              <c:strCache>
                <c:ptCount val="7"/>
                <c:pt idx="0">
                  <c:v>月</c:v>
                </c:pt>
                <c:pt idx="1">
                  <c:v>火</c:v>
                </c:pt>
                <c:pt idx="2">
                  <c:v>水</c:v>
                </c:pt>
                <c:pt idx="3">
                  <c:v>木</c:v>
                </c:pt>
                <c:pt idx="4">
                  <c:v>金</c:v>
                </c:pt>
                <c:pt idx="5">
                  <c:v>土</c:v>
                </c:pt>
                <c:pt idx="6">
                  <c:v>日</c:v>
                </c:pt>
              </c:strCache>
            </c:strRef>
          </c:cat>
          <c:val>
            <c:numRef>
              <c:f>'Chart Data'!$D$2:$D$8</c:f>
              <c:numCache>
                <c:formatCode>0</c:formatCode>
                <c:ptCount val="7"/>
                <c:pt idx="0">
                  <c:v>259.95865</c:v>
                </c:pt>
                <c:pt idx="1">
                  <c:v>1007.844835</c:v>
                </c:pt>
                <c:pt idx="2">
                  <c:v>1224.588437</c:v>
                </c:pt>
                <c:pt idx="3">
                  <c:v>1175.550685</c:v>
                </c:pt>
                <c:pt idx="4">
                  <c:v>1387.391992</c:v>
                </c:pt>
                <c:pt idx="5">
                  <c:v>752.444508</c:v>
                </c:pt>
                <c:pt idx="6">
                  <c:v>1494.623054</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18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kWh／日</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202B58"/>
                </a:solidFill>
                <a:latin typeface="Noto Sans JP"/>
                <a:ea typeface="Noto Sans JP"/>
                <a:cs typeface="Noto Sans JP"/>
              </a:rPr>
              <a:t>3/3 00:00から6時間</a:t>
            </a:r>
          </a:p>
        </c:rich>
      </c:tx>
      <c:overlay val="0"/>
      <c:txPr>
        <a:bodyPr xmlns:a="http://schemas.openxmlformats.org/drawingml/2006/main" anchorCtr="1"/>
        <a:lstStyle xmlns:a="http://schemas.openxmlformats.org/drawingml/2006/main"/>
        <a:p xmlns:a="http://schemas.openxmlformats.org/drawingml/2006/main">
          <a:pPr>
            <a:defRPr sz="1650" b="1">
              <a:solidFill>
                <a:srgbClr val="202B58"/>
              </a:solidFill>
              <a:latin typeface="Noto Sans JP"/>
              <a:ea typeface="Noto Sans JP"/>
              <a:cs typeface="Noto Sans JP"/>
            </a:defRPr>
          </a:pPr>
        </a:p>
      </c:txPr>
    </c:title>
    <c:plotArea>
      <c:scatterChart>
        <c:scatterStyle val="line"/>
        <c:ser>
          <c:idx val="0"/>
          <c:order val="0"/>
          <c:tx>
            <c:v>系統受電</c:v>
          </c:tx>
          <c:spPr>
            <a:ln xmlns:a="http://schemas.openxmlformats.org/drawingml/2006/main" w="19050">
              <a:solidFill>
                <a:srgbClr val="316DB6"/>
              </a:solidFill>
            </a:ln>
          </c:spPr>
          <c:marker>
            <c:symbol val="none"/>
          </c:marker>
          <c:xVal>
            <c:numRef>
              <c:f>'Chart Data'!$A$2:$A$49</c:f>
              <c:numCache>
                <c:formatCode>General</c:formatCode>
                <c:ptCount val="48"/>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numCache>
            </c:numRef>
          </c:xVal>
          <c:yVal>
            <c:numRef>
              <c:f>'Chart Data'!$B$2:$B$49</c:f>
              <c:numCache>
                <c:formatCode>0</c:formatCode>
                <c:ptCount val="48"/>
                <c:pt idx="0">
                  <c:v>0</c:v>
                </c:pt>
                <c:pt idx="1">
                  <c:v>0</c:v>
                </c:pt>
                <c:pt idx="2">
                  <c:v>0</c:v>
                </c:pt>
                <c:pt idx="3">
                  <c:v>0</c:v>
                </c:pt>
                <c:pt idx="4">
                  <c:v>0</c:v>
                </c:pt>
                <c:pt idx="5">
                  <c:v>0</c:v>
                </c:pt>
                <c:pt idx="6">
                  <c:v>0</c:v>
                </c:pt>
                <c:pt idx="7">
                  <c:v>0</c:v>
                </c:pt>
                <c:pt idx="8">
                  <c:v>522.565877</c:v>
                </c:pt>
                <c:pt idx="9">
                  <c:v>522.565877</c:v>
                </c:pt>
                <c:pt idx="10">
                  <c:v>849.4416</c:v>
                </c:pt>
                <c:pt idx="11">
                  <c:v>849.4416</c:v>
                </c:pt>
                <c:pt idx="12">
                  <c:v>780.630367</c:v>
                </c:pt>
                <c:pt idx="13">
                  <c:v>780.630367</c:v>
                </c:pt>
                <c:pt idx="14">
                  <c:v>806.470888</c:v>
                </c:pt>
                <c:pt idx="15">
                  <c:v>806.470888</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numCache>
            </c:numRef>
          </c:yVal>
          <c:smooth val="0"/>
        </c:ser>
        <c:ser>
          <c:idx val="1"/>
          <c:order val="1"/>
          <c:tx>
            <c:v>200 kW</c:v>
          </c:tx>
          <c:spPr>
            <a:ln xmlns:a="http://schemas.openxmlformats.org/drawingml/2006/main" w="9525">
              <a:solidFill>
                <a:srgbClr val="BA4F50"/>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200</c:v>
                </c:pt>
                <c:pt idx="1">
                  <c:v>200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6"/>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3/3 00:00から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202B58"/>
                </a:solidFill>
                <a:latin typeface="Noto Sans JP"/>
                <a:ea typeface="Noto Sans JP"/>
                <a:cs typeface="Noto Sans JP"/>
              </a:rPr>
              <a:t>11/13 21:00から10時間</a:t>
            </a:r>
          </a:p>
        </c:rich>
      </c:tx>
      <c:overlay val="0"/>
      <c:txPr>
        <a:bodyPr xmlns:a="http://schemas.openxmlformats.org/drawingml/2006/main" anchorCtr="1"/>
        <a:lstStyle xmlns:a="http://schemas.openxmlformats.org/drawingml/2006/main"/>
        <a:p xmlns:a="http://schemas.openxmlformats.org/drawingml/2006/main">
          <a:pPr>
            <a:defRPr sz="1650" b="1">
              <a:solidFill>
                <a:srgbClr val="202B58"/>
              </a:solidFill>
              <a:latin typeface="Noto Sans JP"/>
              <a:ea typeface="Noto Sans JP"/>
              <a:cs typeface="Noto Sans JP"/>
            </a:defRPr>
          </a:pPr>
        </a:p>
      </c:txPr>
    </c:title>
    <c:plotArea>
      <c:scatterChart>
        <c:scatterStyle val="line"/>
        <c:ser>
          <c:idx val="0"/>
          <c:order val="0"/>
          <c:tx>
            <c:v>系統受電</c:v>
          </c:tx>
          <c:spPr>
            <a:ln xmlns:a="http://schemas.openxmlformats.org/drawingml/2006/main" w="19050">
              <a:solidFill>
                <a:srgbClr val="159A8C"/>
              </a:solidFill>
            </a:ln>
          </c:spPr>
          <c:marker>
            <c:symbol val="none"/>
          </c:marker>
          <c:xVal>
            <c:numRef>
              <c:f>'Chart Data'!$A$2:$A$81</c:f>
              <c:numCache>
                <c:formatCode>General</c:formatCode>
                <c:ptCount val="8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numCache>
            </c:numRef>
          </c:xVal>
          <c:yVal>
            <c:numRef>
              <c:f>'Chart Data'!$B$2:$B$81</c:f>
              <c:numCache>
                <c:formatCode>0</c:formatCode>
                <c:ptCount val="80"/>
                <c:pt idx="0">
                  <c:v>60</c:v>
                </c:pt>
                <c:pt idx="1">
                  <c:v>60</c:v>
                </c:pt>
                <c:pt idx="2">
                  <c:v>90</c:v>
                </c:pt>
                <c:pt idx="3">
                  <c:v>90</c:v>
                </c:pt>
                <c:pt idx="4">
                  <c:v>90</c:v>
                </c:pt>
                <c:pt idx="5">
                  <c:v>90</c:v>
                </c:pt>
                <c:pt idx="6">
                  <c:v>90</c:v>
                </c:pt>
                <c:pt idx="7">
                  <c:v>90</c:v>
                </c:pt>
                <c:pt idx="8">
                  <c:v>90</c:v>
                </c:pt>
                <c:pt idx="9">
                  <c:v>90</c:v>
                </c:pt>
                <c:pt idx="10">
                  <c:v>180</c:v>
                </c:pt>
                <c:pt idx="11">
                  <c:v>180</c:v>
                </c:pt>
                <c:pt idx="12">
                  <c:v>200</c:v>
                </c:pt>
                <c:pt idx="13">
                  <c:v>200</c:v>
                </c:pt>
                <c:pt idx="14">
                  <c:v>210</c:v>
                </c:pt>
                <c:pt idx="15">
                  <c:v>210</c:v>
                </c:pt>
                <c:pt idx="16">
                  <c:v>210.0001</c:v>
                </c:pt>
                <c:pt idx="17">
                  <c:v>210.0001</c:v>
                </c:pt>
                <c:pt idx="18">
                  <c:v>234.781274</c:v>
                </c:pt>
                <c:pt idx="19">
                  <c:v>234.781274</c:v>
                </c:pt>
                <c:pt idx="20">
                  <c:v>222.378236</c:v>
                </c:pt>
                <c:pt idx="21">
                  <c:v>222.378236</c:v>
                </c:pt>
                <c:pt idx="22">
                  <c:v>210</c:v>
                </c:pt>
                <c:pt idx="23">
                  <c:v>210</c:v>
                </c:pt>
                <c:pt idx="24">
                  <c:v>200</c:v>
                </c:pt>
                <c:pt idx="25">
                  <c:v>200</c:v>
                </c:pt>
                <c:pt idx="26">
                  <c:v>200</c:v>
                </c:pt>
                <c:pt idx="27">
                  <c:v>200</c:v>
                </c:pt>
                <c:pt idx="28">
                  <c:v>234.781274</c:v>
                </c:pt>
                <c:pt idx="29">
                  <c:v>234.781274</c:v>
                </c:pt>
                <c:pt idx="30">
                  <c:v>210.0001</c:v>
                </c:pt>
                <c:pt idx="31">
                  <c:v>210.0001</c:v>
                </c:pt>
                <c:pt idx="32">
                  <c:v>200</c:v>
                </c:pt>
                <c:pt idx="33">
                  <c:v>200</c:v>
                </c:pt>
                <c:pt idx="34">
                  <c:v>230.90538</c:v>
                </c:pt>
                <c:pt idx="35">
                  <c:v>230.90538</c:v>
                </c:pt>
                <c:pt idx="36">
                  <c:v>233.857047</c:v>
                </c:pt>
                <c:pt idx="37">
                  <c:v>233.857047</c:v>
                </c:pt>
                <c:pt idx="38">
                  <c:v>200</c:v>
                </c:pt>
                <c:pt idx="39">
                  <c:v>200</c:v>
                </c:pt>
                <c:pt idx="40">
                  <c:v>200</c:v>
                </c:pt>
                <c:pt idx="41">
                  <c:v>200</c:v>
                </c:pt>
                <c:pt idx="42">
                  <c:v>200</c:v>
                </c:pt>
                <c:pt idx="43">
                  <c:v>200</c:v>
                </c:pt>
                <c:pt idx="44">
                  <c:v>234.781274</c:v>
                </c:pt>
                <c:pt idx="45">
                  <c:v>234.781274</c:v>
                </c:pt>
                <c:pt idx="46">
                  <c:v>230.912826</c:v>
                </c:pt>
                <c:pt idx="47">
                  <c:v>230.912826</c:v>
                </c:pt>
                <c:pt idx="48">
                  <c:v>200</c:v>
                </c:pt>
                <c:pt idx="49">
                  <c:v>200</c:v>
                </c:pt>
                <c:pt idx="50">
                  <c:v>234.781274</c:v>
                </c:pt>
                <c:pt idx="51">
                  <c:v>234.781274</c:v>
                </c:pt>
                <c:pt idx="52">
                  <c:v>234.781274</c:v>
                </c:pt>
                <c:pt idx="53">
                  <c:v>234.781274</c:v>
                </c:pt>
                <c:pt idx="54">
                  <c:v>234.781274</c:v>
                </c:pt>
                <c:pt idx="55">
                  <c:v>234.781274</c:v>
                </c:pt>
                <c:pt idx="56">
                  <c:v>200</c:v>
                </c:pt>
                <c:pt idx="57">
                  <c:v>200</c:v>
                </c:pt>
                <c:pt idx="58">
                  <c:v>200</c:v>
                </c:pt>
                <c:pt idx="59">
                  <c:v>200</c:v>
                </c:pt>
                <c:pt idx="60">
                  <c:v>200</c:v>
                </c:pt>
                <c:pt idx="61">
                  <c:v>200</c:v>
                </c:pt>
                <c:pt idx="62">
                  <c:v>200</c:v>
                </c:pt>
                <c:pt idx="63">
                  <c:v>200</c:v>
                </c:pt>
                <c:pt idx="64">
                  <c:v>200</c:v>
                </c:pt>
                <c:pt idx="65">
                  <c:v>200</c:v>
                </c:pt>
                <c:pt idx="66">
                  <c:v>200</c:v>
                </c:pt>
                <c:pt idx="67">
                  <c:v>200</c:v>
                </c:pt>
                <c:pt idx="68">
                  <c:v>200</c:v>
                </c:pt>
                <c:pt idx="69">
                  <c:v>200</c:v>
                </c:pt>
                <c:pt idx="70">
                  <c:v>200</c:v>
                </c:pt>
                <c:pt idx="71">
                  <c:v>200</c:v>
                </c:pt>
                <c:pt idx="72">
                  <c:v>201.416159</c:v>
                </c:pt>
                <c:pt idx="73">
                  <c:v>201.416159</c:v>
                </c:pt>
                <c:pt idx="74">
                  <c:v>197.455</c:v>
                </c:pt>
                <c:pt idx="75">
                  <c:v>197.455</c:v>
                </c:pt>
                <c:pt idx="76">
                  <c:v>37.9</c:v>
                </c:pt>
                <c:pt idx="77">
                  <c:v>37.9</c:v>
                </c:pt>
                <c:pt idx="78">
                  <c:v>0</c:v>
                </c:pt>
                <c:pt idx="79">
                  <c:v>0</c:v>
                </c:pt>
              </c:numCache>
            </c:numRef>
          </c:yVal>
          <c:smooth val="0"/>
        </c:ser>
        <c:ser>
          <c:idx val="1"/>
          <c:order val="1"/>
          <c:tx>
            <c:v>200 kW</c:v>
          </c:tx>
          <c:spPr>
            <a:ln xmlns:a="http://schemas.openxmlformats.org/drawingml/2006/main" w="9525">
              <a:solidFill>
                <a:srgbClr val="BA4F50"/>
              </a:solidFill>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200</c:v>
                </c:pt>
                <c:pt idx="1">
                  <c:v>200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11/13 21:00から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同じ運用に対する費用差（3月−11月）</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差額</c:v>
          </c:tx>
          <c:spPr>
            <a:solidFill xmlns:a="http://schemas.openxmlformats.org/drawingml/2006/main">
              <a:srgbClr val="316DB6"/>
            </a:solidFill>
            <a:ln xmlns:a="http://schemas.openxmlformats.org/drawingml/2006/main" w="0">
              <a:solidFill>
                <a:srgbClr val="316DB6"/>
              </a:solidFill>
            </a:ln>
          </c:spPr>
          <c:cat>
            <c:strRef>
              <c:f>'Chart Data'!$A$2:$A$4</c:f>
              <c:strCache>
                <c:ptCount val="3"/>
                <c:pt idx="0">
                  <c:v>0円/kWh</c:v>
                </c:pt>
                <c:pt idx="1">
                  <c:v>100円/kWh</c:v>
                </c:pt>
                <c:pt idx="2">
                  <c:v>500円/kWh
今回の設定</c:v>
                </c:pt>
              </c:strCache>
            </c:strRef>
          </c:cat>
          <c:val>
            <c:numRef>
              <c:f>'Chart Data'!$B$2:$B$4</c:f>
              <c:numCache>
                <c:formatCode>0</c:formatCode>
                <c:ptCount val="3"/>
                <c:pt idx="0">
                  <c:v>1.56635</c:v>
                </c:pt>
                <c:pt idx="1">
                  <c:v>6.051091</c:v>
                </c:pt>
                <c:pt idx="2">
                  <c:v>23.990053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28"/>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万円／週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F947BF-05E9-4B46-ABAF-397CB3F72438}"/>
              </a:ext>
            </a:extLst>
          </p:cNvPr>
          <p:cNvSpPr>
            <a:spLocks xmlns:a="http://schemas.openxmlformats.org/drawingml/2006/main" noGrp="1"/>
          </p:cNvSpPr>
          <p:nvPr/>
        </p:nvSpPr>
        <p:spPr>
          <a:xfrm xmlns:a="http://schemas.openxmlformats.org/drawingml/2006/main">
            <a:off x="0" y="0"/>
            <a:ext cx="12191695" cy="320040"/>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B185A98-C200-4DE7-B8BD-318DEDF1B845}"/>
              </a:ext>
            </a:extLst>
          </p:cNvPr>
          <p:cNvSpPr>
            <a:spLocks xmlns:a="http://schemas.openxmlformats.org/drawingml/2006/main" noGrp="1"/>
          </p:cNvSpPr>
          <p:nvPr/>
        </p:nvSpPr>
        <p:spPr>
          <a:xfrm xmlns:a="http://schemas.openxmlformats.org/drawingml/2006/main">
            <a:off x="594360" y="1051560"/>
            <a:ext cx="10972800" cy="1298448"/>
          </a:xfrm>
          <a:prstGeom xmlns:a="http://schemas.openxmlformats.org/drawingml/2006/main" prst="round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B72CB76-D951-46FB-94A0-79DC7EA0FF34}"/>
              </a:ext>
            </a:extLst>
          </p:cNvPr>
          <p:cNvSpPr>
            <a:spLocks xmlns:a="http://schemas.openxmlformats.org/drawingml/2006/main" noGrp="1"/>
          </p:cNvSpPr>
          <p:nvPr/>
        </p:nvSpPr>
        <p:spPr>
          <a:xfrm xmlns:a="http://schemas.openxmlformats.org/drawingml/2006/main">
            <a:off x="960120" y="1344168"/>
            <a:ext cx="10241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xmlns:a="http://schemas.openxmlformats.org/drawingml/2006/main">
              <a:ext uri="{FF2B5EF4-FFF2-40B4-BE49-F238E27FC236}">
                <a16:creationId xmlns:a16="http://schemas.microsoft.com/office/drawing/2014/main" id="{E09DD3D2-2374-4F6A-B395-16FAE8CB90A4}"/>
              </a:ext>
            </a:extLst>
          </p:cNvPr>
          <p:cNvSpPr>
            <a:spLocks xmlns:a="http://schemas.openxmlformats.org/drawingml/2006/main" noGrp="1"/>
          </p:cNvSpPr>
          <p:nvPr/>
        </p:nvSpPr>
        <p:spPr>
          <a:xfrm xmlns:a="http://schemas.openxmlformats.org/drawingml/2006/main">
            <a:off x="1143000" y="2679192"/>
            <a:ext cx="9921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xmlns:a="http://schemas.openxmlformats.org/drawingml/2006/main">
              <a:ext uri="{FF2B5EF4-FFF2-40B4-BE49-F238E27FC236}">
                <a16:creationId xmlns:a16="http://schemas.microsoft.com/office/drawing/2014/main" id="{2BC3DD9E-8941-4DB2-9F1C-A62DA5014D2C}"/>
              </a:ext>
            </a:extLst>
          </p:cNvPr>
          <p:cNvSpPr>
            <a:spLocks xmlns:a="http://schemas.openxmlformats.org/drawingml/2006/main" noGrp="1"/>
          </p:cNvSpPr>
          <p:nvPr/>
        </p:nvSpPr>
        <p:spPr>
          <a:xfrm xmlns:a="http://schemas.openxmlformats.org/drawingml/2006/main">
            <a:off x="1920240" y="3419856"/>
            <a:ext cx="8366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購入電力の時間分布と週間費用差</a:t>
            </a:r>
            <a:endParaRPr sz="16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3d4a42c241e5401e"/>
          <a:srcRect xmlns:a="http://schemas.openxmlformats.org/drawingml/2006/main" l="0" t="0" r="0" b="0"/>
          <a:stretch xmlns:a="http://schemas.openxmlformats.org/drawingml/2006/main">
            <a:fillRect l="0" t="0" r="0" b="0"/>
          </a:stretch>
        </p:blipFill>
        <p:spPr>
          <a:xfrm xmlns:a="http://schemas.openxmlformats.org/drawingml/2006/main">
            <a:off x="3154680" y="4187952"/>
            <a:ext cx="658368" cy="658368"/>
          </a:xfrm>
          <a:prstGeom xmlns:a="http://schemas.openxmlformats.org/drawingml/2006/main" prst="rect">
            <a:avLst/>
          </a:prstGeom>
        </p:spPr>
      </p:pic>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815eeedb1c894a2a"/>
          <a:srcRect xmlns:a="http://schemas.openxmlformats.org/drawingml/2006/main" l="0" t="2314" r="0" b="2314"/>
          <a:stretch xmlns:a="http://schemas.openxmlformats.org/drawingml/2006/main">
            <a:fillRect l="0" t="0" r="0" b="0"/>
          </a:stretch>
        </p:blipFill>
        <p:spPr>
          <a:xfrm xmlns:a="http://schemas.openxmlformats.org/drawingml/2006/main">
            <a:off x="4709160" y="4133088"/>
            <a:ext cx="841248" cy="713232"/>
          </a:xfrm>
          <a:prstGeom xmlns:a="http://schemas.openxmlformats.org/drawingml/2006/main" prst="rect">
            <a:avLst/>
          </a:prstGeom>
        </p:spPr>
      </p:pic>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9caabe4d95a74a0f"/>
          <a:srcRect xmlns:a="http://schemas.openxmlformats.org/drawingml/2006/main" l="0" t="3357" r="0" b="3357"/>
          <a:stretch xmlns:a="http://schemas.openxmlformats.org/drawingml/2006/main">
            <a:fillRect l="0" t="0" r="0" b="0"/>
          </a:stretch>
        </p:blipFill>
        <p:spPr>
          <a:xfrm xmlns:a="http://schemas.openxmlformats.org/drawingml/2006/main">
            <a:off x="6473952" y="4206240"/>
            <a:ext cx="749808" cy="621792"/>
          </a:xfrm>
          <a:prstGeom xmlns:a="http://schemas.openxmlformats.org/drawingml/2006/main" prst="rect">
            <a:avLst/>
          </a:prstGeom>
        </p:spPr>
      </p:pic>
      <p:sp>
        <p:nvSpPr>
          <p:cNvPr id="10" name="Shape 5">
            <a:extLst xmlns:a="http://schemas.openxmlformats.org/drawingml/2006/main">
              <a:ext uri="{FF2B5EF4-FFF2-40B4-BE49-F238E27FC236}">
                <a16:creationId xmlns:a16="http://schemas.microsoft.com/office/drawing/2014/main" id="{0C3764EE-FB6A-4592-9518-D2CD62CDB4F1}"/>
              </a:ext>
            </a:extLst>
          </p:cNvPr>
          <p:cNvSpPr>
            <a:spLocks xmlns:a="http://schemas.openxmlformats.org/drawingml/2006/main" noGrp="1"/>
          </p:cNvSpPr>
          <p:nvPr/>
        </p:nvSpPr>
        <p:spPr>
          <a:xfrm xmlns:a="http://schemas.openxmlformats.org/drawingml/2006/main">
            <a:off x="3794760" y="4526280"/>
            <a:ext cx="82296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3C9284E0-B9C9-4314-9E87-3B035B107DD8}"/>
              </a:ext>
            </a:extLst>
          </p:cNvPr>
          <p:cNvSpPr>
            <a:spLocks xmlns:a="http://schemas.openxmlformats.org/drawingml/2006/main" noGrp="1"/>
          </p:cNvSpPr>
          <p:nvPr/>
        </p:nvSpPr>
        <p:spPr>
          <a:xfrm xmlns:a="http://schemas.openxmlformats.org/drawingml/2006/main">
            <a:off x="5559552" y="4526280"/>
            <a:ext cx="86868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7">
            <a:extLst xmlns:a="http://schemas.openxmlformats.org/drawingml/2006/main">
              <a:ext uri="{FF2B5EF4-FFF2-40B4-BE49-F238E27FC236}">
                <a16:creationId xmlns:a16="http://schemas.microsoft.com/office/drawing/2014/main" id="{8AD67280-D8CA-43CB-A947-F2084CC4C3E9}"/>
              </a:ext>
            </a:extLst>
          </p:cNvPr>
          <p:cNvSpPr>
            <a:spLocks xmlns:a="http://schemas.openxmlformats.org/drawingml/2006/main" noGrp="1"/>
          </p:cNvSpPr>
          <p:nvPr/>
        </p:nvSpPr>
        <p:spPr>
          <a:xfrm xmlns:a="http://schemas.openxmlformats.org/drawingml/2006/main">
            <a:off x="1965960" y="5879592"/>
            <a:ext cx="8275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2026年9月18日　電力システム研究室　劉 承洋</a:t>
            </a:r>
            <a:endParaRPr sz="1350"/>
          </a:p>
        </p:txBody>
      </p:sp>
      <p:sp>
        <p:nvSpPr>
          <p:cNvPr id="13" name="Text 8">
            <a:extLst xmlns:a="http://schemas.openxmlformats.org/drawingml/2006/main">
              <a:ext uri="{FF2B5EF4-FFF2-40B4-BE49-F238E27FC236}">
                <a16:creationId xmlns:a16="http://schemas.microsoft.com/office/drawing/2014/main" id="{629D9C1E-A471-4334-8B0B-7A56674E348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a:latin typeface="Noto Sans JP"/>
                <a:ea typeface="Noto Sans JP"/>
                <a:cs typeface="Noto Sans JP"/>
              </a:defRPr>
            </a:pPr>
            <a:r>
              <a:rPr sz="850">
                <a:solidFill>
                  <a:srgbClr val="687386"/>
                </a:solidFill>
                <a:latin typeface="Noto Sans JP"/>
                <a:ea typeface="Noto Sans JP"/>
                <a:cs typeface="Noto Sans JP"/>
              </a:rPr>
              <a:t>1/20</a:t>
            </a:r>
            <a:endParaRPr sz="850"/>
          </a:p>
        </p:txBody>
      </p:sp>
      <p:sp>
        <p:nvSpPr>
          <p:cNvPr id="17" name="正方形/長方形 16">
            <a:extLst xmlns:a="http://schemas.openxmlformats.org/drawingml/2006/main">
              <a:ext uri="{FF2B5EF4-FFF2-40B4-BE49-F238E27FC236}">
                <a16:creationId xmlns:a16="http://schemas.microsoft.com/office/drawing/2014/main" id="{3705F59F-D147-417E-B9A0-7925331D4ABB}"/>
              </a:ext>
            </a:extLst>
          </p:cNvPr>
          <p:cNvSpPr>
            <a:spLocks xmlns:a="http://schemas.openxmlformats.org/drawingml/2006/main" noGrp="1"/>
          </p:cNvSpPr>
          <p:nvPr/>
        </p:nvSpPr>
        <p:spPr>
          <a:xfrm xmlns:a="http://schemas.openxmlformats.org/drawingml/2006/main">
            <a:off x="666750" y="5238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3月・11月の比較から、費用差の判断材料を整理する</a:t>
            </a:r>
          </a:p>
        </p:txBody>
      </p:sp>
      <p:sp>
        <p:nvSpPr>
          <p:cNvPr id="18" name="正方形/長方形 17">
            <a:extLst xmlns:a="http://schemas.openxmlformats.org/drawingml/2006/main">
              <a:ext uri="{FF2B5EF4-FFF2-40B4-BE49-F238E27FC236}">
                <a16:creationId xmlns:a16="http://schemas.microsoft.com/office/drawing/2014/main" id="{A42EBFBC-C08E-4622-A822-5E19D922486D}"/>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手法の優位性・最適性・季節全体への一般化は未検証</a:t>
            </a:r>
          </a:p>
        </p:txBody>
      </p:sp>
    </p:spTree>
    <p:extLst>
      <p:ext uri="{BB962C8B-B14F-4D97-AF65-F5344CB8AC3E}">
        <p14:creationId xmlns:p14="http://schemas.microsoft.com/office/powerpoint/2010/main" val="1064589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6F19E2-8F99-47BE-8EDD-78EA1BD88F4D}"/>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今回の問いと説明の流れ</a:t>
            </a:r>
          </a:p>
        </p:txBody>
      </p:sp>
      <p:sp>
        <p:nvSpPr>
          <p:cNvPr id="2" name="">
            <a:extLst xmlns:a="http://schemas.openxmlformats.org/drawingml/2006/main">
              <a:ext uri="{FF2B5EF4-FFF2-40B4-BE49-F238E27FC236}">
                <a16:creationId xmlns:a16="http://schemas.microsoft.com/office/drawing/2014/main" id="{4AB69FE6-256C-40E8-A020-A72995E7FAA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同じ便数を運行した週でも、購入電力量と費用に差が生じる</a:t>
            </a:r>
          </a:p>
        </p:txBody>
      </p:sp>
      <p:sp>
        <p:nvSpPr>
          <p:cNvPr id="3" name="">
            <a:extLst xmlns:a="http://schemas.openxmlformats.org/drawingml/2006/main">
              <a:ext uri="{FF2B5EF4-FFF2-40B4-BE49-F238E27FC236}">
                <a16:creationId xmlns:a16="http://schemas.microsoft.com/office/drawing/2014/main" id="{FEA89061-6945-4B6E-9DC5-1108EEA60CA8}"/>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購入した「量」と「時刻」を結び付けて、費用差を解釈する</a:t>
            </a:r>
          </a:p>
        </p:txBody>
      </p:sp>
      <p:sp>
        <p:nvSpPr>
          <p:cNvPr id="4" name="">
            <a:extLst xmlns:a="http://schemas.openxmlformats.org/drawingml/2006/main">
              <a:ext uri="{FF2B5EF4-FFF2-40B4-BE49-F238E27FC236}">
                <a16:creationId xmlns:a16="http://schemas.microsoft.com/office/drawing/2014/main" id="{D88F8F71-658B-468C-8411-4A5A41D999AB}"/>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対象は選択した各月1週。年間の効果や手法の優位性は追加検証が必要。</a:t>
            </a:r>
          </a:p>
        </p:txBody>
      </p:sp>
      <p:sp>
        <p:nvSpPr>
          <p:cNvPr id="5" name="">
            <a:extLst xmlns:a="http://schemas.openxmlformats.org/drawingml/2006/main">
              <a:ext uri="{FF2B5EF4-FFF2-40B4-BE49-F238E27FC236}">
                <a16:creationId xmlns:a16="http://schemas.microsoft.com/office/drawing/2014/main" id="{42ABC1B3-5756-4A2E-979D-7D07D0AEB7FC}"/>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6FD135A5-F5A4-4C96-8CC5-E6E8C9CF48F5}"/>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2/20</a:t>
            </a:r>
          </a:p>
        </p:txBody>
      </p:sp>
      <p:sp>
        <p:nvSpPr>
          <p:cNvPr id="7" name="">
            <a:extLst xmlns:a="http://schemas.openxmlformats.org/drawingml/2006/main">
              <a:ext uri="{FF2B5EF4-FFF2-40B4-BE49-F238E27FC236}">
                <a16:creationId xmlns:a16="http://schemas.microsoft.com/office/drawing/2014/main" id="{FE8D5595-D711-410F-9560-7201F9FDB810}"/>
              </a:ext>
            </a:extLst>
          </p:cNvPr>
          <p:cNvSpPr>
            <a:spLocks xmlns:a="http://schemas.openxmlformats.org/drawingml/2006/main" noGrp="1"/>
          </p:cNvSpPr>
          <p:nvPr/>
        </p:nvSpPr>
        <p:spPr>
          <a:xfrm xmlns:a="http://schemas.openxmlformats.org/drawingml/2006/main">
            <a:off x="685800" y="18192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B58"/>
                </a:solidFill>
                <a:latin typeface="Noto Sans JP"/>
                <a:ea typeface="Noto Sans JP"/>
                <a:cs typeface="Noto Sans JP"/>
              </a:defRPr>
            </a:pPr>
            <a:r>
              <a:rPr sz="2100" b="1">
                <a:solidFill>
                  <a:srgbClr val="202B58"/>
                </a:solidFill>
                <a:latin typeface="Noto Sans JP"/>
                <a:ea typeface="Noto Sans JP"/>
                <a:cs typeface="Noto Sans JP"/>
              </a:rPr>
              <a:t>研究の目的</a:t>
            </a:r>
          </a:p>
        </p:txBody>
      </p:sp>
      <p:sp>
        <p:nvSpPr>
          <p:cNvPr id="8" name="">
            <a:extLst xmlns:a="http://schemas.openxmlformats.org/drawingml/2006/main">
              <a:ext uri="{FF2B5EF4-FFF2-40B4-BE49-F238E27FC236}">
                <a16:creationId xmlns:a16="http://schemas.microsoft.com/office/drawing/2014/main" id="{7D96C25C-3A61-4996-BECD-854F6334253E}"/>
              </a:ext>
            </a:extLst>
          </p:cNvPr>
          <p:cNvSpPr>
            <a:spLocks xmlns:a="http://schemas.openxmlformats.org/drawingml/2006/main" noGrp="1"/>
          </p:cNvSpPr>
          <p:nvPr/>
        </p:nvSpPr>
        <p:spPr>
          <a:xfrm xmlns:a="http://schemas.openxmlformats.org/drawingml/2006/main">
            <a:off x="685800" y="23145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B58"/>
                </a:solidFill>
                <a:latin typeface="Noto Sans JP"/>
                <a:ea typeface="Noto Sans JP"/>
                <a:cs typeface="Noto Sans JP"/>
              </a:defRPr>
            </a:pPr>
            <a:r>
              <a:rPr sz="2025" b="0">
                <a:solidFill>
                  <a:srgbClr val="202B58"/>
                </a:solidFill>
                <a:latin typeface="Noto Sans JP"/>
                <a:ea typeface="Noto Sans JP"/>
                <a:cs typeface="Noto Sans JP"/>
              </a:rPr>
              <a:t>全便運行を守り、PV・蓄電池と混成バスの充電を計画する。</a:t>
            </a:r>
          </a:p>
        </p:txBody>
      </p:sp>
      <p:sp>
        <p:nvSpPr>
          <p:cNvPr id="9" name="">
            <a:extLst xmlns:a="http://schemas.openxmlformats.org/drawingml/2006/main">
              <a:ext uri="{FF2B5EF4-FFF2-40B4-BE49-F238E27FC236}">
                <a16:creationId xmlns:a16="http://schemas.microsoft.com/office/drawing/2014/main" id="{F61F682A-6AC9-4F51-9CAB-6DCD7398DBDC}"/>
              </a:ext>
            </a:extLst>
          </p:cNvPr>
          <p:cNvSpPr>
            <a:spLocks xmlns:a="http://schemas.openxmlformats.org/drawingml/2006/main" noGrp="1"/>
          </p:cNvSpPr>
          <p:nvPr/>
        </p:nvSpPr>
        <p:spPr>
          <a:xfrm xmlns:a="http://schemas.openxmlformats.org/drawingml/2006/main">
            <a:off x="685800" y="309562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購入電力の違い</a:t>
            </a:r>
          </a:p>
        </p:txBody>
      </p:sp>
      <p:sp>
        <p:nvSpPr>
          <p:cNvPr id="10" name="">
            <a:extLst xmlns:a="http://schemas.openxmlformats.org/drawingml/2006/main">
              <a:ext uri="{FF2B5EF4-FFF2-40B4-BE49-F238E27FC236}">
                <a16:creationId xmlns:a16="http://schemas.microsoft.com/office/drawing/2014/main" id="{1F8EC911-8F1F-40EC-97CE-F065CBCFECDA}"/>
              </a:ext>
            </a:extLst>
          </p:cNvPr>
          <p:cNvSpPr>
            <a:spLocks xmlns:a="http://schemas.openxmlformats.org/drawingml/2006/main" noGrp="1"/>
          </p:cNvSpPr>
          <p:nvPr/>
        </p:nvSpPr>
        <p:spPr>
          <a:xfrm xmlns:a="http://schemas.openxmlformats.org/drawingml/2006/main">
            <a:off x="685800" y="3619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週の積算量・最大電力・継続時間を比較する。</a:t>
            </a:r>
          </a:p>
        </p:txBody>
      </p:sp>
      <p:sp>
        <p:nvSpPr>
          <p:cNvPr id="11" name="">
            <a:extLst xmlns:a="http://schemas.openxmlformats.org/drawingml/2006/main">
              <a:ext uri="{FF2B5EF4-FFF2-40B4-BE49-F238E27FC236}">
                <a16:creationId xmlns:a16="http://schemas.microsoft.com/office/drawing/2014/main" id="{318E81EC-C86D-43D6-BF18-56A9160F6DCB}"/>
              </a:ext>
            </a:extLst>
          </p:cNvPr>
          <p:cNvSpPr>
            <a:spLocks xmlns:a="http://schemas.openxmlformats.org/drawingml/2006/main" noGrp="1"/>
          </p:cNvSpPr>
          <p:nvPr/>
        </p:nvSpPr>
        <p:spPr>
          <a:xfrm xmlns:a="http://schemas.openxmlformats.org/drawingml/2006/main">
            <a:off x="685800" y="44577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費用差の判断材料</a:t>
            </a:r>
          </a:p>
        </p:txBody>
      </p:sp>
      <p:sp>
        <p:nvSpPr>
          <p:cNvPr id="12" name="">
            <a:extLst xmlns:a="http://schemas.openxmlformats.org/drawingml/2006/main">
              <a:ext uri="{FF2B5EF4-FFF2-40B4-BE49-F238E27FC236}">
                <a16:creationId xmlns:a16="http://schemas.microsoft.com/office/drawing/2014/main" id="{7FCA2D22-F00B-46E8-9F48-87242C459E74}"/>
              </a:ext>
            </a:extLst>
          </p:cNvPr>
          <p:cNvSpPr>
            <a:spLocks xmlns:a="http://schemas.openxmlformats.org/drawingml/2006/main" noGrp="1"/>
          </p:cNvSpPr>
          <p:nvPr/>
        </p:nvSpPr>
        <p:spPr>
          <a:xfrm xmlns:a="http://schemas.openxmlformats.org/drawingml/2006/main">
            <a:off x="685800" y="4953000"/>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費用の内訳と係数依存性を示し、未検証の比較を明確にする。</a:t>
            </a:r>
          </a:p>
        </p:txBody>
      </p:sp>
    </p:spTree>
    <p:extLst>
      <p:ext uri="{BB962C8B-B14F-4D97-AF65-F5344CB8AC3E}">
        <p14:creationId xmlns:p14="http://schemas.microsoft.com/office/powerpoint/2010/main" val="11951324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705BFD-275C-4B84-8152-677453B3CB35}"/>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比較する週と共通条件</a:t>
            </a:r>
          </a:p>
        </p:txBody>
      </p:sp>
      <p:sp>
        <p:nvSpPr>
          <p:cNvPr id="2" name="">
            <a:extLst xmlns:a="http://schemas.openxmlformats.org/drawingml/2006/main">
              <a:ext uri="{FF2B5EF4-FFF2-40B4-BE49-F238E27FC236}">
                <a16:creationId xmlns:a16="http://schemas.microsoft.com/office/drawing/2014/main" id="{0B66A2A4-3664-4984-9C1F-DDF45465818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3月3〜9日と11月10〜16日／いずれも2025年、月曜から日曜</a:t>
            </a:r>
          </a:p>
        </p:txBody>
      </p:sp>
      <p:sp>
        <p:nvSpPr>
          <p:cNvPr id="3" name="">
            <a:extLst xmlns:a="http://schemas.openxmlformats.org/drawingml/2006/main">
              <a:ext uri="{FF2B5EF4-FFF2-40B4-BE49-F238E27FC236}">
                <a16:creationId xmlns:a16="http://schemas.microsoft.com/office/drawing/2014/main" id="{E14F68CA-C26D-4B38-B75D-3507ABEED45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曜日構成・便数・設備を揃え、両週とも物理・会計の検証を通過</a:t>
            </a:r>
          </a:p>
        </p:txBody>
      </p:sp>
      <p:sp>
        <p:nvSpPr>
          <p:cNvPr id="4" name="">
            <a:extLst xmlns:a="http://schemas.openxmlformats.org/drawingml/2006/main">
              <a:ext uri="{FF2B5EF4-FFF2-40B4-BE49-F238E27FC236}">
                <a16:creationId xmlns:a16="http://schemas.microsoft.com/office/drawing/2014/main" id="{C9966749-2E45-4E47-8E5F-0FF2E612CBAD}"/>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配車結果・PV・予測誤差は異なる。PVだけを変えた因果比較にはなっていない。</a:t>
            </a:r>
          </a:p>
        </p:txBody>
      </p:sp>
      <p:sp>
        <p:nvSpPr>
          <p:cNvPr id="5" name="">
            <a:extLst xmlns:a="http://schemas.openxmlformats.org/drawingml/2006/main">
              <a:ext uri="{FF2B5EF4-FFF2-40B4-BE49-F238E27FC236}">
                <a16:creationId xmlns:a16="http://schemas.microsoft.com/office/drawing/2014/main" id="{853730B8-07AF-46F8-BBCD-08ABDBF811D9}"/>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E87E6968-8CFE-4535-BA64-F0ECD675A8F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3/20</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2857500"/>
                <a:gridCol w="8191500"/>
              </a:tblGrid>
              <a:tr h="530679">
                <a:tc>
                  <a:txBody>
                    <a:bodyPr/>
                    <a:lstStyle/>
                    <a:p>
                      <a:r>
                        <a:rPr sz="1725" b="1">
                          <a:solidFill>
                            <a:srgbClr val="FFFFFF"/>
                          </a:solidFill>
                          <a:latin typeface="Noto Sans JP"/>
                          <a:ea typeface="Noto Sans JP"/>
                          <a:cs typeface="Noto Sans JP"/>
                        </a:rPr>
                        <a:t>項目</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両週の条件・結果</a:t>
                      </a:r>
                    </a:p>
                  </a:txBody>
                  <a:tcPr marL="91440" marR="91440" marT="45720" marB="45720">
                    <a:solidFill>
                      <a:srgbClr val="202B58"/>
                    </a:solidFill>
                  </a:tcPr>
                </a:tc>
              </a:tr>
              <a:tr h="530679">
                <a:tc>
                  <a:txBody>
                    <a:bodyPr/>
                    <a:lstStyle/>
                    <a:p>
                      <a:r>
                        <a:rPr sz="1725" b="0">
                          <a:solidFill>
                            <a:srgbClr val="202B58"/>
                          </a:solidFill>
                          <a:latin typeface="Noto Sans JP"/>
                          <a:ea typeface="Noto Sans JP"/>
                          <a:cs typeface="Noto Sans JP"/>
                        </a:rPr>
                        <a:t>運行</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平日5日・土曜1日・日曜1日／1,704便</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車両</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入力：BEV35台・ICE25台／使用：両週206台日</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充電器・PV</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90 kW × 10基／PV定格1,000 kW</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BESS</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容量6,000・初期3,000・下限1,200 kWh</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計算</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同じ固定版・探索規則／15分刻み、毎時更新</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独立検算</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未担当便・SOC・充電器等の物理違反0件</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95435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9C62B2-10AC-4AE5-AE59-D23114C69E02}"/>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電力量・平均電力・ピークの定義</a:t>
            </a:r>
          </a:p>
        </p:txBody>
      </p:sp>
      <p:sp>
        <p:nvSpPr>
          <p:cNvPr id="2" name="">
            <a:extLst xmlns:a="http://schemas.openxmlformats.org/drawingml/2006/main">
              <a:ext uri="{FF2B5EF4-FFF2-40B4-BE49-F238E27FC236}">
                <a16:creationId xmlns:a16="http://schemas.microsoft.com/office/drawing/2014/main" id="{F7E30BB5-B429-491C-A47A-530F12B58B26}"/>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前回P9右図は「最大15分平均受電電力」を表示していた</a:t>
            </a:r>
          </a:p>
        </p:txBody>
      </p:sp>
      <p:sp>
        <p:nvSpPr>
          <p:cNvPr id="3" name="">
            <a:extLst xmlns:a="http://schemas.openxmlformats.org/drawingml/2006/main">
              <a:ext uri="{FF2B5EF4-FFF2-40B4-BE49-F238E27FC236}">
                <a16:creationId xmlns:a16="http://schemas.microsoft.com/office/drawing/2014/main" id="{660DFDB0-E4AA-4043-8D3B-B071D377EE60}"/>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週平均は近いが、最大15分平均電力は3月が大きい</a:t>
            </a:r>
          </a:p>
        </p:txBody>
      </p:sp>
      <p:sp>
        <p:nvSpPr>
          <p:cNvPr id="4" name="">
            <a:extLst xmlns:a="http://schemas.openxmlformats.org/drawingml/2006/main">
              <a:ext uri="{FF2B5EF4-FFF2-40B4-BE49-F238E27FC236}">
                <a16:creationId xmlns:a16="http://schemas.microsoft.com/office/drawing/2014/main" id="{7426B9D0-4F9E-4EDA-A9AD-EE782792BDC3}"/>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「平均」の集計期間を明記する。受電は系統からの購入、単位はkW。</a:t>
            </a:r>
          </a:p>
        </p:txBody>
      </p:sp>
      <p:sp>
        <p:nvSpPr>
          <p:cNvPr id="5" name="">
            <a:extLst xmlns:a="http://schemas.openxmlformats.org/drawingml/2006/main">
              <a:ext uri="{FF2B5EF4-FFF2-40B4-BE49-F238E27FC236}">
                <a16:creationId xmlns:a16="http://schemas.microsoft.com/office/drawing/2014/main" id="{C3A48E1E-7F54-4588-8D7A-EDE540C489A3}"/>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85E05BE3-5086-4E8B-80B3-BD11B02F981B}"/>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4/20</a:t>
            </a:r>
          </a:p>
        </p:txBody>
      </p:sp>
      <p:graphicFrame>
        <p:nvGraphicFramePr>
          <p:cNvPr id="15" name=""/>
          <p:cNvGraphicFramePr/>
          <p:nvPr/>
        </p:nvGraphicFramePr>
        <p:xfrm>
          <a:off xmlns:a="http://schemas.openxmlformats.org/drawingml/2006/main" x="571500" y="1695450"/>
          <a:ext xmlns:a="http://schemas.openxmlformats.org/drawingml/2006/main" cx="11049000" cy="3238500"/>
        </p:xfrm>
        <a:graphic xmlns:a="http://schemas.openxmlformats.org/drawingml/2006/main">
          <a:graphicData uri="http://schemas.openxmlformats.org/drawingml/2006/table">
            <a:tbl>
              <a:tblPr/>
              <a:tblGrid>
                <a:gridCol w="2428875"/>
                <a:gridCol w="4238625"/>
                <a:gridCol w="2190750"/>
                <a:gridCol w="2190750"/>
              </a:tblGrid>
              <a:tr h="647700">
                <a:tc>
                  <a:txBody>
                    <a:bodyPr/>
                    <a:lstStyle/>
                    <a:p>
                      <a:r>
                        <a:rPr sz="1725" b="1">
                          <a:solidFill>
                            <a:srgbClr val="FFFFFF"/>
                          </a:solidFill>
                          <a:latin typeface="Noto Sans JP"/>
                          <a:ea typeface="Noto Sans JP"/>
                          <a:cs typeface="Noto Sans JP"/>
                        </a:rPr>
                        <a:t>指標</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定義</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11月</a:t>
                      </a:r>
                    </a:p>
                  </a:txBody>
                  <a:tcPr marL="91440" marR="91440" marT="45720" marB="45720">
                    <a:solidFill>
                      <a:srgbClr val="202B58"/>
                    </a:solidFill>
                  </a:tcPr>
                </a:tc>
              </a:tr>
              <a:tr h="647700">
                <a:tc>
                  <a:txBody>
                    <a:bodyPr/>
                    <a:lstStyle/>
                    <a:p>
                      <a:r>
                        <a:rPr sz="1725" b="0">
                          <a:solidFill>
                            <a:srgbClr val="202B58"/>
                          </a:solidFill>
                          <a:latin typeface="Noto Sans JP"/>
                          <a:ea typeface="Noto Sans JP"/>
                          <a:cs typeface="Noto Sans JP"/>
                        </a:rPr>
                        <a:t>週間購入電力量</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15分電力 × 0.25 h の合計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7,794.1 kWh</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7,302.4 kWh</a:t>
                      </a:r>
                    </a:p>
                  </a:txBody>
                  <a:tcPr marL="91440" marR="91440" marT="45720" marB="45720">
                    <a:solidFill>
                      <a:srgbClr val="F1F5F8"/>
                    </a:solidFill>
                  </a:tcPr>
                </a:tc>
              </a:tr>
              <a:tr h="647700">
                <a:tc>
                  <a:txBody>
                    <a:bodyPr/>
                    <a:lstStyle/>
                    <a:p>
                      <a:r>
                        <a:rPr sz="1725" b="0">
                          <a:solidFill>
                            <a:srgbClr val="202B58"/>
                          </a:solidFill>
                          <a:latin typeface="Noto Sans JP"/>
                          <a:ea typeface="Noto Sans JP"/>
                          <a:cs typeface="Noto Sans JP"/>
                        </a:rPr>
                        <a:t>週間平均電力</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週間購入電力量 ÷ 168 h</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46.4 kW</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43.5 kW</a:t>
                      </a:r>
                    </a:p>
                  </a:txBody>
                  <a:tcPr marL="91440" marR="91440" marT="45720" marB="45720">
                    <a:solidFill>
                      <a:srgbClr val="FFFFFF"/>
                    </a:solidFill>
                  </a:tcPr>
                </a:tc>
              </a:tr>
              <a:tr h="647700">
                <a:tc>
                  <a:txBody>
                    <a:bodyPr/>
                    <a:lstStyle/>
                    <a:p>
                      <a:r>
                        <a:rPr sz="1725" b="0">
                          <a:solidFill>
                            <a:srgbClr val="202B58"/>
                          </a:solidFill>
                          <a:latin typeface="Noto Sans JP"/>
                          <a:ea typeface="Noto Sans JP"/>
                          <a:cs typeface="Noto Sans JP"/>
                        </a:rPr>
                        <a:t>受電ピーク</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最大の15分平均電力</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849.4 kW</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234.8 kW</a:t>
                      </a:r>
                    </a:p>
                  </a:txBody>
                  <a:tcPr marL="91440" marR="91440" marT="45720" marB="45720">
                    <a:solidFill>
                      <a:srgbClr val="F1F5F8"/>
                    </a:solidFill>
                  </a:tcPr>
                </a:tc>
              </a:tr>
              <a:tr h="647700">
                <a:tc>
                  <a:txBody>
                    <a:bodyPr/>
                    <a:lstStyle/>
                    <a:p>
                      <a:r>
                        <a:rPr sz="1725" b="0">
                          <a:solidFill>
                            <a:srgbClr val="202B58"/>
                          </a:solidFill>
                          <a:latin typeface="Noto Sans JP"/>
                          <a:ea typeface="Noto Sans JP"/>
                          <a:cs typeface="Noto Sans JP"/>
                        </a:rPr>
                        <a:t>購入の継続時間</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 kWを超えた区間の合計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51.75 h</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50.75 h</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34F8C48-8F19-4E2B-ADF6-C59E9C5FA753}"/>
              </a:ext>
            </a:extLst>
          </p:cNvPr>
          <p:cNvSpPr>
            <a:spLocks xmlns:a="http://schemas.openxmlformats.org/drawingml/2006/main" noGrp="1"/>
          </p:cNvSpPr>
          <p:nvPr/>
        </p:nvSpPr>
        <p:spPr>
          <a:xfrm xmlns:a="http://schemas.openxmlformats.org/drawingml/2006/main">
            <a:off x="685800" y="5133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200 kWはモデルの契約基準。超過購入を料金付きで許容している。</a:t>
            </a:r>
          </a:p>
        </p:txBody>
      </p:sp>
    </p:spTree>
    <p:extLst>
      <p:ext uri="{BB962C8B-B14F-4D97-AF65-F5344CB8AC3E}">
        <p14:creationId xmlns:p14="http://schemas.microsoft.com/office/powerpoint/2010/main" val="4649763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CCF16E-F9E2-497B-84DF-65E500683BB0}"/>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12週における3月と11月の位置</a:t>
            </a:r>
          </a:p>
        </p:txBody>
      </p:sp>
      <p:sp>
        <p:nvSpPr>
          <p:cNvPr id="2" name="">
            <a:extLst xmlns:a="http://schemas.openxmlformats.org/drawingml/2006/main">
              <a:ext uri="{FF2B5EF4-FFF2-40B4-BE49-F238E27FC236}">
                <a16:creationId xmlns:a16="http://schemas.microsoft.com/office/drawing/2014/main" id="{EAC97387-C338-4391-ADD9-A15851DDA26B}"/>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3月と11月は購入量が多い週。ピークの大きさは異なる</a:t>
            </a:r>
          </a:p>
        </p:txBody>
      </p:sp>
      <p:sp>
        <p:nvSpPr>
          <p:cNvPr id="3" name="">
            <a:extLst xmlns:a="http://schemas.openxmlformats.org/drawingml/2006/main">
              <a:ext uri="{FF2B5EF4-FFF2-40B4-BE49-F238E27FC236}">
                <a16:creationId xmlns:a16="http://schemas.microsoft.com/office/drawing/2014/main" id="{B2D722ED-0DF5-47E0-84A4-21C88CB3B6E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3月7.79 MWh・849 kWに対し、11月7.30 MWh・235 kW</a:t>
            </a:r>
          </a:p>
        </p:txBody>
      </p:sp>
      <p:sp>
        <p:nvSpPr>
          <p:cNvPr id="4" name="">
            <a:extLst xmlns:a="http://schemas.openxmlformats.org/drawingml/2006/main">
              <a:ext uri="{FF2B5EF4-FFF2-40B4-BE49-F238E27FC236}">
                <a16:creationId xmlns:a16="http://schemas.microsoft.com/office/drawing/2014/main" id="{A5902F2A-CAAD-490F-855D-07A9578A009D}"/>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月1週の結果。月平均・季節全体の代表値とは扱わない。</a:t>
            </a:r>
          </a:p>
        </p:txBody>
      </p:sp>
      <p:sp>
        <p:nvSpPr>
          <p:cNvPr id="5" name="">
            <a:extLst xmlns:a="http://schemas.openxmlformats.org/drawingml/2006/main">
              <a:ext uri="{FF2B5EF4-FFF2-40B4-BE49-F238E27FC236}">
                <a16:creationId xmlns:a16="http://schemas.microsoft.com/office/drawing/2014/main" id="{CD144CE2-4788-4A9A-BE25-9340336BC436}"/>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61F52B5F-239F-430A-A5CD-A2BAA72FFCA7}"/>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5/20</a:t>
            </a:r>
          </a:p>
        </p:txBody>
      </p:sp>
      <p:graphicFrame>
        <p:nvGraphicFramePr>
          <p:cNvPr id="15" name="Chart"/>
          <p:cNvGraphicFramePr/>
          <p:nvPr/>
        </p:nvGraphicFramePr>
        <p:xfrm>
          <a:off xmlns:a="http://schemas.openxmlformats.org/drawingml/2006/main" x="571500"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1c6c8aa10a494564"/>
          </a:graphicData>
        </a:graphic>
      </p:graphicFrame>
      <p:graphicFrame>
        <p:nvGraphicFramePr>
          <p:cNvPr id="16" name="Chart"/>
          <p:cNvGraphicFramePr/>
          <p:nvPr/>
        </p:nvGraphicFramePr>
        <p:xfrm>
          <a:off xmlns:a="http://schemas.openxmlformats.org/drawingml/2006/main" x="6238875"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85b91e7965104cb6"/>
          </a:graphicData>
        </a:graphic>
      </p:graphicFrame>
    </p:spTree>
    <p:extLst>
      <p:ext uri="{BB962C8B-B14F-4D97-AF65-F5344CB8AC3E}">
        <p14:creationId xmlns:p14="http://schemas.microsoft.com/office/powerpoint/2010/main" val="16830115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49BEC8-8655-4E2D-A98D-9D0633DC53F9}"/>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購入電力の15分時系列</a:t>
            </a:r>
          </a:p>
        </p:txBody>
      </p:sp>
      <p:sp>
        <p:nvSpPr>
          <p:cNvPr id="2" name="">
            <a:extLst xmlns:a="http://schemas.openxmlformats.org/drawingml/2006/main">
              <a:ext uri="{FF2B5EF4-FFF2-40B4-BE49-F238E27FC236}">
                <a16:creationId xmlns:a16="http://schemas.microsoft.com/office/drawing/2014/main" id="{31B62A2E-847A-43A8-8E50-9F01DB262A22}"/>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同じ縦軸・横軸で比較／200 kWは契約基準</a:t>
            </a:r>
          </a:p>
        </p:txBody>
      </p:sp>
      <p:sp>
        <p:nvSpPr>
          <p:cNvPr id="3" name="">
            <a:extLst xmlns:a="http://schemas.openxmlformats.org/drawingml/2006/main">
              <a:ext uri="{FF2B5EF4-FFF2-40B4-BE49-F238E27FC236}">
                <a16:creationId xmlns:a16="http://schemas.microsoft.com/office/drawing/2014/main" id="{37E04CA6-D82B-4DCF-964D-C1D9B2651B1F}"/>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3月は週初めに鋭いピーク。11月は200 kW付近の購入が続く</a:t>
            </a:r>
          </a:p>
        </p:txBody>
      </p:sp>
      <p:sp>
        <p:nvSpPr>
          <p:cNvPr id="4" name="">
            <a:extLst xmlns:a="http://schemas.openxmlformats.org/drawingml/2006/main">
              <a:ext uri="{FF2B5EF4-FFF2-40B4-BE49-F238E27FC236}">
                <a16:creationId xmlns:a16="http://schemas.microsoft.com/office/drawing/2014/main" id="{6D1D40DA-BC7B-4C87-AF5C-758C7CF17A56}"/>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各15分の平均値を階段状に表示。1時間平均でピークを平滑化していない。</a:t>
            </a:r>
          </a:p>
        </p:txBody>
      </p:sp>
      <p:sp>
        <p:nvSpPr>
          <p:cNvPr id="5" name="">
            <a:extLst xmlns:a="http://schemas.openxmlformats.org/drawingml/2006/main">
              <a:ext uri="{FF2B5EF4-FFF2-40B4-BE49-F238E27FC236}">
                <a16:creationId xmlns:a16="http://schemas.microsoft.com/office/drawing/2014/main" id="{FE8C45D4-4130-4AD2-8D08-B5E29CF7D027}"/>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D82B5BED-B083-4469-AD74-014C6BF6FB9D}"/>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6/20</a:t>
            </a:r>
          </a:p>
        </p:txBody>
      </p:sp>
      <p:graphicFrame>
        <p:nvGraphicFramePr>
          <p:cNvPr id="14" name="Chart"/>
          <p:cNvGraphicFramePr/>
          <p:nvPr/>
        </p:nvGraphicFramePr>
        <p:xfrm>
          <a:off xmlns:a="http://schemas.openxmlformats.org/drawingml/2006/main" x="571500" y="1657350"/>
          <a:ext xmlns:a="http://schemas.openxmlformats.org/drawingml/2006/main" cx="11049000" cy="3838575"/>
        </p:xfrm>
        <a:graphic xmlns:a="http://schemas.openxmlformats.org/drawingml/2006/main">
          <a:graphicData uri="http://schemas.openxmlformats.org/drawingml/2006/chart">
            <c:chart xmlns:r="http://schemas.openxmlformats.org/officeDocument/2006/relationships" xmlns:c="http://schemas.openxmlformats.org/drawingml/2006/chart" r:id="Rfabbb56f926144f5"/>
          </a:graphicData>
        </a:graphic>
      </p:graphicFrame>
    </p:spTree>
    <p:extLst>
      <p:ext uri="{BB962C8B-B14F-4D97-AF65-F5344CB8AC3E}">
        <p14:creationId xmlns:p14="http://schemas.microsoft.com/office/powerpoint/2010/main" val="9869607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1EFAA5-2B41-404B-A5E4-B06CB94C0601}"/>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11月の購入は7日すべてに発生</a:t>
            </a:r>
          </a:p>
        </p:txBody>
      </p:sp>
      <p:sp>
        <p:nvSpPr>
          <p:cNvPr id="2" name="">
            <a:extLst xmlns:a="http://schemas.openxmlformats.org/drawingml/2006/main">
              <a:ext uri="{FF2B5EF4-FFF2-40B4-BE49-F238E27FC236}">
                <a16:creationId xmlns:a16="http://schemas.microsoft.com/office/drawing/2014/main" id="{2AFDAE81-6C77-4505-8CD7-19AE32E2670A}"/>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週間7,302 kWhのうち、最大の1日でも20.5%にとどまる</a:t>
            </a:r>
          </a:p>
        </p:txBody>
      </p:sp>
      <p:sp>
        <p:nvSpPr>
          <p:cNvPr id="3" name="">
            <a:extLst xmlns:a="http://schemas.openxmlformats.org/drawingml/2006/main">
              <a:ext uri="{FF2B5EF4-FFF2-40B4-BE49-F238E27FC236}">
                <a16:creationId xmlns:a16="http://schemas.microsoft.com/office/drawing/2014/main" id="{126B2830-28B6-47CA-8F61-4F7B32DAFF7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11月の購入電力量は、一度の短い購入だけでは説明できない</a:t>
            </a:r>
          </a:p>
        </p:txBody>
      </p:sp>
      <p:sp>
        <p:nvSpPr>
          <p:cNvPr id="4" name="">
            <a:extLst xmlns:a="http://schemas.openxmlformats.org/drawingml/2006/main">
              <a:ext uri="{FF2B5EF4-FFF2-40B4-BE49-F238E27FC236}">
                <a16:creationId xmlns:a16="http://schemas.microsoft.com/office/drawing/2014/main" id="{AB0FE69F-185E-4CB4-8DA7-EA35A097D781}"/>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継続時間は受電 &gt; 1 kWで定義。微小な数値誤差を購入時間へ加えていない。</a:t>
            </a:r>
          </a:p>
        </p:txBody>
      </p:sp>
      <p:sp>
        <p:nvSpPr>
          <p:cNvPr id="5" name="">
            <a:extLst xmlns:a="http://schemas.openxmlformats.org/drawingml/2006/main">
              <a:ext uri="{FF2B5EF4-FFF2-40B4-BE49-F238E27FC236}">
                <a16:creationId xmlns:a16="http://schemas.microsoft.com/office/drawing/2014/main" id="{9DACBAC5-27B3-4D77-A681-A970512F56A3}"/>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938E11CB-142F-474D-A879-3D77FEB5A844}"/>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7/20</a:t>
            </a:r>
          </a:p>
        </p:txBody>
      </p:sp>
      <p:graphicFrame>
        <p:nvGraphicFramePr>
          <p:cNvPr id="15" name="Chart"/>
          <p:cNvGraphicFramePr/>
          <p:nvPr/>
        </p:nvGraphicFramePr>
        <p:xfrm>
          <a:off xmlns:a="http://schemas.openxmlformats.org/drawingml/2006/main" x="571500" y="1695450"/>
          <a:ext xmlns:a="http://schemas.openxmlformats.org/drawingml/2006/main" cx="6810375" cy="3714750"/>
        </p:xfrm>
        <a:graphic xmlns:a="http://schemas.openxmlformats.org/drawingml/2006/main">
          <a:graphicData uri="http://schemas.openxmlformats.org/drawingml/2006/chart">
            <c:chart xmlns:r="http://schemas.openxmlformats.org/officeDocument/2006/relationships" xmlns:c="http://schemas.openxmlformats.org/drawingml/2006/chart" r:id="R1c5b79575dfd4717"/>
          </a:graphicData>
        </a:graphic>
      </p:graphicFrame>
      <p:graphicFrame>
        <p:nvGraphicFramePr>
          <p:cNvPr id="16" name=""/>
          <p:cNvGraphicFramePr/>
          <p:nvPr/>
        </p:nvGraphicFramePr>
        <p:xfrm>
          <a:off xmlns:a="http://schemas.openxmlformats.org/drawingml/2006/main" x="7572375" y="2038350"/>
          <a:ext xmlns:a="http://schemas.openxmlformats.org/drawingml/2006/main" cx="4048125" cy="2943225"/>
        </p:xfrm>
        <a:graphic xmlns:a="http://schemas.openxmlformats.org/drawingml/2006/main">
          <a:graphicData uri="http://schemas.openxmlformats.org/drawingml/2006/table">
            <a:tbl>
              <a:tblPr/>
              <a:tblGrid>
                <a:gridCol w="1952625"/>
                <a:gridCol w="1047750"/>
                <a:gridCol w="1047750"/>
              </a:tblGrid>
              <a:tr h="735806">
                <a:tc>
                  <a:txBody>
                    <a:bodyPr/>
                    <a:lstStyle/>
                    <a:p>
                      <a:r>
                        <a:rPr sz="1575" b="1">
                          <a:solidFill>
                            <a:srgbClr val="FFFFFF"/>
                          </a:solidFill>
                          <a:latin typeface="Noto Sans JP"/>
                          <a:ea typeface="Noto Sans JP"/>
                          <a:cs typeface="Noto Sans JP"/>
                        </a:rPr>
                        <a:t>時間分布</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11月</a:t>
                      </a:r>
                    </a:p>
                  </a:txBody>
                  <a:tcPr marL="91440" marR="91440" marT="45720" marB="45720">
                    <a:solidFill>
                      <a:srgbClr val="202B58"/>
                    </a:solidFill>
                  </a:tcPr>
                </a:tc>
              </a:tr>
              <a:tr h="735806">
                <a:tc>
                  <a:txBody>
                    <a:bodyPr/>
                    <a:lstStyle/>
                    <a:p>
                      <a:r>
                        <a:rPr sz="1575" b="0">
                          <a:solidFill>
                            <a:srgbClr val="202B58"/>
                          </a:solidFill>
                          <a:latin typeface="Noto Sans JP"/>
                          <a:ea typeface="Noto Sans JP"/>
                          <a:cs typeface="Noto Sans JP"/>
                        </a:rPr>
                        <a:t>購入時間 [h]</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51.75</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50.75</a:t>
                      </a:r>
                    </a:p>
                  </a:txBody>
                  <a:tcPr marL="91440" marR="91440" marT="45720" marB="45720">
                    <a:solidFill>
                      <a:srgbClr val="F1F5F8"/>
                    </a:solidFill>
                  </a:tcPr>
                </a:tc>
              </a:tr>
              <a:tr h="735806">
                <a:tc>
                  <a:txBody>
                    <a:bodyPr/>
                    <a:lstStyle/>
                    <a:p>
                      <a:r>
                        <a:rPr sz="1575" b="0">
                          <a:solidFill>
                            <a:srgbClr val="202B58"/>
                          </a:solidFill>
                          <a:latin typeface="Noto Sans JP"/>
                          <a:ea typeface="Noto Sans JP"/>
                          <a:cs typeface="Noto Sans JP"/>
                        </a:rPr>
                        <a:t>最長連続 [h]</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9.75</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9.75</a:t>
                      </a:r>
                    </a:p>
                  </a:txBody>
                  <a:tcPr marL="91440" marR="91440" marT="45720" marB="45720">
                    <a:solidFill>
                      <a:srgbClr val="FFFFFF"/>
                    </a:solidFill>
                  </a:tcPr>
                </a:tc>
              </a:tr>
              <a:tr h="735806">
                <a:tc>
                  <a:txBody>
                    <a:bodyPr/>
                    <a:lstStyle/>
                    <a:p>
                      <a:r>
                        <a:rPr sz="1575" b="0">
                          <a:solidFill>
                            <a:srgbClr val="202B58"/>
                          </a:solidFill>
                          <a:latin typeface="Noto Sans JP"/>
                          <a:ea typeface="Noto Sans JP"/>
                          <a:cs typeface="Noto Sans JP"/>
                        </a:rPr>
                        <a:t>最大4区間の</a:t>
                      </a:r>
                    </a:p>
                    <a:p>
                      <a:r>
                        <a:rPr sz="1575" b="0">
                          <a:solidFill>
                            <a:srgbClr val="202B58"/>
                          </a:solidFill>
                          <a:latin typeface="Noto Sans JP"/>
                          <a:ea typeface="Noto Sans JP"/>
                          <a:cs typeface="Noto Sans JP"/>
                        </a:rPr>
                        <a:t>購入量割合</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9.5%</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3.2%</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222008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F9B43F-0588-45B1-978D-414D7FBB6B36}"/>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契約基準を超えた時間の拡大図</a:t>
            </a:r>
          </a:p>
        </p:txBody>
      </p:sp>
      <p:sp>
        <p:nvSpPr>
          <p:cNvPr id="2" name="">
            <a:extLst xmlns:a="http://schemas.openxmlformats.org/drawingml/2006/main">
              <a:ext uri="{FF2B5EF4-FFF2-40B4-BE49-F238E27FC236}">
                <a16:creationId xmlns:a16="http://schemas.microsoft.com/office/drawing/2014/main" id="{5ADD1032-1B88-4C92-8417-E13EB9D9F4A4}"/>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超過量は200 kWより上の面積。両図とも縦軸0〜900 kW</a:t>
            </a:r>
          </a:p>
        </p:txBody>
      </p:sp>
      <p:sp>
        <p:nvSpPr>
          <p:cNvPr id="3" name="">
            <a:extLst xmlns:a="http://schemas.openxmlformats.org/drawingml/2006/main">
              <a:ext uri="{FF2B5EF4-FFF2-40B4-BE49-F238E27FC236}">
                <a16:creationId xmlns:a16="http://schemas.microsoft.com/office/drawing/2014/main" id="{152C44D8-499D-41D0-8290-5540C7ACD3EE}"/>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3月は短時間の大幅超過、11月は一晩の小幅超過</a:t>
            </a:r>
          </a:p>
        </p:txBody>
      </p:sp>
      <p:sp>
        <p:nvSpPr>
          <p:cNvPr id="4" name="">
            <a:extLst xmlns:a="http://schemas.openxmlformats.org/drawingml/2006/main">
              <a:ext uri="{FF2B5EF4-FFF2-40B4-BE49-F238E27FC236}">
                <a16:creationId xmlns:a16="http://schemas.microsoft.com/office/drawing/2014/main" id="{733FE265-729C-437A-BB54-DD449F251F10}"/>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11月の超過は11/13夜〜11/14朝に集中。週間購入電力全体とは区別する。</a:t>
            </a:r>
          </a:p>
        </p:txBody>
      </p:sp>
      <p:sp>
        <p:nvSpPr>
          <p:cNvPr id="5" name="">
            <a:extLst xmlns:a="http://schemas.openxmlformats.org/drawingml/2006/main">
              <a:ext uri="{FF2B5EF4-FFF2-40B4-BE49-F238E27FC236}">
                <a16:creationId xmlns:a16="http://schemas.microsoft.com/office/drawing/2014/main" id="{215EFB65-33AA-4DE8-89A8-F097FA92A5B2}"/>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7B8983B1-E2C8-4DCC-91BD-6B1B1D6AAB69}"/>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8/20</a:t>
            </a:r>
          </a:p>
        </p:txBody>
      </p:sp>
      <p:graphicFrame>
        <p:nvGraphicFramePr>
          <p:cNvPr id="16" name="Chart"/>
          <p:cNvGraphicFramePr/>
          <p:nvPr/>
        </p:nvGraphicFramePr>
        <p:xfrm>
          <a:off xmlns:a="http://schemas.openxmlformats.org/drawingml/2006/main" x="571500" y="1695450"/>
          <a:ext xmlns:a="http://schemas.openxmlformats.org/drawingml/2006/main" cx="5381625" cy="2914650"/>
        </p:xfrm>
        <a:graphic xmlns:a="http://schemas.openxmlformats.org/drawingml/2006/main">
          <a:graphicData uri="http://schemas.openxmlformats.org/drawingml/2006/chart">
            <c:chart xmlns:r="http://schemas.openxmlformats.org/officeDocument/2006/relationships" xmlns:c="http://schemas.openxmlformats.org/drawingml/2006/chart" r:id="R6675462cf32b46b9"/>
          </a:graphicData>
        </a:graphic>
      </p:graphicFrame>
      <p:graphicFrame>
        <p:nvGraphicFramePr>
          <p:cNvPr id="17" name="Chart"/>
          <p:cNvGraphicFramePr/>
          <p:nvPr/>
        </p:nvGraphicFramePr>
        <p:xfrm>
          <a:off xmlns:a="http://schemas.openxmlformats.org/drawingml/2006/main" x="6238875" y="1695450"/>
          <a:ext xmlns:a="http://schemas.openxmlformats.org/drawingml/2006/main" cx="5381625" cy="2914650"/>
        </p:xfrm>
        <a:graphic xmlns:a="http://schemas.openxmlformats.org/drawingml/2006/main">
          <a:graphicData uri="http://schemas.openxmlformats.org/drawingml/2006/chart">
            <c:chart xmlns:r="http://schemas.openxmlformats.org/officeDocument/2006/relationships" xmlns:c="http://schemas.openxmlformats.org/drawingml/2006/chart" r:id="R9e393434e00f4c5a"/>
          </a:graphicData>
        </a:graphic>
      </p:graphicFrame>
      <p:graphicFrame>
        <p:nvGraphicFramePr>
          <p:cNvPr id="18" name=""/>
          <p:cNvGraphicFramePr/>
          <p:nvPr/>
        </p:nvGraphicFramePr>
        <p:xfrm>
          <a:off xmlns:a="http://schemas.openxmlformats.org/drawingml/2006/main" x="571500" y="4695825"/>
          <a:ext xmlns:a="http://schemas.openxmlformats.org/drawingml/2006/main" cx="11049000" cy="762000"/>
        </p:xfrm>
        <a:graphic xmlns:a="http://schemas.openxmlformats.org/drawingml/2006/main">
          <a:graphicData uri="http://schemas.openxmlformats.org/drawingml/2006/table">
            <a:tbl>
              <a:tblPr/>
              <a:tblGrid>
                <a:gridCol w="2857500"/>
                <a:gridCol w="4095750"/>
                <a:gridCol w="4095750"/>
              </a:tblGrid>
              <a:tr h="381000">
                <a:tc>
                  <a:txBody>
                    <a:bodyPr/>
                    <a:lstStyle/>
                    <a:p>
                      <a:r>
                        <a:rPr sz="1650" b="1">
                          <a:solidFill>
                            <a:srgbClr val="FFFFFF"/>
                          </a:solidFill>
                          <a:latin typeface="Noto Sans JP"/>
                          <a:ea typeface="Noto Sans JP"/>
                          <a:cs typeface="Noto Sans JP"/>
                        </a:rPr>
                        <a:t>週間の超過</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11月</a:t>
                      </a:r>
                    </a:p>
                  </a:txBody>
                  <a:tcPr marL="91440" marR="91440" marT="45720" marB="45720">
                    <a:solidFill>
                      <a:srgbClr val="202B58"/>
                    </a:solidFill>
                  </a:tcPr>
                </a:tc>
              </a:tr>
              <a:tr h="381000">
                <a:tc>
                  <a:txBody>
                    <a:bodyPr/>
                    <a:lstStyle/>
                    <a:p>
                      <a:r>
                        <a:rPr sz="1650" b="0">
                          <a:solidFill>
                            <a:srgbClr val="202B58"/>
                          </a:solidFill>
                          <a:latin typeface="Noto Sans JP"/>
                          <a:ea typeface="Noto Sans JP"/>
                          <a:cs typeface="Noto Sans JP"/>
                        </a:rPr>
                        <a:t>時間／超過電力量</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1.25 h ／ 540.5 kWh</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3.75 h ／ 92.0 kWh</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4565381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BE66F8-B41E-4B62-8EBF-4C1CE0B03EA4}"/>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ピーク時の充電と電源</a:t>
            </a:r>
          </a:p>
        </p:txBody>
      </p:sp>
      <p:sp>
        <p:nvSpPr>
          <p:cNvPr id="2" name="">
            <a:extLst xmlns:a="http://schemas.openxmlformats.org/drawingml/2006/main">
              <a:ext uri="{FF2B5EF4-FFF2-40B4-BE49-F238E27FC236}">
                <a16:creationId xmlns:a16="http://schemas.microsoft.com/office/drawing/2014/main" id="{27E992B1-23C1-4C43-AA61-C2BC67CE308B}"/>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系統購入で必要な充電量を満たしており、未担当便は0件</a:t>
            </a:r>
          </a:p>
        </p:txBody>
      </p:sp>
      <p:sp>
        <p:nvSpPr>
          <p:cNvPr id="3" name="">
            <a:extLst xmlns:a="http://schemas.openxmlformats.org/drawingml/2006/main">
              <a:ext uri="{FF2B5EF4-FFF2-40B4-BE49-F238E27FC236}">
                <a16:creationId xmlns:a16="http://schemas.microsoft.com/office/drawing/2014/main" id="{E6FA527A-4985-4B63-9DAE-2B6909FB6BE6}"/>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BESSに残量はあるが放電は0。購入を不可避とする原因は未特定</a:t>
            </a:r>
          </a:p>
        </p:txBody>
      </p:sp>
      <p:sp>
        <p:nvSpPr>
          <p:cNvPr id="4" name="">
            <a:extLst xmlns:a="http://schemas.openxmlformats.org/drawingml/2006/main">
              <a:ext uri="{FF2B5EF4-FFF2-40B4-BE49-F238E27FC236}">
                <a16:creationId xmlns:a16="http://schemas.microsoft.com/office/drawing/2014/main" id="{CC32994F-B4E2-487B-8B05-AA1DC1FC7F5A}"/>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残量だけでは放電の可否を断定できない。将来の運行制約や探索の影響を要検証。</a:t>
            </a:r>
          </a:p>
        </p:txBody>
      </p:sp>
      <p:sp>
        <p:nvSpPr>
          <p:cNvPr id="5" name="">
            <a:extLst xmlns:a="http://schemas.openxmlformats.org/drawingml/2006/main">
              <a:ext uri="{FF2B5EF4-FFF2-40B4-BE49-F238E27FC236}">
                <a16:creationId xmlns:a16="http://schemas.microsoft.com/office/drawing/2014/main" id="{D2351BA6-6DC8-4DD9-B522-E9DA02EBFAFF}"/>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6D12C78F-E265-4192-BF7E-B8C182476FF9}"/>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9/20</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3905250"/>
                <a:gridCol w="3571875"/>
                <a:gridCol w="3571875"/>
              </a:tblGrid>
              <a:tr h="530679">
                <a:tc>
                  <a:txBody>
                    <a:bodyPr/>
                    <a:lstStyle/>
                    <a:p>
                      <a:r>
                        <a:rPr sz="1650" b="1">
                          <a:solidFill>
                            <a:srgbClr val="FFFFFF"/>
                          </a:solidFill>
                          <a:latin typeface="Noto Sans JP"/>
                          <a:ea typeface="Noto Sans JP"/>
                          <a:cs typeface="Noto Sans JP"/>
                        </a:rPr>
                        <a:t>15分区間の実行値</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3月の最大時</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11月の最大時の一例</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時刻</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3/3 01:15〜01:30</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11/14 00:30〜00:45</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系統受電＝バス充電</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849.4 kW</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234.8 kW</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正電力で充電中のバス</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10台</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4台</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PV供給／BESS放電</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0.0 ／ 0.0 kW</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0.0 ／ 0.0 kW</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BESS残量（区間開始）</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3,000.0 kWh</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2,096.7 kWh</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BESS残量の下限</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1,200 kWh</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1,200 kWh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822093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31E654-ED17-445E-9EFB-5595188FAF44}"/>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週間費用差の内訳</a:t>
            </a:r>
          </a:p>
        </p:txBody>
      </p:sp>
      <p:sp>
        <p:nvSpPr>
          <p:cNvPr id="2" name="">
            <a:extLst xmlns:a="http://schemas.openxmlformats.org/drawingml/2006/main">
              <a:ext uri="{FF2B5EF4-FFF2-40B4-BE49-F238E27FC236}">
                <a16:creationId xmlns:a16="http://schemas.microsoft.com/office/drawing/2014/main" id="{52543A06-701A-4395-A8D0-1F0BD2381C46}"/>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3月466.45万円、11月442.46万円／差は23.99万円（表示は丸め値）</a:t>
            </a:r>
          </a:p>
        </p:txBody>
      </p:sp>
      <p:sp>
        <p:nvSpPr>
          <p:cNvPr id="3" name="">
            <a:extLst xmlns:a="http://schemas.openxmlformats.org/drawingml/2006/main">
              <a:ext uri="{FF2B5EF4-FFF2-40B4-BE49-F238E27FC236}">
                <a16:creationId xmlns:a16="http://schemas.microsoft.com/office/drawing/2014/main" id="{0B49BA61-AC27-45B0-B4FC-3AF600850A2C}"/>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差額の22.42万円、93.5%をモデル内の超過ペナルティが占める</a:t>
            </a:r>
          </a:p>
        </p:txBody>
      </p:sp>
      <p:sp>
        <p:nvSpPr>
          <p:cNvPr id="4" name="">
            <a:extLst xmlns:a="http://schemas.openxmlformats.org/drawingml/2006/main">
              <a:ext uri="{FF2B5EF4-FFF2-40B4-BE49-F238E27FC236}">
                <a16:creationId xmlns:a16="http://schemas.microsoft.com/office/drawing/2014/main" id="{0FC433B6-20D5-4067-ADF7-72ADE3536813}"/>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全費用は実行済み週間会計による。設備費・劣化費・運転士費等は含まない。</a:t>
            </a:r>
          </a:p>
        </p:txBody>
      </p:sp>
      <p:sp>
        <p:nvSpPr>
          <p:cNvPr id="5" name="">
            <a:extLst xmlns:a="http://schemas.openxmlformats.org/drawingml/2006/main">
              <a:ext uri="{FF2B5EF4-FFF2-40B4-BE49-F238E27FC236}">
                <a16:creationId xmlns:a16="http://schemas.microsoft.com/office/drawing/2014/main" id="{849E8BBF-CABA-4E3A-B87B-12E9561BCBC2}"/>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40F7EEC7-5F76-4681-9047-3A883DFF7209}"/>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10/20</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3476625"/>
                <a:gridCol w="2333625"/>
                <a:gridCol w="2333625"/>
                <a:gridCol w="2905125"/>
              </a:tblGrid>
              <a:tr h="530679">
                <a:tc>
                  <a:txBody>
                    <a:bodyPr/>
                    <a:lstStyle/>
                    <a:p>
                      <a:r>
                        <a:rPr sz="1725" b="1">
                          <a:solidFill>
                            <a:srgbClr val="FFFFFF"/>
                          </a:solidFill>
                          <a:latin typeface="Noto Sans JP"/>
                          <a:ea typeface="Noto Sans JP"/>
                          <a:cs typeface="Noto Sans JP"/>
                        </a:rPr>
                        <a:t>費用 [万円／週]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11月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差（3月−11月）</a:t>
                      </a:r>
                    </a:p>
                  </a:txBody>
                  <a:tcPr marL="91440" marR="91440" marT="45720" marB="45720">
                    <a:solidFill>
                      <a:srgbClr val="202B58"/>
                    </a:solidFill>
                  </a:tcPr>
                </a:tc>
              </a:tr>
              <a:tr h="530679">
                <a:tc>
                  <a:txBody>
                    <a:bodyPr/>
                    <a:lstStyle/>
                    <a:p>
                      <a:r>
                        <a:rPr sz="1725" b="0">
                          <a:solidFill>
                            <a:srgbClr val="202B58"/>
                          </a:solidFill>
                          <a:latin typeface="Noto Sans JP"/>
                          <a:ea typeface="Noto Sans JP"/>
                          <a:cs typeface="Noto Sans JP"/>
                        </a:rPr>
                        <a:t>車両使用</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412.00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412.00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0.00</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系統電力</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23.38</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21.91</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1.47</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軽油</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3.60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3.53</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0.07</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CO₂</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0.45</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0.42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0.03</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超過ペナルティ</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27.03</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4.60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22.42</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総費用</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466.45</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442.46</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23.99</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252255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FAC4A-B7AA-47C4-8424-BA2718472559}"/>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超過ペナルティの計算根拠</a:t>
            </a:r>
          </a:p>
        </p:txBody>
      </p:sp>
      <p:sp>
        <p:nvSpPr>
          <p:cNvPr id="2" name="">
            <a:extLst xmlns:a="http://schemas.openxmlformats.org/drawingml/2006/main">
              <a:ext uri="{FF2B5EF4-FFF2-40B4-BE49-F238E27FC236}">
                <a16:creationId xmlns:a16="http://schemas.microsoft.com/office/drawing/2014/main" id="{8ADBBDF4-F8FE-4346-A9A6-005A8F6BA110}"/>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受電200 kWを超えた電力量に、500円/kWhを乗じる</a:t>
            </a:r>
          </a:p>
        </p:txBody>
      </p:sp>
      <p:sp>
        <p:nvSpPr>
          <p:cNvPr id="3" name="">
            <a:extLst xmlns:a="http://schemas.openxmlformats.org/drawingml/2006/main">
              <a:ext uri="{FF2B5EF4-FFF2-40B4-BE49-F238E27FC236}">
                <a16:creationId xmlns:a16="http://schemas.microsoft.com/office/drawing/2014/main" id="{0B2778D6-3DC5-47B1-8EDF-A776706195E8}"/>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費用を決めるのは、超過の高さと継続時間を積算した電力量</a:t>
            </a:r>
          </a:p>
        </p:txBody>
      </p:sp>
      <p:sp>
        <p:nvSpPr>
          <p:cNvPr id="4" name="">
            <a:extLst xmlns:a="http://schemas.openxmlformats.org/drawingml/2006/main">
              <a:ext uri="{FF2B5EF4-FFF2-40B4-BE49-F238E27FC236}">
                <a16:creationId xmlns:a16="http://schemas.microsoft.com/office/drawing/2014/main" id="{CCB95C86-00DB-43FC-A633-E692708787B6}"/>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モデルの費用定義。一般の電力契約における月間デマンド料金とは別の設定。</a:t>
            </a:r>
          </a:p>
        </p:txBody>
      </p:sp>
      <p:sp>
        <p:nvSpPr>
          <p:cNvPr id="5" name="">
            <a:extLst xmlns:a="http://schemas.openxmlformats.org/drawingml/2006/main">
              <a:ext uri="{FF2B5EF4-FFF2-40B4-BE49-F238E27FC236}">
                <a16:creationId xmlns:a16="http://schemas.microsoft.com/office/drawing/2014/main" id="{D9FAC520-BBE7-4386-8A1E-1C786C109089}"/>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70A203A0-18F9-4B5C-A60D-5DAC3A79346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11/20</a:t>
            </a:r>
          </a:p>
        </p:txBody>
      </p:sp>
      <p:sp>
        <p:nvSpPr>
          <p:cNvPr id="7" name="">
            <a:extLst xmlns:a="http://schemas.openxmlformats.org/drawingml/2006/main">
              <a:ext uri="{FF2B5EF4-FFF2-40B4-BE49-F238E27FC236}">
                <a16:creationId xmlns:a16="http://schemas.microsoft.com/office/drawing/2014/main" id="{F23415CA-CA53-48D7-A5B3-FC4C1697215A}"/>
              </a:ext>
            </a:extLst>
          </p:cNvPr>
          <p:cNvSpPr>
            <a:spLocks xmlns:a="http://schemas.openxmlformats.org/drawingml/2006/main" noGrp="1"/>
          </p:cNvSpPr>
          <p:nvPr/>
        </p:nvSpPr>
        <p:spPr>
          <a:xfrm xmlns:a="http://schemas.openxmlformats.org/drawingml/2006/main">
            <a:off x="685800" y="17526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超過費用 ＝ Σ max（受電電力 − 200, 0）× 0.25 h × 500 円/kWh</a:t>
            </a:r>
          </a:p>
        </p:txBody>
      </p:sp>
      <p:graphicFrame>
        <p:nvGraphicFramePr>
          <p:cNvPr id="16" name=""/>
          <p:cNvGraphicFramePr/>
          <p:nvPr/>
        </p:nvGraphicFramePr>
        <p:xfrm>
          <a:off xmlns:a="http://schemas.openxmlformats.org/drawingml/2006/main" x="571500" y="2457450"/>
          <a:ext xmlns:a="http://schemas.openxmlformats.org/drawingml/2006/main" cx="11049000" cy="2933700"/>
        </p:xfrm>
        <a:graphic xmlns:a="http://schemas.openxmlformats.org/drawingml/2006/main">
          <a:graphicData uri="http://schemas.openxmlformats.org/drawingml/2006/table">
            <a:tbl>
              <a:tblPr/>
              <a:tblGrid>
                <a:gridCol w="5524500"/>
                <a:gridCol w="2762250"/>
                <a:gridCol w="2762250"/>
              </a:tblGrid>
              <a:tr h="586740">
                <a:tc>
                  <a:txBody>
                    <a:bodyPr/>
                    <a:lstStyle/>
                    <a:p>
                      <a:r>
                        <a:rPr sz="1725" b="1">
                          <a:solidFill>
                            <a:srgbClr val="FFFFFF"/>
                          </a:solidFill>
                          <a:latin typeface="Noto Sans JP"/>
                          <a:ea typeface="Noto Sans JP"/>
                          <a:cs typeface="Noto Sans JP"/>
                        </a:rPr>
                        <a:t>超過に関する指標</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11月</a:t>
                      </a:r>
                    </a:p>
                  </a:txBody>
                  <a:tcPr marL="91440" marR="91440" marT="45720" marB="45720">
                    <a:solidFill>
                      <a:srgbClr val="202B58"/>
                    </a:solidFill>
                  </a:tcPr>
                </a:tc>
              </a:tr>
              <a:tr h="586740">
                <a:tc>
                  <a:txBody>
                    <a:bodyPr/>
                    <a:lstStyle/>
                    <a:p>
                      <a:r>
                        <a:rPr sz="1725" b="0">
                          <a:solidFill>
                            <a:srgbClr val="202B58"/>
                          </a:solidFill>
                          <a:latin typeface="Noto Sans JP"/>
                          <a:ea typeface="Noto Sans JP"/>
                          <a:cs typeface="Noto Sans JP"/>
                        </a:rPr>
                        <a:t>最大受電電力 [kW]</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849.4</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234.8</a:t>
                      </a:r>
                    </a:p>
                  </a:txBody>
                  <a:tcPr marL="91440" marR="91440" marT="45720" marB="45720">
                    <a:solidFill>
                      <a:srgbClr val="F1F5F8"/>
                    </a:solidFill>
                  </a:tcPr>
                </a:tc>
              </a:tr>
              <a:tr h="586740">
                <a:tc>
                  <a:txBody>
                    <a:bodyPr/>
                    <a:lstStyle/>
                    <a:p>
                      <a:r>
                        <a:rPr sz="1725" b="0">
                          <a:solidFill>
                            <a:srgbClr val="202B58"/>
                          </a:solidFill>
                          <a:latin typeface="Noto Sans JP"/>
                          <a:ea typeface="Noto Sans JP"/>
                          <a:cs typeface="Noto Sans JP"/>
                        </a:rPr>
                        <a:t>200 kW超の時間 [h]</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1.25</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3.75</a:t>
                      </a:r>
                    </a:p>
                  </a:txBody>
                  <a:tcPr marL="91440" marR="91440" marT="45720" marB="45720">
                    <a:solidFill>
                      <a:srgbClr val="FFFFFF"/>
                    </a:solidFill>
                  </a:tcPr>
                </a:tc>
              </a:tr>
              <a:tr h="586740">
                <a:tc>
                  <a:txBody>
                    <a:bodyPr/>
                    <a:lstStyle/>
                    <a:p>
                      <a:r>
                        <a:rPr sz="1725" b="0">
                          <a:solidFill>
                            <a:srgbClr val="202B58"/>
                          </a:solidFill>
                          <a:latin typeface="Noto Sans JP"/>
                          <a:ea typeface="Noto Sans JP"/>
                          <a:cs typeface="Noto Sans JP"/>
                        </a:rPr>
                        <a:t>超過電力量 [kWh]</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540.5</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92.0</a:t>
                      </a:r>
                    </a:p>
                  </a:txBody>
                  <a:tcPr marL="91440" marR="91440" marT="45720" marB="45720">
                    <a:solidFill>
                      <a:srgbClr val="F1F5F8"/>
                    </a:solidFill>
                  </a:tcPr>
                </a:tc>
              </a:tr>
              <a:tr h="586740">
                <a:tc>
                  <a:txBody>
                    <a:bodyPr/>
                    <a:lstStyle/>
                    <a:p>
                      <a:r>
                        <a:rPr sz="1725" b="0">
                          <a:solidFill>
                            <a:srgbClr val="202B58"/>
                          </a:solidFill>
                          <a:latin typeface="Noto Sans JP"/>
                          <a:ea typeface="Noto Sans JP"/>
                          <a:cs typeface="Noto Sans JP"/>
                        </a:rPr>
                        <a:t>超過ペナルティ [万円]</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27.03</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4.60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790213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522DBD-1FD9-4FEC-A417-A3CC0888E5A8}"/>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費用差の大きさを評価する尺度</a:t>
            </a:r>
          </a:p>
        </p:txBody>
      </p:sp>
      <p:sp>
        <p:nvSpPr>
          <p:cNvPr id="2" name="">
            <a:extLst xmlns:a="http://schemas.openxmlformats.org/drawingml/2006/main">
              <a:ext uri="{FF2B5EF4-FFF2-40B4-BE49-F238E27FC236}">
                <a16:creationId xmlns:a16="http://schemas.microsoft.com/office/drawing/2014/main" id="{918A1657-3697-4F5A-9A02-DFEEFF3A524C}"/>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両週1,704便・206台日。分母を揃えて差額を読む</a:t>
            </a:r>
          </a:p>
        </p:txBody>
      </p:sp>
      <p:sp>
        <p:nvSpPr>
          <p:cNvPr id="3" name="">
            <a:extLst xmlns:a="http://schemas.openxmlformats.org/drawingml/2006/main">
              <a:ext uri="{FF2B5EF4-FFF2-40B4-BE49-F238E27FC236}">
                <a16:creationId xmlns:a16="http://schemas.microsoft.com/office/drawing/2014/main" id="{82D6DCA0-8AA4-4267-A552-C809867C6F2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差は11月の総費用比で5.42%、1便当たりでは140.79円</a:t>
            </a:r>
          </a:p>
        </p:txBody>
      </p:sp>
      <p:sp>
        <p:nvSpPr>
          <p:cNvPr id="4" name="">
            <a:extLst xmlns:a="http://schemas.openxmlformats.org/drawingml/2006/main">
              <a:ext uri="{FF2B5EF4-FFF2-40B4-BE49-F238E27FC236}">
                <a16:creationId xmlns:a16="http://schemas.microsoft.com/office/drawing/2014/main" id="{F9DB4BD6-E462-4668-9B45-7236E128CD35}"/>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これは異なる週の記述比較。提案手法による削減額や投資回収額とは解釈しない。</a:t>
            </a:r>
          </a:p>
        </p:txBody>
      </p:sp>
      <p:sp>
        <p:nvSpPr>
          <p:cNvPr id="5" name="">
            <a:extLst xmlns:a="http://schemas.openxmlformats.org/drawingml/2006/main">
              <a:ext uri="{FF2B5EF4-FFF2-40B4-BE49-F238E27FC236}">
                <a16:creationId xmlns:a16="http://schemas.microsoft.com/office/drawing/2014/main" id="{4C196BFA-AAA5-4CDF-999D-03E19DA10968}"/>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4FF2CAA6-6A92-4CFB-9B12-E5DE5322EB3D}"/>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12/20</a:t>
            </a:r>
          </a:p>
        </p:txBody>
      </p:sp>
      <p:graphicFrame>
        <p:nvGraphicFramePr>
          <p:cNvPr id="15" name=""/>
          <p:cNvGraphicFramePr/>
          <p:nvPr/>
        </p:nvGraphicFramePr>
        <p:xfrm>
          <a:off xmlns:a="http://schemas.openxmlformats.org/drawingml/2006/main" x="571500" y="1695450"/>
          <a:ext xmlns:a="http://schemas.openxmlformats.org/drawingml/2006/main" cx="11049000" cy="3200400"/>
        </p:xfrm>
        <a:graphic xmlns:a="http://schemas.openxmlformats.org/drawingml/2006/main">
          <a:graphicData uri="http://schemas.openxmlformats.org/drawingml/2006/table">
            <a:tbl>
              <a:tblPr/>
              <a:tblGrid>
                <a:gridCol w="3905250"/>
                <a:gridCol w="2381250"/>
                <a:gridCol w="2381250"/>
                <a:gridCol w="2381250"/>
              </a:tblGrid>
              <a:tr h="640080">
                <a:tc>
                  <a:txBody>
                    <a:bodyPr/>
                    <a:lstStyle/>
                    <a:p>
                      <a:r>
                        <a:rPr sz="1650" b="1">
                          <a:solidFill>
                            <a:srgbClr val="FFFFFF"/>
                          </a:solidFill>
                          <a:latin typeface="Noto Sans JP"/>
                          <a:ea typeface="Noto Sans JP"/>
                          <a:cs typeface="Noto Sans JP"/>
                        </a:rPr>
                        <a:t>評価尺度</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3月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11月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差</a:t>
                      </a:r>
                    </a:p>
                  </a:txBody>
                  <a:tcPr marL="91440" marR="91440" marT="45720" marB="45720">
                    <a:solidFill>
                      <a:srgbClr val="202B58"/>
                    </a:solidFill>
                  </a:tcPr>
                </a:tc>
              </a:tr>
              <a:tr h="640080">
                <a:tc>
                  <a:txBody>
                    <a:bodyPr/>
                    <a:lstStyle/>
                    <a:p>
                      <a:r>
                        <a:rPr sz="1650" b="0">
                          <a:solidFill>
                            <a:srgbClr val="202B58"/>
                          </a:solidFill>
                          <a:latin typeface="Noto Sans JP"/>
                          <a:ea typeface="Noto Sans JP"/>
                          <a:cs typeface="Noto Sans JP"/>
                        </a:rPr>
                        <a:t>総費用 [万円／週]</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466.45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442.46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23.99</a:t>
                      </a:r>
                    </a:p>
                  </a:txBody>
                  <a:tcPr marL="91440" marR="91440" marT="45720" marB="45720">
                    <a:solidFill>
                      <a:srgbClr val="F1F5F8"/>
                    </a:solidFill>
                  </a:tcPr>
                </a:tc>
              </a:tr>
              <a:tr h="640080">
                <a:tc>
                  <a:txBody>
                    <a:bodyPr/>
                    <a:lstStyle/>
                    <a:p>
                      <a:r>
                        <a:rPr sz="1650" b="0">
                          <a:solidFill>
                            <a:srgbClr val="202B58"/>
                          </a:solidFill>
                          <a:latin typeface="Noto Sans JP"/>
                          <a:ea typeface="Noto Sans JP"/>
                          <a:cs typeface="Noto Sans JP"/>
                        </a:rPr>
                        <a:t>総費用 [円／便]</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2,737.38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2,596.60</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140.79</a:t>
                      </a:r>
                    </a:p>
                  </a:txBody>
                  <a:tcPr marL="91440" marR="91440" marT="45720" marB="45720">
                    <a:solidFill>
                      <a:srgbClr val="FFFFFF"/>
                    </a:solidFill>
                  </a:tcPr>
                </a:tc>
              </a:tr>
              <a:tr h="640080">
                <a:tc>
                  <a:txBody>
                    <a:bodyPr/>
                    <a:lstStyle/>
                    <a:p>
                      <a:r>
                        <a:rPr sz="1650" b="0">
                          <a:solidFill>
                            <a:srgbClr val="202B58"/>
                          </a:solidFill>
                          <a:latin typeface="Noto Sans JP"/>
                          <a:ea typeface="Noto Sans JP"/>
                          <a:cs typeface="Noto Sans JP"/>
                        </a:rPr>
                        <a:t>使用費以外 [万円／週]</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54.45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30.46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23.99</a:t>
                      </a:r>
                    </a:p>
                  </a:txBody>
                  <a:tcPr marL="91440" marR="91440" marT="45720" marB="45720">
                    <a:solidFill>
                      <a:srgbClr val="F1F5F8"/>
                    </a:solidFill>
                  </a:tcPr>
                </a:tc>
              </a:tr>
              <a:tr h="640080">
                <a:tc>
                  <a:txBody>
                    <a:bodyPr/>
                    <a:lstStyle/>
                    <a:p>
                      <a:r>
                        <a:rPr sz="1650" b="0">
                          <a:solidFill>
                            <a:srgbClr val="202B58"/>
                          </a:solidFill>
                          <a:latin typeface="Noto Sans JP"/>
                          <a:ea typeface="Noto Sans JP"/>
                          <a:cs typeface="Noto Sans JP"/>
                        </a:rPr>
                        <a:t>使用費以外 [円／便]</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319.54</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178.76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140.79</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1778B4A-55EB-4C70-AB52-EF4FE66939EE}"/>
              </a:ext>
            </a:extLst>
          </p:cNvPr>
          <p:cNvSpPr>
            <a:spLocks xmlns:a="http://schemas.openxmlformats.org/drawingml/2006/main" noGrp="1"/>
          </p:cNvSpPr>
          <p:nvPr/>
        </p:nvSpPr>
        <p:spPr>
          <a:xfrm xmlns:a="http://schemas.openxmlformats.org/drawingml/2006/main">
            <a:off x="685800" y="5114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経済的な有用性の判断には、料金設定の根拠と比較対象の費用が必要。</a:t>
            </a:r>
          </a:p>
        </p:txBody>
      </p:sp>
    </p:spTree>
    <p:extLst>
      <p:ext uri="{BB962C8B-B14F-4D97-AF65-F5344CB8AC3E}">
        <p14:creationId xmlns:p14="http://schemas.microsoft.com/office/powerpoint/2010/main" val="18544836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245E4F-6B4F-4B08-932A-6E0A2F24CCB5}"/>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費用差の料金設定への依存</a:t>
            </a:r>
          </a:p>
        </p:txBody>
      </p:sp>
      <p:sp>
        <p:nvSpPr>
          <p:cNvPr id="2" name="">
            <a:extLst xmlns:a="http://schemas.openxmlformats.org/drawingml/2006/main">
              <a:ext uri="{FF2B5EF4-FFF2-40B4-BE49-F238E27FC236}">
                <a16:creationId xmlns:a16="http://schemas.microsoft.com/office/drawing/2014/main" id="{71A21FD2-66E9-4807-9E2E-BFE6A674D344}"/>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同じ実行済み電力のまま、超過単価だけを置き換えた算術比較</a:t>
            </a:r>
          </a:p>
        </p:txBody>
      </p:sp>
      <p:sp>
        <p:nvSpPr>
          <p:cNvPr id="3" name="">
            <a:extLst xmlns:a="http://schemas.openxmlformats.org/drawingml/2006/main">
              <a:ext uri="{FF2B5EF4-FFF2-40B4-BE49-F238E27FC236}">
                <a16:creationId xmlns:a16="http://schemas.microsoft.com/office/drawing/2014/main" id="{F1B79D03-586B-4B63-A4A4-287E98C814B2}"/>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超過単価を0円とすると、同じ運用の差額は1.57万円になる</a:t>
            </a:r>
          </a:p>
        </p:txBody>
      </p:sp>
      <p:sp>
        <p:nvSpPr>
          <p:cNvPr id="4" name="">
            <a:extLst xmlns:a="http://schemas.openxmlformats.org/drawingml/2006/main">
              <a:ext uri="{FF2B5EF4-FFF2-40B4-BE49-F238E27FC236}">
                <a16:creationId xmlns:a16="http://schemas.microsoft.com/office/drawing/2014/main" id="{80CC4B3C-EF71-475D-B7A7-EEB98FC2A160}"/>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再最適化は未実施。料金を変えたときの運用結果・実現可能な削減額ではない。</a:t>
            </a:r>
          </a:p>
        </p:txBody>
      </p:sp>
      <p:sp>
        <p:nvSpPr>
          <p:cNvPr id="5" name="">
            <a:extLst xmlns:a="http://schemas.openxmlformats.org/drawingml/2006/main">
              <a:ext uri="{FF2B5EF4-FFF2-40B4-BE49-F238E27FC236}">
                <a16:creationId xmlns:a16="http://schemas.microsoft.com/office/drawing/2014/main" id="{C7C959D9-3138-49E7-98FB-A3C45BD3290B}"/>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B487E36D-211C-43CB-BE28-F50128C74639}"/>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13/20</a:t>
            </a:r>
          </a:p>
        </p:txBody>
      </p:sp>
      <p:graphicFrame>
        <p:nvGraphicFramePr>
          <p:cNvPr id="18" name="Chart"/>
          <p:cNvGraphicFramePr/>
          <p:nvPr/>
        </p:nvGraphicFramePr>
        <p:xfrm>
          <a:off xmlns:a="http://schemas.openxmlformats.org/drawingml/2006/main" x="571500" y="1695450"/>
          <a:ext xmlns:a="http://schemas.openxmlformats.org/drawingml/2006/main" cx="6715125" cy="3714750"/>
        </p:xfrm>
        <a:graphic xmlns:a="http://schemas.openxmlformats.org/drawingml/2006/main">
          <a:graphicData uri="http://schemas.openxmlformats.org/drawingml/2006/chart">
            <c:chart xmlns:r="http://schemas.openxmlformats.org/officeDocument/2006/relationships" xmlns:c="http://schemas.openxmlformats.org/drawingml/2006/chart" r:id="Re6f1d39dbb8b4a07"/>
          </a:graphicData>
        </a:graphic>
      </p:graphicFrame>
      <p:sp>
        <p:nvSpPr>
          <p:cNvPr id="8" name="">
            <a:extLst xmlns:a="http://schemas.openxmlformats.org/drawingml/2006/main">
              <a:ext uri="{FF2B5EF4-FFF2-40B4-BE49-F238E27FC236}">
                <a16:creationId xmlns:a16="http://schemas.microsoft.com/office/drawing/2014/main" id="{C5ADD33D-6467-46E6-96FE-DE2D3FA45788}"/>
              </a:ext>
            </a:extLst>
          </p:cNvPr>
          <p:cNvSpPr>
            <a:spLocks xmlns:a="http://schemas.openxmlformats.org/drawingml/2006/main" noGrp="1"/>
          </p:cNvSpPr>
          <p:nvPr/>
        </p:nvSpPr>
        <p:spPr>
          <a:xfrm xmlns:a="http://schemas.openxmlformats.org/drawingml/2006/main">
            <a:off x="7762875" y="21336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固定したもの</a:t>
            </a:r>
          </a:p>
        </p:txBody>
      </p:sp>
      <p:sp>
        <p:nvSpPr>
          <p:cNvPr id="9" name="">
            <a:extLst xmlns:a="http://schemas.openxmlformats.org/drawingml/2006/main">
              <a:ext uri="{FF2B5EF4-FFF2-40B4-BE49-F238E27FC236}">
                <a16:creationId xmlns:a16="http://schemas.microsoft.com/office/drawing/2014/main" id="{95962B2A-AE85-447A-A625-D31DA914BDA1}"/>
              </a:ext>
            </a:extLst>
          </p:cNvPr>
          <p:cNvSpPr>
            <a:spLocks xmlns:a="http://schemas.openxmlformats.org/drawingml/2006/main" noGrp="1"/>
          </p:cNvSpPr>
          <p:nvPr/>
        </p:nvSpPr>
        <p:spPr>
          <a:xfrm xmlns:a="http://schemas.openxmlformats.org/drawingml/2006/main">
            <a:off x="7762875" y="2714625"/>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B58"/>
                </a:solidFill>
                <a:latin typeface="Noto Sans JP"/>
                <a:ea typeface="Noto Sans JP"/>
                <a:cs typeface="Noto Sans JP"/>
              </a:defRPr>
            </a:pPr>
            <a:r>
              <a:rPr sz="1800" b="0">
                <a:solidFill>
                  <a:srgbClr val="202B58"/>
                </a:solidFill>
                <a:latin typeface="Noto Sans JP"/>
                <a:ea typeface="Noto Sans JP"/>
                <a:cs typeface="Noto Sans JP"/>
              </a:rPr>
              <a:t>配車・充電時刻</a:t>
            </a:r>
          </a:p>
          <a:p xmlns:a="http://schemas.openxmlformats.org/drawingml/2006/main">
            <a:pPr>
              <a:defRPr sz="1800" b="0">
                <a:solidFill>
                  <a:srgbClr val="202B58"/>
                </a:solidFill>
                <a:latin typeface="Noto Sans JP"/>
                <a:ea typeface="Noto Sans JP"/>
                <a:cs typeface="Noto Sans JP"/>
              </a:defRPr>
            </a:pPr>
            <a:r>
              <a:rPr sz="1800" b="0">
                <a:solidFill>
                  <a:srgbClr val="202B58"/>
                </a:solidFill>
                <a:latin typeface="Noto Sans JP"/>
                <a:ea typeface="Noto Sans JP"/>
                <a:cs typeface="Noto Sans JP"/>
              </a:rPr>
              <a:t>系統購入・PV利用</a:t>
            </a:r>
          </a:p>
          <a:p xmlns:a="http://schemas.openxmlformats.org/drawingml/2006/main">
            <a:pPr>
              <a:defRPr sz="1800" b="0">
                <a:solidFill>
                  <a:srgbClr val="202B58"/>
                </a:solidFill>
                <a:latin typeface="Noto Sans JP"/>
                <a:ea typeface="Noto Sans JP"/>
                <a:cs typeface="Noto Sans JP"/>
              </a:defRPr>
            </a:pPr>
            <a:r>
              <a:rPr sz="1800" b="0">
                <a:solidFill>
                  <a:srgbClr val="202B58"/>
                </a:solidFill>
                <a:latin typeface="Noto Sans JP"/>
                <a:ea typeface="Noto Sans JP"/>
                <a:cs typeface="Noto Sans JP"/>
              </a:rPr>
              <a:t>BESSの充放電</a:t>
            </a:r>
          </a:p>
        </p:txBody>
      </p:sp>
      <p:sp>
        <p:nvSpPr>
          <p:cNvPr id="10" name="">
            <a:extLst xmlns:a="http://schemas.openxmlformats.org/drawingml/2006/main">
              <a:ext uri="{FF2B5EF4-FFF2-40B4-BE49-F238E27FC236}">
                <a16:creationId xmlns:a16="http://schemas.microsoft.com/office/drawing/2014/main" id="{CA1DD5A0-5F14-459F-A8FC-0E0C7439C990}"/>
              </a:ext>
            </a:extLst>
          </p:cNvPr>
          <p:cNvSpPr>
            <a:spLocks xmlns:a="http://schemas.openxmlformats.org/drawingml/2006/main" noGrp="1"/>
          </p:cNvSpPr>
          <p:nvPr/>
        </p:nvSpPr>
        <p:spPr>
          <a:xfrm xmlns:a="http://schemas.openxmlformats.org/drawingml/2006/main">
            <a:off x="7762875" y="42767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変えたもの</a:t>
            </a:r>
          </a:p>
        </p:txBody>
      </p:sp>
      <p:sp>
        <p:nvSpPr>
          <p:cNvPr id="11" name="">
            <a:extLst xmlns:a="http://schemas.openxmlformats.org/drawingml/2006/main">
              <a:ext uri="{FF2B5EF4-FFF2-40B4-BE49-F238E27FC236}">
                <a16:creationId xmlns:a16="http://schemas.microsoft.com/office/drawing/2014/main" id="{F3D1321B-441D-4256-A19D-57F3B1413F0D}"/>
              </a:ext>
            </a:extLst>
          </p:cNvPr>
          <p:cNvSpPr>
            <a:spLocks xmlns:a="http://schemas.openxmlformats.org/drawingml/2006/main" noGrp="1"/>
          </p:cNvSpPr>
          <p:nvPr/>
        </p:nvSpPr>
        <p:spPr>
          <a:xfrm xmlns:a="http://schemas.openxmlformats.org/drawingml/2006/main">
            <a:off x="7762875" y="4838700"/>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16DB6"/>
                </a:solidFill>
                <a:latin typeface="Noto Sans JP"/>
                <a:ea typeface="Noto Sans JP"/>
                <a:cs typeface="Noto Sans JP"/>
              </a:defRPr>
            </a:pPr>
            <a:r>
              <a:rPr sz="1875" b="1">
                <a:solidFill>
                  <a:srgbClr val="316DB6"/>
                </a:solidFill>
                <a:latin typeface="Noto Sans JP"/>
                <a:ea typeface="Noto Sans JP"/>
                <a:cs typeface="Noto Sans JP"/>
              </a:rPr>
              <a:t>超過単価のみ</a:t>
            </a:r>
          </a:p>
        </p:txBody>
      </p:sp>
    </p:spTree>
    <p:extLst>
      <p:ext uri="{BB962C8B-B14F-4D97-AF65-F5344CB8AC3E}">
        <p14:creationId xmlns:p14="http://schemas.microsoft.com/office/powerpoint/2010/main" val="12728954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524501-54E0-4607-A5F9-5ACBBD4FE425}"/>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「優位性」を判断できる範囲</a:t>
            </a:r>
          </a:p>
        </p:txBody>
      </p:sp>
      <p:sp>
        <p:nvSpPr>
          <p:cNvPr id="2" name="">
            <a:extLst xmlns:a="http://schemas.openxmlformats.org/drawingml/2006/main">
              <a:ext uri="{FF2B5EF4-FFF2-40B4-BE49-F238E27FC236}">
                <a16:creationId xmlns:a16="http://schemas.microsoft.com/office/drawing/2014/main" id="{EC32315E-33F1-4A33-9C0D-097CD1BD7FF8}"/>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観測された費用差と、手法による改善を区別して評価する</a:t>
            </a:r>
          </a:p>
        </p:txBody>
      </p:sp>
      <p:sp>
        <p:nvSpPr>
          <p:cNvPr id="3" name="">
            <a:extLst xmlns:a="http://schemas.openxmlformats.org/drawingml/2006/main">
              <a:ext uri="{FF2B5EF4-FFF2-40B4-BE49-F238E27FC236}">
                <a16:creationId xmlns:a16="http://schemas.microsoft.com/office/drawing/2014/main" id="{DD097D58-9022-446E-BAA1-04648926F74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費用差の内訳は説明できる。手法の優位性には同条件の対照が必要</a:t>
            </a:r>
          </a:p>
        </p:txBody>
      </p:sp>
      <p:sp>
        <p:nvSpPr>
          <p:cNvPr id="4" name="">
            <a:extLst xmlns:a="http://schemas.openxmlformats.org/drawingml/2006/main">
              <a:ext uri="{FF2B5EF4-FFF2-40B4-BE49-F238E27FC236}">
                <a16:creationId xmlns:a16="http://schemas.microsoft.com/office/drawing/2014/main" id="{484026F9-F205-48C6-9DD9-0472C1941929}"/>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各月1週の12例から、有意な季節効果や統合全体最適性は主張しない。</a:t>
            </a:r>
          </a:p>
        </p:txBody>
      </p:sp>
      <p:sp>
        <p:nvSpPr>
          <p:cNvPr id="5" name="">
            <a:extLst xmlns:a="http://schemas.openxmlformats.org/drawingml/2006/main">
              <a:ext uri="{FF2B5EF4-FFF2-40B4-BE49-F238E27FC236}">
                <a16:creationId xmlns:a16="http://schemas.microsoft.com/office/drawing/2014/main" id="{E08BE013-9013-4569-8F83-63769BEFEF45}"/>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D1C7C9F5-DE41-4F3E-952D-C3972F3932EA}"/>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14/20</a:t>
            </a:r>
          </a:p>
        </p:txBody>
      </p:sp>
      <p:graphicFrame>
        <p:nvGraphicFramePr>
          <p:cNvPr id="15" name=""/>
          <p:cNvGraphicFramePr/>
          <p:nvPr/>
        </p:nvGraphicFramePr>
        <p:xfrm>
          <a:off xmlns:a="http://schemas.openxmlformats.org/drawingml/2006/main" x="571500" y="1695450"/>
          <a:ext xmlns:a="http://schemas.openxmlformats.org/drawingml/2006/main" cx="11049000" cy="3324225"/>
        </p:xfrm>
        <a:graphic xmlns:a="http://schemas.openxmlformats.org/drawingml/2006/main">
          <a:graphicData uri="http://schemas.openxmlformats.org/drawingml/2006/table">
            <a:tbl>
              <a:tblPr/>
              <a:tblGrid>
                <a:gridCol w="2809875"/>
                <a:gridCol w="3952875"/>
                <a:gridCol w="4286250"/>
              </a:tblGrid>
              <a:tr h="664845">
                <a:tc>
                  <a:txBody>
                    <a:bodyPr/>
                    <a:lstStyle/>
                    <a:p>
                      <a:r>
                        <a:rPr sz="1650" b="1">
                          <a:solidFill>
                            <a:srgbClr val="FFFFFF"/>
                          </a:solidFill>
                          <a:latin typeface="Noto Sans JP"/>
                          <a:ea typeface="Noto Sans JP"/>
                          <a:cs typeface="Noto Sans JP"/>
                        </a:rPr>
                        <a:t>判断したいこと</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今回の材料</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追加で必要なもの</a:t>
                      </a:r>
                    </a:p>
                  </a:txBody>
                  <a:tcPr marL="91440" marR="91440" marT="45720" marB="45720">
                    <a:solidFill>
                      <a:srgbClr val="202B58"/>
                    </a:solidFill>
                  </a:tcPr>
                </a:tc>
              </a:tr>
              <a:tr h="664845">
                <a:tc>
                  <a:txBody>
                    <a:bodyPr/>
                    <a:lstStyle/>
                    <a:p>
                      <a:r>
                        <a:rPr sz="1650" b="0">
                          <a:solidFill>
                            <a:srgbClr val="202B58"/>
                          </a:solidFill>
                          <a:latin typeface="Noto Sans JP"/>
                          <a:ea typeface="Noto Sans JP"/>
                          <a:cs typeface="Noto Sans JP"/>
                        </a:rPr>
                        <a:t>費用差の説明</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23.99万円、93.5%が超過費差</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料金係数の採用根拠</a:t>
                      </a:r>
                    </a:p>
                  </a:txBody>
                  <a:tcPr marL="91440" marR="91440" marT="45720" marB="45720">
                    <a:solidFill>
                      <a:srgbClr val="F1F5F8"/>
                    </a:solidFill>
                  </a:tcPr>
                </a:tc>
              </a:tr>
              <a:tr h="664845">
                <a:tc>
                  <a:txBody>
                    <a:bodyPr/>
                    <a:lstStyle/>
                    <a:p>
                      <a:r>
                        <a:rPr sz="1650" b="0">
                          <a:solidFill>
                            <a:srgbClr val="202B58"/>
                          </a:solidFill>
                          <a:latin typeface="Noto Sans JP"/>
                          <a:ea typeface="Noto Sans JP"/>
                          <a:cs typeface="Noto Sans JP"/>
                        </a:rPr>
                        <a:t>運用手法の優位性</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同じ週の対照実験なし</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同一入力の基準運用との比較</a:t>
                      </a:r>
                    </a:p>
                  </a:txBody>
                  <a:tcPr marL="91440" marR="91440" marT="45720" marB="45720">
                    <a:solidFill>
                      <a:srgbClr val="FFFFFF"/>
                    </a:solidFill>
                  </a:tcPr>
                </a:tc>
              </a:tr>
              <a:tr h="664845">
                <a:tc>
                  <a:txBody>
                    <a:bodyPr/>
                    <a:lstStyle/>
                    <a:p>
                      <a:r>
                        <a:rPr sz="1650" b="0">
                          <a:solidFill>
                            <a:srgbClr val="202B58"/>
                          </a:solidFill>
                          <a:latin typeface="Noto Sans JP"/>
                          <a:ea typeface="Noto Sans JP"/>
                          <a:cs typeface="Noto Sans JP"/>
                        </a:rPr>
                        <a:t>季節差の一般性</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各月1週のみ</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複数週・複数年の反復</a:t>
                      </a:r>
                    </a:p>
                  </a:txBody>
                  <a:tcPr marL="91440" marR="91440" marT="45720" marB="45720">
                    <a:solidFill>
                      <a:srgbClr val="F1F5F8"/>
                    </a:solidFill>
                  </a:tcPr>
                </a:tc>
              </a:tr>
              <a:tr h="664845">
                <a:tc>
                  <a:txBody>
                    <a:bodyPr/>
                    <a:lstStyle/>
                    <a:p>
                      <a:r>
                        <a:rPr sz="1650" b="0">
                          <a:solidFill>
                            <a:srgbClr val="202B58"/>
                          </a:solidFill>
                          <a:latin typeface="Noto Sans JP"/>
                          <a:ea typeface="Noto Sans JP"/>
                          <a:cs typeface="Noto Sans JP"/>
                        </a:rPr>
                        <a:t>解の最適性</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配車gap：84.6%／85.2%</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事前基準内の探索と検証</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FAE22BA-28D9-4CF7-9AD6-2C258A38456B}"/>
              </a:ext>
            </a:extLst>
          </p:cNvPr>
          <p:cNvSpPr>
            <a:spLocks xmlns:a="http://schemas.openxmlformats.org/drawingml/2006/main" noGrp="1"/>
          </p:cNvSpPr>
          <p:nvPr/>
        </p:nvSpPr>
        <p:spPr>
          <a:xfrm xmlns:a="http://schemas.openxmlformats.org/drawingml/2006/main">
            <a:off x="685800" y="51911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日別総費用は週間費用の配分を含むため、独立した7標本として検定しない。</a:t>
            </a:r>
          </a:p>
        </p:txBody>
      </p:sp>
    </p:spTree>
    <p:extLst>
      <p:ext uri="{BB962C8B-B14F-4D97-AF65-F5344CB8AC3E}">
        <p14:creationId xmlns:p14="http://schemas.microsoft.com/office/powerpoint/2010/main" val="670034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61D709-4521-4CB2-96A1-84F2B84DD658}"/>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今回の回答と次の検証</a:t>
            </a:r>
          </a:p>
        </p:txBody>
      </p:sp>
      <p:sp>
        <p:nvSpPr>
          <p:cNvPr id="2" name="">
            <a:extLst xmlns:a="http://schemas.openxmlformats.org/drawingml/2006/main">
              <a:ext uri="{FF2B5EF4-FFF2-40B4-BE49-F238E27FC236}">
                <a16:creationId xmlns:a16="http://schemas.microsoft.com/office/drawing/2014/main" id="{C13D3E1E-A965-4E26-B042-921CD6E7F085}"/>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購入電力の時間分布が、費用差の解釈を左右する</a:t>
            </a:r>
          </a:p>
        </p:txBody>
      </p:sp>
      <p:sp>
        <p:nvSpPr>
          <p:cNvPr id="3" name="">
            <a:extLst xmlns:a="http://schemas.openxmlformats.org/drawingml/2006/main">
              <a:ext uri="{FF2B5EF4-FFF2-40B4-BE49-F238E27FC236}">
                <a16:creationId xmlns:a16="http://schemas.microsoft.com/office/drawing/2014/main" id="{A5FB996E-3AF5-4EF7-8E20-A4913B5BAE0E}"/>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次は同じ週の対照運用と比較し、避けられる超過費用を測る</a:t>
            </a:r>
          </a:p>
        </p:txBody>
      </p:sp>
      <p:sp>
        <p:nvSpPr>
          <p:cNvPr id="4" name="">
            <a:extLst xmlns:a="http://schemas.openxmlformats.org/drawingml/2006/main">
              <a:ext uri="{FF2B5EF4-FFF2-40B4-BE49-F238E27FC236}">
                <a16:creationId xmlns:a16="http://schemas.microsoft.com/office/drawing/2014/main" id="{7BFF782F-B2AD-42C4-A962-D972D06AAA9E}"/>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次の検証は提案段階。配車・初期状態・終端条件・計算条件を揃えて実施する。</a:t>
            </a:r>
          </a:p>
        </p:txBody>
      </p:sp>
      <p:sp>
        <p:nvSpPr>
          <p:cNvPr id="5" name="">
            <a:extLst xmlns:a="http://schemas.openxmlformats.org/drawingml/2006/main">
              <a:ext uri="{FF2B5EF4-FFF2-40B4-BE49-F238E27FC236}">
                <a16:creationId xmlns:a16="http://schemas.microsoft.com/office/drawing/2014/main" id="{0A0B15FA-BB23-4C70-9EAD-BA9F1D89BF58}"/>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3620294B-A5A6-47B3-A7B4-03D910749D66}"/>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15/20</a:t>
            </a:r>
          </a:p>
        </p:txBody>
      </p:sp>
      <p:sp>
        <p:nvSpPr>
          <p:cNvPr id="7" name="">
            <a:extLst xmlns:a="http://schemas.openxmlformats.org/drawingml/2006/main">
              <a:ext uri="{FF2B5EF4-FFF2-40B4-BE49-F238E27FC236}">
                <a16:creationId xmlns:a16="http://schemas.microsoft.com/office/drawing/2014/main" id="{0A169B8E-20D2-4035-A436-D97A73B28328}"/>
              </a:ext>
            </a:extLst>
          </p:cNvPr>
          <p:cNvSpPr>
            <a:spLocks xmlns:a="http://schemas.openxmlformats.org/drawingml/2006/main" noGrp="1"/>
          </p:cNvSpPr>
          <p:nvPr/>
        </p:nvSpPr>
        <p:spPr>
          <a:xfrm xmlns:a="http://schemas.openxmlformats.org/drawingml/2006/main">
            <a:off x="685800" y="179070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B58"/>
                </a:solidFill>
                <a:latin typeface="Noto Sans JP"/>
                <a:ea typeface="Noto Sans JP"/>
                <a:cs typeface="Noto Sans JP"/>
              </a:defRPr>
            </a:pPr>
            <a:r>
              <a:rPr sz="2100" b="1">
                <a:solidFill>
                  <a:srgbClr val="202B58"/>
                </a:solidFill>
                <a:latin typeface="Noto Sans JP"/>
                <a:ea typeface="Noto Sans JP"/>
                <a:cs typeface="Noto Sans JP"/>
              </a:rPr>
              <a:t>購入電力について</a:t>
            </a:r>
          </a:p>
        </p:txBody>
      </p:sp>
      <p:sp>
        <p:nvSpPr>
          <p:cNvPr id="8" name="">
            <a:extLst xmlns:a="http://schemas.openxmlformats.org/drawingml/2006/main">
              <a:ext uri="{FF2B5EF4-FFF2-40B4-BE49-F238E27FC236}">
                <a16:creationId xmlns:a16="http://schemas.microsoft.com/office/drawing/2014/main" id="{9C513203-8DEA-4ABD-BF43-BADAF4F90655}"/>
              </a:ext>
            </a:extLst>
          </p:cNvPr>
          <p:cNvSpPr>
            <a:spLocks xmlns:a="http://schemas.openxmlformats.org/drawingml/2006/main" noGrp="1"/>
          </p:cNvSpPr>
          <p:nvPr/>
        </p:nvSpPr>
        <p:spPr>
          <a:xfrm xmlns:a="http://schemas.openxmlformats.org/drawingml/2006/main">
            <a:off x="685800" y="231457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11月は広い時間帯で購入。3月は初日未明の大幅超過が特徴。</a:t>
            </a:r>
          </a:p>
        </p:txBody>
      </p:sp>
      <p:sp>
        <p:nvSpPr>
          <p:cNvPr id="9" name="">
            <a:extLst xmlns:a="http://schemas.openxmlformats.org/drawingml/2006/main">
              <a:ext uri="{FF2B5EF4-FFF2-40B4-BE49-F238E27FC236}">
                <a16:creationId xmlns:a16="http://schemas.microsoft.com/office/drawing/2014/main" id="{71E2B0F5-C960-411A-91B2-18145EF1E015}"/>
              </a:ext>
            </a:extLst>
          </p:cNvPr>
          <p:cNvSpPr>
            <a:spLocks xmlns:a="http://schemas.openxmlformats.org/drawingml/2006/main" noGrp="1"/>
          </p:cNvSpPr>
          <p:nvPr/>
        </p:nvSpPr>
        <p:spPr>
          <a:xfrm xmlns:a="http://schemas.openxmlformats.org/drawingml/2006/main">
            <a:off x="685800" y="312420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B58"/>
                </a:solidFill>
                <a:latin typeface="Noto Sans JP"/>
                <a:ea typeface="Noto Sans JP"/>
                <a:cs typeface="Noto Sans JP"/>
              </a:defRPr>
            </a:pPr>
            <a:r>
              <a:rPr sz="2100" b="1">
                <a:solidFill>
                  <a:srgbClr val="202B58"/>
                </a:solidFill>
                <a:latin typeface="Noto Sans JP"/>
                <a:ea typeface="Noto Sans JP"/>
                <a:cs typeface="Noto Sans JP"/>
              </a:rPr>
              <a:t>費用差について</a:t>
            </a:r>
          </a:p>
        </p:txBody>
      </p:sp>
      <p:sp>
        <p:nvSpPr>
          <p:cNvPr id="10" name="">
            <a:extLst xmlns:a="http://schemas.openxmlformats.org/drawingml/2006/main">
              <a:ext uri="{FF2B5EF4-FFF2-40B4-BE49-F238E27FC236}">
                <a16:creationId xmlns:a16="http://schemas.microsoft.com/office/drawing/2014/main" id="{5748F288-AC35-4421-AF92-4B61DA737E92}"/>
              </a:ext>
            </a:extLst>
          </p:cNvPr>
          <p:cNvSpPr>
            <a:spLocks xmlns:a="http://schemas.openxmlformats.org/drawingml/2006/main" noGrp="1"/>
          </p:cNvSpPr>
          <p:nvPr/>
        </p:nvSpPr>
        <p:spPr>
          <a:xfrm xmlns:a="http://schemas.openxmlformats.org/drawingml/2006/main">
            <a:off x="685800" y="364807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23.99万円の差の93.5%は超過ペナルティ。単価の根拠が重要。</a:t>
            </a:r>
          </a:p>
        </p:txBody>
      </p:sp>
      <p:sp>
        <p:nvSpPr>
          <p:cNvPr id="11" name="">
            <a:extLst xmlns:a="http://schemas.openxmlformats.org/drawingml/2006/main">
              <a:ext uri="{FF2B5EF4-FFF2-40B4-BE49-F238E27FC236}">
                <a16:creationId xmlns:a16="http://schemas.microsoft.com/office/drawing/2014/main" id="{6B6A4C8A-37D5-4C9D-A2DE-68FBF96728E6}"/>
              </a:ext>
            </a:extLst>
          </p:cNvPr>
          <p:cNvSpPr>
            <a:spLocks xmlns:a="http://schemas.openxmlformats.org/drawingml/2006/main" noGrp="1"/>
          </p:cNvSpPr>
          <p:nvPr/>
        </p:nvSpPr>
        <p:spPr>
          <a:xfrm xmlns:a="http://schemas.openxmlformats.org/drawingml/2006/main">
            <a:off x="685800" y="4457700"/>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B58"/>
                </a:solidFill>
                <a:latin typeface="Noto Sans JP"/>
                <a:ea typeface="Noto Sans JP"/>
                <a:cs typeface="Noto Sans JP"/>
              </a:defRPr>
            </a:pPr>
            <a:r>
              <a:rPr sz="2100" b="1">
                <a:solidFill>
                  <a:srgbClr val="202B58"/>
                </a:solidFill>
                <a:latin typeface="Noto Sans JP"/>
                <a:ea typeface="Noto Sans JP"/>
                <a:cs typeface="Noto Sans JP"/>
              </a:rPr>
              <a:t>残る問い</a:t>
            </a:r>
          </a:p>
        </p:txBody>
      </p:sp>
      <p:sp>
        <p:nvSpPr>
          <p:cNvPr id="12" name="">
            <a:extLst xmlns:a="http://schemas.openxmlformats.org/drawingml/2006/main">
              <a:ext uri="{FF2B5EF4-FFF2-40B4-BE49-F238E27FC236}">
                <a16:creationId xmlns:a16="http://schemas.microsoft.com/office/drawing/2014/main" id="{EA9F9C80-E2B9-47D7-9A1D-53FCDA2F902F}"/>
              </a:ext>
            </a:extLst>
          </p:cNvPr>
          <p:cNvSpPr>
            <a:spLocks xmlns:a="http://schemas.openxmlformats.org/drawingml/2006/main" noGrp="1"/>
          </p:cNvSpPr>
          <p:nvPr/>
        </p:nvSpPr>
        <p:spPr>
          <a:xfrm xmlns:a="http://schemas.openxmlformats.org/drawingml/2006/main">
            <a:off x="685800" y="498157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同じ運行と残量条件で、超過を減らせる実行可能な計画はあるか。</a:t>
            </a:r>
          </a:p>
        </p:txBody>
      </p:sp>
    </p:spTree>
    <p:extLst>
      <p:ext uri="{BB962C8B-B14F-4D97-AF65-F5344CB8AC3E}">
        <p14:creationId xmlns:p14="http://schemas.microsoft.com/office/powerpoint/2010/main" val="13641304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E693DB-FA77-4C98-BDAA-C1C03537D031}"/>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補足：日別の購入量と契約超過</a:t>
            </a:r>
          </a:p>
        </p:txBody>
      </p:sp>
      <p:sp>
        <p:nvSpPr>
          <p:cNvPr id="2" name="">
            <a:extLst xmlns:a="http://schemas.openxmlformats.org/drawingml/2006/main">
              <a:ext uri="{FF2B5EF4-FFF2-40B4-BE49-F238E27FC236}">
                <a16:creationId xmlns:a16="http://schemas.microsoft.com/office/drawing/2014/main" id="{65431D1D-C3FD-4FB8-A4AF-104B1E8F64D3}"/>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電力量は実行時系列の積算。日別総費用の配分値は使わない</a:t>
            </a:r>
          </a:p>
        </p:txBody>
      </p:sp>
      <p:sp>
        <p:nvSpPr>
          <p:cNvPr id="3" name="">
            <a:extLst xmlns:a="http://schemas.openxmlformats.org/drawingml/2006/main">
              <a:ext uri="{FF2B5EF4-FFF2-40B4-BE49-F238E27FC236}">
                <a16:creationId xmlns:a16="http://schemas.microsoft.com/office/drawing/2014/main" id="{10B728DF-3803-4DD7-923D-46409A0AD669}"/>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11月の購入は毎日発生し、契約超過は木曜夜から金曜朝に集中</a:t>
            </a:r>
          </a:p>
        </p:txBody>
      </p:sp>
      <p:sp>
        <p:nvSpPr>
          <p:cNvPr id="4" name="">
            <a:extLst xmlns:a="http://schemas.openxmlformats.org/drawingml/2006/main">
              <a:ext uri="{FF2B5EF4-FFF2-40B4-BE49-F238E27FC236}">
                <a16:creationId xmlns:a16="http://schemas.microsoft.com/office/drawing/2014/main" id="{AC265F3D-520B-4A28-A5FD-E4AEDC28E5B6}"/>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表は表示値のみ丸める。極小の浮動小数点残差は0.0と表示。</a:t>
            </a:r>
          </a:p>
        </p:txBody>
      </p:sp>
      <p:sp>
        <p:nvSpPr>
          <p:cNvPr id="5" name="">
            <a:extLst xmlns:a="http://schemas.openxmlformats.org/drawingml/2006/main">
              <a:ext uri="{FF2B5EF4-FFF2-40B4-BE49-F238E27FC236}">
                <a16:creationId xmlns:a16="http://schemas.microsoft.com/office/drawing/2014/main" id="{1F1C4442-8409-40C2-A987-99C04FDE55BC}"/>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17510E66-798F-4EBD-9ADA-EB386BD0C5A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16/20</a:t>
            </a:r>
          </a:p>
        </p:txBody>
      </p:sp>
      <p:graphicFrame>
        <p:nvGraphicFramePr>
          <p:cNvPr id="15" name=""/>
          <p:cNvGraphicFramePr/>
          <p:nvPr/>
        </p:nvGraphicFramePr>
        <p:xfrm>
          <a:off xmlns:a="http://schemas.openxmlformats.org/drawingml/2006/main" x="571500" y="1733550"/>
          <a:ext xmlns:a="http://schemas.openxmlformats.org/drawingml/2006/main" cx="11049000" cy="3343275"/>
        </p:xfrm>
        <a:graphic xmlns:a="http://schemas.openxmlformats.org/drawingml/2006/main">
          <a:graphicData uri="http://schemas.openxmlformats.org/drawingml/2006/table">
            <a:tbl>
              <a:tblPr/>
              <a:tblGrid>
                <a:gridCol w="952500"/>
                <a:gridCol w="1695450"/>
                <a:gridCol w="1695450"/>
                <a:gridCol w="1657350"/>
                <a:gridCol w="1695450"/>
                <a:gridCol w="1695450"/>
                <a:gridCol w="1657350"/>
              </a:tblGrid>
              <a:tr h="417909">
                <a:tc>
                  <a:txBody>
                    <a:bodyPr/>
                    <a:lstStyle/>
                    <a:p>
                      <a:r>
                        <a:rPr sz="1575" b="1">
                          <a:solidFill>
                            <a:srgbClr val="FFFFFF"/>
                          </a:solidFill>
                          <a:latin typeface="Noto Sans JP"/>
                          <a:ea typeface="Noto Sans JP"/>
                          <a:cs typeface="Noto Sans JP"/>
                        </a:rPr>
                        <a:t>曜日</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3月 購入</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3月 PV</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3月 超過</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11月 購入</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11月 PV</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11月 超過</a:t>
                      </a:r>
                    </a:p>
                  </a:txBody>
                  <a:tcPr marL="91440" marR="91440" marT="45720" marB="45720">
                    <a:solidFill>
                      <a:srgbClr val="202B58"/>
                    </a:solidFill>
                  </a:tcPr>
                </a:tc>
              </a:tr>
              <a:tr h="417909">
                <a:tc>
                  <a:txBody>
                    <a:bodyPr/>
                    <a:lstStyle/>
                    <a:p>
                      <a:r>
                        <a:rPr sz="1575" b="0">
                          <a:solidFill>
                            <a:srgbClr val="202B58"/>
                          </a:solidFill>
                          <a:latin typeface="Noto Sans JP"/>
                          <a:ea typeface="Noto Sans JP"/>
                          <a:cs typeface="Noto Sans JP"/>
                        </a:rPr>
                        <a:t>月</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954.1</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547.2</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539.8</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260.0</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2,429.7</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r>
              <a:tr h="417909">
                <a:tc>
                  <a:txBody>
                    <a:bodyPr/>
                    <a:lstStyle/>
                    <a:p>
                      <a:r>
                        <a:rPr sz="1575" b="0">
                          <a:solidFill>
                            <a:srgbClr val="202B58"/>
                          </a:solidFill>
                          <a:latin typeface="Noto Sans JP"/>
                          <a:ea typeface="Noto Sans JP"/>
                          <a:cs typeface="Noto Sans JP"/>
                        </a:rPr>
                        <a:t>火</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1,314.0</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1,216.6</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1,007.8</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1,487.5</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FFFFF"/>
                    </a:solidFill>
                  </a:tcPr>
                </a:tc>
              </a:tr>
              <a:tr h="417909">
                <a:tc>
                  <a:txBody>
                    <a:bodyPr/>
                    <a:lstStyle/>
                    <a:p>
                      <a:r>
                        <a:rPr sz="1575" b="0">
                          <a:solidFill>
                            <a:srgbClr val="202B58"/>
                          </a:solidFill>
                          <a:latin typeface="Noto Sans JP"/>
                          <a:ea typeface="Noto Sans JP"/>
                          <a:cs typeface="Noto Sans JP"/>
                        </a:rPr>
                        <a:t>水</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1,592.7</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1,160.7</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1,224.6</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2,710.2</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r>
              <a:tr h="417909">
                <a:tc>
                  <a:txBody>
                    <a:bodyPr/>
                    <a:lstStyle/>
                    <a:p>
                      <a:r>
                        <a:rPr sz="1575" b="0">
                          <a:solidFill>
                            <a:srgbClr val="202B58"/>
                          </a:solidFill>
                          <a:latin typeface="Noto Sans JP"/>
                          <a:ea typeface="Noto Sans JP"/>
                          <a:cs typeface="Noto Sans JP"/>
                        </a:rPr>
                        <a:t>木</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1,666.6</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1,265.2</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0.7</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1,175.6</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753.1</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21.8</a:t>
                      </a:r>
                    </a:p>
                  </a:txBody>
                  <a:tcPr marL="91440" marR="91440" marT="45720" marB="45720">
                    <a:solidFill>
                      <a:srgbClr val="FFFFFF"/>
                    </a:solidFill>
                  </a:tcPr>
                </a:tc>
              </a:tr>
              <a:tr h="417909">
                <a:tc>
                  <a:txBody>
                    <a:bodyPr/>
                    <a:lstStyle/>
                    <a:p>
                      <a:r>
                        <a:rPr sz="1575" b="0">
                          <a:solidFill>
                            <a:srgbClr val="202B58"/>
                          </a:solidFill>
                          <a:latin typeface="Noto Sans JP"/>
                          <a:ea typeface="Noto Sans JP"/>
                          <a:cs typeface="Noto Sans JP"/>
                        </a:rPr>
                        <a:t>金</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1,137.8</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4,754.3</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1,387.4</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3,128.2</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70.2</a:t>
                      </a:r>
                    </a:p>
                  </a:txBody>
                  <a:tcPr marL="91440" marR="91440" marT="45720" marB="45720">
                    <a:solidFill>
                      <a:srgbClr val="F1F5F8"/>
                    </a:solidFill>
                  </a:tcPr>
                </a:tc>
              </a:tr>
              <a:tr h="417909">
                <a:tc>
                  <a:txBody>
                    <a:bodyPr/>
                    <a:lstStyle/>
                    <a:p>
                      <a:r>
                        <a:rPr sz="1575" b="0">
                          <a:solidFill>
                            <a:srgbClr val="202B58"/>
                          </a:solidFill>
                          <a:latin typeface="Noto Sans JP"/>
                          <a:ea typeface="Noto Sans JP"/>
                          <a:cs typeface="Noto Sans JP"/>
                        </a:rPr>
                        <a:t>土</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103.3</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1,227.4</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752.4</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2,957.2</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FFFFF"/>
                    </a:solidFill>
                  </a:tcPr>
                </a:tc>
              </a:tr>
              <a:tr h="417909">
                <a:tc>
                  <a:txBody>
                    <a:bodyPr/>
                    <a:lstStyle/>
                    <a:p>
                      <a:r>
                        <a:rPr sz="1575" b="0">
                          <a:solidFill>
                            <a:srgbClr val="202B58"/>
                          </a:solidFill>
                          <a:latin typeface="Noto Sans JP"/>
                          <a:ea typeface="Noto Sans JP"/>
                          <a:cs typeface="Noto Sans JP"/>
                        </a:rPr>
                        <a:t>日</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1,025.6</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4,684.6</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1,494.6</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2,381.3</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0.0</a:t>
                      </a:r>
                    </a:p>
                  </a:txBody>
                  <a:tcPr marL="91440" marR="91440" marT="45720" marB="45720">
                    <a:solidFill>
                      <a:srgbClr val="F1F5F8"/>
                    </a:solidFill>
                  </a:tcPr>
                </a:tc>
              </a:tr>
            </a:tbl>
          </a:graphicData>
        </a:graphic>
      </p:graphicFrame>
      <p:sp>
        <p:nvSpPr>
          <p:cNvPr id="8" name="">
            <a:extLst xmlns:a="http://schemas.openxmlformats.org/drawingml/2006/main">
              <a:ext uri="{FF2B5EF4-FFF2-40B4-BE49-F238E27FC236}">
                <a16:creationId xmlns:a16="http://schemas.microsoft.com/office/drawing/2014/main" id="{EA3986B0-338C-4230-91BC-4270844472CD}"/>
              </a:ext>
            </a:extLst>
          </p:cNvPr>
          <p:cNvSpPr>
            <a:spLocks xmlns:a="http://schemas.openxmlformats.org/drawingml/2006/main" noGrp="1"/>
          </p:cNvSpPr>
          <p:nvPr/>
        </p:nvSpPr>
        <p:spPr>
          <a:xfrm xmlns:a="http://schemas.openxmlformats.org/drawingml/2006/main">
            <a:off x="685800" y="5191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単位はすべて kWh／日。3月3〜9日、11月10〜16日。</a:t>
            </a:r>
          </a:p>
        </p:txBody>
      </p:sp>
    </p:spTree>
    <p:extLst>
      <p:ext uri="{BB962C8B-B14F-4D97-AF65-F5344CB8AC3E}">
        <p14:creationId xmlns:p14="http://schemas.microsoft.com/office/powerpoint/2010/main" val="10605564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E7A5E-3067-4800-838D-31B4ACB6FCF4}"/>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補足：月別の確定値（1月〜6月）</a:t>
            </a:r>
          </a:p>
        </p:txBody>
      </p:sp>
      <p:sp>
        <p:nvSpPr>
          <p:cNvPr id="2" name="">
            <a:extLst xmlns:a="http://schemas.openxmlformats.org/drawingml/2006/main">
              <a:ext uri="{FF2B5EF4-FFF2-40B4-BE49-F238E27FC236}">
                <a16:creationId xmlns:a16="http://schemas.microsoft.com/office/drawing/2014/main" id="{0A9B1671-55B3-458F-BF42-B2D3FC53920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同じ固定版で実行した各月1週。全週1,704便・物理違反0件</a:t>
            </a:r>
          </a:p>
        </p:txBody>
      </p:sp>
      <p:sp>
        <p:nvSpPr>
          <p:cNvPr id="3" name="">
            <a:extLst xmlns:a="http://schemas.openxmlformats.org/drawingml/2006/main">
              <a:ext uri="{FF2B5EF4-FFF2-40B4-BE49-F238E27FC236}">
                <a16:creationId xmlns:a16="http://schemas.microsoft.com/office/drawing/2014/main" id="{DF813476-EF92-4C4D-9282-50009B0919CE}"/>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月別差は、選択週の天候・配車・料金条件と併せて読む</a:t>
            </a:r>
          </a:p>
        </p:txBody>
      </p:sp>
      <p:sp>
        <p:nvSpPr>
          <p:cNvPr id="4" name="">
            <a:extLst xmlns:a="http://schemas.openxmlformats.org/drawingml/2006/main">
              <a:ext uri="{FF2B5EF4-FFF2-40B4-BE49-F238E27FC236}">
                <a16:creationId xmlns:a16="http://schemas.microsoft.com/office/drawing/2014/main" id="{A9108597-7CA3-4689-B5DA-D25E4328A56E}"/>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月平均や季節全体の効果には一般化しない。台日は日ごとの使用台数の合計。</a:t>
            </a:r>
          </a:p>
        </p:txBody>
      </p:sp>
      <p:sp>
        <p:nvSpPr>
          <p:cNvPr id="5" name="">
            <a:extLst xmlns:a="http://schemas.openxmlformats.org/drawingml/2006/main">
              <a:ext uri="{FF2B5EF4-FFF2-40B4-BE49-F238E27FC236}">
                <a16:creationId xmlns:a16="http://schemas.microsoft.com/office/drawing/2014/main" id="{30068E33-A9C2-4753-A68D-0972AEC68606}"/>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78B3E890-F505-4187-B046-10F9BCEE30F5}"/>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17/20</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952500"/>
                <a:gridCol w="1714500"/>
                <a:gridCol w="2143125"/>
                <a:gridCol w="1333500"/>
                <a:gridCol w="2476500"/>
                <a:gridCol w="2428875"/>
              </a:tblGrid>
              <a:tr h="530679">
                <a:tc>
                  <a:txBody>
                    <a:bodyPr/>
                    <a:lstStyle/>
                    <a:p>
                      <a:r>
                        <a:rPr sz="1650"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週の開始</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費用 [万円]</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台日</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購入 [kWh]</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ピーク [kW]</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1月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01-06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431.63</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5,621.7</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256.8</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2月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02-03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422.27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2,123.5</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200.0</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3月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03-03</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466.45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7,794.1</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849.4</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4月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04-07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437.83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2,706.7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420.0</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5月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05-12</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434.43</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3,981.9</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358.6</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6月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06-02</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424.83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2,804.8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244.1</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090706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5BE593-17A3-43A5-A6AF-84C493FC5379}"/>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補足：月別の確定値（7月〜12月）</a:t>
            </a:r>
          </a:p>
        </p:txBody>
      </p:sp>
      <p:sp>
        <p:nvSpPr>
          <p:cNvPr id="2" name="">
            <a:extLst xmlns:a="http://schemas.openxmlformats.org/drawingml/2006/main">
              <a:ext uri="{FF2B5EF4-FFF2-40B4-BE49-F238E27FC236}">
                <a16:creationId xmlns:a16="http://schemas.microsoft.com/office/drawing/2014/main" id="{443A9FD8-A20D-4927-9342-D93AC219CB1D}"/>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同じ固定版で実行した各月1週。全週1,704便・物理違反0件</a:t>
            </a:r>
          </a:p>
        </p:txBody>
      </p:sp>
      <p:sp>
        <p:nvSpPr>
          <p:cNvPr id="3" name="">
            <a:extLst xmlns:a="http://schemas.openxmlformats.org/drawingml/2006/main">
              <a:ext uri="{FF2B5EF4-FFF2-40B4-BE49-F238E27FC236}">
                <a16:creationId xmlns:a16="http://schemas.microsoft.com/office/drawing/2014/main" id="{53BC4142-7752-4B42-84E2-072F06602A9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月別差は、選択週の天候・配車・料金条件と併せて読む</a:t>
            </a:r>
          </a:p>
        </p:txBody>
      </p:sp>
      <p:sp>
        <p:nvSpPr>
          <p:cNvPr id="4" name="">
            <a:extLst xmlns:a="http://schemas.openxmlformats.org/drawingml/2006/main">
              <a:ext uri="{FF2B5EF4-FFF2-40B4-BE49-F238E27FC236}">
                <a16:creationId xmlns:a16="http://schemas.microsoft.com/office/drawing/2014/main" id="{3D14EC7C-F67C-4950-90CE-F5DDE7691585}"/>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月平均や季節全体の効果には一般化しない。台日は日ごとの使用台数の合計。</a:t>
            </a:r>
          </a:p>
        </p:txBody>
      </p:sp>
      <p:sp>
        <p:nvSpPr>
          <p:cNvPr id="5" name="">
            <a:extLst xmlns:a="http://schemas.openxmlformats.org/drawingml/2006/main">
              <a:ext uri="{FF2B5EF4-FFF2-40B4-BE49-F238E27FC236}">
                <a16:creationId xmlns:a16="http://schemas.microsoft.com/office/drawing/2014/main" id="{6106D3F0-31C1-4F3A-8F98-53DAE37B600B}"/>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AA6878C9-946A-44C8-A79A-C4EF094EFCF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18/20</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952500"/>
                <a:gridCol w="1714500"/>
                <a:gridCol w="2143125"/>
                <a:gridCol w="1333500"/>
                <a:gridCol w="2476500"/>
                <a:gridCol w="2428875"/>
              </a:tblGrid>
              <a:tr h="530679">
                <a:tc>
                  <a:txBody>
                    <a:bodyPr/>
                    <a:lstStyle/>
                    <a:p>
                      <a:r>
                        <a:rPr sz="1650"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週の開始</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費用 [万円]</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台日</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購入 [kWh]</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ピーク [kW]</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7月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07-07</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421.86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1,746.4</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227.0</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8月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08-04</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439.18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2,723.8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420.0</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9月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09-01</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432.09</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3,619.5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270.0</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10月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10-06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426.93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205</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4,294.1</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209.6</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11月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11-10</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442.46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7,302.4</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234.8</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12月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12-01</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444.22</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5,695.4</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263.7</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794002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EDB781-3C39-494D-82FC-0C3FA8F8EF6D}"/>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補足：計算・集計の条件</a:t>
            </a:r>
          </a:p>
        </p:txBody>
      </p:sp>
      <p:sp>
        <p:nvSpPr>
          <p:cNvPr id="2" name="">
            <a:extLst xmlns:a="http://schemas.openxmlformats.org/drawingml/2006/main">
              <a:ext uri="{FF2B5EF4-FFF2-40B4-BE49-F238E27FC236}">
                <a16:creationId xmlns:a16="http://schemas.microsoft.com/office/drawing/2014/main" id="{9CEB9ADD-7B93-4197-9092-EFEE54F72832}"/>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新しい最適化計算は行わず、固定済み12週の実行値を再集計</a:t>
            </a:r>
          </a:p>
        </p:txBody>
      </p:sp>
      <p:sp>
        <p:nvSpPr>
          <p:cNvPr id="3" name="">
            <a:extLst xmlns:a="http://schemas.openxmlformats.org/drawingml/2006/main">
              <a:ext uri="{FF2B5EF4-FFF2-40B4-BE49-F238E27FC236}">
                <a16:creationId xmlns:a16="http://schemas.microsoft.com/office/drawing/2014/main" id="{F0993688-AE17-47D5-B878-0E3FF6C1D356}"/>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全月で同じ探索規則を使用。旧版の成功週は混ぜていない</a:t>
            </a:r>
          </a:p>
        </p:txBody>
      </p:sp>
      <p:sp>
        <p:nvSpPr>
          <p:cNvPr id="4" name="">
            <a:extLst xmlns:a="http://schemas.openxmlformats.org/drawingml/2006/main">
              <a:ext uri="{FF2B5EF4-FFF2-40B4-BE49-F238E27FC236}">
                <a16:creationId xmlns:a16="http://schemas.microsoft.com/office/drawing/2014/main" id="{956441E8-C180-48B3-8674-386BDA9AE2AB}"/>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受電200 kWは超過可能な契約基準。充電器容量やSOC制約の緩和は行っていない。</a:t>
            </a:r>
          </a:p>
        </p:txBody>
      </p:sp>
      <p:sp>
        <p:nvSpPr>
          <p:cNvPr id="5" name="">
            <a:extLst xmlns:a="http://schemas.openxmlformats.org/drawingml/2006/main">
              <a:ext uri="{FF2B5EF4-FFF2-40B4-BE49-F238E27FC236}">
                <a16:creationId xmlns:a16="http://schemas.microsoft.com/office/drawing/2014/main" id="{D1F72B07-F13D-4DAC-8BF6-D691B6D64956}"/>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4A74D819-78B9-41CA-9205-FC34425D2838}"/>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19/20</a:t>
            </a:r>
          </a:p>
        </p:txBody>
      </p:sp>
      <p:graphicFrame>
        <p:nvGraphicFramePr>
          <p:cNvPr id="15" name=""/>
          <p:cNvGraphicFramePr/>
          <p:nvPr/>
        </p:nvGraphicFramePr>
        <p:xfrm>
          <a:off xmlns:a="http://schemas.openxmlformats.org/drawingml/2006/main" x="571500" y="1695450"/>
          <a:ext xmlns:a="http://schemas.openxmlformats.org/drawingml/2006/main" cx="5334000" cy="3714750"/>
        </p:xfrm>
        <a:graphic xmlns:a="http://schemas.openxmlformats.org/drawingml/2006/main">
          <a:graphicData uri="http://schemas.openxmlformats.org/drawingml/2006/table">
            <a:tbl>
              <a:tblPr/>
              <a:tblGrid>
                <a:gridCol w="2905125"/>
                <a:gridCol w="2428875"/>
              </a:tblGrid>
              <a:tr h="619125">
                <a:tc>
                  <a:txBody>
                    <a:bodyPr/>
                    <a:lstStyle/>
                    <a:p>
                      <a:r>
                        <a:rPr sz="1575" b="1">
                          <a:solidFill>
                            <a:srgbClr val="FFFFFF"/>
                          </a:solidFill>
                          <a:latin typeface="Noto Sans JP"/>
                          <a:ea typeface="Noto Sans JP"/>
                          <a:cs typeface="Noto Sans JP"/>
                        </a:rPr>
                        <a:t>計算条件</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設定</a:t>
                      </a:r>
                    </a:p>
                  </a:txBody>
                  <a:tcPr marL="91440" marR="91440" marT="45720" marB="45720">
                    <a:solidFill>
                      <a:srgbClr val="202B58"/>
                    </a:solidFill>
                  </a:tcPr>
                </a:tc>
              </a:tr>
              <a:tr h="619125">
                <a:tc>
                  <a:txBody>
                    <a:bodyPr/>
                    <a:lstStyle/>
                    <a:p>
                      <a:r>
                        <a:rPr sz="1575" b="0">
                          <a:solidFill>
                            <a:srgbClr val="202B58"/>
                          </a:solidFill>
                          <a:latin typeface="Noto Sans JP"/>
                          <a:ea typeface="Noto Sans JP"/>
                          <a:cs typeface="Noto Sans JP"/>
                        </a:rPr>
                        <a:t>前日／毎時 Method</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 ／ 0</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MIPFocus</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1</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Presolve／Aggregate</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 ／ 0</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可行性／整数許容差</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各1e−9</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接続候補の除外</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0</a:t>
                      </a:r>
                    </a:p>
                  </a:txBody>
                  <a:tcPr marL="91440" marR="91440" marT="45720" marB="45720">
                    <a:solidFill>
                      <a:srgbClr val="F1F5F8"/>
                    </a:solidFill>
                  </a:tcPr>
                </a:tc>
              </a:tr>
            </a:tbl>
          </a:graphicData>
        </a:graphic>
      </p:graphicFrame>
      <p:graphicFrame>
        <p:nvGraphicFramePr>
          <p:cNvPr id="16" name=""/>
          <p:cNvGraphicFramePr/>
          <p:nvPr/>
        </p:nvGraphicFramePr>
        <p:xfrm>
          <a:off xmlns:a="http://schemas.openxmlformats.org/drawingml/2006/main" x="6286500" y="1695450"/>
          <a:ext xmlns:a="http://schemas.openxmlformats.org/drawingml/2006/main" cx="5334000" cy="3714750"/>
        </p:xfrm>
        <a:graphic xmlns:a="http://schemas.openxmlformats.org/drawingml/2006/main">
          <a:graphicData uri="http://schemas.openxmlformats.org/drawingml/2006/table">
            <a:tbl>
              <a:tblPr/>
              <a:tblGrid>
                <a:gridCol w="2381250"/>
                <a:gridCol w="2952750"/>
              </a:tblGrid>
              <a:tr h="619125">
                <a:tc>
                  <a:txBody>
                    <a:bodyPr/>
                    <a:lstStyle/>
                    <a:p>
                      <a:r>
                        <a:rPr sz="1575" b="1">
                          <a:solidFill>
                            <a:srgbClr val="FFFFFF"/>
                          </a:solidFill>
                          <a:latin typeface="Noto Sans JP"/>
                          <a:ea typeface="Noto Sans JP"/>
                          <a:cs typeface="Noto Sans JP"/>
                        </a:rPr>
                        <a:t>集計・料金</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定義</a:t>
                      </a:r>
                    </a:p>
                  </a:txBody>
                  <a:tcPr marL="91440" marR="91440" marT="45720" marB="45720">
                    <a:solidFill>
                      <a:srgbClr val="202B58"/>
                    </a:solidFill>
                  </a:tcPr>
                </a:tc>
              </a:tr>
              <a:tr h="619125">
                <a:tc>
                  <a:txBody>
                    <a:bodyPr/>
                    <a:lstStyle/>
                    <a:p>
                      <a:r>
                        <a:rPr sz="1575" b="0">
                          <a:solidFill>
                            <a:srgbClr val="202B58"/>
                          </a:solidFill>
                          <a:latin typeface="Noto Sans JP"/>
                          <a:ea typeface="Noto Sans JP"/>
                          <a:cs typeface="Noto Sans JP"/>
                        </a:rPr>
                        <a:t>時間刻み</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15分、週672区間</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購入時間</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受電 &gt; 1 kW</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電力単価</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30円/kWh</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超過ペナルティ</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200 kW超 × 500円/kWh</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車両使用費</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20,000円／台日</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4726591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DA2273-CED8-4BF1-9EA2-DD11D05EE503}"/>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補足：出典と解釈の限界</a:t>
            </a:r>
          </a:p>
        </p:txBody>
      </p:sp>
      <p:sp>
        <p:nvSpPr>
          <p:cNvPr id="2" name="">
            <a:extLst xmlns:a="http://schemas.openxmlformats.org/drawingml/2006/main">
              <a:ext uri="{FF2B5EF4-FFF2-40B4-BE49-F238E27FC236}">
                <a16:creationId xmlns:a16="http://schemas.microsoft.com/office/drawing/2014/main" id="{01B25D95-E955-4CA1-9E44-DA011A5EE932}"/>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数値の原本と再集計を対応させ、説明可能な範囲を明示</a:t>
            </a:r>
          </a:p>
        </p:txBody>
      </p:sp>
      <p:sp>
        <p:nvSpPr>
          <p:cNvPr id="3" name="">
            <a:extLst xmlns:a="http://schemas.openxmlformats.org/drawingml/2006/main">
              <a:ext uri="{FF2B5EF4-FFF2-40B4-BE49-F238E27FC236}">
                <a16:creationId xmlns:a16="http://schemas.microsoft.com/office/drawing/2014/main" id="{2A0AB903-63C8-42FE-9F06-4A4D2A8521DD}"/>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今回示したのは、選択12週の実行可能な計画に関する診断結果</a:t>
            </a:r>
          </a:p>
        </p:txBody>
      </p:sp>
      <p:sp>
        <p:nvSpPr>
          <p:cNvPr id="4" name="">
            <a:extLst xmlns:a="http://schemas.openxmlformats.org/drawingml/2006/main">
              <a:ext uri="{FF2B5EF4-FFF2-40B4-BE49-F238E27FC236}">
                <a16:creationId xmlns:a16="http://schemas.microsoft.com/office/drawing/2014/main" id="{F4A3633C-9F36-448E-9065-5AC87ED9B01C}"/>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研究採用はBLOCKED。独立した研究承認と最適性・比較評価は未完了。</a:t>
            </a:r>
          </a:p>
        </p:txBody>
      </p:sp>
      <p:sp>
        <p:nvSpPr>
          <p:cNvPr id="5" name="">
            <a:extLst xmlns:a="http://schemas.openxmlformats.org/drawingml/2006/main">
              <a:ext uri="{FF2B5EF4-FFF2-40B4-BE49-F238E27FC236}">
                <a16:creationId xmlns:a16="http://schemas.microsoft.com/office/drawing/2014/main" id="{B2166960-F7A4-4A5F-AFEF-1ADCBBEE06BA}"/>
              </a:ext>
            </a:extLst>
          </p:cNvPr>
          <p:cNvSpPr>
            <a:spLocks xmlns:a="http://schemas.openxmlformats.org/drawingml/2006/main" noGrp="1"/>
          </p:cNvSpPr>
          <p:nvPr/>
        </p:nvSpPr>
        <p:spPr>
          <a:xfrm xmlns:a="http://schemas.openxmlformats.org/drawingml/2006/main">
            <a:off x="419100" y="6638925"/>
            <a:ext cx="1009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2026年9月18日　／　月別12週の診断比較</a:t>
            </a:r>
          </a:p>
        </p:txBody>
      </p:sp>
      <p:sp>
        <p:nvSpPr>
          <p:cNvPr id="6" name="">
            <a:extLst xmlns:a="http://schemas.openxmlformats.org/drawingml/2006/main">
              <a:ext uri="{FF2B5EF4-FFF2-40B4-BE49-F238E27FC236}">
                <a16:creationId xmlns:a16="http://schemas.microsoft.com/office/drawing/2014/main" id="{5363E44B-E21A-447C-81E4-86A50C8EA4AA}"/>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20/20</a:t>
            </a:r>
          </a:p>
        </p:txBody>
      </p:sp>
      <p:graphicFrame>
        <p:nvGraphicFramePr>
          <p:cNvPr id="15" name=""/>
          <p:cNvGraphicFramePr/>
          <p:nvPr/>
        </p:nvGraphicFramePr>
        <p:xfrm>
          <a:off xmlns:a="http://schemas.openxmlformats.org/drawingml/2006/main" x="571500" y="1695450"/>
          <a:ext xmlns:a="http://schemas.openxmlformats.org/drawingml/2006/main" cx="11049000" cy="2733675"/>
        </p:xfrm>
        <a:graphic xmlns:a="http://schemas.openxmlformats.org/drawingml/2006/main">
          <a:graphicData uri="http://schemas.openxmlformats.org/drawingml/2006/table">
            <a:tbl>
              <a:tblPr/>
              <a:tblGrid>
                <a:gridCol w="3333750"/>
                <a:gridCol w="7715250"/>
              </a:tblGrid>
              <a:tr h="546735">
                <a:tc>
                  <a:txBody>
                    <a:bodyPr/>
                    <a:lstStyle/>
                    <a:p>
                      <a:r>
                        <a:rPr sz="1650" b="1">
                          <a:solidFill>
                            <a:srgbClr val="FFFFFF"/>
                          </a:solidFill>
                          <a:latin typeface="Noto Sans JP"/>
                          <a:ea typeface="Noto Sans JP"/>
                          <a:cs typeface="Noto Sans JP"/>
                        </a:rPr>
                        <a:t>解釈に影響する条件</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今回の扱い</a:t>
                      </a:r>
                    </a:p>
                  </a:txBody>
                  <a:tcPr marL="91440" marR="91440" marT="45720" marB="45720">
                    <a:solidFill>
                      <a:srgbClr val="202B58"/>
                    </a:solidFill>
                  </a:tcPr>
                </a:tc>
              </a:tr>
              <a:tr h="546735">
                <a:tc>
                  <a:txBody>
                    <a:bodyPr/>
                    <a:lstStyle/>
                    <a:p>
                      <a:r>
                        <a:rPr sz="1650" b="0">
                          <a:solidFill>
                            <a:srgbClr val="202B58"/>
                          </a:solidFill>
                          <a:latin typeface="Noto Sans JP"/>
                          <a:ea typeface="Noto Sans JP"/>
                          <a:cs typeface="Noto Sans JP"/>
                        </a:rPr>
                        <a:t>期間・天候</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各月1週。PV・配車・予測誤差が同時に変わる</a:t>
                      </a:r>
                    </a:p>
                  </a:txBody>
                  <a:tcPr marL="91440" marR="91440" marT="45720" marB="45720">
                    <a:solidFill>
                      <a:srgbClr val="F1F5F8"/>
                    </a:solidFill>
                  </a:tcPr>
                </a:tc>
              </a:tr>
              <a:tr h="546735">
                <a:tc>
                  <a:txBody>
                    <a:bodyPr/>
                    <a:lstStyle/>
                    <a:p>
                      <a:r>
                        <a:rPr sz="1650" b="0">
                          <a:solidFill>
                            <a:srgbClr val="202B58"/>
                          </a:solidFill>
                          <a:latin typeface="Noto Sans JP"/>
                          <a:ea typeface="Noto Sans JP"/>
                          <a:cs typeface="Noto Sans JP"/>
                        </a:rPr>
                        <a:t>運行入力</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2026年時刻表を2025年に対応。距離は代理値</a:t>
                      </a:r>
                    </a:p>
                  </a:txBody>
                  <a:tcPr marL="91440" marR="91440" marT="45720" marB="45720">
                    <a:solidFill>
                      <a:srgbClr val="FFFFFF"/>
                    </a:solidFill>
                  </a:tcPr>
                </a:tc>
              </a:tr>
              <a:tr h="546735">
                <a:tc>
                  <a:txBody>
                    <a:bodyPr/>
                    <a:lstStyle/>
                    <a:p>
                      <a:r>
                        <a:rPr sz="1650" b="0">
                          <a:solidFill>
                            <a:srgbClr val="202B58"/>
                          </a:solidFill>
                          <a:latin typeface="Noto Sans JP"/>
                          <a:ea typeface="Noto Sans JP"/>
                          <a:cs typeface="Noto Sans JP"/>
                        </a:rPr>
                        <a:t>BESSの終端</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3月・11月とも在庫1,800 kWh減少</a:t>
                      </a:r>
                    </a:p>
                  </a:txBody>
                  <a:tcPr marL="91440" marR="91440" marT="45720" marB="45720">
                    <a:solidFill>
                      <a:srgbClr val="F1F5F8"/>
                    </a:solidFill>
                  </a:tcPr>
                </a:tc>
              </a:tr>
              <a:tr h="546735">
                <a:tc>
                  <a:txBody>
                    <a:bodyPr/>
                    <a:lstStyle/>
                    <a:p>
                      <a:r>
                        <a:rPr sz="1650" b="0">
                          <a:solidFill>
                            <a:srgbClr val="202B58"/>
                          </a:solidFill>
                          <a:latin typeface="Noto Sans JP"/>
                          <a:ea typeface="Noto Sans JP"/>
                          <a:cs typeface="Noto Sans JP"/>
                        </a:rPr>
                        <a:t>費用と最適性</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設備費等は未計上。統合全体最適性は未証明</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0DF067A-23EF-4F33-B7CC-250969B876D6}"/>
              </a:ext>
            </a:extLst>
          </p:cNvPr>
          <p:cNvSpPr>
            <a:spLocks xmlns:a="http://schemas.openxmlformats.org/drawingml/2006/main" noGrp="1"/>
          </p:cNvSpPr>
          <p:nvPr/>
        </p:nvSpPr>
        <p:spPr>
          <a:xfrm xmlns:a="http://schemas.openxmlformats.org/drawingml/2006/main">
            <a:off x="609600" y="4619625"/>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数値原本：SHIBU21_23_MONTHLY_PHASE_SEARCH_RESULTS_20260915.json</a:t>
            </a:r>
          </a:p>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再集計：outcome/2026-09-18_urabe_followup/analysis.json</a:t>
            </a:r>
          </a:p>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先生のご指摘：2026年9月16日Slack DM。原本の詳細パスは各ページのノート。</a:t>
            </a:r>
          </a:p>
        </p:txBody>
      </p:sp>
    </p:spTree>
    <p:extLst>
      <p:ext uri="{BB962C8B-B14F-4D97-AF65-F5344CB8AC3E}">
        <p14:creationId xmlns:p14="http://schemas.microsoft.com/office/powerpoint/2010/main" val="209973552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2026-09-18T04:07:03.3000000Z</dcterms:created>
  <dcterms:modified xsi:type="dcterms:W3CDTF">2026-09-18T04:07:03.3000000Z</dcterms:modified>
</coreProperties>
</file>