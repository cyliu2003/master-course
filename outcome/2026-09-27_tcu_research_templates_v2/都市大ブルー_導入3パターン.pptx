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90" r:id="rId2"/>
    <p:sldId id="291" r:id="rId3"/>
    <p:sldId id="292" r:id="rId4"/>
    <p:sldId id="293" r:id="rId5"/>
    <p:sldId id="294" r:id="rId6"/>
    <p:sldId id="295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ja-JP" altLang="en-US" sz="1200" kern="1200">
        <a:latin typeface="Times New Roman"/>
        <a:ea typeface="Meiryo"/>
        <a:cs typeface="Times New Roman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【発表カンペ｜目安 40–60秒】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］を埋めて話します。時間は内容に応じて調整してください。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【話す内容】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政策・計画名］では、［目指す姿］が掲げられています。これに対し、［現場・対象］では［現状］があり、実現に向けて［課題］が残っています。右の図は［出典・対象期間］に基づく現状です。本研究は、この課題のうち［扱う部分］に着目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【指す場所・間の取り方】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政策の記述と、自分の課題設定を区別する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【次ページへのつなぎ】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次に、その課題に対して本研究が担う役割を示します。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※ページの順番を変えた場合は、つなぎの文も修正してください。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【自分用のメモ】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強調する語：［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省略できる説明：［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想定質問：［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回答の要点と根拠：［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未確認のとき：この点はまだ確認できていません。［確認方法］で確認します。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【記入・編集の補足】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導入パターン用の記入欄。発表カンペは統合時に設定。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本ページは独自の導入仮案です。共有された中島先生の資料はログインが必要で本文未確認。固有の表現・数値・図は転載していません。政策資料は正式名称・発行主体・発行年・該当頁・URLを確認して記入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政策の目標：［資料名・発行主体・年・頁・URL］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現場の事実：［資料名・対象期間・範囲・URL］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【発表カンペ｜目安 35–50秒】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］を埋めて話します。時間は内容に応じて調整してください。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【話す内容】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解決したい課題は［課題］です。本研究では［対象・条件］の下で［方法］を検証し、［指標・成果物］を示します。これにより、［誰が何を判断するか］の判断材料を提供します。今回扱う範囲は［範囲］であり、［対象外］は今後の課題で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【指す場所・間の取り方】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課題→検証→判断材料の対応をたどる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【次ページへのつなぎ】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この役割を具体的な研究目的として整理します。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※ページの順番を変えた場合は、つなぎの文も修正してください。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【自分用のメモ】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強調する語：［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省略できる説明：［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想定質問：［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回答の要点と根拠：［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未確認のとき：この点はまだ確認できていません。［確認方法］で確認します。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【記入・編集の補足】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導入パターン用の記入欄。発表カンペは統合時に設定。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本ページは独自の導入仮案です。共有された中島先生の資料はログインが必要で本文未確認。固有の表現・数値・図は転載していません。政策資料は正式名称・発行主体・発行年・該当頁・URLを確認して記入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政策の目標：［資料名・発行主体・年・頁・URL］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現場の事実：［資料名・対象期間・範囲・URL］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【発表カンペ｜目安 40–60秒】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］を埋めて話します。時間は内容に応じて調整してください。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【話す内容】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まず、［現場・利用者］の状況から説明します。左の［写真・図］は［対象・場面］を示しています。［具体的な場面］では、［困りごと］が生じています。［出典・観察記録］では［数値・事実］が確認されています。現在は［対応］を行っていますが、［残る課題］があり、本研究ではその改善条件を調べ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【指す場所・間の取り方】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現場の場面を説明してから数値を示す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【次ページへのつなぎ】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この課題を、比較可能な研究の問いに置き換えます。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※ページの順番を変えた場合は、つなぎの文も修正してください。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【自分用のメモ】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強調する語：［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省略できる説明：［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想定質問：［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回答の要点と根拠：［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未確認のとき：この点はまだ確認できていません。［確認方法］で確認します。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【記入・編集の補足】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導入パターン用の記入欄。発表カンペは統合時に設定。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本ページは独自の導入仮案です。共有された中島先生の資料はログインが必要で本文未確認。固有の表現・数値・図は転載していません。政策資料は正式名称・発行主体・発行年・該当頁・URLを確認して記入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政策の目標：［資料名・発行主体・年・頁・URL］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現場の事実：［資料名・対象期間・範囲・URL］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【発表カンペ｜目安 35–50秒】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］を埋めて話します。時間は内容に応じて調整してください。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【話す内容】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現状では［現在の対応］を行っていますが、［負担・制約］が残っています。本研究では［方法・条件］を変え、［指標・単位］で違いを評価します。［共通条件］はそろえます。［比較対象］に対して［何がどう変わるか］が、検証したい問いで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【指す場所・間の取り方】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現場の困りごとと評価指標の対応を示す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【次ページへのつなぎ】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続いて、その問いに答える方法を説明します。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※ページの順番を変えた場合は、つなぎの文も修正してください。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【自分用のメモ】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強調する語：［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省略できる説明：［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想定質問：［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回答の要点と根拠：［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未確認のとき：この点はまだ確認できていません。［確認方法］で確認します。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【記入・編集の補足】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導入パターン用の記入欄。発表カンペは統合時に設定。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本ページは独自の導入仮案です。共有された中島先生の資料はログインが必要で本文未確認。固有の表現・数値・図は転載していません。政策資料は正式名称・発行主体・発行年・該当頁・URLを確認して記入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政策の目標：［資料名・発行主体・年・頁・URL］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現場の事実：［資料名・対象期間・範囲・URL］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【発表カンペ｜目安 30–45秒】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］を埋めて話します。時間は内容に応じて調整してください。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【話す内容】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最初に、本研究の要点をお伝えします。［対象］について［何を明らかにするか］を検証する研究です。研究としては［問い・差分］を確認し、将来的には［誰のどの判断］に役立てることを想定しています。その活用には［必要な条件］の確認が必要で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【指す場所・間の取り方】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研究の問いと将来の意義を分ける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【次ページへのつなぎ】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次に、今回どこまで検証するかを示します。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※ページの順番を変えた場合は、つなぎの文も修正してください。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【自分用のメモ】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強調する語：［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省略できる説明：［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想定質問：［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回答の要点と根拠：［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未確認のとき：この点はまだ確認できていません。［確認方法］で確認します。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【記入・編集の補足】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導入パターン用の記入欄。発表カンペは統合時に設定。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本ページは独自の導入仮案です。共有された中島先生の資料はログインが必要で本文未確認。固有の表現・数値・図は転載していません。政策資料は正式名称・発行主体・発行年・該当頁・URLを確認して記入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政策の目標：［資料名・発行主体・年・頁・URL］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現場の事実：［資料名・対象期間・範囲・URL］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【発表カンペ｜目安 35–50秒】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］を埋めて話します。時間は内容に応じて調整してください。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【話す内容】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今回の研究では［対象・条件］において、［成果物・指標］を示すことを目指します。結論の適用範囲は［範囲］です。実際の活用に向けては、［追加検証］と［導入上の条件］を確認する必要があります。本日は、このうち［説明する到達点］を中心に報告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【指す場所・間の取り方】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研究の到達点と活用までの課題を示す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【次ページへのつなぎ】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ここから、研究目的と具体的な方法を説明します。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※ページの順番を変えた場合は、つなぎの文も修正してください。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【自分用のメモ】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強調する語：［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省略できる説明：［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想定質問：［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回答の要点と根拠：［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未確認のとき：この点はまだ確認できていません。［確認方法］で確認します。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【記入・編集の補足】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導入パターン用の記入欄。発表カンペは統合時に設定。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本ページは独自の導入仮案です。共有された中島先生の資料はログインが必要で本文未確認。固有の表現・数値・図は転載していません。政策資料は正式名称・発行主体・発行年・該当頁・URLを確認して記入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政策の目標：［資料名・発行主体・年・頁・URL］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現場の事実：［資料名・対象期間・範囲・URL］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1 研究発表の表紙" preserve="1">
  <p:cSld name="01 研究発表の表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TATIC_rule_1">
            <a:extLst>
              <a:ext uri="{FF2B5EF4-FFF2-40B4-BE49-F238E27FC236}">
                <a16:creationId xmlns:a16="http://schemas.microsoft.com/office/drawing/2014/main" id="{BCF2AE1A-DD65-4F91-9444-3779680999A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subtitle_2">
            <a:extLst>
              <a:ext uri="{FF2B5EF4-FFF2-40B4-BE49-F238E27FC236}">
                <a16:creationId xmlns:a16="http://schemas.microsoft.com/office/drawing/2014/main" id="{D95785DB-FFA5-4AD3-9C65-D2801F0266A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8650" y="619125"/>
            <a:ext cx="1090612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研究発表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PH_title_3">
            <a:extLst>
              <a:ext uri="{FF2B5EF4-FFF2-40B4-BE49-F238E27FC236}">
                <a16:creationId xmlns:a16="http://schemas.microsoft.com/office/drawing/2014/main" id="{6F294B2D-47F6-46D8-8246-12EB62BA7D0B}"/>
              </a:ext>
            </a:extLst>
          </p:cNvPr>
          <p:cNvSpPr>
            <a:spLocks noGrp="1"/>
          </p:cNvSpPr>
          <p:nvPr>
            <p:ph type="title" idx="2" hasCustomPrompt="1"/>
          </p:nvPr>
        </p:nvSpPr>
        <p:spPr>
          <a:xfrm>
            <a:off x="590550" y="1857375"/>
            <a:ext cx="10953750" cy="1809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435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435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［研究題目］</a:t>
            </a:r>
            <a:endParaRPr lang="ja-JP" altLang="en-US" sz="4350" b="1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435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435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［必要なら2行目］</a:t>
            </a:r>
            <a:endParaRPr lang="ja-JP" altLang="en-US" sz="43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4" name="STATIC_rule_4">
            <a:extLst>
              <a:ext uri="{FF2B5EF4-FFF2-40B4-BE49-F238E27FC236}">
                <a16:creationId xmlns:a16="http://schemas.microsoft.com/office/drawing/2014/main" id="{93E2E4C4-AC79-45C5-8F0C-180A32C1F3C8}"/>
              </a:ext>
            </a:extLst>
          </p:cNvPr>
          <p:cNvSpPr>
            <a:spLocks noGrp="1"/>
          </p:cNvSpPr>
          <p:nvPr/>
        </p:nvSpPr>
        <p:spPr>
          <a:xfrm>
            <a:off x="628650" y="4048125"/>
            <a:ext cx="1466850" cy="571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5" name="PH_body_5">
            <a:extLst>
              <a:ext uri="{FF2B5EF4-FFF2-40B4-BE49-F238E27FC236}">
                <a16:creationId xmlns:a16="http://schemas.microsoft.com/office/drawing/2014/main" id="{9C6D1B29-C1CB-4997-A923-69A544DD171E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609600" y="4391025"/>
            <a:ext cx="108585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［発表会・学会・審査会の名称］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H_body_6">
            <a:extLst>
              <a:ext uri="{FF2B5EF4-FFF2-40B4-BE49-F238E27FC236}">
                <a16:creationId xmlns:a16="http://schemas.microsoft.com/office/drawing/2014/main" id="{DC5F9089-9455-4D49-801B-13B794E7E09F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609600" y="5257800"/>
            <a:ext cx="10858500" cy="91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0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東京都市大学　［研究科・専攻・研究室］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0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［氏名］　　YYYY.MM.DD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2 進捗報告の表紙" preserve="1">
  <p:cSld name="02 進捗報告の表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TATIC_rule_7">
            <a:extLst>
              <a:ext uri="{FF2B5EF4-FFF2-40B4-BE49-F238E27FC236}">
                <a16:creationId xmlns:a16="http://schemas.microsoft.com/office/drawing/2014/main" id="{5FD949CB-DC91-432E-A26E-C78D01BAAC3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subtitle_8">
            <a:extLst>
              <a:ext uri="{FF2B5EF4-FFF2-40B4-BE49-F238E27FC236}">
                <a16:creationId xmlns:a16="http://schemas.microsoft.com/office/drawing/2014/main" id="{3D38E6BF-A38A-4CC2-AC09-88A1EC34AD2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8650" y="619125"/>
            <a:ext cx="1090612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研究進捗報告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PH_title_9">
            <a:extLst>
              <a:ext uri="{FF2B5EF4-FFF2-40B4-BE49-F238E27FC236}">
                <a16:creationId xmlns:a16="http://schemas.microsoft.com/office/drawing/2014/main" id="{71E19A1D-4EDC-4651-9F96-7720FEE771C7}"/>
              </a:ext>
            </a:extLst>
          </p:cNvPr>
          <p:cNvSpPr>
            <a:spLocks noGrp="1"/>
          </p:cNvSpPr>
          <p:nvPr>
            <p:ph type="title" idx="2" hasCustomPrompt="1"/>
          </p:nvPr>
        </p:nvSpPr>
        <p:spPr>
          <a:xfrm>
            <a:off x="590550" y="1857375"/>
            <a:ext cx="10953750" cy="1809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435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435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［研究題目］</a:t>
            </a:r>
            <a:endParaRPr lang="ja-JP" altLang="en-US" sz="4350" b="1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435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435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［必要なら2行目］</a:t>
            </a:r>
            <a:endParaRPr lang="ja-JP" altLang="en-US" sz="43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4" name="STATIC_rule_10">
            <a:extLst>
              <a:ext uri="{FF2B5EF4-FFF2-40B4-BE49-F238E27FC236}">
                <a16:creationId xmlns:a16="http://schemas.microsoft.com/office/drawing/2014/main" id="{D19A1F19-49B4-4CD7-B414-BDCFF7141469}"/>
              </a:ext>
            </a:extLst>
          </p:cNvPr>
          <p:cNvSpPr>
            <a:spLocks noGrp="1"/>
          </p:cNvSpPr>
          <p:nvPr/>
        </p:nvSpPr>
        <p:spPr>
          <a:xfrm>
            <a:off x="628650" y="4048125"/>
            <a:ext cx="1466850" cy="571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5" name="PH_body_11">
            <a:extLst>
              <a:ext uri="{FF2B5EF4-FFF2-40B4-BE49-F238E27FC236}">
                <a16:creationId xmlns:a16="http://schemas.microsoft.com/office/drawing/2014/main" id="{3F24A689-DAF1-4A63-9945-755DD40CCAA6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609600" y="4391025"/>
            <a:ext cx="108585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［対象期間］　YYYY.MM.DD – MM.DD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H_body_12">
            <a:extLst>
              <a:ext uri="{FF2B5EF4-FFF2-40B4-BE49-F238E27FC236}">
                <a16:creationId xmlns:a16="http://schemas.microsoft.com/office/drawing/2014/main" id="{6F5E82F1-9F62-42C8-B411-033CA8DB29A9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609600" y="5257800"/>
            <a:ext cx="10858500" cy="91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0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東京都市大学　［研究科・専攻・研究室］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0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［氏名］　　YYYY.MM.DD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 発表の流れ" preserve="1">
  <p:cSld name="03 発表の流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TATIC_rule_13">
            <a:extLst>
              <a:ext uri="{FF2B5EF4-FFF2-40B4-BE49-F238E27FC236}">
                <a16:creationId xmlns:a16="http://schemas.microsoft.com/office/drawing/2014/main" id="{2BB7DF9A-704C-4F96-A5B8-C89329834D4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14">
            <a:extLst>
              <a:ext uri="{FF2B5EF4-FFF2-40B4-BE49-F238E27FC236}">
                <a16:creationId xmlns:a16="http://schemas.microsoft.com/office/drawing/2014/main" id="{B65A4C6A-4808-4645-A4EE-9CAC25DDE9BA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本日の構成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15">
            <a:extLst>
              <a:ext uri="{FF2B5EF4-FFF2-40B4-BE49-F238E27FC236}">
                <a16:creationId xmlns:a16="http://schemas.microsoft.com/office/drawing/2014/main" id="{6FCA304F-4C0E-442B-B84E-A4A40310566C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16">
            <a:extLst>
              <a:ext uri="{FF2B5EF4-FFF2-40B4-BE49-F238E27FC236}">
                <a16:creationId xmlns:a16="http://schemas.microsoft.com/office/drawing/2014/main" id="{715B940A-C45E-46E9-BB55-2CB0593ED885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17">
            <a:extLst>
              <a:ext uri="{FF2B5EF4-FFF2-40B4-BE49-F238E27FC236}">
                <a16:creationId xmlns:a16="http://schemas.microsoft.com/office/drawing/2014/main" id="{C50ABC14-7CA3-410C-B59A-4E76A3486557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18">
            <a:extLst>
              <a:ext uri="{FF2B5EF4-FFF2-40B4-BE49-F238E27FC236}">
                <a16:creationId xmlns:a16="http://schemas.microsoft.com/office/drawing/2014/main" id="{D3112512-068D-43A9-936D-1C3F0CC4A752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DE9204B3-D722-47F1-8EF4-FCE251560EB4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H_body_19">
            <a:extLst>
              <a:ext uri="{FF2B5EF4-FFF2-40B4-BE49-F238E27FC236}">
                <a16:creationId xmlns:a16="http://schemas.microsoft.com/office/drawing/2014/main" id="{FE3E2D09-11C3-47D7-8DDD-FEE0828F9F17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619125" y="1790700"/>
            <a:ext cx="76200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1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1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01</a:t>
            </a:r>
            <a:endParaRPr lang="ja-JP" altLang="en-US" sz="31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LABEL_20">
            <a:extLst>
              <a:ext uri="{FF2B5EF4-FFF2-40B4-BE49-F238E27FC236}">
                <a16:creationId xmlns:a16="http://schemas.microsoft.com/office/drawing/2014/main" id="{AE06B57D-1919-437A-8B27-2A1323A5CC71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1619250" y="1790700"/>
            <a:ext cx="3619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背景と目的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PH_body_21">
            <a:extLst>
              <a:ext uri="{FF2B5EF4-FFF2-40B4-BE49-F238E27FC236}">
                <a16:creationId xmlns:a16="http://schemas.microsoft.com/office/drawing/2014/main" id="{8FF25471-1D11-472A-8B36-20A1DFCA446D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524500" y="1790700"/>
            <a:ext cx="60007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［何が課題で、何を明らかにするか］</a:t>
            </a:r>
            <a:endParaRPr lang="ja-JP" altLang="en-US" sz="21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STATIC_rule_22">
            <a:extLst>
              <a:ext uri="{FF2B5EF4-FFF2-40B4-BE49-F238E27FC236}">
                <a16:creationId xmlns:a16="http://schemas.microsoft.com/office/drawing/2014/main" id="{9F7A7686-7C60-43F7-9CC5-229B5F228F98}"/>
              </a:ext>
            </a:extLst>
          </p:cNvPr>
          <p:cNvSpPr>
            <a:spLocks noGrp="1"/>
          </p:cNvSpPr>
          <p:nvPr/>
        </p:nvSpPr>
        <p:spPr>
          <a:xfrm>
            <a:off x="1619250" y="2543175"/>
            <a:ext cx="9906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11" name="PH_body_23">
            <a:extLst>
              <a:ext uri="{FF2B5EF4-FFF2-40B4-BE49-F238E27FC236}">
                <a16:creationId xmlns:a16="http://schemas.microsoft.com/office/drawing/2014/main" id="{F3403483-19F6-4848-AB3D-AB1248A33A3D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619125" y="2771775"/>
            <a:ext cx="76200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1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1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02</a:t>
            </a:r>
            <a:endParaRPr lang="ja-JP" altLang="en-US" sz="31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LABEL_24">
            <a:extLst>
              <a:ext uri="{FF2B5EF4-FFF2-40B4-BE49-F238E27FC236}">
                <a16:creationId xmlns:a16="http://schemas.microsoft.com/office/drawing/2014/main" id="{A930AC73-AD67-4012-81B4-CFA46E52E8F2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1619250" y="2771775"/>
            <a:ext cx="3619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手法と条件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body_25">
            <a:extLst>
              <a:ext uri="{FF2B5EF4-FFF2-40B4-BE49-F238E27FC236}">
                <a16:creationId xmlns:a16="http://schemas.microsoft.com/office/drawing/2014/main" id="{9AFC7BD7-5DE1-49D7-AB12-324BA6DBBCE1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5524500" y="2771775"/>
            <a:ext cx="60007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［どのように検証するか］</a:t>
            </a:r>
            <a:endParaRPr lang="ja-JP" altLang="en-US" sz="21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4" name="STATIC_rule_26">
            <a:extLst>
              <a:ext uri="{FF2B5EF4-FFF2-40B4-BE49-F238E27FC236}">
                <a16:creationId xmlns:a16="http://schemas.microsoft.com/office/drawing/2014/main" id="{FDC9CADB-1FE3-4EBC-B64C-F493A6D759A0}"/>
              </a:ext>
            </a:extLst>
          </p:cNvPr>
          <p:cNvSpPr>
            <a:spLocks noGrp="1"/>
          </p:cNvSpPr>
          <p:nvPr/>
        </p:nvSpPr>
        <p:spPr>
          <a:xfrm>
            <a:off x="1619250" y="3524250"/>
            <a:ext cx="9906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15" name="PH_body_27">
            <a:extLst>
              <a:ext uri="{FF2B5EF4-FFF2-40B4-BE49-F238E27FC236}">
                <a16:creationId xmlns:a16="http://schemas.microsoft.com/office/drawing/2014/main" id="{359C4BDE-6312-44FD-A1F8-D7CC5D914927}"/>
              </a:ext>
            </a:extLst>
          </p:cNvPr>
          <p:cNvSpPr>
            <a:spLocks noGrp="1"/>
          </p:cNvSpPr>
          <p:nvPr>
            <p:ph type="body" idx="9" hasCustomPrompt="1"/>
          </p:nvPr>
        </p:nvSpPr>
        <p:spPr>
          <a:xfrm>
            <a:off x="619125" y="3752850"/>
            <a:ext cx="76200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1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1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03</a:t>
            </a:r>
            <a:endParaRPr lang="ja-JP" altLang="en-US" sz="31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6" name="LABEL_28">
            <a:extLst>
              <a:ext uri="{FF2B5EF4-FFF2-40B4-BE49-F238E27FC236}">
                <a16:creationId xmlns:a16="http://schemas.microsoft.com/office/drawing/2014/main" id="{88A3DAA8-E108-4EA2-AAB6-4F9485B393BD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619250" y="3752850"/>
            <a:ext cx="3619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結果と考察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7" name="PH_body_29">
            <a:extLst>
              <a:ext uri="{FF2B5EF4-FFF2-40B4-BE49-F238E27FC236}">
                <a16:creationId xmlns:a16="http://schemas.microsoft.com/office/drawing/2014/main" id="{DDA282F9-C66E-46A9-A385-EA247CEC4013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5524500" y="3752850"/>
            <a:ext cx="60007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［何がわかり、どこまで言えるか］</a:t>
            </a:r>
            <a:endParaRPr lang="ja-JP" altLang="en-US" sz="21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8" name="STATIC_rule_30">
            <a:extLst>
              <a:ext uri="{FF2B5EF4-FFF2-40B4-BE49-F238E27FC236}">
                <a16:creationId xmlns:a16="http://schemas.microsoft.com/office/drawing/2014/main" id="{17223891-D9F4-4A1D-946B-BB2E6001DFE1}"/>
              </a:ext>
            </a:extLst>
          </p:cNvPr>
          <p:cNvSpPr>
            <a:spLocks noGrp="1"/>
          </p:cNvSpPr>
          <p:nvPr/>
        </p:nvSpPr>
        <p:spPr>
          <a:xfrm>
            <a:off x="1619250" y="4505325"/>
            <a:ext cx="9906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19" name="PH_body_31">
            <a:extLst>
              <a:ext uri="{FF2B5EF4-FFF2-40B4-BE49-F238E27FC236}">
                <a16:creationId xmlns:a16="http://schemas.microsoft.com/office/drawing/2014/main" id="{ECCB45BD-E096-4E35-A08C-EC1BE3391F69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619125" y="4733925"/>
            <a:ext cx="76200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1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1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04</a:t>
            </a:r>
            <a:endParaRPr lang="ja-JP" altLang="en-US" sz="31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20" name="LABEL_32">
            <a:extLst>
              <a:ext uri="{FF2B5EF4-FFF2-40B4-BE49-F238E27FC236}">
                <a16:creationId xmlns:a16="http://schemas.microsoft.com/office/drawing/2014/main" id="{9E015EE4-1075-47FF-A875-780122FA0E81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619250" y="4733925"/>
            <a:ext cx="3619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まとめ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21" name="PH_body_33">
            <a:extLst>
              <a:ext uri="{FF2B5EF4-FFF2-40B4-BE49-F238E27FC236}">
                <a16:creationId xmlns:a16="http://schemas.microsoft.com/office/drawing/2014/main" id="{84D02C4D-DEB3-4F47-875D-82DC311369E3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5524500" y="4733925"/>
            <a:ext cx="60007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［結論と残された課題］</a:t>
            </a:r>
            <a:endParaRPr lang="ja-JP" altLang="en-US" sz="2100" b="0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4 章扉" preserve="1">
  <p:cSld name="04 章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TATIC_rule_34">
            <a:extLst>
              <a:ext uri="{FF2B5EF4-FFF2-40B4-BE49-F238E27FC236}">
                <a16:creationId xmlns:a16="http://schemas.microsoft.com/office/drawing/2014/main" id="{BC6795F1-BA4A-4955-8417-F3F5E5137E9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body_35">
            <a:extLst>
              <a:ext uri="{FF2B5EF4-FFF2-40B4-BE49-F238E27FC236}">
                <a16:creationId xmlns:a16="http://schemas.microsoft.com/office/drawing/2014/main" id="{E095F2D9-4CD9-4935-88C5-099FCD0E3AC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19125" y="2009775"/>
            <a:ext cx="2190750" cy="1638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88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88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01</a:t>
            </a:r>
            <a:endParaRPr lang="ja-JP" altLang="en-US" sz="88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PH_title_36">
            <a:extLst>
              <a:ext uri="{FF2B5EF4-FFF2-40B4-BE49-F238E27FC236}">
                <a16:creationId xmlns:a16="http://schemas.microsoft.com/office/drawing/2014/main" id="{5CCAF294-F4DE-4AB2-94A1-087B494F1A40}"/>
              </a:ext>
            </a:extLst>
          </p:cNvPr>
          <p:cNvSpPr>
            <a:spLocks noGrp="1"/>
          </p:cNvSpPr>
          <p:nvPr>
            <p:ph type="title" idx="2" hasCustomPrompt="1"/>
          </p:nvPr>
        </p:nvSpPr>
        <p:spPr>
          <a:xfrm>
            <a:off x="3057525" y="2352675"/>
            <a:ext cx="8248650" cy="828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675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675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［章の名称］</a:t>
            </a:r>
            <a:endParaRPr lang="ja-JP" altLang="en-US" sz="3675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4" name="PH_body_37">
            <a:extLst>
              <a:ext uri="{FF2B5EF4-FFF2-40B4-BE49-F238E27FC236}">
                <a16:creationId xmlns:a16="http://schemas.microsoft.com/office/drawing/2014/main" id="{5EEACC6B-BE5A-4503-97C9-A38323A2144C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3105150" y="3486150"/>
            <a:ext cx="8001000" cy="68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［この章で伝えることを1文で］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5 背景と課題" preserve="1">
  <p:cSld name="05 背景と課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TATIC_rule_38">
            <a:extLst>
              <a:ext uri="{FF2B5EF4-FFF2-40B4-BE49-F238E27FC236}">
                <a16:creationId xmlns:a16="http://schemas.microsoft.com/office/drawing/2014/main" id="{F8196F0B-1D2E-4A32-ACF0-B41229C0242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39">
            <a:extLst>
              <a:ext uri="{FF2B5EF4-FFF2-40B4-BE49-F238E27FC236}">
                <a16:creationId xmlns:a16="http://schemas.microsoft.com/office/drawing/2014/main" id="{9FF45C0D-7424-4495-8695-B4B4F78D37E3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研究の背景と課題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40">
            <a:extLst>
              <a:ext uri="{FF2B5EF4-FFF2-40B4-BE49-F238E27FC236}">
                <a16:creationId xmlns:a16="http://schemas.microsoft.com/office/drawing/2014/main" id="{94121608-A7F0-4F71-AE52-27D6A08E6447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41">
            <a:extLst>
              <a:ext uri="{FF2B5EF4-FFF2-40B4-BE49-F238E27FC236}">
                <a16:creationId xmlns:a16="http://schemas.microsoft.com/office/drawing/2014/main" id="{FA4B55E2-2623-4E85-9FC8-AB3457523208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42">
            <a:extLst>
              <a:ext uri="{FF2B5EF4-FFF2-40B4-BE49-F238E27FC236}">
                <a16:creationId xmlns:a16="http://schemas.microsoft.com/office/drawing/2014/main" id="{4FA49625-6BB2-4EA9-9BE1-BD22D8E2467E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43">
            <a:extLst>
              <a:ext uri="{FF2B5EF4-FFF2-40B4-BE49-F238E27FC236}">
                <a16:creationId xmlns:a16="http://schemas.microsoft.com/office/drawing/2014/main" id="{9804D8E3-E740-4215-ACA4-670FAFE8E3D8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CF268B1F-ABF2-494C-B6F1-9BD89E85C953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LABEL_44">
            <a:extLst>
              <a:ext uri="{FF2B5EF4-FFF2-40B4-BE49-F238E27FC236}">
                <a16:creationId xmlns:a16="http://schemas.microsoft.com/office/drawing/2014/main" id="{720A50DA-649D-477F-A234-B03766043667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743075"/>
            <a:ext cx="423862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背景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body_45">
            <a:extLst>
              <a:ext uri="{FF2B5EF4-FFF2-40B4-BE49-F238E27FC236}">
                <a16:creationId xmlns:a16="http://schemas.microsoft.com/office/drawing/2014/main" id="{DB3A18F4-E705-4AB0-9958-8FAB3467FF8E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2238375"/>
            <a:ext cx="4248150" cy="1171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［対象分野の現状］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［重要性を示す事実］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LABEL_46">
            <a:extLst>
              <a:ext uri="{FF2B5EF4-FFF2-40B4-BE49-F238E27FC236}">
                <a16:creationId xmlns:a16="http://schemas.microsoft.com/office/drawing/2014/main" id="{A9D557C7-E616-4AF9-BDE5-46ED6537DDF9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3838575"/>
            <a:ext cx="42481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未解決の課題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PH_body_47">
            <a:extLst>
              <a:ext uri="{FF2B5EF4-FFF2-40B4-BE49-F238E27FC236}">
                <a16:creationId xmlns:a16="http://schemas.microsoft.com/office/drawing/2014/main" id="{F8F94CF4-095B-4B51-AAED-CFE5843686E3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571500" y="4305300"/>
            <a:ext cx="4248150" cy="106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［現在の方法では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難しいこと］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figure_48">
            <a:extLst>
              <a:ext uri="{FF2B5EF4-FFF2-40B4-BE49-F238E27FC236}">
                <a16:creationId xmlns:a16="http://schemas.microsoft.com/office/drawing/2014/main" id="{CACEFC15-4513-49D3-A66F-7ECCFEF791D1}"/>
              </a:ext>
            </a:extLst>
          </p:cNvPr>
          <p:cNvSpPr>
            <a:spLocks noGrp="1"/>
          </p:cNvSpPr>
          <p:nvPr>
            <p:ph idx="7" hasCustomPrompt="1"/>
          </p:nvPr>
        </p:nvSpPr>
        <p:spPr>
          <a:xfrm>
            <a:off x="5219700" y="1809750"/>
            <a:ext cx="6400800" cy="3419475"/>
          </a:xfrm>
          <a:prstGeom prst="rect">
            <a:avLst/>
          </a:prstGeom>
          <a:solidFill>
            <a:srgbClr val="EDF8FD"/>
          </a:solidFill>
          <a:ln w="13335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［背景を示す図・写真・統計］</a:t>
            </a:r>
            <a:endParaRPr lang="ja-JP" altLang="en-US" sz="2175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PH_source_49">
            <a:extLst>
              <a:ext uri="{FF2B5EF4-FFF2-40B4-BE49-F238E27FC236}">
                <a16:creationId xmlns:a16="http://schemas.microsoft.com/office/drawing/2014/main" id="{32FC929E-98F2-4AEF-B27E-D4F58023C0EF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5238750" y="5286375"/>
            <a:ext cx="6372225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出典：［著者・資料名・年］</a:t>
            </a:r>
            <a:endParaRPr lang="ja-JP" altLang="en-US" sz="1350" b="0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6 研究目的と問い" preserve="1">
  <p:cSld name="06 研究目的と問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TATIC_rule_50">
            <a:extLst>
              <a:ext uri="{FF2B5EF4-FFF2-40B4-BE49-F238E27FC236}">
                <a16:creationId xmlns:a16="http://schemas.microsoft.com/office/drawing/2014/main" id="{7B3A6735-70F8-4D07-9688-CE669599BCB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51">
            <a:extLst>
              <a:ext uri="{FF2B5EF4-FFF2-40B4-BE49-F238E27FC236}">
                <a16:creationId xmlns:a16="http://schemas.microsoft.com/office/drawing/2014/main" id="{64A05A5B-ABC1-457A-B01A-C265855BCB1C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研究目的と研究の問い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52">
            <a:extLst>
              <a:ext uri="{FF2B5EF4-FFF2-40B4-BE49-F238E27FC236}">
                <a16:creationId xmlns:a16="http://schemas.microsoft.com/office/drawing/2014/main" id="{CC85461D-5318-4D48-80CD-F8D23C806F3E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53">
            <a:extLst>
              <a:ext uri="{FF2B5EF4-FFF2-40B4-BE49-F238E27FC236}">
                <a16:creationId xmlns:a16="http://schemas.microsoft.com/office/drawing/2014/main" id="{4FEF5F2D-49AD-4420-A9FE-2454BC014DCF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54">
            <a:extLst>
              <a:ext uri="{FF2B5EF4-FFF2-40B4-BE49-F238E27FC236}">
                <a16:creationId xmlns:a16="http://schemas.microsoft.com/office/drawing/2014/main" id="{49A3E8FC-C805-4575-8BEC-E8B576DBBE3F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55">
            <a:extLst>
              <a:ext uri="{FF2B5EF4-FFF2-40B4-BE49-F238E27FC236}">
                <a16:creationId xmlns:a16="http://schemas.microsoft.com/office/drawing/2014/main" id="{2C3D4666-3CBA-470F-96AE-D64D632F3905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EA47D0B2-3402-4EFB-A7C5-5E1AFDEF55BE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LABEL_56">
            <a:extLst>
              <a:ext uri="{FF2B5EF4-FFF2-40B4-BE49-F238E27FC236}">
                <a16:creationId xmlns:a16="http://schemas.microsoft.com/office/drawing/2014/main" id="{FF408E39-254F-49EC-8B2B-5EAC10067BC4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752600"/>
            <a:ext cx="5238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研究目的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body_57">
            <a:extLst>
              <a:ext uri="{FF2B5EF4-FFF2-40B4-BE49-F238E27FC236}">
                <a16:creationId xmlns:a16="http://schemas.microsoft.com/office/drawing/2014/main" id="{771A73F6-AAE3-4C6C-8F13-B010149B3F83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2238375"/>
            <a:ext cx="11049000" cy="790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8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8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［何を明らかにする研究かを1文で］</a:t>
            </a:r>
            <a:endParaRPr lang="ja-JP" altLang="en-US" sz="28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STATIC_rule_58">
            <a:extLst>
              <a:ext uri="{FF2B5EF4-FFF2-40B4-BE49-F238E27FC236}">
                <a16:creationId xmlns:a16="http://schemas.microsoft.com/office/drawing/2014/main" id="{F8E0FE25-CE78-477C-9EBB-9E3AA0544FBE}"/>
              </a:ext>
            </a:extLst>
          </p:cNvPr>
          <p:cNvSpPr>
            <a:spLocks noGrp="1"/>
          </p:cNvSpPr>
          <p:nvPr/>
        </p:nvSpPr>
        <p:spPr>
          <a:xfrm>
            <a:off x="571500" y="330517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10" name="LABEL_59">
            <a:extLst>
              <a:ext uri="{FF2B5EF4-FFF2-40B4-BE49-F238E27FC236}">
                <a16:creationId xmlns:a16="http://schemas.microsoft.com/office/drawing/2014/main" id="{1089C763-D27D-4D22-9C3D-55B4B86E2E21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3657600"/>
            <a:ext cx="503872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対象・比較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body_60">
            <a:extLst>
              <a:ext uri="{FF2B5EF4-FFF2-40B4-BE49-F238E27FC236}">
                <a16:creationId xmlns:a16="http://schemas.microsoft.com/office/drawing/2014/main" id="{6F696AAB-062A-4ED2-9DB8-1BF5BA30A2A4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571500" y="4162425"/>
            <a:ext cx="5105400" cy="1019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［対象とする範囲］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［比較対象・基準］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LABEL_61">
            <a:extLst>
              <a:ext uri="{FF2B5EF4-FFF2-40B4-BE49-F238E27FC236}">
                <a16:creationId xmlns:a16="http://schemas.microsoft.com/office/drawing/2014/main" id="{894E36BA-1B09-4FA1-B670-B9D030630475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6496050" y="3657600"/>
            <a:ext cx="51244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評価すること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body_62">
            <a:extLst>
              <a:ext uri="{FF2B5EF4-FFF2-40B4-BE49-F238E27FC236}">
                <a16:creationId xmlns:a16="http://schemas.microsoft.com/office/drawing/2014/main" id="{62A4610F-ABE0-4FFA-9A30-72BB65ECF930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6496050" y="4162425"/>
            <a:ext cx="5124450" cy="1019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［主要な指標・単位］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［判定するための条件］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7 先行研究の比較" preserve="1">
  <p:cSld name="07 先行研究の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TATIC_rule_63">
            <a:extLst>
              <a:ext uri="{FF2B5EF4-FFF2-40B4-BE49-F238E27FC236}">
                <a16:creationId xmlns:a16="http://schemas.microsoft.com/office/drawing/2014/main" id="{DCE84DC4-DC22-4475-B817-F3459146D0F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64">
            <a:extLst>
              <a:ext uri="{FF2B5EF4-FFF2-40B4-BE49-F238E27FC236}">
                <a16:creationId xmlns:a16="http://schemas.microsoft.com/office/drawing/2014/main" id="{468FA9BD-3EA3-4E97-8C1C-655A968C330E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先行研究と本研究の位置づけ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65">
            <a:extLst>
              <a:ext uri="{FF2B5EF4-FFF2-40B4-BE49-F238E27FC236}">
                <a16:creationId xmlns:a16="http://schemas.microsoft.com/office/drawing/2014/main" id="{85F4D892-3115-4285-81B6-64F8D12E3C0F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PH_subtitle_66">
            <a:extLst>
              <a:ext uri="{FF2B5EF4-FFF2-40B4-BE49-F238E27FC236}">
                <a16:creationId xmlns:a16="http://schemas.microsoft.com/office/drawing/2014/main" id="{91FAF0DD-B409-4792-A296-980E700DFBDE}"/>
              </a:ext>
            </a:extLst>
          </p:cNvPr>
          <p:cNvSpPr>
            <a:spLocks noGrp="1"/>
          </p:cNvSpPr>
          <p:nvPr>
            <p:ph type="subTitle" idx="2" hasCustomPrompt="1"/>
          </p:nvPr>
        </p:nvSpPr>
        <p:spPr>
          <a:xfrm>
            <a:off x="590550" y="1304925"/>
            <a:ext cx="1100137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7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7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［比較軸を3つまで選び、残る課題を示す］</a:t>
            </a:r>
            <a:endParaRPr lang="ja-JP" altLang="en-US" sz="17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STATIC_rule_67">
            <a:extLst>
              <a:ext uri="{FF2B5EF4-FFF2-40B4-BE49-F238E27FC236}">
                <a16:creationId xmlns:a16="http://schemas.microsoft.com/office/drawing/2014/main" id="{78D777FE-3722-477B-9909-FCE0A9D79237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6" name="PH_footer_68">
            <a:extLst>
              <a:ext uri="{FF2B5EF4-FFF2-40B4-BE49-F238E27FC236}">
                <a16:creationId xmlns:a16="http://schemas.microsoft.com/office/drawing/2014/main" id="{02E71EC9-DCA9-4041-9DA2-C83EDE9816DA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AGE_69">
            <a:extLst>
              <a:ext uri="{FF2B5EF4-FFF2-40B4-BE49-F238E27FC236}">
                <a16:creationId xmlns:a16="http://schemas.microsoft.com/office/drawing/2014/main" id="{D8C97FE3-802E-4E0A-98C1-2762DC2EA72A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27C8AC51-C97F-4839-8FBD-2DAB5B221861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84" name="PH_tbl_84"/>
          <p:cNvSpPr>
            <a:spLocks noGrp="1"/>
          </p:cNvSpPr>
          <p:nvPr>
            <p:ph type="tbl" idx="84" hasCustomPrompt="1"/>
          </p:nvPr>
        </p:nvSpPr>
        <p:spPr>
          <a:xfrm>
            <a:off x="571500" y="1933575"/>
            <a:ext cx="11049000" cy="3314700"/>
          </a:xfrm>
          <a:prstGeom prst="rect">
            <a:avLst/>
          </a:prstGeom>
          <a:solidFill>
            <a:srgbClr val="EDF8FD"/>
          </a:solidFill>
          <a:ln w="12700">
            <a:solidFill>
              <a:srgbClr val="C6E3EF"/>
            </a:solidFill>
          </a:ln>
        </p:spPr>
        <p:txBody>
          <a:bodyPr lIns="0" tIns="0" rIns="0" bIns="0" anchor="ctr"/>
          <a:lstStyle/>
          <a:p>
            <a:pPr algn="ctr">
              <a:defRPr lang="ja-JP" altLang="en-US" sz="2200">
                <a:latin typeface="Times New Roman"/>
                <a:ea typeface="Meiryo"/>
                <a:cs typeface="Times New Roman"/>
              </a:defRPr>
            </a:pPr>
            <a:r>
              <a:t>［表を挿入］</a:t>
            </a:r>
            <a:endParaRPr lang="ja-JP" altLang="en-US" sz="220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STATIC_rule_70">
            <a:extLst>
              <a:ext uri="{FF2B5EF4-FFF2-40B4-BE49-F238E27FC236}">
                <a16:creationId xmlns:a16="http://schemas.microsoft.com/office/drawing/2014/main" id="{A4FF3374-C000-44A3-8A08-FD7F9E8E0484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10" name="PH_takeaway_71">
            <a:extLst>
              <a:ext uri="{FF2B5EF4-FFF2-40B4-BE49-F238E27FC236}">
                <a16:creationId xmlns:a16="http://schemas.microsoft.com/office/drawing/2014/main" id="{EA8BB820-47EF-466A-B74A-1DC3E2113E4F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［先行研究に対して、本研究が扱う未解決点］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8 本研究の着眼点" preserve="1">
  <p:cSld name="08 本研究の着眼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TATIC_rule_72">
            <a:extLst>
              <a:ext uri="{FF2B5EF4-FFF2-40B4-BE49-F238E27FC236}">
                <a16:creationId xmlns:a16="http://schemas.microsoft.com/office/drawing/2014/main" id="{89B45F4A-B589-4474-AAC5-DAEA9432DFC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73">
            <a:extLst>
              <a:ext uri="{FF2B5EF4-FFF2-40B4-BE49-F238E27FC236}">
                <a16:creationId xmlns:a16="http://schemas.microsoft.com/office/drawing/2014/main" id="{8EA1BB3F-A8B4-4BF4-AEDC-7EC003B8E59F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本研究の着眼点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74">
            <a:extLst>
              <a:ext uri="{FF2B5EF4-FFF2-40B4-BE49-F238E27FC236}">
                <a16:creationId xmlns:a16="http://schemas.microsoft.com/office/drawing/2014/main" id="{41A934FC-9BF5-4CC7-89F0-D52D795AAF76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75">
            <a:extLst>
              <a:ext uri="{FF2B5EF4-FFF2-40B4-BE49-F238E27FC236}">
                <a16:creationId xmlns:a16="http://schemas.microsoft.com/office/drawing/2014/main" id="{6649FEF9-BB39-4C0D-B4E5-CDDDBF56F11E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76">
            <a:extLst>
              <a:ext uri="{FF2B5EF4-FFF2-40B4-BE49-F238E27FC236}">
                <a16:creationId xmlns:a16="http://schemas.microsoft.com/office/drawing/2014/main" id="{27CA8639-FFF6-463D-96FC-1252AE4413CE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77">
            <a:extLst>
              <a:ext uri="{FF2B5EF4-FFF2-40B4-BE49-F238E27FC236}">
                <a16:creationId xmlns:a16="http://schemas.microsoft.com/office/drawing/2014/main" id="{F06E83DB-3167-4F29-B6D4-2263E6CDB1E9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CCB16DD3-F1DA-4B2E-8EFB-BFDCA7AC5D3B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LABEL_78">
            <a:extLst>
              <a:ext uri="{FF2B5EF4-FFF2-40B4-BE49-F238E27FC236}">
                <a16:creationId xmlns:a16="http://schemas.microsoft.com/office/drawing/2014/main" id="{E0BB3E44-1C5B-448F-9CA0-DA303DC0CF9D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771650"/>
            <a:ext cx="50482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従来の方法・課題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LABEL_79">
            <a:extLst>
              <a:ext uri="{FF2B5EF4-FFF2-40B4-BE49-F238E27FC236}">
                <a16:creationId xmlns:a16="http://schemas.microsoft.com/office/drawing/2014/main" id="{77C2F9B1-9367-4048-8CA3-D86542D31C07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6543675" y="1771650"/>
            <a:ext cx="507682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本研究で検証すること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STATIC_rule_80">
            <a:extLst>
              <a:ext uri="{FF2B5EF4-FFF2-40B4-BE49-F238E27FC236}">
                <a16:creationId xmlns:a16="http://schemas.microsoft.com/office/drawing/2014/main" id="{F5050F85-696D-43EA-A161-6CD1DC0D3A28}"/>
              </a:ext>
            </a:extLst>
          </p:cNvPr>
          <p:cNvSpPr>
            <a:spLocks noGrp="1"/>
          </p:cNvSpPr>
          <p:nvPr/>
        </p:nvSpPr>
        <p:spPr>
          <a:xfrm>
            <a:off x="6048375" y="1771650"/>
            <a:ext cx="19050" cy="335280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10" name="PH_body_81">
            <a:extLst>
              <a:ext uri="{FF2B5EF4-FFF2-40B4-BE49-F238E27FC236}">
                <a16:creationId xmlns:a16="http://schemas.microsoft.com/office/drawing/2014/main" id="{2B04FDB2-B68B-4064-AD3D-14A5CEFADD6D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2476500"/>
            <a:ext cx="5067300" cy="2381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4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4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［課題1］</a:t>
            </a:r>
            <a:endParaRPr lang="ja-JP" altLang="en-US" sz="2475" b="0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4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4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［課題2］</a:t>
            </a:r>
            <a:endParaRPr lang="ja-JP" altLang="en-US" sz="24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body_82">
            <a:extLst>
              <a:ext uri="{FF2B5EF4-FFF2-40B4-BE49-F238E27FC236}">
                <a16:creationId xmlns:a16="http://schemas.microsoft.com/office/drawing/2014/main" id="{BD593F6D-C0F0-404E-A499-F312D654459E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6543675" y="2476500"/>
            <a:ext cx="5076825" cy="2381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4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4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［課題1に対応する着眼点］</a:t>
            </a:r>
            <a:endParaRPr lang="ja-JP" altLang="en-US" sz="2475" b="0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4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4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［課題2に対応する着眼点］</a:t>
            </a:r>
            <a:endParaRPr lang="ja-JP" altLang="en-US" sz="24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STATIC_rule_83">
            <a:extLst>
              <a:ext uri="{FF2B5EF4-FFF2-40B4-BE49-F238E27FC236}">
                <a16:creationId xmlns:a16="http://schemas.microsoft.com/office/drawing/2014/main" id="{C059BAD3-7522-4638-BD8F-41EC2778AA03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13" name="PH_takeaway_84">
            <a:extLst>
              <a:ext uri="{FF2B5EF4-FFF2-40B4-BE49-F238E27FC236}">
                <a16:creationId xmlns:a16="http://schemas.microsoft.com/office/drawing/2014/main" id="{9C0D1B88-F3CA-4CB8-B723-7BDC13FAF38C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［研究の貢献を、確認できる範囲で1文に］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9 対象システム" preserve="1">
  <p:cSld name="09 対象システ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TATIC_rule_85">
            <a:extLst>
              <a:ext uri="{FF2B5EF4-FFF2-40B4-BE49-F238E27FC236}">
                <a16:creationId xmlns:a16="http://schemas.microsoft.com/office/drawing/2014/main" id="{5C1C2315-45DB-4F74-9719-17A22585434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86">
            <a:extLst>
              <a:ext uri="{FF2B5EF4-FFF2-40B4-BE49-F238E27FC236}">
                <a16:creationId xmlns:a16="http://schemas.microsoft.com/office/drawing/2014/main" id="{F930A9EA-FEA8-4CAE-92BB-24BD2C6C2453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対象システムと入出力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87">
            <a:extLst>
              <a:ext uri="{FF2B5EF4-FFF2-40B4-BE49-F238E27FC236}">
                <a16:creationId xmlns:a16="http://schemas.microsoft.com/office/drawing/2014/main" id="{13EF2258-14E0-49A6-B5F6-3003B9CD7E15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88">
            <a:extLst>
              <a:ext uri="{FF2B5EF4-FFF2-40B4-BE49-F238E27FC236}">
                <a16:creationId xmlns:a16="http://schemas.microsoft.com/office/drawing/2014/main" id="{9BC4B46F-EF01-419A-86AD-94CE1350AAB4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89">
            <a:extLst>
              <a:ext uri="{FF2B5EF4-FFF2-40B4-BE49-F238E27FC236}">
                <a16:creationId xmlns:a16="http://schemas.microsoft.com/office/drawing/2014/main" id="{0F6C37D7-9B9F-4DDE-907F-55F81DFE1A1E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90">
            <a:extLst>
              <a:ext uri="{FF2B5EF4-FFF2-40B4-BE49-F238E27FC236}">
                <a16:creationId xmlns:a16="http://schemas.microsoft.com/office/drawing/2014/main" id="{67F79251-E37D-4989-A8AE-72B87566B313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B04F1B49-3B01-4A5E-8FA1-14A19260BFB8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H_figure_91">
            <a:extLst>
              <a:ext uri="{FF2B5EF4-FFF2-40B4-BE49-F238E27FC236}">
                <a16:creationId xmlns:a16="http://schemas.microsoft.com/office/drawing/2014/main" id="{EAD8E5B2-59BE-4C59-AE49-5DE9442083AD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2371725"/>
            <a:ext cx="2905125" cy="1724025"/>
          </a:xfrm>
          <a:prstGeom prst="rect">
            <a:avLst/>
          </a:prstGeom>
          <a:solidFill>
            <a:srgbClr val="EDF8FD"/>
          </a:solidFill>
          <a:ln w="13335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［入力データ］</a:t>
            </a:r>
            <a:endParaRPr lang="ja-JP" altLang="en-US" sz="2175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STATIC_arrow_92">
            <a:extLst>
              <a:ext uri="{FF2B5EF4-FFF2-40B4-BE49-F238E27FC236}">
                <a16:creationId xmlns:a16="http://schemas.microsoft.com/office/drawing/2014/main" id="{58C8C0D7-71AB-466B-8C6D-343BF36C68A9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3590925" y="2943225"/>
            <a:ext cx="60960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352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52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→</a:t>
            </a:r>
            <a:endParaRPr lang="ja-JP" altLang="en-US" sz="35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PH_figure_93">
            <a:extLst>
              <a:ext uri="{FF2B5EF4-FFF2-40B4-BE49-F238E27FC236}">
                <a16:creationId xmlns:a16="http://schemas.microsoft.com/office/drawing/2014/main" id="{AB36D823-CFC9-4001-A64A-D73B98CA53CE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4362450" y="2371725"/>
            <a:ext cx="3486150" cy="1724025"/>
          </a:xfrm>
          <a:prstGeom prst="rect">
            <a:avLst/>
          </a:prstGeom>
          <a:solidFill>
            <a:srgbClr val="EDF8FD"/>
          </a:solidFill>
          <a:ln w="13335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［対象システム・モデル］</a:t>
            </a:r>
            <a:endParaRPr lang="ja-JP" altLang="en-US" sz="2175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STATIC_arrow_94">
            <a:extLst>
              <a:ext uri="{FF2B5EF4-FFF2-40B4-BE49-F238E27FC236}">
                <a16:creationId xmlns:a16="http://schemas.microsoft.com/office/drawing/2014/main" id="{E4CED4CE-84B6-467D-B0F1-A8DDE7530F75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8029575" y="2943225"/>
            <a:ext cx="60960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352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52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→</a:t>
            </a:r>
            <a:endParaRPr lang="ja-JP" altLang="en-US" sz="35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figure_95">
            <a:extLst>
              <a:ext uri="{FF2B5EF4-FFF2-40B4-BE49-F238E27FC236}">
                <a16:creationId xmlns:a16="http://schemas.microsoft.com/office/drawing/2014/main" id="{B381801D-DAAE-4F41-8CF8-91E199A80D71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8810625" y="2371725"/>
            <a:ext cx="2809875" cy="1724025"/>
          </a:xfrm>
          <a:prstGeom prst="rect">
            <a:avLst/>
          </a:prstGeom>
          <a:solidFill>
            <a:srgbClr val="EDF8FD"/>
          </a:solidFill>
          <a:ln w="13335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［出力・評価］</a:t>
            </a:r>
            <a:endParaRPr lang="ja-JP" altLang="en-US" sz="2175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PH_body_96">
            <a:extLst>
              <a:ext uri="{FF2B5EF4-FFF2-40B4-BE49-F238E27FC236}">
                <a16:creationId xmlns:a16="http://schemas.microsoft.com/office/drawing/2014/main" id="{1224B3D6-79FE-4D78-926A-51B085F435BE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571500" y="4352925"/>
            <a:ext cx="2905125" cy="657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［入力の種類・期間］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body_97">
            <a:extLst>
              <a:ext uri="{FF2B5EF4-FFF2-40B4-BE49-F238E27FC236}">
                <a16:creationId xmlns:a16="http://schemas.microsoft.com/office/drawing/2014/main" id="{A7D02868-9A61-4B8D-9AA1-FB21DB97D9FC}"/>
              </a:ext>
            </a:extLst>
          </p:cNvPr>
          <p:cNvSpPr>
            <a:spLocks noGrp="1"/>
          </p:cNvSpPr>
          <p:nvPr>
            <p:ph type="body" idx="9" hasCustomPrompt="1"/>
          </p:nvPr>
        </p:nvSpPr>
        <p:spPr>
          <a:xfrm>
            <a:off x="4362450" y="4352925"/>
            <a:ext cx="3486150" cy="657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［対象範囲・境界］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4" name="PH_body_98">
            <a:extLst>
              <a:ext uri="{FF2B5EF4-FFF2-40B4-BE49-F238E27FC236}">
                <a16:creationId xmlns:a16="http://schemas.microsoft.com/office/drawing/2014/main" id="{B8B7A290-FA01-4E02-A8FF-0C392903A92F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8810625" y="4352925"/>
            <a:ext cx="2809875" cy="657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［求める量・指標］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5" name="STATIC_rule_99">
            <a:extLst>
              <a:ext uri="{FF2B5EF4-FFF2-40B4-BE49-F238E27FC236}">
                <a16:creationId xmlns:a16="http://schemas.microsoft.com/office/drawing/2014/main" id="{2CD57E1A-3F77-4F14-AF79-54A581B76F01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16" name="PH_takeaway_100">
            <a:extLst>
              <a:ext uri="{FF2B5EF4-FFF2-40B4-BE49-F238E27FC236}">
                <a16:creationId xmlns:a16="http://schemas.microsoft.com/office/drawing/2014/main" id="{E7CEFA93-C80C-4F62-9BC1-19D8C94E1E74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［この研究で扱う範囲と、扱わない範囲］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 手法と手順" preserve="1">
  <p:cSld name="10 手法と手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TATIC_rule_101">
            <a:extLst>
              <a:ext uri="{FF2B5EF4-FFF2-40B4-BE49-F238E27FC236}">
                <a16:creationId xmlns:a16="http://schemas.microsoft.com/office/drawing/2014/main" id="{27E43745-3BB1-4022-B5B1-CAE9CA8FF81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102">
            <a:extLst>
              <a:ext uri="{FF2B5EF4-FFF2-40B4-BE49-F238E27FC236}">
                <a16:creationId xmlns:a16="http://schemas.microsoft.com/office/drawing/2014/main" id="{07BF7BB9-3116-4717-90CF-7B2D61E9075F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提案手法・実験の手順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103">
            <a:extLst>
              <a:ext uri="{FF2B5EF4-FFF2-40B4-BE49-F238E27FC236}">
                <a16:creationId xmlns:a16="http://schemas.microsoft.com/office/drawing/2014/main" id="{C11CCF57-358B-4091-868D-FCD5FD154048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104">
            <a:extLst>
              <a:ext uri="{FF2B5EF4-FFF2-40B4-BE49-F238E27FC236}">
                <a16:creationId xmlns:a16="http://schemas.microsoft.com/office/drawing/2014/main" id="{16DB3B68-D605-4081-8EF9-31515436424B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105">
            <a:extLst>
              <a:ext uri="{FF2B5EF4-FFF2-40B4-BE49-F238E27FC236}">
                <a16:creationId xmlns:a16="http://schemas.microsoft.com/office/drawing/2014/main" id="{4C4C7F66-35D0-48F0-B118-85459E6EA856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106">
            <a:extLst>
              <a:ext uri="{FF2B5EF4-FFF2-40B4-BE49-F238E27FC236}">
                <a16:creationId xmlns:a16="http://schemas.microsoft.com/office/drawing/2014/main" id="{EB706618-45A4-47D5-B068-72D2D7961443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BF9923D1-896A-46AE-8598-CEAFE62C0568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H_body_107">
            <a:extLst>
              <a:ext uri="{FF2B5EF4-FFF2-40B4-BE49-F238E27FC236}">
                <a16:creationId xmlns:a16="http://schemas.microsoft.com/office/drawing/2014/main" id="{55BC22C1-6862-42AA-BB51-EA0E5F4FCC22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847850"/>
            <a:ext cx="20002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00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00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01</a:t>
            </a:r>
            <a:endParaRPr lang="ja-JP" altLang="en-US" sz="30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LABEL_108">
            <a:extLst>
              <a:ext uri="{FF2B5EF4-FFF2-40B4-BE49-F238E27FC236}">
                <a16:creationId xmlns:a16="http://schemas.microsoft.com/office/drawing/2014/main" id="{5FD60E6B-0465-4D7B-B395-1F575F2774EC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2600325"/>
            <a:ext cx="24288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［入力準備］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PH_body_109">
            <a:extLst>
              <a:ext uri="{FF2B5EF4-FFF2-40B4-BE49-F238E27FC236}">
                <a16:creationId xmlns:a16="http://schemas.microsoft.com/office/drawing/2014/main" id="{E468FF98-0AF3-4AB9-8D67-394B418EDF1F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3238500"/>
            <a:ext cx="2352675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［この工程で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行うこと］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STATIC_arrow_110">
            <a:extLst>
              <a:ext uri="{FF2B5EF4-FFF2-40B4-BE49-F238E27FC236}">
                <a16:creationId xmlns:a16="http://schemas.microsoft.com/office/drawing/2014/main" id="{4BB7E2D4-FC88-4491-ABC3-0E3743C42F1E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2981325" y="2886075"/>
            <a:ext cx="40005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77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77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→</a:t>
            </a:r>
            <a:endParaRPr lang="ja-JP" altLang="en-US" sz="27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body_111">
            <a:extLst>
              <a:ext uri="{FF2B5EF4-FFF2-40B4-BE49-F238E27FC236}">
                <a16:creationId xmlns:a16="http://schemas.microsoft.com/office/drawing/2014/main" id="{9B5BDD61-E196-488F-963B-2FB154A53E3F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3438525" y="1847850"/>
            <a:ext cx="20002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00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00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02</a:t>
            </a:r>
            <a:endParaRPr lang="ja-JP" altLang="en-US" sz="30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LABEL_112">
            <a:extLst>
              <a:ext uri="{FF2B5EF4-FFF2-40B4-BE49-F238E27FC236}">
                <a16:creationId xmlns:a16="http://schemas.microsoft.com/office/drawing/2014/main" id="{C740DE55-D780-4984-A754-EFBE74BE5D9B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3438525" y="2600325"/>
            <a:ext cx="24288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［モデル化］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body_113">
            <a:extLst>
              <a:ext uri="{FF2B5EF4-FFF2-40B4-BE49-F238E27FC236}">
                <a16:creationId xmlns:a16="http://schemas.microsoft.com/office/drawing/2014/main" id="{F2E0900F-307A-4673-BBAA-FE9026266D3D}"/>
              </a:ext>
            </a:extLst>
          </p:cNvPr>
          <p:cNvSpPr>
            <a:spLocks noGrp="1"/>
          </p:cNvSpPr>
          <p:nvPr>
            <p:ph type="body" idx="9" hasCustomPrompt="1"/>
          </p:nvPr>
        </p:nvSpPr>
        <p:spPr>
          <a:xfrm>
            <a:off x="3438525" y="3238500"/>
            <a:ext cx="2352675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［この工程で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行うこと］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4" name="STATIC_arrow_114">
            <a:extLst>
              <a:ext uri="{FF2B5EF4-FFF2-40B4-BE49-F238E27FC236}">
                <a16:creationId xmlns:a16="http://schemas.microsoft.com/office/drawing/2014/main" id="{63684BE0-E7F3-4DA8-9EFC-EDC75F4B947B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848350" y="2886075"/>
            <a:ext cx="40005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77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77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→</a:t>
            </a:r>
            <a:endParaRPr lang="ja-JP" altLang="en-US" sz="27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5" name="PH_body_115">
            <a:extLst>
              <a:ext uri="{FF2B5EF4-FFF2-40B4-BE49-F238E27FC236}">
                <a16:creationId xmlns:a16="http://schemas.microsoft.com/office/drawing/2014/main" id="{BA2AA20D-19F8-44B7-B5A5-BE7D54DBCCE8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6305550" y="1847850"/>
            <a:ext cx="20002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00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00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03</a:t>
            </a:r>
            <a:endParaRPr lang="ja-JP" altLang="en-US" sz="30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6" name="LABEL_116">
            <a:extLst>
              <a:ext uri="{FF2B5EF4-FFF2-40B4-BE49-F238E27FC236}">
                <a16:creationId xmlns:a16="http://schemas.microsoft.com/office/drawing/2014/main" id="{DAD236CC-039C-466C-B5AA-BBE1458ED422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6305550" y="2600325"/>
            <a:ext cx="24288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［計算・実験］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7" name="PH_body_117">
            <a:extLst>
              <a:ext uri="{FF2B5EF4-FFF2-40B4-BE49-F238E27FC236}">
                <a16:creationId xmlns:a16="http://schemas.microsoft.com/office/drawing/2014/main" id="{96629B5F-8BF2-492E-ABFE-A56004B2BB0F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305550" y="3238500"/>
            <a:ext cx="2352675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［この工程で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行うこと］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8" name="STATIC_arrow_118">
            <a:extLst>
              <a:ext uri="{FF2B5EF4-FFF2-40B4-BE49-F238E27FC236}">
                <a16:creationId xmlns:a16="http://schemas.microsoft.com/office/drawing/2014/main" id="{B0370B1D-6784-4801-BF81-318C1D36EE84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8715375" y="2886075"/>
            <a:ext cx="40005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77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77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→</a:t>
            </a:r>
            <a:endParaRPr lang="ja-JP" altLang="en-US" sz="27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9" name="PH_body_119">
            <a:extLst>
              <a:ext uri="{FF2B5EF4-FFF2-40B4-BE49-F238E27FC236}">
                <a16:creationId xmlns:a16="http://schemas.microsoft.com/office/drawing/2014/main" id="{B0FA148A-5083-45E0-AB30-0A2A393C91DB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172575" y="1847850"/>
            <a:ext cx="20002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00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00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04</a:t>
            </a:r>
            <a:endParaRPr lang="ja-JP" altLang="en-US" sz="30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20" name="LABEL_120">
            <a:extLst>
              <a:ext uri="{FF2B5EF4-FFF2-40B4-BE49-F238E27FC236}">
                <a16:creationId xmlns:a16="http://schemas.microsoft.com/office/drawing/2014/main" id="{0C27789E-4828-400A-85E9-54868FC0D32D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9172575" y="2600325"/>
            <a:ext cx="24288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［評価・検証］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21" name="PH_body_121">
            <a:extLst>
              <a:ext uri="{FF2B5EF4-FFF2-40B4-BE49-F238E27FC236}">
                <a16:creationId xmlns:a16="http://schemas.microsoft.com/office/drawing/2014/main" id="{2BE62D3C-38DA-4B68-BB9D-8EE6356A7CE4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9172575" y="3238500"/>
            <a:ext cx="2352675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［この工程で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行うこと］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22" name="STATIC_rule_122">
            <a:extLst>
              <a:ext uri="{FF2B5EF4-FFF2-40B4-BE49-F238E27FC236}">
                <a16:creationId xmlns:a16="http://schemas.microsoft.com/office/drawing/2014/main" id="{50640B4D-30D0-400E-9C97-53644867B284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3" name="PH_takeaway_123">
            <a:extLst>
              <a:ext uri="{FF2B5EF4-FFF2-40B4-BE49-F238E27FC236}">
                <a16:creationId xmlns:a16="http://schemas.microsoft.com/office/drawing/2014/main" id="{D3938228-1A34-4FE7-A101-55C7221D3CED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［提案手法で特に工夫した工程］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1 数式と記号" preserve="1">
  <p:cSld name="11 数式と記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TATIC_rule_124">
            <a:extLst>
              <a:ext uri="{FF2B5EF4-FFF2-40B4-BE49-F238E27FC236}">
                <a16:creationId xmlns:a16="http://schemas.microsoft.com/office/drawing/2014/main" id="{1009A224-6E90-465F-A3E0-8700AF5A886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125">
            <a:extLst>
              <a:ext uri="{FF2B5EF4-FFF2-40B4-BE49-F238E27FC236}">
                <a16:creationId xmlns:a16="http://schemas.microsoft.com/office/drawing/2014/main" id="{1B1D3107-0094-4F3A-B7AA-3922F79B5030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モデル・数式の定義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126">
            <a:extLst>
              <a:ext uri="{FF2B5EF4-FFF2-40B4-BE49-F238E27FC236}">
                <a16:creationId xmlns:a16="http://schemas.microsoft.com/office/drawing/2014/main" id="{4E840209-C2A6-49EF-84DB-D3659839566D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127">
            <a:extLst>
              <a:ext uri="{FF2B5EF4-FFF2-40B4-BE49-F238E27FC236}">
                <a16:creationId xmlns:a16="http://schemas.microsoft.com/office/drawing/2014/main" id="{2839E345-4B26-4A33-9339-37F2029CE4B0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128">
            <a:extLst>
              <a:ext uri="{FF2B5EF4-FFF2-40B4-BE49-F238E27FC236}">
                <a16:creationId xmlns:a16="http://schemas.microsoft.com/office/drawing/2014/main" id="{75107FAE-E027-4EEB-AC4B-3C2F034F701D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129">
            <a:extLst>
              <a:ext uri="{FF2B5EF4-FFF2-40B4-BE49-F238E27FC236}">
                <a16:creationId xmlns:a16="http://schemas.microsoft.com/office/drawing/2014/main" id="{EEFE40E0-8818-49C9-A686-74EC9777134C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948A26B9-78DD-44B5-9F2D-C7405CA79AF6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LABEL_130">
            <a:extLst>
              <a:ext uri="{FF2B5EF4-FFF2-40B4-BE49-F238E27FC236}">
                <a16:creationId xmlns:a16="http://schemas.microsoft.com/office/drawing/2014/main" id="{C5281C47-057A-4FF3-82FA-B68590A901F5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714500"/>
            <a:ext cx="61912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［目的関数・主要な関係式］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figure_131">
            <a:extLst>
              <a:ext uri="{FF2B5EF4-FFF2-40B4-BE49-F238E27FC236}">
                <a16:creationId xmlns:a16="http://schemas.microsoft.com/office/drawing/2014/main" id="{CC4D84DC-60C4-4FFD-9D0E-74D3CD075B35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2276475"/>
            <a:ext cx="6067425" cy="1962150"/>
          </a:xfrm>
          <a:prstGeom prst="rect">
            <a:avLst/>
          </a:prstGeom>
          <a:solidFill>
            <a:srgbClr val="EDF8FD"/>
          </a:solidFill>
          <a:ln w="13335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［ここに数式を入力］</a:t>
            </a:r>
            <a:endParaRPr lang="ja-JP" altLang="en-US" sz="2175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PH_body_132">
            <a:extLst>
              <a:ext uri="{FF2B5EF4-FFF2-40B4-BE49-F238E27FC236}">
                <a16:creationId xmlns:a16="http://schemas.microsoft.com/office/drawing/2014/main" id="{E03C703F-EF9E-4C4C-98A7-0CED5AF139F0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4543425"/>
            <a:ext cx="6067425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［式が表す意味・成立する条件］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86" name="PH_tbl_86"/>
          <p:cNvSpPr>
            <a:spLocks noGrp="1"/>
          </p:cNvSpPr>
          <p:nvPr>
            <p:ph type="tbl" idx="86" hasCustomPrompt="1"/>
          </p:nvPr>
        </p:nvSpPr>
        <p:spPr>
          <a:xfrm>
            <a:off x="7143750" y="1962150"/>
            <a:ext cx="4476750" cy="3248025"/>
          </a:xfrm>
          <a:prstGeom prst="rect">
            <a:avLst/>
          </a:prstGeom>
          <a:solidFill>
            <a:srgbClr val="EDF8FD"/>
          </a:solidFill>
          <a:ln w="12700">
            <a:solidFill>
              <a:srgbClr val="C6E3EF"/>
            </a:solidFill>
          </a:ln>
        </p:spPr>
        <p:txBody>
          <a:bodyPr lIns="0" tIns="0" rIns="0" bIns="0" anchor="ctr"/>
          <a:lstStyle/>
          <a:p>
            <a:pPr algn="ctr">
              <a:defRPr lang="ja-JP" altLang="en-US" sz="2200">
                <a:latin typeface="Times New Roman"/>
                <a:ea typeface="Meiryo"/>
                <a:cs typeface="Times New Roman"/>
              </a:defRPr>
            </a:pPr>
            <a:r>
              <a:t>［表を挿入］</a:t>
            </a:r>
            <a:endParaRPr lang="ja-JP" altLang="en-US" sz="2200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2 実験条件" preserve="1">
  <p:cSld name="12 実験条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TATIC_rule_133">
            <a:extLst>
              <a:ext uri="{FF2B5EF4-FFF2-40B4-BE49-F238E27FC236}">
                <a16:creationId xmlns:a16="http://schemas.microsoft.com/office/drawing/2014/main" id="{B43A585D-6F5A-4B03-83F9-0D540838BA0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134">
            <a:extLst>
              <a:ext uri="{FF2B5EF4-FFF2-40B4-BE49-F238E27FC236}">
                <a16:creationId xmlns:a16="http://schemas.microsoft.com/office/drawing/2014/main" id="{7790C9BA-7C4C-44A0-ACE1-05DE95C14B28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実験条件と比較方法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135">
            <a:extLst>
              <a:ext uri="{FF2B5EF4-FFF2-40B4-BE49-F238E27FC236}">
                <a16:creationId xmlns:a16="http://schemas.microsoft.com/office/drawing/2014/main" id="{11F680F3-F5C0-48C4-9A86-BA4723B34AB8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PH_subtitle_136">
            <a:extLst>
              <a:ext uri="{FF2B5EF4-FFF2-40B4-BE49-F238E27FC236}">
                <a16:creationId xmlns:a16="http://schemas.microsoft.com/office/drawing/2014/main" id="{1042DE4B-ABBA-40EA-8935-C2E476E5115C}"/>
              </a:ext>
            </a:extLst>
          </p:cNvPr>
          <p:cNvSpPr>
            <a:spLocks noGrp="1"/>
          </p:cNvSpPr>
          <p:nvPr>
            <p:ph type="subTitle" idx="2" hasCustomPrompt="1"/>
          </p:nvPr>
        </p:nvSpPr>
        <p:spPr>
          <a:xfrm>
            <a:off x="590550" y="1304925"/>
            <a:ext cx="1100137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7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7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［対象期間・データ・比較方法を明示］</a:t>
            </a:r>
            <a:endParaRPr lang="ja-JP" altLang="en-US" sz="17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STATIC_rule_137">
            <a:extLst>
              <a:ext uri="{FF2B5EF4-FFF2-40B4-BE49-F238E27FC236}">
                <a16:creationId xmlns:a16="http://schemas.microsoft.com/office/drawing/2014/main" id="{2D2D8254-1070-4188-BB04-7EC6D19D1CE1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6" name="PH_footer_138">
            <a:extLst>
              <a:ext uri="{FF2B5EF4-FFF2-40B4-BE49-F238E27FC236}">
                <a16:creationId xmlns:a16="http://schemas.microsoft.com/office/drawing/2014/main" id="{3CF95C8A-7244-4F02-9427-A59EAF0E9B2B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AGE_139">
            <a:extLst>
              <a:ext uri="{FF2B5EF4-FFF2-40B4-BE49-F238E27FC236}">
                <a16:creationId xmlns:a16="http://schemas.microsoft.com/office/drawing/2014/main" id="{EF4B299A-BB4C-49ED-80E3-85084EA2AE1E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0AA31640-4FB4-4047-8C3E-2EBAB15C1BB5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84" name="PH_tbl_84"/>
          <p:cNvSpPr>
            <a:spLocks noGrp="1"/>
          </p:cNvSpPr>
          <p:nvPr>
            <p:ph type="tbl" idx="84" hasCustomPrompt="1"/>
          </p:nvPr>
        </p:nvSpPr>
        <p:spPr>
          <a:xfrm>
            <a:off x="571500" y="1943100"/>
            <a:ext cx="11049000" cy="3333750"/>
          </a:xfrm>
          <a:prstGeom prst="rect">
            <a:avLst/>
          </a:prstGeom>
          <a:solidFill>
            <a:srgbClr val="EDF8FD"/>
          </a:solidFill>
          <a:ln w="12700">
            <a:solidFill>
              <a:srgbClr val="C6E3EF"/>
            </a:solidFill>
          </a:ln>
        </p:spPr>
        <p:txBody>
          <a:bodyPr lIns="0" tIns="0" rIns="0" bIns="0" anchor="ctr"/>
          <a:lstStyle/>
          <a:p>
            <a:pPr algn="ctr">
              <a:defRPr lang="ja-JP" altLang="en-US" sz="2200">
                <a:latin typeface="Times New Roman"/>
                <a:ea typeface="Meiryo"/>
                <a:cs typeface="Times New Roman"/>
              </a:defRPr>
            </a:pPr>
            <a:r>
              <a:t>［表を挿入］</a:t>
            </a:r>
            <a:endParaRPr lang="ja-JP" altLang="en-US" sz="220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STATIC_rule_140">
            <a:extLst>
              <a:ext uri="{FF2B5EF4-FFF2-40B4-BE49-F238E27FC236}">
                <a16:creationId xmlns:a16="http://schemas.microsoft.com/office/drawing/2014/main" id="{44077EEA-5FDE-47F7-A995-753BEA4B7F0A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10" name="PH_takeaway_141">
            <a:extLst>
              <a:ext uri="{FF2B5EF4-FFF2-40B4-BE49-F238E27FC236}">
                <a16:creationId xmlns:a16="http://schemas.microsoft.com/office/drawing/2014/main" id="{73DBA814-1938-4475-BDE3-96DEF36DA2C8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［比較で動かす要因は何か］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3 評価指標" preserve="1">
  <p:cSld name="13 評価指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ATIC_rule_142">
            <a:extLst>
              <a:ext uri="{FF2B5EF4-FFF2-40B4-BE49-F238E27FC236}">
                <a16:creationId xmlns:a16="http://schemas.microsoft.com/office/drawing/2014/main" id="{A07E9790-35F8-4541-9245-16130E58D90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143">
            <a:extLst>
              <a:ext uri="{FF2B5EF4-FFF2-40B4-BE49-F238E27FC236}">
                <a16:creationId xmlns:a16="http://schemas.microsoft.com/office/drawing/2014/main" id="{AD770508-2538-4F7C-B9C1-552836201B59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評価指標と単位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144">
            <a:extLst>
              <a:ext uri="{FF2B5EF4-FFF2-40B4-BE49-F238E27FC236}">
                <a16:creationId xmlns:a16="http://schemas.microsoft.com/office/drawing/2014/main" id="{1388EDD3-9BDF-4B6F-9E1C-F1D7791D95EA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145">
            <a:extLst>
              <a:ext uri="{FF2B5EF4-FFF2-40B4-BE49-F238E27FC236}">
                <a16:creationId xmlns:a16="http://schemas.microsoft.com/office/drawing/2014/main" id="{2B30D1A8-7244-4A92-8FBD-B6EFD2B6A59A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146">
            <a:extLst>
              <a:ext uri="{FF2B5EF4-FFF2-40B4-BE49-F238E27FC236}">
                <a16:creationId xmlns:a16="http://schemas.microsoft.com/office/drawing/2014/main" id="{C39ECB7A-C75B-427F-A419-E5B5612D137A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147">
            <a:extLst>
              <a:ext uri="{FF2B5EF4-FFF2-40B4-BE49-F238E27FC236}">
                <a16:creationId xmlns:a16="http://schemas.microsoft.com/office/drawing/2014/main" id="{29B099E3-1A1B-4F2B-B52A-6A12936CC37C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106DFF19-2B2B-4849-AF7A-9D746F749676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83" name="PH_tbl_83"/>
          <p:cNvSpPr>
            <a:spLocks noGrp="1"/>
          </p:cNvSpPr>
          <p:nvPr>
            <p:ph type="tbl" idx="83" hasCustomPrompt="1"/>
          </p:nvPr>
        </p:nvSpPr>
        <p:spPr>
          <a:xfrm>
            <a:off x="571500" y="1895475"/>
            <a:ext cx="11049000" cy="3419475"/>
          </a:xfrm>
          <a:prstGeom prst="rect">
            <a:avLst/>
          </a:prstGeom>
          <a:solidFill>
            <a:srgbClr val="EDF8FD"/>
          </a:solidFill>
          <a:ln w="12700">
            <a:solidFill>
              <a:srgbClr val="C6E3EF"/>
            </a:solidFill>
          </a:ln>
        </p:spPr>
        <p:txBody>
          <a:bodyPr lIns="0" tIns="0" rIns="0" bIns="0" anchor="ctr"/>
          <a:lstStyle/>
          <a:p>
            <a:pPr algn="ctr">
              <a:defRPr lang="ja-JP" altLang="en-US" sz="2200">
                <a:latin typeface="Times New Roman"/>
                <a:ea typeface="Meiryo"/>
                <a:cs typeface="Times New Roman"/>
              </a:defRPr>
            </a:pPr>
            <a:r>
              <a:t>［表を挿入］</a:t>
            </a:r>
            <a:endParaRPr lang="ja-JP" altLang="en-US" sz="220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STATIC_rule_148">
            <a:extLst>
              <a:ext uri="{FF2B5EF4-FFF2-40B4-BE49-F238E27FC236}">
                <a16:creationId xmlns:a16="http://schemas.microsoft.com/office/drawing/2014/main" id="{FC80E642-22EC-4295-91E5-2545A82BBDE4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9" name="PH_takeaway_149">
            <a:extLst>
              <a:ext uri="{FF2B5EF4-FFF2-40B4-BE49-F238E27FC236}">
                <a16:creationId xmlns:a16="http://schemas.microsoft.com/office/drawing/2014/main" id="{02DE6CFB-6985-4AC7-B249-D2CBC253E2E5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［主にどの指標で、何を判断するか］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4 図を大きく配置" preserve="1">
  <p:cSld name="14 図を大きく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TATIC_rule_150">
            <a:extLst>
              <a:ext uri="{FF2B5EF4-FFF2-40B4-BE49-F238E27FC236}">
                <a16:creationId xmlns:a16="http://schemas.microsoft.com/office/drawing/2014/main" id="{8E309090-A8D2-4917-9B75-8A5320AE51A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151">
            <a:extLst>
              <a:ext uri="{FF2B5EF4-FFF2-40B4-BE49-F238E27FC236}">
                <a16:creationId xmlns:a16="http://schemas.microsoft.com/office/drawing/2014/main" id="{B0B581F5-5C06-4352-AF83-96439C743816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［図から伝えたいことを1文で］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152">
            <a:extLst>
              <a:ext uri="{FF2B5EF4-FFF2-40B4-BE49-F238E27FC236}">
                <a16:creationId xmlns:a16="http://schemas.microsoft.com/office/drawing/2014/main" id="{0F0F87C2-FF15-4DCD-B0DA-93239364D302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153">
            <a:extLst>
              <a:ext uri="{FF2B5EF4-FFF2-40B4-BE49-F238E27FC236}">
                <a16:creationId xmlns:a16="http://schemas.microsoft.com/office/drawing/2014/main" id="{7DB7AF97-946C-45DF-914B-AEB0AF7C4FB2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154">
            <a:extLst>
              <a:ext uri="{FF2B5EF4-FFF2-40B4-BE49-F238E27FC236}">
                <a16:creationId xmlns:a16="http://schemas.microsoft.com/office/drawing/2014/main" id="{538F630D-3F66-4371-B057-6F07B40CE001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155">
            <a:extLst>
              <a:ext uri="{FF2B5EF4-FFF2-40B4-BE49-F238E27FC236}">
                <a16:creationId xmlns:a16="http://schemas.microsoft.com/office/drawing/2014/main" id="{1F335F21-1298-49B2-9858-FEC66844EC2C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5D7BE9C0-99E0-4791-9B37-33E13F9803A8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H_figure_156">
            <a:extLst>
              <a:ext uri="{FF2B5EF4-FFF2-40B4-BE49-F238E27FC236}">
                <a16:creationId xmlns:a16="http://schemas.microsoft.com/office/drawing/2014/main" id="{94E57467-8060-482A-8092-E87717119379}"/>
              </a:ext>
            </a:extLst>
          </p:cNvPr>
          <p:cNvSpPr>
            <a:spLocks noGrp="1"/>
          </p:cNvSpPr>
          <p:nvPr>
            <p:ph idx="3" hasCustomPrompt="1"/>
          </p:nvPr>
        </p:nvSpPr>
        <p:spPr>
          <a:xfrm>
            <a:off x="571500" y="1619250"/>
            <a:ext cx="11049000" cy="3648075"/>
          </a:xfrm>
          <a:prstGeom prst="rect">
            <a:avLst/>
          </a:prstGeom>
          <a:solidFill>
            <a:srgbClr val="EDF8FD"/>
          </a:solidFill>
          <a:ln w="13335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［図・グラフ・写真を配置］</a:t>
            </a:r>
            <a:endParaRPr lang="ja-JP" altLang="en-US" sz="2175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source_157">
            <a:extLst>
              <a:ext uri="{FF2B5EF4-FFF2-40B4-BE49-F238E27FC236}">
                <a16:creationId xmlns:a16="http://schemas.microsoft.com/office/drawing/2014/main" id="{B57BC433-6EAB-4673-BBDD-00239C646F84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90550" y="5334000"/>
            <a:ext cx="110109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条件：［対象・期間］　　出典：［資料・図番号］</a:t>
            </a:r>
            <a:endParaRPr lang="ja-JP" altLang="en-US" sz="13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STATIC_rule_158">
            <a:extLst>
              <a:ext uri="{FF2B5EF4-FFF2-40B4-BE49-F238E27FC236}">
                <a16:creationId xmlns:a16="http://schemas.microsoft.com/office/drawing/2014/main" id="{977C1908-E6B8-4B82-A108-FA97D3579DA5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10" name="PH_takeaway_159">
            <a:extLst>
              <a:ext uri="{FF2B5EF4-FFF2-40B4-BE49-F238E27FC236}">
                <a16:creationId xmlns:a16="http://schemas.microsoft.com/office/drawing/2014/main" id="{D6CA1207-8DE8-4FD3-B983-677812A260A1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［この図からわかること］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5 2つの図を比較" preserve="1">
  <p:cSld name="15 2つの図を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TATIC_rule_160">
            <a:extLst>
              <a:ext uri="{FF2B5EF4-FFF2-40B4-BE49-F238E27FC236}">
                <a16:creationId xmlns:a16="http://schemas.microsoft.com/office/drawing/2014/main" id="{B996B042-6029-4FA6-887D-0AD704C4E91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161">
            <a:extLst>
              <a:ext uri="{FF2B5EF4-FFF2-40B4-BE49-F238E27FC236}">
                <a16:creationId xmlns:a16="http://schemas.microsoft.com/office/drawing/2014/main" id="{6C944D14-8F59-41BA-9DCE-C6BBBC02F91B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［比較してわかったことを1文で］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162">
            <a:extLst>
              <a:ext uri="{FF2B5EF4-FFF2-40B4-BE49-F238E27FC236}">
                <a16:creationId xmlns:a16="http://schemas.microsoft.com/office/drawing/2014/main" id="{74C915D0-A8FD-4E75-A2E2-31A8FCD44D2B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163">
            <a:extLst>
              <a:ext uri="{FF2B5EF4-FFF2-40B4-BE49-F238E27FC236}">
                <a16:creationId xmlns:a16="http://schemas.microsoft.com/office/drawing/2014/main" id="{917103C4-2187-4DB2-A743-C7FF5076F50D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164">
            <a:extLst>
              <a:ext uri="{FF2B5EF4-FFF2-40B4-BE49-F238E27FC236}">
                <a16:creationId xmlns:a16="http://schemas.microsoft.com/office/drawing/2014/main" id="{2488C842-C151-43CC-8F6F-C835922856E1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165">
            <a:extLst>
              <a:ext uri="{FF2B5EF4-FFF2-40B4-BE49-F238E27FC236}">
                <a16:creationId xmlns:a16="http://schemas.microsoft.com/office/drawing/2014/main" id="{1495142B-800A-4BB9-94DD-A1DBEFC38D0E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9E87F731-0D5B-4EFF-A316-95E25522D1B3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LABEL_166">
            <a:extLst>
              <a:ext uri="{FF2B5EF4-FFF2-40B4-BE49-F238E27FC236}">
                <a16:creationId xmlns:a16="http://schemas.microsoft.com/office/drawing/2014/main" id="{91BDD338-CCB6-4045-BEF2-17B1ECFAF855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685925"/>
            <a:ext cx="52863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［条件A・対象期間］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LABEL_167">
            <a:extLst>
              <a:ext uri="{FF2B5EF4-FFF2-40B4-BE49-F238E27FC236}">
                <a16:creationId xmlns:a16="http://schemas.microsoft.com/office/drawing/2014/main" id="{001BF490-B5AF-45A9-81D4-4844D79C8444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6334125" y="1685925"/>
            <a:ext cx="52863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［条件B・対象期間］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PH_figure_168">
            <a:extLst>
              <a:ext uri="{FF2B5EF4-FFF2-40B4-BE49-F238E27FC236}">
                <a16:creationId xmlns:a16="http://schemas.microsoft.com/office/drawing/2014/main" id="{E42D523A-F926-43C5-821A-E869BFD2F5C3}"/>
              </a:ext>
            </a:extLst>
          </p:cNvPr>
          <p:cNvSpPr>
            <a:spLocks noGrp="1"/>
          </p:cNvSpPr>
          <p:nvPr>
            <p:ph idx="5" hasCustomPrompt="1"/>
          </p:nvPr>
        </p:nvSpPr>
        <p:spPr>
          <a:xfrm>
            <a:off x="571500" y="2190750"/>
            <a:ext cx="5286375" cy="2981325"/>
          </a:xfrm>
          <a:prstGeom prst="rect">
            <a:avLst/>
          </a:prstGeom>
          <a:solidFill>
            <a:srgbClr val="EDF8FD"/>
          </a:solidFill>
          <a:ln w="13335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［図A］</a:t>
            </a:r>
            <a:endParaRPr lang="ja-JP" altLang="en-US" sz="2175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PH_figure_169">
            <a:extLst>
              <a:ext uri="{FF2B5EF4-FFF2-40B4-BE49-F238E27FC236}">
                <a16:creationId xmlns:a16="http://schemas.microsoft.com/office/drawing/2014/main" id="{1DF8FBF7-CE6E-45A0-B6A8-475315C433EC}"/>
              </a:ext>
            </a:extLst>
          </p:cNvPr>
          <p:cNvSpPr>
            <a:spLocks noGrp="1"/>
          </p:cNvSpPr>
          <p:nvPr>
            <p:ph idx="6" hasCustomPrompt="1"/>
          </p:nvPr>
        </p:nvSpPr>
        <p:spPr>
          <a:xfrm>
            <a:off x="6334125" y="2190750"/>
            <a:ext cx="5286375" cy="2981325"/>
          </a:xfrm>
          <a:prstGeom prst="rect">
            <a:avLst/>
          </a:prstGeom>
          <a:solidFill>
            <a:srgbClr val="EDF8FD"/>
          </a:solidFill>
          <a:ln w="13335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［図B］</a:t>
            </a:r>
            <a:endParaRPr lang="ja-JP" altLang="en-US" sz="2175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source_170">
            <a:extLst>
              <a:ext uri="{FF2B5EF4-FFF2-40B4-BE49-F238E27FC236}">
                <a16:creationId xmlns:a16="http://schemas.microsoft.com/office/drawing/2014/main" id="{99E0A3F3-9A43-406E-A3FB-A50D9FD71533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581025" y="5248275"/>
            <a:ext cx="11039475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共通条件：［そろえた条件］　／　相違点：［変えた条件］</a:t>
            </a:r>
            <a:endParaRPr lang="ja-JP" altLang="en-US" sz="13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STATIC_rule_171">
            <a:extLst>
              <a:ext uri="{FF2B5EF4-FFF2-40B4-BE49-F238E27FC236}">
                <a16:creationId xmlns:a16="http://schemas.microsoft.com/office/drawing/2014/main" id="{60C29C0F-5FD7-47E0-96B1-FB540B1D1000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13" name="PH_takeaway_172">
            <a:extLst>
              <a:ext uri="{FF2B5EF4-FFF2-40B4-BE49-F238E27FC236}">
                <a16:creationId xmlns:a16="http://schemas.microsoft.com/office/drawing/2014/main" id="{A1CD5186-6553-4B65-A4CE-AFFB56CA6C74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［差の大きさと、読み取れる範囲］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6 棒グラフ" preserve="1">
  <p:cSld name="16 棒グラ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TATIC_rule_173">
            <a:extLst>
              <a:ext uri="{FF2B5EF4-FFF2-40B4-BE49-F238E27FC236}">
                <a16:creationId xmlns:a16="http://schemas.microsoft.com/office/drawing/2014/main" id="{3D7A9B91-F2F5-40AF-936F-AE94E4B275B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174">
            <a:extLst>
              <a:ext uri="{FF2B5EF4-FFF2-40B4-BE49-F238E27FC236}">
                <a16:creationId xmlns:a16="http://schemas.microsoft.com/office/drawing/2014/main" id="{9852A747-D298-49CC-A62B-2D9A53E38BD8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［条件間の差を示す結果］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175">
            <a:extLst>
              <a:ext uri="{FF2B5EF4-FFF2-40B4-BE49-F238E27FC236}">
                <a16:creationId xmlns:a16="http://schemas.microsoft.com/office/drawing/2014/main" id="{793E8FEB-360C-428F-87D1-B743F84D1499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PH_subtitle_176">
            <a:extLst>
              <a:ext uri="{FF2B5EF4-FFF2-40B4-BE49-F238E27FC236}">
                <a16:creationId xmlns:a16="http://schemas.microsoft.com/office/drawing/2014/main" id="{4719A553-2A4F-41FD-8C7D-7ADFF83406BD}"/>
              </a:ext>
            </a:extLst>
          </p:cNvPr>
          <p:cNvSpPr>
            <a:spLocks noGrp="1"/>
          </p:cNvSpPr>
          <p:nvPr>
            <p:ph type="subTitle" idx="2" hasCustomPrompt="1"/>
          </p:nvPr>
        </p:nvSpPr>
        <p:spPr>
          <a:xfrm>
            <a:off x="590550" y="1304925"/>
            <a:ext cx="1100137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7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7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レイアウト見本・仮データ（実験値へ置換）</a:t>
            </a:r>
            <a:endParaRPr lang="ja-JP" altLang="en-US" sz="17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STATIC_rule_177">
            <a:extLst>
              <a:ext uri="{FF2B5EF4-FFF2-40B4-BE49-F238E27FC236}">
                <a16:creationId xmlns:a16="http://schemas.microsoft.com/office/drawing/2014/main" id="{1C9A81F3-B5C5-47CB-8C55-AFAB09693A62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6" name="PH_footer_178">
            <a:extLst>
              <a:ext uri="{FF2B5EF4-FFF2-40B4-BE49-F238E27FC236}">
                <a16:creationId xmlns:a16="http://schemas.microsoft.com/office/drawing/2014/main" id="{46AEA721-85CB-4FCB-9811-AE3102E341DF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AGE_179">
            <a:extLst>
              <a:ext uri="{FF2B5EF4-FFF2-40B4-BE49-F238E27FC236}">
                <a16:creationId xmlns:a16="http://schemas.microsoft.com/office/drawing/2014/main" id="{1C916C7A-66B4-4308-896D-55103B4D3D0D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81EC7995-E76F-499D-ACBF-A098A5FB7FA2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84" name="PH_chart_84"/>
          <p:cNvSpPr>
            <a:spLocks noGrp="1"/>
          </p:cNvSpPr>
          <p:nvPr>
            <p:ph type="chart" idx="84" hasCustomPrompt="1"/>
          </p:nvPr>
        </p:nvSpPr>
        <p:spPr>
          <a:xfrm>
            <a:off x="523875" y="1809750"/>
            <a:ext cx="7839075" cy="3657600"/>
          </a:xfrm>
          <a:prstGeom prst="rect">
            <a:avLst/>
          </a:prstGeom>
          <a:solidFill>
            <a:srgbClr val="EDF8FD"/>
          </a:solidFill>
          <a:ln w="12700">
            <a:solidFill>
              <a:srgbClr val="C6E3EF"/>
            </a:solidFill>
          </a:ln>
        </p:spPr>
        <p:txBody>
          <a:bodyPr lIns="0" tIns="0" rIns="0" bIns="0" anchor="ctr"/>
          <a:lstStyle/>
          <a:p>
            <a:pPr algn="ctr">
              <a:defRPr lang="ja-JP" altLang="en-US" sz="2200">
                <a:latin typeface="Times New Roman"/>
                <a:ea typeface="Meiryo"/>
                <a:cs typeface="Times New Roman"/>
              </a:defRPr>
            </a:pPr>
            <a:r>
              <a:t>［グラフを挿入］</a:t>
            </a:r>
            <a:endParaRPr lang="ja-JP" altLang="en-US" sz="220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LABEL_180">
            <a:extLst>
              <a:ext uri="{FF2B5EF4-FFF2-40B4-BE49-F238E27FC236}">
                <a16:creationId xmlns:a16="http://schemas.microsoft.com/office/drawing/2014/main" id="{D17FE43B-7303-489D-A2C1-08FFF3ACA204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8858250" y="2105025"/>
            <a:ext cx="27622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結果の要点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PH_body_181">
            <a:extLst>
              <a:ext uri="{FF2B5EF4-FFF2-40B4-BE49-F238E27FC236}">
                <a16:creationId xmlns:a16="http://schemas.microsoft.com/office/drawing/2014/main" id="{581821F0-85BB-4FCC-B03A-47FB52C1C779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8858250" y="2771775"/>
            <a:ext cx="2724150" cy="2162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［差・変化量］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［ばらつき・条件］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STATIC_rule_182">
            <a:extLst>
              <a:ext uri="{FF2B5EF4-FFF2-40B4-BE49-F238E27FC236}">
                <a16:creationId xmlns:a16="http://schemas.microsoft.com/office/drawing/2014/main" id="{09066068-DE17-44A4-A632-4FFF78AA0F96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12" name="PH_takeaway_183">
            <a:extLst>
              <a:ext uri="{FF2B5EF4-FFF2-40B4-BE49-F238E27FC236}">
                <a16:creationId xmlns:a16="http://schemas.microsoft.com/office/drawing/2014/main" id="{76B39325-F1C1-452D-904F-6AFDF4FA218C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［数値に基づく結論を記入］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7 時系列グラフ" preserve="1">
  <p:cSld name="17 時系列グラ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TATIC_rule_184">
            <a:extLst>
              <a:ext uri="{FF2B5EF4-FFF2-40B4-BE49-F238E27FC236}">
                <a16:creationId xmlns:a16="http://schemas.microsoft.com/office/drawing/2014/main" id="{830942BE-19A1-414C-B8F0-F619DEA2B30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185">
            <a:extLst>
              <a:ext uri="{FF2B5EF4-FFF2-40B4-BE49-F238E27FC236}">
                <a16:creationId xmlns:a16="http://schemas.microsoft.com/office/drawing/2014/main" id="{BEF7FE91-D991-44B9-BCB4-C48E9B58E344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［時間による変化を示す結果］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186">
            <a:extLst>
              <a:ext uri="{FF2B5EF4-FFF2-40B4-BE49-F238E27FC236}">
                <a16:creationId xmlns:a16="http://schemas.microsoft.com/office/drawing/2014/main" id="{D2EC1593-4D5C-4811-8083-2D432B37D29C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PH_subtitle_187">
            <a:extLst>
              <a:ext uri="{FF2B5EF4-FFF2-40B4-BE49-F238E27FC236}">
                <a16:creationId xmlns:a16="http://schemas.microsoft.com/office/drawing/2014/main" id="{EA206BC8-0245-4B5E-94CA-8EB2BC075438}"/>
              </a:ext>
            </a:extLst>
          </p:cNvPr>
          <p:cNvSpPr>
            <a:spLocks noGrp="1"/>
          </p:cNvSpPr>
          <p:nvPr>
            <p:ph type="subTitle" idx="2" hasCustomPrompt="1"/>
          </p:nvPr>
        </p:nvSpPr>
        <p:spPr>
          <a:xfrm>
            <a:off x="590550" y="1304925"/>
            <a:ext cx="1100137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7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7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レイアウト見本・仮データ（実験値へ置換）</a:t>
            </a:r>
            <a:endParaRPr lang="ja-JP" altLang="en-US" sz="17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STATIC_rule_188">
            <a:extLst>
              <a:ext uri="{FF2B5EF4-FFF2-40B4-BE49-F238E27FC236}">
                <a16:creationId xmlns:a16="http://schemas.microsoft.com/office/drawing/2014/main" id="{D277A187-8297-46CD-8046-8214A0C6531F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6" name="PH_footer_189">
            <a:extLst>
              <a:ext uri="{FF2B5EF4-FFF2-40B4-BE49-F238E27FC236}">
                <a16:creationId xmlns:a16="http://schemas.microsoft.com/office/drawing/2014/main" id="{EDEB11EA-8D32-485E-8FB7-742ED0C81A7E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AGE_190">
            <a:extLst>
              <a:ext uri="{FF2B5EF4-FFF2-40B4-BE49-F238E27FC236}">
                <a16:creationId xmlns:a16="http://schemas.microsoft.com/office/drawing/2014/main" id="{0063B7EE-EDA5-48FC-B840-F864E074EF3F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965B3A68-D506-4E0E-BB24-104EB841937C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84" name="PH_chart_84"/>
          <p:cNvSpPr>
            <a:spLocks noGrp="1"/>
          </p:cNvSpPr>
          <p:nvPr>
            <p:ph type="chart" idx="84" hasCustomPrompt="1"/>
          </p:nvPr>
        </p:nvSpPr>
        <p:spPr>
          <a:xfrm>
            <a:off x="523875" y="1809750"/>
            <a:ext cx="7839075" cy="3657600"/>
          </a:xfrm>
          <a:prstGeom prst="rect">
            <a:avLst/>
          </a:prstGeom>
          <a:solidFill>
            <a:srgbClr val="EDF8FD"/>
          </a:solidFill>
          <a:ln w="12700">
            <a:solidFill>
              <a:srgbClr val="C6E3EF"/>
            </a:solidFill>
          </a:ln>
        </p:spPr>
        <p:txBody>
          <a:bodyPr lIns="0" tIns="0" rIns="0" bIns="0" anchor="ctr"/>
          <a:lstStyle/>
          <a:p>
            <a:pPr algn="ctr">
              <a:defRPr lang="ja-JP" altLang="en-US" sz="2200">
                <a:latin typeface="Times New Roman"/>
                <a:ea typeface="Meiryo"/>
                <a:cs typeface="Times New Roman"/>
              </a:defRPr>
            </a:pPr>
            <a:r>
              <a:t>［グラフを挿入］</a:t>
            </a:r>
            <a:endParaRPr lang="ja-JP" altLang="en-US" sz="220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LABEL_191">
            <a:extLst>
              <a:ext uri="{FF2B5EF4-FFF2-40B4-BE49-F238E27FC236}">
                <a16:creationId xmlns:a16="http://schemas.microsoft.com/office/drawing/2014/main" id="{CF27537F-618E-4E7D-9963-1E4702335881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8858250" y="2105025"/>
            <a:ext cx="27622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注目する区間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PH_body_192">
            <a:extLst>
              <a:ext uri="{FF2B5EF4-FFF2-40B4-BE49-F238E27FC236}">
                <a16:creationId xmlns:a16="http://schemas.microsoft.com/office/drawing/2014/main" id="{667CE2C5-892F-4A39-BD67-9361CEBD97EC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8858250" y="2771775"/>
            <a:ext cx="2724150" cy="2162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［いつ変化したか］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［そのときの条件］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STATIC_rule_193">
            <a:extLst>
              <a:ext uri="{FF2B5EF4-FFF2-40B4-BE49-F238E27FC236}">
                <a16:creationId xmlns:a16="http://schemas.microsoft.com/office/drawing/2014/main" id="{F153A4AE-C485-41B9-B94D-3DD47A54D306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12" name="PH_takeaway_194">
            <a:extLst>
              <a:ext uri="{FF2B5EF4-FFF2-40B4-BE49-F238E27FC236}">
                <a16:creationId xmlns:a16="http://schemas.microsoft.com/office/drawing/2014/main" id="{FC4EBECB-6CCF-4038-ADC9-6702893C7F64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［時間変化からわかること］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8 数値結果の表" preserve="1">
  <p:cSld name="18 数値結果の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TATIC_rule_195">
            <a:extLst>
              <a:ext uri="{FF2B5EF4-FFF2-40B4-BE49-F238E27FC236}">
                <a16:creationId xmlns:a16="http://schemas.microsoft.com/office/drawing/2014/main" id="{E0A49765-9B19-4A7E-86CF-93C7B212CBD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196">
            <a:extLst>
              <a:ext uri="{FF2B5EF4-FFF2-40B4-BE49-F238E27FC236}">
                <a16:creationId xmlns:a16="http://schemas.microsoft.com/office/drawing/2014/main" id="{FF38C00D-F884-4DEC-A800-AE31CDB2DAF3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［主要な結果を1文で］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197">
            <a:extLst>
              <a:ext uri="{FF2B5EF4-FFF2-40B4-BE49-F238E27FC236}">
                <a16:creationId xmlns:a16="http://schemas.microsoft.com/office/drawing/2014/main" id="{10F4B349-AB6A-45A0-8574-A626F59B13D9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198">
            <a:extLst>
              <a:ext uri="{FF2B5EF4-FFF2-40B4-BE49-F238E27FC236}">
                <a16:creationId xmlns:a16="http://schemas.microsoft.com/office/drawing/2014/main" id="{4F0F98B4-1D3F-461E-A74E-44D6784CDB53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199">
            <a:extLst>
              <a:ext uri="{FF2B5EF4-FFF2-40B4-BE49-F238E27FC236}">
                <a16:creationId xmlns:a16="http://schemas.microsoft.com/office/drawing/2014/main" id="{0385D097-E4E4-4FFB-B1CA-A79C32DFD76F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00">
            <a:extLst>
              <a:ext uri="{FF2B5EF4-FFF2-40B4-BE49-F238E27FC236}">
                <a16:creationId xmlns:a16="http://schemas.microsoft.com/office/drawing/2014/main" id="{841854E9-379F-43F8-9D98-F8B60B968B9F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C522CC70-2FB3-4074-B3D6-9B96A984783B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83" name="PH_tbl_83"/>
          <p:cNvSpPr>
            <a:spLocks noGrp="1"/>
          </p:cNvSpPr>
          <p:nvPr>
            <p:ph type="tbl" idx="83" hasCustomPrompt="1"/>
          </p:nvPr>
        </p:nvSpPr>
        <p:spPr>
          <a:xfrm>
            <a:off x="571500" y="1857375"/>
            <a:ext cx="11049000" cy="3343275"/>
          </a:xfrm>
          <a:prstGeom prst="rect">
            <a:avLst/>
          </a:prstGeom>
          <a:solidFill>
            <a:srgbClr val="EDF8FD"/>
          </a:solidFill>
          <a:ln w="12700">
            <a:solidFill>
              <a:srgbClr val="C6E3EF"/>
            </a:solidFill>
          </a:ln>
        </p:spPr>
        <p:txBody>
          <a:bodyPr lIns="0" tIns="0" rIns="0" bIns="0" anchor="ctr"/>
          <a:lstStyle/>
          <a:p>
            <a:pPr algn="ctr">
              <a:defRPr lang="ja-JP" altLang="en-US" sz="2200">
                <a:latin typeface="Times New Roman"/>
                <a:ea typeface="Meiryo"/>
                <a:cs typeface="Times New Roman"/>
              </a:defRPr>
            </a:pPr>
            <a:r>
              <a:t>［表を挿入］</a:t>
            </a:r>
            <a:endParaRPr lang="ja-JP" altLang="en-US" sz="220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source_201">
            <a:extLst>
              <a:ext uri="{FF2B5EF4-FFF2-40B4-BE49-F238E27FC236}">
                <a16:creationId xmlns:a16="http://schemas.microsoft.com/office/drawing/2014/main" id="{7D3E1919-7C45-4417-B11A-42E94EADB0FE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81025" y="5276850"/>
            <a:ext cx="1102042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対象：［期間・母数］　　丸め：［表示桁数］　　出典：［結果ファイル等］</a:t>
            </a:r>
            <a:endParaRPr lang="ja-JP" altLang="en-US" sz="13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STATIC_rule_202">
            <a:extLst>
              <a:ext uri="{FF2B5EF4-FFF2-40B4-BE49-F238E27FC236}">
                <a16:creationId xmlns:a16="http://schemas.microsoft.com/office/drawing/2014/main" id="{1987A278-C4DC-4DCC-801B-4C56D29980B8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10" name="PH_takeaway_203">
            <a:extLst>
              <a:ext uri="{FF2B5EF4-FFF2-40B4-BE49-F238E27FC236}">
                <a16:creationId xmlns:a16="http://schemas.microsoft.com/office/drawing/2014/main" id="{9DC44FED-6386-4FD5-970F-5DECD5F69479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［この数値が研究目的に対して意味すること］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9 結果と考察" preserve="1">
  <p:cSld name="19 結果と考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TATIC_rule_204">
            <a:extLst>
              <a:ext uri="{FF2B5EF4-FFF2-40B4-BE49-F238E27FC236}">
                <a16:creationId xmlns:a16="http://schemas.microsoft.com/office/drawing/2014/main" id="{316FC284-630F-4B39-BE5E-594C5B93146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205">
            <a:extLst>
              <a:ext uri="{FF2B5EF4-FFF2-40B4-BE49-F238E27FC236}">
                <a16:creationId xmlns:a16="http://schemas.microsoft.com/office/drawing/2014/main" id="{64A98154-5B38-4DEF-A7B9-39E4F682DF23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結果の解釈と考察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206">
            <a:extLst>
              <a:ext uri="{FF2B5EF4-FFF2-40B4-BE49-F238E27FC236}">
                <a16:creationId xmlns:a16="http://schemas.microsoft.com/office/drawing/2014/main" id="{A992AEF6-79CB-40AA-B636-DE908029B584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207">
            <a:extLst>
              <a:ext uri="{FF2B5EF4-FFF2-40B4-BE49-F238E27FC236}">
                <a16:creationId xmlns:a16="http://schemas.microsoft.com/office/drawing/2014/main" id="{B597BF48-4C5C-414C-8825-C99FC8F7F8F1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208">
            <a:extLst>
              <a:ext uri="{FF2B5EF4-FFF2-40B4-BE49-F238E27FC236}">
                <a16:creationId xmlns:a16="http://schemas.microsoft.com/office/drawing/2014/main" id="{32F70129-AE5B-4824-B1B4-4399439335B6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09">
            <a:extLst>
              <a:ext uri="{FF2B5EF4-FFF2-40B4-BE49-F238E27FC236}">
                <a16:creationId xmlns:a16="http://schemas.microsoft.com/office/drawing/2014/main" id="{0FEA8FDE-390E-471B-BE56-E0A5D1DDCAA6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1C2CFC2C-2FB8-420B-B156-7A433C6FF1A6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LABEL_210">
            <a:extLst>
              <a:ext uri="{FF2B5EF4-FFF2-40B4-BE49-F238E27FC236}">
                <a16:creationId xmlns:a16="http://schemas.microsoft.com/office/drawing/2014/main" id="{6EFD69B4-5841-4F85-B256-49147E474683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733550"/>
            <a:ext cx="50482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観察された事実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body_211">
            <a:extLst>
              <a:ext uri="{FF2B5EF4-FFF2-40B4-BE49-F238E27FC236}">
                <a16:creationId xmlns:a16="http://schemas.microsoft.com/office/drawing/2014/main" id="{6EC25216-BA1C-4E18-8F44-C27E3DBAF27A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2381250"/>
            <a:ext cx="5048250" cy="24098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［結果1：図表・数値を添える］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［結果2：比較条件を添える］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STATIC_rule_212">
            <a:extLst>
              <a:ext uri="{FF2B5EF4-FFF2-40B4-BE49-F238E27FC236}">
                <a16:creationId xmlns:a16="http://schemas.microsoft.com/office/drawing/2014/main" id="{4EABBFD5-7C5B-4E07-8DB5-4AFB4F78469A}"/>
              </a:ext>
            </a:extLst>
          </p:cNvPr>
          <p:cNvSpPr>
            <a:spLocks noGrp="1"/>
          </p:cNvSpPr>
          <p:nvPr/>
        </p:nvSpPr>
        <p:spPr>
          <a:xfrm>
            <a:off x="6048375" y="1752600"/>
            <a:ext cx="19050" cy="33718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10" name="LABEL_213">
            <a:extLst>
              <a:ext uri="{FF2B5EF4-FFF2-40B4-BE49-F238E27FC236}">
                <a16:creationId xmlns:a16="http://schemas.microsoft.com/office/drawing/2014/main" id="{EAF2E50E-7E93-49B3-B1A2-6F1C1C9A1DCD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6543675" y="1733550"/>
            <a:ext cx="507682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解釈・考えられる理由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body_214">
            <a:extLst>
              <a:ext uri="{FF2B5EF4-FFF2-40B4-BE49-F238E27FC236}">
                <a16:creationId xmlns:a16="http://schemas.microsoft.com/office/drawing/2014/main" id="{6236302D-2F32-4E75-BA2C-BA3E39863568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6543675" y="2381250"/>
            <a:ext cx="5076825" cy="24098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［結果1の解釈・根拠］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［結果2の解釈・根拠］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STATIC_rule_215">
            <a:extLst>
              <a:ext uri="{FF2B5EF4-FFF2-40B4-BE49-F238E27FC236}">
                <a16:creationId xmlns:a16="http://schemas.microsoft.com/office/drawing/2014/main" id="{FBE912A9-AA79-4F79-8208-611E8567C4CC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13" name="PH_takeaway_216">
            <a:extLst>
              <a:ext uri="{FF2B5EF4-FFF2-40B4-BE49-F238E27FC236}">
                <a16:creationId xmlns:a16="http://schemas.microsoft.com/office/drawing/2014/main" id="{81980F0F-27A3-4CC4-85D8-330BFC2946DD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［残る仮説と、次に確かめること］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0 限界と適用範囲" preserve="1">
  <p:cSld name="20 限界と適用範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ATIC_rule_217">
            <a:extLst>
              <a:ext uri="{FF2B5EF4-FFF2-40B4-BE49-F238E27FC236}">
                <a16:creationId xmlns:a16="http://schemas.microsoft.com/office/drawing/2014/main" id="{0E16B828-4C6A-412D-8F00-EBB03F95B05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218">
            <a:extLst>
              <a:ext uri="{FF2B5EF4-FFF2-40B4-BE49-F238E27FC236}">
                <a16:creationId xmlns:a16="http://schemas.microsoft.com/office/drawing/2014/main" id="{C91A69AD-2FF5-41E6-9AA1-97982AA94500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研究の限界と適用範囲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219">
            <a:extLst>
              <a:ext uri="{FF2B5EF4-FFF2-40B4-BE49-F238E27FC236}">
                <a16:creationId xmlns:a16="http://schemas.microsoft.com/office/drawing/2014/main" id="{9B4E1151-D1FB-47EF-819C-8CA2D5830494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220">
            <a:extLst>
              <a:ext uri="{FF2B5EF4-FFF2-40B4-BE49-F238E27FC236}">
                <a16:creationId xmlns:a16="http://schemas.microsoft.com/office/drawing/2014/main" id="{E2634CD5-A67F-4B5A-A5CE-48F4A87D0417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221">
            <a:extLst>
              <a:ext uri="{FF2B5EF4-FFF2-40B4-BE49-F238E27FC236}">
                <a16:creationId xmlns:a16="http://schemas.microsoft.com/office/drawing/2014/main" id="{15593167-B7A2-42BF-8920-AB56492FDE69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22">
            <a:extLst>
              <a:ext uri="{FF2B5EF4-FFF2-40B4-BE49-F238E27FC236}">
                <a16:creationId xmlns:a16="http://schemas.microsoft.com/office/drawing/2014/main" id="{93D56FCA-7E2C-45FD-854F-BDC49E86A7CC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9F655165-D5B6-46DA-9B78-A9227F737660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83" name="PH_tbl_83"/>
          <p:cNvSpPr>
            <a:spLocks noGrp="1"/>
          </p:cNvSpPr>
          <p:nvPr>
            <p:ph type="tbl" idx="83" hasCustomPrompt="1"/>
          </p:nvPr>
        </p:nvSpPr>
        <p:spPr>
          <a:xfrm>
            <a:off x="571500" y="1933575"/>
            <a:ext cx="11049000" cy="3219450"/>
          </a:xfrm>
          <a:prstGeom prst="rect">
            <a:avLst/>
          </a:prstGeom>
          <a:solidFill>
            <a:srgbClr val="EDF8FD"/>
          </a:solidFill>
          <a:ln w="12700">
            <a:solidFill>
              <a:srgbClr val="C6E3EF"/>
            </a:solidFill>
          </a:ln>
        </p:spPr>
        <p:txBody>
          <a:bodyPr lIns="0" tIns="0" rIns="0" bIns="0" anchor="ctr"/>
          <a:lstStyle/>
          <a:p>
            <a:pPr algn="ctr">
              <a:defRPr lang="ja-JP" altLang="en-US" sz="2200">
                <a:latin typeface="Times New Roman"/>
                <a:ea typeface="Meiryo"/>
                <a:cs typeface="Times New Roman"/>
              </a:defRPr>
            </a:pPr>
            <a:r>
              <a:t>［表を挿入］</a:t>
            </a:r>
            <a:endParaRPr lang="ja-JP" altLang="en-US" sz="220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STATIC_rule_223">
            <a:extLst>
              <a:ext uri="{FF2B5EF4-FFF2-40B4-BE49-F238E27FC236}">
                <a16:creationId xmlns:a16="http://schemas.microsoft.com/office/drawing/2014/main" id="{9EDBBFE8-F19E-4EFB-8CDB-2988C36D67FC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9" name="PH_takeaway_224">
            <a:extLst>
              <a:ext uri="{FF2B5EF4-FFF2-40B4-BE49-F238E27FC236}">
                <a16:creationId xmlns:a16="http://schemas.microsoft.com/office/drawing/2014/main" id="{E06BC44B-1054-400C-A99A-C690304FB561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［本研究の結論が成り立つ範囲］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1 まとめ" preserve="1">
  <p:cSld name="21 まと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TATIC_rule_225">
            <a:extLst>
              <a:ext uri="{FF2B5EF4-FFF2-40B4-BE49-F238E27FC236}">
                <a16:creationId xmlns:a16="http://schemas.microsoft.com/office/drawing/2014/main" id="{A4E25F37-3D33-4B1F-B6AA-BF698B61E08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226">
            <a:extLst>
              <a:ext uri="{FF2B5EF4-FFF2-40B4-BE49-F238E27FC236}">
                <a16:creationId xmlns:a16="http://schemas.microsoft.com/office/drawing/2014/main" id="{5FB83661-1EC4-4433-A9B1-B483608FE2FA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まとめと今後の課題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227">
            <a:extLst>
              <a:ext uri="{FF2B5EF4-FFF2-40B4-BE49-F238E27FC236}">
                <a16:creationId xmlns:a16="http://schemas.microsoft.com/office/drawing/2014/main" id="{3363C3EC-0182-40D8-98DF-2EC6ED6883AB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228">
            <a:extLst>
              <a:ext uri="{FF2B5EF4-FFF2-40B4-BE49-F238E27FC236}">
                <a16:creationId xmlns:a16="http://schemas.microsoft.com/office/drawing/2014/main" id="{57F614FB-DF2A-4210-B97B-3F9DBD6124DD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229">
            <a:extLst>
              <a:ext uri="{FF2B5EF4-FFF2-40B4-BE49-F238E27FC236}">
                <a16:creationId xmlns:a16="http://schemas.microsoft.com/office/drawing/2014/main" id="{A5F257B2-ACFF-48D6-BA83-B5C0FA831685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30">
            <a:extLst>
              <a:ext uri="{FF2B5EF4-FFF2-40B4-BE49-F238E27FC236}">
                <a16:creationId xmlns:a16="http://schemas.microsoft.com/office/drawing/2014/main" id="{E798A89B-FFA1-4CB3-ADAC-3FDE204F1F31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E68667A5-D456-44E3-8DC7-D7CBD6540794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LABEL_231">
            <a:extLst>
              <a:ext uri="{FF2B5EF4-FFF2-40B4-BE49-F238E27FC236}">
                <a16:creationId xmlns:a16="http://schemas.microsoft.com/office/drawing/2014/main" id="{956879AE-3461-4D5F-B53E-996FFA4464B3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743075"/>
            <a:ext cx="5238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研究の問いへの答え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body_232">
            <a:extLst>
              <a:ext uri="{FF2B5EF4-FFF2-40B4-BE49-F238E27FC236}">
                <a16:creationId xmlns:a16="http://schemas.microsoft.com/office/drawing/2014/main" id="{299BAF2F-B0AB-4E8A-8297-A342EBD2EBD3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2247900"/>
            <a:ext cx="11049000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30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0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［確認できた結論を1文で］</a:t>
            </a:r>
            <a:endParaRPr lang="ja-JP" altLang="en-US" sz="30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STATIC_rule_233">
            <a:extLst>
              <a:ext uri="{FF2B5EF4-FFF2-40B4-BE49-F238E27FC236}">
                <a16:creationId xmlns:a16="http://schemas.microsoft.com/office/drawing/2014/main" id="{741EDFCB-E2DE-4ADD-A746-D27772547822}"/>
              </a:ext>
            </a:extLst>
          </p:cNvPr>
          <p:cNvSpPr>
            <a:spLocks noGrp="1"/>
          </p:cNvSpPr>
          <p:nvPr/>
        </p:nvSpPr>
        <p:spPr>
          <a:xfrm>
            <a:off x="571500" y="33337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10" name="LABEL_234">
            <a:extLst>
              <a:ext uri="{FF2B5EF4-FFF2-40B4-BE49-F238E27FC236}">
                <a16:creationId xmlns:a16="http://schemas.microsoft.com/office/drawing/2014/main" id="{E29771CC-6E51-444C-B99C-D498F111CA36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3686175"/>
            <a:ext cx="515302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根拠となる結果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body_235">
            <a:extLst>
              <a:ext uri="{FF2B5EF4-FFF2-40B4-BE49-F238E27FC236}">
                <a16:creationId xmlns:a16="http://schemas.microsoft.com/office/drawing/2014/main" id="{6E2C5E9B-E918-4ADE-AECE-58DCBDE53EC8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571500" y="4191000"/>
            <a:ext cx="5162550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［重要な結果・数値］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［結論が成立する条件］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LABEL_236">
            <a:extLst>
              <a:ext uri="{FF2B5EF4-FFF2-40B4-BE49-F238E27FC236}">
                <a16:creationId xmlns:a16="http://schemas.microsoft.com/office/drawing/2014/main" id="{35229B3F-1925-4491-AF77-2F53C05F71DF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6553200" y="3686175"/>
            <a:ext cx="50673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今後の課題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body_237">
            <a:extLst>
              <a:ext uri="{FF2B5EF4-FFF2-40B4-BE49-F238E27FC236}">
                <a16:creationId xmlns:a16="http://schemas.microsoft.com/office/drawing/2014/main" id="{DDD935E5-AEF3-4F2A-8BC4-C8B965DEFADE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6553200" y="4191000"/>
            <a:ext cx="5067300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［残っている検証］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［次に取り組むこと］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2 今回の進捗" preserve="1">
  <p:cSld name="22 今回の進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ATIC_rule_238">
            <a:extLst>
              <a:ext uri="{FF2B5EF4-FFF2-40B4-BE49-F238E27FC236}">
                <a16:creationId xmlns:a16="http://schemas.microsoft.com/office/drawing/2014/main" id="{DAEABD35-C60C-4FE4-B5C0-976C117EB8D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239">
            <a:extLst>
              <a:ext uri="{FF2B5EF4-FFF2-40B4-BE49-F238E27FC236}">
                <a16:creationId xmlns:a16="http://schemas.microsoft.com/office/drawing/2014/main" id="{8589B14F-96CB-464A-BFFE-99B77FBA1D6D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前回からの進捗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240">
            <a:extLst>
              <a:ext uri="{FF2B5EF4-FFF2-40B4-BE49-F238E27FC236}">
                <a16:creationId xmlns:a16="http://schemas.microsoft.com/office/drawing/2014/main" id="{F860A1C0-B790-43E2-B6FA-1EC5102D7799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241">
            <a:extLst>
              <a:ext uri="{FF2B5EF4-FFF2-40B4-BE49-F238E27FC236}">
                <a16:creationId xmlns:a16="http://schemas.microsoft.com/office/drawing/2014/main" id="{59FCA3AD-37A7-447A-AEE1-F617DBA06A23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242">
            <a:extLst>
              <a:ext uri="{FF2B5EF4-FFF2-40B4-BE49-F238E27FC236}">
                <a16:creationId xmlns:a16="http://schemas.microsoft.com/office/drawing/2014/main" id="{D1600780-DB2C-42C1-98D6-970C466A44B9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43">
            <a:extLst>
              <a:ext uri="{FF2B5EF4-FFF2-40B4-BE49-F238E27FC236}">
                <a16:creationId xmlns:a16="http://schemas.microsoft.com/office/drawing/2014/main" id="{94795A54-231B-42FA-A81E-1DF22EEF57DC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7CFF3B15-C6E6-4E9D-8467-E6B8396B0B1D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83" name="PH_tbl_83"/>
          <p:cNvSpPr>
            <a:spLocks noGrp="1"/>
          </p:cNvSpPr>
          <p:nvPr>
            <p:ph type="tbl" idx="83" hasCustomPrompt="1"/>
          </p:nvPr>
        </p:nvSpPr>
        <p:spPr>
          <a:xfrm>
            <a:off x="571500" y="1962150"/>
            <a:ext cx="11049000" cy="3152775"/>
          </a:xfrm>
          <a:prstGeom prst="rect">
            <a:avLst/>
          </a:prstGeom>
          <a:solidFill>
            <a:srgbClr val="EDF8FD"/>
          </a:solidFill>
          <a:ln w="12700">
            <a:solidFill>
              <a:srgbClr val="C6E3EF"/>
            </a:solidFill>
          </a:ln>
        </p:spPr>
        <p:txBody>
          <a:bodyPr lIns="0" tIns="0" rIns="0" bIns="0" anchor="ctr"/>
          <a:lstStyle/>
          <a:p>
            <a:pPr algn="ctr">
              <a:defRPr lang="ja-JP" altLang="en-US" sz="2200">
                <a:latin typeface="Times New Roman"/>
                <a:ea typeface="Meiryo"/>
                <a:cs typeface="Times New Roman"/>
              </a:defRPr>
            </a:pPr>
            <a:r>
              <a:t>［表を挿入］</a:t>
            </a:r>
            <a:endParaRPr lang="ja-JP" altLang="en-US" sz="220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STATIC_rule_244">
            <a:extLst>
              <a:ext uri="{FF2B5EF4-FFF2-40B4-BE49-F238E27FC236}">
                <a16:creationId xmlns:a16="http://schemas.microsoft.com/office/drawing/2014/main" id="{561D9C14-37E8-4300-B4E1-AD6F3D78F686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9" name="PH_takeaway_245">
            <a:extLst>
              <a:ext uri="{FF2B5EF4-FFF2-40B4-BE49-F238E27FC236}">
                <a16:creationId xmlns:a16="http://schemas.microsoft.com/office/drawing/2014/main" id="{F0CB1F72-E61D-47DC-BDAB-6BF7D7813C3F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［今回、最も前進した点］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3 前回の指摘への対応" preserve="1">
  <p:cSld name="23 前回の指摘への対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TATIC_rule_246">
            <a:extLst>
              <a:ext uri="{FF2B5EF4-FFF2-40B4-BE49-F238E27FC236}">
                <a16:creationId xmlns:a16="http://schemas.microsoft.com/office/drawing/2014/main" id="{36B31E5B-4B61-4D45-A465-CBB5E78A6A4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247">
            <a:extLst>
              <a:ext uri="{FF2B5EF4-FFF2-40B4-BE49-F238E27FC236}">
                <a16:creationId xmlns:a16="http://schemas.microsoft.com/office/drawing/2014/main" id="{7D059F1B-6D4C-4F7A-8F1A-E0291CD25D15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前回の指摘と対応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248">
            <a:extLst>
              <a:ext uri="{FF2B5EF4-FFF2-40B4-BE49-F238E27FC236}">
                <a16:creationId xmlns:a16="http://schemas.microsoft.com/office/drawing/2014/main" id="{6A951676-EFB0-43CD-845F-FB91692530E7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249">
            <a:extLst>
              <a:ext uri="{FF2B5EF4-FFF2-40B4-BE49-F238E27FC236}">
                <a16:creationId xmlns:a16="http://schemas.microsoft.com/office/drawing/2014/main" id="{04B62AAC-4212-4486-BFBD-844B9BF2A5DD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250">
            <a:extLst>
              <a:ext uri="{FF2B5EF4-FFF2-40B4-BE49-F238E27FC236}">
                <a16:creationId xmlns:a16="http://schemas.microsoft.com/office/drawing/2014/main" id="{7BD4E611-1024-4CDD-A3E7-3D60D480CE90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51">
            <a:extLst>
              <a:ext uri="{FF2B5EF4-FFF2-40B4-BE49-F238E27FC236}">
                <a16:creationId xmlns:a16="http://schemas.microsoft.com/office/drawing/2014/main" id="{1C2C004A-5EEF-45F7-8A58-273CD50EA6DD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8E8E0239-5C76-4530-AE89-1A43DC01484A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83" name="PH_tbl_83"/>
          <p:cNvSpPr>
            <a:spLocks noGrp="1"/>
          </p:cNvSpPr>
          <p:nvPr>
            <p:ph type="tbl" idx="83" hasCustomPrompt="1"/>
          </p:nvPr>
        </p:nvSpPr>
        <p:spPr>
          <a:xfrm>
            <a:off x="571500" y="1933575"/>
            <a:ext cx="11049000" cy="3343275"/>
          </a:xfrm>
          <a:prstGeom prst="rect">
            <a:avLst/>
          </a:prstGeom>
          <a:solidFill>
            <a:srgbClr val="EDF8FD"/>
          </a:solidFill>
          <a:ln w="12700">
            <a:solidFill>
              <a:srgbClr val="C6E3EF"/>
            </a:solidFill>
          </a:ln>
        </p:spPr>
        <p:txBody>
          <a:bodyPr lIns="0" tIns="0" rIns="0" bIns="0" anchor="ctr"/>
          <a:lstStyle/>
          <a:p>
            <a:pPr algn="ctr">
              <a:defRPr lang="ja-JP" altLang="en-US" sz="2200">
                <a:latin typeface="Times New Roman"/>
                <a:ea typeface="Meiryo"/>
                <a:cs typeface="Times New Roman"/>
              </a:defRPr>
            </a:pPr>
            <a:r>
              <a:t>［表を挿入］</a:t>
            </a:r>
            <a:endParaRPr lang="ja-JP" altLang="en-US" sz="2200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4 問題と対応方針" preserve="1">
  <p:cSld name="24 問題と対応方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ATIC_rule_252">
            <a:extLst>
              <a:ext uri="{FF2B5EF4-FFF2-40B4-BE49-F238E27FC236}">
                <a16:creationId xmlns:a16="http://schemas.microsoft.com/office/drawing/2014/main" id="{30FEA784-0A68-41B7-AA52-D2EBAB9C70E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253">
            <a:extLst>
              <a:ext uri="{FF2B5EF4-FFF2-40B4-BE49-F238E27FC236}">
                <a16:creationId xmlns:a16="http://schemas.microsoft.com/office/drawing/2014/main" id="{025A7F9C-8EEF-4B86-A274-73B871FE07A6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現在の課題と対応方針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254">
            <a:extLst>
              <a:ext uri="{FF2B5EF4-FFF2-40B4-BE49-F238E27FC236}">
                <a16:creationId xmlns:a16="http://schemas.microsoft.com/office/drawing/2014/main" id="{86B77118-9ED1-4F1C-AC94-65285518694B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255">
            <a:extLst>
              <a:ext uri="{FF2B5EF4-FFF2-40B4-BE49-F238E27FC236}">
                <a16:creationId xmlns:a16="http://schemas.microsoft.com/office/drawing/2014/main" id="{A32FF333-1ECF-4ED3-8CFF-A9A7A815C1AA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256">
            <a:extLst>
              <a:ext uri="{FF2B5EF4-FFF2-40B4-BE49-F238E27FC236}">
                <a16:creationId xmlns:a16="http://schemas.microsoft.com/office/drawing/2014/main" id="{633682F5-4902-49FB-BABA-8F0992FDA13B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57">
            <a:extLst>
              <a:ext uri="{FF2B5EF4-FFF2-40B4-BE49-F238E27FC236}">
                <a16:creationId xmlns:a16="http://schemas.microsoft.com/office/drawing/2014/main" id="{0313CC8E-D4F3-4DBB-91E1-D9931739EF7F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EFCED423-818E-4C73-BE8D-69BF507C61F1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LABEL_258">
            <a:extLst>
              <a:ext uri="{FF2B5EF4-FFF2-40B4-BE49-F238E27FC236}">
                <a16:creationId xmlns:a16="http://schemas.microsoft.com/office/drawing/2014/main" id="{65670E51-326E-44DF-9A04-EAD4B914C3B3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733550"/>
            <a:ext cx="49530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起きていること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body_259">
            <a:extLst>
              <a:ext uri="{FF2B5EF4-FFF2-40B4-BE49-F238E27FC236}">
                <a16:creationId xmlns:a16="http://schemas.microsoft.com/office/drawing/2014/main" id="{736EF9DD-7646-42F5-A888-9159804F8D84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2228850"/>
            <a:ext cx="5067300" cy="1123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［問題・影響範囲］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［観測された事実］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LABEL_260">
            <a:extLst>
              <a:ext uri="{FF2B5EF4-FFF2-40B4-BE49-F238E27FC236}">
                <a16:creationId xmlns:a16="http://schemas.microsoft.com/office/drawing/2014/main" id="{F60B388D-F739-44D4-80D3-13A1CB35D737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6534150" y="1733550"/>
            <a:ext cx="50863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原因の仮説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PH_body_261">
            <a:extLst>
              <a:ext uri="{FF2B5EF4-FFF2-40B4-BE49-F238E27FC236}">
                <a16:creationId xmlns:a16="http://schemas.microsoft.com/office/drawing/2014/main" id="{D2767C73-6382-4B3B-9412-B3113AA53D53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6534150" y="2228850"/>
            <a:ext cx="5086350" cy="1123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［考えられる原因］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［根拠と未確認点］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STATIC_rule_262">
            <a:extLst>
              <a:ext uri="{FF2B5EF4-FFF2-40B4-BE49-F238E27FC236}">
                <a16:creationId xmlns:a16="http://schemas.microsoft.com/office/drawing/2014/main" id="{9B2AB5F7-43E0-4D69-9AB9-CF6C8D7DF5A2}"/>
              </a:ext>
            </a:extLst>
          </p:cNvPr>
          <p:cNvSpPr>
            <a:spLocks noGrp="1"/>
          </p:cNvSpPr>
          <p:nvPr/>
        </p:nvSpPr>
        <p:spPr>
          <a:xfrm>
            <a:off x="571500" y="37052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12" name="LABEL_263">
            <a:extLst>
              <a:ext uri="{FF2B5EF4-FFF2-40B4-BE49-F238E27FC236}">
                <a16:creationId xmlns:a16="http://schemas.microsoft.com/office/drawing/2014/main" id="{620800A7-3F32-45A3-A2DD-04A889753CA6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571500" y="3952875"/>
            <a:ext cx="49530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次に行う対応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body_264">
            <a:extLst>
              <a:ext uri="{FF2B5EF4-FFF2-40B4-BE49-F238E27FC236}">
                <a16:creationId xmlns:a16="http://schemas.microsoft.com/office/drawing/2014/main" id="{10A47258-C56B-403B-A928-AFB86F59EEEB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571500" y="4429125"/>
            <a:ext cx="508635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［切り分け・修正・再検証］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4" name="LABEL_265">
            <a:extLst>
              <a:ext uri="{FF2B5EF4-FFF2-40B4-BE49-F238E27FC236}">
                <a16:creationId xmlns:a16="http://schemas.microsoft.com/office/drawing/2014/main" id="{6E3A2175-6C0E-4662-9B74-ADC75F17B3A2}"/>
              </a:ext>
            </a:extLst>
          </p:cNvPr>
          <p:cNvSpPr>
            <a:spLocks noGrp="1"/>
          </p:cNvSpPr>
          <p:nvPr>
            <p:ph type="body" idx="9" hasCustomPrompt="1"/>
          </p:nvPr>
        </p:nvSpPr>
        <p:spPr>
          <a:xfrm>
            <a:off x="6534150" y="3952875"/>
            <a:ext cx="50863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解決したと判断する条件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5" name="PH_body_266">
            <a:extLst>
              <a:ext uri="{FF2B5EF4-FFF2-40B4-BE49-F238E27FC236}">
                <a16:creationId xmlns:a16="http://schemas.microsoft.com/office/drawing/2014/main" id="{2226AB33-A9C7-406A-9ACA-7604A20DD8E8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6534150" y="4429125"/>
            <a:ext cx="508635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［検証項目・合格条件］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5 次回までの計画" preserve="1">
  <p:cSld name="25 次回までの計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ATIC_rule_267">
            <a:extLst>
              <a:ext uri="{FF2B5EF4-FFF2-40B4-BE49-F238E27FC236}">
                <a16:creationId xmlns:a16="http://schemas.microsoft.com/office/drawing/2014/main" id="{C43FEDD6-3A29-4D24-BE86-2E3A7226C5C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268">
            <a:extLst>
              <a:ext uri="{FF2B5EF4-FFF2-40B4-BE49-F238E27FC236}">
                <a16:creationId xmlns:a16="http://schemas.microsoft.com/office/drawing/2014/main" id="{EF1C6D4B-1CA8-44A0-8276-EC6BFA7E570F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次回までの計画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269">
            <a:extLst>
              <a:ext uri="{FF2B5EF4-FFF2-40B4-BE49-F238E27FC236}">
                <a16:creationId xmlns:a16="http://schemas.microsoft.com/office/drawing/2014/main" id="{6CCC0D37-5E40-4E05-900E-1119D627890A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270">
            <a:extLst>
              <a:ext uri="{FF2B5EF4-FFF2-40B4-BE49-F238E27FC236}">
                <a16:creationId xmlns:a16="http://schemas.microsoft.com/office/drawing/2014/main" id="{695716BF-7794-4986-B19C-6B77E4862295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271">
            <a:extLst>
              <a:ext uri="{FF2B5EF4-FFF2-40B4-BE49-F238E27FC236}">
                <a16:creationId xmlns:a16="http://schemas.microsoft.com/office/drawing/2014/main" id="{8DCEA30E-8A94-4BD3-90B0-EF56AEA88921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72">
            <a:extLst>
              <a:ext uri="{FF2B5EF4-FFF2-40B4-BE49-F238E27FC236}">
                <a16:creationId xmlns:a16="http://schemas.microsoft.com/office/drawing/2014/main" id="{FE3C6A44-C8F9-48FE-8021-98EE08F4A6BE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F04FB73C-3638-43B5-8B18-40921CA44921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83" name="PH_tbl_83"/>
          <p:cNvSpPr>
            <a:spLocks noGrp="1"/>
          </p:cNvSpPr>
          <p:nvPr>
            <p:ph type="tbl" idx="83" hasCustomPrompt="1"/>
          </p:nvPr>
        </p:nvSpPr>
        <p:spPr>
          <a:xfrm>
            <a:off x="571500" y="1924050"/>
            <a:ext cx="11049000" cy="3248025"/>
          </a:xfrm>
          <a:prstGeom prst="rect">
            <a:avLst/>
          </a:prstGeom>
          <a:solidFill>
            <a:srgbClr val="EDF8FD"/>
          </a:solidFill>
          <a:ln w="12700">
            <a:solidFill>
              <a:srgbClr val="C6E3EF"/>
            </a:solidFill>
          </a:ln>
        </p:spPr>
        <p:txBody>
          <a:bodyPr lIns="0" tIns="0" rIns="0" bIns="0" anchor="ctr"/>
          <a:lstStyle/>
          <a:p>
            <a:pPr algn="ctr">
              <a:defRPr lang="ja-JP" altLang="en-US" sz="2200">
                <a:latin typeface="Times New Roman"/>
                <a:ea typeface="Meiryo"/>
                <a:cs typeface="Times New Roman"/>
              </a:defRPr>
            </a:pPr>
            <a:r>
              <a:t>［表を挿入］</a:t>
            </a:r>
            <a:endParaRPr lang="ja-JP" altLang="en-US" sz="220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STATIC_rule_273">
            <a:extLst>
              <a:ext uri="{FF2B5EF4-FFF2-40B4-BE49-F238E27FC236}">
                <a16:creationId xmlns:a16="http://schemas.microsoft.com/office/drawing/2014/main" id="{AA4F733F-5CAB-4753-8C2E-9A8C25A24F3D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9" name="PH_takeaway_274">
            <a:extLst>
              <a:ext uri="{FF2B5EF4-FFF2-40B4-BE49-F238E27FC236}">
                <a16:creationId xmlns:a16="http://schemas.microsoft.com/office/drawing/2014/main" id="{C9C147A1-38B1-4DFF-B406-D91612FFA66B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［次回の報告で明らかにすること］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6 相談事項" preserve="1">
  <p:cSld name="26 相談事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TATIC_rule_275">
            <a:extLst>
              <a:ext uri="{FF2B5EF4-FFF2-40B4-BE49-F238E27FC236}">
                <a16:creationId xmlns:a16="http://schemas.microsoft.com/office/drawing/2014/main" id="{C95FCD9A-D840-461C-82AE-AA9692AC22D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276">
            <a:extLst>
              <a:ext uri="{FF2B5EF4-FFF2-40B4-BE49-F238E27FC236}">
                <a16:creationId xmlns:a16="http://schemas.microsoft.com/office/drawing/2014/main" id="{20AA2063-EE94-41FC-9669-5BFF76E1560B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相談したいこと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277">
            <a:extLst>
              <a:ext uri="{FF2B5EF4-FFF2-40B4-BE49-F238E27FC236}">
                <a16:creationId xmlns:a16="http://schemas.microsoft.com/office/drawing/2014/main" id="{0178BE3B-7A1B-4E16-B264-DFBA42E2A647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278">
            <a:extLst>
              <a:ext uri="{FF2B5EF4-FFF2-40B4-BE49-F238E27FC236}">
                <a16:creationId xmlns:a16="http://schemas.microsoft.com/office/drawing/2014/main" id="{CDD283BD-71CA-4CDE-92D5-6E75E9A2B3A1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279">
            <a:extLst>
              <a:ext uri="{FF2B5EF4-FFF2-40B4-BE49-F238E27FC236}">
                <a16:creationId xmlns:a16="http://schemas.microsoft.com/office/drawing/2014/main" id="{95ACFC36-DEF1-46B9-A9C8-E18E92B31C87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80">
            <a:extLst>
              <a:ext uri="{FF2B5EF4-FFF2-40B4-BE49-F238E27FC236}">
                <a16:creationId xmlns:a16="http://schemas.microsoft.com/office/drawing/2014/main" id="{350AC0FA-301C-4A27-9208-4448D797B2BA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FAF3C694-DA13-4161-B4F2-6A3A2ACE86B0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LABEL_281">
            <a:extLst>
              <a:ext uri="{FF2B5EF4-FFF2-40B4-BE49-F238E27FC236}">
                <a16:creationId xmlns:a16="http://schemas.microsoft.com/office/drawing/2014/main" id="{F1E43570-D5D6-408D-BE74-B13C625199FA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676400"/>
            <a:ext cx="5238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判断したい論点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body_282">
            <a:extLst>
              <a:ext uri="{FF2B5EF4-FFF2-40B4-BE49-F238E27FC236}">
                <a16:creationId xmlns:a16="http://schemas.microsoft.com/office/drawing/2014/main" id="{2537092E-FA99-4D6C-A9D6-E25BF7FF45D9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2143125"/>
            <a:ext cx="11049000" cy="704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8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8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［何を決めたいか］</a:t>
            </a:r>
            <a:endParaRPr lang="ja-JP" altLang="en-US" sz="28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85" name="PH_tbl_85"/>
          <p:cNvSpPr>
            <a:spLocks noGrp="1"/>
          </p:cNvSpPr>
          <p:nvPr>
            <p:ph type="tbl" idx="85" hasCustomPrompt="1"/>
          </p:nvPr>
        </p:nvSpPr>
        <p:spPr>
          <a:xfrm>
            <a:off x="571500" y="3248025"/>
            <a:ext cx="11049000" cy="1971675"/>
          </a:xfrm>
          <a:prstGeom prst="rect">
            <a:avLst/>
          </a:prstGeom>
          <a:solidFill>
            <a:srgbClr val="EDF8FD"/>
          </a:solidFill>
          <a:ln w="12700">
            <a:solidFill>
              <a:srgbClr val="C6E3EF"/>
            </a:solidFill>
          </a:ln>
        </p:spPr>
        <p:txBody>
          <a:bodyPr lIns="0" tIns="0" rIns="0" bIns="0" anchor="ctr"/>
          <a:lstStyle/>
          <a:p>
            <a:pPr algn="ctr">
              <a:defRPr lang="ja-JP" altLang="en-US" sz="2200">
                <a:latin typeface="Times New Roman"/>
                <a:ea typeface="Meiryo"/>
                <a:cs typeface="Times New Roman"/>
              </a:defRPr>
            </a:pPr>
            <a:r>
              <a:t>［表を挿入］</a:t>
            </a:r>
            <a:endParaRPr lang="ja-JP" altLang="en-US" sz="220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STATIC_rule_283">
            <a:extLst>
              <a:ext uri="{FF2B5EF4-FFF2-40B4-BE49-F238E27FC236}">
                <a16:creationId xmlns:a16="http://schemas.microsoft.com/office/drawing/2014/main" id="{073458F3-AE62-4102-B098-CE6CEFDCED22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11" name="PH_takeaway_284">
            <a:extLst>
              <a:ext uri="{FF2B5EF4-FFF2-40B4-BE49-F238E27FC236}">
                <a16:creationId xmlns:a16="http://schemas.microsoft.com/office/drawing/2014/main" id="{C1A62184-BD3B-4BD8-BA05-87D3F9828EE4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［現時点の案と、相談したい判断］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7 参考文献" preserve="1">
  <p:cSld name="27 参考文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TATIC_rule_285">
            <a:extLst>
              <a:ext uri="{FF2B5EF4-FFF2-40B4-BE49-F238E27FC236}">
                <a16:creationId xmlns:a16="http://schemas.microsoft.com/office/drawing/2014/main" id="{AF636F89-5F2C-400A-88F5-DCACD5533C3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286">
            <a:extLst>
              <a:ext uri="{FF2B5EF4-FFF2-40B4-BE49-F238E27FC236}">
                <a16:creationId xmlns:a16="http://schemas.microsoft.com/office/drawing/2014/main" id="{A5648F92-5E79-4E51-9FDF-100E50B1151C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参考文献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287">
            <a:extLst>
              <a:ext uri="{FF2B5EF4-FFF2-40B4-BE49-F238E27FC236}">
                <a16:creationId xmlns:a16="http://schemas.microsoft.com/office/drawing/2014/main" id="{CAD5CE1A-8160-446F-B957-D3DF4402F1EC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288">
            <a:extLst>
              <a:ext uri="{FF2B5EF4-FFF2-40B4-BE49-F238E27FC236}">
                <a16:creationId xmlns:a16="http://schemas.microsoft.com/office/drawing/2014/main" id="{02C0E659-6958-492D-B7F6-1170BE27D0FC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289">
            <a:extLst>
              <a:ext uri="{FF2B5EF4-FFF2-40B4-BE49-F238E27FC236}">
                <a16:creationId xmlns:a16="http://schemas.microsoft.com/office/drawing/2014/main" id="{5F8C18EC-3A61-45B0-A2C7-66930E99C74B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90">
            <a:extLst>
              <a:ext uri="{FF2B5EF4-FFF2-40B4-BE49-F238E27FC236}">
                <a16:creationId xmlns:a16="http://schemas.microsoft.com/office/drawing/2014/main" id="{D9DA78F1-B705-4BF6-97A0-1BF5B46E6C43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22023DAF-1831-46B6-8476-F5D55B9466CC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H_body_291">
            <a:extLst>
              <a:ext uri="{FF2B5EF4-FFF2-40B4-BE49-F238E27FC236}">
                <a16:creationId xmlns:a16="http://schemas.microsoft.com/office/drawing/2014/main" id="{42B1F993-E2C7-40D4-A3D2-64ECE34FC4CE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714500"/>
            <a:ext cx="6477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0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[1]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body_292">
            <a:extLst>
              <a:ext uri="{FF2B5EF4-FFF2-40B4-BE49-F238E27FC236}">
                <a16:creationId xmlns:a16="http://schemas.microsoft.com/office/drawing/2014/main" id="{153612DD-437F-43AA-A55E-BB9EFFF5D93C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1381125" y="1714500"/>
            <a:ext cx="10239375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［著者］, “［論文題目］,” ［誌名・会議名］, ［年］.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DOI / URL: ［識別子・リンク］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PH_body_293">
            <a:extLst>
              <a:ext uri="{FF2B5EF4-FFF2-40B4-BE49-F238E27FC236}">
                <a16:creationId xmlns:a16="http://schemas.microsoft.com/office/drawing/2014/main" id="{D7A62DB5-74D9-451D-820A-BE1D70D1F264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2724150"/>
            <a:ext cx="6477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0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[2]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PH_body_294">
            <a:extLst>
              <a:ext uri="{FF2B5EF4-FFF2-40B4-BE49-F238E27FC236}">
                <a16:creationId xmlns:a16="http://schemas.microsoft.com/office/drawing/2014/main" id="{6238AAB4-F6EB-45DE-A4D6-64210964BFC9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1381125" y="2724150"/>
            <a:ext cx="10239375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［著者］, “［論文題目］,” ［誌名・会議名］, ［年］.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DOI / URL: ［識別子・リンク］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body_295">
            <a:extLst>
              <a:ext uri="{FF2B5EF4-FFF2-40B4-BE49-F238E27FC236}">
                <a16:creationId xmlns:a16="http://schemas.microsoft.com/office/drawing/2014/main" id="{F3EC9676-5B67-4C05-BD4D-1A0968B66110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571500" y="3733800"/>
            <a:ext cx="6477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0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[3]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PH_body_296">
            <a:extLst>
              <a:ext uri="{FF2B5EF4-FFF2-40B4-BE49-F238E27FC236}">
                <a16:creationId xmlns:a16="http://schemas.microsoft.com/office/drawing/2014/main" id="{AFD8FC16-E108-4AF7-8A41-5E7DA18BB1CF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1381125" y="3733800"/>
            <a:ext cx="10239375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［著者］, “［論文題目］,” ［誌名・会議名］, ［年］.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DOI / URL: ［識別子・リンク］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body_297">
            <a:extLst>
              <a:ext uri="{FF2B5EF4-FFF2-40B4-BE49-F238E27FC236}">
                <a16:creationId xmlns:a16="http://schemas.microsoft.com/office/drawing/2014/main" id="{D9E57E21-CFC3-4C77-8CC9-53E05561456E}"/>
              </a:ext>
            </a:extLst>
          </p:cNvPr>
          <p:cNvSpPr>
            <a:spLocks noGrp="1"/>
          </p:cNvSpPr>
          <p:nvPr>
            <p:ph type="body" idx="9" hasCustomPrompt="1"/>
          </p:nvPr>
        </p:nvSpPr>
        <p:spPr>
          <a:xfrm>
            <a:off x="571500" y="4743450"/>
            <a:ext cx="6477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0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[4]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4" name="PH_body_298">
            <a:extLst>
              <a:ext uri="{FF2B5EF4-FFF2-40B4-BE49-F238E27FC236}">
                <a16:creationId xmlns:a16="http://schemas.microsoft.com/office/drawing/2014/main" id="{68E8937D-F1C9-41FD-849C-8C7B803243BE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381125" y="4743450"/>
            <a:ext cx="10239375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［著者］, “［論文題目］,” ［誌名・会議名］, ［年］.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DOI / URL: ［識別子・リンク］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8 補足・自由配置" preserve="1">
  <p:cSld name="28 補足・自由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ATIC_rule_299">
            <a:extLst>
              <a:ext uri="{FF2B5EF4-FFF2-40B4-BE49-F238E27FC236}">
                <a16:creationId xmlns:a16="http://schemas.microsoft.com/office/drawing/2014/main" id="{5B0CB8B4-F433-4430-992F-6DB6ABE2DE3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300">
            <a:extLst>
              <a:ext uri="{FF2B5EF4-FFF2-40B4-BE49-F238E27FC236}">
                <a16:creationId xmlns:a16="http://schemas.microsoft.com/office/drawing/2014/main" id="{0D34370B-3BF8-4750-A51F-C5780A867545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補足：［説明する項目］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301">
            <a:extLst>
              <a:ext uri="{FF2B5EF4-FFF2-40B4-BE49-F238E27FC236}">
                <a16:creationId xmlns:a16="http://schemas.microsoft.com/office/drawing/2014/main" id="{74F4E1BD-EBA7-4334-AAA7-AA4C157563B7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302">
            <a:extLst>
              <a:ext uri="{FF2B5EF4-FFF2-40B4-BE49-F238E27FC236}">
                <a16:creationId xmlns:a16="http://schemas.microsoft.com/office/drawing/2014/main" id="{5D97772C-BE02-4002-9F5D-48304CCDB86A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303">
            <a:extLst>
              <a:ext uri="{FF2B5EF4-FFF2-40B4-BE49-F238E27FC236}">
                <a16:creationId xmlns:a16="http://schemas.microsoft.com/office/drawing/2014/main" id="{52368D6B-844D-4D65-A3D6-50BB43DF5084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304">
            <a:extLst>
              <a:ext uri="{FF2B5EF4-FFF2-40B4-BE49-F238E27FC236}">
                <a16:creationId xmlns:a16="http://schemas.microsoft.com/office/drawing/2014/main" id="{CD387312-5471-4892-82AF-B8DA57AB2D45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CDC0D953-3D37-4A3F-AFDF-A1F7A30D3F67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H_figure_305">
            <a:extLst>
              <a:ext uri="{FF2B5EF4-FFF2-40B4-BE49-F238E27FC236}">
                <a16:creationId xmlns:a16="http://schemas.microsoft.com/office/drawing/2014/main" id="{F13F1B17-9BDE-4368-B2EA-B7D84EAC0119}"/>
              </a:ext>
            </a:extLst>
          </p:cNvPr>
          <p:cNvSpPr>
            <a:spLocks noGrp="1"/>
          </p:cNvSpPr>
          <p:nvPr>
            <p:ph idx="3" hasCustomPrompt="1"/>
          </p:nvPr>
        </p:nvSpPr>
        <p:spPr>
          <a:xfrm>
            <a:off x="571500" y="1733550"/>
            <a:ext cx="11049000" cy="3438525"/>
          </a:xfrm>
          <a:prstGeom prst="rect">
            <a:avLst/>
          </a:prstGeom>
          <a:solidFill>
            <a:srgbClr val="EDF8FD"/>
          </a:solidFill>
          <a:ln w="13335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［追加の図・表・説明を配置］</a:t>
            </a:r>
            <a:endParaRPr lang="ja-JP" altLang="en-US" sz="2175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source_306">
            <a:extLst>
              <a:ext uri="{FF2B5EF4-FFF2-40B4-BE49-F238E27FC236}">
                <a16:creationId xmlns:a16="http://schemas.microsoft.com/office/drawing/2014/main" id="{DB5DC574-5DEC-496F-A20B-2F4DE56C831A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90550" y="5276850"/>
            <a:ext cx="11001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4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4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条件・出典：［再現に必要な補足情報］</a:t>
            </a:r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9 導入A 政策・社会的背景" preserve="1">
  <p:cSld name="29 導入A 政策・社会的背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ATIC_rule_1">
            <a:extLst>
              <a:ext uri="{FF2B5EF4-FFF2-40B4-BE49-F238E27FC236}">
                <a16:creationId xmlns:a16="http://schemas.microsoft.com/office/drawing/2014/main" id="{492B8EA8-0B8A-48F9-8905-FD3D59F0757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2">
            <a:extLst>
              <a:ext uri="{FF2B5EF4-FFF2-40B4-BE49-F238E27FC236}">
                <a16:creationId xmlns:a16="http://schemas.microsoft.com/office/drawing/2014/main" id="{C00B92A1-1EE7-4A78-952D-0394FFFCDE11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400050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［社会課題］に対応する研究の必要性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3">
            <a:extLst>
              <a:ext uri="{FF2B5EF4-FFF2-40B4-BE49-F238E27FC236}">
                <a16:creationId xmlns:a16="http://schemas.microsoft.com/office/drawing/2014/main" id="{C1DC8C4A-F6A3-445D-B225-7F702342F7DD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PH_subtitle_4">
            <a:extLst>
              <a:ext uri="{FF2B5EF4-FFF2-40B4-BE49-F238E27FC236}">
                <a16:creationId xmlns:a16="http://schemas.microsoft.com/office/drawing/2014/main" id="{551C2658-E797-4F4D-886B-84684CCB9950}"/>
              </a:ext>
            </a:extLst>
          </p:cNvPr>
          <p:cNvSpPr>
            <a:spLocks noGrp="1"/>
          </p:cNvSpPr>
          <p:nvPr>
            <p:ph type="subTitle" idx="2" hasCustomPrompt="1"/>
          </p:nvPr>
        </p:nvSpPr>
        <p:spPr>
          <a:xfrm>
            <a:off x="590550" y="1333500"/>
            <a:ext cx="11001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6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6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［社会的背景を端的に示す補助見出し］</a:t>
            </a:r>
            <a:endParaRPr lang="ja-JP" altLang="en-US" sz="16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STATIC_rule_5">
            <a:extLst>
              <a:ext uri="{FF2B5EF4-FFF2-40B4-BE49-F238E27FC236}">
                <a16:creationId xmlns:a16="http://schemas.microsoft.com/office/drawing/2014/main" id="{B9716926-5FD3-4765-AE77-BE963F76AC9F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6" name="PH_footer_6">
            <a:extLst>
              <a:ext uri="{FF2B5EF4-FFF2-40B4-BE49-F238E27FC236}">
                <a16:creationId xmlns:a16="http://schemas.microsoft.com/office/drawing/2014/main" id="{A26DBA13-4024-4B68-8957-E7CA45359AD8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AGE_7">
            <a:extLst>
              <a:ext uri="{FF2B5EF4-FFF2-40B4-BE49-F238E27FC236}">
                <a16:creationId xmlns:a16="http://schemas.microsoft.com/office/drawing/2014/main" id="{2A0940F9-9982-44E6-9411-60AA301B6AB3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953750" y="6419850"/>
            <a:ext cx="6667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BA1EF8A9-EB10-4B9C-B3D1-1175EB987E6C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LABEL_8">
            <a:extLst>
              <a:ext uri="{FF2B5EF4-FFF2-40B4-BE49-F238E27FC236}">
                <a16:creationId xmlns:a16="http://schemas.microsoft.com/office/drawing/2014/main" id="{0B0250D6-B347-4110-ACA7-741829509C21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1866900"/>
            <a:ext cx="501015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社会として目指す姿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PH_body_9">
            <a:extLst>
              <a:ext uri="{FF2B5EF4-FFF2-40B4-BE49-F238E27FC236}">
                <a16:creationId xmlns:a16="http://schemas.microsoft.com/office/drawing/2014/main" id="{80590550-D4BC-4D16-A839-B47A9C1BB5FB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2390775"/>
            <a:ext cx="5019675" cy="1019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［政策・計画が掲げる方向性］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［対象・達成時期・目標］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LABEL_10">
            <a:extLst>
              <a:ext uri="{FF2B5EF4-FFF2-40B4-BE49-F238E27FC236}">
                <a16:creationId xmlns:a16="http://schemas.microsoft.com/office/drawing/2014/main" id="{AC17D7EE-A1D3-45C8-890A-AEB0570926AC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571500" y="3829050"/>
            <a:ext cx="5019675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実現に向けて残る課題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body_11">
            <a:extLst>
              <a:ext uri="{FF2B5EF4-FFF2-40B4-BE49-F238E27FC236}">
                <a16:creationId xmlns:a16="http://schemas.microsoft.com/office/drawing/2014/main" id="{0E598F51-E1FE-428C-9892-0696DAF88B38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571500" y="4324350"/>
            <a:ext cx="5019675" cy="1019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［現場で解決が必要なこと］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［既存の取組で不足する点］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PH_figure_12">
            <a:extLst>
              <a:ext uri="{FF2B5EF4-FFF2-40B4-BE49-F238E27FC236}">
                <a16:creationId xmlns:a16="http://schemas.microsoft.com/office/drawing/2014/main" id="{7F6AF59F-BDE5-4221-94D5-BF3B85A677D5}"/>
              </a:ext>
            </a:extLst>
          </p:cNvPr>
          <p:cNvSpPr>
            <a:spLocks noGrp="1"/>
          </p:cNvSpPr>
          <p:nvPr>
            <p:ph idx="8" hasCustomPrompt="1"/>
          </p:nvPr>
        </p:nvSpPr>
        <p:spPr>
          <a:xfrm>
            <a:off x="6219825" y="1933575"/>
            <a:ext cx="5400675" cy="2867025"/>
          </a:xfrm>
          <a:prstGeom prst="rect">
            <a:avLst/>
          </a:prstGeom>
          <a:solidFill>
            <a:srgbClr val="EDF8FD"/>
          </a:solidFill>
          <a:ln w="11430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0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［現状と目標を示す</a:t>
            </a:r>
            <a:endParaRPr lang="ja-JP" altLang="en-US" sz="2100">
              <a:latin typeface="Times New Roman"/>
              <a:ea typeface="Meiryo"/>
              <a:cs typeface="Times New Roman"/>
            </a:endParaRPr>
          </a:p>
          <a:p>
            <a:pPr algn="ctr">
              <a:defRPr lang="ja-JP" altLang="en-US" sz="210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統計・図を1つ］</a:t>
            </a:r>
            <a:endParaRPr lang="ja-JP" altLang="en-US" sz="210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source_13">
            <a:extLst>
              <a:ext uri="{FF2B5EF4-FFF2-40B4-BE49-F238E27FC236}">
                <a16:creationId xmlns:a16="http://schemas.microsoft.com/office/drawing/2014/main" id="{E056B805-630F-4A5E-866D-20C52FC5855D}"/>
              </a:ext>
            </a:extLst>
          </p:cNvPr>
          <p:cNvSpPr>
            <a:spLocks noGrp="1"/>
          </p:cNvSpPr>
          <p:nvPr>
            <p:ph type="body" idx="9" hasCustomPrompt="1"/>
          </p:nvPr>
        </p:nvSpPr>
        <p:spPr>
          <a:xfrm>
            <a:off x="6219825" y="4943475"/>
            <a:ext cx="5400675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出典：［発行主体・資料名・年・頁］</a:t>
            </a:r>
            <a:endParaRPr lang="ja-JP" altLang="en-US" sz="13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対象：［地域・期間・母数］</a:t>
            </a:r>
            <a:endParaRPr lang="ja-JP" altLang="en-US" sz="13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4" name="STATIC_rule_14">
            <a:extLst>
              <a:ext uri="{FF2B5EF4-FFF2-40B4-BE49-F238E27FC236}">
                <a16:creationId xmlns:a16="http://schemas.microsoft.com/office/drawing/2014/main" id="{16772EFA-1C32-4EA9-9DA7-AC25B22772C7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15" name="PH_takeaway_15">
            <a:extLst>
              <a:ext uri="{FF2B5EF4-FFF2-40B4-BE49-F238E27FC236}">
                <a16:creationId xmlns:a16="http://schemas.microsoft.com/office/drawing/2014/main" id="{13E7572B-9F9D-4300-BD76-511D520B35DB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752475" y="5610225"/>
            <a:ext cx="108394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［社会の目標］の実現には、［課題］の検証が必要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0 導入A 研究の役割" preserve="1">
  <p:cSld name="30 導入A 研究の役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TATIC_rule_16">
            <a:extLst>
              <a:ext uri="{FF2B5EF4-FFF2-40B4-BE49-F238E27FC236}">
                <a16:creationId xmlns:a16="http://schemas.microsoft.com/office/drawing/2014/main" id="{7BB686C7-8B5C-467D-80A7-0696AF93D50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17">
            <a:extLst>
              <a:ext uri="{FF2B5EF4-FFF2-40B4-BE49-F238E27FC236}">
                <a16:creationId xmlns:a16="http://schemas.microsoft.com/office/drawing/2014/main" id="{AA4618FD-633A-4ED0-B2AF-E1D3B36C2E23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400050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社会的な課題に対する本研究の役割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18">
            <a:extLst>
              <a:ext uri="{FF2B5EF4-FFF2-40B4-BE49-F238E27FC236}">
                <a16:creationId xmlns:a16="http://schemas.microsoft.com/office/drawing/2014/main" id="{77F98A79-25A7-40EA-8038-B025FB724496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PH_subtitle_19">
            <a:extLst>
              <a:ext uri="{FF2B5EF4-FFF2-40B4-BE49-F238E27FC236}">
                <a16:creationId xmlns:a16="http://schemas.microsoft.com/office/drawing/2014/main" id="{6BED887A-FECA-4617-AEB6-EED191F76460}"/>
              </a:ext>
            </a:extLst>
          </p:cNvPr>
          <p:cNvSpPr>
            <a:spLocks noGrp="1"/>
          </p:cNvSpPr>
          <p:nvPr>
            <p:ph type="subTitle" idx="2" hasCustomPrompt="1"/>
          </p:nvPr>
        </p:nvSpPr>
        <p:spPr>
          <a:xfrm>
            <a:off x="590550" y="1333500"/>
            <a:ext cx="11001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6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6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［本研究の役割を端的に示す補助見出し］</a:t>
            </a:r>
            <a:endParaRPr lang="ja-JP" altLang="en-US" sz="16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STATIC_rule_20">
            <a:extLst>
              <a:ext uri="{FF2B5EF4-FFF2-40B4-BE49-F238E27FC236}">
                <a16:creationId xmlns:a16="http://schemas.microsoft.com/office/drawing/2014/main" id="{D1E09942-D625-477A-A5B0-EEFE1E924A1E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6" name="PH_footer_21">
            <a:extLst>
              <a:ext uri="{FF2B5EF4-FFF2-40B4-BE49-F238E27FC236}">
                <a16:creationId xmlns:a16="http://schemas.microsoft.com/office/drawing/2014/main" id="{F5FA59AD-A817-48CC-B80D-C825A9754E38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AGE_22">
            <a:extLst>
              <a:ext uri="{FF2B5EF4-FFF2-40B4-BE49-F238E27FC236}">
                <a16:creationId xmlns:a16="http://schemas.microsoft.com/office/drawing/2014/main" id="{95895BA3-8D1B-44BD-B7B7-234A75EFC07F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953750" y="6419850"/>
            <a:ext cx="6667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247C98CE-5858-4069-987B-D4E0478C49CE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LABEL_23">
            <a:extLst>
              <a:ext uri="{FF2B5EF4-FFF2-40B4-BE49-F238E27FC236}">
                <a16:creationId xmlns:a16="http://schemas.microsoft.com/office/drawing/2014/main" id="{07D50587-0555-4BBD-80E9-0578D91978AC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1952625"/>
            <a:ext cx="323850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解決したい課題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PH_body_24">
            <a:extLst>
              <a:ext uri="{FF2B5EF4-FFF2-40B4-BE49-F238E27FC236}">
                <a16:creationId xmlns:a16="http://schemas.microsoft.com/office/drawing/2014/main" id="{93AF88B1-71F8-480F-BC5D-B6047E8D364A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2686050"/>
            <a:ext cx="3238500" cy="1219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［どの場面で］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［何が難しいか］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STATIC_arrow_25">
            <a:extLst>
              <a:ext uri="{FF2B5EF4-FFF2-40B4-BE49-F238E27FC236}">
                <a16:creationId xmlns:a16="http://schemas.microsoft.com/office/drawing/2014/main" id="{C30EED4B-146E-41D8-B73D-575F19B97F7C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3914775" y="2771775"/>
            <a:ext cx="409575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8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8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→</a:t>
            </a:r>
            <a:endParaRPr lang="ja-JP" altLang="en-US" sz="28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LABEL_26">
            <a:extLst>
              <a:ext uri="{FF2B5EF4-FFF2-40B4-BE49-F238E27FC236}">
                <a16:creationId xmlns:a16="http://schemas.microsoft.com/office/drawing/2014/main" id="{E2C14F6B-BA8C-4DAB-898B-576374759942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4467225" y="1952625"/>
            <a:ext cx="323850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本研究で行うこと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PH_body_27">
            <a:extLst>
              <a:ext uri="{FF2B5EF4-FFF2-40B4-BE49-F238E27FC236}">
                <a16:creationId xmlns:a16="http://schemas.microsoft.com/office/drawing/2014/main" id="{C5E866D7-5DB1-49C3-81E0-37DADB533A7D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4467225" y="2686050"/>
            <a:ext cx="3238500" cy="1219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［対象・条件］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［調べる方法］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STATIC_arrow_28">
            <a:extLst>
              <a:ext uri="{FF2B5EF4-FFF2-40B4-BE49-F238E27FC236}">
                <a16:creationId xmlns:a16="http://schemas.microsoft.com/office/drawing/2014/main" id="{9CF28CD2-584A-47B7-B81D-9824E714D23D}"/>
              </a:ext>
            </a:extLst>
          </p:cNvPr>
          <p:cNvSpPr>
            <a:spLocks noGrp="1"/>
          </p:cNvSpPr>
          <p:nvPr>
            <p:ph type="body" idx="9" hasCustomPrompt="1"/>
          </p:nvPr>
        </p:nvSpPr>
        <p:spPr>
          <a:xfrm>
            <a:off x="7810500" y="2771775"/>
            <a:ext cx="409575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8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8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→</a:t>
            </a:r>
            <a:endParaRPr lang="ja-JP" altLang="en-US" sz="28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4" name="LABEL_29">
            <a:extLst>
              <a:ext uri="{FF2B5EF4-FFF2-40B4-BE49-F238E27FC236}">
                <a16:creationId xmlns:a16="http://schemas.microsoft.com/office/drawing/2014/main" id="{E8B7ED04-7679-4FD0-9BC6-F7E0DEBC0DA7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8362950" y="1952625"/>
            <a:ext cx="323850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得られる判断材料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5" name="PH_body_30">
            <a:extLst>
              <a:ext uri="{FF2B5EF4-FFF2-40B4-BE49-F238E27FC236}">
                <a16:creationId xmlns:a16="http://schemas.microsoft.com/office/drawing/2014/main" id="{5BCD2B9D-2883-47B0-A1A8-3C0CCBB6E920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8362950" y="2686050"/>
            <a:ext cx="3238500" cy="1219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［得られる指標］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［役立つ判断］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6" name="STATIC_rule_31">
            <a:extLst>
              <a:ext uri="{FF2B5EF4-FFF2-40B4-BE49-F238E27FC236}">
                <a16:creationId xmlns:a16="http://schemas.microsoft.com/office/drawing/2014/main" id="{4582210B-6C95-4613-8633-C4756880D5A9}"/>
              </a:ext>
            </a:extLst>
          </p:cNvPr>
          <p:cNvSpPr>
            <a:spLocks noGrp="1"/>
          </p:cNvSpPr>
          <p:nvPr/>
        </p:nvSpPr>
        <p:spPr>
          <a:xfrm>
            <a:off x="571500" y="429577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17" name="LABEL_32">
            <a:extLst>
              <a:ext uri="{FF2B5EF4-FFF2-40B4-BE49-F238E27FC236}">
                <a16:creationId xmlns:a16="http://schemas.microsoft.com/office/drawing/2014/main" id="{6C527BA5-5135-4329-8A3D-3E8273210BE4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571500" y="4581525"/>
            <a:ext cx="247650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今回の検証範囲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8" name="PH_body_33">
            <a:extLst>
              <a:ext uri="{FF2B5EF4-FFF2-40B4-BE49-F238E27FC236}">
                <a16:creationId xmlns:a16="http://schemas.microsoft.com/office/drawing/2014/main" id="{11E7CA94-3948-436C-A737-CAF51C1F37CE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3371850" y="4591050"/>
            <a:ext cx="8248650" cy="790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［対象とする条件］　／　［今回扱わない条件］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9" name="STATIC_rule_34">
            <a:extLst>
              <a:ext uri="{FF2B5EF4-FFF2-40B4-BE49-F238E27FC236}">
                <a16:creationId xmlns:a16="http://schemas.microsoft.com/office/drawing/2014/main" id="{796C918A-1DE6-4B51-BDD8-324E4F3121A8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0" name="PH_takeaway_35">
            <a:extLst>
              <a:ext uri="{FF2B5EF4-FFF2-40B4-BE49-F238E27FC236}">
                <a16:creationId xmlns:a16="http://schemas.microsoft.com/office/drawing/2014/main" id="{921B057B-D573-4F48-BACC-E636B7C69436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752475" y="5610225"/>
            <a:ext cx="108394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本研究は［指標］を検証し、［判断］の根拠を示す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1 導入B 現場の課題" preserve="1">
  <p:cSld name="31 導入B 現場の課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ATIC_rule_36">
            <a:extLst>
              <a:ext uri="{FF2B5EF4-FFF2-40B4-BE49-F238E27FC236}">
                <a16:creationId xmlns:a16="http://schemas.microsoft.com/office/drawing/2014/main" id="{AA22749E-7064-4F51-A892-5A489902670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37">
            <a:extLst>
              <a:ext uri="{FF2B5EF4-FFF2-40B4-BE49-F238E27FC236}">
                <a16:creationId xmlns:a16="http://schemas.microsoft.com/office/drawing/2014/main" id="{0540F659-1ACF-4DA7-8F94-FB3B4A59AFA4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400050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［現場・利用者］が直面する課題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38">
            <a:extLst>
              <a:ext uri="{FF2B5EF4-FFF2-40B4-BE49-F238E27FC236}">
                <a16:creationId xmlns:a16="http://schemas.microsoft.com/office/drawing/2014/main" id="{60353EA9-6D72-41BB-9E30-65C03F234E81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PH_subtitle_39">
            <a:extLst>
              <a:ext uri="{FF2B5EF4-FFF2-40B4-BE49-F238E27FC236}">
                <a16:creationId xmlns:a16="http://schemas.microsoft.com/office/drawing/2014/main" id="{5845D322-E532-40EA-92F7-65CEF9CD7116}"/>
              </a:ext>
            </a:extLst>
          </p:cNvPr>
          <p:cNvSpPr>
            <a:spLocks noGrp="1"/>
          </p:cNvSpPr>
          <p:nvPr>
            <p:ph type="subTitle" idx="2" hasCustomPrompt="1"/>
          </p:nvPr>
        </p:nvSpPr>
        <p:spPr>
          <a:xfrm>
            <a:off x="590550" y="1333500"/>
            <a:ext cx="11001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6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6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［現場の状況を端的に示す補助見出し］</a:t>
            </a:r>
            <a:endParaRPr lang="ja-JP" altLang="en-US" sz="16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STATIC_rule_40">
            <a:extLst>
              <a:ext uri="{FF2B5EF4-FFF2-40B4-BE49-F238E27FC236}">
                <a16:creationId xmlns:a16="http://schemas.microsoft.com/office/drawing/2014/main" id="{A55C3822-C59C-420C-ADDB-5595D934CC6A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6" name="PH_footer_41">
            <a:extLst>
              <a:ext uri="{FF2B5EF4-FFF2-40B4-BE49-F238E27FC236}">
                <a16:creationId xmlns:a16="http://schemas.microsoft.com/office/drawing/2014/main" id="{F6C45005-4A79-460D-AF1F-0C961CAC89C7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AGE_42">
            <a:extLst>
              <a:ext uri="{FF2B5EF4-FFF2-40B4-BE49-F238E27FC236}">
                <a16:creationId xmlns:a16="http://schemas.microsoft.com/office/drawing/2014/main" id="{693AB983-7AB4-4DB5-AF1F-9CF7116C30D0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953750" y="6419850"/>
            <a:ext cx="6667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81638755-F059-4D21-B2A4-735F3615F153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figure_43">
            <a:extLst>
              <a:ext uri="{FF2B5EF4-FFF2-40B4-BE49-F238E27FC236}">
                <a16:creationId xmlns:a16="http://schemas.microsoft.com/office/drawing/2014/main" id="{2ADD4173-A780-4E86-B24E-2AF01F151E11}"/>
              </a:ext>
            </a:extLst>
          </p:cNvPr>
          <p:cNvSpPr>
            <a:spLocks noGrp="1"/>
          </p:cNvSpPr>
          <p:nvPr>
            <p:ph idx="4" hasCustomPrompt="1"/>
          </p:nvPr>
        </p:nvSpPr>
        <p:spPr>
          <a:xfrm>
            <a:off x="571500" y="1971675"/>
            <a:ext cx="5324475" cy="2714625"/>
          </a:xfrm>
          <a:prstGeom prst="rect">
            <a:avLst/>
          </a:prstGeom>
          <a:solidFill>
            <a:srgbClr val="EDF8FD"/>
          </a:solidFill>
          <a:ln w="11430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0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［対象の写真・運用図］</a:t>
            </a:r>
            <a:endParaRPr lang="ja-JP" altLang="en-US" sz="210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PH_source_44">
            <a:extLst>
              <a:ext uri="{FF2B5EF4-FFF2-40B4-BE49-F238E27FC236}">
                <a16:creationId xmlns:a16="http://schemas.microsoft.com/office/drawing/2014/main" id="{5F3C1A9A-A445-4DA1-8D61-E612E02B0B49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4819650"/>
            <a:ext cx="5324475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出典：［資料名・年・頁／撮影者］</a:t>
            </a:r>
            <a:endParaRPr lang="ja-JP" altLang="en-US" sz="13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対象：［地域・組織・期間］</a:t>
            </a:r>
            <a:endParaRPr lang="ja-JP" altLang="en-US" sz="13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LABEL_45">
            <a:extLst>
              <a:ext uri="{FF2B5EF4-FFF2-40B4-BE49-F238E27FC236}">
                <a16:creationId xmlns:a16="http://schemas.microsoft.com/office/drawing/2014/main" id="{3AE1F213-92B0-4E08-BAFB-2122ECDF053A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6534150" y="1876425"/>
            <a:ext cx="508635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現場で起きていること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body_46">
            <a:extLst>
              <a:ext uri="{FF2B5EF4-FFF2-40B4-BE49-F238E27FC236}">
                <a16:creationId xmlns:a16="http://schemas.microsoft.com/office/drawing/2014/main" id="{212FF293-E823-487A-8C77-07CA6ABAE9DC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6534150" y="2381250"/>
            <a:ext cx="5086350" cy="1076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［具体的な場面・困りごと］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［影響を受ける対象］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LABEL_47">
            <a:extLst>
              <a:ext uri="{FF2B5EF4-FFF2-40B4-BE49-F238E27FC236}">
                <a16:creationId xmlns:a16="http://schemas.microsoft.com/office/drawing/2014/main" id="{F98AE0A2-9D57-433F-8B90-7901D0786F7F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6534150" y="3838575"/>
            <a:ext cx="508635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現状を示す根拠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body_48">
            <a:extLst>
              <a:ext uri="{FF2B5EF4-FFF2-40B4-BE49-F238E27FC236}">
                <a16:creationId xmlns:a16="http://schemas.microsoft.com/office/drawing/2014/main" id="{4DF3EA3F-29DB-4D1C-A24F-6EB8EF6FE28A}"/>
              </a:ext>
            </a:extLst>
          </p:cNvPr>
          <p:cNvSpPr>
            <a:spLocks noGrp="1"/>
          </p:cNvSpPr>
          <p:nvPr>
            <p:ph type="body" idx="9" hasCustomPrompt="1"/>
          </p:nvPr>
        </p:nvSpPr>
        <p:spPr>
          <a:xfrm>
            <a:off x="6534150" y="4352925"/>
            <a:ext cx="5086350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［確認した数値・観察事実］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［現状の対応と残る課題］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4" name="STATIC_rule_49">
            <a:extLst>
              <a:ext uri="{FF2B5EF4-FFF2-40B4-BE49-F238E27FC236}">
                <a16:creationId xmlns:a16="http://schemas.microsoft.com/office/drawing/2014/main" id="{A7970231-577E-43F5-91B3-AF02EFF26D5F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15" name="PH_takeaway_50">
            <a:extLst>
              <a:ext uri="{FF2B5EF4-FFF2-40B4-BE49-F238E27FC236}">
                <a16:creationId xmlns:a16="http://schemas.microsoft.com/office/drawing/2014/main" id="{6DD5D2C7-176F-41D1-9105-2B6F34B11BEA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752475" y="5610225"/>
            <a:ext cx="108394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［対象］が［望ましい状態］になるための条件を調べる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2 導入B 評価の視点" preserve="1">
  <p:cSld name="32 導入B 評価の視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ATIC_rule_51">
            <a:extLst>
              <a:ext uri="{FF2B5EF4-FFF2-40B4-BE49-F238E27FC236}">
                <a16:creationId xmlns:a16="http://schemas.microsoft.com/office/drawing/2014/main" id="{9DEE15EA-4519-4AD3-841B-3142F1B23B6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52">
            <a:extLst>
              <a:ext uri="{FF2B5EF4-FFF2-40B4-BE49-F238E27FC236}">
                <a16:creationId xmlns:a16="http://schemas.microsoft.com/office/drawing/2014/main" id="{6A528DB6-A56E-4131-A51D-7CC9440A8441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400050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課題の解決に向けて、何を比較するか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53">
            <a:extLst>
              <a:ext uri="{FF2B5EF4-FFF2-40B4-BE49-F238E27FC236}">
                <a16:creationId xmlns:a16="http://schemas.microsoft.com/office/drawing/2014/main" id="{6548C628-C25E-4F4F-BB03-B6B29877BC64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PH_subtitle_54">
            <a:extLst>
              <a:ext uri="{FF2B5EF4-FFF2-40B4-BE49-F238E27FC236}">
                <a16:creationId xmlns:a16="http://schemas.microsoft.com/office/drawing/2014/main" id="{05B71ABB-3C3C-4248-A0EB-2B2CDF18D8E7}"/>
              </a:ext>
            </a:extLst>
          </p:cNvPr>
          <p:cNvSpPr>
            <a:spLocks noGrp="1"/>
          </p:cNvSpPr>
          <p:nvPr>
            <p:ph type="subTitle" idx="2" hasCustomPrompt="1"/>
          </p:nvPr>
        </p:nvSpPr>
        <p:spPr>
          <a:xfrm>
            <a:off x="590550" y="1333500"/>
            <a:ext cx="11001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6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6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［比較の問いを端的に示す補助見出し］</a:t>
            </a:r>
            <a:endParaRPr lang="ja-JP" altLang="en-US" sz="16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STATIC_rule_55">
            <a:extLst>
              <a:ext uri="{FF2B5EF4-FFF2-40B4-BE49-F238E27FC236}">
                <a16:creationId xmlns:a16="http://schemas.microsoft.com/office/drawing/2014/main" id="{44529101-E4E0-4D4F-A90B-B2B891DD9273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6" name="PH_footer_56">
            <a:extLst>
              <a:ext uri="{FF2B5EF4-FFF2-40B4-BE49-F238E27FC236}">
                <a16:creationId xmlns:a16="http://schemas.microsoft.com/office/drawing/2014/main" id="{AA2CFB82-8A62-44FC-AC13-EE509D364AEA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AGE_57">
            <a:extLst>
              <a:ext uri="{FF2B5EF4-FFF2-40B4-BE49-F238E27FC236}">
                <a16:creationId xmlns:a16="http://schemas.microsoft.com/office/drawing/2014/main" id="{A2DAB1D8-882E-4B7A-A37C-3A1A6DBE0B89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953750" y="6419850"/>
            <a:ext cx="6667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D3BC9D05-B36E-45FC-91A0-C992824E3CA3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LABEL_58">
            <a:extLst>
              <a:ext uri="{FF2B5EF4-FFF2-40B4-BE49-F238E27FC236}">
                <a16:creationId xmlns:a16="http://schemas.microsoft.com/office/drawing/2014/main" id="{F470C2E4-A6F4-4C82-B155-50B799F71118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1924050"/>
            <a:ext cx="512445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現在の対応・制約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LABEL_59">
            <a:extLst>
              <a:ext uri="{FF2B5EF4-FFF2-40B4-BE49-F238E27FC236}">
                <a16:creationId xmlns:a16="http://schemas.microsoft.com/office/drawing/2014/main" id="{9000904A-29CE-40E5-AF1C-37402A1B5F77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6505575" y="1924050"/>
            <a:ext cx="5114925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本研究で検証する対応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STATIC_rule_60">
            <a:extLst>
              <a:ext uri="{FF2B5EF4-FFF2-40B4-BE49-F238E27FC236}">
                <a16:creationId xmlns:a16="http://schemas.microsoft.com/office/drawing/2014/main" id="{F24DC976-5E8A-40A1-8583-3C5CEFD76945}"/>
              </a:ext>
            </a:extLst>
          </p:cNvPr>
          <p:cNvSpPr>
            <a:spLocks noGrp="1"/>
          </p:cNvSpPr>
          <p:nvPr/>
        </p:nvSpPr>
        <p:spPr>
          <a:xfrm>
            <a:off x="6057900" y="1952625"/>
            <a:ext cx="19050" cy="2790825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11" name="PH_body_61">
            <a:extLst>
              <a:ext uri="{FF2B5EF4-FFF2-40B4-BE49-F238E27FC236}">
                <a16:creationId xmlns:a16="http://schemas.microsoft.com/office/drawing/2014/main" id="{4A89D637-3480-4EC6-8E24-B610389E903E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571500" y="2505075"/>
            <a:ext cx="5124450" cy="20097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［現在はどのように対応するか］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［残る負担・制約］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PH_body_62">
            <a:extLst>
              <a:ext uri="{FF2B5EF4-FFF2-40B4-BE49-F238E27FC236}">
                <a16:creationId xmlns:a16="http://schemas.microsoft.com/office/drawing/2014/main" id="{57369219-0699-452D-A683-1C6D12D9985F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6505575" y="2505075"/>
            <a:ext cx="5114925" cy="20097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［変える方法・条件］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［改善を確認する指標・単位］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body_63">
            <a:extLst>
              <a:ext uri="{FF2B5EF4-FFF2-40B4-BE49-F238E27FC236}">
                <a16:creationId xmlns:a16="http://schemas.microsoft.com/office/drawing/2014/main" id="{127A850B-34ED-4FBE-8993-119735E79D76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571500" y="5010150"/>
            <a:ext cx="11049000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比較でそろえる条件：［対象・期間・初期条件・設備］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4" name="STATIC_rule_64">
            <a:extLst>
              <a:ext uri="{FF2B5EF4-FFF2-40B4-BE49-F238E27FC236}">
                <a16:creationId xmlns:a16="http://schemas.microsoft.com/office/drawing/2014/main" id="{58F0DF7D-24F8-42F0-B4E0-EE3BF334F0BE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15" name="PH_takeaway_65">
            <a:extLst>
              <a:ext uri="{FF2B5EF4-FFF2-40B4-BE49-F238E27FC236}">
                <a16:creationId xmlns:a16="http://schemas.microsoft.com/office/drawing/2014/main" id="{55C559DE-D88E-4F65-82B1-A508919CDB98}"/>
              </a:ext>
            </a:extLst>
          </p:cNvPr>
          <p:cNvSpPr>
            <a:spLocks noGrp="1"/>
          </p:cNvSpPr>
          <p:nvPr>
            <p:ph type="body" idx="9" hasCustomPrompt="1"/>
          </p:nvPr>
        </p:nvSpPr>
        <p:spPr>
          <a:xfrm>
            <a:off x="752475" y="5610225"/>
            <a:ext cx="108394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［比較対象］に対し、［評価指標］がどう変わるか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3 導入C 研究の要点" preserve="1">
  <p:cSld name="33 導入C 研究の要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TATIC_rule_66">
            <a:extLst>
              <a:ext uri="{FF2B5EF4-FFF2-40B4-BE49-F238E27FC236}">
                <a16:creationId xmlns:a16="http://schemas.microsoft.com/office/drawing/2014/main" id="{B90B4E22-0540-482F-B2F7-6B5DD989B0C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67">
            <a:extLst>
              <a:ext uri="{FF2B5EF4-FFF2-40B4-BE49-F238E27FC236}">
                <a16:creationId xmlns:a16="http://schemas.microsoft.com/office/drawing/2014/main" id="{C7265CAC-BBF8-4FEE-A436-4F6B9659C536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400050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本研究の要点と期待される意義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68">
            <a:extLst>
              <a:ext uri="{FF2B5EF4-FFF2-40B4-BE49-F238E27FC236}">
                <a16:creationId xmlns:a16="http://schemas.microsoft.com/office/drawing/2014/main" id="{7102AD2D-B162-4977-AE5D-49F9CCB428CA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PH_subtitle_69">
            <a:extLst>
              <a:ext uri="{FF2B5EF4-FFF2-40B4-BE49-F238E27FC236}">
                <a16:creationId xmlns:a16="http://schemas.microsoft.com/office/drawing/2014/main" id="{B873B77E-A908-42A7-95EC-FAC11DF94BD7}"/>
              </a:ext>
            </a:extLst>
          </p:cNvPr>
          <p:cNvSpPr>
            <a:spLocks noGrp="1"/>
          </p:cNvSpPr>
          <p:nvPr>
            <p:ph type="subTitle" idx="2" hasCustomPrompt="1"/>
          </p:nvPr>
        </p:nvSpPr>
        <p:spPr>
          <a:xfrm>
            <a:off x="590550" y="1333500"/>
            <a:ext cx="11001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6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6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［研究の要点を端的に示す補助見出し］</a:t>
            </a:r>
            <a:endParaRPr lang="ja-JP" altLang="en-US" sz="16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STATIC_rule_70">
            <a:extLst>
              <a:ext uri="{FF2B5EF4-FFF2-40B4-BE49-F238E27FC236}">
                <a16:creationId xmlns:a16="http://schemas.microsoft.com/office/drawing/2014/main" id="{CF28B51B-9A45-46E2-8838-2882849AE89A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6" name="PH_footer_71">
            <a:extLst>
              <a:ext uri="{FF2B5EF4-FFF2-40B4-BE49-F238E27FC236}">
                <a16:creationId xmlns:a16="http://schemas.microsoft.com/office/drawing/2014/main" id="{6627653B-DE23-408D-B28F-0128DE1D4BF4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AGE_72">
            <a:extLst>
              <a:ext uri="{FF2B5EF4-FFF2-40B4-BE49-F238E27FC236}">
                <a16:creationId xmlns:a16="http://schemas.microsoft.com/office/drawing/2014/main" id="{E811A03B-0ACC-4747-A5FE-603B17EA917C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953750" y="6419850"/>
            <a:ext cx="6667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E2599311-6909-471D-9321-842C5DB1EBFA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LABEL_73">
            <a:extLst>
              <a:ext uri="{FF2B5EF4-FFF2-40B4-BE49-F238E27FC236}">
                <a16:creationId xmlns:a16="http://schemas.microsoft.com/office/drawing/2014/main" id="{787BBAE1-632C-4834-BC28-979EB1608C82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1866900"/>
            <a:ext cx="1104900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取り組むこと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PH_body_74">
            <a:extLst>
              <a:ext uri="{FF2B5EF4-FFF2-40B4-BE49-F238E27FC236}">
                <a16:creationId xmlns:a16="http://schemas.microsoft.com/office/drawing/2014/main" id="{26F72D65-A93F-415D-8343-EC3CDEADA6DD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238125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7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7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［何を対象に、何を明らかにする研究か］</a:t>
            </a:r>
            <a:endParaRPr lang="ja-JP" altLang="en-US" sz="27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STATIC_rule_75">
            <a:extLst>
              <a:ext uri="{FF2B5EF4-FFF2-40B4-BE49-F238E27FC236}">
                <a16:creationId xmlns:a16="http://schemas.microsoft.com/office/drawing/2014/main" id="{8E560952-0DB2-4471-9114-C4F523D38047}"/>
              </a:ext>
            </a:extLst>
          </p:cNvPr>
          <p:cNvSpPr>
            <a:spLocks noGrp="1"/>
          </p:cNvSpPr>
          <p:nvPr/>
        </p:nvSpPr>
        <p:spPr>
          <a:xfrm>
            <a:off x="571500" y="35242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11" name="LABEL_76">
            <a:extLst>
              <a:ext uri="{FF2B5EF4-FFF2-40B4-BE49-F238E27FC236}">
                <a16:creationId xmlns:a16="http://schemas.microsoft.com/office/drawing/2014/main" id="{34CBF58E-AC25-43D5-B9F1-904571A867E9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571500" y="3848100"/>
            <a:ext cx="5153025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研究として確かめる点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PH_body_77">
            <a:extLst>
              <a:ext uri="{FF2B5EF4-FFF2-40B4-BE49-F238E27FC236}">
                <a16:creationId xmlns:a16="http://schemas.microsoft.com/office/drawing/2014/main" id="{53890151-3776-4AEB-B968-B3DD451A95C7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571500" y="4371975"/>
            <a:ext cx="5153025" cy="1085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［既知の知見に対する問い］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［検証する手法・条件］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LABEL_78">
            <a:extLst>
              <a:ext uri="{FF2B5EF4-FFF2-40B4-BE49-F238E27FC236}">
                <a16:creationId xmlns:a16="http://schemas.microsoft.com/office/drawing/2014/main" id="{5EA81695-53FB-4D9B-9332-8F58C0947C75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6496050" y="3848100"/>
            <a:ext cx="512445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結果が役立つ場面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4" name="PH_body_79">
            <a:extLst>
              <a:ext uri="{FF2B5EF4-FFF2-40B4-BE49-F238E27FC236}">
                <a16:creationId xmlns:a16="http://schemas.microsoft.com/office/drawing/2014/main" id="{03DC8CBD-E92E-49B5-9501-AD15A4246E22}"/>
              </a:ext>
            </a:extLst>
          </p:cNvPr>
          <p:cNvSpPr>
            <a:spLocks noGrp="1"/>
          </p:cNvSpPr>
          <p:nvPr>
            <p:ph type="body" idx="9" hasCustomPrompt="1"/>
          </p:nvPr>
        </p:nvSpPr>
        <p:spPr>
          <a:xfrm>
            <a:off x="6496050" y="4371975"/>
            <a:ext cx="5124450" cy="1085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［誰の、どの判断に役立つか］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［活用するために必要な条件］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5" name="STATIC_rule_80">
            <a:extLst>
              <a:ext uri="{FF2B5EF4-FFF2-40B4-BE49-F238E27FC236}">
                <a16:creationId xmlns:a16="http://schemas.microsoft.com/office/drawing/2014/main" id="{A69F9D5C-171F-46A2-8B39-46A055A602A0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16" name="PH_takeaway_81">
            <a:extLst>
              <a:ext uri="{FF2B5EF4-FFF2-40B4-BE49-F238E27FC236}">
                <a16:creationId xmlns:a16="http://schemas.microsoft.com/office/drawing/2014/main" id="{17046163-FD94-493E-879B-5B8990096E21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752475" y="5610225"/>
            <a:ext cx="108394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［本研究で得る知見］を［活用場面］の判断材料とする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4 導入C 検証と活用" preserve="1">
  <p:cSld name="34 導入C 検証と活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TATIC_rule_82">
            <a:extLst>
              <a:ext uri="{FF2B5EF4-FFF2-40B4-BE49-F238E27FC236}">
                <a16:creationId xmlns:a16="http://schemas.microsoft.com/office/drawing/2014/main" id="{06A77808-0721-4FE3-ADDD-0130F7342AE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83">
            <a:extLst>
              <a:ext uri="{FF2B5EF4-FFF2-40B4-BE49-F238E27FC236}">
                <a16:creationId xmlns:a16="http://schemas.microsoft.com/office/drawing/2014/main" id="{9EF485E3-0E0A-4CC8-AAF9-D970127B5C71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400050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検証の到達点と、活用に向けた課題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84">
            <a:extLst>
              <a:ext uri="{FF2B5EF4-FFF2-40B4-BE49-F238E27FC236}">
                <a16:creationId xmlns:a16="http://schemas.microsoft.com/office/drawing/2014/main" id="{7CFCDA74-FDDE-4321-B4B2-AB3DE1F5E3A4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PH_subtitle_85">
            <a:extLst>
              <a:ext uri="{FF2B5EF4-FFF2-40B4-BE49-F238E27FC236}">
                <a16:creationId xmlns:a16="http://schemas.microsoft.com/office/drawing/2014/main" id="{05404C19-9B00-461F-A226-074091651BA1}"/>
              </a:ext>
            </a:extLst>
          </p:cNvPr>
          <p:cNvSpPr>
            <a:spLocks noGrp="1"/>
          </p:cNvSpPr>
          <p:nvPr>
            <p:ph type="subTitle" idx="2" hasCustomPrompt="1"/>
          </p:nvPr>
        </p:nvSpPr>
        <p:spPr>
          <a:xfrm>
            <a:off x="590550" y="1333500"/>
            <a:ext cx="11001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6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6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［今回の到達点を端的に示す補助見出し］</a:t>
            </a:r>
            <a:endParaRPr lang="ja-JP" altLang="en-US" sz="16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STATIC_rule_86">
            <a:extLst>
              <a:ext uri="{FF2B5EF4-FFF2-40B4-BE49-F238E27FC236}">
                <a16:creationId xmlns:a16="http://schemas.microsoft.com/office/drawing/2014/main" id="{B2F54A6A-98B9-4D01-ADE4-4B85615B03B0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6" name="PH_footer_87">
            <a:extLst>
              <a:ext uri="{FF2B5EF4-FFF2-40B4-BE49-F238E27FC236}">
                <a16:creationId xmlns:a16="http://schemas.microsoft.com/office/drawing/2014/main" id="{42E9B5C1-3DD9-454A-84C9-F10E3BF0EC7A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AGE_88">
            <a:extLst>
              <a:ext uri="{FF2B5EF4-FFF2-40B4-BE49-F238E27FC236}">
                <a16:creationId xmlns:a16="http://schemas.microsoft.com/office/drawing/2014/main" id="{9E73176B-50A3-4CED-BEBC-788DB86AD400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953750" y="6419850"/>
            <a:ext cx="6667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17B518F2-1EDE-44CC-991C-B652DCFD0F3B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LABEL_89">
            <a:extLst>
              <a:ext uri="{FF2B5EF4-FFF2-40B4-BE49-F238E27FC236}">
                <a16:creationId xmlns:a16="http://schemas.microsoft.com/office/drawing/2014/main" id="{0186C6ED-C700-40D5-B7F1-65036E197481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1943100"/>
            <a:ext cx="510540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今回の研究で示すこと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PH_body_90">
            <a:extLst>
              <a:ext uri="{FF2B5EF4-FFF2-40B4-BE49-F238E27FC236}">
                <a16:creationId xmlns:a16="http://schemas.microsoft.com/office/drawing/2014/main" id="{2EB89204-3B91-4634-9562-34035E62ABD5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2533650"/>
            <a:ext cx="5105400" cy="1562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［検証する対象・条件］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［成果物・評価指標］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［結論の適用範囲］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LABEL_91">
            <a:extLst>
              <a:ext uri="{FF2B5EF4-FFF2-40B4-BE49-F238E27FC236}">
                <a16:creationId xmlns:a16="http://schemas.microsoft.com/office/drawing/2014/main" id="{9001E62A-B365-4240-9A08-C3A2D727E90D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6505575" y="1943100"/>
            <a:ext cx="5114925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活用までに必要なこと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body_92">
            <a:extLst>
              <a:ext uri="{FF2B5EF4-FFF2-40B4-BE49-F238E27FC236}">
                <a16:creationId xmlns:a16="http://schemas.microsoft.com/office/drawing/2014/main" id="{2F363572-0D3A-450D-BD6C-7D9E98C0D34A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6505575" y="2533650"/>
            <a:ext cx="5114925" cy="1562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［追加検証が必要な条件］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［導入時の制約・留意点］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［今後の確認方法］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STATIC_rule_93">
            <a:extLst>
              <a:ext uri="{FF2B5EF4-FFF2-40B4-BE49-F238E27FC236}">
                <a16:creationId xmlns:a16="http://schemas.microsoft.com/office/drawing/2014/main" id="{081A55A5-6AA0-4037-B761-DB19C11A643A}"/>
              </a:ext>
            </a:extLst>
          </p:cNvPr>
          <p:cNvSpPr>
            <a:spLocks noGrp="1"/>
          </p:cNvSpPr>
          <p:nvPr/>
        </p:nvSpPr>
        <p:spPr>
          <a:xfrm>
            <a:off x="571500" y="44767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13" name="LABEL_94">
            <a:extLst>
              <a:ext uri="{FF2B5EF4-FFF2-40B4-BE49-F238E27FC236}">
                <a16:creationId xmlns:a16="http://schemas.microsoft.com/office/drawing/2014/main" id="{6A4AECE9-5540-4C50-85AA-42E1E804DEA4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571500" y="4772025"/>
            <a:ext cx="228600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本日の説明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4" name="PH_body_95">
            <a:extLst>
              <a:ext uri="{FF2B5EF4-FFF2-40B4-BE49-F238E27FC236}">
                <a16:creationId xmlns:a16="http://schemas.microsoft.com/office/drawing/2014/main" id="{591D03AF-8276-4B06-AE9D-31A35952FE99}"/>
              </a:ext>
            </a:extLst>
          </p:cNvPr>
          <p:cNvSpPr>
            <a:spLocks noGrp="1"/>
          </p:cNvSpPr>
          <p:nvPr>
            <p:ph type="body" idx="9" hasCustomPrompt="1"/>
          </p:nvPr>
        </p:nvSpPr>
        <p:spPr>
          <a:xfrm>
            <a:off x="3181350" y="4772025"/>
            <a:ext cx="84391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［研究目的］ → ［方法］ → ［結果／進捗］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5" name="STATIC_rule_96">
            <a:extLst>
              <a:ext uri="{FF2B5EF4-FFF2-40B4-BE49-F238E27FC236}">
                <a16:creationId xmlns:a16="http://schemas.microsoft.com/office/drawing/2014/main" id="{71D615CB-4AE8-4F75-84AF-A33F5B8B89D4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16" name="PH_takeaway_97">
            <a:extLst>
              <a:ext uri="{FF2B5EF4-FFF2-40B4-BE49-F238E27FC236}">
                <a16:creationId xmlns:a16="http://schemas.microsoft.com/office/drawing/2014/main" id="{A55E9D13-1593-44AD-8E05-E6A37B5C9655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752475" y="5610225"/>
            <a:ext cx="108394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［今回の到達点］を根拠として、［次の判断］につなげる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theme" Target="../theme/theme1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都市大ブルー研究テンプレート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</p:sldLayoutIdLst>
  <p:txStyles>
    <p:titleStyle>
      <a:lvl1pPr marL="0" indent="0" algn="l">
        <a:lnSpc>
          <a:spcPct val="90000"/>
        </a:lnSpc>
        <a:spcBef>
          <a:spcPts val="0"/>
        </a:spcBef>
        <a:buNone/>
        <a:defRPr lang="ja-JP" altLang="en-US" sz="3300">
          <a:solidFill>
            <a:schemeClr val="tx1"/>
          </a:solidFill>
          <a:latin typeface="Times New Roman"/>
          <a:ea typeface="Meiryo"/>
          <a:cs typeface="Times New Roman"/>
        </a:defRPr>
      </a:lvl1pPr>
    </p:titleStyle>
    <p:bodyStyle>
      <a:lvl1pPr marL="0" indent="0" algn="l">
        <a:lnSpc>
          <a:spcPct val="90000"/>
        </a:lnSpc>
        <a:spcBef>
          <a:spcPts val="1000"/>
        </a:spcBef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1pPr>
      <a:lvl2pPr marL="0" indent="0" algn="l">
        <a:lnSpc>
          <a:spcPct val="90000"/>
        </a:lnSpc>
        <a:spcBef>
          <a:spcPts val="500"/>
        </a:spcBef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2pPr>
      <a:lvl3pPr marL="0" indent="0" algn="l">
        <a:lnSpc>
          <a:spcPct val="90000"/>
        </a:lnSpc>
        <a:spcBef>
          <a:spcPts val="500"/>
        </a:spcBef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3pPr>
      <a:lvl4pPr marL="0" indent="0" algn="l">
        <a:lnSpc>
          <a:spcPct val="90000"/>
        </a:lnSpc>
        <a:spcBef>
          <a:spcPts val="500"/>
        </a:spcBef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4pPr>
      <a:lvl5pPr marL="0" indent="0" algn="l">
        <a:lnSpc>
          <a:spcPct val="90000"/>
        </a:lnSpc>
        <a:spcBef>
          <a:spcPts val="500"/>
        </a:spcBef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5pPr>
      <a:lvl6pPr marL="0" indent="0" algn="l">
        <a:lnSpc>
          <a:spcPct val="90000"/>
        </a:lnSpc>
        <a:spcBef>
          <a:spcPts val="500"/>
        </a:spcBef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6pPr>
      <a:lvl7pPr marL="0" indent="0" algn="l">
        <a:lnSpc>
          <a:spcPct val="90000"/>
        </a:lnSpc>
        <a:spcBef>
          <a:spcPts val="500"/>
        </a:spcBef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7pPr>
      <a:lvl8pPr marL="0" indent="0" algn="l">
        <a:lnSpc>
          <a:spcPct val="90000"/>
        </a:lnSpc>
        <a:spcBef>
          <a:spcPts val="500"/>
        </a:spcBef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8pPr>
      <a:lvl9pPr marL="0" indent="0" algn="l">
        <a:lnSpc>
          <a:spcPct val="90000"/>
        </a:lnSpc>
        <a:spcBef>
          <a:spcPts val="500"/>
        </a:spcBef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9pPr>
    </p:bodyStyle>
    <p:otherStyle>
      <a:lvl1pPr marL="0" indent="0" algn="l">
        <a:buNone/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1pPr>
      <a:lvl2pPr marL="0" indent="0" algn="l">
        <a:buNone/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2pPr>
      <a:lvl3pPr marL="0" indent="0" algn="l">
        <a:buNone/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3pPr>
      <a:lvl4pPr marL="0" indent="0" algn="l">
        <a:buNone/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4pPr>
      <a:lvl5pPr marL="0" indent="0" algn="l">
        <a:buNone/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5pPr>
      <a:lvl6pPr marL="0" indent="0" algn="l">
        <a:buNone/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6pPr>
      <a:lvl7pPr marL="0" indent="0" algn="l">
        <a:buNone/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7pPr>
      <a:lvl8pPr marL="0" indent="0" algn="l">
        <a:buNone/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8pPr>
      <a:lvl9pPr marL="0" indent="0" algn="l">
        <a:buNone/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2">
            <a:extLst>
              <a:ext uri="{FF2B5EF4-FFF2-40B4-BE49-F238E27FC236}">
                <a16:creationId xmlns:a16="http://schemas.microsoft.com/office/drawing/2014/main" id="{C00B92A1-1EE7-4A78-952D-0394FFFCDE11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400050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［社会課題］に対応する研究の必要性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4" name="PH_subtitle_4">
            <a:extLst>
              <a:ext uri="{FF2B5EF4-FFF2-40B4-BE49-F238E27FC236}">
                <a16:creationId xmlns:a16="http://schemas.microsoft.com/office/drawing/2014/main" id="{551C2658-E797-4F4D-886B-84684CCB9950}"/>
              </a:ext>
            </a:extLst>
          </p:cNvPr>
          <p:cNvSpPr>
            <a:spLocks noGrp="1"/>
          </p:cNvSpPr>
          <p:nvPr>
            <p:ph type="subTitle" idx="2" hasCustomPrompt="1"/>
          </p:nvPr>
        </p:nvSpPr>
        <p:spPr>
          <a:xfrm>
            <a:off x="590550" y="1333500"/>
            <a:ext cx="11001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6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6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［社会的背景を端的に示す補助見出し］</a:t>
            </a:r>
            <a:endParaRPr lang="ja-JP" altLang="en-US" sz="16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H_footer_6">
            <a:extLst>
              <a:ext uri="{FF2B5EF4-FFF2-40B4-BE49-F238E27FC236}">
                <a16:creationId xmlns:a16="http://schemas.microsoft.com/office/drawing/2014/main" id="{A26DBA13-4024-4B68-8957-E7CA45359AD8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AGE_7">
            <a:extLst>
              <a:ext uri="{FF2B5EF4-FFF2-40B4-BE49-F238E27FC236}">
                <a16:creationId xmlns:a16="http://schemas.microsoft.com/office/drawing/2014/main" id="{2A0940F9-9982-44E6-9411-60AA301B6AB3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953750" y="6419850"/>
            <a:ext cx="6667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BA1EF8A9-EB10-4B9C-B3D1-1175EB987E6C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1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LABEL_8">
            <a:extLst>
              <a:ext uri="{FF2B5EF4-FFF2-40B4-BE49-F238E27FC236}">
                <a16:creationId xmlns:a16="http://schemas.microsoft.com/office/drawing/2014/main" id="{0B0250D6-B347-4110-ACA7-741829509C21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1866900"/>
            <a:ext cx="501015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社会として目指す姿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PH_body_9">
            <a:extLst>
              <a:ext uri="{FF2B5EF4-FFF2-40B4-BE49-F238E27FC236}">
                <a16:creationId xmlns:a16="http://schemas.microsoft.com/office/drawing/2014/main" id="{80590550-D4BC-4D16-A839-B47A9C1BB5FB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2390775"/>
            <a:ext cx="5019675" cy="1019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［政策・計画が掲げる方向性］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［対象・達成時期・目標］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LABEL_10">
            <a:extLst>
              <a:ext uri="{FF2B5EF4-FFF2-40B4-BE49-F238E27FC236}">
                <a16:creationId xmlns:a16="http://schemas.microsoft.com/office/drawing/2014/main" id="{AC17D7EE-A1D3-45C8-890A-AEB0570926AC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571500" y="3829050"/>
            <a:ext cx="5019675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実現に向けて残る課題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body_11">
            <a:extLst>
              <a:ext uri="{FF2B5EF4-FFF2-40B4-BE49-F238E27FC236}">
                <a16:creationId xmlns:a16="http://schemas.microsoft.com/office/drawing/2014/main" id="{0E598F51-E1FE-428C-9892-0696DAF88B38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571500" y="4324350"/>
            <a:ext cx="5019675" cy="1019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［現場で解決が必要なこと］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［既存の取組で不足する点］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PH_figure_12">
            <a:extLst>
              <a:ext uri="{FF2B5EF4-FFF2-40B4-BE49-F238E27FC236}">
                <a16:creationId xmlns:a16="http://schemas.microsoft.com/office/drawing/2014/main" id="{7F6AF59F-BDE5-4221-94D5-BF3B85A677D5}"/>
              </a:ext>
            </a:extLst>
          </p:cNvPr>
          <p:cNvSpPr>
            <a:spLocks noGrp="1"/>
          </p:cNvSpPr>
          <p:nvPr>
            <p:ph idx="8" hasCustomPrompt="1"/>
          </p:nvPr>
        </p:nvSpPr>
        <p:spPr>
          <a:xfrm>
            <a:off x="6219825" y="1933575"/>
            <a:ext cx="5400675" cy="2867025"/>
          </a:xfrm>
          <a:prstGeom prst="rect">
            <a:avLst/>
          </a:prstGeom>
          <a:solidFill>
            <a:srgbClr val="EDF8FD"/>
          </a:solidFill>
          <a:ln w="11430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0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［現状と目標を示す</a:t>
            </a:r>
            <a:endParaRPr lang="ja-JP" altLang="en-US" sz="2100">
              <a:latin typeface="Times New Roman"/>
              <a:ea typeface="Meiryo"/>
              <a:cs typeface="Times New Roman"/>
            </a:endParaRPr>
          </a:p>
          <a:p>
            <a:pPr algn="ctr">
              <a:defRPr lang="ja-JP" altLang="en-US" sz="210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統計・図を1つ］</a:t>
            </a:r>
            <a:endParaRPr lang="ja-JP" altLang="en-US" sz="210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source_13">
            <a:extLst>
              <a:ext uri="{FF2B5EF4-FFF2-40B4-BE49-F238E27FC236}">
                <a16:creationId xmlns:a16="http://schemas.microsoft.com/office/drawing/2014/main" id="{E056B805-630F-4A5E-866D-20C52FC5855D}"/>
              </a:ext>
            </a:extLst>
          </p:cNvPr>
          <p:cNvSpPr>
            <a:spLocks noGrp="1"/>
          </p:cNvSpPr>
          <p:nvPr>
            <p:ph type="body" idx="9" hasCustomPrompt="1"/>
          </p:nvPr>
        </p:nvSpPr>
        <p:spPr>
          <a:xfrm>
            <a:off x="6219825" y="4943475"/>
            <a:ext cx="5400675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出典：［発行主体・資料名・年・頁］</a:t>
            </a:r>
            <a:endParaRPr lang="ja-JP" altLang="en-US" sz="13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対象：［地域・期間・母数］</a:t>
            </a:r>
            <a:endParaRPr lang="ja-JP" altLang="en-US" sz="13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5" name="PH_takeaway_15">
            <a:extLst>
              <a:ext uri="{FF2B5EF4-FFF2-40B4-BE49-F238E27FC236}">
                <a16:creationId xmlns:a16="http://schemas.microsoft.com/office/drawing/2014/main" id="{13E7572B-9F9D-4300-BD76-511D520B35DB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752475" y="5610225"/>
            <a:ext cx="108394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［社会の目標］の実現には、［課題］の検証が必要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831502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17">
            <a:extLst>
              <a:ext uri="{FF2B5EF4-FFF2-40B4-BE49-F238E27FC236}">
                <a16:creationId xmlns:a16="http://schemas.microsoft.com/office/drawing/2014/main" id="{AA4618FD-633A-4ED0-B2AF-E1D3B36C2E23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400050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社会的な課題に対する本研究の役割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4" name="PH_subtitle_19">
            <a:extLst>
              <a:ext uri="{FF2B5EF4-FFF2-40B4-BE49-F238E27FC236}">
                <a16:creationId xmlns:a16="http://schemas.microsoft.com/office/drawing/2014/main" id="{6BED887A-FECA-4617-AEB6-EED191F76460}"/>
              </a:ext>
            </a:extLst>
          </p:cNvPr>
          <p:cNvSpPr>
            <a:spLocks noGrp="1"/>
          </p:cNvSpPr>
          <p:nvPr>
            <p:ph type="subTitle" idx="2" hasCustomPrompt="1"/>
          </p:nvPr>
        </p:nvSpPr>
        <p:spPr>
          <a:xfrm>
            <a:off x="590550" y="1333500"/>
            <a:ext cx="11001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6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6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［本研究の役割を端的に示す補助見出し］</a:t>
            </a:r>
            <a:endParaRPr lang="ja-JP" altLang="en-US" sz="16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H_footer_21">
            <a:extLst>
              <a:ext uri="{FF2B5EF4-FFF2-40B4-BE49-F238E27FC236}">
                <a16:creationId xmlns:a16="http://schemas.microsoft.com/office/drawing/2014/main" id="{F5FA59AD-A817-48CC-B80D-C825A9754E38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AGE_22">
            <a:extLst>
              <a:ext uri="{FF2B5EF4-FFF2-40B4-BE49-F238E27FC236}">
                <a16:creationId xmlns:a16="http://schemas.microsoft.com/office/drawing/2014/main" id="{95895BA3-8D1B-44BD-B7B7-234A75EFC07F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953750" y="6419850"/>
            <a:ext cx="6667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247C98CE-5858-4069-987B-D4E0478C49CE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2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LABEL_23">
            <a:extLst>
              <a:ext uri="{FF2B5EF4-FFF2-40B4-BE49-F238E27FC236}">
                <a16:creationId xmlns:a16="http://schemas.microsoft.com/office/drawing/2014/main" id="{07D50587-0555-4BBD-80E9-0578D91978AC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1952625"/>
            <a:ext cx="323850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解決したい課題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PH_body_24">
            <a:extLst>
              <a:ext uri="{FF2B5EF4-FFF2-40B4-BE49-F238E27FC236}">
                <a16:creationId xmlns:a16="http://schemas.microsoft.com/office/drawing/2014/main" id="{93AF88B1-71F8-480F-BC5D-B6047E8D364A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2686050"/>
            <a:ext cx="3238500" cy="1219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［どの場面で］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［何が難しいか］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STATIC_arrow_25">
            <a:extLst>
              <a:ext uri="{FF2B5EF4-FFF2-40B4-BE49-F238E27FC236}">
                <a16:creationId xmlns:a16="http://schemas.microsoft.com/office/drawing/2014/main" id="{C30EED4B-146E-41D8-B73D-575F19B97F7C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3914775" y="2771775"/>
            <a:ext cx="409575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8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8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→</a:t>
            </a:r>
            <a:endParaRPr lang="ja-JP" altLang="en-US" sz="28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LABEL_26">
            <a:extLst>
              <a:ext uri="{FF2B5EF4-FFF2-40B4-BE49-F238E27FC236}">
                <a16:creationId xmlns:a16="http://schemas.microsoft.com/office/drawing/2014/main" id="{E2C14F6B-BA8C-4DAB-898B-576374759942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4467225" y="1952625"/>
            <a:ext cx="323850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本研究で行うこと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PH_body_27">
            <a:extLst>
              <a:ext uri="{FF2B5EF4-FFF2-40B4-BE49-F238E27FC236}">
                <a16:creationId xmlns:a16="http://schemas.microsoft.com/office/drawing/2014/main" id="{C5E866D7-5DB1-49C3-81E0-37DADB533A7D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4467225" y="2686050"/>
            <a:ext cx="3238500" cy="1219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［対象・条件］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［調べる方法］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STATIC_arrow_28">
            <a:extLst>
              <a:ext uri="{FF2B5EF4-FFF2-40B4-BE49-F238E27FC236}">
                <a16:creationId xmlns:a16="http://schemas.microsoft.com/office/drawing/2014/main" id="{9CF28CD2-584A-47B7-B81D-9824E714D23D}"/>
              </a:ext>
            </a:extLst>
          </p:cNvPr>
          <p:cNvSpPr>
            <a:spLocks noGrp="1"/>
          </p:cNvSpPr>
          <p:nvPr>
            <p:ph type="body" idx="9" hasCustomPrompt="1"/>
          </p:nvPr>
        </p:nvSpPr>
        <p:spPr>
          <a:xfrm>
            <a:off x="7810500" y="2771775"/>
            <a:ext cx="409575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8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8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→</a:t>
            </a:r>
            <a:endParaRPr lang="ja-JP" altLang="en-US" sz="28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4" name="LABEL_29">
            <a:extLst>
              <a:ext uri="{FF2B5EF4-FFF2-40B4-BE49-F238E27FC236}">
                <a16:creationId xmlns:a16="http://schemas.microsoft.com/office/drawing/2014/main" id="{E8B7ED04-7679-4FD0-9BC6-F7E0DEBC0DA7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8362950" y="1952625"/>
            <a:ext cx="323850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得られる判断材料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5" name="PH_body_30">
            <a:extLst>
              <a:ext uri="{FF2B5EF4-FFF2-40B4-BE49-F238E27FC236}">
                <a16:creationId xmlns:a16="http://schemas.microsoft.com/office/drawing/2014/main" id="{5BCD2B9D-2883-47B0-A1A8-3C0CCBB6E920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8362950" y="2686050"/>
            <a:ext cx="3238500" cy="1219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［得られる指標］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［役立つ判断］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7" name="LABEL_32">
            <a:extLst>
              <a:ext uri="{FF2B5EF4-FFF2-40B4-BE49-F238E27FC236}">
                <a16:creationId xmlns:a16="http://schemas.microsoft.com/office/drawing/2014/main" id="{6C527BA5-5135-4329-8A3D-3E8273210BE4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571500" y="4581525"/>
            <a:ext cx="247650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今回の検証範囲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8" name="PH_body_33">
            <a:extLst>
              <a:ext uri="{FF2B5EF4-FFF2-40B4-BE49-F238E27FC236}">
                <a16:creationId xmlns:a16="http://schemas.microsoft.com/office/drawing/2014/main" id="{11E7CA94-3948-436C-A737-CAF51C1F37CE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3371850" y="4591050"/>
            <a:ext cx="8248650" cy="790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［対象とする条件］　／　［今回扱わない条件］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20" name="PH_takeaway_35">
            <a:extLst>
              <a:ext uri="{FF2B5EF4-FFF2-40B4-BE49-F238E27FC236}">
                <a16:creationId xmlns:a16="http://schemas.microsoft.com/office/drawing/2014/main" id="{921B057B-D573-4F48-BACC-E636B7C69436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752475" y="5610225"/>
            <a:ext cx="108394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本研究は［指標］を検証し、［判断］の根拠を示す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371358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37">
            <a:extLst>
              <a:ext uri="{FF2B5EF4-FFF2-40B4-BE49-F238E27FC236}">
                <a16:creationId xmlns:a16="http://schemas.microsoft.com/office/drawing/2014/main" id="{0540F659-1ACF-4DA7-8F94-FB3B4A59AFA4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400050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［現場・利用者］が直面する課題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4" name="PH_subtitle_39">
            <a:extLst>
              <a:ext uri="{FF2B5EF4-FFF2-40B4-BE49-F238E27FC236}">
                <a16:creationId xmlns:a16="http://schemas.microsoft.com/office/drawing/2014/main" id="{5845D322-E532-40EA-92F7-65CEF9CD7116}"/>
              </a:ext>
            </a:extLst>
          </p:cNvPr>
          <p:cNvSpPr>
            <a:spLocks noGrp="1"/>
          </p:cNvSpPr>
          <p:nvPr>
            <p:ph type="subTitle" idx="2" hasCustomPrompt="1"/>
          </p:nvPr>
        </p:nvSpPr>
        <p:spPr>
          <a:xfrm>
            <a:off x="590550" y="1333500"/>
            <a:ext cx="11001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6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6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［現場の状況を端的に示す補助見出し］</a:t>
            </a:r>
            <a:endParaRPr lang="ja-JP" altLang="en-US" sz="16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H_footer_41">
            <a:extLst>
              <a:ext uri="{FF2B5EF4-FFF2-40B4-BE49-F238E27FC236}">
                <a16:creationId xmlns:a16="http://schemas.microsoft.com/office/drawing/2014/main" id="{F6C45005-4A79-460D-AF1F-0C961CAC89C7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AGE_42">
            <a:extLst>
              <a:ext uri="{FF2B5EF4-FFF2-40B4-BE49-F238E27FC236}">
                <a16:creationId xmlns:a16="http://schemas.microsoft.com/office/drawing/2014/main" id="{693AB983-7AB4-4DB5-AF1F-9CF7116C30D0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953750" y="6419850"/>
            <a:ext cx="6667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81638755-F059-4D21-B2A4-735F3615F153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3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figure_43">
            <a:extLst>
              <a:ext uri="{FF2B5EF4-FFF2-40B4-BE49-F238E27FC236}">
                <a16:creationId xmlns:a16="http://schemas.microsoft.com/office/drawing/2014/main" id="{2ADD4173-A780-4E86-B24E-2AF01F151E11}"/>
              </a:ext>
            </a:extLst>
          </p:cNvPr>
          <p:cNvSpPr>
            <a:spLocks noGrp="1"/>
          </p:cNvSpPr>
          <p:nvPr>
            <p:ph idx="4" hasCustomPrompt="1"/>
          </p:nvPr>
        </p:nvSpPr>
        <p:spPr>
          <a:xfrm>
            <a:off x="571500" y="1971675"/>
            <a:ext cx="5324475" cy="2714625"/>
          </a:xfrm>
          <a:prstGeom prst="rect">
            <a:avLst/>
          </a:prstGeom>
          <a:solidFill>
            <a:srgbClr val="EDF8FD"/>
          </a:solidFill>
          <a:ln w="11430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0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［対象の写真・運用図］</a:t>
            </a:r>
            <a:endParaRPr lang="ja-JP" altLang="en-US" sz="210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PH_source_44">
            <a:extLst>
              <a:ext uri="{FF2B5EF4-FFF2-40B4-BE49-F238E27FC236}">
                <a16:creationId xmlns:a16="http://schemas.microsoft.com/office/drawing/2014/main" id="{5F3C1A9A-A445-4DA1-8D61-E612E02B0B49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4819650"/>
            <a:ext cx="5324475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出典：［資料名・年・頁／撮影者］</a:t>
            </a:r>
            <a:endParaRPr lang="ja-JP" altLang="en-US" sz="13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対象：［地域・組織・期間］</a:t>
            </a:r>
            <a:endParaRPr lang="ja-JP" altLang="en-US" sz="13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LABEL_45">
            <a:extLst>
              <a:ext uri="{FF2B5EF4-FFF2-40B4-BE49-F238E27FC236}">
                <a16:creationId xmlns:a16="http://schemas.microsoft.com/office/drawing/2014/main" id="{3AE1F213-92B0-4E08-BAFB-2122ECDF053A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6534150" y="1876425"/>
            <a:ext cx="508635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現場で起きていること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body_46">
            <a:extLst>
              <a:ext uri="{FF2B5EF4-FFF2-40B4-BE49-F238E27FC236}">
                <a16:creationId xmlns:a16="http://schemas.microsoft.com/office/drawing/2014/main" id="{212FF293-E823-487A-8C77-07CA6ABAE9DC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6534150" y="2381250"/>
            <a:ext cx="5086350" cy="1076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［具体的な場面・困りごと］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［影響を受ける対象］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LABEL_47">
            <a:extLst>
              <a:ext uri="{FF2B5EF4-FFF2-40B4-BE49-F238E27FC236}">
                <a16:creationId xmlns:a16="http://schemas.microsoft.com/office/drawing/2014/main" id="{F98AE0A2-9D57-433F-8B90-7901D0786F7F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6534150" y="3838575"/>
            <a:ext cx="508635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現状を示す根拠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body_48">
            <a:extLst>
              <a:ext uri="{FF2B5EF4-FFF2-40B4-BE49-F238E27FC236}">
                <a16:creationId xmlns:a16="http://schemas.microsoft.com/office/drawing/2014/main" id="{4DF3EA3F-29DB-4D1C-A24F-6EB8EF6FE28A}"/>
              </a:ext>
            </a:extLst>
          </p:cNvPr>
          <p:cNvSpPr>
            <a:spLocks noGrp="1"/>
          </p:cNvSpPr>
          <p:nvPr>
            <p:ph type="body" idx="9" hasCustomPrompt="1"/>
          </p:nvPr>
        </p:nvSpPr>
        <p:spPr>
          <a:xfrm>
            <a:off x="6534150" y="4352925"/>
            <a:ext cx="5086350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［確認した数値・観察事実］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［現状の対応と残る課題］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5" name="PH_takeaway_50">
            <a:extLst>
              <a:ext uri="{FF2B5EF4-FFF2-40B4-BE49-F238E27FC236}">
                <a16:creationId xmlns:a16="http://schemas.microsoft.com/office/drawing/2014/main" id="{6DD5D2C7-176F-41D1-9105-2B6F34B11BEA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752475" y="5610225"/>
            <a:ext cx="108394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［対象］が［望ましい状態］になるための条件を調べる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962956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52">
            <a:extLst>
              <a:ext uri="{FF2B5EF4-FFF2-40B4-BE49-F238E27FC236}">
                <a16:creationId xmlns:a16="http://schemas.microsoft.com/office/drawing/2014/main" id="{6A528DB6-A56E-4131-A51D-7CC9440A8441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400050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課題の解決に向けて、何を比較するか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4" name="PH_subtitle_54">
            <a:extLst>
              <a:ext uri="{FF2B5EF4-FFF2-40B4-BE49-F238E27FC236}">
                <a16:creationId xmlns:a16="http://schemas.microsoft.com/office/drawing/2014/main" id="{05B71ABB-3C3C-4248-A0EB-2B2CDF18D8E7}"/>
              </a:ext>
            </a:extLst>
          </p:cNvPr>
          <p:cNvSpPr>
            <a:spLocks noGrp="1"/>
          </p:cNvSpPr>
          <p:nvPr>
            <p:ph type="subTitle" idx="2" hasCustomPrompt="1"/>
          </p:nvPr>
        </p:nvSpPr>
        <p:spPr>
          <a:xfrm>
            <a:off x="590550" y="1333500"/>
            <a:ext cx="11001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6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6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［比較の問いを端的に示す補助見出し］</a:t>
            </a:r>
            <a:endParaRPr lang="ja-JP" altLang="en-US" sz="16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H_footer_56">
            <a:extLst>
              <a:ext uri="{FF2B5EF4-FFF2-40B4-BE49-F238E27FC236}">
                <a16:creationId xmlns:a16="http://schemas.microsoft.com/office/drawing/2014/main" id="{AA2CFB82-8A62-44FC-AC13-EE509D364AEA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AGE_57">
            <a:extLst>
              <a:ext uri="{FF2B5EF4-FFF2-40B4-BE49-F238E27FC236}">
                <a16:creationId xmlns:a16="http://schemas.microsoft.com/office/drawing/2014/main" id="{A2DAB1D8-882E-4B7A-A37C-3A1A6DBE0B89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953750" y="6419850"/>
            <a:ext cx="6667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D3BC9D05-B36E-45FC-91A0-C992824E3CA3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4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LABEL_58">
            <a:extLst>
              <a:ext uri="{FF2B5EF4-FFF2-40B4-BE49-F238E27FC236}">
                <a16:creationId xmlns:a16="http://schemas.microsoft.com/office/drawing/2014/main" id="{F470C2E4-A6F4-4C82-B155-50B799F71118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1924050"/>
            <a:ext cx="512445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現在の対応・制約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LABEL_59">
            <a:extLst>
              <a:ext uri="{FF2B5EF4-FFF2-40B4-BE49-F238E27FC236}">
                <a16:creationId xmlns:a16="http://schemas.microsoft.com/office/drawing/2014/main" id="{9000904A-29CE-40E5-AF1C-37402A1B5F77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6505575" y="1924050"/>
            <a:ext cx="5114925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本研究で検証する対応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body_61">
            <a:extLst>
              <a:ext uri="{FF2B5EF4-FFF2-40B4-BE49-F238E27FC236}">
                <a16:creationId xmlns:a16="http://schemas.microsoft.com/office/drawing/2014/main" id="{4A89D637-3480-4EC6-8E24-B610389E903E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571500" y="2505075"/>
            <a:ext cx="5124450" cy="20097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［現在はどのように対応するか］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［残る負担・制約］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PH_body_62">
            <a:extLst>
              <a:ext uri="{FF2B5EF4-FFF2-40B4-BE49-F238E27FC236}">
                <a16:creationId xmlns:a16="http://schemas.microsoft.com/office/drawing/2014/main" id="{57369219-0699-452D-A683-1C6D12D9985F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6505575" y="2505075"/>
            <a:ext cx="5114925" cy="20097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［変える方法・条件］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［改善を確認する指標・単位］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body_63">
            <a:extLst>
              <a:ext uri="{FF2B5EF4-FFF2-40B4-BE49-F238E27FC236}">
                <a16:creationId xmlns:a16="http://schemas.microsoft.com/office/drawing/2014/main" id="{127A850B-34ED-4FBE-8993-119735E79D76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571500" y="5010150"/>
            <a:ext cx="11049000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比較でそろえる条件：［対象・期間・初期条件・設備］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5" name="PH_takeaway_65">
            <a:extLst>
              <a:ext uri="{FF2B5EF4-FFF2-40B4-BE49-F238E27FC236}">
                <a16:creationId xmlns:a16="http://schemas.microsoft.com/office/drawing/2014/main" id="{55C559DE-D88E-4F65-82B1-A508919CDB98}"/>
              </a:ext>
            </a:extLst>
          </p:cNvPr>
          <p:cNvSpPr>
            <a:spLocks noGrp="1"/>
          </p:cNvSpPr>
          <p:nvPr>
            <p:ph type="body" idx="9" hasCustomPrompt="1"/>
          </p:nvPr>
        </p:nvSpPr>
        <p:spPr>
          <a:xfrm>
            <a:off x="752475" y="5610225"/>
            <a:ext cx="108394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［比較対象］に対し、［評価指標］がどう変わるか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250505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67">
            <a:extLst>
              <a:ext uri="{FF2B5EF4-FFF2-40B4-BE49-F238E27FC236}">
                <a16:creationId xmlns:a16="http://schemas.microsoft.com/office/drawing/2014/main" id="{C7265CAC-BBF8-4FEE-A436-4F6B9659C536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400050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本研究の要点と期待される意義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4" name="PH_subtitle_69">
            <a:extLst>
              <a:ext uri="{FF2B5EF4-FFF2-40B4-BE49-F238E27FC236}">
                <a16:creationId xmlns:a16="http://schemas.microsoft.com/office/drawing/2014/main" id="{B873B77E-A908-42A7-95EC-FAC11DF94BD7}"/>
              </a:ext>
            </a:extLst>
          </p:cNvPr>
          <p:cNvSpPr>
            <a:spLocks noGrp="1"/>
          </p:cNvSpPr>
          <p:nvPr>
            <p:ph type="subTitle" idx="2" hasCustomPrompt="1"/>
          </p:nvPr>
        </p:nvSpPr>
        <p:spPr>
          <a:xfrm>
            <a:off x="590550" y="1333500"/>
            <a:ext cx="11001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6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6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［研究の要点を端的に示す補助見出し］</a:t>
            </a:r>
            <a:endParaRPr lang="ja-JP" altLang="en-US" sz="16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H_footer_71">
            <a:extLst>
              <a:ext uri="{FF2B5EF4-FFF2-40B4-BE49-F238E27FC236}">
                <a16:creationId xmlns:a16="http://schemas.microsoft.com/office/drawing/2014/main" id="{6627653B-DE23-408D-B28F-0128DE1D4BF4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AGE_72">
            <a:extLst>
              <a:ext uri="{FF2B5EF4-FFF2-40B4-BE49-F238E27FC236}">
                <a16:creationId xmlns:a16="http://schemas.microsoft.com/office/drawing/2014/main" id="{E811A03B-0ACC-4747-A5FE-603B17EA917C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953750" y="6419850"/>
            <a:ext cx="6667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E2599311-6909-471D-9321-842C5DB1EBFA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5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LABEL_73">
            <a:extLst>
              <a:ext uri="{FF2B5EF4-FFF2-40B4-BE49-F238E27FC236}">
                <a16:creationId xmlns:a16="http://schemas.microsoft.com/office/drawing/2014/main" id="{787BBAE1-632C-4834-BC28-979EB1608C82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1866900"/>
            <a:ext cx="1104900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取り組むこと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PH_body_74">
            <a:extLst>
              <a:ext uri="{FF2B5EF4-FFF2-40B4-BE49-F238E27FC236}">
                <a16:creationId xmlns:a16="http://schemas.microsoft.com/office/drawing/2014/main" id="{26F72D65-A93F-415D-8343-EC3CDEADA6DD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238125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7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7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［何を対象に、何を明らかにする研究か］</a:t>
            </a:r>
            <a:endParaRPr lang="ja-JP" altLang="en-US" sz="27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LABEL_76">
            <a:extLst>
              <a:ext uri="{FF2B5EF4-FFF2-40B4-BE49-F238E27FC236}">
                <a16:creationId xmlns:a16="http://schemas.microsoft.com/office/drawing/2014/main" id="{34CBF58E-AC25-43D5-B9F1-904571A867E9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571500" y="3848100"/>
            <a:ext cx="5153025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研究として確かめる点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PH_body_77">
            <a:extLst>
              <a:ext uri="{FF2B5EF4-FFF2-40B4-BE49-F238E27FC236}">
                <a16:creationId xmlns:a16="http://schemas.microsoft.com/office/drawing/2014/main" id="{53890151-3776-4AEB-B968-B3DD451A95C7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571500" y="4371975"/>
            <a:ext cx="5153025" cy="1085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［既知の知見に対する問い］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［検証する手法・条件］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LABEL_78">
            <a:extLst>
              <a:ext uri="{FF2B5EF4-FFF2-40B4-BE49-F238E27FC236}">
                <a16:creationId xmlns:a16="http://schemas.microsoft.com/office/drawing/2014/main" id="{5EA81695-53FB-4D9B-9332-8F58C0947C75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6496050" y="3848100"/>
            <a:ext cx="512445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結果が役立つ場面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4" name="PH_body_79">
            <a:extLst>
              <a:ext uri="{FF2B5EF4-FFF2-40B4-BE49-F238E27FC236}">
                <a16:creationId xmlns:a16="http://schemas.microsoft.com/office/drawing/2014/main" id="{03DC8CBD-E92E-49B5-9501-AD15A4246E22}"/>
              </a:ext>
            </a:extLst>
          </p:cNvPr>
          <p:cNvSpPr>
            <a:spLocks noGrp="1"/>
          </p:cNvSpPr>
          <p:nvPr>
            <p:ph type="body" idx="9" hasCustomPrompt="1"/>
          </p:nvPr>
        </p:nvSpPr>
        <p:spPr>
          <a:xfrm>
            <a:off x="6496050" y="4371975"/>
            <a:ext cx="5124450" cy="1085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［誰の、どの判断に役立つか］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［活用するために必要な条件］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6" name="PH_takeaway_81">
            <a:extLst>
              <a:ext uri="{FF2B5EF4-FFF2-40B4-BE49-F238E27FC236}">
                <a16:creationId xmlns:a16="http://schemas.microsoft.com/office/drawing/2014/main" id="{17046163-FD94-493E-879B-5B8990096E21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752475" y="5610225"/>
            <a:ext cx="108394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［本研究で得る知見］を［活用場面］の判断材料とする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683689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83">
            <a:extLst>
              <a:ext uri="{FF2B5EF4-FFF2-40B4-BE49-F238E27FC236}">
                <a16:creationId xmlns:a16="http://schemas.microsoft.com/office/drawing/2014/main" id="{9EF485E3-0E0A-4CC8-AAF9-D970127B5C71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400050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検証の到達点と、活用に向けた課題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4" name="PH_subtitle_85">
            <a:extLst>
              <a:ext uri="{FF2B5EF4-FFF2-40B4-BE49-F238E27FC236}">
                <a16:creationId xmlns:a16="http://schemas.microsoft.com/office/drawing/2014/main" id="{05404C19-9B00-461F-A226-074091651BA1}"/>
              </a:ext>
            </a:extLst>
          </p:cNvPr>
          <p:cNvSpPr>
            <a:spLocks noGrp="1"/>
          </p:cNvSpPr>
          <p:nvPr>
            <p:ph type="subTitle" idx="2" hasCustomPrompt="1"/>
          </p:nvPr>
        </p:nvSpPr>
        <p:spPr>
          <a:xfrm>
            <a:off x="590550" y="1333500"/>
            <a:ext cx="11001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6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6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［今回の到達点を端的に示す補助見出し］</a:t>
            </a:r>
            <a:endParaRPr lang="ja-JP" altLang="en-US" sz="16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H_footer_87">
            <a:extLst>
              <a:ext uri="{FF2B5EF4-FFF2-40B4-BE49-F238E27FC236}">
                <a16:creationId xmlns:a16="http://schemas.microsoft.com/office/drawing/2014/main" id="{42E9B5C1-3DD9-454A-84C9-F10E3BF0EC7A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AGE_88">
            <a:extLst>
              <a:ext uri="{FF2B5EF4-FFF2-40B4-BE49-F238E27FC236}">
                <a16:creationId xmlns:a16="http://schemas.microsoft.com/office/drawing/2014/main" id="{9E73176B-50A3-4CED-BEBC-788DB86AD400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953750" y="6419850"/>
            <a:ext cx="6667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17B518F2-1EDE-44CC-991C-B652DCFD0F3B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6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LABEL_89">
            <a:extLst>
              <a:ext uri="{FF2B5EF4-FFF2-40B4-BE49-F238E27FC236}">
                <a16:creationId xmlns:a16="http://schemas.microsoft.com/office/drawing/2014/main" id="{0186C6ED-C700-40D5-B7F1-65036E197481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1943100"/>
            <a:ext cx="510540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今回の研究で示すこと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PH_body_90">
            <a:extLst>
              <a:ext uri="{FF2B5EF4-FFF2-40B4-BE49-F238E27FC236}">
                <a16:creationId xmlns:a16="http://schemas.microsoft.com/office/drawing/2014/main" id="{2EB89204-3B91-4634-9562-34035E62ABD5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2533650"/>
            <a:ext cx="5105400" cy="1562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［検証する対象・条件］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［成果物・評価指標］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［結論の適用範囲］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LABEL_91">
            <a:extLst>
              <a:ext uri="{FF2B5EF4-FFF2-40B4-BE49-F238E27FC236}">
                <a16:creationId xmlns:a16="http://schemas.microsoft.com/office/drawing/2014/main" id="{9001E62A-B365-4240-9A08-C3A2D727E90D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6505575" y="1943100"/>
            <a:ext cx="5114925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活用までに必要なこと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body_92">
            <a:extLst>
              <a:ext uri="{FF2B5EF4-FFF2-40B4-BE49-F238E27FC236}">
                <a16:creationId xmlns:a16="http://schemas.microsoft.com/office/drawing/2014/main" id="{2F363572-0D3A-450D-BD6C-7D9E98C0D34A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6505575" y="2533650"/>
            <a:ext cx="5114925" cy="1562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［追加検証が必要な条件］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［導入時の制約・留意点］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［今後の確認方法］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LABEL_94">
            <a:extLst>
              <a:ext uri="{FF2B5EF4-FFF2-40B4-BE49-F238E27FC236}">
                <a16:creationId xmlns:a16="http://schemas.microsoft.com/office/drawing/2014/main" id="{6A4AECE9-5540-4C50-85AA-42E1E804DEA4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571500" y="4772025"/>
            <a:ext cx="228600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本日の説明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4" name="PH_body_95">
            <a:extLst>
              <a:ext uri="{FF2B5EF4-FFF2-40B4-BE49-F238E27FC236}">
                <a16:creationId xmlns:a16="http://schemas.microsoft.com/office/drawing/2014/main" id="{591D03AF-8276-4B06-AE9D-31A35952FE99}"/>
              </a:ext>
            </a:extLst>
          </p:cNvPr>
          <p:cNvSpPr>
            <a:spLocks noGrp="1"/>
          </p:cNvSpPr>
          <p:nvPr>
            <p:ph type="body" idx="9" hasCustomPrompt="1"/>
          </p:nvPr>
        </p:nvSpPr>
        <p:spPr>
          <a:xfrm>
            <a:off x="3181350" y="4772025"/>
            <a:ext cx="84391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［研究目的］ → ［方法］ → ［結果／進捗］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6" name="PH_takeaway_97">
            <a:extLst>
              <a:ext uri="{FF2B5EF4-FFF2-40B4-BE49-F238E27FC236}">
                <a16:creationId xmlns:a16="http://schemas.microsoft.com/office/drawing/2014/main" id="{A55E9D13-1593-44AD-8E05-E6A37B5C9655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752475" y="5610225"/>
            <a:ext cx="108394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［今回の到達点］を根拠として、［次の判断］につなげる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8693912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2529</Words>
  <Application>Microsoft Office PowerPoint</Application>
  <DocSecurity>0</DocSecurity>
  <PresentationFormat>ワイド画面</PresentationFormat>
  <Paragraphs>239</Paragraphs>
  <Slides>6</Slides>
  <Notes>6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8" baseType="lpstr">
      <vt:lpstr>Times New Roman</vt:lpstr>
      <vt:lpstr>ChatGPT</vt:lpstr>
      <vt:lpstr>［社会課題］に対応する研究の必要性</vt:lpstr>
      <vt:lpstr>社会的な課題に対する本研究の役割</vt:lpstr>
      <vt:lpstr>［現場・利用者］が直面する課題</vt:lpstr>
      <vt:lpstr>課題の解決に向けて、何を比較するか</vt:lpstr>
      <vt:lpstr>本研究の要点と期待される意義</vt:lpstr>
      <vt:lpstr>検証の到達点と、活用に向けた課題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刘 承洋_LIU Chengyang(東京都市大学_Tokyo City University)</cp:lastModifiedBy>
  <cp:revision>2</cp:revision>
  <dcterms:created xsi:type="dcterms:W3CDTF">2026-09-27T04:53:20Z</dcterms:created>
  <dcterms:modified xsi:type="dcterms:W3CDTF">2026-09-27T05:24:32Z</dcterms:modified>
</cp:coreProperties>
</file>