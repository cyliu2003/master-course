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比較対象</c:v>
          </c:tx>
          <c:spPr>
            <a:solidFill>
              <a:srgbClr val="849BA8"/>
            </a:solidFill>
          </c:spPr>
          <c:invertIfNegative val="1"/>
          <c:cat>
            <c:strRef>
              <c:f>'Chart Data'!$A$2:$A$4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5F-4CC2-ACC8-FC5B39ABA3DD}"/>
            </c:ext>
          </c:extLst>
        </c:ser>
        <c:ser>
          <c:idx val="1"/>
          <c:order val="1"/>
          <c:tx>
            <c:v>提案手法</c:v>
          </c:tx>
          <c:spPr>
            <a:solidFill>
              <a:srgbClr val="0098D7"/>
            </a:solidFill>
          </c:spPr>
          <c:invertIfNegative val="1"/>
          <c:cat>
            <c:strRef>
              <c:f>'Chart Data'!$C$2:$C$4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15F-4CC2-ACC8-FC5B39ABA3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C6E3EF"/>
              </a:solidFill>
            </a:ln>
          </c:spPr>
        </c:majorGridlines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評価値［単位］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legend>
      <c:legendPos val="b"/>
      <c:overlay val="0"/>
      <c:txPr>
        <a:bodyPr lIns="0" tIns="0" rIns="0" bIns="0" anchorCtr="1"/>
        <a:lstStyle/>
        <a:p>
          <a:pPr>
            <a:defRPr lang="ja-JP" altLang="en-US" sz="1800">
              <a:latin typeface="Times New Roman"/>
              <a:ea typeface="Meiryo"/>
              <a:cs typeface="Times New Roman"/>
            </a:defRPr>
          </a:pPr>
          <a:endParaRPr lang="ja-JP" alt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比較対象</c:v>
          </c:tx>
          <c:spPr>
            <a:ln w="28575">
              <a:solidFill>
                <a:srgbClr val="849BA8"/>
              </a:solidFill>
              <a:prstDash val="dash"/>
            </a:ln>
          </c:spPr>
          <c:marker>
            <c:symbol val="square"/>
            <c:size val="8"/>
            <c:spPr>
              <a:solidFill>
                <a:srgbClr val="849BA8"/>
              </a:solidFill>
              <a:ln w="12700">
                <a:solidFill>
                  <a:srgbClr val="849BA8"/>
                </a:solidFill>
              </a:ln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60-49CE-B5AB-7858F2E203E4}"/>
            </c:ext>
          </c:extLst>
        </c:ser>
        <c:ser>
          <c:idx val="1"/>
          <c:order val="1"/>
          <c:tx>
            <c:v>提案手法</c:v>
          </c:tx>
          <c:spPr>
            <a:ln w="38100">
              <a:solidFill>
                <a:srgbClr val="0098D7"/>
              </a:solidFill>
              <a:prstDash val="solid"/>
            </a:ln>
          </c:spPr>
          <c:marker>
            <c:symbol val="circle"/>
            <c:size val="8"/>
            <c:spPr>
              <a:solidFill>
                <a:srgbClr val="0098D7"/>
              </a:solidFill>
              <a:ln w="12700">
                <a:solidFill>
                  <a:srgbClr val="0098D7"/>
                </a:solidFill>
              </a:ln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60-49CE-B5AB-7858F2E203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経過時間［単位］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C6E3EF"/>
              </a:solidFill>
            </a:ln>
          </c:spPr>
        </c:majorGridlines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評価値［単位］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legend>
      <c:legendPos val="b"/>
      <c:overlay val="0"/>
      <c:txPr>
        <a:bodyPr lIns="0" tIns="0" rIns="0" bIns="0" anchorCtr="1"/>
        <a:lstStyle/>
        <a:p>
          <a:pPr>
            <a:defRPr lang="ja-JP" altLang="en-US" sz="1800">
              <a:latin typeface="Times New Roman"/>
              <a:ea typeface="Meiryo"/>
              <a:cs typeface="Times New Roman"/>
            </a:defRPr>
          </a:pPr>
          <a:endParaRPr lang="ja-JP" alt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altLang="en-US" sz="1200" kern="1200">
        <a:latin typeface="Times New Roman"/>
        <a:ea typeface="Meiryo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20–30秒】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［所属］の［氏名］です。本日は、［研究題目］について報告します。この研究では、［対象］における［課題］を扱い、［何を明らかにするか］を検証します。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研究の問いを1文で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はじめに、［背景／発表の構成］をご説明します。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研究題目・発表会・所属・氏名・日付を記入。題目は2行まで。指導教員名が必要なら所属欄に追加する。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20–30秒】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［所属］の［氏名］です。［対象期間］の研究進捗を報告します。今回は［主に取り組んだ内容］を進めました。本日は、［確認できたこと］と［相談したいこと］を中心にお話しします。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今回の差分と相談事項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まず、今回取り組んだ研究の問いを確認します。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今回扱う期間と題目を記入。進捗報告は「今回の問い→前回からの差分→根拠→課題→次回計画」の順で話す。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15–25秒】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本日は、［背景と目的］、［手法と条件］、［結果と考察］の順に説明します。特に［重点を置く項目］をご確認いただきたいと考えています。最後に、［まとめ／相談事項］をお伝えします。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重点を置く項目を指す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まず、［最初の章の内容］です。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発表時間に合わせて3〜4項目に絞る。章名だけでなく、各章で何を示すかを書く。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5–10秒】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ここからは［章の名称］について説明します。この章では、［伝えること］を示します。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章が切り替わることを短く伝える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最初に、［次ページの主題］をご覧ください。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区切りが必要な長い発表でのみ使用。短い進捗報告では省略してよい。章名を大きく記入する。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の背景には［対象分野の現状］があります。［出典］では、［重要性を示す事実］が報告されています。図の［着目箇所］に示すように、［観察できること］がわかります。一方、現在の方法では［未解決の課題］が残ってい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右図の根拠と左下の課題をつなぐ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そこで、本研究の目的を［目的］としました。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背景の事実には出典を添える。右側には、課題を最もよく伝える図・写真・統計を1つ置く。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本研究の目的は、［何を明らかにするか］です。［対象・範囲］に対して、［比較対象］と［検証する方法］を比較します。主に［指標・単位］を用いて評価し、［判定条件］を確認します。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目的と手段を分けて話す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この問いが既存の研究とどう関係するかを説明します。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目的と手段を分ける。「何を、何と比べ、何で評価するか」を具体化。数値目標は根拠がある場合だけ入れる。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先行研究を［比較軸］で整理しました。［研究A］は［扱う点］、［研究B］は［扱う点］に特徴があります。一方、［共通して残る課題］については、［未解決の内容］が残っています。本研究は、そのうち［今回扱う点］を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全セルを読まず比較軸と差分を指す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次に、その課題に対する本研究の着眼点を説明します。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必要な比較軸を先に決める。既存研究の対象・条件が異なるときは性能数値を直接比較しない。最終行には実証済みの差分だけを書く。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の着眼点は［着眼点］です。左側の［課題1］に対して、右側の［対応する方法］を検証します。また、［課題2］に対しては［対応する方法］を考えます。今回確認する貢献は［検証可能な差分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左右の対応を同じ順序で示す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この考え方を、［対象システム］に適用します。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問題と提案の対応を同じ行に置く。新規性は意図と検証済みの貢献を区別して記入する。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で扱うシステムの全体像です。左側の［入力データ］を与え、中央の［モデル・処理］で［決めること］を求めます。右側には［出力・評価指標］が得られます。今回の対象は［範囲］で、［範囲外］は含めません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入力→処理→出力の順に指す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次に、各段階の手順を説明します。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箱と矢印は編集可能。入力・決定事項・出力の関係を示す。略語は初出で説明する。箱を追加しすぎず、詳細は補足へ。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手順は［工程数］段階です。まず［入力準備］を行い、次に［モデル化］、続いて［計算・実験］を行います。最後に［評価・検証］を確認します。このうち本研究で工夫したのは［工程と工夫］です。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全工程の読み上げより工夫点に時間を使う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その工程で使う主要な式を示します。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4工程の流れ。手法名だけでなく各段階の入力と出力を説明する。実際の依存関係に合わせて矢印を変更する。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45–75秒】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式は［式が表す関係］を表しています。［記号］は［意味・単位］で、［記号］は［意味・単位］です。式の［項］は［役割］に対応します。［前提条件］の下で成り立ち、［研究の中でどう使うか］に用い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式全体の意味→主要項→前提の順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このモデルを、次の条件で検証します。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左側は数式用の入力欄。複雑な数式はAlt+=でPowerPoint標準の数式を挿入する。変数の意味と単位、式が何を表すかを必ず添える。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比較条件を示します。対象は［データ・日付・範囲］です。［共通にする条件］をそろえ、［変更する要因］のみを変えます。実行条件は［必要な設定］です。条件の違いがある場合は［違いと解釈への影響］を考慮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共通条件と変更条件を指し分ける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比較に使う評価指標を説明します。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共通にする条件と変える条件を分ける。データ・手法・パラメータ・乱数・時間制限を必要に応じて記録し、再現の詳細をノートに残す。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主な評価指標は［指標］です。［算出方法］で求め、単位は［単位］とします。集計対象は［期間・範囲］で、割合や平均の分母は［分母］です。補助指標の［指標］を使って、［確認する点］も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主要指標の定義・単位・分母を伝える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この指標で得られた結果を示します。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指標名・定義・単位・集計範囲をそろえる。平均の分母、割合の母数、時間解像度を明示。電力[kW]と電力量[kWh]は別指標。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図は［対象・期間・条件］における［内容］を示しています。横軸は［名称・単位］、縦軸は［名称・単位］です。特に［着目箇所］を見ると、［読み取れる事実］が確認できます。この図から言えるのは［要点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図の読み方→着目箇所→事実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次に、［比較結果／その解釈］を説明します。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結果の図には対象期間、条件、軸名、単位、凡例、出典を添える。本文は図から読み取れることに絞る。画像を入れる場合は縦横比を保持。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が［条件A］、右が［条件B］の結果です。［共通条件］をそろえ、［相違点］を変えています。［比較箇所］では、［差の大きさ・単位］が確認できます。ただし、［比較上の注意］があるため、結論は［言える範囲］に限り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同じ軸・時間帯・単位の位置を比較する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この差を、［次の指標／考察］から確認します。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2図で軸範囲・単位・色・期間をそろえる。比較条件が違う場合は差を明示。月別12週では各月の選定週を指し、季節全体や年間一般へ広げない。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条件ごとの［評価指標］を比較した結果です。横軸は［条件］、縦軸は［指標・単位］で、［系列］を比較しています。［着目条件］では、［比較対象］に対して［差・単位］でした。［ばらつき・条件］を踏まえると、［確認できる結論］が言え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仮データを必ず実験値に交換してから読む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次に、［時間変化／この結果の解釈］を説明します。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このグラフは編集練習用の仮データで、研究結果ではない。右クリック→データの編集で埋め込みExcelを変更。系列名・カテゴリ・軸の単位・注記も同時に更新する。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対象期間］の［指標］の推移を示します。横軸は［時間・単位］、縦軸は［指標・単位］です。［線の種類］が［条件］に対応します。［時点・区間］に注目すると、［変化］が確認できます。現時点で言えることは［観察結果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線種・マーカーを示し、注目する区間を指す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これらの結果を、主要な指標で整理します。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仮データであり研究結果ではない。横軸には時刻の原点・間隔、縦軸には対象と単位を記入。15分平均などは補間の意味を説明し、必要なら階段状の図に差し替える。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主要な結果を表にまとめました。［行・条件］と［列・指標］をご覧ください。［比較対象］に対して［差・単位］となりました。［他の指標］については［結果］でした。比較した条件とデータの範囲内では、［結論］と整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重要な1〜2セルに絞る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続いて、結果から考えられる理由を説明します。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重要な数値に絞って示す。差と変化率を混同しない。集計対象・単位・桁数を統一する。12代表週の全数値は同じ表を2枚に複製し1〜6月／7〜12月に分けられる。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こでは、観察した結果と、その解釈を分けて説明します。確認した事実は［結果］です。その理由として［仮説・解釈］が考えられます。ただし、［別の説明の可能性］はまだ除外できていません。これを確かめるには［追加検証］が必要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事実と推測の欄を明確に指し分ける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次に、結論が当てはまる範囲と限界を示します。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左に観察された事実、右に解釈を書く。因果関係は検証なしに断定しない。他の説明があり得る場合は次の検証へつなぐ。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確認できた範囲は［対象・条件］です。一方、［未検証の条件］では確認ができていません。また、［制約］が結果の解釈に影響します。そのため、［言えること］までは示せますが、［まだ言えないこと］は今後の検証課題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未検証の範囲を曖昧にしない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以上を踏まえて、研究の要点をまとめます。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確認済みと未確認の境界を示す。計算完了、実行可能性、会計整合、最適性、研究採用はそれぞれ別に確認する。未達ゲートがある資料はDIAGNOSTIC / NOT USED FOR RESEARCH CONCLUSIONSと明記。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では、［目的］を検証しました。主に［結果1］と［結果2］を確認しました。結論は［対象・条件］の範囲に限られます。今後は［残る課題］に取り組みます。以上で発表を終わります。ご清聴ありがとうございました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目的への答えと適用範囲を伝える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［質疑へ進む／必要なら補足資料を開く］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目的への答えを最初に置く。方法の説明を繰り返すより、得られた知見と限界をまとめる。最後に次の検証を一つ示す。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前回から今回までの変更点を報告します。［項目］について、前回は［状態］でしたが、今回は［行ったこと・現在の状態］まで進みました。確認できる根拠は［図・表・記録］です。［未完了の項目］は［残っている作業］の段階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実施済み・確認済み・未完了を区別する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このうち、［主要な結果／残る問題］を詳しく説明します。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実施した作業ではなく、前回から何がわかったかを示す。状況は「完了・継続・未着手」等の言葉で記し、色だけに頼らない。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前回いただいた［指摘］に対し、［対応内容］を実施しました。［確認できた根拠］により、［対応後の状態］を確認しています。一方、［残っている点］については、［次に行う確認］が必要です。本日はこの対応で［確認いただきたい点］を相談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指摘→対応→根拠→残件の順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続いて、前回からの進捗全体を示します。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指摘内容、行った対応、結果と残課題を対応させる。口頭回答だけでなく、根拠のスライド番号・資料も記す。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現在の問題は［観察された問題］です。原因として［仮説］を考えていますが、現時点では未確認です。［切り分け方法］を行い、［判定条件］で仮説を確認します。結果に応じて［対応案］へ進みます。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原因を断定せず、判定条件を示す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これを踏まえた次回までの計画です。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事実として起きたことと原因の仮説を分ける。対応策には、改善したと判断する基準を付ける。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次回までに［優先課題］に取り組みます。［期限］までに［作業］を行い、［成果物］を用意します。完了の基準は［確認条件］です。［依存する作業］があるため、［順序・代替案］の順で進めます。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作業名だけでなく成果物と完了条件を伝える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最後に、計画を進めるうえで相談したい点です。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作業だけでなく、次回持参する成果物と完了条件を書く。予定を結果として書かない。期限は実際の日付へ置換する。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日ご相談したいのは、［決めたいこと］です。案Aは［利点・制約］、案Bは［利点・制約］です。私は［理由］から［推奨案］を考えています。［判断いただきたい点］について、ご意見をいただけますでしょう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判断の選択肢と自分の考えを伝える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［回答を受けて、次の作業・期限を確認する］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判断をお願いしたい論点を1つに絞る。選択肢と影響、現時点の案を用意すると相談しやすい。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必要時のみ】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こちらは発表で参照した資料です。［主な主張］の根拠は文献［番号］、［手法］の原典は文献［番号］です。必要に応じて、該当する箇所をご説明します。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通常は全件を読み上げない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［該当する本文または補足へ移る］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本文で引用した文献のみ記載。著者、年、題目、媒体、巻号・頁、DOI/URLを統一書式で。4件程度までとし、多ければ複製する。テンプレートの作成参考資料ではなく、自分の研究文献を記入。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必要時30–60秒】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ご質問の［論点］について、補足します。この図は［条件・範囲］を示しています。［着目箇所］から［確認できること］がわかります。一方、［まだ確認できていないこと］については、［確認方法］で調べる必要があり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質問に直接関係する部分だけを示す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［質問への答え］というのが、現時点での回答です。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本文に置くと長くなる条件、導出、追加結果、質疑用資料を配置。本文から参照できるよう題名を具体的にする。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政策・計画名］では、［目指す姿］が掲げられています。これに対し、［現場・対象］では［現状］があり、実現に向けて［課題］が残っています。右の図は［出典・対象期間］に基づく現状です。本研究は、この課題のうち［扱う部分］に着目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政策の記述と、自分の課題設定を区別する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次に、その課題に対して本研究が担う役割を示します。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導入パターン用の記入欄。発表カンペは統合時に設定。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ページは独自の導入仮案です。共有された中島先生の資料はログインが必要で本文未確認。固有の表現・数値・図は転載していません。政策資料は正式名称・発行主体・発行年・該当頁・URLを確認して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35–50秒】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解決したい課題は［課題］です。本研究では［対象・条件］の下で［方法］を検証し、［指標・成果物］を示します。これにより、［誰が何を判断するか］の判断材料を提供します。今回扱う範囲は［範囲］であり、［対象外］は今後の課題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課題→検証→判断材料の対応をたどる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この役割を具体的な研究目的として整理します。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導入パターン用の記入欄。発表カンペは統合時に設定。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ページは独自の導入仮案です。共有された中島先生の資料はログインが必要で本文未確認。固有の表現・数値・図は転載していません。政策資料は正式名称・発行主体・発行年・該当頁・URLを確認して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［現場・利用者］の状況から説明します。左の［写真・図］は［対象・場面］を示しています。［具体的な場面］では、［困りごと］が生じています。［出典・観察記録］では［数値・事実］が確認されています。現在は［対応］を行っていますが、［残る課題］があり、本研究ではその改善条件を調べ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現場の場面を説明してから数値を示す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この課題を、比較可能な研究の問いに置き換えます。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導入パターン用の記入欄。発表カンペは統合時に設定。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ページは独自の導入仮案です。共有された中島先生の資料はログインが必要で本文未確認。固有の表現・数値・図は転載していません。政策資料は正式名称・発行主体・発行年・該当頁・URLを確認して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35–50秒】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状では［現在の対応］を行っていますが、［負担・制約］が残っています。本研究では［方法・条件］を変え、［指標・単位］で違いを評価します。［共通条件］はそろえます。［比較対象］に対して［何がどう変わるか］が、検証したい問い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現場の困りごとと評価指標の対応を示す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続いて、その問いに答える方法を説明します。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導入パターン用の記入欄。発表カンペは統合時に設定。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ページは独自の導入仮案です。共有された中島先生の資料はログインが必要で本文未確認。固有の表現・数値・図は転載していません。政策資料は正式名称・発行主体・発行年・該当頁・URLを確認して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最初に、本研究の要点をお伝えします。［対象］について［何を明らかにするか］を検証する研究です。研究としては［問い・差分］を確認し、将来的には［誰のどの判断］に役立てることを想定しています。その活用には［必要な条件］の確認が必要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研究の問いと将来の意義を分ける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次に、今回どこまで検証するかを示します。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導入パターン用の記入欄。発表カンペは統合時に設定。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ページは独自の導入仮案です。共有された中島先生の資料はログインが必要で本文未確認。固有の表現・数値・図は転載していません。政策資料は正式名称・発行主体・発行年・該当頁・URLを確認して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35–50秒】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の研究では［対象・条件］において、［成果物・指標］を示すことを目指します。結論の適用範囲は［範囲］です。実際の活用に向けては、［追加検証］と［導入上の条件］を確認する必要があります。本日は、このうち［説明する到達点］を中心に報告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研究の到達点と活用までの課題を示す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ここから、研究目的と具体的な方法を説明します。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導入パターン用の記入欄。発表カンペは統合時に設定。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ページは独自の導入仮案です。共有された中島先生の資料はログインが必要で本文未確認。固有の表現・数値・図は転載していません。政策資料は正式名称・発行主体・発行年・該当頁・URLを確認して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研究発表の表紙" preserve="1">
  <p:cSld name="01 研究発表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1">
            <a:extLst>
              <a:ext uri="{FF2B5EF4-FFF2-40B4-BE49-F238E27FC236}">
                <a16:creationId xmlns:a16="http://schemas.microsoft.com/office/drawing/2014/main" id="{BCF2AE1A-DD65-4F91-9444-377968099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4">
            <a:extLst>
              <a:ext uri="{FF2B5EF4-FFF2-40B4-BE49-F238E27FC236}">
                <a16:creationId xmlns:a16="http://schemas.microsoft.com/office/drawing/2014/main" id="{93E2E4C4-AC79-45C5-8F0C-180A32C1F3C8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進捗報告の表紙" preserve="1">
  <p:cSld name="02 進捗報告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7">
            <a:extLst>
              <a:ext uri="{FF2B5EF4-FFF2-40B4-BE49-F238E27FC236}">
                <a16:creationId xmlns:a16="http://schemas.microsoft.com/office/drawing/2014/main" id="{5FD949CB-DC91-432E-A26E-C78D01BAAC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10">
            <a:extLst>
              <a:ext uri="{FF2B5EF4-FFF2-40B4-BE49-F238E27FC236}">
                <a16:creationId xmlns:a16="http://schemas.microsoft.com/office/drawing/2014/main" id="{D19A1F19-49B4-4CD7-B414-BDCFF7141469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発表の流れ" preserve="1">
  <p:cSld name="03 発表の流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ATIC_rule_13">
            <a:extLst>
              <a:ext uri="{FF2B5EF4-FFF2-40B4-BE49-F238E27FC236}">
                <a16:creationId xmlns:a16="http://schemas.microsoft.com/office/drawing/2014/main" id="{2BB7DF9A-704C-4F96-A5B8-C89329834D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">
            <a:extLst>
              <a:ext uri="{FF2B5EF4-FFF2-40B4-BE49-F238E27FC236}">
                <a16:creationId xmlns:a16="http://schemas.microsoft.com/office/drawing/2014/main" id="{6FCA304F-4C0E-442B-B84E-A4A40310566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">
            <a:extLst>
              <a:ext uri="{FF2B5EF4-FFF2-40B4-BE49-F238E27FC236}">
                <a16:creationId xmlns:a16="http://schemas.microsoft.com/office/drawing/2014/main" id="{715B940A-C45E-46E9-BB55-2CB0593ED88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2">
            <a:extLst>
              <a:ext uri="{FF2B5EF4-FFF2-40B4-BE49-F238E27FC236}">
                <a16:creationId xmlns:a16="http://schemas.microsoft.com/office/drawing/2014/main" id="{9F7A7686-7C60-43F7-9CC5-229B5F228F98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26">
            <a:extLst>
              <a:ext uri="{FF2B5EF4-FFF2-40B4-BE49-F238E27FC236}">
                <a16:creationId xmlns:a16="http://schemas.microsoft.com/office/drawing/2014/main" id="{FDC9CADB-1FE3-4EBC-B64C-F493A6D759A0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rule_30">
            <a:extLst>
              <a:ext uri="{FF2B5EF4-FFF2-40B4-BE49-F238E27FC236}">
                <a16:creationId xmlns:a16="http://schemas.microsoft.com/office/drawing/2014/main" id="{17223891-D9F4-4A1D-946B-BB2E6001DFE1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章扉" preserve="1">
  <p:cSld name="04 章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TIC_rule_34">
            <a:extLst>
              <a:ext uri="{FF2B5EF4-FFF2-40B4-BE49-F238E27FC236}">
                <a16:creationId xmlns:a16="http://schemas.microsoft.com/office/drawing/2014/main" id="{BC6795F1-BA4A-4955-8417-F3F5E5137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背景と課題" preserve="1">
  <p:cSld name="05 背景と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38">
            <a:extLst>
              <a:ext uri="{FF2B5EF4-FFF2-40B4-BE49-F238E27FC236}">
                <a16:creationId xmlns:a16="http://schemas.microsoft.com/office/drawing/2014/main" id="{F8196F0B-1D2E-4A32-ACF0-B41229C02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40">
            <a:extLst>
              <a:ext uri="{FF2B5EF4-FFF2-40B4-BE49-F238E27FC236}">
                <a16:creationId xmlns:a16="http://schemas.microsoft.com/office/drawing/2014/main" id="{94121608-A7F0-4F71-AE52-27D6A08E64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41">
            <a:extLst>
              <a:ext uri="{FF2B5EF4-FFF2-40B4-BE49-F238E27FC236}">
                <a16:creationId xmlns:a16="http://schemas.microsoft.com/office/drawing/2014/main" id="{FA4B55E2-2623-4E85-9FC8-AB3457523208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研究目的と問い" preserve="1">
  <p:cSld name="06 研究目的と問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50">
            <a:extLst>
              <a:ext uri="{FF2B5EF4-FFF2-40B4-BE49-F238E27FC236}">
                <a16:creationId xmlns:a16="http://schemas.microsoft.com/office/drawing/2014/main" id="{7B3A6735-70F8-4D07-9688-CE669599B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2">
            <a:extLst>
              <a:ext uri="{FF2B5EF4-FFF2-40B4-BE49-F238E27FC236}">
                <a16:creationId xmlns:a16="http://schemas.microsoft.com/office/drawing/2014/main" id="{CC85461D-5318-4D48-80CD-F8D23C806F3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53">
            <a:extLst>
              <a:ext uri="{FF2B5EF4-FFF2-40B4-BE49-F238E27FC236}">
                <a16:creationId xmlns:a16="http://schemas.microsoft.com/office/drawing/2014/main" id="{4FEF5F2D-49AD-4420-A9FE-2454BC014DC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58">
            <a:extLst>
              <a:ext uri="{FF2B5EF4-FFF2-40B4-BE49-F238E27FC236}">
                <a16:creationId xmlns:a16="http://schemas.microsoft.com/office/drawing/2014/main" id="{F8E0FE25-CE78-477C-9EBB-9E3AA0544FBE}"/>
              </a:ext>
            </a:extLst>
          </p:cNvPr>
          <p:cNvSpPr>
            <a:spLocks noGrp="1"/>
          </p:cNvSpPr>
          <p:nvPr/>
        </p:nvSpPr>
        <p:spPr>
          <a:xfrm>
            <a:off x="571500" y="33051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先行研究の比較" preserve="1">
  <p:cSld name="07 先行研究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63">
            <a:extLst>
              <a:ext uri="{FF2B5EF4-FFF2-40B4-BE49-F238E27FC236}">
                <a16:creationId xmlns:a16="http://schemas.microsoft.com/office/drawing/2014/main" id="{DCE84DC4-DC22-4475-B817-F3459146D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5">
            <a:extLst>
              <a:ext uri="{FF2B5EF4-FFF2-40B4-BE49-F238E27FC236}">
                <a16:creationId xmlns:a16="http://schemas.microsoft.com/office/drawing/2014/main" id="{85F4D892-3115-4285-81B6-64F8D12E3C0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7">
            <a:extLst>
              <a:ext uri="{FF2B5EF4-FFF2-40B4-BE49-F238E27FC236}">
                <a16:creationId xmlns:a16="http://schemas.microsoft.com/office/drawing/2014/main" id="{78D777FE-3722-477B-9909-FCE0A9D7923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33575"/>
            <a:ext cx="11049000" cy="33147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70">
            <a:extLst>
              <a:ext uri="{FF2B5EF4-FFF2-40B4-BE49-F238E27FC236}">
                <a16:creationId xmlns:a16="http://schemas.microsoft.com/office/drawing/2014/main" id="{A4FF3374-C000-44A3-8A08-FD7F9E8E04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本研究の着眼点" preserve="1">
  <p:cSld name="08 本研究の着眼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72">
            <a:extLst>
              <a:ext uri="{FF2B5EF4-FFF2-40B4-BE49-F238E27FC236}">
                <a16:creationId xmlns:a16="http://schemas.microsoft.com/office/drawing/2014/main" id="{89B45F4A-B589-4474-AAC5-DAEA9432DF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74">
            <a:extLst>
              <a:ext uri="{FF2B5EF4-FFF2-40B4-BE49-F238E27FC236}">
                <a16:creationId xmlns:a16="http://schemas.microsoft.com/office/drawing/2014/main" id="{41A934FC-9BF5-4CC7-89F0-D52D795AAF7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75">
            <a:extLst>
              <a:ext uri="{FF2B5EF4-FFF2-40B4-BE49-F238E27FC236}">
                <a16:creationId xmlns:a16="http://schemas.microsoft.com/office/drawing/2014/main" id="{6649FEF9-BB39-4C0D-B4E5-CDDDBF56F1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80">
            <a:extLst>
              <a:ext uri="{FF2B5EF4-FFF2-40B4-BE49-F238E27FC236}">
                <a16:creationId xmlns:a16="http://schemas.microsoft.com/office/drawing/2014/main" id="{F5050F85-696D-43EA-A161-6CD1DC0D3A28}"/>
              </a:ext>
            </a:extLst>
          </p:cNvPr>
          <p:cNvSpPr>
            <a:spLocks noGrp="1"/>
          </p:cNvSpPr>
          <p:nvPr/>
        </p:nvSpPr>
        <p:spPr>
          <a:xfrm>
            <a:off x="6048375" y="1771650"/>
            <a:ext cx="19050" cy="335280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83">
            <a:extLst>
              <a:ext uri="{FF2B5EF4-FFF2-40B4-BE49-F238E27FC236}">
                <a16:creationId xmlns:a16="http://schemas.microsoft.com/office/drawing/2014/main" id="{C059BAD3-7522-4638-BD8F-41EC2778AA03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対象システム" preserve="1">
  <p:cSld name="09 対象システ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5">
            <a:extLst>
              <a:ext uri="{FF2B5EF4-FFF2-40B4-BE49-F238E27FC236}">
                <a16:creationId xmlns:a16="http://schemas.microsoft.com/office/drawing/2014/main" id="{5C1C2315-45DB-4F74-9719-17A225854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7">
            <a:extLst>
              <a:ext uri="{FF2B5EF4-FFF2-40B4-BE49-F238E27FC236}">
                <a16:creationId xmlns:a16="http://schemas.microsoft.com/office/drawing/2014/main" id="{13EF2258-14E0-49A6-B5F6-3003B9CD7E1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88">
            <a:extLst>
              <a:ext uri="{FF2B5EF4-FFF2-40B4-BE49-F238E27FC236}">
                <a16:creationId xmlns:a16="http://schemas.microsoft.com/office/drawing/2014/main" id="{9BC4B46F-EF01-419A-86AD-94CE1350AAB4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9">
            <a:extLst>
              <a:ext uri="{FF2B5EF4-FFF2-40B4-BE49-F238E27FC236}">
                <a16:creationId xmlns:a16="http://schemas.microsoft.com/office/drawing/2014/main" id="{2CD57E1A-3F77-4F14-AF79-54A581B76F0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手法と手順" preserve="1">
  <p:cSld name="10 手法と手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TATIC_rule_101">
            <a:extLst>
              <a:ext uri="{FF2B5EF4-FFF2-40B4-BE49-F238E27FC236}">
                <a16:creationId xmlns:a16="http://schemas.microsoft.com/office/drawing/2014/main" id="{27E43745-3BB1-4022-B5B1-CAE9CA8FF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03">
            <a:extLst>
              <a:ext uri="{FF2B5EF4-FFF2-40B4-BE49-F238E27FC236}">
                <a16:creationId xmlns:a16="http://schemas.microsoft.com/office/drawing/2014/main" id="{C11CCF57-358B-4091-868D-FCD5FD15404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04">
            <a:extLst>
              <a:ext uri="{FF2B5EF4-FFF2-40B4-BE49-F238E27FC236}">
                <a16:creationId xmlns:a16="http://schemas.microsoft.com/office/drawing/2014/main" id="{16DB3B68-D605-4081-8EF9-31515436424B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2" name="STATIC_rule_122">
            <a:extLst>
              <a:ext uri="{FF2B5EF4-FFF2-40B4-BE49-F238E27FC236}">
                <a16:creationId xmlns:a16="http://schemas.microsoft.com/office/drawing/2014/main" id="{50640B4D-30D0-400E-9C97-53644867B2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数式と記号" preserve="1">
  <p:cSld name="11 数式と記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24">
            <a:extLst>
              <a:ext uri="{FF2B5EF4-FFF2-40B4-BE49-F238E27FC236}">
                <a16:creationId xmlns:a16="http://schemas.microsoft.com/office/drawing/2014/main" id="{1009A224-6E90-465F-A3E0-8700AF5A8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26">
            <a:extLst>
              <a:ext uri="{FF2B5EF4-FFF2-40B4-BE49-F238E27FC236}">
                <a16:creationId xmlns:a16="http://schemas.microsoft.com/office/drawing/2014/main" id="{4E840209-C2A6-49EF-84DB-D3659839566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27">
            <a:extLst>
              <a:ext uri="{FF2B5EF4-FFF2-40B4-BE49-F238E27FC236}">
                <a16:creationId xmlns:a16="http://schemas.microsoft.com/office/drawing/2014/main" id="{2839E345-4B26-4A33-9339-37F2029CE4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6" name="PH_tbl_86"/>
          <p:cNvSpPr>
            <a:spLocks noGrp="1"/>
          </p:cNvSpPr>
          <p:nvPr>
            <p:ph type="tbl" idx="86" hasCustomPrompt="1"/>
          </p:nvPr>
        </p:nvSpPr>
        <p:spPr>
          <a:xfrm>
            <a:off x="7143750" y="1962150"/>
            <a:ext cx="447675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実験条件" preserve="1">
  <p:cSld name="12 実験条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33">
            <a:extLst>
              <a:ext uri="{FF2B5EF4-FFF2-40B4-BE49-F238E27FC236}">
                <a16:creationId xmlns:a16="http://schemas.microsoft.com/office/drawing/2014/main" id="{B43A585D-6F5A-4B03-83F9-0D540838BA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35">
            <a:extLst>
              <a:ext uri="{FF2B5EF4-FFF2-40B4-BE49-F238E27FC236}">
                <a16:creationId xmlns:a16="http://schemas.microsoft.com/office/drawing/2014/main" id="{11F680F3-F5C0-48C4-9A86-BA4723B34AB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37">
            <a:extLst>
              <a:ext uri="{FF2B5EF4-FFF2-40B4-BE49-F238E27FC236}">
                <a16:creationId xmlns:a16="http://schemas.microsoft.com/office/drawing/2014/main" id="{2D2D8254-1070-4188-BB04-7EC6D19D1CE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43100"/>
            <a:ext cx="11049000" cy="33337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40">
            <a:extLst>
              <a:ext uri="{FF2B5EF4-FFF2-40B4-BE49-F238E27FC236}">
                <a16:creationId xmlns:a16="http://schemas.microsoft.com/office/drawing/2014/main" id="{44077EEA-5FDE-47F7-A995-753BEA4B7F0A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評価指標" preserve="1">
  <p:cSld name="13 評価指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142">
            <a:extLst>
              <a:ext uri="{FF2B5EF4-FFF2-40B4-BE49-F238E27FC236}">
                <a16:creationId xmlns:a16="http://schemas.microsoft.com/office/drawing/2014/main" id="{A07E9790-35F8-4541-9245-16130E58D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44">
            <a:extLst>
              <a:ext uri="{FF2B5EF4-FFF2-40B4-BE49-F238E27FC236}">
                <a16:creationId xmlns:a16="http://schemas.microsoft.com/office/drawing/2014/main" id="{1388EDD3-9BDF-4B6F-9E1C-F1D7791D95E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45">
            <a:extLst>
              <a:ext uri="{FF2B5EF4-FFF2-40B4-BE49-F238E27FC236}">
                <a16:creationId xmlns:a16="http://schemas.microsoft.com/office/drawing/2014/main" id="{2B30D1A8-7244-4A92-8FBD-B6EFD2B6A5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95475"/>
            <a:ext cx="11049000" cy="34194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148">
            <a:extLst>
              <a:ext uri="{FF2B5EF4-FFF2-40B4-BE49-F238E27FC236}">
                <a16:creationId xmlns:a16="http://schemas.microsoft.com/office/drawing/2014/main" id="{FC80E642-22EC-4295-91E5-2545A82BBDE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図を大きく配置" preserve="1">
  <p:cSld name="14 図を大きく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50">
            <a:extLst>
              <a:ext uri="{FF2B5EF4-FFF2-40B4-BE49-F238E27FC236}">
                <a16:creationId xmlns:a16="http://schemas.microsoft.com/office/drawing/2014/main" id="{8E309090-A8D2-4917-9B75-8A5320AE5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2">
            <a:extLst>
              <a:ext uri="{FF2B5EF4-FFF2-40B4-BE49-F238E27FC236}">
                <a16:creationId xmlns:a16="http://schemas.microsoft.com/office/drawing/2014/main" id="{0F0F87C2-FF15-4DCD-B0DA-93239364D30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53">
            <a:extLst>
              <a:ext uri="{FF2B5EF4-FFF2-40B4-BE49-F238E27FC236}">
                <a16:creationId xmlns:a16="http://schemas.microsoft.com/office/drawing/2014/main" id="{7DB7AF97-946C-45DF-914B-AEB0AF7C4FB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58">
            <a:extLst>
              <a:ext uri="{FF2B5EF4-FFF2-40B4-BE49-F238E27FC236}">
                <a16:creationId xmlns:a16="http://schemas.microsoft.com/office/drawing/2014/main" id="{977C1908-E6B8-4B82-A108-FA97D3579DA5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2つの図を比較" preserve="1">
  <p:cSld name="15 2つの図を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160">
            <a:extLst>
              <a:ext uri="{FF2B5EF4-FFF2-40B4-BE49-F238E27FC236}">
                <a16:creationId xmlns:a16="http://schemas.microsoft.com/office/drawing/2014/main" id="{B996B042-6029-4FA6-887D-0AD704C4E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62">
            <a:extLst>
              <a:ext uri="{FF2B5EF4-FFF2-40B4-BE49-F238E27FC236}">
                <a16:creationId xmlns:a16="http://schemas.microsoft.com/office/drawing/2014/main" id="{74C915D0-A8FD-4E75-A2E2-31A8FCD44D2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3">
            <a:extLst>
              <a:ext uri="{FF2B5EF4-FFF2-40B4-BE49-F238E27FC236}">
                <a16:creationId xmlns:a16="http://schemas.microsoft.com/office/drawing/2014/main" id="{917103C4-2187-4DB2-A743-C7FF5076F50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171">
            <a:extLst>
              <a:ext uri="{FF2B5EF4-FFF2-40B4-BE49-F238E27FC236}">
                <a16:creationId xmlns:a16="http://schemas.microsoft.com/office/drawing/2014/main" id="{60C29C0F-5FD7-47E0-96B1-FB540B1D100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棒グラフ" preserve="1">
  <p:cSld name="16 棒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73">
            <a:extLst>
              <a:ext uri="{FF2B5EF4-FFF2-40B4-BE49-F238E27FC236}">
                <a16:creationId xmlns:a16="http://schemas.microsoft.com/office/drawing/2014/main" id="{3D7A9B91-F2F5-40AF-936F-AE94E4B27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75">
            <a:extLst>
              <a:ext uri="{FF2B5EF4-FFF2-40B4-BE49-F238E27FC236}">
                <a16:creationId xmlns:a16="http://schemas.microsoft.com/office/drawing/2014/main" id="{793E8FEB-360C-428F-87D1-B743F84D14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77">
            <a:extLst>
              <a:ext uri="{FF2B5EF4-FFF2-40B4-BE49-F238E27FC236}">
                <a16:creationId xmlns:a16="http://schemas.microsoft.com/office/drawing/2014/main" id="{1C9A81F3-B5C5-47CB-8C55-AFAB09693A6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82">
            <a:extLst>
              <a:ext uri="{FF2B5EF4-FFF2-40B4-BE49-F238E27FC236}">
                <a16:creationId xmlns:a16="http://schemas.microsoft.com/office/drawing/2014/main" id="{09066068-DE17-44A4-A632-4FFF78AA0F9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時系列グラフ" preserve="1">
  <p:cSld name="17 時系列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84">
            <a:extLst>
              <a:ext uri="{FF2B5EF4-FFF2-40B4-BE49-F238E27FC236}">
                <a16:creationId xmlns:a16="http://schemas.microsoft.com/office/drawing/2014/main" id="{830942BE-19A1-414C-B8F0-F619DEA2B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6">
            <a:extLst>
              <a:ext uri="{FF2B5EF4-FFF2-40B4-BE49-F238E27FC236}">
                <a16:creationId xmlns:a16="http://schemas.microsoft.com/office/drawing/2014/main" id="{D2EC1593-4D5C-4811-8083-2D432B37D29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88">
            <a:extLst>
              <a:ext uri="{FF2B5EF4-FFF2-40B4-BE49-F238E27FC236}">
                <a16:creationId xmlns:a16="http://schemas.microsoft.com/office/drawing/2014/main" id="{D277A187-8297-46CD-8046-8214A0C6531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93">
            <a:extLst>
              <a:ext uri="{FF2B5EF4-FFF2-40B4-BE49-F238E27FC236}">
                <a16:creationId xmlns:a16="http://schemas.microsoft.com/office/drawing/2014/main" id="{F153A4AE-C485-41B9-B94D-3DD47A54D30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数値結果の表" preserve="1">
  <p:cSld name="18 数値結果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95">
            <a:extLst>
              <a:ext uri="{FF2B5EF4-FFF2-40B4-BE49-F238E27FC236}">
                <a16:creationId xmlns:a16="http://schemas.microsoft.com/office/drawing/2014/main" id="{E0A49765-9B19-4A7E-86CF-93C7B212CB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7">
            <a:extLst>
              <a:ext uri="{FF2B5EF4-FFF2-40B4-BE49-F238E27FC236}">
                <a16:creationId xmlns:a16="http://schemas.microsoft.com/office/drawing/2014/main" id="{10F4B349-AB6A-45A0-8574-A626F59B13D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98">
            <a:extLst>
              <a:ext uri="{FF2B5EF4-FFF2-40B4-BE49-F238E27FC236}">
                <a16:creationId xmlns:a16="http://schemas.microsoft.com/office/drawing/2014/main" id="{4F0F98B4-1D3F-461E-A74E-44D6784CDB5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573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02">
            <a:extLst>
              <a:ext uri="{FF2B5EF4-FFF2-40B4-BE49-F238E27FC236}">
                <a16:creationId xmlns:a16="http://schemas.microsoft.com/office/drawing/2014/main" id="{1987A278-C4DC-4DCC-801B-4C56D29980B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結果と考察" preserve="1">
  <p:cSld name="19 結果と考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04">
            <a:extLst>
              <a:ext uri="{FF2B5EF4-FFF2-40B4-BE49-F238E27FC236}">
                <a16:creationId xmlns:a16="http://schemas.microsoft.com/office/drawing/2014/main" id="{316FC284-630F-4B39-BE5E-594C5B931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06">
            <a:extLst>
              <a:ext uri="{FF2B5EF4-FFF2-40B4-BE49-F238E27FC236}">
                <a16:creationId xmlns:a16="http://schemas.microsoft.com/office/drawing/2014/main" id="{A992AEF6-79CB-40AA-B636-DE908029B58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07">
            <a:extLst>
              <a:ext uri="{FF2B5EF4-FFF2-40B4-BE49-F238E27FC236}">
                <a16:creationId xmlns:a16="http://schemas.microsoft.com/office/drawing/2014/main" id="{B597BF48-4C5C-414C-8825-C99FC8F7F8F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12">
            <a:extLst>
              <a:ext uri="{FF2B5EF4-FFF2-40B4-BE49-F238E27FC236}">
                <a16:creationId xmlns:a16="http://schemas.microsoft.com/office/drawing/2014/main" id="{4EABBFD5-7C5B-4E07-8DB5-4AFB4F78469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19050" cy="33718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215">
            <a:extLst>
              <a:ext uri="{FF2B5EF4-FFF2-40B4-BE49-F238E27FC236}">
                <a16:creationId xmlns:a16="http://schemas.microsoft.com/office/drawing/2014/main" id="{FBE912A9-AA79-4F79-8208-611E8567C4C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限界と適用範囲" preserve="1">
  <p:cSld name="20 限界と適用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17">
            <a:extLst>
              <a:ext uri="{FF2B5EF4-FFF2-40B4-BE49-F238E27FC236}">
                <a16:creationId xmlns:a16="http://schemas.microsoft.com/office/drawing/2014/main" id="{0E16B828-4C6A-412D-8F00-EBB03F95B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19">
            <a:extLst>
              <a:ext uri="{FF2B5EF4-FFF2-40B4-BE49-F238E27FC236}">
                <a16:creationId xmlns:a16="http://schemas.microsoft.com/office/drawing/2014/main" id="{9B4E1151-D1FB-47EF-819C-8CA2D583049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0">
            <a:extLst>
              <a:ext uri="{FF2B5EF4-FFF2-40B4-BE49-F238E27FC236}">
                <a16:creationId xmlns:a16="http://schemas.microsoft.com/office/drawing/2014/main" id="{E2634CD5-A67F-4B5A-A5CE-48F4A87D041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2194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23">
            <a:extLst>
              <a:ext uri="{FF2B5EF4-FFF2-40B4-BE49-F238E27FC236}">
                <a16:creationId xmlns:a16="http://schemas.microsoft.com/office/drawing/2014/main" id="{9EDBBFE8-F19E-4EFB-8CDB-2988C36D67F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まとめ" preserve="1">
  <p:cSld name="21 まと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25">
            <a:extLst>
              <a:ext uri="{FF2B5EF4-FFF2-40B4-BE49-F238E27FC236}">
                <a16:creationId xmlns:a16="http://schemas.microsoft.com/office/drawing/2014/main" id="{A4E25F37-3D33-4B1F-B6AA-BF698B61E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27">
            <a:extLst>
              <a:ext uri="{FF2B5EF4-FFF2-40B4-BE49-F238E27FC236}">
                <a16:creationId xmlns:a16="http://schemas.microsoft.com/office/drawing/2014/main" id="{3363C3EC-0182-40D8-98DF-2EC6ED6883A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8">
            <a:extLst>
              <a:ext uri="{FF2B5EF4-FFF2-40B4-BE49-F238E27FC236}">
                <a16:creationId xmlns:a16="http://schemas.microsoft.com/office/drawing/2014/main" id="{57F614FB-DF2A-4210-B97B-3F9DBD6124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33">
            <a:extLst>
              <a:ext uri="{FF2B5EF4-FFF2-40B4-BE49-F238E27FC236}">
                <a16:creationId xmlns:a16="http://schemas.microsoft.com/office/drawing/2014/main" id="{741EDFCB-E2DE-4ADD-A746-D2777254782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今回の進捗" preserve="1">
  <p:cSld name="22 今回の進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38">
            <a:extLst>
              <a:ext uri="{FF2B5EF4-FFF2-40B4-BE49-F238E27FC236}">
                <a16:creationId xmlns:a16="http://schemas.microsoft.com/office/drawing/2014/main" id="{DAEABD35-C60C-4FE4-B5C0-976C117E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0">
            <a:extLst>
              <a:ext uri="{FF2B5EF4-FFF2-40B4-BE49-F238E27FC236}">
                <a16:creationId xmlns:a16="http://schemas.microsoft.com/office/drawing/2014/main" id="{F860A1C0-B790-43E2-B6FA-1EC5102D77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1">
            <a:extLst>
              <a:ext uri="{FF2B5EF4-FFF2-40B4-BE49-F238E27FC236}">
                <a16:creationId xmlns:a16="http://schemas.microsoft.com/office/drawing/2014/main" id="{59FCA3AD-37A7-447A-AEE1-F617DBA06A2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62150"/>
            <a:ext cx="11049000" cy="31527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44">
            <a:extLst>
              <a:ext uri="{FF2B5EF4-FFF2-40B4-BE49-F238E27FC236}">
                <a16:creationId xmlns:a16="http://schemas.microsoft.com/office/drawing/2014/main" id="{561D9C14-37E8-4300-B4E1-AD6F3D78F68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前回の指摘への対応" preserve="1">
  <p:cSld name="23 前回の指摘への対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rule_246">
            <a:extLst>
              <a:ext uri="{FF2B5EF4-FFF2-40B4-BE49-F238E27FC236}">
                <a16:creationId xmlns:a16="http://schemas.microsoft.com/office/drawing/2014/main" id="{36B31E5B-4B61-4D45-A465-CBB5E78A6A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8">
            <a:extLst>
              <a:ext uri="{FF2B5EF4-FFF2-40B4-BE49-F238E27FC236}">
                <a16:creationId xmlns:a16="http://schemas.microsoft.com/office/drawing/2014/main" id="{6A951676-EFB0-43CD-845F-FB91692530E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9">
            <a:extLst>
              <a:ext uri="{FF2B5EF4-FFF2-40B4-BE49-F238E27FC236}">
                <a16:creationId xmlns:a16="http://schemas.microsoft.com/office/drawing/2014/main" id="{04B62AAC-4212-4486-BFBD-844B9BF2A5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問題と対応方針" preserve="1">
  <p:cSld name="24 問題と対応方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252">
            <a:extLst>
              <a:ext uri="{FF2B5EF4-FFF2-40B4-BE49-F238E27FC236}">
                <a16:creationId xmlns:a16="http://schemas.microsoft.com/office/drawing/2014/main" id="{30FEA784-0A68-41B7-AA52-D2EBAB9C7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54">
            <a:extLst>
              <a:ext uri="{FF2B5EF4-FFF2-40B4-BE49-F238E27FC236}">
                <a16:creationId xmlns:a16="http://schemas.microsoft.com/office/drawing/2014/main" id="{86B77118-9ED1-4F1C-AC94-65285518694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55">
            <a:extLst>
              <a:ext uri="{FF2B5EF4-FFF2-40B4-BE49-F238E27FC236}">
                <a16:creationId xmlns:a16="http://schemas.microsoft.com/office/drawing/2014/main" id="{A32FF333-1ECF-4ED3-8CFF-A9A7A815C1A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62">
            <a:extLst>
              <a:ext uri="{FF2B5EF4-FFF2-40B4-BE49-F238E27FC236}">
                <a16:creationId xmlns:a16="http://schemas.microsoft.com/office/drawing/2014/main" id="{9B2AB5F7-43E0-4D69-9AB9-CF6C8D7DF5A2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次回までの計画" preserve="1">
  <p:cSld name="25 次回までの計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67">
            <a:extLst>
              <a:ext uri="{FF2B5EF4-FFF2-40B4-BE49-F238E27FC236}">
                <a16:creationId xmlns:a16="http://schemas.microsoft.com/office/drawing/2014/main" id="{C43FEDD6-3A29-4D24-BE86-2E3A7226C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69">
            <a:extLst>
              <a:ext uri="{FF2B5EF4-FFF2-40B4-BE49-F238E27FC236}">
                <a16:creationId xmlns:a16="http://schemas.microsoft.com/office/drawing/2014/main" id="{6CCC0D37-5E40-4E05-900E-1119D627890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0">
            <a:extLst>
              <a:ext uri="{FF2B5EF4-FFF2-40B4-BE49-F238E27FC236}">
                <a16:creationId xmlns:a16="http://schemas.microsoft.com/office/drawing/2014/main" id="{695716BF-7794-4986-B19C-6B77E486229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24050"/>
            <a:ext cx="1104900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73">
            <a:extLst>
              <a:ext uri="{FF2B5EF4-FFF2-40B4-BE49-F238E27FC236}">
                <a16:creationId xmlns:a16="http://schemas.microsoft.com/office/drawing/2014/main" id="{AA4F733F-5CAB-4753-8C2E-9A8C25A24F3D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 相談事項" preserve="1">
  <p:cSld name="26 相談事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rule_275">
            <a:extLst>
              <a:ext uri="{FF2B5EF4-FFF2-40B4-BE49-F238E27FC236}">
                <a16:creationId xmlns:a16="http://schemas.microsoft.com/office/drawing/2014/main" id="{C95FCD9A-D840-461C-82AE-AA9692AC2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77">
            <a:extLst>
              <a:ext uri="{FF2B5EF4-FFF2-40B4-BE49-F238E27FC236}">
                <a16:creationId xmlns:a16="http://schemas.microsoft.com/office/drawing/2014/main" id="{0178BE3B-7A1B-4E16-B264-DFBA42E2A6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8">
            <a:extLst>
              <a:ext uri="{FF2B5EF4-FFF2-40B4-BE49-F238E27FC236}">
                <a16:creationId xmlns:a16="http://schemas.microsoft.com/office/drawing/2014/main" id="{CDD283BD-71CA-4CDE-92D5-6E75E9A2B3A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5" name="PH_tbl_85"/>
          <p:cNvSpPr>
            <a:spLocks noGrp="1"/>
          </p:cNvSpPr>
          <p:nvPr>
            <p:ph type="tbl" idx="85" hasCustomPrompt="1"/>
          </p:nvPr>
        </p:nvSpPr>
        <p:spPr>
          <a:xfrm>
            <a:off x="571500" y="3248025"/>
            <a:ext cx="11049000" cy="19716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83">
            <a:extLst>
              <a:ext uri="{FF2B5EF4-FFF2-40B4-BE49-F238E27FC236}">
                <a16:creationId xmlns:a16="http://schemas.microsoft.com/office/drawing/2014/main" id="{073458F3-AE62-4102-B098-CE6CEFDCED22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 参考文献" preserve="1">
  <p:cSld name="27 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TIC_rule_285">
            <a:extLst>
              <a:ext uri="{FF2B5EF4-FFF2-40B4-BE49-F238E27FC236}">
                <a16:creationId xmlns:a16="http://schemas.microsoft.com/office/drawing/2014/main" id="{AF636F89-5F2C-400A-88F5-DCACD5533C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87">
            <a:extLst>
              <a:ext uri="{FF2B5EF4-FFF2-40B4-BE49-F238E27FC236}">
                <a16:creationId xmlns:a16="http://schemas.microsoft.com/office/drawing/2014/main" id="{CAD5CE1A-8160-446F-B957-D3DF4402F1E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88">
            <a:extLst>
              <a:ext uri="{FF2B5EF4-FFF2-40B4-BE49-F238E27FC236}">
                <a16:creationId xmlns:a16="http://schemas.microsoft.com/office/drawing/2014/main" id="{02C0E659-6958-492D-B7F6-1170BE27D0FC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 補足・自由配置" preserve="1">
  <p:cSld name="28 補足・自由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rule_299">
            <a:extLst>
              <a:ext uri="{FF2B5EF4-FFF2-40B4-BE49-F238E27FC236}">
                <a16:creationId xmlns:a16="http://schemas.microsoft.com/office/drawing/2014/main" id="{5B0CB8B4-F433-4430-992F-6DB6ABE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01">
            <a:extLst>
              <a:ext uri="{FF2B5EF4-FFF2-40B4-BE49-F238E27FC236}">
                <a16:creationId xmlns:a16="http://schemas.microsoft.com/office/drawing/2014/main" id="{74F4E1BD-EBA7-4334-AAA7-AA4C157563B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302">
            <a:extLst>
              <a:ext uri="{FF2B5EF4-FFF2-40B4-BE49-F238E27FC236}">
                <a16:creationId xmlns:a16="http://schemas.microsoft.com/office/drawing/2014/main" id="{5D97772C-BE02-4002-9F5D-48304CCDB8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 導入A 政策・社会的背景" preserve="1">
  <p:cSld name="29 導入A 政策・社会的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1">
            <a:extLst>
              <a:ext uri="{FF2B5EF4-FFF2-40B4-BE49-F238E27FC236}">
                <a16:creationId xmlns:a16="http://schemas.microsoft.com/office/drawing/2014/main" id="{492B8EA8-0B8A-48F9-8905-FD3D59F075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">
            <a:extLst>
              <a:ext uri="{FF2B5EF4-FFF2-40B4-BE49-F238E27FC236}">
                <a16:creationId xmlns:a16="http://schemas.microsoft.com/office/drawing/2014/main" id="{C00B92A1-1EE7-4A78-952D-0394FFFCDE1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［社会課題］に対応する研究の必要性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">
            <a:extLst>
              <a:ext uri="{FF2B5EF4-FFF2-40B4-BE49-F238E27FC236}">
                <a16:creationId xmlns:a16="http://schemas.microsoft.com/office/drawing/2014/main" id="{C1DC8C4A-F6A3-445D-B225-7F702342F7D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551C2658-E797-4F4D-886B-84684CCB9950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">
            <a:extLst>
              <a:ext uri="{FF2B5EF4-FFF2-40B4-BE49-F238E27FC236}">
                <a16:creationId xmlns:a16="http://schemas.microsoft.com/office/drawing/2014/main" id="{B9716926-5FD3-4765-AE77-BE963F76AC9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A26DBA13-4024-4B68-8957-E7CA45359AD8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2A0940F9-9982-44E6-9411-60AA301B6AB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A1EF8A9-EB10-4B9C-B3D1-1175EB987E6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0B0250D6-B347-4110-ACA7-741829509C2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66900"/>
            <a:ext cx="50101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社会として目指す姿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80590550-D4BC-4D16-A839-B47A9C1BB5FB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90775"/>
            <a:ext cx="5019675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［政策・計画が掲げる方向性］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［対象・達成時期・目標］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10">
            <a:extLst>
              <a:ext uri="{FF2B5EF4-FFF2-40B4-BE49-F238E27FC236}">
                <a16:creationId xmlns:a16="http://schemas.microsoft.com/office/drawing/2014/main" id="{AC17D7EE-A1D3-45C8-890A-AEB0570926A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29050"/>
            <a:ext cx="501967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実現に向けて残る課題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">
            <a:extLst>
              <a:ext uri="{FF2B5EF4-FFF2-40B4-BE49-F238E27FC236}">
                <a16:creationId xmlns:a16="http://schemas.microsoft.com/office/drawing/2014/main" id="{0E598F51-E1FE-428C-9892-0696DAF88B3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24350"/>
            <a:ext cx="5019675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［現場で解決が必要なこと］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［既存の取組で不足する点］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figure_12">
            <a:extLst>
              <a:ext uri="{FF2B5EF4-FFF2-40B4-BE49-F238E27FC236}">
                <a16:creationId xmlns:a16="http://schemas.microsoft.com/office/drawing/2014/main" id="{7F6AF59F-BDE5-4221-94D5-BF3B85A677D5}"/>
              </a:ext>
            </a:extLst>
          </p:cNvPr>
          <p:cNvSpPr>
            <a:spLocks noGrp="1"/>
          </p:cNvSpPr>
          <p:nvPr>
            <p:ph idx="8" hasCustomPrompt="1"/>
          </p:nvPr>
        </p:nvSpPr>
        <p:spPr>
          <a:xfrm>
            <a:off x="6219825" y="1933575"/>
            <a:ext cx="5400675" cy="28670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［現状と目標を示す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統計・図を1つ］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13">
            <a:extLst>
              <a:ext uri="{FF2B5EF4-FFF2-40B4-BE49-F238E27FC236}">
                <a16:creationId xmlns:a16="http://schemas.microsoft.com/office/drawing/2014/main" id="{E056B805-630F-4A5E-866D-20C52FC5855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219825" y="4943475"/>
            <a:ext cx="54006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出典：［発行主体・資料名・年・頁］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対象：［地域・期間・母数］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14">
            <a:extLst>
              <a:ext uri="{FF2B5EF4-FFF2-40B4-BE49-F238E27FC236}">
                <a16:creationId xmlns:a16="http://schemas.microsoft.com/office/drawing/2014/main" id="{16772EFA-1C32-4EA9-9DA7-AC25B22772C7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15">
            <a:extLst>
              <a:ext uri="{FF2B5EF4-FFF2-40B4-BE49-F238E27FC236}">
                <a16:creationId xmlns:a16="http://schemas.microsoft.com/office/drawing/2014/main" id="{13E7572B-9F9D-4300-BD76-511D520B35D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［社会の目標］の実現には、［課題］の検証が必要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 導入A 研究の役割" preserve="1">
  <p:cSld name="30 導入A 研究の役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ATIC_rule_16">
            <a:extLst>
              <a:ext uri="{FF2B5EF4-FFF2-40B4-BE49-F238E27FC236}">
                <a16:creationId xmlns:a16="http://schemas.microsoft.com/office/drawing/2014/main" id="{7BB686C7-8B5C-467D-80A7-0696AF93D5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">
            <a:extLst>
              <a:ext uri="{FF2B5EF4-FFF2-40B4-BE49-F238E27FC236}">
                <a16:creationId xmlns:a16="http://schemas.microsoft.com/office/drawing/2014/main" id="{AA4618FD-633A-4ED0-B2AF-E1D3B36C2E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社会的な課題に対する本研究の役割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">
            <a:extLst>
              <a:ext uri="{FF2B5EF4-FFF2-40B4-BE49-F238E27FC236}">
                <a16:creationId xmlns:a16="http://schemas.microsoft.com/office/drawing/2014/main" id="{77F98A79-25A7-40EA-8038-B025FB72449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9">
            <a:extLst>
              <a:ext uri="{FF2B5EF4-FFF2-40B4-BE49-F238E27FC236}">
                <a16:creationId xmlns:a16="http://schemas.microsoft.com/office/drawing/2014/main" id="{6BED887A-FECA-4617-AEB6-EED191F76460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20">
            <a:extLst>
              <a:ext uri="{FF2B5EF4-FFF2-40B4-BE49-F238E27FC236}">
                <a16:creationId xmlns:a16="http://schemas.microsoft.com/office/drawing/2014/main" id="{D1E09942-D625-477A-A5B0-EEFE1E924A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21">
            <a:extLst>
              <a:ext uri="{FF2B5EF4-FFF2-40B4-BE49-F238E27FC236}">
                <a16:creationId xmlns:a16="http://schemas.microsoft.com/office/drawing/2014/main" id="{F5FA59AD-A817-48CC-B80D-C825A9754E38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2">
            <a:extLst>
              <a:ext uri="{FF2B5EF4-FFF2-40B4-BE49-F238E27FC236}">
                <a16:creationId xmlns:a16="http://schemas.microsoft.com/office/drawing/2014/main" id="{95895BA3-8D1B-44BD-B7B7-234A75EFC0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47C98CE-5858-4069-987B-D4E0478C49C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3">
            <a:extLst>
              <a:ext uri="{FF2B5EF4-FFF2-40B4-BE49-F238E27FC236}">
                <a16:creationId xmlns:a16="http://schemas.microsoft.com/office/drawing/2014/main" id="{07D50587-0555-4BBD-80E9-0578D91978A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4">
            <a:extLst>
              <a:ext uri="{FF2B5EF4-FFF2-40B4-BE49-F238E27FC236}">
                <a16:creationId xmlns:a16="http://schemas.microsoft.com/office/drawing/2014/main" id="{93AF88B1-71F8-480F-BC5D-B6047E8D364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［どの場面で］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［何が難しいか］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25">
            <a:extLst>
              <a:ext uri="{FF2B5EF4-FFF2-40B4-BE49-F238E27FC236}">
                <a16:creationId xmlns:a16="http://schemas.microsoft.com/office/drawing/2014/main" id="{C30EED4B-146E-41D8-B73D-575F19B97F7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914775" y="2771775"/>
            <a:ext cx="4095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26">
            <a:extLst>
              <a:ext uri="{FF2B5EF4-FFF2-40B4-BE49-F238E27FC236}">
                <a16:creationId xmlns:a16="http://schemas.microsoft.com/office/drawing/2014/main" id="{E2C14F6B-BA8C-4DAB-898B-57637475994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4467225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本研究で行うこと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7">
            <a:extLst>
              <a:ext uri="{FF2B5EF4-FFF2-40B4-BE49-F238E27FC236}">
                <a16:creationId xmlns:a16="http://schemas.microsoft.com/office/drawing/2014/main" id="{C5E866D7-5DB1-49C3-81E0-37DADB533A7D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4467225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［調べる方法］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STATIC_arrow_28">
            <a:extLst>
              <a:ext uri="{FF2B5EF4-FFF2-40B4-BE49-F238E27FC236}">
                <a16:creationId xmlns:a16="http://schemas.microsoft.com/office/drawing/2014/main" id="{9CF28CD2-584A-47B7-B81D-9824E714D2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810500" y="2771775"/>
            <a:ext cx="4095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9">
            <a:extLst>
              <a:ext uri="{FF2B5EF4-FFF2-40B4-BE49-F238E27FC236}">
                <a16:creationId xmlns:a16="http://schemas.microsoft.com/office/drawing/2014/main" id="{E8B7ED04-7679-4FD0-9BC6-F7E0DEBC0DA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362950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得られる判断材料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30">
            <a:extLst>
              <a:ext uri="{FF2B5EF4-FFF2-40B4-BE49-F238E27FC236}">
                <a16:creationId xmlns:a16="http://schemas.microsoft.com/office/drawing/2014/main" id="{5BCD2B9D-2883-47B0-A1A8-3C0CCBB6E92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362950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［得られる指標］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［役立つ判断］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STATIC_rule_31">
            <a:extLst>
              <a:ext uri="{FF2B5EF4-FFF2-40B4-BE49-F238E27FC236}">
                <a16:creationId xmlns:a16="http://schemas.microsoft.com/office/drawing/2014/main" id="{4582210B-6C95-4613-8633-C4756880D5A9}"/>
              </a:ext>
            </a:extLst>
          </p:cNvPr>
          <p:cNvSpPr>
            <a:spLocks noGrp="1"/>
          </p:cNvSpPr>
          <p:nvPr/>
        </p:nvSpPr>
        <p:spPr>
          <a:xfrm>
            <a:off x="571500" y="42957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7" name="LABEL_32">
            <a:extLst>
              <a:ext uri="{FF2B5EF4-FFF2-40B4-BE49-F238E27FC236}">
                <a16:creationId xmlns:a16="http://schemas.microsoft.com/office/drawing/2014/main" id="{6C527BA5-5135-4329-8A3D-3E8273210B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71500" y="4581525"/>
            <a:ext cx="2476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今回の検証範囲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PH_body_33">
            <a:extLst>
              <a:ext uri="{FF2B5EF4-FFF2-40B4-BE49-F238E27FC236}">
                <a16:creationId xmlns:a16="http://schemas.microsoft.com/office/drawing/2014/main" id="{11E7CA94-3948-436C-A737-CAF51C1F37C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371850" y="4591050"/>
            <a:ext cx="824865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［対象とする条件］　／　［今回扱わない条件］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STATIC_rule_34">
            <a:extLst>
              <a:ext uri="{FF2B5EF4-FFF2-40B4-BE49-F238E27FC236}">
                <a16:creationId xmlns:a16="http://schemas.microsoft.com/office/drawing/2014/main" id="{796C918A-1DE6-4B51-BDD8-324E4F3121A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0" name="PH_takeaway_35">
            <a:extLst>
              <a:ext uri="{FF2B5EF4-FFF2-40B4-BE49-F238E27FC236}">
                <a16:creationId xmlns:a16="http://schemas.microsoft.com/office/drawing/2014/main" id="{921B057B-D573-4F48-BACC-E636B7C6943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本研究は［指標］を検証し、［判断］の根拠を示す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 導入B 現場の課題" preserve="1">
  <p:cSld name="31 導入B 現場の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36">
            <a:extLst>
              <a:ext uri="{FF2B5EF4-FFF2-40B4-BE49-F238E27FC236}">
                <a16:creationId xmlns:a16="http://schemas.microsoft.com/office/drawing/2014/main" id="{AA22749E-7064-4F51-A892-5A48990267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7">
            <a:extLst>
              <a:ext uri="{FF2B5EF4-FFF2-40B4-BE49-F238E27FC236}">
                <a16:creationId xmlns:a16="http://schemas.microsoft.com/office/drawing/2014/main" id="{0540F659-1ACF-4DA7-8F94-FB3B4A59AFA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［現場・利用者］が直面する課題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8">
            <a:extLst>
              <a:ext uri="{FF2B5EF4-FFF2-40B4-BE49-F238E27FC236}">
                <a16:creationId xmlns:a16="http://schemas.microsoft.com/office/drawing/2014/main" id="{60353EA9-6D72-41BB-9E30-65C03F234E81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39">
            <a:extLst>
              <a:ext uri="{FF2B5EF4-FFF2-40B4-BE49-F238E27FC236}">
                <a16:creationId xmlns:a16="http://schemas.microsoft.com/office/drawing/2014/main" id="{5845D322-E532-40EA-92F7-65CEF9CD7116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40">
            <a:extLst>
              <a:ext uri="{FF2B5EF4-FFF2-40B4-BE49-F238E27FC236}">
                <a16:creationId xmlns:a16="http://schemas.microsoft.com/office/drawing/2014/main" id="{A55C3822-C59C-420C-ADDB-5595D934CC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41">
            <a:extLst>
              <a:ext uri="{FF2B5EF4-FFF2-40B4-BE49-F238E27FC236}">
                <a16:creationId xmlns:a16="http://schemas.microsoft.com/office/drawing/2014/main" id="{F6C45005-4A79-460D-AF1F-0C961CAC89C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42">
            <a:extLst>
              <a:ext uri="{FF2B5EF4-FFF2-40B4-BE49-F238E27FC236}">
                <a16:creationId xmlns:a16="http://schemas.microsoft.com/office/drawing/2014/main" id="{693AB983-7AB4-4DB5-AF1F-9CF7116C30D0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638755-F059-4D21-B2A4-735F3615F1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3">
            <a:extLst>
              <a:ext uri="{FF2B5EF4-FFF2-40B4-BE49-F238E27FC236}">
                <a16:creationId xmlns:a16="http://schemas.microsoft.com/office/drawing/2014/main" id="{2ADD4173-A780-4E86-B24E-2AF01F151E11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4">
            <a:extLst>
              <a:ext uri="{FF2B5EF4-FFF2-40B4-BE49-F238E27FC236}">
                <a16:creationId xmlns:a16="http://schemas.microsoft.com/office/drawing/2014/main" id="{5F3C1A9A-A445-4DA1-8D61-E612E02B0B4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5">
            <a:extLst>
              <a:ext uri="{FF2B5EF4-FFF2-40B4-BE49-F238E27FC236}">
                <a16:creationId xmlns:a16="http://schemas.microsoft.com/office/drawing/2014/main" id="{3AE1F213-92B0-4E08-BAFB-2122ECDF053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76425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現場で起きていること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6">
            <a:extLst>
              <a:ext uri="{FF2B5EF4-FFF2-40B4-BE49-F238E27FC236}">
                <a16:creationId xmlns:a16="http://schemas.microsoft.com/office/drawing/2014/main" id="{212FF293-E823-487A-8C77-07CA6ABAE9D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81250"/>
            <a:ext cx="50863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［具体的な場面・困りごと］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［影響を受ける対象］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7">
            <a:extLst>
              <a:ext uri="{FF2B5EF4-FFF2-40B4-BE49-F238E27FC236}">
                <a16:creationId xmlns:a16="http://schemas.microsoft.com/office/drawing/2014/main" id="{F98AE0A2-9D57-433F-8B90-7901D0786F7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838575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現状を示す根拠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8">
            <a:extLst>
              <a:ext uri="{FF2B5EF4-FFF2-40B4-BE49-F238E27FC236}">
                <a16:creationId xmlns:a16="http://schemas.microsoft.com/office/drawing/2014/main" id="{4DF3EA3F-29DB-4D1C-A24F-6EB8EF6FE28A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352925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［確認した数値・観察事実］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［現状の対応と残る課題］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49">
            <a:extLst>
              <a:ext uri="{FF2B5EF4-FFF2-40B4-BE49-F238E27FC236}">
                <a16:creationId xmlns:a16="http://schemas.microsoft.com/office/drawing/2014/main" id="{A7970231-577E-43F5-91B3-AF02EFF26D5F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50">
            <a:extLst>
              <a:ext uri="{FF2B5EF4-FFF2-40B4-BE49-F238E27FC236}">
                <a16:creationId xmlns:a16="http://schemas.microsoft.com/office/drawing/2014/main" id="{6DD5D2C7-176F-41D1-9105-2B6F34B11B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［対象］が［望ましい状態］になるための条件を調べる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 導入B 評価の視点" preserve="1">
  <p:cSld name="32 導入B 評価の視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51">
            <a:extLst>
              <a:ext uri="{FF2B5EF4-FFF2-40B4-BE49-F238E27FC236}">
                <a16:creationId xmlns:a16="http://schemas.microsoft.com/office/drawing/2014/main" id="{9DEE15EA-4519-4AD3-841B-3142F1B23B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2">
            <a:extLst>
              <a:ext uri="{FF2B5EF4-FFF2-40B4-BE49-F238E27FC236}">
                <a16:creationId xmlns:a16="http://schemas.microsoft.com/office/drawing/2014/main" id="{6A528DB6-A56E-4131-A51D-7CC9440A844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課題の解決に向けて、何を比較するか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3">
            <a:extLst>
              <a:ext uri="{FF2B5EF4-FFF2-40B4-BE49-F238E27FC236}">
                <a16:creationId xmlns:a16="http://schemas.microsoft.com/office/drawing/2014/main" id="{6548C628-C25E-4F4F-BB03-B6B29877BC6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54">
            <a:extLst>
              <a:ext uri="{FF2B5EF4-FFF2-40B4-BE49-F238E27FC236}">
                <a16:creationId xmlns:a16="http://schemas.microsoft.com/office/drawing/2014/main" id="{05B71ABB-3C3C-4248-A0EB-2B2CDF18D8E7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5">
            <a:extLst>
              <a:ext uri="{FF2B5EF4-FFF2-40B4-BE49-F238E27FC236}">
                <a16:creationId xmlns:a16="http://schemas.microsoft.com/office/drawing/2014/main" id="{44529101-E4E0-4D4F-A90B-B2B891DD927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56">
            <a:extLst>
              <a:ext uri="{FF2B5EF4-FFF2-40B4-BE49-F238E27FC236}">
                <a16:creationId xmlns:a16="http://schemas.microsoft.com/office/drawing/2014/main" id="{AA2CFB82-8A62-44FC-AC13-EE509D364AE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7">
            <a:extLst>
              <a:ext uri="{FF2B5EF4-FFF2-40B4-BE49-F238E27FC236}">
                <a16:creationId xmlns:a16="http://schemas.microsoft.com/office/drawing/2014/main" id="{A2DAB1D8-882E-4B7A-A37C-3A1A6DBE0B8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3BC9D05-B36E-45FC-91A0-C992824E3CA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8">
            <a:extLst>
              <a:ext uri="{FF2B5EF4-FFF2-40B4-BE49-F238E27FC236}">
                <a16:creationId xmlns:a16="http://schemas.microsoft.com/office/drawing/2014/main" id="{F470C2E4-A6F4-4C82-B155-50B799F71118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240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現在の対応・制約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9">
            <a:extLst>
              <a:ext uri="{FF2B5EF4-FFF2-40B4-BE49-F238E27FC236}">
                <a16:creationId xmlns:a16="http://schemas.microsoft.com/office/drawing/2014/main" id="{9000904A-29CE-40E5-AF1C-37402A1B5F7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9240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60">
            <a:extLst>
              <a:ext uri="{FF2B5EF4-FFF2-40B4-BE49-F238E27FC236}">
                <a16:creationId xmlns:a16="http://schemas.microsoft.com/office/drawing/2014/main" id="{F24DC976-5E8A-40A1-8583-3C5CEFD76945}"/>
              </a:ext>
            </a:extLst>
          </p:cNvPr>
          <p:cNvSpPr>
            <a:spLocks noGrp="1"/>
          </p:cNvSpPr>
          <p:nvPr/>
        </p:nvSpPr>
        <p:spPr>
          <a:xfrm>
            <a:off x="6057900" y="1952625"/>
            <a:ext cx="19050" cy="2790825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61">
            <a:extLst>
              <a:ext uri="{FF2B5EF4-FFF2-40B4-BE49-F238E27FC236}">
                <a16:creationId xmlns:a16="http://schemas.microsoft.com/office/drawing/2014/main" id="{4A89D637-3480-4EC6-8E24-B610389E903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505075"/>
            <a:ext cx="5124450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［現在はどのように対応するか］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［残る負担・制約］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62">
            <a:extLst>
              <a:ext uri="{FF2B5EF4-FFF2-40B4-BE49-F238E27FC236}">
                <a16:creationId xmlns:a16="http://schemas.microsoft.com/office/drawing/2014/main" id="{57369219-0699-452D-A683-1C6D12D9985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505075"/>
            <a:ext cx="5114925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［変える方法・条件］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［改善を確認する指標・単位］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3">
            <a:extLst>
              <a:ext uri="{FF2B5EF4-FFF2-40B4-BE49-F238E27FC236}">
                <a16:creationId xmlns:a16="http://schemas.microsoft.com/office/drawing/2014/main" id="{127A850B-34ED-4FBE-8993-119735E79D76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50101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比較でそろえる条件：［対象・期間・初期条件・設備］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64">
            <a:extLst>
              <a:ext uri="{FF2B5EF4-FFF2-40B4-BE49-F238E27FC236}">
                <a16:creationId xmlns:a16="http://schemas.microsoft.com/office/drawing/2014/main" id="{58F0DF7D-24F8-42F0-B4E0-EE3BF334F0BE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65">
            <a:extLst>
              <a:ext uri="{FF2B5EF4-FFF2-40B4-BE49-F238E27FC236}">
                <a16:creationId xmlns:a16="http://schemas.microsoft.com/office/drawing/2014/main" id="{55C559DE-D88E-4F65-82B1-A508919CDB9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［比較対象］に対し、［評価指標］がどう変わるか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 導入C 研究の要点" preserve="1">
  <p:cSld name="33 導入C 研究の要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66">
            <a:extLst>
              <a:ext uri="{FF2B5EF4-FFF2-40B4-BE49-F238E27FC236}">
                <a16:creationId xmlns:a16="http://schemas.microsoft.com/office/drawing/2014/main" id="{B90B4E22-0540-482F-B2F7-6B5DD989B0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7">
            <a:extLst>
              <a:ext uri="{FF2B5EF4-FFF2-40B4-BE49-F238E27FC236}">
                <a16:creationId xmlns:a16="http://schemas.microsoft.com/office/drawing/2014/main" id="{C7265CAC-BBF8-4FEE-A436-4F6B9659C53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本研究の要点と期待される意義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8">
            <a:extLst>
              <a:ext uri="{FF2B5EF4-FFF2-40B4-BE49-F238E27FC236}">
                <a16:creationId xmlns:a16="http://schemas.microsoft.com/office/drawing/2014/main" id="{7102AD2D-B162-4977-AE5D-49F9CCB428C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9">
            <a:extLst>
              <a:ext uri="{FF2B5EF4-FFF2-40B4-BE49-F238E27FC236}">
                <a16:creationId xmlns:a16="http://schemas.microsoft.com/office/drawing/2014/main" id="{B873B77E-A908-42A7-95EC-FAC11DF94BD7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70">
            <a:extLst>
              <a:ext uri="{FF2B5EF4-FFF2-40B4-BE49-F238E27FC236}">
                <a16:creationId xmlns:a16="http://schemas.microsoft.com/office/drawing/2014/main" id="{CF28B51B-9A45-46E2-8838-2882849AE8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71">
            <a:extLst>
              <a:ext uri="{FF2B5EF4-FFF2-40B4-BE49-F238E27FC236}">
                <a16:creationId xmlns:a16="http://schemas.microsoft.com/office/drawing/2014/main" id="{6627653B-DE23-408D-B28F-0128DE1D4BF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2">
            <a:extLst>
              <a:ext uri="{FF2B5EF4-FFF2-40B4-BE49-F238E27FC236}">
                <a16:creationId xmlns:a16="http://schemas.microsoft.com/office/drawing/2014/main" id="{E811A03B-0ACC-4747-A5FE-603B17EA91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2599311-6909-471D-9321-842C5DB1EBF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3">
            <a:extLst>
              <a:ext uri="{FF2B5EF4-FFF2-40B4-BE49-F238E27FC236}">
                <a16:creationId xmlns:a16="http://schemas.microsoft.com/office/drawing/2014/main" id="{787BBAE1-632C-4834-BC28-979EB1608C82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6690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取り組むこと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4">
            <a:extLst>
              <a:ext uri="{FF2B5EF4-FFF2-40B4-BE49-F238E27FC236}">
                <a16:creationId xmlns:a16="http://schemas.microsoft.com/office/drawing/2014/main" id="{26F72D65-A93F-415D-8343-EC3CDEADA6D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8125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［何を対象に、何を明らかにする研究か］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75">
            <a:extLst>
              <a:ext uri="{FF2B5EF4-FFF2-40B4-BE49-F238E27FC236}">
                <a16:creationId xmlns:a16="http://schemas.microsoft.com/office/drawing/2014/main" id="{8E560952-0DB2-4471-9114-C4F523D38047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LABEL_76">
            <a:extLst>
              <a:ext uri="{FF2B5EF4-FFF2-40B4-BE49-F238E27FC236}">
                <a16:creationId xmlns:a16="http://schemas.microsoft.com/office/drawing/2014/main" id="{34CBF58E-AC25-43D5-B9F1-904571A867E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48100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研究として確かめる点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7">
            <a:extLst>
              <a:ext uri="{FF2B5EF4-FFF2-40B4-BE49-F238E27FC236}">
                <a16:creationId xmlns:a16="http://schemas.microsoft.com/office/drawing/2014/main" id="{53890151-3776-4AEB-B968-B3DD451A95C7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71975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［既知の知見に対する問い］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［検証する手法・条件］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8">
            <a:extLst>
              <a:ext uri="{FF2B5EF4-FFF2-40B4-BE49-F238E27FC236}">
                <a16:creationId xmlns:a16="http://schemas.microsoft.com/office/drawing/2014/main" id="{5EA81695-53FB-4D9B-9332-8F58C0947C75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4810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結果が役立つ場面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9">
            <a:extLst>
              <a:ext uri="{FF2B5EF4-FFF2-40B4-BE49-F238E27FC236}">
                <a16:creationId xmlns:a16="http://schemas.microsoft.com/office/drawing/2014/main" id="{03DC8CBD-E92E-49B5-9501-AD15A4246E2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71975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［活用するために必要な条件］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80">
            <a:extLst>
              <a:ext uri="{FF2B5EF4-FFF2-40B4-BE49-F238E27FC236}">
                <a16:creationId xmlns:a16="http://schemas.microsoft.com/office/drawing/2014/main" id="{A69F9D5C-171F-46A2-8B39-46A055A602A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81">
            <a:extLst>
              <a:ext uri="{FF2B5EF4-FFF2-40B4-BE49-F238E27FC236}">
                <a16:creationId xmlns:a16="http://schemas.microsoft.com/office/drawing/2014/main" id="{17046163-FD94-493E-879B-5B8990096E2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 導入C 検証と活用" preserve="1">
  <p:cSld name="34 導入C 検証と活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2">
            <a:extLst>
              <a:ext uri="{FF2B5EF4-FFF2-40B4-BE49-F238E27FC236}">
                <a16:creationId xmlns:a16="http://schemas.microsoft.com/office/drawing/2014/main" id="{06A77808-0721-4FE3-ADDD-0130F7342A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3">
            <a:extLst>
              <a:ext uri="{FF2B5EF4-FFF2-40B4-BE49-F238E27FC236}">
                <a16:creationId xmlns:a16="http://schemas.microsoft.com/office/drawing/2014/main" id="{9EF485E3-0E0A-4CC8-AAF9-D970127B5C7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検証の到達点と、活用に向けた課題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4">
            <a:extLst>
              <a:ext uri="{FF2B5EF4-FFF2-40B4-BE49-F238E27FC236}">
                <a16:creationId xmlns:a16="http://schemas.microsoft.com/office/drawing/2014/main" id="{7CFCDA74-FDDE-4321-B4B2-AB3DE1F5E3A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85">
            <a:extLst>
              <a:ext uri="{FF2B5EF4-FFF2-40B4-BE49-F238E27FC236}">
                <a16:creationId xmlns:a16="http://schemas.microsoft.com/office/drawing/2014/main" id="{05404C19-9B00-461F-A226-074091651BA1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86">
            <a:extLst>
              <a:ext uri="{FF2B5EF4-FFF2-40B4-BE49-F238E27FC236}">
                <a16:creationId xmlns:a16="http://schemas.microsoft.com/office/drawing/2014/main" id="{B2F54A6A-98B9-4D01-ADE4-4B85615B03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87">
            <a:extLst>
              <a:ext uri="{FF2B5EF4-FFF2-40B4-BE49-F238E27FC236}">
                <a16:creationId xmlns:a16="http://schemas.microsoft.com/office/drawing/2014/main" id="{42E9B5C1-3DD9-454A-84C9-F10E3BF0EC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8">
            <a:extLst>
              <a:ext uri="{FF2B5EF4-FFF2-40B4-BE49-F238E27FC236}">
                <a16:creationId xmlns:a16="http://schemas.microsoft.com/office/drawing/2014/main" id="{9E73176B-50A3-4CED-BEBC-788DB86AD400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7B518F2-1EDE-44CC-991C-B652DCFD0F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9">
            <a:extLst>
              <a:ext uri="{FF2B5EF4-FFF2-40B4-BE49-F238E27FC236}">
                <a16:creationId xmlns:a16="http://schemas.microsoft.com/office/drawing/2014/main" id="{0186C6ED-C700-40D5-B7F1-65036E19748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43100"/>
            <a:ext cx="5105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今回の研究で示すこと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0">
            <a:extLst>
              <a:ext uri="{FF2B5EF4-FFF2-40B4-BE49-F238E27FC236}">
                <a16:creationId xmlns:a16="http://schemas.microsoft.com/office/drawing/2014/main" id="{2EB89204-3B91-4634-9562-34035E62ABD5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533650"/>
            <a:ext cx="5105400" cy="156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［検証する対象・条件］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［成果物・評価指標］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［結論の適用範囲］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91">
            <a:extLst>
              <a:ext uri="{FF2B5EF4-FFF2-40B4-BE49-F238E27FC236}">
                <a16:creationId xmlns:a16="http://schemas.microsoft.com/office/drawing/2014/main" id="{9001E62A-B365-4240-9A08-C3A2D727E90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05575" y="194310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活用までに必要なこと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92">
            <a:extLst>
              <a:ext uri="{FF2B5EF4-FFF2-40B4-BE49-F238E27FC236}">
                <a16:creationId xmlns:a16="http://schemas.microsoft.com/office/drawing/2014/main" id="{2F363572-0D3A-450D-BD6C-7D9E98C0D34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533650"/>
            <a:ext cx="5114925" cy="156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［追加検証が必要な条件］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［導入時の制約・留意点］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［今後の確認方法］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93">
            <a:extLst>
              <a:ext uri="{FF2B5EF4-FFF2-40B4-BE49-F238E27FC236}">
                <a16:creationId xmlns:a16="http://schemas.microsoft.com/office/drawing/2014/main" id="{081A55A5-6AA0-4037-B761-DB19C11A643A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3" name="LABEL_94">
            <a:extLst>
              <a:ext uri="{FF2B5EF4-FFF2-40B4-BE49-F238E27FC236}">
                <a16:creationId xmlns:a16="http://schemas.microsoft.com/office/drawing/2014/main" id="{6A4AECE9-5540-4C50-85AA-42E1E804DEA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772025"/>
            <a:ext cx="2286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本日の説明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5">
            <a:extLst>
              <a:ext uri="{FF2B5EF4-FFF2-40B4-BE49-F238E27FC236}">
                <a16:creationId xmlns:a16="http://schemas.microsoft.com/office/drawing/2014/main" id="{591D03AF-8276-4B06-AE9D-31A35952FE99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181350" y="4772025"/>
            <a:ext cx="84391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［研究目的］ → ［方法］ → ［結果／進捗］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6">
            <a:extLst>
              <a:ext uri="{FF2B5EF4-FFF2-40B4-BE49-F238E27FC236}">
                <a16:creationId xmlns:a16="http://schemas.microsoft.com/office/drawing/2014/main" id="{71D615CB-4AE8-4F75-84AF-A33F5B8B89D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97">
            <a:extLst>
              <a:ext uri="{FF2B5EF4-FFF2-40B4-BE49-F238E27FC236}">
                <a16:creationId xmlns:a16="http://schemas.microsoft.com/office/drawing/2014/main" id="{A55E9D13-1593-44AD-8E05-E6A37B5C965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［今回の到達点］を根拠として、［次の判断］につなげる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都市大ブルー研究テンプレー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marL="0" indent="0" algn="l">
        <a:lnSpc>
          <a:spcPct val="90000"/>
        </a:lnSpc>
        <a:spcBef>
          <a:spcPts val="0"/>
        </a:spcBef>
        <a:buNone/>
        <a:defRPr lang="ja-JP" altLang="en-US" sz="3300">
          <a:solidFill>
            <a:schemeClr val="tx1"/>
          </a:solidFill>
          <a:latin typeface="Times New Roman"/>
          <a:ea typeface="Meiryo"/>
          <a:cs typeface="Times New Roman"/>
        </a:defRPr>
      </a:lvl1pPr>
    </p:titleStyle>
    <p:bodyStyle>
      <a:lvl1pPr marL="0" indent="0" algn="l">
        <a:lnSpc>
          <a:spcPct val="90000"/>
        </a:lnSpc>
        <a:spcBef>
          <a:spcPts val="10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bodyStyle>
    <p:otherStyle>
      <a:lvl1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182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519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0161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064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5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8605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33575"/>
          <a:ext cx="11049000" cy="33147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扱うこと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残る課題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本研究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［検証する点］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［適用範囲］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405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5313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5224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7804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7143750" y="1962150"/>
          <a:ext cx="4476750" cy="3248025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記号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意味・単位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［x］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［y］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［α］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［係数・単位］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44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43100"/>
          <a:ext cx="11049000" cy="33337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共通条件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変更する条件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対象・期間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［データ・日付・範囲］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手法・パラメータ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［固定する設定］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［比較する設定］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初期条件・設備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［同じにする条件］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実行条件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［seed・時間制限等］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401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895475"/>
          <a:ext cx="11049000" cy="3419475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389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指標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定義・算出方法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対象・集計範囲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［指標4］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4709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4281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258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523875" y="1809750"/>
          <a:ext cx="783907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8567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523875" y="1809750"/>
          <a:ext cx="783907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2865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7" name="表 16"/>
          <p:cNvGraphicFramePr/>
          <p:nvPr/>
        </p:nvGraphicFramePr>
        <p:xfrm>
          <a:off x="571500" y="1857375"/>
          <a:ext cx="11049000" cy="3343275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8655"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指標［単位］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条件A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条件B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差・変化率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［主要指標］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［指標4］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69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9220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33575"/>
          <a:ext cx="11049000" cy="32194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863"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確認した範囲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まだ言えないこと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追加で必要な検証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［対象・条件］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［一般化の限界］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［追加条件・実験］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［評価した指標］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［未評価の性質］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［追加の指標・検算］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［成立した確認］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［残る仮説］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［反証できる検証］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9430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9767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62150"/>
          <a:ext cx="11049000" cy="315277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8194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前回の状態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今回の変更・成果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状況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798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4" name="表 13"/>
          <p:cNvGraphicFramePr/>
          <p:nvPr/>
        </p:nvGraphicFramePr>
        <p:xfrm>
          <a:off x="571500" y="1933575"/>
          <a:ext cx="11049000" cy="33432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819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前回の指摘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今回の対応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結果・根拠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残る確認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523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4333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24050"/>
          <a:ext cx="11049000" cy="324802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実施すること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期限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成果物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完了条件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［最優先の検証］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［図表・記録］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［判断できる状態］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［次の作業］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［資料・結果］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［確認する項目］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［報告準備］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［報告スライド］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［説明できる範囲］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6550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571500" y="3248025"/>
          <a:ext cx="11049000" cy="1971675"/>
        </p:xfrm>
        <a:graphic>
          <a:graphicData uri="http://schemas.openxmlformats.org/drawingml/2006/table">
            <a:tbl>
              <a:tblPr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選択肢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期待する効果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注意点・必要な作業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［案A］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［案B］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1873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2029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8051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">
            <a:extLst>
              <a:ext uri="{FF2B5EF4-FFF2-40B4-BE49-F238E27FC236}">
                <a16:creationId xmlns:a16="http://schemas.microsoft.com/office/drawing/2014/main" id="{C00B92A1-1EE7-4A78-952D-0394FFFCDE1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［社会課題］に対応する研究の必要性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551C2658-E797-4F4D-886B-84684CCB9950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A26DBA13-4024-4B68-8957-E7CA45359AD8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2A0940F9-9982-44E6-9411-60AA301B6AB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A1EF8A9-EB10-4B9C-B3D1-1175EB987E6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0B0250D6-B347-4110-ACA7-741829509C2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66900"/>
            <a:ext cx="50101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社会として目指す姿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80590550-D4BC-4D16-A839-B47A9C1BB5FB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90775"/>
            <a:ext cx="5019675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［政策・計画が掲げる方向性］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［対象・達成時期・目標］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10">
            <a:extLst>
              <a:ext uri="{FF2B5EF4-FFF2-40B4-BE49-F238E27FC236}">
                <a16:creationId xmlns:a16="http://schemas.microsoft.com/office/drawing/2014/main" id="{AC17D7EE-A1D3-45C8-890A-AEB0570926A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29050"/>
            <a:ext cx="501967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実現に向けて残る課題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">
            <a:extLst>
              <a:ext uri="{FF2B5EF4-FFF2-40B4-BE49-F238E27FC236}">
                <a16:creationId xmlns:a16="http://schemas.microsoft.com/office/drawing/2014/main" id="{0E598F51-E1FE-428C-9892-0696DAF88B3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24350"/>
            <a:ext cx="5019675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［現場で解決が必要なこと］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［既存の取組で不足する点］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figure_12">
            <a:extLst>
              <a:ext uri="{FF2B5EF4-FFF2-40B4-BE49-F238E27FC236}">
                <a16:creationId xmlns:a16="http://schemas.microsoft.com/office/drawing/2014/main" id="{7F6AF59F-BDE5-4221-94D5-BF3B85A677D5}"/>
              </a:ext>
            </a:extLst>
          </p:cNvPr>
          <p:cNvSpPr>
            <a:spLocks noGrp="1"/>
          </p:cNvSpPr>
          <p:nvPr>
            <p:ph idx="8" hasCustomPrompt="1"/>
          </p:nvPr>
        </p:nvSpPr>
        <p:spPr>
          <a:xfrm>
            <a:off x="6219825" y="1933575"/>
            <a:ext cx="5400675" cy="28670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［現状と目標を示す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統計・図を1つ］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13">
            <a:extLst>
              <a:ext uri="{FF2B5EF4-FFF2-40B4-BE49-F238E27FC236}">
                <a16:creationId xmlns:a16="http://schemas.microsoft.com/office/drawing/2014/main" id="{E056B805-630F-4A5E-866D-20C52FC5855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219825" y="4943475"/>
            <a:ext cx="54006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出典：［発行主体・資料名・年・頁］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対象：［地域・期間・母数］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takeaway_15">
            <a:extLst>
              <a:ext uri="{FF2B5EF4-FFF2-40B4-BE49-F238E27FC236}">
                <a16:creationId xmlns:a16="http://schemas.microsoft.com/office/drawing/2014/main" id="{13E7572B-9F9D-4300-BD76-511D520B35D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［社会の目標］の実現には、［課題］の検証が必要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52970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7">
            <a:extLst>
              <a:ext uri="{FF2B5EF4-FFF2-40B4-BE49-F238E27FC236}">
                <a16:creationId xmlns:a16="http://schemas.microsoft.com/office/drawing/2014/main" id="{AA4618FD-633A-4ED0-B2AF-E1D3B36C2E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社会的な課題に対する本研究の役割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9">
            <a:extLst>
              <a:ext uri="{FF2B5EF4-FFF2-40B4-BE49-F238E27FC236}">
                <a16:creationId xmlns:a16="http://schemas.microsoft.com/office/drawing/2014/main" id="{6BED887A-FECA-4617-AEB6-EED191F76460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21">
            <a:extLst>
              <a:ext uri="{FF2B5EF4-FFF2-40B4-BE49-F238E27FC236}">
                <a16:creationId xmlns:a16="http://schemas.microsoft.com/office/drawing/2014/main" id="{F5FA59AD-A817-48CC-B80D-C825A9754E38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2">
            <a:extLst>
              <a:ext uri="{FF2B5EF4-FFF2-40B4-BE49-F238E27FC236}">
                <a16:creationId xmlns:a16="http://schemas.microsoft.com/office/drawing/2014/main" id="{95895BA3-8D1B-44BD-B7B7-234A75EFC0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47C98CE-5858-4069-987B-D4E0478C49C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3">
            <a:extLst>
              <a:ext uri="{FF2B5EF4-FFF2-40B4-BE49-F238E27FC236}">
                <a16:creationId xmlns:a16="http://schemas.microsoft.com/office/drawing/2014/main" id="{07D50587-0555-4BBD-80E9-0578D91978A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4">
            <a:extLst>
              <a:ext uri="{FF2B5EF4-FFF2-40B4-BE49-F238E27FC236}">
                <a16:creationId xmlns:a16="http://schemas.microsoft.com/office/drawing/2014/main" id="{93AF88B1-71F8-480F-BC5D-B6047E8D364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［どの場面で］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［何が難しいか］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25">
            <a:extLst>
              <a:ext uri="{FF2B5EF4-FFF2-40B4-BE49-F238E27FC236}">
                <a16:creationId xmlns:a16="http://schemas.microsoft.com/office/drawing/2014/main" id="{C30EED4B-146E-41D8-B73D-575F19B97F7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914775" y="2771775"/>
            <a:ext cx="4095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26">
            <a:extLst>
              <a:ext uri="{FF2B5EF4-FFF2-40B4-BE49-F238E27FC236}">
                <a16:creationId xmlns:a16="http://schemas.microsoft.com/office/drawing/2014/main" id="{E2C14F6B-BA8C-4DAB-898B-57637475994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4467225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本研究で行うこと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7">
            <a:extLst>
              <a:ext uri="{FF2B5EF4-FFF2-40B4-BE49-F238E27FC236}">
                <a16:creationId xmlns:a16="http://schemas.microsoft.com/office/drawing/2014/main" id="{C5E866D7-5DB1-49C3-81E0-37DADB533A7D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4467225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［調べる方法］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STATIC_arrow_28">
            <a:extLst>
              <a:ext uri="{FF2B5EF4-FFF2-40B4-BE49-F238E27FC236}">
                <a16:creationId xmlns:a16="http://schemas.microsoft.com/office/drawing/2014/main" id="{9CF28CD2-584A-47B7-B81D-9824E714D2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810500" y="2771775"/>
            <a:ext cx="4095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9">
            <a:extLst>
              <a:ext uri="{FF2B5EF4-FFF2-40B4-BE49-F238E27FC236}">
                <a16:creationId xmlns:a16="http://schemas.microsoft.com/office/drawing/2014/main" id="{E8B7ED04-7679-4FD0-9BC6-F7E0DEBC0DA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362950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得られる判断材料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30">
            <a:extLst>
              <a:ext uri="{FF2B5EF4-FFF2-40B4-BE49-F238E27FC236}">
                <a16:creationId xmlns:a16="http://schemas.microsoft.com/office/drawing/2014/main" id="{5BCD2B9D-2883-47B0-A1A8-3C0CCBB6E92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362950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［得られる指標］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［役立つ判断］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LABEL_32">
            <a:extLst>
              <a:ext uri="{FF2B5EF4-FFF2-40B4-BE49-F238E27FC236}">
                <a16:creationId xmlns:a16="http://schemas.microsoft.com/office/drawing/2014/main" id="{6C527BA5-5135-4329-8A3D-3E8273210B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71500" y="4581525"/>
            <a:ext cx="2476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今回の検証範囲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PH_body_33">
            <a:extLst>
              <a:ext uri="{FF2B5EF4-FFF2-40B4-BE49-F238E27FC236}">
                <a16:creationId xmlns:a16="http://schemas.microsoft.com/office/drawing/2014/main" id="{11E7CA94-3948-436C-A737-CAF51C1F37C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371850" y="4591050"/>
            <a:ext cx="824865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［対象とする条件］　／　［今回扱わない条件］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PH_takeaway_35">
            <a:extLst>
              <a:ext uri="{FF2B5EF4-FFF2-40B4-BE49-F238E27FC236}">
                <a16:creationId xmlns:a16="http://schemas.microsoft.com/office/drawing/2014/main" id="{921B057B-D573-4F48-BACC-E636B7C6943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本研究は［指標］を検証し、［判断］の根拠を示す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14359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7">
            <a:extLst>
              <a:ext uri="{FF2B5EF4-FFF2-40B4-BE49-F238E27FC236}">
                <a16:creationId xmlns:a16="http://schemas.microsoft.com/office/drawing/2014/main" id="{0540F659-1ACF-4DA7-8F94-FB3B4A59AFA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［現場・利用者］が直面する課題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39">
            <a:extLst>
              <a:ext uri="{FF2B5EF4-FFF2-40B4-BE49-F238E27FC236}">
                <a16:creationId xmlns:a16="http://schemas.microsoft.com/office/drawing/2014/main" id="{5845D322-E532-40EA-92F7-65CEF9CD7116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41">
            <a:extLst>
              <a:ext uri="{FF2B5EF4-FFF2-40B4-BE49-F238E27FC236}">
                <a16:creationId xmlns:a16="http://schemas.microsoft.com/office/drawing/2014/main" id="{F6C45005-4A79-460D-AF1F-0C961CAC89C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42">
            <a:extLst>
              <a:ext uri="{FF2B5EF4-FFF2-40B4-BE49-F238E27FC236}">
                <a16:creationId xmlns:a16="http://schemas.microsoft.com/office/drawing/2014/main" id="{693AB983-7AB4-4DB5-AF1F-9CF7116C30D0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638755-F059-4D21-B2A4-735F3615F1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3">
            <a:extLst>
              <a:ext uri="{FF2B5EF4-FFF2-40B4-BE49-F238E27FC236}">
                <a16:creationId xmlns:a16="http://schemas.microsoft.com/office/drawing/2014/main" id="{2ADD4173-A780-4E86-B24E-2AF01F151E11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4">
            <a:extLst>
              <a:ext uri="{FF2B5EF4-FFF2-40B4-BE49-F238E27FC236}">
                <a16:creationId xmlns:a16="http://schemas.microsoft.com/office/drawing/2014/main" id="{5F3C1A9A-A445-4DA1-8D61-E612E02B0B4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5">
            <a:extLst>
              <a:ext uri="{FF2B5EF4-FFF2-40B4-BE49-F238E27FC236}">
                <a16:creationId xmlns:a16="http://schemas.microsoft.com/office/drawing/2014/main" id="{3AE1F213-92B0-4E08-BAFB-2122ECDF053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76425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現場で起きていること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6">
            <a:extLst>
              <a:ext uri="{FF2B5EF4-FFF2-40B4-BE49-F238E27FC236}">
                <a16:creationId xmlns:a16="http://schemas.microsoft.com/office/drawing/2014/main" id="{212FF293-E823-487A-8C77-07CA6ABAE9D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81250"/>
            <a:ext cx="50863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［具体的な場面・困りごと］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［影響を受ける対象］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7">
            <a:extLst>
              <a:ext uri="{FF2B5EF4-FFF2-40B4-BE49-F238E27FC236}">
                <a16:creationId xmlns:a16="http://schemas.microsoft.com/office/drawing/2014/main" id="{F98AE0A2-9D57-433F-8B90-7901D0786F7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838575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現状を示す根拠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8">
            <a:extLst>
              <a:ext uri="{FF2B5EF4-FFF2-40B4-BE49-F238E27FC236}">
                <a16:creationId xmlns:a16="http://schemas.microsoft.com/office/drawing/2014/main" id="{4DF3EA3F-29DB-4D1C-A24F-6EB8EF6FE28A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352925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［確認した数値・観察事実］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［現状の対応と残る課題］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takeaway_50">
            <a:extLst>
              <a:ext uri="{FF2B5EF4-FFF2-40B4-BE49-F238E27FC236}">
                <a16:creationId xmlns:a16="http://schemas.microsoft.com/office/drawing/2014/main" id="{6DD5D2C7-176F-41D1-9105-2B6F34B11B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［対象］が［望ましい状態］になるための条件を調べる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6002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52">
            <a:extLst>
              <a:ext uri="{FF2B5EF4-FFF2-40B4-BE49-F238E27FC236}">
                <a16:creationId xmlns:a16="http://schemas.microsoft.com/office/drawing/2014/main" id="{6A528DB6-A56E-4131-A51D-7CC9440A844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課題の解決に向けて、何を比較するか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54">
            <a:extLst>
              <a:ext uri="{FF2B5EF4-FFF2-40B4-BE49-F238E27FC236}">
                <a16:creationId xmlns:a16="http://schemas.microsoft.com/office/drawing/2014/main" id="{05B71ABB-3C3C-4248-A0EB-2B2CDF18D8E7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56">
            <a:extLst>
              <a:ext uri="{FF2B5EF4-FFF2-40B4-BE49-F238E27FC236}">
                <a16:creationId xmlns:a16="http://schemas.microsoft.com/office/drawing/2014/main" id="{AA2CFB82-8A62-44FC-AC13-EE509D364AE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7">
            <a:extLst>
              <a:ext uri="{FF2B5EF4-FFF2-40B4-BE49-F238E27FC236}">
                <a16:creationId xmlns:a16="http://schemas.microsoft.com/office/drawing/2014/main" id="{A2DAB1D8-882E-4B7A-A37C-3A1A6DBE0B8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3BC9D05-B36E-45FC-91A0-C992824E3CA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8">
            <a:extLst>
              <a:ext uri="{FF2B5EF4-FFF2-40B4-BE49-F238E27FC236}">
                <a16:creationId xmlns:a16="http://schemas.microsoft.com/office/drawing/2014/main" id="{F470C2E4-A6F4-4C82-B155-50B799F71118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240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現在の対応・制約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9">
            <a:extLst>
              <a:ext uri="{FF2B5EF4-FFF2-40B4-BE49-F238E27FC236}">
                <a16:creationId xmlns:a16="http://schemas.microsoft.com/office/drawing/2014/main" id="{9000904A-29CE-40E5-AF1C-37402A1B5F7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9240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1">
            <a:extLst>
              <a:ext uri="{FF2B5EF4-FFF2-40B4-BE49-F238E27FC236}">
                <a16:creationId xmlns:a16="http://schemas.microsoft.com/office/drawing/2014/main" id="{4A89D637-3480-4EC6-8E24-B610389E903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505075"/>
            <a:ext cx="5124450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［現在はどのように対応するか］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［残る負担・制約］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62">
            <a:extLst>
              <a:ext uri="{FF2B5EF4-FFF2-40B4-BE49-F238E27FC236}">
                <a16:creationId xmlns:a16="http://schemas.microsoft.com/office/drawing/2014/main" id="{57369219-0699-452D-A683-1C6D12D9985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505075"/>
            <a:ext cx="5114925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［変える方法・条件］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［改善を確認する指標・単位］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3">
            <a:extLst>
              <a:ext uri="{FF2B5EF4-FFF2-40B4-BE49-F238E27FC236}">
                <a16:creationId xmlns:a16="http://schemas.microsoft.com/office/drawing/2014/main" id="{127A850B-34ED-4FBE-8993-119735E79D76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50101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比較でそろえる条件：［対象・期間・初期条件・設備］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takeaway_65">
            <a:extLst>
              <a:ext uri="{FF2B5EF4-FFF2-40B4-BE49-F238E27FC236}">
                <a16:creationId xmlns:a16="http://schemas.microsoft.com/office/drawing/2014/main" id="{55C559DE-D88E-4F65-82B1-A508919CDB9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［比較対象］に対し、［評価指標］がどう変わるか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412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67">
            <a:extLst>
              <a:ext uri="{FF2B5EF4-FFF2-40B4-BE49-F238E27FC236}">
                <a16:creationId xmlns:a16="http://schemas.microsoft.com/office/drawing/2014/main" id="{C7265CAC-BBF8-4FEE-A436-4F6B9659C53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本研究の要点と期待される意義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69">
            <a:extLst>
              <a:ext uri="{FF2B5EF4-FFF2-40B4-BE49-F238E27FC236}">
                <a16:creationId xmlns:a16="http://schemas.microsoft.com/office/drawing/2014/main" id="{B873B77E-A908-42A7-95EC-FAC11DF94BD7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71">
            <a:extLst>
              <a:ext uri="{FF2B5EF4-FFF2-40B4-BE49-F238E27FC236}">
                <a16:creationId xmlns:a16="http://schemas.microsoft.com/office/drawing/2014/main" id="{6627653B-DE23-408D-B28F-0128DE1D4BF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2">
            <a:extLst>
              <a:ext uri="{FF2B5EF4-FFF2-40B4-BE49-F238E27FC236}">
                <a16:creationId xmlns:a16="http://schemas.microsoft.com/office/drawing/2014/main" id="{E811A03B-0ACC-4747-A5FE-603B17EA91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2599311-6909-471D-9321-842C5DB1EBF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3">
            <a:extLst>
              <a:ext uri="{FF2B5EF4-FFF2-40B4-BE49-F238E27FC236}">
                <a16:creationId xmlns:a16="http://schemas.microsoft.com/office/drawing/2014/main" id="{787BBAE1-632C-4834-BC28-979EB1608C82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6690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取り組むこと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4">
            <a:extLst>
              <a:ext uri="{FF2B5EF4-FFF2-40B4-BE49-F238E27FC236}">
                <a16:creationId xmlns:a16="http://schemas.microsoft.com/office/drawing/2014/main" id="{26F72D65-A93F-415D-8343-EC3CDEADA6D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8125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［何を対象に、何を明らかにする研究か］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76">
            <a:extLst>
              <a:ext uri="{FF2B5EF4-FFF2-40B4-BE49-F238E27FC236}">
                <a16:creationId xmlns:a16="http://schemas.microsoft.com/office/drawing/2014/main" id="{34CBF58E-AC25-43D5-B9F1-904571A867E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48100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研究として確かめる点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7">
            <a:extLst>
              <a:ext uri="{FF2B5EF4-FFF2-40B4-BE49-F238E27FC236}">
                <a16:creationId xmlns:a16="http://schemas.microsoft.com/office/drawing/2014/main" id="{53890151-3776-4AEB-B968-B3DD451A95C7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71975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［既知の知見に対する問い］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［検証する手法・条件］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8">
            <a:extLst>
              <a:ext uri="{FF2B5EF4-FFF2-40B4-BE49-F238E27FC236}">
                <a16:creationId xmlns:a16="http://schemas.microsoft.com/office/drawing/2014/main" id="{5EA81695-53FB-4D9B-9332-8F58C0947C75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4810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結果が役立つ場面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9">
            <a:extLst>
              <a:ext uri="{FF2B5EF4-FFF2-40B4-BE49-F238E27FC236}">
                <a16:creationId xmlns:a16="http://schemas.microsoft.com/office/drawing/2014/main" id="{03DC8CBD-E92E-49B5-9501-AD15A4246E2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71975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［活用するために必要な条件］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81">
            <a:extLst>
              <a:ext uri="{FF2B5EF4-FFF2-40B4-BE49-F238E27FC236}">
                <a16:creationId xmlns:a16="http://schemas.microsoft.com/office/drawing/2014/main" id="{17046163-FD94-493E-879B-5B8990096E2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9448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83">
            <a:extLst>
              <a:ext uri="{FF2B5EF4-FFF2-40B4-BE49-F238E27FC236}">
                <a16:creationId xmlns:a16="http://schemas.microsoft.com/office/drawing/2014/main" id="{9EF485E3-0E0A-4CC8-AAF9-D970127B5C7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検証の到達点と、活用に向けた課題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85">
            <a:extLst>
              <a:ext uri="{FF2B5EF4-FFF2-40B4-BE49-F238E27FC236}">
                <a16:creationId xmlns:a16="http://schemas.microsoft.com/office/drawing/2014/main" id="{05404C19-9B00-461F-A226-074091651BA1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87">
            <a:extLst>
              <a:ext uri="{FF2B5EF4-FFF2-40B4-BE49-F238E27FC236}">
                <a16:creationId xmlns:a16="http://schemas.microsoft.com/office/drawing/2014/main" id="{42E9B5C1-3DD9-454A-84C9-F10E3BF0EC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8">
            <a:extLst>
              <a:ext uri="{FF2B5EF4-FFF2-40B4-BE49-F238E27FC236}">
                <a16:creationId xmlns:a16="http://schemas.microsoft.com/office/drawing/2014/main" id="{9E73176B-50A3-4CED-BEBC-788DB86AD400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7B518F2-1EDE-44CC-991C-B652DCFD0F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9">
            <a:extLst>
              <a:ext uri="{FF2B5EF4-FFF2-40B4-BE49-F238E27FC236}">
                <a16:creationId xmlns:a16="http://schemas.microsoft.com/office/drawing/2014/main" id="{0186C6ED-C700-40D5-B7F1-65036E19748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43100"/>
            <a:ext cx="5105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今回の研究で示すこと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0">
            <a:extLst>
              <a:ext uri="{FF2B5EF4-FFF2-40B4-BE49-F238E27FC236}">
                <a16:creationId xmlns:a16="http://schemas.microsoft.com/office/drawing/2014/main" id="{2EB89204-3B91-4634-9562-34035E62ABD5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533650"/>
            <a:ext cx="5105400" cy="156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［検証する対象・条件］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［成果物・評価指標］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［結論の適用範囲］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91">
            <a:extLst>
              <a:ext uri="{FF2B5EF4-FFF2-40B4-BE49-F238E27FC236}">
                <a16:creationId xmlns:a16="http://schemas.microsoft.com/office/drawing/2014/main" id="{9001E62A-B365-4240-9A08-C3A2D727E90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05575" y="194310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活用までに必要なこと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92">
            <a:extLst>
              <a:ext uri="{FF2B5EF4-FFF2-40B4-BE49-F238E27FC236}">
                <a16:creationId xmlns:a16="http://schemas.microsoft.com/office/drawing/2014/main" id="{2F363572-0D3A-450D-BD6C-7D9E98C0D34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533650"/>
            <a:ext cx="5114925" cy="156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［追加検証が必要な条件］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［導入時の制約・留意点］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［今後の確認方法］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94">
            <a:extLst>
              <a:ext uri="{FF2B5EF4-FFF2-40B4-BE49-F238E27FC236}">
                <a16:creationId xmlns:a16="http://schemas.microsoft.com/office/drawing/2014/main" id="{6A4AECE9-5540-4C50-85AA-42E1E804DEA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772025"/>
            <a:ext cx="2286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本日の説明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5">
            <a:extLst>
              <a:ext uri="{FF2B5EF4-FFF2-40B4-BE49-F238E27FC236}">
                <a16:creationId xmlns:a16="http://schemas.microsoft.com/office/drawing/2014/main" id="{591D03AF-8276-4B06-AE9D-31A35952FE99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181350" y="4772025"/>
            <a:ext cx="84391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［研究目的］ → ［方法］ → ［結果／進捗］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97">
            <a:extLst>
              <a:ext uri="{FF2B5EF4-FFF2-40B4-BE49-F238E27FC236}">
                <a16:creationId xmlns:a16="http://schemas.microsoft.com/office/drawing/2014/main" id="{A55E9D13-1593-44AD-8E05-E6A37B5C965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［今回の到達点］を根拠として、［次の判断］につなげる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80586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15231</Words>
  <Application>Microsoft Office PowerPoint</Application>
  <DocSecurity>0</DocSecurity>
  <PresentationFormat>ワイド画面</PresentationFormat>
  <Paragraphs>1496</Paragraphs>
  <Slides>34</Slides>
  <Notes>34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34</vt:i4>
      </vt:variant>
    </vt:vector>
  </HeadingPairs>
  <TitlesOfParts>
    <vt:vector size="36" baseType="lpstr">
      <vt:lpstr>Times New Roman</vt:lpstr>
      <vt:lpstr>ChatGPT</vt:lpstr>
      <vt:lpstr>［研究題目］ ［必要なら2行目］</vt:lpstr>
      <vt:lpstr>［研究題目］ ［必要なら2行目］</vt:lpstr>
      <vt:lpstr>本日の構成</vt:lpstr>
      <vt:lpstr>［章の名称］</vt:lpstr>
      <vt:lpstr>研究の背景と課題</vt:lpstr>
      <vt:lpstr>研究目的と研究の問い</vt:lpstr>
      <vt:lpstr>先行研究と本研究の位置づけ</vt:lpstr>
      <vt:lpstr>本研究の着眼点</vt:lpstr>
      <vt:lpstr>対象システムと入出力</vt:lpstr>
      <vt:lpstr>提案手法・実験の手順</vt:lpstr>
      <vt:lpstr>モデル・数式の定義</vt:lpstr>
      <vt:lpstr>実験条件と比較方法</vt:lpstr>
      <vt:lpstr>評価指標と単位</vt:lpstr>
      <vt:lpstr>［図から伝えたいことを1文で］</vt:lpstr>
      <vt:lpstr>［比較してわかったことを1文で］</vt:lpstr>
      <vt:lpstr>［条件間の差を示す結果］</vt:lpstr>
      <vt:lpstr>［時間による変化を示す結果］</vt:lpstr>
      <vt:lpstr>［主要な結果を1文で］</vt:lpstr>
      <vt:lpstr>結果の解釈と考察</vt:lpstr>
      <vt:lpstr>研究の限界と適用範囲</vt:lpstr>
      <vt:lpstr>まとめと今後の課題</vt:lpstr>
      <vt:lpstr>前回からの進捗</vt:lpstr>
      <vt:lpstr>前回の指摘と対応</vt:lpstr>
      <vt:lpstr>現在の課題と対応方針</vt:lpstr>
      <vt:lpstr>次回までの計画</vt:lpstr>
      <vt:lpstr>相談したいこと</vt:lpstr>
      <vt:lpstr>参考文献</vt:lpstr>
      <vt:lpstr>補足：［説明する項目］</vt:lpstr>
      <vt:lpstr>［社会課題］に対応する研究の必要性</vt:lpstr>
      <vt:lpstr>社会的な課題に対する本研究の役割</vt:lpstr>
      <vt:lpstr>［現場・利用者］が直面する課題</vt:lpstr>
      <vt:lpstr>課題の解決に向けて、何を比較するか</vt:lpstr>
      <vt:lpstr>本研究の要点と期待される意義</vt:lpstr>
      <vt:lpstr>検証の到達点と、活用に向けた課題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 承洋_LIU Chengyang(東京都市大学_Tokyo City University)</cp:lastModifiedBy>
  <cp:revision>1</cp:revision>
  <dcterms:created xsi:type="dcterms:W3CDTF">2026-09-27T04:53:20Z</dcterms:created>
  <dcterms:modified xsi:type="dcterms:W3CDTF">2026-09-27T05:24:33Z</dcterms:modified>
</cp:coreProperties>
</file>