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比較対象</c:v>
          </c:tx>
          <c:spPr>
            <a:solidFill>
              <a:srgbClr val="849BA8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5F-4CC2-ACC8-FC5B39ABA3DD}"/>
            </c:ext>
          </c:extLst>
        </c:ser>
        <c:ser>
          <c:idx val="1"/>
          <c:order val="1"/>
          <c:tx>
            <c:v>提案手法</c:v>
          </c:tx>
          <c:spPr>
            <a:solidFill>
              <a:srgbClr val="0098D7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5F-4CC2-ACC8-FC5B39ABA3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20–30秒】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［所属］の［氏名］です。本日は、［研究題目］について報告します。この研究では、［対象］における［課題］を扱い、［何を明らかにするか］を検証します。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研究の問いを1文で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はじめに、［背景／発表の構成］をご説明します。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研究題目・発表会・所属・氏名・日付を記入。題目は2行まで。指導教員名が必要なら所属欄に追加する。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15–25秒】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本日は、［背景と目的］、［手法と条件］、［結果と考察］の順に説明します。特に［重点を置く項目］をご確認いただきたいと考えています。最後に、［まとめ／相談事項］をお伝えします。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重点を置く項目を指す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まず、［最初の章の内容］です。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発表時間に合わせて3〜4項目に絞る。章名だけでなく、各章で何を示すかを書く。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の背景には［対象分野の現状］があります。［出典］では、［重要性を示す事実］が報告されています。図の［着目箇所］に示すように、［観察できること］がわかります。一方、現在の方法では［未解決の課題］が残って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右図の根拠と左下の課題をつなぐ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そこで、本研究の目的を［目的］としました。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背景の事実には出典を添える。右側には、課題を最もよく伝える図・写真・統計を1つ置く。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本研究の目的は、［何を明らかにするか］です。［対象・範囲］に対して、［比較対象］と［検証する方法］を比較します。主に［指標・単位］を用いて評価し、［判定条件］を確認します。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目的と手段を分けて話す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この問いが既存の研究とどう関係するかを説明します。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目的と手段を分ける。「何を、何と比べ、何で評価するか」を具体化。数値目標は根拠がある場合だけ入れる。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先行研究を［比較軸］で整理しました。［研究A］は［扱う点］、［研究B］は［扱う点］に特徴があります。一方、［共通して残る課題］については、［未解決の内容］が残っています。本研究は、そのうち［今回扱う点］を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全セルを読まず比較軸と差分を指す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次に、その課題に対する本研究の着眼点を説明します。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必要な比較軸を先に決める。既存研究の対象・条件が異なるときは性能数値を直接比較しない。最終行には実証済みの差分だけを書く。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研究で扱うシステムの全体像です。左側の［入力データ］を与え、中央の［モデル・処理］で［決めること］を求めます。右側には［出力・評価指標］が得られます。今回の対象は［範囲］で、［範囲外］は含めません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入力→処理→出力の順に指す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次に、各段階の手順を説明します。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箱と矢印は編集可能。入力・決定事項・出力の関係を示す。略語は初出で説明する。箱を追加しすぎず、詳細は補足へ。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手順は［工程数］段階です。まず［入力準備］を行い、次に［モデル化］、続いて［計算・実験］を行います。最後に［評価・検証］を確認します。このうち本研究で工夫したのは［工程と工夫］です。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全工程の読み上げより工夫点に時間を使う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その工程で使う主要な式を示します。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4工程の流れ。手法名だけでなく各段階の入力と出力を説明する。実際の依存関係に合わせて矢印を変更する。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45–75秒】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式は［式が表す関係］を表しています。［記号］は［意味・単位］で、［記号］は［意味・単位］です。式の［項］は［役割］に対応します。［前提条件］の下で成り立ち、［研究の中でどう使うか］に用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式全体の意味→主要項→前提の順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このモデルを、次の条件で検証します。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左側は数式用の入力欄。複雑な数式はAlt+=でPowerPoint標準の数式を挿入する。変数の意味と単位、式が何を表すかを必ず添える。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条件を示します。対象は［データ・日付・範囲］です。［共通にする条件］をそろえ、［変更する要因］のみを変えます。実行条件は［必要な設定］です。条件の違いがある場合は［違いと解釈への影響］を考慮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共通条件と変更条件を指し分ける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比較に使う評価指標を説明します。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共通にする条件と変える条件を分ける。データ・手法・パラメータ・乱数・時間制限を必要に応じて記録し、再現の詳細をノートに残す。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な評価指標は［指標］です。［算出方法］で求め、単位は［単位］とします。集計対象は［期間・範囲］で、割合や平均の分母は［分母］です。補助指標の［指標］を使って、［確認する点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主要指標の定義・単位・分母を伝える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この指標で得られた結果を示します。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指標名・定義・単位・集計範囲をそろえる。平均の分母、割合の母数、時間解像度を明示。電力[kW]と電力量[kWh]は別指標。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条件ごとの［評価指標］を比較した結果です。横軸は［条件］、縦軸は［指標・単位］で、［系列］を比較しています。［着目条件］では、［比較対象］に対して［差・単位］でした。［ばらつき・条件］を踏まえると、［確認できる結論］が言え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仮データを必ず実験値に交換してから読む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次に、［時間変化／この結果の解釈］を説明します。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このグラフは編集練習用の仮データで、研究結果ではない。右クリック→データの編集で埋め込みExcelを変更。系列名・カテゴリ・軸の単位・注記も同時に更新する。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こでは、観察した結果と、その解釈を分けて説明します。確認した事実は［結果］です。その理由として［仮説・解釈］が考えられます。ただし、［別の説明の可能性］はまだ除外できていません。これを確かめるには［追加検証］が必要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事実と推測の欄を明確に指し分ける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次に、結論が当てはまる範囲と限界を示します。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左に観察された事実、右に解釈を書く。因果関係は検証なしに断定しない。他の説明があり得る場合は次の検証へつなぐ。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今回確認できた範囲は［対象・条件］です。一方、［未検証の条件］では確認ができていません。また、［制約］が結果の解釈に影響します。そのため、［言えること］までは示せますが、［まだ言えないこと］は今後の検証課題で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未検証の範囲を曖昧にしない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以上を踏まえて、研究の要点をまとめます。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確認済みと未確認の境界を示す。計算完了、実行可能性、会計整合、最適性、研究採用はそれぞれ別に確認する。未達ゲートがある資料はDIAGNOSTIC / NOT USED FOR RESEARCH CONCLUSIONSと明記。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研究では、［目的］を検証しました。主に［結果1］と［結果2］を確認しました。結論は［対象・条件］の範囲に限られます。今後は［残る課題］に取り組みます。以上で発表を終わります。ご清聴ありがとうござい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目的への答えと適用範囲を伝える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［質疑へ進む／必要なら補足資料を開く］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目的への答えを最初に置く。方法の説明を繰り返すより、得られた知見と限界をまとめる。最後に次の検証を一つ示す。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必要時のみ】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こちらは発表で参照した資料です。［主な主張］の根拠は文献［番号］、［手法］の原典は文献［番号］です。必要に応じて、該当する箇所をご説明します。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通常は全件を読み上げない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［該当する本文または補足へ移る］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【記入の目安】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本文で引用した文献のみ記載。著者、年、題目、媒体、巻号・頁、DOI/URLを統一書式で。4件程度までとし、多ければ複製する。テンプレートの作成参考資料ではなく、自分の研究文献を記入。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【共通】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【構成上の参考】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Penn State, The Assertion-Evidence Approach: https://writing.engr.psu.edu/assertion_evidence_EA.html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Harvard Catalyst, Assertion Evidence Slide Checklist: https://catalyst.harvard.edu/wp-content/uploads/2025/02/checklist_for_assertion_evidence_slides.pdf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参照日: 2026-09-27。デザインは本テンプレート独自のものです。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政策・社会的背景" preserve="1">
  <p:cSld name="29 導入A 政策・社会的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1">
            <a:extLst>
              <a:ext uri="{FF2B5EF4-FFF2-40B4-BE49-F238E27FC236}">
                <a16:creationId xmlns:a16="http://schemas.microsoft.com/office/drawing/2014/main" id="{492B8EA8-0B8A-48F9-8905-FD3D59F075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C00B92A1-1EE7-4A78-952D-0394FFFCDE1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［社会課題］に対応する研究の必要性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C1DC8C4A-F6A3-445D-B225-7F702342F7D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551C2658-E797-4F4D-886B-84684CCB995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9716926-5FD3-4765-AE77-BE963F76AC9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A26DBA13-4024-4B68-8957-E7CA45359AD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2A0940F9-9982-44E6-9411-60AA301B6AB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A1EF8A9-EB10-4B9C-B3D1-1175EB987E6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0B0250D6-B347-4110-ACA7-741829509C2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50101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社会として目指す姿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80590550-D4BC-4D16-A839-B47A9C1BB5FB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90775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［政策・計画が掲げる方向性］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［対象・達成時期・目標］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10">
            <a:extLst>
              <a:ext uri="{FF2B5EF4-FFF2-40B4-BE49-F238E27FC236}">
                <a16:creationId xmlns:a16="http://schemas.microsoft.com/office/drawing/2014/main" id="{AC17D7EE-A1D3-45C8-890A-AEB0570926A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29050"/>
            <a:ext cx="50196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実現に向けて残る課題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">
            <a:extLst>
              <a:ext uri="{FF2B5EF4-FFF2-40B4-BE49-F238E27FC236}">
                <a16:creationId xmlns:a16="http://schemas.microsoft.com/office/drawing/2014/main" id="{0E598F51-E1FE-428C-9892-0696DAF88B3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24350"/>
            <a:ext cx="5019675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［現場で解決が必要なこと］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［既存の取組で不足する点］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figure_12">
            <a:extLst>
              <a:ext uri="{FF2B5EF4-FFF2-40B4-BE49-F238E27FC236}">
                <a16:creationId xmlns:a16="http://schemas.microsoft.com/office/drawing/2014/main" id="{7F6AF59F-BDE5-4221-94D5-BF3B85A677D5}"/>
              </a:ext>
            </a:extLst>
          </p:cNvPr>
          <p:cNvSpPr>
            <a:spLocks noGrp="1"/>
          </p:cNvSpPr>
          <p:nvPr>
            <p:ph idx="8" hasCustomPrompt="1"/>
          </p:nvPr>
        </p:nvSpPr>
        <p:spPr>
          <a:xfrm>
            <a:off x="6219825" y="1933575"/>
            <a:ext cx="5400675" cy="28670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［現状と目標を示す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統計・図を1つ］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13">
            <a:extLst>
              <a:ext uri="{FF2B5EF4-FFF2-40B4-BE49-F238E27FC236}">
                <a16:creationId xmlns:a16="http://schemas.microsoft.com/office/drawing/2014/main" id="{E056B805-630F-4A5E-866D-20C52FC5855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219825" y="4943475"/>
            <a:ext cx="54006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出典：［発行主体・資料名・年・頁］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対象：［地域・期間・母数］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14">
            <a:extLst>
              <a:ext uri="{FF2B5EF4-FFF2-40B4-BE49-F238E27FC236}">
                <a16:creationId xmlns:a16="http://schemas.microsoft.com/office/drawing/2014/main" id="{16772EFA-1C32-4EA9-9DA7-AC25B22772C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15">
            <a:extLst>
              <a:ext uri="{FF2B5EF4-FFF2-40B4-BE49-F238E27FC236}">
                <a16:creationId xmlns:a16="http://schemas.microsoft.com/office/drawing/2014/main" id="{13E7572B-9F9D-4300-BD76-511D520B35D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［社会の目標］の実現には、［課題］の検証が必要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の役割" preserve="1">
  <p:cSld name="30 導入A 研究の役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ATIC_rule_16">
            <a:extLst>
              <a:ext uri="{FF2B5EF4-FFF2-40B4-BE49-F238E27FC236}">
                <a16:creationId xmlns:a16="http://schemas.microsoft.com/office/drawing/2014/main" id="{7BB686C7-8B5C-467D-80A7-0696AF93D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">
            <a:extLst>
              <a:ext uri="{FF2B5EF4-FFF2-40B4-BE49-F238E27FC236}">
                <a16:creationId xmlns:a16="http://schemas.microsoft.com/office/drawing/2014/main" id="{AA4618FD-633A-4ED0-B2AF-E1D3B36C2E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社会的な課題に対する本研究の役割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">
            <a:extLst>
              <a:ext uri="{FF2B5EF4-FFF2-40B4-BE49-F238E27FC236}">
                <a16:creationId xmlns:a16="http://schemas.microsoft.com/office/drawing/2014/main" id="{77F98A79-25A7-40EA-8038-B025FB72449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9">
            <a:extLst>
              <a:ext uri="{FF2B5EF4-FFF2-40B4-BE49-F238E27FC236}">
                <a16:creationId xmlns:a16="http://schemas.microsoft.com/office/drawing/2014/main" id="{6BED887A-FECA-4617-AEB6-EED191F76460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0">
            <a:extLst>
              <a:ext uri="{FF2B5EF4-FFF2-40B4-BE49-F238E27FC236}">
                <a16:creationId xmlns:a16="http://schemas.microsoft.com/office/drawing/2014/main" id="{D1E09942-D625-477A-A5B0-EEFE1E924A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1">
            <a:extLst>
              <a:ext uri="{FF2B5EF4-FFF2-40B4-BE49-F238E27FC236}">
                <a16:creationId xmlns:a16="http://schemas.microsoft.com/office/drawing/2014/main" id="{F5FA59AD-A817-48CC-B80D-C825A9754E38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2">
            <a:extLst>
              <a:ext uri="{FF2B5EF4-FFF2-40B4-BE49-F238E27FC236}">
                <a16:creationId xmlns:a16="http://schemas.microsoft.com/office/drawing/2014/main" id="{95895BA3-8D1B-44BD-B7B7-234A75EFC0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47C98CE-5858-4069-987B-D4E0478C49C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3">
            <a:extLst>
              <a:ext uri="{FF2B5EF4-FFF2-40B4-BE49-F238E27FC236}">
                <a16:creationId xmlns:a16="http://schemas.microsoft.com/office/drawing/2014/main" id="{07D50587-0555-4BBD-80E9-0578D91978A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4">
            <a:extLst>
              <a:ext uri="{FF2B5EF4-FFF2-40B4-BE49-F238E27FC236}">
                <a16:creationId xmlns:a16="http://schemas.microsoft.com/office/drawing/2014/main" id="{93AF88B1-71F8-480F-BC5D-B6047E8D364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［どの場面で］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［何が難しいか］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25">
            <a:extLst>
              <a:ext uri="{FF2B5EF4-FFF2-40B4-BE49-F238E27FC236}">
                <a16:creationId xmlns:a16="http://schemas.microsoft.com/office/drawing/2014/main" id="{C30EED4B-146E-41D8-B73D-575F19B97F7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914775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26">
            <a:extLst>
              <a:ext uri="{FF2B5EF4-FFF2-40B4-BE49-F238E27FC236}">
                <a16:creationId xmlns:a16="http://schemas.microsoft.com/office/drawing/2014/main" id="{E2C14F6B-BA8C-4DAB-898B-57637475994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4467225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本研究で行うこと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7">
            <a:extLst>
              <a:ext uri="{FF2B5EF4-FFF2-40B4-BE49-F238E27FC236}">
                <a16:creationId xmlns:a16="http://schemas.microsoft.com/office/drawing/2014/main" id="{C5E866D7-5DB1-49C3-81E0-37DADB533A7D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4467225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［調べる方法］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STATIC_arrow_28">
            <a:extLst>
              <a:ext uri="{FF2B5EF4-FFF2-40B4-BE49-F238E27FC236}">
                <a16:creationId xmlns:a16="http://schemas.microsoft.com/office/drawing/2014/main" id="{9CF28CD2-584A-47B7-B81D-9824E714D2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810500" y="2771775"/>
            <a:ext cx="4095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9">
            <a:extLst>
              <a:ext uri="{FF2B5EF4-FFF2-40B4-BE49-F238E27FC236}">
                <a16:creationId xmlns:a16="http://schemas.microsoft.com/office/drawing/2014/main" id="{E8B7ED04-7679-4FD0-9BC6-F7E0DEBC0DA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362950" y="1952625"/>
            <a:ext cx="3238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得られる判断材料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30">
            <a:extLst>
              <a:ext uri="{FF2B5EF4-FFF2-40B4-BE49-F238E27FC236}">
                <a16:creationId xmlns:a16="http://schemas.microsoft.com/office/drawing/2014/main" id="{5BCD2B9D-2883-47B0-A1A8-3C0CCBB6E92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62950" y="2686050"/>
            <a:ext cx="32385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［得られる指標］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［役立つ判断］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31">
            <a:extLst>
              <a:ext uri="{FF2B5EF4-FFF2-40B4-BE49-F238E27FC236}">
                <a16:creationId xmlns:a16="http://schemas.microsoft.com/office/drawing/2014/main" id="{4582210B-6C95-4613-8633-C4756880D5A9}"/>
              </a:ext>
            </a:extLst>
          </p:cNvPr>
          <p:cNvSpPr>
            <a:spLocks noGrp="1"/>
          </p:cNvSpPr>
          <p:nvPr/>
        </p:nvSpPr>
        <p:spPr>
          <a:xfrm>
            <a:off x="571500" y="4295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7" name="LABEL_32">
            <a:extLst>
              <a:ext uri="{FF2B5EF4-FFF2-40B4-BE49-F238E27FC236}">
                <a16:creationId xmlns:a16="http://schemas.microsoft.com/office/drawing/2014/main" id="{6C527BA5-5135-4329-8A3D-3E8273210B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71500" y="4581525"/>
            <a:ext cx="24765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今回の検証範囲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PH_body_33">
            <a:extLst>
              <a:ext uri="{FF2B5EF4-FFF2-40B4-BE49-F238E27FC236}">
                <a16:creationId xmlns:a16="http://schemas.microsoft.com/office/drawing/2014/main" id="{11E7CA94-3948-436C-A737-CAF51C1F37C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371850" y="4591050"/>
            <a:ext cx="824865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［対象とする条件］　／　［今回扱わない条件］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STATIC_rule_34">
            <a:extLst>
              <a:ext uri="{FF2B5EF4-FFF2-40B4-BE49-F238E27FC236}">
                <a16:creationId xmlns:a16="http://schemas.microsoft.com/office/drawing/2014/main" id="{796C918A-1DE6-4B51-BDD8-324E4F3121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0" name="PH_takeaway_35">
            <a:extLst>
              <a:ext uri="{FF2B5EF4-FFF2-40B4-BE49-F238E27FC236}">
                <a16:creationId xmlns:a16="http://schemas.microsoft.com/office/drawing/2014/main" id="{921B057B-D573-4F48-BACC-E636B7C6943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本研究は［指標］を検証し、［判断］の根拠を示す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現場の課題" preserve="1">
  <p:cSld name="31 導入B 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6">
            <a:extLst>
              <a:ext uri="{FF2B5EF4-FFF2-40B4-BE49-F238E27FC236}">
                <a16:creationId xmlns:a16="http://schemas.microsoft.com/office/drawing/2014/main" id="{AA22749E-7064-4F51-A892-5A48990267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7">
            <a:extLst>
              <a:ext uri="{FF2B5EF4-FFF2-40B4-BE49-F238E27FC236}">
                <a16:creationId xmlns:a16="http://schemas.microsoft.com/office/drawing/2014/main" id="{0540F659-1ACF-4DA7-8F94-FB3B4A59AFA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［現場・利用者］が直面する課題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8">
            <a:extLst>
              <a:ext uri="{FF2B5EF4-FFF2-40B4-BE49-F238E27FC236}">
                <a16:creationId xmlns:a16="http://schemas.microsoft.com/office/drawing/2014/main" id="{60353EA9-6D72-41BB-9E30-65C03F234E81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9">
            <a:extLst>
              <a:ext uri="{FF2B5EF4-FFF2-40B4-BE49-F238E27FC236}">
                <a16:creationId xmlns:a16="http://schemas.microsoft.com/office/drawing/2014/main" id="{5845D322-E532-40EA-92F7-65CEF9CD7116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40">
            <a:extLst>
              <a:ext uri="{FF2B5EF4-FFF2-40B4-BE49-F238E27FC236}">
                <a16:creationId xmlns:a16="http://schemas.microsoft.com/office/drawing/2014/main" id="{A55C3822-C59C-420C-ADDB-5595D934CC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41">
            <a:extLst>
              <a:ext uri="{FF2B5EF4-FFF2-40B4-BE49-F238E27FC236}">
                <a16:creationId xmlns:a16="http://schemas.microsoft.com/office/drawing/2014/main" id="{F6C45005-4A79-460D-AF1F-0C961CAC89C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42">
            <a:extLst>
              <a:ext uri="{FF2B5EF4-FFF2-40B4-BE49-F238E27FC236}">
                <a16:creationId xmlns:a16="http://schemas.microsoft.com/office/drawing/2014/main" id="{693AB983-7AB4-4DB5-AF1F-9CF7116C30D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638755-F059-4D21-B2A4-735F3615F1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3">
            <a:extLst>
              <a:ext uri="{FF2B5EF4-FFF2-40B4-BE49-F238E27FC236}">
                <a16:creationId xmlns:a16="http://schemas.microsoft.com/office/drawing/2014/main" id="{2ADD4173-A780-4E86-B24E-2AF01F151E11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4">
            <a:extLst>
              <a:ext uri="{FF2B5EF4-FFF2-40B4-BE49-F238E27FC236}">
                <a16:creationId xmlns:a16="http://schemas.microsoft.com/office/drawing/2014/main" id="{5F3C1A9A-A445-4DA1-8D61-E612E02B0B4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5">
            <a:extLst>
              <a:ext uri="{FF2B5EF4-FFF2-40B4-BE49-F238E27FC236}">
                <a16:creationId xmlns:a16="http://schemas.microsoft.com/office/drawing/2014/main" id="{3AE1F213-92B0-4E08-BAFB-2122ECDF053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7642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現場で起きていること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6">
            <a:extLst>
              <a:ext uri="{FF2B5EF4-FFF2-40B4-BE49-F238E27FC236}">
                <a16:creationId xmlns:a16="http://schemas.microsoft.com/office/drawing/2014/main" id="{212FF293-E823-487A-8C77-07CA6ABAE9D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81250"/>
            <a:ext cx="5086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［具体的な場面・困りごと］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［影響を受ける対象］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7">
            <a:extLst>
              <a:ext uri="{FF2B5EF4-FFF2-40B4-BE49-F238E27FC236}">
                <a16:creationId xmlns:a16="http://schemas.microsoft.com/office/drawing/2014/main" id="{F98AE0A2-9D57-433F-8B90-7901D0786F7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838575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現状を示す根拠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8">
            <a:extLst>
              <a:ext uri="{FF2B5EF4-FFF2-40B4-BE49-F238E27FC236}">
                <a16:creationId xmlns:a16="http://schemas.microsoft.com/office/drawing/2014/main" id="{4DF3EA3F-29DB-4D1C-A24F-6EB8EF6FE28A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352925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［確認した数値・観察事実］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［現状の対応と残る課題］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9">
            <a:extLst>
              <a:ext uri="{FF2B5EF4-FFF2-40B4-BE49-F238E27FC236}">
                <a16:creationId xmlns:a16="http://schemas.microsoft.com/office/drawing/2014/main" id="{A7970231-577E-43F5-91B3-AF02EFF26D5F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50">
            <a:extLst>
              <a:ext uri="{FF2B5EF4-FFF2-40B4-BE49-F238E27FC236}">
                <a16:creationId xmlns:a16="http://schemas.microsoft.com/office/drawing/2014/main" id="{6DD5D2C7-176F-41D1-9105-2B6F34B11B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［対象］が［望ましい状態］になるための条件を調べる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評価の視点" preserve="1">
  <p:cSld name="32 導入B 評価の視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51">
            <a:extLst>
              <a:ext uri="{FF2B5EF4-FFF2-40B4-BE49-F238E27FC236}">
                <a16:creationId xmlns:a16="http://schemas.microsoft.com/office/drawing/2014/main" id="{9DEE15EA-4519-4AD3-841B-3142F1B23B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2">
            <a:extLst>
              <a:ext uri="{FF2B5EF4-FFF2-40B4-BE49-F238E27FC236}">
                <a16:creationId xmlns:a16="http://schemas.microsoft.com/office/drawing/2014/main" id="{6A528DB6-A56E-4131-A51D-7CC9440A844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課題の解決に向けて、何を比較するか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3">
            <a:extLst>
              <a:ext uri="{FF2B5EF4-FFF2-40B4-BE49-F238E27FC236}">
                <a16:creationId xmlns:a16="http://schemas.microsoft.com/office/drawing/2014/main" id="{6548C628-C25E-4F4F-BB03-B6B29877BC6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4">
            <a:extLst>
              <a:ext uri="{FF2B5EF4-FFF2-40B4-BE49-F238E27FC236}">
                <a16:creationId xmlns:a16="http://schemas.microsoft.com/office/drawing/2014/main" id="{05B71ABB-3C3C-4248-A0EB-2B2CDF18D8E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5">
            <a:extLst>
              <a:ext uri="{FF2B5EF4-FFF2-40B4-BE49-F238E27FC236}">
                <a16:creationId xmlns:a16="http://schemas.microsoft.com/office/drawing/2014/main" id="{44529101-E4E0-4D4F-A90B-B2B891DD927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6">
            <a:extLst>
              <a:ext uri="{FF2B5EF4-FFF2-40B4-BE49-F238E27FC236}">
                <a16:creationId xmlns:a16="http://schemas.microsoft.com/office/drawing/2014/main" id="{AA2CFB82-8A62-44FC-AC13-EE509D364AE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7">
            <a:extLst>
              <a:ext uri="{FF2B5EF4-FFF2-40B4-BE49-F238E27FC236}">
                <a16:creationId xmlns:a16="http://schemas.microsoft.com/office/drawing/2014/main" id="{A2DAB1D8-882E-4B7A-A37C-3A1A6DBE0B8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3BC9D05-B36E-45FC-91A0-C992824E3CA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8">
            <a:extLst>
              <a:ext uri="{FF2B5EF4-FFF2-40B4-BE49-F238E27FC236}">
                <a16:creationId xmlns:a16="http://schemas.microsoft.com/office/drawing/2014/main" id="{F470C2E4-A6F4-4C82-B155-50B799F71118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240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現在の対応・制約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9">
            <a:extLst>
              <a:ext uri="{FF2B5EF4-FFF2-40B4-BE49-F238E27FC236}">
                <a16:creationId xmlns:a16="http://schemas.microsoft.com/office/drawing/2014/main" id="{9000904A-29CE-40E5-AF1C-37402A1B5F7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9240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60">
            <a:extLst>
              <a:ext uri="{FF2B5EF4-FFF2-40B4-BE49-F238E27FC236}">
                <a16:creationId xmlns:a16="http://schemas.microsoft.com/office/drawing/2014/main" id="{F24DC976-5E8A-40A1-8583-3C5CEFD76945}"/>
              </a:ext>
            </a:extLst>
          </p:cNvPr>
          <p:cNvSpPr>
            <a:spLocks noGrp="1"/>
          </p:cNvSpPr>
          <p:nvPr/>
        </p:nvSpPr>
        <p:spPr>
          <a:xfrm>
            <a:off x="6057900" y="1952625"/>
            <a:ext cx="19050" cy="279082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61">
            <a:extLst>
              <a:ext uri="{FF2B5EF4-FFF2-40B4-BE49-F238E27FC236}">
                <a16:creationId xmlns:a16="http://schemas.microsoft.com/office/drawing/2014/main" id="{4A89D637-3480-4EC6-8E24-B610389E903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505075"/>
            <a:ext cx="5124450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［現在はどのように対応するか］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［残る負担・制約］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62">
            <a:extLst>
              <a:ext uri="{FF2B5EF4-FFF2-40B4-BE49-F238E27FC236}">
                <a16:creationId xmlns:a16="http://schemas.microsoft.com/office/drawing/2014/main" id="{57369219-0699-452D-A683-1C6D12D9985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05075"/>
            <a:ext cx="5114925" cy="2009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［変える方法・条件］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［改善を確認する指標・単位］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3">
            <a:extLst>
              <a:ext uri="{FF2B5EF4-FFF2-40B4-BE49-F238E27FC236}">
                <a16:creationId xmlns:a16="http://schemas.microsoft.com/office/drawing/2014/main" id="{127A850B-34ED-4FBE-8993-119735E79D76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5010150"/>
            <a:ext cx="11049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比較でそろえる条件：［対象・期間・初期条件・設備］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64">
            <a:extLst>
              <a:ext uri="{FF2B5EF4-FFF2-40B4-BE49-F238E27FC236}">
                <a16:creationId xmlns:a16="http://schemas.microsoft.com/office/drawing/2014/main" id="{58F0DF7D-24F8-42F0-B4E0-EE3BF334F0BE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65">
            <a:extLst>
              <a:ext uri="{FF2B5EF4-FFF2-40B4-BE49-F238E27FC236}">
                <a16:creationId xmlns:a16="http://schemas.microsoft.com/office/drawing/2014/main" id="{55C559DE-D88E-4F65-82B1-A508919CDB9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［比較対象］に対し、［評価指標］がどう変わるか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研究の要点" preserve="1">
  <p:cSld name="33 導入C 研究の要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6">
            <a:extLst>
              <a:ext uri="{FF2B5EF4-FFF2-40B4-BE49-F238E27FC236}">
                <a16:creationId xmlns:a16="http://schemas.microsoft.com/office/drawing/2014/main" id="{B90B4E22-0540-482F-B2F7-6B5DD989B0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7">
            <a:extLst>
              <a:ext uri="{FF2B5EF4-FFF2-40B4-BE49-F238E27FC236}">
                <a16:creationId xmlns:a16="http://schemas.microsoft.com/office/drawing/2014/main" id="{C7265CAC-BBF8-4FEE-A436-4F6B9659C53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本研究の要点と期待される意義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8">
            <a:extLst>
              <a:ext uri="{FF2B5EF4-FFF2-40B4-BE49-F238E27FC236}">
                <a16:creationId xmlns:a16="http://schemas.microsoft.com/office/drawing/2014/main" id="{7102AD2D-B162-4977-AE5D-49F9CCB428C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9">
            <a:extLst>
              <a:ext uri="{FF2B5EF4-FFF2-40B4-BE49-F238E27FC236}">
                <a16:creationId xmlns:a16="http://schemas.microsoft.com/office/drawing/2014/main" id="{B873B77E-A908-42A7-95EC-FAC11DF94BD7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70">
            <a:extLst>
              <a:ext uri="{FF2B5EF4-FFF2-40B4-BE49-F238E27FC236}">
                <a16:creationId xmlns:a16="http://schemas.microsoft.com/office/drawing/2014/main" id="{CF28B51B-9A45-46E2-8838-2882849AE8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1">
            <a:extLst>
              <a:ext uri="{FF2B5EF4-FFF2-40B4-BE49-F238E27FC236}">
                <a16:creationId xmlns:a16="http://schemas.microsoft.com/office/drawing/2014/main" id="{6627653B-DE23-408D-B28F-0128DE1D4BF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2">
            <a:extLst>
              <a:ext uri="{FF2B5EF4-FFF2-40B4-BE49-F238E27FC236}">
                <a16:creationId xmlns:a16="http://schemas.microsoft.com/office/drawing/2014/main" id="{E811A03B-0ACC-4747-A5FE-603B17EA91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2599311-6909-471D-9321-842C5DB1EBF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3">
            <a:extLst>
              <a:ext uri="{FF2B5EF4-FFF2-40B4-BE49-F238E27FC236}">
                <a16:creationId xmlns:a16="http://schemas.microsoft.com/office/drawing/2014/main" id="{787BBAE1-632C-4834-BC28-979EB1608C82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6690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取り組むこと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4">
            <a:extLst>
              <a:ext uri="{FF2B5EF4-FFF2-40B4-BE49-F238E27FC236}">
                <a16:creationId xmlns:a16="http://schemas.microsoft.com/office/drawing/2014/main" id="{26F72D65-A93F-415D-8343-EC3CDEADA6D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8125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［何を対象に、何を明らかにする研究か］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5">
            <a:extLst>
              <a:ext uri="{FF2B5EF4-FFF2-40B4-BE49-F238E27FC236}">
                <a16:creationId xmlns:a16="http://schemas.microsoft.com/office/drawing/2014/main" id="{8E560952-0DB2-4471-9114-C4F523D38047}"/>
              </a:ext>
            </a:extLst>
          </p:cNvPr>
          <p:cNvSpPr>
            <a:spLocks noGrp="1"/>
          </p:cNvSpPr>
          <p:nvPr/>
        </p:nvSpPr>
        <p:spPr>
          <a:xfrm>
            <a:off x="571500" y="35242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6">
            <a:extLst>
              <a:ext uri="{FF2B5EF4-FFF2-40B4-BE49-F238E27FC236}">
                <a16:creationId xmlns:a16="http://schemas.microsoft.com/office/drawing/2014/main" id="{34CBF58E-AC25-43D5-B9F1-904571A867E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48100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研究として確かめる点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7">
            <a:extLst>
              <a:ext uri="{FF2B5EF4-FFF2-40B4-BE49-F238E27FC236}">
                <a16:creationId xmlns:a16="http://schemas.microsoft.com/office/drawing/2014/main" id="{53890151-3776-4AEB-B968-B3DD451A95C7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71975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［既知の知見に対する問い］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［検証する手法・条件］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8">
            <a:extLst>
              <a:ext uri="{FF2B5EF4-FFF2-40B4-BE49-F238E27FC236}">
                <a16:creationId xmlns:a16="http://schemas.microsoft.com/office/drawing/2014/main" id="{5EA81695-53FB-4D9B-9332-8F58C0947C75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4810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結果が役立つ場面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9">
            <a:extLst>
              <a:ext uri="{FF2B5EF4-FFF2-40B4-BE49-F238E27FC236}">
                <a16:creationId xmlns:a16="http://schemas.microsoft.com/office/drawing/2014/main" id="{03DC8CBD-E92E-49B5-9501-AD15A4246E2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71975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［活用するために必要な条件］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80">
            <a:extLst>
              <a:ext uri="{FF2B5EF4-FFF2-40B4-BE49-F238E27FC236}">
                <a16:creationId xmlns:a16="http://schemas.microsoft.com/office/drawing/2014/main" id="{A69F9D5C-171F-46A2-8B39-46A055A602A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1">
            <a:extLst>
              <a:ext uri="{FF2B5EF4-FFF2-40B4-BE49-F238E27FC236}">
                <a16:creationId xmlns:a16="http://schemas.microsoft.com/office/drawing/2014/main" id="{17046163-FD94-493E-879B-5B8990096E2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検証と活用" preserve="1">
  <p:cSld name="34 導入C 検証と活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2">
            <a:extLst>
              <a:ext uri="{FF2B5EF4-FFF2-40B4-BE49-F238E27FC236}">
                <a16:creationId xmlns:a16="http://schemas.microsoft.com/office/drawing/2014/main" id="{06A77808-0721-4FE3-ADDD-0130F7342A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3">
            <a:extLst>
              <a:ext uri="{FF2B5EF4-FFF2-40B4-BE49-F238E27FC236}">
                <a16:creationId xmlns:a16="http://schemas.microsoft.com/office/drawing/2014/main" id="{9EF485E3-0E0A-4CC8-AAF9-D970127B5C71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検証の到達点と、活用に向けた課題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4">
            <a:extLst>
              <a:ext uri="{FF2B5EF4-FFF2-40B4-BE49-F238E27FC236}">
                <a16:creationId xmlns:a16="http://schemas.microsoft.com/office/drawing/2014/main" id="{7CFCDA74-FDDE-4321-B4B2-AB3DE1F5E3A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5">
            <a:extLst>
              <a:ext uri="{FF2B5EF4-FFF2-40B4-BE49-F238E27FC236}">
                <a16:creationId xmlns:a16="http://schemas.microsoft.com/office/drawing/2014/main" id="{05404C19-9B00-461F-A226-074091651BA1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6">
            <a:extLst>
              <a:ext uri="{FF2B5EF4-FFF2-40B4-BE49-F238E27FC236}">
                <a16:creationId xmlns:a16="http://schemas.microsoft.com/office/drawing/2014/main" id="{B2F54A6A-98B9-4D01-ADE4-4B85615B03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7">
            <a:extLst>
              <a:ext uri="{FF2B5EF4-FFF2-40B4-BE49-F238E27FC236}">
                <a16:creationId xmlns:a16="http://schemas.microsoft.com/office/drawing/2014/main" id="{42E9B5C1-3DD9-454A-84C9-F10E3BF0EC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8">
            <a:extLst>
              <a:ext uri="{FF2B5EF4-FFF2-40B4-BE49-F238E27FC236}">
                <a16:creationId xmlns:a16="http://schemas.microsoft.com/office/drawing/2014/main" id="{9E73176B-50A3-4CED-BEBC-788DB86AD400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7B518F2-1EDE-44CC-991C-B652DCFD0F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9">
            <a:extLst>
              <a:ext uri="{FF2B5EF4-FFF2-40B4-BE49-F238E27FC236}">
                <a16:creationId xmlns:a16="http://schemas.microsoft.com/office/drawing/2014/main" id="{0186C6ED-C700-40D5-B7F1-65036E19748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943100"/>
            <a:ext cx="5105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今回の研究で示すこと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0">
            <a:extLst>
              <a:ext uri="{FF2B5EF4-FFF2-40B4-BE49-F238E27FC236}">
                <a16:creationId xmlns:a16="http://schemas.microsoft.com/office/drawing/2014/main" id="{2EB89204-3B91-4634-9562-34035E62ABD5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533650"/>
            <a:ext cx="5105400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［検証する対象・条件］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［成果物・評価指標］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［結論の適用範囲］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91">
            <a:extLst>
              <a:ext uri="{FF2B5EF4-FFF2-40B4-BE49-F238E27FC236}">
                <a16:creationId xmlns:a16="http://schemas.microsoft.com/office/drawing/2014/main" id="{9001E62A-B365-4240-9A08-C3A2D727E90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05575" y="194310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活用までに必要なこと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92">
            <a:extLst>
              <a:ext uri="{FF2B5EF4-FFF2-40B4-BE49-F238E27FC236}">
                <a16:creationId xmlns:a16="http://schemas.microsoft.com/office/drawing/2014/main" id="{2F363572-0D3A-450D-BD6C-7D9E98C0D34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533650"/>
            <a:ext cx="5114925" cy="1562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［追加検証が必要な条件］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［導入時の制約・留意点］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［今後の確認方法］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93">
            <a:extLst>
              <a:ext uri="{FF2B5EF4-FFF2-40B4-BE49-F238E27FC236}">
                <a16:creationId xmlns:a16="http://schemas.microsoft.com/office/drawing/2014/main" id="{081A55A5-6AA0-4037-B761-DB19C11A643A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3" name="LABEL_94">
            <a:extLst>
              <a:ext uri="{FF2B5EF4-FFF2-40B4-BE49-F238E27FC236}">
                <a16:creationId xmlns:a16="http://schemas.microsoft.com/office/drawing/2014/main" id="{6A4AECE9-5540-4C50-85AA-42E1E804DEA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772025"/>
            <a:ext cx="2286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本日の説明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5">
            <a:extLst>
              <a:ext uri="{FF2B5EF4-FFF2-40B4-BE49-F238E27FC236}">
                <a16:creationId xmlns:a16="http://schemas.microsoft.com/office/drawing/2014/main" id="{591D03AF-8276-4B06-AE9D-31A35952FE99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181350" y="4772025"/>
            <a:ext cx="84391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［研究目的］ → ［方法］ → ［結果／進捗］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6">
            <a:extLst>
              <a:ext uri="{FF2B5EF4-FFF2-40B4-BE49-F238E27FC236}">
                <a16:creationId xmlns:a16="http://schemas.microsoft.com/office/drawing/2014/main" id="{71D615CB-4AE8-4F75-84AF-A33F5B8B89D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7">
            <a:extLst>
              <a:ext uri="{FF2B5EF4-FFF2-40B4-BE49-F238E27FC236}">
                <a16:creationId xmlns:a16="http://schemas.microsoft.com/office/drawing/2014/main" id="{A55E9D13-1593-44AD-8E05-E6A37B5C965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［今回の到達点］を根拠として、［次の判断］につなげる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6388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0211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931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399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33575"/>
          <a:ext cx="11049000" cy="33147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扱うこと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残る課題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本研究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［検証する点］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［適用範囲］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7959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976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11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7143750" y="1962150"/>
          <a:ext cx="4476750" cy="324802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記号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意味・単位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［x］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［y］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［α］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［係数・単位］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78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43100"/>
          <a:ext cx="11049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共通条件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変更する条件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対象・期間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［データ・日付・範囲］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手法・パラメータ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［固定する設定］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［比較する設定］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初期条件・設備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［同じにする条件］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実行条件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［seed・時間制限等］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1765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895475"/>
          <a:ext cx="11049000" cy="34194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定義・算出方法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対象・集計範囲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3145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3517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4156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33575"/>
          <a:ext cx="11049000" cy="32194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確認した範囲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まだ言えないこと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追加で必要な検証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［対象・条件］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［一般化の限界］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［追加条件・実験］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［評価した指標］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［未評価の性質］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［追加の指標・検算］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［成立した確認］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［残る仮説］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［反証できる検証］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2731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172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76913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6903</Words>
  <Application>Microsoft Office PowerPoint</Application>
  <DocSecurity>0</DocSecurity>
  <PresentationFormat>ワイド画面</PresentationFormat>
  <Paragraphs>690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7" baseType="lpstr">
      <vt:lpstr>Times New Roman</vt:lpstr>
      <vt:lpstr>ChatGPT</vt:lpstr>
      <vt:lpstr>［研究題目］ ［必要なら2行目］</vt:lpstr>
      <vt:lpstr>本日の構成</vt:lpstr>
      <vt:lpstr>研究の背景と課題</vt:lpstr>
      <vt:lpstr>研究目的と研究の問い</vt:lpstr>
      <vt:lpstr>先行研究と本研究の位置づけ</vt:lpstr>
      <vt:lpstr>対象システムと入出力</vt:lpstr>
      <vt:lpstr>提案手法・実験の手順</vt:lpstr>
      <vt:lpstr>モデル・数式の定義</vt:lpstr>
      <vt:lpstr>実験条件と比較方法</vt:lpstr>
      <vt:lpstr>評価指標と単位</vt:lpstr>
      <vt:lpstr>［条件間の差を示す結果］</vt:lpstr>
      <vt:lpstr>結果の解釈と考察</vt:lpstr>
      <vt:lpstr>研究の限界と適用範囲</vt:lpstr>
      <vt:lpstr>まとめと今後の課題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2</cp:revision>
  <dcterms:created xsi:type="dcterms:W3CDTF">2026-09-27T04:53:20Z</dcterms:created>
  <dcterms:modified xsi:type="dcterms:W3CDTF">2026-09-27T05:24:36Z</dcterms:modified>
</cp:coreProperties>
</file>